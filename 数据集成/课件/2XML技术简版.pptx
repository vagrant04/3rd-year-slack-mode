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05"/>
  </p:notesMasterIdLst>
  <p:sldIdLst>
    <p:sldId id="256" r:id="rId2"/>
    <p:sldId id="261" r:id="rId3"/>
    <p:sldId id="262" r:id="rId4"/>
    <p:sldId id="395" r:id="rId5"/>
    <p:sldId id="266" r:id="rId6"/>
    <p:sldId id="267" r:id="rId7"/>
    <p:sldId id="402" r:id="rId8"/>
    <p:sldId id="400" r:id="rId9"/>
    <p:sldId id="270" r:id="rId10"/>
    <p:sldId id="399" r:id="rId11"/>
    <p:sldId id="273" r:id="rId12"/>
    <p:sldId id="403" r:id="rId13"/>
    <p:sldId id="274" r:id="rId14"/>
    <p:sldId id="275" r:id="rId15"/>
    <p:sldId id="276" r:id="rId16"/>
    <p:sldId id="277" r:id="rId17"/>
    <p:sldId id="278" r:id="rId18"/>
    <p:sldId id="279" r:id="rId19"/>
    <p:sldId id="280" r:id="rId20"/>
    <p:sldId id="281" r:id="rId21"/>
    <p:sldId id="283" r:id="rId22"/>
    <p:sldId id="404" r:id="rId23"/>
    <p:sldId id="286" r:id="rId24"/>
    <p:sldId id="288" r:id="rId25"/>
    <p:sldId id="289" r:id="rId26"/>
    <p:sldId id="290" r:id="rId27"/>
    <p:sldId id="291" r:id="rId28"/>
    <p:sldId id="292" r:id="rId29"/>
    <p:sldId id="293" r:id="rId30"/>
    <p:sldId id="407" r:id="rId31"/>
    <p:sldId id="406" r:id="rId32"/>
    <p:sldId id="405" r:id="rId33"/>
    <p:sldId id="408" r:id="rId34"/>
    <p:sldId id="295" r:id="rId35"/>
    <p:sldId id="296" r:id="rId36"/>
    <p:sldId id="297" r:id="rId37"/>
    <p:sldId id="299" r:id="rId38"/>
    <p:sldId id="300" r:id="rId39"/>
    <p:sldId id="409" r:id="rId40"/>
    <p:sldId id="301" r:id="rId41"/>
    <p:sldId id="302" r:id="rId42"/>
    <p:sldId id="410" r:id="rId43"/>
    <p:sldId id="411" r:id="rId44"/>
    <p:sldId id="303" r:id="rId45"/>
    <p:sldId id="304" r:id="rId46"/>
    <p:sldId id="305" r:id="rId47"/>
    <p:sldId id="306" r:id="rId48"/>
    <p:sldId id="307" r:id="rId49"/>
    <p:sldId id="308" r:id="rId50"/>
    <p:sldId id="309" r:id="rId51"/>
    <p:sldId id="310" r:id="rId52"/>
    <p:sldId id="311" r:id="rId53"/>
    <p:sldId id="312" r:id="rId54"/>
    <p:sldId id="313" r:id="rId55"/>
    <p:sldId id="315" r:id="rId56"/>
    <p:sldId id="316" r:id="rId57"/>
    <p:sldId id="317" r:id="rId58"/>
    <p:sldId id="321" r:id="rId59"/>
    <p:sldId id="322" r:id="rId60"/>
    <p:sldId id="412" r:id="rId61"/>
    <p:sldId id="323" r:id="rId62"/>
    <p:sldId id="324" r:id="rId63"/>
    <p:sldId id="325" r:id="rId64"/>
    <p:sldId id="329" r:id="rId65"/>
    <p:sldId id="330" r:id="rId66"/>
    <p:sldId id="331" r:id="rId67"/>
    <p:sldId id="332" r:id="rId68"/>
    <p:sldId id="333" r:id="rId69"/>
    <p:sldId id="334" r:id="rId70"/>
    <p:sldId id="335" r:id="rId71"/>
    <p:sldId id="336" r:id="rId72"/>
    <p:sldId id="337" r:id="rId73"/>
    <p:sldId id="338" r:id="rId74"/>
    <p:sldId id="339" r:id="rId75"/>
    <p:sldId id="340" r:id="rId76"/>
    <p:sldId id="341" r:id="rId77"/>
    <p:sldId id="342" r:id="rId78"/>
    <p:sldId id="343" r:id="rId79"/>
    <p:sldId id="344" r:id="rId80"/>
    <p:sldId id="345" r:id="rId81"/>
    <p:sldId id="346" r:id="rId82"/>
    <p:sldId id="347" r:id="rId83"/>
    <p:sldId id="348" r:id="rId84"/>
    <p:sldId id="349" r:id="rId85"/>
    <p:sldId id="350" r:id="rId86"/>
    <p:sldId id="351" r:id="rId87"/>
    <p:sldId id="352" r:id="rId88"/>
    <p:sldId id="353" r:id="rId89"/>
    <p:sldId id="354" r:id="rId90"/>
    <p:sldId id="355" r:id="rId91"/>
    <p:sldId id="356" r:id="rId92"/>
    <p:sldId id="357" r:id="rId93"/>
    <p:sldId id="358" r:id="rId94"/>
    <p:sldId id="359" r:id="rId95"/>
    <p:sldId id="360" r:id="rId96"/>
    <p:sldId id="361" r:id="rId97"/>
    <p:sldId id="362" r:id="rId98"/>
    <p:sldId id="363" r:id="rId99"/>
    <p:sldId id="364" r:id="rId100"/>
    <p:sldId id="365" r:id="rId101"/>
    <p:sldId id="366" r:id="rId102"/>
    <p:sldId id="367" r:id="rId103"/>
    <p:sldId id="368" r:id="rId10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021" autoAdjust="0"/>
  </p:normalViewPr>
  <p:slideViewPr>
    <p:cSldViewPr>
      <p:cViewPr varScale="1">
        <p:scale>
          <a:sx n="73" d="100"/>
          <a:sy n="73" d="100"/>
        </p:scale>
        <p:origin x="1738"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320A28-DF00-45B5-8A5B-C16D619C11A1}" type="datetimeFigureOut">
              <a:rPr lang="zh-CN" altLang="en-US" smtClean="0"/>
              <a:pPr/>
              <a:t>2021/3/6</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73B23B1-AE87-481B-BF79-14C0BA1C2433}" type="slidenum">
              <a:rPr lang="zh-CN" altLang="en-US" smtClean="0"/>
              <a:pPr/>
              <a:t>‹#›</a:t>
            </a:fld>
            <a:endParaRPr lang="zh-CN" altLang="en-US"/>
          </a:p>
        </p:txBody>
      </p:sp>
    </p:spTree>
    <p:extLst>
      <p:ext uri="{BB962C8B-B14F-4D97-AF65-F5344CB8AC3E}">
        <p14:creationId xmlns:p14="http://schemas.microsoft.com/office/powerpoint/2010/main" val="12663784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常规的客户</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服务</a:t>
            </a:r>
            <a:r>
              <a:rPr lang="en-US" altLang="zh-CN" sz="1200" kern="1200" dirty="0" smtClean="0">
                <a:solidFill>
                  <a:schemeClr val="tx1"/>
                </a:solidFill>
                <a:effectLst/>
                <a:latin typeface="+mn-lt"/>
                <a:ea typeface="+mn-ea"/>
                <a:cs typeface="+mn-cs"/>
              </a:rPr>
              <a:t>(C/S) </a:t>
            </a:r>
            <a:r>
              <a:rPr lang="zh-CN" altLang="zh-CN" sz="1200" kern="1200" dirty="0" smtClean="0">
                <a:solidFill>
                  <a:schemeClr val="tx1"/>
                </a:solidFill>
                <a:effectLst/>
                <a:latin typeface="+mn-lt"/>
                <a:ea typeface="+mn-ea"/>
                <a:cs typeface="+mn-cs"/>
              </a:rPr>
              <a:t>方式为了获得数据排序或更换显示格式，必须向服务器发出申请；而</a:t>
            </a:r>
            <a:r>
              <a:rPr lang="en-US" altLang="zh-CN" sz="1200" kern="1200" dirty="0" smtClean="0">
                <a:solidFill>
                  <a:schemeClr val="tx1"/>
                </a:solidFill>
                <a:effectLst/>
                <a:latin typeface="+mn-lt"/>
                <a:ea typeface="+mn-ea"/>
                <a:cs typeface="+mn-cs"/>
              </a:rPr>
              <a:t>XML</a:t>
            </a:r>
            <a:r>
              <a:rPr lang="zh-CN" altLang="zh-CN" sz="1200" kern="1200" dirty="0" smtClean="0">
                <a:solidFill>
                  <a:schemeClr val="tx1"/>
                </a:solidFill>
                <a:effectLst/>
                <a:latin typeface="+mn-lt"/>
                <a:ea typeface="+mn-ea"/>
                <a:cs typeface="+mn-cs"/>
              </a:rPr>
              <a:t>则可以直接处理数据，不必经过向服务器申请查询</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返回结果这样的双向“旅程”，同时在设备也不需要配制数据库。甚至还可以对设备上的</a:t>
            </a:r>
            <a:r>
              <a:rPr lang="en-US" altLang="zh-CN" sz="1200" kern="1200" dirty="0" smtClean="0">
                <a:solidFill>
                  <a:schemeClr val="tx1"/>
                </a:solidFill>
                <a:effectLst/>
                <a:latin typeface="+mn-lt"/>
                <a:ea typeface="+mn-ea"/>
                <a:cs typeface="+mn-cs"/>
              </a:rPr>
              <a:t>XML</a:t>
            </a:r>
            <a:r>
              <a:rPr lang="zh-CN" altLang="zh-CN" sz="1200" kern="1200" dirty="0" smtClean="0">
                <a:solidFill>
                  <a:schemeClr val="tx1"/>
                </a:solidFill>
                <a:effectLst/>
                <a:latin typeface="+mn-lt"/>
                <a:ea typeface="+mn-ea"/>
                <a:cs typeface="+mn-cs"/>
              </a:rPr>
              <a:t>文件进行修改并将结果返回给服务器。</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使用</a:t>
            </a:r>
            <a:r>
              <a:rPr lang="en-US" altLang="zh-CN" sz="1200" kern="1200" dirty="0" smtClean="0">
                <a:solidFill>
                  <a:schemeClr val="tx1"/>
                </a:solidFill>
                <a:effectLst/>
                <a:latin typeface="+mn-lt"/>
                <a:ea typeface="+mn-ea"/>
                <a:cs typeface="+mn-cs"/>
              </a:rPr>
              <a:t>.NET</a:t>
            </a:r>
            <a:r>
              <a:rPr lang="zh-CN" altLang="zh-CN" sz="1200" kern="1200" dirty="0" smtClean="0">
                <a:solidFill>
                  <a:schemeClr val="tx1"/>
                </a:solidFill>
                <a:effectLst/>
                <a:latin typeface="+mn-lt"/>
                <a:ea typeface="+mn-ea"/>
                <a:cs typeface="+mn-cs"/>
              </a:rPr>
              <a:t>里的类，如</a:t>
            </a:r>
            <a:r>
              <a:rPr lang="en-US" altLang="zh-CN" sz="1200" kern="1200" dirty="0" err="1" smtClean="0">
                <a:solidFill>
                  <a:schemeClr val="tx1"/>
                </a:solidFill>
                <a:effectLst/>
                <a:latin typeface="+mn-lt"/>
                <a:ea typeface="+mn-ea"/>
                <a:cs typeface="+mn-cs"/>
              </a:rPr>
              <a:t>XmlDocument</a:t>
            </a:r>
            <a:r>
              <a:rPr lang="zh-CN" altLang="zh-CN" sz="1200" kern="1200" dirty="0" smtClean="0">
                <a:solidFill>
                  <a:schemeClr val="tx1"/>
                </a:solidFill>
                <a:effectLst/>
                <a:latin typeface="+mn-lt"/>
                <a:ea typeface="+mn-ea"/>
                <a:cs typeface="+mn-cs"/>
              </a:rPr>
              <a:t>和</a:t>
            </a:r>
            <a:r>
              <a:rPr lang="en-US" altLang="zh-CN" sz="1200" kern="1200" dirty="0" err="1" smtClean="0">
                <a:solidFill>
                  <a:schemeClr val="tx1"/>
                </a:solidFill>
                <a:effectLst/>
                <a:latin typeface="+mn-lt"/>
                <a:ea typeface="+mn-ea"/>
                <a:cs typeface="+mn-cs"/>
              </a:rPr>
              <a:t>XmlTextReader</a:t>
            </a:r>
            <a:r>
              <a:rPr lang="zh-CN" altLang="zh-CN" sz="1200" kern="1200" dirty="0" smtClean="0">
                <a:solidFill>
                  <a:schemeClr val="tx1"/>
                </a:solidFill>
                <a:effectLst/>
                <a:latin typeface="+mn-lt"/>
                <a:ea typeface="+mn-ea"/>
                <a:cs typeface="+mn-cs"/>
              </a:rPr>
              <a:t>，将配置数据标记为</a:t>
            </a:r>
            <a:r>
              <a:rPr lang="en-US" altLang="zh-CN" sz="1200" kern="1200" dirty="0" smtClean="0">
                <a:solidFill>
                  <a:schemeClr val="tx1"/>
                </a:solidFill>
                <a:effectLst/>
                <a:latin typeface="+mn-lt"/>
                <a:ea typeface="+mn-ea"/>
                <a:cs typeface="+mn-cs"/>
              </a:rPr>
              <a:t>XML</a:t>
            </a:r>
            <a:r>
              <a:rPr lang="zh-CN" altLang="zh-CN" sz="1200" kern="1200" dirty="0" smtClean="0">
                <a:solidFill>
                  <a:schemeClr val="tx1"/>
                </a:solidFill>
                <a:effectLst/>
                <a:latin typeface="+mn-lt"/>
                <a:ea typeface="+mn-ea"/>
                <a:cs typeface="+mn-cs"/>
              </a:rPr>
              <a:t>格式，能使其更具可读性，并能方便地集成到应用系统中去。使用</a:t>
            </a:r>
            <a:r>
              <a:rPr lang="en-US" altLang="zh-CN" sz="1200" kern="1200" dirty="0" smtClean="0">
                <a:solidFill>
                  <a:schemeClr val="tx1"/>
                </a:solidFill>
                <a:effectLst/>
                <a:latin typeface="+mn-lt"/>
                <a:ea typeface="+mn-ea"/>
                <a:cs typeface="+mn-cs"/>
              </a:rPr>
              <a:t>XML</a:t>
            </a:r>
            <a:r>
              <a:rPr lang="zh-CN" altLang="zh-CN" sz="1200" kern="1200" dirty="0" smtClean="0">
                <a:solidFill>
                  <a:schemeClr val="tx1"/>
                </a:solidFill>
                <a:effectLst/>
                <a:latin typeface="+mn-lt"/>
                <a:ea typeface="+mn-ea"/>
                <a:cs typeface="+mn-cs"/>
              </a:rPr>
              <a:t>配置文件的应用程序能够方便地处理所需数据，不用象其他应用那样要经过重新编译才能修改和维护应用系统。</a:t>
            </a:r>
            <a:endParaRPr lang="zh-CN" altLang="en-US" dirty="0"/>
          </a:p>
        </p:txBody>
      </p:sp>
      <p:sp>
        <p:nvSpPr>
          <p:cNvPr id="4" name="灯片编号占位符 3"/>
          <p:cNvSpPr>
            <a:spLocks noGrp="1"/>
          </p:cNvSpPr>
          <p:nvPr>
            <p:ph type="sldNum" sz="quarter" idx="10"/>
          </p:nvPr>
        </p:nvSpPr>
        <p:spPr/>
        <p:txBody>
          <a:bodyPr/>
          <a:lstStyle/>
          <a:p>
            <a:fld id="{273B23B1-AE87-481B-BF79-14C0BA1C2433}" type="slidenum">
              <a:rPr lang="zh-CN" altLang="en-US" smtClean="0"/>
              <a:pPr/>
              <a:t>9</a:t>
            </a:fld>
            <a:endParaRPr lang="zh-CN" altLang="en-US"/>
          </a:p>
        </p:txBody>
      </p:sp>
    </p:spTree>
    <p:extLst>
      <p:ext uri="{BB962C8B-B14F-4D97-AF65-F5344CB8AC3E}">
        <p14:creationId xmlns:p14="http://schemas.microsoft.com/office/powerpoint/2010/main" val="9531010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或使用能处理该语汇集的现有程序或开发组件</a:t>
            </a:r>
            <a:r>
              <a:rPr lang="en-US" altLang="zh-CN" sz="1200" kern="1200" dirty="0" smtClean="0">
                <a:solidFill>
                  <a:schemeClr val="tx1"/>
                </a:solidFill>
                <a:effectLst/>
                <a:latin typeface="+mn-lt"/>
                <a:ea typeface="+mn-ea"/>
                <a:cs typeface="+mn-cs"/>
              </a:rPr>
              <a:t> SOAP</a:t>
            </a:r>
            <a:r>
              <a:rPr lang="zh-CN" altLang="zh-CN" sz="1200" kern="1200" dirty="0" smtClean="0">
                <a:solidFill>
                  <a:schemeClr val="tx1"/>
                </a:solidFill>
                <a:effectLst/>
                <a:latin typeface="+mn-lt"/>
                <a:ea typeface="+mn-ea"/>
                <a:cs typeface="+mn-cs"/>
              </a:rPr>
              <a:t>组件、</a:t>
            </a:r>
            <a:r>
              <a:rPr lang="en-US" altLang="zh-CN" sz="1200" kern="1200" dirty="0" smtClean="0">
                <a:solidFill>
                  <a:schemeClr val="tx1"/>
                </a:solidFill>
                <a:effectLst/>
                <a:latin typeface="+mn-lt"/>
                <a:ea typeface="+mn-ea"/>
                <a:cs typeface="+mn-cs"/>
              </a:rPr>
              <a:t>RSS</a:t>
            </a:r>
            <a:r>
              <a:rPr lang="zh-CN" altLang="zh-CN" sz="1200" kern="1200" dirty="0" smtClean="0">
                <a:solidFill>
                  <a:schemeClr val="tx1"/>
                </a:solidFill>
                <a:effectLst/>
                <a:latin typeface="+mn-lt"/>
                <a:ea typeface="+mn-ea"/>
                <a:cs typeface="+mn-cs"/>
              </a:rPr>
              <a:t>组件</a:t>
            </a:r>
            <a:endParaRPr lang="zh-CN" altLang="en-US" dirty="0"/>
          </a:p>
        </p:txBody>
      </p:sp>
      <p:sp>
        <p:nvSpPr>
          <p:cNvPr id="4" name="灯片编号占位符 3"/>
          <p:cNvSpPr>
            <a:spLocks noGrp="1"/>
          </p:cNvSpPr>
          <p:nvPr>
            <p:ph type="sldNum" sz="quarter" idx="10"/>
          </p:nvPr>
        </p:nvSpPr>
        <p:spPr/>
        <p:txBody>
          <a:bodyPr/>
          <a:lstStyle/>
          <a:p>
            <a:fld id="{273B23B1-AE87-481B-BF79-14C0BA1C2433}" type="slidenum">
              <a:rPr lang="zh-CN" altLang="en-US" smtClean="0"/>
              <a:pPr/>
              <a:t>11</a:t>
            </a:fld>
            <a:endParaRPr lang="zh-CN" altLang="en-US"/>
          </a:p>
        </p:txBody>
      </p:sp>
    </p:spTree>
    <p:extLst>
      <p:ext uri="{BB962C8B-B14F-4D97-AF65-F5344CB8AC3E}">
        <p14:creationId xmlns:p14="http://schemas.microsoft.com/office/powerpoint/2010/main" val="35267625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最主要的是</a:t>
            </a:r>
            <a:r>
              <a:rPr lang="en-US" altLang="zh-CN" sz="1200" kern="1200" dirty="0" smtClean="0">
                <a:solidFill>
                  <a:schemeClr val="tx1"/>
                </a:solidFill>
                <a:effectLst/>
                <a:latin typeface="+mn-lt"/>
                <a:ea typeface="+mn-ea"/>
                <a:cs typeface="+mn-cs"/>
              </a:rPr>
              <a:t>XML</a:t>
            </a:r>
            <a:r>
              <a:rPr lang="zh-CN" altLang="zh-CN" sz="1200" kern="1200" dirty="0" smtClean="0">
                <a:solidFill>
                  <a:schemeClr val="tx1"/>
                </a:solidFill>
                <a:effectLst/>
                <a:latin typeface="+mn-lt"/>
                <a:ea typeface="+mn-ea"/>
                <a:cs typeface="+mn-cs"/>
              </a:rPr>
              <a:t>的性能问题</a:t>
            </a:r>
            <a:endParaRPr lang="en-US"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XML</a:t>
            </a:r>
            <a:r>
              <a:rPr lang="zh-CN" altLang="zh-CN" sz="1200" kern="1200" dirty="0" smtClean="0">
                <a:solidFill>
                  <a:schemeClr val="tx1"/>
                </a:solidFill>
                <a:effectLst/>
                <a:latin typeface="+mn-lt"/>
                <a:ea typeface="+mn-ea"/>
                <a:cs typeface="+mn-cs"/>
              </a:rPr>
              <a:t>文档使用标签描述信息，在不同信息之间必须使用标签标记。而传统的二进制文档使用固定长度的字节位分组，结构比较紧凑</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273B23B1-AE87-481B-BF79-14C0BA1C2433}" type="slidenum">
              <a:rPr lang="zh-CN" altLang="en-US" smtClean="0"/>
              <a:pPr/>
              <a:t>12</a:t>
            </a:fld>
            <a:endParaRPr lang="zh-CN" altLang="en-US"/>
          </a:p>
        </p:txBody>
      </p:sp>
    </p:spTree>
    <p:extLst>
      <p:ext uri="{BB962C8B-B14F-4D97-AF65-F5344CB8AC3E}">
        <p14:creationId xmlns:p14="http://schemas.microsoft.com/office/powerpoint/2010/main" val="28849763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p:spPr>
        <p:txBody>
          <a:bodyPr/>
          <a:lstStyle/>
          <a:p>
            <a:fld id="{96C547BC-FBFC-4E17-81B4-D727E35F66F0}" type="slidenum">
              <a:rPr lang="en-US" altLang="zh-CN" smtClean="0">
                <a:ea typeface="宋体" charset="-122"/>
              </a:rPr>
              <a:pPr/>
              <a:t>24</a:t>
            </a:fld>
            <a:endParaRPr lang="en-US" altLang="zh-CN" smtClean="0">
              <a:ea typeface="宋体" charset="-122"/>
            </a:endParaRPr>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p:spPr>
        <p:txBody>
          <a:bodyPr/>
          <a:lstStyle/>
          <a:p>
            <a:pPr eaLnBrk="1" hangingPunct="1"/>
            <a:r>
              <a:rPr lang="en-US" altLang="zh-CN" smtClean="0">
                <a:ea typeface="宋体" charset="-122"/>
              </a:rPr>
              <a:t>Well-formed</a:t>
            </a:r>
            <a:r>
              <a:rPr lang="zh-CN" altLang="en-US" smtClean="0">
                <a:ea typeface="宋体" charset="-122"/>
              </a:rPr>
              <a:t>：</a:t>
            </a:r>
          </a:p>
          <a:p>
            <a:pPr eaLnBrk="1" hangingPunct="1"/>
            <a:r>
              <a:rPr lang="en-US" altLang="zh-CN" smtClean="0">
                <a:ea typeface="宋体" charset="-122"/>
              </a:rPr>
              <a:t>1.XML</a:t>
            </a:r>
            <a:r>
              <a:rPr lang="zh-CN" altLang="en-US" smtClean="0">
                <a:ea typeface="宋体" charset="-122"/>
              </a:rPr>
              <a:t>文件的第一行必须是声明该文件是</a:t>
            </a:r>
            <a:r>
              <a:rPr lang="en-US" altLang="zh-CN" smtClean="0">
                <a:ea typeface="宋体" charset="-122"/>
              </a:rPr>
              <a:t>XML</a:t>
            </a:r>
            <a:r>
              <a:rPr lang="zh-CN" altLang="en-US" smtClean="0">
                <a:ea typeface="宋体" charset="-122"/>
              </a:rPr>
              <a:t>文件以及它所使用的</a:t>
            </a:r>
            <a:r>
              <a:rPr lang="en-US" altLang="zh-CN" smtClean="0">
                <a:ea typeface="宋体" charset="-122"/>
              </a:rPr>
              <a:t>XML</a:t>
            </a:r>
            <a:r>
              <a:rPr lang="zh-CN" altLang="en-US" smtClean="0">
                <a:ea typeface="宋体" charset="-122"/>
              </a:rPr>
              <a:t>规范版本。在文件的前面不能够有其它元素或者注释。</a:t>
            </a:r>
          </a:p>
          <a:p>
            <a:pPr eaLnBrk="1" hangingPunct="1"/>
            <a:r>
              <a:rPr lang="en-US" altLang="zh-CN" smtClean="0">
                <a:ea typeface="宋体" charset="-122"/>
              </a:rPr>
              <a:t>2.</a:t>
            </a:r>
            <a:r>
              <a:rPr lang="zh-CN" altLang="en-US" smtClean="0">
                <a:ea typeface="宋体" charset="-122"/>
              </a:rPr>
              <a:t>在</a:t>
            </a:r>
            <a:r>
              <a:rPr lang="en-US" altLang="zh-CN" smtClean="0">
                <a:ea typeface="宋体" charset="-122"/>
              </a:rPr>
              <a:t>XML</a:t>
            </a:r>
            <a:r>
              <a:rPr lang="zh-CN" altLang="en-US" smtClean="0">
                <a:ea typeface="宋体" charset="-122"/>
              </a:rPr>
              <a:t>文件中有且只能够有一个根元素。</a:t>
            </a:r>
          </a:p>
          <a:p>
            <a:pPr eaLnBrk="1" hangingPunct="1"/>
            <a:r>
              <a:rPr lang="en-US" altLang="zh-CN" smtClean="0">
                <a:ea typeface="宋体" charset="-122"/>
              </a:rPr>
              <a:t>3.</a:t>
            </a:r>
            <a:r>
              <a:rPr lang="zh-CN" altLang="en-US" smtClean="0">
                <a:ea typeface="宋体" charset="-122"/>
              </a:rPr>
              <a:t>在</a:t>
            </a:r>
            <a:r>
              <a:rPr lang="en-US" altLang="zh-CN" smtClean="0">
                <a:ea typeface="宋体" charset="-122"/>
              </a:rPr>
              <a:t>XML</a:t>
            </a:r>
            <a:r>
              <a:rPr lang="zh-CN" altLang="en-US" smtClean="0">
                <a:ea typeface="宋体" charset="-122"/>
              </a:rPr>
              <a:t>文件中的标记必须正确地关闭，也就是说，在</a:t>
            </a:r>
            <a:r>
              <a:rPr lang="en-US" altLang="zh-CN" smtClean="0">
                <a:ea typeface="宋体" charset="-122"/>
              </a:rPr>
              <a:t>XML</a:t>
            </a:r>
            <a:r>
              <a:rPr lang="zh-CN" altLang="en-US" smtClean="0">
                <a:ea typeface="宋体" charset="-122"/>
              </a:rPr>
              <a:t>文件中，控制标记必 须有与之对应的结束标记。</a:t>
            </a:r>
            <a:endParaRPr lang="en-US" altLang="zh-CN" smtClean="0">
              <a:ea typeface="宋体" charset="-122"/>
            </a:endParaRPr>
          </a:p>
          <a:p>
            <a:pPr eaLnBrk="1" hangingPunct="1"/>
            <a:r>
              <a:rPr lang="en-US" altLang="zh-CN" smtClean="0">
                <a:ea typeface="宋体" charset="-122"/>
              </a:rPr>
              <a:t>4.</a:t>
            </a:r>
            <a:r>
              <a:rPr lang="zh-CN" altLang="en-US" smtClean="0">
                <a:ea typeface="宋体" charset="-122"/>
              </a:rPr>
              <a:t>标记之间不得交叉。</a:t>
            </a:r>
          </a:p>
          <a:p>
            <a:pPr eaLnBrk="1" hangingPunct="1"/>
            <a:r>
              <a:rPr lang="en-US" altLang="zh-CN" smtClean="0">
                <a:ea typeface="宋体" charset="-122"/>
              </a:rPr>
              <a:t>5.</a:t>
            </a:r>
            <a:r>
              <a:rPr lang="zh-CN" altLang="en-US" smtClean="0">
                <a:ea typeface="宋体" charset="-122"/>
              </a:rPr>
              <a:t>属性值必须要用“ ”号括起来。</a:t>
            </a:r>
          </a:p>
          <a:p>
            <a:pPr eaLnBrk="1" hangingPunct="1"/>
            <a:r>
              <a:rPr lang="en-US" altLang="zh-CN" smtClean="0">
                <a:ea typeface="宋体" charset="-122"/>
              </a:rPr>
              <a:t>6.</a:t>
            </a:r>
            <a:r>
              <a:rPr lang="zh-CN" altLang="en-US" smtClean="0">
                <a:ea typeface="宋体" charset="-122"/>
              </a:rPr>
              <a:t>控制标记、指令和属性名称等英文要区分大小写。</a:t>
            </a:r>
          </a:p>
          <a:p>
            <a:pPr eaLnBrk="1" hangingPunct="1"/>
            <a:endParaRPr lang="en-US" altLang="zh-CN" smtClean="0">
              <a:ea typeface="宋体"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p:spPr>
        <p:txBody>
          <a:bodyPr/>
          <a:lstStyle/>
          <a:p>
            <a:fld id="{64526D9F-AD36-4557-8021-A081A4FA2677}" type="slidenum">
              <a:rPr lang="en-US" altLang="zh-CN" smtClean="0">
                <a:ea typeface="宋体" charset="-122"/>
              </a:rPr>
              <a:pPr/>
              <a:t>25</a:t>
            </a:fld>
            <a:endParaRPr lang="en-US" altLang="zh-CN" smtClean="0">
              <a:ea typeface="宋体" charset="-122"/>
            </a:endParaRPr>
          </a:p>
        </p:txBody>
      </p:sp>
      <p:sp>
        <p:nvSpPr>
          <p:cNvPr id="138243" name="Rectangle 2"/>
          <p:cNvSpPr>
            <a:spLocks noGrp="1" noRot="1" noChangeAspect="1" noChangeArrowheads="1" noTextEdit="1"/>
          </p:cNvSpPr>
          <p:nvPr>
            <p:ph type="sldImg"/>
          </p:nvPr>
        </p:nvSpPr>
        <p:spPr>
          <a:ln/>
        </p:spPr>
      </p:sp>
      <p:sp>
        <p:nvSpPr>
          <p:cNvPr id="138244" name="Rectangle 3"/>
          <p:cNvSpPr>
            <a:spLocks noGrp="1" noChangeArrowheads="1"/>
          </p:cNvSpPr>
          <p:nvPr>
            <p:ph type="body" idx="1"/>
          </p:nvPr>
        </p:nvSpPr>
        <p:spPr>
          <a:noFill/>
          <a:ln/>
        </p:spPr>
        <p:txBody>
          <a:bodyPr/>
          <a:lstStyle/>
          <a:p>
            <a:pPr eaLnBrk="1" hangingPunct="1"/>
            <a:endParaRPr lang="zh-CN" altLang="zh-CN" smtClean="0">
              <a:ea typeface="宋体"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在名称空间作用范围内，对于属于该名称空间的元素或属性，应在名称前缀前添加前缀和冒号“</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”，表示其所属的名称空间。如“</a:t>
            </a:r>
            <a:r>
              <a:rPr lang="en-US" altLang="zh-CN" sz="1200" kern="1200" dirty="0" err="1" smtClean="0">
                <a:solidFill>
                  <a:schemeClr val="tx1"/>
                </a:solidFill>
                <a:effectLst/>
                <a:latin typeface="+mn-lt"/>
                <a:ea typeface="+mn-ea"/>
                <a:cs typeface="+mn-cs"/>
              </a:rPr>
              <a:t>ed:sch</a:t>
            </a:r>
            <a:r>
              <a:rPr lang="zh-CN" altLang="zh-CN" sz="1200" kern="1200" dirty="0" smtClean="0">
                <a:solidFill>
                  <a:schemeClr val="tx1"/>
                </a:solidFill>
                <a:effectLst/>
                <a:latin typeface="+mn-lt"/>
                <a:ea typeface="+mn-ea"/>
                <a:cs typeface="+mn-cs"/>
              </a:rPr>
              <a:t>”属于“</a:t>
            </a:r>
            <a:r>
              <a:rPr lang="en-US" altLang="zh-CN" sz="1200" kern="1200" dirty="0" smtClean="0">
                <a:solidFill>
                  <a:schemeClr val="tx1"/>
                </a:solidFill>
                <a:effectLst/>
                <a:latin typeface="+mn-lt"/>
                <a:ea typeface="+mn-ea"/>
                <a:cs typeface="+mn-cs"/>
              </a:rPr>
              <a:t>www.xxx.org</a:t>
            </a:r>
            <a:r>
              <a:rPr lang="zh-CN" altLang="zh-CN" sz="1200" kern="1200" dirty="0" smtClean="0">
                <a:solidFill>
                  <a:schemeClr val="tx1"/>
                </a:solidFill>
                <a:effectLst/>
                <a:latin typeface="+mn-lt"/>
                <a:ea typeface="+mn-ea"/>
                <a:cs typeface="+mn-cs"/>
              </a:rPr>
              <a:t>”名称空间。</a:t>
            </a:r>
          </a:p>
          <a:p>
            <a:r>
              <a:rPr lang="zh-CN" altLang="zh-CN" sz="1200" kern="1200" dirty="0" smtClean="0">
                <a:solidFill>
                  <a:schemeClr val="tx1"/>
                </a:solidFill>
                <a:effectLst/>
                <a:latin typeface="+mn-lt"/>
                <a:ea typeface="+mn-ea"/>
                <a:cs typeface="+mn-cs"/>
              </a:rPr>
              <a:t>在默认名称空间声明的作用范围内，不需要为属于默认名称空间的元素或实现添加前缀。当把名称空间声明移到根元素时，其作用范围延伸至整个文档，不必再在所有元素中声明</a:t>
            </a:r>
            <a:endParaRPr lang="zh-CN" altLang="en-US" dirty="0"/>
          </a:p>
        </p:txBody>
      </p:sp>
      <p:sp>
        <p:nvSpPr>
          <p:cNvPr id="4" name="灯片编号占位符 3"/>
          <p:cNvSpPr>
            <a:spLocks noGrp="1"/>
          </p:cNvSpPr>
          <p:nvPr>
            <p:ph type="sldNum" sz="quarter" idx="10"/>
          </p:nvPr>
        </p:nvSpPr>
        <p:spPr/>
        <p:txBody>
          <a:bodyPr/>
          <a:lstStyle/>
          <a:p>
            <a:fld id="{273B23B1-AE87-481B-BF79-14C0BA1C2433}" type="slidenum">
              <a:rPr lang="zh-CN" altLang="en-US" smtClean="0"/>
              <a:pPr/>
              <a:t>33</a:t>
            </a:fld>
            <a:endParaRPr lang="zh-CN" altLang="en-US"/>
          </a:p>
        </p:txBody>
      </p:sp>
    </p:spTree>
    <p:extLst>
      <p:ext uri="{BB962C8B-B14F-4D97-AF65-F5344CB8AC3E}">
        <p14:creationId xmlns:p14="http://schemas.microsoft.com/office/powerpoint/2010/main" val="3816030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“格式良好”并不能规范体现数据信息之间的逻辑关系、可以确保文件易读性的自定义元素。因此，需要文档类型定义</a:t>
            </a:r>
            <a:r>
              <a:rPr lang="en-US" altLang="zh-CN" sz="1200" kern="1200" dirty="0" smtClean="0">
                <a:solidFill>
                  <a:schemeClr val="tx1"/>
                </a:solidFill>
                <a:effectLst/>
                <a:latin typeface="+mn-lt"/>
                <a:ea typeface="+mn-ea"/>
                <a:cs typeface="+mn-cs"/>
              </a:rPr>
              <a:t> (Document Type Definition</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DTD)</a:t>
            </a:r>
            <a:r>
              <a:rPr lang="zh-CN" altLang="zh-CN" sz="1200" kern="1200" dirty="0" smtClean="0">
                <a:solidFill>
                  <a:schemeClr val="tx1"/>
                </a:solidFill>
                <a:effectLst/>
                <a:latin typeface="+mn-lt"/>
                <a:ea typeface="+mn-ea"/>
                <a:cs typeface="+mn-cs"/>
              </a:rPr>
              <a:t>来确保这些自定义元素的“有效性”</a:t>
            </a:r>
            <a:endParaRPr lang="zh-CN" altLang="en-US" dirty="0"/>
          </a:p>
        </p:txBody>
      </p:sp>
      <p:sp>
        <p:nvSpPr>
          <p:cNvPr id="4" name="灯片编号占位符 3"/>
          <p:cNvSpPr>
            <a:spLocks noGrp="1"/>
          </p:cNvSpPr>
          <p:nvPr>
            <p:ph type="sldNum" sz="quarter" idx="10"/>
          </p:nvPr>
        </p:nvSpPr>
        <p:spPr/>
        <p:txBody>
          <a:bodyPr/>
          <a:lstStyle/>
          <a:p>
            <a:fld id="{273B23B1-AE87-481B-BF79-14C0BA1C2433}" type="slidenum">
              <a:rPr lang="zh-CN" altLang="en-US" smtClean="0"/>
              <a:pPr/>
              <a:t>34</a:t>
            </a:fld>
            <a:endParaRPr lang="zh-CN" altLang="en-US"/>
          </a:p>
        </p:txBody>
      </p:sp>
    </p:spTree>
    <p:extLst>
      <p:ext uri="{BB962C8B-B14F-4D97-AF65-F5344CB8AC3E}">
        <p14:creationId xmlns:p14="http://schemas.microsoft.com/office/powerpoint/2010/main" val="14033396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一个</a:t>
            </a:r>
            <a:r>
              <a:rPr lang="en-US" altLang="zh-CN" sz="1200" kern="1200" dirty="0" smtClean="0">
                <a:solidFill>
                  <a:schemeClr val="tx1"/>
                </a:solidFill>
                <a:effectLst/>
                <a:latin typeface="+mn-lt"/>
                <a:ea typeface="+mn-ea"/>
                <a:cs typeface="+mn-cs"/>
              </a:rPr>
              <a:t>DTD</a:t>
            </a:r>
            <a:r>
              <a:rPr lang="zh-CN" altLang="zh-CN" sz="1200" kern="1200" dirty="0" smtClean="0">
                <a:solidFill>
                  <a:schemeClr val="tx1"/>
                </a:solidFill>
                <a:effectLst/>
                <a:latin typeface="+mn-lt"/>
                <a:ea typeface="+mn-ea"/>
                <a:cs typeface="+mn-cs"/>
              </a:rPr>
              <a:t>文档包含：元素的定义规则，元素间关系的定义规则，元素可使用的属性，可使用的实体或符号规则等</a:t>
            </a:r>
            <a:endParaRPr lang="en-US"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DTD</a:t>
            </a:r>
            <a:r>
              <a:rPr lang="zh-CN" altLang="zh-CN" sz="1200" kern="1200" dirty="0" smtClean="0">
                <a:solidFill>
                  <a:schemeClr val="tx1"/>
                </a:solidFill>
                <a:effectLst/>
                <a:latin typeface="+mn-lt"/>
                <a:ea typeface="+mn-ea"/>
                <a:cs typeface="+mn-cs"/>
              </a:rPr>
              <a:t>可以看作是一类</a:t>
            </a:r>
            <a:r>
              <a:rPr lang="en-US" altLang="zh-CN" sz="1200" kern="1200" dirty="0" smtClean="0">
                <a:solidFill>
                  <a:schemeClr val="tx1"/>
                </a:solidFill>
                <a:effectLst/>
                <a:latin typeface="+mn-lt"/>
                <a:ea typeface="+mn-ea"/>
                <a:cs typeface="+mn-cs"/>
              </a:rPr>
              <a:t>XML</a:t>
            </a:r>
            <a:r>
              <a:rPr lang="zh-CN" altLang="zh-CN" sz="1200" kern="1200" dirty="0" smtClean="0">
                <a:solidFill>
                  <a:schemeClr val="tx1"/>
                </a:solidFill>
                <a:effectLst/>
                <a:latin typeface="+mn-lt"/>
                <a:ea typeface="+mn-ea"/>
                <a:cs typeface="+mn-cs"/>
              </a:rPr>
              <a:t>文档的模板。它定义了文档的逻辑结构，规定了</a:t>
            </a:r>
            <a:r>
              <a:rPr lang="en-US" altLang="zh-CN" sz="1200" kern="1200" dirty="0" smtClean="0">
                <a:solidFill>
                  <a:schemeClr val="tx1"/>
                </a:solidFill>
                <a:effectLst/>
                <a:latin typeface="+mn-lt"/>
                <a:ea typeface="+mn-ea"/>
                <a:cs typeface="+mn-cs"/>
              </a:rPr>
              <a:t>XML</a:t>
            </a:r>
            <a:r>
              <a:rPr lang="zh-CN" altLang="zh-CN" sz="1200" kern="1200" dirty="0" smtClean="0">
                <a:solidFill>
                  <a:schemeClr val="tx1"/>
                </a:solidFill>
                <a:effectLst/>
                <a:latin typeface="+mn-lt"/>
                <a:ea typeface="+mn-ea"/>
                <a:cs typeface="+mn-cs"/>
              </a:rPr>
              <a:t>文档中所使用的元素，实体，元素的属性，元素与实体之间的关系。它使得数据交流与共享得以正常进行，验证了数据的有效性</a:t>
            </a:r>
            <a:endParaRPr lang="zh-CN" altLang="en-US" dirty="0"/>
          </a:p>
        </p:txBody>
      </p:sp>
      <p:sp>
        <p:nvSpPr>
          <p:cNvPr id="4" name="灯片编号占位符 3"/>
          <p:cNvSpPr>
            <a:spLocks noGrp="1"/>
          </p:cNvSpPr>
          <p:nvPr>
            <p:ph type="sldNum" sz="quarter" idx="10"/>
          </p:nvPr>
        </p:nvSpPr>
        <p:spPr/>
        <p:txBody>
          <a:bodyPr/>
          <a:lstStyle/>
          <a:p>
            <a:fld id="{273B23B1-AE87-481B-BF79-14C0BA1C2433}" type="slidenum">
              <a:rPr lang="zh-CN" altLang="en-US" smtClean="0"/>
              <a:pPr/>
              <a:t>35</a:t>
            </a:fld>
            <a:endParaRPr lang="zh-CN" altLang="en-US"/>
          </a:p>
        </p:txBody>
      </p:sp>
    </p:spTree>
    <p:extLst>
      <p:ext uri="{BB962C8B-B14F-4D97-AF65-F5344CB8AC3E}">
        <p14:creationId xmlns:p14="http://schemas.microsoft.com/office/powerpoint/2010/main" val="10988251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73B23B1-AE87-481B-BF79-14C0BA1C2433}" type="slidenum">
              <a:rPr lang="zh-CN" altLang="en-US" smtClean="0"/>
              <a:pPr/>
              <a:t>36</a:t>
            </a:fld>
            <a:endParaRPr lang="zh-CN" altLang="en-US"/>
          </a:p>
        </p:txBody>
      </p:sp>
    </p:spTree>
    <p:extLst>
      <p:ext uri="{BB962C8B-B14F-4D97-AF65-F5344CB8AC3E}">
        <p14:creationId xmlns:p14="http://schemas.microsoft.com/office/powerpoint/2010/main" val="32933243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幻灯片图像占位符 1"/>
          <p:cNvSpPr>
            <a:spLocks noGrp="1" noRot="1" noChangeAspect="1" noTextEdit="1"/>
          </p:cNvSpPr>
          <p:nvPr>
            <p:ph type="sldImg"/>
          </p:nvPr>
        </p:nvSpPr>
        <p:spPr>
          <a:ln/>
        </p:spPr>
      </p:sp>
      <p:sp>
        <p:nvSpPr>
          <p:cNvPr id="139267" name="备注占位符 2"/>
          <p:cNvSpPr>
            <a:spLocks noGrp="1"/>
          </p:cNvSpPr>
          <p:nvPr>
            <p:ph type="body" idx="1"/>
          </p:nvPr>
        </p:nvSpPr>
        <p:spPr>
          <a:noFill/>
          <a:ln/>
        </p:spPr>
        <p:txBody>
          <a:bodyPr/>
          <a:lstStyle/>
          <a:p>
            <a:r>
              <a:rPr lang="zh-CN" altLang="zh-CN" sz="1200" kern="1200" dirty="0" smtClean="0">
                <a:solidFill>
                  <a:schemeClr val="tx1"/>
                </a:solidFill>
                <a:effectLst/>
                <a:latin typeface="+mn-lt"/>
                <a:ea typeface="+mn-ea"/>
                <a:cs typeface="+mn-cs"/>
              </a:rPr>
              <a:t>格式：</a:t>
            </a:r>
            <a:r>
              <a:rPr lang="en-US" altLang="zh-CN" sz="1200" kern="1200" dirty="0" smtClean="0">
                <a:solidFill>
                  <a:schemeClr val="tx1"/>
                </a:solidFill>
                <a:effectLst/>
                <a:latin typeface="+mn-lt"/>
                <a:ea typeface="+mn-ea"/>
                <a:cs typeface="+mn-cs"/>
              </a:rPr>
              <a:t>&lt;!ATTLIST </a:t>
            </a:r>
            <a:r>
              <a:rPr lang="en-US" altLang="zh-CN" sz="1200" kern="1200" dirty="0" err="1" smtClean="0">
                <a:solidFill>
                  <a:schemeClr val="tx1"/>
                </a:solidFill>
                <a:effectLst/>
                <a:latin typeface="+mn-lt"/>
                <a:ea typeface="+mn-ea"/>
                <a:cs typeface="+mn-cs"/>
              </a:rPr>
              <a:t>Eltment_name</a:t>
            </a:r>
            <a:r>
              <a:rPr lang="en-US" altLang="zh-CN" sz="1200" kern="1200" dirty="0" smtClean="0">
                <a:solidFill>
                  <a:schemeClr val="tx1"/>
                </a:solidFill>
                <a:effectLst/>
                <a:latin typeface="+mn-lt"/>
                <a:ea typeface="+mn-ea"/>
                <a:cs typeface="+mn-cs"/>
              </a:rPr>
              <a:t>  </a:t>
            </a:r>
            <a:r>
              <a:rPr lang="en-US" altLang="zh-CN" sz="1200" kern="1200" dirty="0" err="1" smtClean="0">
                <a:solidFill>
                  <a:schemeClr val="tx1"/>
                </a:solidFill>
                <a:effectLst/>
                <a:latin typeface="+mn-lt"/>
                <a:ea typeface="+mn-ea"/>
                <a:cs typeface="+mn-cs"/>
              </a:rPr>
              <a:t>Attribute_name</a:t>
            </a:r>
            <a:r>
              <a:rPr lang="en-US" altLang="zh-CN" sz="1200" kern="1200" dirty="0" smtClean="0">
                <a:solidFill>
                  <a:schemeClr val="tx1"/>
                </a:solidFill>
                <a:effectLst/>
                <a:latin typeface="+mn-lt"/>
                <a:ea typeface="+mn-ea"/>
                <a:cs typeface="+mn-cs"/>
              </a:rPr>
              <a:t> Type [Keyword] [</a:t>
            </a:r>
            <a:r>
              <a:rPr lang="en-US" altLang="zh-CN" sz="1200" kern="1200" dirty="0" err="1" smtClean="0">
                <a:solidFill>
                  <a:schemeClr val="tx1"/>
                </a:solidFill>
                <a:effectLst/>
                <a:latin typeface="+mn-lt"/>
                <a:ea typeface="+mn-ea"/>
                <a:cs typeface="+mn-cs"/>
              </a:rPr>
              <a:t>Default_value</a:t>
            </a:r>
            <a:r>
              <a:rPr lang="en-US" altLang="zh-CN" sz="1200" kern="1200" dirty="0" smtClean="0">
                <a:solidFill>
                  <a:schemeClr val="tx1"/>
                </a:solidFill>
                <a:effectLst/>
                <a:latin typeface="+mn-lt"/>
                <a:ea typeface="+mn-ea"/>
                <a:cs typeface="+mn-cs"/>
              </a:rPr>
              <a:t>]&gt;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tx1"/>
                </a:solidFill>
                <a:effectLst/>
                <a:latin typeface="+mn-lt"/>
                <a:ea typeface="+mn-ea"/>
                <a:cs typeface="+mn-cs"/>
              </a:rPr>
              <a:t>&lt;!ATTLIST  </a:t>
            </a:r>
            <a:r>
              <a:rPr lang="zh-CN" altLang="zh-CN" sz="1200" kern="1200" dirty="0" smtClean="0">
                <a:solidFill>
                  <a:schemeClr val="tx1"/>
                </a:solidFill>
                <a:effectLst/>
                <a:latin typeface="+mn-lt"/>
                <a:ea typeface="+mn-ea"/>
                <a:cs typeface="+mn-cs"/>
              </a:rPr>
              <a:t>联系人 性别</a:t>
            </a:r>
            <a:r>
              <a:rPr lang="en-US" altLang="zh-CN" sz="1200" kern="1200" dirty="0" smtClean="0">
                <a:solidFill>
                  <a:schemeClr val="tx1"/>
                </a:solidFill>
                <a:effectLst/>
                <a:latin typeface="+mn-lt"/>
                <a:ea typeface="+mn-ea"/>
                <a:cs typeface="+mn-cs"/>
              </a:rPr>
              <a:t> CDATA </a:t>
            </a:r>
            <a:r>
              <a:rPr lang="zh-CN" altLang="zh-CN" sz="1200" kern="1200" dirty="0" smtClean="0">
                <a:solidFill>
                  <a:schemeClr val="tx1"/>
                </a:solidFill>
                <a:effectLst/>
                <a:latin typeface="+mn-lt"/>
                <a:ea typeface="+mn-ea"/>
                <a:cs typeface="+mn-cs"/>
              </a:rPr>
              <a:t>“男“</a:t>
            </a:r>
            <a:r>
              <a:rPr lang="en-US" altLang="zh-CN" sz="1200" kern="1200" dirty="0" smtClean="0">
                <a:solidFill>
                  <a:schemeClr val="tx1"/>
                </a:solidFill>
                <a:effectLst/>
                <a:latin typeface="+mn-lt"/>
                <a:ea typeface="+mn-ea"/>
                <a:cs typeface="+mn-cs"/>
              </a:rPr>
              <a:t>&gt;</a:t>
            </a:r>
            <a:endParaRPr lang="zh-CN"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&lt;!ATTLIST  </a:t>
            </a:r>
            <a:r>
              <a:rPr lang="zh-CN" altLang="zh-CN" sz="1200" kern="1200" dirty="0" smtClean="0">
                <a:solidFill>
                  <a:schemeClr val="tx1"/>
                </a:solidFill>
                <a:effectLst/>
                <a:latin typeface="+mn-lt"/>
                <a:ea typeface="+mn-ea"/>
                <a:cs typeface="+mn-cs"/>
              </a:rPr>
              <a:t>联系人 性别</a:t>
            </a:r>
            <a:r>
              <a:rPr lang="en-US" altLang="zh-CN" sz="1200" kern="1200" dirty="0" smtClean="0">
                <a:solidFill>
                  <a:schemeClr val="tx1"/>
                </a:solidFill>
                <a:effectLst/>
                <a:latin typeface="+mn-lt"/>
                <a:ea typeface="+mn-ea"/>
                <a:cs typeface="+mn-cs"/>
              </a:rPr>
              <a:t> CDATA #REQUIRED "</a:t>
            </a:r>
            <a:r>
              <a:rPr lang="zh-CN" altLang="zh-CN" sz="1200" kern="1200" dirty="0" smtClean="0">
                <a:solidFill>
                  <a:schemeClr val="tx1"/>
                </a:solidFill>
                <a:effectLst/>
                <a:latin typeface="+mn-lt"/>
                <a:ea typeface="+mn-ea"/>
                <a:cs typeface="+mn-cs"/>
              </a:rPr>
              <a:t>男</a:t>
            </a:r>
            <a:r>
              <a:rPr lang="en-US" altLang="zh-CN" sz="1200" kern="1200" dirty="0" smtClean="0">
                <a:solidFill>
                  <a:schemeClr val="tx1"/>
                </a:solidFill>
                <a:effectLst/>
                <a:latin typeface="+mn-lt"/>
                <a:ea typeface="+mn-ea"/>
                <a:cs typeface="+mn-cs"/>
              </a:rPr>
              <a:t>" &gt;</a:t>
            </a:r>
          </a:p>
          <a:p>
            <a:endParaRPr lang="zh-CN" altLang="en-US" dirty="0" smtClean="0">
              <a:ea typeface="宋体" charset="-122"/>
            </a:endParaRPr>
          </a:p>
        </p:txBody>
      </p:sp>
      <p:sp>
        <p:nvSpPr>
          <p:cNvPr id="139268" name="灯片编号占位符 3"/>
          <p:cNvSpPr>
            <a:spLocks noGrp="1"/>
          </p:cNvSpPr>
          <p:nvPr>
            <p:ph type="sldNum" sz="quarter" idx="5"/>
          </p:nvPr>
        </p:nvSpPr>
        <p:spPr>
          <a:noFill/>
        </p:spPr>
        <p:txBody>
          <a:bodyPr/>
          <a:lstStyle/>
          <a:p>
            <a:fld id="{ED9841CA-17CA-4266-B062-F084CC12B270}" type="slidenum">
              <a:rPr lang="en-US" altLang="zh-CN" smtClean="0">
                <a:ea typeface="宋体" charset="-122"/>
              </a:rPr>
              <a:pPr/>
              <a:t>41</a:t>
            </a:fld>
            <a:endParaRPr lang="en-US" altLang="zh-CN" smtClean="0">
              <a:ea typeface="宋体"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幻灯片图像占位符 1"/>
          <p:cNvSpPr>
            <a:spLocks noGrp="1" noRot="1" noChangeAspect="1" noTextEdit="1"/>
          </p:cNvSpPr>
          <p:nvPr>
            <p:ph type="sldImg"/>
          </p:nvPr>
        </p:nvSpPr>
        <p:spPr>
          <a:ln/>
        </p:spPr>
      </p:sp>
      <p:sp>
        <p:nvSpPr>
          <p:cNvPr id="140291" name="备注占位符 2"/>
          <p:cNvSpPr>
            <a:spLocks noGrp="1"/>
          </p:cNvSpPr>
          <p:nvPr>
            <p:ph type="body" idx="1"/>
          </p:nvPr>
        </p:nvSpPr>
        <p:spPr>
          <a:noFill/>
          <a:ln/>
        </p:spPr>
        <p:txBody>
          <a:bodyPr/>
          <a:lstStyle/>
          <a:p>
            <a:r>
              <a:rPr lang="zh-CN" altLang="zh-CN" sz="1200" kern="1200" dirty="0" smtClean="0">
                <a:solidFill>
                  <a:schemeClr val="tx1"/>
                </a:solidFill>
                <a:effectLst/>
                <a:latin typeface="+mn-lt"/>
                <a:ea typeface="+mn-ea"/>
                <a:cs typeface="+mn-cs"/>
              </a:rPr>
              <a:t>一般用</a:t>
            </a:r>
            <a:r>
              <a:rPr lang="en-US" altLang="zh-CN" sz="1200" kern="1200" dirty="0" smtClean="0">
                <a:solidFill>
                  <a:schemeClr val="tx1"/>
                </a:solidFill>
                <a:effectLst/>
                <a:latin typeface="+mn-lt"/>
                <a:ea typeface="+mn-ea"/>
                <a:cs typeface="+mn-cs"/>
              </a:rPr>
              <a:t>XSD</a:t>
            </a:r>
            <a:r>
              <a:rPr lang="zh-CN" altLang="zh-CN" sz="1200" kern="1200" dirty="0" smtClean="0">
                <a:solidFill>
                  <a:schemeClr val="tx1"/>
                </a:solidFill>
                <a:effectLst/>
                <a:latin typeface="+mn-lt"/>
                <a:ea typeface="+mn-ea"/>
                <a:cs typeface="+mn-cs"/>
              </a:rPr>
              <a:t>来表示</a:t>
            </a:r>
            <a:r>
              <a:rPr lang="en-US" altLang="zh-CN" sz="1200" kern="1200" dirty="0" smtClean="0">
                <a:solidFill>
                  <a:schemeClr val="tx1"/>
                </a:solidFill>
                <a:effectLst/>
                <a:latin typeface="+mn-lt"/>
                <a:ea typeface="+mn-ea"/>
                <a:cs typeface="+mn-cs"/>
              </a:rPr>
              <a:t>W3C XML Schema</a:t>
            </a:r>
            <a:r>
              <a:rPr lang="zh-CN" altLang="zh-CN" sz="1200" kern="1200" dirty="0" smtClean="0">
                <a:solidFill>
                  <a:schemeClr val="tx1"/>
                </a:solidFill>
                <a:effectLst/>
                <a:latin typeface="+mn-lt"/>
                <a:ea typeface="+mn-ea"/>
                <a:cs typeface="+mn-cs"/>
              </a:rPr>
              <a:t>，用</a:t>
            </a:r>
            <a:r>
              <a:rPr lang="en-US" altLang="zh-CN" sz="1200" kern="1200" dirty="0" smtClean="0">
                <a:solidFill>
                  <a:schemeClr val="tx1"/>
                </a:solidFill>
                <a:effectLst/>
                <a:latin typeface="+mn-lt"/>
                <a:ea typeface="+mn-ea"/>
                <a:cs typeface="+mn-cs"/>
              </a:rPr>
              <a:t>XML Schema</a:t>
            </a:r>
            <a:r>
              <a:rPr lang="zh-CN" altLang="zh-CN" sz="1200" kern="1200" dirty="0" smtClean="0">
                <a:solidFill>
                  <a:schemeClr val="tx1"/>
                </a:solidFill>
                <a:effectLst/>
                <a:latin typeface="+mn-lt"/>
                <a:ea typeface="+mn-ea"/>
                <a:cs typeface="+mn-cs"/>
              </a:rPr>
              <a:t>语言写的文档，在文档中使用对</a:t>
            </a:r>
            <a:r>
              <a:rPr lang="en-US" altLang="zh-CN" sz="1200" kern="1200" dirty="0" smtClean="0">
                <a:solidFill>
                  <a:schemeClr val="tx1"/>
                </a:solidFill>
                <a:effectLst/>
                <a:latin typeface="+mn-lt"/>
                <a:ea typeface="+mn-ea"/>
                <a:cs typeface="+mn-cs"/>
              </a:rPr>
              <a:t>XML Schema</a:t>
            </a:r>
            <a:r>
              <a:rPr lang="zh-CN" altLang="zh-CN" sz="1200" kern="1200" dirty="0" smtClean="0">
                <a:solidFill>
                  <a:schemeClr val="tx1"/>
                </a:solidFill>
                <a:effectLst/>
                <a:latin typeface="+mn-lt"/>
                <a:ea typeface="+mn-ea"/>
                <a:cs typeface="+mn-cs"/>
              </a:rPr>
              <a:t>的名称空间声明，以“</a:t>
            </a:r>
            <a:r>
              <a:rPr lang="en-US" altLang="zh-CN" sz="1200" kern="1200" dirty="0" err="1" smtClean="0">
                <a:solidFill>
                  <a:schemeClr val="tx1"/>
                </a:solidFill>
                <a:effectLst/>
                <a:latin typeface="+mn-lt"/>
                <a:ea typeface="+mn-ea"/>
                <a:cs typeface="+mn-cs"/>
              </a:rPr>
              <a:t>xsd</a:t>
            </a:r>
            <a:r>
              <a:rPr lang="zh-CN" altLang="zh-CN" sz="1200" kern="1200" dirty="0" smtClean="0">
                <a:solidFill>
                  <a:schemeClr val="tx1"/>
                </a:solidFill>
                <a:effectLst/>
                <a:latin typeface="+mn-lt"/>
                <a:ea typeface="+mn-ea"/>
                <a:cs typeface="+mn-cs"/>
              </a:rPr>
              <a:t>”为文件后缀名。</a:t>
            </a:r>
            <a:endParaRPr lang="zh-CN" altLang="en-US" dirty="0" smtClean="0">
              <a:ea typeface="宋体" charset="-122"/>
            </a:endParaRPr>
          </a:p>
        </p:txBody>
      </p:sp>
      <p:sp>
        <p:nvSpPr>
          <p:cNvPr id="140292" name="灯片编号占位符 3"/>
          <p:cNvSpPr>
            <a:spLocks noGrp="1"/>
          </p:cNvSpPr>
          <p:nvPr>
            <p:ph type="sldNum" sz="quarter" idx="5"/>
          </p:nvPr>
        </p:nvSpPr>
        <p:spPr>
          <a:noFill/>
        </p:spPr>
        <p:txBody>
          <a:bodyPr/>
          <a:lstStyle/>
          <a:p>
            <a:fld id="{E57FF0C3-AA32-4BD6-B5E0-4C333C840C82}" type="slidenum">
              <a:rPr lang="en-US" altLang="zh-CN" smtClean="0">
                <a:ea typeface="宋体" charset="-122"/>
              </a:rPr>
              <a:pPr/>
              <a:t>44</a:t>
            </a:fld>
            <a:endParaRPr lang="en-US" altLang="zh-CN" smtClean="0">
              <a:ea typeface="宋体"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Rot="1" noChangeAspect="1" noChangeArrowheads="1" noTextEdit="1"/>
          </p:cNvSpPr>
          <p:nvPr>
            <p:ph type="sldImg"/>
          </p:nvPr>
        </p:nvSpPr>
        <p:spPr>
          <a:ln/>
        </p:spPr>
      </p:sp>
      <p:sp>
        <p:nvSpPr>
          <p:cNvPr id="154627" name="Rectangle 3"/>
          <p:cNvSpPr>
            <a:spLocks noGrp="1" noChangeArrowheads="1"/>
          </p:cNvSpPr>
          <p:nvPr>
            <p:ph type="body" idx="1"/>
          </p:nvPr>
        </p:nvSpPr>
        <p:spPr>
          <a:noFill/>
          <a:ln/>
        </p:spPr>
        <p:txBody>
          <a:bodyPr/>
          <a:lstStyle/>
          <a:p>
            <a:r>
              <a:rPr lang="en-US" altLang="zh-CN" b="1" smtClean="0">
                <a:ea typeface="宋体" charset="-122"/>
              </a:rPr>
              <a:t>Schema</a:t>
            </a:r>
            <a:r>
              <a:rPr lang="zh-CN" altLang="en-US" b="1" smtClean="0">
                <a:ea typeface="宋体" charset="-122"/>
              </a:rPr>
              <a:t>是根元素</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Rot="1" noChangeAspect="1" noChangeArrowheads="1" noTextEdit="1"/>
          </p:cNvSpPr>
          <p:nvPr>
            <p:ph type="sldImg"/>
          </p:nvPr>
        </p:nvSpPr>
        <p:spPr>
          <a:ln/>
        </p:spPr>
      </p:sp>
      <p:sp>
        <p:nvSpPr>
          <p:cNvPr id="155651" name="Rectangle 3"/>
          <p:cNvSpPr>
            <a:spLocks noGrp="1" noChangeArrowheads="1"/>
          </p:cNvSpPr>
          <p:nvPr>
            <p:ph type="body" idx="1"/>
          </p:nvPr>
        </p:nvSpPr>
        <p:spPr>
          <a:noFill/>
          <a:ln/>
        </p:spPr>
        <p:txBody>
          <a:bodyPr/>
          <a:lstStyle/>
          <a:p>
            <a:r>
              <a:rPr lang="en-US" altLang="zh-CN" sz="1000" b="1" smtClean="0">
                <a:ea typeface="宋体" charset="-122"/>
              </a:rPr>
              <a:t>Xmlns</a:t>
            </a:r>
            <a:r>
              <a:rPr lang="zh-CN" altLang="en-US" sz="1000" b="1" smtClean="0">
                <a:ea typeface="宋体" charset="-122"/>
              </a:rPr>
              <a:t>指示</a:t>
            </a:r>
            <a:r>
              <a:rPr lang="en-US" altLang="zh-CN" sz="1000" b="1" smtClean="0">
                <a:ea typeface="宋体" charset="-122"/>
              </a:rPr>
              <a:t>Schema</a:t>
            </a:r>
            <a:r>
              <a:rPr lang="zh-CN" altLang="en-US" sz="1000" b="1" smtClean="0">
                <a:ea typeface="宋体" charset="-122"/>
              </a:rPr>
              <a:t>文档的命名空间</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Rot="1" noChangeAspect="1" noChangeArrowheads="1" noTextEdit="1"/>
          </p:cNvSpPr>
          <p:nvPr>
            <p:ph type="sldImg"/>
          </p:nvPr>
        </p:nvSpPr>
        <p:spPr>
          <a:ln/>
        </p:spPr>
      </p:sp>
      <p:sp>
        <p:nvSpPr>
          <p:cNvPr id="158723" name="Rectangle 3"/>
          <p:cNvSpPr>
            <a:spLocks noGrp="1" noChangeArrowheads="1"/>
          </p:cNvSpPr>
          <p:nvPr>
            <p:ph type="body" idx="1"/>
          </p:nvPr>
        </p:nvSpPr>
        <p:spPr>
          <a:noFill/>
          <a:ln/>
        </p:spPr>
        <p:txBody>
          <a:bodyPr/>
          <a:lstStyle/>
          <a:p>
            <a:r>
              <a:rPr lang="en-US" altLang="zh-CN" sz="1000" b="1" smtClean="0">
                <a:latin typeface="宋体" charset="-122"/>
                <a:ea typeface="宋体" charset="-122"/>
              </a:rPr>
              <a:t>Eltonly:</a:t>
            </a:r>
            <a:r>
              <a:rPr lang="zh-CN" altLang="en-US" sz="1000" b="1" smtClean="0">
                <a:latin typeface="宋体" charset="-122"/>
                <a:ea typeface="宋体" charset="-122"/>
              </a:rPr>
              <a:t>只有元素</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Rot="1" noChangeAspect="1" noChangeArrowheads="1" noTextEdit="1"/>
          </p:cNvSpPr>
          <p:nvPr>
            <p:ph type="sldImg"/>
          </p:nvPr>
        </p:nvSpPr>
        <p:spPr>
          <a:ln/>
        </p:spPr>
      </p:sp>
      <p:sp>
        <p:nvSpPr>
          <p:cNvPr id="159747" name="Rectangle 3"/>
          <p:cNvSpPr>
            <a:spLocks noGrp="1" noChangeArrowheads="1"/>
          </p:cNvSpPr>
          <p:nvPr>
            <p:ph type="body" idx="1"/>
          </p:nvPr>
        </p:nvSpPr>
        <p:spPr>
          <a:noFill/>
          <a:ln/>
        </p:spPr>
        <p:txBody>
          <a:bodyPr/>
          <a:lstStyle/>
          <a:p>
            <a:r>
              <a:rPr lang="en-US" altLang="zh-CN" b="1" smtClean="0">
                <a:latin typeface="宋体" charset="-122"/>
                <a:ea typeface="宋体" charset="-122"/>
              </a:rPr>
              <a:t>fixed.14.4:</a:t>
            </a:r>
            <a:r>
              <a:rPr lang="zh-CN" altLang="en-US" b="1" smtClean="0">
                <a:latin typeface="宋体" charset="-122"/>
                <a:ea typeface="宋体" charset="-122"/>
              </a:rPr>
              <a:t>小数点前最多</a:t>
            </a:r>
            <a:r>
              <a:rPr lang="en-US" altLang="zh-CN" b="1" smtClean="0">
                <a:latin typeface="宋体" charset="-122"/>
                <a:ea typeface="宋体" charset="-122"/>
              </a:rPr>
              <a:t>14</a:t>
            </a:r>
            <a:r>
              <a:rPr lang="zh-CN" altLang="en-US" b="1" smtClean="0">
                <a:latin typeface="宋体" charset="-122"/>
                <a:ea typeface="宋体" charset="-122"/>
              </a:rPr>
              <a:t>位，后最多</a:t>
            </a:r>
            <a:r>
              <a:rPr lang="en-US" altLang="zh-CN" b="1" smtClean="0">
                <a:latin typeface="宋体" charset="-122"/>
                <a:ea typeface="宋体" charset="-122"/>
              </a:rPr>
              <a:t>4</a:t>
            </a:r>
            <a:r>
              <a:rPr lang="zh-CN" altLang="en-US" b="1" smtClean="0">
                <a:latin typeface="宋体" charset="-122"/>
                <a:ea typeface="宋体" charset="-122"/>
              </a:rPr>
              <a:t>位</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XSL </a:t>
            </a:r>
            <a:r>
              <a:rPr lang="zh-CN" altLang="en-US" sz="1200" kern="1200" dirty="0" smtClean="0">
                <a:solidFill>
                  <a:schemeClr val="tx1"/>
                </a:solidFill>
                <a:latin typeface="+mn-lt"/>
                <a:ea typeface="+mn-ea"/>
                <a:cs typeface="+mn-cs"/>
              </a:rPr>
              <a:t>声明与</a:t>
            </a:r>
            <a:r>
              <a:rPr lang="en-US" sz="1200" kern="1200" dirty="0" smtClean="0">
                <a:solidFill>
                  <a:schemeClr val="tx1"/>
                </a:solidFill>
                <a:latin typeface="+mn-lt"/>
                <a:ea typeface="+mn-ea"/>
                <a:cs typeface="+mn-cs"/>
              </a:rPr>
              <a:t> XML </a:t>
            </a:r>
            <a:r>
              <a:rPr lang="zh-CN" altLang="en-US" sz="1200" kern="1200" dirty="0" smtClean="0">
                <a:solidFill>
                  <a:schemeClr val="tx1"/>
                </a:solidFill>
                <a:latin typeface="+mn-lt"/>
                <a:ea typeface="+mn-ea"/>
                <a:cs typeface="+mn-cs"/>
              </a:rPr>
              <a:t>声明的不同，</a:t>
            </a:r>
            <a:r>
              <a:rPr lang="en-US" sz="1200" kern="1200" dirty="0" smtClean="0">
                <a:solidFill>
                  <a:schemeClr val="tx1"/>
                </a:solidFill>
                <a:latin typeface="+mn-lt"/>
                <a:ea typeface="+mn-ea"/>
                <a:cs typeface="+mn-cs"/>
              </a:rPr>
              <a:t>XSL</a:t>
            </a:r>
            <a:r>
              <a:rPr lang="zh-CN" altLang="en-US" sz="1200" kern="1200" dirty="0" smtClean="0">
                <a:solidFill>
                  <a:schemeClr val="tx1"/>
                </a:solidFill>
                <a:latin typeface="+mn-lt"/>
                <a:ea typeface="+mn-ea"/>
                <a:cs typeface="+mn-cs"/>
              </a:rPr>
              <a:t>有一个根元素，由</a:t>
            </a:r>
            <a:r>
              <a:rPr lang="en-US" sz="1200" kern="1200" dirty="0" smtClean="0">
                <a:solidFill>
                  <a:schemeClr val="tx1"/>
                </a:solidFill>
                <a:latin typeface="+mn-lt"/>
                <a:ea typeface="+mn-ea"/>
                <a:cs typeface="+mn-cs"/>
              </a:rPr>
              <a:t> &lt;</a:t>
            </a:r>
            <a:r>
              <a:rPr lang="en-US" sz="1200" kern="1200" dirty="0" err="1" smtClean="0">
                <a:solidFill>
                  <a:schemeClr val="tx1"/>
                </a:solidFill>
                <a:latin typeface="+mn-lt"/>
                <a:ea typeface="+mn-ea"/>
                <a:cs typeface="+mn-cs"/>
              </a:rPr>
              <a:t>xsl:stylesheet</a:t>
            </a:r>
            <a:r>
              <a:rPr lang="en-US" sz="1200" kern="1200" dirty="0" smtClean="0">
                <a:solidFill>
                  <a:schemeClr val="tx1"/>
                </a:solidFill>
                <a:latin typeface="+mn-lt"/>
                <a:ea typeface="+mn-ea"/>
                <a:cs typeface="+mn-cs"/>
              </a:rPr>
              <a:t>&gt; </a:t>
            </a:r>
            <a:r>
              <a:rPr lang="zh-CN" altLang="en-US" sz="1200" kern="1200" dirty="0" smtClean="0">
                <a:solidFill>
                  <a:schemeClr val="tx1"/>
                </a:solidFill>
                <a:latin typeface="+mn-lt"/>
                <a:ea typeface="+mn-ea"/>
                <a:cs typeface="+mn-cs"/>
              </a:rPr>
              <a:t>标签指定</a:t>
            </a:r>
            <a:endParaRPr lang="zh-CN" altLang="en-US" dirty="0"/>
          </a:p>
        </p:txBody>
      </p:sp>
      <p:sp>
        <p:nvSpPr>
          <p:cNvPr id="4" name="灯片编号占位符 3"/>
          <p:cNvSpPr>
            <a:spLocks noGrp="1"/>
          </p:cNvSpPr>
          <p:nvPr>
            <p:ph type="sldNum" sz="quarter" idx="10"/>
          </p:nvPr>
        </p:nvSpPr>
        <p:spPr/>
        <p:txBody>
          <a:bodyPr/>
          <a:lstStyle/>
          <a:p>
            <a:fld id="{273B23B1-AE87-481B-BF79-14C0BA1C2433}" type="slidenum">
              <a:rPr lang="zh-CN" altLang="en-US" smtClean="0"/>
              <a:pPr/>
              <a:t>67</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p:spPr>
        <p:txBody>
          <a:bodyPr/>
          <a:lstStyle/>
          <a:p>
            <a:fld id="{2726C2F0-811E-4DA6-9D64-ED6FFB5AA305}" type="slidenum">
              <a:rPr lang="en-US" altLang="zh-CN" smtClean="0">
                <a:ea typeface="宋体" charset="-122"/>
              </a:rPr>
              <a:pPr/>
              <a:t>74</a:t>
            </a:fld>
            <a:endParaRPr lang="en-US" altLang="zh-CN" smtClean="0">
              <a:ea typeface="宋体" charset="-122"/>
            </a:endParaRPr>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p:spPr>
        <p:txBody>
          <a:bodyPr/>
          <a:lstStyle/>
          <a:p>
            <a:pPr>
              <a:lnSpc>
                <a:spcPct val="90000"/>
              </a:lnSpc>
            </a:pPr>
            <a:r>
              <a:rPr lang="zh-CN" altLang="en-US" dirty="0" smtClean="0">
                <a:ea typeface="宋体" charset="-122"/>
              </a:rPr>
              <a:t>根节点 </a:t>
            </a:r>
            <a:br>
              <a:rPr lang="zh-CN" altLang="en-US" dirty="0" smtClean="0">
                <a:ea typeface="宋体" charset="-122"/>
              </a:rPr>
            </a:br>
            <a:r>
              <a:rPr lang="zh-CN" altLang="en-US" dirty="0" smtClean="0">
                <a:ea typeface="宋体" charset="-122"/>
              </a:rPr>
              <a:t>    根节点除了在树的根部出现以外，不在其他地方出现，文档中的元素节点都是根节点的子节点，子节点还可以是在序言中或是文档结尾处出现的处理指令节点和注释节点 </a:t>
            </a:r>
            <a:br>
              <a:rPr lang="zh-CN" altLang="en-US" dirty="0" smtClean="0">
                <a:ea typeface="宋体" charset="-122"/>
              </a:rPr>
            </a:br>
            <a:r>
              <a:rPr lang="zh-CN" altLang="en-US" dirty="0" smtClean="0">
                <a:ea typeface="宋体" charset="-122"/>
              </a:rPr>
              <a:t>    元素节点 </a:t>
            </a:r>
            <a:br>
              <a:rPr lang="zh-CN" altLang="en-US" dirty="0" smtClean="0">
                <a:ea typeface="宋体" charset="-122"/>
              </a:rPr>
            </a:br>
            <a:r>
              <a:rPr lang="zh-CN" altLang="en-US" dirty="0" smtClean="0">
                <a:ea typeface="宋体" charset="-122"/>
              </a:rPr>
              <a:t>    对应于文档中的每一个元素，都有一个元素节点，元素节点可能有一个唯一的</a:t>
            </a:r>
            <a:r>
              <a:rPr lang="en-US" altLang="zh-CN" dirty="0" smtClean="0">
                <a:ea typeface="宋体" charset="-122"/>
              </a:rPr>
              <a:t>id</a:t>
            </a:r>
            <a:r>
              <a:rPr lang="zh-CN" altLang="en-US" dirty="0" smtClean="0">
                <a:ea typeface="宋体" charset="-122"/>
              </a:rPr>
              <a:t>，该节点的</a:t>
            </a:r>
            <a:r>
              <a:rPr lang="en-US" altLang="zh-CN" dirty="0" smtClean="0">
                <a:ea typeface="宋体" charset="-122"/>
              </a:rPr>
              <a:t>Id</a:t>
            </a:r>
            <a:r>
              <a:rPr lang="zh-CN" altLang="en-US" dirty="0" smtClean="0">
                <a:ea typeface="宋体" charset="-122"/>
              </a:rPr>
              <a:t>就是元素</a:t>
            </a:r>
            <a:r>
              <a:rPr lang="en-US" altLang="zh-CN" dirty="0" smtClean="0">
                <a:ea typeface="宋体" charset="-122"/>
              </a:rPr>
              <a:t>id</a:t>
            </a:r>
            <a:r>
              <a:rPr lang="zh-CN" altLang="en-US" dirty="0" smtClean="0">
                <a:ea typeface="宋体" charset="-122"/>
              </a:rPr>
              <a:t>的属性值，但是</a:t>
            </a:r>
            <a:r>
              <a:rPr lang="en-US" altLang="zh-CN" dirty="0" smtClean="0">
                <a:ea typeface="宋体" charset="-122"/>
              </a:rPr>
              <a:t>Id</a:t>
            </a:r>
            <a:r>
              <a:rPr lang="zh-CN" altLang="en-US" dirty="0" smtClean="0">
                <a:ea typeface="宋体" charset="-122"/>
              </a:rPr>
              <a:t>是不允许重复的 </a:t>
            </a:r>
            <a:br>
              <a:rPr lang="zh-CN" altLang="en-US" dirty="0" smtClean="0">
                <a:ea typeface="宋体" charset="-122"/>
              </a:rPr>
            </a:br>
            <a:r>
              <a:rPr lang="zh-CN" altLang="en-US" dirty="0" smtClean="0">
                <a:ea typeface="宋体" charset="-122"/>
              </a:rPr>
              <a:t>    文本节点 </a:t>
            </a:r>
            <a:br>
              <a:rPr lang="zh-CN" altLang="en-US" dirty="0" smtClean="0">
                <a:ea typeface="宋体" charset="-122"/>
              </a:rPr>
            </a:br>
            <a:r>
              <a:rPr lang="zh-CN" altLang="en-US" dirty="0" smtClean="0">
                <a:ea typeface="宋体" charset="-122"/>
              </a:rPr>
              <a:t>    字符数据组成文本节点，每个字符节点总是尽可能将字符组合在一起，因此一个文本节点不可能有文本节点类型的兄弟节点 </a:t>
            </a:r>
            <a:br>
              <a:rPr lang="zh-CN" altLang="en-US" dirty="0" smtClean="0">
                <a:ea typeface="宋体" charset="-122"/>
              </a:rPr>
            </a:br>
            <a:r>
              <a:rPr lang="zh-CN" altLang="en-US" dirty="0" smtClean="0">
                <a:ea typeface="宋体" charset="-122"/>
              </a:rPr>
              <a:t>    属性节点 </a:t>
            </a:r>
            <a:br>
              <a:rPr lang="zh-CN" altLang="en-US" dirty="0" smtClean="0">
                <a:ea typeface="宋体" charset="-122"/>
              </a:rPr>
            </a:br>
            <a:r>
              <a:rPr lang="zh-CN" altLang="en-US" dirty="0" smtClean="0">
                <a:ea typeface="宋体" charset="-122"/>
              </a:rPr>
              <a:t>    任何一个元素节点都有一个相关联的属性节点集，元素节点就是该属性节点集的父节点 </a:t>
            </a:r>
            <a:br>
              <a:rPr lang="zh-CN" altLang="en-US" dirty="0" smtClean="0">
                <a:ea typeface="宋体" charset="-122"/>
              </a:rPr>
            </a:br>
            <a:r>
              <a:rPr lang="zh-CN" altLang="en-US" dirty="0" smtClean="0">
                <a:ea typeface="宋体" charset="-122"/>
              </a:rPr>
              <a:t>    名字空间节点 </a:t>
            </a:r>
            <a:br>
              <a:rPr lang="zh-CN" altLang="en-US" dirty="0" smtClean="0">
                <a:ea typeface="宋体" charset="-122"/>
              </a:rPr>
            </a:br>
            <a:r>
              <a:rPr lang="zh-CN" altLang="en-US" dirty="0" smtClean="0">
                <a:ea typeface="宋体" charset="-122"/>
              </a:rPr>
              <a:t>    一个元素节点具有相关联的名域节点集，对一个元素节点可能具有如下的属性节点： </a:t>
            </a:r>
            <a:br>
              <a:rPr lang="zh-CN" altLang="en-US" dirty="0" smtClean="0">
                <a:ea typeface="宋体" charset="-122"/>
              </a:rPr>
            </a:br>
            <a:r>
              <a:rPr lang="zh-CN" altLang="en-US" dirty="0" smtClean="0">
                <a:ea typeface="宋体" charset="-122"/>
              </a:rPr>
              <a:t>    在当前元素中以</a:t>
            </a:r>
            <a:r>
              <a:rPr lang="en-US" altLang="zh-CN" dirty="0" err="1" smtClean="0">
                <a:ea typeface="宋体" charset="-122"/>
              </a:rPr>
              <a:t>xmlns</a:t>
            </a:r>
            <a:r>
              <a:rPr lang="en-US" altLang="zh-CN" dirty="0" smtClean="0">
                <a:ea typeface="宋体" charset="-122"/>
              </a:rPr>
              <a:t>:</a:t>
            </a:r>
            <a:r>
              <a:rPr lang="zh-CN" altLang="en-US" dirty="0" smtClean="0">
                <a:ea typeface="宋体" charset="-122"/>
              </a:rPr>
              <a:t>开头的属性； </a:t>
            </a:r>
            <a:br>
              <a:rPr lang="zh-CN" altLang="en-US" dirty="0" smtClean="0">
                <a:ea typeface="宋体" charset="-122"/>
              </a:rPr>
            </a:br>
            <a:r>
              <a:rPr lang="zh-CN" altLang="en-US" dirty="0" smtClean="0">
                <a:ea typeface="宋体" charset="-122"/>
              </a:rPr>
              <a:t>    祖先元素中以</a:t>
            </a:r>
            <a:r>
              <a:rPr lang="en-US" altLang="zh-CN" dirty="0" err="1" smtClean="0">
                <a:ea typeface="宋体" charset="-122"/>
              </a:rPr>
              <a:t>xmlns</a:t>
            </a:r>
            <a:r>
              <a:rPr lang="zh-CN" altLang="en-US" dirty="0" smtClean="0">
                <a:ea typeface="宋体" charset="-122"/>
              </a:rPr>
              <a:t>：开头的属性，并且没有比之更近的祖先重新声明该前缀； </a:t>
            </a:r>
            <a:br>
              <a:rPr lang="zh-CN" altLang="en-US" dirty="0" smtClean="0">
                <a:ea typeface="宋体" charset="-122"/>
              </a:rPr>
            </a:br>
            <a:r>
              <a:rPr lang="zh-CN" altLang="en-US" dirty="0" smtClean="0">
                <a:ea typeface="宋体" charset="-122"/>
              </a:rPr>
              <a:t>    处理指令节点 </a:t>
            </a:r>
            <a:br>
              <a:rPr lang="zh-CN" altLang="en-US" dirty="0" smtClean="0">
                <a:ea typeface="宋体" charset="-122"/>
              </a:rPr>
            </a:br>
            <a:r>
              <a:rPr lang="zh-CN" altLang="en-US" dirty="0" smtClean="0">
                <a:ea typeface="宋体" charset="-122"/>
              </a:rPr>
              <a:t>    除了文档类型声明中的处理指令外，每一个处理指令都有处理指令节点 </a:t>
            </a:r>
            <a:br>
              <a:rPr lang="zh-CN" altLang="en-US" dirty="0" smtClean="0">
                <a:ea typeface="宋体" charset="-122"/>
              </a:rPr>
            </a:br>
            <a:r>
              <a:rPr lang="zh-CN" altLang="en-US" dirty="0" smtClean="0">
                <a:ea typeface="宋体" charset="-122"/>
              </a:rPr>
              <a:t>    注释节点 </a:t>
            </a:r>
            <a:br>
              <a:rPr lang="zh-CN" altLang="en-US" dirty="0" smtClean="0">
                <a:ea typeface="宋体" charset="-122"/>
              </a:rPr>
            </a:br>
            <a:r>
              <a:rPr lang="zh-CN" altLang="en-US" dirty="0" smtClean="0">
                <a:ea typeface="宋体" charset="-122"/>
              </a:rPr>
              <a:t>    除了文档类型声明中的注释外，所有的注释都有注释节点 </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然而</a:t>
            </a:r>
            <a:r>
              <a:rPr lang="en-US" altLang="zh-CN" sz="1200" kern="1200" dirty="0" smtClean="0">
                <a:solidFill>
                  <a:schemeClr val="tx1"/>
                </a:solidFill>
                <a:effectLst/>
                <a:latin typeface="+mn-lt"/>
                <a:ea typeface="+mn-ea"/>
                <a:cs typeface="+mn-cs"/>
              </a:rPr>
              <a:t>XML</a:t>
            </a:r>
            <a:r>
              <a:rPr lang="zh-CN" altLang="zh-CN" sz="1200" kern="1200" dirty="0" smtClean="0">
                <a:solidFill>
                  <a:schemeClr val="tx1"/>
                </a:solidFill>
                <a:effectLst/>
                <a:latin typeface="+mn-lt"/>
                <a:ea typeface="+mn-ea"/>
                <a:cs typeface="+mn-cs"/>
              </a:rPr>
              <a:t>本身只是以纯文本对数据进行编码的一种格式，要想利用</a:t>
            </a:r>
            <a:r>
              <a:rPr lang="en-US" altLang="zh-CN" sz="1200" kern="1200" dirty="0" smtClean="0">
                <a:solidFill>
                  <a:schemeClr val="tx1"/>
                </a:solidFill>
                <a:effectLst/>
                <a:latin typeface="+mn-lt"/>
                <a:ea typeface="+mn-ea"/>
                <a:cs typeface="+mn-cs"/>
              </a:rPr>
              <a:t>XML</a:t>
            </a:r>
            <a:r>
              <a:rPr lang="zh-CN" altLang="zh-CN" sz="1200" kern="1200" dirty="0" smtClean="0">
                <a:solidFill>
                  <a:schemeClr val="tx1"/>
                </a:solidFill>
                <a:effectLst/>
                <a:latin typeface="+mn-lt"/>
                <a:ea typeface="+mn-ea"/>
                <a:cs typeface="+mn-cs"/>
              </a:rPr>
              <a:t>，或者说利用</a:t>
            </a:r>
            <a:r>
              <a:rPr lang="en-US" altLang="zh-CN" sz="1200" kern="1200" dirty="0" smtClean="0">
                <a:solidFill>
                  <a:schemeClr val="tx1"/>
                </a:solidFill>
                <a:effectLst/>
                <a:latin typeface="+mn-lt"/>
                <a:ea typeface="+mn-ea"/>
                <a:cs typeface="+mn-cs"/>
              </a:rPr>
              <a:t>XML</a:t>
            </a:r>
            <a:r>
              <a:rPr lang="zh-CN" altLang="zh-CN" sz="1200" kern="1200" dirty="0" smtClean="0">
                <a:solidFill>
                  <a:schemeClr val="tx1"/>
                </a:solidFill>
                <a:effectLst/>
                <a:latin typeface="+mn-lt"/>
                <a:ea typeface="+mn-ea"/>
                <a:cs typeface="+mn-cs"/>
              </a:rPr>
              <a:t>文件中所编码的数据，必须先将数据从纯文本中解析出来，因此，必须有一个能够识别</a:t>
            </a:r>
            <a:r>
              <a:rPr lang="en-US" altLang="zh-CN" sz="1200" kern="1200" dirty="0" smtClean="0">
                <a:solidFill>
                  <a:schemeClr val="tx1"/>
                </a:solidFill>
                <a:effectLst/>
                <a:latin typeface="+mn-lt"/>
                <a:ea typeface="+mn-ea"/>
                <a:cs typeface="+mn-cs"/>
              </a:rPr>
              <a:t>XML</a:t>
            </a:r>
            <a:r>
              <a:rPr lang="zh-CN" altLang="zh-CN" sz="1200" kern="1200" dirty="0" smtClean="0">
                <a:solidFill>
                  <a:schemeClr val="tx1"/>
                </a:solidFill>
                <a:effectLst/>
                <a:latin typeface="+mn-lt"/>
                <a:ea typeface="+mn-ea"/>
                <a:cs typeface="+mn-cs"/>
              </a:rPr>
              <a:t>文档中信息的解析器，用来解释</a:t>
            </a:r>
            <a:r>
              <a:rPr lang="en-US" altLang="zh-CN" sz="1200" kern="1200" dirty="0" smtClean="0">
                <a:solidFill>
                  <a:schemeClr val="tx1"/>
                </a:solidFill>
                <a:effectLst/>
                <a:latin typeface="+mn-lt"/>
                <a:ea typeface="+mn-ea"/>
                <a:cs typeface="+mn-cs"/>
              </a:rPr>
              <a:t>XML</a:t>
            </a:r>
            <a:r>
              <a:rPr lang="zh-CN" altLang="zh-CN" sz="1200" kern="1200" dirty="0" smtClean="0">
                <a:solidFill>
                  <a:schemeClr val="tx1"/>
                </a:solidFill>
                <a:effectLst/>
                <a:latin typeface="+mn-lt"/>
                <a:ea typeface="+mn-ea"/>
                <a:cs typeface="+mn-cs"/>
              </a:rPr>
              <a:t>文档并提取其中的数据。</a:t>
            </a:r>
          </a:p>
          <a:p>
            <a:r>
              <a:rPr lang="zh-CN" altLang="zh-CN" sz="1200" kern="1200" dirty="0" smtClean="0">
                <a:solidFill>
                  <a:schemeClr val="tx1"/>
                </a:solidFill>
                <a:effectLst/>
                <a:latin typeface="+mn-lt"/>
                <a:ea typeface="+mn-ea"/>
                <a:cs typeface="+mn-cs"/>
              </a:rPr>
              <a:t>所有的</a:t>
            </a:r>
            <a:r>
              <a:rPr lang="en-US" altLang="zh-CN" sz="1200" kern="1200" dirty="0" smtClean="0">
                <a:solidFill>
                  <a:schemeClr val="tx1"/>
                </a:solidFill>
                <a:effectLst/>
                <a:latin typeface="+mn-lt"/>
                <a:ea typeface="+mn-ea"/>
                <a:cs typeface="+mn-cs"/>
              </a:rPr>
              <a:t>XML</a:t>
            </a:r>
            <a:r>
              <a:rPr lang="zh-CN" altLang="zh-CN" sz="1200" kern="1200" dirty="0" smtClean="0">
                <a:solidFill>
                  <a:schemeClr val="tx1"/>
                </a:solidFill>
                <a:effectLst/>
                <a:latin typeface="+mn-lt"/>
                <a:ea typeface="+mn-ea"/>
                <a:cs typeface="+mn-cs"/>
              </a:rPr>
              <a:t>处理都从解析开始，无论是使用</a:t>
            </a:r>
            <a:r>
              <a:rPr lang="en-US" altLang="zh-CN" sz="1200" kern="1200" dirty="0" smtClean="0">
                <a:solidFill>
                  <a:schemeClr val="tx1"/>
                </a:solidFill>
                <a:effectLst/>
                <a:latin typeface="+mn-lt"/>
                <a:ea typeface="+mn-ea"/>
                <a:cs typeface="+mn-cs"/>
              </a:rPr>
              <a:t>XSLT</a:t>
            </a:r>
            <a:r>
              <a:rPr lang="zh-CN" altLang="zh-CN" sz="1200" kern="1200" dirty="0" smtClean="0">
                <a:solidFill>
                  <a:schemeClr val="tx1"/>
                </a:solidFill>
                <a:effectLst/>
                <a:latin typeface="+mn-lt"/>
                <a:ea typeface="+mn-ea"/>
                <a:cs typeface="+mn-cs"/>
              </a:rPr>
              <a:t>或</a:t>
            </a:r>
            <a:r>
              <a:rPr lang="en-US" altLang="zh-CN" sz="1200" kern="1200" dirty="0" smtClean="0">
                <a:solidFill>
                  <a:schemeClr val="tx1"/>
                </a:solidFill>
                <a:effectLst/>
                <a:latin typeface="+mn-lt"/>
                <a:ea typeface="+mn-ea"/>
                <a:cs typeface="+mn-cs"/>
              </a:rPr>
              <a:t>Java</a:t>
            </a:r>
            <a:r>
              <a:rPr lang="zh-CN" altLang="zh-CN" sz="1200" kern="1200" dirty="0" smtClean="0">
                <a:solidFill>
                  <a:schemeClr val="tx1"/>
                </a:solidFill>
                <a:effectLst/>
                <a:latin typeface="+mn-lt"/>
                <a:ea typeface="+mn-ea"/>
                <a:cs typeface="+mn-cs"/>
              </a:rPr>
              <a:t>语言，第一步都是要读入</a:t>
            </a:r>
            <a:r>
              <a:rPr lang="en-US" altLang="zh-CN" sz="1200" kern="1200" dirty="0" smtClean="0">
                <a:solidFill>
                  <a:schemeClr val="tx1"/>
                </a:solidFill>
                <a:effectLst/>
                <a:latin typeface="+mn-lt"/>
                <a:ea typeface="+mn-ea"/>
                <a:cs typeface="+mn-cs"/>
              </a:rPr>
              <a:t>XML</a:t>
            </a:r>
            <a:r>
              <a:rPr lang="zh-CN" altLang="zh-CN" sz="1200" kern="1200" dirty="0" smtClean="0">
                <a:solidFill>
                  <a:schemeClr val="tx1"/>
                </a:solidFill>
                <a:effectLst/>
                <a:latin typeface="+mn-lt"/>
                <a:ea typeface="+mn-ea"/>
                <a:cs typeface="+mn-cs"/>
              </a:rPr>
              <a:t>文件，解码结构和检索信息等等，这就是解析，即把代表</a:t>
            </a:r>
            <a:r>
              <a:rPr lang="en-US" altLang="zh-CN" sz="1200" kern="1200" dirty="0" smtClean="0">
                <a:solidFill>
                  <a:schemeClr val="tx1"/>
                </a:solidFill>
                <a:effectLst/>
                <a:latin typeface="+mn-lt"/>
                <a:ea typeface="+mn-ea"/>
                <a:cs typeface="+mn-cs"/>
              </a:rPr>
              <a:t>XML</a:t>
            </a:r>
            <a:r>
              <a:rPr lang="zh-CN" altLang="zh-CN" sz="1200" kern="1200" dirty="0" smtClean="0">
                <a:solidFill>
                  <a:schemeClr val="tx1"/>
                </a:solidFill>
                <a:effectLst/>
                <a:latin typeface="+mn-lt"/>
                <a:ea typeface="+mn-ea"/>
                <a:cs typeface="+mn-cs"/>
              </a:rPr>
              <a:t>文档的一个无结构的字符序列转换为满足</a:t>
            </a:r>
            <a:r>
              <a:rPr lang="en-US" altLang="zh-CN" sz="1200" kern="1200" dirty="0" smtClean="0">
                <a:solidFill>
                  <a:schemeClr val="tx1"/>
                </a:solidFill>
                <a:effectLst/>
                <a:latin typeface="+mn-lt"/>
                <a:ea typeface="+mn-ea"/>
                <a:cs typeface="+mn-cs"/>
              </a:rPr>
              <a:t>XML</a:t>
            </a:r>
            <a:r>
              <a:rPr lang="zh-CN" altLang="zh-CN" sz="1200" kern="1200" dirty="0" smtClean="0">
                <a:solidFill>
                  <a:schemeClr val="tx1"/>
                </a:solidFill>
                <a:effectLst/>
                <a:latin typeface="+mn-lt"/>
                <a:ea typeface="+mn-ea"/>
                <a:cs typeface="+mn-cs"/>
              </a:rPr>
              <a:t>语法的结构化组件的过程。然而，根据数据提取的不同需求，又存在着多种解析方式，不同的解析方式有着各自的优缺点和适用环境。选择合适的</a:t>
            </a:r>
            <a:r>
              <a:rPr lang="en-US" altLang="zh-CN" sz="1200" kern="1200" dirty="0" smtClean="0">
                <a:solidFill>
                  <a:schemeClr val="tx1"/>
                </a:solidFill>
                <a:effectLst/>
                <a:latin typeface="+mn-lt"/>
                <a:ea typeface="+mn-ea"/>
                <a:cs typeface="+mn-cs"/>
              </a:rPr>
              <a:t>XML</a:t>
            </a:r>
            <a:r>
              <a:rPr lang="zh-CN" altLang="zh-CN" sz="1200" kern="1200" dirty="0" smtClean="0">
                <a:solidFill>
                  <a:schemeClr val="tx1"/>
                </a:solidFill>
                <a:effectLst/>
                <a:latin typeface="+mn-lt"/>
                <a:ea typeface="+mn-ea"/>
                <a:cs typeface="+mn-cs"/>
              </a:rPr>
              <a:t>解析技术能够有效提升应用系统的整体性能，因此，了解和区分各种不同的</a:t>
            </a:r>
            <a:r>
              <a:rPr lang="en-US" altLang="zh-CN" sz="1200" kern="1200" dirty="0" smtClean="0">
                <a:solidFill>
                  <a:schemeClr val="tx1"/>
                </a:solidFill>
                <a:effectLst/>
                <a:latin typeface="+mn-lt"/>
                <a:ea typeface="+mn-ea"/>
                <a:cs typeface="+mn-cs"/>
              </a:rPr>
              <a:t>XML</a:t>
            </a:r>
            <a:r>
              <a:rPr lang="zh-CN" altLang="zh-CN" sz="1200" kern="1200" dirty="0" smtClean="0">
                <a:solidFill>
                  <a:schemeClr val="tx1"/>
                </a:solidFill>
                <a:effectLst/>
                <a:latin typeface="+mn-lt"/>
                <a:ea typeface="+mn-ea"/>
                <a:cs typeface="+mn-cs"/>
              </a:rPr>
              <a:t>解析技术就显得尤为重要。</a:t>
            </a:r>
          </a:p>
          <a:p>
            <a:endParaRPr lang="zh-CN" altLang="en-US" dirty="0"/>
          </a:p>
        </p:txBody>
      </p:sp>
      <p:sp>
        <p:nvSpPr>
          <p:cNvPr id="4" name="灯片编号占位符 3"/>
          <p:cNvSpPr>
            <a:spLocks noGrp="1"/>
          </p:cNvSpPr>
          <p:nvPr>
            <p:ph type="sldNum" sz="quarter" idx="10"/>
          </p:nvPr>
        </p:nvSpPr>
        <p:spPr/>
        <p:txBody>
          <a:bodyPr/>
          <a:lstStyle/>
          <a:p>
            <a:fld id="{273B23B1-AE87-481B-BF79-14C0BA1C2433}" type="slidenum">
              <a:rPr lang="zh-CN" altLang="en-US" smtClean="0"/>
              <a:pPr/>
              <a:t>89</a:t>
            </a:fld>
            <a:endParaRPr lang="zh-CN" altLang="en-US"/>
          </a:p>
        </p:txBody>
      </p:sp>
    </p:spTree>
    <p:extLst>
      <p:ext uri="{BB962C8B-B14F-4D97-AF65-F5344CB8AC3E}">
        <p14:creationId xmlns:p14="http://schemas.microsoft.com/office/powerpoint/2010/main" val="35234082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流式解析是一种基于事件的解析过程，解析器顺序读取</a:t>
            </a:r>
            <a:r>
              <a:rPr lang="en-US" altLang="zh-CN" sz="1200" kern="1200" dirty="0" smtClean="0">
                <a:solidFill>
                  <a:schemeClr val="tx1"/>
                </a:solidFill>
                <a:effectLst/>
                <a:latin typeface="+mn-lt"/>
                <a:ea typeface="+mn-ea"/>
                <a:cs typeface="+mn-cs"/>
              </a:rPr>
              <a:t>XML</a:t>
            </a:r>
            <a:r>
              <a:rPr lang="zh-CN" altLang="zh-CN" sz="1200" kern="1200" dirty="0" smtClean="0">
                <a:solidFill>
                  <a:schemeClr val="tx1"/>
                </a:solidFill>
                <a:effectLst/>
                <a:latin typeface="+mn-lt"/>
                <a:ea typeface="+mn-ea"/>
                <a:cs typeface="+mn-cs"/>
              </a:rPr>
              <a:t>文档，产生一个对应的事件流，并向事件处理程序发送所捕获的各种事件，如元素开始和元素结束等，而事件处理程序则通过不同的方法处理这些事件。</a:t>
            </a:r>
          </a:p>
          <a:p>
            <a:r>
              <a:rPr lang="zh-CN" altLang="zh-CN" sz="1200" kern="1200" dirty="0" smtClean="0">
                <a:solidFill>
                  <a:schemeClr val="tx1"/>
                </a:solidFill>
                <a:effectLst/>
                <a:latin typeface="+mn-lt"/>
                <a:ea typeface="+mn-ea"/>
                <a:cs typeface="+mn-cs"/>
              </a:rPr>
              <a:t>流式解析是将</a:t>
            </a:r>
            <a:r>
              <a:rPr lang="en-US" altLang="zh-CN" sz="1200" kern="1200" dirty="0" smtClean="0">
                <a:solidFill>
                  <a:schemeClr val="tx1"/>
                </a:solidFill>
                <a:effectLst/>
                <a:latin typeface="+mn-lt"/>
                <a:ea typeface="+mn-ea"/>
                <a:cs typeface="+mn-cs"/>
              </a:rPr>
              <a:t>XML</a:t>
            </a:r>
            <a:r>
              <a:rPr lang="zh-CN" altLang="zh-CN" sz="1200" kern="1200" dirty="0" smtClean="0">
                <a:solidFill>
                  <a:schemeClr val="tx1"/>
                </a:solidFill>
                <a:effectLst/>
                <a:latin typeface="+mn-lt"/>
                <a:ea typeface="+mn-ea"/>
                <a:cs typeface="+mn-cs"/>
              </a:rPr>
              <a:t>文档作为一个数据流来处理，因此，它具有类似于流媒体的优点，能够立即开始读取数据，而不是等待所有的数据被处理。而且，由于应用程序只是在读取数据时检查数据，不需要将整个文档一次加载到内存中，使得在处理大型文档时具有较好的时间和空间上的效率。然而效率的代价是易用性的降低，流式解析编程较为复杂，程序员需要负责更多的操作。并且由于应用程序没有以任何方式存储数据，所以使得更改数据或在数据流中往后移是不可能的。再加上它的单遍解析特性，意味着它也不支持随机访问</a:t>
            </a:r>
            <a:endParaRPr lang="zh-CN" altLang="en-US" dirty="0"/>
          </a:p>
        </p:txBody>
      </p:sp>
      <p:sp>
        <p:nvSpPr>
          <p:cNvPr id="4" name="灯片编号占位符 3"/>
          <p:cNvSpPr>
            <a:spLocks noGrp="1"/>
          </p:cNvSpPr>
          <p:nvPr>
            <p:ph type="sldNum" sz="quarter" idx="10"/>
          </p:nvPr>
        </p:nvSpPr>
        <p:spPr/>
        <p:txBody>
          <a:bodyPr/>
          <a:lstStyle/>
          <a:p>
            <a:fld id="{273B23B1-AE87-481B-BF79-14C0BA1C2433}" type="slidenum">
              <a:rPr lang="zh-CN" altLang="en-US" smtClean="0"/>
              <a:pPr/>
              <a:t>90</a:t>
            </a:fld>
            <a:endParaRPr lang="zh-CN" altLang="en-US"/>
          </a:p>
        </p:txBody>
      </p:sp>
    </p:spTree>
    <p:extLst>
      <p:ext uri="{BB962C8B-B14F-4D97-AF65-F5344CB8AC3E}">
        <p14:creationId xmlns:p14="http://schemas.microsoft.com/office/powerpoint/2010/main" val="5033433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SAX</a:t>
            </a:r>
            <a:r>
              <a:rPr lang="zh-CN" altLang="zh-CN" sz="1200" kern="1200" dirty="0" smtClean="0">
                <a:solidFill>
                  <a:schemeClr val="tx1"/>
                </a:solidFill>
                <a:effectLst/>
                <a:latin typeface="+mn-lt"/>
                <a:ea typeface="+mn-ea"/>
                <a:cs typeface="+mn-cs"/>
              </a:rPr>
              <a:t>提供了一个用于处理</a:t>
            </a:r>
            <a:r>
              <a:rPr lang="en-US" altLang="zh-CN" sz="1200" kern="1200" dirty="0" smtClean="0">
                <a:solidFill>
                  <a:schemeClr val="tx1"/>
                </a:solidFill>
                <a:effectLst/>
                <a:latin typeface="+mn-lt"/>
                <a:ea typeface="+mn-ea"/>
                <a:cs typeface="+mn-cs"/>
              </a:rPr>
              <a:t>XML</a:t>
            </a:r>
            <a:r>
              <a:rPr lang="zh-CN" altLang="zh-CN" sz="1200" kern="1200" dirty="0" smtClean="0">
                <a:solidFill>
                  <a:schemeClr val="tx1"/>
                </a:solidFill>
                <a:effectLst/>
                <a:latin typeface="+mn-lt"/>
                <a:ea typeface="+mn-ea"/>
                <a:cs typeface="+mn-cs"/>
              </a:rPr>
              <a:t>的，基于事件驱动的简单</a:t>
            </a:r>
            <a:r>
              <a:rPr lang="en-US" altLang="zh-CN" sz="1200" kern="1200" dirty="0" smtClean="0">
                <a:solidFill>
                  <a:schemeClr val="tx1"/>
                </a:solidFill>
                <a:effectLst/>
                <a:latin typeface="+mn-lt"/>
                <a:ea typeface="+mn-ea"/>
                <a:cs typeface="+mn-cs"/>
              </a:rPr>
              <a:t>API</a:t>
            </a:r>
            <a:r>
              <a:rPr lang="zh-CN" altLang="zh-CN" sz="1200" kern="1200" dirty="0" smtClean="0">
                <a:solidFill>
                  <a:schemeClr val="tx1"/>
                </a:solidFill>
                <a:effectLst/>
                <a:latin typeface="+mn-lt"/>
                <a:ea typeface="+mn-ea"/>
                <a:cs typeface="+mn-cs"/>
              </a:rPr>
              <a:t>。它的设计开始于</a:t>
            </a:r>
            <a:r>
              <a:rPr lang="en-US" altLang="zh-CN" sz="1200" kern="1200" dirty="0" smtClean="0">
                <a:solidFill>
                  <a:schemeClr val="tx1"/>
                </a:solidFill>
                <a:effectLst/>
                <a:latin typeface="+mn-lt"/>
                <a:ea typeface="+mn-ea"/>
                <a:cs typeface="+mn-cs"/>
              </a:rPr>
              <a:t>XML-DEV</a:t>
            </a:r>
            <a:r>
              <a:rPr lang="zh-CN" altLang="zh-CN" sz="1200" kern="1200" dirty="0" smtClean="0">
                <a:solidFill>
                  <a:schemeClr val="tx1"/>
                </a:solidFill>
                <a:effectLst/>
                <a:latin typeface="+mn-lt"/>
                <a:ea typeface="+mn-ea"/>
                <a:cs typeface="+mn-cs"/>
              </a:rPr>
              <a:t>邮件列表成员间的讨论，他们开发出的第一个接口草案</a:t>
            </a:r>
            <a:r>
              <a:rPr lang="en-US" altLang="zh-CN" sz="1200" kern="1200" dirty="0" smtClean="0">
                <a:solidFill>
                  <a:schemeClr val="tx1"/>
                </a:solidFill>
                <a:effectLst/>
                <a:latin typeface="+mn-lt"/>
                <a:ea typeface="+mn-ea"/>
                <a:cs typeface="+mn-cs"/>
              </a:rPr>
              <a:t>SAX1.0</a:t>
            </a:r>
            <a:r>
              <a:rPr lang="zh-CN" altLang="zh-CN" sz="1200" kern="1200" dirty="0" smtClean="0">
                <a:solidFill>
                  <a:schemeClr val="tx1"/>
                </a:solidFill>
                <a:effectLst/>
                <a:latin typeface="+mn-lt"/>
                <a:ea typeface="+mn-ea"/>
                <a:cs typeface="+mn-cs"/>
              </a:rPr>
              <a:t>于</a:t>
            </a:r>
            <a:r>
              <a:rPr lang="en-US" altLang="zh-CN" sz="1200" kern="1200" dirty="0" smtClean="0">
                <a:solidFill>
                  <a:schemeClr val="tx1"/>
                </a:solidFill>
                <a:effectLst/>
                <a:latin typeface="+mn-lt"/>
                <a:ea typeface="+mn-ea"/>
                <a:cs typeface="+mn-cs"/>
              </a:rPr>
              <a:t>1998</a:t>
            </a:r>
            <a:r>
              <a:rPr lang="zh-CN" altLang="zh-CN" sz="1200" kern="1200" dirty="0" smtClean="0">
                <a:solidFill>
                  <a:schemeClr val="tx1"/>
                </a:solidFill>
                <a:effectLst/>
                <a:latin typeface="+mn-lt"/>
                <a:ea typeface="+mn-ea"/>
                <a:cs typeface="+mn-cs"/>
              </a:rPr>
              <a:t>年</a:t>
            </a:r>
            <a:r>
              <a:rPr lang="en-US" altLang="zh-CN" sz="1200" kern="1200" dirty="0" smtClean="0">
                <a:solidFill>
                  <a:schemeClr val="tx1"/>
                </a:solidFill>
                <a:effectLst/>
                <a:latin typeface="+mn-lt"/>
                <a:ea typeface="+mn-ea"/>
                <a:cs typeface="+mn-cs"/>
              </a:rPr>
              <a:t>1</a:t>
            </a:r>
            <a:r>
              <a:rPr lang="zh-CN" altLang="zh-CN" sz="1200" kern="1200" dirty="0" smtClean="0">
                <a:solidFill>
                  <a:schemeClr val="tx1"/>
                </a:solidFill>
                <a:effectLst/>
                <a:latin typeface="+mn-lt"/>
                <a:ea typeface="+mn-ea"/>
                <a:cs typeface="+mn-cs"/>
              </a:rPr>
              <a:t>月发布，其后在</a:t>
            </a:r>
            <a:r>
              <a:rPr lang="en-US" altLang="zh-CN" sz="1200" kern="1200" dirty="0" smtClean="0">
                <a:solidFill>
                  <a:schemeClr val="tx1"/>
                </a:solidFill>
                <a:effectLst/>
                <a:latin typeface="+mn-lt"/>
                <a:ea typeface="+mn-ea"/>
                <a:cs typeface="+mn-cs"/>
              </a:rPr>
              <a:t>2000</a:t>
            </a:r>
            <a:r>
              <a:rPr lang="zh-CN" altLang="zh-CN" sz="1200" kern="1200" dirty="0" smtClean="0">
                <a:solidFill>
                  <a:schemeClr val="tx1"/>
                </a:solidFill>
                <a:effectLst/>
                <a:latin typeface="+mn-lt"/>
                <a:ea typeface="+mn-ea"/>
                <a:cs typeface="+mn-cs"/>
              </a:rPr>
              <a:t>年</a:t>
            </a:r>
            <a:r>
              <a:rPr lang="en-US" altLang="zh-CN" sz="1200" kern="1200" dirty="0" smtClean="0">
                <a:solidFill>
                  <a:schemeClr val="tx1"/>
                </a:solidFill>
                <a:effectLst/>
                <a:latin typeface="+mn-lt"/>
                <a:ea typeface="+mn-ea"/>
                <a:cs typeface="+mn-cs"/>
              </a:rPr>
              <a:t>5</a:t>
            </a:r>
            <a:r>
              <a:rPr lang="zh-CN" altLang="zh-CN" sz="1200" kern="1200" dirty="0" smtClean="0">
                <a:solidFill>
                  <a:schemeClr val="tx1"/>
                </a:solidFill>
                <a:effectLst/>
                <a:latin typeface="+mn-lt"/>
                <a:ea typeface="+mn-ea"/>
                <a:cs typeface="+mn-cs"/>
              </a:rPr>
              <a:t>月发布了</a:t>
            </a:r>
            <a:r>
              <a:rPr lang="en-US" altLang="zh-CN" sz="1200" kern="1200" dirty="0" smtClean="0">
                <a:solidFill>
                  <a:schemeClr val="tx1"/>
                </a:solidFill>
                <a:effectLst/>
                <a:latin typeface="+mn-lt"/>
                <a:ea typeface="+mn-ea"/>
                <a:cs typeface="+mn-cs"/>
              </a:rPr>
              <a:t>SAX2.0</a:t>
            </a:r>
            <a:r>
              <a:rPr lang="zh-CN" altLang="zh-CN" sz="1200" kern="1200" dirty="0" smtClean="0">
                <a:solidFill>
                  <a:schemeClr val="tx1"/>
                </a:solidFill>
                <a:effectLst/>
                <a:latin typeface="+mn-lt"/>
                <a:ea typeface="+mn-ea"/>
                <a:cs typeface="+mn-cs"/>
              </a:rPr>
              <a:t>，目前最新版本是</a:t>
            </a:r>
            <a:r>
              <a:rPr lang="en-US" altLang="zh-CN" sz="1200" kern="1200" dirty="0" smtClean="0">
                <a:solidFill>
                  <a:schemeClr val="tx1"/>
                </a:solidFill>
                <a:effectLst/>
                <a:latin typeface="+mn-lt"/>
                <a:ea typeface="+mn-ea"/>
                <a:cs typeface="+mn-cs"/>
              </a:rPr>
              <a:t>2004</a:t>
            </a:r>
            <a:r>
              <a:rPr lang="zh-CN" altLang="zh-CN" sz="1200" kern="1200" dirty="0" smtClean="0">
                <a:solidFill>
                  <a:schemeClr val="tx1"/>
                </a:solidFill>
                <a:effectLst/>
                <a:latin typeface="+mn-lt"/>
                <a:ea typeface="+mn-ea"/>
                <a:cs typeface="+mn-cs"/>
              </a:rPr>
              <a:t>年</a:t>
            </a:r>
            <a:r>
              <a:rPr lang="en-US" altLang="zh-CN" sz="1200" kern="1200" dirty="0" smtClean="0">
                <a:solidFill>
                  <a:schemeClr val="tx1"/>
                </a:solidFill>
                <a:effectLst/>
                <a:latin typeface="+mn-lt"/>
                <a:ea typeface="+mn-ea"/>
                <a:cs typeface="+mn-cs"/>
              </a:rPr>
              <a:t>4</a:t>
            </a:r>
            <a:r>
              <a:rPr lang="zh-CN" altLang="zh-CN" sz="1200" kern="1200" dirty="0" smtClean="0">
                <a:solidFill>
                  <a:schemeClr val="tx1"/>
                </a:solidFill>
                <a:effectLst/>
                <a:latin typeface="+mn-lt"/>
                <a:ea typeface="+mn-ea"/>
                <a:cs typeface="+mn-cs"/>
              </a:rPr>
              <a:t>月发布的</a:t>
            </a:r>
            <a:r>
              <a:rPr lang="en-US" altLang="zh-CN" sz="1200" kern="1200" dirty="0" smtClean="0">
                <a:solidFill>
                  <a:schemeClr val="tx1"/>
                </a:solidFill>
                <a:effectLst/>
                <a:latin typeface="+mn-lt"/>
                <a:ea typeface="+mn-ea"/>
                <a:cs typeface="+mn-cs"/>
              </a:rPr>
              <a:t>SAX2.0.2</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SAX</a:t>
            </a:r>
            <a:r>
              <a:rPr lang="zh-CN" altLang="zh-CN" sz="1200" kern="1200" dirty="0" smtClean="0">
                <a:solidFill>
                  <a:schemeClr val="tx1"/>
                </a:solidFill>
                <a:effectLst/>
                <a:latin typeface="+mn-lt"/>
                <a:ea typeface="+mn-ea"/>
                <a:cs typeface="+mn-cs"/>
              </a:rPr>
              <a:t>没有经过官方的标准机构认可，它不由</a:t>
            </a:r>
            <a:r>
              <a:rPr lang="en-US" altLang="zh-CN" sz="1200" kern="1200" dirty="0" smtClean="0">
                <a:solidFill>
                  <a:schemeClr val="tx1"/>
                </a:solidFill>
                <a:effectLst/>
                <a:latin typeface="+mn-lt"/>
                <a:ea typeface="+mn-ea"/>
                <a:cs typeface="+mn-cs"/>
              </a:rPr>
              <a:t>W3C</a:t>
            </a:r>
            <a:r>
              <a:rPr lang="zh-CN" altLang="zh-CN" sz="1200" kern="1200" dirty="0" smtClean="0">
                <a:solidFill>
                  <a:schemeClr val="tx1"/>
                </a:solidFill>
                <a:effectLst/>
                <a:latin typeface="+mn-lt"/>
                <a:ea typeface="+mn-ea"/>
                <a:cs typeface="+mn-cs"/>
              </a:rPr>
              <a:t>联盟或其它任何官方机构维护</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现在，</a:t>
            </a:r>
            <a:r>
              <a:rPr lang="en-US" altLang="zh-CN" sz="1200" kern="1200" dirty="0" smtClean="0">
                <a:solidFill>
                  <a:schemeClr val="tx1"/>
                </a:solidFill>
                <a:effectLst/>
                <a:latin typeface="+mn-lt"/>
                <a:ea typeface="+mn-ea"/>
                <a:cs typeface="+mn-cs"/>
              </a:rPr>
              <a:t>SAX</a:t>
            </a:r>
            <a:r>
              <a:rPr lang="zh-CN" altLang="zh-CN" sz="1200" kern="1200" dirty="0" smtClean="0">
                <a:solidFill>
                  <a:schemeClr val="tx1"/>
                </a:solidFill>
                <a:effectLst/>
                <a:latin typeface="+mn-lt"/>
                <a:ea typeface="+mn-ea"/>
                <a:cs typeface="+mn-cs"/>
              </a:rPr>
              <a:t>由</a:t>
            </a:r>
            <a:r>
              <a:rPr lang="en-US" altLang="zh-CN" sz="1200" kern="1200" dirty="0" err="1" smtClean="0">
                <a:solidFill>
                  <a:schemeClr val="tx1"/>
                </a:solidFill>
                <a:effectLst/>
                <a:latin typeface="+mn-lt"/>
                <a:ea typeface="+mn-ea"/>
                <a:cs typeface="+mn-cs"/>
              </a:rPr>
              <a:t>DavidMegginson</a:t>
            </a:r>
            <a:r>
              <a:rPr lang="zh-CN" altLang="zh-CN" sz="1200" kern="1200" dirty="0" smtClean="0">
                <a:solidFill>
                  <a:schemeClr val="tx1"/>
                </a:solidFill>
                <a:effectLst/>
                <a:latin typeface="+mn-lt"/>
                <a:ea typeface="+mn-ea"/>
                <a:cs typeface="+mn-cs"/>
              </a:rPr>
              <a:t>维护</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，但它被广泛使用并视为</a:t>
            </a:r>
            <a:r>
              <a:rPr lang="en-US" altLang="zh-CN" sz="1200" kern="1200" dirty="0" smtClean="0">
                <a:solidFill>
                  <a:schemeClr val="tx1"/>
                </a:solidFill>
                <a:effectLst/>
                <a:latin typeface="+mn-lt"/>
                <a:ea typeface="+mn-ea"/>
                <a:cs typeface="+mn-cs"/>
              </a:rPr>
              <a:t>XML</a:t>
            </a:r>
            <a:r>
              <a:rPr lang="zh-CN" altLang="zh-CN" sz="1200" kern="1200" dirty="0" smtClean="0">
                <a:solidFill>
                  <a:schemeClr val="tx1"/>
                </a:solidFill>
                <a:effectLst/>
                <a:latin typeface="+mn-lt"/>
                <a:ea typeface="+mn-ea"/>
                <a:cs typeface="+mn-cs"/>
              </a:rPr>
              <a:t>社区事实上的标准。</a:t>
            </a:r>
            <a:r>
              <a:rPr lang="en-US" altLang="zh-CN" sz="1200" kern="1200" dirty="0" smtClean="0">
                <a:solidFill>
                  <a:schemeClr val="tx1"/>
                </a:solidFill>
                <a:effectLst/>
                <a:latin typeface="+mn-lt"/>
                <a:ea typeface="+mn-ea"/>
                <a:cs typeface="+mn-cs"/>
              </a:rPr>
              <a:t>SAX</a:t>
            </a:r>
            <a:r>
              <a:rPr lang="zh-CN" altLang="zh-CN" sz="1200" kern="1200" dirty="0" smtClean="0">
                <a:solidFill>
                  <a:schemeClr val="tx1"/>
                </a:solidFill>
                <a:effectLst/>
                <a:latin typeface="+mn-lt"/>
                <a:ea typeface="+mn-ea"/>
                <a:cs typeface="+mn-cs"/>
              </a:rPr>
              <a:t>最初是为</a:t>
            </a:r>
            <a:r>
              <a:rPr lang="en-US" altLang="zh-CN" sz="1200" kern="1200" dirty="0" smtClean="0">
                <a:solidFill>
                  <a:schemeClr val="tx1"/>
                </a:solidFill>
                <a:effectLst/>
                <a:latin typeface="+mn-lt"/>
                <a:ea typeface="+mn-ea"/>
                <a:cs typeface="+mn-cs"/>
              </a:rPr>
              <a:t>Java</a:t>
            </a:r>
            <a:r>
              <a:rPr lang="zh-CN" altLang="zh-CN" sz="1200" kern="1200" dirty="0" smtClean="0">
                <a:solidFill>
                  <a:schemeClr val="tx1"/>
                </a:solidFill>
                <a:effectLst/>
                <a:latin typeface="+mn-lt"/>
                <a:ea typeface="+mn-ea"/>
                <a:cs typeface="+mn-cs"/>
              </a:rPr>
              <a:t>而定义的，但也可以用于</a:t>
            </a:r>
            <a:r>
              <a:rPr lang="en-US" altLang="zh-CN" sz="1200" kern="1200" dirty="0" smtClean="0">
                <a:solidFill>
                  <a:schemeClr val="tx1"/>
                </a:solidFill>
                <a:effectLst/>
                <a:latin typeface="+mn-lt"/>
                <a:ea typeface="+mn-ea"/>
                <a:cs typeface="+mn-cs"/>
              </a:rPr>
              <a:t>Python</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Perl</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C++</a:t>
            </a:r>
            <a:r>
              <a:rPr lang="zh-CN" altLang="zh-CN" sz="1200" kern="1200" dirty="0" smtClean="0">
                <a:solidFill>
                  <a:schemeClr val="tx1"/>
                </a:solidFill>
                <a:effectLst/>
                <a:latin typeface="+mn-lt"/>
                <a:ea typeface="+mn-ea"/>
                <a:cs typeface="+mn-cs"/>
              </a:rPr>
              <a:t>等其它语言。</a:t>
            </a:r>
          </a:p>
          <a:p>
            <a:r>
              <a:rPr lang="en-US" altLang="zh-CN" sz="1200" kern="1200" dirty="0" smtClean="0">
                <a:solidFill>
                  <a:schemeClr val="tx1"/>
                </a:solidFill>
                <a:effectLst/>
                <a:latin typeface="+mn-lt"/>
                <a:ea typeface="+mn-ea"/>
                <a:cs typeface="+mn-cs"/>
              </a:rPr>
              <a:t>SAX</a:t>
            </a:r>
            <a:r>
              <a:rPr lang="zh-CN" altLang="zh-CN" sz="1200" kern="1200" dirty="0" smtClean="0">
                <a:solidFill>
                  <a:schemeClr val="tx1"/>
                </a:solidFill>
                <a:effectLst/>
                <a:latin typeface="+mn-lt"/>
                <a:ea typeface="+mn-ea"/>
                <a:cs typeface="+mn-cs"/>
              </a:rPr>
              <a:t>是基于事件驱动的，即</a:t>
            </a:r>
            <a:r>
              <a:rPr lang="en-US" altLang="zh-CN" sz="1200" kern="1200" dirty="0" smtClean="0">
                <a:solidFill>
                  <a:schemeClr val="tx1"/>
                </a:solidFill>
                <a:effectLst/>
                <a:latin typeface="+mn-lt"/>
                <a:ea typeface="+mn-ea"/>
                <a:cs typeface="+mn-cs"/>
              </a:rPr>
              <a:t>SAX</a:t>
            </a:r>
            <a:r>
              <a:rPr lang="zh-CN" altLang="zh-CN" sz="1200" kern="1200" dirty="0" smtClean="0">
                <a:solidFill>
                  <a:schemeClr val="tx1"/>
                </a:solidFill>
                <a:effectLst/>
                <a:latin typeface="+mn-lt"/>
                <a:ea typeface="+mn-ea"/>
                <a:cs typeface="+mn-cs"/>
              </a:rPr>
              <a:t>解析器在读取</a:t>
            </a:r>
            <a:r>
              <a:rPr lang="en-US" altLang="zh-CN" sz="1200" kern="1200" dirty="0" smtClean="0">
                <a:solidFill>
                  <a:schemeClr val="tx1"/>
                </a:solidFill>
                <a:effectLst/>
                <a:latin typeface="+mn-lt"/>
                <a:ea typeface="+mn-ea"/>
                <a:cs typeface="+mn-cs"/>
              </a:rPr>
              <a:t>XML</a:t>
            </a:r>
            <a:r>
              <a:rPr lang="zh-CN" altLang="zh-CN" sz="1200" kern="1200" dirty="0" smtClean="0">
                <a:solidFill>
                  <a:schemeClr val="tx1"/>
                </a:solidFill>
                <a:effectLst/>
                <a:latin typeface="+mn-lt"/>
                <a:ea typeface="+mn-ea"/>
                <a:cs typeface="+mn-cs"/>
              </a:rPr>
              <a:t>文档的过程中生成一个事件流，并且对于每个事件通过回调事件处理程序中相应的方法来进行处理。比如元素开始和结束标记，元素内容，实体，语法分析错误等事件。针对下面的简单</a:t>
            </a:r>
            <a:r>
              <a:rPr lang="en-US" altLang="zh-CN" sz="1200" kern="1200" dirty="0" smtClean="0">
                <a:solidFill>
                  <a:schemeClr val="tx1"/>
                </a:solidFill>
                <a:effectLst/>
                <a:latin typeface="+mn-lt"/>
                <a:ea typeface="+mn-ea"/>
                <a:cs typeface="+mn-cs"/>
              </a:rPr>
              <a:t>XML</a:t>
            </a:r>
            <a:r>
              <a:rPr lang="zh-CN" altLang="zh-CN" sz="1200" kern="1200" dirty="0" smtClean="0">
                <a:solidFill>
                  <a:schemeClr val="tx1"/>
                </a:solidFill>
                <a:effectLst/>
                <a:latin typeface="+mn-lt"/>
                <a:ea typeface="+mn-ea"/>
                <a:cs typeface="+mn-cs"/>
              </a:rPr>
              <a:t>文档，所产生的事件如图</a:t>
            </a:r>
            <a:r>
              <a:rPr lang="en-US" altLang="zh-CN" sz="1200" kern="1200" dirty="0" smtClean="0">
                <a:solidFill>
                  <a:schemeClr val="tx1"/>
                </a:solidFill>
                <a:effectLst/>
                <a:latin typeface="+mn-lt"/>
                <a:ea typeface="+mn-ea"/>
                <a:cs typeface="+mn-cs"/>
              </a:rPr>
              <a:t>1</a:t>
            </a:r>
            <a:r>
              <a:rPr lang="zh-CN" altLang="zh-CN" sz="1200" kern="1200" dirty="0" smtClean="0">
                <a:solidFill>
                  <a:schemeClr val="tx1"/>
                </a:solidFill>
                <a:effectLst/>
                <a:latin typeface="+mn-lt"/>
                <a:ea typeface="+mn-ea"/>
                <a:cs typeface="+mn-cs"/>
              </a:rPr>
              <a:t>所示，注意针对元素内的空格或回车也会生成一个文本事件</a:t>
            </a:r>
            <a:endParaRPr lang="zh-CN" altLang="en-US" dirty="0"/>
          </a:p>
        </p:txBody>
      </p:sp>
      <p:sp>
        <p:nvSpPr>
          <p:cNvPr id="4" name="灯片编号占位符 3"/>
          <p:cNvSpPr>
            <a:spLocks noGrp="1"/>
          </p:cNvSpPr>
          <p:nvPr>
            <p:ph type="sldNum" sz="quarter" idx="10"/>
          </p:nvPr>
        </p:nvSpPr>
        <p:spPr/>
        <p:txBody>
          <a:bodyPr/>
          <a:lstStyle/>
          <a:p>
            <a:fld id="{273B23B1-AE87-481B-BF79-14C0BA1C2433}" type="slidenum">
              <a:rPr lang="zh-CN" altLang="en-US" smtClean="0"/>
              <a:pPr/>
              <a:t>91</a:t>
            </a:fld>
            <a:endParaRPr lang="zh-CN" altLang="en-US"/>
          </a:p>
        </p:txBody>
      </p:sp>
    </p:spTree>
    <p:extLst>
      <p:ext uri="{BB962C8B-B14F-4D97-AF65-F5344CB8AC3E}">
        <p14:creationId xmlns:p14="http://schemas.microsoft.com/office/powerpoint/2010/main" val="15193832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err="1" smtClean="0">
                <a:solidFill>
                  <a:schemeClr val="tx1"/>
                </a:solidFill>
                <a:effectLst/>
                <a:latin typeface="+mn-lt"/>
                <a:ea typeface="+mn-ea"/>
                <a:cs typeface="+mn-cs"/>
              </a:rPr>
              <a:t>StAX</a:t>
            </a:r>
            <a:r>
              <a:rPr lang="en-US"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StreamingAPIforXML</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解析技术是一种拉式解析，在这种解析方式中，应用程序控制着读循环。循环中，应用程序负责反复调用解析器获得下一个事件，直到文档结束。通过保留解析过程的控制权，可以简化调用代码来准确地处理它预期的内容，并且可随时停止解析。此外，由于该方式没有基于处理程序回调，应用程序也不需要像</a:t>
            </a:r>
            <a:r>
              <a:rPr lang="en-US" altLang="zh-CN" sz="1200" kern="1200" dirty="0" smtClean="0">
                <a:solidFill>
                  <a:schemeClr val="tx1"/>
                </a:solidFill>
                <a:effectLst/>
                <a:latin typeface="+mn-lt"/>
                <a:ea typeface="+mn-ea"/>
                <a:cs typeface="+mn-cs"/>
              </a:rPr>
              <a:t>SAX</a:t>
            </a:r>
            <a:r>
              <a:rPr lang="zh-CN" altLang="zh-CN" sz="1200" kern="1200" dirty="0" smtClean="0">
                <a:solidFill>
                  <a:schemeClr val="tx1"/>
                </a:solidFill>
                <a:effectLst/>
                <a:latin typeface="+mn-lt"/>
                <a:ea typeface="+mn-ea"/>
                <a:cs typeface="+mn-cs"/>
              </a:rPr>
              <a:t>中那样模拟解析器的状态</a:t>
            </a:r>
            <a:endParaRPr lang="en-US" altLang="zh-CN" sz="1200" kern="1200" dirty="0" smtClean="0">
              <a:solidFill>
                <a:schemeClr val="tx1"/>
              </a:solidFill>
              <a:effectLst/>
              <a:latin typeface="+mn-lt"/>
              <a:ea typeface="+mn-ea"/>
              <a:cs typeface="+mn-cs"/>
            </a:endParaRPr>
          </a:p>
          <a:p>
            <a:r>
              <a:rPr lang="en-US" altLang="zh-CN" sz="1200" kern="1200" dirty="0" err="1" smtClean="0">
                <a:solidFill>
                  <a:schemeClr val="tx1"/>
                </a:solidFill>
                <a:effectLst/>
                <a:latin typeface="+mn-lt"/>
                <a:ea typeface="+mn-ea"/>
                <a:cs typeface="+mn-cs"/>
              </a:rPr>
              <a:t>StAX</a:t>
            </a:r>
            <a:r>
              <a:rPr lang="zh-CN" altLang="zh-CN" sz="1200" kern="1200" dirty="0" smtClean="0">
                <a:solidFill>
                  <a:schemeClr val="tx1"/>
                </a:solidFill>
                <a:effectLst/>
                <a:latin typeface="+mn-lt"/>
                <a:ea typeface="+mn-ea"/>
                <a:cs typeface="+mn-cs"/>
              </a:rPr>
              <a:t>也是用</a:t>
            </a:r>
            <a:r>
              <a:rPr lang="en-US" altLang="zh-CN" sz="1200" kern="1200" dirty="0" smtClean="0">
                <a:solidFill>
                  <a:schemeClr val="tx1"/>
                </a:solidFill>
                <a:effectLst/>
                <a:latin typeface="+mn-lt"/>
                <a:ea typeface="+mn-ea"/>
                <a:cs typeface="+mn-cs"/>
              </a:rPr>
              <a:t>Java</a:t>
            </a:r>
            <a:r>
              <a:rPr lang="zh-CN" altLang="zh-CN" sz="1200" kern="1200" dirty="0" smtClean="0">
                <a:solidFill>
                  <a:schemeClr val="tx1"/>
                </a:solidFill>
                <a:effectLst/>
                <a:latin typeface="+mn-lt"/>
                <a:ea typeface="+mn-ea"/>
                <a:cs typeface="+mn-cs"/>
              </a:rPr>
              <a:t>定义的，其</a:t>
            </a:r>
            <a:r>
              <a:rPr lang="en-US" altLang="zh-CN" sz="1200" kern="1200" dirty="0" smtClean="0">
                <a:solidFill>
                  <a:schemeClr val="tx1"/>
                </a:solidFill>
                <a:effectLst/>
                <a:latin typeface="+mn-lt"/>
                <a:ea typeface="+mn-ea"/>
                <a:cs typeface="+mn-cs"/>
              </a:rPr>
              <a:t>StAX1.0</a:t>
            </a:r>
            <a:r>
              <a:rPr lang="zh-CN" altLang="zh-CN" sz="1200" kern="1200" dirty="0" smtClean="0">
                <a:solidFill>
                  <a:schemeClr val="tx1"/>
                </a:solidFill>
                <a:effectLst/>
                <a:latin typeface="+mn-lt"/>
                <a:ea typeface="+mn-ea"/>
                <a:cs typeface="+mn-cs"/>
              </a:rPr>
              <a:t>于</a:t>
            </a:r>
            <a:r>
              <a:rPr lang="en-US" altLang="zh-CN" sz="1200" kern="1200" dirty="0" smtClean="0">
                <a:solidFill>
                  <a:schemeClr val="tx1"/>
                </a:solidFill>
                <a:effectLst/>
                <a:latin typeface="+mn-lt"/>
                <a:ea typeface="+mn-ea"/>
                <a:cs typeface="+mn-cs"/>
              </a:rPr>
              <a:t>2004</a:t>
            </a:r>
            <a:r>
              <a:rPr lang="zh-CN" altLang="zh-CN" sz="1200" kern="1200" dirty="0" smtClean="0">
                <a:solidFill>
                  <a:schemeClr val="tx1"/>
                </a:solidFill>
                <a:effectLst/>
                <a:latin typeface="+mn-lt"/>
                <a:ea typeface="+mn-ea"/>
                <a:cs typeface="+mn-cs"/>
              </a:rPr>
              <a:t>年</a:t>
            </a:r>
            <a:r>
              <a:rPr lang="en-US" altLang="zh-CN" sz="1200" kern="1200" dirty="0" smtClean="0">
                <a:solidFill>
                  <a:schemeClr val="tx1"/>
                </a:solidFill>
                <a:effectLst/>
                <a:latin typeface="+mn-lt"/>
                <a:ea typeface="+mn-ea"/>
                <a:cs typeface="+mn-cs"/>
              </a:rPr>
              <a:t>3</a:t>
            </a:r>
            <a:r>
              <a:rPr lang="zh-CN" altLang="zh-CN" sz="1200" kern="1200" dirty="0" smtClean="0">
                <a:solidFill>
                  <a:schemeClr val="tx1"/>
                </a:solidFill>
                <a:effectLst/>
                <a:latin typeface="+mn-lt"/>
                <a:ea typeface="+mn-ea"/>
                <a:cs typeface="+mn-cs"/>
              </a:rPr>
              <a:t>月发布，并且成为了</a:t>
            </a:r>
            <a:r>
              <a:rPr lang="en-US" altLang="zh-CN" sz="1200" kern="1200" dirty="0" smtClean="0">
                <a:solidFill>
                  <a:schemeClr val="tx1"/>
                </a:solidFill>
                <a:effectLst/>
                <a:latin typeface="+mn-lt"/>
                <a:ea typeface="+mn-ea"/>
                <a:cs typeface="+mn-cs"/>
              </a:rPr>
              <a:t>JSR-173</a:t>
            </a:r>
            <a:r>
              <a:rPr lang="zh-CN" altLang="zh-CN" sz="1200" kern="1200" dirty="0" smtClean="0">
                <a:solidFill>
                  <a:schemeClr val="tx1"/>
                </a:solidFill>
                <a:effectLst/>
                <a:latin typeface="+mn-lt"/>
                <a:ea typeface="+mn-ea"/>
                <a:cs typeface="+mn-cs"/>
              </a:rPr>
              <a:t>规范，最新版本为</a:t>
            </a:r>
            <a:r>
              <a:rPr lang="en-US" altLang="zh-CN" sz="1200" kern="1200" dirty="0" smtClean="0">
                <a:solidFill>
                  <a:schemeClr val="tx1"/>
                </a:solidFill>
                <a:effectLst/>
                <a:latin typeface="+mn-lt"/>
                <a:ea typeface="+mn-ea"/>
                <a:cs typeface="+mn-cs"/>
              </a:rPr>
              <a:t>2006</a:t>
            </a:r>
            <a:r>
              <a:rPr lang="zh-CN" altLang="zh-CN" sz="1200" kern="1200" dirty="0" smtClean="0">
                <a:solidFill>
                  <a:schemeClr val="tx1"/>
                </a:solidFill>
                <a:effectLst/>
                <a:latin typeface="+mn-lt"/>
                <a:ea typeface="+mn-ea"/>
                <a:cs typeface="+mn-cs"/>
              </a:rPr>
              <a:t>年</a:t>
            </a:r>
            <a:r>
              <a:rPr lang="en-US" altLang="zh-CN" sz="1200" kern="1200" dirty="0" smtClean="0">
                <a:solidFill>
                  <a:schemeClr val="tx1"/>
                </a:solidFill>
                <a:effectLst/>
                <a:latin typeface="+mn-lt"/>
                <a:ea typeface="+mn-ea"/>
                <a:cs typeface="+mn-cs"/>
              </a:rPr>
              <a:t>6</a:t>
            </a:r>
            <a:r>
              <a:rPr lang="zh-CN" altLang="zh-CN" sz="1200" kern="1200" dirty="0" smtClean="0">
                <a:solidFill>
                  <a:schemeClr val="tx1"/>
                </a:solidFill>
                <a:effectLst/>
                <a:latin typeface="+mn-lt"/>
                <a:ea typeface="+mn-ea"/>
                <a:cs typeface="+mn-cs"/>
              </a:rPr>
              <a:t>月发布的</a:t>
            </a:r>
            <a:r>
              <a:rPr lang="en-US" altLang="zh-CN" sz="1200" kern="1200" dirty="0" smtClean="0">
                <a:solidFill>
                  <a:schemeClr val="tx1"/>
                </a:solidFill>
                <a:effectLst/>
                <a:latin typeface="+mn-lt"/>
                <a:ea typeface="+mn-ea"/>
                <a:cs typeface="+mn-cs"/>
              </a:rPr>
              <a:t>StAX1.2</a:t>
            </a:r>
            <a:r>
              <a:rPr lang="zh-CN"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StAX</a:t>
            </a:r>
            <a:r>
              <a:rPr lang="zh-CN" altLang="zh-CN" sz="1200" kern="1200" dirty="0" smtClean="0">
                <a:solidFill>
                  <a:schemeClr val="tx1"/>
                </a:solidFill>
                <a:effectLst/>
                <a:latin typeface="+mn-lt"/>
                <a:ea typeface="+mn-ea"/>
                <a:cs typeface="+mn-cs"/>
              </a:rPr>
              <a:t>作为用</a:t>
            </a:r>
            <a:r>
              <a:rPr lang="en-US" altLang="zh-CN" sz="1200" kern="1200" dirty="0" smtClean="0">
                <a:solidFill>
                  <a:schemeClr val="tx1"/>
                </a:solidFill>
                <a:effectLst/>
                <a:latin typeface="+mn-lt"/>
                <a:ea typeface="+mn-ea"/>
                <a:cs typeface="+mn-cs"/>
              </a:rPr>
              <a:t>Java</a:t>
            </a:r>
            <a:r>
              <a:rPr lang="zh-CN" altLang="zh-CN" sz="1200" kern="1200" dirty="0" smtClean="0">
                <a:solidFill>
                  <a:schemeClr val="tx1"/>
                </a:solidFill>
                <a:effectLst/>
                <a:latin typeface="+mn-lt"/>
                <a:ea typeface="+mn-ea"/>
                <a:cs typeface="+mn-cs"/>
              </a:rPr>
              <a:t>语言处理</a:t>
            </a:r>
            <a:r>
              <a:rPr lang="en-US" altLang="zh-CN" sz="1200" kern="1200" dirty="0" smtClean="0">
                <a:solidFill>
                  <a:schemeClr val="tx1"/>
                </a:solidFill>
                <a:effectLst/>
                <a:latin typeface="+mn-lt"/>
                <a:ea typeface="+mn-ea"/>
                <a:cs typeface="+mn-cs"/>
              </a:rPr>
              <a:t>XML</a:t>
            </a:r>
            <a:r>
              <a:rPr lang="zh-CN" altLang="zh-CN" sz="1200" kern="1200" dirty="0" smtClean="0">
                <a:solidFill>
                  <a:schemeClr val="tx1"/>
                </a:solidFill>
                <a:effectLst/>
                <a:latin typeface="+mn-lt"/>
                <a:ea typeface="+mn-ea"/>
                <a:cs typeface="+mn-cs"/>
              </a:rPr>
              <a:t>的最新标准，比早期出现的</a:t>
            </a:r>
            <a:r>
              <a:rPr lang="en-US" altLang="zh-CN" sz="1200" kern="1200" dirty="0" smtClean="0">
                <a:solidFill>
                  <a:schemeClr val="tx1"/>
                </a:solidFill>
                <a:effectLst/>
                <a:latin typeface="+mn-lt"/>
                <a:ea typeface="+mn-ea"/>
                <a:cs typeface="+mn-cs"/>
              </a:rPr>
              <a:t>XPP(</a:t>
            </a:r>
            <a:r>
              <a:rPr lang="en-US" altLang="zh-CN" sz="1200" kern="1200" dirty="0" err="1" smtClean="0">
                <a:solidFill>
                  <a:schemeClr val="tx1"/>
                </a:solidFill>
                <a:effectLst/>
                <a:latin typeface="+mn-lt"/>
                <a:ea typeface="+mn-ea"/>
                <a:cs typeface="+mn-cs"/>
              </a:rPr>
              <a:t>XmlPullParser</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拉式解析器功能更为强大，也得到了更为广泛的应用。</a:t>
            </a:r>
            <a:endParaRPr lang="zh-CN" altLang="en-US" dirty="0"/>
          </a:p>
        </p:txBody>
      </p:sp>
      <p:sp>
        <p:nvSpPr>
          <p:cNvPr id="4" name="灯片编号占位符 3"/>
          <p:cNvSpPr>
            <a:spLocks noGrp="1"/>
          </p:cNvSpPr>
          <p:nvPr>
            <p:ph type="sldNum" sz="quarter" idx="10"/>
          </p:nvPr>
        </p:nvSpPr>
        <p:spPr/>
        <p:txBody>
          <a:bodyPr/>
          <a:lstStyle/>
          <a:p>
            <a:fld id="{273B23B1-AE87-481B-BF79-14C0BA1C2433}" type="slidenum">
              <a:rPr lang="zh-CN" altLang="en-US" smtClean="0"/>
              <a:pPr/>
              <a:t>93</a:t>
            </a:fld>
            <a:endParaRPr lang="zh-CN" altLang="en-US"/>
          </a:p>
        </p:txBody>
      </p:sp>
    </p:spTree>
    <p:extLst>
      <p:ext uri="{BB962C8B-B14F-4D97-AF65-F5344CB8AC3E}">
        <p14:creationId xmlns:p14="http://schemas.microsoft.com/office/powerpoint/2010/main" val="31731048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DOM(</a:t>
            </a:r>
            <a:r>
              <a:rPr lang="en-US" altLang="zh-CN" sz="1200" kern="1200" dirty="0" err="1" smtClean="0">
                <a:solidFill>
                  <a:schemeClr val="tx1"/>
                </a:solidFill>
                <a:effectLst/>
                <a:latin typeface="+mn-lt"/>
                <a:ea typeface="+mn-ea"/>
                <a:cs typeface="+mn-cs"/>
              </a:rPr>
              <a:t>DocumentObjectModel</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是用与平台和语言无关的方式对</a:t>
            </a:r>
            <a:r>
              <a:rPr lang="en-US" altLang="zh-CN" sz="1200" kern="1200" dirty="0" smtClean="0">
                <a:solidFill>
                  <a:schemeClr val="tx1"/>
                </a:solidFill>
                <a:effectLst/>
                <a:latin typeface="+mn-lt"/>
                <a:ea typeface="+mn-ea"/>
                <a:cs typeface="+mn-cs"/>
              </a:rPr>
              <a:t>XML</a:t>
            </a:r>
            <a:r>
              <a:rPr lang="zh-CN" altLang="zh-CN" sz="1200" kern="1200" dirty="0" smtClean="0">
                <a:solidFill>
                  <a:schemeClr val="tx1"/>
                </a:solidFill>
                <a:effectLst/>
                <a:latin typeface="+mn-lt"/>
                <a:ea typeface="+mn-ea"/>
                <a:cs typeface="+mn-cs"/>
              </a:rPr>
              <a:t>文档进行建模的官方</a:t>
            </a:r>
            <a:r>
              <a:rPr lang="en-US" altLang="zh-CN" sz="1200" kern="1200" dirty="0" smtClean="0">
                <a:solidFill>
                  <a:schemeClr val="tx1"/>
                </a:solidFill>
                <a:effectLst/>
                <a:latin typeface="+mn-lt"/>
                <a:ea typeface="+mn-ea"/>
                <a:cs typeface="+mn-cs"/>
              </a:rPr>
              <a:t>W3C</a:t>
            </a:r>
            <a:r>
              <a:rPr lang="zh-CN" altLang="zh-CN" sz="1200" kern="1200" dirty="0" smtClean="0">
                <a:solidFill>
                  <a:schemeClr val="tx1"/>
                </a:solidFill>
                <a:effectLst/>
                <a:latin typeface="+mn-lt"/>
                <a:ea typeface="+mn-ea"/>
                <a:cs typeface="+mn-cs"/>
              </a:rPr>
              <a:t>标准，其目标是提供一个可以通用于各种程序语言、操作系统和应用程序的接口。</a:t>
            </a:r>
            <a:r>
              <a:rPr lang="en-US" altLang="zh-CN" sz="1200" kern="1200" dirty="0" smtClean="0">
                <a:solidFill>
                  <a:schemeClr val="tx1"/>
                </a:solidFill>
                <a:effectLst/>
                <a:latin typeface="+mn-lt"/>
                <a:ea typeface="+mn-ea"/>
                <a:cs typeface="+mn-cs"/>
              </a:rPr>
              <a:t>DOM</a:t>
            </a:r>
            <a:r>
              <a:rPr lang="zh-CN" altLang="zh-CN" sz="1200" kern="1200" dirty="0" smtClean="0">
                <a:solidFill>
                  <a:schemeClr val="tx1"/>
                </a:solidFill>
                <a:effectLst/>
                <a:latin typeface="+mn-lt"/>
                <a:ea typeface="+mn-ea"/>
                <a:cs typeface="+mn-cs"/>
              </a:rPr>
              <a:t>最初被当作</a:t>
            </a:r>
            <a:r>
              <a:rPr lang="en-US" altLang="zh-CN" sz="1200" kern="1200" dirty="0" smtClean="0">
                <a:solidFill>
                  <a:schemeClr val="tx1"/>
                </a:solidFill>
                <a:effectLst/>
                <a:latin typeface="+mn-lt"/>
                <a:ea typeface="+mn-ea"/>
                <a:cs typeface="+mn-cs"/>
              </a:rPr>
              <a:t>Web</a:t>
            </a:r>
            <a:r>
              <a:rPr lang="zh-CN" altLang="zh-CN" sz="1200" kern="1200" dirty="0" smtClean="0">
                <a:solidFill>
                  <a:schemeClr val="tx1"/>
                </a:solidFill>
                <a:effectLst/>
                <a:latin typeface="+mn-lt"/>
                <a:ea typeface="+mn-ea"/>
                <a:cs typeface="+mn-cs"/>
              </a:rPr>
              <a:t>浏览器识别和处理页面元素的方式</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即在</a:t>
            </a:r>
            <a:r>
              <a:rPr lang="en-US" altLang="zh-CN" sz="1200" kern="1200" dirty="0" smtClean="0">
                <a:solidFill>
                  <a:schemeClr val="tx1"/>
                </a:solidFill>
                <a:effectLst/>
                <a:latin typeface="+mn-lt"/>
                <a:ea typeface="+mn-ea"/>
                <a:cs typeface="+mn-cs"/>
              </a:rPr>
              <a:t>W3C</a:t>
            </a:r>
            <a:r>
              <a:rPr lang="zh-CN" altLang="zh-CN" sz="1200" kern="1200" dirty="0" smtClean="0">
                <a:solidFill>
                  <a:schemeClr val="tx1"/>
                </a:solidFill>
                <a:effectLst/>
                <a:latin typeface="+mn-lt"/>
                <a:ea typeface="+mn-ea"/>
                <a:cs typeface="+mn-cs"/>
              </a:rPr>
              <a:t>介入之前的功能，称为“</a:t>
            </a:r>
            <a:r>
              <a:rPr lang="en-US" altLang="zh-CN" sz="1200" kern="1200" dirty="0" smtClean="0">
                <a:solidFill>
                  <a:schemeClr val="tx1"/>
                </a:solidFill>
                <a:effectLst/>
                <a:latin typeface="+mn-lt"/>
                <a:ea typeface="+mn-ea"/>
                <a:cs typeface="+mn-cs"/>
              </a:rPr>
              <a:t>DOMLevel0</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W3C</a:t>
            </a:r>
            <a:r>
              <a:rPr lang="zh-CN" altLang="zh-CN" sz="1200" kern="1200" dirty="0" smtClean="0">
                <a:solidFill>
                  <a:schemeClr val="tx1"/>
                </a:solidFill>
                <a:effectLst/>
                <a:latin typeface="+mn-lt"/>
                <a:ea typeface="+mn-ea"/>
                <a:cs typeface="+mn-cs"/>
              </a:rPr>
              <a:t>于</a:t>
            </a:r>
            <a:r>
              <a:rPr lang="en-US" altLang="zh-CN" sz="1200" kern="1200" dirty="0" smtClean="0">
                <a:solidFill>
                  <a:schemeClr val="tx1"/>
                </a:solidFill>
                <a:effectLst/>
                <a:latin typeface="+mn-lt"/>
                <a:ea typeface="+mn-ea"/>
                <a:cs typeface="+mn-cs"/>
              </a:rPr>
              <a:t>1998</a:t>
            </a:r>
            <a:r>
              <a:rPr lang="zh-CN" altLang="zh-CN" sz="1200" kern="1200" dirty="0" smtClean="0">
                <a:solidFill>
                  <a:schemeClr val="tx1"/>
                </a:solidFill>
                <a:effectLst/>
                <a:latin typeface="+mn-lt"/>
                <a:ea typeface="+mn-ea"/>
                <a:cs typeface="+mn-cs"/>
              </a:rPr>
              <a:t>年</a:t>
            </a:r>
            <a:r>
              <a:rPr lang="en-US" altLang="zh-CN" sz="1200" kern="1200" dirty="0" smtClean="0">
                <a:solidFill>
                  <a:schemeClr val="tx1"/>
                </a:solidFill>
                <a:effectLst/>
                <a:latin typeface="+mn-lt"/>
                <a:ea typeface="+mn-ea"/>
                <a:cs typeface="+mn-cs"/>
              </a:rPr>
              <a:t>10</a:t>
            </a:r>
            <a:r>
              <a:rPr lang="zh-CN" altLang="zh-CN" sz="1200" kern="1200" dirty="0" smtClean="0">
                <a:solidFill>
                  <a:schemeClr val="tx1"/>
                </a:solidFill>
                <a:effectLst/>
                <a:latin typeface="+mn-lt"/>
                <a:ea typeface="+mn-ea"/>
                <a:cs typeface="+mn-cs"/>
              </a:rPr>
              <a:t>月提出了“</a:t>
            </a:r>
            <a:r>
              <a:rPr lang="en-US" altLang="zh-CN" sz="1200" kern="1200" dirty="0" smtClean="0">
                <a:solidFill>
                  <a:schemeClr val="tx1"/>
                </a:solidFill>
                <a:effectLst/>
                <a:latin typeface="+mn-lt"/>
                <a:ea typeface="+mn-ea"/>
                <a:cs typeface="+mn-cs"/>
              </a:rPr>
              <a:t>DOMLevel1</a:t>
            </a:r>
            <a:r>
              <a:rPr lang="zh-CN" altLang="zh-CN" sz="1200" kern="1200" dirty="0" smtClean="0">
                <a:solidFill>
                  <a:schemeClr val="tx1"/>
                </a:solidFill>
                <a:effectLst/>
                <a:latin typeface="+mn-lt"/>
                <a:ea typeface="+mn-ea"/>
                <a:cs typeface="+mn-cs"/>
              </a:rPr>
              <a:t>”建议，支持</a:t>
            </a:r>
            <a:r>
              <a:rPr lang="en-US" altLang="zh-CN" sz="1200" kern="1200" dirty="0" smtClean="0">
                <a:solidFill>
                  <a:schemeClr val="tx1"/>
                </a:solidFill>
                <a:effectLst/>
                <a:latin typeface="+mn-lt"/>
                <a:ea typeface="+mn-ea"/>
                <a:cs typeface="+mn-cs"/>
              </a:rPr>
              <a:t>XML1.0</a:t>
            </a:r>
            <a:r>
              <a:rPr lang="zh-CN" altLang="zh-CN" sz="1200" kern="1200" dirty="0" smtClean="0">
                <a:solidFill>
                  <a:schemeClr val="tx1"/>
                </a:solidFill>
                <a:effectLst/>
                <a:latin typeface="+mn-lt"/>
                <a:ea typeface="+mn-ea"/>
                <a:cs typeface="+mn-cs"/>
              </a:rPr>
              <a:t>和</a:t>
            </a:r>
            <a:r>
              <a:rPr lang="en-US" altLang="zh-CN" sz="1200" kern="1200" dirty="0" smtClean="0">
                <a:solidFill>
                  <a:schemeClr val="tx1"/>
                </a:solidFill>
                <a:effectLst/>
                <a:latin typeface="+mn-lt"/>
                <a:ea typeface="+mn-ea"/>
                <a:cs typeface="+mn-cs"/>
              </a:rPr>
              <a:t>HTML</a:t>
            </a:r>
            <a:r>
              <a:rPr lang="zh-CN" altLang="zh-CN" sz="1200" kern="1200" dirty="0" smtClean="0">
                <a:solidFill>
                  <a:schemeClr val="tx1"/>
                </a:solidFill>
                <a:effectLst/>
                <a:latin typeface="+mn-lt"/>
                <a:ea typeface="+mn-ea"/>
                <a:cs typeface="+mn-cs"/>
              </a:rPr>
              <a:t>处理。随后于</a:t>
            </a:r>
            <a:r>
              <a:rPr lang="en-US" altLang="zh-CN" sz="1200" kern="1200" dirty="0" smtClean="0">
                <a:solidFill>
                  <a:schemeClr val="tx1"/>
                </a:solidFill>
                <a:effectLst/>
                <a:latin typeface="+mn-lt"/>
                <a:ea typeface="+mn-ea"/>
                <a:cs typeface="+mn-cs"/>
              </a:rPr>
              <a:t>2000</a:t>
            </a:r>
            <a:r>
              <a:rPr lang="zh-CN" altLang="zh-CN" sz="1200" kern="1200" dirty="0" smtClean="0">
                <a:solidFill>
                  <a:schemeClr val="tx1"/>
                </a:solidFill>
                <a:effectLst/>
                <a:latin typeface="+mn-lt"/>
                <a:ea typeface="+mn-ea"/>
                <a:cs typeface="+mn-cs"/>
              </a:rPr>
              <a:t>年</a:t>
            </a:r>
            <a:r>
              <a:rPr lang="en-US" altLang="zh-CN" sz="1200" kern="1200" dirty="0" smtClean="0">
                <a:solidFill>
                  <a:schemeClr val="tx1"/>
                </a:solidFill>
                <a:effectLst/>
                <a:latin typeface="+mn-lt"/>
                <a:ea typeface="+mn-ea"/>
                <a:cs typeface="+mn-cs"/>
              </a:rPr>
              <a:t>11</a:t>
            </a:r>
            <a:r>
              <a:rPr lang="zh-CN" altLang="zh-CN" sz="1200" kern="1200" dirty="0" smtClean="0">
                <a:solidFill>
                  <a:schemeClr val="tx1"/>
                </a:solidFill>
                <a:effectLst/>
                <a:latin typeface="+mn-lt"/>
                <a:ea typeface="+mn-ea"/>
                <a:cs typeface="+mn-cs"/>
              </a:rPr>
              <a:t>月提出了“</a:t>
            </a:r>
            <a:r>
              <a:rPr lang="en-US" altLang="zh-CN" sz="1200" kern="1200" dirty="0" smtClean="0">
                <a:solidFill>
                  <a:schemeClr val="tx1"/>
                </a:solidFill>
                <a:effectLst/>
                <a:latin typeface="+mn-lt"/>
                <a:ea typeface="+mn-ea"/>
                <a:cs typeface="+mn-cs"/>
              </a:rPr>
              <a:t>DOMLevel2</a:t>
            </a:r>
            <a:r>
              <a:rPr lang="zh-CN" altLang="zh-CN" sz="1200" kern="1200" dirty="0" smtClean="0">
                <a:solidFill>
                  <a:schemeClr val="tx1"/>
                </a:solidFill>
                <a:effectLst/>
                <a:latin typeface="+mn-lt"/>
                <a:ea typeface="+mn-ea"/>
                <a:cs typeface="+mn-cs"/>
              </a:rPr>
              <a:t>”建议，对</a:t>
            </a:r>
            <a:r>
              <a:rPr lang="en-US" altLang="zh-CN" sz="1200" kern="1200" dirty="0" smtClean="0">
                <a:solidFill>
                  <a:schemeClr val="tx1"/>
                </a:solidFill>
                <a:effectLst/>
                <a:latin typeface="+mn-lt"/>
                <a:ea typeface="+mn-ea"/>
                <a:cs typeface="+mn-cs"/>
              </a:rPr>
              <a:t>Level1</a:t>
            </a:r>
            <a:r>
              <a:rPr lang="zh-CN" altLang="zh-CN" sz="1200" kern="1200" dirty="0" smtClean="0">
                <a:solidFill>
                  <a:schemeClr val="tx1"/>
                </a:solidFill>
                <a:effectLst/>
                <a:latin typeface="+mn-lt"/>
                <a:ea typeface="+mn-ea"/>
                <a:cs typeface="+mn-cs"/>
              </a:rPr>
              <a:t>进行了扩展，支持</a:t>
            </a:r>
            <a:r>
              <a:rPr lang="en-US" altLang="zh-CN" sz="1200" kern="1200" dirty="0" smtClean="0">
                <a:solidFill>
                  <a:schemeClr val="tx1"/>
                </a:solidFill>
                <a:effectLst/>
                <a:latin typeface="+mn-lt"/>
                <a:ea typeface="+mn-ea"/>
                <a:cs typeface="+mn-cs"/>
              </a:rPr>
              <a:t>XML1.0</a:t>
            </a:r>
            <a:r>
              <a:rPr lang="zh-CN" altLang="zh-CN" sz="1200" kern="1200" dirty="0" smtClean="0">
                <a:solidFill>
                  <a:schemeClr val="tx1"/>
                </a:solidFill>
                <a:effectLst/>
                <a:latin typeface="+mn-lt"/>
                <a:ea typeface="+mn-ea"/>
                <a:cs typeface="+mn-cs"/>
              </a:rPr>
              <a:t>、命名空间和</a:t>
            </a:r>
            <a:r>
              <a:rPr lang="en-US" altLang="zh-CN" sz="1200" kern="1200" dirty="0" smtClean="0">
                <a:solidFill>
                  <a:schemeClr val="tx1"/>
                </a:solidFill>
                <a:effectLst/>
                <a:latin typeface="+mn-lt"/>
                <a:ea typeface="+mn-ea"/>
                <a:cs typeface="+mn-cs"/>
              </a:rPr>
              <a:t>CSS</a:t>
            </a:r>
            <a:r>
              <a:rPr lang="zh-CN" altLang="zh-CN" sz="1200" kern="1200" dirty="0" smtClean="0">
                <a:solidFill>
                  <a:schemeClr val="tx1"/>
                </a:solidFill>
                <a:effectLst/>
                <a:latin typeface="+mn-lt"/>
                <a:ea typeface="+mn-ea"/>
                <a:cs typeface="+mn-cs"/>
              </a:rPr>
              <a:t>，也支持用户接口和树形操作事件，并且添加了</a:t>
            </a:r>
            <a:r>
              <a:rPr lang="en-US" altLang="zh-CN" sz="1200" kern="1200" dirty="0" smtClean="0">
                <a:solidFill>
                  <a:schemeClr val="tx1"/>
                </a:solidFill>
                <a:effectLst/>
                <a:latin typeface="+mn-lt"/>
                <a:ea typeface="+mn-ea"/>
                <a:cs typeface="+mn-cs"/>
              </a:rPr>
              <a:t>DOM</a:t>
            </a:r>
            <a:r>
              <a:rPr lang="zh-CN" altLang="zh-CN" sz="1200" kern="1200" dirty="0" smtClean="0">
                <a:solidFill>
                  <a:schemeClr val="tx1"/>
                </a:solidFill>
                <a:effectLst/>
                <a:latin typeface="+mn-lt"/>
                <a:ea typeface="+mn-ea"/>
                <a:cs typeface="+mn-cs"/>
              </a:rPr>
              <a:t>树形操作功能。最新的“</a:t>
            </a:r>
            <a:r>
              <a:rPr lang="en-US" altLang="zh-CN" sz="1200" kern="1200" dirty="0" smtClean="0">
                <a:solidFill>
                  <a:schemeClr val="tx1"/>
                </a:solidFill>
                <a:effectLst/>
                <a:latin typeface="+mn-lt"/>
                <a:ea typeface="+mn-ea"/>
                <a:cs typeface="+mn-cs"/>
              </a:rPr>
              <a:t>DOMLevel3</a:t>
            </a:r>
            <a:r>
              <a:rPr lang="zh-CN" altLang="zh-CN" sz="1200" kern="1200" dirty="0" smtClean="0">
                <a:solidFill>
                  <a:schemeClr val="tx1"/>
                </a:solidFill>
                <a:effectLst/>
                <a:latin typeface="+mn-lt"/>
                <a:ea typeface="+mn-ea"/>
                <a:cs typeface="+mn-cs"/>
              </a:rPr>
              <a:t>”建议于</a:t>
            </a:r>
            <a:r>
              <a:rPr lang="en-US" altLang="zh-CN" sz="1200" kern="1200" dirty="0" smtClean="0">
                <a:solidFill>
                  <a:schemeClr val="tx1"/>
                </a:solidFill>
                <a:effectLst/>
                <a:latin typeface="+mn-lt"/>
                <a:ea typeface="+mn-ea"/>
                <a:cs typeface="+mn-cs"/>
              </a:rPr>
              <a:t>2003</a:t>
            </a:r>
            <a:r>
              <a:rPr lang="zh-CN" altLang="zh-CN" sz="1200" kern="1200" dirty="0" smtClean="0">
                <a:solidFill>
                  <a:schemeClr val="tx1"/>
                </a:solidFill>
                <a:effectLst/>
                <a:latin typeface="+mn-lt"/>
                <a:ea typeface="+mn-ea"/>
                <a:cs typeface="+mn-cs"/>
              </a:rPr>
              <a:t>年</a:t>
            </a:r>
            <a:r>
              <a:rPr lang="en-US" altLang="zh-CN" sz="1200" kern="1200" dirty="0" smtClean="0">
                <a:solidFill>
                  <a:schemeClr val="tx1"/>
                </a:solidFill>
                <a:effectLst/>
                <a:latin typeface="+mn-lt"/>
                <a:ea typeface="+mn-ea"/>
                <a:cs typeface="+mn-cs"/>
              </a:rPr>
              <a:t>6</a:t>
            </a:r>
            <a:r>
              <a:rPr lang="zh-CN" altLang="zh-CN" sz="1200" kern="1200" dirty="0" smtClean="0">
                <a:solidFill>
                  <a:schemeClr val="tx1"/>
                </a:solidFill>
                <a:effectLst/>
                <a:latin typeface="+mn-lt"/>
                <a:ea typeface="+mn-ea"/>
                <a:cs typeface="+mn-cs"/>
              </a:rPr>
              <a:t>月提出，在</a:t>
            </a:r>
            <a:r>
              <a:rPr lang="en-US" altLang="zh-CN" sz="1200" kern="1200" dirty="0" smtClean="0">
                <a:solidFill>
                  <a:schemeClr val="tx1"/>
                </a:solidFill>
                <a:effectLst/>
                <a:latin typeface="+mn-lt"/>
                <a:ea typeface="+mn-ea"/>
                <a:cs typeface="+mn-cs"/>
              </a:rPr>
              <a:t>level2</a:t>
            </a:r>
            <a:r>
              <a:rPr lang="zh-CN" altLang="zh-CN" sz="1200" kern="1200" dirty="0" smtClean="0">
                <a:solidFill>
                  <a:schemeClr val="tx1"/>
                </a:solidFill>
                <a:effectLst/>
                <a:latin typeface="+mn-lt"/>
                <a:ea typeface="+mn-ea"/>
                <a:cs typeface="+mn-cs"/>
              </a:rPr>
              <a:t>的基础上添加了对</a:t>
            </a:r>
            <a:r>
              <a:rPr lang="en-US" altLang="zh-CN" sz="1200" kern="1200" dirty="0" smtClean="0">
                <a:solidFill>
                  <a:schemeClr val="tx1"/>
                </a:solidFill>
                <a:effectLst/>
                <a:latin typeface="+mn-lt"/>
                <a:ea typeface="+mn-ea"/>
                <a:cs typeface="+mn-cs"/>
              </a:rPr>
              <a:t>DTD</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XML</a:t>
            </a:r>
            <a:r>
              <a:rPr lang="zh-CN" altLang="zh-CN" sz="1200" kern="1200" dirty="0" smtClean="0">
                <a:solidFill>
                  <a:schemeClr val="tx1"/>
                </a:solidFill>
                <a:effectLst/>
                <a:latin typeface="+mn-lt"/>
                <a:ea typeface="+mn-ea"/>
                <a:cs typeface="+mn-cs"/>
              </a:rPr>
              <a:t>模式和</a:t>
            </a:r>
            <a:r>
              <a:rPr lang="en-US" altLang="zh-CN" sz="1200" kern="1200" dirty="0" err="1" smtClean="0">
                <a:solidFill>
                  <a:schemeClr val="tx1"/>
                </a:solidFill>
                <a:effectLst/>
                <a:latin typeface="+mn-lt"/>
                <a:ea typeface="+mn-ea"/>
                <a:cs typeface="+mn-cs"/>
              </a:rPr>
              <a:t>XPath</a:t>
            </a:r>
            <a:r>
              <a:rPr lang="zh-CN" altLang="zh-CN" sz="1200" kern="1200" dirty="0" smtClean="0">
                <a:solidFill>
                  <a:schemeClr val="tx1"/>
                </a:solidFill>
                <a:effectLst/>
                <a:latin typeface="+mn-lt"/>
                <a:ea typeface="+mn-ea"/>
                <a:cs typeface="+mn-cs"/>
              </a:rPr>
              <a:t>的支持</a:t>
            </a:r>
            <a:endParaRPr lang="en-US" altLang="zh-CN" sz="120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273B23B1-AE87-481B-BF79-14C0BA1C2433}" type="slidenum">
              <a:rPr lang="zh-CN" altLang="en-US" smtClean="0"/>
              <a:pPr/>
              <a:t>95</a:t>
            </a:fld>
            <a:endParaRPr lang="zh-CN" altLang="en-US"/>
          </a:p>
        </p:txBody>
      </p:sp>
    </p:spTree>
    <p:extLst>
      <p:ext uri="{BB962C8B-B14F-4D97-AF65-F5344CB8AC3E}">
        <p14:creationId xmlns:p14="http://schemas.microsoft.com/office/powerpoint/2010/main" val="19323091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利用</a:t>
            </a:r>
            <a:r>
              <a:rPr lang="en-US" altLang="zh-CN" sz="1200" kern="1200" dirty="0" smtClean="0">
                <a:solidFill>
                  <a:schemeClr val="tx1"/>
                </a:solidFill>
                <a:effectLst/>
                <a:latin typeface="+mn-lt"/>
                <a:ea typeface="+mn-ea"/>
                <a:cs typeface="+mn-cs"/>
              </a:rPr>
              <a:t>DOM</a:t>
            </a:r>
            <a:r>
              <a:rPr lang="zh-CN" altLang="zh-CN" sz="1200" kern="1200" dirty="0" smtClean="0">
                <a:solidFill>
                  <a:schemeClr val="tx1"/>
                </a:solidFill>
                <a:effectLst/>
                <a:latin typeface="+mn-lt"/>
                <a:ea typeface="+mn-ea"/>
                <a:cs typeface="+mn-cs"/>
              </a:rPr>
              <a:t>在内存中建立的完整的</a:t>
            </a:r>
            <a:r>
              <a:rPr lang="en-US" altLang="zh-CN" sz="1200" kern="1200" dirty="0" smtClean="0">
                <a:solidFill>
                  <a:schemeClr val="tx1"/>
                </a:solidFill>
                <a:effectLst/>
                <a:latin typeface="+mn-lt"/>
                <a:ea typeface="+mn-ea"/>
                <a:cs typeface="+mn-cs"/>
              </a:rPr>
              <a:t>XML</a:t>
            </a:r>
            <a:r>
              <a:rPr lang="zh-CN" altLang="zh-CN" sz="1200" kern="1200" dirty="0" smtClean="0">
                <a:solidFill>
                  <a:schemeClr val="tx1"/>
                </a:solidFill>
                <a:effectLst/>
                <a:latin typeface="+mn-lt"/>
                <a:ea typeface="+mn-ea"/>
                <a:cs typeface="+mn-cs"/>
              </a:rPr>
              <a:t>文档的树形结构，开发人员就可以方便的对</a:t>
            </a:r>
            <a:r>
              <a:rPr lang="en-US" altLang="zh-CN" sz="1200" kern="1200" dirty="0" smtClean="0">
                <a:solidFill>
                  <a:schemeClr val="tx1"/>
                </a:solidFill>
                <a:effectLst/>
                <a:latin typeface="+mn-lt"/>
                <a:ea typeface="+mn-ea"/>
                <a:cs typeface="+mn-cs"/>
              </a:rPr>
              <a:t>XML</a:t>
            </a:r>
            <a:r>
              <a:rPr lang="zh-CN" altLang="zh-CN" sz="1200" kern="1200" dirty="0" smtClean="0">
                <a:solidFill>
                  <a:schemeClr val="tx1"/>
                </a:solidFill>
                <a:effectLst/>
                <a:latin typeface="+mn-lt"/>
                <a:ea typeface="+mn-ea"/>
                <a:cs typeface="+mn-cs"/>
              </a:rPr>
              <a:t>文档进行一系列操作，如遍历、增加、删除、修改文档内容等，且具有良好的导航能力。同时</a:t>
            </a:r>
            <a:r>
              <a:rPr lang="en-US" altLang="zh-CN" sz="1200" kern="1200" dirty="0" smtClean="0">
                <a:solidFill>
                  <a:schemeClr val="tx1"/>
                </a:solidFill>
                <a:effectLst/>
                <a:latin typeface="+mn-lt"/>
                <a:ea typeface="+mn-ea"/>
                <a:cs typeface="+mn-cs"/>
              </a:rPr>
              <a:t>DOM</a:t>
            </a:r>
            <a:r>
              <a:rPr lang="zh-CN" altLang="zh-CN" sz="1200" kern="1200" dirty="0" smtClean="0">
                <a:solidFill>
                  <a:schemeClr val="tx1"/>
                </a:solidFill>
                <a:effectLst/>
                <a:latin typeface="+mn-lt"/>
                <a:ea typeface="+mn-ea"/>
                <a:cs typeface="+mn-cs"/>
              </a:rPr>
              <a:t>所具有的对象特性也非常便于面向对象编程。然而，由于</a:t>
            </a:r>
            <a:r>
              <a:rPr lang="en-US" altLang="zh-CN" sz="1200" kern="1200" dirty="0" smtClean="0">
                <a:solidFill>
                  <a:schemeClr val="tx1"/>
                </a:solidFill>
                <a:effectLst/>
                <a:latin typeface="+mn-lt"/>
                <a:ea typeface="+mn-ea"/>
                <a:cs typeface="+mn-cs"/>
              </a:rPr>
              <a:t>DOM</a:t>
            </a:r>
            <a:r>
              <a:rPr lang="zh-CN" altLang="zh-CN" sz="1200" kern="1200" dirty="0" smtClean="0">
                <a:solidFill>
                  <a:schemeClr val="tx1"/>
                </a:solidFill>
                <a:effectLst/>
                <a:latin typeface="+mn-lt"/>
                <a:ea typeface="+mn-ea"/>
                <a:cs typeface="+mn-cs"/>
              </a:rPr>
              <a:t>在使用数据前需要完整的遍历</a:t>
            </a:r>
            <a:r>
              <a:rPr lang="en-US" altLang="zh-CN" sz="1200" kern="1200" dirty="0" smtClean="0">
                <a:solidFill>
                  <a:schemeClr val="tx1"/>
                </a:solidFill>
                <a:effectLst/>
                <a:latin typeface="+mn-lt"/>
                <a:ea typeface="+mn-ea"/>
                <a:cs typeface="+mn-cs"/>
              </a:rPr>
              <a:t>XML</a:t>
            </a:r>
            <a:r>
              <a:rPr lang="zh-CN" altLang="zh-CN" sz="1200" kern="1200" dirty="0" smtClean="0">
                <a:solidFill>
                  <a:schemeClr val="tx1"/>
                </a:solidFill>
                <a:effectLst/>
                <a:latin typeface="+mn-lt"/>
                <a:ea typeface="+mn-ea"/>
                <a:cs typeface="+mn-cs"/>
              </a:rPr>
              <a:t>文档，在内存中构建树形结构表示，因此需要消耗大量的内存，尤其是对于大型文档，性能下降的很快。而且必须一次解析整个</a:t>
            </a:r>
            <a:r>
              <a:rPr lang="en-US" altLang="zh-CN" sz="1200" kern="1200" dirty="0" smtClean="0">
                <a:solidFill>
                  <a:schemeClr val="tx1"/>
                </a:solidFill>
                <a:effectLst/>
                <a:latin typeface="+mn-lt"/>
                <a:ea typeface="+mn-ea"/>
                <a:cs typeface="+mn-cs"/>
              </a:rPr>
              <a:t>XML</a:t>
            </a:r>
            <a:r>
              <a:rPr lang="zh-CN" altLang="zh-CN" sz="1200" kern="1200" dirty="0" smtClean="0">
                <a:solidFill>
                  <a:schemeClr val="tx1"/>
                </a:solidFill>
                <a:effectLst/>
                <a:latin typeface="+mn-lt"/>
                <a:ea typeface="+mn-ea"/>
                <a:cs typeface="+mn-cs"/>
              </a:rPr>
              <a:t>文档，不可能只做部分解析，当只关注</a:t>
            </a:r>
            <a:r>
              <a:rPr lang="en-US" altLang="zh-CN" sz="1200" kern="1200" dirty="0" smtClean="0">
                <a:solidFill>
                  <a:schemeClr val="tx1"/>
                </a:solidFill>
                <a:effectLst/>
                <a:latin typeface="+mn-lt"/>
                <a:ea typeface="+mn-ea"/>
                <a:cs typeface="+mn-cs"/>
              </a:rPr>
              <a:t>XML</a:t>
            </a:r>
            <a:r>
              <a:rPr lang="zh-CN" altLang="zh-CN" sz="1200" kern="1200" dirty="0" smtClean="0">
                <a:solidFill>
                  <a:schemeClr val="tx1"/>
                </a:solidFill>
                <a:effectLst/>
                <a:latin typeface="+mn-lt"/>
                <a:ea typeface="+mn-ea"/>
                <a:cs typeface="+mn-cs"/>
              </a:rPr>
              <a:t>文档的小部分数据时，效率很低。</a:t>
            </a:r>
            <a:r>
              <a:rPr lang="en-US" altLang="zh-CN" sz="1200" kern="1200" dirty="0" smtClean="0">
                <a:solidFill>
                  <a:schemeClr val="tx1"/>
                </a:solidFill>
                <a:effectLst/>
                <a:latin typeface="+mn-lt"/>
                <a:ea typeface="+mn-ea"/>
                <a:cs typeface="+mn-cs"/>
              </a:rPr>
              <a:t>(Axis2</a:t>
            </a:r>
            <a:r>
              <a:rPr lang="zh-CN" altLang="zh-CN" sz="1200" kern="1200" dirty="0" smtClean="0">
                <a:solidFill>
                  <a:schemeClr val="tx1"/>
                </a:solidFill>
                <a:effectLst/>
                <a:latin typeface="+mn-lt"/>
                <a:ea typeface="+mn-ea"/>
                <a:cs typeface="+mn-cs"/>
              </a:rPr>
              <a:t>项目中的</a:t>
            </a:r>
            <a:r>
              <a:rPr lang="en-US" altLang="zh-CN" sz="1200" kern="1200" dirty="0" smtClean="0">
                <a:solidFill>
                  <a:schemeClr val="tx1"/>
                </a:solidFill>
                <a:effectLst/>
                <a:latin typeface="+mn-lt"/>
                <a:ea typeface="+mn-ea"/>
                <a:cs typeface="+mn-cs"/>
              </a:rPr>
              <a:t>Axiom</a:t>
            </a:r>
            <a:r>
              <a:rPr lang="zh-CN" altLang="zh-CN" sz="1200" kern="1200" dirty="0" smtClean="0">
                <a:solidFill>
                  <a:schemeClr val="tx1"/>
                </a:solidFill>
                <a:effectLst/>
                <a:latin typeface="+mn-lt"/>
                <a:ea typeface="+mn-ea"/>
                <a:cs typeface="+mn-cs"/>
              </a:rPr>
              <a:t>对象模型实现了对</a:t>
            </a:r>
            <a:r>
              <a:rPr lang="en-US" altLang="zh-CN" sz="1200" kern="1200" dirty="0" smtClean="0">
                <a:solidFill>
                  <a:schemeClr val="tx1"/>
                </a:solidFill>
                <a:effectLst/>
                <a:latin typeface="+mn-lt"/>
                <a:ea typeface="+mn-ea"/>
                <a:cs typeface="+mn-cs"/>
              </a:rPr>
              <a:t>XML</a:t>
            </a:r>
            <a:r>
              <a:rPr lang="zh-CN" altLang="zh-CN" sz="1200" kern="1200" dirty="0" smtClean="0">
                <a:solidFill>
                  <a:schemeClr val="tx1"/>
                </a:solidFill>
                <a:effectLst/>
                <a:latin typeface="+mn-lt"/>
                <a:ea typeface="+mn-ea"/>
                <a:cs typeface="+mn-cs"/>
              </a:rPr>
              <a:t>文档的部分解析，可构建不完整的节点树，但实现较为复杂</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a:t>
            </a:r>
          </a:p>
          <a:p>
            <a:r>
              <a:rPr lang="zh-CN" altLang="zh-CN" sz="1200" kern="1200" dirty="0" smtClean="0">
                <a:solidFill>
                  <a:schemeClr val="tx1"/>
                </a:solidFill>
                <a:effectLst/>
                <a:latin typeface="+mn-lt"/>
                <a:ea typeface="+mn-ea"/>
                <a:cs typeface="+mn-cs"/>
              </a:rPr>
              <a:t>由于</a:t>
            </a:r>
            <a:r>
              <a:rPr lang="en-US" altLang="zh-CN" sz="1200" kern="1200" dirty="0" smtClean="0">
                <a:solidFill>
                  <a:schemeClr val="tx1"/>
                </a:solidFill>
                <a:effectLst/>
                <a:latin typeface="+mn-lt"/>
                <a:ea typeface="+mn-ea"/>
                <a:cs typeface="+mn-cs"/>
              </a:rPr>
              <a:t>DOM</a:t>
            </a:r>
            <a:r>
              <a:rPr lang="zh-CN" altLang="zh-CN" sz="1200" kern="1200" dirty="0" smtClean="0">
                <a:solidFill>
                  <a:schemeClr val="tx1"/>
                </a:solidFill>
                <a:effectLst/>
                <a:latin typeface="+mn-lt"/>
                <a:ea typeface="+mn-ea"/>
                <a:cs typeface="+mn-cs"/>
              </a:rPr>
              <a:t>是与语言无关的，当</a:t>
            </a:r>
            <a:r>
              <a:rPr lang="en-US" altLang="zh-CN" sz="1200" kern="1200" dirty="0" smtClean="0">
                <a:solidFill>
                  <a:schemeClr val="tx1"/>
                </a:solidFill>
                <a:effectLst/>
                <a:latin typeface="+mn-lt"/>
                <a:ea typeface="+mn-ea"/>
                <a:cs typeface="+mn-cs"/>
              </a:rPr>
              <a:t>DOM</a:t>
            </a:r>
            <a:r>
              <a:rPr lang="zh-CN" altLang="zh-CN" sz="1200" kern="1200" dirty="0" smtClean="0">
                <a:solidFill>
                  <a:schemeClr val="tx1"/>
                </a:solidFill>
                <a:effectLst/>
                <a:latin typeface="+mn-lt"/>
                <a:ea typeface="+mn-ea"/>
                <a:cs typeface="+mn-cs"/>
              </a:rPr>
              <a:t>接口进入指定语言的数据结构时，会产生不必要的复杂性，无法利用语言本身的优势。因此出现了许多与</a:t>
            </a:r>
            <a:r>
              <a:rPr lang="en-US" altLang="zh-CN" sz="1200" kern="1200" dirty="0" smtClean="0">
                <a:solidFill>
                  <a:schemeClr val="tx1"/>
                </a:solidFill>
                <a:effectLst/>
                <a:latin typeface="+mn-lt"/>
                <a:ea typeface="+mn-ea"/>
                <a:cs typeface="+mn-cs"/>
              </a:rPr>
              <a:t>DOM</a:t>
            </a:r>
            <a:r>
              <a:rPr lang="zh-CN" altLang="zh-CN" sz="1200" kern="1200" dirty="0" smtClean="0">
                <a:solidFill>
                  <a:schemeClr val="tx1"/>
                </a:solidFill>
                <a:effectLst/>
                <a:latin typeface="+mn-lt"/>
                <a:ea typeface="+mn-ea"/>
                <a:cs typeface="+mn-cs"/>
              </a:rPr>
              <a:t>类似的针对特定语言的对象模型。如</a:t>
            </a:r>
            <a:r>
              <a:rPr lang="en-US" altLang="zh-CN" sz="1200" kern="1200" dirty="0" smtClean="0">
                <a:solidFill>
                  <a:schemeClr val="tx1"/>
                </a:solidFill>
                <a:effectLst/>
                <a:latin typeface="+mn-lt"/>
                <a:ea typeface="+mn-ea"/>
                <a:cs typeface="+mn-cs"/>
              </a:rPr>
              <a:t>JDOM</a:t>
            </a:r>
            <a:r>
              <a:rPr lang="zh-CN" altLang="zh-CN" sz="1200" kern="1200" dirty="0" smtClean="0">
                <a:solidFill>
                  <a:schemeClr val="tx1"/>
                </a:solidFill>
                <a:effectLst/>
                <a:latin typeface="+mn-lt"/>
                <a:ea typeface="+mn-ea"/>
                <a:cs typeface="+mn-cs"/>
              </a:rPr>
              <a:t>就是针对</a:t>
            </a:r>
            <a:r>
              <a:rPr lang="en-US" altLang="zh-CN" sz="1200" kern="1200" dirty="0" smtClean="0">
                <a:solidFill>
                  <a:schemeClr val="tx1"/>
                </a:solidFill>
                <a:effectLst/>
                <a:latin typeface="+mn-lt"/>
                <a:ea typeface="+mn-ea"/>
                <a:cs typeface="+mn-cs"/>
              </a:rPr>
              <a:t>Java</a:t>
            </a:r>
            <a:r>
              <a:rPr lang="zh-CN" altLang="zh-CN" sz="1200" kern="1200" dirty="0" smtClean="0">
                <a:solidFill>
                  <a:schemeClr val="tx1"/>
                </a:solidFill>
                <a:effectLst/>
                <a:latin typeface="+mn-lt"/>
                <a:ea typeface="+mn-ea"/>
                <a:cs typeface="+mn-cs"/>
              </a:rPr>
              <a:t>的特定文档对象模型，</a:t>
            </a:r>
            <a:r>
              <a:rPr lang="en-US" altLang="zh-CN" sz="1200" kern="1200" dirty="0" smtClean="0">
                <a:solidFill>
                  <a:schemeClr val="tx1"/>
                </a:solidFill>
                <a:effectLst/>
                <a:latin typeface="+mn-lt"/>
                <a:ea typeface="+mn-ea"/>
                <a:cs typeface="+mn-cs"/>
              </a:rPr>
              <a:t>JDOM</a:t>
            </a:r>
            <a:r>
              <a:rPr lang="zh-CN" altLang="zh-CN" sz="1200" kern="1200" dirty="0" smtClean="0">
                <a:solidFill>
                  <a:schemeClr val="tx1"/>
                </a:solidFill>
                <a:effectLst/>
                <a:latin typeface="+mn-lt"/>
                <a:ea typeface="+mn-ea"/>
                <a:cs typeface="+mn-cs"/>
              </a:rPr>
              <a:t>使用具体类而不使用接口，简化了</a:t>
            </a:r>
            <a:r>
              <a:rPr lang="en-US" altLang="zh-CN" sz="1200" kern="1200" dirty="0" smtClean="0">
                <a:solidFill>
                  <a:schemeClr val="tx1"/>
                </a:solidFill>
                <a:effectLst/>
                <a:latin typeface="+mn-lt"/>
                <a:ea typeface="+mn-ea"/>
                <a:cs typeface="+mn-cs"/>
              </a:rPr>
              <a:t>API</a:t>
            </a:r>
            <a:r>
              <a:rPr lang="zh-CN" altLang="zh-CN" sz="1200" kern="1200" dirty="0" smtClean="0">
                <a:solidFill>
                  <a:schemeClr val="tx1"/>
                </a:solidFill>
                <a:effectLst/>
                <a:latin typeface="+mn-lt"/>
                <a:ea typeface="+mn-ea"/>
                <a:cs typeface="+mn-cs"/>
              </a:rPr>
              <a:t>，并在</a:t>
            </a:r>
            <a:r>
              <a:rPr lang="en-US" altLang="zh-CN" sz="1200" kern="1200" dirty="0" smtClean="0">
                <a:solidFill>
                  <a:schemeClr val="tx1"/>
                </a:solidFill>
                <a:effectLst/>
                <a:latin typeface="+mn-lt"/>
                <a:ea typeface="+mn-ea"/>
                <a:cs typeface="+mn-cs"/>
              </a:rPr>
              <a:t>API</a:t>
            </a:r>
            <a:r>
              <a:rPr lang="zh-CN" altLang="zh-CN" sz="1200" kern="1200" dirty="0" smtClean="0">
                <a:solidFill>
                  <a:schemeClr val="tx1"/>
                </a:solidFill>
                <a:effectLst/>
                <a:latin typeface="+mn-lt"/>
                <a:ea typeface="+mn-ea"/>
                <a:cs typeface="+mn-cs"/>
              </a:rPr>
              <a:t>中大量使用了</a:t>
            </a:r>
            <a:r>
              <a:rPr lang="en-US" altLang="zh-CN" sz="1200" kern="1200" dirty="0" smtClean="0">
                <a:solidFill>
                  <a:schemeClr val="tx1"/>
                </a:solidFill>
                <a:effectLst/>
                <a:latin typeface="+mn-lt"/>
                <a:ea typeface="+mn-ea"/>
                <a:cs typeface="+mn-cs"/>
              </a:rPr>
              <a:t>Java</a:t>
            </a:r>
            <a:r>
              <a:rPr lang="zh-CN" altLang="zh-CN" sz="1200" kern="1200" dirty="0" smtClean="0">
                <a:solidFill>
                  <a:schemeClr val="tx1"/>
                </a:solidFill>
                <a:effectLst/>
                <a:latin typeface="+mn-lt"/>
                <a:ea typeface="+mn-ea"/>
                <a:cs typeface="+mn-cs"/>
              </a:rPr>
              <a:t>集合类。</a:t>
            </a:r>
            <a:r>
              <a:rPr lang="en-US" altLang="zh-CN" sz="1200" kern="1200" dirty="0" smtClean="0">
                <a:solidFill>
                  <a:schemeClr val="tx1"/>
                </a:solidFill>
                <a:effectLst/>
                <a:latin typeface="+mn-lt"/>
                <a:ea typeface="+mn-ea"/>
                <a:cs typeface="+mn-cs"/>
              </a:rPr>
              <a:t>DOM4J</a:t>
            </a:r>
            <a:r>
              <a:rPr lang="zh-CN" altLang="zh-CN" sz="1200" kern="1200" dirty="0" smtClean="0">
                <a:solidFill>
                  <a:schemeClr val="tx1"/>
                </a:solidFill>
                <a:effectLst/>
                <a:latin typeface="+mn-lt"/>
                <a:ea typeface="+mn-ea"/>
                <a:cs typeface="+mn-cs"/>
              </a:rPr>
              <a:t>则是</a:t>
            </a:r>
            <a:r>
              <a:rPr lang="en-US" altLang="zh-CN" sz="1200" kern="1200" dirty="0" smtClean="0">
                <a:solidFill>
                  <a:schemeClr val="tx1"/>
                </a:solidFill>
                <a:effectLst/>
                <a:latin typeface="+mn-lt"/>
                <a:ea typeface="+mn-ea"/>
                <a:cs typeface="+mn-cs"/>
              </a:rPr>
              <a:t>JDOM</a:t>
            </a:r>
            <a:r>
              <a:rPr lang="zh-CN" altLang="zh-CN" sz="1200" kern="1200" dirty="0" smtClean="0">
                <a:solidFill>
                  <a:schemeClr val="tx1"/>
                </a:solidFill>
                <a:effectLst/>
                <a:latin typeface="+mn-lt"/>
                <a:ea typeface="+mn-ea"/>
                <a:cs typeface="+mn-cs"/>
              </a:rPr>
              <a:t>的一种智能分支，它提供了对</a:t>
            </a:r>
            <a:r>
              <a:rPr lang="en-US" altLang="zh-CN" sz="1200" kern="1200" dirty="0" err="1" smtClean="0">
                <a:solidFill>
                  <a:schemeClr val="tx1"/>
                </a:solidFill>
                <a:effectLst/>
                <a:latin typeface="+mn-lt"/>
                <a:ea typeface="+mn-ea"/>
                <a:cs typeface="+mn-cs"/>
              </a:rPr>
              <a:t>XPath</a:t>
            </a:r>
            <a:r>
              <a:rPr lang="zh-CN" altLang="zh-CN" sz="1200" kern="1200" dirty="0" smtClean="0">
                <a:solidFill>
                  <a:schemeClr val="tx1"/>
                </a:solidFill>
                <a:effectLst/>
                <a:latin typeface="+mn-lt"/>
                <a:ea typeface="+mn-ea"/>
                <a:cs typeface="+mn-cs"/>
              </a:rPr>
              <a:t>和</a:t>
            </a:r>
            <a:r>
              <a:rPr lang="en-US" altLang="zh-CN" sz="1200" kern="1200" dirty="0" err="1" smtClean="0">
                <a:solidFill>
                  <a:schemeClr val="tx1"/>
                </a:solidFill>
                <a:effectLst/>
                <a:latin typeface="+mn-lt"/>
                <a:ea typeface="+mn-ea"/>
                <a:cs typeface="+mn-cs"/>
              </a:rPr>
              <a:t>XMLSchema</a:t>
            </a:r>
            <a:r>
              <a:rPr lang="zh-CN" altLang="zh-CN" sz="1200" kern="1200" dirty="0" smtClean="0">
                <a:solidFill>
                  <a:schemeClr val="tx1"/>
                </a:solidFill>
                <a:effectLst/>
                <a:latin typeface="+mn-lt"/>
                <a:ea typeface="+mn-ea"/>
                <a:cs typeface="+mn-cs"/>
              </a:rPr>
              <a:t>的支持，并且通过</a:t>
            </a:r>
            <a:r>
              <a:rPr lang="en-US" altLang="zh-CN" sz="1200" kern="1200" dirty="0" smtClean="0">
                <a:solidFill>
                  <a:schemeClr val="tx1"/>
                </a:solidFill>
                <a:effectLst/>
                <a:latin typeface="+mn-lt"/>
                <a:ea typeface="+mn-ea"/>
                <a:cs typeface="+mn-cs"/>
              </a:rPr>
              <a:t>DOM4J API</a:t>
            </a:r>
            <a:r>
              <a:rPr lang="zh-CN" altLang="zh-CN" sz="1200" kern="1200" dirty="0" smtClean="0">
                <a:solidFill>
                  <a:schemeClr val="tx1"/>
                </a:solidFill>
                <a:effectLst/>
                <a:latin typeface="+mn-lt"/>
                <a:ea typeface="+mn-ea"/>
                <a:cs typeface="+mn-cs"/>
              </a:rPr>
              <a:t>和标准</a:t>
            </a:r>
            <a:r>
              <a:rPr lang="en-US" altLang="zh-CN" sz="1200" kern="1200" dirty="0" smtClean="0">
                <a:solidFill>
                  <a:schemeClr val="tx1"/>
                </a:solidFill>
                <a:effectLst/>
                <a:latin typeface="+mn-lt"/>
                <a:ea typeface="+mn-ea"/>
                <a:cs typeface="+mn-cs"/>
              </a:rPr>
              <a:t>DOM</a:t>
            </a:r>
            <a:r>
              <a:rPr lang="zh-CN" altLang="zh-CN" sz="1200" kern="1200" dirty="0" smtClean="0">
                <a:solidFill>
                  <a:schemeClr val="tx1"/>
                </a:solidFill>
                <a:effectLst/>
                <a:latin typeface="+mn-lt"/>
                <a:ea typeface="+mn-ea"/>
                <a:cs typeface="+mn-cs"/>
              </a:rPr>
              <a:t>接口使其具有并行访问功能。它们都属于面向文档的对象式解析技术</a:t>
            </a:r>
            <a:endParaRPr lang="en-US" altLang="zh-CN" sz="1200" kern="1200" smtClean="0">
              <a:solidFill>
                <a:schemeClr val="tx1"/>
              </a:solidFill>
              <a:effectLst/>
              <a:latin typeface="+mn-lt"/>
              <a:ea typeface="+mn-ea"/>
              <a:cs typeface="+mn-cs"/>
            </a:endParaRPr>
          </a:p>
          <a:p>
            <a:endParaRPr lang="zh-CN" altLang="en-US"/>
          </a:p>
        </p:txBody>
      </p:sp>
      <p:sp>
        <p:nvSpPr>
          <p:cNvPr id="4" name="灯片编号占位符 3"/>
          <p:cNvSpPr>
            <a:spLocks noGrp="1"/>
          </p:cNvSpPr>
          <p:nvPr>
            <p:ph type="sldNum" sz="quarter" idx="10"/>
          </p:nvPr>
        </p:nvSpPr>
        <p:spPr/>
        <p:txBody>
          <a:bodyPr/>
          <a:lstStyle/>
          <a:p>
            <a:fld id="{273B23B1-AE87-481B-BF79-14C0BA1C2433}" type="slidenum">
              <a:rPr lang="zh-CN" altLang="en-US" smtClean="0"/>
              <a:pPr/>
              <a:t>96</a:t>
            </a:fld>
            <a:endParaRPr lang="zh-CN" altLang="en-US"/>
          </a:p>
        </p:txBody>
      </p:sp>
    </p:spTree>
    <p:extLst>
      <p:ext uri="{BB962C8B-B14F-4D97-AF65-F5344CB8AC3E}">
        <p14:creationId xmlns:p14="http://schemas.microsoft.com/office/powerpoint/2010/main" val="2759805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785918" y="2130425"/>
            <a:ext cx="6672282"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785918" y="3886200"/>
            <a:ext cx="5986482"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fld id="{530820CF-B880-4189-942D-D702A7CBA730}" type="datetimeFigureOut">
              <a:rPr lang="zh-CN" altLang="en-US" smtClean="0"/>
              <a:pPr/>
              <a:t>2021/3/6</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530820CF-B880-4189-942D-D702A7CBA730}" type="datetimeFigureOut">
              <a:rPr lang="zh-CN" altLang="en-US" smtClean="0"/>
              <a:pPr/>
              <a:t>2021/3/6</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1785917" y="4406900"/>
            <a:ext cx="6708795"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785917" y="2906713"/>
            <a:ext cx="6708795"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530820CF-B880-4189-942D-D702A7CBA730}" type="datetimeFigureOut">
              <a:rPr lang="zh-CN" altLang="en-US" smtClean="0"/>
              <a:pPr/>
              <a:t>2021/3/6</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fld id="{530820CF-B880-4189-942D-D702A7CBA730}" type="datetimeFigureOut">
              <a:rPr lang="zh-CN" altLang="en-US" smtClean="0"/>
              <a:pPr/>
              <a:t>2021/3/6</a:t>
            </a:fld>
            <a:endParaRPr lang="zh-CN" altLang="en-US"/>
          </a:p>
        </p:txBody>
      </p:sp>
      <p:sp>
        <p:nvSpPr>
          <p:cNvPr id="6" name="页脚占位符 4"/>
          <p:cNvSpPr>
            <a:spLocks noGrp="1"/>
          </p:cNvSpPr>
          <p:nvPr>
            <p:ph type="ftr" sz="quarter" idx="11"/>
          </p:nvPr>
        </p:nvSpPr>
        <p:spPr/>
        <p:txBody>
          <a:bodyPr/>
          <a:lstStyle>
            <a:lvl1pPr>
              <a:defRPr/>
            </a:lvl1pPr>
          </a:lstStyle>
          <a:p>
            <a:endParaRPr lang="zh-CN" altLang="en-US"/>
          </a:p>
        </p:txBody>
      </p:sp>
      <p:sp>
        <p:nvSpPr>
          <p:cNvPr id="7"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fld id="{530820CF-B880-4189-942D-D702A7CBA730}" type="datetimeFigureOut">
              <a:rPr lang="zh-CN" altLang="en-US" smtClean="0"/>
              <a:pPr/>
              <a:t>2021/3/6</a:t>
            </a:fld>
            <a:endParaRPr lang="zh-CN" altLang="en-US"/>
          </a:p>
        </p:txBody>
      </p:sp>
      <p:sp>
        <p:nvSpPr>
          <p:cNvPr id="8" name="页脚占位符 4"/>
          <p:cNvSpPr>
            <a:spLocks noGrp="1"/>
          </p:cNvSpPr>
          <p:nvPr>
            <p:ph type="ftr" sz="quarter" idx="11"/>
          </p:nvPr>
        </p:nvSpPr>
        <p:spPr/>
        <p:txBody>
          <a:bodyPr/>
          <a:lstStyle>
            <a:lvl1pPr>
              <a:defRPr/>
            </a:lvl1pPr>
          </a:lstStyle>
          <a:p>
            <a:endParaRPr lang="zh-CN" altLang="en-US"/>
          </a:p>
        </p:txBody>
      </p:sp>
      <p:sp>
        <p:nvSpPr>
          <p:cNvPr id="9"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fld id="{530820CF-B880-4189-942D-D702A7CBA730}" type="datetimeFigureOut">
              <a:rPr lang="zh-CN" altLang="en-US" smtClean="0"/>
              <a:pPr/>
              <a:t>2021/3/6</a:t>
            </a:fld>
            <a:endParaRPr lang="zh-CN" altLang="en-US"/>
          </a:p>
        </p:txBody>
      </p:sp>
      <p:sp>
        <p:nvSpPr>
          <p:cNvPr id="4" name="页脚占位符 4"/>
          <p:cNvSpPr>
            <a:spLocks noGrp="1"/>
          </p:cNvSpPr>
          <p:nvPr>
            <p:ph type="ftr" sz="quarter" idx="11"/>
          </p:nvPr>
        </p:nvSpPr>
        <p:spPr/>
        <p:txBody>
          <a:bodyPr/>
          <a:lstStyle>
            <a:lvl1pPr>
              <a:defRPr/>
            </a:lvl1pPr>
          </a:lstStyle>
          <a:p>
            <a:endParaRPr lang="zh-CN" altLang="en-US"/>
          </a:p>
        </p:txBody>
      </p:sp>
      <p:sp>
        <p:nvSpPr>
          <p:cNvPr id="5"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fld id="{530820CF-B880-4189-942D-D702A7CBA730}" type="datetimeFigureOut">
              <a:rPr lang="zh-CN" altLang="en-US" smtClean="0"/>
              <a:pPr/>
              <a:t>2021/3/6</a:t>
            </a:fld>
            <a:endParaRPr lang="zh-CN" altLang="en-US"/>
          </a:p>
        </p:txBody>
      </p:sp>
      <p:sp>
        <p:nvSpPr>
          <p:cNvPr id="3" name="页脚占位符 4"/>
          <p:cNvSpPr>
            <a:spLocks noGrp="1"/>
          </p:cNvSpPr>
          <p:nvPr>
            <p:ph type="ftr" sz="quarter" idx="11"/>
          </p:nvPr>
        </p:nvSpPr>
        <p:spPr/>
        <p:txBody>
          <a:bodyPr/>
          <a:lstStyle>
            <a:lvl1pPr>
              <a:defRPr/>
            </a:lvl1pPr>
          </a:lstStyle>
          <a:p>
            <a:endParaRPr lang="zh-CN" altLang="en-US"/>
          </a:p>
        </p:txBody>
      </p:sp>
      <p:sp>
        <p:nvSpPr>
          <p:cNvPr id="4"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fld id="{530820CF-B880-4189-942D-D702A7CBA730}" type="datetimeFigureOut">
              <a:rPr lang="zh-CN" altLang="en-US" smtClean="0"/>
              <a:pPr/>
              <a:t>2021/3/6</a:t>
            </a:fld>
            <a:endParaRPr lang="zh-CN" altLang="en-US"/>
          </a:p>
        </p:txBody>
      </p:sp>
      <p:sp>
        <p:nvSpPr>
          <p:cNvPr id="6" name="页脚占位符 4"/>
          <p:cNvSpPr>
            <a:spLocks noGrp="1"/>
          </p:cNvSpPr>
          <p:nvPr>
            <p:ph type="ftr" sz="quarter" idx="11"/>
          </p:nvPr>
        </p:nvSpPr>
        <p:spPr/>
        <p:txBody>
          <a:bodyPr/>
          <a:lstStyle>
            <a:lvl1pPr>
              <a:defRPr/>
            </a:lvl1pPr>
          </a:lstStyle>
          <a:p>
            <a:endParaRPr lang="zh-CN" altLang="en-US"/>
          </a:p>
        </p:txBody>
      </p:sp>
      <p:sp>
        <p:nvSpPr>
          <p:cNvPr id="7"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fld id="{530820CF-B880-4189-942D-D702A7CBA730}" type="datetimeFigureOut">
              <a:rPr lang="zh-CN" altLang="en-US" smtClean="0"/>
              <a:pPr/>
              <a:t>2021/3/6</a:t>
            </a:fld>
            <a:endParaRPr lang="zh-CN" altLang="en-US"/>
          </a:p>
        </p:txBody>
      </p:sp>
      <p:sp>
        <p:nvSpPr>
          <p:cNvPr id="6" name="页脚占位符 4"/>
          <p:cNvSpPr>
            <a:spLocks noGrp="1"/>
          </p:cNvSpPr>
          <p:nvPr>
            <p:ph type="ftr" sz="quarter" idx="11"/>
          </p:nvPr>
        </p:nvSpPr>
        <p:spPr/>
        <p:txBody>
          <a:bodyPr/>
          <a:lstStyle>
            <a:lvl1pPr>
              <a:defRPr/>
            </a:lvl1pPr>
          </a:lstStyle>
          <a:p>
            <a:endParaRPr lang="zh-CN" altLang="en-US"/>
          </a:p>
        </p:txBody>
      </p:sp>
      <p:sp>
        <p:nvSpPr>
          <p:cNvPr id="7"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530820CF-B880-4189-942D-D702A7CBA730}" type="datetimeFigureOut">
              <a:rPr lang="zh-CN" altLang="en-US" smtClean="0"/>
              <a:pPr/>
              <a:t>2021/3/6</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530820CF-B880-4189-942D-D702A7CBA730}" type="datetimeFigureOut">
              <a:rPr lang="zh-CN" altLang="en-US" smtClean="0"/>
              <a:pPr/>
              <a:t>2021/3/6</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1785938" y="274638"/>
            <a:ext cx="690086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文本占位符 2"/>
          <p:cNvSpPr>
            <a:spLocks noGrp="1"/>
          </p:cNvSpPr>
          <p:nvPr>
            <p:ph type="body" idx="1"/>
          </p:nvPr>
        </p:nvSpPr>
        <p:spPr bwMode="auto">
          <a:xfrm>
            <a:off x="1785938" y="1600200"/>
            <a:ext cx="6900862" cy="46863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fld id="{530820CF-B880-4189-942D-D702A7CBA730}" type="datetimeFigureOut">
              <a:rPr lang="zh-CN" altLang="en-US" smtClean="0"/>
              <a:pPr/>
              <a:t>2021/3/6</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ea typeface="宋体" charset="-122"/>
        </a:defRPr>
      </a:lvl2pPr>
      <a:lvl3pPr algn="ctr" rtl="0" eaLnBrk="1" fontAlgn="base" hangingPunct="1">
        <a:spcBef>
          <a:spcPct val="0"/>
        </a:spcBef>
        <a:spcAft>
          <a:spcPct val="0"/>
        </a:spcAft>
        <a:defRPr sz="4400">
          <a:solidFill>
            <a:schemeClr val="tx1"/>
          </a:solidFill>
          <a:latin typeface="Calibri" pitchFamily="34" charset="0"/>
          <a:ea typeface="宋体" charset="-122"/>
        </a:defRPr>
      </a:lvl3pPr>
      <a:lvl4pPr algn="ctr" rtl="0" eaLnBrk="1" fontAlgn="base" hangingPunct="1">
        <a:spcBef>
          <a:spcPct val="0"/>
        </a:spcBef>
        <a:spcAft>
          <a:spcPct val="0"/>
        </a:spcAft>
        <a:defRPr sz="4400">
          <a:solidFill>
            <a:schemeClr val="tx1"/>
          </a:solidFill>
          <a:latin typeface="Calibri" pitchFamily="34" charset="0"/>
          <a:ea typeface="宋体" charset="-122"/>
        </a:defRPr>
      </a:lvl4pPr>
      <a:lvl5pPr algn="ctr" rtl="0" eaLnBrk="1" fontAlgn="base" hangingPunct="1">
        <a:spcBef>
          <a:spcPct val="0"/>
        </a:spcBef>
        <a:spcAft>
          <a:spcPct val="0"/>
        </a:spcAft>
        <a:defRPr sz="4400">
          <a:solidFill>
            <a:schemeClr val="tx1"/>
          </a:solidFill>
          <a:latin typeface="Calibri" pitchFamily="34" charset="0"/>
          <a:ea typeface="宋体" charset="-122"/>
        </a:defRPr>
      </a:lvl5pPr>
      <a:lvl6pPr marL="457200" algn="ctr" rtl="0" eaLnBrk="1" fontAlgn="base" hangingPunct="1">
        <a:spcBef>
          <a:spcPct val="0"/>
        </a:spcBef>
        <a:spcAft>
          <a:spcPct val="0"/>
        </a:spcAft>
        <a:defRPr sz="4400">
          <a:solidFill>
            <a:schemeClr val="tx1"/>
          </a:solidFill>
          <a:latin typeface="Calibri" pitchFamily="34" charset="0"/>
          <a:ea typeface="宋体" charset="-122"/>
        </a:defRPr>
      </a:lvl6pPr>
      <a:lvl7pPr marL="914400" algn="ctr" rtl="0" eaLnBrk="1" fontAlgn="base" hangingPunct="1">
        <a:spcBef>
          <a:spcPct val="0"/>
        </a:spcBef>
        <a:spcAft>
          <a:spcPct val="0"/>
        </a:spcAft>
        <a:defRPr sz="4400">
          <a:solidFill>
            <a:schemeClr val="tx1"/>
          </a:solidFill>
          <a:latin typeface="Calibri" pitchFamily="34" charset="0"/>
          <a:ea typeface="宋体" charset="-122"/>
        </a:defRPr>
      </a:lvl7pPr>
      <a:lvl8pPr marL="1371600" algn="ctr" rtl="0" eaLnBrk="1" fontAlgn="base" hangingPunct="1">
        <a:spcBef>
          <a:spcPct val="0"/>
        </a:spcBef>
        <a:spcAft>
          <a:spcPct val="0"/>
        </a:spcAft>
        <a:defRPr sz="4400">
          <a:solidFill>
            <a:schemeClr val="tx1"/>
          </a:solidFill>
          <a:latin typeface="Calibri" pitchFamily="34" charset="0"/>
          <a:ea typeface="宋体" charset="-122"/>
        </a:defRPr>
      </a:lvl8pPr>
      <a:lvl9pPr marL="1828800" algn="ctr" rtl="0" eaLnBrk="1" fontAlgn="base" hangingPunct="1">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14.xml"/><Relationship Id="rId1" Type="http://schemas.openxmlformats.org/officeDocument/2006/relationships/slideLayout" Target="../slideLayouts/slideLayout2.xml"/><Relationship Id="rId6" Type="http://schemas.openxmlformats.org/officeDocument/2006/relationships/slide" Target="slide19.xml"/><Relationship Id="rId5" Type="http://schemas.openxmlformats.org/officeDocument/2006/relationships/slide" Target="slide17.xml"/><Relationship Id="rId4" Type="http://schemas.openxmlformats.org/officeDocument/2006/relationships/slide" Target="slide16.xml"/></Relationships>
</file>

<file path=ppt/slides/_rels/slide14.xml.rels><?xml version="1.0" encoding="UTF-8" standalone="yes"?>
<Relationships xmlns="http://schemas.openxmlformats.org/package/2006/relationships"><Relationship Id="rId2" Type="http://schemas.openxmlformats.org/officeDocument/2006/relationships/slide" Target="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 Target="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 Target="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slide" Target="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 Target="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smtClean="0"/>
              <a:t>XML</a:t>
            </a:r>
            <a:r>
              <a:rPr lang="zh-CN" altLang="en-US" dirty="0" smtClean="0"/>
              <a:t>技术</a:t>
            </a:r>
            <a:endParaRPr lang="zh-CN" altLang="en-US" dirty="0"/>
          </a:p>
        </p:txBody>
      </p:sp>
      <p:sp>
        <p:nvSpPr>
          <p:cNvPr id="3" name="副标题 2"/>
          <p:cNvSpPr>
            <a:spLocks noGrp="1"/>
          </p:cNvSpPr>
          <p:nvPr>
            <p:ph type="subTitle" idx="1"/>
          </p:nvPr>
        </p:nvSpPr>
        <p:spPr/>
        <p:txBody>
          <a:bodyPr/>
          <a:lstStyle/>
          <a:p>
            <a:endParaRPr lang="en-US" altLang="zh-CN" dirty="0" smtClean="0"/>
          </a:p>
          <a:p>
            <a:r>
              <a:rPr lang="zh-CN" altLang="en-US" dirty="0" smtClean="0"/>
              <a:t>刘峰</a:t>
            </a:r>
            <a:endParaRPr lang="zh-CN" alt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
          <p:cNvSpPr>
            <a:spLocks noGrp="1" noChangeArrowheads="1"/>
          </p:cNvSpPr>
          <p:nvPr>
            <p:ph idx="1"/>
          </p:nvPr>
        </p:nvSpPr>
        <p:spPr>
          <a:xfrm>
            <a:off x="2143108" y="500063"/>
            <a:ext cx="5845192" cy="5759450"/>
          </a:xfrm>
        </p:spPr>
        <p:txBody>
          <a:bodyPr>
            <a:normAutofit lnSpcReduction="10000"/>
          </a:bodyPr>
          <a:lstStyle/>
          <a:p>
            <a:pPr marL="609600" indent="-609600">
              <a:buFontTx/>
              <a:buAutoNum type="arabicPeriod"/>
            </a:pPr>
            <a:r>
              <a:rPr lang="en-US" altLang="zh-CN" sz="3600" b="1" dirty="0" smtClean="0">
                <a:solidFill>
                  <a:srgbClr val="FF0000"/>
                </a:solidFill>
              </a:rPr>
              <a:t>XML</a:t>
            </a:r>
            <a:r>
              <a:rPr lang="zh-CN" altLang="en-US" sz="3600" b="1" dirty="0" smtClean="0">
                <a:solidFill>
                  <a:srgbClr val="FF0000"/>
                </a:solidFill>
              </a:rPr>
              <a:t>概述</a:t>
            </a:r>
          </a:p>
          <a:p>
            <a:pPr marL="609600" indent="-609600">
              <a:buFontTx/>
              <a:buAutoNum type="arabicPeriod"/>
            </a:pPr>
            <a:endParaRPr lang="zh-CN" altLang="en-US" sz="3600" b="1" dirty="0" smtClean="0">
              <a:solidFill>
                <a:srgbClr val="FF0000"/>
              </a:solidFill>
            </a:endParaRPr>
          </a:p>
          <a:p>
            <a:pPr marL="609600" indent="-609600">
              <a:buFontTx/>
              <a:buAutoNum type="arabicPeriod"/>
            </a:pPr>
            <a:r>
              <a:rPr lang="en-US" altLang="zh-CN" sz="3600" b="1" dirty="0" smtClean="0"/>
              <a:t>XML</a:t>
            </a:r>
            <a:r>
              <a:rPr lang="zh-CN" altLang="en-US" sz="3600" b="1" dirty="0" smtClean="0"/>
              <a:t>语法</a:t>
            </a:r>
          </a:p>
          <a:p>
            <a:pPr marL="609600" indent="-609600">
              <a:buFontTx/>
              <a:buAutoNum type="arabicPeriod"/>
            </a:pPr>
            <a:endParaRPr lang="zh-CN" altLang="en-US" sz="3600" b="1" dirty="0" smtClean="0"/>
          </a:p>
          <a:p>
            <a:pPr marL="609600" indent="-609600">
              <a:buFontTx/>
              <a:buAutoNum type="arabicPeriod"/>
            </a:pPr>
            <a:r>
              <a:rPr lang="en-US" altLang="zh-CN" sz="3600" b="1" dirty="0" smtClean="0"/>
              <a:t>DTD</a:t>
            </a:r>
            <a:r>
              <a:rPr lang="zh-CN" altLang="en-US" sz="3600" b="1" dirty="0" smtClean="0"/>
              <a:t>与</a:t>
            </a:r>
            <a:r>
              <a:rPr lang="en-US" altLang="zh-CN" sz="3600" b="1" dirty="0" smtClean="0"/>
              <a:t>Scheme</a:t>
            </a:r>
          </a:p>
          <a:p>
            <a:pPr marL="609600" indent="-609600">
              <a:buFontTx/>
              <a:buAutoNum type="arabicPeriod"/>
            </a:pPr>
            <a:endParaRPr lang="en-US" altLang="zh-CN" sz="3600" b="1" dirty="0" smtClean="0"/>
          </a:p>
          <a:p>
            <a:pPr marL="609600" indent="-609600">
              <a:buFontTx/>
              <a:buAutoNum type="arabicPeriod"/>
            </a:pPr>
            <a:r>
              <a:rPr lang="en-US" altLang="zh-CN" sz="3600" b="1" dirty="0" smtClean="0"/>
              <a:t>XSL</a:t>
            </a:r>
            <a:r>
              <a:rPr lang="zh-CN" altLang="en-US" sz="3600" b="1" dirty="0" smtClean="0"/>
              <a:t>，</a:t>
            </a:r>
            <a:r>
              <a:rPr lang="en-US" altLang="zh-CN" sz="3600" b="1" dirty="0" smtClean="0"/>
              <a:t>XSLT and </a:t>
            </a:r>
            <a:r>
              <a:rPr lang="en-US" altLang="zh-CN" sz="3600" b="1" dirty="0" err="1" smtClean="0"/>
              <a:t>XPath</a:t>
            </a:r>
            <a:endParaRPr lang="en-US" altLang="zh-CN" sz="3600" b="1" dirty="0" smtClean="0"/>
          </a:p>
          <a:p>
            <a:pPr marL="609600" indent="-609600">
              <a:buFontTx/>
              <a:buAutoNum type="arabicPeriod"/>
            </a:pPr>
            <a:endParaRPr lang="zh-CN" altLang="en-US" sz="3600" b="1" dirty="0" smtClean="0"/>
          </a:p>
          <a:p>
            <a:pPr marL="609600" indent="-609600">
              <a:buFontTx/>
              <a:buAutoNum type="arabicPeriod"/>
            </a:pPr>
            <a:r>
              <a:rPr lang="en-US" altLang="zh-CN" sz="3600" b="1" dirty="0" smtClean="0"/>
              <a:t>XML</a:t>
            </a:r>
            <a:r>
              <a:rPr lang="zh-CN" altLang="en-US" sz="3600" b="1" dirty="0" smtClean="0"/>
              <a:t>解析</a:t>
            </a:r>
            <a:endParaRPr lang="en-US" altLang="zh-CN" sz="3600" b="1"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928794" y="457200"/>
            <a:ext cx="6300806" cy="739775"/>
          </a:xfrm>
        </p:spPr>
        <p:txBody>
          <a:bodyPr>
            <a:normAutofit/>
          </a:bodyPr>
          <a:lstStyle/>
          <a:p>
            <a:pPr marL="609600" indent="-609600">
              <a:defRPr/>
            </a:pPr>
            <a:r>
              <a:rPr lang="en-US" sz="3200" b="1" dirty="0" smtClean="0">
                <a:latin typeface="+mj-ea"/>
              </a:rPr>
              <a:t>XML</a:t>
            </a:r>
            <a:r>
              <a:rPr lang="zh-CN" sz="3200" b="1" dirty="0" smtClean="0">
                <a:latin typeface="+mj-ea"/>
              </a:rPr>
              <a:t>的定义</a:t>
            </a:r>
            <a:endParaRPr lang="en-US" altLang="zh-CN" sz="3200" b="1" dirty="0" smtClean="0">
              <a:solidFill>
                <a:schemeClr val="tx1"/>
              </a:solidFill>
              <a:latin typeface="+mj-ea"/>
            </a:endParaRPr>
          </a:p>
        </p:txBody>
      </p:sp>
      <p:sp>
        <p:nvSpPr>
          <p:cNvPr id="5123" name="Rectangle 3"/>
          <p:cNvSpPr>
            <a:spLocks noGrp="1" noChangeArrowheads="1"/>
          </p:cNvSpPr>
          <p:nvPr>
            <p:ph idx="1"/>
          </p:nvPr>
        </p:nvSpPr>
        <p:spPr>
          <a:xfrm>
            <a:off x="2071670" y="1844675"/>
            <a:ext cx="6675455" cy="3941763"/>
          </a:xfrm>
        </p:spPr>
        <p:txBody>
          <a:bodyPr/>
          <a:lstStyle/>
          <a:p>
            <a:pPr>
              <a:lnSpc>
                <a:spcPct val="90000"/>
              </a:lnSpc>
              <a:defRPr/>
            </a:pPr>
            <a:r>
              <a:rPr lang="en-US" altLang="zh-CN" sz="2800" b="1" dirty="0" smtClean="0">
                <a:latin typeface="+mn-ea"/>
              </a:rPr>
              <a:t>Extensible Markup Language</a:t>
            </a:r>
          </a:p>
          <a:p>
            <a:pPr lvl="1">
              <a:lnSpc>
                <a:spcPct val="90000"/>
              </a:lnSpc>
              <a:defRPr/>
            </a:pPr>
            <a:r>
              <a:rPr lang="en-US" altLang="zh-CN" b="1" dirty="0" smtClean="0">
                <a:latin typeface="+mn-ea"/>
              </a:rPr>
              <a:t>A set of rules for encoding documents electronically</a:t>
            </a:r>
          </a:p>
          <a:p>
            <a:pPr>
              <a:lnSpc>
                <a:spcPct val="90000"/>
              </a:lnSpc>
              <a:defRPr/>
            </a:pPr>
            <a:r>
              <a:rPr lang="en-US" sz="2800" b="1" dirty="0" smtClean="0">
                <a:latin typeface="+mn-ea"/>
              </a:rPr>
              <a:t>W3C</a:t>
            </a:r>
            <a:r>
              <a:rPr lang="zh-CN" altLang="en-US" sz="2800" b="1" dirty="0" smtClean="0">
                <a:latin typeface="+mn-ea"/>
              </a:rPr>
              <a:t>于</a:t>
            </a:r>
            <a:r>
              <a:rPr lang="en-US" sz="2800" b="1" dirty="0" smtClean="0">
                <a:latin typeface="+mn-ea"/>
              </a:rPr>
              <a:t>1998</a:t>
            </a:r>
            <a:r>
              <a:rPr lang="zh-CN" altLang="en-US" sz="2800" b="1" dirty="0" smtClean="0">
                <a:latin typeface="+mn-ea"/>
              </a:rPr>
              <a:t>年推出的一种用于数据描述的元标记语言的国际标准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blinds(horizontal)">
                                      <p:cBhvr>
                                        <p:cTn id="7" dur="500"/>
                                        <p:tgtEl>
                                          <p:spTgt spid="5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123">
                                            <p:txEl>
                                              <p:pRg st="1" end="1"/>
                                            </p:txEl>
                                          </p:spTgt>
                                        </p:tgtEl>
                                        <p:attrNameLst>
                                          <p:attrName>style.visibility</p:attrName>
                                        </p:attrNameLst>
                                      </p:cBhvr>
                                      <p:to>
                                        <p:strVal val="visible"/>
                                      </p:to>
                                    </p:set>
                                    <p:animEffect transition="in" filter="blinds(horizontal)">
                                      <p:cBhvr>
                                        <p:cTn id="12" dur="500"/>
                                        <p:tgtEl>
                                          <p:spTgt spid="512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sz="3200" dirty="0" smtClean="0">
                <a:latin typeface="+mj-ea"/>
              </a:rPr>
              <a:t>XML</a:t>
            </a:r>
            <a:r>
              <a:rPr lang="zh-CN" altLang="en-US" sz="3200" dirty="0" smtClean="0">
                <a:latin typeface="+mj-ea"/>
              </a:rPr>
              <a:t>标准系列</a:t>
            </a:r>
            <a:endParaRPr lang="zh-CN" altLang="en-US" sz="3200" dirty="0">
              <a:latin typeface="+mj-ea"/>
            </a:endParaRPr>
          </a:p>
        </p:txBody>
      </p:sp>
      <p:sp>
        <p:nvSpPr>
          <p:cNvPr id="3" name="内容占位符 2"/>
          <p:cNvSpPr>
            <a:spLocks noGrp="1"/>
          </p:cNvSpPr>
          <p:nvPr>
            <p:ph idx="1"/>
          </p:nvPr>
        </p:nvSpPr>
        <p:spPr/>
        <p:txBody>
          <a:bodyPr>
            <a:normAutofit fontScale="77500" lnSpcReduction="20000"/>
          </a:bodyPr>
          <a:lstStyle/>
          <a:p>
            <a:pPr lvl="0"/>
            <a:r>
              <a:rPr lang="zh-CN" altLang="en-US" b="1" dirty="0" smtClean="0"/>
              <a:t>核心</a:t>
            </a:r>
            <a:endParaRPr lang="en-US" altLang="zh-CN" b="1" dirty="0" smtClean="0"/>
          </a:p>
          <a:p>
            <a:pPr lvl="1"/>
            <a:r>
              <a:rPr lang="en-US" altLang="zh-CN" b="1" dirty="0" smtClean="0"/>
              <a:t>XML Information Set</a:t>
            </a:r>
          </a:p>
          <a:p>
            <a:pPr lvl="1"/>
            <a:r>
              <a:rPr lang="en-US" b="1" dirty="0" smtClean="0"/>
              <a:t>Document Type Declaration</a:t>
            </a:r>
          </a:p>
          <a:p>
            <a:pPr lvl="1"/>
            <a:r>
              <a:rPr lang="en-US" b="1" dirty="0" smtClean="0"/>
              <a:t>XML Schema</a:t>
            </a:r>
          </a:p>
          <a:p>
            <a:pPr lvl="1"/>
            <a:r>
              <a:rPr lang="en-US" b="1" dirty="0" smtClean="0"/>
              <a:t>Namespace</a:t>
            </a:r>
          </a:p>
          <a:p>
            <a:r>
              <a:rPr lang="zh-CN" altLang="en-US" b="1" dirty="0" smtClean="0"/>
              <a:t>展现与转换</a:t>
            </a:r>
            <a:endParaRPr lang="en-US" altLang="zh-CN" b="1" dirty="0" smtClean="0"/>
          </a:p>
          <a:p>
            <a:pPr lvl="1"/>
            <a:r>
              <a:rPr lang="en-US" b="1" dirty="0" smtClean="0"/>
              <a:t>CSS</a:t>
            </a:r>
          </a:p>
          <a:p>
            <a:pPr lvl="1"/>
            <a:r>
              <a:rPr lang="en-US" b="1" dirty="0" smtClean="0"/>
              <a:t>XSL</a:t>
            </a:r>
            <a:r>
              <a:rPr lang="zh-CN" altLang="en-US" b="1" dirty="0" smtClean="0"/>
              <a:t>：</a:t>
            </a:r>
            <a:r>
              <a:rPr lang="en-US" b="1" dirty="0" err="1" smtClean="0"/>
              <a:t>eXtensible</a:t>
            </a:r>
            <a:r>
              <a:rPr lang="en-US" b="1" dirty="0" smtClean="0"/>
              <a:t>  </a:t>
            </a:r>
            <a:r>
              <a:rPr lang="en-US" b="1" dirty="0" err="1" smtClean="0"/>
              <a:t>Stylesheet</a:t>
            </a:r>
            <a:r>
              <a:rPr lang="en-US" b="1" dirty="0" smtClean="0"/>
              <a:t>  Language	</a:t>
            </a:r>
          </a:p>
          <a:p>
            <a:r>
              <a:rPr lang="zh-CN" altLang="en-US" b="1" dirty="0" smtClean="0"/>
              <a:t>定位、链接与查询</a:t>
            </a:r>
            <a:endParaRPr lang="en-US" altLang="zh-CN" b="1" dirty="0" smtClean="0"/>
          </a:p>
          <a:p>
            <a:pPr lvl="1"/>
            <a:r>
              <a:rPr lang="en-US" b="1" dirty="0" err="1" smtClean="0"/>
              <a:t>Xpath</a:t>
            </a:r>
            <a:r>
              <a:rPr lang="zh-CN" altLang="en-US" b="1" dirty="0" smtClean="0"/>
              <a:t>：</a:t>
            </a:r>
            <a:r>
              <a:rPr lang="en-US" b="1" dirty="0" smtClean="0"/>
              <a:t> XML Path Language</a:t>
            </a:r>
          </a:p>
          <a:p>
            <a:pPr lvl="1"/>
            <a:r>
              <a:rPr lang="en-US" b="1" dirty="0" err="1" smtClean="0"/>
              <a:t>Xpointer</a:t>
            </a:r>
            <a:r>
              <a:rPr lang="zh-CN" altLang="en-US" b="1" dirty="0" smtClean="0"/>
              <a:t>：</a:t>
            </a:r>
            <a:r>
              <a:rPr lang="en-US" b="1" dirty="0" smtClean="0"/>
              <a:t> XML Pointer Language</a:t>
            </a:r>
          </a:p>
          <a:p>
            <a:pPr lvl="1"/>
            <a:r>
              <a:rPr lang="en-US" b="1" dirty="0" err="1" smtClean="0"/>
              <a:t>Xlink</a:t>
            </a:r>
            <a:r>
              <a:rPr lang="zh-CN" altLang="en-US" b="1" dirty="0" smtClean="0"/>
              <a:t>：</a:t>
            </a:r>
            <a:r>
              <a:rPr lang="en-US" b="1" dirty="0" smtClean="0"/>
              <a:t> XML Linking Language</a:t>
            </a:r>
          </a:p>
          <a:p>
            <a:pPr lvl="1"/>
            <a:r>
              <a:rPr lang="en-US" b="1" dirty="0" err="1" smtClean="0"/>
              <a:t>Xquery</a:t>
            </a:r>
            <a:r>
              <a:rPr lang="zh-CN" altLang="en-US" b="1" dirty="0" smtClean="0"/>
              <a:t>：</a:t>
            </a:r>
            <a:r>
              <a:rPr lang="en-US" b="1" dirty="0" smtClean="0"/>
              <a:t> XML Query Language</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8"/>
          <p:cNvSpPr>
            <a:spLocks noChangeArrowheads="1"/>
          </p:cNvSpPr>
          <p:nvPr/>
        </p:nvSpPr>
        <p:spPr bwMode="auto">
          <a:xfrm>
            <a:off x="2000232" y="357166"/>
            <a:ext cx="6786610" cy="6286544"/>
          </a:xfrm>
          <a:prstGeom prst="rect">
            <a:avLst/>
          </a:prstGeom>
          <a:noFill/>
          <a:ln w="9525">
            <a:noFill/>
            <a:miter lim="800000"/>
            <a:headEnd/>
            <a:tailEnd/>
          </a:ln>
        </p:spPr>
        <p:txBody>
          <a:bodyPr/>
          <a:lstStyle/>
          <a:p>
            <a:pPr marL="342900" indent="-342900" eaLnBrk="1" hangingPunct="1">
              <a:lnSpc>
                <a:spcPct val="90000"/>
              </a:lnSpc>
              <a:spcBef>
                <a:spcPct val="20000"/>
              </a:spcBef>
            </a:pPr>
            <a:r>
              <a:rPr lang="zh-CN" altLang="en-US" sz="1600" b="1" dirty="0">
                <a:latin typeface="Verdana" pitchFamily="34" charset="0"/>
              </a:rPr>
              <a:t>＜</a:t>
            </a:r>
            <a:r>
              <a:rPr lang="en-US" altLang="zh-CN" sz="1600" b="1" dirty="0">
                <a:latin typeface="Verdana" pitchFamily="34" charset="0"/>
              </a:rPr>
              <a:t>UL</a:t>
            </a:r>
            <a:r>
              <a:rPr lang="zh-CN" altLang="en-US" sz="1600" b="1" dirty="0">
                <a:latin typeface="Verdana" pitchFamily="34" charset="0"/>
              </a:rPr>
              <a:t>＞</a:t>
            </a:r>
          </a:p>
          <a:p>
            <a:pPr marL="342900" indent="-342900" eaLnBrk="1" hangingPunct="1">
              <a:lnSpc>
                <a:spcPct val="90000"/>
              </a:lnSpc>
              <a:spcBef>
                <a:spcPct val="20000"/>
              </a:spcBef>
            </a:pPr>
            <a:r>
              <a:rPr lang="zh-CN" altLang="en-US" sz="1600" b="1" dirty="0">
                <a:latin typeface="Verdana" pitchFamily="34" charset="0"/>
              </a:rPr>
              <a:t>＜</a:t>
            </a:r>
            <a:r>
              <a:rPr lang="en-US" altLang="zh-CN" sz="1600" b="1" dirty="0">
                <a:latin typeface="Verdana" pitchFamily="34" charset="0"/>
              </a:rPr>
              <a:t>LI</a:t>
            </a:r>
            <a:r>
              <a:rPr lang="zh-CN" altLang="en-US" sz="1600" b="1" dirty="0">
                <a:latin typeface="Verdana" pitchFamily="34" charset="0"/>
              </a:rPr>
              <a:t>＞张三＜／</a:t>
            </a:r>
            <a:r>
              <a:rPr lang="en-US" altLang="zh-CN" sz="1600" b="1" dirty="0">
                <a:latin typeface="Verdana" pitchFamily="34" charset="0"/>
              </a:rPr>
              <a:t>LI</a:t>
            </a:r>
            <a:r>
              <a:rPr lang="zh-CN" altLang="en-US" sz="1600" b="1" dirty="0">
                <a:latin typeface="Verdana" pitchFamily="34" charset="0"/>
              </a:rPr>
              <a:t>＞</a:t>
            </a:r>
          </a:p>
          <a:p>
            <a:pPr marL="342900" indent="-342900" eaLnBrk="1" hangingPunct="1">
              <a:lnSpc>
                <a:spcPct val="90000"/>
              </a:lnSpc>
              <a:spcBef>
                <a:spcPct val="20000"/>
              </a:spcBef>
            </a:pPr>
            <a:r>
              <a:rPr lang="zh-CN" altLang="en-US" sz="1600" b="1" dirty="0">
                <a:latin typeface="Verdana" pitchFamily="34" charset="0"/>
              </a:rPr>
              <a:t>＜</a:t>
            </a:r>
            <a:r>
              <a:rPr lang="en-US" altLang="zh-CN" sz="1600" b="1" dirty="0">
                <a:latin typeface="Verdana" pitchFamily="34" charset="0"/>
              </a:rPr>
              <a:t>UL</a:t>
            </a:r>
            <a:r>
              <a:rPr lang="zh-CN" altLang="en-US" sz="1600" b="1" dirty="0">
                <a:latin typeface="Verdana" pitchFamily="34" charset="0"/>
              </a:rPr>
              <a:t>＞</a:t>
            </a:r>
          </a:p>
          <a:p>
            <a:pPr marL="342900" indent="-342900" eaLnBrk="1" hangingPunct="1">
              <a:lnSpc>
                <a:spcPct val="90000"/>
              </a:lnSpc>
              <a:spcBef>
                <a:spcPct val="20000"/>
              </a:spcBef>
            </a:pPr>
            <a:r>
              <a:rPr lang="zh-CN" altLang="en-US" sz="1600" b="1" dirty="0">
                <a:latin typeface="Verdana" pitchFamily="34" charset="0"/>
              </a:rPr>
              <a:t>＜</a:t>
            </a:r>
            <a:r>
              <a:rPr lang="en-US" altLang="zh-CN" sz="1600" b="1" dirty="0">
                <a:latin typeface="Verdana" pitchFamily="34" charset="0"/>
              </a:rPr>
              <a:t>LI</a:t>
            </a:r>
            <a:r>
              <a:rPr lang="zh-CN" altLang="en-US" sz="1600" b="1" dirty="0">
                <a:latin typeface="Verdana" pitchFamily="34" charset="0"/>
              </a:rPr>
              <a:t>＞用户</a:t>
            </a:r>
            <a:r>
              <a:rPr lang="en-US" altLang="zh-CN" sz="1600" b="1" dirty="0">
                <a:latin typeface="Verdana" pitchFamily="34" charset="0"/>
              </a:rPr>
              <a:t>ID</a:t>
            </a:r>
            <a:r>
              <a:rPr lang="zh-CN" altLang="en-US" sz="1600" b="1" dirty="0">
                <a:latin typeface="Verdana" pitchFamily="34" charset="0"/>
              </a:rPr>
              <a:t>：</a:t>
            </a:r>
            <a:r>
              <a:rPr lang="en-US" altLang="zh-CN" sz="1600" b="1" dirty="0">
                <a:latin typeface="Verdana" pitchFamily="34" charset="0"/>
              </a:rPr>
              <a:t>001</a:t>
            </a:r>
            <a:r>
              <a:rPr lang="zh-CN" altLang="en-US" sz="1600" b="1" dirty="0">
                <a:latin typeface="Verdana" pitchFamily="34" charset="0"/>
              </a:rPr>
              <a:t>＜／</a:t>
            </a:r>
            <a:r>
              <a:rPr lang="en-US" altLang="zh-CN" sz="1600" b="1" dirty="0">
                <a:latin typeface="Verdana" pitchFamily="34" charset="0"/>
              </a:rPr>
              <a:t>LI</a:t>
            </a:r>
            <a:r>
              <a:rPr lang="zh-CN" altLang="en-US" sz="1600" b="1" dirty="0">
                <a:latin typeface="Verdana" pitchFamily="34" charset="0"/>
              </a:rPr>
              <a:t>＞</a:t>
            </a:r>
          </a:p>
          <a:p>
            <a:pPr marL="342900" indent="-342900" eaLnBrk="1" hangingPunct="1">
              <a:lnSpc>
                <a:spcPct val="90000"/>
              </a:lnSpc>
              <a:spcBef>
                <a:spcPct val="20000"/>
              </a:spcBef>
            </a:pPr>
            <a:r>
              <a:rPr lang="zh-CN" altLang="en-US" sz="1600" b="1" dirty="0">
                <a:latin typeface="Verdana" pitchFamily="34" charset="0"/>
              </a:rPr>
              <a:t>＜</a:t>
            </a:r>
            <a:r>
              <a:rPr lang="en-US" altLang="zh-CN" sz="1600" b="1" dirty="0">
                <a:latin typeface="Verdana" pitchFamily="34" charset="0"/>
              </a:rPr>
              <a:t>LI</a:t>
            </a:r>
            <a:r>
              <a:rPr lang="zh-CN" altLang="en-US" sz="1600" b="1" dirty="0">
                <a:latin typeface="Verdana" pitchFamily="34" charset="0"/>
              </a:rPr>
              <a:t>＞公司：</a:t>
            </a:r>
            <a:r>
              <a:rPr lang="en-US" altLang="zh-CN" sz="1600" b="1" dirty="0">
                <a:latin typeface="Verdana" pitchFamily="34" charset="0"/>
              </a:rPr>
              <a:t>A</a:t>
            </a:r>
            <a:r>
              <a:rPr lang="zh-CN" altLang="en-US" sz="1600" b="1" dirty="0">
                <a:latin typeface="Verdana" pitchFamily="34" charset="0"/>
              </a:rPr>
              <a:t>公司＜／</a:t>
            </a:r>
            <a:r>
              <a:rPr lang="en-US" altLang="zh-CN" sz="1600" b="1" dirty="0">
                <a:latin typeface="Verdana" pitchFamily="34" charset="0"/>
              </a:rPr>
              <a:t>LI</a:t>
            </a:r>
            <a:r>
              <a:rPr lang="zh-CN" altLang="en-US" sz="1600" b="1" dirty="0">
                <a:latin typeface="Verdana" pitchFamily="34" charset="0"/>
              </a:rPr>
              <a:t>＞</a:t>
            </a:r>
          </a:p>
          <a:p>
            <a:pPr marL="342900" indent="-342900" eaLnBrk="1" hangingPunct="1">
              <a:lnSpc>
                <a:spcPct val="90000"/>
              </a:lnSpc>
              <a:spcBef>
                <a:spcPct val="20000"/>
              </a:spcBef>
            </a:pPr>
            <a:r>
              <a:rPr lang="zh-CN" altLang="en-US" sz="1600" b="1" dirty="0">
                <a:latin typeface="Verdana" pitchFamily="34" charset="0"/>
              </a:rPr>
              <a:t>＜</a:t>
            </a:r>
            <a:r>
              <a:rPr lang="en-US" altLang="zh-CN" sz="1600" b="1" dirty="0">
                <a:latin typeface="Verdana" pitchFamily="34" charset="0"/>
              </a:rPr>
              <a:t>LI</a:t>
            </a:r>
            <a:r>
              <a:rPr lang="zh-CN" altLang="en-US" sz="1600" b="1" dirty="0">
                <a:latin typeface="Verdana" pitchFamily="34" charset="0"/>
              </a:rPr>
              <a:t>＞</a:t>
            </a:r>
            <a:r>
              <a:rPr lang="en-US" altLang="zh-CN" sz="1600" b="1" dirty="0">
                <a:latin typeface="Verdana" pitchFamily="34" charset="0"/>
              </a:rPr>
              <a:t>EMAIL</a:t>
            </a:r>
            <a:r>
              <a:rPr lang="zh-CN" altLang="en-US" sz="1600" b="1" dirty="0">
                <a:latin typeface="Verdana" pitchFamily="34" charset="0"/>
              </a:rPr>
              <a:t>：</a:t>
            </a:r>
            <a:r>
              <a:rPr lang="en-US" altLang="zh-CN" sz="1600" b="1" dirty="0" err="1">
                <a:latin typeface="Verdana" pitchFamily="34" charset="0"/>
              </a:rPr>
              <a:t>zhang</a:t>
            </a:r>
            <a:r>
              <a:rPr lang="zh-CN" altLang="en-US" sz="1600" b="1" dirty="0">
                <a:latin typeface="Verdana" pitchFamily="34" charset="0"/>
              </a:rPr>
              <a:t>＠</a:t>
            </a:r>
            <a:r>
              <a:rPr lang="en-US" altLang="zh-CN" sz="1600" b="1" dirty="0" err="1">
                <a:latin typeface="Verdana" pitchFamily="34" charset="0"/>
              </a:rPr>
              <a:t>aaa</a:t>
            </a:r>
            <a:r>
              <a:rPr lang="zh-CN" altLang="en-US" sz="1600" b="1" dirty="0">
                <a:latin typeface="Verdana" pitchFamily="34" charset="0"/>
              </a:rPr>
              <a:t>．</a:t>
            </a:r>
            <a:r>
              <a:rPr lang="en-US" altLang="zh-CN" sz="1600" b="1" dirty="0">
                <a:latin typeface="Verdana" pitchFamily="34" charset="0"/>
              </a:rPr>
              <a:t>com</a:t>
            </a:r>
            <a:r>
              <a:rPr lang="zh-CN" altLang="en-US" sz="1600" b="1" dirty="0">
                <a:latin typeface="Verdana" pitchFamily="34" charset="0"/>
              </a:rPr>
              <a:t>＜／</a:t>
            </a:r>
            <a:r>
              <a:rPr lang="en-US" altLang="zh-CN" sz="1600" b="1" dirty="0">
                <a:latin typeface="Verdana" pitchFamily="34" charset="0"/>
              </a:rPr>
              <a:t>LI</a:t>
            </a:r>
            <a:r>
              <a:rPr lang="zh-CN" altLang="en-US" sz="1600" b="1" dirty="0">
                <a:latin typeface="Verdana" pitchFamily="34" charset="0"/>
              </a:rPr>
              <a:t>＞</a:t>
            </a:r>
          </a:p>
          <a:p>
            <a:pPr marL="342900" indent="-342900" eaLnBrk="1" hangingPunct="1">
              <a:lnSpc>
                <a:spcPct val="90000"/>
              </a:lnSpc>
              <a:spcBef>
                <a:spcPct val="20000"/>
              </a:spcBef>
            </a:pPr>
            <a:r>
              <a:rPr lang="zh-CN" altLang="en-US" sz="1600" b="1" dirty="0">
                <a:latin typeface="Verdana" pitchFamily="34" charset="0"/>
              </a:rPr>
              <a:t>＜</a:t>
            </a:r>
            <a:r>
              <a:rPr lang="en-US" altLang="zh-CN" sz="1600" b="1" dirty="0">
                <a:latin typeface="Verdana" pitchFamily="34" charset="0"/>
              </a:rPr>
              <a:t>LI</a:t>
            </a:r>
            <a:r>
              <a:rPr lang="zh-CN" altLang="en-US" sz="1600" b="1" dirty="0">
                <a:latin typeface="Verdana" pitchFamily="34" charset="0"/>
              </a:rPr>
              <a:t>＞电话：</a:t>
            </a:r>
            <a:r>
              <a:rPr lang="en-US" altLang="zh-CN" sz="1600" b="1" dirty="0">
                <a:latin typeface="Verdana" pitchFamily="34" charset="0"/>
              </a:rPr>
              <a:t>(010)62345678</a:t>
            </a:r>
            <a:r>
              <a:rPr lang="zh-CN" altLang="en-US" sz="1600" b="1" dirty="0">
                <a:latin typeface="Verdana" pitchFamily="34" charset="0"/>
              </a:rPr>
              <a:t>＜／</a:t>
            </a:r>
            <a:r>
              <a:rPr lang="en-US" altLang="zh-CN" sz="1600" b="1" dirty="0">
                <a:latin typeface="Verdana" pitchFamily="34" charset="0"/>
              </a:rPr>
              <a:t>LI</a:t>
            </a:r>
            <a:r>
              <a:rPr lang="zh-CN" altLang="en-US" sz="1600" b="1" dirty="0">
                <a:latin typeface="Verdana" pitchFamily="34" charset="0"/>
              </a:rPr>
              <a:t>＞</a:t>
            </a:r>
          </a:p>
          <a:p>
            <a:pPr marL="342900" indent="-342900" eaLnBrk="1" hangingPunct="1">
              <a:lnSpc>
                <a:spcPct val="90000"/>
              </a:lnSpc>
              <a:spcBef>
                <a:spcPct val="20000"/>
              </a:spcBef>
            </a:pPr>
            <a:r>
              <a:rPr lang="zh-CN" altLang="en-US" sz="1600" b="1" dirty="0">
                <a:latin typeface="Verdana" pitchFamily="34" charset="0"/>
              </a:rPr>
              <a:t>＜</a:t>
            </a:r>
            <a:r>
              <a:rPr lang="en-US" altLang="zh-CN" sz="1600" b="1" dirty="0">
                <a:latin typeface="Verdana" pitchFamily="34" charset="0"/>
              </a:rPr>
              <a:t>LI</a:t>
            </a:r>
            <a:r>
              <a:rPr lang="zh-CN" altLang="en-US" sz="1600" b="1" dirty="0">
                <a:latin typeface="Verdana" pitchFamily="34" charset="0"/>
              </a:rPr>
              <a:t>＞地址：五街</a:t>
            </a:r>
            <a:r>
              <a:rPr lang="en-US" altLang="zh-CN" sz="1600" b="1" dirty="0">
                <a:latin typeface="Verdana" pitchFamily="34" charset="0"/>
              </a:rPr>
              <a:t>1234</a:t>
            </a:r>
            <a:r>
              <a:rPr lang="zh-CN" altLang="en-US" sz="1600" b="1" dirty="0">
                <a:latin typeface="Verdana" pitchFamily="34" charset="0"/>
              </a:rPr>
              <a:t>号＜／</a:t>
            </a:r>
            <a:r>
              <a:rPr lang="en-US" altLang="zh-CN" sz="1600" b="1" dirty="0">
                <a:latin typeface="Verdana" pitchFamily="34" charset="0"/>
              </a:rPr>
              <a:t>LI</a:t>
            </a:r>
            <a:r>
              <a:rPr lang="zh-CN" altLang="en-US" sz="1600" b="1" dirty="0">
                <a:latin typeface="Verdana" pitchFamily="34" charset="0"/>
              </a:rPr>
              <a:t>＞</a:t>
            </a:r>
          </a:p>
          <a:p>
            <a:pPr marL="342900" indent="-342900" eaLnBrk="1" hangingPunct="1">
              <a:lnSpc>
                <a:spcPct val="90000"/>
              </a:lnSpc>
              <a:spcBef>
                <a:spcPct val="20000"/>
              </a:spcBef>
            </a:pPr>
            <a:r>
              <a:rPr lang="zh-CN" altLang="en-US" sz="1600" b="1" dirty="0">
                <a:latin typeface="Verdana" pitchFamily="34" charset="0"/>
              </a:rPr>
              <a:t>＜</a:t>
            </a:r>
            <a:r>
              <a:rPr lang="en-US" altLang="zh-CN" sz="1600" b="1" dirty="0">
                <a:latin typeface="Verdana" pitchFamily="34" charset="0"/>
              </a:rPr>
              <a:t>U</a:t>
            </a:r>
            <a:r>
              <a:rPr lang="zh-CN" altLang="en-US" sz="1600" b="1" dirty="0">
                <a:latin typeface="Verdana" pitchFamily="34" charset="0"/>
              </a:rPr>
              <a:t>＞城市：北京市＜／</a:t>
            </a:r>
            <a:r>
              <a:rPr lang="en-US" altLang="zh-CN" sz="1600" b="1" dirty="0">
                <a:latin typeface="Verdana" pitchFamily="34" charset="0"/>
              </a:rPr>
              <a:t>LI</a:t>
            </a:r>
            <a:r>
              <a:rPr lang="zh-CN" altLang="en-US" sz="1600" b="1" dirty="0">
                <a:latin typeface="Verdana" pitchFamily="34" charset="0"/>
              </a:rPr>
              <a:t>＞</a:t>
            </a:r>
          </a:p>
          <a:p>
            <a:pPr marL="342900" indent="-342900" eaLnBrk="1" hangingPunct="1">
              <a:lnSpc>
                <a:spcPct val="90000"/>
              </a:lnSpc>
              <a:spcBef>
                <a:spcPct val="20000"/>
              </a:spcBef>
            </a:pPr>
            <a:r>
              <a:rPr lang="zh-CN" altLang="en-US" sz="1600" b="1" dirty="0">
                <a:latin typeface="Verdana" pitchFamily="34" charset="0"/>
              </a:rPr>
              <a:t>＜</a:t>
            </a:r>
            <a:r>
              <a:rPr lang="en-US" altLang="zh-CN" sz="1600" b="1" dirty="0">
                <a:latin typeface="Verdana" pitchFamily="34" charset="0"/>
              </a:rPr>
              <a:t>LI</a:t>
            </a:r>
            <a:r>
              <a:rPr lang="zh-CN" altLang="en-US" sz="1600" b="1" dirty="0">
                <a:latin typeface="Verdana" pitchFamily="34" charset="0"/>
              </a:rPr>
              <a:t>＞省份：北京＜／</a:t>
            </a:r>
            <a:r>
              <a:rPr lang="en-US" altLang="zh-CN" sz="1600" b="1" dirty="0">
                <a:latin typeface="Verdana" pitchFamily="34" charset="0"/>
              </a:rPr>
              <a:t>LI</a:t>
            </a:r>
            <a:r>
              <a:rPr lang="zh-CN" altLang="en-US" sz="1600" b="1" dirty="0">
                <a:latin typeface="Verdana" pitchFamily="34" charset="0"/>
              </a:rPr>
              <a:t>＞</a:t>
            </a:r>
          </a:p>
          <a:p>
            <a:pPr marL="342900" indent="-342900" eaLnBrk="1" hangingPunct="1">
              <a:lnSpc>
                <a:spcPct val="90000"/>
              </a:lnSpc>
              <a:spcBef>
                <a:spcPct val="20000"/>
              </a:spcBef>
            </a:pPr>
            <a:r>
              <a:rPr lang="zh-CN" altLang="en-US" sz="1600" b="1" dirty="0">
                <a:latin typeface="Verdana" pitchFamily="34" charset="0"/>
              </a:rPr>
              <a:t>＜／</a:t>
            </a:r>
            <a:r>
              <a:rPr lang="en-US" altLang="zh-CN" sz="1600" b="1" dirty="0" err="1">
                <a:latin typeface="Verdana" pitchFamily="34" charset="0"/>
              </a:rPr>
              <a:t>Ul</a:t>
            </a:r>
            <a:r>
              <a:rPr lang="zh-CN" altLang="en-US" sz="1600" b="1" dirty="0">
                <a:latin typeface="Verdana" pitchFamily="34" charset="0"/>
              </a:rPr>
              <a:t>＞</a:t>
            </a:r>
          </a:p>
          <a:p>
            <a:pPr marL="342900" indent="-342900" eaLnBrk="1" hangingPunct="1">
              <a:lnSpc>
                <a:spcPct val="90000"/>
              </a:lnSpc>
              <a:spcBef>
                <a:spcPct val="20000"/>
              </a:spcBef>
            </a:pPr>
            <a:endParaRPr lang="zh-CN" altLang="en-US" sz="1600" b="1" dirty="0">
              <a:latin typeface="Verdana" pitchFamily="34" charset="0"/>
            </a:endParaRPr>
          </a:p>
          <a:p>
            <a:pPr marL="342900" indent="-342900" eaLnBrk="1" hangingPunct="1">
              <a:lnSpc>
                <a:spcPct val="90000"/>
              </a:lnSpc>
              <a:spcBef>
                <a:spcPct val="20000"/>
              </a:spcBef>
            </a:pPr>
            <a:r>
              <a:rPr lang="zh-CN" altLang="en-US" sz="1600" b="1" dirty="0">
                <a:latin typeface="Verdana" pitchFamily="34" charset="0"/>
              </a:rPr>
              <a:t>＜</a:t>
            </a:r>
            <a:r>
              <a:rPr lang="en-US" altLang="zh-CN" sz="1600" b="1" dirty="0">
                <a:latin typeface="Verdana" pitchFamily="34" charset="0"/>
              </a:rPr>
              <a:t>LI</a:t>
            </a:r>
            <a:r>
              <a:rPr lang="zh-CN" altLang="en-US" sz="1600" b="1" dirty="0">
                <a:latin typeface="Verdana" pitchFamily="34" charset="0"/>
              </a:rPr>
              <a:t>＞李四＜／</a:t>
            </a:r>
            <a:r>
              <a:rPr lang="en-US" altLang="zh-CN" sz="1600" b="1" dirty="0">
                <a:latin typeface="Verdana" pitchFamily="34" charset="0"/>
              </a:rPr>
              <a:t>LI</a:t>
            </a:r>
            <a:r>
              <a:rPr lang="zh-CN" altLang="en-US" sz="1600" b="1" dirty="0">
                <a:latin typeface="Verdana" pitchFamily="34" charset="0"/>
              </a:rPr>
              <a:t>＞</a:t>
            </a:r>
          </a:p>
          <a:p>
            <a:pPr marL="342900" indent="-342900" eaLnBrk="1" hangingPunct="1">
              <a:lnSpc>
                <a:spcPct val="90000"/>
              </a:lnSpc>
              <a:spcBef>
                <a:spcPct val="20000"/>
              </a:spcBef>
            </a:pPr>
            <a:r>
              <a:rPr lang="zh-CN" altLang="en-US" sz="1600" b="1" dirty="0">
                <a:latin typeface="Verdana" pitchFamily="34" charset="0"/>
              </a:rPr>
              <a:t>＜</a:t>
            </a:r>
            <a:r>
              <a:rPr lang="en-US" altLang="zh-CN" sz="1600" b="1" dirty="0">
                <a:latin typeface="Verdana" pitchFamily="34" charset="0"/>
              </a:rPr>
              <a:t>UL</a:t>
            </a:r>
            <a:r>
              <a:rPr lang="zh-CN" altLang="en-US" sz="1600" b="1" dirty="0">
                <a:latin typeface="Verdana" pitchFamily="34" charset="0"/>
              </a:rPr>
              <a:t>＞</a:t>
            </a:r>
          </a:p>
          <a:p>
            <a:pPr marL="342900" indent="-342900" eaLnBrk="1" hangingPunct="1">
              <a:lnSpc>
                <a:spcPct val="90000"/>
              </a:lnSpc>
              <a:spcBef>
                <a:spcPct val="20000"/>
              </a:spcBef>
            </a:pPr>
            <a:r>
              <a:rPr lang="zh-CN" altLang="en-US" sz="1600" b="1" dirty="0">
                <a:latin typeface="Verdana" pitchFamily="34" charset="0"/>
              </a:rPr>
              <a:t>＜</a:t>
            </a:r>
            <a:r>
              <a:rPr lang="en-US" altLang="zh-CN" sz="1600" b="1" dirty="0">
                <a:latin typeface="Verdana" pitchFamily="34" charset="0"/>
              </a:rPr>
              <a:t>U</a:t>
            </a:r>
            <a:r>
              <a:rPr lang="zh-CN" altLang="en-US" sz="1600" b="1" dirty="0">
                <a:latin typeface="Verdana" pitchFamily="34" charset="0"/>
              </a:rPr>
              <a:t>＞用户</a:t>
            </a:r>
            <a:r>
              <a:rPr lang="en-US" altLang="zh-CN" sz="1600" b="1" dirty="0">
                <a:latin typeface="Verdana" pitchFamily="34" charset="0"/>
              </a:rPr>
              <a:t>ID</a:t>
            </a:r>
            <a:r>
              <a:rPr lang="zh-CN" altLang="en-US" sz="1600" b="1" dirty="0">
                <a:latin typeface="Verdana" pitchFamily="34" charset="0"/>
              </a:rPr>
              <a:t>：</a:t>
            </a:r>
            <a:r>
              <a:rPr lang="en-US" altLang="zh-CN" sz="1600" b="1" dirty="0">
                <a:latin typeface="Verdana" pitchFamily="34" charset="0"/>
              </a:rPr>
              <a:t>002</a:t>
            </a:r>
            <a:r>
              <a:rPr lang="zh-CN" altLang="en-US" sz="1600" b="1" dirty="0">
                <a:latin typeface="Verdana" pitchFamily="34" charset="0"/>
              </a:rPr>
              <a:t>＜／</a:t>
            </a:r>
            <a:r>
              <a:rPr lang="en-US" altLang="zh-CN" sz="1600" b="1" dirty="0">
                <a:latin typeface="Verdana" pitchFamily="34" charset="0"/>
              </a:rPr>
              <a:t>LI</a:t>
            </a:r>
            <a:r>
              <a:rPr lang="zh-CN" altLang="en-US" sz="1600" b="1" dirty="0">
                <a:latin typeface="Verdana" pitchFamily="34" charset="0"/>
              </a:rPr>
              <a:t>＞</a:t>
            </a:r>
          </a:p>
          <a:p>
            <a:pPr marL="342900" indent="-342900" eaLnBrk="1" hangingPunct="1">
              <a:lnSpc>
                <a:spcPct val="90000"/>
              </a:lnSpc>
              <a:spcBef>
                <a:spcPct val="20000"/>
              </a:spcBef>
            </a:pPr>
            <a:r>
              <a:rPr lang="zh-CN" altLang="en-US" sz="1600" b="1" dirty="0">
                <a:latin typeface="Verdana" pitchFamily="34" charset="0"/>
              </a:rPr>
              <a:t>＜</a:t>
            </a:r>
            <a:r>
              <a:rPr lang="en-US" altLang="zh-CN" sz="1600" b="1" dirty="0">
                <a:latin typeface="Verdana" pitchFamily="34" charset="0"/>
              </a:rPr>
              <a:t>LI</a:t>
            </a:r>
            <a:r>
              <a:rPr lang="zh-CN" altLang="en-US" sz="1600" b="1" dirty="0">
                <a:latin typeface="Verdana" pitchFamily="34" charset="0"/>
              </a:rPr>
              <a:t>＞公司：</a:t>
            </a:r>
            <a:r>
              <a:rPr lang="en-US" altLang="zh-CN" sz="1600" b="1" dirty="0">
                <a:latin typeface="Verdana" pitchFamily="34" charset="0"/>
              </a:rPr>
              <a:t>B</a:t>
            </a:r>
            <a:r>
              <a:rPr lang="zh-CN" altLang="en-US" sz="1600" b="1" dirty="0">
                <a:latin typeface="Verdana" pitchFamily="34" charset="0"/>
              </a:rPr>
              <a:t>公司＜／</a:t>
            </a:r>
            <a:r>
              <a:rPr lang="en-US" altLang="zh-CN" sz="1600" b="1" dirty="0">
                <a:latin typeface="Verdana" pitchFamily="34" charset="0"/>
              </a:rPr>
              <a:t>LI</a:t>
            </a:r>
            <a:r>
              <a:rPr lang="zh-CN" altLang="en-US" sz="1600" b="1" dirty="0">
                <a:latin typeface="Verdana" pitchFamily="34" charset="0"/>
              </a:rPr>
              <a:t>＞</a:t>
            </a:r>
          </a:p>
          <a:p>
            <a:pPr marL="342900" indent="-342900" eaLnBrk="1" hangingPunct="1">
              <a:lnSpc>
                <a:spcPct val="90000"/>
              </a:lnSpc>
              <a:spcBef>
                <a:spcPct val="20000"/>
              </a:spcBef>
            </a:pPr>
            <a:r>
              <a:rPr lang="zh-CN" altLang="en-US" sz="1600" b="1" dirty="0">
                <a:latin typeface="Verdana" pitchFamily="34" charset="0"/>
              </a:rPr>
              <a:t>＜</a:t>
            </a:r>
            <a:r>
              <a:rPr lang="en-US" altLang="zh-CN" sz="1600" b="1" dirty="0">
                <a:latin typeface="Verdana" pitchFamily="34" charset="0"/>
              </a:rPr>
              <a:t>LI</a:t>
            </a:r>
            <a:r>
              <a:rPr lang="zh-CN" altLang="en-US" sz="1600" b="1" dirty="0">
                <a:latin typeface="Verdana" pitchFamily="34" charset="0"/>
              </a:rPr>
              <a:t>＞</a:t>
            </a:r>
            <a:r>
              <a:rPr lang="en-US" altLang="zh-CN" sz="1600" b="1" dirty="0">
                <a:latin typeface="Verdana" pitchFamily="34" charset="0"/>
              </a:rPr>
              <a:t>EMAIL</a:t>
            </a:r>
            <a:r>
              <a:rPr lang="zh-CN" altLang="en-US" sz="1600" b="1" dirty="0">
                <a:latin typeface="Verdana" pitchFamily="34" charset="0"/>
              </a:rPr>
              <a:t>：</a:t>
            </a:r>
            <a:r>
              <a:rPr lang="en-US" altLang="zh-CN" sz="1600" b="1" dirty="0" err="1">
                <a:latin typeface="Verdana" pitchFamily="34" charset="0"/>
              </a:rPr>
              <a:t>li</a:t>
            </a:r>
            <a:r>
              <a:rPr lang="zh-CN" altLang="en-US" sz="1600" b="1" dirty="0">
                <a:latin typeface="Verdana" pitchFamily="34" charset="0"/>
              </a:rPr>
              <a:t>＠</a:t>
            </a:r>
            <a:r>
              <a:rPr lang="en-US" altLang="zh-CN" sz="1600" b="1" dirty="0" err="1">
                <a:latin typeface="Verdana" pitchFamily="34" charset="0"/>
              </a:rPr>
              <a:t>bbb</a:t>
            </a:r>
            <a:r>
              <a:rPr lang="zh-CN" altLang="en-US" sz="1600" b="1" dirty="0">
                <a:latin typeface="Verdana" pitchFamily="34" charset="0"/>
              </a:rPr>
              <a:t>．</a:t>
            </a:r>
            <a:r>
              <a:rPr lang="en-US" altLang="zh-CN" sz="1600" b="1" dirty="0">
                <a:latin typeface="Verdana" pitchFamily="34" charset="0"/>
              </a:rPr>
              <a:t>org</a:t>
            </a:r>
            <a:r>
              <a:rPr lang="zh-CN" altLang="en-US" sz="1600" b="1" dirty="0">
                <a:latin typeface="Verdana" pitchFamily="34" charset="0"/>
              </a:rPr>
              <a:t>＜／</a:t>
            </a:r>
            <a:r>
              <a:rPr lang="en-US" altLang="zh-CN" sz="1600" b="1" dirty="0">
                <a:latin typeface="Verdana" pitchFamily="34" charset="0"/>
              </a:rPr>
              <a:t>LI</a:t>
            </a:r>
            <a:r>
              <a:rPr lang="zh-CN" altLang="en-US" sz="1600" b="1" dirty="0">
                <a:latin typeface="Verdana" pitchFamily="34" charset="0"/>
              </a:rPr>
              <a:t>＞</a:t>
            </a:r>
          </a:p>
          <a:p>
            <a:pPr marL="342900" indent="-342900" eaLnBrk="1" hangingPunct="1">
              <a:lnSpc>
                <a:spcPct val="90000"/>
              </a:lnSpc>
              <a:spcBef>
                <a:spcPct val="20000"/>
              </a:spcBef>
            </a:pPr>
            <a:r>
              <a:rPr lang="zh-CN" altLang="en-US" sz="1600" b="1" dirty="0">
                <a:latin typeface="Verdana" pitchFamily="34" charset="0"/>
              </a:rPr>
              <a:t>＜</a:t>
            </a:r>
            <a:r>
              <a:rPr lang="en-US" altLang="zh-CN" sz="1600" b="1" dirty="0">
                <a:latin typeface="Verdana" pitchFamily="34" charset="0"/>
              </a:rPr>
              <a:t>LI</a:t>
            </a:r>
            <a:r>
              <a:rPr lang="zh-CN" altLang="en-US" sz="1600" b="1" dirty="0">
                <a:latin typeface="Verdana" pitchFamily="34" charset="0"/>
              </a:rPr>
              <a:t>＞电话：</a:t>
            </a:r>
            <a:r>
              <a:rPr lang="en-US" altLang="zh-CN" sz="1600" b="1" dirty="0">
                <a:latin typeface="Verdana" pitchFamily="34" charset="0"/>
              </a:rPr>
              <a:t>(021)87654321</a:t>
            </a:r>
            <a:r>
              <a:rPr lang="zh-CN" altLang="en-US" sz="1600" b="1" dirty="0">
                <a:latin typeface="Verdana" pitchFamily="34" charset="0"/>
              </a:rPr>
              <a:t>＜／</a:t>
            </a:r>
            <a:r>
              <a:rPr lang="en-US" altLang="zh-CN" sz="1600" b="1" dirty="0">
                <a:latin typeface="Verdana" pitchFamily="34" charset="0"/>
              </a:rPr>
              <a:t>LI</a:t>
            </a:r>
            <a:r>
              <a:rPr lang="zh-CN" altLang="en-US" sz="1600" b="1" dirty="0">
                <a:latin typeface="Verdana" pitchFamily="34" charset="0"/>
              </a:rPr>
              <a:t>＞</a:t>
            </a:r>
          </a:p>
          <a:p>
            <a:pPr marL="342900" indent="-342900" eaLnBrk="1" hangingPunct="1">
              <a:lnSpc>
                <a:spcPct val="90000"/>
              </a:lnSpc>
              <a:spcBef>
                <a:spcPct val="20000"/>
              </a:spcBef>
            </a:pPr>
            <a:r>
              <a:rPr lang="zh-CN" altLang="en-US" sz="1600" b="1" dirty="0">
                <a:latin typeface="Verdana" pitchFamily="34" charset="0"/>
              </a:rPr>
              <a:t>＜</a:t>
            </a:r>
            <a:r>
              <a:rPr lang="en-US" altLang="zh-CN" sz="1600" b="1" dirty="0">
                <a:latin typeface="Verdana" pitchFamily="34" charset="0"/>
              </a:rPr>
              <a:t>LI</a:t>
            </a:r>
            <a:r>
              <a:rPr lang="zh-CN" altLang="en-US" sz="1600" b="1" dirty="0">
                <a:latin typeface="Verdana" pitchFamily="34" charset="0"/>
              </a:rPr>
              <a:t>＞地址：南京路</a:t>
            </a:r>
            <a:r>
              <a:rPr lang="en-US" altLang="zh-CN" sz="1600" b="1" dirty="0">
                <a:latin typeface="Verdana" pitchFamily="34" charset="0"/>
              </a:rPr>
              <a:t>9876</a:t>
            </a:r>
            <a:r>
              <a:rPr lang="zh-CN" altLang="en-US" sz="1600" b="1" dirty="0">
                <a:latin typeface="Verdana" pitchFamily="34" charset="0"/>
              </a:rPr>
              <a:t>号＜／</a:t>
            </a:r>
            <a:r>
              <a:rPr lang="en-US" altLang="zh-CN" sz="1600" b="1" dirty="0">
                <a:latin typeface="Verdana" pitchFamily="34" charset="0"/>
              </a:rPr>
              <a:t>LI</a:t>
            </a:r>
            <a:r>
              <a:rPr lang="zh-CN" altLang="en-US" sz="1600" b="1" dirty="0">
                <a:latin typeface="Verdana" pitchFamily="34" charset="0"/>
              </a:rPr>
              <a:t>＞</a:t>
            </a:r>
          </a:p>
          <a:p>
            <a:pPr marL="342900" indent="-342900" eaLnBrk="1" hangingPunct="1">
              <a:lnSpc>
                <a:spcPct val="90000"/>
              </a:lnSpc>
              <a:spcBef>
                <a:spcPct val="20000"/>
              </a:spcBef>
            </a:pPr>
            <a:r>
              <a:rPr lang="zh-CN" altLang="en-US" sz="1600" b="1" dirty="0">
                <a:latin typeface="Verdana" pitchFamily="34" charset="0"/>
              </a:rPr>
              <a:t>＜</a:t>
            </a:r>
            <a:r>
              <a:rPr lang="en-US" altLang="zh-CN" sz="1600" b="1" dirty="0">
                <a:latin typeface="Verdana" pitchFamily="34" charset="0"/>
              </a:rPr>
              <a:t>LI</a:t>
            </a:r>
            <a:r>
              <a:rPr lang="zh-CN" altLang="en-US" sz="1600" b="1" dirty="0">
                <a:latin typeface="Verdana" pitchFamily="34" charset="0"/>
              </a:rPr>
              <a:t>＞城市：上海市＜／</a:t>
            </a:r>
            <a:r>
              <a:rPr lang="en-US" altLang="zh-CN" sz="1600" b="1" dirty="0">
                <a:latin typeface="Verdana" pitchFamily="34" charset="0"/>
              </a:rPr>
              <a:t>LI</a:t>
            </a:r>
            <a:r>
              <a:rPr lang="zh-CN" altLang="en-US" sz="1600" b="1" dirty="0">
                <a:latin typeface="Verdana" pitchFamily="34" charset="0"/>
              </a:rPr>
              <a:t>＞</a:t>
            </a:r>
          </a:p>
          <a:p>
            <a:pPr marL="342900" indent="-342900" eaLnBrk="1" hangingPunct="1">
              <a:lnSpc>
                <a:spcPct val="90000"/>
              </a:lnSpc>
              <a:spcBef>
                <a:spcPct val="20000"/>
              </a:spcBef>
            </a:pPr>
            <a:r>
              <a:rPr lang="zh-CN" altLang="en-US" sz="1600" b="1" dirty="0">
                <a:latin typeface="Verdana" pitchFamily="34" charset="0"/>
              </a:rPr>
              <a:t>＜</a:t>
            </a:r>
            <a:r>
              <a:rPr lang="en-US" altLang="zh-CN" sz="1600" b="1" dirty="0">
                <a:latin typeface="Verdana" pitchFamily="34" charset="0"/>
              </a:rPr>
              <a:t>LI</a:t>
            </a:r>
            <a:r>
              <a:rPr lang="zh-CN" altLang="en-US" sz="1600" b="1" dirty="0">
                <a:latin typeface="Verdana" pitchFamily="34" charset="0"/>
              </a:rPr>
              <a:t>＞省份：上海＜</a:t>
            </a:r>
            <a:r>
              <a:rPr lang="en-US" altLang="zh-CN" sz="1600" b="1" dirty="0">
                <a:latin typeface="Verdana" pitchFamily="34" charset="0"/>
              </a:rPr>
              <a:t>LI</a:t>
            </a:r>
            <a:r>
              <a:rPr lang="zh-CN" altLang="en-US" sz="1600" b="1" dirty="0">
                <a:latin typeface="Verdana" pitchFamily="34" charset="0"/>
              </a:rPr>
              <a:t>＞</a:t>
            </a:r>
          </a:p>
          <a:p>
            <a:pPr marL="342900" indent="-342900" eaLnBrk="1" hangingPunct="1">
              <a:lnSpc>
                <a:spcPct val="90000"/>
              </a:lnSpc>
              <a:spcBef>
                <a:spcPct val="20000"/>
              </a:spcBef>
            </a:pPr>
            <a:r>
              <a:rPr lang="zh-CN" altLang="en-US" sz="1600" b="1" dirty="0">
                <a:latin typeface="Verdana" pitchFamily="34" charset="0"/>
              </a:rPr>
              <a:t>＜／</a:t>
            </a:r>
            <a:r>
              <a:rPr lang="en-US" altLang="zh-CN" sz="1600" b="1" dirty="0">
                <a:latin typeface="Verdana" pitchFamily="34" charset="0"/>
              </a:rPr>
              <a:t>UL</a:t>
            </a:r>
            <a:r>
              <a:rPr lang="zh-CN" altLang="en-US" sz="1600" b="1" dirty="0">
                <a:latin typeface="Verdana" pitchFamily="34" charset="0"/>
              </a:rPr>
              <a:t>＞</a:t>
            </a:r>
          </a:p>
          <a:p>
            <a:pPr marL="342900" indent="-342900" eaLnBrk="1" hangingPunct="1">
              <a:lnSpc>
                <a:spcPct val="90000"/>
              </a:lnSpc>
              <a:spcBef>
                <a:spcPct val="20000"/>
              </a:spcBef>
            </a:pPr>
            <a:r>
              <a:rPr lang="zh-CN" altLang="en-US" sz="1600" b="1" dirty="0">
                <a:latin typeface="Verdana" pitchFamily="34" charset="0"/>
              </a:rPr>
              <a:t>＜／</a:t>
            </a:r>
            <a:r>
              <a:rPr lang="en-US" altLang="zh-CN" sz="1600" b="1" dirty="0">
                <a:latin typeface="Verdana" pitchFamily="34" charset="0"/>
              </a:rPr>
              <a:t>UL</a:t>
            </a:r>
            <a:r>
              <a:rPr lang="zh-CN" altLang="en-US" sz="1600" b="1" dirty="0">
                <a:latin typeface="Verdana" pitchFamily="34" charset="0"/>
              </a:rPr>
              <a:t>＞</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5"/>
          <p:cNvSpPr>
            <a:spLocks noChangeArrowheads="1"/>
          </p:cNvSpPr>
          <p:nvPr/>
        </p:nvSpPr>
        <p:spPr bwMode="auto">
          <a:xfrm>
            <a:off x="1928794" y="3429000"/>
            <a:ext cx="7000924" cy="3733800"/>
          </a:xfrm>
          <a:prstGeom prst="rect">
            <a:avLst/>
          </a:prstGeom>
          <a:noFill/>
          <a:ln w="9525">
            <a:noFill/>
            <a:miter lim="800000"/>
            <a:headEnd/>
            <a:tailEnd/>
          </a:ln>
        </p:spPr>
        <p:txBody>
          <a:bodyPr/>
          <a:lstStyle/>
          <a:p>
            <a:pPr marL="342900" indent="-342900" eaLnBrk="1" hangingPunct="1">
              <a:lnSpc>
                <a:spcPct val="90000"/>
              </a:lnSpc>
              <a:spcBef>
                <a:spcPct val="20000"/>
              </a:spcBef>
            </a:pPr>
            <a:r>
              <a:rPr lang="en-US" altLang="zh-CN" sz="1400" b="1" dirty="0">
                <a:latin typeface="Verdana" pitchFamily="34" charset="0"/>
              </a:rPr>
              <a:t>   </a:t>
            </a:r>
            <a:r>
              <a:rPr lang="zh-CN" altLang="en-US" sz="1400" b="1" dirty="0">
                <a:latin typeface="Verdana" pitchFamily="34" charset="0"/>
              </a:rPr>
              <a:t>＜联系人＞</a:t>
            </a:r>
          </a:p>
          <a:p>
            <a:pPr marL="342900" indent="-342900" eaLnBrk="1" hangingPunct="1">
              <a:lnSpc>
                <a:spcPct val="90000"/>
              </a:lnSpc>
              <a:spcBef>
                <a:spcPct val="20000"/>
              </a:spcBef>
            </a:pPr>
            <a:r>
              <a:rPr lang="zh-CN" altLang="en-US" sz="1400" b="1" dirty="0">
                <a:latin typeface="Verdana" pitchFamily="34" charset="0"/>
              </a:rPr>
              <a:t>       ＜姓名＞李四＜／姓名＞</a:t>
            </a:r>
          </a:p>
          <a:p>
            <a:pPr marL="342900" indent="-342900" eaLnBrk="1" hangingPunct="1">
              <a:lnSpc>
                <a:spcPct val="90000"/>
              </a:lnSpc>
              <a:spcBef>
                <a:spcPct val="20000"/>
              </a:spcBef>
            </a:pPr>
            <a:r>
              <a:rPr lang="zh-CN" altLang="en-US" sz="1400" b="1" dirty="0">
                <a:latin typeface="Verdana" pitchFamily="34" charset="0"/>
              </a:rPr>
              <a:t>       ＜</a:t>
            </a:r>
            <a:r>
              <a:rPr lang="en-US" altLang="zh-CN" sz="1400" b="1" dirty="0">
                <a:latin typeface="Verdana" pitchFamily="34" charset="0"/>
              </a:rPr>
              <a:t>ID</a:t>
            </a:r>
            <a:r>
              <a:rPr lang="zh-CN" altLang="en-US" sz="1400" b="1" dirty="0">
                <a:latin typeface="Verdana" pitchFamily="34" charset="0"/>
              </a:rPr>
              <a:t>＞</a:t>
            </a:r>
            <a:r>
              <a:rPr lang="en-US" altLang="zh-CN" sz="1400" b="1" dirty="0">
                <a:latin typeface="Verdana" pitchFamily="34" charset="0"/>
              </a:rPr>
              <a:t>002</a:t>
            </a:r>
            <a:r>
              <a:rPr lang="zh-CN" altLang="en-US" sz="1400" b="1" dirty="0">
                <a:latin typeface="Verdana" pitchFamily="34" charset="0"/>
              </a:rPr>
              <a:t>＜／</a:t>
            </a:r>
            <a:r>
              <a:rPr lang="en-US" altLang="zh-CN" sz="1400" b="1" dirty="0">
                <a:latin typeface="Verdana" pitchFamily="34" charset="0"/>
              </a:rPr>
              <a:t>ID</a:t>
            </a:r>
            <a:r>
              <a:rPr lang="zh-CN" altLang="en-US" sz="1400" b="1" dirty="0">
                <a:latin typeface="Verdana" pitchFamily="34" charset="0"/>
              </a:rPr>
              <a:t>＞</a:t>
            </a:r>
          </a:p>
          <a:p>
            <a:pPr marL="342900" indent="-342900" eaLnBrk="1" hangingPunct="1">
              <a:lnSpc>
                <a:spcPct val="90000"/>
              </a:lnSpc>
              <a:spcBef>
                <a:spcPct val="20000"/>
              </a:spcBef>
            </a:pPr>
            <a:r>
              <a:rPr lang="zh-CN" altLang="en-US" sz="1400" b="1" dirty="0">
                <a:latin typeface="Verdana" pitchFamily="34" charset="0"/>
              </a:rPr>
              <a:t>       ＜公司＞</a:t>
            </a:r>
            <a:r>
              <a:rPr lang="en-US" altLang="zh-CN" sz="1400" b="1" dirty="0">
                <a:latin typeface="Verdana" pitchFamily="34" charset="0"/>
              </a:rPr>
              <a:t>B</a:t>
            </a:r>
            <a:r>
              <a:rPr lang="zh-CN" altLang="en-US" sz="1400" b="1" dirty="0">
                <a:latin typeface="Verdana" pitchFamily="34" charset="0"/>
              </a:rPr>
              <a:t>公司＜／公司＞</a:t>
            </a:r>
          </a:p>
          <a:p>
            <a:pPr marL="342900" indent="-342900" eaLnBrk="1" hangingPunct="1">
              <a:lnSpc>
                <a:spcPct val="90000"/>
              </a:lnSpc>
              <a:spcBef>
                <a:spcPct val="20000"/>
              </a:spcBef>
            </a:pPr>
            <a:r>
              <a:rPr lang="zh-CN" altLang="en-US" sz="1400" b="1" dirty="0">
                <a:latin typeface="Verdana" pitchFamily="34" charset="0"/>
              </a:rPr>
              <a:t>       ＜</a:t>
            </a:r>
            <a:r>
              <a:rPr lang="en-US" altLang="zh-CN" sz="1400" b="1" dirty="0">
                <a:latin typeface="Verdana" pitchFamily="34" charset="0"/>
              </a:rPr>
              <a:t>EMAII</a:t>
            </a:r>
            <a:r>
              <a:rPr lang="zh-CN" altLang="en-US" sz="1400" b="1" dirty="0">
                <a:latin typeface="Verdana" pitchFamily="34" charset="0"/>
              </a:rPr>
              <a:t>＞</a:t>
            </a:r>
            <a:r>
              <a:rPr lang="en-US" altLang="zh-CN" sz="1400" b="1" dirty="0">
                <a:latin typeface="Verdana" pitchFamily="34" charset="0"/>
              </a:rPr>
              <a:t>1i</a:t>
            </a:r>
            <a:r>
              <a:rPr lang="zh-CN" altLang="en-US" sz="1400" b="1" dirty="0">
                <a:latin typeface="Verdana" pitchFamily="34" charset="0"/>
              </a:rPr>
              <a:t>＠</a:t>
            </a:r>
            <a:r>
              <a:rPr lang="en-US" altLang="zh-CN" sz="1400" b="1" dirty="0" err="1">
                <a:latin typeface="Verdana" pitchFamily="34" charset="0"/>
              </a:rPr>
              <a:t>bbb</a:t>
            </a:r>
            <a:r>
              <a:rPr lang="zh-CN" altLang="en-US" sz="1400" b="1" dirty="0">
                <a:latin typeface="Verdana" pitchFamily="34" charset="0"/>
              </a:rPr>
              <a:t>．</a:t>
            </a:r>
            <a:r>
              <a:rPr lang="en-US" altLang="zh-CN" sz="1400" b="1" dirty="0">
                <a:latin typeface="Verdana" pitchFamily="34" charset="0"/>
              </a:rPr>
              <a:t>org</a:t>
            </a:r>
            <a:r>
              <a:rPr lang="zh-CN" altLang="en-US" sz="1400" b="1" dirty="0">
                <a:latin typeface="Verdana" pitchFamily="34" charset="0"/>
              </a:rPr>
              <a:t>＜／</a:t>
            </a:r>
            <a:r>
              <a:rPr lang="en-US" altLang="zh-CN" sz="1400" b="1" dirty="0">
                <a:latin typeface="Verdana" pitchFamily="34" charset="0"/>
              </a:rPr>
              <a:t>EMAII</a:t>
            </a:r>
            <a:r>
              <a:rPr lang="zh-CN" altLang="en-US" sz="1400" b="1" dirty="0">
                <a:latin typeface="Verdana" pitchFamily="34" charset="0"/>
              </a:rPr>
              <a:t>＞</a:t>
            </a:r>
          </a:p>
          <a:p>
            <a:pPr marL="342900" indent="-342900" eaLnBrk="1" hangingPunct="1">
              <a:lnSpc>
                <a:spcPct val="90000"/>
              </a:lnSpc>
              <a:spcBef>
                <a:spcPct val="20000"/>
              </a:spcBef>
            </a:pPr>
            <a:r>
              <a:rPr lang="zh-CN" altLang="en-US" sz="1400" b="1" dirty="0">
                <a:latin typeface="Verdana" pitchFamily="34" charset="0"/>
              </a:rPr>
              <a:t>       ＜电话＞</a:t>
            </a:r>
            <a:r>
              <a:rPr lang="en-US" altLang="zh-CN" sz="1400" b="1" dirty="0">
                <a:latin typeface="Verdana" pitchFamily="34" charset="0"/>
              </a:rPr>
              <a:t>(021)87654321</a:t>
            </a:r>
            <a:r>
              <a:rPr lang="zh-CN" altLang="en-US" sz="1400" b="1" dirty="0">
                <a:latin typeface="Verdana" pitchFamily="34" charset="0"/>
              </a:rPr>
              <a:t>＜／电话＞</a:t>
            </a:r>
          </a:p>
          <a:p>
            <a:pPr marL="342900" indent="-342900" eaLnBrk="1" hangingPunct="1">
              <a:lnSpc>
                <a:spcPct val="90000"/>
              </a:lnSpc>
              <a:spcBef>
                <a:spcPct val="20000"/>
              </a:spcBef>
            </a:pPr>
            <a:r>
              <a:rPr lang="zh-CN" altLang="en-US" sz="1400" b="1" dirty="0">
                <a:latin typeface="Verdana" pitchFamily="34" charset="0"/>
              </a:rPr>
              <a:t>       ＜地址＞</a:t>
            </a:r>
          </a:p>
          <a:p>
            <a:pPr marL="342900" indent="-342900" eaLnBrk="1" hangingPunct="1">
              <a:lnSpc>
                <a:spcPct val="90000"/>
              </a:lnSpc>
              <a:spcBef>
                <a:spcPct val="20000"/>
              </a:spcBef>
            </a:pPr>
            <a:r>
              <a:rPr lang="zh-CN" altLang="en-US" sz="1400" b="1" dirty="0">
                <a:latin typeface="Verdana" pitchFamily="34" charset="0"/>
              </a:rPr>
              <a:t>           ＜街道＞南京路</a:t>
            </a:r>
            <a:r>
              <a:rPr lang="en-US" altLang="zh-CN" sz="1400" b="1" dirty="0">
                <a:latin typeface="Verdana" pitchFamily="34" charset="0"/>
              </a:rPr>
              <a:t>9876</a:t>
            </a:r>
            <a:r>
              <a:rPr lang="zh-CN" altLang="en-US" sz="1400" b="1" dirty="0">
                <a:latin typeface="Verdana" pitchFamily="34" charset="0"/>
              </a:rPr>
              <a:t>号＜／街道＞</a:t>
            </a:r>
          </a:p>
          <a:p>
            <a:pPr marL="342900" indent="-342900" eaLnBrk="1" hangingPunct="1">
              <a:lnSpc>
                <a:spcPct val="90000"/>
              </a:lnSpc>
              <a:spcBef>
                <a:spcPct val="20000"/>
              </a:spcBef>
            </a:pPr>
            <a:r>
              <a:rPr lang="zh-CN" altLang="en-US" sz="1400" b="1" dirty="0">
                <a:latin typeface="Verdana" pitchFamily="34" charset="0"/>
              </a:rPr>
              <a:t>           ＜城市＞上海市＜／城市＞</a:t>
            </a:r>
          </a:p>
          <a:p>
            <a:pPr marL="342900" indent="-342900" eaLnBrk="1" hangingPunct="1">
              <a:lnSpc>
                <a:spcPct val="90000"/>
              </a:lnSpc>
              <a:spcBef>
                <a:spcPct val="20000"/>
              </a:spcBef>
            </a:pPr>
            <a:r>
              <a:rPr lang="zh-CN" altLang="en-US" sz="1400" b="1" dirty="0">
                <a:latin typeface="Verdana" pitchFamily="34" charset="0"/>
              </a:rPr>
              <a:t>           ＜省份＞上海＜／省份＞</a:t>
            </a:r>
          </a:p>
          <a:p>
            <a:pPr marL="342900" indent="-342900" eaLnBrk="1" hangingPunct="1">
              <a:lnSpc>
                <a:spcPct val="90000"/>
              </a:lnSpc>
              <a:spcBef>
                <a:spcPct val="20000"/>
              </a:spcBef>
            </a:pPr>
            <a:r>
              <a:rPr lang="zh-CN" altLang="en-US" sz="1400" b="1" dirty="0">
                <a:latin typeface="Verdana" pitchFamily="34" charset="0"/>
              </a:rPr>
              <a:t>       ＜／地址＞</a:t>
            </a:r>
          </a:p>
          <a:p>
            <a:pPr marL="342900" indent="-342900" eaLnBrk="1" hangingPunct="1">
              <a:lnSpc>
                <a:spcPct val="90000"/>
              </a:lnSpc>
              <a:spcBef>
                <a:spcPct val="20000"/>
              </a:spcBef>
            </a:pPr>
            <a:r>
              <a:rPr lang="zh-CN" altLang="en-US" sz="1400" b="1" dirty="0">
                <a:latin typeface="Verdana" pitchFamily="34" charset="0"/>
              </a:rPr>
              <a:t>   ＜／联系人＞</a:t>
            </a:r>
          </a:p>
          <a:p>
            <a:pPr marL="342900" indent="-342900" eaLnBrk="1" hangingPunct="1">
              <a:lnSpc>
                <a:spcPct val="90000"/>
              </a:lnSpc>
              <a:spcBef>
                <a:spcPct val="20000"/>
              </a:spcBef>
            </a:pPr>
            <a:r>
              <a:rPr lang="zh-CN" altLang="en-US" sz="1400" b="1" dirty="0">
                <a:latin typeface="Verdana" pitchFamily="34" charset="0"/>
              </a:rPr>
              <a:t>＜／联系人列表＞</a:t>
            </a:r>
          </a:p>
        </p:txBody>
      </p:sp>
      <p:sp>
        <p:nvSpPr>
          <p:cNvPr id="10243" name="Rectangle 6"/>
          <p:cNvSpPr>
            <a:spLocks noChangeArrowheads="1"/>
          </p:cNvSpPr>
          <p:nvPr/>
        </p:nvSpPr>
        <p:spPr bwMode="auto">
          <a:xfrm>
            <a:off x="1928794" y="109526"/>
            <a:ext cx="6786610" cy="3248036"/>
          </a:xfrm>
          <a:prstGeom prst="rect">
            <a:avLst/>
          </a:prstGeom>
          <a:noFill/>
          <a:ln w="9525">
            <a:noFill/>
            <a:miter lim="800000"/>
            <a:headEnd/>
            <a:tailEnd/>
          </a:ln>
        </p:spPr>
        <p:txBody>
          <a:bodyPr/>
          <a:lstStyle/>
          <a:p>
            <a:pPr marL="342900" indent="-342900" eaLnBrk="1" hangingPunct="1">
              <a:spcBef>
                <a:spcPct val="20000"/>
              </a:spcBef>
            </a:pPr>
            <a:r>
              <a:rPr lang="zh-CN" altLang="en-US" sz="1400" b="1" dirty="0">
                <a:latin typeface="Verdana" pitchFamily="34" charset="0"/>
              </a:rPr>
              <a:t>＜联系人列表＞</a:t>
            </a:r>
          </a:p>
          <a:p>
            <a:pPr marL="342900" indent="-342900" eaLnBrk="1" hangingPunct="1">
              <a:spcBef>
                <a:spcPct val="20000"/>
              </a:spcBef>
            </a:pPr>
            <a:r>
              <a:rPr lang="zh-CN" altLang="en-US" sz="1400" b="1" dirty="0">
                <a:latin typeface="Verdana" pitchFamily="34" charset="0"/>
              </a:rPr>
              <a:t>   ＜联系人＞</a:t>
            </a:r>
          </a:p>
          <a:p>
            <a:pPr marL="342900" indent="-342900" eaLnBrk="1" hangingPunct="1">
              <a:spcBef>
                <a:spcPct val="20000"/>
              </a:spcBef>
            </a:pPr>
            <a:r>
              <a:rPr lang="zh-CN" altLang="en-US" sz="1400" b="1" dirty="0">
                <a:latin typeface="Verdana" pitchFamily="34" charset="0"/>
              </a:rPr>
              <a:t>       ＜姓名＞张三＜／姓名＞</a:t>
            </a:r>
          </a:p>
          <a:p>
            <a:pPr marL="342900" indent="-342900" eaLnBrk="1" hangingPunct="1">
              <a:spcBef>
                <a:spcPct val="20000"/>
              </a:spcBef>
            </a:pPr>
            <a:r>
              <a:rPr lang="zh-CN" altLang="en-US" sz="1400" b="1" dirty="0">
                <a:latin typeface="Verdana" pitchFamily="34" charset="0"/>
              </a:rPr>
              <a:t>       ＜</a:t>
            </a:r>
            <a:r>
              <a:rPr lang="en-US" altLang="zh-CN" sz="1400" b="1" dirty="0">
                <a:latin typeface="Verdana" pitchFamily="34" charset="0"/>
              </a:rPr>
              <a:t>ID</a:t>
            </a:r>
            <a:r>
              <a:rPr lang="zh-CN" altLang="en-US" sz="1400" b="1" dirty="0">
                <a:latin typeface="Verdana" pitchFamily="34" charset="0"/>
              </a:rPr>
              <a:t>＞</a:t>
            </a:r>
            <a:r>
              <a:rPr lang="en-US" altLang="zh-CN" sz="1400" b="1" dirty="0">
                <a:latin typeface="Verdana" pitchFamily="34" charset="0"/>
              </a:rPr>
              <a:t>001</a:t>
            </a:r>
            <a:r>
              <a:rPr lang="zh-CN" altLang="en-US" sz="1400" b="1" dirty="0">
                <a:latin typeface="Verdana" pitchFamily="34" charset="0"/>
              </a:rPr>
              <a:t>＜／</a:t>
            </a:r>
            <a:r>
              <a:rPr lang="en-US" altLang="zh-CN" sz="1400" b="1" dirty="0">
                <a:latin typeface="Verdana" pitchFamily="34" charset="0"/>
              </a:rPr>
              <a:t>ID</a:t>
            </a:r>
            <a:r>
              <a:rPr lang="zh-CN" altLang="en-US" sz="1400" b="1" dirty="0">
                <a:latin typeface="Verdana" pitchFamily="34" charset="0"/>
              </a:rPr>
              <a:t>＞</a:t>
            </a:r>
          </a:p>
          <a:p>
            <a:pPr marL="342900" indent="-342900" eaLnBrk="1" hangingPunct="1">
              <a:spcBef>
                <a:spcPct val="20000"/>
              </a:spcBef>
            </a:pPr>
            <a:r>
              <a:rPr lang="zh-CN" altLang="en-US" sz="1400" b="1" dirty="0">
                <a:latin typeface="Verdana" pitchFamily="34" charset="0"/>
              </a:rPr>
              <a:t>       ＜公司＞</a:t>
            </a:r>
            <a:r>
              <a:rPr lang="en-US" altLang="zh-CN" sz="1400" b="1" dirty="0">
                <a:latin typeface="Verdana" pitchFamily="34" charset="0"/>
              </a:rPr>
              <a:t>A</a:t>
            </a:r>
            <a:r>
              <a:rPr lang="zh-CN" altLang="en-US" sz="1400" b="1" dirty="0">
                <a:latin typeface="Verdana" pitchFamily="34" charset="0"/>
              </a:rPr>
              <a:t>公司＜／公司＞</a:t>
            </a:r>
          </a:p>
          <a:p>
            <a:pPr marL="342900" indent="-342900" eaLnBrk="1" hangingPunct="1">
              <a:spcBef>
                <a:spcPct val="20000"/>
              </a:spcBef>
            </a:pPr>
            <a:r>
              <a:rPr lang="zh-CN" altLang="en-US" sz="1400" b="1" dirty="0">
                <a:latin typeface="Verdana" pitchFamily="34" charset="0"/>
              </a:rPr>
              <a:t>       ＜</a:t>
            </a:r>
            <a:r>
              <a:rPr lang="en-US" altLang="zh-CN" sz="1400" b="1" dirty="0">
                <a:latin typeface="Verdana" pitchFamily="34" charset="0"/>
              </a:rPr>
              <a:t>EMAIL</a:t>
            </a:r>
            <a:r>
              <a:rPr lang="zh-CN" altLang="en-US" sz="1400" b="1" dirty="0">
                <a:latin typeface="Verdana" pitchFamily="34" charset="0"/>
              </a:rPr>
              <a:t>＞</a:t>
            </a:r>
            <a:r>
              <a:rPr lang="en-US" altLang="zh-CN" sz="1400" b="1" dirty="0" err="1">
                <a:latin typeface="Verdana" pitchFamily="34" charset="0"/>
              </a:rPr>
              <a:t>zhang</a:t>
            </a:r>
            <a:r>
              <a:rPr lang="zh-CN" altLang="en-US" sz="1400" b="1" dirty="0">
                <a:latin typeface="Verdana" pitchFamily="34" charset="0"/>
              </a:rPr>
              <a:t>＠</a:t>
            </a:r>
            <a:r>
              <a:rPr lang="en-US" altLang="zh-CN" sz="1400" b="1" dirty="0" err="1">
                <a:latin typeface="Verdana" pitchFamily="34" charset="0"/>
              </a:rPr>
              <a:t>aaa</a:t>
            </a:r>
            <a:r>
              <a:rPr lang="zh-CN" altLang="en-US" sz="1400" b="1" dirty="0">
                <a:latin typeface="Verdana" pitchFamily="34" charset="0"/>
              </a:rPr>
              <a:t>．</a:t>
            </a:r>
            <a:r>
              <a:rPr lang="en-US" altLang="zh-CN" sz="1400" b="1" dirty="0">
                <a:latin typeface="Verdana" pitchFamily="34" charset="0"/>
              </a:rPr>
              <a:t>com</a:t>
            </a:r>
            <a:r>
              <a:rPr lang="zh-CN" altLang="en-US" sz="1400" b="1" dirty="0">
                <a:latin typeface="Verdana" pitchFamily="34" charset="0"/>
              </a:rPr>
              <a:t>＜／</a:t>
            </a:r>
            <a:r>
              <a:rPr lang="en-US" altLang="zh-CN" sz="1400" b="1" dirty="0">
                <a:latin typeface="Verdana" pitchFamily="34" charset="0"/>
              </a:rPr>
              <a:t>EMAIL</a:t>
            </a:r>
            <a:r>
              <a:rPr lang="zh-CN" altLang="en-US" sz="1400" b="1" dirty="0">
                <a:latin typeface="Verdana" pitchFamily="34" charset="0"/>
              </a:rPr>
              <a:t>＞</a:t>
            </a:r>
          </a:p>
          <a:p>
            <a:pPr marL="342900" indent="-342900" eaLnBrk="1" hangingPunct="1">
              <a:spcBef>
                <a:spcPct val="20000"/>
              </a:spcBef>
            </a:pPr>
            <a:r>
              <a:rPr lang="zh-CN" altLang="en-US" sz="1400" b="1" dirty="0">
                <a:latin typeface="Verdana" pitchFamily="34" charset="0"/>
              </a:rPr>
              <a:t>       ＜电话＞</a:t>
            </a:r>
            <a:r>
              <a:rPr lang="en-US" altLang="zh-CN" sz="1400" b="1" dirty="0">
                <a:latin typeface="Verdana" pitchFamily="34" charset="0"/>
              </a:rPr>
              <a:t>(010)62345678</a:t>
            </a:r>
            <a:r>
              <a:rPr lang="zh-CN" altLang="en-US" sz="1400" b="1" dirty="0">
                <a:latin typeface="Verdana" pitchFamily="34" charset="0"/>
              </a:rPr>
              <a:t>＜／电话＞</a:t>
            </a:r>
          </a:p>
          <a:p>
            <a:pPr marL="342900" indent="-342900" eaLnBrk="1" hangingPunct="1">
              <a:spcBef>
                <a:spcPct val="20000"/>
              </a:spcBef>
            </a:pPr>
            <a:r>
              <a:rPr lang="zh-CN" altLang="en-US" sz="1400" b="1" dirty="0">
                <a:latin typeface="Verdana" pitchFamily="34" charset="0"/>
              </a:rPr>
              <a:t>       ＜地址＞</a:t>
            </a:r>
          </a:p>
          <a:p>
            <a:pPr marL="342900" indent="-342900" eaLnBrk="1" hangingPunct="1">
              <a:spcBef>
                <a:spcPct val="20000"/>
              </a:spcBef>
            </a:pPr>
            <a:r>
              <a:rPr lang="zh-CN" altLang="en-US" sz="1400" b="1" dirty="0">
                <a:latin typeface="Verdana" pitchFamily="34" charset="0"/>
              </a:rPr>
              <a:t>           ＜街道＞五街</a:t>
            </a:r>
            <a:r>
              <a:rPr lang="en-US" altLang="zh-CN" sz="1400" b="1" dirty="0">
                <a:latin typeface="Verdana" pitchFamily="34" charset="0"/>
              </a:rPr>
              <a:t>1234</a:t>
            </a:r>
            <a:r>
              <a:rPr lang="zh-CN" altLang="en-US" sz="1400" b="1" dirty="0">
                <a:latin typeface="Verdana" pitchFamily="34" charset="0"/>
              </a:rPr>
              <a:t>号＜／街道＞</a:t>
            </a:r>
          </a:p>
          <a:p>
            <a:pPr marL="342900" indent="-342900" eaLnBrk="1" hangingPunct="1">
              <a:spcBef>
                <a:spcPct val="20000"/>
              </a:spcBef>
            </a:pPr>
            <a:r>
              <a:rPr lang="zh-CN" altLang="en-US" sz="1400" b="1" dirty="0">
                <a:latin typeface="Verdana" pitchFamily="34" charset="0"/>
              </a:rPr>
              <a:t>           ＜城市＞北京市＜／城市＞</a:t>
            </a:r>
          </a:p>
          <a:p>
            <a:pPr marL="342900" indent="-342900" eaLnBrk="1" hangingPunct="1">
              <a:spcBef>
                <a:spcPct val="20000"/>
              </a:spcBef>
            </a:pPr>
            <a:r>
              <a:rPr lang="zh-CN" altLang="en-US" sz="1400" b="1" dirty="0">
                <a:latin typeface="Verdana" pitchFamily="34" charset="0"/>
              </a:rPr>
              <a:t>           ＜省份＞北京＜／省份＞</a:t>
            </a:r>
          </a:p>
          <a:p>
            <a:pPr marL="342900" indent="-342900" eaLnBrk="1" hangingPunct="1">
              <a:spcBef>
                <a:spcPct val="20000"/>
              </a:spcBef>
            </a:pPr>
            <a:r>
              <a:rPr lang="zh-CN" altLang="en-US" sz="1400" b="1" dirty="0">
                <a:latin typeface="Verdana" pitchFamily="34" charset="0"/>
              </a:rPr>
              <a:t>       ＜／地址＞</a:t>
            </a:r>
          </a:p>
          <a:p>
            <a:pPr marL="342900" indent="-342900" eaLnBrk="1" hangingPunct="1">
              <a:spcBef>
                <a:spcPct val="20000"/>
              </a:spcBef>
            </a:pPr>
            <a:r>
              <a:rPr lang="zh-CN" altLang="en-US" sz="1400" b="1" dirty="0">
                <a:latin typeface="Verdana" pitchFamily="34" charset="0"/>
              </a:rPr>
              <a:t>   ＜／联系人＞</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000232" y="115888"/>
            <a:ext cx="6457968" cy="820737"/>
          </a:xfrm>
        </p:spPr>
        <p:txBody>
          <a:bodyPr/>
          <a:lstStyle/>
          <a:p>
            <a:pPr marL="609600" indent="-609600">
              <a:defRPr/>
            </a:pPr>
            <a:r>
              <a:rPr lang="en-US" altLang="zh-CN" sz="3200" b="1" dirty="0" smtClean="0">
                <a:solidFill>
                  <a:schemeClr val="tx1"/>
                </a:solidFill>
                <a:latin typeface="+mn-ea"/>
                <a:ea typeface="+mn-ea"/>
              </a:rPr>
              <a:t>XML</a:t>
            </a:r>
            <a:r>
              <a:rPr lang="zh-CN" altLang="en-US" sz="3200" b="1" dirty="0" smtClean="0">
                <a:solidFill>
                  <a:schemeClr val="tx1"/>
                </a:solidFill>
                <a:latin typeface="+mn-ea"/>
                <a:ea typeface="+mn-ea"/>
              </a:rPr>
              <a:t>和</a:t>
            </a:r>
            <a:r>
              <a:rPr lang="en-US" altLang="zh-CN" sz="3200" b="1" dirty="0" smtClean="0">
                <a:solidFill>
                  <a:schemeClr val="tx1"/>
                </a:solidFill>
                <a:latin typeface="+mn-ea"/>
                <a:ea typeface="+mn-ea"/>
              </a:rPr>
              <a:t>HTML</a:t>
            </a:r>
            <a:r>
              <a:rPr lang="zh-CN" altLang="en-US" sz="3200" b="1" dirty="0" smtClean="0">
                <a:solidFill>
                  <a:schemeClr val="tx1"/>
                </a:solidFill>
                <a:latin typeface="+mn-ea"/>
                <a:ea typeface="+mn-ea"/>
              </a:rPr>
              <a:t>比较</a:t>
            </a:r>
          </a:p>
        </p:txBody>
      </p:sp>
      <p:graphicFrame>
        <p:nvGraphicFramePr>
          <p:cNvPr id="7209" name="Group 41"/>
          <p:cNvGraphicFramePr>
            <a:graphicFrameLocks noGrp="1"/>
          </p:cNvGraphicFramePr>
          <p:nvPr/>
        </p:nvGraphicFramePr>
        <p:xfrm>
          <a:off x="1857356" y="1283673"/>
          <a:ext cx="7072362" cy="5074285"/>
        </p:xfrm>
        <a:graphic>
          <a:graphicData uri="http://schemas.openxmlformats.org/drawingml/2006/table">
            <a:tbl>
              <a:tblPr/>
              <a:tblGrid>
                <a:gridCol w="2357454">
                  <a:extLst>
                    <a:ext uri="{9D8B030D-6E8A-4147-A177-3AD203B41FA5}">
                      <a16:colId xmlns:a16="http://schemas.microsoft.com/office/drawing/2014/main" val="20000"/>
                    </a:ext>
                  </a:extLst>
                </a:gridCol>
                <a:gridCol w="2357454">
                  <a:extLst>
                    <a:ext uri="{9D8B030D-6E8A-4147-A177-3AD203B41FA5}">
                      <a16:colId xmlns:a16="http://schemas.microsoft.com/office/drawing/2014/main" val="20001"/>
                    </a:ext>
                  </a:extLst>
                </a:gridCol>
                <a:gridCol w="2357454">
                  <a:extLst>
                    <a:ext uri="{9D8B030D-6E8A-4147-A177-3AD203B41FA5}">
                      <a16:colId xmlns:a16="http://schemas.microsoft.com/office/drawing/2014/main" val="20002"/>
                    </a:ext>
                  </a:extLst>
                </a:gridCol>
              </a:tblGrid>
              <a:tr h="33813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dirty="0" smtClean="0">
                          <a:ln>
                            <a:noFill/>
                          </a:ln>
                          <a:solidFill>
                            <a:schemeClr val="tx1"/>
                          </a:solidFill>
                          <a:effectLst/>
                          <a:latin typeface="Arial" charset="0"/>
                          <a:ea typeface="宋体" pitchFamily="2" charset="-122"/>
                        </a:rPr>
                        <a:t>比较内容</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Arial" charset="0"/>
                          <a:ea typeface="宋体" pitchFamily="2" charset="-122"/>
                        </a:rPr>
                        <a:t>HTML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Arial" charset="0"/>
                          <a:ea typeface="宋体" pitchFamily="2" charset="-122"/>
                        </a:rPr>
                        <a:t>XML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30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dirty="0" smtClean="0">
                          <a:ln>
                            <a:noFill/>
                          </a:ln>
                          <a:solidFill>
                            <a:schemeClr val="tx1"/>
                          </a:solidFill>
                          <a:effectLst/>
                          <a:latin typeface="Arial" charset="0"/>
                          <a:ea typeface="宋体" pitchFamily="2" charset="-122"/>
                        </a:rPr>
                        <a:t>可扩展性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chemeClr val="tx1"/>
                          </a:solidFill>
                          <a:effectLst/>
                          <a:latin typeface="Arial" charset="0"/>
                          <a:ea typeface="宋体" pitchFamily="2" charset="-122"/>
                        </a:rPr>
                        <a:t>不具有扩展性</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chemeClr val="tx1"/>
                          </a:solidFill>
                          <a:effectLst/>
                          <a:latin typeface="Arial" charset="0"/>
                          <a:ea typeface="宋体" pitchFamily="2" charset="-122"/>
                        </a:rPr>
                        <a:t>是元置标语言，可用于定义新的置标语言</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165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chemeClr val="tx1"/>
                          </a:solidFill>
                          <a:effectLst/>
                          <a:latin typeface="Arial" charset="0"/>
                          <a:ea typeface="宋体" pitchFamily="2" charset="-122"/>
                        </a:rPr>
                        <a:t>侧重点</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chemeClr val="tx1"/>
                          </a:solidFill>
                          <a:effectLst/>
                          <a:latin typeface="Arial" charset="0"/>
                          <a:ea typeface="宋体" pitchFamily="2" charset="-122"/>
                        </a:rPr>
                        <a:t>侧重于如何表现信息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chemeClr val="tx1"/>
                          </a:solidFill>
                          <a:effectLst/>
                          <a:latin typeface="Arial" charset="0"/>
                          <a:ea typeface="宋体" pitchFamily="2" charset="-122"/>
                        </a:rPr>
                        <a:t>侧重于如何结构化地描述信息</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604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chemeClr val="tx1"/>
                          </a:solidFill>
                          <a:effectLst/>
                          <a:latin typeface="Arial" charset="0"/>
                          <a:ea typeface="宋体" pitchFamily="2" charset="-122"/>
                        </a:rPr>
                        <a:t>语法要求</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dirty="0" smtClean="0">
                          <a:ln>
                            <a:noFill/>
                          </a:ln>
                          <a:solidFill>
                            <a:schemeClr val="tx1"/>
                          </a:solidFill>
                          <a:effectLst/>
                          <a:latin typeface="Arial" charset="0"/>
                          <a:ea typeface="宋体" pitchFamily="2" charset="-122"/>
                        </a:rPr>
                        <a:t>不要求标记的嵌套、配对等，不要求标记之间具有一定的顺序</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chemeClr val="tx1"/>
                          </a:solidFill>
                          <a:effectLst/>
                          <a:latin typeface="Arial" charset="0"/>
                          <a:ea typeface="宋体" pitchFamily="2" charset="-122"/>
                        </a:rPr>
                        <a:t>严格要求嵌套、配对，并遵循</a:t>
                      </a:r>
                      <a:r>
                        <a:rPr kumimoji="0" lang="en-US" altLang="zh-CN" sz="1800" b="1" i="0" u="none" strike="noStrike" cap="none" normalizeH="0" baseline="0" smtClean="0">
                          <a:ln>
                            <a:noFill/>
                          </a:ln>
                          <a:solidFill>
                            <a:schemeClr val="tx1"/>
                          </a:solidFill>
                          <a:effectLst/>
                          <a:latin typeface="Arial" charset="0"/>
                          <a:ea typeface="宋体" pitchFamily="2" charset="-122"/>
                        </a:rPr>
                        <a:t>DTD</a:t>
                      </a:r>
                      <a:r>
                        <a:rPr kumimoji="0" lang="zh-CN" altLang="en-US" sz="1800" b="1" i="0" u="none" strike="noStrike" cap="none" normalizeH="0" baseline="0" smtClean="0">
                          <a:ln>
                            <a:noFill/>
                          </a:ln>
                          <a:solidFill>
                            <a:schemeClr val="tx1"/>
                          </a:solidFill>
                          <a:effectLst/>
                          <a:latin typeface="Arial" charset="0"/>
                          <a:ea typeface="宋体" pitchFamily="2" charset="-122"/>
                        </a:rPr>
                        <a:t>的树形结构</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937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chemeClr val="tx1"/>
                          </a:solidFill>
                          <a:effectLst/>
                          <a:latin typeface="Arial" charset="0"/>
                          <a:ea typeface="宋体" pitchFamily="2" charset="-122"/>
                        </a:rPr>
                        <a:t>可读性及可维护性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chemeClr val="tx1"/>
                          </a:solidFill>
                          <a:effectLst/>
                          <a:latin typeface="Arial" charset="0"/>
                          <a:ea typeface="宋体" pitchFamily="2" charset="-122"/>
                        </a:rPr>
                        <a:t>难于阅读、维护</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chemeClr val="tx1"/>
                          </a:solidFill>
                          <a:effectLst/>
                          <a:latin typeface="Arial" charset="0"/>
                          <a:ea typeface="宋体" pitchFamily="2" charset="-122"/>
                        </a:rPr>
                        <a:t>结构清晰，便于阅读、维护</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937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chemeClr val="tx1"/>
                          </a:solidFill>
                          <a:effectLst/>
                          <a:latin typeface="Arial" charset="0"/>
                          <a:ea typeface="宋体" pitchFamily="2" charset="-122"/>
                        </a:rPr>
                        <a:t>数据和显示的关系</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chemeClr val="tx1"/>
                          </a:solidFill>
                          <a:effectLst/>
                          <a:latin typeface="Arial" charset="0"/>
                          <a:ea typeface="宋体" pitchFamily="2" charset="-122"/>
                        </a:rPr>
                        <a:t>内容描述与显示方式整合为一体</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chemeClr val="tx1"/>
                          </a:solidFill>
                          <a:effectLst/>
                          <a:latin typeface="Arial" charset="0"/>
                          <a:ea typeface="宋体" pitchFamily="2" charset="-122"/>
                        </a:rPr>
                        <a:t>内容描述与显示方式相分离</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937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chemeClr val="tx1"/>
                          </a:solidFill>
                          <a:effectLst/>
                          <a:latin typeface="Arial" charset="0"/>
                          <a:ea typeface="宋体" pitchFamily="2" charset="-122"/>
                        </a:rPr>
                        <a:t>保值性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chemeClr val="tx1"/>
                          </a:solidFill>
                          <a:effectLst/>
                          <a:latin typeface="Arial" charset="0"/>
                          <a:ea typeface="宋体" pitchFamily="2" charset="-122"/>
                        </a:rPr>
                        <a:t>不具有保值性</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chemeClr val="tx1"/>
                          </a:solidFill>
                          <a:effectLst/>
                          <a:latin typeface="Arial" charset="0"/>
                          <a:ea typeface="宋体" pitchFamily="2" charset="-122"/>
                        </a:rPr>
                        <a:t>具有保值性</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937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chemeClr val="tx1"/>
                          </a:solidFill>
                          <a:effectLst/>
                          <a:latin typeface="Arial" charset="0"/>
                          <a:ea typeface="宋体" pitchFamily="2" charset="-122"/>
                        </a:rPr>
                        <a:t>编辑及浏览工具</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chemeClr val="tx1"/>
                          </a:solidFill>
                          <a:effectLst/>
                          <a:latin typeface="Arial" charset="0"/>
                          <a:ea typeface="宋体" pitchFamily="2" charset="-122"/>
                        </a:rPr>
                        <a:t>已有大量的编辑、浏览工具</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dirty="0" smtClean="0">
                          <a:ln>
                            <a:noFill/>
                          </a:ln>
                          <a:solidFill>
                            <a:schemeClr val="tx1"/>
                          </a:solidFill>
                          <a:effectLst/>
                          <a:latin typeface="Arial" charset="0"/>
                          <a:ea typeface="宋体" pitchFamily="2" charset="-122"/>
                        </a:rPr>
                        <a:t>编辑、浏览工具尚不成熟</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714479" y="285750"/>
            <a:ext cx="6772295" cy="714358"/>
          </a:xfrm>
        </p:spPr>
        <p:txBody>
          <a:bodyPr/>
          <a:lstStyle/>
          <a:p>
            <a:pPr>
              <a:defRPr/>
            </a:pPr>
            <a:r>
              <a:rPr lang="en-US" altLang="zh-CN" sz="3200" b="1" dirty="0" smtClean="0">
                <a:solidFill>
                  <a:schemeClr val="tx1"/>
                </a:solidFill>
                <a:latin typeface="+mn-ea"/>
                <a:ea typeface="+mn-ea"/>
              </a:rPr>
              <a:t>XML</a:t>
            </a:r>
            <a:r>
              <a:rPr lang="zh-CN" altLang="en-US" sz="3200" b="1" dirty="0" smtClean="0">
                <a:solidFill>
                  <a:schemeClr val="tx1"/>
                </a:solidFill>
                <a:latin typeface="+mn-ea"/>
                <a:ea typeface="+mn-ea"/>
              </a:rPr>
              <a:t>的特点</a:t>
            </a:r>
            <a:endParaRPr lang="en-US" altLang="zh-CN" sz="3200" b="1" dirty="0" smtClean="0">
              <a:solidFill>
                <a:schemeClr val="tx1"/>
              </a:solidFill>
              <a:latin typeface="+mn-ea"/>
              <a:ea typeface="+mn-ea"/>
            </a:endParaRPr>
          </a:p>
        </p:txBody>
      </p:sp>
      <p:sp>
        <p:nvSpPr>
          <p:cNvPr id="6147" name="Rectangle 3"/>
          <p:cNvSpPr>
            <a:spLocks noGrp="1" noChangeArrowheads="1"/>
          </p:cNvSpPr>
          <p:nvPr>
            <p:ph idx="1"/>
          </p:nvPr>
        </p:nvSpPr>
        <p:spPr>
          <a:xfrm>
            <a:off x="1785949" y="1857364"/>
            <a:ext cx="4643439" cy="4714892"/>
          </a:xfrm>
        </p:spPr>
        <p:txBody>
          <a:bodyPr/>
          <a:lstStyle/>
          <a:p>
            <a:pPr>
              <a:lnSpc>
                <a:spcPct val="90000"/>
              </a:lnSpc>
              <a:defRPr/>
            </a:pPr>
            <a:r>
              <a:rPr lang="zh-CN" altLang="en-US" sz="2800" b="1" dirty="0" smtClean="0">
                <a:latin typeface="+mn-ea"/>
              </a:rPr>
              <a:t>自描述性</a:t>
            </a:r>
          </a:p>
          <a:p>
            <a:pPr>
              <a:lnSpc>
                <a:spcPct val="90000"/>
              </a:lnSpc>
              <a:defRPr/>
            </a:pPr>
            <a:endParaRPr lang="en-US" altLang="zh-CN" sz="2800" b="1" dirty="0" smtClean="0">
              <a:latin typeface="+mn-ea"/>
            </a:endParaRPr>
          </a:p>
          <a:p>
            <a:pPr>
              <a:lnSpc>
                <a:spcPct val="90000"/>
              </a:lnSpc>
              <a:defRPr/>
            </a:pPr>
            <a:r>
              <a:rPr lang="zh-CN" altLang="en-US" sz="2800" b="1" dirty="0" smtClean="0">
                <a:latin typeface="+mn-ea"/>
              </a:rPr>
              <a:t>内容独立性 </a:t>
            </a:r>
            <a:endParaRPr lang="en-US" altLang="zh-CN" sz="2800" b="1" dirty="0" smtClean="0">
              <a:latin typeface="+mn-ea"/>
            </a:endParaRPr>
          </a:p>
          <a:p>
            <a:pPr>
              <a:lnSpc>
                <a:spcPct val="90000"/>
              </a:lnSpc>
              <a:defRPr/>
            </a:pPr>
            <a:endParaRPr lang="zh-CN" altLang="en-US" sz="2800" b="1" dirty="0" smtClean="0">
              <a:latin typeface="+mn-ea"/>
            </a:endParaRPr>
          </a:p>
          <a:p>
            <a:pPr>
              <a:lnSpc>
                <a:spcPct val="90000"/>
              </a:lnSpc>
              <a:defRPr/>
            </a:pPr>
            <a:r>
              <a:rPr lang="zh-CN" altLang="en-US" sz="2800" b="1" dirty="0" smtClean="0">
                <a:latin typeface="+mn-ea"/>
              </a:rPr>
              <a:t>可扩展和复用性</a:t>
            </a:r>
            <a:endParaRPr lang="en-US" altLang="zh-CN" sz="2800" b="1" dirty="0" smtClean="0">
              <a:latin typeface="+mn-ea"/>
            </a:endParaRPr>
          </a:p>
          <a:p>
            <a:pPr>
              <a:lnSpc>
                <a:spcPct val="90000"/>
              </a:lnSpc>
              <a:defRPr/>
            </a:pPr>
            <a:endParaRPr lang="zh-CN" altLang="en-US" sz="2800" b="1" dirty="0" smtClean="0">
              <a:latin typeface="+mn-ea"/>
            </a:endParaRPr>
          </a:p>
          <a:p>
            <a:pPr>
              <a:lnSpc>
                <a:spcPct val="90000"/>
              </a:lnSpc>
              <a:defRPr/>
            </a:pPr>
            <a:r>
              <a:rPr lang="zh-CN" altLang="en-US" sz="2800" b="1" dirty="0" smtClean="0">
                <a:latin typeface="+mn-ea"/>
              </a:rPr>
              <a:t>便于网络传输</a:t>
            </a:r>
            <a:endParaRPr lang="en-US" altLang="zh-CN" sz="2800" b="1" dirty="0" smtClean="0">
              <a:latin typeface="+mn-ea"/>
            </a:endParaRPr>
          </a:p>
          <a:p>
            <a:pPr lvl="1">
              <a:lnSpc>
                <a:spcPct val="90000"/>
              </a:lnSpc>
              <a:buNone/>
              <a:defRPr/>
            </a:pPr>
            <a:r>
              <a:rPr lang="en-US" altLang="zh-CN" sz="2400" b="1" dirty="0" smtClean="0">
                <a:latin typeface="+mn-ea"/>
              </a:rPr>
              <a:t>Java = Portable Programs</a:t>
            </a:r>
          </a:p>
          <a:p>
            <a:pPr lvl="1">
              <a:lnSpc>
                <a:spcPct val="90000"/>
              </a:lnSpc>
              <a:buNone/>
              <a:defRPr/>
            </a:pPr>
            <a:r>
              <a:rPr lang="en-US" altLang="zh-CN" sz="2400" b="1" dirty="0" smtClean="0">
                <a:latin typeface="+mn-ea"/>
              </a:rPr>
              <a:t>XML = Portable Data </a:t>
            </a:r>
          </a:p>
          <a:p>
            <a:pPr lvl="1">
              <a:lnSpc>
                <a:spcPct val="90000"/>
              </a:lnSpc>
              <a:buNone/>
              <a:defRPr/>
            </a:pPr>
            <a:endParaRPr lang="zh-CN" altLang="en-US" sz="2400" b="1" dirty="0" smtClean="0">
              <a:latin typeface="+mn-ea"/>
            </a:endParaRPr>
          </a:p>
        </p:txBody>
      </p:sp>
      <p:pic>
        <p:nvPicPr>
          <p:cNvPr id="4" name="Picture 4" descr="XML010301"/>
          <p:cNvPicPr>
            <a:picLocks noChangeAspect="1" noChangeArrowheads="1"/>
          </p:cNvPicPr>
          <p:nvPr/>
        </p:nvPicPr>
        <p:blipFill>
          <a:blip r:embed="rId2"/>
          <a:srcRect/>
          <a:stretch>
            <a:fillRect/>
          </a:stretch>
        </p:blipFill>
        <p:spPr bwMode="auto">
          <a:xfrm>
            <a:off x="5072066" y="1214422"/>
            <a:ext cx="3804582" cy="3871926"/>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blinds(horizontal)">
                                      <p:cBhvr>
                                        <p:cTn id="7" dur="500"/>
                                        <p:tgtEl>
                                          <p:spTgt spid="61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147">
                                            <p:txEl>
                                              <p:pRg st="2" end="2"/>
                                            </p:txEl>
                                          </p:spTgt>
                                        </p:tgtEl>
                                        <p:attrNameLst>
                                          <p:attrName>style.visibility</p:attrName>
                                        </p:attrNameLst>
                                      </p:cBhvr>
                                      <p:to>
                                        <p:strVal val="visible"/>
                                      </p:to>
                                    </p:set>
                                    <p:animEffect transition="in" filter="box(in)">
                                      <p:cBhvr>
                                        <p:cTn id="12" dur="500"/>
                                        <p:tgtEl>
                                          <p:spTgt spid="614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6147">
                                            <p:txEl>
                                              <p:pRg st="4" end="4"/>
                                            </p:txEl>
                                          </p:spTgt>
                                        </p:tgtEl>
                                        <p:attrNameLst>
                                          <p:attrName>style.visibility</p:attrName>
                                        </p:attrNameLst>
                                      </p:cBhvr>
                                      <p:to>
                                        <p:strVal val="visible"/>
                                      </p:to>
                                    </p:set>
                                    <p:animEffect transition="in" filter="box(in)">
                                      <p:cBhvr>
                                        <p:cTn id="17" dur="500"/>
                                        <p:tgtEl>
                                          <p:spTgt spid="614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6147">
                                            <p:txEl>
                                              <p:pRg st="6" end="6"/>
                                            </p:txEl>
                                          </p:spTgt>
                                        </p:tgtEl>
                                        <p:attrNameLst>
                                          <p:attrName>style.visibility</p:attrName>
                                        </p:attrNameLst>
                                      </p:cBhvr>
                                      <p:to>
                                        <p:strVal val="visible"/>
                                      </p:to>
                                    </p:set>
                                    <p:animEffect transition="in" filter="box(in)">
                                      <p:cBhvr>
                                        <p:cTn id="22" dur="500"/>
                                        <p:tgtEl>
                                          <p:spTgt spid="6147">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6147">
                                            <p:txEl>
                                              <p:pRg st="7" end="7"/>
                                            </p:txEl>
                                          </p:spTgt>
                                        </p:tgtEl>
                                        <p:attrNameLst>
                                          <p:attrName>style.visibility</p:attrName>
                                        </p:attrNameLst>
                                      </p:cBhvr>
                                      <p:to>
                                        <p:strVal val="visible"/>
                                      </p:to>
                                    </p:set>
                                    <p:animEffect transition="in" filter="box(in)">
                                      <p:cBhvr>
                                        <p:cTn id="27" dur="500"/>
                                        <p:tgtEl>
                                          <p:spTgt spid="6147">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6147">
                                            <p:txEl>
                                              <p:pRg st="8" end="8"/>
                                            </p:txEl>
                                          </p:spTgt>
                                        </p:tgtEl>
                                        <p:attrNameLst>
                                          <p:attrName>style.visibility</p:attrName>
                                        </p:attrNameLst>
                                      </p:cBhvr>
                                      <p:to>
                                        <p:strVal val="visible"/>
                                      </p:to>
                                    </p:set>
                                    <p:animEffect transition="in" filter="box(in)">
                                      <p:cBhvr>
                                        <p:cTn id="32" dur="500"/>
                                        <p:tgtEl>
                                          <p:spTgt spid="614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2071670" y="188913"/>
            <a:ext cx="6386530" cy="731837"/>
          </a:xfrm>
        </p:spPr>
        <p:txBody>
          <a:bodyPr/>
          <a:lstStyle/>
          <a:p>
            <a:pPr>
              <a:defRPr/>
            </a:pPr>
            <a:r>
              <a:rPr lang="en-US" altLang="zh-CN" sz="3200" b="1" dirty="0" smtClean="0">
                <a:latin typeface="+mn-ea"/>
                <a:ea typeface="+mn-ea"/>
              </a:rPr>
              <a:t>XML</a:t>
            </a:r>
            <a:r>
              <a:rPr lang="zh-CN" sz="3200" b="1" dirty="0" smtClean="0">
                <a:latin typeface="+mn-ea"/>
                <a:ea typeface="+mn-ea"/>
              </a:rPr>
              <a:t>最重要的五个应用</a:t>
            </a:r>
            <a:endParaRPr lang="zh-CN" altLang="en-US" sz="3200" b="1" dirty="0" smtClean="0">
              <a:latin typeface="+mn-ea"/>
              <a:ea typeface="+mn-ea"/>
            </a:endParaRPr>
          </a:p>
        </p:txBody>
      </p:sp>
      <p:sp>
        <p:nvSpPr>
          <p:cNvPr id="11267" name="Rectangle 3"/>
          <p:cNvSpPr>
            <a:spLocks noGrp="1" noChangeArrowheads="1"/>
          </p:cNvSpPr>
          <p:nvPr>
            <p:ph idx="1"/>
          </p:nvPr>
        </p:nvSpPr>
        <p:spPr>
          <a:xfrm>
            <a:off x="1643042" y="1143000"/>
            <a:ext cx="7143771" cy="5357813"/>
          </a:xfrm>
        </p:spPr>
        <p:txBody>
          <a:bodyPr/>
          <a:lstStyle/>
          <a:p>
            <a:pPr>
              <a:lnSpc>
                <a:spcPct val="90000"/>
              </a:lnSpc>
            </a:pPr>
            <a:r>
              <a:rPr lang="zh-CN" altLang="en-US" sz="2800" b="1" dirty="0" smtClean="0">
                <a:latin typeface="宋体" charset="-122"/>
              </a:rPr>
              <a:t>数据交换</a:t>
            </a:r>
            <a:endParaRPr lang="en-US" altLang="zh-CN" sz="2800" b="1" dirty="0" smtClean="0">
              <a:latin typeface="宋体" charset="-122"/>
            </a:endParaRPr>
          </a:p>
          <a:p>
            <a:pPr lvl="1">
              <a:lnSpc>
                <a:spcPct val="90000"/>
              </a:lnSpc>
            </a:pPr>
            <a:r>
              <a:rPr lang="en-US" altLang="zh-CN" sz="2000" b="1" dirty="0" smtClean="0">
                <a:latin typeface="宋体" charset="-122"/>
              </a:rPr>
              <a:t>XML</a:t>
            </a:r>
            <a:r>
              <a:rPr lang="zh-CN" altLang="en-US" sz="2000" b="1" dirty="0" smtClean="0">
                <a:latin typeface="宋体" charset="-122"/>
              </a:rPr>
              <a:t>使用元素和属性来描述数据。在数据传送过程中，</a:t>
            </a:r>
            <a:r>
              <a:rPr lang="en-US" altLang="zh-CN" sz="2000" b="1" dirty="0" smtClean="0">
                <a:latin typeface="宋体" charset="-122"/>
              </a:rPr>
              <a:t>XML</a:t>
            </a:r>
            <a:r>
              <a:rPr lang="zh-CN" altLang="en-US" sz="2000" b="1" dirty="0" smtClean="0">
                <a:latin typeface="宋体" charset="-122"/>
              </a:rPr>
              <a:t>始终保留了诸如父</a:t>
            </a:r>
            <a:r>
              <a:rPr lang="en-US" altLang="zh-CN" sz="2000" b="1" dirty="0" smtClean="0">
                <a:latin typeface="宋体" charset="-122"/>
              </a:rPr>
              <a:t>/</a:t>
            </a:r>
            <a:r>
              <a:rPr lang="zh-CN" altLang="en-US" sz="2000" b="1" dirty="0" smtClean="0">
                <a:latin typeface="宋体" charset="-122"/>
              </a:rPr>
              <a:t>子关系这样的数据结构</a:t>
            </a:r>
            <a:endParaRPr lang="en-US" altLang="zh-CN" sz="2000" b="1" dirty="0" smtClean="0">
              <a:latin typeface="宋体" charset="-122"/>
            </a:endParaRPr>
          </a:p>
          <a:p>
            <a:pPr>
              <a:lnSpc>
                <a:spcPct val="90000"/>
              </a:lnSpc>
            </a:pPr>
            <a:r>
              <a:rPr lang="en-US" altLang="zh-CN" sz="2800" b="1" dirty="0" smtClean="0">
                <a:latin typeface="宋体" charset="-122"/>
              </a:rPr>
              <a:t>Web</a:t>
            </a:r>
            <a:r>
              <a:rPr lang="zh-CN" altLang="en-US" sz="2800" b="1" dirty="0" smtClean="0">
                <a:latin typeface="宋体" charset="-122"/>
              </a:rPr>
              <a:t>服务</a:t>
            </a:r>
            <a:endParaRPr lang="en-US" altLang="zh-CN" sz="2800" b="1" dirty="0" smtClean="0">
              <a:latin typeface="宋体" charset="-122"/>
            </a:endParaRPr>
          </a:p>
          <a:p>
            <a:pPr lvl="1">
              <a:lnSpc>
                <a:spcPct val="90000"/>
              </a:lnSpc>
            </a:pPr>
            <a:r>
              <a:rPr lang="en-US" altLang="zh-CN" sz="2000" b="1" dirty="0" smtClean="0">
                <a:latin typeface="宋体" charset="-122"/>
              </a:rPr>
              <a:t>SOAP</a:t>
            </a:r>
            <a:r>
              <a:rPr lang="zh-CN" altLang="en-US" sz="2000" b="1" dirty="0" smtClean="0">
                <a:latin typeface="宋体" charset="-122"/>
              </a:rPr>
              <a:t>可以在用不同编程语言构造的对象之间传递消息</a:t>
            </a:r>
          </a:p>
          <a:p>
            <a:pPr>
              <a:lnSpc>
                <a:spcPct val="90000"/>
              </a:lnSpc>
            </a:pPr>
            <a:r>
              <a:rPr lang="zh-CN" altLang="en-US" sz="2800" b="1" dirty="0" smtClean="0">
                <a:latin typeface="宋体" charset="-122"/>
              </a:rPr>
              <a:t>内容管理</a:t>
            </a:r>
          </a:p>
          <a:p>
            <a:pPr lvl="1">
              <a:lnSpc>
                <a:spcPct val="90000"/>
              </a:lnSpc>
            </a:pPr>
            <a:r>
              <a:rPr lang="en-US" altLang="zh-CN" sz="2000" b="1" dirty="0" smtClean="0">
                <a:latin typeface="宋体" charset="-122"/>
              </a:rPr>
              <a:t>XML</a:t>
            </a:r>
            <a:r>
              <a:rPr lang="zh-CN" altLang="en-US" sz="2000" b="1" dirty="0" smtClean="0">
                <a:latin typeface="宋体" charset="-122"/>
              </a:rPr>
              <a:t>只用元素和属性来描述数据，而不提供数据的显示方法。</a:t>
            </a:r>
            <a:r>
              <a:rPr lang="en-US" altLang="zh-CN" sz="2000" b="1" dirty="0" smtClean="0">
                <a:latin typeface="宋体" charset="-122"/>
              </a:rPr>
              <a:t>XSLT</a:t>
            </a:r>
            <a:r>
              <a:rPr lang="zh-CN" altLang="en-US" sz="2000" b="1" dirty="0" smtClean="0">
                <a:latin typeface="宋体" charset="-122"/>
              </a:rPr>
              <a:t>等能够轻易地将</a:t>
            </a:r>
            <a:r>
              <a:rPr lang="en-US" altLang="zh-CN" sz="2000" b="1" dirty="0" smtClean="0">
                <a:latin typeface="宋体" charset="-122"/>
              </a:rPr>
              <a:t>XML</a:t>
            </a:r>
            <a:r>
              <a:rPr lang="zh-CN" altLang="en-US" sz="2000" b="1" dirty="0" smtClean="0">
                <a:latin typeface="宋体" charset="-122"/>
              </a:rPr>
              <a:t>文件转换成各种格式文件，比如</a:t>
            </a:r>
            <a:r>
              <a:rPr lang="en-US" altLang="zh-CN" sz="2000" b="1" dirty="0" smtClean="0">
                <a:latin typeface="宋体" charset="-122"/>
              </a:rPr>
              <a:t>HTML, WML, PDF, flat file, EDI</a:t>
            </a:r>
            <a:r>
              <a:rPr lang="zh-CN" altLang="en-US" sz="2000" b="1" dirty="0" smtClean="0">
                <a:latin typeface="宋体" charset="-122"/>
              </a:rPr>
              <a:t>等</a:t>
            </a:r>
          </a:p>
          <a:p>
            <a:pPr>
              <a:lnSpc>
                <a:spcPct val="90000"/>
              </a:lnSpc>
            </a:pPr>
            <a:r>
              <a:rPr lang="en-US" altLang="zh-CN" sz="2800" b="1" dirty="0" smtClean="0">
                <a:latin typeface="宋体" charset="-122"/>
              </a:rPr>
              <a:t>Web</a:t>
            </a:r>
            <a:r>
              <a:rPr lang="zh-CN" altLang="en-US" sz="2800" b="1" dirty="0" smtClean="0">
                <a:latin typeface="宋体" charset="-122"/>
              </a:rPr>
              <a:t>集成</a:t>
            </a:r>
            <a:endParaRPr lang="en-US" altLang="zh-CN" sz="2800" b="1" dirty="0" smtClean="0">
              <a:latin typeface="宋体" charset="-122"/>
            </a:endParaRPr>
          </a:p>
          <a:p>
            <a:pPr lvl="1">
              <a:lnSpc>
                <a:spcPct val="90000"/>
              </a:lnSpc>
            </a:pPr>
            <a:r>
              <a:rPr lang="zh-CN" altLang="en-US" sz="2000" b="1" dirty="0" smtClean="0">
                <a:latin typeface="宋体" charset="-122"/>
              </a:rPr>
              <a:t>在个人电子助理和浏览器之间用</a:t>
            </a:r>
            <a:r>
              <a:rPr lang="en-US" altLang="zh-CN" sz="2000" b="1" dirty="0" smtClean="0">
                <a:latin typeface="宋体" charset="-122"/>
              </a:rPr>
              <a:t>XML</a:t>
            </a:r>
            <a:r>
              <a:rPr lang="zh-CN" altLang="en-US" sz="2000" b="1" dirty="0" smtClean="0">
                <a:latin typeface="宋体" charset="-122"/>
              </a:rPr>
              <a:t>来传递数据</a:t>
            </a:r>
          </a:p>
          <a:p>
            <a:pPr>
              <a:lnSpc>
                <a:spcPct val="90000"/>
              </a:lnSpc>
            </a:pPr>
            <a:r>
              <a:rPr lang="zh-CN" altLang="en-US" sz="2800" b="1" dirty="0" smtClean="0">
                <a:latin typeface="宋体" charset="-122"/>
              </a:rPr>
              <a:t>配置</a:t>
            </a:r>
            <a:endParaRPr lang="en-US" altLang="zh-CN" sz="2800" b="1" dirty="0" smtClean="0">
              <a:latin typeface="宋体" charset="-122"/>
            </a:endParaRPr>
          </a:p>
          <a:p>
            <a:pPr lvl="1">
              <a:lnSpc>
                <a:spcPct val="90000"/>
              </a:lnSpc>
            </a:pPr>
            <a:r>
              <a:rPr lang="zh-CN" altLang="en-US" sz="2000" b="1" dirty="0" smtClean="0">
                <a:latin typeface="宋体" charset="-122"/>
              </a:rPr>
              <a:t>将配置数据标记为</a:t>
            </a:r>
            <a:r>
              <a:rPr lang="en-US" altLang="zh-CN" sz="2000" b="1" dirty="0" smtClean="0">
                <a:latin typeface="宋体" charset="-122"/>
              </a:rPr>
              <a:t>XML</a:t>
            </a:r>
            <a:r>
              <a:rPr lang="zh-CN" altLang="en-US" sz="2000" b="1" dirty="0" smtClean="0">
                <a:latin typeface="宋体" charset="-122"/>
              </a:rPr>
              <a:t>格式，能使其更具可读性，并能方便地集成到应用系统中去；</a:t>
            </a:r>
            <a:r>
              <a:rPr lang="en-US" altLang="zh-CN" sz="2000" b="1" dirty="0" smtClean="0">
                <a:latin typeface="宋体" charset="-122"/>
              </a:rPr>
              <a:t>.NET</a:t>
            </a:r>
            <a:r>
              <a:rPr lang="zh-CN" altLang="en-US" sz="2000" b="1" dirty="0" smtClean="0">
                <a:latin typeface="宋体" charset="-122"/>
              </a:rPr>
              <a:t>中的</a:t>
            </a:r>
            <a:r>
              <a:rPr lang="en-US" altLang="zh-CN" sz="2000" b="1" dirty="0" err="1" smtClean="0">
                <a:latin typeface="宋体" charset="-122"/>
              </a:rPr>
              <a:t>XmlDocument</a:t>
            </a:r>
            <a:r>
              <a:rPr lang="zh-CN" altLang="en-US" sz="2000" b="1" dirty="0" smtClean="0">
                <a:latin typeface="宋体" charset="-122"/>
              </a:rPr>
              <a:t>和</a:t>
            </a:r>
            <a:r>
              <a:rPr lang="en-US" altLang="zh-CN" sz="2000" b="1" dirty="0" err="1" smtClean="0">
                <a:latin typeface="宋体" charset="-122"/>
              </a:rPr>
              <a:t>XmlTextReader</a:t>
            </a:r>
            <a:endParaRPr lang="zh-CN" altLang="en-US" sz="2000" b="1" dirty="0" smtClean="0">
              <a:latin typeface="宋体"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blinds(horizontal)">
                                      <p:cBhvr>
                                        <p:cTn id="7" dur="500"/>
                                        <p:tgtEl>
                                          <p:spTgt spid="11267">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1267">
                                            <p:txEl>
                                              <p:pRg st="1" end="1"/>
                                            </p:txEl>
                                          </p:spTgt>
                                        </p:tgtEl>
                                        <p:attrNameLst>
                                          <p:attrName>style.visibility</p:attrName>
                                        </p:attrNameLst>
                                      </p:cBhvr>
                                      <p:to>
                                        <p:strVal val="visible"/>
                                      </p:to>
                                    </p:set>
                                    <p:animEffect transition="in" filter="blinds(horizontal)">
                                      <p:cBhvr>
                                        <p:cTn id="10" dur="500"/>
                                        <p:tgtEl>
                                          <p:spTgt spid="11267">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11267">
                                            <p:txEl>
                                              <p:pRg st="2" end="2"/>
                                            </p:txEl>
                                          </p:spTgt>
                                        </p:tgtEl>
                                        <p:attrNameLst>
                                          <p:attrName>style.visibility</p:attrName>
                                        </p:attrNameLst>
                                      </p:cBhvr>
                                      <p:to>
                                        <p:strVal val="visible"/>
                                      </p:to>
                                    </p:set>
                                    <p:animEffect transition="in" filter="box(in)">
                                      <p:cBhvr>
                                        <p:cTn id="15" dur="500"/>
                                        <p:tgtEl>
                                          <p:spTgt spid="11267">
                                            <p:txEl>
                                              <p:pRg st="2" end="2"/>
                                            </p:txEl>
                                          </p:spTgt>
                                        </p:tgtEl>
                                      </p:cBhvr>
                                    </p:animEffect>
                                  </p:childTnLst>
                                </p:cTn>
                              </p:par>
                              <p:par>
                                <p:cTn id="16" presetID="4" presetClass="entr" presetSubtype="16" fill="hold" nodeType="withEffect">
                                  <p:stCondLst>
                                    <p:cond delay="0"/>
                                  </p:stCondLst>
                                  <p:childTnLst>
                                    <p:set>
                                      <p:cBhvr>
                                        <p:cTn id="17" dur="1" fill="hold">
                                          <p:stCondLst>
                                            <p:cond delay="0"/>
                                          </p:stCondLst>
                                        </p:cTn>
                                        <p:tgtEl>
                                          <p:spTgt spid="11267">
                                            <p:txEl>
                                              <p:pRg st="3" end="3"/>
                                            </p:txEl>
                                          </p:spTgt>
                                        </p:tgtEl>
                                        <p:attrNameLst>
                                          <p:attrName>style.visibility</p:attrName>
                                        </p:attrNameLst>
                                      </p:cBhvr>
                                      <p:to>
                                        <p:strVal val="visible"/>
                                      </p:to>
                                    </p:set>
                                    <p:animEffect transition="in" filter="box(in)">
                                      <p:cBhvr>
                                        <p:cTn id="18" dur="500"/>
                                        <p:tgtEl>
                                          <p:spTgt spid="11267">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1267">
                                            <p:txEl>
                                              <p:pRg st="4" end="4"/>
                                            </p:txEl>
                                          </p:spTgt>
                                        </p:tgtEl>
                                        <p:attrNameLst>
                                          <p:attrName>style.visibility</p:attrName>
                                        </p:attrNameLst>
                                      </p:cBhvr>
                                      <p:to>
                                        <p:strVal val="visible"/>
                                      </p:to>
                                    </p:set>
                                    <p:anim calcmode="lin" valueType="num">
                                      <p:cBhvr additive="base">
                                        <p:cTn id="23" dur="500" fill="hold"/>
                                        <p:tgtEl>
                                          <p:spTgt spid="11267">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1267">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1267">
                                            <p:txEl>
                                              <p:pRg st="5" end="5"/>
                                            </p:txEl>
                                          </p:spTgt>
                                        </p:tgtEl>
                                        <p:attrNameLst>
                                          <p:attrName>style.visibility</p:attrName>
                                        </p:attrNameLst>
                                      </p:cBhvr>
                                      <p:to>
                                        <p:strVal val="visible"/>
                                      </p:to>
                                    </p:set>
                                    <p:anim calcmode="lin" valueType="num">
                                      <p:cBhvr additive="base">
                                        <p:cTn id="27" dur="500" fill="hold"/>
                                        <p:tgtEl>
                                          <p:spTgt spid="11267">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126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5" presetClass="entr" presetSubtype="10" fill="hold" nodeType="clickEffect">
                                  <p:stCondLst>
                                    <p:cond delay="0"/>
                                  </p:stCondLst>
                                  <p:childTnLst>
                                    <p:set>
                                      <p:cBhvr>
                                        <p:cTn id="32" dur="1" fill="hold">
                                          <p:stCondLst>
                                            <p:cond delay="0"/>
                                          </p:stCondLst>
                                        </p:cTn>
                                        <p:tgtEl>
                                          <p:spTgt spid="11267">
                                            <p:txEl>
                                              <p:pRg st="6" end="6"/>
                                            </p:txEl>
                                          </p:spTgt>
                                        </p:tgtEl>
                                        <p:attrNameLst>
                                          <p:attrName>style.visibility</p:attrName>
                                        </p:attrNameLst>
                                      </p:cBhvr>
                                      <p:to>
                                        <p:strVal val="visible"/>
                                      </p:to>
                                    </p:set>
                                    <p:animEffect transition="in" filter="checkerboard(across)">
                                      <p:cBhvr>
                                        <p:cTn id="33" dur="500"/>
                                        <p:tgtEl>
                                          <p:spTgt spid="11267">
                                            <p:txEl>
                                              <p:pRg st="6" end="6"/>
                                            </p:txEl>
                                          </p:spTgt>
                                        </p:tgtEl>
                                      </p:cBhvr>
                                    </p:animEffect>
                                  </p:childTnLst>
                                </p:cTn>
                              </p:par>
                              <p:par>
                                <p:cTn id="34" presetID="5" presetClass="entr" presetSubtype="10" fill="hold" nodeType="withEffect">
                                  <p:stCondLst>
                                    <p:cond delay="0"/>
                                  </p:stCondLst>
                                  <p:childTnLst>
                                    <p:set>
                                      <p:cBhvr>
                                        <p:cTn id="35" dur="1" fill="hold">
                                          <p:stCondLst>
                                            <p:cond delay="0"/>
                                          </p:stCondLst>
                                        </p:cTn>
                                        <p:tgtEl>
                                          <p:spTgt spid="11267">
                                            <p:txEl>
                                              <p:pRg st="7" end="7"/>
                                            </p:txEl>
                                          </p:spTgt>
                                        </p:tgtEl>
                                        <p:attrNameLst>
                                          <p:attrName>style.visibility</p:attrName>
                                        </p:attrNameLst>
                                      </p:cBhvr>
                                      <p:to>
                                        <p:strVal val="visible"/>
                                      </p:to>
                                    </p:set>
                                    <p:animEffect transition="in" filter="checkerboard(across)">
                                      <p:cBhvr>
                                        <p:cTn id="36" dur="500"/>
                                        <p:tgtEl>
                                          <p:spTgt spid="11267">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1267">
                                            <p:txEl>
                                              <p:pRg st="8" end="8"/>
                                            </p:txEl>
                                          </p:spTgt>
                                        </p:tgtEl>
                                        <p:attrNameLst>
                                          <p:attrName>style.visibility</p:attrName>
                                        </p:attrNameLst>
                                      </p:cBhvr>
                                      <p:to>
                                        <p:strVal val="visible"/>
                                      </p:to>
                                    </p:set>
                                    <p:anim calcmode="lin" valueType="num">
                                      <p:cBhvr additive="base">
                                        <p:cTn id="41" dur="500" fill="hold"/>
                                        <p:tgtEl>
                                          <p:spTgt spid="11267">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1267">
                                            <p:txEl>
                                              <p:pRg st="8" end="8"/>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11267">
                                            <p:txEl>
                                              <p:pRg st="9" end="9"/>
                                            </p:txEl>
                                          </p:spTgt>
                                        </p:tgtEl>
                                        <p:attrNameLst>
                                          <p:attrName>style.visibility</p:attrName>
                                        </p:attrNameLst>
                                      </p:cBhvr>
                                      <p:to>
                                        <p:strVal val="visible"/>
                                      </p:to>
                                    </p:set>
                                    <p:anim calcmode="lin" valueType="num">
                                      <p:cBhvr additive="base">
                                        <p:cTn id="45" dur="500" fill="hold"/>
                                        <p:tgtEl>
                                          <p:spTgt spid="11267">
                                            <p:txEl>
                                              <p:pRg st="9" end="9"/>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126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857356" y="188913"/>
            <a:ext cx="6600844" cy="658812"/>
          </a:xfrm>
        </p:spPr>
        <p:txBody>
          <a:bodyPr/>
          <a:lstStyle/>
          <a:p>
            <a:pPr>
              <a:defRPr/>
            </a:pPr>
            <a:r>
              <a:rPr lang="en-US" altLang="zh-CN" sz="3200" b="1" dirty="0" smtClean="0">
                <a:latin typeface="+mn-ea"/>
                <a:ea typeface="+mn-ea"/>
              </a:rPr>
              <a:t>XML</a:t>
            </a:r>
            <a:r>
              <a:rPr lang="zh-CN" altLang="en-US" sz="3200" b="1" dirty="0" smtClean="0">
                <a:latin typeface="+mn-ea"/>
                <a:ea typeface="+mn-ea"/>
              </a:rPr>
              <a:t>设计目标 </a:t>
            </a:r>
          </a:p>
        </p:txBody>
      </p:sp>
      <p:sp>
        <p:nvSpPr>
          <p:cNvPr id="9219" name="Rectangle 3"/>
          <p:cNvSpPr>
            <a:spLocks noGrp="1" noChangeArrowheads="1"/>
          </p:cNvSpPr>
          <p:nvPr>
            <p:ph idx="1"/>
          </p:nvPr>
        </p:nvSpPr>
        <p:spPr>
          <a:xfrm>
            <a:off x="1785918" y="1125538"/>
            <a:ext cx="7072362" cy="5732462"/>
          </a:xfrm>
        </p:spPr>
        <p:txBody>
          <a:bodyPr/>
          <a:lstStyle/>
          <a:p>
            <a:pPr>
              <a:defRPr/>
            </a:pPr>
            <a:r>
              <a:rPr lang="zh-CN" altLang="en-US" sz="2400" b="1" dirty="0" smtClean="0">
                <a:latin typeface="+mn-ea"/>
              </a:rPr>
              <a:t>在互联网上直接使用 </a:t>
            </a:r>
          </a:p>
          <a:p>
            <a:pPr>
              <a:defRPr/>
            </a:pPr>
            <a:r>
              <a:rPr lang="zh-CN" altLang="en-US" sz="2400" b="1" dirty="0" smtClean="0">
                <a:latin typeface="+mn-ea"/>
              </a:rPr>
              <a:t>支持各种各样的应用程序 </a:t>
            </a:r>
          </a:p>
          <a:p>
            <a:pPr>
              <a:defRPr/>
            </a:pPr>
            <a:r>
              <a:rPr lang="zh-CN" altLang="en-US" sz="2400" b="1" dirty="0" smtClean="0">
                <a:latin typeface="+mn-ea"/>
              </a:rPr>
              <a:t>与</a:t>
            </a:r>
            <a:r>
              <a:rPr lang="en-US" altLang="zh-CN" sz="2400" b="1" dirty="0" smtClean="0">
                <a:latin typeface="+mn-ea"/>
              </a:rPr>
              <a:t>SGML</a:t>
            </a:r>
            <a:r>
              <a:rPr lang="zh-CN" altLang="en-US" sz="2400" b="1" dirty="0" smtClean="0">
                <a:latin typeface="+mn-ea"/>
              </a:rPr>
              <a:t>兼容 </a:t>
            </a:r>
          </a:p>
          <a:p>
            <a:pPr>
              <a:defRPr/>
            </a:pPr>
            <a:r>
              <a:rPr lang="zh-CN" altLang="en-US" sz="2400" b="1" dirty="0" smtClean="0">
                <a:latin typeface="+mn-ea"/>
              </a:rPr>
              <a:t>应用程序应该容易编写 </a:t>
            </a:r>
          </a:p>
          <a:p>
            <a:pPr>
              <a:defRPr/>
            </a:pPr>
            <a:r>
              <a:rPr lang="zh-CN" altLang="en-US" sz="2400" b="1" dirty="0" smtClean="0">
                <a:latin typeface="+mn-ea"/>
              </a:rPr>
              <a:t>可选特性的数量应该减到最小，最好减至没有 </a:t>
            </a:r>
          </a:p>
          <a:p>
            <a:pPr>
              <a:defRPr/>
            </a:pPr>
            <a:r>
              <a:rPr lang="zh-CN" altLang="en-US" sz="2400" b="1" dirty="0" smtClean="0">
                <a:latin typeface="+mn-ea"/>
              </a:rPr>
              <a:t>良好的可读性，并且比较清晰 </a:t>
            </a:r>
          </a:p>
          <a:p>
            <a:pPr>
              <a:defRPr/>
            </a:pPr>
            <a:r>
              <a:rPr lang="zh-CN" altLang="en-US" sz="2400" b="1" dirty="0" smtClean="0">
                <a:latin typeface="+mn-ea"/>
              </a:rPr>
              <a:t>用</a:t>
            </a:r>
            <a:r>
              <a:rPr lang="en-US" altLang="zh-CN" sz="2400" b="1" dirty="0" smtClean="0">
                <a:latin typeface="+mn-ea"/>
              </a:rPr>
              <a:t>XML</a:t>
            </a:r>
            <a:r>
              <a:rPr lang="zh-CN" altLang="en-US" sz="2400" b="1" dirty="0" smtClean="0">
                <a:latin typeface="+mn-ea"/>
              </a:rPr>
              <a:t>设计新的标记语言方便快捷 </a:t>
            </a:r>
          </a:p>
          <a:p>
            <a:pPr>
              <a:defRPr/>
            </a:pPr>
            <a:r>
              <a:rPr lang="en-US" altLang="zh-CN" sz="2400" b="1" dirty="0" smtClean="0">
                <a:latin typeface="+mn-ea"/>
              </a:rPr>
              <a:t>XML</a:t>
            </a:r>
            <a:r>
              <a:rPr lang="zh-CN" altLang="en-US" sz="2400" b="1" dirty="0" smtClean="0">
                <a:latin typeface="+mn-ea"/>
              </a:rPr>
              <a:t>设计的标记语言正式、简洁 </a:t>
            </a:r>
          </a:p>
          <a:p>
            <a:pPr>
              <a:defRPr/>
            </a:pPr>
            <a:r>
              <a:rPr lang="en-US" altLang="zh-CN" sz="2400" b="1" dirty="0" smtClean="0">
                <a:latin typeface="+mn-ea"/>
              </a:rPr>
              <a:t>XML</a:t>
            </a:r>
            <a:r>
              <a:rPr lang="zh-CN" altLang="en-US" sz="2400" b="1" dirty="0" smtClean="0">
                <a:latin typeface="+mn-ea"/>
              </a:rPr>
              <a:t>文件容易创建 </a:t>
            </a:r>
          </a:p>
          <a:p>
            <a:pPr>
              <a:defRPr/>
            </a:pPr>
            <a:r>
              <a:rPr lang="en-US" altLang="zh-CN" sz="2400" b="1" dirty="0" smtClean="0">
                <a:latin typeface="+mn-ea"/>
              </a:rPr>
              <a:t>XML</a:t>
            </a:r>
            <a:r>
              <a:rPr lang="zh-CN" altLang="en-US" sz="2400" b="1" dirty="0" smtClean="0">
                <a:latin typeface="+mn-ea"/>
              </a:rPr>
              <a:t>标记的简洁性无关紧要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blinds(horizontal)">
                                      <p:cBhvr>
                                        <p:cTn id="7" dur="500"/>
                                        <p:tgtEl>
                                          <p:spTgt spid="9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9219">
                                            <p:txEl>
                                              <p:pRg st="1" end="1"/>
                                            </p:txEl>
                                          </p:spTgt>
                                        </p:tgtEl>
                                        <p:attrNameLst>
                                          <p:attrName>style.visibility</p:attrName>
                                        </p:attrNameLst>
                                      </p:cBhvr>
                                      <p:to>
                                        <p:strVal val="visible"/>
                                      </p:to>
                                    </p:set>
                                    <p:animEffect transition="in" filter="box(in)">
                                      <p:cBhvr>
                                        <p:cTn id="12" dur="500"/>
                                        <p:tgtEl>
                                          <p:spTgt spid="92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9219">
                                            <p:txEl>
                                              <p:pRg st="2" end="2"/>
                                            </p:txEl>
                                          </p:spTgt>
                                        </p:tgtEl>
                                        <p:attrNameLst>
                                          <p:attrName>style.visibility</p:attrName>
                                        </p:attrNameLst>
                                      </p:cBhvr>
                                      <p:to>
                                        <p:strVal val="visible"/>
                                      </p:to>
                                    </p:set>
                                    <p:animEffect transition="in" filter="box(in)">
                                      <p:cBhvr>
                                        <p:cTn id="17" dur="500"/>
                                        <p:tgtEl>
                                          <p:spTgt spid="92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9219">
                                            <p:txEl>
                                              <p:pRg st="3" end="3"/>
                                            </p:txEl>
                                          </p:spTgt>
                                        </p:tgtEl>
                                        <p:attrNameLst>
                                          <p:attrName>style.visibility</p:attrName>
                                        </p:attrNameLst>
                                      </p:cBhvr>
                                      <p:to>
                                        <p:strVal val="visible"/>
                                      </p:to>
                                    </p:set>
                                    <p:animEffect transition="in" filter="box(in)">
                                      <p:cBhvr>
                                        <p:cTn id="22" dur="500"/>
                                        <p:tgtEl>
                                          <p:spTgt spid="92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9219">
                                            <p:txEl>
                                              <p:pRg st="4" end="4"/>
                                            </p:txEl>
                                          </p:spTgt>
                                        </p:tgtEl>
                                        <p:attrNameLst>
                                          <p:attrName>style.visibility</p:attrName>
                                        </p:attrNameLst>
                                      </p:cBhvr>
                                      <p:to>
                                        <p:strVal val="visible"/>
                                      </p:to>
                                    </p:set>
                                    <p:anim calcmode="lin" valueType="num">
                                      <p:cBhvr additive="base">
                                        <p:cTn id="27" dur="500" fill="hold"/>
                                        <p:tgtEl>
                                          <p:spTgt spid="9219">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921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nodeType="clickEffect">
                                  <p:stCondLst>
                                    <p:cond delay="0"/>
                                  </p:stCondLst>
                                  <p:childTnLst>
                                    <p:set>
                                      <p:cBhvr>
                                        <p:cTn id="32" dur="1" fill="hold">
                                          <p:stCondLst>
                                            <p:cond delay="0"/>
                                          </p:stCondLst>
                                        </p:cTn>
                                        <p:tgtEl>
                                          <p:spTgt spid="9219">
                                            <p:txEl>
                                              <p:pRg st="5" end="5"/>
                                            </p:txEl>
                                          </p:spTgt>
                                        </p:tgtEl>
                                        <p:attrNameLst>
                                          <p:attrName>style.visibility</p:attrName>
                                        </p:attrNameLst>
                                      </p:cBhvr>
                                      <p:to>
                                        <p:strVal val="visible"/>
                                      </p:to>
                                    </p:set>
                                    <p:animEffect transition="in" filter="box(in)">
                                      <p:cBhvr>
                                        <p:cTn id="33" dur="500"/>
                                        <p:tgtEl>
                                          <p:spTgt spid="9219">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nodeType="clickEffect">
                                  <p:stCondLst>
                                    <p:cond delay="0"/>
                                  </p:stCondLst>
                                  <p:childTnLst>
                                    <p:set>
                                      <p:cBhvr>
                                        <p:cTn id="37" dur="1" fill="hold">
                                          <p:stCondLst>
                                            <p:cond delay="0"/>
                                          </p:stCondLst>
                                        </p:cTn>
                                        <p:tgtEl>
                                          <p:spTgt spid="9219">
                                            <p:txEl>
                                              <p:pRg st="6" end="6"/>
                                            </p:txEl>
                                          </p:spTgt>
                                        </p:tgtEl>
                                        <p:attrNameLst>
                                          <p:attrName>style.visibility</p:attrName>
                                        </p:attrNameLst>
                                      </p:cBhvr>
                                      <p:to>
                                        <p:strVal val="visible"/>
                                      </p:to>
                                    </p:set>
                                    <p:animEffect transition="in" filter="box(in)">
                                      <p:cBhvr>
                                        <p:cTn id="38" dur="500"/>
                                        <p:tgtEl>
                                          <p:spTgt spid="9219">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4" presetClass="entr" presetSubtype="16" fill="hold" nodeType="clickEffect">
                                  <p:stCondLst>
                                    <p:cond delay="0"/>
                                  </p:stCondLst>
                                  <p:childTnLst>
                                    <p:set>
                                      <p:cBhvr>
                                        <p:cTn id="42" dur="1" fill="hold">
                                          <p:stCondLst>
                                            <p:cond delay="0"/>
                                          </p:stCondLst>
                                        </p:cTn>
                                        <p:tgtEl>
                                          <p:spTgt spid="9219">
                                            <p:txEl>
                                              <p:pRg st="7" end="7"/>
                                            </p:txEl>
                                          </p:spTgt>
                                        </p:tgtEl>
                                        <p:attrNameLst>
                                          <p:attrName>style.visibility</p:attrName>
                                        </p:attrNameLst>
                                      </p:cBhvr>
                                      <p:to>
                                        <p:strVal val="visible"/>
                                      </p:to>
                                    </p:set>
                                    <p:animEffect transition="in" filter="box(in)">
                                      <p:cBhvr>
                                        <p:cTn id="43" dur="500"/>
                                        <p:tgtEl>
                                          <p:spTgt spid="9219">
                                            <p:txEl>
                                              <p:pRg st="7" end="7"/>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9219">
                                            <p:txEl>
                                              <p:pRg st="8" end="8"/>
                                            </p:txEl>
                                          </p:spTgt>
                                        </p:tgtEl>
                                        <p:attrNameLst>
                                          <p:attrName>style.visibility</p:attrName>
                                        </p:attrNameLst>
                                      </p:cBhvr>
                                      <p:to>
                                        <p:strVal val="visible"/>
                                      </p:to>
                                    </p:set>
                                    <p:anim calcmode="lin" valueType="num">
                                      <p:cBhvr additive="base">
                                        <p:cTn id="48" dur="500" fill="hold"/>
                                        <p:tgtEl>
                                          <p:spTgt spid="9219">
                                            <p:txEl>
                                              <p:pRg st="8" end="8"/>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9219">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5" presetClass="entr" presetSubtype="10" fill="hold" nodeType="clickEffect">
                                  <p:stCondLst>
                                    <p:cond delay="0"/>
                                  </p:stCondLst>
                                  <p:childTnLst>
                                    <p:set>
                                      <p:cBhvr>
                                        <p:cTn id="53" dur="1" fill="hold">
                                          <p:stCondLst>
                                            <p:cond delay="0"/>
                                          </p:stCondLst>
                                        </p:cTn>
                                        <p:tgtEl>
                                          <p:spTgt spid="9219">
                                            <p:txEl>
                                              <p:pRg st="9" end="9"/>
                                            </p:txEl>
                                          </p:spTgt>
                                        </p:tgtEl>
                                        <p:attrNameLst>
                                          <p:attrName>style.visibility</p:attrName>
                                        </p:attrNameLst>
                                      </p:cBhvr>
                                      <p:to>
                                        <p:strVal val="visible"/>
                                      </p:to>
                                    </p:set>
                                    <p:animEffect transition="in" filter="checkerboard(across)">
                                      <p:cBhvr>
                                        <p:cTn id="54" dur="500"/>
                                        <p:tgtEl>
                                          <p:spTgt spid="921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r>
              <a:rPr lang="zh-CN" altLang="en-US" sz="3200" b="1" dirty="0" smtClean="0">
                <a:latin typeface="+mj-ea"/>
              </a:rPr>
              <a:t>开发</a:t>
            </a:r>
            <a:r>
              <a:rPr lang="en-US" altLang="zh-CN" sz="3200" b="1" dirty="0" smtClean="0">
                <a:latin typeface="+mj-ea"/>
              </a:rPr>
              <a:t>XML</a:t>
            </a:r>
            <a:r>
              <a:rPr lang="zh-CN" altLang="en-US" sz="3200" b="1" dirty="0" smtClean="0">
                <a:latin typeface="+mj-ea"/>
              </a:rPr>
              <a:t>应用的步骤</a:t>
            </a:r>
          </a:p>
        </p:txBody>
      </p:sp>
      <p:sp>
        <p:nvSpPr>
          <p:cNvPr id="16387" name="内容占位符 2"/>
          <p:cNvSpPr>
            <a:spLocks noGrp="1"/>
          </p:cNvSpPr>
          <p:nvPr>
            <p:ph idx="1"/>
          </p:nvPr>
        </p:nvSpPr>
        <p:spPr>
          <a:xfrm>
            <a:off x="1785918" y="1500174"/>
            <a:ext cx="6900862" cy="4686300"/>
          </a:xfrm>
        </p:spPr>
        <p:txBody>
          <a:bodyPr/>
          <a:lstStyle/>
          <a:p>
            <a:r>
              <a:rPr lang="zh-CN" altLang="en-US" sz="2800" b="1" dirty="0" smtClean="0">
                <a:latin typeface="+mn-ea"/>
              </a:rPr>
              <a:t>考察应用场景，确定是否使用</a:t>
            </a:r>
            <a:r>
              <a:rPr lang="en-US" altLang="zh-CN" sz="2800" b="1" dirty="0" smtClean="0">
                <a:latin typeface="+mn-ea"/>
              </a:rPr>
              <a:t>XML</a:t>
            </a:r>
          </a:p>
          <a:p>
            <a:r>
              <a:rPr lang="zh-CN" altLang="en-US" sz="2800" b="1" dirty="0" smtClean="0">
                <a:latin typeface="+mn-ea"/>
              </a:rPr>
              <a:t>设计系统架构和工作流程</a:t>
            </a:r>
            <a:endParaRPr lang="en-US" altLang="zh-CN" sz="2800" b="1" dirty="0" smtClean="0">
              <a:latin typeface="+mn-ea"/>
            </a:endParaRPr>
          </a:p>
          <a:p>
            <a:r>
              <a:rPr lang="zh-CN" altLang="en-US" sz="2800" b="1" dirty="0" smtClean="0">
                <a:latin typeface="+mn-ea"/>
              </a:rPr>
              <a:t>设计</a:t>
            </a:r>
            <a:r>
              <a:rPr lang="en-US" altLang="zh-CN" sz="2800" b="1" dirty="0" smtClean="0">
                <a:latin typeface="+mn-ea"/>
              </a:rPr>
              <a:t>XML</a:t>
            </a:r>
            <a:r>
              <a:rPr lang="zh-CN" altLang="en-US" sz="2800" b="1" dirty="0" smtClean="0">
                <a:latin typeface="+mn-ea"/>
              </a:rPr>
              <a:t>文档中使用的标签（语汇集）</a:t>
            </a:r>
            <a:endParaRPr lang="en-US" altLang="zh-CN" sz="2800" b="1" dirty="0" smtClean="0">
              <a:latin typeface="+mn-ea"/>
            </a:endParaRPr>
          </a:p>
          <a:p>
            <a:r>
              <a:rPr lang="zh-CN" altLang="en-US" sz="2800" b="1" dirty="0" smtClean="0">
                <a:latin typeface="+mn-ea"/>
              </a:rPr>
              <a:t>根据语汇集开发处理</a:t>
            </a:r>
            <a:r>
              <a:rPr lang="en-US" altLang="zh-CN" sz="2800" b="1" dirty="0" smtClean="0">
                <a:latin typeface="+mn-ea"/>
              </a:rPr>
              <a:t>XML</a:t>
            </a:r>
            <a:r>
              <a:rPr lang="zh-CN" altLang="en-US" sz="2800" b="1" dirty="0" smtClean="0">
                <a:latin typeface="+mn-ea"/>
              </a:rPr>
              <a:t>文档的应用程序</a:t>
            </a:r>
            <a:endParaRPr lang="en-US" altLang="zh-CN" sz="2800" b="1" dirty="0" smtClean="0">
              <a:latin typeface="+mn-ea"/>
            </a:endParaRPr>
          </a:p>
          <a:p>
            <a:r>
              <a:rPr lang="zh-CN" altLang="en-US" sz="2800" b="1" dirty="0" smtClean="0">
                <a:latin typeface="+mn-ea"/>
              </a:rPr>
              <a:t>特定场景下（如网站发布）还需要编写</a:t>
            </a:r>
            <a:r>
              <a:rPr lang="en-US" altLang="zh-CN" sz="2800" b="1" dirty="0" smtClean="0">
                <a:latin typeface="+mn-ea"/>
              </a:rPr>
              <a:t>XSLT</a:t>
            </a:r>
            <a:r>
              <a:rPr lang="zh-CN" altLang="en-US" sz="2800" b="1" dirty="0" smtClean="0">
                <a:latin typeface="+mn-ea"/>
              </a:rPr>
              <a:t>文档以转换</a:t>
            </a:r>
            <a:r>
              <a:rPr lang="en-US" altLang="zh-CN" sz="2800" b="1" dirty="0" smtClean="0">
                <a:latin typeface="+mn-ea"/>
              </a:rPr>
              <a:t>XML</a:t>
            </a:r>
            <a:r>
              <a:rPr lang="zh-CN" altLang="en-US" sz="2800" b="1" dirty="0" smtClean="0">
                <a:latin typeface="+mn-ea"/>
              </a:rPr>
              <a:t>文档生成目标数据</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a:r>
              <a:rPr lang="en-US" sz="3200" b="1" dirty="0" smtClean="0">
                <a:latin typeface="+mj-ea"/>
              </a:rPr>
              <a:t>XML</a:t>
            </a:r>
            <a:r>
              <a:rPr lang="zh-CN" altLang="en-US" sz="3200" b="1" dirty="0" smtClean="0">
                <a:latin typeface="+mj-ea"/>
              </a:rPr>
              <a:t>的缺点</a:t>
            </a:r>
            <a:endParaRPr lang="zh-CN" altLang="en-US" sz="3200" dirty="0">
              <a:latin typeface="+mj-ea"/>
            </a:endParaRPr>
          </a:p>
        </p:txBody>
      </p:sp>
      <p:sp>
        <p:nvSpPr>
          <p:cNvPr id="3" name="内容占位符 2"/>
          <p:cNvSpPr>
            <a:spLocks noGrp="1"/>
          </p:cNvSpPr>
          <p:nvPr>
            <p:ph idx="1"/>
          </p:nvPr>
        </p:nvSpPr>
        <p:spPr/>
        <p:txBody>
          <a:bodyPr>
            <a:normAutofit/>
          </a:bodyPr>
          <a:lstStyle/>
          <a:p>
            <a:pPr lvl="0"/>
            <a:r>
              <a:rPr lang="en-US" sz="2800" b="1" dirty="0" err="1" smtClean="0">
                <a:latin typeface="+mn-ea"/>
              </a:rPr>
              <a:t>结构不够紧凑</a:t>
            </a:r>
            <a:endParaRPr lang="en-US" sz="2800" b="1" dirty="0" smtClean="0">
              <a:latin typeface="+mn-ea"/>
            </a:endParaRPr>
          </a:p>
          <a:p>
            <a:pPr lvl="1"/>
            <a:r>
              <a:rPr lang="zh-CN" altLang="en-US" sz="2400" b="1" dirty="0" smtClean="0">
                <a:latin typeface="+mn-ea"/>
              </a:rPr>
              <a:t>传统的二进制文档</a:t>
            </a:r>
          </a:p>
          <a:p>
            <a:pPr fontAlgn="base"/>
            <a:r>
              <a:rPr lang="en-US" sz="2800" b="1" dirty="0" err="1" smtClean="0">
                <a:latin typeface="+mn-ea"/>
              </a:rPr>
              <a:t>性能较低</a:t>
            </a:r>
            <a:endParaRPr lang="zh-CN" altLang="en-US" sz="2800" b="1" dirty="0" smtClean="0">
              <a:latin typeface="+mn-ea"/>
            </a:endParaRPr>
          </a:p>
          <a:p>
            <a:pPr lvl="1"/>
            <a:r>
              <a:rPr lang="zh-CN" altLang="en-US" sz="2400" b="1" dirty="0" smtClean="0">
                <a:latin typeface="+mn-ea"/>
              </a:rPr>
              <a:t>额外的文档分析过程</a:t>
            </a:r>
            <a:endParaRPr lang="en-US" altLang="zh-CN" sz="2400" b="1" dirty="0" smtClean="0">
              <a:latin typeface="+mn-ea"/>
            </a:endParaRPr>
          </a:p>
          <a:p>
            <a:pPr lvl="1"/>
            <a:r>
              <a:rPr lang="zh-CN" altLang="en-US" sz="2400" b="1" dirty="0" smtClean="0">
                <a:latin typeface="+mn-ea"/>
              </a:rPr>
              <a:t>更多的存储空间</a:t>
            </a:r>
            <a:endParaRPr lang="en-US" altLang="zh-CN" sz="2400" b="1" dirty="0" smtClean="0">
              <a:latin typeface="+mn-ea"/>
            </a:endParaRPr>
          </a:p>
          <a:p>
            <a:pPr lvl="1"/>
            <a:r>
              <a:rPr lang="zh-CN" altLang="en-US" sz="2400" b="1" dirty="0" smtClean="0">
                <a:latin typeface="+mn-ea"/>
              </a:rPr>
              <a:t>读写</a:t>
            </a:r>
            <a:r>
              <a:rPr lang="en-US" altLang="en-US" sz="2400" b="1" dirty="0" smtClean="0">
                <a:latin typeface="+mn-ea"/>
              </a:rPr>
              <a:t>XML</a:t>
            </a:r>
            <a:r>
              <a:rPr lang="zh-CN" altLang="en-US" sz="2400" b="1" dirty="0" smtClean="0">
                <a:latin typeface="+mn-ea"/>
              </a:rPr>
              <a:t>文档需要执行更多的输入输出操作</a:t>
            </a:r>
            <a:endParaRPr lang="en-US" altLang="zh-CN" sz="2400" b="1" dirty="0" smtClean="0">
              <a:latin typeface="+mn-ea"/>
            </a:endParaRPr>
          </a:p>
          <a:p>
            <a:pPr lvl="1"/>
            <a:r>
              <a:rPr lang="zh-CN" altLang="en-US" sz="2400" b="1" dirty="0" smtClean="0">
                <a:latin typeface="+mn-ea"/>
              </a:rPr>
              <a:t>缺少索引机制，大量数据读取和更新的效率比数据库操作低很多</a:t>
            </a:r>
            <a:endParaRPr lang="en-US" altLang="zh-CN" sz="2400" b="1" dirty="0" smtClean="0">
              <a:latin typeface="+mn-ea"/>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928794" y="260350"/>
            <a:ext cx="6300806" cy="815975"/>
          </a:xfrm>
        </p:spPr>
        <p:txBody>
          <a:bodyPr/>
          <a:lstStyle/>
          <a:p>
            <a:pPr marL="609600" indent="-609600">
              <a:defRPr/>
            </a:pPr>
            <a:r>
              <a:rPr lang="en-US" altLang="zh-CN" sz="3200" b="1" dirty="0" smtClean="0">
                <a:solidFill>
                  <a:schemeClr val="tx1"/>
                </a:solidFill>
                <a:latin typeface="+mn-ea"/>
                <a:ea typeface="+mn-ea"/>
              </a:rPr>
              <a:t>XML</a:t>
            </a:r>
            <a:r>
              <a:rPr lang="zh-CN" altLang="en-US" sz="3200" b="1" dirty="0" smtClean="0">
                <a:solidFill>
                  <a:schemeClr val="tx1"/>
                </a:solidFill>
                <a:latin typeface="+mn-ea"/>
                <a:ea typeface="+mn-ea"/>
              </a:rPr>
              <a:t>应用实例</a:t>
            </a:r>
          </a:p>
        </p:txBody>
      </p:sp>
      <p:sp>
        <p:nvSpPr>
          <p:cNvPr id="16389" name="Rectangle 6"/>
          <p:cNvSpPr>
            <a:spLocks noChangeArrowheads="1"/>
          </p:cNvSpPr>
          <p:nvPr/>
        </p:nvSpPr>
        <p:spPr bwMode="auto">
          <a:xfrm>
            <a:off x="1857356" y="1752600"/>
            <a:ext cx="6524644" cy="3581400"/>
          </a:xfrm>
          <a:prstGeom prst="rect">
            <a:avLst/>
          </a:prstGeom>
          <a:noFill/>
          <a:ln w="9525">
            <a:noFill/>
            <a:miter lim="800000"/>
            <a:headEnd/>
            <a:tailEnd/>
          </a:ln>
        </p:spPr>
        <p:txBody>
          <a:bodyPr/>
          <a:lstStyle/>
          <a:p>
            <a:pPr marL="342900" indent="-342900" eaLnBrk="1" hangingPunct="1">
              <a:lnSpc>
                <a:spcPct val="90000"/>
              </a:lnSpc>
              <a:spcBef>
                <a:spcPct val="20000"/>
              </a:spcBef>
              <a:buFontTx/>
              <a:buChar char="•"/>
            </a:pPr>
            <a:r>
              <a:rPr lang="zh-CN" altLang="en-US" sz="2800" dirty="0">
                <a:latin typeface="+mn-ea"/>
              </a:rPr>
              <a:t>为置标语言</a:t>
            </a:r>
            <a:r>
              <a:rPr lang="en-US" altLang="zh-CN" sz="2800" dirty="0">
                <a:latin typeface="+mn-ea"/>
              </a:rPr>
              <a:t>FCLML</a:t>
            </a:r>
            <a:r>
              <a:rPr lang="zh-CN" altLang="en-US" sz="2800" dirty="0">
                <a:latin typeface="+mn-ea"/>
              </a:rPr>
              <a:t>公司的客户列表置表语言制定的，文档类型定义</a:t>
            </a:r>
            <a:r>
              <a:rPr lang="en-US" altLang="zh-CN" sz="2800" dirty="0">
                <a:latin typeface="+mn-ea"/>
              </a:rPr>
              <a:t>DTD</a:t>
            </a:r>
            <a:r>
              <a:rPr lang="zh-CN" altLang="en-US" sz="2800" dirty="0">
                <a:latin typeface="+mn-ea"/>
              </a:rPr>
              <a:t>，其程序为</a:t>
            </a:r>
            <a:r>
              <a:rPr lang="en-US" altLang="zh-CN" sz="2800" dirty="0" smtClean="0">
                <a:latin typeface="+mn-ea"/>
                <a:hlinkClick r:id="rId2" action="ppaction://hlinksldjump"/>
              </a:rPr>
              <a:t>fclml.dtd</a:t>
            </a:r>
            <a:endParaRPr lang="zh-CN" altLang="en-US" sz="2800" dirty="0">
              <a:latin typeface="+mn-ea"/>
            </a:endParaRPr>
          </a:p>
          <a:p>
            <a:pPr marL="342900" indent="-342900" eaLnBrk="1" hangingPunct="1">
              <a:lnSpc>
                <a:spcPct val="90000"/>
              </a:lnSpc>
              <a:spcBef>
                <a:spcPct val="20000"/>
              </a:spcBef>
              <a:buFontTx/>
              <a:buChar char="•"/>
            </a:pPr>
            <a:r>
              <a:rPr lang="zh-CN" altLang="en-US" sz="2800" dirty="0">
                <a:latin typeface="+mn-ea"/>
              </a:rPr>
              <a:t>客户联系信息的</a:t>
            </a:r>
            <a:r>
              <a:rPr lang="en-US" altLang="zh-CN" sz="2800" dirty="0">
                <a:latin typeface="+mn-ea"/>
              </a:rPr>
              <a:t>XML</a:t>
            </a:r>
            <a:r>
              <a:rPr lang="zh-CN" altLang="en-US" sz="2800" dirty="0">
                <a:latin typeface="+mn-ea"/>
              </a:rPr>
              <a:t>文档</a:t>
            </a:r>
            <a:r>
              <a:rPr lang="en-US" altLang="zh-CN" sz="2800" dirty="0" smtClean="0">
                <a:latin typeface="+mn-ea"/>
                <a:hlinkClick r:id="rId3" action="ppaction://hlinksldjump"/>
              </a:rPr>
              <a:t>Client.xml</a:t>
            </a:r>
            <a:endParaRPr lang="zh-CN" altLang="en-US" sz="2800" dirty="0">
              <a:latin typeface="+mn-ea"/>
            </a:endParaRPr>
          </a:p>
          <a:p>
            <a:pPr marL="342900" indent="-342900" eaLnBrk="1" hangingPunct="1">
              <a:lnSpc>
                <a:spcPct val="90000"/>
              </a:lnSpc>
              <a:spcBef>
                <a:spcPct val="20000"/>
              </a:spcBef>
              <a:buFontTx/>
              <a:buChar char="•"/>
            </a:pPr>
            <a:r>
              <a:rPr lang="zh-CN" altLang="en-US" sz="2800" dirty="0">
                <a:latin typeface="+mn-ea"/>
              </a:rPr>
              <a:t>为</a:t>
            </a:r>
            <a:r>
              <a:rPr lang="en-US" altLang="zh-CN" sz="2800" dirty="0">
                <a:latin typeface="+mn-ea"/>
              </a:rPr>
              <a:t>client.xml</a:t>
            </a:r>
            <a:r>
              <a:rPr lang="zh-CN" altLang="en-US" sz="2800" dirty="0">
                <a:latin typeface="+mn-ea"/>
              </a:rPr>
              <a:t>制定一个样式</a:t>
            </a:r>
            <a:r>
              <a:rPr lang="en-US" altLang="zh-CN" sz="2800" dirty="0" smtClean="0">
                <a:latin typeface="+mn-ea"/>
                <a:hlinkClick r:id="rId4" action="ppaction://hlinksldjump"/>
              </a:rPr>
              <a:t>Mystyle.xsl</a:t>
            </a:r>
            <a:endParaRPr lang="zh-CN" altLang="en-US" sz="2800" dirty="0">
              <a:latin typeface="+mn-ea"/>
            </a:endParaRPr>
          </a:p>
          <a:p>
            <a:pPr marL="342900" indent="-342900">
              <a:lnSpc>
                <a:spcPct val="90000"/>
              </a:lnSpc>
              <a:spcBef>
                <a:spcPct val="20000"/>
              </a:spcBef>
              <a:buFontTx/>
              <a:buChar char="•"/>
            </a:pPr>
            <a:r>
              <a:rPr lang="en-US" altLang="zh-CN" sz="2800" dirty="0">
                <a:latin typeface="+mn-ea"/>
              </a:rPr>
              <a:t>Html</a:t>
            </a:r>
            <a:r>
              <a:rPr lang="zh-CN" altLang="en-US" sz="2800" dirty="0">
                <a:latin typeface="+mn-ea"/>
                <a:hlinkClick r:id="rId5" action="ppaction://hlinksldjump"/>
              </a:rPr>
              <a:t>格式</a:t>
            </a:r>
            <a:r>
              <a:rPr lang="zh-CN" altLang="en-US" sz="2800" dirty="0" smtClean="0">
                <a:latin typeface="+mn-ea"/>
              </a:rPr>
              <a:t>及</a:t>
            </a:r>
            <a:r>
              <a:rPr lang="zh-CN" altLang="en-US" sz="2800" b="1" dirty="0" smtClean="0">
                <a:latin typeface="+mn-ea"/>
                <a:hlinkClick r:id="rId6" action="ppaction://hlinksldjump"/>
              </a:rPr>
              <a:t>显示</a:t>
            </a:r>
            <a:endParaRPr lang="zh-CN" altLang="en-US" sz="2800"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389">
                                            <p:txEl>
                                              <p:pRg st="0" end="0"/>
                                            </p:txEl>
                                          </p:spTgt>
                                        </p:tgtEl>
                                        <p:attrNameLst>
                                          <p:attrName>style.visibility</p:attrName>
                                        </p:attrNameLst>
                                      </p:cBhvr>
                                      <p:to>
                                        <p:strVal val="visible"/>
                                      </p:to>
                                    </p:set>
                                    <p:animEffect transition="in" filter="blinds(horizontal)">
                                      <p:cBhvr>
                                        <p:cTn id="7" dur="500"/>
                                        <p:tgtEl>
                                          <p:spTgt spid="1638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6389">
                                            <p:txEl>
                                              <p:pRg st="1" end="1"/>
                                            </p:txEl>
                                          </p:spTgt>
                                        </p:tgtEl>
                                        <p:attrNameLst>
                                          <p:attrName>style.visibility</p:attrName>
                                        </p:attrNameLst>
                                      </p:cBhvr>
                                      <p:to>
                                        <p:strVal val="visible"/>
                                      </p:to>
                                    </p:set>
                                    <p:anim calcmode="lin" valueType="num">
                                      <p:cBhvr additive="base">
                                        <p:cTn id="12" dur="500" fill="hold"/>
                                        <p:tgtEl>
                                          <p:spTgt spid="16389">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638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nodeType="clickEffect">
                                  <p:stCondLst>
                                    <p:cond delay="0"/>
                                  </p:stCondLst>
                                  <p:childTnLst>
                                    <p:set>
                                      <p:cBhvr>
                                        <p:cTn id="17" dur="1" fill="hold">
                                          <p:stCondLst>
                                            <p:cond delay="0"/>
                                          </p:stCondLst>
                                        </p:cTn>
                                        <p:tgtEl>
                                          <p:spTgt spid="16389">
                                            <p:txEl>
                                              <p:pRg st="2" end="2"/>
                                            </p:txEl>
                                          </p:spTgt>
                                        </p:tgtEl>
                                        <p:attrNameLst>
                                          <p:attrName>style.visibility</p:attrName>
                                        </p:attrNameLst>
                                      </p:cBhvr>
                                      <p:to>
                                        <p:strVal val="visible"/>
                                      </p:to>
                                    </p:set>
                                    <p:animEffect transition="in" filter="checkerboard(across)">
                                      <p:cBhvr>
                                        <p:cTn id="18" dur="500"/>
                                        <p:tgtEl>
                                          <p:spTgt spid="1638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16389">
                                            <p:txEl>
                                              <p:pRg st="3" end="3"/>
                                            </p:txEl>
                                          </p:spTgt>
                                        </p:tgtEl>
                                        <p:attrNameLst>
                                          <p:attrName>style.visibility</p:attrName>
                                        </p:attrNameLst>
                                      </p:cBhvr>
                                      <p:to>
                                        <p:strVal val="visible"/>
                                      </p:to>
                                    </p:set>
                                    <p:animEffect transition="in" filter="box(in)">
                                      <p:cBhvr>
                                        <p:cTn id="23" dur="500"/>
                                        <p:tgtEl>
                                          <p:spTgt spid="1638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027"/>
          <p:cNvSpPr>
            <a:spLocks noGrp="1" noChangeArrowheads="1"/>
          </p:cNvSpPr>
          <p:nvPr>
            <p:ph type="title"/>
          </p:nvPr>
        </p:nvSpPr>
        <p:spPr>
          <a:xfrm>
            <a:off x="2484438" y="188913"/>
            <a:ext cx="3967162" cy="647700"/>
          </a:xfrm>
        </p:spPr>
        <p:txBody>
          <a:bodyPr/>
          <a:lstStyle/>
          <a:p>
            <a:pPr marL="342900" indent="-342900">
              <a:spcBef>
                <a:spcPct val="20000"/>
              </a:spcBef>
            </a:pPr>
            <a:r>
              <a:rPr lang="en-US" altLang="zh-CN" sz="3200" b="1" dirty="0" smtClean="0">
                <a:latin typeface="+mj-ea"/>
              </a:rPr>
              <a:t>Fclml.dtd</a:t>
            </a:r>
            <a:endParaRPr lang="en-US" altLang="zh-CN" sz="3200" b="1" dirty="0">
              <a:latin typeface="+mj-ea"/>
            </a:endParaRPr>
          </a:p>
        </p:txBody>
      </p:sp>
      <p:sp>
        <p:nvSpPr>
          <p:cNvPr id="18435" name="AutoShape 1028">
            <a:hlinkClick r:id="" action="ppaction://noaction" highlightClick="1"/>
          </p:cNvPr>
          <p:cNvSpPr>
            <a:spLocks noChangeArrowheads="1"/>
          </p:cNvSpPr>
          <p:nvPr/>
        </p:nvSpPr>
        <p:spPr bwMode="auto">
          <a:xfrm>
            <a:off x="7620000" y="381000"/>
            <a:ext cx="1143000" cy="457200"/>
          </a:xfrm>
          <a:prstGeom prst="actionButtonBlank">
            <a:avLst/>
          </a:prstGeom>
          <a:noFill/>
          <a:ln w="9525">
            <a:noFill/>
            <a:miter lim="800000"/>
            <a:headEnd/>
            <a:tailEnd/>
          </a:ln>
        </p:spPr>
        <p:txBody>
          <a:bodyPr wrap="none" anchor="ctr"/>
          <a:lstStyle/>
          <a:p>
            <a:pPr algn="ctr" eaLnBrk="1" hangingPunct="1">
              <a:spcBef>
                <a:spcPct val="20000"/>
              </a:spcBef>
              <a:buClr>
                <a:srgbClr val="0427FE"/>
              </a:buClr>
              <a:buFont typeface="Wingdings" pitchFamily="2" charset="2"/>
              <a:buNone/>
            </a:pPr>
            <a:r>
              <a:rPr lang="zh-CN" altLang="en-US" dirty="0">
                <a:ea typeface="楷体_GB2312" pitchFamily="49" charset="-122"/>
                <a:hlinkClick r:id="rId2" action="ppaction://hlinksldjump"/>
              </a:rPr>
              <a:t>返回</a:t>
            </a:r>
            <a:endParaRPr lang="zh-CN" altLang="en-US" dirty="0">
              <a:ea typeface="楷体_GB2312" pitchFamily="49" charset="-122"/>
            </a:endParaRPr>
          </a:p>
        </p:txBody>
      </p:sp>
      <p:sp>
        <p:nvSpPr>
          <p:cNvPr id="18436" name="Rectangle 1029"/>
          <p:cNvSpPr>
            <a:spLocks noChangeArrowheads="1"/>
          </p:cNvSpPr>
          <p:nvPr/>
        </p:nvSpPr>
        <p:spPr bwMode="auto">
          <a:xfrm>
            <a:off x="2000232" y="1214422"/>
            <a:ext cx="6396038" cy="5067300"/>
          </a:xfrm>
          <a:prstGeom prst="rect">
            <a:avLst/>
          </a:prstGeom>
          <a:noFill/>
          <a:ln w="9525">
            <a:noFill/>
            <a:miter lim="800000"/>
            <a:headEnd/>
            <a:tailEnd/>
          </a:ln>
        </p:spPr>
        <p:txBody>
          <a:bodyPr/>
          <a:lstStyle/>
          <a:p>
            <a:pPr marL="342900" indent="-342900" eaLnBrk="1" hangingPunct="1">
              <a:spcBef>
                <a:spcPct val="20000"/>
              </a:spcBef>
            </a:pPr>
            <a:endParaRPr lang="en-US" altLang="zh-CN" b="1" dirty="0">
              <a:solidFill>
                <a:schemeClr val="hlink"/>
              </a:solidFill>
              <a:latin typeface="Verdana" pitchFamily="34" charset="0"/>
            </a:endParaRPr>
          </a:p>
          <a:p>
            <a:pPr marL="342900" indent="-342900" eaLnBrk="1" hangingPunct="1">
              <a:spcBef>
                <a:spcPct val="20000"/>
              </a:spcBef>
            </a:pPr>
            <a:r>
              <a:rPr lang="zh-CN" altLang="en-US" b="1" dirty="0">
                <a:latin typeface="Verdana" pitchFamily="34" charset="0"/>
              </a:rPr>
              <a:t>＜</a:t>
            </a:r>
            <a:r>
              <a:rPr lang="en-US" altLang="zh-CN" b="1" dirty="0">
                <a:latin typeface="Verdana" pitchFamily="34" charset="0"/>
              </a:rPr>
              <a:t>? xml version=“1.0” encoding=“GB2312”? </a:t>
            </a:r>
            <a:r>
              <a:rPr lang="zh-CN" altLang="en-US" b="1" dirty="0">
                <a:latin typeface="Verdana" pitchFamily="34" charset="0"/>
              </a:rPr>
              <a:t>＞</a:t>
            </a:r>
          </a:p>
          <a:p>
            <a:pPr marL="342900" indent="-342900" eaLnBrk="1" hangingPunct="1">
              <a:spcBef>
                <a:spcPct val="20000"/>
              </a:spcBef>
            </a:pPr>
            <a:endParaRPr lang="zh-CN" altLang="en-US" b="1" dirty="0">
              <a:latin typeface="Verdana" pitchFamily="34" charset="0"/>
            </a:endParaRPr>
          </a:p>
          <a:p>
            <a:pPr marL="342900" indent="-342900" eaLnBrk="1" hangingPunct="1">
              <a:spcBef>
                <a:spcPct val="20000"/>
              </a:spcBef>
            </a:pPr>
            <a:r>
              <a:rPr lang="zh-CN" altLang="en-US" b="1" dirty="0">
                <a:latin typeface="Verdana" pitchFamily="34" charset="0"/>
              </a:rPr>
              <a:t>＜</a:t>
            </a:r>
            <a:r>
              <a:rPr lang="en-US" altLang="zh-CN" b="1" dirty="0">
                <a:latin typeface="Verdana" pitchFamily="34" charset="0"/>
              </a:rPr>
              <a:t>!ELEMENT </a:t>
            </a:r>
            <a:r>
              <a:rPr lang="zh-CN" altLang="en-US" b="1" dirty="0">
                <a:latin typeface="Verdana" pitchFamily="34" charset="0"/>
              </a:rPr>
              <a:t>联系人列表</a:t>
            </a:r>
            <a:r>
              <a:rPr lang="en-US" altLang="zh-CN" b="1" dirty="0">
                <a:latin typeface="Verdana" pitchFamily="34" charset="0"/>
              </a:rPr>
              <a:t>(</a:t>
            </a:r>
            <a:r>
              <a:rPr lang="zh-CN" altLang="en-US" b="1" dirty="0">
                <a:latin typeface="Verdana" pitchFamily="34" charset="0"/>
              </a:rPr>
              <a:t>联系人</a:t>
            </a:r>
            <a:r>
              <a:rPr lang="en-US" altLang="zh-CN" b="1" dirty="0">
                <a:latin typeface="Verdana" pitchFamily="34" charset="0"/>
              </a:rPr>
              <a:t>)*</a:t>
            </a:r>
            <a:r>
              <a:rPr lang="zh-CN" altLang="en-US" b="1" dirty="0">
                <a:latin typeface="Verdana" pitchFamily="34" charset="0"/>
              </a:rPr>
              <a:t>＞</a:t>
            </a:r>
          </a:p>
          <a:p>
            <a:pPr marL="342900" indent="-342900" eaLnBrk="1" hangingPunct="1">
              <a:spcBef>
                <a:spcPct val="20000"/>
              </a:spcBef>
            </a:pPr>
            <a:r>
              <a:rPr lang="zh-CN" altLang="en-US" b="1" dirty="0">
                <a:latin typeface="Verdana" pitchFamily="34" charset="0"/>
              </a:rPr>
              <a:t>＜</a:t>
            </a:r>
            <a:r>
              <a:rPr lang="en-US" altLang="zh-CN" b="1" dirty="0">
                <a:latin typeface="Verdana" pitchFamily="34" charset="0"/>
              </a:rPr>
              <a:t>!ELEMENT </a:t>
            </a:r>
            <a:r>
              <a:rPr lang="zh-CN" altLang="en-US" b="1" dirty="0">
                <a:latin typeface="Verdana" pitchFamily="34" charset="0"/>
              </a:rPr>
              <a:t>联系人</a:t>
            </a:r>
            <a:r>
              <a:rPr lang="en-US" altLang="zh-CN" b="1" dirty="0">
                <a:latin typeface="Verdana" pitchFamily="34" charset="0"/>
              </a:rPr>
              <a:t>(</a:t>
            </a:r>
            <a:r>
              <a:rPr lang="zh-CN" altLang="en-US" b="1" dirty="0">
                <a:latin typeface="Verdana" pitchFamily="34" charset="0"/>
              </a:rPr>
              <a:t>姓名，</a:t>
            </a:r>
            <a:r>
              <a:rPr lang="en-US" altLang="zh-CN" b="1" dirty="0">
                <a:latin typeface="Verdana" pitchFamily="34" charset="0"/>
              </a:rPr>
              <a:t>ID</a:t>
            </a:r>
            <a:r>
              <a:rPr lang="zh-CN" altLang="en-US" b="1" dirty="0">
                <a:latin typeface="Verdana" pitchFamily="34" charset="0"/>
              </a:rPr>
              <a:t>，公司，</a:t>
            </a:r>
            <a:r>
              <a:rPr lang="en-US" altLang="zh-CN" b="1" dirty="0">
                <a:latin typeface="Verdana" pitchFamily="34" charset="0"/>
              </a:rPr>
              <a:t>EMAIL</a:t>
            </a:r>
            <a:r>
              <a:rPr lang="zh-CN" altLang="en-US" b="1" dirty="0">
                <a:latin typeface="Verdana" pitchFamily="34" charset="0"/>
              </a:rPr>
              <a:t>，电话，地址</a:t>
            </a:r>
            <a:r>
              <a:rPr lang="en-US" altLang="zh-CN" b="1" dirty="0">
                <a:latin typeface="Verdana" pitchFamily="34" charset="0"/>
              </a:rPr>
              <a:t>)</a:t>
            </a:r>
            <a:r>
              <a:rPr lang="zh-CN" altLang="en-US" b="1" dirty="0">
                <a:latin typeface="Verdana" pitchFamily="34" charset="0"/>
              </a:rPr>
              <a:t>＞</a:t>
            </a:r>
          </a:p>
          <a:p>
            <a:pPr marL="342900" indent="-342900" eaLnBrk="1" hangingPunct="1">
              <a:spcBef>
                <a:spcPct val="20000"/>
              </a:spcBef>
            </a:pPr>
            <a:r>
              <a:rPr lang="zh-CN" altLang="en-US" b="1" dirty="0">
                <a:latin typeface="Verdana" pitchFamily="34" charset="0"/>
              </a:rPr>
              <a:t>＜</a:t>
            </a:r>
            <a:r>
              <a:rPr lang="en-US" altLang="zh-CN" b="1" dirty="0">
                <a:latin typeface="Verdana" pitchFamily="34" charset="0"/>
              </a:rPr>
              <a:t>!ELEMENT </a:t>
            </a:r>
            <a:r>
              <a:rPr lang="zh-CN" altLang="en-US" b="1" dirty="0">
                <a:latin typeface="Verdana" pitchFamily="34" charset="0"/>
              </a:rPr>
              <a:t>地址</a:t>
            </a:r>
            <a:r>
              <a:rPr lang="en-US" altLang="zh-CN" b="1" dirty="0">
                <a:latin typeface="Verdana" pitchFamily="34" charset="0"/>
              </a:rPr>
              <a:t>(</a:t>
            </a:r>
            <a:r>
              <a:rPr lang="zh-CN" altLang="en-US" b="1" dirty="0">
                <a:latin typeface="Verdana" pitchFamily="34" charset="0"/>
              </a:rPr>
              <a:t>街道，城市，省份</a:t>
            </a:r>
            <a:r>
              <a:rPr lang="en-US" altLang="zh-CN" b="1" dirty="0">
                <a:latin typeface="Verdana" pitchFamily="34" charset="0"/>
              </a:rPr>
              <a:t>)</a:t>
            </a:r>
            <a:r>
              <a:rPr lang="zh-CN" altLang="en-US" b="1" dirty="0">
                <a:latin typeface="Verdana" pitchFamily="34" charset="0"/>
              </a:rPr>
              <a:t>＞</a:t>
            </a:r>
          </a:p>
          <a:p>
            <a:pPr marL="342900" indent="-342900" eaLnBrk="1" hangingPunct="1">
              <a:spcBef>
                <a:spcPct val="20000"/>
              </a:spcBef>
            </a:pPr>
            <a:r>
              <a:rPr lang="zh-CN" altLang="en-US" b="1" dirty="0">
                <a:latin typeface="Verdana" pitchFamily="34" charset="0"/>
              </a:rPr>
              <a:t>＜</a:t>
            </a:r>
            <a:r>
              <a:rPr lang="en-US" altLang="zh-CN" b="1" dirty="0">
                <a:latin typeface="Verdana" pitchFamily="34" charset="0"/>
              </a:rPr>
              <a:t>!ELEMENT </a:t>
            </a:r>
            <a:r>
              <a:rPr lang="zh-CN" altLang="en-US" b="1" dirty="0">
                <a:latin typeface="Verdana" pitchFamily="34" charset="0"/>
              </a:rPr>
              <a:t>姓名</a:t>
            </a:r>
            <a:r>
              <a:rPr lang="en-US" altLang="zh-CN" b="1" dirty="0">
                <a:latin typeface="Verdana" pitchFamily="34" charset="0"/>
              </a:rPr>
              <a:t>(#PCDATA)</a:t>
            </a:r>
            <a:r>
              <a:rPr lang="zh-CN" altLang="en-US" b="1" dirty="0">
                <a:latin typeface="Verdana" pitchFamily="34" charset="0"/>
              </a:rPr>
              <a:t>＞</a:t>
            </a:r>
          </a:p>
          <a:p>
            <a:pPr marL="342900" indent="-342900" eaLnBrk="1" hangingPunct="1">
              <a:spcBef>
                <a:spcPct val="20000"/>
              </a:spcBef>
            </a:pPr>
            <a:r>
              <a:rPr lang="zh-CN" altLang="en-US" b="1" dirty="0">
                <a:latin typeface="Verdana" pitchFamily="34" charset="0"/>
              </a:rPr>
              <a:t>＜</a:t>
            </a:r>
            <a:r>
              <a:rPr lang="en-US" altLang="zh-CN" b="1" dirty="0">
                <a:latin typeface="Verdana" pitchFamily="34" charset="0"/>
              </a:rPr>
              <a:t>!ELEMENT ID(#PCDATA)</a:t>
            </a:r>
            <a:r>
              <a:rPr lang="zh-CN" altLang="en-US" b="1" dirty="0">
                <a:latin typeface="Verdana" pitchFamily="34" charset="0"/>
              </a:rPr>
              <a:t>＞</a:t>
            </a:r>
          </a:p>
          <a:p>
            <a:pPr marL="342900" indent="-342900" eaLnBrk="1" hangingPunct="1">
              <a:spcBef>
                <a:spcPct val="20000"/>
              </a:spcBef>
            </a:pPr>
            <a:r>
              <a:rPr lang="zh-CN" altLang="en-US" b="1" dirty="0">
                <a:latin typeface="Verdana" pitchFamily="34" charset="0"/>
              </a:rPr>
              <a:t>＜</a:t>
            </a:r>
            <a:r>
              <a:rPr lang="en-US" altLang="zh-CN" b="1" dirty="0">
                <a:latin typeface="Verdana" pitchFamily="34" charset="0"/>
              </a:rPr>
              <a:t>!ELEMENT </a:t>
            </a:r>
            <a:r>
              <a:rPr lang="zh-CN" altLang="en-US" b="1" dirty="0">
                <a:latin typeface="Verdana" pitchFamily="34" charset="0"/>
              </a:rPr>
              <a:t>公司</a:t>
            </a:r>
            <a:r>
              <a:rPr lang="en-US" altLang="zh-CN" b="1" dirty="0">
                <a:latin typeface="Verdana" pitchFamily="34" charset="0"/>
              </a:rPr>
              <a:t>(#PCDATA)</a:t>
            </a:r>
            <a:r>
              <a:rPr lang="zh-CN" altLang="en-US" b="1" dirty="0">
                <a:latin typeface="Verdana" pitchFamily="34" charset="0"/>
              </a:rPr>
              <a:t>＞</a:t>
            </a:r>
          </a:p>
          <a:p>
            <a:pPr marL="342900" indent="-342900" eaLnBrk="1" hangingPunct="1">
              <a:spcBef>
                <a:spcPct val="20000"/>
              </a:spcBef>
            </a:pPr>
            <a:r>
              <a:rPr lang="zh-CN" altLang="en-US" b="1" dirty="0">
                <a:latin typeface="Verdana" pitchFamily="34" charset="0"/>
              </a:rPr>
              <a:t>＜</a:t>
            </a:r>
            <a:r>
              <a:rPr lang="en-US" altLang="zh-CN" b="1" dirty="0">
                <a:latin typeface="Verdana" pitchFamily="34" charset="0"/>
              </a:rPr>
              <a:t>!ELEMENT EMAIL(#PCDATA)</a:t>
            </a:r>
            <a:r>
              <a:rPr lang="zh-CN" altLang="en-US" b="1" dirty="0">
                <a:latin typeface="Verdana" pitchFamily="34" charset="0"/>
              </a:rPr>
              <a:t>＞</a:t>
            </a:r>
          </a:p>
          <a:p>
            <a:pPr marL="342900" indent="-342900" eaLnBrk="1" hangingPunct="1">
              <a:spcBef>
                <a:spcPct val="20000"/>
              </a:spcBef>
            </a:pPr>
            <a:r>
              <a:rPr lang="zh-CN" altLang="en-US" b="1" dirty="0">
                <a:latin typeface="Verdana" pitchFamily="34" charset="0"/>
              </a:rPr>
              <a:t>＜</a:t>
            </a:r>
            <a:r>
              <a:rPr lang="en-US" altLang="zh-CN" b="1" dirty="0">
                <a:latin typeface="Verdana" pitchFamily="34" charset="0"/>
              </a:rPr>
              <a:t>!ELEMENT </a:t>
            </a:r>
            <a:r>
              <a:rPr lang="zh-CN" altLang="en-US" b="1" dirty="0">
                <a:latin typeface="Verdana" pitchFamily="34" charset="0"/>
              </a:rPr>
              <a:t>电话</a:t>
            </a:r>
            <a:r>
              <a:rPr lang="en-US" altLang="zh-CN" b="1" dirty="0">
                <a:latin typeface="Verdana" pitchFamily="34" charset="0"/>
              </a:rPr>
              <a:t>(#PCDATA)</a:t>
            </a:r>
            <a:r>
              <a:rPr lang="zh-CN" altLang="en-US" b="1" dirty="0">
                <a:latin typeface="Verdana" pitchFamily="34" charset="0"/>
              </a:rPr>
              <a:t>＞</a:t>
            </a:r>
          </a:p>
          <a:p>
            <a:pPr marL="342900" indent="-342900" eaLnBrk="1" hangingPunct="1">
              <a:spcBef>
                <a:spcPct val="20000"/>
              </a:spcBef>
            </a:pPr>
            <a:r>
              <a:rPr lang="zh-CN" altLang="en-US" b="1" dirty="0">
                <a:latin typeface="Verdana" pitchFamily="34" charset="0"/>
              </a:rPr>
              <a:t>＜</a:t>
            </a:r>
            <a:r>
              <a:rPr lang="en-US" altLang="zh-CN" b="1" dirty="0">
                <a:latin typeface="Verdana" pitchFamily="34" charset="0"/>
              </a:rPr>
              <a:t>!ELEMENT </a:t>
            </a:r>
            <a:r>
              <a:rPr lang="zh-CN" altLang="en-US" b="1" dirty="0">
                <a:latin typeface="Verdana" pitchFamily="34" charset="0"/>
              </a:rPr>
              <a:t>街道</a:t>
            </a:r>
            <a:r>
              <a:rPr lang="en-US" altLang="zh-CN" b="1" dirty="0">
                <a:latin typeface="Verdana" pitchFamily="34" charset="0"/>
              </a:rPr>
              <a:t>(#PCDATA)</a:t>
            </a:r>
            <a:r>
              <a:rPr lang="zh-CN" altLang="en-US" b="1" dirty="0">
                <a:latin typeface="Verdana" pitchFamily="34" charset="0"/>
              </a:rPr>
              <a:t>＞</a:t>
            </a:r>
          </a:p>
          <a:p>
            <a:pPr marL="342900" indent="-342900" eaLnBrk="1" hangingPunct="1">
              <a:spcBef>
                <a:spcPct val="20000"/>
              </a:spcBef>
            </a:pPr>
            <a:r>
              <a:rPr lang="zh-CN" altLang="en-US" b="1" dirty="0">
                <a:latin typeface="Verdana" pitchFamily="34" charset="0"/>
              </a:rPr>
              <a:t>＜</a:t>
            </a:r>
            <a:r>
              <a:rPr lang="en-US" altLang="zh-CN" b="1" dirty="0">
                <a:latin typeface="Verdana" pitchFamily="34" charset="0"/>
              </a:rPr>
              <a:t>!ELEMENT </a:t>
            </a:r>
            <a:r>
              <a:rPr lang="zh-CN" altLang="en-US" b="1" dirty="0">
                <a:latin typeface="Verdana" pitchFamily="34" charset="0"/>
              </a:rPr>
              <a:t>城市</a:t>
            </a:r>
            <a:r>
              <a:rPr lang="en-US" altLang="zh-CN" b="1" dirty="0">
                <a:latin typeface="Verdana" pitchFamily="34" charset="0"/>
              </a:rPr>
              <a:t>(#PCDATA)</a:t>
            </a:r>
            <a:r>
              <a:rPr lang="zh-CN" altLang="en-US" b="1" dirty="0">
                <a:latin typeface="Verdana" pitchFamily="34" charset="0"/>
              </a:rPr>
              <a:t>＞</a:t>
            </a:r>
          </a:p>
          <a:p>
            <a:pPr marL="342900" indent="-342900" eaLnBrk="1" hangingPunct="1">
              <a:spcBef>
                <a:spcPct val="20000"/>
              </a:spcBef>
            </a:pPr>
            <a:r>
              <a:rPr lang="zh-CN" altLang="en-US" b="1" dirty="0">
                <a:latin typeface="Verdana" pitchFamily="34" charset="0"/>
              </a:rPr>
              <a:t>＜</a:t>
            </a:r>
            <a:r>
              <a:rPr lang="en-US" altLang="zh-CN" b="1" dirty="0">
                <a:latin typeface="Verdana" pitchFamily="34" charset="0"/>
              </a:rPr>
              <a:t>!ELEMENT </a:t>
            </a:r>
            <a:r>
              <a:rPr lang="zh-CN" altLang="en-US" b="1" dirty="0">
                <a:latin typeface="Verdana" pitchFamily="34" charset="0"/>
              </a:rPr>
              <a:t>省份</a:t>
            </a:r>
            <a:r>
              <a:rPr lang="en-US" altLang="zh-CN" b="1" dirty="0">
                <a:latin typeface="Verdana" pitchFamily="34" charset="0"/>
              </a:rPr>
              <a:t>(#PCDATA)</a:t>
            </a:r>
            <a:r>
              <a:rPr lang="zh-CN" altLang="en-US" b="1" dirty="0">
                <a:latin typeface="Verdana" pitchFamily="34" charset="0"/>
              </a:rPr>
              <a:t>＞</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p:cNvSpPr>
            <a:spLocks noGrp="1" noChangeArrowheads="1"/>
          </p:cNvSpPr>
          <p:nvPr>
            <p:ph type="title"/>
          </p:nvPr>
        </p:nvSpPr>
        <p:spPr>
          <a:xfrm>
            <a:off x="2533664" y="-71462"/>
            <a:ext cx="3967162" cy="647700"/>
          </a:xfrm>
        </p:spPr>
        <p:txBody>
          <a:bodyPr/>
          <a:lstStyle/>
          <a:p>
            <a:pPr marL="342900" indent="-342900">
              <a:lnSpc>
                <a:spcPct val="90000"/>
              </a:lnSpc>
              <a:spcBef>
                <a:spcPct val="20000"/>
              </a:spcBef>
            </a:pPr>
            <a:r>
              <a:rPr lang="en-US" altLang="zh-CN" sz="3200" b="1" dirty="0" smtClean="0">
                <a:latin typeface="+mj-ea"/>
              </a:rPr>
              <a:t>Client.xml</a:t>
            </a:r>
          </a:p>
        </p:txBody>
      </p:sp>
      <p:sp>
        <p:nvSpPr>
          <p:cNvPr id="19459" name="AutoShape 4">
            <a:hlinkClick r:id="" action="ppaction://noaction" highlightClick="1"/>
          </p:cNvPr>
          <p:cNvSpPr>
            <a:spLocks noChangeArrowheads="1"/>
          </p:cNvSpPr>
          <p:nvPr/>
        </p:nvSpPr>
        <p:spPr bwMode="auto">
          <a:xfrm>
            <a:off x="7620000" y="374650"/>
            <a:ext cx="1143000" cy="457200"/>
          </a:xfrm>
          <a:prstGeom prst="actionButtonBlank">
            <a:avLst/>
          </a:prstGeom>
          <a:noFill/>
          <a:ln w="9525">
            <a:noFill/>
            <a:miter lim="800000"/>
            <a:headEnd/>
            <a:tailEnd/>
          </a:ln>
        </p:spPr>
        <p:txBody>
          <a:bodyPr wrap="none" anchor="ctr"/>
          <a:lstStyle/>
          <a:p>
            <a:pPr algn="ctr" eaLnBrk="1" hangingPunct="1">
              <a:spcBef>
                <a:spcPct val="20000"/>
              </a:spcBef>
              <a:buClr>
                <a:srgbClr val="0427FE"/>
              </a:buClr>
              <a:buFont typeface="Wingdings" pitchFamily="2" charset="2"/>
              <a:buNone/>
            </a:pPr>
            <a:r>
              <a:rPr lang="zh-CN" altLang="en-US" b="1" dirty="0">
                <a:ea typeface="楷体_GB2312" pitchFamily="49" charset="-122"/>
                <a:hlinkClick r:id="rId2" action="ppaction://hlinksldjump"/>
              </a:rPr>
              <a:t>返回</a:t>
            </a:r>
            <a:endParaRPr lang="zh-CN" altLang="en-US" b="1" dirty="0">
              <a:ea typeface="楷体_GB2312" pitchFamily="49" charset="-122"/>
            </a:endParaRPr>
          </a:p>
        </p:txBody>
      </p:sp>
      <p:sp>
        <p:nvSpPr>
          <p:cNvPr id="19460" name="Rectangle 7"/>
          <p:cNvSpPr>
            <a:spLocks noChangeArrowheads="1"/>
          </p:cNvSpPr>
          <p:nvPr/>
        </p:nvSpPr>
        <p:spPr bwMode="auto">
          <a:xfrm>
            <a:off x="5286380" y="3409952"/>
            <a:ext cx="3857652" cy="3448072"/>
          </a:xfrm>
          <a:prstGeom prst="rect">
            <a:avLst/>
          </a:prstGeom>
          <a:noFill/>
          <a:ln w="9525">
            <a:noFill/>
            <a:miter lim="800000"/>
            <a:headEnd/>
            <a:tailEnd/>
          </a:ln>
        </p:spPr>
        <p:txBody>
          <a:bodyPr/>
          <a:lstStyle/>
          <a:p>
            <a:pPr marL="342900" indent="-342900" eaLnBrk="1" hangingPunct="1">
              <a:lnSpc>
                <a:spcPct val="90000"/>
              </a:lnSpc>
              <a:spcBef>
                <a:spcPct val="20000"/>
              </a:spcBef>
            </a:pPr>
            <a:r>
              <a:rPr lang="en-US" altLang="zh-CN" sz="1400" b="1" dirty="0">
                <a:latin typeface="Verdana" pitchFamily="34" charset="0"/>
              </a:rPr>
              <a:t>   </a:t>
            </a:r>
            <a:r>
              <a:rPr lang="zh-CN" altLang="en-US" sz="1400" b="1" dirty="0">
                <a:latin typeface="Verdana" pitchFamily="34" charset="0"/>
              </a:rPr>
              <a:t>＜联系人＞</a:t>
            </a:r>
          </a:p>
          <a:p>
            <a:pPr marL="342900" indent="-342900" eaLnBrk="1" hangingPunct="1">
              <a:lnSpc>
                <a:spcPct val="90000"/>
              </a:lnSpc>
              <a:spcBef>
                <a:spcPct val="20000"/>
              </a:spcBef>
            </a:pPr>
            <a:r>
              <a:rPr lang="zh-CN" altLang="en-US" sz="1400" b="1" dirty="0">
                <a:latin typeface="Verdana" pitchFamily="34" charset="0"/>
              </a:rPr>
              <a:t>       ＜姓名＞李四＜／姓名＞</a:t>
            </a:r>
          </a:p>
          <a:p>
            <a:pPr marL="342900" indent="-342900" eaLnBrk="1" hangingPunct="1">
              <a:lnSpc>
                <a:spcPct val="90000"/>
              </a:lnSpc>
              <a:spcBef>
                <a:spcPct val="20000"/>
              </a:spcBef>
            </a:pPr>
            <a:r>
              <a:rPr lang="zh-CN" altLang="en-US" sz="1400" b="1" dirty="0">
                <a:latin typeface="Verdana" pitchFamily="34" charset="0"/>
              </a:rPr>
              <a:t>       ＜</a:t>
            </a:r>
            <a:r>
              <a:rPr lang="en-US" altLang="zh-CN" sz="1400" b="1" dirty="0">
                <a:latin typeface="Verdana" pitchFamily="34" charset="0"/>
              </a:rPr>
              <a:t>ID</a:t>
            </a:r>
            <a:r>
              <a:rPr lang="zh-CN" altLang="en-US" sz="1400" b="1" dirty="0">
                <a:latin typeface="Verdana" pitchFamily="34" charset="0"/>
              </a:rPr>
              <a:t>＞</a:t>
            </a:r>
            <a:r>
              <a:rPr lang="en-US" altLang="zh-CN" sz="1400" b="1" dirty="0">
                <a:latin typeface="Verdana" pitchFamily="34" charset="0"/>
              </a:rPr>
              <a:t>002</a:t>
            </a:r>
            <a:r>
              <a:rPr lang="zh-CN" altLang="en-US" sz="1400" b="1" dirty="0">
                <a:latin typeface="Verdana" pitchFamily="34" charset="0"/>
              </a:rPr>
              <a:t>＜／</a:t>
            </a:r>
            <a:r>
              <a:rPr lang="en-US" altLang="zh-CN" sz="1400" b="1" dirty="0">
                <a:latin typeface="Verdana" pitchFamily="34" charset="0"/>
              </a:rPr>
              <a:t>ID</a:t>
            </a:r>
            <a:r>
              <a:rPr lang="zh-CN" altLang="en-US" sz="1400" b="1" dirty="0">
                <a:latin typeface="Verdana" pitchFamily="34" charset="0"/>
              </a:rPr>
              <a:t>＞</a:t>
            </a:r>
          </a:p>
          <a:p>
            <a:pPr marL="342900" indent="-342900" eaLnBrk="1" hangingPunct="1">
              <a:lnSpc>
                <a:spcPct val="90000"/>
              </a:lnSpc>
              <a:spcBef>
                <a:spcPct val="20000"/>
              </a:spcBef>
            </a:pPr>
            <a:r>
              <a:rPr lang="zh-CN" altLang="en-US" sz="1400" b="1" dirty="0">
                <a:latin typeface="Verdana" pitchFamily="34" charset="0"/>
              </a:rPr>
              <a:t>       ＜公司＞</a:t>
            </a:r>
            <a:r>
              <a:rPr lang="en-US" altLang="zh-CN" sz="1400" b="1" dirty="0">
                <a:latin typeface="Verdana" pitchFamily="34" charset="0"/>
              </a:rPr>
              <a:t>B</a:t>
            </a:r>
            <a:r>
              <a:rPr lang="zh-CN" altLang="en-US" sz="1400" b="1" dirty="0">
                <a:latin typeface="Verdana" pitchFamily="34" charset="0"/>
              </a:rPr>
              <a:t>公司＜／公司＞</a:t>
            </a:r>
          </a:p>
          <a:p>
            <a:pPr marL="342900" indent="-342900" eaLnBrk="1" hangingPunct="1">
              <a:lnSpc>
                <a:spcPct val="90000"/>
              </a:lnSpc>
              <a:spcBef>
                <a:spcPct val="20000"/>
              </a:spcBef>
            </a:pPr>
            <a:r>
              <a:rPr lang="zh-CN" altLang="en-US" sz="1400" b="1" dirty="0">
                <a:latin typeface="Verdana" pitchFamily="34" charset="0"/>
              </a:rPr>
              <a:t>       ＜</a:t>
            </a:r>
            <a:r>
              <a:rPr lang="en-US" altLang="zh-CN" sz="1400" b="1" dirty="0">
                <a:latin typeface="Verdana" pitchFamily="34" charset="0"/>
              </a:rPr>
              <a:t>EMAII</a:t>
            </a:r>
            <a:r>
              <a:rPr lang="zh-CN" altLang="en-US" sz="1400" b="1" dirty="0">
                <a:latin typeface="Verdana" pitchFamily="34" charset="0"/>
              </a:rPr>
              <a:t>＞</a:t>
            </a:r>
            <a:r>
              <a:rPr lang="en-US" altLang="zh-CN" sz="1400" b="1" dirty="0">
                <a:latin typeface="Verdana" pitchFamily="34" charset="0"/>
              </a:rPr>
              <a:t>1i</a:t>
            </a:r>
            <a:r>
              <a:rPr lang="zh-CN" altLang="en-US" sz="1400" b="1" dirty="0">
                <a:latin typeface="Verdana" pitchFamily="34" charset="0"/>
              </a:rPr>
              <a:t>＠</a:t>
            </a:r>
            <a:r>
              <a:rPr lang="en-US" altLang="zh-CN" sz="1400" b="1" dirty="0" err="1">
                <a:latin typeface="Verdana" pitchFamily="34" charset="0"/>
              </a:rPr>
              <a:t>bbb</a:t>
            </a:r>
            <a:r>
              <a:rPr lang="zh-CN" altLang="en-US" sz="1400" b="1" dirty="0">
                <a:latin typeface="Verdana" pitchFamily="34" charset="0"/>
              </a:rPr>
              <a:t>．</a:t>
            </a:r>
            <a:r>
              <a:rPr lang="en-US" altLang="zh-CN" sz="1400" b="1" dirty="0">
                <a:latin typeface="Verdana" pitchFamily="34" charset="0"/>
              </a:rPr>
              <a:t>org</a:t>
            </a:r>
            <a:r>
              <a:rPr lang="zh-CN" altLang="en-US" sz="1400" b="1" dirty="0">
                <a:latin typeface="Verdana" pitchFamily="34" charset="0"/>
              </a:rPr>
              <a:t>＜／</a:t>
            </a:r>
            <a:r>
              <a:rPr lang="en-US" altLang="zh-CN" sz="1400" b="1" dirty="0">
                <a:latin typeface="Verdana" pitchFamily="34" charset="0"/>
              </a:rPr>
              <a:t>EMAII</a:t>
            </a:r>
            <a:r>
              <a:rPr lang="zh-CN" altLang="en-US" sz="1400" b="1" dirty="0">
                <a:latin typeface="Verdana" pitchFamily="34" charset="0"/>
              </a:rPr>
              <a:t>＞</a:t>
            </a:r>
          </a:p>
          <a:p>
            <a:pPr marL="342900" indent="-342900" eaLnBrk="1" hangingPunct="1">
              <a:lnSpc>
                <a:spcPct val="90000"/>
              </a:lnSpc>
              <a:spcBef>
                <a:spcPct val="20000"/>
              </a:spcBef>
            </a:pPr>
            <a:r>
              <a:rPr lang="zh-CN" altLang="en-US" sz="1400" b="1" dirty="0">
                <a:latin typeface="Verdana" pitchFamily="34" charset="0"/>
              </a:rPr>
              <a:t>       ＜电话＞</a:t>
            </a:r>
            <a:r>
              <a:rPr lang="en-US" altLang="zh-CN" sz="1400" b="1" dirty="0">
                <a:latin typeface="Verdana" pitchFamily="34" charset="0"/>
              </a:rPr>
              <a:t>(021)87654321</a:t>
            </a:r>
            <a:r>
              <a:rPr lang="zh-CN" altLang="en-US" sz="1400" b="1" dirty="0">
                <a:latin typeface="Verdana" pitchFamily="34" charset="0"/>
              </a:rPr>
              <a:t>＜／电话＞</a:t>
            </a:r>
          </a:p>
          <a:p>
            <a:pPr marL="342900" indent="-342900" eaLnBrk="1" hangingPunct="1">
              <a:lnSpc>
                <a:spcPct val="90000"/>
              </a:lnSpc>
              <a:spcBef>
                <a:spcPct val="20000"/>
              </a:spcBef>
            </a:pPr>
            <a:r>
              <a:rPr lang="zh-CN" altLang="en-US" sz="1400" b="1" dirty="0">
                <a:latin typeface="Verdana" pitchFamily="34" charset="0"/>
              </a:rPr>
              <a:t>       ＜地址＞</a:t>
            </a:r>
          </a:p>
          <a:p>
            <a:pPr marL="342900" indent="-342900" eaLnBrk="1" hangingPunct="1">
              <a:lnSpc>
                <a:spcPct val="90000"/>
              </a:lnSpc>
              <a:spcBef>
                <a:spcPct val="20000"/>
              </a:spcBef>
            </a:pPr>
            <a:r>
              <a:rPr lang="zh-CN" altLang="en-US" sz="1400" b="1" dirty="0">
                <a:latin typeface="Verdana" pitchFamily="34" charset="0"/>
              </a:rPr>
              <a:t>           ＜街道＞南京路</a:t>
            </a:r>
            <a:r>
              <a:rPr lang="en-US" altLang="zh-CN" sz="1400" b="1" dirty="0">
                <a:latin typeface="Verdana" pitchFamily="34" charset="0"/>
              </a:rPr>
              <a:t>9876</a:t>
            </a:r>
            <a:r>
              <a:rPr lang="zh-CN" altLang="en-US" sz="1400" b="1" dirty="0">
                <a:latin typeface="Verdana" pitchFamily="34" charset="0"/>
              </a:rPr>
              <a:t>号＜／街道＞</a:t>
            </a:r>
          </a:p>
          <a:p>
            <a:pPr marL="342900" indent="-342900" eaLnBrk="1" hangingPunct="1">
              <a:lnSpc>
                <a:spcPct val="90000"/>
              </a:lnSpc>
              <a:spcBef>
                <a:spcPct val="20000"/>
              </a:spcBef>
            </a:pPr>
            <a:r>
              <a:rPr lang="zh-CN" altLang="en-US" sz="1400" b="1" dirty="0">
                <a:latin typeface="Verdana" pitchFamily="34" charset="0"/>
              </a:rPr>
              <a:t>           ＜城市＞上海市＜／城市＞</a:t>
            </a:r>
          </a:p>
          <a:p>
            <a:pPr marL="342900" indent="-342900" eaLnBrk="1" hangingPunct="1">
              <a:lnSpc>
                <a:spcPct val="90000"/>
              </a:lnSpc>
              <a:spcBef>
                <a:spcPct val="20000"/>
              </a:spcBef>
            </a:pPr>
            <a:r>
              <a:rPr lang="zh-CN" altLang="en-US" sz="1400" b="1" dirty="0">
                <a:latin typeface="Verdana" pitchFamily="34" charset="0"/>
              </a:rPr>
              <a:t>           ＜省份＞上海＜／省份＞</a:t>
            </a:r>
          </a:p>
          <a:p>
            <a:pPr marL="342900" indent="-342900" eaLnBrk="1" hangingPunct="1">
              <a:lnSpc>
                <a:spcPct val="90000"/>
              </a:lnSpc>
              <a:spcBef>
                <a:spcPct val="20000"/>
              </a:spcBef>
            </a:pPr>
            <a:r>
              <a:rPr lang="zh-CN" altLang="en-US" sz="1400" b="1" dirty="0">
                <a:latin typeface="Verdana" pitchFamily="34" charset="0"/>
              </a:rPr>
              <a:t>       ＜／地址＞</a:t>
            </a:r>
          </a:p>
          <a:p>
            <a:pPr marL="342900" indent="-342900" eaLnBrk="1" hangingPunct="1">
              <a:lnSpc>
                <a:spcPct val="90000"/>
              </a:lnSpc>
              <a:spcBef>
                <a:spcPct val="20000"/>
              </a:spcBef>
            </a:pPr>
            <a:r>
              <a:rPr lang="zh-CN" altLang="en-US" sz="1400" b="1" dirty="0">
                <a:latin typeface="Verdana" pitchFamily="34" charset="0"/>
              </a:rPr>
              <a:t>   ＜／联系人＞</a:t>
            </a:r>
          </a:p>
          <a:p>
            <a:pPr marL="342900" indent="-342900" eaLnBrk="1" hangingPunct="1">
              <a:lnSpc>
                <a:spcPct val="90000"/>
              </a:lnSpc>
              <a:spcBef>
                <a:spcPct val="20000"/>
              </a:spcBef>
            </a:pPr>
            <a:r>
              <a:rPr lang="zh-CN" altLang="en-US" sz="1400" b="1" dirty="0">
                <a:latin typeface="Verdana" pitchFamily="34" charset="0"/>
              </a:rPr>
              <a:t>＜／联系人列表＞</a:t>
            </a:r>
          </a:p>
        </p:txBody>
      </p:sp>
      <p:sp>
        <p:nvSpPr>
          <p:cNvPr id="19461" name="Rectangle 8"/>
          <p:cNvSpPr>
            <a:spLocks noChangeArrowheads="1"/>
          </p:cNvSpPr>
          <p:nvPr/>
        </p:nvSpPr>
        <p:spPr bwMode="auto">
          <a:xfrm>
            <a:off x="1714480" y="581044"/>
            <a:ext cx="5029200" cy="5562600"/>
          </a:xfrm>
          <a:prstGeom prst="rect">
            <a:avLst/>
          </a:prstGeom>
          <a:noFill/>
          <a:ln w="9525">
            <a:noFill/>
            <a:miter lim="800000"/>
            <a:headEnd/>
            <a:tailEnd/>
          </a:ln>
        </p:spPr>
        <p:txBody>
          <a:bodyPr/>
          <a:lstStyle/>
          <a:p>
            <a:pPr marL="342900" indent="-342900" eaLnBrk="1" hangingPunct="1">
              <a:lnSpc>
                <a:spcPct val="90000"/>
              </a:lnSpc>
              <a:spcBef>
                <a:spcPct val="20000"/>
              </a:spcBef>
            </a:pPr>
            <a:r>
              <a:rPr lang="zh-CN" altLang="en-US" sz="1400" b="1" dirty="0" smtClean="0">
                <a:latin typeface="Verdana" pitchFamily="34" charset="0"/>
              </a:rPr>
              <a:t>＜ </a:t>
            </a:r>
            <a:r>
              <a:rPr lang="en-US" altLang="zh-CN" sz="1400" b="1" dirty="0">
                <a:latin typeface="Verdana" pitchFamily="34" charset="0"/>
              </a:rPr>
              <a:t>? xml version</a:t>
            </a:r>
            <a:r>
              <a:rPr lang="zh-CN" altLang="en-US" sz="1400" b="1" dirty="0">
                <a:latin typeface="Verdana" pitchFamily="34" charset="0"/>
              </a:rPr>
              <a:t>＝“</a:t>
            </a:r>
            <a:r>
              <a:rPr lang="en-US" altLang="zh-CN" sz="1400" b="1" dirty="0">
                <a:latin typeface="Verdana" pitchFamily="34" charset="0"/>
              </a:rPr>
              <a:t>1</a:t>
            </a:r>
            <a:r>
              <a:rPr lang="zh-CN" altLang="en-US" sz="1400" b="1" dirty="0">
                <a:latin typeface="Verdana" pitchFamily="34" charset="0"/>
              </a:rPr>
              <a:t>．</a:t>
            </a:r>
            <a:r>
              <a:rPr lang="en-US" altLang="zh-CN" sz="1400" b="1" dirty="0">
                <a:latin typeface="Verdana" pitchFamily="34" charset="0"/>
              </a:rPr>
              <a:t>0”encoding</a:t>
            </a:r>
            <a:r>
              <a:rPr lang="zh-CN" altLang="en-US" sz="1400" b="1" dirty="0">
                <a:latin typeface="Verdana" pitchFamily="34" charset="0"/>
              </a:rPr>
              <a:t>＝”</a:t>
            </a:r>
            <a:r>
              <a:rPr lang="en-US" altLang="zh-CN" sz="1400" b="1" dirty="0">
                <a:latin typeface="Verdana" pitchFamily="34" charset="0"/>
              </a:rPr>
              <a:t>GB2312” standalone</a:t>
            </a:r>
            <a:r>
              <a:rPr lang="zh-CN" altLang="en-US" sz="1400" b="1" dirty="0">
                <a:latin typeface="Verdana" pitchFamily="34" charset="0"/>
              </a:rPr>
              <a:t>＝”</a:t>
            </a:r>
            <a:r>
              <a:rPr lang="en-US" altLang="zh-CN" sz="1400" b="1" dirty="0">
                <a:latin typeface="Verdana" pitchFamily="34" charset="0"/>
              </a:rPr>
              <a:t>no”?</a:t>
            </a:r>
            <a:r>
              <a:rPr lang="zh-CN" altLang="en-US" sz="1400" b="1" dirty="0">
                <a:latin typeface="Verdana" pitchFamily="34" charset="0"/>
              </a:rPr>
              <a:t>＞</a:t>
            </a:r>
          </a:p>
          <a:p>
            <a:pPr marL="342900" indent="-342900" eaLnBrk="1" hangingPunct="1">
              <a:lnSpc>
                <a:spcPct val="90000"/>
              </a:lnSpc>
              <a:spcBef>
                <a:spcPct val="20000"/>
              </a:spcBef>
            </a:pPr>
            <a:r>
              <a:rPr lang="zh-CN" altLang="en-US" sz="1400" b="1" dirty="0">
                <a:latin typeface="Verdana" pitchFamily="34" charset="0"/>
              </a:rPr>
              <a:t>＜</a:t>
            </a:r>
            <a:r>
              <a:rPr lang="en-US" altLang="zh-CN" sz="1400" b="1" dirty="0">
                <a:latin typeface="Verdana" pitchFamily="34" charset="0"/>
              </a:rPr>
              <a:t>!DOCTYPE </a:t>
            </a:r>
            <a:r>
              <a:rPr lang="zh-CN" altLang="en-US" sz="1400" b="1" dirty="0">
                <a:latin typeface="Verdana" pitchFamily="34" charset="0"/>
              </a:rPr>
              <a:t>联系人列表 </a:t>
            </a:r>
            <a:r>
              <a:rPr lang="en-US" altLang="zh-CN" sz="1400" b="1" dirty="0" err="1">
                <a:latin typeface="Verdana" pitchFamily="34" charset="0"/>
              </a:rPr>
              <a:t>SYSTEM”fclml</a:t>
            </a:r>
            <a:r>
              <a:rPr lang="zh-CN" altLang="en-US" sz="1400" b="1" dirty="0">
                <a:latin typeface="Verdana" pitchFamily="34" charset="0"/>
              </a:rPr>
              <a:t>．</a:t>
            </a:r>
            <a:r>
              <a:rPr lang="en-US" altLang="zh-CN" sz="1400" b="1" dirty="0" err="1">
                <a:latin typeface="Verdana" pitchFamily="34" charset="0"/>
              </a:rPr>
              <a:t>dtd</a:t>
            </a:r>
            <a:r>
              <a:rPr lang="en-US" altLang="zh-CN" sz="1400" b="1" dirty="0">
                <a:latin typeface="Verdana" pitchFamily="34" charset="0"/>
              </a:rPr>
              <a:t>”</a:t>
            </a:r>
            <a:r>
              <a:rPr lang="zh-CN" altLang="en-US" sz="1400" b="1" dirty="0">
                <a:latin typeface="Verdana" pitchFamily="34" charset="0"/>
              </a:rPr>
              <a:t>＞</a:t>
            </a:r>
          </a:p>
          <a:p>
            <a:pPr marL="342900" indent="-342900" eaLnBrk="1" hangingPunct="1">
              <a:lnSpc>
                <a:spcPct val="90000"/>
              </a:lnSpc>
              <a:spcBef>
                <a:spcPct val="20000"/>
              </a:spcBef>
            </a:pPr>
            <a:r>
              <a:rPr lang="zh-CN" altLang="en-US" sz="1400" b="1" dirty="0">
                <a:latin typeface="Verdana" pitchFamily="34" charset="0"/>
              </a:rPr>
              <a:t>＜</a:t>
            </a:r>
            <a:r>
              <a:rPr lang="en-US" altLang="zh-CN" sz="1400" b="1" dirty="0">
                <a:latin typeface="Verdana" pitchFamily="34" charset="0"/>
              </a:rPr>
              <a:t>?xml—</a:t>
            </a:r>
            <a:r>
              <a:rPr lang="en-US" altLang="zh-CN" sz="1400" b="1" dirty="0" err="1">
                <a:latin typeface="Verdana" pitchFamily="34" charset="0"/>
              </a:rPr>
              <a:t>stylesheet</a:t>
            </a:r>
            <a:r>
              <a:rPr lang="en-US" altLang="zh-CN" sz="1400" b="1" dirty="0">
                <a:latin typeface="Verdana" pitchFamily="34" charset="0"/>
              </a:rPr>
              <a:t> type</a:t>
            </a:r>
            <a:r>
              <a:rPr lang="zh-CN" altLang="en-US" sz="1400" b="1" dirty="0">
                <a:latin typeface="Verdana" pitchFamily="34" charset="0"/>
              </a:rPr>
              <a:t>＝”</a:t>
            </a:r>
            <a:r>
              <a:rPr lang="en-US" altLang="zh-CN" sz="1400" b="1" dirty="0">
                <a:latin typeface="Verdana" pitchFamily="34" charset="0"/>
              </a:rPr>
              <a:t>text</a:t>
            </a:r>
            <a:r>
              <a:rPr lang="zh-CN" altLang="en-US" sz="1400" b="1" dirty="0">
                <a:latin typeface="Verdana" pitchFamily="34" charset="0"/>
              </a:rPr>
              <a:t>／</a:t>
            </a:r>
            <a:r>
              <a:rPr lang="en-US" altLang="zh-CN" sz="1400" b="1" dirty="0" err="1">
                <a:latin typeface="Verdana" pitchFamily="34" charset="0"/>
              </a:rPr>
              <a:t>xsl</a:t>
            </a:r>
            <a:r>
              <a:rPr lang="en-US" altLang="zh-CN" sz="1400" b="1" dirty="0">
                <a:latin typeface="Verdana" pitchFamily="34" charset="0"/>
              </a:rPr>
              <a:t>” </a:t>
            </a:r>
            <a:r>
              <a:rPr lang="en-US" altLang="zh-CN" sz="1400" b="1" dirty="0" err="1">
                <a:latin typeface="Verdana" pitchFamily="34" charset="0"/>
              </a:rPr>
              <a:t>href</a:t>
            </a:r>
            <a:r>
              <a:rPr lang="zh-CN" altLang="en-US" sz="1400" b="1" dirty="0">
                <a:latin typeface="Verdana" pitchFamily="34" charset="0"/>
              </a:rPr>
              <a:t>＝“</a:t>
            </a:r>
            <a:r>
              <a:rPr lang="en-US" altLang="zh-CN" sz="1400" b="1" dirty="0" err="1">
                <a:latin typeface="Verdana" pitchFamily="34" charset="0"/>
              </a:rPr>
              <a:t>mystyle</a:t>
            </a:r>
            <a:r>
              <a:rPr lang="zh-CN" altLang="en-US" sz="1400" b="1" dirty="0">
                <a:latin typeface="Verdana" pitchFamily="34" charset="0"/>
              </a:rPr>
              <a:t>．</a:t>
            </a:r>
            <a:r>
              <a:rPr lang="en-US" altLang="zh-CN" sz="1400" b="1" dirty="0" err="1">
                <a:latin typeface="Verdana" pitchFamily="34" charset="0"/>
              </a:rPr>
              <a:t>xsl</a:t>
            </a:r>
            <a:r>
              <a:rPr lang="en-US" altLang="zh-CN" sz="1400" b="1" dirty="0">
                <a:latin typeface="Verdana" pitchFamily="34" charset="0"/>
              </a:rPr>
              <a:t>”?</a:t>
            </a:r>
            <a:r>
              <a:rPr lang="zh-CN" altLang="en-US" sz="1400" b="1" dirty="0">
                <a:latin typeface="Verdana" pitchFamily="34" charset="0"/>
              </a:rPr>
              <a:t>＞</a:t>
            </a:r>
          </a:p>
          <a:p>
            <a:pPr marL="342900" indent="-342900" eaLnBrk="1" hangingPunct="1">
              <a:lnSpc>
                <a:spcPct val="90000"/>
              </a:lnSpc>
              <a:spcBef>
                <a:spcPct val="20000"/>
              </a:spcBef>
            </a:pPr>
            <a:endParaRPr lang="zh-CN" altLang="en-US" sz="1400" b="1" dirty="0">
              <a:latin typeface="Verdana" pitchFamily="34" charset="0"/>
            </a:endParaRPr>
          </a:p>
          <a:p>
            <a:pPr marL="342900" indent="-342900" eaLnBrk="1" hangingPunct="1">
              <a:lnSpc>
                <a:spcPct val="90000"/>
              </a:lnSpc>
              <a:spcBef>
                <a:spcPct val="20000"/>
              </a:spcBef>
            </a:pPr>
            <a:r>
              <a:rPr lang="zh-CN" altLang="en-US" sz="1400" b="1" dirty="0">
                <a:latin typeface="Verdana" pitchFamily="34" charset="0"/>
              </a:rPr>
              <a:t>＜联系人列表＞</a:t>
            </a:r>
          </a:p>
          <a:p>
            <a:pPr marL="342900" indent="-342900" eaLnBrk="1" hangingPunct="1">
              <a:lnSpc>
                <a:spcPct val="90000"/>
              </a:lnSpc>
              <a:spcBef>
                <a:spcPct val="20000"/>
              </a:spcBef>
            </a:pPr>
            <a:r>
              <a:rPr lang="zh-CN" altLang="en-US" sz="1400" b="1" dirty="0">
                <a:latin typeface="Verdana" pitchFamily="34" charset="0"/>
              </a:rPr>
              <a:t>   ＜联系人＞</a:t>
            </a:r>
          </a:p>
          <a:p>
            <a:pPr marL="342900" indent="-342900" eaLnBrk="1" hangingPunct="1">
              <a:lnSpc>
                <a:spcPct val="90000"/>
              </a:lnSpc>
              <a:spcBef>
                <a:spcPct val="20000"/>
              </a:spcBef>
            </a:pPr>
            <a:r>
              <a:rPr lang="zh-CN" altLang="en-US" sz="1400" b="1" dirty="0">
                <a:latin typeface="Verdana" pitchFamily="34" charset="0"/>
              </a:rPr>
              <a:t>       ＜姓名＞张三＜／姓名＞</a:t>
            </a:r>
          </a:p>
          <a:p>
            <a:pPr marL="342900" indent="-342900" eaLnBrk="1" hangingPunct="1">
              <a:lnSpc>
                <a:spcPct val="90000"/>
              </a:lnSpc>
              <a:spcBef>
                <a:spcPct val="20000"/>
              </a:spcBef>
            </a:pPr>
            <a:r>
              <a:rPr lang="zh-CN" altLang="en-US" sz="1400" b="1" dirty="0">
                <a:latin typeface="Verdana" pitchFamily="34" charset="0"/>
              </a:rPr>
              <a:t>       ＜</a:t>
            </a:r>
            <a:r>
              <a:rPr lang="en-US" altLang="zh-CN" sz="1400" b="1" dirty="0">
                <a:latin typeface="Verdana" pitchFamily="34" charset="0"/>
              </a:rPr>
              <a:t>ID</a:t>
            </a:r>
            <a:r>
              <a:rPr lang="zh-CN" altLang="en-US" sz="1400" b="1" dirty="0">
                <a:latin typeface="Verdana" pitchFamily="34" charset="0"/>
              </a:rPr>
              <a:t>＞</a:t>
            </a:r>
            <a:r>
              <a:rPr lang="en-US" altLang="zh-CN" sz="1400" b="1" dirty="0">
                <a:latin typeface="Verdana" pitchFamily="34" charset="0"/>
              </a:rPr>
              <a:t>001</a:t>
            </a:r>
            <a:r>
              <a:rPr lang="zh-CN" altLang="en-US" sz="1400" b="1" dirty="0">
                <a:latin typeface="Verdana" pitchFamily="34" charset="0"/>
              </a:rPr>
              <a:t>＜／</a:t>
            </a:r>
            <a:r>
              <a:rPr lang="en-US" altLang="zh-CN" sz="1400" b="1" dirty="0">
                <a:latin typeface="Verdana" pitchFamily="34" charset="0"/>
              </a:rPr>
              <a:t>ID</a:t>
            </a:r>
            <a:r>
              <a:rPr lang="zh-CN" altLang="en-US" sz="1400" b="1" dirty="0">
                <a:latin typeface="Verdana" pitchFamily="34" charset="0"/>
              </a:rPr>
              <a:t>＞</a:t>
            </a:r>
          </a:p>
          <a:p>
            <a:pPr marL="342900" indent="-342900" eaLnBrk="1" hangingPunct="1">
              <a:lnSpc>
                <a:spcPct val="90000"/>
              </a:lnSpc>
              <a:spcBef>
                <a:spcPct val="20000"/>
              </a:spcBef>
            </a:pPr>
            <a:r>
              <a:rPr lang="zh-CN" altLang="en-US" sz="1400" b="1" dirty="0">
                <a:latin typeface="Verdana" pitchFamily="34" charset="0"/>
              </a:rPr>
              <a:t>       ＜公司＞</a:t>
            </a:r>
            <a:r>
              <a:rPr lang="en-US" altLang="zh-CN" sz="1400" b="1" dirty="0">
                <a:latin typeface="Verdana" pitchFamily="34" charset="0"/>
              </a:rPr>
              <a:t>A</a:t>
            </a:r>
            <a:r>
              <a:rPr lang="zh-CN" altLang="en-US" sz="1400" b="1" dirty="0">
                <a:latin typeface="Verdana" pitchFamily="34" charset="0"/>
              </a:rPr>
              <a:t>公司＜／公司＞</a:t>
            </a:r>
          </a:p>
          <a:p>
            <a:pPr marL="342900" indent="-342900" eaLnBrk="1" hangingPunct="1">
              <a:lnSpc>
                <a:spcPct val="90000"/>
              </a:lnSpc>
              <a:spcBef>
                <a:spcPct val="20000"/>
              </a:spcBef>
            </a:pPr>
            <a:r>
              <a:rPr lang="zh-CN" altLang="en-US" sz="1400" b="1" dirty="0">
                <a:latin typeface="Verdana" pitchFamily="34" charset="0"/>
              </a:rPr>
              <a:t>       ＜</a:t>
            </a:r>
            <a:r>
              <a:rPr lang="en-US" altLang="zh-CN" sz="1400" b="1" dirty="0">
                <a:latin typeface="Verdana" pitchFamily="34" charset="0"/>
              </a:rPr>
              <a:t>EMAIL</a:t>
            </a:r>
            <a:r>
              <a:rPr lang="zh-CN" altLang="en-US" sz="1400" b="1" dirty="0">
                <a:latin typeface="Verdana" pitchFamily="34" charset="0"/>
              </a:rPr>
              <a:t>＞</a:t>
            </a:r>
            <a:r>
              <a:rPr lang="en-US" altLang="zh-CN" sz="1400" b="1" dirty="0" err="1">
                <a:latin typeface="Verdana" pitchFamily="34" charset="0"/>
              </a:rPr>
              <a:t>zhang</a:t>
            </a:r>
            <a:r>
              <a:rPr lang="zh-CN" altLang="en-US" sz="1400" b="1" dirty="0">
                <a:latin typeface="Verdana" pitchFamily="34" charset="0"/>
              </a:rPr>
              <a:t>＠</a:t>
            </a:r>
            <a:r>
              <a:rPr lang="en-US" altLang="zh-CN" sz="1400" b="1" dirty="0" err="1">
                <a:latin typeface="Verdana" pitchFamily="34" charset="0"/>
              </a:rPr>
              <a:t>aaa</a:t>
            </a:r>
            <a:r>
              <a:rPr lang="zh-CN" altLang="en-US" sz="1400" b="1" dirty="0">
                <a:latin typeface="Verdana" pitchFamily="34" charset="0"/>
              </a:rPr>
              <a:t>．</a:t>
            </a:r>
            <a:r>
              <a:rPr lang="en-US" altLang="zh-CN" sz="1400" b="1" dirty="0">
                <a:latin typeface="Verdana" pitchFamily="34" charset="0"/>
              </a:rPr>
              <a:t>com</a:t>
            </a:r>
            <a:r>
              <a:rPr lang="zh-CN" altLang="en-US" sz="1400" b="1" dirty="0">
                <a:latin typeface="Verdana" pitchFamily="34" charset="0"/>
              </a:rPr>
              <a:t>＜／</a:t>
            </a:r>
            <a:r>
              <a:rPr lang="en-US" altLang="zh-CN" sz="1400" b="1" dirty="0">
                <a:latin typeface="Verdana" pitchFamily="34" charset="0"/>
              </a:rPr>
              <a:t>EMAIL</a:t>
            </a:r>
            <a:r>
              <a:rPr lang="zh-CN" altLang="en-US" sz="1400" b="1" dirty="0">
                <a:latin typeface="Verdana" pitchFamily="34" charset="0"/>
              </a:rPr>
              <a:t>＞</a:t>
            </a:r>
          </a:p>
          <a:p>
            <a:pPr marL="342900" indent="-342900" eaLnBrk="1" hangingPunct="1">
              <a:lnSpc>
                <a:spcPct val="90000"/>
              </a:lnSpc>
              <a:spcBef>
                <a:spcPct val="20000"/>
              </a:spcBef>
            </a:pPr>
            <a:r>
              <a:rPr lang="zh-CN" altLang="en-US" sz="1400" b="1" dirty="0">
                <a:latin typeface="Verdana" pitchFamily="34" charset="0"/>
              </a:rPr>
              <a:t>       ＜电话＞</a:t>
            </a:r>
            <a:r>
              <a:rPr lang="en-US" altLang="zh-CN" sz="1400" b="1" dirty="0">
                <a:latin typeface="Verdana" pitchFamily="34" charset="0"/>
              </a:rPr>
              <a:t>(010)62345678</a:t>
            </a:r>
            <a:r>
              <a:rPr lang="zh-CN" altLang="en-US" sz="1400" b="1" dirty="0">
                <a:latin typeface="Verdana" pitchFamily="34" charset="0"/>
              </a:rPr>
              <a:t>＜／电话＞</a:t>
            </a:r>
          </a:p>
          <a:p>
            <a:pPr marL="342900" indent="-342900" eaLnBrk="1" hangingPunct="1">
              <a:lnSpc>
                <a:spcPct val="90000"/>
              </a:lnSpc>
              <a:spcBef>
                <a:spcPct val="20000"/>
              </a:spcBef>
            </a:pPr>
            <a:r>
              <a:rPr lang="zh-CN" altLang="en-US" sz="1400" b="1" dirty="0">
                <a:latin typeface="Verdana" pitchFamily="34" charset="0"/>
              </a:rPr>
              <a:t>       ＜地址＞</a:t>
            </a:r>
          </a:p>
          <a:p>
            <a:pPr marL="342900" indent="-342900" eaLnBrk="1" hangingPunct="1">
              <a:lnSpc>
                <a:spcPct val="90000"/>
              </a:lnSpc>
              <a:spcBef>
                <a:spcPct val="20000"/>
              </a:spcBef>
            </a:pPr>
            <a:r>
              <a:rPr lang="zh-CN" altLang="en-US" sz="1400" b="1" dirty="0">
                <a:latin typeface="Verdana" pitchFamily="34" charset="0"/>
              </a:rPr>
              <a:t>           ＜街道＞五街</a:t>
            </a:r>
            <a:r>
              <a:rPr lang="en-US" altLang="zh-CN" sz="1400" b="1" dirty="0">
                <a:latin typeface="Verdana" pitchFamily="34" charset="0"/>
              </a:rPr>
              <a:t>1234</a:t>
            </a:r>
            <a:r>
              <a:rPr lang="zh-CN" altLang="en-US" sz="1400" b="1" dirty="0">
                <a:latin typeface="Verdana" pitchFamily="34" charset="0"/>
              </a:rPr>
              <a:t>号＜／街道＞</a:t>
            </a:r>
          </a:p>
          <a:p>
            <a:pPr marL="342900" indent="-342900" eaLnBrk="1" hangingPunct="1">
              <a:lnSpc>
                <a:spcPct val="90000"/>
              </a:lnSpc>
              <a:spcBef>
                <a:spcPct val="20000"/>
              </a:spcBef>
            </a:pPr>
            <a:r>
              <a:rPr lang="zh-CN" altLang="en-US" sz="1400" b="1" dirty="0">
                <a:latin typeface="Verdana" pitchFamily="34" charset="0"/>
              </a:rPr>
              <a:t>           ＜城市＞北京市＜／城市＞</a:t>
            </a:r>
          </a:p>
          <a:p>
            <a:pPr marL="342900" indent="-342900" eaLnBrk="1" hangingPunct="1">
              <a:lnSpc>
                <a:spcPct val="90000"/>
              </a:lnSpc>
              <a:spcBef>
                <a:spcPct val="20000"/>
              </a:spcBef>
            </a:pPr>
            <a:r>
              <a:rPr lang="zh-CN" altLang="en-US" sz="1400" b="1" dirty="0">
                <a:latin typeface="Verdana" pitchFamily="34" charset="0"/>
              </a:rPr>
              <a:t>           ＜省份＞北京＜／省份＞</a:t>
            </a:r>
          </a:p>
          <a:p>
            <a:pPr marL="342900" indent="-342900" eaLnBrk="1" hangingPunct="1">
              <a:lnSpc>
                <a:spcPct val="90000"/>
              </a:lnSpc>
              <a:spcBef>
                <a:spcPct val="20000"/>
              </a:spcBef>
            </a:pPr>
            <a:r>
              <a:rPr lang="zh-CN" altLang="en-US" sz="1400" b="1" dirty="0">
                <a:latin typeface="Verdana" pitchFamily="34" charset="0"/>
              </a:rPr>
              <a:t>       ＜／地址＞</a:t>
            </a:r>
          </a:p>
          <a:p>
            <a:pPr marL="342900" indent="-342900" eaLnBrk="1" hangingPunct="1">
              <a:lnSpc>
                <a:spcPct val="90000"/>
              </a:lnSpc>
              <a:spcBef>
                <a:spcPct val="20000"/>
              </a:spcBef>
            </a:pPr>
            <a:r>
              <a:rPr lang="zh-CN" altLang="en-US" sz="1400" b="1" dirty="0">
                <a:latin typeface="Verdana" pitchFamily="34" charset="0"/>
              </a:rPr>
              <a:t>   ＜／联系人＞</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027"/>
          <p:cNvSpPr>
            <a:spLocks noGrp="1" noChangeArrowheads="1"/>
          </p:cNvSpPr>
          <p:nvPr>
            <p:ph type="title"/>
          </p:nvPr>
        </p:nvSpPr>
        <p:spPr>
          <a:xfrm>
            <a:off x="2268538" y="74613"/>
            <a:ext cx="3967162" cy="690562"/>
          </a:xfrm>
        </p:spPr>
        <p:txBody>
          <a:bodyPr/>
          <a:lstStyle/>
          <a:p>
            <a:pPr marL="342900" indent="-342900">
              <a:lnSpc>
                <a:spcPct val="90000"/>
              </a:lnSpc>
              <a:spcBef>
                <a:spcPct val="20000"/>
              </a:spcBef>
            </a:pPr>
            <a:r>
              <a:rPr lang="en-US" altLang="zh-CN" sz="3200" b="1" dirty="0" smtClean="0">
                <a:latin typeface="+mj-ea"/>
              </a:rPr>
              <a:t>MyStyle.xsl</a:t>
            </a:r>
          </a:p>
        </p:txBody>
      </p:sp>
      <p:sp>
        <p:nvSpPr>
          <p:cNvPr id="20483" name="AutoShape 1028">
            <a:hlinkClick r:id="" action="ppaction://noaction" highlightClick="1"/>
          </p:cNvPr>
          <p:cNvSpPr>
            <a:spLocks noChangeArrowheads="1"/>
          </p:cNvSpPr>
          <p:nvPr/>
        </p:nvSpPr>
        <p:spPr bwMode="auto">
          <a:xfrm>
            <a:off x="7620000" y="228600"/>
            <a:ext cx="1143000" cy="457200"/>
          </a:xfrm>
          <a:prstGeom prst="actionButtonBlank">
            <a:avLst/>
          </a:prstGeom>
          <a:noFill/>
          <a:ln w="9525">
            <a:noFill/>
            <a:miter lim="800000"/>
            <a:headEnd/>
            <a:tailEnd/>
          </a:ln>
        </p:spPr>
        <p:txBody>
          <a:bodyPr wrap="none" anchor="ctr"/>
          <a:lstStyle/>
          <a:p>
            <a:pPr algn="ctr" eaLnBrk="1" hangingPunct="1">
              <a:spcBef>
                <a:spcPct val="20000"/>
              </a:spcBef>
              <a:buClr>
                <a:srgbClr val="0427FE"/>
              </a:buClr>
              <a:buFont typeface="Wingdings" pitchFamily="2" charset="2"/>
              <a:buNone/>
            </a:pPr>
            <a:r>
              <a:rPr lang="zh-CN" altLang="en-US" dirty="0">
                <a:ea typeface="楷体_GB2312" pitchFamily="49" charset="-122"/>
                <a:hlinkClick r:id="rId2" action="ppaction://hlinksldjump"/>
              </a:rPr>
              <a:t>返回</a:t>
            </a:r>
            <a:endParaRPr lang="zh-CN" altLang="en-US" dirty="0">
              <a:ea typeface="楷体_GB2312" pitchFamily="49" charset="-122"/>
            </a:endParaRPr>
          </a:p>
        </p:txBody>
      </p:sp>
      <p:sp>
        <p:nvSpPr>
          <p:cNvPr id="20484" name="Rectangle 1029"/>
          <p:cNvSpPr>
            <a:spLocks noChangeArrowheads="1"/>
          </p:cNvSpPr>
          <p:nvPr/>
        </p:nvSpPr>
        <p:spPr bwMode="auto">
          <a:xfrm>
            <a:off x="5105400" y="1828800"/>
            <a:ext cx="4343400" cy="3733800"/>
          </a:xfrm>
          <a:prstGeom prst="rect">
            <a:avLst/>
          </a:prstGeom>
          <a:noFill/>
          <a:ln w="9525">
            <a:noFill/>
            <a:miter lim="800000"/>
            <a:headEnd/>
            <a:tailEnd/>
          </a:ln>
        </p:spPr>
        <p:txBody>
          <a:bodyPr/>
          <a:lstStyle/>
          <a:p>
            <a:pPr marL="342900" indent="-342900" eaLnBrk="1" hangingPunct="1">
              <a:lnSpc>
                <a:spcPct val="90000"/>
              </a:lnSpc>
              <a:spcBef>
                <a:spcPct val="20000"/>
              </a:spcBef>
            </a:pPr>
            <a:endParaRPr lang="zh-CN" altLang="zh-CN" sz="1600">
              <a:latin typeface="Verdana" pitchFamily="34" charset="0"/>
            </a:endParaRPr>
          </a:p>
        </p:txBody>
      </p:sp>
      <p:sp>
        <p:nvSpPr>
          <p:cNvPr id="20485" name="Rectangle 1031"/>
          <p:cNvSpPr>
            <a:spLocks noChangeArrowheads="1"/>
          </p:cNvSpPr>
          <p:nvPr/>
        </p:nvSpPr>
        <p:spPr bwMode="auto">
          <a:xfrm>
            <a:off x="1814538" y="928670"/>
            <a:ext cx="6400800" cy="5257800"/>
          </a:xfrm>
          <a:prstGeom prst="rect">
            <a:avLst/>
          </a:prstGeom>
          <a:noFill/>
          <a:ln w="9525">
            <a:noFill/>
            <a:miter lim="800000"/>
            <a:headEnd/>
            <a:tailEnd/>
          </a:ln>
        </p:spPr>
        <p:txBody>
          <a:bodyPr/>
          <a:lstStyle/>
          <a:p>
            <a:pPr marL="342900" indent="-342900" eaLnBrk="1" hangingPunct="1">
              <a:spcBef>
                <a:spcPct val="20000"/>
              </a:spcBef>
            </a:pPr>
            <a:r>
              <a:rPr lang="zh-CN" altLang="en-US" sz="1400" b="1" dirty="0" smtClean="0">
                <a:latin typeface="Verdana" pitchFamily="34" charset="0"/>
              </a:rPr>
              <a:t>＜</a:t>
            </a:r>
            <a:r>
              <a:rPr lang="en-US" altLang="zh-CN" sz="1400" b="1" dirty="0">
                <a:latin typeface="Verdana" pitchFamily="34" charset="0"/>
              </a:rPr>
              <a:t>?xml version</a:t>
            </a:r>
            <a:r>
              <a:rPr lang="zh-CN" altLang="en-US" sz="1400" b="1" dirty="0">
                <a:latin typeface="Verdana" pitchFamily="34" charset="0"/>
              </a:rPr>
              <a:t>＝</a:t>
            </a:r>
            <a:r>
              <a:rPr lang="en-US" altLang="zh-CN" sz="1400" b="1" dirty="0">
                <a:latin typeface="Verdana" pitchFamily="34" charset="0"/>
              </a:rPr>
              <a:t>"1</a:t>
            </a:r>
            <a:r>
              <a:rPr lang="zh-CN" altLang="en-US" sz="1400" b="1" dirty="0">
                <a:latin typeface="Verdana" pitchFamily="34" charset="0"/>
              </a:rPr>
              <a:t>．</a:t>
            </a:r>
            <a:r>
              <a:rPr lang="en-US" altLang="zh-CN" sz="1400" b="1" dirty="0" smtClean="0">
                <a:latin typeface="Verdana" pitchFamily="34" charset="0"/>
              </a:rPr>
              <a:t>0"encoding</a:t>
            </a:r>
            <a:r>
              <a:rPr lang="zh-CN" altLang="en-US" sz="1400" b="1" dirty="0">
                <a:latin typeface="Verdana" pitchFamily="34" charset="0"/>
              </a:rPr>
              <a:t>＝</a:t>
            </a:r>
            <a:r>
              <a:rPr lang="en-US" altLang="zh-CN" sz="1400" b="1" dirty="0">
                <a:latin typeface="Verdana" pitchFamily="34" charset="0"/>
              </a:rPr>
              <a:t>"GB2312"?</a:t>
            </a:r>
            <a:r>
              <a:rPr lang="zh-CN" altLang="en-US" sz="1400" b="1" dirty="0">
                <a:latin typeface="Verdana" pitchFamily="34" charset="0"/>
              </a:rPr>
              <a:t>＞</a:t>
            </a:r>
          </a:p>
          <a:p>
            <a:pPr marL="342900" indent="-342900" eaLnBrk="1" hangingPunct="1">
              <a:spcBef>
                <a:spcPct val="20000"/>
              </a:spcBef>
            </a:pPr>
            <a:r>
              <a:rPr lang="zh-CN" altLang="en-US" sz="1400" b="1" dirty="0">
                <a:latin typeface="Verdana" pitchFamily="34" charset="0"/>
              </a:rPr>
              <a:t>＜</a:t>
            </a:r>
            <a:r>
              <a:rPr lang="en-US" altLang="zh-CN" sz="1400" b="1" dirty="0" err="1">
                <a:latin typeface="Verdana" pitchFamily="34" charset="0"/>
              </a:rPr>
              <a:t>xsl</a:t>
            </a:r>
            <a:r>
              <a:rPr lang="zh-CN" altLang="en-US" sz="1400" b="1" dirty="0">
                <a:latin typeface="Verdana" pitchFamily="34" charset="0"/>
              </a:rPr>
              <a:t>：</a:t>
            </a:r>
            <a:r>
              <a:rPr lang="en-US" altLang="zh-CN" sz="1400" b="1" dirty="0" err="1">
                <a:latin typeface="Verdana" pitchFamily="34" charset="0"/>
              </a:rPr>
              <a:t>stylesheet</a:t>
            </a:r>
            <a:r>
              <a:rPr lang="en-US" altLang="zh-CN" sz="1400" b="1" dirty="0">
                <a:latin typeface="Verdana" pitchFamily="34" charset="0"/>
              </a:rPr>
              <a:t> </a:t>
            </a:r>
            <a:r>
              <a:rPr lang="en-US" altLang="zh-CN" sz="1400" b="1" dirty="0" err="1">
                <a:latin typeface="Verdana" pitchFamily="34" charset="0"/>
              </a:rPr>
              <a:t>xmlns</a:t>
            </a:r>
            <a:r>
              <a:rPr lang="zh-CN" altLang="en-US" sz="1400" b="1" dirty="0">
                <a:latin typeface="Verdana" pitchFamily="34" charset="0"/>
              </a:rPr>
              <a:t>：</a:t>
            </a:r>
            <a:r>
              <a:rPr lang="en-US" altLang="zh-CN" sz="1400" b="1" dirty="0" err="1">
                <a:latin typeface="Verdana" pitchFamily="34" charset="0"/>
              </a:rPr>
              <a:t>xsl</a:t>
            </a:r>
            <a:r>
              <a:rPr lang="zh-CN" altLang="en-US" sz="1400" b="1" dirty="0">
                <a:latin typeface="Verdana" pitchFamily="34" charset="0"/>
              </a:rPr>
              <a:t>＝”</a:t>
            </a:r>
            <a:r>
              <a:rPr lang="en-US" altLang="zh-CN" sz="1400" b="1" dirty="0">
                <a:latin typeface="Verdana" pitchFamily="34" charset="0"/>
              </a:rPr>
              <a:t>http</a:t>
            </a:r>
            <a:r>
              <a:rPr lang="zh-CN" altLang="en-US" sz="1400" b="1" dirty="0">
                <a:latin typeface="Verdana" pitchFamily="34" charset="0"/>
              </a:rPr>
              <a:t>：／／</a:t>
            </a:r>
            <a:r>
              <a:rPr lang="en-US" altLang="zh-CN" sz="1400" b="1" dirty="0">
                <a:latin typeface="Verdana" pitchFamily="34" charset="0"/>
              </a:rPr>
              <a:t>www</a:t>
            </a:r>
            <a:r>
              <a:rPr lang="zh-CN" altLang="en-US" sz="1400" b="1" dirty="0">
                <a:latin typeface="Verdana" pitchFamily="34" charset="0"/>
              </a:rPr>
              <a:t>．</a:t>
            </a:r>
            <a:r>
              <a:rPr lang="en-US" altLang="zh-CN" sz="1400" b="1" dirty="0">
                <a:latin typeface="Verdana" pitchFamily="34" charset="0"/>
              </a:rPr>
              <a:t>w3</a:t>
            </a:r>
            <a:r>
              <a:rPr lang="zh-CN" altLang="en-US" sz="1400" b="1" dirty="0">
                <a:latin typeface="Verdana" pitchFamily="34" charset="0"/>
              </a:rPr>
              <a:t>．</a:t>
            </a:r>
            <a:r>
              <a:rPr lang="en-US" altLang="zh-CN" sz="1400" b="1" dirty="0">
                <a:latin typeface="Verdana" pitchFamily="34" charset="0"/>
              </a:rPr>
              <a:t>org</a:t>
            </a:r>
            <a:r>
              <a:rPr lang="zh-CN" altLang="en-US" sz="1400" b="1" dirty="0">
                <a:latin typeface="Verdana" pitchFamily="34" charset="0"/>
              </a:rPr>
              <a:t>／</a:t>
            </a:r>
            <a:r>
              <a:rPr lang="en-US" altLang="zh-CN" sz="1400" b="1" dirty="0">
                <a:latin typeface="Verdana" pitchFamily="34" charset="0"/>
              </a:rPr>
              <a:t>TR</a:t>
            </a:r>
            <a:r>
              <a:rPr lang="zh-CN" altLang="en-US" sz="1400" b="1" dirty="0">
                <a:latin typeface="Verdana" pitchFamily="34" charset="0"/>
              </a:rPr>
              <a:t>／</a:t>
            </a:r>
            <a:r>
              <a:rPr lang="en-US" altLang="zh-CN" sz="1400" b="1" dirty="0">
                <a:latin typeface="Verdana" pitchFamily="34" charset="0"/>
              </a:rPr>
              <a:t>WD-</a:t>
            </a:r>
            <a:r>
              <a:rPr lang="en-US" altLang="zh-CN" sz="1400" b="1" dirty="0" err="1">
                <a:latin typeface="Verdana" pitchFamily="34" charset="0"/>
              </a:rPr>
              <a:t>xsl</a:t>
            </a:r>
            <a:r>
              <a:rPr lang="en-US" altLang="zh-CN" sz="1400" b="1" dirty="0">
                <a:latin typeface="Verdana" pitchFamily="34" charset="0"/>
              </a:rPr>
              <a:t>"</a:t>
            </a:r>
          </a:p>
          <a:p>
            <a:pPr marL="342900" indent="-342900" eaLnBrk="1" hangingPunct="1">
              <a:spcBef>
                <a:spcPct val="20000"/>
              </a:spcBef>
            </a:pPr>
            <a:r>
              <a:rPr lang="en-US" altLang="zh-CN" sz="1400" b="1" dirty="0">
                <a:latin typeface="Verdana" pitchFamily="34" charset="0"/>
              </a:rPr>
              <a:t>    </a:t>
            </a:r>
            <a:r>
              <a:rPr lang="en-US" altLang="zh-CN" sz="1400" b="1" dirty="0" err="1">
                <a:latin typeface="Verdana" pitchFamily="34" charset="0"/>
              </a:rPr>
              <a:t>xmlHs</a:t>
            </a:r>
            <a:r>
              <a:rPr lang="zh-CN" altLang="en-US" sz="1400" b="1" dirty="0">
                <a:latin typeface="Verdana" pitchFamily="34" charset="0"/>
              </a:rPr>
              <a:t>＝</a:t>
            </a:r>
            <a:r>
              <a:rPr lang="en-US" altLang="zh-CN" sz="1400" b="1" dirty="0">
                <a:latin typeface="Verdana" pitchFamily="34" charset="0"/>
              </a:rPr>
              <a:t>"http</a:t>
            </a:r>
            <a:r>
              <a:rPr lang="zh-CN" altLang="en-US" sz="1400" b="1" dirty="0">
                <a:latin typeface="Verdana" pitchFamily="34" charset="0"/>
              </a:rPr>
              <a:t>：／／</a:t>
            </a:r>
            <a:r>
              <a:rPr lang="en-US" altLang="zh-CN" sz="1400" b="1" dirty="0">
                <a:latin typeface="Verdana" pitchFamily="34" charset="0"/>
              </a:rPr>
              <a:t>www</a:t>
            </a:r>
            <a:r>
              <a:rPr lang="zh-CN" altLang="en-US" sz="1400" b="1" dirty="0">
                <a:latin typeface="Verdana" pitchFamily="34" charset="0"/>
              </a:rPr>
              <a:t>．</a:t>
            </a:r>
            <a:r>
              <a:rPr lang="en-US" altLang="zh-CN" sz="1400" b="1" dirty="0">
                <a:latin typeface="Verdana" pitchFamily="34" charset="0"/>
              </a:rPr>
              <a:t>w3</a:t>
            </a:r>
            <a:r>
              <a:rPr lang="zh-CN" altLang="en-US" sz="1400" b="1" dirty="0">
                <a:latin typeface="Verdana" pitchFamily="34" charset="0"/>
              </a:rPr>
              <a:t>．</a:t>
            </a:r>
            <a:r>
              <a:rPr lang="en-US" altLang="zh-CN" sz="1400" b="1" dirty="0">
                <a:latin typeface="Verdana" pitchFamily="34" charset="0"/>
              </a:rPr>
              <a:t>org</a:t>
            </a:r>
            <a:r>
              <a:rPr lang="zh-CN" altLang="en-US" sz="1400" b="1" dirty="0">
                <a:latin typeface="Verdana" pitchFamily="34" charset="0"/>
              </a:rPr>
              <a:t>／</a:t>
            </a:r>
            <a:r>
              <a:rPr lang="en-US" altLang="zh-CN" sz="1400" b="1" dirty="0">
                <a:latin typeface="Verdana" pitchFamily="34" charset="0"/>
              </a:rPr>
              <a:t>TR</a:t>
            </a:r>
            <a:r>
              <a:rPr lang="zh-CN" altLang="en-US" sz="1400" b="1" dirty="0">
                <a:latin typeface="Verdana" pitchFamily="34" charset="0"/>
              </a:rPr>
              <a:t>／</a:t>
            </a:r>
            <a:r>
              <a:rPr lang="en-US" altLang="zh-CN" sz="1400" b="1" dirty="0">
                <a:latin typeface="Verdana" pitchFamily="34" charset="0"/>
              </a:rPr>
              <a:t>REC—html40"</a:t>
            </a:r>
          </a:p>
          <a:p>
            <a:pPr marL="342900" indent="-342900" eaLnBrk="1" hangingPunct="1">
              <a:spcBef>
                <a:spcPct val="20000"/>
              </a:spcBef>
            </a:pPr>
            <a:r>
              <a:rPr lang="en-US" altLang="zh-CN" sz="1400" b="1" dirty="0">
                <a:latin typeface="Verdana" pitchFamily="34" charset="0"/>
              </a:rPr>
              <a:t>    result—ns</a:t>
            </a:r>
            <a:r>
              <a:rPr lang="zh-CN" altLang="en-US" sz="1400" b="1" dirty="0">
                <a:latin typeface="Verdana" pitchFamily="34" charset="0"/>
              </a:rPr>
              <a:t>：＝</a:t>
            </a:r>
            <a:r>
              <a:rPr lang="en-US" altLang="zh-CN" sz="1400" b="1" dirty="0">
                <a:latin typeface="Verdana" pitchFamily="34" charset="0"/>
              </a:rPr>
              <a:t>""</a:t>
            </a:r>
            <a:r>
              <a:rPr lang="zh-CN" altLang="en-US" sz="1400" b="1" dirty="0">
                <a:latin typeface="Verdana" pitchFamily="34" charset="0"/>
              </a:rPr>
              <a:t>＞</a:t>
            </a:r>
          </a:p>
          <a:p>
            <a:pPr marL="342900" indent="-342900" eaLnBrk="1" hangingPunct="1">
              <a:spcBef>
                <a:spcPct val="20000"/>
              </a:spcBef>
            </a:pPr>
            <a:r>
              <a:rPr lang="zh-CN" altLang="en-US" sz="1400" b="1" dirty="0">
                <a:latin typeface="Verdana" pitchFamily="34" charset="0"/>
              </a:rPr>
              <a:t>＜</a:t>
            </a:r>
            <a:r>
              <a:rPr lang="en-US" altLang="zh-CN" sz="1400" b="1" dirty="0" err="1">
                <a:latin typeface="Verdana" pitchFamily="34" charset="0"/>
              </a:rPr>
              <a:t>xst</a:t>
            </a:r>
            <a:r>
              <a:rPr lang="zh-CN" altLang="en-US" sz="1400" b="1" dirty="0">
                <a:latin typeface="Verdana" pitchFamily="34" charset="0"/>
              </a:rPr>
              <a:t>：</a:t>
            </a:r>
            <a:r>
              <a:rPr lang="en-US" altLang="zh-CN" sz="1400" b="1" dirty="0">
                <a:latin typeface="Verdana" pitchFamily="34" charset="0"/>
              </a:rPr>
              <a:t>template</a:t>
            </a:r>
            <a:r>
              <a:rPr lang="zh-CN" altLang="en-US" sz="1400" b="1" dirty="0">
                <a:latin typeface="Verdana" pitchFamily="34" charset="0"/>
              </a:rPr>
              <a:t>＞＜</a:t>
            </a:r>
            <a:r>
              <a:rPr lang="en-US" altLang="zh-CN" sz="1400" b="1" dirty="0" err="1">
                <a:latin typeface="Verdana" pitchFamily="34" charset="0"/>
              </a:rPr>
              <a:t>xsI</a:t>
            </a:r>
            <a:r>
              <a:rPr lang="zh-CN" altLang="en-US" sz="1400" b="1" dirty="0">
                <a:latin typeface="Verdana" pitchFamily="34" charset="0"/>
              </a:rPr>
              <a:t>：</a:t>
            </a:r>
            <a:r>
              <a:rPr lang="en-US" altLang="zh-CN" sz="1400" b="1" dirty="0">
                <a:latin typeface="Verdana" pitchFamily="34" charset="0"/>
              </a:rPr>
              <a:t>apply—templates</a:t>
            </a:r>
            <a:r>
              <a:rPr lang="zh-CN" altLang="en-US" sz="1400" b="1" dirty="0">
                <a:latin typeface="Verdana" pitchFamily="34" charset="0"/>
              </a:rPr>
              <a:t>／＞＜／</a:t>
            </a:r>
            <a:r>
              <a:rPr lang="en-US" altLang="zh-CN" sz="1400" b="1" dirty="0" err="1">
                <a:latin typeface="Verdana" pitchFamily="34" charset="0"/>
              </a:rPr>
              <a:t>xsl</a:t>
            </a:r>
            <a:r>
              <a:rPr lang="zh-CN" altLang="en-US" sz="1400" b="1" dirty="0">
                <a:latin typeface="Verdana" pitchFamily="34" charset="0"/>
              </a:rPr>
              <a:t>：</a:t>
            </a:r>
            <a:r>
              <a:rPr lang="en-US" altLang="zh-CN" sz="1400" b="1" dirty="0">
                <a:latin typeface="Verdana" pitchFamily="34" charset="0"/>
              </a:rPr>
              <a:t>template</a:t>
            </a:r>
            <a:r>
              <a:rPr lang="zh-CN" altLang="en-US" sz="1400" b="1" dirty="0">
                <a:latin typeface="Verdana" pitchFamily="34" charset="0"/>
              </a:rPr>
              <a:t>＞</a:t>
            </a:r>
          </a:p>
          <a:p>
            <a:pPr marL="342900" indent="-342900" eaLnBrk="1" hangingPunct="1">
              <a:spcBef>
                <a:spcPct val="20000"/>
              </a:spcBef>
            </a:pPr>
            <a:endParaRPr lang="zh-CN" altLang="en-US" sz="1400" b="1" dirty="0">
              <a:latin typeface="Verdana" pitchFamily="34" charset="0"/>
            </a:endParaRPr>
          </a:p>
          <a:p>
            <a:pPr marL="342900" indent="-342900" eaLnBrk="1" hangingPunct="1">
              <a:spcBef>
                <a:spcPct val="20000"/>
              </a:spcBef>
            </a:pPr>
            <a:r>
              <a:rPr lang="zh-CN" altLang="en-US" sz="1400" b="1" dirty="0">
                <a:latin typeface="Verdana" pitchFamily="34" charset="0"/>
              </a:rPr>
              <a:t>＜</a:t>
            </a:r>
            <a:r>
              <a:rPr lang="en-US" altLang="zh-CN" sz="1400" b="1" dirty="0" err="1">
                <a:latin typeface="Verdana" pitchFamily="34" charset="0"/>
              </a:rPr>
              <a:t>xsl</a:t>
            </a:r>
            <a:r>
              <a:rPr lang="zh-CN" altLang="en-US" sz="1400" b="1" dirty="0">
                <a:latin typeface="Verdana" pitchFamily="34" charset="0"/>
              </a:rPr>
              <a:t>：</a:t>
            </a:r>
            <a:r>
              <a:rPr lang="en-US" altLang="zh-CN" sz="1400" b="1" dirty="0">
                <a:latin typeface="Verdana" pitchFamily="34" charset="0"/>
              </a:rPr>
              <a:t>template match</a:t>
            </a:r>
            <a:r>
              <a:rPr lang="zh-CN" altLang="en-US" sz="1400" b="1" dirty="0">
                <a:latin typeface="Verdana" pitchFamily="34" charset="0"/>
              </a:rPr>
              <a:t>＝</a:t>
            </a:r>
            <a:r>
              <a:rPr lang="en-US" altLang="zh-CN" sz="1400" b="1" dirty="0">
                <a:latin typeface="Verdana" pitchFamily="34" charset="0"/>
              </a:rPr>
              <a:t>"</a:t>
            </a:r>
            <a:r>
              <a:rPr lang="zh-CN" altLang="en-US" sz="1400" b="1" dirty="0">
                <a:latin typeface="Verdana" pitchFamily="34" charset="0"/>
              </a:rPr>
              <a:t>／</a:t>
            </a:r>
            <a:r>
              <a:rPr lang="en-US" altLang="zh-CN" sz="1400" b="1" dirty="0">
                <a:latin typeface="Verdana" pitchFamily="34" charset="0"/>
              </a:rPr>
              <a:t>"</a:t>
            </a:r>
            <a:r>
              <a:rPr lang="zh-CN" altLang="en-US" sz="1400" b="1" dirty="0">
                <a:latin typeface="Verdana" pitchFamily="34" charset="0"/>
              </a:rPr>
              <a:t>＞</a:t>
            </a:r>
          </a:p>
          <a:p>
            <a:pPr marL="342900" indent="-342900" eaLnBrk="1" hangingPunct="1">
              <a:spcBef>
                <a:spcPct val="20000"/>
              </a:spcBef>
            </a:pPr>
            <a:r>
              <a:rPr lang="zh-CN" altLang="en-US" sz="1400" b="1" dirty="0">
                <a:latin typeface="Verdana" pitchFamily="34" charset="0"/>
              </a:rPr>
              <a:t>    ＜</a:t>
            </a:r>
            <a:r>
              <a:rPr lang="en-US" altLang="zh-CN" sz="1400" b="1" dirty="0">
                <a:latin typeface="Verdana" pitchFamily="34" charset="0"/>
              </a:rPr>
              <a:t>HTML</a:t>
            </a:r>
            <a:r>
              <a:rPr lang="zh-CN" altLang="en-US" sz="1400" b="1" dirty="0">
                <a:latin typeface="Verdana" pitchFamily="34" charset="0"/>
              </a:rPr>
              <a:t>＞</a:t>
            </a:r>
          </a:p>
          <a:p>
            <a:pPr marL="342900" indent="-342900" eaLnBrk="1" hangingPunct="1">
              <a:spcBef>
                <a:spcPct val="20000"/>
              </a:spcBef>
            </a:pPr>
            <a:r>
              <a:rPr lang="zh-CN" altLang="en-US" sz="1400" b="1" dirty="0">
                <a:latin typeface="Verdana" pitchFamily="34" charset="0"/>
              </a:rPr>
              <a:t>    ＜</a:t>
            </a:r>
            <a:r>
              <a:rPr lang="en-US" altLang="zh-CN" sz="1400" b="1" dirty="0">
                <a:latin typeface="Verdana" pitchFamily="34" charset="0"/>
              </a:rPr>
              <a:t>HEAD</a:t>
            </a:r>
            <a:r>
              <a:rPr lang="zh-CN" altLang="en-US" sz="1400" b="1" dirty="0">
                <a:latin typeface="Verdana" pitchFamily="34" charset="0"/>
              </a:rPr>
              <a:t>＞</a:t>
            </a:r>
          </a:p>
          <a:p>
            <a:pPr marL="342900" indent="-342900" eaLnBrk="1" hangingPunct="1">
              <a:spcBef>
                <a:spcPct val="20000"/>
              </a:spcBef>
            </a:pPr>
            <a:r>
              <a:rPr lang="zh-CN" altLang="en-US" sz="1400" b="1" dirty="0">
                <a:latin typeface="Verdana" pitchFamily="34" charset="0"/>
              </a:rPr>
              <a:t>    ＜</a:t>
            </a:r>
            <a:r>
              <a:rPr lang="en-US" altLang="zh-CN" sz="1400" b="1" dirty="0">
                <a:latin typeface="Verdana" pitchFamily="34" charset="0"/>
              </a:rPr>
              <a:t>TITLE</a:t>
            </a:r>
            <a:r>
              <a:rPr lang="zh-CN" altLang="en-US" sz="1400" b="1" dirty="0">
                <a:latin typeface="Verdana" pitchFamily="34" charset="0"/>
              </a:rPr>
              <a:t>＞</a:t>
            </a:r>
            <a:r>
              <a:rPr lang="en-US" altLang="zh-CN" sz="1400" b="1" dirty="0">
                <a:latin typeface="Verdana" pitchFamily="34" charset="0"/>
              </a:rPr>
              <a:t>F</a:t>
            </a:r>
            <a:r>
              <a:rPr lang="zh-CN" altLang="en-US" sz="1400" b="1" dirty="0">
                <a:latin typeface="Verdana" pitchFamily="34" charset="0"/>
              </a:rPr>
              <a:t>公司的客户联系信息＜／</a:t>
            </a:r>
            <a:r>
              <a:rPr lang="en-US" altLang="zh-CN" sz="1400" b="1" dirty="0" err="1">
                <a:latin typeface="Verdana" pitchFamily="34" charset="0"/>
              </a:rPr>
              <a:t>TITlE</a:t>
            </a:r>
            <a:r>
              <a:rPr lang="zh-CN" altLang="en-US" sz="1400" b="1" dirty="0">
                <a:latin typeface="Verdana" pitchFamily="34" charset="0"/>
              </a:rPr>
              <a:t>＞</a:t>
            </a:r>
          </a:p>
          <a:p>
            <a:pPr marL="342900" indent="-342900" eaLnBrk="1" hangingPunct="1">
              <a:spcBef>
                <a:spcPct val="20000"/>
              </a:spcBef>
            </a:pPr>
            <a:r>
              <a:rPr lang="zh-CN" altLang="en-US" sz="1400" b="1" dirty="0">
                <a:latin typeface="Verdana" pitchFamily="34" charset="0"/>
              </a:rPr>
              <a:t>    ＜／</a:t>
            </a:r>
            <a:r>
              <a:rPr lang="en-US" altLang="zh-CN" sz="1400" b="1" dirty="0">
                <a:latin typeface="Verdana" pitchFamily="34" charset="0"/>
              </a:rPr>
              <a:t>HEAD</a:t>
            </a:r>
            <a:r>
              <a:rPr lang="zh-CN" altLang="en-US" sz="1400" b="1" dirty="0">
                <a:latin typeface="Verdana" pitchFamily="34" charset="0"/>
              </a:rPr>
              <a:t>＞</a:t>
            </a:r>
          </a:p>
          <a:p>
            <a:pPr marL="342900" indent="-342900" eaLnBrk="1" hangingPunct="1">
              <a:spcBef>
                <a:spcPct val="20000"/>
              </a:spcBef>
            </a:pPr>
            <a:r>
              <a:rPr lang="zh-CN" altLang="en-US" sz="1400" b="1" dirty="0">
                <a:latin typeface="Verdana" pitchFamily="34" charset="0"/>
              </a:rPr>
              <a:t>    ＜</a:t>
            </a:r>
            <a:r>
              <a:rPr lang="en-US" altLang="zh-CN" sz="1400" b="1" dirty="0">
                <a:latin typeface="Verdana" pitchFamily="34" charset="0"/>
              </a:rPr>
              <a:t>BODY</a:t>
            </a:r>
            <a:r>
              <a:rPr lang="zh-CN" altLang="en-US" sz="1400" b="1" dirty="0">
                <a:latin typeface="Verdana" pitchFamily="34" charset="0"/>
              </a:rPr>
              <a:t>＞</a:t>
            </a:r>
          </a:p>
          <a:p>
            <a:pPr marL="342900" indent="-342900" eaLnBrk="1" hangingPunct="1">
              <a:spcBef>
                <a:spcPct val="20000"/>
              </a:spcBef>
            </a:pPr>
            <a:r>
              <a:rPr lang="zh-CN" altLang="en-US" sz="1400" b="1" dirty="0">
                <a:latin typeface="Verdana" pitchFamily="34" charset="0"/>
              </a:rPr>
              <a:t>    ＜</a:t>
            </a:r>
            <a:r>
              <a:rPr lang="en-US" altLang="zh-CN" sz="1400" b="1" dirty="0" err="1">
                <a:latin typeface="Verdana" pitchFamily="34" charset="0"/>
              </a:rPr>
              <a:t>xsl</a:t>
            </a:r>
            <a:r>
              <a:rPr lang="zh-CN" altLang="en-US" sz="1400" b="1" dirty="0">
                <a:latin typeface="Verdana" pitchFamily="34" charset="0"/>
              </a:rPr>
              <a:t>：</a:t>
            </a:r>
            <a:r>
              <a:rPr lang="en-US" altLang="zh-CN" sz="1400" b="1" dirty="0">
                <a:latin typeface="Verdana" pitchFamily="34" charset="0"/>
              </a:rPr>
              <a:t>apply—templates select</a:t>
            </a:r>
            <a:r>
              <a:rPr lang="zh-CN" altLang="en-US" sz="1400" b="1" dirty="0">
                <a:latin typeface="Verdana" pitchFamily="34" charset="0"/>
              </a:rPr>
              <a:t>＝</a:t>
            </a:r>
            <a:r>
              <a:rPr lang="en-US" altLang="zh-CN" sz="1400" b="1" dirty="0">
                <a:latin typeface="Verdana" pitchFamily="34" charset="0"/>
              </a:rPr>
              <a:t>"</a:t>
            </a:r>
            <a:r>
              <a:rPr lang="zh-CN" altLang="en-US" sz="1400" b="1" dirty="0">
                <a:latin typeface="Verdana" pitchFamily="34" charset="0"/>
              </a:rPr>
              <a:t>联系人列表</a:t>
            </a:r>
            <a:r>
              <a:rPr lang="en-US" altLang="zh-CN" sz="1400" b="1" dirty="0">
                <a:latin typeface="Verdana" pitchFamily="34" charset="0"/>
              </a:rPr>
              <a:t>"</a:t>
            </a:r>
            <a:r>
              <a:rPr lang="zh-CN" altLang="en-US" sz="1400" b="1" dirty="0">
                <a:latin typeface="Verdana" pitchFamily="34" charset="0"/>
              </a:rPr>
              <a:t>／＞</a:t>
            </a:r>
          </a:p>
          <a:p>
            <a:pPr marL="342900" indent="-342900" eaLnBrk="1" hangingPunct="1">
              <a:spcBef>
                <a:spcPct val="20000"/>
              </a:spcBef>
            </a:pPr>
            <a:r>
              <a:rPr lang="zh-CN" altLang="en-US" sz="1400" b="1" dirty="0">
                <a:latin typeface="Verdana" pitchFamily="34" charset="0"/>
              </a:rPr>
              <a:t>    ＜／</a:t>
            </a:r>
            <a:r>
              <a:rPr lang="en-US" altLang="zh-CN" sz="1400" b="1" dirty="0">
                <a:latin typeface="Verdana" pitchFamily="34" charset="0"/>
              </a:rPr>
              <a:t>BODY</a:t>
            </a:r>
            <a:r>
              <a:rPr lang="zh-CN" altLang="en-US" sz="1400" b="1" dirty="0">
                <a:latin typeface="Verdana" pitchFamily="34" charset="0"/>
              </a:rPr>
              <a:t>＞</a:t>
            </a:r>
          </a:p>
          <a:p>
            <a:pPr marL="342900" indent="-342900" eaLnBrk="1" hangingPunct="1">
              <a:spcBef>
                <a:spcPct val="20000"/>
              </a:spcBef>
            </a:pPr>
            <a:r>
              <a:rPr lang="zh-CN" altLang="en-US" sz="1400" b="1" dirty="0">
                <a:latin typeface="Verdana" pitchFamily="34" charset="0"/>
              </a:rPr>
              <a:t>    ＜／</a:t>
            </a:r>
            <a:r>
              <a:rPr lang="en-US" altLang="zh-CN" sz="1400" b="1" dirty="0">
                <a:latin typeface="Verdana" pitchFamily="34" charset="0"/>
              </a:rPr>
              <a:t>HTML</a:t>
            </a:r>
            <a:r>
              <a:rPr lang="zh-CN" altLang="en-US" sz="1400" b="1" dirty="0">
                <a:latin typeface="Verdana" pitchFamily="34" charset="0"/>
              </a:rPr>
              <a:t>＞</a:t>
            </a:r>
          </a:p>
          <a:p>
            <a:pPr marL="342900" indent="-342900" eaLnBrk="1" hangingPunct="1">
              <a:spcBef>
                <a:spcPct val="20000"/>
              </a:spcBef>
            </a:pPr>
            <a:r>
              <a:rPr lang="zh-CN" altLang="en-US" sz="1400" b="1" dirty="0">
                <a:latin typeface="Verdana" pitchFamily="34" charset="0"/>
              </a:rPr>
              <a:t>＜／</a:t>
            </a:r>
            <a:r>
              <a:rPr lang="en-US" altLang="zh-CN" sz="1400" b="1" dirty="0" err="1">
                <a:latin typeface="Verdana" pitchFamily="34" charset="0"/>
              </a:rPr>
              <a:t>xsl</a:t>
            </a:r>
            <a:r>
              <a:rPr lang="zh-CN" altLang="en-US" sz="1400" b="1" dirty="0">
                <a:latin typeface="Verdana" pitchFamily="34" charset="0"/>
              </a:rPr>
              <a:t>：</a:t>
            </a:r>
            <a:r>
              <a:rPr lang="en-US" altLang="zh-CN" sz="1400" b="1" dirty="0">
                <a:latin typeface="Verdana" pitchFamily="34" charset="0"/>
              </a:rPr>
              <a:t>template</a:t>
            </a:r>
            <a:r>
              <a:rPr lang="zh-CN" altLang="en-US" sz="1400" b="1" dirty="0">
                <a:latin typeface="Verdana" pitchFamily="34" charset="0"/>
              </a:rPr>
              <a:t>＞</a:t>
            </a:r>
          </a:p>
          <a:p>
            <a:pPr marL="342900" indent="-342900" eaLnBrk="1" hangingPunct="1">
              <a:spcBef>
                <a:spcPct val="20000"/>
              </a:spcBef>
            </a:pPr>
            <a:endParaRPr lang="en-US" altLang="zh-CN" sz="1400" b="1" dirty="0">
              <a:latin typeface="Verdana"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026"/>
          <p:cNvSpPr>
            <a:spLocks noChangeArrowheads="1"/>
          </p:cNvSpPr>
          <p:nvPr/>
        </p:nvSpPr>
        <p:spPr bwMode="auto">
          <a:xfrm>
            <a:off x="1928794" y="1071546"/>
            <a:ext cx="6572296" cy="5112169"/>
          </a:xfrm>
          <a:prstGeom prst="rect">
            <a:avLst/>
          </a:prstGeom>
          <a:noFill/>
          <a:ln w="9525">
            <a:noFill/>
            <a:miter lim="800000"/>
            <a:headEnd/>
            <a:tailEnd/>
          </a:ln>
        </p:spPr>
        <p:txBody>
          <a:bodyPr wrap="square">
            <a:spAutoFit/>
          </a:bodyPr>
          <a:lstStyle/>
          <a:p>
            <a:pPr eaLnBrk="1" hangingPunct="1">
              <a:lnSpc>
                <a:spcPct val="90000"/>
              </a:lnSpc>
              <a:spcBef>
                <a:spcPct val="50000"/>
              </a:spcBef>
            </a:pPr>
            <a:r>
              <a:rPr lang="zh-CN" altLang="en-US" sz="1400" b="1" dirty="0">
                <a:latin typeface="Verdana" pitchFamily="34" charset="0"/>
              </a:rPr>
              <a:t>＜</a:t>
            </a:r>
            <a:r>
              <a:rPr lang="en-US" altLang="zh-CN" sz="1400" b="1" dirty="0" err="1">
                <a:latin typeface="Verdana" pitchFamily="34" charset="0"/>
              </a:rPr>
              <a:t>xsl:stemplat</a:t>
            </a:r>
            <a:r>
              <a:rPr lang="en-US" altLang="zh-CN" sz="1400" b="1" dirty="0">
                <a:latin typeface="Verdana" pitchFamily="34" charset="0"/>
              </a:rPr>
              <a:t> match</a:t>
            </a:r>
            <a:r>
              <a:rPr lang="zh-CN" altLang="en-US" sz="1400" b="1" dirty="0">
                <a:latin typeface="Verdana" pitchFamily="34" charset="0"/>
              </a:rPr>
              <a:t>＝</a:t>
            </a:r>
            <a:r>
              <a:rPr lang="en-US" altLang="zh-CN" sz="1400" b="1" dirty="0">
                <a:latin typeface="Verdana" pitchFamily="34" charset="0"/>
              </a:rPr>
              <a:t>"</a:t>
            </a:r>
            <a:r>
              <a:rPr lang="zh-CN" altLang="en-US" sz="1400" b="1" dirty="0">
                <a:latin typeface="Verdana" pitchFamily="34" charset="0"/>
              </a:rPr>
              <a:t>联系人列表</a:t>
            </a:r>
            <a:r>
              <a:rPr lang="en-US" altLang="zh-CN" sz="1400" b="1" dirty="0">
                <a:latin typeface="Verdana" pitchFamily="34" charset="0"/>
              </a:rPr>
              <a:t>"</a:t>
            </a:r>
            <a:r>
              <a:rPr lang="zh-CN" altLang="en-US" sz="1400" b="1" dirty="0">
                <a:latin typeface="Verdana" pitchFamily="34" charset="0"/>
              </a:rPr>
              <a:t>＞</a:t>
            </a:r>
          </a:p>
          <a:p>
            <a:pPr eaLnBrk="1" hangingPunct="1">
              <a:lnSpc>
                <a:spcPct val="90000"/>
              </a:lnSpc>
              <a:spcBef>
                <a:spcPct val="50000"/>
              </a:spcBef>
            </a:pPr>
            <a:r>
              <a:rPr lang="zh-CN" altLang="en-US" sz="1400" b="1" dirty="0">
                <a:latin typeface="Verdana" pitchFamily="34" charset="0"/>
              </a:rPr>
              <a:t>    ＜</a:t>
            </a:r>
            <a:r>
              <a:rPr lang="en-US" altLang="zh-CN" sz="1400" b="1" dirty="0" err="1">
                <a:latin typeface="Verdana" pitchFamily="34" charset="0"/>
              </a:rPr>
              <a:t>xsl</a:t>
            </a:r>
            <a:r>
              <a:rPr lang="zh-CN" altLang="en-US" sz="1400" b="1" dirty="0">
                <a:latin typeface="Verdana" pitchFamily="34" charset="0"/>
              </a:rPr>
              <a:t>：</a:t>
            </a:r>
            <a:r>
              <a:rPr lang="en-US" altLang="zh-CN" sz="1400" b="1" dirty="0">
                <a:latin typeface="Verdana" pitchFamily="34" charset="0"/>
              </a:rPr>
              <a:t>for—each select</a:t>
            </a:r>
            <a:r>
              <a:rPr lang="zh-CN" altLang="en-US" sz="1400" b="1" dirty="0">
                <a:latin typeface="Verdana" pitchFamily="34" charset="0"/>
              </a:rPr>
              <a:t>＝</a:t>
            </a:r>
            <a:r>
              <a:rPr lang="en-US" altLang="zh-CN" sz="1400" b="1" dirty="0">
                <a:latin typeface="Verdana" pitchFamily="34" charset="0"/>
              </a:rPr>
              <a:t>"</a:t>
            </a:r>
            <a:r>
              <a:rPr lang="zh-CN" altLang="en-US" sz="1400" b="1" dirty="0">
                <a:latin typeface="Verdana" pitchFamily="34" charset="0"/>
              </a:rPr>
              <a:t>联系人</a:t>
            </a:r>
            <a:r>
              <a:rPr lang="en-US" altLang="zh-CN" sz="1400" b="1" dirty="0">
                <a:latin typeface="Verdana" pitchFamily="34" charset="0"/>
              </a:rPr>
              <a:t>"</a:t>
            </a:r>
            <a:r>
              <a:rPr lang="zh-CN" altLang="en-US" sz="1400" b="1" dirty="0">
                <a:latin typeface="Verdana" pitchFamily="34" charset="0"/>
              </a:rPr>
              <a:t>＞</a:t>
            </a:r>
          </a:p>
          <a:p>
            <a:pPr eaLnBrk="1" hangingPunct="1">
              <a:lnSpc>
                <a:spcPct val="90000"/>
              </a:lnSpc>
              <a:spcBef>
                <a:spcPct val="50000"/>
              </a:spcBef>
            </a:pPr>
            <a:r>
              <a:rPr lang="zh-CN" altLang="en-US" sz="1400" b="1" dirty="0">
                <a:latin typeface="Verdana" pitchFamily="34" charset="0"/>
              </a:rPr>
              <a:t>    ＜</a:t>
            </a:r>
            <a:r>
              <a:rPr lang="en-US" altLang="zh-CN" sz="1400" b="1" dirty="0">
                <a:latin typeface="Verdana" pitchFamily="34" charset="0"/>
              </a:rPr>
              <a:t>UL</a:t>
            </a:r>
            <a:r>
              <a:rPr lang="zh-CN" altLang="en-US" sz="1400" b="1" dirty="0">
                <a:latin typeface="Verdana" pitchFamily="34" charset="0"/>
              </a:rPr>
              <a:t>＞</a:t>
            </a:r>
          </a:p>
          <a:p>
            <a:pPr eaLnBrk="1" hangingPunct="1">
              <a:lnSpc>
                <a:spcPct val="90000"/>
              </a:lnSpc>
              <a:spcBef>
                <a:spcPct val="50000"/>
              </a:spcBef>
            </a:pPr>
            <a:r>
              <a:rPr lang="zh-CN" altLang="en-US" sz="1400" b="1" dirty="0">
                <a:latin typeface="Verdana" pitchFamily="34" charset="0"/>
              </a:rPr>
              <a:t>    ＜</a:t>
            </a:r>
            <a:r>
              <a:rPr lang="en-US" altLang="zh-CN" sz="1400" b="1" dirty="0">
                <a:latin typeface="Verdana" pitchFamily="34" charset="0"/>
              </a:rPr>
              <a:t>LI</a:t>
            </a:r>
            <a:r>
              <a:rPr lang="zh-CN" altLang="en-US" sz="1400" b="1" dirty="0">
                <a:latin typeface="Verdana" pitchFamily="34" charset="0"/>
              </a:rPr>
              <a:t>＞＜</a:t>
            </a:r>
            <a:r>
              <a:rPr lang="en-US" altLang="zh-CN" sz="1400" b="1" dirty="0" err="1">
                <a:latin typeface="Verdana" pitchFamily="34" charset="0"/>
              </a:rPr>
              <a:t>xsl</a:t>
            </a:r>
            <a:r>
              <a:rPr lang="zh-CN" altLang="en-US" sz="1400" b="1" dirty="0">
                <a:latin typeface="Verdana" pitchFamily="34" charset="0"/>
              </a:rPr>
              <a:t>：</a:t>
            </a:r>
            <a:r>
              <a:rPr lang="en-US" altLang="zh-CN" sz="1400" b="1" dirty="0">
                <a:latin typeface="Verdana" pitchFamily="34" charset="0"/>
              </a:rPr>
              <a:t>value—of select</a:t>
            </a:r>
            <a:r>
              <a:rPr lang="zh-CN" altLang="en-US" sz="1400" b="1" dirty="0">
                <a:latin typeface="Verdana" pitchFamily="34" charset="0"/>
              </a:rPr>
              <a:t>＝</a:t>
            </a:r>
            <a:r>
              <a:rPr lang="en-US" altLang="zh-CN" sz="1400" b="1" dirty="0">
                <a:latin typeface="Verdana" pitchFamily="34" charset="0"/>
              </a:rPr>
              <a:t>"</a:t>
            </a:r>
            <a:r>
              <a:rPr lang="zh-CN" altLang="en-US" sz="1400" b="1" dirty="0">
                <a:latin typeface="Verdana" pitchFamily="34" charset="0"/>
              </a:rPr>
              <a:t>姓名</a:t>
            </a:r>
            <a:r>
              <a:rPr lang="en-US" altLang="zh-CN" sz="1400" b="1" dirty="0">
                <a:latin typeface="Verdana" pitchFamily="34" charset="0"/>
              </a:rPr>
              <a:t>"</a:t>
            </a:r>
            <a:r>
              <a:rPr lang="zh-CN" altLang="en-US" sz="1400" b="1" dirty="0">
                <a:latin typeface="Verdana" pitchFamily="34" charset="0"/>
              </a:rPr>
              <a:t>／＞＜</a:t>
            </a:r>
            <a:r>
              <a:rPr lang="en-US" altLang="zh-CN" sz="1400" b="1" dirty="0">
                <a:latin typeface="Verdana" pitchFamily="34" charset="0"/>
              </a:rPr>
              <a:t>LI</a:t>
            </a:r>
            <a:r>
              <a:rPr lang="zh-CN" altLang="en-US" sz="1400" b="1" dirty="0">
                <a:latin typeface="Verdana" pitchFamily="34" charset="0"/>
              </a:rPr>
              <a:t>＞</a:t>
            </a:r>
          </a:p>
          <a:p>
            <a:pPr eaLnBrk="1" hangingPunct="1">
              <a:lnSpc>
                <a:spcPct val="90000"/>
              </a:lnSpc>
              <a:spcBef>
                <a:spcPct val="50000"/>
              </a:spcBef>
            </a:pPr>
            <a:r>
              <a:rPr lang="zh-CN" altLang="en-US" sz="1400" b="1" dirty="0">
                <a:latin typeface="Verdana" pitchFamily="34" charset="0"/>
              </a:rPr>
              <a:t>    ＜</a:t>
            </a:r>
            <a:r>
              <a:rPr lang="en-US" altLang="zh-CN" sz="1400" b="1" dirty="0">
                <a:latin typeface="Verdana" pitchFamily="34" charset="0"/>
              </a:rPr>
              <a:t>UL</a:t>
            </a:r>
            <a:r>
              <a:rPr lang="zh-CN" altLang="en-US" sz="1400" b="1" dirty="0">
                <a:latin typeface="Verdana" pitchFamily="34" charset="0"/>
              </a:rPr>
              <a:t>＞</a:t>
            </a:r>
          </a:p>
          <a:p>
            <a:pPr eaLnBrk="1" hangingPunct="1">
              <a:lnSpc>
                <a:spcPct val="90000"/>
              </a:lnSpc>
              <a:spcBef>
                <a:spcPct val="50000"/>
              </a:spcBef>
            </a:pPr>
            <a:r>
              <a:rPr lang="zh-CN" altLang="en-US" sz="1400" b="1" dirty="0">
                <a:latin typeface="Verdana" pitchFamily="34" charset="0"/>
              </a:rPr>
              <a:t>       ＜</a:t>
            </a:r>
            <a:r>
              <a:rPr lang="en-US" altLang="zh-CN" sz="1400" b="1" dirty="0">
                <a:latin typeface="Verdana" pitchFamily="34" charset="0"/>
              </a:rPr>
              <a:t>LI</a:t>
            </a:r>
            <a:r>
              <a:rPr lang="zh-CN" altLang="en-US" sz="1400" b="1" dirty="0">
                <a:latin typeface="Verdana" pitchFamily="34" charset="0"/>
              </a:rPr>
              <a:t>＞用户</a:t>
            </a:r>
            <a:r>
              <a:rPr lang="en-US" altLang="zh-CN" sz="1400" b="1" dirty="0">
                <a:latin typeface="Verdana" pitchFamily="34" charset="0"/>
              </a:rPr>
              <a:t>ID</a:t>
            </a:r>
            <a:r>
              <a:rPr lang="zh-CN" altLang="en-US" sz="1400" b="1" dirty="0">
                <a:latin typeface="Verdana" pitchFamily="34" charset="0"/>
              </a:rPr>
              <a:t>：＜</a:t>
            </a:r>
            <a:r>
              <a:rPr lang="en-US" altLang="zh-CN" sz="1400" b="1" dirty="0" err="1">
                <a:latin typeface="Verdana" pitchFamily="34" charset="0"/>
              </a:rPr>
              <a:t>xsl</a:t>
            </a:r>
            <a:r>
              <a:rPr lang="zh-CN" altLang="en-US" sz="1400" b="1" dirty="0">
                <a:latin typeface="Verdana" pitchFamily="34" charset="0"/>
              </a:rPr>
              <a:t>：</a:t>
            </a:r>
            <a:r>
              <a:rPr lang="en-US" altLang="zh-CN" sz="1400" b="1" dirty="0">
                <a:latin typeface="Verdana" pitchFamily="34" charset="0"/>
              </a:rPr>
              <a:t>value—of select</a:t>
            </a:r>
            <a:r>
              <a:rPr lang="zh-CN" altLang="en-US" sz="1400" b="1" dirty="0">
                <a:latin typeface="Verdana" pitchFamily="34" charset="0"/>
              </a:rPr>
              <a:t>＝</a:t>
            </a:r>
            <a:r>
              <a:rPr lang="en-US" altLang="zh-CN" sz="1400" b="1" dirty="0">
                <a:latin typeface="Verdana" pitchFamily="34" charset="0"/>
              </a:rPr>
              <a:t>"ID"</a:t>
            </a:r>
            <a:r>
              <a:rPr lang="zh-CN" altLang="en-US" sz="1400" b="1" dirty="0">
                <a:latin typeface="Verdana" pitchFamily="34" charset="0"/>
              </a:rPr>
              <a:t>／＞＜／</a:t>
            </a:r>
            <a:r>
              <a:rPr lang="en-US" altLang="zh-CN" sz="1400" b="1" dirty="0">
                <a:latin typeface="Verdana" pitchFamily="34" charset="0"/>
              </a:rPr>
              <a:t>LI</a:t>
            </a:r>
            <a:r>
              <a:rPr lang="zh-CN" altLang="en-US" sz="1400" b="1" dirty="0">
                <a:latin typeface="Verdana" pitchFamily="34" charset="0"/>
              </a:rPr>
              <a:t>＞</a:t>
            </a:r>
          </a:p>
          <a:p>
            <a:pPr eaLnBrk="1" hangingPunct="1">
              <a:lnSpc>
                <a:spcPct val="90000"/>
              </a:lnSpc>
              <a:spcBef>
                <a:spcPct val="50000"/>
              </a:spcBef>
            </a:pPr>
            <a:r>
              <a:rPr lang="zh-CN" altLang="en-US" sz="1400" b="1" dirty="0">
                <a:latin typeface="Verdana" pitchFamily="34" charset="0"/>
              </a:rPr>
              <a:t>        ＜</a:t>
            </a:r>
            <a:r>
              <a:rPr lang="en-US" altLang="zh-CN" sz="1400" b="1" dirty="0">
                <a:latin typeface="Verdana" pitchFamily="34" charset="0"/>
              </a:rPr>
              <a:t>LI</a:t>
            </a:r>
            <a:r>
              <a:rPr lang="zh-CN" altLang="en-US" sz="1400" b="1" dirty="0">
                <a:latin typeface="Verdana" pitchFamily="34" charset="0"/>
              </a:rPr>
              <a:t>＞公司：＜</a:t>
            </a:r>
            <a:r>
              <a:rPr lang="en-US" altLang="zh-CN" sz="1400" b="1" dirty="0" err="1">
                <a:latin typeface="Verdana" pitchFamily="34" charset="0"/>
              </a:rPr>
              <a:t>xsl</a:t>
            </a:r>
            <a:r>
              <a:rPr lang="zh-CN" altLang="en-US" sz="1400" b="1" dirty="0">
                <a:latin typeface="Verdana" pitchFamily="34" charset="0"/>
              </a:rPr>
              <a:t>：</a:t>
            </a:r>
            <a:r>
              <a:rPr lang="en-US" altLang="zh-CN" sz="1400" b="1" dirty="0">
                <a:latin typeface="Verdana" pitchFamily="34" charset="0"/>
              </a:rPr>
              <a:t>value—of select</a:t>
            </a:r>
            <a:r>
              <a:rPr lang="zh-CN" altLang="en-US" sz="1400" b="1" dirty="0">
                <a:latin typeface="Verdana" pitchFamily="34" charset="0"/>
              </a:rPr>
              <a:t>＝“公司</a:t>
            </a:r>
            <a:r>
              <a:rPr lang="en-US" altLang="zh-CN" sz="1400" b="1" dirty="0">
                <a:latin typeface="Verdana" pitchFamily="34" charset="0"/>
              </a:rPr>
              <a:t>"</a:t>
            </a:r>
            <a:r>
              <a:rPr lang="zh-CN" altLang="en-US" sz="1400" b="1" dirty="0">
                <a:latin typeface="Verdana" pitchFamily="34" charset="0"/>
              </a:rPr>
              <a:t>／＞＜／</a:t>
            </a:r>
            <a:r>
              <a:rPr lang="en-US" altLang="zh-CN" sz="1400" b="1" dirty="0">
                <a:latin typeface="Verdana" pitchFamily="34" charset="0"/>
              </a:rPr>
              <a:t>LI</a:t>
            </a:r>
            <a:r>
              <a:rPr lang="zh-CN" altLang="en-US" sz="1400" b="1" dirty="0">
                <a:latin typeface="Verdana" pitchFamily="34" charset="0"/>
              </a:rPr>
              <a:t>＞</a:t>
            </a:r>
          </a:p>
          <a:p>
            <a:pPr eaLnBrk="1" hangingPunct="1">
              <a:lnSpc>
                <a:spcPct val="90000"/>
              </a:lnSpc>
              <a:spcBef>
                <a:spcPct val="50000"/>
              </a:spcBef>
            </a:pPr>
            <a:r>
              <a:rPr lang="zh-CN" altLang="en-US" sz="1400" b="1" dirty="0">
                <a:latin typeface="Verdana" pitchFamily="34" charset="0"/>
              </a:rPr>
              <a:t>        ＜</a:t>
            </a:r>
            <a:r>
              <a:rPr lang="en-US" altLang="zh-CN" sz="1400" b="1" dirty="0">
                <a:latin typeface="Verdana" pitchFamily="34" charset="0"/>
              </a:rPr>
              <a:t>LI</a:t>
            </a:r>
            <a:r>
              <a:rPr lang="zh-CN" altLang="en-US" sz="1400" b="1" dirty="0">
                <a:latin typeface="Verdana" pitchFamily="34" charset="0"/>
              </a:rPr>
              <a:t>＞</a:t>
            </a:r>
            <a:r>
              <a:rPr lang="en-US" altLang="zh-CN" sz="1400" b="1" dirty="0">
                <a:latin typeface="Verdana" pitchFamily="34" charset="0"/>
              </a:rPr>
              <a:t>EMAIL</a:t>
            </a:r>
            <a:r>
              <a:rPr lang="zh-CN" altLang="en-US" sz="1400" b="1" dirty="0">
                <a:latin typeface="Verdana" pitchFamily="34" charset="0"/>
              </a:rPr>
              <a:t>：＜</a:t>
            </a:r>
            <a:r>
              <a:rPr lang="en-US" altLang="zh-CN" sz="1400" b="1" dirty="0" err="1">
                <a:latin typeface="Verdana" pitchFamily="34" charset="0"/>
              </a:rPr>
              <a:t>xsl</a:t>
            </a:r>
            <a:r>
              <a:rPr lang="zh-CN" altLang="en-US" sz="1400" b="1" dirty="0">
                <a:latin typeface="Verdana" pitchFamily="34" charset="0"/>
              </a:rPr>
              <a:t>：</a:t>
            </a:r>
            <a:r>
              <a:rPr lang="en-US" altLang="zh-CN" sz="1400" b="1" dirty="0">
                <a:latin typeface="Verdana" pitchFamily="34" charset="0"/>
              </a:rPr>
              <a:t>value—of select</a:t>
            </a:r>
            <a:r>
              <a:rPr lang="zh-CN" altLang="en-US" sz="1400" b="1" dirty="0">
                <a:latin typeface="Verdana" pitchFamily="34" charset="0"/>
              </a:rPr>
              <a:t>＝“</a:t>
            </a:r>
            <a:r>
              <a:rPr lang="en-US" altLang="zh-CN" sz="1400" b="1" dirty="0">
                <a:latin typeface="Verdana" pitchFamily="34" charset="0"/>
              </a:rPr>
              <a:t>EMAIL"</a:t>
            </a:r>
            <a:r>
              <a:rPr lang="zh-CN" altLang="en-US" sz="1400" b="1" dirty="0">
                <a:latin typeface="Verdana" pitchFamily="34" charset="0"/>
              </a:rPr>
              <a:t>／＞＜／</a:t>
            </a:r>
            <a:r>
              <a:rPr lang="en-US" altLang="zh-CN" sz="1400" b="1" dirty="0">
                <a:latin typeface="Verdana" pitchFamily="34" charset="0"/>
              </a:rPr>
              <a:t>LI</a:t>
            </a:r>
            <a:r>
              <a:rPr lang="zh-CN" altLang="en-US" sz="1400" b="1" dirty="0">
                <a:latin typeface="Verdana" pitchFamily="34" charset="0"/>
              </a:rPr>
              <a:t>＞</a:t>
            </a:r>
          </a:p>
          <a:p>
            <a:pPr eaLnBrk="1" hangingPunct="1">
              <a:lnSpc>
                <a:spcPct val="90000"/>
              </a:lnSpc>
              <a:spcBef>
                <a:spcPct val="50000"/>
              </a:spcBef>
            </a:pPr>
            <a:r>
              <a:rPr lang="zh-CN" altLang="en-US" sz="1400" b="1" dirty="0">
                <a:latin typeface="Verdana" pitchFamily="34" charset="0"/>
              </a:rPr>
              <a:t>        ＜</a:t>
            </a:r>
            <a:r>
              <a:rPr lang="en-US" altLang="zh-CN" sz="1400" b="1" dirty="0">
                <a:latin typeface="Verdana" pitchFamily="34" charset="0"/>
              </a:rPr>
              <a:t>LI</a:t>
            </a:r>
            <a:r>
              <a:rPr lang="zh-CN" altLang="en-US" sz="1400" b="1" dirty="0">
                <a:latin typeface="Verdana" pitchFamily="34" charset="0"/>
              </a:rPr>
              <a:t>＞电话：＜</a:t>
            </a:r>
            <a:r>
              <a:rPr lang="en-US" altLang="zh-CN" sz="1400" b="1" dirty="0" err="1">
                <a:latin typeface="Verdana" pitchFamily="34" charset="0"/>
              </a:rPr>
              <a:t>xsl</a:t>
            </a:r>
            <a:r>
              <a:rPr lang="zh-CN" altLang="en-US" sz="1400" b="1" dirty="0">
                <a:latin typeface="Verdana" pitchFamily="34" charset="0"/>
              </a:rPr>
              <a:t>：</a:t>
            </a:r>
            <a:r>
              <a:rPr lang="en-US" altLang="zh-CN" sz="1400" b="1" dirty="0">
                <a:latin typeface="Verdana" pitchFamily="34" charset="0"/>
              </a:rPr>
              <a:t>value—of select</a:t>
            </a:r>
            <a:r>
              <a:rPr lang="zh-CN" altLang="en-US" sz="1400" b="1" dirty="0">
                <a:latin typeface="Verdana" pitchFamily="34" charset="0"/>
              </a:rPr>
              <a:t>＝“电话</a:t>
            </a:r>
            <a:r>
              <a:rPr lang="en-US" altLang="zh-CN" sz="1400" b="1" dirty="0">
                <a:latin typeface="Verdana" pitchFamily="34" charset="0"/>
              </a:rPr>
              <a:t>"</a:t>
            </a:r>
            <a:r>
              <a:rPr lang="zh-CN" altLang="en-US" sz="1400" b="1" dirty="0">
                <a:latin typeface="Verdana" pitchFamily="34" charset="0"/>
              </a:rPr>
              <a:t>／＞＜／</a:t>
            </a:r>
            <a:r>
              <a:rPr lang="en-US" altLang="zh-CN" sz="1400" b="1" dirty="0">
                <a:latin typeface="Verdana" pitchFamily="34" charset="0"/>
              </a:rPr>
              <a:t>LI</a:t>
            </a:r>
            <a:r>
              <a:rPr lang="zh-CN" altLang="en-US" sz="1400" b="1" dirty="0">
                <a:latin typeface="Verdana" pitchFamily="34" charset="0"/>
              </a:rPr>
              <a:t>＞</a:t>
            </a:r>
          </a:p>
          <a:p>
            <a:pPr eaLnBrk="1" hangingPunct="1">
              <a:lnSpc>
                <a:spcPct val="90000"/>
              </a:lnSpc>
              <a:spcBef>
                <a:spcPct val="50000"/>
              </a:spcBef>
            </a:pPr>
            <a:r>
              <a:rPr lang="zh-CN" altLang="en-US" sz="1400" b="1" dirty="0">
                <a:latin typeface="Verdana" pitchFamily="34" charset="0"/>
              </a:rPr>
              <a:t>        ＜</a:t>
            </a:r>
            <a:r>
              <a:rPr lang="en-US" altLang="zh-CN" sz="1400" b="1" dirty="0">
                <a:latin typeface="Verdana" pitchFamily="34" charset="0"/>
              </a:rPr>
              <a:t>LI</a:t>
            </a:r>
            <a:r>
              <a:rPr lang="zh-CN" altLang="en-US" sz="1400" b="1" dirty="0">
                <a:latin typeface="Verdana" pitchFamily="34" charset="0"/>
              </a:rPr>
              <a:t>＞街道：＜</a:t>
            </a:r>
            <a:r>
              <a:rPr lang="en-US" altLang="zh-CN" sz="1400" b="1" dirty="0" err="1">
                <a:latin typeface="Verdana" pitchFamily="34" charset="0"/>
              </a:rPr>
              <a:t>xsl</a:t>
            </a:r>
            <a:r>
              <a:rPr lang="zh-CN" altLang="en-US" sz="1400" b="1" dirty="0">
                <a:latin typeface="Verdana" pitchFamily="34" charset="0"/>
              </a:rPr>
              <a:t>：</a:t>
            </a:r>
            <a:r>
              <a:rPr lang="en-US" altLang="zh-CN" sz="1400" b="1" dirty="0">
                <a:latin typeface="Verdana" pitchFamily="34" charset="0"/>
              </a:rPr>
              <a:t>value—of select</a:t>
            </a:r>
            <a:r>
              <a:rPr lang="zh-CN" altLang="en-US" sz="1400" b="1" dirty="0">
                <a:latin typeface="Verdana" pitchFamily="34" charset="0"/>
              </a:rPr>
              <a:t>＝“地址</a:t>
            </a:r>
            <a:r>
              <a:rPr lang="en-US" altLang="zh-CN" sz="1400" b="1" dirty="0">
                <a:latin typeface="Verdana" pitchFamily="34" charset="0"/>
              </a:rPr>
              <a:t>/</a:t>
            </a:r>
            <a:r>
              <a:rPr lang="zh-CN" altLang="en-US" sz="1400" b="1" dirty="0">
                <a:latin typeface="Verdana" pitchFamily="34" charset="0"/>
              </a:rPr>
              <a:t>街道</a:t>
            </a:r>
            <a:r>
              <a:rPr lang="en-US" altLang="zh-CN" sz="1400" b="1" dirty="0">
                <a:latin typeface="Verdana" pitchFamily="34" charset="0"/>
              </a:rPr>
              <a:t>"</a:t>
            </a:r>
            <a:r>
              <a:rPr lang="zh-CN" altLang="en-US" sz="1400" b="1" dirty="0">
                <a:latin typeface="Verdana" pitchFamily="34" charset="0"/>
              </a:rPr>
              <a:t>／＞＜／</a:t>
            </a:r>
            <a:r>
              <a:rPr lang="en-US" altLang="zh-CN" sz="1400" b="1" dirty="0">
                <a:latin typeface="Verdana" pitchFamily="34" charset="0"/>
              </a:rPr>
              <a:t>LI</a:t>
            </a:r>
            <a:r>
              <a:rPr lang="zh-CN" altLang="en-US" sz="1400" b="1" dirty="0">
                <a:latin typeface="Verdana" pitchFamily="34" charset="0"/>
              </a:rPr>
              <a:t>＞</a:t>
            </a:r>
          </a:p>
          <a:p>
            <a:pPr eaLnBrk="1" hangingPunct="1">
              <a:lnSpc>
                <a:spcPct val="90000"/>
              </a:lnSpc>
              <a:spcBef>
                <a:spcPct val="50000"/>
              </a:spcBef>
            </a:pPr>
            <a:r>
              <a:rPr lang="zh-CN" altLang="en-US" sz="1400" b="1" dirty="0">
                <a:latin typeface="Verdana" pitchFamily="34" charset="0"/>
              </a:rPr>
              <a:t>        ＜</a:t>
            </a:r>
            <a:r>
              <a:rPr lang="en-US" altLang="zh-CN" sz="1400" b="1" dirty="0">
                <a:latin typeface="Verdana" pitchFamily="34" charset="0"/>
              </a:rPr>
              <a:t>LI</a:t>
            </a:r>
            <a:r>
              <a:rPr lang="zh-CN" altLang="en-US" sz="1400" b="1" dirty="0">
                <a:latin typeface="Verdana" pitchFamily="34" charset="0"/>
              </a:rPr>
              <a:t>＞城市：＜</a:t>
            </a:r>
            <a:r>
              <a:rPr lang="en-US" altLang="zh-CN" sz="1400" b="1" dirty="0" err="1">
                <a:latin typeface="Verdana" pitchFamily="34" charset="0"/>
              </a:rPr>
              <a:t>xsl</a:t>
            </a:r>
            <a:r>
              <a:rPr lang="zh-CN" altLang="en-US" sz="1400" b="1" dirty="0">
                <a:latin typeface="Verdana" pitchFamily="34" charset="0"/>
              </a:rPr>
              <a:t>：</a:t>
            </a:r>
            <a:r>
              <a:rPr lang="en-US" altLang="zh-CN" sz="1400" b="1" dirty="0">
                <a:latin typeface="Verdana" pitchFamily="34" charset="0"/>
              </a:rPr>
              <a:t>value—of select</a:t>
            </a:r>
            <a:r>
              <a:rPr lang="zh-CN" altLang="en-US" sz="1400" b="1" dirty="0">
                <a:latin typeface="Verdana" pitchFamily="34" charset="0"/>
              </a:rPr>
              <a:t>＝“地址</a:t>
            </a:r>
            <a:r>
              <a:rPr lang="en-US" altLang="zh-CN" sz="1400" b="1" dirty="0">
                <a:latin typeface="Verdana" pitchFamily="34" charset="0"/>
              </a:rPr>
              <a:t>/</a:t>
            </a:r>
            <a:r>
              <a:rPr lang="zh-CN" altLang="en-US" sz="1400" b="1" dirty="0">
                <a:latin typeface="Verdana" pitchFamily="34" charset="0"/>
              </a:rPr>
              <a:t>城市</a:t>
            </a:r>
            <a:r>
              <a:rPr lang="en-US" altLang="zh-CN" sz="1400" b="1" dirty="0">
                <a:latin typeface="Verdana" pitchFamily="34" charset="0"/>
              </a:rPr>
              <a:t>"</a:t>
            </a:r>
            <a:r>
              <a:rPr lang="zh-CN" altLang="en-US" sz="1400" b="1" dirty="0">
                <a:latin typeface="Verdana" pitchFamily="34" charset="0"/>
              </a:rPr>
              <a:t>／＞＜／</a:t>
            </a:r>
            <a:r>
              <a:rPr lang="en-US" altLang="zh-CN" sz="1400" b="1" dirty="0">
                <a:latin typeface="Verdana" pitchFamily="34" charset="0"/>
              </a:rPr>
              <a:t>LI</a:t>
            </a:r>
            <a:r>
              <a:rPr lang="zh-CN" altLang="en-US" sz="1400" b="1" dirty="0">
                <a:latin typeface="Verdana" pitchFamily="34" charset="0"/>
              </a:rPr>
              <a:t>＞</a:t>
            </a:r>
          </a:p>
          <a:p>
            <a:pPr eaLnBrk="1" hangingPunct="1">
              <a:lnSpc>
                <a:spcPct val="90000"/>
              </a:lnSpc>
              <a:spcBef>
                <a:spcPct val="50000"/>
              </a:spcBef>
            </a:pPr>
            <a:r>
              <a:rPr lang="zh-CN" altLang="en-US" sz="1400" b="1" dirty="0">
                <a:latin typeface="Verdana" pitchFamily="34" charset="0"/>
              </a:rPr>
              <a:t>        ＜</a:t>
            </a:r>
            <a:r>
              <a:rPr lang="en-US" altLang="zh-CN" sz="1400" b="1" dirty="0">
                <a:latin typeface="Verdana" pitchFamily="34" charset="0"/>
              </a:rPr>
              <a:t>LI</a:t>
            </a:r>
            <a:r>
              <a:rPr lang="zh-CN" altLang="en-US" sz="1400" b="1" dirty="0">
                <a:latin typeface="Verdana" pitchFamily="34" charset="0"/>
              </a:rPr>
              <a:t>＞省份：＜</a:t>
            </a:r>
            <a:r>
              <a:rPr lang="en-US" altLang="zh-CN" sz="1400" b="1" dirty="0" err="1">
                <a:latin typeface="Verdana" pitchFamily="34" charset="0"/>
              </a:rPr>
              <a:t>xsl</a:t>
            </a:r>
            <a:r>
              <a:rPr lang="zh-CN" altLang="en-US" sz="1400" b="1" dirty="0">
                <a:latin typeface="Verdana" pitchFamily="34" charset="0"/>
              </a:rPr>
              <a:t>：</a:t>
            </a:r>
            <a:r>
              <a:rPr lang="en-US" altLang="zh-CN" sz="1400" b="1" dirty="0">
                <a:latin typeface="Verdana" pitchFamily="34" charset="0"/>
              </a:rPr>
              <a:t>value—of select</a:t>
            </a:r>
            <a:r>
              <a:rPr lang="zh-CN" altLang="en-US" sz="1400" b="1" dirty="0">
                <a:latin typeface="Verdana" pitchFamily="34" charset="0"/>
              </a:rPr>
              <a:t>＝“地址</a:t>
            </a:r>
            <a:r>
              <a:rPr lang="en-US" altLang="zh-CN" sz="1400" b="1" dirty="0">
                <a:latin typeface="Verdana" pitchFamily="34" charset="0"/>
              </a:rPr>
              <a:t>/</a:t>
            </a:r>
            <a:r>
              <a:rPr lang="zh-CN" altLang="en-US" sz="1400" b="1" dirty="0">
                <a:latin typeface="Verdana" pitchFamily="34" charset="0"/>
              </a:rPr>
              <a:t>省份</a:t>
            </a:r>
            <a:r>
              <a:rPr lang="en-US" altLang="zh-CN" sz="1400" b="1" dirty="0">
                <a:latin typeface="Verdana" pitchFamily="34" charset="0"/>
              </a:rPr>
              <a:t>"</a:t>
            </a:r>
            <a:r>
              <a:rPr lang="zh-CN" altLang="en-US" sz="1400" b="1" dirty="0">
                <a:latin typeface="Verdana" pitchFamily="34" charset="0"/>
              </a:rPr>
              <a:t>／＞＜／</a:t>
            </a:r>
            <a:r>
              <a:rPr lang="en-US" altLang="zh-CN" sz="1400" b="1" dirty="0">
                <a:latin typeface="Verdana" pitchFamily="34" charset="0"/>
              </a:rPr>
              <a:t>LI</a:t>
            </a:r>
            <a:r>
              <a:rPr lang="zh-CN" altLang="en-US" sz="1400" b="1" dirty="0">
                <a:latin typeface="Verdana" pitchFamily="34" charset="0"/>
              </a:rPr>
              <a:t>＞</a:t>
            </a:r>
          </a:p>
          <a:p>
            <a:pPr eaLnBrk="1" hangingPunct="1">
              <a:lnSpc>
                <a:spcPct val="90000"/>
              </a:lnSpc>
              <a:spcBef>
                <a:spcPct val="50000"/>
              </a:spcBef>
            </a:pPr>
            <a:r>
              <a:rPr lang="zh-CN" altLang="en-US" sz="1400" b="1" dirty="0">
                <a:latin typeface="Verdana" pitchFamily="34" charset="0"/>
              </a:rPr>
              <a:t>    ＜</a:t>
            </a:r>
            <a:r>
              <a:rPr lang="en-US" altLang="zh-CN" sz="1400" b="1" dirty="0">
                <a:latin typeface="Verdana" pitchFamily="34" charset="0"/>
              </a:rPr>
              <a:t>/UL</a:t>
            </a:r>
            <a:r>
              <a:rPr lang="zh-CN" altLang="en-US" sz="1400" b="1" dirty="0">
                <a:latin typeface="Verdana" pitchFamily="34" charset="0"/>
              </a:rPr>
              <a:t>＞</a:t>
            </a:r>
          </a:p>
          <a:p>
            <a:pPr eaLnBrk="1" hangingPunct="1">
              <a:lnSpc>
                <a:spcPct val="90000"/>
              </a:lnSpc>
              <a:spcBef>
                <a:spcPct val="50000"/>
              </a:spcBef>
            </a:pPr>
            <a:r>
              <a:rPr lang="zh-CN" altLang="en-US" sz="1400" b="1" dirty="0">
                <a:latin typeface="Verdana" pitchFamily="34" charset="0"/>
              </a:rPr>
              <a:t>    ＜</a:t>
            </a:r>
            <a:r>
              <a:rPr lang="en-US" altLang="zh-CN" sz="1400" b="1" dirty="0">
                <a:latin typeface="Verdana" pitchFamily="34" charset="0"/>
              </a:rPr>
              <a:t>/UL</a:t>
            </a:r>
            <a:r>
              <a:rPr lang="zh-CN" altLang="en-US" sz="1400" b="1" dirty="0">
                <a:latin typeface="Verdana" pitchFamily="34" charset="0"/>
              </a:rPr>
              <a:t>＞</a:t>
            </a:r>
          </a:p>
          <a:p>
            <a:pPr eaLnBrk="1" hangingPunct="1">
              <a:lnSpc>
                <a:spcPct val="90000"/>
              </a:lnSpc>
              <a:spcBef>
                <a:spcPct val="50000"/>
              </a:spcBef>
            </a:pPr>
            <a:r>
              <a:rPr lang="zh-CN" altLang="en-US" sz="1400" b="1" dirty="0">
                <a:latin typeface="Verdana" pitchFamily="34" charset="0"/>
              </a:rPr>
              <a:t> ＜</a:t>
            </a:r>
            <a:r>
              <a:rPr lang="en-US" altLang="zh-CN" sz="1400" b="1" dirty="0">
                <a:latin typeface="Verdana" pitchFamily="34" charset="0"/>
              </a:rPr>
              <a:t>/</a:t>
            </a:r>
            <a:r>
              <a:rPr lang="en-US" altLang="zh-CN" sz="1400" b="1" dirty="0" err="1">
                <a:latin typeface="Verdana" pitchFamily="34" charset="0"/>
              </a:rPr>
              <a:t>xsl:for</a:t>
            </a:r>
            <a:r>
              <a:rPr lang="en-US" altLang="zh-CN" sz="1400" b="1" dirty="0">
                <a:latin typeface="Verdana" pitchFamily="34" charset="0"/>
              </a:rPr>
              <a:t>-each</a:t>
            </a:r>
            <a:r>
              <a:rPr lang="zh-CN" altLang="en-US" sz="1400" b="1" dirty="0">
                <a:latin typeface="Verdana" pitchFamily="34" charset="0"/>
              </a:rPr>
              <a:t>＞</a:t>
            </a:r>
          </a:p>
          <a:p>
            <a:pPr eaLnBrk="1" hangingPunct="1">
              <a:lnSpc>
                <a:spcPct val="90000"/>
              </a:lnSpc>
              <a:spcBef>
                <a:spcPct val="50000"/>
              </a:spcBef>
            </a:pPr>
            <a:r>
              <a:rPr lang="zh-CN" altLang="en-US" sz="1400" b="1" dirty="0">
                <a:latin typeface="Verdana" pitchFamily="34" charset="0"/>
              </a:rPr>
              <a:t>＜</a:t>
            </a:r>
            <a:r>
              <a:rPr lang="en-US" altLang="zh-CN" sz="1400" b="1" dirty="0">
                <a:latin typeface="Verdana" pitchFamily="34" charset="0"/>
              </a:rPr>
              <a:t>/</a:t>
            </a:r>
            <a:r>
              <a:rPr lang="en-US" altLang="zh-CN" sz="1400" b="1" dirty="0" err="1">
                <a:latin typeface="Verdana" pitchFamily="34" charset="0"/>
              </a:rPr>
              <a:t>xsl:template</a:t>
            </a:r>
            <a:r>
              <a:rPr lang="zh-CN" altLang="en-US" sz="1400" b="1" dirty="0">
                <a:latin typeface="Verdana" pitchFamily="34" charset="0"/>
              </a:rPr>
              <a:t>＞</a:t>
            </a:r>
          </a:p>
          <a:p>
            <a:pPr eaLnBrk="1" hangingPunct="1">
              <a:lnSpc>
                <a:spcPct val="90000"/>
              </a:lnSpc>
              <a:spcBef>
                <a:spcPct val="50000"/>
              </a:spcBef>
            </a:pPr>
            <a:r>
              <a:rPr lang="zh-CN" altLang="en-US" sz="1400" b="1" dirty="0">
                <a:latin typeface="Verdana" pitchFamily="34" charset="0"/>
              </a:rPr>
              <a:t>＜</a:t>
            </a:r>
            <a:r>
              <a:rPr lang="en-US" altLang="zh-CN" sz="1400" b="1" dirty="0">
                <a:latin typeface="Verdana" pitchFamily="34" charset="0"/>
              </a:rPr>
              <a:t>/</a:t>
            </a:r>
            <a:r>
              <a:rPr lang="en-US" altLang="zh-CN" sz="1400" b="1" dirty="0" err="1">
                <a:latin typeface="Verdana" pitchFamily="34" charset="0"/>
              </a:rPr>
              <a:t>xsl:stylesheet</a:t>
            </a:r>
            <a:r>
              <a:rPr lang="zh-CN" altLang="en-US" sz="1400" b="1" dirty="0">
                <a:latin typeface="Verdana" pitchFamily="34" charset="0"/>
              </a:rPr>
              <a:t>＞</a:t>
            </a:r>
          </a:p>
        </p:txBody>
      </p:sp>
      <p:sp>
        <p:nvSpPr>
          <p:cNvPr id="20483" name="Rectangle 1027"/>
          <p:cNvSpPr>
            <a:spLocks noGrp="1" noChangeArrowheads="1"/>
          </p:cNvSpPr>
          <p:nvPr>
            <p:ph type="title" idx="4294967295"/>
          </p:nvPr>
        </p:nvSpPr>
        <p:spPr>
          <a:xfrm>
            <a:off x="1857356" y="188913"/>
            <a:ext cx="5915044" cy="719137"/>
          </a:xfrm>
        </p:spPr>
        <p:txBody>
          <a:bodyPr/>
          <a:lstStyle/>
          <a:p>
            <a:pPr marL="342900" indent="-342900">
              <a:lnSpc>
                <a:spcPct val="90000"/>
              </a:lnSpc>
              <a:spcBef>
                <a:spcPct val="20000"/>
              </a:spcBef>
              <a:defRPr/>
            </a:pPr>
            <a:r>
              <a:rPr lang="en-US" altLang="zh-CN" sz="3200" b="1" dirty="0" smtClean="0">
                <a:latin typeface="+mj-ea"/>
              </a:rPr>
              <a:t>Html</a:t>
            </a:r>
            <a:r>
              <a:rPr lang="zh-CN" altLang="en-US" sz="3200" b="1" dirty="0" smtClean="0">
                <a:latin typeface="+mj-ea"/>
              </a:rPr>
              <a:t>格式</a:t>
            </a:r>
            <a:endParaRPr lang="en-US" altLang="zh-CN" sz="3200" b="1" dirty="0" smtClean="0">
              <a:latin typeface="+mj-ea"/>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title"/>
          </p:nvPr>
        </p:nvSpPr>
        <p:spPr>
          <a:xfrm>
            <a:off x="2339975" y="188913"/>
            <a:ext cx="3967163" cy="647700"/>
          </a:xfrm>
        </p:spPr>
        <p:txBody>
          <a:bodyPr/>
          <a:lstStyle/>
          <a:p>
            <a:pPr marL="342900" indent="-342900">
              <a:lnSpc>
                <a:spcPct val="90000"/>
              </a:lnSpc>
              <a:spcBef>
                <a:spcPct val="20000"/>
              </a:spcBef>
              <a:defRPr/>
            </a:pPr>
            <a:r>
              <a:rPr lang="en-US" altLang="zh-CN" sz="3200" b="1" dirty="0" smtClean="0">
                <a:latin typeface="+mj-ea"/>
              </a:rPr>
              <a:t>XML</a:t>
            </a:r>
            <a:r>
              <a:rPr lang="zh-CN" altLang="en-US" sz="3200" b="1" dirty="0" smtClean="0">
                <a:latin typeface="+mj-ea"/>
              </a:rPr>
              <a:t>格式</a:t>
            </a:r>
            <a:endParaRPr lang="en-US" altLang="zh-CN" sz="3200" b="1" dirty="0" smtClean="0">
              <a:latin typeface="+mj-ea"/>
            </a:endParaRPr>
          </a:p>
        </p:txBody>
      </p:sp>
      <p:sp>
        <p:nvSpPr>
          <p:cNvPr id="22531" name="AutoShape 4">
            <a:hlinkClick r:id="" action="ppaction://noaction" highlightClick="1"/>
          </p:cNvPr>
          <p:cNvSpPr>
            <a:spLocks noChangeArrowheads="1"/>
          </p:cNvSpPr>
          <p:nvPr/>
        </p:nvSpPr>
        <p:spPr bwMode="auto">
          <a:xfrm>
            <a:off x="7620000" y="381000"/>
            <a:ext cx="1143000" cy="457200"/>
          </a:xfrm>
          <a:prstGeom prst="actionButtonBlank">
            <a:avLst/>
          </a:prstGeom>
          <a:noFill/>
          <a:ln w="9525">
            <a:noFill/>
            <a:miter lim="800000"/>
            <a:headEnd/>
            <a:tailEnd/>
          </a:ln>
        </p:spPr>
        <p:txBody>
          <a:bodyPr wrap="none" anchor="ctr"/>
          <a:lstStyle/>
          <a:p>
            <a:pPr algn="ctr" eaLnBrk="1" hangingPunct="1">
              <a:spcBef>
                <a:spcPct val="20000"/>
              </a:spcBef>
              <a:buClr>
                <a:srgbClr val="0427FE"/>
              </a:buClr>
              <a:buFont typeface="Wingdings" pitchFamily="2" charset="2"/>
              <a:buNone/>
            </a:pPr>
            <a:r>
              <a:rPr lang="zh-CN" altLang="en-US" dirty="0">
                <a:ea typeface="楷体_GB2312" pitchFamily="49" charset="-122"/>
                <a:hlinkClick r:id="rId2" action="ppaction://hlinksldjump"/>
              </a:rPr>
              <a:t>返回</a:t>
            </a:r>
            <a:endParaRPr lang="zh-CN" altLang="en-US" dirty="0">
              <a:ea typeface="楷体_GB2312" pitchFamily="49" charset="-122"/>
            </a:endParaRPr>
          </a:p>
        </p:txBody>
      </p:sp>
      <p:sp>
        <p:nvSpPr>
          <p:cNvPr id="22532" name="Rectangle 5"/>
          <p:cNvSpPr>
            <a:spLocks noChangeArrowheads="1"/>
          </p:cNvSpPr>
          <p:nvPr/>
        </p:nvSpPr>
        <p:spPr bwMode="auto">
          <a:xfrm>
            <a:off x="5653094" y="2133600"/>
            <a:ext cx="3419500" cy="3352800"/>
          </a:xfrm>
          <a:prstGeom prst="rect">
            <a:avLst/>
          </a:prstGeom>
          <a:noFill/>
          <a:ln w="9525">
            <a:noFill/>
            <a:miter lim="800000"/>
            <a:headEnd/>
            <a:tailEnd/>
          </a:ln>
        </p:spPr>
        <p:txBody>
          <a:bodyPr/>
          <a:lstStyle/>
          <a:p>
            <a:pPr marL="342900" indent="-342900" eaLnBrk="1" hangingPunct="1">
              <a:lnSpc>
                <a:spcPct val="90000"/>
              </a:lnSpc>
              <a:spcBef>
                <a:spcPct val="20000"/>
              </a:spcBef>
            </a:pPr>
            <a:r>
              <a:rPr lang="zh-CN" altLang="en-US" sz="1400">
                <a:latin typeface="Verdana" pitchFamily="34" charset="0"/>
              </a:rPr>
              <a:t>＜</a:t>
            </a:r>
            <a:r>
              <a:rPr lang="en-US" altLang="zh-CN" sz="1400">
                <a:latin typeface="Verdana" pitchFamily="34" charset="0"/>
              </a:rPr>
              <a:t>LI</a:t>
            </a:r>
            <a:r>
              <a:rPr lang="zh-CN" altLang="en-US" sz="1400">
                <a:latin typeface="Verdana" pitchFamily="34" charset="0"/>
              </a:rPr>
              <a:t>＞李四＜／</a:t>
            </a:r>
            <a:r>
              <a:rPr lang="en-US" altLang="zh-CN" sz="1400">
                <a:latin typeface="Verdana" pitchFamily="34" charset="0"/>
              </a:rPr>
              <a:t>LI</a:t>
            </a:r>
            <a:r>
              <a:rPr lang="zh-CN" altLang="en-US" sz="1400">
                <a:latin typeface="Verdana" pitchFamily="34" charset="0"/>
              </a:rPr>
              <a:t>＞</a:t>
            </a:r>
          </a:p>
          <a:p>
            <a:pPr marL="342900" indent="-342900" eaLnBrk="1" hangingPunct="1">
              <a:lnSpc>
                <a:spcPct val="90000"/>
              </a:lnSpc>
              <a:spcBef>
                <a:spcPct val="20000"/>
              </a:spcBef>
            </a:pPr>
            <a:r>
              <a:rPr lang="zh-CN" altLang="en-US" sz="1400">
                <a:latin typeface="Verdana" pitchFamily="34" charset="0"/>
              </a:rPr>
              <a:t>＜</a:t>
            </a:r>
            <a:r>
              <a:rPr lang="en-US" altLang="zh-CN" sz="1400">
                <a:latin typeface="Verdana" pitchFamily="34" charset="0"/>
              </a:rPr>
              <a:t>UL</a:t>
            </a:r>
            <a:r>
              <a:rPr lang="zh-CN" altLang="en-US" sz="1400">
                <a:latin typeface="Verdana" pitchFamily="34" charset="0"/>
              </a:rPr>
              <a:t>＞</a:t>
            </a:r>
          </a:p>
          <a:p>
            <a:pPr marL="342900" indent="-342900" eaLnBrk="1" hangingPunct="1">
              <a:lnSpc>
                <a:spcPct val="90000"/>
              </a:lnSpc>
              <a:spcBef>
                <a:spcPct val="20000"/>
              </a:spcBef>
            </a:pPr>
            <a:r>
              <a:rPr lang="zh-CN" altLang="en-US" sz="1400">
                <a:latin typeface="Verdana" pitchFamily="34" charset="0"/>
              </a:rPr>
              <a:t>＜</a:t>
            </a:r>
            <a:r>
              <a:rPr lang="en-US" altLang="zh-CN" sz="1400">
                <a:latin typeface="Verdana" pitchFamily="34" charset="0"/>
              </a:rPr>
              <a:t>LI</a:t>
            </a:r>
            <a:r>
              <a:rPr lang="zh-CN" altLang="en-US" sz="1400">
                <a:latin typeface="Verdana" pitchFamily="34" charset="0"/>
              </a:rPr>
              <a:t>＞</a:t>
            </a:r>
            <a:r>
              <a:rPr lang="en-US" altLang="zh-CN" sz="1400">
                <a:latin typeface="Verdana" pitchFamily="34" charset="0"/>
              </a:rPr>
              <a:t>ID</a:t>
            </a:r>
            <a:r>
              <a:rPr lang="zh-CN" altLang="en-US" sz="1400">
                <a:latin typeface="Verdana" pitchFamily="34" charset="0"/>
              </a:rPr>
              <a:t>：</a:t>
            </a:r>
            <a:r>
              <a:rPr lang="en-US" altLang="zh-CN" sz="1400">
                <a:latin typeface="Verdana" pitchFamily="34" charset="0"/>
              </a:rPr>
              <a:t>002</a:t>
            </a:r>
            <a:r>
              <a:rPr lang="zh-CN" altLang="en-US" sz="1400">
                <a:latin typeface="Verdana" pitchFamily="34" charset="0"/>
              </a:rPr>
              <a:t>＜／</a:t>
            </a:r>
            <a:r>
              <a:rPr lang="en-US" altLang="zh-CN" sz="1400">
                <a:latin typeface="Verdana" pitchFamily="34" charset="0"/>
              </a:rPr>
              <a:t>LI</a:t>
            </a:r>
            <a:r>
              <a:rPr lang="zh-CN" altLang="en-US" sz="1400">
                <a:latin typeface="Verdana" pitchFamily="34" charset="0"/>
              </a:rPr>
              <a:t>＞</a:t>
            </a:r>
          </a:p>
          <a:p>
            <a:pPr marL="342900" indent="-342900" eaLnBrk="1" hangingPunct="1">
              <a:lnSpc>
                <a:spcPct val="90000"/>
              </a:lnSpc>
              <a:spcBef>
                <a:spcPct val="20000"/>
              </a:spcBef>
            </a:pPr>
            <a:r>
              <a:rPr lang="zh-CN" altLang="en-US" sz="1400">
                <a:latin typeface="Verdana" pitchFamily="34" charset="0"/>
              </a:rPr>
              <a:t>＜</a:t>
            </a:r>
            <a:r>
              <a:rPr lang="en-US" altLang="zh-CN" sz="1400">
                <a:latin typeface="Verdana" pitchFamily="34" charset="0"/>
              </a:rPr>
              <a:t>LI</a:t>
            </a:r>
            <a:r>
              <a:rPr lang="zh-CN" altLang="en-US" sz="1400">
                <a:latin typeface="Verdana" pitchFamily="34" charset="0"/>
              </a:rPr>
              <a:t>＞公司：</a:t>
            </a:r>
            <a:r>
              <a:rPr lang="en-US" altLang="zh-CN" sz="1400">
                <a:latin typeface="Verdana" pitchFamily="34" charset="0"/>
              </a:rPr>
              <a:t>B</a:t>
            </a:r>
            <a:r>
              <a:rPr lang="zh-CN" altLang="en-US" sz="1400">
                <a:latin typeface="Verdana" pitchFamily="34" charset="0"/>
              </a:rPr>
              <a:t>公司＜／</a:t>
            </a:r>
            <a:r>
              <a:rPr lang="en-US" altLang="zh-CN" sz="1400">
                <a:latin typeface="Verdana" pitchFamily="34" charset="0"/>
              </a:rPr>
              <a:t>LI</a:t>
            </a:r>
            <a:r>
              <a:rPr lang="zh-CN" altLang="en-US" sz="1400">
                <a:latin typeface="Verdana" pitchFamily="34" charset="0"/>
              </a:rPr>
              <a:t>＞</a:t>
            </a:r>
          </a:p>
          <a:p>
            <a:pPr marL="342900" indent="-342900" eaLnBrk="1" hangingPunct="1">
              <a:lnSpc>
                <a:spcPct val="90000"/>
              </a:lnSpc>
              <a:spcBef>
                <a:spcPct val="20000"/>
              </a:spcBef>
            </a:pPr>
            <a:r>
              <a:rPr lang="zh-CN" altLang="en-US" sz="1400">
                <a:latin typeface="Verdana" pitchFamily="34" charset="0"/>
              </a:rPr>
              <a:t>＜</a:t>
            </a:r>
            <a:r>
              <a:rPr lang="en-US" altLang="zh-CN" sz="1400">
                <a:latin typeface="Verdana" pitchFamily="34" charset="0"/>
              </a:rPr>
              <a:t>LI</a:t>
            </a:r>
            <a:r>
              <a:rPr lang="zh-CN" altLang="en-US" sz="1400">
                <a:latin typeface="Verdana" pitchFamily="34" charset="0"/>
              </a:rPr>
              <a:t>＞</a:t>
            </a:r>
            <a:r>
              <a:rPr lang="en-US" altLang="zh-CN" sz="1400">
                <a:latin typeface="Verdana" pitchFamily="34" charset="0"/>
              </a:rPr>
              <a:t>EMAIL</a:t>
            </a:r>
            <a:r>
              <a:rPr lang="zh-CN" altLang="en-US" sz="1400">
                <a:latin typeface="Verdana" pitchFamily="34" charset="0"/>
              </a:rPr>
              <a:t>：</a:t>
            </a:r>
            <a:r>
              <a:rPr lang="en-US" altLang="zh-CN" sz="1400">
                <a:latin typeface="Verdana" pitchFamily="34" charset="0"/>
              </a:rPr>
              <a:t>1i</a:t>
            </a:r>
            <a:r>
              <a:rPr lang="zh-CN" altLang="en-US" sz="1400">
                <a:latin typeface="Verdana" pitchFamily="34" charset="0"/>
              </a:rPr>
              <a:t>＠</a:t>
            </a:r>
            <a:r>
              <a:rPr lang="en-US" altLang="zh-CN" sz="1400">
                <a:latin typeface="Verdana" pitchFamily="34" charset="0"/>
              </a:rPr>
              <a:t>bbb</a:t>
            </a:r>
            <a:r>
              <a:rPr lang="zh-CN" altLang="en-US" sz="1400">
                <a:latin typeface="Verdana" pitchFamily="34" charset="0"/>
              </a:rPr>
              <a:t>．</a:t>
            </a:r>
            <a:r>
              <a:rPr lang="en-US" altLang="zh-CN" sz="1400">
                <a:latin typeface="Verdana" pitchFamily="34" charset="0"/>
              </a:rPr>
              <a:t>or8</a:t>
            </a:r>
            <a:r>
              <a:rPr lang="zh-CN" altLang="en-US" sz="1400">
                <a:latin typeface="Verdana" pitchFamily="34" charset="0"/>
              </a:rPr>
              <a:t>＜／</a:t>
            </a:r>
            <a:r>
              <a:rPr lang="en-US" altLang="zh-CN" sz="1400">
                <a:latin typeface="Verdana" pitchFamily="34" charset="0"/>
              </a:rPr>
              <a:t>LI</a:t>
            </a:r>
            <a:r>
              <a:rPr lang="zh-CN" altLang="en-US" sz="1400">
                <a:latin typeface="Verdana" pitchFamily="34" charset="0"/>
              </a:rPr>
              <a:t>＞</a:t>
            </a:r>
          </a:p>
          <a:p>
            <a:pPr marL="342900" indent="-342900" eaLnBrk="1" hangingPunct="1">
              <a:lnSpc>
                <a:spcPct val="90000"/>
              </a:lnSpc>
              <a:spcBef>
                <a:spcPct val="20000"/>
              </a:spcBef>
            </a:pPr>
            <a:r>
              <a:rPr lang="zh-CN" altLang="en-US" sz="1400">
                <a:latin typeface="Verdana" pitchFamily="34" charset="0"/>
              </a:rPr>
              <a:t>＜</a:t>
            </a:r>
            <a:r>
              <a:rPr lang="en-US" altLang="zh-CN" sz="1400">
                <a:latin typeface="Verdana" pitchFamily="34" charset="0"/>
              </a:rPr>
              <a:t>LI</a:t>
            </a:r>
            <a:r>
              <a:rPr lang="zh-CN" altLang="en-US" sz="1400">
                <a:latin typeface="Verdana" pitchFamily="34" charset="0"/>
              </a:rPr>
              <a:t>＞电话：</a:t>
            </a:r>
            <a:r>
              <a:rPr lang="en-US" altLang="zh-CN" sz="1400">
                <a:latin typeface="Verdana" pitchFamily="34" charset="0"/>
              </a:rPr>
              <a:t>(021)87654321</a:t>
            </a:r>
            <a:r>
              <a:rPr lang="zh-CN" altLang="en-US" sz="1400">
                <a:latin typeface="Verdana" pitchFamily="34" charset="0"/>
              </a:rPr>
              <a:t>＜／</a:t>
            </a:r>
            <a:r>
              <a:rPr lang="en-US" altLang="zh-CN" sz="1400">
                <a:latin typeface="Verdana" pitchFamily="34" charset="0"/>
              </a:rPr>
              <a:t>LI</a:t>
            </a:r>
            <a:r>
              <a:rPr lang="zh-CN" altLang="en-US" sz="1400">
                <a:latin typeface="Verdana" pitchFamily="34" charset="0"/>
              </a:rPr>
              <a:t>＞</a:t>
            </a:r>
          </a:p>
          <a:p>
            <a:pPr marL="342900" indent="-342900" eaLnBrk="1" hangingPunct="1">
              <a:lnSpc>
                <a:spcPct val="90000"/>
              </a:lnSpc>
              <a:spcBef>
                <a:spcPct val="20000"/>
              </a:spcBef>
            </a:pPr>
            <a:r>
              <a:rPr lang="zh-CN" altLang="en-US" sz="1400">
                <a:latin typeface="Verdana" pitchFamily="34" charset="0"/>
              </a:rPr>
              <a:t>＜</a:t>
            </a:r>
            <a:r>
              <a:rPr lang="en-US" altLang="zh-CN" sz="1400">
                <a:latin typeface="Verdana" pitchFamily="34" charset="0"/>
              </a:rPr>
              <a:t>LI</a:t>
            </a:r>
            <a:r>
              <a:rPr lang="zh-CN" altLang="en-US" sz="1400">
                <a:latin typeface="Verdana" pitchFamily="34" charset="0"/>
              </a:rPr>
              <a:t>＞地址：南京路</a:t>
            </a:r>
            <a:r>
              <a:rPr lang="en-US" altLang="zh-CN" sz="1400">
                <a:latin typeface="Verdana" pitchFamily="34" charset="0"/>
              </a:rPr>
              <a:t>9876</a:t>
            </a:r>
            <a:r>
              <a:rPr lang="zh-CN" altLang="en-US" sz="1400">
                <a:latin typeface="Verdana" pitchFamily="34" charset="0"/>
              </a:rPr>
              <a:t>号＜／</a:t>
            </a:r>
            <a:r>
              <a:rPr lang="en-US" altLang="zh-CN" sz="1400">
                <a:latin typeface="Verdana" pitchFamily="34" charset="0"/>
              </a:rPr>
              <a:t>LI</a:t>
            </a:r>
            <a:r>
              <a:rPr lang="zh-CN" altLang="en-US" sz="1400">
                <a:latin typeface="Verdana" pitchFamily="34" charset="0"/>
              </a:rPr>
              <a:t>＞</a:t>
            </a:r>
          </a:p>
          <a:p>
            <a:pPr marL="342900" indent="-342900" eaLnBrk="1" hangingPunct="1">
              <a:lnSpc>
                <a:spcPct val="90000"/>
              </a:lnSpc>
              <a:spcBef>
                <a:spcPct val="20000"/>
              </a:spcBef>
            </a:pPr>
            <a:r>
              <a:rPr lang="zh-CN" altLang="en-US" sz="1400">
                <a:latin typeface="Verdana" pitchFamily="34" charset="0"/>
              </a:rPr>
              <a:t>＜</a:t>
            </a:r>
            <a:r>
              <a:rPr lang="en-US" altLang="zh-CN" sz="1400">
                <a:latin typeface="Verdana" pitchFamily="34" charset="0"/>
              </a:rPr>
              <a:t>LI</a:t>
            </a:r>
            <a:r>
              <a:rPr lang="zh-CN" altLang="en-US" sz="1400">
                <a:latin typeface="Verdana" pitchFamily="34" charset="0"/>
              </a:rPr>
              <a:t>＞城市：上海市＜／</a:t>
            </a:r>
            <a:r>
              <a:rPr lang="en-US" altLang="zh-CN" sz="1400">
                <a:latin typeface="Verdana" pitchFamily="34" charset="0"/>
              </a:rPr>
              <a:t>LI</a:t>
            </a:r>
            <a:r>
              <a:rPr lang="zh-CN" altLang="en-US" sz="1400">
                <a:latin typeface="Verdana" pitchFamily="34" charset="0"/>
              </a:rPr>
              <a:t>＞</a:t>
            </a:r>
          </a:p>
          <a:p>
            <a:pPr marL="342900" indent="-342900" eaLnBrk="1" hangingPunct="1">
              <a:lnSpc>
                <a:spcPct val="90000"/>
              </a:lnSpc>
              <a:spcBef>
                <a:spcPct val="20000"/>
              </a:spcBef>
            </a:pPr>
            <a:r>
              <a:rPr lang="zh-CN" altLang="en-US" sz="1400">
                <a:latin typeface="Verdana" pitchFamily="34" charset="0"/>
              </a:rPr>
              <a:t>＜</a:t>
            </a:r>
            <a:r>
              <a:rPr lang="en-US" altLang="zh-CN" sz="1400">
                <a:latin typeface="Verdana" pitchFamily="34" charset="0"/>
              </a:rPr>
              <a:t>LI</a:t>
            </a:r>
            <a:r>
              <a:rPr lang="zh-CN" altLang="en-US" sz="1400">
                <a:latin typeface="Verdana" pitchFamily="34" charset="0"/>
              </a:rPr>
              <a:t>＞省份：上海＜／</a:t>
            </a:r>
            <a:r>
              <a:rPr lang="en-US" altLang="zh-CN" sz="1400">
                <a:latin typeface="Verdana" pitchFamily="34" charset="0"/>
              </a:rPr>
              <a:t>LI</a:t>
            </a:r>
            <a:r>
              <a:rPr lang="zh-CN" altLang="en-US" sz="1400">
                <a:latin typeface="Verdana" pitchFamily="34" charset="0"/>
              </a:rPr>
              <a:t>＞</a:t>
            </a:r>
          </a:p>
          <a:p>
            <a:pPr marL="342900" indent="-342900" eaLnBrk="1" hangingPunct="1">
              <a:lnSpc>
                <a:spcPct val="90000"/>
              </a:lnSpc>
              <a:spcBef>
                <a:spcPct val="20000"/>
              </a:spcBef>
            </a:pPr>
            <a:r>
              <a:rPr lang="zh-CN" altLang="en-US" sz="1400">
                <a:latin typeface="Verdana" pitchFamily="34" charset="0"/>
              </a:rPr>
              <a:t>＜／</a:t>
            </a:r>
            <a:r>
              <a:rPr lang="en-US" altLang="zh-CN" sz="1400">
                <a:latin typeface="Verdana" pitchFamily="34" charset="0"/>
              </a:rPr>
              <a:t>UL</a:t>
            </a:r>
            <a:r>
              <a:rPr lang="zh-CN" altLang="en-US" sz="1400">
                <a:latin typeface="Verdana" pitchFamily="34" charset="0"/>
              </a:rPr>
              <a:t>＞</a:t>
            </a:r>
          </a:p>
          <a:p>
            <a:pPr marL="342900" indent="-342900" eaLnBrk="1" hangingPunct="1">
              <a:lnSpc>
                <a:spcPct val="90000"/>
              </a:lnSpc>
              <a:spcBef>
                <a:spcPct val="20000"/>
              </a:spcBef>
            </a:pPr>
            <a:r>
              <a:rPr lang="zh-CN" altLang="en-US" sz="1400">
                <a:latin typeface="Verdana" pitchFamily="34" charset="0"/>
              </a:rPr>
              <a:t>＜／</a:t>
            </a:r>
            <a:r>
              <a:rPr lang="en-US" altLang="zh-CN" sz="1400">
                <a:latin typeface="Verdana" pitchFamily="34" charset="0"/>
              </a:rPr>
              <a:t>UL</a:t>
            </a:r>
            <a:r>
              <a:rPr lang="zh-CN" altLang="en-US" sz="1400">
                <a:latin typeface="Verdana" pitchFamily="34" charset="0"/>
              </a:rPr>
              <a:t>＞</a:t>
            </a:r>
          </a:p>
          <a:p>
            <a:pPr marL="342900" indent="-342900" eaLnBrk="1" hangingPunct="1">
              <a:lnSpc>
                <a:spcPct val="90000"/>
              </a:lnSpc>
              <a:spcBef>
                <a:spcPct val="20000"/>
              </a:spcBef>
            </a:pPr>
            <a:r>
              <a:rPr lang="zh-CN" altLang="en-US" sz="1400">
                <a:latin typeface="Verdana" pitchFamily="34" charset="0"/>
              </a:rPr>
              <a:t>＜／</a:t>
            </a:r>
            <a:r>
              <a:rPr lang="en-US" altLang="zh-CN" sz="1400">
                <a:latin typeface="Verdana" pitchFamily="34" charset="0"/>
              </a:rPr>
              <a:t>BODY</a:t>
            </a:r>
            <a:r>
              <a:rPr lang="zh-CN" altLang="en-US" sz="1400">
                <a:latin typeface="Verdana" pitchFamily="34" charset="0"/>
              </a:rPr>
              <a:t>＞</a:t>
            </a:r>
          </a:p>
          <a:p>
            <a:pPr marL="342900" indent="-342900" eaLnBrk="1" hangingPunct="1">
              <a:lnSpc>
                <a:spcPct val="90000"/>
              </a:lnSpc>
              <a:spcBef>
                <a:spcPct val="20000"/>
              </a:spcBef>
            </a:pPr>
            <a:r>
              <a:rPr lang="zh-CN" altLang="en-US" sz="1400">
                <a:latin typeface="Verdana" pitchFamily="34" charset="0"/>
              </a:rPr>
              <a:t>＜／</a:t>
            </a:r>
            <a:r>
              <a:rPr lang="en-US" altLang="zh-CN" sz="1400">
                <a:latin typeface="Verdana" pitchFamily="34" charset="0"/>
              </a:rPr>
              <a:t>HTML</a:t>
            </a:r>
            <a:r>
              <a:rPr lang="zh-CN" altLang="en-US" sz="1400">
                <a:latin typeface="Verdana" pitchFamily="34" charset="0"/>
              </a:rPr>
              <a:t>＞</a:t>
            </a:r>
          </a:p>
        </p:txBody>
      </p:sp>
      <p:sp>
        <p:nvSpPr>
          <p:cNvPr id="22533" name="Rectangle 6"/>
          <p:cNvSpPr>
            <a:spLocks noChangeArrowheads="1"/>
          </p:cNvSpPr>
          <p:nvPr/>
        </p:nvSpPr>
        <p:spPr bwMode="auto">
          <a:xfrm>
            <a:off x="1747846" y="1828800"/>
            <a:ext cx="4038600" cy="3886200"/>
          </a:xfrm>
          <a:prstGeom prst="rect">
            <a:avLst/>
          </a:prstGeom>
          <a:noFill/>
          <a:ln w="9525">
            <a:noFill/>
            <a:miter lim="800000"/>
            <a:headEnd/>
            <a:tailEnd/>
          </a:ln>
        </p:spPr>
        <p:txBody>
          <a:bodyPr/>
          <a:lstStyle/>
          <a:p>
            <a:pPr marL="342900" indent="-342900" eaLnBrk="1" hangingPunct="1">
              <a:lnSpc>
                <a:spcPct val="90000"/>
              </a:lnSpc>
              <a:spcBef>
                <a:spcPct val="20000"/>
              </a:spcBef>
            </a:pPr>
            <a:r>
              <a:rPr lang="zh-CN" altLang="en-US" sz="1400" dirty="0">
                <a:latin typeface="Verdana" pitchFamily="34" charset="0"/>
              </a:rPr>
              <a:t>＜</a:t>
            </a:r>
            <a:r>
              <a:rPr lang="en-US" altLang="zh-CN" sz="1400" dirty="0">
                <a:latin typeface="Verdana" pitchFamily="34" charset="0"/>
              </a:rPr>
              <a:t>HTML</a:t>
            </a:r>
            <a:r>
              <a:rPr lang="zh-CN" altLang="en-US" sz="1400" dirty="0">
                <a:latin typeface="Verdana" pitchFamily="34" charset="0"/>
              </a:rPr>
              <a:t>＞</a:t>
            </a:r>
          </a:p>
          <a:p>
            <a:pPr marL="342900" indent="-342900" eaLnBrk="1" hangingPunct="1">
              <a:lnSpc>
                <a:spcPct val="90000"/>
              </a:lnSpc>
              <a:spcBef>
                <a:spcPct val="20000"/>
              </a:spcBef>
            </a:pPr>
            <a:r>
              <a:rPr lang="zh-CN" altLang="en-US" sz="1400" dirty="0">
                <a:latin typeface="Verdana" pitchFamily="34" charset="0"/>
              </a:rPr>
              <a:t>＜</a:t>
            </a:r>
            <a:r>
              <a:rPr lang="en-US" altLang="zh-CN" sz="1400" dirty="0">
                <a:latin typeface="Verdana" pitchFamily="34" charset="0"/>
              </a:rPr>
              <a:t>HEAD</a:t>
            </a:r>
            <a:r>
              <a:rPr lang="zh-CN" altLang="en-US" sz="1400" dirty="0">
                <a:latin typeface="Verdana" pitchFamily="34" charset="0"/>
              </a:rPr>
              <a:t>＞</a:t>
            </a:r>
          </a:p>
          <a:p>
            <a:pPr marL="342900" indent="-342900" eaLnBrk="1" hangingPunct="1">
              <a:lnSpc>
                <a:spcPct val="90000"/>
              </a:lnSpc>
              <a:spcBef>
                <a:spcPct val="20000"/>
              </a:spcBef>
            </a:pPr>
            <a:r>
              <a:rPr lang="zh-CN" altLang="en-US" sz="1400" dirty="0">
                <a:latin typeface="Verdana" pitchFamily="34" charset="0"/>
              </a:rPr>
              <a:t>＜</a:t>
            </a:r>
            <a:r>
              <a:rPr lang="en-US" altLang="zh-CN" sz="1400" dirty="0">
                <a:latin typeface="Verdana" pitchFamily="34" charset="0"/>
              </a:rPr>
              <a:t>TITLE</a:t>
            </a:r>
            <a:r>
              <a:rPr lang="zh-CN" altLang="en-US" sz="1400" dirty="0">
                <a:latin typeface="Verdana" pitchFamily="34" charset="0"/>
              </a:rPr>
              <a:t>＞</a:t>
            </a:r>
            <a:r>
              <a:rPr lang="en-US" altLang="zh-CN" sz="1400" dirty="0">
                <a:latin typeface="Verdana" pitchFamily="34" charset="0"/>
              </a:rPr>
              <a:t>F</a:t>
            </a:r>
            <a:r>
              <a:rPr lang="zh-CN" altLang="en-US" sz="1400" dirty="0">
                <a:latin typeface="Verdana" pitchFamily="34" charset="0"/>
              </a:rPr>
              <a:t>公司的客户联系信息＜／</a:t>
            </a:r>
            <a:r>
              <a:rPr lang="en-US" altLang="zh-CN" sz="1400" dirty="0">
                <a:latin typeface="Verdana" pitchFamily="34" charset="0"/>
              </a:rPr>
              <a:t>TITLE</a:t>
            </a:r>
            <a:r>
              <a:rPr lang="zh-CN" altLang="en-US" sz="1400" dirty="0">
                <a:latin typeface="Verdana" pitchFamily="34" charset="0"/>
              </a:rPr>
              <a:t>＞</a:t>
            </a:r>
          </a:p>
          <a:p>
            <a:pPr marL="342900" indent="-342900" eaLnBrk="1" hangingPunct="1">
              <a:lnSpc>
                <a:spcPct val="90000"/>
              </a:lnSpc>
              <a:spcBef>
                <a:spcPct val="20000"/>
              </a:spcBef>
            </a:pPr>
            <a:r>
              <a:rPr lang="zh-CN" altLang="en-US" sz="1400" dirty="0">
                <a:latin typeface="Verdana" pitchFamily="34" charset="0"/>
              </a:rPr>
              <a:t>＜／</a:t>
            </a:r>
            <a:r>
              <a:rPr lang="en-US" altLang="zh-CN" sz="1400" dirty="0">
                <a:latin typeface="Verdana" pitchFamily="34" charset="0"/>
              </a:rPr>
              <a:t>HEAD</a:t>
            </a:r>
            <a:r>
              <a:rPr lang="zh-CN" altLang="en-US" sz="1400" dirty="0">
                <a:latin typeface="Verdana" pitchFamily="34" charset="0"/>
              </a:rPr>
              <a:t>＞</a:t>
            </a:r>
          </a:p>
          <a:p>
            <a:pPr marL="342900" indent="-342900" eaLnBrk="1" hangingPunct="1">
              <a:lnSpc>
                <a:spcPct val="90000"/>
              </a:lnSpc>
              <a:spcBef>
                <a:spcPct val="20000"/>
              </a:spcBef>
            </a:pPr>
            <a:r>
              <a:rPr lang="zh-CN" altLang="en-US" sz="1400" dirty="0">
                <a:latin typeface="Verdana" pitchFamily="34" charset="0"/>
              </a:rPr>
              <a:t>＜</a:t>
            </a:r>
            <a:r>
              <a:rPr lang="en-US" altLang="zh-CN" sz="1400" dirty="0">
                <a:latin typeface="Verdana" pitchFamily="34" charset="0"/>
              </a:rPr>
              <a:t>BODY</a:t>
            </a:r>
            <a:r>
              <a:rPr lang="zh-CN" altLang="en-US" sz="1400" dirty="0">
                <a:latin typeface="Verdana" pitchFamily="34" charset="0"/>
              </a:rPr>
              <a:t>＞</a:t>
            </a:r>
          </a:p>
          <a:p>
            <a:pPr marL="342900" indent="-342900" eaLnBrk="1" hangingPunct="1">
              <a:lnSpc>
                <a:spcPct val="90000"/>
              </a:lnSpc>
              <a:spcBef>
                <a:spcPct val="20000"/>
              </a:spcBef>
            </a:pPr>
            <a:r>
              <a:rPr lang="zh-CN" altLang="en-US" sz="1400" dirty="0">
                <a:latin typeface="Verdana" pitchFamily="34" charset="0"/>
              </a:rPr>
              <a:t>＜</a:t>
            </a:r>
            <a:r>
              <a:rPr lang="en-US" altLang="zh-CN" sz="1400" dirty="0">
                <a:latin typeface="Verdana" pitchFamily="34" charset="0"/>
              </a:rPr>
              <a:t>UL</a:t>
            </a:r>
            <a:r>
              <a:rPr lang="zh-CN" altLang="en-US" sz="1400" dirty="0">
                <a:latin typeface="Verdana" pitchFamily="34" charset="0"/>
              </a:rPr>
              <a:t>＞</a:t>
            </a:r>
          </a:p>
          <a:p>
            <a:pPr marL="342900" indent="-342900" eaLnBrk="1" hangingPunct="1">
              <a:lnSpc>
                <a:spcPct val="90000"/>
              </a:lnSpc>
              <a:spcBef>
                <a:spcPct val="20000"/>
              </a:spcBef>
            </a:pPr>
            <a:r>
              <a:rPr lang="zh-CN" altLang="en-US" sz="1400" dirty="0">
                <a:latin typeface="Verdana" pitchFamily="34" charset="0"/>
              </a:rPr>
              <a:t>＜</a:t>
            </a:r>
            <a:r>
              <a:rPr lang="en-US" altLang="zh-CN" sz="1400" dirty="0">
                <a:latin typeface="Verdana" pitchFamily="34" charset="0"/>
              </a:rPr>
              <a:t>LI</a:t>
            </a:r>
            <a:r>
              <a:rPr lang="zh-CN" altLang="en-US" sz="1400" dirty="0">
                <a:latin typeface="Verdana" pitchFamily="34" charset="0"/>
              </a:rPr>
              <a:t>＞张三＜／</a:t>
            </a:r>
            <a:r>
              <a:rPr lang="en-US" altLang="zh-CN" sz="1400" dirty="0">
                <a:latin typeface="Verdana" pitchFamily="34" charset="0"/>
              </a:rPr>
              <a:t>LI</a:t>
            </a:r>
            <a:r>
              <a:rPr lang="zh-CN" altLang="en-US" sz="1400" dirty="0">
                <a:latin typeface="Verdana" pitchFamily="34" charset="0"/>
              </a:rPr>
              <a:t>＞</a:t>
            </a:r>
          </a:p>
          <a:p>
            <a:pPr marL="342900" indent="-342900" eaLnBrk="1" hangingPunct="1">
              <a:lnSpc>
                <a:spcPct val="90000"/>
              </a:lnSpc>
              <a:spcBef>
                <a:spcPct val="20000"/>
              </a:spcBef>
            </a:pPr>
            <a:r>
              <a:rPr lang="zh-CN" altLang="en-US" sz="1400" dirty="0">
                <a:latin typeface="Verdana" pitchFamily="34" charset="0"/>
              </a:rPr>
              <a:t>＜</a:t>
            </a:r>
            <a:r>
              <a:rPr lang="en-US" altLang="zh-CN" sz="1400" dirty="0">
                <a:latin typeface="Verdana" pitchFamily="34" charset="0"/>
              </a:rPr>
              <a:t>UI</a:t>
            </a:r>
            <a:r>
              <a:rPr lang="zh-CN" altLang="en-US" sz="1400" dirty="0">
                <a:latin typeface="Verdana" pitchFamily="34" charset="0"/>
              </a:rPr>
              <a:t>＞</a:t>
            </a:r>
          </a:p>
          <a:p>
            <a:pPr marL="342900" indent="-342900" eaLnBrk="1" hangingPunct="1">
              <a:lnSpc>
                <a:spcPct val="90000"/>
              </a:lnSpc>
              <a:spcBef>
                <a:spcPct val="20000"/>
              </a:spcBef>
            </a:pPr>
            <a:r>
              <a:rPr lang="zh-CN" altLang="en-US" sz="1400" dirty="0">
                <a:latin typeface="Verdana" pitchFamily="34" charset="0"/>
              </a:rPr>
              <a:t>＜</a:t>
            </a:r>
            <a:r>
              <a:rPr lang="en-US" altLang="zh-CN" sz="1400" dirty="0">
                <a:latin typeface="Verdana" pitchFamily="34" charset="0"/>
              </a:rPr>
              <a:t>LI</a:t>
            </a:r>
            <a:r>
              <a:rPr lang="zh-CN" altLang="en-US" sz="1400" dirty="0">
                <a:latin typeface="Verdana" pitchFamily="34" charset="0"/>
              </a:rPr>
              <a:t>＞用户</a:t>
            </a:r>
            <a:r>
              <a:rPr lang="en-US" altLang="zh-CN" sz="1400" dirty="0">
                <a:latin typeface="Verdana" pitchFamily="34" charset="0"/>
              </a:rPr>
              <a:t>ID</a:t>
            </a:r>
            <a:r>
              <a:rPr lang="zh-CN" altLang="en-US" sz="1400" dirty="0">
                <a:latin typeface="Verdana" pitchFamily="34" charset="0"/>
              </a:rPr>
              <a:t>：</a:t>
            </a:r>
            <a:r>
              <a:rPr lang="en-US" altLang="zh-CN" sz="1400" dirty="0">
                <a:latin typeface="Verdana" pitchFamily="34" charset="0"/>
              </a:rPr>
              <a:t>001</a:t>
            </a:r>
            <a:r>
              <a:rPr lang="zh-CN" altLang="en-US" sz="1400" dirty="0">
                <a:latin typeface="Verdana" pitchFamily="34" charset="0"/>
              </a:rPr>
              <a:t>＜／</a:t>
            </a:r>
            <a:r>
              <a:rPr lang="en-US" altLang="zh-CN" sz="1400" dirty="0">
                <a:latin typeface="Verdana" pitchFamily="34" charset="0"/>
              </a:rPr>
              <a:t>LI</a:t>
            </a:r>
            <a:r>
              <a:rPr lang="zh-CN" altLang="en-US" sz="1400" dirty="0">
                <a:latin typeface="Verdana" pitchFamily="34" charset="0"/>
              </a:rPr>
              <a:t>＞</a:t>
            </a:r>
          </a:p>
          <a:p>
            <a:pPr marL="342900" indent="-342900" eaLnBrk="1" hangingPunct="1">
              <a:lnSpc>
                <a:spcPct val="90000"/>
              </a:lnSpc>
              <a:spcBef>
                <a:spcPct val="20000"/>
              </a:spcBef>
            </a:pPr>
            <a:r>
              <a:rPr lang="zh-CN" altLang="en-US" sz="1400" dirty="0">
                <a:latin typeface="Verdana" pitchFamily="34" charset="0"/>
              </a:rPr>
              <a:t>＜</a:t>
            </a:r>
            <a:r>
              <a:rPr lang="en-US" altLang="zh-CN" sz="1400" dirty="0">
                <a:latin typeface="Verdana" pitchFamily="34" charset="0"/>
              </a:rPr>
              <a:t>LI</a:t>
            </a:r>
            <a:r>
              <a:rPr lang="zh-CN" altLang="en-US" sz="1400" dirty="0">
                <a:latin typeface="Verdana" pitchFamily="34" charset="0"/>
              </a:rPr>
              <a:t>＞公司：</a:t>
            </a:r>
            <a:r>
              <a:rPr lang="en-US" altLang="zh-CN" sz="1400" dirty="0">
                <a:latin typeface="Verdana" pitchFamily="34" charset="0"/>
              </a:rPr>
              <a:t>A</a:t>
            </a:r>
            <a:r>
              <a:rPr lang="zh-CN" altLang="en-US" sz="1400" dirty="0">
                <a:latin typeface="Verdana" pitchFamily="34" charset="0"/>
              </a:rPr>
              <a:t>公司＜／</a:t>
            </a:r>
            <a:r>
              <a:rPr lang="en-US" altLang="zh-CN" sz="1400" dirty="0">
                <a:latin typeface="Verdana" pitchFamily="34" charset="0"/>
              </a:rPr>
              <a:t>LI</a:t>
            </a:r>
            <a:r>
              <a:rPr lang="zh-CN" altLang="en-US" sz="1400" dirty="0">
                <a:latin typeface="Verdana" pitchFamily="34" charset="0"/>
              </a:rPr>
              <a:t>＞</a:t>
            </a:r>
          </a:p>
          <a:p>
            <a:pPr marL="342900" indent="-342900" eaLnBrk="1" hangingPunct="1">
              <a:lnSpc>
                <a:spcPct val="90000"/>
              </a:lnSpc>
              <a:spcBef>
                <a:spcPct val="20000"/>
              </a:spcBef>
            </a:pPr>
            <a:r>
              <a:rPr lang="zh-CN" altLang="en-US" sz="1400" dirty="0">
                <a:latin typeface="Verdana" pitchFamily="34" charset="0"/>
              </a:rPr>
              <a:t>＜</a:t>
            </a:r>
            <a:r>
              <a:rPr lang="en-US" altLang="zh-CN" sz="1400" dirty="0">
                <a:latin typeface="Verdana" pitchFamily="34" charset="0"/>
              </a:rPr>
              <a:t>LI</a:t>
            </a:r>
            <a:r>
              <a:rPr lang="zh-CN" altLang="en-US" sz="1400" dirty="0">
                <a:latin typeface="Verdana" pitchFamily="34" charset="0"/>
              </a:rPr>
              <a:t>＞</a:t>
            </a:r>
            <a:r>
              <a:rPr lang="en-US" altLang="zh-CN" sz="1400" dirty="0" err="1">
                <a:latin typeface="Verdana" pitchFamily="34" charset="0"/>
              </a:rPr>
              <a:t>EMAIL:zhang</a:t>
            </a:r>
            <a:r>
              <a:rPr lang="zh-CN" altLang="en-US" sz="1400" dirty="0">
                <a:latin typeface="Verdana" pitchFamily="34" charset="0"/>
              </a:rPr>
              <a:t>＠</a:t>
            </a:r>
            <a:r>
              <a:rPr lang="en-US" altLang="zh-CN" sz="1400" dirty="0" err="1">
                <a:latin typeface="Verdana" pitchFamily="34" charset="0"/>
              </a:rPr>
              <a:t>aaa</a:t>
            </a:r>
            <a:r>
              <a:rPr lang="zh-CN" altLang="en-US" sz="1400" dirty="0">
                <a:latin typeface="Verdana" pitchFamily="34" charset="0"/>
              </a:rPr>
              <a:t>．</a:t>
            </a:r>
            <a:r>
              <a:rPr lang="en-US" altLang="zh-CN" sz="1400" dirty="0">
                <a:latin typeface="Verdana" pitchFamily="34" charset="0"/>
              </a:rPr>
              <a:t>com</a:t>
            </a:r>
            <a:r>
              <a:rPr lang="zh-CN" altLang="en-US" sz="1400" dirty="0">
                <a:latin typeface="Verdana" pitchFamily="34" charset="0"/>
              </a:rPr>
              <a:t>＜／</a:t>
            </a:r>
            <a:r>
              <a:rPr lang="en-US" altLang="zh-CN" sz="1400" dirty="0">
                <a:latin typeface="Verdana" pitchFamily="34" charset="0"/>
              </a:rPr>
              <a:t>LI</a:t>
            </a:r>
            <a:r>
              <a:rPr lang="zh-CN" altLang="en-US" sz="1400" dirty="0">
                <a:latin typeface="Verdana" pitchFamily="34" charset="0"/>
              </a:rPr>
              <a:t>＞</a:t>
            </a:r>
          </a:p>
          <a:p>
            <a:pPr marL="342900" indent="-342900" eaLnBrk="1" hangingPunct="1">
              <a:lnSpc>
                <a:spcPct val="90000"/>
              </a:lnSpc>
              <a:spcBef>
                <a:spcPct val="20000"/>
              </a:spcBef>
            </a:pPr>
            <a:r>
              <a:rPr lang="zh-CN" altLang="en-US" sz="1400" dirty="0">
                <a:latin typeface="Verdana" pitchFamily="34" charset="0"/>
              </a:rPr>
              <a:t>＜</a:t>
            </a:r>
            <a:r>
              <a:rPr lang="en-US" altLang="zh-CN" sz="1400" dirty="0">
                <a:latin typeface="Verdana" pitchFamily="34" charset="0"/>
              </a:rPr>
              <a:t>LI</a:t>
            </a:r>
            <a:r>
              <a:rPr lang="zh-CN" altLang="en-US" sz="1400" dirty="0">
                <a:latin typeface="Verdana" pitchFamily="34" charset="0"/>
              </a:rPr>
              <a:t>＞电话：</a:t>
            </a:r>
            <a:r>
              <a:rPr lang="en-US" altLang="zh-CN" sz="1400" dirty="0">
                <a:latin typeface="Verdana" pitchFamily="34" charset="0"/>
              </a:rPr>
              <a:t>(010)62345678</a:t>
            </a:r>
            <a:r>
              <a:rPr lang="zh-CN" altLang="en-US" sz="1400" dirty="0">
                <a:latin typeface="Verdana" pitchFamily="34" charset="0"/>
              </a:rPr>
              <a:t>＜／</a:t>
            </a:r>
            <a:r>
              <a:rPr lang="en-US" altLang="zh-CN" sz="1400" dirty="0">
                <a:latin typeface="Verdana" pitchFamily="34" charset="0"/>
              </a:rPr>
              <a:t>LI</a:t>
            </a:r>
            <a:r>
              <a:rPr lang="zh-CN" altLang="en-US" sz="1400" dirty="0">
                <a:latin typeface="Verdana" pitchFamily="34" charset="0"/>
              </a:rPr>
              <a:t>＞</a:t>
            </a:r>
          </a:p>
          <a:p>
            <a:pPr marL="342900" indent="-342900" eaLnBrk="1" hangingPunct="1">
              <a:lnSpc>
                <a:spcPct val="90000"/>
              </a:lnSpc>
              <a:spcBef>
                <a:spcPct val="20000"/>
              </a:spcBef>
            </a:pPr>
            <a:r>
              <a:rPr lang="zh-CN" altLang="en-US" sz="1400" dirty="0">
                <a:latin typeface="Verdana" pitchFamily="34" charset="0"/>
              </a:rPr>
              <a:t>＜</a:t>
            </a:r>
            <a:r>
              <a:rPr lang="en-US" altLang="zh-CN" sz="1400" dirty="0">
                <a:latin typeface="Verdana" pitchFamily="34" charset="0"/>
              </a:rPr>
              <a:t>LI</a:t>
            </a:r>
            <a:r>
              <a:rPr lang="zh-CN" altLang="en-US" sz="1400" dirty="0">
                <a:latin typeface="Verdana" pitchFamily="34" charset="0"/>
              </a:rPr>
              <a:t>＞地址：五街</a:t>
            </a:r>
            <a:r>
              <a:rPr lang="en-US" altLang="zh-CN" sz="1400" dirty="0">
                <a:latin typeface="Verdana" pitchFamily="34" charset="0"/>
              </a:rPr>
              <a:t>1234</a:t>
            </a:r>
            <a:r>
              <a:rPr lang="zh-CN" altLang="en-US" sz="1400" dirty="0">
                <a:latin typeface="Verdana" pitchFamily="34" charset="0"/>
              </a:rPr>
              <a:t>号＜／</a:t>
            </a:r>
            <a:r>
              <a:rPr lang="en-US" altLang="zh-CN" sz="1400" dirty="0">
                <a:latin typeface="Verdana" pitchFamily="34" charset="0"/>
              </a:rPr>
              <a:t>LI</a:t>
            </a:r>
            <a:r>
              <a:rPr lang="zh-CN" altLang="en-US" sz="1400" dirty="0">
                <a:latin typeface="Verdana" pitchFamily="34" charset="0"/>
              </a:rPr>
              <a:t>＞</a:t>
            </a:r>
          </a:p>
          <a:p>
            <a:pPr marL="342900" indent="-342900" eaLnBrk="1" hangingPunct="1">
              <a:lnSpc>
                <a:spcPct val="90000"/>
              </a:lnSpc>
              <a:spcBef>
                <a:spcPct val="20000"/>
              </a:spcBef>
            </a:pPr>
            <a:r>
              <a:rPr lang="zh-CN" altLang="en-US" sz="1400" dirty="0">
                <a:latin typeface="Verdana" pitchFamily="34" charset="0"/>
              </a:rPr>
              <a:t>＜</a:t>
            </a:r>
            <a:r>
              <a:rPr lang="en-US" altLang="zh-CN" sz="1400" dirty="0">
                <a:latin typeface="Verdana" pitchFamily="34" charset="0"/>
              </a:rPr>
              <a:t>LI</a:t>
            </a:r>
            <a:r>
              <a:rPr lang="zh-CN" altLang="en-US" sz="1400" dirty="0">
                <a:latin typeface="Verdana" pitchFamily="34" charset="0"/>
              </a:rPr>
              <a:t>＞城市：北京市＜／</a:t>
            </a:r>
            <a:r>
              <a:rPr lang="en-US" altLang="zh-CN" sz="1400" dirty="0">
                <a:latin typeface="Verdana" pitchFamily="34" charset="0"/>
              </a:rPr>
              <a:t>LI</a:t>
            </a:r>
            <a:r>
              <a:rPr lang="zh-CN" altLang="en-US" sz="1400" dirty="0">
                <a:latin typeface="Verdana" pitchFamily="34" charset="0"/>
              </a:rPr>
              <a:t>＞</a:t>
            </a:r>
          </a:p>
          <a:p>
            <a:pPr marL="342900" indent="-342900" eaLnBrk="1" hangingPunct="1">
              <a:lnSpc>
                <a:spcPct val="90000"/>
              </a:lnSpc>
              <a:spcBef>
                <a:spcPct val="20000"/>
              </a:spcBef>
            </a:pPr>
            <a:r>
              <a:rPr lang="zh-CN" altLang="en-US" sz="1400" dirty="0">
                <a:latin typeface="Verdana" pitchFamily="34" charset="0"/>
              </a:rPr>
              <a:t>＜</a:t>
            </a:r>
            <a:r>
              <a:rPr lang="en-US" altLang="zh-CN" sz="1400" dirty="0">
                <a:latin typeface="Verdana" pitchFamily="34" charset="0"/>
              </a:rPr>
              <a:t>LI</a:t>
            </a:r>
            <a:r>
              <a:rPr lang="zh-CN" altLang="en-US" sz="1400" dirty="0">
                <a:latin typeface="Verdana" pitchFamily="34" charset="0"/>
              </a:rPr>
              <a:t>＞省份：北京＜／</a:t>
            </a:r>
            <a:r>
              <a:rPr lang="en-US" altLang="zh-CN" sz="1400" dirty="0">
                <a:latin typeface="Verdana" pitchFamily="34" charset="0"/>
              </a:rPr>
              <a:t>LI</a:t>
            </a:r>
            <a:r>
              <a:rPr lang="zh-CN" altLang="en-US" sz="1400" dirty="0">
                <a:latin typeface="Verdana" pitchFamily="34" charset="0"/>
              </a:rPr>
              <a:t>＞</a:t>
            </a:r>
          </a:p>
          <a:p>
            <a:pPr marL="342900" indent="-342900" eaLnBrk="1" hangingPunct="1">
              <a:lnSpc>
                <a:spcPct val="90000"/>
              </a:lnSpc>
              <a:spcBef>
                <a:spcPct val="20000"/>
              </a:spcBef>
            </a:pPr>
            <a:r>
              <a:rPr lang="zh-CN" altLang="en-US" sz="1400" dirty="0">
                <a:latin typeface="Verdana" pitchFamily="34" charset="0"/>
              </a:rPr>
              <a:t>＜／</a:t>
            </a:r>
            <a:r>
              <a:rPr lang="en-US" altLang="zh-CN" sz="1400" dirty="0">
                <a:latin typeface="Verdana" pitchFamily="34" charset="0"/>
              </a:rPr>
              <a:t>UL</a:t>
            </a:r>
            <a:r>
              <a:rPr lang="zh-CN" altLang="en-US" sz="1400" dirty="0">
                <a:latin typeface="Verdana" pitchFamily="34" charset="0"/>
              </a:rPr>
              <a:t>＞</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p:cNvSpPr>
            <a:spLocks noGrp="1" noChangeArrowheads="1"/>
          </p:cNvSpPr>
          <p:nvPr>
            <p:ph type="title"/>
          </p:nvPr>
        </p:nvSpPr>
        <p:spPr>
          <a:xfrm>
            <a:off x="2857488" y="428604"/>
            <a:ext cx="3967162" cy="649287"/>
          </a:xfrm>
        </p:spPr>
        <p:txBody>
          <a:bodyPr/>
          <a:lstStyle/>
          <a:p>
            <a:pPr marL="342900" indent="-342900">
              <a:lnSpc>
                <a:spcPct val="90000"/>
              </a:lnSpc>
              <a:spcBef>
                <a:spcPct val="20000"/>
              </a:spcBef>
              <a:defRPr/>
            </a:pPr>
            <a:r>
              <a:rPr lang="zh-CN" altLang="en-US" sz="3200" b="1" dirty="0" smtClean="0">
                <a:latin typeface="+mj-ea"/>
              </a:rPr>
              <a:t>显示</a:t>
            </a:r>
            <a:endParaRPr lang="en-US" altLang="zh-CN" sz="3200" b="1" dirty="0" smtClean="0">
              <a:latin typeface="+mj-ea"/>
            </a:endParaRPr>
          </a:p>
        </p:txBody>
      </p:sp>
      <p:sp>
        <p:nvSpPr>
          <p:cNvPr id="23555" name="AutoShape 4">
            <a:hlinkClick r:id="" action="ppaction://noaction" highlightClick="1"/>
          </p:cNvPr>
          <p:cNvSpPr>
            <a:spLocks noChangeArrowheads="1"/>
          </p:cNvSpPr>
          <p:nvPr/>
        </p:nvSpPr>
        <p:spPr bwMode="auto">
          <a:xfrm>
            <a:off x="7620000" y="381000"/>
            <a:ext cx="1143000" cy="457200"/>
          </a:xfrm>
          <a:prstGeom prst="actionButtonBlank">
            <a:avLst/>
          </a:prstGeom>
          <a:noFill/>
          <a:ln w="9525">
            <a:noFill/>
            <a:miter lim="800000"/>
            <a:headEnd/>
            <a:tailEnd/>
          </a:ln>
        </p:spPr>
        <p:txBody>
          <a:bodyPr wrap="none" anchor="ctr"/>
          <a:lstStyle/>
          <a:p>
            <a:pPr algn="ctr" eaLnBrk="1" hangingPunct="1">
              <a:spcBef>
                <a:spcPct val="20000"/>
              </a:spcBef>
              <a:buClr>
                <a:srgbClr val="0427FE"/>
              </a:buClr>
              <a:buFont typeface="Wingdings" pitchFamily="2" charset="2"/>
              <a:buNone/>
            </a:pPr>
            <a:r>
              <a:rPr lang="zh-CN" altLang="en-US" dirty="0">
                <a:ea typeface="楷体_GB2312" pitchFamily="49" charset="-122"/>
                <a:hlinkClick r:id="rId2" action="ppaction://hlinksldjump"/>
              </a:rPr>
              <a:t>返回</a:t>
            </a:r>
            <a:endParaRPr lang="zh-CN" altLang="en-US" dirty="0">
              <a:ea typeface="楷体_GB2312" pitchFamily="49" charset="-122"/>
            </a:endParaRPr>
          </a:p>
        </p:txBody>
      </p:sp>
      <p:sp>
        <p:nvSpPr>
          <p:cNvPr id="23556" name="Rectangle 5"/>
          <p:cNvSpPr>
            <a:spLocks noChangeArrowheads="1"/>
          </p:cNvSpPr>
          <p:nvPr/>
        </p:nvSpPr>
        <p:spPr bwMode="auto">
          <a:xfrm>
            <a:off x="5372104" y="1571612"/>
            <a:ext cx="3771928" cy="3657600"/>
          </a:xfrm>
          <a:prstGeom prst="rect">
            <a:avLst/>
          </a:prstGeom>
          <a:noFill/>
          <a:ln w="9525">
            <a:noFill/>
            <a:miter lim="800000"/>
            <a:headEnd/>
            <a:tailEnd/>
          </a:ln>
        </p:spPr>
        <p:txBody>
          <a:bodyPr/>
          <a:lstStyle/>
          <a:p>
            <a:pPr marL="342900" indent="-342900" eaLnBrk="1" hangingPunct="1">
              <a:spcBef>
                <a:spcPct val="20000"/>
              </a:spcBef>
              <a:buFontTx/>
              <a:buChar char="•"/>
            </a:pPr>
            <a:r>
              <a:rPr lang="zh-CN" altLang="en-US" dirty="0">
                <a:latin typeface="Verdana" pitchFamily="34" charset="0"/>
              </a:rPr>
              <a:t>李四</a:t>
            </a:r>
          </a:p>
          <a:p>
            <a:pPr marL="742950" lvl="1" indent="-285750" eaLnBrk="1" hangingPunct="1">
              <a:lnSpc>
                <a:spcPct val="90000"/>
              </a:lnSpc>
              <a:spcBef>
                <a:spcPct val="20000"/>
              </a:spcBef>
              <a:buFontTx/>
              <a:buChar char="o"/>
            </a:pPr>
            <a:r>
              <a:rPr lang="en-US" altLang="zh-CN" dirty="0">
                <a:latin typeface="Verdana" pitchFamily="34" charset="0"/>
              </a:rPr>
              <a:t>ID</a:t>
            </a:r>
            <a:r>
              <a:rPr lang="zh-CN" altLang="en-US" dirty="0">
                <a:latin typeface="Verdana" pitchFamily="34" charset="0"/>
              </a:rPr>
              <a:t>：</a:t>
            </a:r>
            <a:r>
              <a:rPr lang="en-US" altLang="zh-CN" dirty="0">
                <a:latin typeface="Verdana" pitchFamily="34" charset="0"/>
              </a:rPr>
              <a:t>002</a:t>
            </a:r>
          </a:p>
          <a:p>
            <a:pPr marL="742950" lvl="1" indent="-285750" eaLnBrk="1" hangingPunct="1">
              <a:lnSpc>
                <a:spcPct val="90000"/>
              </a:lnSpc>
              <a:spcBef>
                <a:spcPct val="20000"/>
              </a:spcBef>
              <a:buFontTx/>
              <a:buChar char="o"/>
            </a:pPr>
            <a:r>
              <a:rPr lang="zh-CN" altLang="en-US" dirty="0">
                <a:latin typeface="Verdana" pitchFamily="34" charset="0"/>
              </a:rPr>
              <a:t>公司：</a:t>
            </a:r>
            <a:r>
              <a:rPr lang="en-US" altLang="zh-CN" dirty="0">
                <a:latin typeface="Verdana" pitchFamily="34" charset="0"/>
              </a:rPr>
              <a:t>B</a:t>
            </a:r>
            <a:r>
              <a:rPr lang="zh-CN" altLang="en-US" dirty="0">
                <a:latin typeface="Verdana" pitchFamily="34" charset="0"/>
              </a:rPr>
              <a:t>公司</a:t>
            </a:r>
          </a:p>
          <a:p>
            <a:pPr marL="742950" lvl="1" indent="-285750" eaLnBrk="1" hangingPunct="1">
              <a:lnSpc>
                <a:spcPct val="90000"/>
              </a:lnSpc>
              <a:spcBef>
                <a:spcPct val="20000"/>
              </a:spcBef>
              <a:buFontTx/>
              <a:buChar char="o"/>
            </a:pPr>
            <a:r>
              <a:rPr lang="en-US" altLang="zh-CN" dirty="0">
                <a:latin typeface="Verdana" pitchFamily="34" charset="0"/>
              </a:rPr>
              <a:t>EMAIL</a:t>
            </a:r>
            <a:r>
              <a:rPr lang="zh-CN" altLang="en-US" dirty="0">
                <a:latin typeface="Verdana" pitchFamily="34" charset="0"/>
              </a:rPr>
              <a:t>：</a:t>
            </a:r>
            <a:r>
              <a:rPr lang="en-US" altLang="zh-CN" dirty="0">
                <a:latin typeface="Verdana" pitchFamily="34" charset="0"/>
              </a:rPr>
              <a:t>1i</a:t>
            </a:r>
            <a:r>
              <a:rPr lang="zh-CN" altLang="en-US" dirty="0">
                <a:latin typeface="Verdana" pitchFamily="34" charset="0"/>
              </a:rPr>
              <a:t>＠</a:t>
            </a:r>
            <a:r>
              <a:rPr lang="en-US" altLang="zh-CN" dirty="0" err="1">
                <a:latin typeface="Verdana" pitchFamily="34" charset="0"/>
              </a:rPr>
              <a:t>bbb</a:t>
            </a:r>
            <a:r>
              <a:rPr lang="zh-CN" altLang="en-US" dirty="0">
                <a:latin typeface="Verdana" pitchFamily="34" charset="0"/>
              </a:rPr>
              <a:t>．</a:t>
            </a:r>
            <a:r>
              <a:rPr lang="en-US" altLang="zh-CN" dirty="0">
                <a:latin typeface="Verdana" pitchFamily="34" charset="0"/>
              </a:rPr>
              <a:t>or8</a:t>
            </a:r>
          </a:p>
          <a:p>
            <a:pPr marL="742950" lvl="1" indent="-285750" eaLnBrk="1" hangingPunct="1">
              <a:lnSpc>
                <a:spcPct val="90000"/>
              </a:lnSpc>
              <a:spcBef>
                <a:spcPct val="20000"/>
              </a:spcBef>
              <a:buFontTx/>
              <a:buChar char="o"/>
            </a:pPr>
            <a:r>
              <a:rPr lang="zh-CN" altLang="en-US" dirty="0">
                <a:latin typeface="Verdana" pitchFamily="34" charset="0"/>
              </a:rPr>
              <a:t>电话：</a:t>
            </a:r>
            <a:r>
              <a:rPr lang="en-US" altLang="zh-CN" dirty="0">
                <a:latin typeface="Verdana" pitchFamily="34" charset="0"/>
              </a:rPr>
              <a:t>(021)87654321</a:t>
            </a:r>
          </a:p>
          <a:p>
            <a:pPr marL="742950" lvl="1" indent="-285750" eaLnBrk="1" hangingPunct="1">
              <a:lnSpc>
                <a:spcPct val="90000"/>
              </a:lnSpc>
              <a:spcBef>
                <a:spcPct val="20000"/>
              </a:spcBef>
              <a:buFontTx/>
              <a:buChar char="o"/>
            </a:pPr>
            <a:r>
              <a:rPr lang="zh-CN" altLang="en-US" dirty="0">
                <a:latin typeface="Verdana" pitchFamily="34" charset="0"/>
              </a:rPr>
              <a:t>地址：南京路</a:t>
            </a:r>
            <a:r>
              <a:rPr lang="en-US" altLang="zh-CN" dirty="0">
                <a:latin typeface="Verdana" pitchFamily="34" charset="0"/>
              </a:rPr>
              <a:t>9876</a:t>
            </a:r>
            <a:r>
              <a:rPr lang="zh-CN" altLang="en-US" dirty="0">
                <a:latin typeface="Verdana" pitchFamily="34" charset="0"/>
              </a:rPr>
              <a:t>号</a:t>
            </a:r>
          </a:p>
          <a:p>
            <a:pPr marL="742950" lvl="1" indent="-285750" eaLnBrk="1" hangingPunct="1">
              <a:lnSpc>
                <a:spcPct val="90000"/>
              </a:lnSpc>
              <a:spcBef>
                <a:spcPct val="20000"/>
              </a:spcBef>
              <a:buFontTx/>
              <a:buChar char="o"/>
            </a:pPr>
            <a:r>
              <a:rPr lang="zh-CN" altLang="en-US" dirty="0">
                <a:latin typeface="Verdana" pitchFamily="34" charset="0"/>
              </a:rPr>
              <a:t>城市：上海市</a:t>
            </a:r>
          </a:p>
          <a:p>
            <a:pPr marL="742950" lvl="1" indent="-285750" eaLnBrk="1" hangingPunct="1">
              <a:lnSpc>
                <a:spcPct val="90000"/>
              </a:lnSpc>
              <a:spcBef>
                <a:spcPct val="20000"/>
              </a:spcBef>
              <a:buFontTx/>
              <a:buChar char="o"/>
            </a:pPr>
            <a:r>
              <a:rPr lang="zh-CN" altLang="en-US" dirty="0">
                <a:latin typeface="Verdana" pitchFamily="34" charset="0"/>
              </a:rPr>
              <a:t>省份：上海</a:t>
            </a:r>
          </a:p>
        </p:txBody>
      </p:sp>
      <p:sp>
        <p:nvSpPr>
          <p:cNvPr id="23557" name="Rectangle 6"/>
          <p:cNvSpPr>
            <a:spLocks noChangeArrowheads="1"/>
          </p:cNvSpPr>
          <p:nvPr/>
        </p:nvSpPr>
        <p:spPr bwMode="auto">
          <a:xfrm>
            <a:off x="1643074" y="1676400"/>
            <a:ext cx="4143372" cy="3581400"/>
          </a:xfrm>
          <a:prstGeom prst="rect">
            <a:avLst/>
          </a:prstGeom>
          <a:noFill/>
          <a:ln w="9525">
            <a:noFill/>
            <a:miter lim="800000"/>
            <a:headEnd/>
            <a:tailEnd/>
          </a:ln>
        </p:spPr>
        <p:txBody>
          <a:bodyPr/>
          <a:lstStyle/>
          <a:p>
            <a:pPr marL="342900" indent="-342900" eaLnBrk="1" hangingPunct="1">
              <a:spcBef>
                <a:spcPct val="20000"/>
              </a:spcBef>
              <a:buFontTx/>
              <a:buChar char="•"/>
            </a:pPr>
            <a:r>
              <a:rPr lang="zh-CN" altLang="en-US" dirty="0">
                <a:latin typeface="Verdana" pitchFamily="34" charset="0"/>
              </a:rPr>
              <a:t>张三</a:t>
            </a:r>
          </a:p>
          <a:p>
            <a:pPr marL="742950" lvl="1" indent="-285750" eaLnBrk="1" hangingPunct="1">
              <a:spcBef>
                <a:spcPct val="20000"/>
              </a:spcBef>
              <a:buFontTx/>
              <a:buChar char="o"/>
            </a:pPr>
            <a:r>
              <a:rPr lang="zh-CN" altLang="en-US" dirty="0">
                <a:latin typeface="Verdana" pitchFamily="34" charset="0"/>
              </a:rPr>
              <a:t>用户</a:t>
            </a:r>
            <a:r>
              <a:rPr lang="en-US" altLang="zh-CN" dirty="0">
                <a:latin typeface="Verdana" pitchFamily="34" charset="0"/>
              </a:rPr>
              <a:t>ID</a:t>
            </a:r>
            <a:r>
              <a:rPr lang="zh-CN" altLang="en-US" dirty="0">
                <a:latin typeface="Verdana" pitchFamily="34" charset="0"/>
              </a:rPr>
              <a:t>：</a:t>
            </a:r>
            <a:r>
              <a:rPr lang="en-US" altLang="zh-CN" dirty="0">
                <a:latin typeface="Verdana" pitchFamily="34" charset="0"/>
              </a:rPr>
              <a:t>001</a:t>
            </a:r>
          </a:p>
          <a:p>
            <a:pPr marL="742950" lvl="1" indent="-285750" eaLnBrk="1" hangingPunct="1">
              <a:spcBef>
                <a:spcPct val="20000"/>
              </a:spcBef>
              <a:buFontTx/>
              <a:buChar char="o"/>
            </a:pPr>
            <a:r>
              <a:rPr lang="zh-CN" altLang="en-US" dirty="0">
                <a:latin typeface="Verdana" pitchFamily="34" charset="0"/>
              </a:rPr>
              <a:t>公司：</a:t>
            </a:r>
            <a:r>
              <a:rPr lang="en-US" altLang="zh-CN" dirty="0">
                <a:latin typeface="Verdana" pitchFamily="34" charset="0"/>
              </a:rPr>
              <a:t>A</a:t>
            </a:r>
            <a:r>
              <a:rPr lang="zh-CN" altLang="en-US" dirty="0">
                <a:latin typeface="Verdana" pitchFamily="34" charset="0"/>
              </a:rPr>
              <a:t>公司</a:t>
            </a:r>
          </a:p>
          <a:p>
            <a:pPr marL="742950" lvl="1" indent="-285750" eaLnBrk="1" hangingPunct="1">
              <a:spcBef>
                <a:spcPct val="20000"/>
              </a:spcBef>
              <a:buFontTx/>
              <a:buChar char="o"/>
            </a:pPr>
            <a:r>
              <a:rPr lang="en-US" altLang="zh-CN" dirty="0" err="1">
                <a:latin typeface="Verdana" pitchFamily="34" charset="0"/>
              </a:rPr>
              <a:t>EMAIL:zhang</a:t>
            </a:r>
            <a:r>
              <a:rPr lang="zh-CN" altLang="en-US" dirty="0">
                <a:latin typeface="Verdana" pitchFamily="34" charset="0"/>
              </a:rPr>
              <a:t>＠</a:t>
            </a:r>
            <a:r>
              <a:rPr lang="en-US" altLang="zh-CN" dirty="0" err="1">
                <a:latin typeface="Verdana" pitchFamily="34" charset="0"/>
              </a:rPr>
              <a:t>aaa</a:t>
            </a:r>
            <a:r>
              <a:rPr lang="zh-CN" altLang="en-US" dirty="0">
                <a:latin typeface="Verdana" pitchFamily="34" charset="0"/>
              </a:rPr>
              <a:t>．</a:t>
            </a:r>
            <a:r>
              <a:rPr lang="en-US" altLang="zh-CN" dirty="0">
                <a:latin typeface="Verdana" pitchFamily="34" charset="0"/>
              </a:rPr>
              <a:t>com</a:t>
            </a:r>
          </a:p>
          <a:p>
            <a:pPr marL="742950" lvl="1" indent="-285750" eaLnBrk="1" hangingPunct="1">
              <a:spcBef>
                <a:spcPct val="20000"/>
              </a:spcBef>
              <a:buFontTx/>
              <a:buChar char="o"/>
            </a:pPr>
            <a:r>
              <a:rPr lang="zh-CN" altLang="en-US" dirty="0">
                <a:latin typeface="Verdana" pitchFamily="34" charset="0"/>
              </a:rPr>
              <a:t>电话：</a:t>
            </a:r>
            <a:r>
              <a:rPr lang="en-US" altLang="zh-CN" dirty="0">
                <a:latin typeface="Verdana" pitchFamily="34" charset="0"/>
              </a:rPr>
              <a:t>(010)62345678</a:t>
            </a:r>
          </a:p>
          <a:p>
            <a:pPr marL="742950" lvl="1" indent="-285750" eaLnBrk="1" hangingPunct="1">
              <a:spcBef>
                <a:spcPct val="20000"/>
              </a:spcBef>
              <a:buFontTx/>
              <a:buChar char="o"/>
            </a:pPr>
            <a:r>
              <a:rPr lang="zh-CN" altLang="en-US" dirty="0">
                <a:latin typeface="Verdana" pitchFamily="34" charset="0"/>
              </a:rPr>
              <a:t>地址：五街</a:t>
            </a:r>
            <a:r>
              <a:rPr lang="en-US" altLang="zh-CN" dirty="0">
                <a:latin typeface="Verdana" pitchFamily="34" charset="0"/>
              </a:rPr>
              <a:t>1234</a:t>
            </a:r>
            <a:r>
              <a:rPr lang="zh-CN" altLang="en-US" dirty="0">
                <a:latin typeface="Verdana" pitchFamily="34" charset="0"/>
              </a:rPr>
              <a:t>号</a:t>
            </a:r>
          </a:p>
          <a:p>
            <a:pPr marL="742950" lvl="1" indent="-285750" eaLnBrk="1" hangingPunct="1">
              <a:spcBef>
                <a:spcPct val="20000"/>
              </a:spcBef>
              <a:buFontTx/>
              <a:buChar char="o"/>
            </a:pPr>
            <a:r>
              <a:rPr lang="zh-CN" altLang="en-US" dirty="0">
                <a:latin typeface="Verdana" pitchFamily="34" charset="0"/>
              </a:rPr>
              <a:t>城市：北京市</a:t>
            </a:r>
          </a:p>
          <a:p>
            <a:pPr marL="742950" lvl="1" indent="-285750" eaLnBrk="1" hangingPunct="1">
              <a:spcBef>
                <a:spcPct val="20000"/>
              </a:spcBef>
              <a:buFontTx/>
              <a:buChar char="o"/>
            </a:pPr>
            <a:r>
              <a:rPr lang="zh-CN" altLang="en-US" dirty="0">
                <a:latin typeface="Verdana" pitchFamily="34" charset="0"/>
              </a:rPr>
              <a:t>省份：北京</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p:cNvSpPr>
            <a:spLocks noGrp="1" noChangeArrowheads="1"/>
          </p:cNvSpPr>
          <p:nvPr>
            <p:ph idx="1"/>
          </p:nvPr>
        </p:nvSpPr>
        <p:spPr>
          <a:xfrm>
            <a:off x="2143108" y="500063"/>
            <a:ext cx="5845192" cy="5759450"/>
          </a:xfrm>
        </p:spPr>
        <p:txBody>
          <a:bodyPr>
            <a:normAutofit lnSpcReduction="10000"/>
          </a:bodyPr>
          <a:lstStyle/>
          <a:p>
            <a:pPr marL="609600" indent="-609600">
              <a:buNone/>
            </a:pPr>
            <a:r>
              <a:rPr lang="en-US" altLang="zh-CN" sz="3600" b="1" dirty="0" smtClean="0"/>
              <a:t>XML</a:t>
            </a:r>
            <a:r>
              <a:rPr lang="zh-CN" altLang="en-US" sz="3600" b="1" dirty="0" smtClean="0"/>
              <a:t>概述</a:t>
            </a:r>
          </a:p>
          <a:p>
            <a:pPr marL="609600" indent="-609600">
              <a:buFontTx/>
              <a:buAutoNum type="arabicPeriod"/>
            </a:pPr>
            <a:endParaRPr lang="zh-CN" altLang="en-US" sz="3600" b="1" dirty="0" smtClean="0">
              <a:solidFill>
                <a:srgbClr val="FF0000"/>
              </a:solidFill>
            </a:endParaRPr>
          </a:p>
          <a:p>
            <a:pPr marL="609600" indent="-609600">
              <a:buNone/>
            </a:pPr>
            <a:r>
              <a:rPr lang="en-US" altLang="zh-CN" sz="3600" b="1" dirty="0" smtClean="0">
                <a:solidFill>
                  <a:srgbClr val="FF0000"/>
                </a:solidFill>
              </a:rPr>
              <a:t>XML</a:t>
            </a:r>
            <a:r>
              <a:rPr lang="zh-CN" altLang="en-US" sz="3600" b="1" dirty="0" smtClean="0">
                <a:solidFill>
                  <a:srgbClr val="FF0000"/>
                </a:solidFill>
              </a:rPr>
              <a:t>语法</a:t>
            </a:r>
          </a:p>
          <a:p>
            <a:pPr marL="609600" indent="-609600">
              <a:buFontTx/>
              <a:buAutoNum type="arabicPeriod"/>
            </a:pPr>
            <a:endParaRPr lang="zh-CN" altLang="en-US" sz="3600" b="1" dirty="0" smtClean="0"/>
          </a:p>
          <a:p>
            <a:pPr marL="609600" indent="-609600">
              <a:buNone/>
            </a:pPr>
            <a:r>
              <a:rPr lang="en-US" altLang="zh-CN" sz="3600" b="1" dirty="0" smtClean="0"/>
              <a:t>DTD</a:t>
            </a:r>
            <a:r>
              <a:rPr lang="zh-CN" altLang="en-US" sz="3600" b="1" dirty="0" smtClean="0"/>
              <a:t>与</a:t>
            </a:r>
            <a:r>
              <a:rPr lang="en-US" altLang="zh-CN" sz="3600" b="1" dirty="0" smtClean="0"/>
              <a:t>Scheme</a:t>
            </a:r>
          </a:p>
          <a:p>
            <a:pPr marL="609600" indent="-609600">
              <a:buFontTx/>
              <a:buAutoNum type="arabicPeriod"/>
            </a:pPr>
            <a:endParaRPr lang="en-US" altLang="zh-CN" sz="3600" b="1" dirty="0" smtClean="0"/>
          </a:p>
          <a:p>
            <a:pPr marL="609600" indent="-609600">
              <a:buNone/>
            </a:pPr>
            <a:r>
              <a:rPr lang="en-US" altLang="zh-CN" sz="3600" b="1" dirty="0" smtClean="0"/>
              <a:t>XSL</a:t>
            </a:r>
            <a:r>
              <a:rPr lang="zh-CN" altLang="en-US" sz="3600" b="1" dirty="0" smtClean="0"/>
              <a:t>，</a:t>
            </a:r>
            <a:r>
              <a:rPr lang="en-US" altLang="zh-CN" sz="3600" b="1" dirty="0" smtClean="0"/>
              <a:t>XSLT and </a:t>
            </a:r>
            <a:r>
              <a:rPr lang="en-US" altLang="zh-CN" sz="3600" b="1" dirty="0" err="1" smtClean="0"/>
              <a:t>XPath</a:t>
            </a:r>
            <a:endParaRPr lang="en-US" altLang="zh-CN" sz="3600" b="1" dirty="0" smtClean="0"/>
          </a:p>
          <a:p>
            <a:pPr marL="609600" indent="-609600">
              <a:buFontTx/>
              <a:buAutoNum type="arabicPeriod"/>
            </a:pPr>
            <a:endParaRPr lang="zh-CN" altLang="en-US" sz="3600" b="1" dirty="0" smtClean="0"/>
          </a:p>
          <a:p>
            <a:pPr marL="609600" indent="-609600">
              <a:buNone/>
            </a:pPr>
            <a:r>
              <a:rPr lang="en-US" altLang="zh-CN" sz="3600" b="1" dirty="0" smtClean="0"/>
              <a:t>XML</a:t>
            </a:r>
            <a:r>
              <a:rPr lang="zh-CN" altLang="en-US" sz="3600" b="1" dirty="0" smtClean="0"/>
              <a:t>解析</a:t>
            </a:r>
            <a:endParaRPr lang="en-US" altLang="zh-CN" sz="3600" b="1" dirty="0" smtClean="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755650" y="188913"/>
            <a:ext cx="7772400" cy="647700"/>
          </a:xfrm>
        </p:spPr>
        <p:txBody>
          <a:bodyPr/>
          <a:lstStyle/>
          <a:p>
            <a:pPr marL="342900" indent="-342900">
              <a:lnSpc>
                <a:spcPct val="90000"/>
              </a:lnSpc>
              <a:spcBef>
                <a:spcPct val="20000"/>
              </a:spcBef>
              <a:defRPr/>
            </a:pPr>
            <a:r>
              <a:rPr lang="en-US" altLang="en-US" sz="3200" b="1" dirty="0" smtClean="0">
                <a:latin typeface="+mj-ea"/>
              </a:rPr>
              <a:t>XML</a:t>
            </a:r>
            <a:r>
              <a:rPr lang="zh-CN" altLang="en-US" sz="3200" b="1" dirty="0" smtClean="0">
                <a:latin typeface="+mj-ea"/>
              </a:rPr>
              <a:t>文档示例</a:t>
            </a:r>
            <a:endParaRPr lang="en-US" altLang="zh-CN" sz="3200" b="1" dirty="0" smtClean="0">
              <a:latin typeface="+mj-ea"/>
            </a:endParaRPr>
          </a:p>
        </p:txBody>
      </p:sp>
      <p:sp>
        <p:nvSpPr>
          <p:cNvPr id="26627" name="Rectangle 4"/>
          <p:cNvSpPr>
            <a:spLocks noChangeArrowheads="1"/>
          </p:cNvSpPr>
          <p:nvPr/>
        </p:nvSpPr>
        <p:spPr bwMode="auto">
          <a:xfrm>
            <a:off x="1752632" y="1295400"/>
            <a:ext cx="7391400" cy="5257800"/>
          </a:xfrm>
          <a:prstGeom prst="rect">
            <a:avLst/>
          </a:prstGeom>
          <a:noFill/>
          <a:ln w="9525">
            <a:noFill/>
            <a:miter lim="800000"/>
            <a:headEnd/>
            <a:tailEnd/>
          </a:ln>
        </p:spPr>
        <p:txBody>
          <a:bodyPr/>
          <a:lstStyle/>
          <a:p>
            <a:pPr marL="342900" indent="-342900" eaLnBrk="1" hangingPunct="1">
              <a:lnSpc>
                <a:spcPct val="90000"/>
              </a:lnSpc>
              <a:spcBef>
                <a:spcPct val="20000"/>
              </a:spcBef>
            </a:pPr>
            <a:r>
              <a:rPr lang="en-US" altLang="zh-CN" sz="1600" b="1" dirty="0">
                <a:latin typeface="宋体" charset="-122"/>
              </a:rPr>
              <a:t>[1]</a:t>
            </a:r>
            <a:r>
              <a:rPr lang="zh-CN" altLang="en-US" sz="1600" b="1" dirty="0">
                <a:latin typeface="宋体" charset="-122"/>
              </a:rPr>
              <a:t>＜</a:t>
            </a:r>
            <a:r>
              <a:rPr lang="en-US" altLang="zh-CN" sz="1600" b="1" dirty="0">
                <a:latin typeface="宋体" charset="-122"/>
              </a:rPr>
              <a:t>?</a:t>
            </a:r>
            <a:r>
              <a:rPr lang="en-US" altLang="zh-CN" sz="1600" b="1" dirty="0" err="1">
                <a:latin typeface="宋体" charset="-122"/>
              </a:rPr>
              <a:t>xmlversion</a:t>
            </a:r>
            <a:r>
              <a:rPr lang="zh-CN" altLang="en-US" sz="1600" b="1" dirty="0">
                <a:latin typeface="宋体" charset="-122"/>
              </a:rPr>
              <a:t>＝</a:t>
            </a:r>
            <a:r>
              <a:rPr lang="zh-CN" altLang="en-US" sz="1600" b="1" dirty="0"/>
              <a:t>“</a:t>
            </a:r>
            <a:r>
              <a:rPr lang="en-US" altLang="zh-CN" sz="1600" b="1" dirty="0">
                <a:latin typeface="宋体" charset="-122"/>
              </a:rPr>
              <a:t>1</a:t>
            </a:r>
            <a:r>
              <a:rPr lang="zh-CN" altLang="en-US" sz="1600" b="1" dirty="0">
                <a:latin typeface="宋体" charset="-122"/>
              </a:rPr>
              <a:t>．</a:t>
            </a:r>
            <a:r>
              <a:rPr lang="en-US" altLang="zh-CN" sz="1600" b="1" dirty="0">
                <a:latin typeface="宋体" charset="-122"/>
              </a:rPr>
              <a:t>0</a:t>
            </a:r>
            <a:r>
              <a:rPr lang="en-US" altLang="zh-CN" sz="1600" b="1" dirty="0"/>
              <a:t>”</a:t>
            </a:r>
            <a:r>
              <a:rPr lang="en-US" altLang="zh-CN" sz="1600" b="1" dirty="0">
                <a:latin typeface="宋体" charset="-122"/>
              </a:rPr>
              <a:t>encoding</a:t>
            </a:r>
            <a:r>
              <a:rPr lang="zh-CN" altLang="en-US" sz="1600" b="1" dirty="0">
                <a:latin typeface="宋体" charset="-122"/>
              </a:rPr>
              <a:t>＝</a:t>
            </a:r>
            <a:r>
              <a:rPr lang="zh-CN" altLang="en-US" sz="1600" b="1" dirty="0"/>
              <a:t>”</a:t>
            </a:r>
            <a:r>
              <a:rPr lang="en-US" altLang="zh-CN" sz="1600" b="1" dirty="0">
                <a:latin typeface="宋体" charset="-122"/>
              </a:rPr>
              <a:t>GB2312</a:t>
            </a:r>
            <a:r>
              <a:rPr lang="en-US" altLang="zh-CN" sz="1600" b="1" dirty="0"/>
              <a:t>“</a:t>
            </a:r>
            <a:r>
              <a:rPr lang="en-US" altLang="zh-CN" sz="1600" b="1" dirty="0">
                <a:latin typeface="宋体" charset="-122"/>
              </a:rPr>
              <a:t>standalone</a:t>
            </a:r>
            <a:r>
              <a:rPr lang="zh-CN" altLang="en-US" sz="1600" b="1" dirty="0">
                <a:latin typeface="宋体" charset="-122"/>
              </a:rPr>
              <a:t>＝</a:t>
            </a:r>
            <a:r>
              <a:rPr lang="zh-CN" altLang="en-US" sz="1600" b="1" dirty="0"/>
              <a:t>”</a:t>
            </a:r>
            <a:r>
              <a:rPr lang="en-US" altLang="zh-CN" sz="1600" b="1" dirty="0">
                <a:latin typeface="宋体" charset="-122"/>
              </a:rPr>
              <a:t>no</a:t>
            </a:r>
            <a:r>
              <a:rPr lang="en-US" altLang="zh-CN" sz="1600" b="1" dirty="0"/>
              <a:t>“</a:t>
            </a:r>
            <a:r>
              <a:rPr lang="en-US" altLang="zh-CN" sz="1600" b="1" dirty="0">
                <a:latin typeface="宋体" charset="-122"/>
              </a:rPr>
              <a:t>?</a:t>
            </a:r>
            <a:r>
              <a:rPr lang="zh-CN" altLang="en-US" sz="1600" b="1" dirty="0">
                <a:latin typeface="宋体" charset="-122"/>
              </a:rPr>
              <a:t>＞</a:t>
            </a:r>
          </a:p>
          <a:p>
            <a:pPr marL="342900" indent="-342900" eaLnBrk="1" hangingPunct="1">
              <a:lnSpc>
                <a:spcPct val="90000"/>
              </a:lnSpc>
              <a:spcBef>
                <a:spcPct val="20000"/>
              </a:spcBef>
            </a:pPr>
            <a:r>
              <a:rPr lang="en-US" altLang="zh-CN" sz="1600" b="1" dirty="0">
                <a:latin typeface="宋体" charset="-122"/>
              </a:rPr>
              <a:t>[2]</a:t>
            </a:r>
            <a:r>
              <a:rPr lang="zh-CN" altLang="en-US" sz="1600" b="1" dirty="0">
                <a:latin typeface="宋体" charset="-122"/>
              </a:rPr>
              <a:t>＜</a:t>
            </a:r>
            <a:r>
              <a:rPr lang="en-US" altLang="zh-CN" sz="1600" b="1" dirty="0">
                <a:latin typeface="宋体" charset="-122"/>
              </a:rPr>
              <a:t>?xml</a:t>
            </a:r>
            <a:r>
              <a:rPr lang="en-US" altLang="zh-CN" sz="1600" b="1" dirty="0"/>
              <a:t>—</a:t>
            </a:r>
            <a:r>
              <a:rPr lang="en-US" altLang="zh-CN" sz="1600" b="1" dirty="0" err="1">
                <a:latin typeface="宋体" charset="-122"/>
              </a:rPr>
              <a:t>stylesheet</a:t>
            </a:r>
            <a:r>
              <a:rPr lang="en-US" altLang="zh-CN" sz="1600" b="1" dirty="0">
                <a:latin typeface="宋体" charset="-122"/>
              </a:rPr>
              <a:t> type</a:t>
            </a:r>
            <a:r>
              <a:rPr lang="zh-CN" altLang="en-US" sz="1600" b="1" dirty="0">
                <a:latin typeface="宋体" charset="-122"/>
              </a:rPr>
              <a:t>＝</a:t>
            </a:r>
            <a:r>
              <a:rPr lang="zh-CN" altLang="en-US" sz="1600" b="1" dirty="0"/>
              <a:t>“</a:t>
            </a:r>
            <a:r>
              <a:rPr lang="en-US" altLang="zh-CN" sz="1600" b="1" dirty="0">
                <a:latin typeface="宋体" charset="-122"/>
              </a:rPr>
              <a:t>text</a:t>
            </a:r>
            <a:r>
              <a:rPr lang="zh-CN" altLang="en-US" sz="1600" b="1" dirty="0">
                <a:latin typeface="宋体" charset="-122"/>
              </a:rPr>
              <a:t>／</a:t>
            </a:r>
            <a:r>
              <a:rPr lang="en-US" altLang="zh-CN" sz="1600" b="1" dirty="0" err="1">
                <a:latin typeface="宋体" charset="-122"/>
              </a:rPr>
              <a:t>xsl</a:t>
            </a:r>
            <a:r>
              <a:rPr lang="en-US" altLang="zh-CN" sz="1600" b="1" dirty="0" err="1"/>
              <a:t>”</a:t>
            </a:r>
            <a:r>
              <a:rPr lang="en-US" altLang="zh-CN" sz="1600" b="1" dirty="0" err="1">
                <a:latin typeface="宋体" charset="-122"/>
              </a:rPr>
              <a:t>href</a:t>
            </a:r>
            <a:r>
              <a:rPr lang="zh-CN" altLang="en-US" sz="1600" b="1" dirty="0">
                <a:latin typeface="宋体" charset="-122"/>
              </a:rPr>
              <a:t>＝</a:t>
            </a:r>
            <a:r>
              <a:rPr lang="zh-CN" altLang="en-US" sz="1600" b="1" dirty="0"/>
              <a:t>”</a:t>
            </a:r>
            <a:r>
              <a:rPr lang="en-US" altLang="zh-CN" sz="1600" b="1" dirty="0" err="1">
                <a:latin typeface="宋体" charset="-122"/>
              </a:rPr>
              <a:t>mystyle</a:t>
            </a:r>
            <a:r>
              <a:rPr lang="zh-CN" altLang="en-US" sz="1600" b="1" dirty="0">
                <a:latin typeface="宋体" charset="-122"/>
              </a:rPr>
              <a:t>．</a:t>
            </a:r>
            <a:r>
              <a:rPr lang="en-US" altLang="zh-CN" sz="1600" b="1" dirty="0" err="1">
                <a:latin typeface="宋体" charset="-122"/>
              </a:rPr>
              <a:t>xsl</a:t>
            </a:r>
            <a:r>
              <a:rPr lang="en-US" altLang="zh-CN" sz="1600" b="1" dirty="0"/>
              <a:t>”</a:t>
            </a:r>
            <a:r>
              <a:rPr lang="en-US" altLang="zh-CN" sz="1600" b="1" dirty="0">
                <a:latin typeface="宋体" charset="-122"/>
              </a:rPr>
              <a:t>?</a:t>
            </a:r>
            <a:r>
              <a:rPr lang="zh-CN" altLang="en-US" sz="1600" b="1" dirty="0">
                <a:latin typeface="宋体" charset="-122"/>
              </a:rPr>
              <a:t>＞</a:t>
            </a:r>
          </a:p>
          <a:p>
            <a:pPr marL="342900" indent="-342900" eaLnBrk="1" hangingPunct="1">
              <a:lnSpc>
                <a:spcPct val="90000"/>
              </a:lnSpc>
              <a:spcBef>
                <a:spcPct val="20000"/>
              </a:spcBef>
            </a:pPr>
            <a:r>
              <a:rPr lang="en-US" altLang="zh-CN" sz="1600" b="1" dirty="0">
                <a:latin typeface="宋体" charset="-122"/>
              </a:rPr>
              <a:t>[3]</a:t>
            </a:r>
            <a:r>
              <a:rPr lang="zh-CN" altLang="en-US" sz="1600" b="1" dirty="0">
                <a:latin typeface="宋体" charset="-122"/>
              </a:rPr>
              <a:t>＜专有名词列表＞</a:t>
            </a:r>
          </a:p>
          <a:p>
            <a:pPr marL="342900" indent="-342900" eaLnBrk="1" hangingPunct="1">
              <a:lnSpc>
                <a:spcPct val="90000"/>
              </a:lnSpc>
              <a:spcBef>
                <a:spcPct val="20000"/>
              </a:spcBef>
            </a:pPr>
            <a:r>
              <a:rPr lang="en-US" altLang="zh-CN" sz="1600" b="1" dirty="0">
                <a:latin typeface="宋体" charset="-122"/>
              </a:rPr>
              <a:t>[41    </a:t>
            </a:r>
            <a:r>
              <a:rPr lang="zh-CN" altLang="en-US" sz="1600" b="1" dirty="0">
                <a:latin typeface="宋体" charset="-122"/>
              </a:rPr>
              <a:t>＜专有名词＞</a:t>
            </a:r>
          </a:p>
          <a:p>
            <a:pPr marL="342900" indent="-342900" eaLnBrk="1" hangingPunct="1">
              <a:lnSpc>
                <a:spcPct val="90000"/>
              </a:lnSpc>
              <a:spcBef>
                <a:spcPct val="20000"/>
              </a:spcBef>
            </a:pPr>
            <a:r>
              <a:rPr lang="en-US" altLang="zh-CN" sz="1600" b="1" dirty="0">
                <a:latin typeface="宋体" charset="-122"/>
              </a:rPr>
              <a:t>[5]        </a:t>
            </a:r>
            <a:r>
              <a:rPr lang="zh-CN" altLang="en-US" sz="1600" b="1" dirty="0">
                <a:latin typeface="宋体" charset="-122"/>
              </a:rPr>
              <a:t>＜名词＞</a:t>
            </a:r>
            <a:r>
              <a:rPr lang="en-US" altLang="zh-CN" sz="1600" b="1" dirty="0">
                <a:latin typeface="宋体" charset="-122"/>
              </a:rPr>
              <a:t>XML</a:t>
            </a:r>
            <a:r>
              <a:rPr lang="zh-CN" altLang="en-US" sz="1600" b="1" dirty="0">
                <a:latin typeface="宋体" charset="-122"/>
              </a:rPr>
              <a:t>＜／名词＞</a:t>
            </a:r>
          </a:p>
          <a:p>
            <a:pPr marL="342900" indent="-342900" eaLnBrk="1" hangingPunct="1">
              <a:lnSpc>
                <a:spcPct val="90000"/>
              </a:lnSpc>
              <a:spcBef>
                <a:spcPct val="20000"/>
              </a:spcBef>
            </a:pPr>
            <a:r>
              <a:rPr lang="en-US" altLang="zh-CN" sz="1600" b="1" dirty="0">
                <a:latin typeface="宋体" charset="-122"/>
              </a:rPr>
              <a:t>[6]        </a:t>
            </a:r>
            <a:r>
              <a:rPr lang="zh-CN" altLang="en-US" sz="1600" b="1" dirty="0">
                <a:latin typeface="宋体" charset="-122"/>
              </a:rPr>
              <a:t>＜解释＞</a:t>
            </a:r>
            <a:r>
              <a:rPr lang="en-US" altLang="zh-CN" sz="1600" b="1" dirty="0">
                <a:latin typeface="宋体" charset="-122"/>
              </a:rPr>
              <a:t>XMI</a:t>
            </a:r>
            <a:r>
              <a:rPr lang="zh-CN" altLang="en-US" sz="1600" b="1" dirty="0">
                <a:latin typeface="宋体" charset="-122"/>
              </a:rPr>
              <a:t>是一种可扩展的元置标语言，它可用以规定新的置标规则，并根据这个规则组织数据＜／解释＞</a:t>
            </a:r>
          </a:p>
          <a:p>
            <a:pPr marL="342900" indent="-342900" eaLnBrk="1" hangingPunct="1">
              <a:lnSpc>
                <a:spcPct val="90000"/>
              </a:lnSpc>
              <a:spcBef>
                <a:spcPct val="20000"/>
              </a:spcBef>
            </a:pPr>
            <a:r>
              <a:rPr lang="en-US" altLang="zh-CN" sz="1600" b="1" dirty="0">
                <a:latin typeface="宋体" charset="-122"/>
              </a:rPr>
              <a:t>[7]        </a:t>
            </a:r>
            <a:r>
              <a:rPr lang="zh-CN" altLang="en-US" sz="1600" b="1" dirty="0">
                <a:latin typeface="宋体" charset="-122"/>
              </a:rPr>
              <a:t>＜示例＞</a:t>
            </a:r>
          </a:p>
          <a:p>
            <a:pPr marL="342900" indent="-342900" eaLnBrk="1" hangingPunct="1">
              <a:lnSpc>
                <a:spcPct val="90000"/>
              </a:lnSpc>
              <a:spcBef>
                <a:spcPct val="20000"/>
              </a:spcBef>
            </a:pPr>
            <a:r>
              <a:rPr lang="en-US" altLang="zh-CN" sz="1600" b="1" dirty="0">
                <a:latin typeface="宋体" charset="-122"/>
              </a:rPr>
              <a:t>[8]            </a:t>
            </a:r>
            <a:r>
              <a:rPr lang="zh-CN" altLang="en-US" sz="1600" b="1" dirty="0">
                <a:latin typeface="宋体" charset="-122"/>
              </a:rPr>
              <a:t>＜</a:t>
            </a:r>
            <a:r>
              <a:rPr lang="en-US" altLang="zh-CN" sz="1600" b="1" dirty="0">
                <a:latin typeface="宋体" charset="-122"/>
              </a:rPr>
              <a:t>!</a:t>
            </a:r>
            <a:r>
              <a:rPr lang="en-US" altLang="zh-CN" sz="1600" b="1" dirty="0"/>
              <a:t>—</a:t>
            </a:r>
            <a:r>
              <a:rPr lang="zh-CN" altLang="en-US" sz="1600" b="1" dirty="0">
                <a:latin typeface="宋体" charset="-122"/>
              </a:rPr>
              <a:t>一个</a:t>
            </a:r>
            <a:r>
              <a:rPr lang="en-US" altLang="zh-CN" sz="1600" b="1" dirty="0">
                <a:latin typeface="宋体" charset="-122"/>
              </a:rPr>
              <a:t>XML</a:t>
            </a:r>
            <a:r>
              <a:rPr lang="zh-CN" altLang="en-US" sz="1600" b="1" dirty="0">
                <a:latin typeface="宋体" charset="-122"/>
              </a:rPr>
              <a:t>的例子</a:t>
            </a:r>
            <a:r>
              <a:rPr lang="en-US" altLang="zh-CN" sz="1600" b="1" dirty="0"/>
              <a:t>—</a:t>
            </a:r>
            <a:r>
              <a:rPr lang="zh-CN" altLang="en-US" sz="1600" b="1" dirty="0">
                <a:latin typeface="宋体" charset="-122"/>
              </a:rPr>
              <a:t>＞</a:t>
            </a:r>
          </a:p>
          <a:p>
            <a:pPr marL="342900" indent="-342900" eaLnBrk="1" hangingPunct="1">
              <a:lnSpc>
                <a:spcPct val="90000"/>
              </a:lnSpc>
              <a:spcBef>
                <a:spcPct val="20000"/>
              </a:spcBef>
            </a:pPr>
            <a:r>
              <a:rPr lang="en-US" altLang="zh-CN" sz="1600" b="1" dirty="0">
                <a:latin typeface="宋体" charset="-122"/>
              </a:rPr>
              <a:t>[9]            </a:t>
            </a:r>
            <a:r>
              <a:rPr lang="zh-CN" altLang="en-US" sz="1600" b="1" dirty="0">
                <a:latin typeface="宋体" charset="-122"/>
              </a:rPr>
              <a:t>＜</a:t>
            </a:r>
            <a:r>
              <a:rPr lang="en-US" altLang="zh-CN" sz="1600" b="1" dirty="0">
                <a:latin typeface="宋体" charset="-122"/>
              </a:rPr>
              <a:t>![CDATA[</a:t>
            </a:r>
          </a:p>
          <a:p>
            <a:pPr marL="342900" indent="-342900" eaLnBrk="1" hangingPunct="1">
              <a:lnSpc>
                <a:spcPct val="90000"/>
              </a:lnSpc>
              <a:spcBef>
                <a:spcPct val="20000"/>
              </a:spcBef>
            </a:pPr>
            <a:r>
              <a:rPr lang="en-US" altLang="zh-CN" sz="1600" b="1" dirty="0">
                <a:latin typeface="宋体" charset="-122"/>
              </a:rPr>
              <a:t>[10]           </a:t>
            </a:r>
            <a:r>
              <a:rPr lang="zh-CN" altLang="en-US" sz="1600" b="1" dirty="0">
                <a:latin typeface="宋体" charset="-122"/>
              </a:rPr>
              <a:t>＜联系人＞</a:t>
            </a:r>
          </a:p>
          <a:p>
            <a:pPr marL="342900" indent="-342900" eaLnBrk="1" hangingPunct="1">
              <a:lnSpc>
                <a:spcPct val="90000"/>
              </a:lnSpc>
              <a:spcBef>
                <a:spcPct val="20000"/>
              </a:spcBef>
            </a:pPr>
            <a:r>
              <a:rPr lang="en-US" altLang="zh-CN" sz="1600" b="1" dirty="0">
                <a:latin typeface="宋体" charset="-122"/>
              </a:rPr>
              <a:t>[11]           </a:t>
            </a:r>
            <a:r>
              <a:rPr lang="zh-CN" altLang="en-US" sz="1600" b="1" dirty="0">
                <a:latin typeface="宋体" charset="-122"/>
              </a:rPr>
              <a:t>＜姓名＞张三＜／姓名＞</a:t>
            </a:r>
          </a:p>
          <a:p>
            <a:pPr marL="342900" indent="-342900" eaLnBrk="1" hangingPunct="1">
              <a:lnSpc>
                <a:spcPct val="90000"/>
              </a:lnSpc>
              <a:spcBef>
                <a:spcPct val="20000"/>
              </a:spcBef>
            </a:pPr>
            <a:r>
              <a:rPr lang="en-US" altLang="zh-CN" sz="1600" b="1" dirty="0">
                <a:latin typeface="宋体" charset="-122"/>
              </a:rPr>
              <a:t>[12]           </a:t>
            </a:r>
            <a:r>
              <a:rPr lang="zh-CN" altLang="en-US" sz="1600" b="1" dirty="0">
                <a:latin typeface="宋体" charset="-122"/>
              </a:rPr>
              <a:t>＜</a:t>
            </a:r>
            <a:r>
              <a:rPr lang="en-US" altLang="zh-CN" sz="1600" b="1" dirty="0">
                <a:latin typeface="宋体" charset="-122"/>
              </a:rPr>
              <a:t>EMAIL</a:t>
            </a:r>
            <a:r>
              <a:rPr lang="zh-CN" altLang="en-US" sz="1600" b="1" dirty="0">
                <a:latin typeface="宋体" charset="-122"/>
              </a:rPr>
              <a:t>＞</a:t>
            </a:r>
            <a:r>
              <a:rPr lang="en-US" altLang="zh-CN" sz="1600" b="1" dirty="0" err="1">
                <a:latin typeface="宋体" charset="-122"/>
              </a:rPr>
              <a:t>zhang</a:t>
            </a:r>
            <a:r>
              <a:rPr lang="zh-CN" altLang="en-US" sz="1600" b="1" dirty="0">
                <a:latin typeface="宋体" charset="-122"/>
              </a:rPr>
              <a:t>＠</a:t>
            </a:r>
            <a:r>
              <a:rPr lang="en-US" altLang="zh-CN" sz="1600" b="1" dirty="0" err="1">
                <a:latin typeface="宋体" charset="-122"/>
              </a:rPr>
              <a:t>aaa</a:t>
            </a:r>
            <a:r>
              <a:rPr lang="zh-CN" altLang="en-US" sz="1600" b="1" dirty="0">
                <a:latin typeface="宋体" charset="-122"/>
              </a:rPr>
              <a:t>．</a:t>
            </a:r>
            <a:r>
              <a:rPr lang="en-US" altLang="zh-CN" sz="1600" b="1" dirty="0">
                <a:latin typeface="宋体" charset="-122"/>
              </a:rPr>
              <a:t>com</a:t>
            </a:r>
            <a:r>
              <a:rPr lang="zh-CN" altLang="en-US" sz="1600" b="1" dirty="0">
                <a:latin typeface="宋体" charset="-122"/>
              </a:rPr>
              <a:t>＜／</a:t>
            </a:r>
            <a:r>
              <a:rPr lang="en-US" altLang="zh-CN" sz="1600" b="1" dirty="0">
                <a:latin typeface="宋体" charset="-122"/>
              </a:rPr>
              <a:t>EMAIL</a:t>
            </a:r>
            <a:r>
              <a:rPr lang="zh-CN" altLang="en-US" sz="1600" b="1" dirty="0">
                <a:latin typeface="宋体" charset="-122"/>
              </a:rPr>
              <a:t>＞</a:t>
            </a:r>
          </a:p>
          <a:p>
            <a:pPr marL="342900" indent="-342900" eaLnBrk="1" hangingPunct="1">
              <a:lnSpc>
                <a:spcPct val="90000"/>
              </a:lnSpc>
              <a:spcBef>
                <a:spcPct val="20000"/>
              </a:spcBef>
            </a:pPr>
            <a:r>
              <a:rPr lang="en-US" altLang="zh-CN" sz="1600" b="1" dirty="0">
                <a:latin typeface="宋体" charset="-122"/>
              </a:rPr>
              <a:t>[13]           </a:t>
            </a:r>
            <a:r>
              <a:rPr lang="zh-CN" altLang="en-US" sz="1600" b="1" dirty="0">
                <a:latin typeface="宋体" charset="-122"/>
              </a:rPr>
              <a:t>＜／联系人＞</a:t>
            </a:r>
          </a:p>
          <a:p>
            <a:pPr marL="342900" indent="-342900" eaLnBrk="1" hangingPunct="1">
              <a:lnSpc>
                <a:spcPct val="90000"/>
              </a:lnSpc>
              <a:spcBef>
                <a:spcPct val="20000"/>
              </a:spcBef>
            </a:pPr>
            <a:r>
              <a:rPr lang="en-US" altLang="zh-CN" sz="1600" b="1" dirty="0">
                <a:latin typeface="宋体" charset="-122"/>
              </a:rPr>
              <a:t>t14]          ]]</a:t>
            </a:r>
            <a:r>
              <a:rPr lang="zh-CN" altLang="en-US" sz="1600" b="1" dirty="0">
                <a:latin typeface="宋体" charset="-122"/>
              </a:rPr>
              <a:t>＞</a:t>
            </a:r>
          </a:p>
          <a:p>
            <a:pPr marL="342900" indent="-342900" eaLnBrk="1" hangingPunct="1">
              <a:lnSpc>
                <a:spcPct val="90000"/>
              </a:lnSpc>
              <a:spcBef>
                <a:spcPct val="20000"/>
              </a:spcBef>
            </a:pPr>
            <a:r>
              <a:rPr lang="en-US" altLang="zh-CN" sz="1600" b="1" dirty="0">
                <a:latin typeface="宋体" charset="-122"/>
              </a:rPr>
              <a:t>[15]       </a:t>
            </a:r>
            <a:r>
              <a:rPr lang="zh-CN" altLang="en-US" sz="1600" b="1" dirty="0">
                <a:latin typeface="宋体" charset="-122"/>
              </a:rPr>
              <a:t>＜／示例＞</a:t>
            </a:r>
          </a:p>
          <a:p>
            <a:pPr marL="342900" indent="-342900" eaLnBrk="1" hangingPunct="1">
              <a:lnSpc>
                <a:spcPct val="90000"/>
              </a:lnSpc>
              <a:spcBef>
                <a:spcPct val="20000"/>
              </a:spcBef>
            </a:pPr>
            <a:r>
              <a:rPr lang="en-US" altLang="zh-CN" sz="1600" b="1" dirty="0">
                <a:latin typeface="宋体" charset="-122"/>
              </a:rPr>
              <a:t>[16]   </a:t>
            </a:r>
            <a:r>
              <a:rPr lang="zh-CN" altLang="en-US" sz="1600" b="1" dirty="0">
                <a:latin typeface="宋体" charset="-122"/>
              </a:rPr>
              <a:t>＜／专有名词＞</a:t>
            </a:r>
          </a:p>
          <a:p>
            <a:pPr marL="342900" indent="-342900" eaLnBrk="1" hangingPunct="1">
              <a:lnSpc>
                <a:spcPct val="90000"/>
              </a:lnSpc>
              <a:spcBef>
                <a:spcPct val="20000"/>
              </a:spcBef>
            </a:pPr>
            <a:r>
              <a:rPr lang="en-US" altLang="zh-CN" sz="1600" b="1" dirty="0">
                <a:latin typeface="宋体" charset="-122"/>
              </a:rPr>
              <a:t>[17]</a:t>
            </a:r>
            <a:r>
              <a:rPr lang="zh-CN" altLang="en-US" sz="1600" b="1" dirty="0">
                <a:latin typeface="宋体" charset="-122"/>
              </a:rPr>
              <a:t>＜／专有名词列表＞</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342900" indent="-342900">
              <a:lnSpc>
                <a:spcPct val="90000"/>
              </a:lnSpc>
              <a:spcBef>
                <a:spcPct val="20000"/>
              </a:spcBef>
              <a:defRPr/>
            </a:pPr>
            <a:r>
              <a:rPr lang="en-US" altLang="zh-CN" sz="3200" b="1" dirty="0" err="1" smtClean="0">
                <a:latin typeface="+mj-ea"/>
              </a:rPr>
              <a:t>XMl</a:t>
            </a:r>
            <a:r>
              <a:rPr lang="zh-CN" altLang="en-US" sz="3200" b="1" dirty="0" smtClean="0">
                <a:latin typeface="+mj-ea"/>
              </a:rPr>
              <a:t>文档的基本构成</a:t>
            </a:r>
            <a:endParaRPr lang="zh-CN" altLang="en-US" sz="3200" b="1" dirty="0">
              <a:latin typeface="+mj-ea"/>
            </a:endParaRPr>
          </a:p>
        </p:txBody>
      </p:sp>
      <p:sp>
        <p:nvSpPr>
          <p:cNvPr id="3" name="内容占位符 2"/>
          <p:cNvSpPr>
            <a:spLocks noGrp="1"/>
          </p:cNvSpPr>
          <p:nvPr>
            <p:ph idx="1"/>
          </p:nvPr>
        </p:nvSpPr>
        <p:spPr/>
        <p:txBody>
          <a:bodyPr>
            <a:normAutofit fontScale="92500" lnSpcReduction="10000"/>
          </a:bodyPr>
          <a:lstStyle/>
          <a:p>
            <a:r>
              <a:rPr lang="en-US" altLang="zh-CN" sz="3000" b="1" dirty="0" err="1" smtClean="0">
                <a:latin typeface="+mn-ea"/>
              </a:rPr>
              <a:t>XMl</a:t>
            </a:r>
            <a:r>
              <a:rPr lang="zh-CN" altLang="en-US" sz="3000" b="1" dirty="0" smtClean="0">
                <a:latin typeface="+mn-ea"/>
              </a:rPr>
              <a:t>声明</a:t>
            </a:r>
          </a:p>
          <a:p>
            <a:r>
              <a:rPr lang="zh-CN" altLang="en-US" sz="3000" b="1" dirty="0" smtClean="0">
                <a:latin typeface="+mn-ea"/>
              </a:rPr>
              <a:t>处理指令</a:t>
            </a:r>
            <a:r>
              <a:rPr lang="en-US" altLang="zh-CN" sz="3000" b="1" dirty="0" smtClean="0">
                <a:latin typeface="+mn-ea"/>
              </a:rPr>
              <a:t>(</a:t>
            </a:r>
            <a:r>
              <a:rPr lang="zh-CN" altLang="en-US" sz="3000" b="1" dirty="0" smtClean="0">
                <a:latin typeface="+mn-ea"/>
              </a:rPr>
              <a:t>可选</a:t>
            </a:r>
            <a:r>
              <a:rPr lang="en-US" altLang="zh-CN" sz="3000" b="1" dirty="0" smtClean="0">
                <a:latin typeface="+mn-ea"/>
              </a:rPr>
              <a:t>)</a:t>
            </a:r>
          </a:p>
          <a:p>
            <a:r>
              <a:rPr lang="en-US" altLang="zh-CN" sz="3000" b="1" dirty="0" smtClean="0">
                <a:latin typeface="+mn-ea"/>
              </a:rPr>
              <a:t>XML</a:t>
            </a:r>
            <a:r>
              <a:rPr lang="zh-CN" altLang="en-US" sz="3000" b="1" dirty="0" smtClean="0">
                <a:latin typeface="+mn-ea"/>
              </a:rPr>
              <a:t>元素</a:t>
            </a:r>
            <a:endParaRPr lang="en-US" altLang="zh-CN" sz="3000" b="1" dirty="0" smtClean="0">
              <a:latin typeface="+mn-ea"/>
            </a:endParaRPr>
          </a:p>
          <a:p>
            <a:pPr lvl="1"/>
            <a:r>
              <a:rPr lang="en-US" altLang="zh-CN" sz="2600" b="1" dirty="0" smtClean="0">
                <a:latin typeface="+mn-ea"/>
              </a:rPr>
              <a:t>[1]</a:t>
            </a:r>
            <a:r>
              <a:rPr lang="zh-CN" altLang="en-US" sz="2600" b="1" dirty="0" smtClean="0">
                <a:latin typeface="+mn-ea"/>
              </a:rPr>
              <a:t>是</a:t>
            </a:r>
            <a:r>
              <a:rPr lang="en-US" altLang="zh-CN" sz="2600" b="1" dirty="0" smtClean="0">
                <a:latin typeface="+mn-ea"/>
              </a:rPr>
              <a:t>XML</a:t>
            </a:r>
            <a:r>
              <a:rPr lang="zh-CN" altLang="en-US" sz="2600" b="1" dirty="0" smtClean="0">
                <a:latin typeface="+mn-ea"/>
              </a:rPr>
              <a:t>声明</a:t>
            </a:r>
          </a:p>
          <a:p>
            <a:pPr lvl="1"/>
            <a:r>
              <a:rPr lang="en-US" altLang="zh-CN" sz="2600" b="1" dirty="0" smtClean="0">
                <a:latin typeface="+mn-ea"/>
              </a:rPr>
              <a:t>[2]</a:t>
            </a:r>
            <a:r>
              <a:rPr lang="zh-CN" altLang="en-US" sz="2600" b="1" dirty="0" smtClean="0">
                <a:latin typeface="+mn-ea"/>
              </a:rPr>
              <a:t>是处理指令</a:t>
            </a:r>
          </a:p>
          <a:p>
            <a:pPr lvl="1"/>
            <a:r>
              <a:rPr lang="en-US" altLang="zh-CN" sz="2600" b="1" dirty="0" smtClean="0">
                <a:latin typeface="+mn-ea"/>
              </a:rPr>
              <a:t>[3]</a:t>
            </a:r>
            <a:r>
              <a:rPr lang="zh-CN" altLang="en-US" sz="2600" b="1" dirty="0" smtClean="0">
                <a:latin typeface="+mn-ea"/>
              </a:rPr>
              <a:t>一</a:t>
            </a:r>
            <a:r>
              <a:rPr lang="en-US" altLang="zh-CN" sz="2600" b="1" dirty="0" smtClean="0">
                <a:latin typeface="+mn-ea"/>
              </a:rPr>
              <a:t>[17]</a:t>
            </a:r>
            <a:r>
              <a:rPr lang="zh-CN" altLang="en-US" sz="2600" b="1" dirty="0" smtClean="0">
                <a:latin typeface="+mn-ea"/>
              </a:rPr>
              <a:t>是文档中的各个元素</a:t>
            </a:r>
          </a:p>
          <a:p>
            <a:pPr lvl="1"/>
            <a:r>
              <a:rPr lang="en-US" altLang="zh-CN" sz="2600" b="1" dirty="0" smtClean="0">
                <a:latin typeface="+mn-ea"/>
              </a:rPr>
              <a:t>[8]</a:t>
            </a:r>
            <a:r>
              <a:rPr lang="zh-CN" altLang="en-US" sz="2600" b="1" dirty="0" smtClean="0">
                <a:latin typeface="+mn-ea"/>
              </a:rPr>
              <a:t>是注释</a:t>
            </a:r>
          </a:p>
          <a:p>
            <a:pPr lvl="1"/>
            <a:r>
              <a:rPr lang="en-US" altLang="zh-CN" sz="2600" b="1" dirty="0" smtClean="0">
                <a:latin typeface="+mn-ea"/>
              </a:rPr>
              <a:t>[9]</a:t>
            </a:r>
            <a:r>
              <a:rPr lang="zh-CN" altLang="en-US" sz="2600" b="1" dirty="0" smtClean="0">
                <a:latin typeface="+mn-ea"/>
              </a:rPr>
              <a:t>～</a:t>
            </a:r>
            <a:r>
              <a:rPr lang="en-US" altLang="zh-CN" sz="2600" b="1" dirty="0" smtClean="0">
                <a:latin typeface="+mn-ea"/>
              </a:rPr>
              <a:t>[14]</a:t>
            </a:r>
            <a:r>
              <a:rPr lang="zh-CN" altLang="en-US" sz="2600" b="1" dirty="0" smtClean="0">
                <a:latin typeface="+mn-ea"/>
              </a:rPr>
              <a:t>是</a:t>
            </a:r>
            <a:r>
              <a:rPr lang="en-US" altLang="zh-CN" sz="2600" b="1" dirty="0" smtClean="0">
                <a:latin typeface="+mn-ea"/>
              </a:rPr>
              <a:t>CDATA</a:t>
            </a:r>
            <a:r>
              <a:rPr lang="zh-CN" altLang="en-US" sz="2600" b="1" dirty="0" smtClean="0">
                <a:latin typeface="+mn-ea"/>
              </a:rPr>
              <a:t>节</a:t>
            </a:r>
          </a:p>
          <a:p>
            <a:pPr lvl="1"/>
            <a:r>
              <a:rPr lang="zh-CN" altLang="en-US" sz="2600" b="1" dirty="0" smtClean="0">
                <a:latin typeface="+mn-ea"/>
              </a:rPr>
              <a:t>在</a:t>
            </a:r>
            <a:r>
              <a:rPr lang="en-US" altLang="zh-CN" sz="2600" b="1" dirty="0" smtClean="0">
                <a:latin typeface="+mn-ea"/>
              </a:rPr>
              <a:t>[5]</a:t>
            </a:r>
            <a:r>
              <a:rPr lang="zh-CN" altLang="en-US" sz="2600" b="1" dirty="0" smtClean="0">
                <a:latin typeface="+mn-ea"/>
              </a:rPr>
              <a:t>行的“＜名词＞</a:t>
            </a:r>
            <a:r>
              <a:rPr lang="en-US" altLang="zh-CN" sz="2600" b="1" dirty="0" smtClean="0">
                <a:latin typeface="+mn-ea"/>
              </a:rPr>
              <a:t>XML</a:t>
            </a:r>
            <a:r>
              <a:rPr lang="zh-CN" altLang="en-US" sz="2600" b="1" dirty="0" smtClean="0">
                <a:latin typeface="+mn-ea"/>
              </a:rPr>
              <a:t>＜／名词＞”中，“＜名词＞”“＜／名词＞”是标记，“</a:t>
            </a:r>
            <a:r>
              <a:rPr lang="en-US" altLang="zh-CN" sz="2600" b="1" dirty="0" smtClean="0">
                <a:latin typeface="+mn-ea"/>
              </a:rPr>
              <a:t>XML”</a:t>
            </a:r>
            <a:r>
              <a:rPr lang="zh-CN" altLang="en-US" sz="2600" b="1" dirty="0" smtClean="0">
                <a:latin typeface="+mn-ea"/>
              </a:rPr>
              <a:t>是字符数据</a:t>
            </a:r>
          </a:p>
          <a:p>
            <a:endParaRPr lang="zh-CN" altLang="en-US" dirty="0">
              <a:latin typeface="+mn-ea"/>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914400" y="228600"/>
            <a:ext cx="7315200" cy="823913"/>
          </a:xfrm>
        </p:spPr>
        <p:txBody>
          <a:bodyPr/>
          <a:lstStyle/>
          <a:p>
            <a:pPr marL="609600" indent="-609600">
              <a:defRPr/>
            </a:pPr>
            <a:r>
              <a:rPr lang="en-US" altLang="zh-CN" sz="3200" b="1" dirty="0" smtClean="0">
                <a:solidFill>
                  <a:schemeClr val="tx1"/>
                </a:solidFill>
                <a:latin typeface="+mn-ea"/>
                <a:ea typeface="+mn-ea"/>
              </a:rPr>
              <a:t>XML</a:t>
            </a:r>
            <a:r>
              <a:rPr lang="zh-CN" altLang="en-US" sz="3200" b="1" dirty="0" smtClean="0">
                <a:solidFill>
                  <a:schemeClr val="tx1"/>
                </a:solidFill>
                <a:latin typeface="+mn-ea"/>
                <a:ea typeface="+mn-ea"/>
              </a:rPr>
              <a:t>整体逻辑结构总结</a:t>
            </a:r>
          </a:p>
        </p:txBody>
      </p:sp>
      <p:sp>
        <p:nvSpPr>
          <p:cNvPr id="28675" name="Rectangle 3"/>
          <p:cNvSpPr>
            <a:spLocks noGrp="1" noChangeArrowheads="1"/>
          </p:cNvSpPr>
          <p:nvPr>
            <p:ph idx="1"/>
          </p:nvPr>
        </p:nvSpPr>
        <p:spPr>
          <a:xfrm>
            <a:off x="1857356" y="1571612"/>
            <a:ext cx="6858048" cy="4448188"/>
          </a:xfrm>
        </p:spPr>
        <p:txBody>
          <a:bodyPr/>
          <a:lstStyle/>
          <a:p>
            <a:r>
              <a:rPr lang="en-US" altLang="zh-CN" sz="2800" b="1" dirty="0" smtClean="0"/>
              <a:t>XML</a:t>
            </a:r>
            <a:r>
              <a:rPr lang="zh-CN" altLang="en-US" sz="2800" b="1" dirty="0" smtClean="0"/>
              <a:t>文档通常以一个</a:t>
            </a:r>
            <a:r>
              <a:rPr lang="en-US" altLang="zh-CN" sz="2800" b="1" dirty="0" smtClean="0"/>
              <a:t>XML</a:t>
            </a:r>
            <a:r>
              <a:rPr lang="zh-CN" altLang="en-US" sz="2800" b="1" dirty="0" smtClean="0"/>
              <a:t>声明开始</a:t>
            </a:r>
          </a:p>
          <a:p>
            <a:r>
              <a:rPr lang="zh-CN" altLang="en-US" sz="2800" b="1" dirty="0" smtClean="0"/>
              <a:t>通过</a:t>
            </a:r>
            <a:r>
              <a:rPr lang="en-US" altLang="zh-CN" sz="2800" b="1" dirty="0" smtClean="0"/>
              <a:t>XML</a:t>
            </a:r>
            <a:r>
              <a:rPr lang="zh-CN" altLang="en-US" sz="2800" b="1" dirty="0" smtClean="0"/>
              <a:t>元素来组织</a:t>
            </a:r>
            <a:r>
              <a:rPr lang="en-US" altLang="zh-CN" sz="2800" b="1" dirty="0" smtClean="0"/>
              <a:t>XML</a:t>
            </a:r>
            <a:r>
              <a:rPr lang="zh-CN" altLang="en-US" sz="2800" b="1" dirty="0" smtClean="0"/>
              <a:t>数据</a:t>
            </a:r>
          </a:p>
          <a:p>
            <a:r>
              <a:rPr lang="en-US" altLang="zh-CN" sz="2800" b="1" dirty="0" smtClean="0"/>
              <a:t>XML</a:t>
            </a:r>
            <a:r>
              <a:rPr lang="zh-CN" altLang="en-US" sz="2800" b="1" dirty="0" smtClean="0"/>
              <a:t>元素包括标记和字符数据</a:t>
            </a:r>
          </a:p>
          <a:p>
            <a:r>
              <a:rPr lang="zh-CN" altLang="en-US" sz="2800" b="1" dirty="0" smtClean="0"/>
              <a:t>为组织数据更方便、清晰，在字符数据中引入</a:t>
            </a:r>
            <a:r>
              <a:rPr lang="en-US" altLang="zh-CN" sz="2800" b="1" dirty="0" smtClean="0"/>
              <a:t>CDATA</a:t>
            </a:r>
            <a:r>
              <a:rPr lang="zh-CN" altLang="en-US" sz="2800" b="1" dirty="0" smtClean="0"/>
              <a:t>数据块</a:t>
            </a:r>
          </a:p>
          <a:p>
            <a:r>
              <a:rPr lang="zh-CN" altLang="en-US" sz="2800" b="1" dirty="0" smtClean="0"/>
              <a:t>在文档中引入注释</a:t>
            </a:r>
          </a:p>
          <a:p>
            <a:r>
              <a:rPr lang="zh-CN" altLang="en-US" sz="2800" b="1" dirty="0" smtClean="0"/>
              <a:t>需要给</a:t>
            </a:r>
            <a:r>
              <a:rPr lang="en-US" altLang="zh-CN" sz="2800" b="1" dirty="0" smtClean="0"/>
              <a:t>XML</a:t>
            </a:r>
            <a:r>
              <a:rPr lang="zh-CN" altLang="en-US" sz="2800" b="1" dirty="0" smtClean="0"/>
              <a:t>处理程序提供一些指示信息，</a:t>
            </a:r>
            <a:r>
              <a:rPr lang="en-US" altLang="zh-CN" sz="2800" b="1" dirty="0" smtClean="0"/>
              <a:t>XML</a:t>
            </a:r>
            <a:r>
              <a:rPr lang="zh-CN" altLang="en-US" sz="2800" b="1" dirty="0" smtClean="0"/>
              <a:t>文档中可以包含处理指令</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animEffect transition="in" filter="blinds(horizontal)">
                                      <p:cBhvr>
                                        <p:cTn id="7" dur="500"/>
                                        <p:tgtEl>
                                          <p:spTgt spid="286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8675">
                                            <p:txEl>
                                              <p:pRg st="1" end="1"/>
                                            </p:txEl>
                                          </p:spTgt>
                                        </p:tgtEl>
                                        <p:attrNameLst>
                                          <p:attrName>style.visibility</p:attrName>
                                        </p:attrNameLst>
                                      </p:cBhvr>
                                      <p:to>
                                        <p:strVal val="visible"/>
                                      </p:to>
                                    </p:set>
                                    <p:anim calcmode="lin" valueType="num">
                                      <p:cBhvr additive="base">
                                        <p:cTn id="12" dur="500" fill="hold"/>
                                        <p:tgtEl>
                                          <p:spTgt spid="28675">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86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8675">
                                            <p:txEl>
                                              <p:pRg st="2" end="2"/>
                                            </p:txEl>
                                          </p:spTgt>
                                        </p:tgtEl>
                                        <p:attrNameLst>
                                          <p:attrName>style.visibility</p:attrName>
                                        </p:attrNameLst>
                                      </p:cBhvr>
                                      <p:to>
                                        <p:strVal val="visible"/>
                                      </p:to>
                                    </p:set>
                                    <p:anim calcmode="lin" valueType="num">
                                      <p:cBhvr additive="base">
                                        <p:cTn id="18" dur="500" fill="hold"/>
                                        <p:tgtEl>
                                          <p:spTgt spid="28675">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2867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28675">
                                            <p:txEl>
                                              <p:pRg st="3" end="3"/>
                                            </p:txEl>
                                          </p:spTgt>
                                        </p:tgtEl>
                                        <p:attrNameLst>
                                          <p:attrName>style.visibility</p:attrName>
                                        </p:attrNameLst>
                                      </p:cBhvr>
                                      <p:to>
                                        <p:strVal val="visible"/>
                                      </p:to>
                                    </p:set>
                                    <p:anim calcmode="lin" valueType="num">
                                      <p:cBhvr additive="base">
                                        <p:cTn id="24" dur="500" fill="hold"/>
                                        <p:tgtEl>
                                          <p:spTgt spid="28675">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2867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5" presetClass="entr" presetSubtype="10" fill="hold" nodeType="clickEffect">
                                  <p:stCondLst>
                                    <p:cond delay="0"/>
                                  </p:stCondLst>
                                  <p:childTnLst>
                                    <p:set>
                                      <p:cBhvr>
                                        <p:cTn id="29" dur="1" fill="hold">
                                          <p:stCondLst>
                                            <p:cond delay="0"/>
                                          </p:stCondLst>
                                        </p:cTn>
                                        <p:tgtEl>
                                          <p:spTgt spid="28675">
                                            <p:txEl>
                                              <p:pRg st="4" end="4"/>
                                            </p:txEl>
                                          </p:spTgt>
                                        </p:tgtEl>
                                        <p:attrNameLst>
                                          <p:attrName>style.visibility</p:attrName>
                                        </p:attrNameLst>
                                      </p:cBhvr>
                                      <p:to>
                                        <p:strVal val="visible"/>
                                      </p:to>
                                    </p:set>
                                    <p:animEffect transition="in" filter="checkerboard(across)">
                                      <p:cBhvr>
                                        <p:cTn id="30" dur="500"/>
                                        <p:tgtEl>
                                          <p:spTgt spid="28675">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28675">
                                            <p:txEl>
                                              <p:pRg st="5" end="5"/>
                                            </p:txEl>
                                          </p:spTgt>
                                        </p:tgtEl>
                                        <p:attrNameLst>
                                          <p:attrName>style.visibility</p:attrName>
                                        </p:attrNameLst>
                                      </p:cBhvr>
                                      <p:to>
                                        <p:strVal val="visible"/>
                                      </p:to>
                                    </p:set>
                                    <p:anim calcmode="lin" valueType="num">
                                      <p:cBhvr additive="base">
                                        <p:cTn id="35" dur="500" fill="hold"/>
                                        <p:tgtEl>
                                          <p:spTgt spid="28675">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867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755650" y="549275"/>
            <a:ext cx="7772400" cy="608013"/>
          </a:xfrm>
        </p:spPr>
        <p:txBody>
          <a:bodyPr/>
          <a:lstStyle/>
          <a:p>
            <a:pPr marL="609600" indent="-609600">
              <a:defRPr/>
            </a:pPr>
            <a:r>
              <a:rPr lang="en-US" altLang="zh-CN" sz="3200" b="1" dirty="0" smtClean="0">
                <a:latin typeface="+mn-ea"/>
                <a:ea typeface="+mn-ea"/>
              </a:rPr>
              <a:t>XML</a:t>
            </a:r>
            <a:r>
              <a:rPr lang="zh-CN" altLang="zh-CN" sz="3200" b="1" dirty="0" smtClean="0">
                <a:latin typeface="+mn-ea"/>
                <a:ea typeface="+mn-ea"/>
              </a:rPr>
              <a:t>语法概述</a:t>
            </a:r>
            <a:endParaRPr lang="zh-CN" altLang="en-US" sz="3200" b="1" dirty="0" smtClean="0">
              <a:latin typeface="+mn-ea"/>
              <a:ea typeface="+mn-ea"/>
            </a:endParaRPr>
          </a:p>
        </p:txBody>
      </p:sp>
      <p:sp>
        <p:nvSpPr>
          <p:cNvPr id="33795" name="Rectangle 3"/>
          <p:cNvSpPr>
            <a:spLocks noGrp="1" noChangeArrowheads="1"/>
          </p:cNvSpPr>
          <p:nvPr>
            <p:ph idx="1"/>
          </p:nvPr>
        </p:nvSpPr>
        <p:spPr>
          <a:xfrm>
            <a:off x="2028836" y="1981200"/>
            <a:ext cx="5757874" cy="4519613"/>
          </a:xfrm>
        </p:spPr>
        <p:txBody>
          <a:bodyPr/>
          <a:lstStyle/>
          <a:p>
            <a:pPr>
              <a:defRPr/>
            </a:pPr>
            <a:r>
              <a:rPr lang="zh-CN" altLang="en-US" sz="2800" b="1" dirty="0" smtClean="0">
                <a:latin typeface="+mn-ea"/>
              </a:rPr>
              <a:t>元素规则</a:t>
            </a:r>
          </a:p>
          <a:p>
            <a:pPr>
              <a:defRPr/>
            </a:pPr>
            <a:r>
              <a:rPr lang="zh-CN" altLang="en-US" sz="2800" b="1" dirty="0" smtClean="0">
                <a:latin typeface="+mn-ea"/>
              </a:rPr>
              <a:t>必须有结束标记</a:t>
            </a:r>
          </a:p>
          <a:p>
            <a:pPr>
              <a:defRPr/>
            </a:pPr>
            <a:r>
              <a:rPr lang="zh-CN" altLang="en-US" sz="2800" b="1" dirty="0" smtClean="0">
                <a:latin typeface="+mn-ea"/>
              </a:rPr>
              <a:t>属性取值要加引号</a:t>
            </a:r>
            <a:endParaRPr lang="en-US" altLang="zh-CN" sz="2800" b="1" dirty="0" smtClean="0">
              <a:latin typeface="+mn-ea"/>
            </a:endParaRPr>
          </a:p>
          <a:p>
            <a:pPr>
              <a:defRPr/>
            </a:pPr>
            <a:r>
              <a:rPr lang="zh-CN" altLang="en-US" sz="2800" b="1" dirty="0" smtClean="0">
                <a:latin typeface="+mn-ea"/>
              </a:rPr>
              <a:t>实体引用</a:t>
            </a:r>
            <a:endParaRPr lang="en-US" altLang="zh-CN" sz="2800" b="1" dirty="0" smtClean="0">
              <a:latin typeface="+mn-ea"/>
            </a:endParaRPr>
          </a:p>
          <a:p>
            <a:pPr>
              <a:defRPr/>
            </a:pPr>
            <a:r>
              <a:rPr lang="zh-CN" altLang="en-US" sz="2800" b="1" dirty="0" smtClean="0">
                <a:latin typeface="+mn-ea"/>
              </a:rPr>
              <a:t>注释的语法</a:t>
            </a:r>
            <a:endParaRPr lang="en-US" altLang="zh-CN" sz="2800" b="1" dirty="0" smtClean="0">
              <a:latin typeface="+mn-ea"/>
            </a:endParaRPr>
          </a:p>
          <a:p>
            <a:pPr>
              <a:defRPr/>
            </a:pPr>
            <a:r>
              <a:rPr lang="zh-CN" altLang="en-US" sz="2800" b="1" dirty="0" smtClean="0">
                <a:latin typeface="+mn-ea"/>
              </a:rPr>
              <a:t>空格会被保留</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2000231" y="260350"/>
            <a:ext cx="6075381" cy="579438"/>
          </a:xfrm>
        </p:spPr>
        <p:txBody>
          <a:bodyPr wrap="square">
            <a:spAutoFit/>
          </a:bodyPr>
          <a:lstStyle/>
          <a:p>
            <a:pPr marL="609600" indent="-609600">
              <a:defRPr/>
            </a:pPr>
            <a:r>
              <a:rPr lang="zh-CN" altLang="en-US" sz="3200" b="1" dirty="0" smtClean="0">
                <a:latin typeface="+mn-ea"/>
                <a:ea typeface="+mn-ea"/>
              </a:rPr>
              <a:t>元素规则</a:t>
            </a:r>
          </a:p>
        </p:txBody>
      </p:sp>
      <p:sp>
        <p:nvSpPr>
          <p:cNvPr id="206851" name="Rectangle 3"/>
          <p:cNvSpPr>
            <a:spLocks noGrp="1" noChangeArrowheads="1"/>
          </p:cNvSpPr>
          <p:nvPr>
            <p:ph idx="1"/>
          </p:nvPr>
        </p:nvSpPr>
        <p:spPr>
          <a:xfrm>
            <a:off x="1898659" y="1268413"/>
            <a:ext cx="6459555" cy="5329237"/>
          </a:xfrm>
        </p:spPr>
        <p:txBody>
          <a:bodyPr/>
          <a:lstStyle/>
          <a:p>
            <a:pPr marL="279400" indent="-279400">
              <a:defRPr/>
            </a:pPr>
            <a:r>
              <a:rPr lang="zh-CN" altLang="en-US" sz="2400" b="1" dirty="0" smtClean="0">
                <a:latin typeface="+mn-ea"/>
              </a:rPr>
              <a:t>名字中不能包含空格</a:t>
            </a:r>
          </a:p>
          <a:p>
            <a:pPr marL="279400" indent="-279400">
              <a:defRPr/>
            </a:pPr>
            <a:r>
              <a:rPr lang="zh-CN" altLang="en-US" sz="2400" b="1" dirty="0" smtClean="0">
                <a:latin typeface="+mn-ea"/>
              </a:rPr>
              <a:t>名字不能以数字或标点符号开头</a:t>
            </a:r>
          </a:p>
          <a:p>
            <a:pPr marL="279400" indent="-279400">
              <a:defRPr/>
            </a:pPr>
            <a:r>
              <a:rPr lang="zh-CN" altLang="en-US" sz="2400" b="1" dirty="0" smtClean="0">
                <a:latin typeface="+mn-ea"/>
              </a:rPr>
              <a:t>名字不能以任何大小写的</a:t>
            </a:r>
            <a:r>
              <a:rPr lang="en-US" altLang="zh-CN" sz="2400" b="1" dirty="0" smtClean="0">
                <a:latin typeface="+mn-ea"/>
              </a:rPr>
              <a:t>xml</a:t>
            </a:r>
            <a:r>
              <a:rPr lang="zh-CN" altLang="en-US" sz="2400" b="1" dirty="0" smtClean="0">
                <a:latin typeface="+mn-ea"/>
              </a:rPr>
              <a:t>开头</a:t>
            </a:r>
          </a:p>
          <a:p>
            <a:pPr marL="279400" indent="-279400">
              <a:defRPr/>
            </a:pPr>
            <a:r>
              <a:rPr lang="zh-CN" altLang="en-US" sz="2400" b="1" dirty="0" smtClean="0">
                <a:latin typeface="+mn-ea"/>
              </a:rPr>
              <a:t>左尖括号（</a:t>
            </a:r>
            <a:r>
              <a:rPr lang="en-US" altLang="zh-CN" sz="2400" b="1" dirty="0" smtClean="0">
                <a:latin typeface="+mn-ea"/>
              </a:rPr>
              <a:t>&lt;</a:t>
            </a:r>
            <a:r>
              <a:rPr lang="zh-CN" altLang="en-US" sz="2400" b="1" dirty="0" smtClean="0">
                <a:latin typeface="+mn-ea"/>
              </a:rPr>
              <a:t>）后不可以有空格</a:t>
            </a:r>
          </a:p>
          <a:p>
            <a:pPr marL="279400" indent="-279400">
              <a:defRPr/>
            </a:pPr>
            <a:r>
              <a:rPr lang="zh-CN" altLang="en-US" sz="2400" b="1" dirty="0" smtClean="0">
                <a:latin typeface="+mn-ea"/>
              </a:rPr>
              <a:t>起始和结束标签的大小写必须一致</a:t>
            </a:r>
          </a:p>
          <a:p>
            <a:pPr marL="279400" indent="-279400">
              <a:defRPr/>
            </a:pPr>
            <a:r>
              <a:rPr lang="en-US" altLang="zh-CN" sz="2400" b="1" dirty="0" smtClean="0">
                <a:latin typeface="+mn-ea"/>
              </a:rPr>
              <a:t>XML</a:t>
            </a:r>
            <a:r>
              <a:rPr lang="zh-CN" altLang="en-US" sz="2400" b="1" dirty="0" smtClean="0">
                <a:latin typeface="+mn-ea"/>
              </a:rPr>
              <a:t>文件中出现的第一个元素是根元素</a:t>
            </a:r>
          </a:p>
          <a:p>
            <a:pPr marL="279400" indent="-279400">
              <a:defRPr/>
            </a:pPr>
            <a:r>
              <a:rPr lang="zh-CN" altLang="en-US" sz="2400" b="1" dirty="0" smtClean="0">
                <a:latin typeface="+mn-ea"/>
              </a:rPr>
              <a:t>根元素必须有完整的起始和结束标签</a:t>
            </a:r>
          </a:p>
          <a:p>
            <a:pPr marL="279400" indent="-279400">
              <a:defRPr/>
            </a:pPr>
            <a:r>
              <a:rPr lang="zh-CN" altLang="en-US" sz="2400" b="1" dirty="0" smtClean="0">
                <a:latin typeface="+mn-ea"/>
              </a:rPr>
              <a:t>所有的子元素必须嵌套在一个根元素中</a:t>
            </a:r>
          </a:p>
          <a:p>
            <a:pPr marL="279400" indent="-279400">
              <a:defRPr/>
            </a:pPr>
            <a:r>
              <a:rPr lang="zh-CN" altLang="en-US" sz="2400" b="1" dirty="0" smtClean="0">
                <a:latin typeface="+mn-ea"/>
              </a:rPr>
              <a:t>嵌套元素不可以相互重叠</a:t>
            </a:r>
          </a:p>
          <a:p>
            <a:pPr marL="279400" indent="-279400">
              <a:defRPr/>
            </a:pPr>
            <a:r>
              <a:rPr lang="zh-CN" altLang="en-US" sz="2400" b="1" dirty="0" smtClean="0">
                <a:latin typeface="+mn-ea"/>
              </a:rPr>
              <a:t>子元素如果内容为空可以缩写标签</a:t>
            </a:r>
          </a:p>
        </p:txBody>
      </p:sp>
      <p:sp>
        <p:nvSpPr>
          <p:cNvPr id="32772" name="Rectangle 4"/>
          <p:cNvSpPr>
            <a:spLocks noChangeArrowheads="1"/>
          </p:cNvSpPr>
          <p:nvPr/>
        </p:nvSpPr>
        <p:spPr bwMode="auto">
          <a:xfrm>
            <a:off x="920750" y="1981200"/>
            <a:ext cx="7194550" cy="3048000"/>
          </a:xfrm>
          <a:prstGeom prst="rect">
            <a:avLst/>
          </a:prstGeom>
          <a:noFill/>
          <a:ln w="9525">
            <a:noFill/>
            <a:miter lim="800000"/>
            <a:headEnd/>
            <a:tailEnd/>
          </a:ln>
        </p:spPr>
        <p:txBody>
          <a:bodyPr/>
          <a:lstStyle/>
          <a:p>
            <a:pPr marL="342900" indent="-342900">
              <a:spcBef>
                <a:spcPct val="20000"/>
              </a:spcBef>
              <a:buFontTx/>
              <a:buChar char="•"/>
            </a:pPr>
            <a:endParaRPr lang="zh-CN" altLang="zh-CN">
              <a:latin typeface="Arial" charset="0"/>
            </a:endParaRPr>
          </a:p>
        </p:txBody>
      </p:sp>
      <p:sp>
        <p:nvSpPr>
          <p:cNvPr id="206853" name="Rectangle 5"/>
          <p:cNvSpPr>
            <a:spLocks noChangeArrowheads="1"/>
          </p:cNvSpPr>
          <p:nvPr/>
        </p:nvSpPr>
        <p:spPr bwMode="auto">
          <a:xfrm>
            <a:off x="6500826" y="4857760"/>
            <a:ext cx="1828800" cy="333375"/>
          </a:xfrm>
          <a:prstGeom prst="rect">
            <a:avLst/>
          </a:prstGeom>
          <a:solidFill>
            <a:schemeClr val="bg1"/>
          </a:solidFill>
          <a:ln w="28575" algn="ctr">
            <a:solidFill>
              <a:schemeClr val="tx1"/>
            </a:solidFill>
            <a:miter lim="800000"/>
            <a:headEnd/>
            <a:tailEnd/>
          </a:ln>
          <a:effectLst>
            <a:outerShdw dist="71842" dir="2700000" algn="ctr" rotWithShape="0">
              <a:srgbClr val="919191"/>
            </a:outerShdw>
          </a:effectLst>
        </p:spPr>
        <p:txBody>
          <a:bodyPr>
            <a:spAutoFit/>
          </a:bodyPr>
          <a:lstStyle/>
          <a:p>
            <a:pPr marL="279400" indent="-279400">
              <a:defRPr/>
            </a:pPr>
            <a:r>
              <a:rPr lang="en-US" altLang="zh-CN" sz="1400">
                <a:latin typeface="Lucida Console" pitchFamily="49" charset="0"/>
                <a:ea typeface="宋体" pitchFamily="2" charset="-122"/>
              </a:rPr>
              <a:t>&lt;ElementName /&gt;</a:t>
            </a:r>
          </a:p>
        </p:txBody>
      </p:sp>
      <p:sp>
        <p:nvSpPr>
          <p:cNvPr id="206854" name="Rectangle 6"/>
          <p:cNvSpPr>
            <a:spLocks noChangeArrowheads="1"/>
          </p:cNvSpPr>
          <p:nvPr/>
        </p:nvSpPr>
        <p:spPr bwMode="auto">
          <a:xfrm>
            <a:off x="6715140" y="571480"/>
            <a:ext cx="2133600" cy="1397000"/>
          </a:xfrm>
          <a:prstGeom prst="rect">
            <a:avLst/>
          </a:prstGeom>
          <a:solidFill>
            <a:schemeClr val="bg1"/>
          </a:solidFill>
          <a:ln w="28575" algn="ctr">
            <a:solidFill>
              <a:schemeClr val="tx1"/>
            </a:solidFill>
            <a:miter lim="800000"/>
            <a:headEnd/>
            <a:tailEnd/>
          </a:ln>
          <a:effectLst>
            <a:outerShdw dist="71842" dir="2700000" algn="ctr" rotWithShape="0">
              <a:srgbClr val="919191"/>
            </a:outerShdw>
          </a:effectLst>
        </p:spPr>
        <p:txBody>
          <a:bodyPr>
            <a:spAutoFit/>
          </a:bodyPr>
          <a:lstStyle/>
          <a:p>
            <a:pPr marL="279400" indent="-279400">
              <a:defRPr/>
            </a:pPr>
            <a:r>
              <a:rPr lang="en-US" altLang="zh-CN" sz="1400" dirty="0">
                <a:latin typeface="Lucida Console" pitchFamily="49" charset="0"/>
                <a:ea typeface="宋体" pitchFamily="2" charset="-122"/>
              </a:rPr>
              <a:t>&lt;Root&gt;</a:t>
            </a:r>
          </a:p>
          <a:p>
            <a:pPr marL="279400" indent="-279400">
              <a:defRPr/>
            </a:pPr>
            <a:r>
              <a:rPr lang="en-US" altLang="zh-CN" sz="1400" dirty="0">
                <a:latin typeface="Lucida Console" pitchFamily="49" charset="0"/>
                <a:ea typeface="宋体" pitchFamily="2" charset="-122"/>
              </a:rPr>
              <a:t> &lt;</a:t>
            </a:r>
            <a:r>
              <a:rPr lang="en-US" altLang="zh-CN" sz="1400" dirty="0" err="1">
                <a:latin typeface="Lucida Console" pitchFamily="49" charset="0"/>
                <a:ea typeface="宋体" pitchFamily="2" charset="-122"/>
              </a:rPr>
              <a:t>ChildA</a:t>
            </a:r>
            <a:r>
              <a:rPr lang="en-US" altLang="zh-CN" sz="1400" dirty="0">
                <a:latin typeface="Lucida Console" pitchFamily="49" charset="0"/>
                <a:ea typeface="宋体" pitchFamily="2" charset="-122"/>
              </a:rPr>
              <a:t>&gt;</a:t>
            </a:r>
          </a:p>
          <a:p>
            <a:pPr marL="279400" indent="-279400">
              <a:defRPr/>
            </a:pPr>
            <a:r>
              <a:rPr lang="en-US" altLang="zh-CN" sz="1400" dirty="0">
                <a:latin typeface="Lucida Console" pitchFamily="49" charset="0"/>
                <a:ea typeface="宋体" pitchFamily="2" charset="-122"/>
              </a:rPr>
              <a:t>  &lt;</a:t>
            </a:r>
            <a:r>
              <a:rPr lang="en-US" altLang="zh-CN" sz="1400" dirty="0" err="1">
                <a:latin typeface="Lucida Console" pitchFamily="49" charset="0"/>
                <a:ea typeface="宋体" pitchFamily="2" charset="-122"/>
              </a:rPr>
              <a:t>ChildB</a:t>
            </a:r>
            <a:r>
              <a:rPr lang="en-US" altLang="zh-CN" sz="1400" dirty="0">
                <a:latin typeface="Lucida Console" pitchFamily="49" charset="0"/>
                <a:ea typeface="宋体" pitchFamily="2" charset="-122"/>
              </a:rPr>
              <a:t>&gt;content</a:t>
            </a:r>
          </a:p>
          <a:p>
            <a:pPr marL="279400" indent="-279400">
              <a:defRPr/>
            </a:pPr>
            <a:r>
              <a:rPr lang="en-US" altLang="zh-CN" sz="1400" dirty="0">
                <a:latin typeface="Lucida Console" pitchFamily="49" charset="0"/>
                <a:ea typeface="宋体" pitchFamily="2" charset="-122"/>
              </a:rPr>
              <a:t>  &lt;/</a:t>
            </a:r>
            <a:r>
              <a:rPr lang="en-US" altLang="zh-CN" sz="1400" dirty="0" err="1">
                <a:latin typeface="Lucida Console" pitchFamily="49" charset="0"/>
                <a:ea typeface="宋体" pitchFamily="2" charset="-122"/>
              </a:rPr>
              <a:t>ChildB</a:t>
            </a:r>
            <a:r>
              <a:rPr lang="en-US" altLang="zh-CN" sz="1400" dirty="0">
                <a:latin typeface="Lucida Console" pitchFamily="49" charset="0"/>
                <a:ea typeface="宋体" pitchFamily="2" charset="-122"/>
              </a:rPr>
              <a:t>&gt;</a:t>
            </a:r>
          </a:p>
          <a:p>
            <a:pPr marL="279400" indent="-279400">
              <a:defRPr/>
            </a:pPr>
            <a:r>
              <a:rPr lang="en-US" altLang="zh-CN" sz="1400" dirty="0">
                <a:latin typeface="Lucida Console" pitchFamily="49" charset="0"/>
                <a:ea typeface="宋体" pitchFamily="2" charset="-122"/>
              </a:rPr>
              <a:t> &lt;/</a:t>
            </a:r>
            <a:r>
              <a:rPr lang="en-US" altLang="zh-CN" sz="1400" dirty="0" err="1">
                <a:latin typeface="Lucida Console" pitchFamily="49" charset="0"/>
                <a:ea typeface="宋体" pitchFamily="2" charset="-122"/>
              </a:rPr>
              <a:t>ChildA</a:t>
            </a:r>
            <a:r>
              <a:rPr lang="en-US" altLang="zh-CN" sz="1400" dirty="0">
                <a:latin typeface="Lucida Console" pitchFamily="49" charset="0"/>
                <a:ea typeface="宋体" pitchFamily="2" charset="-122"/>
              </a:rPr>
              <a:t>&gt;</a:t>
            </a:r>
          </a:p>
          <a:p>
            <a:pPr marL="279400" indent="-279400">
              <a:defRPr/>
            </a:pPr>
            <a:r>
              <a:rPr lang="en-US" altLang="zh-CN" sz="1400" dirty="0">
                <a:latin typeface="Lucida Console" pitchFamily="49" charset="0"/>
                <a:ea typeface="宋体" pitchFamily="2" charset="-122"/>
              </a:rPr>
              <a:t>&lt;/Root&gt;</a:t>
            </a:r>
            <a:r>
              <a:rPr lang="en-US" altLang="zh-CN" sz="1400" dirty="0">
                <a:latin typeface="Lucida Sans Typewriter" pitchFamily="33" charset="0"/>
                <a:ea typeface="宋体"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68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68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68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68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68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685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685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685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685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685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1"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611188" y="333375"/>
            <a:ext cx="7772400" cy="792163"/>
          </a:xfrm>
        </p:spPr>
        <p:txBody>
          <a:bodyPr/>
          <a:lstStyle/>
          <a:p>
            <a:pPr marL="609600" indent="-609600">
              <a:defRPr/>
            </a:pPr>
            <a:r>
              <a:rPr lang="zh-CN" altLang="en-US" sz="3200" b="1" dirty="0" smtClean="0">
                <a:latin typeface="+mn-ea"/>
                <a:ea typeface="+mn-ea"/>
              </a:rPr>
              <a:t>根元素</a:t>
            </a:r>
          </a:p>
        </p:txBody>
      </p:sp>
      <p:sp>
        <p:nvSpPr>
          <p:cNvPr id="35843" name="Rectangle 3"/>
          <p:cNvSpPr>
            <a:spLocks noGrp="1" noChangeArrowheads="1"/>
          </p:cNvSpPr>
          <p:nvPr>
            <p:ph idx="1"/>
          </p:nvPr>
        </p:nvSpPr>
        <p:spPr>
          <a:xfrm>
            <a:off x="1857356" y="1341438"/>
            <a:ext cx="6962794" cy="5183187"/>
          </a:xfrm>
        </p:spPr>
        <p:txBody>
          <a:bodyPr/>
          <a:lstStyle/>
          <a:p>
            <a:pPr>
              <a:defRPr/>
            </a:pPr>
            <a:r>
              <a:rPr lang="en-US" altLang="zh-CN" sz="2400" b="1" dirty="0" smtClean="0">
                <a:latin typeface="+mn-ea"/>
              </a:rPr>
              <a:t>XML </a:t>
            </a:r>
            <a:r>
              <a:rPr lang="zh-CN" altLang="en-US" sz="2400" b="1" dirty="0" smtClean="0">
                <a:latin typeface="+mn-ea"/>
              </a:rPr>
              <a:t>文档必须包含在一个单一元素中。</a:t>
            </a:r>
            <a:endParaRPr lang="en-US" altLang="zh-CN" sz="2400" b="1" dirty="0" smtClean="0">
              <a:latin typeface="+mn-ea"/>
            </a:endParaRPr>
          </a:p>
          <a:p>
            <a:pPr>
              <a:defRPr/>
            </a:pPr>
            <a:r>
              <a:rPr lang="en-US" altLang="zh-CN" sz="2400" b="1" dirty="0" smtClean="0">
                <a:latin typeface="+mn-ea"/>
                <a:cs typeface="Courier New" pitchFamily="49" charset="0"/>
              </a:rPr>
              <a:t>&lt;?xml version="1.0"?&gt;</a:t>
            </a:r>
          </a:p>
          <a:p>
            <a:pPr>
              <a:defRPr/>
            </a:pPr>
            <a:r>
              <a:rPr lang="en-US" altLang="zh-CN" sz="2400" b="1" dirty="0" smtClean="0">
                <a:latin typeface="+mn-ea"/>
                <a:cs typeface="Courier New" pitchFamily="49" charset="0"/>
              </a:rPr>
              <a:t>&lt;!-- A well-formed document --&gt;</a:t>
            </a:r>
          </a:p>
          <a:p>
            <a:pPr>
              <a:defRPr/>
            </a:pPr>
            <a:r>
              <a:rPr lang="en-US" altLang="zh-CN" sz="2400" b="1" dirty="0" smtClean="0">
                <a:latin typeface="+mn-ea"/>
                <a:cs typeface="Courier New" pitchFamily="49" charset="0"/>
              </a:rPr>
              <a:t>&lt;greeting&gt;</a:t>
            </a:r>
          </a:p>
          <a:p>
            <a:pPr>
              <a:defRPr/>
            </a:pPr>
            <a:r>
              <a:rPr lang="en-US" altLang="zh-CN" sz="2400" b="1" dirty="0" smtClean="0">
                <a:latin typeface="+mn-ea"/>
                <a:cs typeface="Courier New" pitchFamily="49" charset="0"/>
              </a:rPr>
              <a:t> Hello, World!</a:t>
            </a:r>
          </a:p>
          <a:p>
            <a:pPr>
              <a:defRPr/>
            </a:pPr>
            <a:r>
              <a:rPr lang="en-US" altLang="zh-CN" sz="2400" b="1" dirty="0" smtClean="0">
                <a:latin typeface="+mn-ea"/>
                <a:cs typeface="Courier New" pitchFamily="49" charset="0"/>
              </a:rPr>
              <a:t>&lt;/greeting&gt; </a:t>
            </a:r>
          </a:p>
          <a:p>
            <a:pPr>
              <a:defRPr/>
            </a:pPr>
            <a:r>
              <a:rPr lang="zh-CN" altLang="en-US" sz="2400" b="1" dirty="0" smtClean="0">
                <a:latin typeface="+mn-ea"/>
                <a:cs typeface="Courier New" pitchFamily="49" charset="0"/>
              </a:rPr>
              <a:t>不包含单一根元素的文档都会被</a:t>
            </a:r>
            <a:r>
              <a:rPr lang="en-US" altLang="zh-CN" sz="2400" b="1" dirty="0" smtClean="0">
                <a:latin typeface="+mn-ea"/>
                <a:cs typeface="Courier New" pitchFamily="49" charset="0"/>
              </a:rPr>
              <a:t>XML </a:t>
            </a:r>
            <a:r>
              <a:rPr lang="zh-CN" altLang="en-US" sz="2400" b="1" dirty="0" smtClean="0">
                <a:latin typeface="+mn-ea"/>
                <a:cs typeface="Courier New" pitchFamily="49" charset="0"/>
              </a:rPr>
              <a:t>解析器拒绝</a:t>
            </a:r>
            <a:br>
              <a:rPr lang="zh-CN" altLang="en-US" sz="2400" b="1" dirty="0" smtClean="0">
                <a:latin typeface="+mn-ea"/>
                <a:cs typeface="Courier New" pitchFamily="49" charset="0"/>
              </a:rPr>
            </a:br>
            <a:endParaRPr lang="zh-CN" altLang="en-US" sz="2400" b="1" dirty="0" smtClean="0">
              <a:latin typeface="+mn-ea"/>
              <a:cs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animEffect transition="in" filter="blinds(horizontal)">
                                      <p:cBhvr>
                                        <p:cTn id="7" dur="500"/>
                                        <p:tgtEl>
                                          <p:spTgt spid="358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5843">
                                            <p:txEl>
                                              <p:pRg st="1" end="1"/>
                                            </p:txEl>
                                          </p:spTgt>
                                        </p:tgtEl>
                                        <p:attrNameLst>
                                          <p:attrName>style.visibility</p:attrName>
                                        </p:attrNameLst>
                                      </p:cBhvr>
                                      <p:to>
                                        <p:strVal val="visible"/>
                                      </p:to>
                                    </p:set>
                                    <p:animEffect transition="in" filter="blinds(horizontal)">
                                      <p:cBhvr>
                                        <p:cTn id="12" dur="500"/>
                                        <p:tgtEl>
                                          <p:spTgt spid="358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5843">
                                            <p:txEl>
                                              <p:pRg st="6" end="6"/>
                                            </p:txEl>
                                          </p:spTgt>
                                        </p:tgtEl>
                                        <p:attrNameLst>
                                          <p:attrName>style.visibility</p:attrName>
                                        </p:attrNameLst>
                                      </p:cBhvr>
                                      <p:to>
                                        <p:strVal val="visible"/>
                                      </p:to>
                                    </p:set>
                                    <p:animEffect transition="in" filter="checkerboard(across)">
                                      <p:cBhvr>
                                        <p:cTn id="17" dur="500"/>
                                        <p:tgtEl>
                                          <p:spTgt spid="3584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2285984" y="260350"/>
            <a:ext cx="6242066" cy="608013"/>
          </a:xfrm>
        </p:spPr>
        <p:txBody>
          <a:bodyPr/>
          <a:lstStyle/>
          <a:p>
            <a:pPr marL="609600" indent="-609600">
              <a:defRPr/>
            </a:pPr>
            <a:r>
              <a:rPr lang="zh-CN" altLang="en-US" sz="3200" b="1" dirty="0" smtClean="0">
                <a:latin typeface="+mn-ea"/>
                <a:ea typeface="+mn-ea"/>
              </a:rPr>
              <a:t>必需有结束标记</a:t>
            </a:r>
          </a:p>
        </p:txBody>
      </p:sp>
      <p:sp>
        <p:nvSpPr>
          <p:cNvPr id="36867" name="Rectangle 3"/>
          <p:cNvSpPr>
            <a:spLocks noGrp="1" noChangeArrowheads="1"/>
          </p:cNvSpPr>
          <p:nvPr>
            <p:ph idx="1"/>
          </p:nvPr>
        </p:nvSpPr>
        <p:spPr>
          <a:xfrm>
            <a:off x="1714480" y="1268413"/>
            <a:ext cx="6889770" cy="5040312"/>
          </a:xfrm>
        </p:spPr>
        <p:txBody>
          <a:bodyPr/>
          <a:lstStyle/>
          <a:p>
            <a:pPr>
              <a:defRPr/>
            </a:pPr>
            <a:r>
              <a:rPr lang="zh-CN" altLang="en-US" sz="2800" b="1" dirty="0" smtClean="0">
                <a:latin typeface="+mn-ea"/>
              </a:rPr>
              <a:t>不能省去任何结束标记</a:t>
            </a:r>
          </a:p>
          <a:p>
            <a:pPr>
              <a:defRPr/>
            </a:pPr>
            <a:r>
              <a:rPr lang="zh-CN" altLang="en-US" sz="2800" b="1" dirty="0" smtClean="0">
                <a:latin typeface="+mn-ea"/>
              </a:rPr>
              <a:t>如果一个元素根本不包含标记，则称为空元素；</a:t>
            </a:r>
            <a:r>
              <a:rPr lang="en-US" altLang="zh-CN" sz="2800" b="1" dirty="0" smtClean="0">
                <a:latin typeface="+mn-ea"/>
              </a:rPr>
              <a:t>HTML </a:t>
            </a:r>
            <a:r>
              <a:rPr lang="zh-CN" altLang="en-US" sz="2800" b="1" dirty="0" smtClean="0">
                <a:latin typeface="+mn-ea"/>
              </a:rPr>
              <a:t>换行（</a:t>
            </a:r>
            <a:r>
              <a:rPr lang="en-US" altLang="zh-CN" sz="2800" b="1" dirty="0" smtClean="0">
                <a:latin typeface="+mn-ea"/>
              </a:rPr>
              <a:t>&lt;</a:t>
            </a:r>
            <a:r>
              <a:rPr lang="en-US" altLang="zh-CN" sz="2800" b="1" dirty="0" err="1" smtClean="0">
                <a:latin typeface="+mn-ea"/>
              </a:rPr>
              <a:t>br</a:t>
            </a:r>
            <a:r>
              <a:rPr lang="en-US" altLang="zh-CN" sz="2800" b="1" dirty="0" smtClean="0">
                <a:latin typeface="+mn-ea"/>
              </a:rPr>
              <a:t>&gt;</a:t>
            </a:r>
            <a:r>
              <a:rPr lang="zh-CN" altLang="en-US" sz="2800" b="1" dirty="0" smtClean="0">
                <a:latin typeface="+mn-ea"/>
              </a:rPr>
              <a:t>）和图像（</a:t>
            </a:r>
            <a:r>
              <a:rPr lang="en-US" altLang="zh-CN" sz="2800" b="1" dirty="0" smtClean="0">
                <a:latin typeface="+mn-ea"/>
              </a:rPr>
              <a:t>&lt;</a:t>
            </a:r>
            <a:r>
              <a:rPr lang="en-US" altLang="zh-CN" sz="2800" b="1" dirty="0" err="1" smtClean="0">
                <a:latin typeface="+mn-ea"/>
              </a:rPr>
              <a:t>img</a:t>
            </a:r>
            <a:r>
              <a:rPr lang="en-US" altLang="zh-CN" sz="2800" b="1" dirty="0" smtClean="0">
                <a:latin typeface="+mn-ea"/>
              </a:rPr>
              <a:t>&gt;</a:t>
            </a:r>
            <a:r>
              <a:rPr lang="zh-CN" altLang="en-US" sz="2800" b="1" dirty="0" smtClean="0">
                <a:latin typeface="+mn-ea"/>
              </a:rPr>
              <a:t>）元素就是两个例子。在 </a:t>
            </a:r>
            <a:r>
              <a:rPr lang="en-US" altLang="zh-CN" sz="2800" b="1" dirty="0" smtClean="0">
                <a:latin typeface="+mn-ea"/>
              </a:rPr>
              <a:t>XML </a:t>
            </a:r>
            <a:r>
              <a:rPr lang="zh-CN" altLang="en-US" sz="2800" b="1" dirty="0" smtClean="0">
                <a:latin typeface="+mn-ea"/>
              </a:rPr>
              <a:t>文档的空元素中，可以把结束斜杠放在开始标记中。下面的两个换行元素和两个图像元素对于 </a:t>
            </a:r>
            <a:r>
              <a:rPr lang="en-US" altLang="zh-CN" sz="2800" b="1" dirty="0" smtClean="0">
                <a:latin typeface="+mn-ea"/>
              </a:rPr>
              <a:t>XML </a:t>
            </a:r>
            <a:r>
              <a:rPr lang="zh-CN" altLang="en-US" sz="2800" b="1" dirty="0" smtClean="0">
                <a:latin typeface="+mn-ea"/>
              </a:rPr>
              <a:t>解析器来说是一回事：</a:t>
            </a:r>
          </a:p>
          <a:p>
            <a:pPr>
              <a:defRPr/>
            </a:pPr>
            <a:r>
              <a:rPr lang="en-US" altLang="zh-CN" sz="2800" b="1" dirty="0" smtClean="0">
                <a:latin typeface="+mn-ea"/>
                <a:cs typeface="Courier New" pitchFamily="49" charset="0"/>
              </a:rPr>
              <a:t>&lt;</a:t>
            </a:r>
            <a:r>
              <a:rPr lang="en-US" altLang="zh-CN" sz="2800" b="1" dirty="0" err="1" smtClean="0">
                <a:latin typeface="+mn-ea"/>
                <a:cs typeface="Courier New" pitchFamily="49" charset="0"/>
              </a:rPr>
              <a:t>img</a:t>
            </a:r>
            <a:r>
              <a:rPr lang="en-US" altLang="zh-CN" sz="2800" b="1" dirty="0" smtClean="0">
                <a:latin typeface="+mn-ea"/>
                <a:cs typeface="Courier New" pitchFamily="49" charset="0"/>
              </a:rPr>
              <a:t> </a:t>
            </a:r>
            <a:r>
              <a:rPr lang="en-US" altLang="zh-CN" sz="2800" b="1" dirty="0" err="1" smtClean="0">
                <a:latin typeface="+mn-ea"/>
                <a:cs typeface="Courier New" pitchFamily="49" charset="0"/>
              </a:rPr>
              <a:t>src</a:t>
            </a:r>
            <a:r>
              <a:rPr lang="en-US" altLang="zh-CN" sz="2800" b="1" dirty="0" smtClean="0">
                <a:latin typeface="+mn-ea"/>
                <a:cs typeface="Courier New" pitchFamily="49" charset="0"/>
              </a:rPr>
              <a:t>="../</a:t>
            </a:r>
            <a:r>
              <a:rPr lang="en-US" altLang="zh-CN" sz="2800" b="1" dirty="0" err="1" smtClean="0">
                <a:latin typeface="+mn-ea"/>
                <a:cs typeface="Courier New" pitchFamily="49" charset="0"/>
              </a:rPr>
              <a:t>img</a:t>
            </a:r>
            <a:r>
              <a:rPr lang="en-US" altLang="zh-CN" sz="2800" b="1" dirty="0" smtClean="0">
                <a:latin typeface="+mn-ea"/>
                <a:cs typeface="Courier New" pitchFamily="49" charset="0"/>
              </a:rPr>
              <a:t>/c.gif"&gt;&lt;/</a:t>
            </a:r>
            <a:r>
              <a:rPr lang="en-US" altLang="zh-CN" sz="2800" b="1" dirty="0" err="1" smtClean="0">
                <a:latin typeface="+mn-ea"/>
                <a:cs typeface="Courier New" pitchFamily="49" charset="0"/>
              </a:rPr>
              <a:t>img</a:t>
            </a:r>
            <a:r>
              <a:rPr lang="en-US" altLang="zh-CN" sz="2800" b="1" dirty="0" smtClean="0">
                <a:latin typeface="+mn-ea"/>
                <a:cs typeface="Courier New" pitchFamily="49" charset="0"/>
              </a:rPr>
              <a:t>&gt;</a:t>
            </a:r>
          </a:p>
          <a:p>
            <a:pPr>
              <a:defRPr/>
            </a:pPr>
            <a:r>
              <a:rPr lang="en-US" altLang="zh-CN" sz="2800" b="1" dirty="0" smtClean="0">
                <a:latin typeface="+mn-ea"/>
                <a:cs typeface="Courier New" pitchFamily="49" charset="0"/>
              </a:rPr>
              <a:t>&lt;</a:t>
            </a:r>
            <a:r>
              <a:rPr lang="en-US" altLang="zh-CN" sz="2800" b="1" dirty="0" err="1" smtClean="0">
                <a:latin typeface="+mn-ea"/>
                <a:cs typeface="Courier New" pitchFamily="49" charset="0"/>
              </a:rPr>
              <a:t>img</a:t>
            </a:r>
            <a:r>
              <a:rPr lang="en-US" altLang="zh-CN" sz="2800" b="1" dirty="0" smtClean="0">
                <a:latin typeface="+mn-ea"/>
                <a:cs typeface="Courier New" pitchFamily="49" charset="0"/>
              </a:rPr>
              <a:t> </a:t>
            </a:r>
            <a:r>
              <a:rPr lang="en-US" altLang="zh-CN" sz="2800" b="1" dirty="0" err="1" smtClean="0">
                <a:latin typeface="+mn-ea"/>
                <a:cs typeface="Courier New" pitchFamily="49" charset="0"/>
              </a:rPr>
              <a:t>src</a:t>
            </a:r>
            <a:r>
              <a:rPr lang="en-US" altLang="zh-CN" sz="2800" b="1" dirty="0" smtClean="0">
                <a:latin typeface="+mn-ea"/>
                <a:cs typeface="Courier New" pitchFamily="49" charset="0"/>
              </a:rPr>
              <a:t>="../</a:t>
            </a:r>
            <a:r>
              <a:rPr lang="en-US" altLang="zh-CN" sz="2800" b="1" dirty="0" err="1" smtClean="0">
                <a:latin typeface="+mn-ea"/>
                <a:cs typeface="Courier New" pitchFamily="49" charset="0"/>
              </a:rPr>
              <a:t>img</a:t>
            </a:r>
            <a:r>
              <a:rPr lang="en-US" altLang="zh-CN" sz="2800" b="1" dirty="0" smtClean="0">
                <a:latin typeface="+mn-ea"/>
                <a:cs typeface="Courier New" pitchFamily="49" charset="0"/>
              </a:rPr>
              <a:t>/c.gif" /&gt;</a:t>
            </a:r>
            <a:r>
              <a:rPr lang="en-US" altLang="zh-CN" sz="2800" b="1" dirty="0" smtClean="0">
                <a:latin typeface="+mn-ea"/>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animEffect transition="in" filter="blinds(horizontal)">
                                      <p:cBhvr>
                                        <p:cTn id="7" dur="500"/>
                                        <p:tgtEl>
                                          <p:spTgt spid="368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6867">
                                            <p:txEl>
                                              <p:pRg st="1" end="1"/>
                                            </p:txEl>
                                          </p:spTgt>
                                        </p:tgtEl>
                                        <p:attrNameLst>
                                          <p:attrName>style.visibility</p:attrName>
                                        </p:attrNameLst>
                                      </p:cBhvr>
                                      <p:to>
                                        <p:strVal val="visible"/>
                                      </p:to>
                                    </p:set>
                                    <p:animEffect transition="in" filter="blinds(horizontal)">
                                      <p:cBhvr>
                                        <p:cTn id="12" dur="500"/>
                                        <p:tgtEl>
                                          <p:spTgt spid="368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36867">
                                            <p:txEl>
                                              <p:pRg st="2" end="2"/>
                                            </p:txEl>
                                          </p:spTgt>
                                        </p:tgtEl>
                                        <p:attrNameLst>
                                          <p:attrName>style.visibility</p:attrName>
                                        </p:attrNameLst>
                                      </p:cBhvr>
                                      <p:to>
                                        <p:strVal val="visible"/>
                                      </p:to>
                                    </p:set>
                                    <p:animEffect transition="in" filter="diamond(in)">
                                      <p:cBhvr>
                                        <p:cTn id="17" dur="2000"/>
                                        <p:tgtEl>
                                          <p:spTgt spid="36867">
                                            <p:txEl>
                                              <p:pRg st="2" end="2"/>
                                            </p:txEl>
                                          </p:spTgt>
                                        </p:tgtEl>
                                      </p:cBhvr>
                                    </p:animEffect>
                                  </p:childTnLst>
                                </p:cTn>
                              </p:par>
                              <p:par>
                                <p:cTn id="18" presetID="8" presetClass="entr" presetSubtype="16" fill="hold" nodeType="withEffect">
                                  <p:stCondLst>
                                    <p:cond delay="0"/>
                                  </p:stCondLst>
                                  <p:childTnLst>
                                    <p:set>
                                      <p:cBhvr>
                                        <p:cTn id="19" dur="1" fill="hold">
                                          <p:stCondLst>
                                            <p:cond delay="0"/>
                                          </p:stCondLst>
                                        </p:cTn>
                                        <p:tgtEl>
                                          <p:spTgt spid="36867">
                                            <p:txEl>
                                              <p:pRg st="3" end="3"/>
                                            </p:txEl>
                                          </p:spTgt>
                                        </p:tgtEl>
                                        <p:attrNameLst>
                                          <p:attrName>style.visibility</p:attrName>
                                        </p:attrNameLst>
                                      </p:cBhvr>
                                      <p:to>
                                        <p:strVal val="visible"/>
                                      </p:to>
                                    </p:set>
                                    <p:animEffect transition="in" filter="diamond(in)">
                                      <p:cBhvr>
                                        <p:cTn id="20" dur="2000"/>
                                        <p:tgtEl>
                                          <p:spTgt spid="368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2000231" y="476250"/>
            <a:ext cx="6456381" cy="608013"/>
          </a:xfrm>
        </p:spPr>
        <p:txBody>
          <a:bodyPr/>
          <a:lstStyle/>
          <a:p>
            <a:pPr marL="609600" indent="-609600">
              <a:defRPr/>
            </a:pPr>
            <a:r>
              <a:rPr lang="zh-CN" altLang="en-US" sz="3200" b="1" dirty="0" smtClean="0">
                <a:latin typeface="+mn-ea"/>
                <a:ea typeface="+mn-ea"/>
              </a:rPr>
              <a:t>属性</a:t>
            </a:r>
          </a:p>
        </p:txBody>
      </p:sp>
      <p:sp>
        <p:nvSpPr>
          <p:cNvPr id="4" name="内容占位符 3"/>
          <p:cNvSpPr>
            <a:spLocks noGrp="1"/>
          </p:cNvSpPr>
          <p:nvPr>
            <p:ph idx="1"/>
          </p:nvPr>
        </p:nvSpPr>
        <p:spPr/>
        <p:txBody>
          <a:bodyPr>
            <a:normAutofit/>
          </a:bodyPr>
          <a:lstStyle/>
          <a:p>
            <a:r>
              <a:rPr lang="zh-CN" altLang="en-US" sz="2800" b="1" dirty="0" smtClean="0">
                <a:latin typeface="+mn-ea"/>
              </a:rPr>
              <a:t>名称不够用</a:t>
            </a:r>
            <a:endParaRPr lang="en-US" altLang="zh-CN" sz="2800" b="1" dirty="0" smtClean="0">
              <a:latin typeface="+mn-ea"/>
            </a:endParaRPr>
          </a:p>
          <a:p>
            <a:r>
              <a:rPr lang="zh-CN" altLang="en-US" sz="2800" b="1" dirty="0" smtClean="0">
                <a:latin typeface="+mn-ea"/>
              </a:rPr>
              <a:t>命名规则和元素的命名规则类似</a:t>
            </a:r>
          </a:p>
          <a:p>
            <a:r>
              <a:rPr lang="zh-CN" altLang="en-US" sz="2800" b="1" dirty="0" smtClean="0">
                <a:latin typeface="+mn-ea"/>
              </a:rPr>
              <a:t>属性必须有值</a:t>
            </a:r>
            <a:endParaRPr lang="en-US" altLang="zh-CN" sz="2800" b="1" dirty="0" smtClean="0">
              <a:latin typeface="+mn-ea"/>
            </a:endParaRPr>
          </a:p>
          <a:p>
            <a:r>
              <a:rPr lang="zh-CN" altLang="en-US" sz="2800" b="1" dirty="0" smtClean="0">
                <a:latin typeface="+mn-ea"/>
              </a:rPr>
              <a:t>属性值必须用单引号或双引号括起，且要始终保持一致</a:t>
            </a:r>
            <a:endParaRPr lang="en-US" altLang="zh-CN" sz="2800" b="1" dirty="0" smtClean="0">
              <a:latin typeface="+mn-ea"/>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609600" indent="-609600">
              <a:defRPr/>
            </a:pPr>
            <a:r>
              <a:rPr lang="zh-CN" altLang="en-US" sz="3200" b="1" dirty="0" smtClean="0">
                <a:latin typeface="+mn-ea"/>
                <a:ea typeface="+mn-ea"/>
              </a:rPr>
              <a:t>实体引用</a:t>
            </a:r>
            <a:endParaRPr lang="zh-CN" altLang="en-US" sz="3200" b="1" dirty="0">
              <a:latin typeface="+mn-ea"/>
              <a:ea typeface="+mn-ea"/>
            </a:endParaRPr>
          </a:p>
        </p:txBody>
      </p:sp>
      <p:sp>
        <p:nvSpPr>
          <p:cNvPr id="3" name="内容占位符 2"/>
          <p:cNvSpPr>
            <a:spLocks noGrp="1"/>
          </p:cNvSpPr>
          <p:nvPr>
            <p:ph idx="1"/>
          </p:nvPr>
        </p:nvSpPr>
        <p:spPr>
          <a:xfrm>
            <a:off x="1785918" y="1981200"/>
            <a:ext cx="7143800" cy="4114800"/>
          </a:xfrm>
        </p:spPr>
        <p:txBody>
          <a:bodyPr>
            <a:normAutofit fontScale="92500"/>
          </a:bodyPr>
          <a:lstStyle/>
          <a:p>
            <a:r>
              <a:rPr lang="zh-CN" altLang="en-US" sz="3000" b="1" dirty="0" smtClean="0">
                <a:latin typeface="宋体" charset="-122"/>
              </a:rPr>
              <a:t>一些字符拥有特殊的意义</a:t>
            </a:r>
            <a:r>
              <a:rPr lang="en-US" altLang="zh-CN" b="1" dirty="0" smtClean="0">
                <a:latin typeface="宋体" charset="-122"/>
              </a:rPr>
              <a:t>	</a:t>
            </a:r>
          </a:p>
          <a:p>
            <a:pPr lvl="1"/>
            <a:r>
              <a:rPr lang="en-US" altLang="zh-CN" sz="2600" b="1" dirty="0" smtClean="0">
                <a:latin typeface="宋体" charset="-122"/>
              </a:rPr>
              <a:t>&lt;message&gt;if salary &lt; 1000 then&lt;/message&gt;</a:t>
            </a:r>
          </a:p>
          <a:p>
            <a:pPr lvl="1"/>
            <a:r>
              <a:rPr lang="en-US" altLang="zh-CN" sz="2600" b="1" dirty="0" smtClean="0">
                <a:latin typeface="宋体" charset="-122"/>
              </a:rPr>
              <a:t>&lt;message&gt;if salary &amp;</a:t>
            </a:r>
            <a:r>
              <a:rPr lang="en-US" altLang="zh-CN" sz="2600" b="1" dirty="0" err="1" smtClean="0">
                <a:latin typeface="宋体" charset="-122"/>
              </a:rPr>
              <a:t>lt</a:t>
            </a:r>
            <a:r>
              <a:rPr lang="en-US" altLang="zh-CN" sz="2600" b="1" dirty="0" smtClean="0">
                <a:latin typeface="宋体" charset="-122"/>
              </a:rPr>
              <a:t>; 1000 then&lt;/message&gt;</a:t>
            </a:r>
          </a:p>
          <a:p>
            <a:r>
              <a:rPr lang="en-US" altLang="zh-CN" sz="3000" b="1" dirty="0" smtClean="0">
                <a:latin typeface="宋体" charset="-122"/>
              </a:rPr>
              <a:t>5 </a:t>
            </a:r>
            <a:r>
              <a:rPr lang="zh-CN" altLang="en-US" sz="3000" b="1" dirty="0" smtClean="0">
                <a:latin typeface="宋体" charset="-122"/>
              </a:rPr>
              <a:t>个预定义的实体引用</a:t>
            </a:r>
            <a:endParaRPr lang="en-US" altLang="zh-CN" sz="3000" b="1" dirty="0" smtClean="0">
              <a:latin typeface="宋体" charset="-122"/>
            </a:endParaRPr>
          </a:p>
          <a:p>
            <a:pPr lvl="1"/>
            <a:r>
              <a:rPr lang="en-US" altLang="zh-CN" sz="2600" b="1" dirty="0" smtClean="0">
                <a:latin typeface="宋体" charset="-122"/>
              </a:rPr>
              <a:t>&amp;</a:t>
            </a:r>
            <a:r>
              <a:rPr lang="en-US" altLang="zh-CN" sz="2600" b="1" dirty="0" err="1" smtClean="0">
                <a:latin typeface="宋体" charset="-122"/>
              </a:rPr>
              <a:t>lt</a:t>
            </a:r>
            <a:r>
              <a:rPr lang="en-US" altLang="zh-CN" sz="2600" b="1" dirty="0" smtClean="0">
                <a:latin typeface="宋体" charset="-122"/>
              </a:rPr>
              <a:t>;  &lt;	</a:t>
            </a:r>
            <a:r>
              <a:rPr lang="zh-CN" altLang="en-US" sz="2600" b="1" dirty="0" smtClean="0">
                <a:latin typeface="宋体" charset="-122"/>
              </a:rPr>
              <a:t>小于</a:t>
            </a:r>
            <a:r>
              <a:rPr lang="en-US" altLang="zh-CN" sz="2600" b="1" dirty="0" smtClean="0">
                <a:latin typeface="宋体" charset="-122"/>
              </a:rPr>
              <a:t> </a:t>
            </a:r>
            <a:r>
              <a:rPr lang="zh-CN" altLang="en-US" sz="2600" b="1" dirty="0" smtClean="0">
                <a:latin typeface="宋体" charset="-122"/>
              </a:rPr>
              <a:t>；</a:t>
            </a:r>
            <a:r>
              <a:rPr lang="en-US" altLang="zh-CN" sz="2600" b="1" dirty="0" smtClean="0">
                <a:latin typeface="宋体" charset="-122"/>
              </a:rPr>
              <a:t>&amp;</a:t>
            </a:r>
            <a:r>
              <a:rPr lang="en-US" altLang="zh-CN" sz="2600" b="1" dirty="0" err="1" smtClean="0">
                <a:latin typeface="宋体" charset="-122"/>
              </a:rPr>
              <a:t>gt</a:t>
            </a:r>
            <a:r>
              <a:rPr lang="en-US" altLang="zh-CN" sz="2600" b="1" dirty="0" smtClean="0">
                <a:latin typeface="宋体" charset="-122"/>
              </a:rPr>
              <a:t>;	&gt;	</a:t>
            </a:r>
            <a:r>
              <a:rPr lang="zh-CN" altLang="en-US" sz="2600" b="1" dirty="0" smtClean="0">
                <a:latin typeface="宋体" charset="-122"/>
              </a:rPr>
              <a:t>大于</a:t>
            </a:r>
          </a:p>
          <a:p>
            <a:pPr lvl="1"/>
            <a:r>
              <a:rPr lang="en-US" altLang="zh-CN" sz="2600" b="1" dirty="0" smtClean="0">
                <a:latin typeface="宋体" charset="-122"/>
              </a:rPr>
              <a:t>&amp;amp;	 &amp; </a:t>
            </a:r>
            <a:r>
              <a:rPr lang="zh-CN" altLang="en-US" sz="2600" b="1" dirty="0" smtClean="0">
                <a:latin typeface="宋体" charset="-122"/>
              </a:rPr>
              <a:t>和号</a:t>
            </a:r>
          </a:p>
          <a:p>
            <a:pPr lvl="1"/>
            <a:r>
              <a:rPr lang="en-US" altLang="zh-CN" sz="2600" b="1" dirty="0" smtClean="0">
                <a:latin typeface="宋体" charset="-122"/>
              </a:rPr>
              <a:t>&amp;</a:t>
            </a:r>
            <a:r>
              <a:rPr lang="en-US" altLang="zh-CN" sz="2600" b="1" dirty="0" err="1" smtClean="0">
                <a:latin typeface="宋体" charset="-122"/>
              </a:rPr>
              <a:t>apos</a:t>
            </a:r>
            <a:r>
              <a:rPr lang="en-US" altLang="zh-CN" sz="2600" b="1" dirty="0" smtClean="0">
                <a:latin typeface="宋体" charset="-122"/>
              </a:rPr>
              <a:t>; ‘ </a:t>
            </a:r>
            <a:r>
              <a:rPr lang="zh-CN" altLang="en-US" sz="2600" b="1" dirty="0" smtClean="0">
                <a:latin typeface="宋体" charset="-122"/>
              </a:rPr>
              <a:t>单引号；</a:t>
            </a:r>
            <a:r>
              <a:rPr lang="en-US" altLang="zh-CN" sz="2600" b="1" dirty="0" smtClean="0">
                <a:latin typeface="宋体" charset="-122"/>
              </a:rPr>
              <a:t>&amp;</a:t>
            </a:r>
            <a:r>
              <a:rPr lang="en-US" altLang="zh-CN" sz="2600" b="1" dirty="0" err="1" smtClean="0">
                <a:latin typeface="宋体" charset="-122"/>
              </a:rPr>
              <a:t>quot</a:t>
            </a:r>
            <a:r>
              <a:rPr lang="en-US" altLang="zh-CN" sz="2600" b="1" dirty="0" smtClean="0">
                <a:latin typeface="宋体" charset="-122"/>
              </a:rPr>
              <a:t>; “ </a:t>
            </a:r>
            <a:r>
              <a:rPr lang="zh-CN" altLang="en-US" sz="2600" b="1" dirty="0" smtClean="0">
                <a:latin typeface="宋体" charset="-122"/>
              </a:rPr>
              <a:t>引号</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 calcmode="lin" valueType="num">
                                      <p:cBhvr additive="base">
                                        <p:cTn id="1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box(in)">
                                      <p:cBhvr>
                                        <p:cTn id="24" dur="500"/>
                                        <p:tgtEl>
                                          <p:spTgt spid="3">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box(in)">
                                      <p:cBhvr>
                                        <p:cTn id="29" dur="500"/>
                                        <p:tgtEl>
                                          <p:spTgt spid="3">
                                            <p:txEl>
                                              <p:pRg st="4" end="4"/>
                                            </p:txEl>
                                          </p:spTgt>
                                        </p:tgtEl>
                                      </p:cBhvr>
                                    </p:animEffect>
                                  </p:childTnLst>
                                </p:cTn>
                              </p:par>
                              <p:par>
                                <p:cTn id="30" presetID="4" presetClass="entr" presetSubtype="16"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ox(in)">
                                      <p:cBhvr>
                                        <p:cTn id="32" dur="500"/>
                                        <p:tgtEl>
                                          <p:spTgt spid="3">
                                            <p:txEl>
                                              <p:pRg st="5" end="5"/>
                                            </p:txEl>
                                          </p:spTgt>
                                        </p:tgtEl>
                                      </p:cBhvr>
                                    </p:animEffect>
                                  </p:childTnLst>
                                </p:cTn>
                              </p:par>
                              <p:par>
                                <p:cTn id="33" presetID="4" presetClass="entr" presetSubtype="16" fill="hold"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box(in)">
                                      <p:cBhvr>
                                        <p:cTn id="3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609600" indent="-609600">
              <a:defRPr/>
            </a:pPr>
            <a:r>
              <a:rPr lang="en-US" altLang="en-US" sz="3200" b="1" dirty="0" smtClean="0">
                <a:latin typeface="+mn-ea"/>
                <a:ea typeface="+mn-ea"/>
              </a:rPr>
              <a:t>CDATA</a:t>
            </a:r>
            <a:r>
              <a:rPr lang="zh-CN" altLang="en-US" sz="3200" b="1" dirty="0" smtClean="0">
                <a:latin typeface="+mn-ea"/>
                <a:ea typeface="+mn-ea"/>
              </a:rPr>
              <a:t>节</a:t>
            </a:r>
            <a:endParaRPr lang="zh-CN" altLang="en-US" sz="3200" b="1" dirty="0">
              <a:latin typeface="+mn-ea"/>
              <a:ea typeface="+mn-ea"/>
            </a:endParaRPr>
          </a:p>
        </p:txBody>
      </p:sp>
      <p:sp>
        <p:nvSpPr>
          <p:cNvPr id="3" name="内容占位符 2"/>
          <p:cNvSpPr>
            <a:spLocks noGrp="1"/>
          </p:cNvSpPr>
          <p:nvPr>
            <p:ph idx="1"/>
          </p:nvPr>
        </p:nvSpPr>
        <p:spPr/>
        <p:txBody>
          <a:bodyPr/>
          <a:lstStyle/>
          <a:p>
            <a:r>
              <a:rPr lang="zh-CN" altLang="en-US" sz="2800" b="1" dirty="0" smtClean="0">
                <a:latin typeface="+mn-ea"/>
              </a:rPr>
              <a:t>元素内容的字符数据中不能插入左尖括号“</a:t>
            </a:r>
            <a:r>
              <a:rPr lang="en-US" sz="2800" b="1" dirty="0" smtClean="0">
                <a:latin typeface="+mn-ea"/>
              </a:rPr>
              <a:t>&lt;</a:t>
            </a:r>
            <a:r>
              <a:rPr lang="zh-CN" altLang="en-US" sz="2800" b="1" dirty="0" smtClean="0">
                <a:latin typeface="+mn-ea"/>
              </a:rPr>
              <a:t>”或连字符“</a:t>
            </a:r>
            <a:r>
              <a:rPr lang="en-US" sz="2800" b="1" dirty="0" smtClean="0">
                <a:latin typeface="+mn-ea"/>
              </a:rPr>
              <a:t>&amp;</a:t>
            </a:r>
            <a:r>
              <a:rPr lang="zh-CN" altLang="en-US" sz="2800" b="1" dirty="0" smtClean="0">
                <a:latin typeface="+mn-ea"/>
              </a:rPr>
              <a:t>”</a:t>
            </a:r>
            <a:endParaRPr lang="en-US" altLang="zh-CN" sz="2800" b="1" dirty="0" smtClean="0">
              <a:latin typeface="+mn-ea"/>
            </a:endParaRPr>
          </a:p>
          <a:p>
            <a:r>
              <a:rPr lang="zh-CN" altLang="en-US" sz="2800" b="1" dirty="0" smtClean="0">
                <a:latin typeface="+mn-ea"/>
              </a:rPr>
              <a:t>数据难以阅读</a:t>
            </a:r>
            <a:endParaRPr lang="en-US" altLang="zh-CN" sz="2800" b="1" dirty="0" smtClean="0">
              <a:latin typeface="+mn-ea"/>
            </a:endParaRPr>
          </a:p>
          <a:p>
            <a:r>
              <a:rPr lang="en-US" sz="2800" b="1" dirty="0" smtClean="0">
                <a:latin typeface="+mn-ea"/>
              </a:rPr>
              <a:t>&lt;![CDATA[…]]&gt;</a:t>
            </a:r>
          </a:p>
          <a:p>
            <a:r>
              <a:rPr lang="zh-CN" altLang="en-US" sz="2800" b="1" dirty="0" smtClean="0">
                <a:latin typeface="+mn-ea"/>
              </a:rPr>
              <a:t>不包含字符串“</a:t>
            </a:r>
            <a:r>
              <a:rPr lang="en-US" sz="2800" b="1" dirty="0" smtClean="0">
                <a:latin typeface="+mn-ea"/>
              </a:rPr>
              <a:t>]]&gt;</a:t>
            </a:r>
            <a:r>
              <a:rPr lang="zh-CN" altLang="en-US" sz="2800" b="1" dirty="0" smtClean="0">
                <a:latin typeface="+mn-ea"/>
              </a:rPr>
              <a:t>”即可</a:t>
            </a:r>
            <a:endParaRPr lang="zh-CN" altLang="en-US" sz="2800" b="1" dirty="0">
              <a:latin typeface="+mn-ea"/>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609600" indent="-609600">
              <a:defRPr/>
            </a:pPr>
            <a:r>
              <a:rPr lang="zh-CN" altLang="en-US" sz="3200" b="1" dirty="0" smtClean="0">
                <a:latin typeface="+mn-ea"/>
                <a:ea typeface="+mn-ea"/>
              </a:rPr>
              <a:t>注释</a:t>
            </a:r>
            <a:endParaRPr lang="zh-CN" altLang="en-US" sz="3200" b="1" dirty="0">
              <a:latin typeface="+mn-ea"/>
              <a:ea typeface="+mn-ea"/>
            </a:endParaRPr>
          </a:p>
        </p:txBody>
      </p:sp>
      <p:sp>
        <p:nvSpPr>
          <p:cNvPr id="3" name="内容占位符 2"/>
          <p:cNvSpPr>
            <a:spLocks noGrp="1"/>
          </p:cNvSpPr>
          <p:nvPr>
            <p:ph idx="1"/>
          </p:nvPr>
        </p:nvSpPr>
        <p:spPr/>
        <p:txBody>
          <a:bodyPr/>
          <a:lstStyle/>
          <a:p>
            <a:pPr>
              <a:defRPr/>
            </a:pPr>
            <a:r>
              <a:rPr lang="en-US" sz="2800" b="1" dirty="0" smtClean="0">
                <a:latin typeface="+mn-ea"/>
              </a:rPr>
              <a:t>&lt;!-- This is a comment --&gt;</a:t>
            </a:r>
          </a:p>
          <a:p>
            <a:pPr>
              <a:defRPr/>
            </a:pPr>
            <a:r>
              <a:rPr lang="zh-CN" altLang="en-US" sz="2800" b="1" dirty="0" smtClean="0">
                <a:latin typeface="+mn-ea"/>
              </a:rPr>
              <a:t>空格会被保留</a:t>
            </a:r>
            <a:endParaRPr lang="en-US" altLang="zh-CN" sz="2800" b="1" dirty="0" smtClean="0">
              <a:latin typeface="+mn-ea"/>
            </a:endParaRPr>
          </a:p>
          <a:p>
            <a:pPr lvl="1">
              <a:defRPr/>
            </a:pPr>
            <a:r>
              <a:rPr lang="en-US" sz="2400" b="1" dirty="0" smtClean="0">
                <a:latin typeface="+mn-ea"/>
              </a:rPr>
              <a:t>HTML </a:t>
            </a:r>
            <a:r>
              <a:rPr lang="zh-CN" altLang="en-US" sz="2400" b="1" dirty="0" smtClean="0">
                <a:latin typeface="+mn-ea"/>
              </a:rPr>
              <a:t>会把多个连续的空格字符裁减为一个</a:t>
            </a:r>
            <a:endParaRPr lang="en-US" altLang="zh-CN" sz="2400" b="1" dirty="0" smtClean="0">
              <a:latin typeface="+mn-ea"/>
            </a:endParaRPr>
          </a:p>
          <a:p>
            <a:pPr lvl="1">
              <a:defRPr/>
            </a:pPr>
            <a:r>
              <a:rPr lang="zh-CN" altLang="en-US" sz="2400" b="1" dirty="0" smtClean="0">
                <a:latin typeface="+mn-ea"/>
              </a:rPr>
              <a:t>在</a:t>
            </a:r>
            <a:r>
              <a:rPr lang="en-US" sz="2400" b="1" dirty="0" smtClean="0">
                <a:latin typeface="+mn-ea"/>
              </a:rPr>
              <a:t> XML </a:t>
            </a:r>
            <a:r>
              <a:rPr lang="zh-CN" altLang="en-US" sz="2400" b="1" dirty="0" smtClean="0">
                <a:latin typeface="+mn-ea"/>
              </a:rPr>
              <a:t>中，文档中的空格不会被删节</a:t>
            </a:r>
            <a:endParaRPr lang="en-US" altLang="zh-CN" sz="2400" b="1" dirty="0" smtClean="0">
              <a:latin typeface="+mn-ea"/>
            </a:endParaRPr>
          </a:p>
          <a:p>
            <a:pPr>
              <a:defRPr/>
            </a:pPr>
            <a:r>
              <a:rPr lang="zh-CN" altLang="en-US" sz="2800" b="1" dirty="0" smtClean="0">
                <a:latin typeface="+mn-ea"/>
              </a:rPr>
              <a:t>双连字符“</a:t>
            </a:r>
            <a:r>
              <a:rPr lang="en-US" sz="2800" b="1" dirty="0" smtClean="0">
                <a:latin typeface="+mn-ea"/>
              </a:rPr>
              <a:t>--</a:t>
            </a:r>
            <a:r>
              <a:rPr lang="zh-CN" altLang="en-US" sz="2800" b="1" dirty="0" smtClean="0">
                <a:latin typeface="+mn-ea"/>
              </a:rPr>
              <a:t>”不能在注释中出现</a:t>
            </a:r>
            <a:endParaRPr lang="en-US" altLang="zh-CN" sz="2800" b="1" dirty="0" smtClean="0">
              <a:latin typeface="+mn-ea"/>
            </a:endParaRPr>
          </a:p>
          <a:p>
            <a:pPr>
              <a:defRPr/>
            </a:pPr>
            <a:r>
              <a:rPr lang="zh-CN" altLang="en-US" sz="2800" b="1" dirty="0" smtClean="0">
                <a:latin typeface="+mn-ea"/>
              </a:rPr>
              <a:t>注释不能以“</a:t>
            </a:r>
            <a:r>
              <a:rPr lang="en-US" sz="2800" b="1" dirty="0" smtClean="0">
                <a:latin typeface="+mn-ea"/>
              </a:rPr>
              <a:t>---&gt;</a:t>
            </a:r>
            <a:r>
              <a:rPr lang="zh-CN" altLang="en-US" sz="2800" b="1" dirty="0" smtClean="0">
                <a:latin typeface="+mn-ea"/>
              </a:rPr>
              <a:t>”终止</a:t>
            </a:r>
            <a:endParaRPr lang="en-US" altLang="zh-CN" sz="2800" b="1" dirty="0" smtClean="0">
              <a:latin typeface="+mn-ea"/>
            </a:endParaRPr>
          </a:p>
          <a:p>
            <a:endParaRPr lang="zh-CN" alt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2071670" y="404813"/>
            <a:ext cx="6529405" cy="863600"/>
          </a:xfrm>
        </p:spPr>
        <p:txBody>
          <a:bodyPr/>
          <a:lstStyle/>
          <a:p>
            <a:pPr marL="609600" indent="-609600">
              <a:defRPr/>
            </a:pPr>
            <a:r>
              <a:rPr lang="zh-CN" altLang="en-US" sz="3200" b="1" dirty="0" smtClean="0">
                <a:latin typeface="+mn-ea"/>
                <a:ea typeface="+mn-ea"/>
              </a:rPr>
              <a:t>良好格式（</a:t>
            </a:r>
            <a:r>
              <a:rPr lang="en-US" altLang="en-US" sz="3200" b="1" dirty="0" smtClean="0">
                <a:latin typeface="+mn-ea"/>
                <a:ea typeface="+mn-ea"/>
              </a:rPr>
              <a:t>Well-formed</a:t>
            </a:r>
            <a:r>
              <a:rPr lang="zh-CN" altLang="en-US" sz="3200" b="1" dirty="0" smtClean="0">
                <a:latin typeface="+mn-ea"/>
                <a:ea typeface="+mn-ea"/>
              </a:rPr>
              <a:t>）</a:t>
            </a:r>
          </a:p>
        </p:txBody>
      </p:sp>
      <p:sp>
        <p:nvSpPr>
          <p:cNvPr id="32771" name="Rectangle 3"/>
          <p:cNvSpPr>
            <a:spLocks noGrp="1" noChangeArrowheads="1"/>
          </p:cNvSpPr>
          <p:nvPr>
            <p:ph idx="1"/>
          </p:nvPr>
        </p:nvSpPr>
        <p:spPr/>
        <p:txBody>
          <a:bodyPr/>
          <a:lstStyle/>
          <a:p>
            <a:pPr lvl="0"/>
            <a:r>
              <a:rPr lang="en-US" sz="2800" b="1" dirty="0" smtClean="0">
                <a:latin typeface="+mn-ea"/>
              </a:rPr>
              <a:t>XML</a:t>
            </a:r>
            <a:r>
              <a:rPr lang="zh-CN" altLang="en-US" sz="2800" b="1" dirty="0" smtClean="0">
                <a:latin typeface="+mn-ea"/>
              </a:rPr>
              <a:t>文件的第一行必须是声明该文件是</a:t>
            </a:r>
            <a:r>
              <a:rPr lang="en-US" sz="2800" b="1" dirty="0" smtClean="0">
                <a:latin typeface="+mn-ea"/>
              </a:rPr>
              <a:t>XML</a:t>
            </a:r>
            <a:r>
              <a:rPr lang="zh-CN" altLang="en-US" sz="2800" b="1" dirty="0" smtClean="0">
                <a:latin typeface="+mn-ea"/>
              </a:rPr>
              <a:t>文件以及它所使用的</a:t>
            </a:r>
            <a:r>
              <a:rPr lang="en-US" sz="2800" b="1" dirty="0" smtClean="0">
                <a:latin typeface="+mn-ea"/>
              </a:rPr>
              <a:t>XML</a:t>
            </a:r>
            <a:r>
              <a:rPr lang="zh-CN" altLang="en-US" sz="2800" b="1" dirty="0" smtClean="0">
                <a:latin typeface="+mn-ea"/>
              </a:rPr>
              <a:t>规范版本</a:t>
            </a:r>
          </a:p>
          <a:p>
            <a:pPr lvl="0"/>
            <a:r>
              <a:rPr lang="zh-CN" altLang="en-US" sz="2800" b="1" dirty="0" smtClean="0">
                <a:latin typeface="+mn-ea"/>
              </a:rPr>
              <a:t>在</a:t>
            </a:r>
            <a:r>
              <a:rPr lang="en-US" sz="2800" b="1" dirty="0" smtClean="0">
                <a:latin typeface="+mn-ea"/>
              </a:rPr>
              <a:t>XML</a:t>
            </a:r>
            <a:r>
              <a:rPr lang="zh-CN" altLang="en-US" sz="2800" b="1" dirty="0" smtClean="0">
                <a:latin typeface="+mn-ea"/>
              </a:rPr>
              <a:t>文件中有且只能够有一个根元素</a:t>
            </a:r>
          </a:p>
          <a:p>
            <a:pPr lvl="0"/>
            <a:r>
              <a:rPr lang="zh-CN" altLang="en-US" sz="2800" b="1" dirty="0" smtClean="0">
                <a:latin typeface="+mn-ea"/>
              </a:rPr>
              <a:t>在</a:t>
            </a:r>
            <a:r>
              <a:rPr lang="en-US" sz="2800" b="1" dirty="0" smtClean="0">
                <a:latin typeface="+mn-ea"/>
              </a:rPr>
              <a:t>XML</a:t>
            </a:r>
            <a:r>
              <a:rPr lang="zh-CN" altLang="en-US" sz="2800" b="1" dirty="0" smtClean="0">
                <a:latin typeface="+mn-ea"/>
              </a:rPr>
              <a:t>文件中的标记必须正确地关闭</a:t>
            </a:r>
          </a:p>
          <a:p>
            <a:pPr lvl="0"/>
            <a:r>
              <a:rPr lang="en-US" sz="2800" b="1" dirty="0" err="1" smtClean="0">
                <a:latin typeface="+mn-ea"/>
              </a:rPr>
              <a:t>标记之间不得交叉</a:t>
            </a:r>
            <a:endParaRPr lang="zh-CN" altLang="en-US" sz="2800" b="1" dirty="0" smtClean="0">
              <a:latin typeface="+mn-ea"/>
            </a:endParaRPr>
          </a:p>
          <a:p>
            <a:pPr lvl="0"/>
            <a:r>
              <a:rPr lang="zh-CN" altLang="en-US" sz="2800" b="1" dirty="0" smtClean="0">
                <a:latin typeface="+mn-ea"/>
              </a:rPr>
              <a:t>属性值必须要用引号括起来</a:t>
            </a:r>
          </a:p>
          <a:p>
            <a:r>
              <a:rPr lang="zh-CN" altLang="en-US" sz="2800" b="1" dirty="0" smtClean="0">
                <a:latin typeface="+mn-ea"/>
              </a:rPr>
              <a:t>控制标记、指令和属性名称等英文要区分大小写</a:t>
            </a:r>
            <a:endParaRPr lang="zh-CN" altLang="en-US" sz="2600" b="1" dirty="0" smtClean="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 calcmode="lin" valueType="num">
                                      <p:cBhvr additive="base">
                                        <p:cTn id="7" dur="500" fill="hold"/>
                                        <p:tgtEl>
                                          <p:spTgt spid="327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77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2771">
                                            <p:txEl>
                                              <p:pRg st="1" end="1"/>
                                            </p:txEl>
                                          </p:spTgt>
                                        </p:tgtEl>
                                        <p:attrNameLst>
                                          <p:attrName>style.visibility</p:attrName>
                                        </p:attrNameLst>
                                      </p:cBhvr>
                                      <p:to>
                                        <p:strVal val="visible"/>
                                      </p:to>
                                    </p:set>
                                    <p:anim calcmode="lin" valueType="num">
                                      <p:cBhvr additive="base">
                                        <p:cTn id="13" dur="500" fill="hold"/>
                                        <p:tgtEl>
                                          <p:spTgt spid="3277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277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2771">
                                            <p:txEl>
                                              <p:pRg st="2" end="2"/>
                                            </p:txEl>
                                          </p:spTgt>
                                        </p:tgtEl>
                                        <p:attrNameLst>
                                          <p:attrName>style.visibility</p:attrName>
                                        </p:attrNameLst>
                                      </p:cBhvr>
                                      <p:to>
                                        <p:strVal val="visible"/>
                                      </p:to>
                                    </p:set>
                                    <p:anim calcmode="lin" valueType="num">
                                      <p:cBhvr additive="base">
                                        <p:cTn id="19" dur="500" fill="hold"/>
                                        <p:tgtEl>
                                          <p:spTgt spid="3277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277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2771">
                                            <p:txEl>
                                              <p:pRg st="3" end="3"/>
                                            </p:txEl>
                                          </p:spTgt>
                                        </p:tgtEl>
                                        <p:attrNameLst>
                                          <p:attrName>style.visibility</p:attrName>
                                        </p:attrNameLst>
                                      </p:cBhvr>
                                      <p:to>
                                        <p:strVal val="visible"/>
                                      </p:to>
                                    </p:set>
                                    <p:anim calcmode="lin" valueType="num">
                                      <p:cBhvr additive="base">
                                        <p:cTn id="25" dur="500" fill="hold"/>
                                        <p:tgtEl>
                                          <p:spTgt spid="3277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277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2771">
                                            <p:txEl>
                                              <p:pRg st="4" end="4"/>
                                            </p:txEl>
                                          </p:spTgt>
                                        </p:tgtEl>
                                        <p:attrNameLst>
                                          <p:attrName>style.visibility</p:attrName>
                                        </p:attrNameLst>
                                      </p:cBhvr>
                                      <p:to>
                                        <p:strVal val="visible"/>
                                      </p:to>
                                    </p:set>
                                    <p:anim calcmode="lin" valueType="num">
                                      <p:cBhvr additive="base">
                                        <p:cTn id="31" dur="500" fill="hold"/>
                                        <p:tgtEl>
                                          <p:spTgt spid="3277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277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2771">
                                            <p:txEl>
                                              <p:pRg st="5" end="5"/>
                                            </p:txEl>
                                          </p:spTgt>
                                        </p:tgtEl>
                                        <p:attrNameLst>
                                          <p:attrName>style.visibility</p:attrName>
                                        </p:attrNameLst>
                                      </p:cBhvr>
                                      <p:to>
                                        <p:strVal val="visible"/>
                                      </p:to>
                                    </p:set>
                                    <p:anim calcmode="lin" valueType="num">
                                      <p:cBhvr additive="base">
                                        <p:cTn id="37" dur="500" fill="hold"/>
                                        <p:tgtEl>
                                          <p:spTgt spid="32771">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277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sz="3200" b="1" dirty="0" smtClean="0">
                <a:latin typeface="+mj-ea"/>
              </a:rPr>
              <a:t>XML</a:t>
            </a:r>
            <a:r>
              <a:rPr lang="zh-CN" altLang="en-US" sz="3200" b="1" dirty="0" smtClean="0">
                <a:latin typeface="+mj-ea"/>
              </a:rPr>
              <a:t>名称空间</a:t>
            </a:r>
            <a:endParaRPr lang="zh-CN" altLang="en-US" sz="3200" dirty="0">
              <a:latin typeface="+mj-ea"/>
            </a:endParaRPr>
          </a:p>
        </p:txBody>
      </p:sp>
      <p:sp>
        <p:nvSpPr>
          <p:cNvPr id="3" name="内容占位符 2"/>
          <p:cNvSpPr>
            <a:spLocks noGrp="1"/>
          </p:cNvSpPr>
          <p:nvPr>
            <p:ph idx="1"/>
          </p:nvPr>
        </p:nvSpPr>
        <p:spPr/>
        <p:txBody>
          <a:bodyPr/>
          <a:lstStyle/>
          <a:p>
            <a:r>
              <a:rPr lang="zh-CN" altLang="en-US" sz="2800" b="1" dirty="0" smtClean="0">
                <a:latin typeface="+mn-ea"/>
              </a:rPr>
              <a:t>不同领域的</a:t>
            </a:r>
            <a:r>
              <a:rPr lang="en-US" sz="2800" b="1" dirty="0" smtClean="0">
                <a:latin typeface="+mn-ea"/>
              </a:rPr>
              <a:t>XML</a:t>
            </a:r>
            <a:r>
              <a:rPr lang="zh-CN" altLang="en-US" sz="2800" b="1" dirty="0" smtClean="0">
                <a:latin typeface="+mn-ea"/>
              </a:rPr>
              <a:t>语汇的识别问题</a:t>
            </a:r>
            <a:endParaRPr lang="en-US" altLang="zh-CN" sz="2800" b="1" dirty="0" smtClean="0">
              <a:latin typeface="+mn-ea"/>
            </a:endParaRPr>
          </a:p>
          <a:p>
            <a:r>
              <a:rPr lang="zh-CN" altLang="en-US" sz="2800" b="1" dirty="0" smtClean="0">
                <a:latin typeface="+mn-ea"/>
              </a:rPr>
              <a:t>类似属性的形式声明</a:t>
            </a:r>
            <a:endParaRPr lang="en-US" altLang="zh-CN" sz="2800" b="1" dirty="0" smtClean="0">
              <a:latin typeface="+mn-ea"/>
            </a:endParaRPr>
          </a:p>
          <a:p>
            <a:pPr lvl="1"/>
            <a:r>
              <a:rPr lang="en-US" sz="2400" b="1" dirty="0" err="1" smtClean="0">
                <a:latin typeface="+mn-ea"/>
              </a:rPr>
              <a:t>xmlns</a:t>
            </a:r>
            <a:r>
              <a:rPr lang="en-US" sz="2400" b="1" dirty="0" smtClean="0">
                <a:latin typeface="+mn-ea"/>
              </a:rPr>
              <a:t>: URI</a:t>
            </a:r>
          </a:p>
          <a:p>
            <a:pPr lvl="1"/>
            <a:r>
              <a:rPr lang="en-US" sz="2400" b="1" dirty="0" err="1" smtClean="0">
                <a:latin typeface="+mn-ea"/>
              </a:rPr>
              <a:t>xmlns:xx</a:t>
            </a:r>
            <a:r>
              <a:rPr lang="en-US" sz="2400" b="1" dirty="0" smtClean="0">
                <a:latin typeface="+mn-ea"/>
              </a:rPr>
              <a:t>(</a:t>
            </a:r>
            <a:r>
              <a:rPr lang="zh-CN" altLang="en-US" sz="2400" b="1" dirty="0" smtClean="0">
                <a:latin typeface="+mn-ea"/>
              </a:rPr>
              <a:t>前缀</a:t>
            </a:r>
            <a:r>
              <a:rPr lang="en-US" sz="2400" b="1" dirty="0" smtClean="0">
                <a:latin typeface="+mn-ea"/>
              </a:rPr>
              <a:t>) = </a:t>
            </a:r>
            <a:r>
              <a:rPr lang="zh-CN" altLang="en-US" sz="2400" b="1" dirty="0" smtClean="0">
                <a:latin typeface="+mn-ea"/>
              </a:rPr>
              <a:t>某</a:t>
            </a:r>
            <a:r>
              <a:rPr lang="en-US" sz="2400" b="1" dirty="0" smtClean="0">
                <a:latin typeface="+mn-ea"/>
              </a:rPr>
              <a:t>URI</a:t>
            </a:r>
          </a:p>
          <a:p>
            <a:pPr lvl="1"/>
            <a:r>
              <a:rPr lang="en-US" sz="2400" b="1" dirty="0" smtClean="0">
                <a:latin typeface="+mn-ea"/>
              </a:rPr>
              <a:t>URI</a:t>
            </a:r>
            <a:r>
              <a:rPr lang="zh-CN" altLang="en-US" sz="2400" b="1" dirty="0" smtClean="0">
                <a:latin typeface="+mn-ea"/>
              </a:rPr>
              <a:t>代表名称空间所属的领域</a:t>
            </a:r>
            <a:endParaRPr lang="en-US" altLang="zh-CN" sz="2400" b="1" dirty="0" smtClean="0">
              <a:latin typeface="+mn-ea"/>
            </a:endParaRPr>
          </a:p>
          <a:p>
            <a:r>
              <a:rPr lang="zh-CN" altLang="en-US" sz="2800" b="1" dirty="0" smtClean="0">
                <a:latin typeface="+mn-ea"/>
              </a:rPr>
              <a:t>名称空间的作用范围</a:t>
            </a:r>
            <a:endParaRPr lang="en-US" altLang="zh-CN" sz="2800" b="1" dirty="0" smtClean="0">
              <a:latin typeface="+mn-ea"/>
            </a:endParaRPr>
          </a:p>
          <a:p>
            <a:pPr lvl="1"/>
            <a:r>
              <a:rPr lang="zh-CN" altLang="zh-CN" sz="2400" b="1" dirty="0">
                <a:latin typeface="+mn-ea"/>
              </a:rPr>
              <a:t>名称空间的作用范围就是该元素以及该元素所包含的元素和属性</a:t>
            </a:r>
            <a:endParaRPr lang="en-US" altLang="zh-CN" sz="2400" b="1" dirty="0">
              <a:latin typeface="+mn-ea"/>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p:cNvSpPr>
            <a:spLocks noGrp="1" noChangeArrowheads="1"/>
          </p:cNvSpPr>
          <p:nvPr>
            <p:ph idx="1"/>
          </p:nvPr>
        </p:nvSpPr>
        <p:spPr>
          <a:xfrm>
            <a:off x="2285984" y="500063"/>
            <a:ext cx="5702316" cy="5759450"/>
          </a:xfrm>
        </p:spPr>
        <p:txBody>
          <a:bodyPr>
            <a:normAutofit lnSpcReduction="10000"/>
          </a:bodyPr>
          <a:lstStyle/>
          <a:p>
            <a:pPr marL="609600" indent="-609600">
              <a:buFontTx/>
              <a:buAutoNum type="arabicPeriod"/>
            </a:pPr>
            <a:r>
              <a:rPr lang="en-US" altLang="zh-CN" sz="3600" b="1" dirty="0" smtClean="0"/>
              <a:t>XML</a:t>
            </a:r>
            <a:r>
              <a:rPr lang="zh-CN" altLang="en-US" sz="3600" b="1" dirty="0" smtClean="0"/>
              <a:t>概述</a:t>
            </a:r>
          </a:p>
          <a:p>
            <a:pPr marL="609600" indent="-609600">
              <a:buFontTx/>
              <a:buAutoNum type="arabicPeriod"/>
            </a:pPr>
            <a:endParaRPr lang="zh-CN" altLang="en-US" sz="3600" b="1" dirty="0" smtClean="0">
              <a:solidFill>
                <a:srgbClr val="FF0000"/>
              </a:solidFill>
            </a:endParaRPr>
          </a:p>
          <a:p>
            <a:pPr marL="609600" indent="-609600">
              <a:buFontTx/>
              <a:buAutoNum type="arabicPeriod"/>
            </a:pPr>
            <a:r>
              <a:rPr lang="en-US" altLang="zh-CN" sz="3600" b="1" dirty="0" smtClean="0"/>
              <a:t>XML</a:t>
            </a:r>
            <a:r>
              <a:rPr lang="zh-CN" altLang="en-US" sz="3600" b="1" dirty="0" smtClean="0"/>
              <a:t>语法</a:t>
            </a:r>
          </a:p>
          <a:p>
            <a:pPr marL="609600" indent="-609600">
              <a:buFontTx/>
              <a:buAutoNum type="arabicPeriod"/>
            </a:pPr>
            <a:endParaRPr lang="zh-CN" altLang="en-US" sz="3600" b="1" dirty="0" smtClean="0"/>
          </a:p>
          <a:p>
            <a:pPr marL="609600" indent="-609600">
              <a:buFontTx/>
              <a:buAutoNum type="arabicPeriod"/>
            </a:pPr>
            <a:r>
              <a:rPr lang="en-US" altLang="zh-CN" sz="3600" b="1" dirty="0" smtClean="0">
                <a:solidFill>
                  <a:srgbClr val="FF0000"/>
                </a:solidFill>
              </a:rPr>
              <a:t>DTD</a:t>
            </a:r>
            <a:r>
              <a:rPr lang="zh-CN" altLang="en-US" sz="3600" b="1" dirty="0" smtClean="0">
                <a:solidFill>
                  <a:srgbClr val="FF0000"/>
                </a:solidFill>
              </a:rPr>
              <a:t>与</a:t>
            </a:r>
            <a:r>
              <a:rPr lang="en-US" altLang="zh-CN" sz="3600" b="1" dirty="0" smtClean="0">
                <a:solidFill>
                  <a:srgbClr val="FF0000"/>
                </a:solidFill>
              </a:rPr>
              <a:t>Scheme</a:t>
            </a:r>
          </a:p>
          <a:p>
            <a:pPr marL="609600" indent="-609600">
              <a:buFontTx/>
              <a:buAutoNum type="arabicPeriod"/>
            </a:pPr>
            <a:endParaRPr lang="en-US" altLang="zh-CN" sz="3600" b="1" dirty="0" smtClean="0"/>
          </a:p>
          <a:p>
            <a:pPr marL="609600" indent="-609600">
              <a:buFontTx/>
              <a:buAutoNum type="arabicPeriod"/>
            </a:pPr>
            <a:r>
              <a:rPr lang="en-US" altLang="zh-CN" sz="3600" b="1" dirty="0" smtClean="0"/>
              <a:t>XSL</a:t>
            </a:r>
            <a:r>
              <a:rPr lang="zh-CN" altLang="en-US" sz="3600" b="1" dirty="0" smtClean="0"/>
              <a:t>，</a:t>
            </a:r>
            <a:r>
              <a:rPr lang="en-US" altLang="zh-CN" sz="3600" b="1" dirty="0" smtClean="0"/>
              <a:t>XSLT and </a:t>
            </a:r>
            <a:r>
              <a:rPr lang="en-US" altLang="zh-CN" sz="3600" b="1" dirty="0" err="1" smtClean="0"/>
              <a:t>XPath</a:t>
            </a:r>
            <a:endParaRPr lang="en-US" altLang="zh-CN" sz="3600" b="1" dirty="0" smtClean="0"/>
          </a:p>
          <a:p>
            <a:pPr marL="609600" indent="-609600">
              <a:buFontTx/>
              <a:buAutoNum type="arabicPeriod"/>
            </a:pPr>
            <a:endParaRPr lang="zh-CN" altLang="en-US" sz="3600" b="1" dirty="0" smtClean="0"/>
          </a:p>
          <a:p>
            <a:pPr marL="609600" indent="-609600">
              <a:buFontTx/>
              <a:buAutoNum type="arabicPeriod"/>
            </a:pPr>
            <a:r>
              <a:rPr lang="en-US" altLang="zh-CN" sz="3600" b="1" dirty="0" smtClean="0"/>
              <a:t>XML</a:t>
            </a:r>
            <a:r>
              <a:rPr lang="zh-CN" altLang="en-US" sz="3600" b="1" dirty="0" smtClean="0"/>
              <a:t>解析</a:t>
            </a:r>
            <a:endParaRPr lang="en-US" altLang="zh-CN" sz="3600" b="1" dirty="0" smtClean="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714480" y="304800"/>
            <a:ext cx="7215208" cy="1143000"/>
          </a:xfrm>
        </p:spPr>
        <p:txBody>
          <a:bodyPr/>
          <a:lstStyle/>
          <a:p>
            <a:pPr marL="609600" indent="-609600">
              <a:defRPr/>
            </a:pPr>
            <a:r>
              <a:rPr lang="en-US" altLang="zh-CN" sz="3200" b="1" dirty="0" smtClean="0">
                <a:latin typeface="+mj-ea"/>
              </a:rPr>
              <a:t>DTD</a:t>
            </a:r>
            <a:r>
              <a:rPr lang="en-US" sz="3200" b="1" dirty="0" smtClean="0">
                <a:latin typeface="+mj-ea"/>
              </a:rPr>
              <a:t>(Document Type Definition)</a:t>
            </a:r>
            <a:endParaRPr lang="zh-CN" altLang="en-US" sz="3200" b="1" dirty="0">
              <a:latin typeface="+mj-ea"/>
            </a:endParaRPr>
          </a:p>
        </p:txBody>
      </p:sp>
      <p:sp>
        <p:nvSpPr>
          <p:cNvPr id="14339" name="Rectangle 3"/>
          <p:cNvSpPr>
            <a:spLocks noGrp="1" noChangeArrowheads="1"/>
          </p:cNvSpPr>
          <p:nvPr>
            <p:ph idx="1"/>
          </p:nvPr>
        </p:nvSpPr>
        <p:spPr>
          <a:xfrm>
            <a:off x="1857356" y="1571625"/>
            <a:ext cx="7000894" cy="4929188"/>
          </a:xfrm>
        </p:spPr>
        <p:txBody>
          <a:bodyPr/>
          <a:lstStyle/>
          <a:p>
            <a:pPr>
              <a:defRPr/>
            </a:pPr>
            <a:r>
              <a:rPr lang="zh-CN" sz="2800" b="1" dirty="0" smtClean="0">
                <a:latin typeface="+mn-ea"/>
              </a:rPr>
              <a:t>一套关于标记符的语法规则</a:t>
            </a:r>
            <a:r>
              <a:rPr lang="zh-CN" altLang="en-US" sz="2800" b="1" dirty="0" smtClean="0">
                <a:latin typeface="+mn-ea"/>
              </a:rPr>
              <a:t>，</a:t>
            </a:r>
            <a:r>
              <a:rPr lang="en-US" sz="2800" b="1" dirty="0" smtClean="0">
                <a:latin typeface="+mn-ea"/>
              </a:rPr>
              <a:t>XML1.0</a:t>
            </a:r>
            <a:r>
              <a:rPr lang="zh-CN" sz="2800" b="1" dirty="0" smtClean="0">
                <a:latin typeface="+mn-ea"/>
              </a:rPr>
              <a:t>版标准</a:t>
            </a:r>
            <a:r>
              <a:rPr lang="zh-CN" altLang="en-US" sz="2800" b="1" dirty="0" smtClean="0">
                <a:latin typeface="+mn-ea"/>
              </a:rPr>
              <a:t>中</a:t>
            </a:r>
            <a:r>
              <a:rPr lang="en-US" sz="2800" b="1" dirty="0" smtClean="0">
                <a:latin typeface="+mn-ea"/>
              </a:rPr>
              <a:t>XML</a:t>
            </a:r>
            <a:r>
              <a:rPr lang="zh-CN" sz="2800" b="1" dirty="0" smtClean="0">
                <a:latin typeface="+mn-ea"/>
              </a:rPr>
              <a:t>文件的验证机制</a:t>
            </a:r>
            <a:r>
              <a:rPr lang="zh-CN" altLang="en-US" sz="2800" b="1" dirty="0" smtClean="0">
                <a:latin typeface="+mn-ea"/>
              </a:rPr>
              <a:t>，</a:t>
            </a:r>
            <a:r>
              <a:rPr lang="zh-CN" sz="2800" b="1" dirty="0" smtClean="0">
                <a:latin typeface="+mn-ea"/>
              </a:rPr>
              <a:t>属于</a:t>
            </a:r>
            <a:r>
              <a:rPr lang="en-US" sz="2800" b="1" dirty="0" smtClean="0">
                <a:latin typeface="+mn-ea"/>
              </a:rPr>
              <a:t>XML</a:t>
            </a:r>
            <a:r>
              <a:rPr lang="zh-CN" sz="2800" b="1" dirty="0" smtClean="0">
                <a:latin typeface="+mn-ea"/>
              </a:rPr>
              <a:t>文件组成的一部分</a:t>
            </a:r>
            <a:endParaRPr lang="en-US" altLang="zh-CN" sz="2800" b="1" dirty="0" smtClean="0">
              <a:latin typeface="+mn-ea"/>
            </a:endParaRPr>
          </a:p>
          <a:p>
            <a:pPr>
              <a:defRPr/>
            </a:pPr>
            <a:r>
              <a:rPr lang="zh-CN" sz="2800" b="1" dirty="0" smtClean="0">
                <a:latin typeface="+mn-ea"/>
              </a:rPr>
              <a:t>一种保证</a:t>
            </a:r>
            <a:r>
              <a:rPr lang="en-US" sz="2800" b="1" dirty="0" smtClean="0">
                <a:latin typeface="+mn-ea"/>
              </a:rPr>
              <a:t>XML</a:t>
            </a:r>
            <a:r>
              <a:rPr lang="zh-CN" sz="2800" b="1" dirty="0" smtClean="0">
                <a:latin typeface="+mn-ea"/>
              </a:rPr>
              <a:t>文档格式正确的有效方法，可以通过比较</a:t>
            </a:r>
            <a:r>
              <a:rPr lang="en-US" sz="2800" b="1" dirty="0" smtClean="0">
                <a:latin typeface="+mn-ea"/>
              </a:rPr>
              <a:t>XML</a:t>
            </a:r>
            <a:r>
              <a:rPr lang="zh-CN" sz="2800" b="1" dirty="0" smtClean="0">
                <a:latin typeface="+mn-ea"/>
              </a:rPr>
              <a:t>文档和</a:t>
            </a:r>
            <a:r>
              <a:rPr lang="en-US" sz="2800" b="1" dirty="0" smtClean="0">
                <a:latin typeface="+mn-ea"/>
              </a:rPr>
              <a:t>DTD</a:t>
            </a:r>
            <a:r>
              <a:rPr lang="zh-CN" sz="2800" b="1" dirty="0" smtClean="0">
                <a:latin typeface="+mn-ea"/>
              </a:rPr>
              <a:t>文件来看文档是否符合规范，元素和标签使用是否正确</a:t>
            </a:r>
            <a:endParaRPr lang="en-US" altLang="zh-CN" sz="2800" b="1" dirty="0" smtClean="0">
              <a:latin typeface="+mn-ea"/>
            </a:endParaRPr>
          </a:p>
          <a:p>
            <a:pPr>
              <a:defRPr/>
            </a:pPr>
            <a:r>
              <a:rPr lang="zh-CN" altLang="en-US" sz="2800" b="1" dirty="0" smtClean="0">
                <a:latin typeface="+mn-ea"/>
              </a:rPr>
              <a:t>想使用</a:t>
            </a:r>
            <a:r>
              <a:rPr lang="en-US" altLang="zh-CN" sz="2800" b="1" dirty="0" smtClean="0">
                <a:latin typeface="+mn-ea"/>
              </a:rPr>
              <a:t>XML</a:t>
            </a:r>
            <a:r>
              <a:rPr lang="zh-CN" altLang="en-US" sz="2800" b="1" dirty="0" smtClean="0">
                <a:latin typeface="+mn-ea"/>
              </a:rPr>
              <a:t>进行数据交换的行业或组织可定义自己的</a:t>
            </a:r>
            <a:r>
              <a:rPr lang="en-US" altLang="zh-CN" sz="2800" b="1" dirty="0" smtClean="0">
                <a:latin typeface="+mn-ea"/>
              </a:rPr>
              <a:t>DTD</a:t>
            </a:r>
          </a:p>
          <a:p>
            <a:pPr>
              <a:defRPr/>
            </a:pPr>
            <a:r>
              <a:rPr lang="en-US" sz="2800" b="1" dirty="0" smtClean="0">
                <a:latin typeface="+mn-ea"/>
              </a:rPr>
              <a:t>DTD</a:t>
            </a:r>
            <a:r>
              <a:rPr lang="zh-CN" sz="2800" b="1" dirty="0" smtClean="0">
                <a:latin typeface="+mn-ea"/>
              </a:rPr>
              <a:t>文件是</a:t>
            </a:r>
            <a:r>
              <a:rPr lang="en-US" sz="2800" b="1" dirty="0" smtClean="0">
                <a:latin typeface="+mn-ea"/>
              </a:rPr>
              <a:t>ASCII</a:t>
            </a:r>
            <a:r>
              <a:rPr lang="zh-CN" sz="2800" b="1" dirty="0" smtClean="0">
                <a:latin typeface="+mn-ea"/>
              </a:rPr>
              <a:t>文本文件，后缀名为</a:t>
            </a:r>
            <a:r>
              <a:rPr lang="en-US" sz="2800" b="1" dirty="0" smtClean="0">
                <a:latin typeface="+mn-ea"/>
              </a:rPr>
              <a:t>.</a:t>
            </a:r>
            <a:r>
              <a:rPr lang="en-US" sz="2800" b="1" dirty="0" err="1" smtClean="0">
                <a:latin typeface="+mn-ea"/>
              </a:rPr>
              <a:t>dtd</a:t>
            </a:r>
            <a:endParaRPr lang="en-US" altLang="zh-CN" sz="2800" b="1" dirty="0" smtClean="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Effect transition="in" filter="blinds(horizontal)">
                                      <p:cBhvr>
                                        <p:cTn id="7" dur="500"/>
                                        <p:tgtEl>
                                          <p:spTgt spid="143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4339">
                                            <p:txEl>
                                              <p:pRg st="1" end="1"/>
                                            </p:txEl>
                                          </p:spTgt>
                                        </p:tgtEl>
                                        <p:attrNameLst>
                                          <p:attrName>style.visibility</p:attrName>
                                        </p:attrNameLst>
                                      </p:cBhvr>
                                      <p:to>
                                        <p:strVal val="visible"/>
                                      </p:to>
                                    </p:set>
                                    <p:animEffect transition="in" filter="box(in)">
                                      <p:cBhvr>
                                        <p:cTn id="12" dur="500"/>
                                        <p:tgtEl>
                                          <p:spTgt spid="143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4339">
                                            <p:txEl>
                                              <p:pRg st="2" end="2"/>
                                            </p:txEl>
                                          </p:spTgt>
                                        </p:tgtEl>
                                        <p:attrNameLst>
                                          <p:attrName>style.visibility</p:attrName>
                                        </p:attrNameLst>
                                      </p:cBhvr>
                                      <p:to>
                                        <p:strVal val="visible"/>
                                      </p:to>
                                    </p:set>
                                    <p:animEffect transition="in" filter="checkerboard(across)">
                                      <p:cBhvr>
                                        <p:cTn id="17" dur="500"/>
                                        <p:tgtEl>
                                          <p:spTgt spid="143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4339">
                                            <p:txEl>
                                              <p:pRg st="3" end="3"/>
                                            </p:txEl>
                                          </p:spTgt>
                                        </p:tgtEl>
                                        <p:attrNameLst>
                                          <p:attrName>style.visibility</p:attrName>
                                        </p:attrNameLst>
                                      </p:cBhvr>
                                      <p:to>
                                        <p:strVal val="visible"/>
                                      </p:to>
                                    </p:set>
                                    <p:anim calcmode="lin" valueType="num">
                                      <p:cBhvr additive="base">
                                        <p:cTn id="22" dur="500" fill="hold"/>
                                        <p:tgtEl>
                                          <p:spTgt spid="14339">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433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28794" y="285750"/>
            <a:ext cx="6300806" cy="833438"/>
          </a:xfrm>
        </p:spPr>
        <p:txBody>
          <a:bodyPr/>
          <a:lstStyle/>
          <a:p>
            <a:pPr marL="609600" indent="-609600">
              <a:defRPr/>
            </a:pPr>
            <a:r>
              <a:rPr lang="zh-CN" altLang="en-US" sz="3200" b="1" dirty="0" smtClean="0">
                <a:latin typeface="+mj-ea"/>
              </a:rPr>
              <a:t>内部</a:t>
            </a:r>
            <a:r>
              <a:rPr lang="en-US" altLang="zh-CN" sz="3200" b="1" dirty="0" smtClean="0">
                <a:latin typeface="+mj-ea"/>
              </a:rPr>
              <a:t>DTD</a:t>
            </a:r>
            <a:r>
              <a:rPr lang="zh-CN" altLang="en-US" sz="3200" b="1" dirty="0" smtClean="0">
                <a:latin typeface="+mj-ea"/>
              </a:rPr>
              <a:t>示例</a:t>
            </a:r>
            <a:endParaRPr lang="zh-CN" altLang="en-US" sz="3200" b="1" dirty="0">
              <a:latin typeface="+mj-ea"/>
            </a:endParaRPr>
          </a:p>
        </p:txBody>
      </p:sp>
      <p:sp>
        <p:nvSpPr>
          <p:cNvPr id="3" name="内容占位符 2"/>
          <p:cNvSpPr>
            <a:spLocks noGrp="1"/>
          </p:cNvSpPr>
          <p:nvPr>
            <p:ph idx="1"/>
          </p:nvPr>
        </p:nvSpPr>
        <p:spPr>
          <a:xfrm>
            <a:off x="1785946" y="1357313"/>
            <a:ext cx="7500962" cy="5000625"/>
          </a:xfrm>
        </p:spPr>
        <p:txBody>
          <a:bodyPr>
            <a:normAutofit fontScale="70000" lnSpcReduction="20000"/>
          </a:bodyPr>
          <a:lstStyle/>
          <a:p>
            <a:pPr>
              <a:buFontTx/>
              <a:buNone/>
              <a:defRPr/>
            </a:pPr>
            <a:r>
              <a:rPr lang="zh-CN" altLang="en-US" sz="2400" b="1" dirty="0" smtClean="0">
                <a:latin typeface="+mn-ea"/>
              </a:rPr>
              <a:t>＜</a:t>
            </a:r>
            <a:r>
              <a:rPr lang="en-US" altLang="zh-CN" sz="2400" b="1" dirty="0" smtClean="0">
                <a:latin typeface="+mn-ea"/>
              </a:rPr>
              <a:t>?xml version</a:t>
            </a:r>
            <a:r>
              <a:rPr lang="zh-CN" altLang="en-US" sz="2400" b="1" dirty="0" smtClean="0">
                <a:latin typeface="+mn-ea"/>
              </a:rPr>
              <a:t>＝“</a:t>
            </a:r>
            <a:r>
              <a:rPr lang="en-US" altLang="zh-CN" sz="2400" b="1" dirty="0" smtClean="0">
                <a:latin typeface="+mn-ea"/>
              </a:rPr>
              <a:t>1</a:t>
            </a:r>
            <a:r>
              <a:rPr lang="zh-CN" altLang="en-US" sz="2400" b="1" dirty="0" smtClean="0">
                <a:latin typeface="+mn-ea"/>
              </a:rPr>
              <a:t>．</a:t>
            </a:r>
            <a:r>
              <a:rPr lang="en-US" altLang="zh-CN" sz="2400" b="1" dirty="0" smtClean="0">
                <a:latin typeface="+mn-ea"/>
              </a:rPr>
              <a:t>0”encoding</a:t>
            </a:r>
            <a:r>
              <a:rPr lang="zh-CN" altLang="en-US" sz="2400" b="1" dirty="0" smtClean="0">
                <a:latin typeface="+mn-ea"/>
              </a:rPr>
              <a:t>＝”</a:t>
            </a:r>
            <a:r>
              <a:rPr lang="en-US" altLang="zh-CN" sz="2400" b="1" dirty="0" smtClean="0">
                <a:latin typeface="+mn-ea"/>
              </a:rPr>
              <a:t>GB2312”</a:t>
            </a:r>
            <a:r>
              <a:rPr lang="zh-CN" altLang="en-US" sz="2400" b="1" dirty="0" smtClean="0">
                <a:latin typeface="+mn-ea"/>
              </a:rPr>
              <a:t>，</a:t>
            </a:r>
            <a:r>
              <a:rPr lang="en-US" altLang="zh-CN" sz="2400" b="1" dirty="0" smtClean="0">
                <a:latin typeface="+mn-ea"/>
              </a:rPr>
              <a:t>standalone</a:t>
            </a:r>
            <a:r>
              <a:rPr lang="zh-CN" altLang="en-US" sz="2400" b="1" dirty="0" smtClean="0">
                <a:latin typeface="+mn-ea"/>
              </a:rPr>
              <a:t>＝“</a:t>
            </a:r>
            <a:r>
              <a:rPr lang="en-US" altLang="zh-CN" sz="2400" b="1" dirty="0" smtClean="0">
                <a:latin typeface="+mn-ea"/>
              </a:rPr>
              <a:t>yes”</a:t>
            </a:r>
            <a:r>
              <a:rPr lang="zh-CN" altLang="en-US" sz="2400" b="1" dirty="0" smtClean="0">
                <a:latin typeface="+mn-ea"/>
              </a:rPr>
              <a:t>＞</a:t>
            </a:r>
          </a:p>
          <a:p>
            <a:pPr>
              <a:lnSpc>
                <a:spcPct val="90000"/>
              </a:lnSpc>
              <a:buFontTx/>
              <a:buNone/>
              <a:defRPr/>
            </a:pPr>
            <a:r>
              <a:rPr lang="zh-CN" altLang="en-US" sz="2400" b="1" dirty="0" smtClean="0">
                <a:latin typeface="+mn-ea"/>
              </a:rPr>
              <a:t>＜</a:t>
            </a:r>
            <a:r>
              <a:rPr lang="en-US" altLang="zh-CN" sz="2400" b="1" dirty="0" smtClean="0">
                <a:latin typeface="+mn-ea"/>
              </a:rPr>
              <a:t>!DOCTYPE</a:t>
            </a:r>
            <a:r>
              <a:rPr lang="zh-CN" altLang="en-US" sz="2400" b="1" dirty="0" smtClean="0">
                <a:latin typeface="+mn-ea"/>
              </a:rPr>
              <a:t>联系人列表</a:t>
            </a:r>
            <a:r>
              <a:rPr lang="en-US" altLang="zh-CN" sz="2400" b="1" dirty="0" smtClean="0">
                <a:latin typeface="+mn-ea"/>
              </a:rPr>
              <a:t>[</a:t>
            </a:r>
          </a:p>
          <a:p>
            <a:pPr>
              <a:lnSpc>
                <a:spcPct val="90000"/>
              </a:lnSpc>
              <a:buFontTx/>
              <a:buNone/>
              <a:defRPr/>
            </a:pPr>
            <a:r>
              <a:rPr lang="en-US" altLang="zh-CN" sz="2400" b="1" dirty="0" smtClean="0">
                <a:latin typeface="+mn-ea"/>
              </a:rPr>
              <a:t>    </a:t>
            </a:r>
            <a:r>
              <a:rPr lang="zh-CN" altLang="en-US" sz="2400" b="1" dirty="0" smtClean="0">
                <a:latin typeface="+mn-ea"/>
              </a:rPr>
              <a:t>＜</a:t>
            </a:r>
            <a:r>
              <a:rPr lang="en-US" altLang="zh-CN" sz="2400" b="1" dirty="0" smtClean="0">
                <a:latin typeface="+mn-ea"/>
              </a:rPr>
              <a:t>!ELEMENT </a:t>
            </a:r>
            <a:r>
              <a:rPr lang="zh-CN" altLang="en-US" sz="2400" b="1" dirty="0" smtClean="0">
                <a:latin typeface="+mn-ea"/>
              </a:rPr>
              <a:t>联系人列表</a:t>
            </a:r>
            <a:r>
              <a:rPr lang="en-US" altLang="zh-CN" sz="2400" b="1" dirty="0" smtClean="0">
                <a:latin typeface="+mn-ea"/>
              </a:rPr>
              <a:t>(</a:t>
            </a:r>
            <a:r>
              <a:rPr lang="zh-CN" altLang="en-US" sz="2400" b="1" dirty="0" smtClean="0">
                <a:latin typeface="+mn-ea"/>
              </a:rPr>
              <a:t>联系人</a:t>
            </a:r>
            <a:r>
              <a:rPr lang="en-US" altLang="zh-CN" sz="2400" b="1" dirty="0" smtClean="0">
                <a:latin typeface="+mn-ea"/>
              </a:rPr>
              <a:t>)*</a:t>
            </a:r>
            <a:r>
              <a:rPr lang="zh-CN" altLang="en-US" sz="2400" b="1" dirty="0" smtClean="0">
                <a:latin typeface="+mn-ea"/>
              </a:rPr>
              <a:t>＞</a:t>
            </a:r>
          </a:p>
          <a:p>
            <a:pPr>
              <a:lnSpc>
                <a:spcPct val="90000"/>
              </a:lnSpc>
              <a:buFontTx/>
              <a:buNone/>
              <a:defRPr/>
            </a:pPr>
            <a:r>
              <a:rPr lang="zh-CN" altLang="en-US" sz="2400" b="1" dirty="0" smtClean="0">
                <a:latin typeface="+mn-ea"/>
              </a:rPr>
              <a:t>    ＜</a:t>
            </a:r>
            <a:r>
              <a:rPr lang="en-US" altLang="zh-CN" sz="2400" b="1" dirty="0" smtClean="0">
                <a:latin typeface="+mn-ea"/>
              </a:rPr>
              <a:t>!ELEMENT </a:t>
            </a:r>
            <a:r>
              <a:rPr lang="zh-CN" altLang="en-US" sz="2400" b="1" dirty="0" smtClean="0">
                <a:latin typeface="+mn-ea"/>
              </a:rPr>
              <a:t>联系人</a:t>
            </a:r>
            <a:r>
              <a:rPr lang="en-US" altLang="zh-CN" sz="2400" b="1" dirty="0" smtClean="0">
                <a:latin typeface="+mn-ea"/>
              </a:rPr>
              <a:t>(</a:t>
            </a:r>
            <a:r>
              <a:rPr lang="zh-CN" altLang="en-US" sz="2400" b="1" dirty="0" smtClean="0">
                <a:latin typeface="+mn-ea"/>
              </a:rPr>
              <a:t>姓名，</a:t>
            </a:r>
            <a:r>
              <a:rPr lang="en-US" altLang="zh-CN" sz="2400" b="1" dirty="0" smtClean="0">
                <a:latin typeface="+mn-ea"/>
              </a:rPr>
              <a:t>ID</a:t>
            </a:r>
            <a:r>
              <a:rPr lang="zh-CN" altLang="en-US" sz="2400" b="1" dirty="0" smtClean="0">
                <a:latin typeface="+mn-ea"/>
              </a:rPr>
              <a:t>，公司，</a:t>
            </a:r>
            <a:r>
              <a:rPr lang="en-US" altLang="zh-CN" sz="2400" b="1" dirty="0" smtClean="0">
                <a:latin typeface="+mn-ea"/>
              </a:rPr>
              <a:t>EMAIL</a:t>
            </a:r>
            <a:r>
              <a:rPr lang="zh-CN" altLang="en-US" sz="2400" b="1" dirty="0" smtClean="0">
                <a:latin typeface="+mn-ea"/>
              </a:rPr>
              <a:t>，电话</a:t>
            </a:r>
            <a:r>
              <a:rPr lang="en-US" altLang="zh-CN" sz="2400" b="1" dirty="0" smtClean="0">
                <a:latin typeface="+mn-ea"/>
              </a:rPr>
              <a:t>)</a:t>
            </a:r>
            <a:r>
              <a:rPr lang="zh-CN" altLang="en-US" sz="2400" b="1" dirty="0" smtClean="0">
                <a:latin typeface="+mn-ea"/>
              </a:rPr>
              <a:t>＞</a:t>
            </a:r>
          </a:p>
          <a:p>
            <a:pPr>
              <a:lnSpc>
                <a:spcPct val="90000"/>
              </a:lnSpc>
              <a:buFontTx/>
              <a:buNone/>
              <a:defRPr/>
            </a:pPr>
            <a:r>
              <a:rPr lang="zh-CN" altLang="en-US" sz="2400" b="1" dirty="0" smtClean="0">
                <a:latin typeface="+mn-ea"/>
              </a:rPr>
              <a:t>    ＜</a:t>
            </a:r>
            <a:r>
              <a:rPr lang="en-US" altLang="zh-CN" sz="2400" b="1" dirty="0" smtClean="0">
                <a:latin typeface="+mn-ea"/>
              </a:rPr>
              <a:t>!ELEMENT </a:t>
            </a:r>
            <a:r>
              <a:rPr lang="zh-CN" altLang="en-US" sz="2400" b="1" dirty="0" smtClean="0">
                <a:latin typeface="+mn-ea"/>
              </a:rPr>
              <a:t>姓名</a:t>
            </a:r>
            <a:r>
              <a:rPr lang="en-US" altLang="zh-CN" sz="2400" b="1" dirty="0" smtClean="0">
                <a:latin typeface="+mn-ea"/>
              </a:rPr>
              <a:t>(#PCDATA)</a:t>
            </a:r>
            <a:r>
              <a:rPr lang="zh-CN" altLang="en-US" sz="2400" b="1" dirty="0" smtClean="0">
                <a:latin typeface="+mn-ea"/>
              </a:rPr>
              <a:t>＞</a:t>
            </a:r>
          </a:p>
          <a:p>
            <a:pPr>
              <a:lnSpc>
                <a:spcPct val="90000"/>
              </a:lnSpc>
              <a:buFontTx/>
              <a:buNone/>
              <a:defRPr/>
            </a:pPr>
            <a:r>
              <a:rPr lang="zh-CN" altLang="en-US" sz="2400" b="1" dirty="0" smtClean="0">
                <a:latin typeface="+mn-ea"/>
              </a:rPr>
              <a:t>  </a:t>
            </a:r>
            <a:r>
              <a:rPr lang="en-US" altLang="zh-CN" sz="2400" b="1" dirty="0" smtClean="0">
                <a:latin typeface="+mn-ea"/>
              </a:rPr>
              <a:t>  </a:t>
            </a:r>
            <a:r>
              <a:rPr lang="zh-CN" altLang="en-US" sz="2400" b="1" dirty="0" smtClean="0">
                <a:latin typeface="+mn-ea"/>
              </a:rPr>
              <a:t>＜</a:t>
            </a:r>
            <a:r>
              <a:rPr lang="en-US" altLang="zh-CN" sz="2400" b="1" dirty="0" smtClean="0">
                <a:latin typeface="+mn-ea"/>
              </a:rPr>
              <a:t>!ELEMENT ID(#PCDATA)</a:t>
            </a:r>
            <a:r>
              <a:rPr lang="zh-CN" altLang="en-US" sz="2400" b="1" dirty="0" smtClean="0">
                <a:latin typeface="+mn-ea"/>
              </a:rPr>
              <a:t>＞</a:t>
            </a:r>
            <a:endParaRPr lang="en-US" altLang="zh-CN" sz="2400" b="1" dirty="0" smtClean="0">
              <a:latin typeface="+mn-ea"/>
            </a:endParaRPr>
          </a:p>
          <a:p>
            <a:pPr>
              <a:lnSpc>
                <a:spcPct val="90000"/>
              </a:lnSpc>
              <a:buFontTx/>
              <a:buNone/>
            </a:pPr>
            <a:r>
              <a:rPr lang="zh-CN" altLang="en-US" sz="2400" b="1" dirty="0" smtClean="0">
                <a:latin typeface="宋体" charset="-122"/>
              </a:rPr>
              <a:t> ＜</a:t>
            </a:r>
            <a:r>
              <a:rPr lang="en-US" altLang="zh-CN" sz="2400" b="1" dirty="0" smtClean="0">
                <a:latin typeface="宋体" charset="-122"/>
              </a:rPr>
              <a:t>!ELEMENT </a:t>
            </a:r>
            <a:r>
              <a:rPr lang="zh-CN" altLang="en-US" sz="2400" b="1" dirty="0" smtClean="0">
                <a:latin typeface="宋体" charset="-122"/>
              </a:rPr>
              <a:t>公司</a:t>
            </a:r>
            <a:r>
              <a:rPr lang="en-US" altLang="zh-CN" sz="2400" b="1" dirty="0" smtClean="0">
                <a:latin typeface="宋体" charset="-122"/>
              </a:rPr>
              <a:t>(#PCDATA)</a:t>
            </a:r>
            <a:r>
              <a:rPr lang="zh-CN" altLang="en-US" sz="2400" b="1" dirty="0" smtClean="0">
                <a:latin typeface="宋体" charset="-122"/>
              </a:rPr>
              <a:t>＞</a:t>
            </a:r>
          </a:p>
          <a:p>
            <a:pPr>
              <a:lnSpc>
                <a:spcPct val="90000"/>
              </a:lnSpc>
              <a:buFontTx/>
              <a:buNone/>
            </a:pPr>
            <a:r>
              <a:rPr lang="zh-CN" altLang="en-US" sz="2400" b="1" dirty="0" smtClean="0">
                <a:latin typeface="宋体" charset="-122"/>
              </a:rPr>
              <a:t>    ＜</a:t>
            </a:r>
            <a:r>
              <a:rPr lang="en-US" altLang="zh-CN" sz="2400" b="1" dirty="0" smtClean="0">
                <a:latin typeface="宋体" charset="-122"/>
              </a:rPr>
              <a:t>!ELEMENT EMAIL(#PCDATA)</a:t>
            </a:r>
            <a:r>
              <a:rPr lang="zh-CN" altLang="en-US" sz="2400" b="1" dirty="0" smtClean="0">
                <a:latin typeface="宋体" charset="-122"/>
              </a:rPr>
              <a:t>＞</a:t>
            </a:r>
          </a:p>
          <a:p>
            <a:pPr>
              <a:lnSpc>
                <a:spcPct val="90000"/>
              </a:lnSpc>
              <a:buFontTx/>
              <a:buNone/>
            </a:pPr>
            <a:r>
              <a:rPr lang="zh-CN" altLang="en-US" sz="2400" b="1" dirty="0" smtClean="0">
                <a:latin typeface="宋体" charset="-122"/>
              </a:rPr>
              <a:t>    ＜</a:t>
            </a:r>
            <a:r>
              <a:rPr lang="en-US" altLang="zh-CN" sz="2400" b="1" dirty="0" smtClean="0">
                <a:latin typeface="宋体" charset="-122"/>
              </a:rPr>
              <a:t>!ELEMENT </a:t>
            </a:r>
            <a:r>
              <a:rPr lang="zh-CN" altLang="en-US" sz="2400" b="1" dirty="0" smtClean="0">
                <a:latin typeface="宋体" charset="-122"/>
              </a:rPr>
              <a:t>电话</a:t>
            </a:r>
            <a:r>
              <a:rPr lang="en-US" altLang="zh-CN" sz="2400" b="1" dirty="0" smtClean="0">
                <a:latin typeface="宋体" charset="-122"/>
              </a:rPr>
              <a:t>(#PCDATA)</a:t>
            </a:r>
            <a:r>
              <a:rPr lang="zh-CN" altLang="en-US" sz="2400" b="1" dirty="0" smtClean="0">
                <a:latin typeface="宋体" charset="-122"/>
              </a:rPr>
              <a:t>＞</a:t>
            </a:r>
          </a:p>
          <a:p>
            <a:pPr>
              <a:lnSpc>
                <a:spcPct val="90000"/>
              </a:lnSpc>
              <a:buFontTx/>
              <a:buNone/>
            </a:pPr>
            <a:r>
              <a:rPr lang="en-US" altLang="zh-CN" sz="2400" b="1" dirty="0" smtClean="0">
                <a:latin typeface="宋体" charset="-122"/>
              </a:rPr>
              <a:t>]</a:t>
            </a:r>
            <a:r>
              <a:rPr lang="zh-CN" altLang="en-US" sz="2400" b="1" dirty="0" smtClean="0">
                <a:latin typeface="宋体" charset="-122"/>
              </a:rPr>
              <a:t>＞  </a:t>
            </a:r>
            <a:endParaRPr lang="en-US" altLang="zh-CN" sz="2400" b="1" dirty="0" smtClean="0">
              <a:latin typeface="宋体" charset="-122"/>
            </a:endParaRPr>
          </a:p>
          <a:p>
            <a:pPr>
              <a:lnSpc>
                <a:spcPct val="90000"/>
              </a:lnSpc>
              <a:buFontTx/>
              <a:buNone/>
            </a:pPr>
            <a:r>
              <a:rPr lang="zh-CN" altLang="en-US" sz="2400" b="1" dirty="0" smtClean="0">
                <a:latin typeface="宋体" charset="-122"/>
              </a:rPr>
              <a:t>＜联系人列表＞</a:t>
            </a:r>
          </a:p>
          <a:p>
            <a:pPr>
              <a:lnSpc>
                <a:spcPct val="90000"/>
              </a:lnSpc>
              <a:buFontTx/>
              <a:buNone/>
            </a:pPr>
            <a:r>
              <a:rPr lang="zh-CN" altLang="en-US" sz="2400" b="1" dirty="0" smtClean="0">
                <a:latin typeface="宋体" charset="-122"/>
              </a:rPr>
              <a:t>  ＜联系人＞</a:t>
            </a:r>
          </a:p>
          <a:p>
            <a:pPr>
              <a:lnSpc>
                <a:spcPct val="90000"/>
              </a:lnSpc>
              <a:buFontTx/>
              <a:buNone/>
            </a:pPr>
            <a:r>
              <a:rPr lang="zh-CN" altLang="en-US" sz="2400" b="1" dirty="0" smtClean="0">
                <a:latin typeface="宋体" charset="-122"/>
              </a:rPr>
              <a:t>    ＜姓名＞张三＜／姓名＞</a:t>
            </a:r>
          </a:p>
          <a:p>
            <a:pPr>
              <a:lnSpc>
                <a:spcPct val="90000"/>
              </a:lnSpc>
              <a:buFontTx/>
              <a:buNone/>
            </a:pPr>
            <a:r>
              <a:rPr lang="zh-CN" altLang="en-US" sz="2400" b="1" dirty="0" smtClean="0">
                <a:latin typeface="宋体" charset="-122"/>
              </a:rPr>
              <a:t>    ＜</a:t>
            </a:r>
            <a:r>
              <a:rPr lang="en-US" altLang="zh-CN" sz="2400" b="1" dirty="0" smtClean="0">
                <a:latin typeface="宋体" charset="-122"/>
              </a:rPr>
              <a:t>ID</a:t>
            </a:r>
            <a:r>
              <a:rPr lang="zh-CN" altLang="en-US" sz="2400" b="1" dirty="0" smtClean="0">
                <a:latin typeface="宋体" charset="-122"/>
              </a:rPr>
              <a:t>＞</a:t>
            </a:r>
            <a:r>
              <a:rPr lang="en-US" altLang="zh-CN" sz="2400" b="1" dirty="0" smtClean="0">
                <a:latin typeface="宋体" charset="-122"/>
              </a:rPr>
              <a:t>001</a:t>
            </a:r>
            <a:r>
              <a:rPr lang="zh-CN" altLang="en-US" sz="2400" b="1" dirty="0" smtClean="0">
                <a:latin typeface="宋体" charset="-122"/>
              </a:rPr>
              <a:t>＜／</a:t>
            </a:r>
            <a:r>
              <a:rPr lang="en-US" altLang="zh-CN" sz="2400" b="1" dirty="0" smtClean="0">
                <a:latin typeface="宋体" charset="-122"/>
              </a:rPr>
              <a:t>ID</a:t>
            </a:r>
            <a:r>
              <a:rPr lang="zh-CN" altLang="en-US" sz="2400" b="1" dirty="0" smtClean="0">
                <a:latin typeface="宋体" charset="-122"/>
              </a:rPr>
              <a:t>＞</a:t>
            </a:r>
          </a:p>
          <a:p>
            <a:pPr>
              <a:lnSpc>
                <a:spcPct val="90000"/>
              </a:lnSpc>
              <a:buFontTx/>
              <a:buNone/>
            </a:pPr>
            <a:r>
              <a:rPr lang="zh-CN" altLang="en-US" sz="2400" b="1" dirty="0" smtClean="0">
                <a:latin typeface="宋体" charset="-122"/>
              </a:rPr>
              <a:t>    ＜公司＞</a:t>
            </a:r>
            <a:r>
              <a:rPr lang="en-US" altLang="zh-CN" sz="2400" b="1" dirty="0" smtClean="0">
                <a:latin typeface="宋体" charset="-122"/>
              </a:rPr>
              <a:t>A</a:t>
            </a:r>
            <a:r>
              <a:rPr lang="zh-CN" altLang="en-US" sz="2400" b="1" dirty="0" smtClean="0">
                <a:latin typeface="宋体" charset="-122"/>
              </a:rPr>
              <a:t>公司＜／公司＞</a:t>
            </a:r>
          </a:p>
          <a:p>
            <a:pPr>
              <a:lnSpc>
                <a:spcPct val="90000"/>
              </a:lnSpc>
              <a:buFontTx/>
              <a:buNone/>
            </a:pPr>
            <a:r>
              <a:rPr lang="zh-CN" altLang="en-US" sz="2400" b="1" dirty="0" smtClean="0">
                <a:latin typeface="宋体" charset="-122"/>
              </a:rPr>
              <a:t>    ＜</a:t>
            </a:r>
            <a:r>
              <a:rPr lang="en-US" altLang="zh-CN" sz="2400" b="1" dirty="0" smtClean="0">
                <a:latin typeface="宋体" charset="-122"/>
              </a:rPr>
              <a:t>EMAIL</a:t>
            </a:r>
            <a:r>
              <a:rPr lang="zh-CN" altLang="en-US" sz="2400" b="1" dirty="0" smtClean="0">
                <a:latin typeface="宋体" charset="-122"/>
              </a:rPr>
              <a:t>＞</a:t>
            </a:r>
            <a:r>
              <a:rPr lang="en-US" altLang="zh-CN" sz="2400" b="1" dirty="0" err="1" smtClean="0">
                <a:latin typeface="宋体" charset="-122"/>
              </a:rPr>
              <a:t>zhang</a:t>
            </a:r>
            <a:r>
              <a:rPr lang="zh-CN" altLang="en-US" sz="2400" b="1" dirty="0" smtClean="0">
                <a:latin typeface="宋体" charset="-122"/>
              </a:rPr>
              <a:t>＠</a:t>
            </a:r>
            <a:r>
              <a:rPr lang="en-US" altLang="zh-CN" sz="2400" b="1" dirty="0" err="1" smtClean="0">
                <a:latin typeface="宋体" charset="-122"/>
              </a:rPr>
              <a:t>aaa</a:t>
            </a:r>
            <a:r>
              <a:rPr lang="zh-CN" altLang="en-US" sz="2400" b="1" dirty="0" smtClean="0">
                <a:latin typeface="宋体" charset="-122"/>
              </a:rPr>
              <a:t>．</a:t>
            </a:r>
            <a:r>
              <a:rPr lang="en-US" altLang="zh-CN" sz="2400" b="1" dirty="0" smtClean="0">
                <a:latin typeface="宋体" charset="-122"/>
              </a:rPr>
              <a:t>com</a:t>
            </a:r>
            <a:r>
              <a:rPr lang="zh-CN" altLang="en-US" sz="2400" b="1" dirty="0" smtClean="0">
                <a:latin typeface="宋体" charset="-122"/>
              </a:rPr>
              <a:t>＜／</a:t>
            </a:r>
            <a:r>
              <a:rPr lang="en-US" altLang="zh-CN" sz="2400" b="1" dirty="0" smtClean="0">
                <a:latin typeface="宋体" charset="-122"/>
              </a:rPr>
              <a:t>EMAIL</a:t>
            </a:r>
            <a:r>
              <a:rPr lang="zh-CN" altLang="en-US" sz="2400" b="1" dirty="0" smtClean="0">
                <a:latin typeface="宋体" charset="-122"/>
              </a:rPr>
              <a:t>＞</a:t>
            </a:r>
          </a:p>
          <a:p>
            <a:pPr>
              <a:lnSpc>
                <a:spcPct val="90000"/>
              </a:lnSpc>
              <a:buFontTx/>
              <a:buNone/>
            </a:pPr>
            <a:r>
              <a:rPr lang="zh-CN" altLang="en-US" sz="2400" b="1" dirty="0" smtClean="0">
                <a:latin typeface="宋体" charset="-122"/>
              </a:rPr>
              <a:t>    ＜电话＞</a:t>
            </a:r>
            <a:r>
              <a:rPr lang="en-US" altLang="zh-CN" sz="2400" b="1" dirty="0" smtClean="0">
                <a:latin typeface="宋体" charset="-122"/>
              </a:rPr>
              <a:t>(010)62345678</a:t>
            </a:r>
            <a:r>
              <a:rPr lang="zh-CN" altLang="en-US" sz="2400" b="1" dirty="0" smtClean="0">
                <a:latin typeface="宋体" charset="-122"/>
              </a:rPr>
              <a:t>＜／电话＞</a:t>
            </a:r>
          </a:p>
          <a:p>
            <a:pPr>
              <a:lnSpc>
                <a:spcPct val="90000"/>
              </a:lnSpc>
              <a:buFontTx/>
              <a:buNone/>
            </a:pPr>
            <a:r>
              <a:rPr lang="zh-CN" altLang="en-US" sz="2400" b="1" dirty="0" smtClean="0">
                <a:latin typeface="宋体" charset="-122"/>
              </a:rPr>
              <a:t>＜／联系人＞</a:t>
            </a:r>
          </a:p>
          <a:p>
            <a:pPr>
              <a:lnSpc>
                <a:spcPct val="90000"/>
              </a:lnSpc>
              <a:buFontTx/>
              <a:buNone/>
            </a:pPr>
            <a:r>
              <a:rPr lang="zh-CN" altLang="en-US" sz="2400" b="1" dirty="0" smtClean="0">
                <a:latin typeface="宋体" charset="-122"/>
              </a:rPr>
              <a:t>＜</a:t>
            </a:r>
            <a:r>
              <a:rPr lang="en-US" altLang="zh-CN" sz="2400" b="1" dirty="0" smtClean="0">
                <a:latin typeface="宋体" charset="-122"/>
              </a:rPr>
              <a:t>/</a:t>
            </a:r>
            <a:r>
              <a:rPr lang="zh-CN" altLang="en-US" sz="2400" b="1" dirty="0" smtClean="0">
                <a:latin typeface="宋体" charset="-122"/>
              </a:rPr>
              <a:t>联系人列表＞</a:t>
            </a:r>
            <a:endParaRPr lang="zh-CN" altLang="en-US" sz="2400" b="1" dirty="0" smtClean="0">
              <a:latin typeface="+mn-ea"/>
            </a:endParaRPr>
          </a:p>
          <a:p>
            <a:pPr>
              <a:defRPr/>
            </a:pPr>
            <a:endParaRPr lang="zh-CN" altLang="en-US" b="1"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linds(horizontal)">
                                      <p:cBhvr>
                                        <p:cTn id="13" dur="500"/>
                                        <p:tgtEl>
                                          <p:spTgt spid="3">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linds(horizontal)">
                                      <p:cBhvr>
                                        <p:cTn id="16" dur="500"/>
                                        <p:tgtEl>
                                          <p:spTgt spid="3">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blinds(horizontal)">
                                      <p:cBhvr>
                                        <p:cTn id="19" dur="500"/>
                                        <p:tgtEl>
                                          <p:spTgt spid="3">
                                            <p:txEl>
                                              <p:pRg st="4" end="4"/>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blinds(horizontal)">
                                      <p:cBhvr>
                                        <p:cTn id="22" dur="500"/>
                                        <p:tgtEl>
                                          <p:spTgt spid="3">
                                            <p:txEl>
                                              <p:pRg st="5" end="5"/>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3">
                                            <p:txEl>
                                              <p:pRg st="18" end="18"/>
                                            </p:txEl>
                                          </p:spTgt>
                                        </p:tgtEl>
                                        <p:attrNameLst>
                                          <p:attrName>style.visibility</p:attrName>
                                        </p:attrNameLst>
                                      </p:cBhvr>
                                      <p:to>
                                        <p:strVal val="visible"/>
                                      </p:to>
                                    </p:set>
                                    <p:animEffect transition="in" filter="blinds(horizontal)">
                                      <p:cBhvr>
                                        <p:cTn id="25" dur="500"/>
                                        <p:tgtEl>
                                          <p:spTgt spid="3">
                                            <p:txEl>
                                              <p:pRg st="18" end="18"/>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blinds(horizontal)">
                                      <p:cBhvr>
                                        <p:cTn id="28" dur="500"/>
                                        <p:tgtEl>
                                          <p:spTgt spid="3">
                                            <p:txEl>
                                              <p:pRg st="6" end="6"/>
                                            </p:txEl>
                                          </p:spTgt>
                                        </p:tgtEl>
                                      </p:cBhvr>
                                    </p:animEffect>
                                  </p:childTnLst>
                                </p:cTn>
                              </p:par>
                              <p:par>
                                <p:cTn id="29" presetID="3" presetClass="entr" presetSubtype="1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blinds(horizontal)">
                                      <p:cBhvr>
                                        <p:cTn id="31" dur="500"/>
                                        <p:tgtEl>
                                          <p:spTgt spid="3">
                                            <p:txEl>
                                              <p:pRg st="7" end="7"/>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blinds(horizontal)">
                                      <p:cBhvr>
                                        <p:cTn id="34" dur="500"/>
                                        <p:tgtEl>
                                          <p:spTgt spid="3">
                                            <p:txEl>
                                              <p:pRg st="8" end="8"/>
                                            </p:txEl>
                                          </p:spTgt>
                                        </p:tgtEl>
                                      </p:cBhvr>
                                    </p:animEffect>
                                  </p:childTnLst>
                                </p:cTn>
                              </p:par>
                              <p:par>
                                <p:cTn id="35" presetID="3" presetClass="entr" presetSubtype="10" fill="hold"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blinds(horizontal)">
                                      <p:cBhvr>
                                        <p:cTn id="37" dur="500"/>
                                        <p:tgtEl>
                                          <p:spTgt spid="3">
                                            <p:txEl>
                                              <p:pRg st="9" end="9"/>
                                            </p:txEl>
                                          </p:spTgt>
                                        </p:tgtEl>
                                      </p:cBhvr>
                                    </p:animEffect>
                                  </p:childTnLst>
                                </p:cTn>
                              </p:par>
                              <p:par>
                                <p:cTn id="38" presetID="3" presetClass="entr" presetSubtype="10" fill="hold" nodeType="withEffect">
                                  <p:stCondLst>
                                    <p:cond delay="0"/>
                                  </p:stCondLst>
                                  <p:childTnLst>
                                    <p:set>
                                      <p:cBhvr>
                                        <p:cTn id="39" dur="1" fill="hold">
                                          <p:stCondLst>
                                            <p:cond delay="0"/>
                                          </p:stCondLst>
                                        </p:cTn>
                                        <p:tgtEl>
                                          <p:spTgt spid="3">
                                            <p:txEl>
                                              <p:pRg st="10" end="10"/>
                                            </p:txEl>
                                          </p:spTgt>
                                        </p:tgtEl>
                                        <p:attrNameLst>
                                          <p:attrName>style.visibility</p:attrName>
                                        </p:attrNameLst>
                                      </p:cBhvr>
                                      <p:to>
                                        <p:strVal val="visible"/>
                                      </p:to>
                                    </p:set>
                                    <p:animEffect transition="in" filter="blinds(horizontal)">
                                      <p:cBhvr>
                                        <p:cTn id="40" dur="500"/>
                                        <p:tgtEl>
                                          <p:spTgt spid="3">
                                            <p:txEl>
                                              <p:pRg st="10" end="10"/>
                                            </p:txEl>
                                          </p:spTgt>
                                        </p:tgtEl>
                                      </p:cBhvr>
                                    </p:animEffect>
                                  </p:childTnLst>
                                </p:cTn>
                              </p:par>
                              <p:par>
                                <p:cTn id="41" presetID="3" presetClass="entr" presetSubtype="10" fill="hold" nodeType="with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animEffect transition="in" filter="blinds(horizontal)">
                                      <p:cBhvr>
                                        <p:cTn id="43" dur="500"/>
                                        <p:tgtEl>
                                          <p:spTgt spid="3">
                                            <p:txEl>
                                              <p:pRg st="11" end="11"/>
                                            </p:txEl>
                                          </p:spTgt>
                                        </p:tgtEl>
                                      </p:cBhvr>
                                    </p:animEffect>
                                  </p:childTnLst>
                                </p:cTn>
                              </p:par>
                              <p:par>
                                <p:cTn id="44" presetID="3" presetClass="entr" presetSubtype="10" fill="hold" nodeType="withEffect">
                                  <p:stCondLst>
                                    <p:cond delay="0"/>
                                  </p:stCondLst>
                                  <p:childTnLst>
                                    <p:set>
                                      <p:cBhvr>
                                        <p:cTn id="45" dur="1" fill="hold">
                                          <p:stCondLst>
                                            <p:cond delay="0"/>
                                          </p:stCondLst>
                                        </p:cTn>
                                        <p:tgtEl>
                                          <p:spTgt spid="3">
                                            <p:txEl>
                                              <p:pRg st="12" end="12"/>
                                            </p:txEl>
                                          </p:spTgt>
                                        </p:tgtEl>
                                        <p:attrNameLst>
                                          <p:attrName>style.visibility</p:attrName>
                                        </p:attrNameLst>
                                      </p:cBhvr>
                                      <p:to>
                                        <p:strVal val="visible"/>
                                      </p:to>
                                    </p:set>
                                    <p:animEffect transition="in" filter="blinds(horizontal)">
                                      <p:cBhvr>
                                        <p:cTn id="46" dur="500"/>
                                        <p:tgtEl>
                                          <p:spTgt spid="3">
                                            <p:txEl>
                                              <p:pRg st="12" end="12"/>
                                            </p:txEl>
                                          </p:spTgt>
                                        </p:tgtEl>
                                      </p:cBhvr>
                                    </p:animEffect>
                                  </p:childTnLst>
                                </p:cTn>
                              </p:par>
                              <p:par>
                                <p:cTn id="47" presetID="3" presetClass="entr" presetSubtype="10" fill="hold" nodeType="withEffect">
                                  <p:stCondLst>
                                    <p:cond delay="0"/>
                                  </p:stCondLst>
                                  <p:childTnLst>
                                    <p:set>
                                      <p:cBhvr>
                                        <p:cTn id="48" dur="1" fill="hold">
                                          <p:stCondLst>
                                            <p:cond delay="0"/>
                                          </p:stCondLst>
                                        </p:cTn>
                                        <p:tgtEl>
                                          <p:spTgt spid="3">
                                            <p:txEl>
                                              <p:pRg st="13" end="13"/>
                                            </p:txEl>
                                          </p:spTgt>
                                        </p:tgtEl>
                                        <p:attrNameLst>
                                          <p:attrName>style.visibility</p:attrName>
                                        </p:attrNameLst>
                                      </p:cBhvr>
                                      <p:to>
                                        <p:strVal val="visible"/>
                                      </p:to>
                                    </p:set>
                                    <p:animEffect transition="in" filter="blinds(horizontal)">
                                      <p:cBhvr>
                                        <p:cTn id="49" dur="500"/>
                                        <p:tgtEl>
                                          <p:spTgt spid="3">
                                            <p:txEl>
                                              <p:pRg st="13" end="13"/>
                                            </p:txEl>
                                          </p:spTgt>
                                        </p:tgtEl>
                                      </p:cBhvr>
                                    </p:animEffect>
                                  </p:childTnLst>
                                </p:cTn>
                              </p:par>
                              <p:par>
                                <p:cTn id="50" presetID="3" presetClass="entr" presetSubtype="10" fill="hold" nodeType="withEffect">
                                  <p:stCondLst>
                                    <p:cond delay="0"/>
                                  </p:stCondLst>
                                  <p:childTnLst>
                                    <p:set>
                                      <p:cBhvr>
                                        <p:cTn id="51" dur="1" fill="hold">
                                          <p:stCondLst>
                                            <p:cond delay="0"/>
                                          </p:stCondLst>
                                        </p:cTn>
                                        <p:tgtEl>
                                          <p:spTgt spid="3">
                                            <p:txEl>
                                              <p:pRg st="14" end="14"/>
                                            </p:txEl>
                                          </p:spTgt>
                                        </p:tgtEl>
                                        <p:attrNameLst>
                                          <p:attrName>style.visibility</p:attrName>
                                        </p:attrNameLst>
                                      </p:cBhvr>
                                      <p:to>
                                        <p:strVal val="visible"/>
                                      </p:to>
                                    </p:set>
                                    <p:animEffect transition="in" filter="blinds(horizontal)">
                                      <p:cBhvr>
                                        <p:cTn id="52" dur="500"/>
                                        <p:tgtEl>
                                          <p:spTgt spid="3">
                                            <p:txEl>
                                              <p:pRg st="14" end="14"/>
                                            </p:txEl>
                                          </p:spTgt>
                                        </p:tgtEl>
                                      </p:cBhvr>
                                    </p:animEffect>
                                  </p:childTnLst>
                                </p:cTn>
                              </p:par>
                              <p:par>
                                <p:cTn id="53" presetID="3" presetClass="entr" presetSubtype="10" fill="hold" nodeType="withEffect">
                                  <p:stCondLst>
                                    <p:cond delay="0"/>
                                  </p:stCondLst>
                                  <p:childTnLst>
                                    <p:set>
                                      <p:cBhvr>
                                        <p:cTn id="54" dur="1" fill="hold">
                                          <p:stCondLst>
                                            <p:cond delay="0"/>
                                          </p:stCondLst>
                                        </p:cTn>
                                        <p:tgtEl>
                                          <p:spTgt spid="3">
                                            <p:txEl>
                                              <p:pRg st="15" end="15"/>
                                            </p:txEl>
                                          </p:spTgt>
                                        </p:tgtEl>
                                        <p:attrNameLst>
                                          <p:attrName>style.visibility</p:attrName>
                                        </p:attrNameLst>
                                      </p:cBhvr>
                                      <p:to>
                                        <p:strVal val="visible"/>
                                      </p:to>
                                    </p:set>
                                    <p:animEffect transition="in" filter="blinds(horizontal)">
                                      <p:cBhvr>
                                        <p:cTn id="55" dur="500"/>
                                        <p:tgtEl>
                                          <p:spTgt spid="3">
                                            <p:txEl>
                                              <p:pRg st="15" end="15"/>
                                            </p:txEl>
                                          </p:spTgt>
                                        </p:tgtEl>
                                      </p:cBhvr>
                                    </p:animEffect>
                                  </p:childTnLst>
                                </p:cTn>
                              </p:par>
                              <p:par>
                                <p:cTn id="56" presetID="3" presetClass="entr" presetSubtype="10" fill="hold" nodeType="withEffect">
                                  <p:stCondLst>
                                    <p:cond delay="0"/>
                                  </p:stCondLst>
                                  <p:childTnLst>
                                    <p:set>
                                      <p:cBhvr>
                                        <p:cTn id="57" dur="1" fill="hold">
                                          <p:stCondLst>
                                            <p:cond delay="0"/>
                                          </p:stCondLst>
                                        </p:cTn>
                                        <p:tgtEl>
                                          <p:spTgt spid="3">
                                            <p:txEl>
                                              <p:pRg st="16" end="16"/>
                                            </p:txEl>
                                          </p:spTgt>
                                        </p:tgtEl>
                                        <p:attrNameLst>
                                          <p:attrName>style.visibility</p:attrName>
                                        </p:attrNameLst>
                                      </p:cBhvr>
                                      <p:to>
                                        <p:strVal val="visible"/>
                                      </p:to>
                                    </p:set>
                                    <p:animEffect transition="in" filter="blinds(horizontal)">
                                      <p:cBhvr>
                                        <p:cTn id="58" dur="500"/>
                                        <p:tgtEl>
                                          <p:spTgt spid="3">
                                            <p:txEl>
                                              <p:pRg st="16" end="16"/>
                                            </p:txEl>
                                          </p:spTgt>
                                        </p:tgtEl>
                                      </p:cBhvr>
                                    </p:animEffect>
                                  </p:childTnLst>
                                </p:cTn>
                              </p:par>
                              <p:par>
                                <p:cTn id="59" presetID="3" presetClass="entr" presetSubtype="10" fill="hold" nodeType="withEffect">
                                  <p:stCondLst>
                                    <p:cond delay="0"/>
                                  </p:stCondLst>
                                  <p:childTnLst>
                                    <p:set>
                                      <p:cBhvr>
                                        <p:cTn id="60" dur="1" fill="hold">
                                          <p:stCondLst>
                                            <p:cond delay="0"/>
                                          </p:stCondLst>
                                        </p:cTn>
                                        <p:tgtEl>
                                          <p:spTgt spid="3">
                                            <p:txEl>
                                              <p:pRg st="17" end="17"/>
                                            </p:txEl>
                                          </p:spTgt>
                                        </p:tgtEl>
                                        <p:attrNameLst>
                                          <p:attrName>style.visibility</p:attrName>
                                        </p:attrNameLst>
                                      </p:cBhvr>
                                      <p:to>
                                        <p:strVal val="visible"/>
                                      </p:to>
                                    </p:set>
                                    <p:animEffect transition="in" filter="blinds(horizontal)">
                                      <p:cBhvr>
                                        <p:cTn id="61" dur="500"/>
                                        <p:tgtEl>
                                          <p:spTgt spid="3">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609600" indent="-609600">
              <a:defRPr/>
            </a:pPr>
            <a:r>
              <a:rPr lang="zh-CN" altLang="en-US" sz="3200" b="1" dirty="0" smtClean="0">
                <a:latin typeface="+mj-ea"/>
              </a:rPr>
              <a:t>外部</a:t>
            </a:r>
            <a:r>
              <a:rPr lang="en-US" altLang="zh-CN" sz="3200" b="1" dirty="0" smtClean="0">
                <a:latin typeface="+mj-ea"/>
              </a:rPr>
              <a:t>DTD</a:t>
            </a:r>
            <a:r>
              <a:rPr lang="zh-CN" altLang="en-US" sz="3200" b="1" dirty="0" smtClean="0">
                <a:latin typeface="+mj-ea"/>
              </a:rPr>
              <a:t>示例</a:t>
            </a:r>
            <a:endParaRPr lang="zh-CN" altLang="en-US" sz="3200" b="1" dirty="0">
              <a:latin typeface="+mj-ea"/>
            </a:endParaRPr>
          </a:p>
        </p:txBody>
      </p:sp>
      <p:sp>
        <p:nvSpPr>
          <p:cNvPr id="4" name="Rectangle 5"/>
          <p:cNvSpPr>
            <a:spLocks noChangeArrowheads="1"/>
          </p:cNvSpPr>
          <p:nvPr/>
        </p:nvSpPr>
        <p:spPr bwMode="auto">
          <a:xfrm>
            <a:off x="1785943" y="1571625"/>
            <a:ext cx="7143775" cy="4857750"/>
          </a:xfrm>
          <a:prstGeom prst="rect">
            <a:avLst/>
          </a:prstGeom>
          <a:noFill/>
          <a:ln w="9525">
            <a:noFill/>
            <a:miter lim="800000"/>
            <a:headEnd/>
            <a:tailEnd/>
          </a:ln>
          <a:effectLst/>
        </p:spPr>
        <p:txBody>
          <a:bodyPr/>
          <a:lstStyle/>
          <a:p>
            <a:pPr marL="342900" indent="-342900" eaLnBrk="1" hangingPunct="1">
              <a:spcBef>
                <a:spcPct val="20000"/>
              </a:spcBef>
              <a:defRPr/>
            </a:pPr>
            <a:r>
              <a:rPr lang="zh-CN" altLang="en-US" sz="2000" b="1" dirty="0">
                <a:latin typeface="+mn-ea"/>
                <a:ea typeface="+mn-ea"/>
              </a:rPr>
              <a:t>＜</a:t>
            </a:r>
            <a:r>
              <a:rPr lang="en-US" altLang="zh-CN" sz="2000" b="1" dirty="0">
                <a:latin typeface="+mn-ea"/>
                <a:ea typeface="+mn-ea"/>
              </a:rPr>
              <a:t>? xml version=“1.0” encoding=“GB2312”? </a:t>
            </a:r>
            <a:r>
              <a:rPr lang="zh-CN" altLang="en-US" sz="2000" b="1" dirty="0">
                <a:latin typeface="+mn-ea"/>
                <a:ea typeface="+mn-ea"/>
              </a:rPr>
              <a:t>＞</a:t>
            </a:r>
          </a:p>
          <a:p>
            <a:pPr marL="342900" indent="-342900" eaLnBrk="1" hangingPunct="1">
              <a:spcBef>
                <a:spcPct val="20000"/>
              </a:spcBef>
              <a:defRPr/>
            </a:pPr>
            <a:r>
              <a:rPr lang="zh-CN" altLang="en-US" sz="2000" b="1" dirty="0" smtClean="0">
                <a:latin typeface="+mn-ea"/>
                <a:ea typeface="+mn-ea"/>
              </a:rPr>
              <a:t>＜</a:t>
            </a:r>
            <a:r>
              <a:rPr lang="en-US" altLang="zh-CN" sz="2000" b="1" dirty="0">
                <a:latin typeface="+mn-ea"/>
                <a:ea typeface="+mn-ea"/>
              </a:rPr>
              <a:t>!ELEMENT </a:t>
            </a:r>
            <a:r>
              <a:rPr lang="zh-CN" altLang="en-US" sz="2000" b="1" dirty="0">
                <a:latin typeface="+mn-ea"/>
                <a:ea typeface="+mn-ea"/>
              </a:rPr>
              <a:t>联系人列表</a:t>
            </a:r>
            <a:r>
              <a:rPr lang="en-US" altLang="zh-CN" sz="2000" b="1" dirty="0">
                <a:latin typeface="+mn-ea"/>
                <a:ea typeface="+mn-ea"/>
              </a:rPr>
              <a:t>(</a:t>
            </a:r>
            <a:r>
              <a:rPr lang="zh-CN" altLang="en-US" sz="2000" b="1" dirty="0">
                <a:latin typeface="+mn-ea"/>
                <a:ea typeface="+mn-ea"/>
              </a:rPr>
              <a:t>联系人</a:t>
            </a:r>
            <a:r>
              <a:rPr lang="en-US" altLang="zh-CN" sz="2000" b="1" dirty="0">
                <a:latin typeface="+mn-ea"/>
                <a:ea typeface="+mn-ea"/>
              </a:rPr>
              <a:t>)*</a:t>
            </a:r>
            <a:r>
              <a:rPr lang="zh-CN" altLang="en-US" sz="2000" b="1" dirty="0">
                <a:latin typeface="+mn-ea"/>
                <a:ea typeface="+mn-ea"/>
              </a:rPr>
              <a:t>＞</a:t>
            </a:r>
          </a:p>
          <a:p>
            <a:pPr marL="342900" indent="-342900" eaLnBrk="1" hangingPunct="1">
              <a:spcBef>
                <a:spcPct val="20000"/>
              </a:spcBef>
              <a:defRPr/>
            </a:pPr>
            <a:r>
              <a:rPr lang="zh-CN" altLang="en-US" sz="2000" b="1" dirty="0">
                <a:latin typeface="+mn-ea"/>
                <a:ea typeface="+mn-ea"/>
              </a:rPr>
              <a:t>＜</a:t>
            </a:r>
            <a:r>
              <a:rPr lang="en-US" altLang="zh-CN" sz="2000" b="1" dirty="0">
                <a:latin typeface="+mn-ea"/>
                <a:ea typeface="+mn-ea"/>
              </a:rPr>
              <a:t>!ELEMENT </a:t>
            </a:r>
            <a:r>
              <a:rPr lang="zh-CN" altLang="en-US" sz="2000" b="1" dirty="0">
                <a:latin typeface="+mn-ea"/>
                <a:ea typeface="+mn-ea"/>
              </a:rPr>
              <a:t>联系人</a:t>
            </a:r>
            <a:r>
              <a:rPr lang="en-US" altLang="zh-CN" sz="2000" b="1" dirty="0">
                <a:latin typeface="+mn-ea"/>
                <a:ea typeface="+mn-ea"/>
              </a:rPr>
              <a:t>(</a:t>
            </a:r>
            <a:r>
              <a:rPr lang="zh-CN" altLang="en-US" sz="2000" b="1" dirty="0">
                <a:latin typeface="+mn-ea"/>
                <a:ea typeface="+mn-ea"/>
              </a:rPr>
              <a:t>姓名，</a:t>
            </a:r>
            <a:r>
              <a:rPr lang="en-US" altLang="zh-CN" sz="2000" b="1" dirty="0">
                <a:latin typeface="+mn-ea"/>
                <a:ea typeface="+mn-ea"/>
              </a:rPr>
              <a:t>ID</a:t>
            </a:r>
            <a:r>
              <a:rPr lang="zh-CN" altLang="en-US" sz="2000" b="1" dirty="0">
                <a:latin typeface="+mn-ea"/>
                <a:ea typeface="+mn-ea"/>
              </a:rPr>
              <a:t>，公司，</a:t>
            </a:r>
            <a:r>
              <a:rPr lang="en-US" altLang="zh-CN" sz="2000" b="1" dirty="0">
                <a:latin typeface="+mn-ea"/>
                <a:ea typeface="+mn-ea"/>
              </a:rPr>
              <a:t>EMAIL</a:t>
            </a:r>
            <a:r>
              <a:rPr lang="zh-CN" altLang="en-US" sz="2000" b="1" dirty="0">
                <a:latin typeface="+mn-ea"/>
                <a:ea typeface="+mn-ea"/>
              </a:rPr>
              <a:t>，电话，地址</a:t>
            </a:r>
            <a:r>
              <a:rPr lang="en-US" altLang="zh-CN" sz="2000" b="1" dirty="0">
                <a:latin typeface="+mn-ea"/>
                <a:ea typeface="+mn-ea"/>
              </a:rPr>
              <a:t>)</a:t>
            </a:r>
            <a:r>
              <a:rPr lang="zh-CN" altLang="en-US" sz="2000" b="1" dirty="0">
                <a:latin typeface="+mn-ea"/>
                <a:ea typeface="+mn-ea"/>
              </a:rPr>
              <a:t>＞</a:t>
            </a:r>
          </a:p>
          <a:p>
            <a:pPr marL="342900" indent="-342900" eaLnBrk="1" hangingPunct="1">
              <a:spcBef>
                <a:spcPct val="20000"/>
              </a:spcBef>
              <a:defRPr/>
            </a:pPr>
            <a:r>
              <a:rPr lang="zh-CN" altLang="en-US" sz="2000" b="1" dirty="0">
                <a:latin typeface="+mn-ea"/>
                <a:ea typeface="+mn-ea"/>
              </a:rPr>
              <a:t>＜</a:t>
            </a:r>
            <a:r>
              <a:rPr lang="en-US" altLang="zh-CN" sz="2000" b="1" dirty="0">
                <a:latin typeface="+mn-ea"/>
                <a:ea typeface="+mn-ea"/>
              </a:rPr>
              <a:t>!ELEMENT </a:t>
            </a:r>
            <a:r>
              <a:rPr lang="zh-CN" altLang="en-US" sz="2000" b="1" dirty="0">
                <a:latin typeface="+mn-ea"/>
                <a:ea typeface="+mn-ea"/>
              </a:rPr>
              <a:t>地址</a:t>
            </a:r>
            <a:r>
              <a:rPr lang="en-US" altLang="zh-CN" sz="2000" b="1" dirty="0">
                <a:latin typeface="+mn-ea"/>
                <a:ea typeface="+mn-ea"/>
              </a:rPr>
              <a:t>(</a:t>
            </a:r>
            <a:r>
              <a:rPr lang="zh-CN" altLang="en-US" sz="2000" b="1" dirty="0">
                <a:latin typeface="+mn-ea"/>
                <a:ea typeface="+mn-ea"/>
              </a:rPr>
              <a:t>街道，城市，省份</a:t>
            </a:r>
            <a:r>
              <a:rPr lang="en-US" altLang="zh-CN" sz="2000" b="1" dirty="0">
                <a:latin typeface="+mn-ea"/>
                <a:ea typeface="+mn-ea"/>
              </a:rPr>
              <a:t>)</a:t>
            </a:r>
            <a:r>
              <a:rPr lang="zh-CN" altLang="en-US" sz="2000" b="1" dirty="0">
                <a:latin typeface="+mn-ea"/>
                <a:ea typeface="+mn-ea"/>
              </a:rPr>
              <a:t>＞</a:t>
            </a:r>
          </a:p>
          <a:p>
            <a:pPr marL="342900" indent="-342900" eaLnBrk="1" hangingPunct="1">
              <a:spcBef>
                <a:spcPct val="20000"/>
              </a:spcBef>
              <a:defRPr/>
            </a:pPr>
            <a:r>
              <a:rPr lang="zh-CN" altLang="en-US" sz="2000" b="1" dirty="0">
                <a:latin typeface="+mn-ea"/>
                <a:ea typeface="+mn-ea"/>
              </a:rPr>
              <a:t>＜</a:t>
            </a:r>
            <a:r>
              <a:rPr lang="en-US" altLang="zh-CN" sz="2000" b="1" dirty="0">
                <a:latin typeface="+mn-ea"/>
                <a:ea typeface="+mn-ea"/>
              </a:rPr>
              <a:t>!ELEMENT </a:t>
            </a:r>
            <a:r>
              <a:rPr lang="zh-CN" altLang="en-US" sz="2000" b="1" dirty="0">
                <a:latin typeface="+mn-ea"/>
                <a:ea typeface="+mn-ea"/>
              </a:rPr>
              <a:t>姓名</a:t>
            </a:r>
            <a:r>
              <a:rPr lang="en-US" altLang="zh-CN" sz="2000" b="1" dirty="0">
                <a:latin typeface="+mn-ea"/>
                <a:ea typeface="+mn-ea"/>
              </a:rPr>
              <a:t>(#PCDATA)</a:t>
            </a:r>
            <a:r>
              <a:rPr lang="zh-CN" altLang="en-US" sz="2000" b="1" dirty="0">
                <a:latin typeface="+mn-ea"/>
                <a:ea typeface="+mn-ea"/>
              </a:rPr>
              <a:t>＞</a:t>
            </a:r>
          </a:p>
          <a:p>
            <a:pPr marL="342900" indent="-342900" eaLnBrk="1" hangingPunct="1">
              <a:spcBef>
                <a:spcPct val="20000"/>
              </a:spcBef>
              <a:defRPr/>
            </a:pPr>
            <a:r>
              <a:rPr lang="zh-CN" altLang="en-US" sz="2000" b="1" dirty="0">
                <a:latin typeface="+mn-ea"/>
                <a:ea typeface="+mn-ea"/>
              </a:rPr>
              <a:t>＜</a:t>
            </a:r>
            <a:r>
              <a:rPr lang="en-US" altLang="zh-CN" sz="2000" b="1" dirty="0">
                <a:latin typeface="+mn-ea"/>
                <a:ea typeface="+mn-ea"/>
              </a:rPr>
              <a:t>!ELEMENT ID(#PCDATA)</a:t>
            </a:r>
            <a:r>
              <a:rPr lang="zh-CN" altLang="en-US" sz="2000" b="1" dirty="0">
                <a:latin typeface="+mn-ea"/>
                <a:ea typeface="+mn-ea"/>
              </a:rPr>
              <a:t>＞</a:t>
            </a:r>
          </a:p>
          <a:p>
            <a:pPr marL="342900" indent="-342900" eaLnBrk="1" hangingPunct="1">
              <a:spcBef>
                <a:spcPct val="20000"/>
              </a:spcBef>
              <a:defRPr/>
            </a:pPr>
            <a:r>
              <a:rPr lang="zh-CN" altLang="en-US" sz="2000" b="1" dirty="0">
                <a:latin typeface="+mn-ea"/>
                <a:ea typeface="+mn-ea"/>
              </a:rPr>
              <a:t>＜</a:t>
            </a:r>
            <a:r>
              <a:rPr lang="en-US" altLang="zh-CN" sz="2000" b="1" dirty="0">
                <a:latin typeface="+mn-ea"/>
                <a:ea typeface="+mn-ea"/>
              </a:rPr>
              <a:t>!ELEMENT </a:t>
            </a:r>
            <a:r>
              <a:rPr lang="zh-CN" altLang="en-US" sz="2000" b="1" dirty="0">
                <a:latin typeface="+mn-ea"/>
                <a:ea typeface="+mn-ea"/>
              </a:rPr>
              <a:t>公司</a:t>
            </a:r>
            <a:r>
              <a:rPr lang="en-US" altLang="zh-CN" sz="2000" b="1" dirty="0">
                <a:latin typeface="+mn-ea"/>
                <a:ea typeface="+mn-ea"/>
              </a:rPr>
              <a:t>(#PCDATA)</a:t>
            </a:r>
            <a:r>
              <a:rPr lang="zh-CN" altLang="en-US" sz="2000" b="1" dirty="0">
                <a:latin typeface="+mn-ea"/>
                <a:ea typeface="+mn-ea"/>
              </a:rPr>
              <a:t>＞</a:t>
            </a:r>
          </a:p>
          <a:p>
            <a:pPr marL="342900" indent="-342900" eaLnBrk="1" hangingPunct="1">
              <a:spcBef>
                <a:spcPct val="20000"/>
              </a:spcBef>
              <a:defRPr/>
            </a:pPr>
            <a:r>
              <a:rPr lang="zh-CN" altLang="en-US" sz="2000" b="1" dirty="0">
                <a:latin typeface="+mn-ea"/>
                <a:ea typeface="+mn-ea"/>
              </a:rPr>
              <a:t>＜</a:t>
            </a:r>
            <a:r>
              <a:rPr lang="en-US" altLang="zh-CN" sz="2000" b="1" dirty="0">
                <a:latin typeface="+mn-ea"/>
                <a:ea typeface="+mn-ea"/>
              </a:rPr>
              <a:t>!ELEMENT EMAIL(#PCDATA)</a:t>
            </a:r>
            <a:r>
              <a:rPr lang="zh-CN" altLang="en-US" sz="2000" b="1" dirty="0">
                <a:latin typeface="+mn-ea"/>
                <a:ea typeface="+mn-ea"/>
              </a:rPr>
              <a:t>＞</a:t>
            </a:r>
          </a:p>
          <a:p>
            <a:pPr marL="342900" indent="-342900" eaLnBrk="1" hangingPunct="1">
              <a:spcBef>
                <a:spcPct val="20000"/>
              </a:spcBef>
              <a:defRPr/>
            </a:pPr>
            <a:r>
              <a:rPr lang="zh-CN" altLang="en-US" sz="2000" b="1" dirty="0">
                <a:latin typeface="+mn-ea"/>
                <a:ea typeface="+mn-ea"/>
              </a:rPr>
              <a:t>＜</a:t>
            </a:r>
            <a:r>
              <a:rPr lang="en-US" altLang="zh-CN" sz="2000" b="1" dirty="0">
                <a:latin typeface="+mn-ea"/>
                <a:ea typeface="+mn-ea"/>
              </a:rPr>
              <a:t>!ELEMENT </a:t>
            </a:r>
            <a:r>
              <a:rPr lang="zh-CN" altLang="en-US" sz="2000" b="1" dirty="0">
                <a:latin typeface="+mn-ea"/>
                <a:ea typeface="+mn-ea"/>
              </a:rPr>
              <a:t>电话</a:t>
            </a:r>
            <a:r>
              <a:rPr lang="en-US" altLang="zh-CN" sz="2000" b="1" dirty="0">
                <a:latin typeface="+mn-ea"/>
                <a:ea typeface="+mn-ea"/>
              </a:rPr>
              <a:t>(#PCDATA)</a:t>
            </a:r>
            <a:r>
              <a:rPr lang="zh-CN" altLang="en-US" sz="2000" b="1" dirty="0">
                <a:latin typeface="+mn-ea"/>
                <a:ea typeface="+mn-ea"/>
              </a:rPr>
              <a:t>＞</a:t>
            </a:r>
          </a:p>
          <a:p>
            <a:pPr marL="342900" indent="-342900" eaLnBrk="1" hangingPunct="1">
              <a:spcBef>
                <a:spcPct val="20000"/>
              </a:spcBef>
              <a:defRPr/>
            </a:pPr>
            <a:r>
              <a:rPr lang="zh-CN" altLang="en-US" sz="2000" b="1" dirty="0">
                <a:latin typeface="+mn-ea"/>
                <a:ea typeface="+mn-ea"/>
              </a:rPr>
              <a:t>＜</a:t>
            </a:r>
            <a:r>
              <a:rPr lang="en-US" altLang="zh-CN" sz="2000" b="1" dirty="0">
                <a:latin typeface="+mn-ea"/>
                <a:ea typeface="+mn-ea"/>
              </a:rPr>
              <a:t>!ELEMENT </a:t>
            </a:r>
            <a:r>
              <a:rPr lang="zh-CN" altLang="en-US" sz="2000" b="1" dirty="0">
                <a:latin typeface="+mn-ea"/>
                <a:ea typeface="+mn-ea"/>
              </a:rPr>
              <a:t>街道</a:t>
            </a:r>
            <a:r>
              <a:rPr lang="en-US" altLang="zh-CN" sz="2000" b="1" dirty="0">
                <a:latin typeface="+mn-ea"/>
                <a:ea typeface="+mn-ea"/>
              </a:rPr>
              <a:t>(#PCDATA)</a:t>
            </a:r>
            <a:r>
              <a:rPr lang="zh-CN" altLang="en-US" sz="2000" b="1" dirty="0">
                <a:latin typeface="+mn-ea"/>
                <a:ea typeface="+mn-ea"/>
              </a:rPr>
              <a:t>＞</a:t>
            </a:r>
          </a:p>
          <a:p>
            <a:pPr marL="342900" indent="-342900" eaLnBrk="1" hangingPunct="1">
              <a:spcBef>
                <a:spcPct val="20000"/>
              </a:spcBef>
              <a:defRPr/>
            </a:pPr>
            <a:r>
              <a:rPr lang="zh-CN" altLang="en-US" sz="2000" b="1" dirty="0">
                <a:latin typeface="+mn-ea"/>
                <a:ea typeface="+mn-ea"/>
              </a:rPr>
              <a:t>＜</a:t>
            </a:r>
            <a:r>
              <a:rPr lang="en-US" altLang="zh-CN" sz="2000" b="1" dirty="0">
                <a:latin typeface="+mn-ea"/>
                <a:ea typeface="+mn-ea"/>
              </a:rPr>
              <a:t>!ELEMENT </a:t>
            </a:r>
            <a:r>
              <a:rPr lang="zh-CN" altLang="en-US" sz="2000" b="1" dirty="0">
                <a:latin typeface="+mn-ea"/>
                <a:ea typeface="+mn-ea"/>
              </a:rPr>
              <a:t>城市</a:t>
            </a:r>
            <a:r>
              <a:rPr lang="en-US" altLang="zh-CN" sz="2000" b="1" dirty="0">
                <a:latin typeface="+mn-ea"/>
                <a:ea typeface="+mn-ea"/>
              </a:rPr>
              <a:t>(#PCDATA)</a:t>
            </a:r>
            <a:r>
              <a:rPr lang="zh-CN" altLang="en-US" sz="2000" b="1" dirty="0">
                <a:latin typeface="+mn-ea"/>
                <a:ea typeface="+mn-ea"/>
              </a:rPr>
              <a:t>＞</a:t>
            </a:r>
          </a:p>
          <a:p>
            <a:pPr marL="342900" indent="-342900" eaLnBrk="1" hangingPunct="1">
              <a:spcBef>
                <a:spcPct val="20000"/>
              </a:spcBef>
              <a:defRPr/>
            </a:pPr>
            <a:r>
              <a:rPr lang="zh-CN" altLang="en-US" sz="2000" b="1" dirty="0">
                <a:latin typeface="+mn-ea"/>
                <a:ea typeface="+mn-ea"/>
              </a:rPr>
              <a:t>＜</a:t>
            </a:r>
            <a:r>
              <a:rPr lang="en-US" altLang="zh-CN" sz="2000" b="1" dirty="0">
                <a:latin typeface="+mn-ea"/>
                <a:ea typeface="+mn-ea"/>
              </a:rPr>
              <a:t>!ELEMENT </a:t>
            </a:r>
            <a:r>
              <a:rPr lang="zh-CN" altLang="en-US" sz="2000" b="1" dirty="0">
                <a:latin typeface="+mn-ea"/>
                <a:ea typeface="+mn-ea"/>
              </a:rPr>
              <a:t>省份</a:t>
            </a:r>
            <a:r>
              <a:rPr lang="en-US" altLang="zh-CN" sz="2000" b="1" dirty="0">
                <a:latin typeface="+mn-ea"/>
                <a:ea typeface="+mn-ea"/>
              </a:rPr>
              <a:t>(#PCDATA)</a:t>
            </a:r>
            <a:r>
              <a:rPr lang="zh-CN" altLang="en-US" sz="2000" b="1" dirty="0">
                <a:latin typeface="+mn-ea"/>
                <a:ea typeface="+mn-ea"/>
              </a:rPr>
              <a:t>＞</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5"/>
          <p:cNvSpPr>
            <a:spLocks noChangeArrowheads="1"/>
          </p:cNvSpPr>
          <p:nvPr/>
        </p:nvSpPr>
        <p:spPr bwMode="auto">
          <a:xfrm>
            <a:off x="4714876" y="3643314"/>
            <a:ext cx="4343400" cy="3090834"/>
          </a:xfrm>
          <a:prstGeom prst="rect">
            <a:avLst/>
          </a:prstGeom>
          <a:noFill/>
          <a:ln w="9525">
            <a:noFill/>
            <a:miter lim="800000"/>
            <a:headEnd/>
            <a:tailEnd/>
          </a:ln>
        </p:spPr>
        <p:txBody>
          <a:bodyPr/>
          <a:lstStyle/>
          <a:p>
            <a:pPr marL="342900" indent="-342900" eaLnBrk="1" hangingPunct="1">
              <a:lnSpc>
                <a:spcPct val="90000"/>
              </a:lnSpc>
              <a:spcBef>
                <a:spcPct val="20000"/>
              </a:spcBef>
            </a:pPr>
            <a:r>
              <a:rPr lang="en-US" altLang="zh-CN" sz="1400" b="1" dirty="0">
                <a:latin typeface="Verdana" pitchFamily="34" charset="0"/>
              </a:rPr>
              <a:t>   </a:t>
            </a:r>
            <a:r>
              <a:rPr lang="zh-CN" altLang="en-US" sz="1400" b="1" dirty="0">
                <a:latin typeface="Verdana" pitchFamily="34" charset="0"/>
              </a:rPr>
              <a:t>＜联系人＞</a:t>
            </a:r>
          </a:p>
          <a:p>
            <a:pPr marL="342900" indent="-342900" eaLnBrk="1" hangingPunct="1">
              <a:lnSpc>
                <a:spcPct val="90000"/>
              </a:lnSpc>
              <a:spcBef>
                <a:spcPct val="20000"/>
              </a:spcBef>
            </a:pPr>
            <a:r>
              <a:rPr lang="zh-CN" altLang="en-US" sz="1400" b="1" dirty="0">
                <a:latin typeface="Verdana" pitchFamily="34" charset="0"/>
              </a:rPr>
              <a:t>       ＜姓名＞李四＜／姓名＞</a:t>
            </a:r>
          </a:p>
          <a:p>
            <a:pPr marL="342900" indent="-342900" eaLnBrk="1" hangingPunct="1">
              <a:lnSpc>
                <a:spcPct val="90000"/>
              </a:lnSpc>
              <a:spcBef>
                <a:spcPct val="20000"/>
              </a:spcBef>
            </a:pPr>
            <a:r>
              <a:rPr lang="zh-CN" altLang="en-US" sz="1400" b="1" dirty="0">
                <a:latin typeface="Verdana" pitchFamily="34" charset="0"/>
              </a:rPr>
              <a:t>       ＜</a:t>
            </a:r>
            <a:r>
              <a:rPr lang="en-US" altLang="zh-CN" sz="1400" b="1" dirty="0">
                <a:latin typeface="Verdana" pitchFamily="34" charset="0"/>
              </a:rPr>
              <a:t>ID</a:t>
            </a:r>
            <a:r>
              <a:rPr lang="zh-CN" altLang="en-US" sz="1400" b="1" dirty="0">
                <a:latin typeface="Verdana" pitchFamily="34" charset="0"/>
              </a:rPr>
              <a:t>＞</a:t>
            </a:r>
            <a:r>
              <a:rPr lang="en-US" altLang="zh-CN" sz="1400" b="1" dirty="0">
                <a:latin typeface="Verdana" pitchFamily="34" charset="0"/>
              </a:rPr>
              <a:t>002</a:t>
            </a:r>
            <a:r>
              <a:rPr lang="zh-CN" altLang="en-US" sz="1400" b="1" dirty="0">
                <a:latin typeface="Verdana" pitchFamily="34" charset="0"/>
              </a:rPr>
              <a:t>＜／</a:t>
            </a:r>
            <a:r>
              <a:rPr lang="en-US" altLang="zh-CN" sz="1400" b="1" dirty="0">
                <a:latin typeface="Verdana" pitchFamily="34" charset="0"/>
              </a:rPr>
              <a:t>ID</a:t>
            </a:r>
            <a:r>
              <a:rPr lang="zh-CN" altLang="en-US" sz="1400" b="1" dirty="0">
                <a:latin typeface="Verdana" pitchFamily="34" charset="0"/>
              </a:rPr>
              <a:t>＞</a:t>
            </a:r>
          </a:p>
          <a:p>
            <a:pPr marL="342900" indent="-342900" eaLnBrk="1" hangingPunct="1">
              <a:lnSpc>
                <a:spcPct val="90000"/>
              </a:lnSpc>
              <a:spcBef>
                <a:spcPct val="20000"/>
              </a:spcBef>
            </a:pPr>
            <a:r>
              <a:rPr lang="zh-CN" altLang="en-US" sz="1400" b="1" dirty="0">
                <a:latin typeface="Verdana" pitchFamily="34" charset="0"/>
              </a:rPr>
              <a:t>       ＜公司＞</a:t>
            </a:r>
            <a:r>
              <a:rPr lang="en-US" altLang="zh-CN" sz="1400" b="1" dirty="0">
                <a:latin typeface="Verdana" pitchFamily="34" charset="0"/>
              </a:rPr>
              <a:t>B</a:t>
            </a:r>
            <a:r>
              <a:rPr lang="zh-CN" altLang="en-US" sz="1400" b="1" dirty="0">
                <a:latin typeface="Verdana" pitchFamily="34" charset="0"/>
              </a:rPr>
              <a:t>公司＜／公司＞</a:t>
            </a:r>
          </a:p>
          <a:p>
            <a:pPr marL="342900" indent="-342900" eaLnBrk="1" hangingPunct="1">
              <a:lnSpc>
                <a:spcPct val="90000"/>
              </a:lnSpc>
              <a:spcBef>
                <a:spcPct val="20000"/>
              </a:spcBef>
            </a:pPr>
            <a:r>
              <a:rPr lang="zh-CN" altLang="en-US" sz="1400" b="1" dirty="0">
                <a:latin typeface="Verdana" pitchFamily="34" charset="0"/>
              </a:rPr>
              <a:t>       ＜</a:t>
            </a:r>
            <a:r>
              <a:rPr lang="en-US" altLang="zh-CN" sz="1400" b="1" dirty="0">
                <a:latin typeface="Verdana" pitchFamily="34" charset="0"/>
              </a:rPr>
              <a:t>EMAII</a:t>
            </a:r>
            <a:r>
              <a:rPr lang="zh-CN" altLang="en-US" sz="1400" b="1" dirty="0">
                <a:latin typeface="Verdana" pitchFamily="34" charset="0"/>
              </a:rPr>
              <a:t>＞</a:t>
            </a:r>
            <a:r>
              <a:rPr lang="en-US" altLang="zh-CN" sz="1400" b="1" dirty="0">
                <a:latin typeface="Verdana" pitchFamily="34" charset="0"/>
              </a:rPr>
              <a:t>1i</a:t>
            </a:r>
            <a:r>
              <a:rPr lang="zh-CN" altLang="en-US" sz="1400" b="1" dirty="0">
                <a:latin typeface="Verdana" pitchFamily="34" charset="0"/>
              </a:rPr>
              <a:t>＠</a:t>
            </a:r>
            <a:r>
              <a:rPr lang="en-US" altLang="zh-CN" sz="1400" b="1" dirty="0" err="1">
                <a:latin typeface="Verdana" pitchFamily="34" charset="0"/>
              </a:rPr>
              <a:t>bbb</a:t>
            </a:r>
            <a:r>
              <a:rPr lang="zh-CN" altLang="en-US" sz="1400" b="1" dirty="0">
                <a:latin typeface="Verdana" pitchFamily="34" charset="0"/>
              </a:rPr>
              <a:t>．</a:t>
            </a:r>
            <a:r>
              <a:rPr lang="en-US" altLang="zh-CN" sz="1400" b="1" dirty="0">
                <a:latin typeface="Verdana" pitchFamily="34" charset="0"/>
              </a:rPr>
              <a:t>org</a:t>
            </a:r>
            <a:r>
              <a:rPr lang="zh-CN" altLang="en-US" sz="1400" b="1" dirty="0">
                <a:latin typeface="Verdana" pitchFamily="34" charset="0"/>
              </a:rPr>
              <a:t>＜／</a:t>
            </a:r>
            <a:r>
              <a:rPr lang="en-US" altLang="zh-CN" sz="1400" b="1" dirty="0">
                <a:latin typeface="Verdana" pitchFamily="34" charset="0"/>
              </a:rPr>
              <a:t>EMAII</a:t>
            </a:r>
            <a:r>
              <a:rPr lang="zh-CN" altLang="en-US" sz="1400" b="1" dirty="0">
                <a:latin typeface="Verdana" pitchFamily="34" charset="0"/>
              </a:rPr>
              <a:t>＞</a:t>
            </a:r>
          </a:p>
          <a:p>
            <a:pPr marL="342900" indent="-342900" eaLnBrk="1" hangingPunct="1">
              <a:lnSpc>
                <a:spcPct val="90000"/>
              </a:lnSpc>
              <a:spcBef>
                <a:spcPct val="20000"/>
              </a:spcBef>
            </a:pPr>
            <a:r>
              <a:rPr lang="zh-CN" altLang="en-US" sz="1400" b="1" dirty="0">
                <a:latin typeface="Verdana" pitchFamily="34" charset="0"/>
              </a:rPr>
              <a:t>       ＜电话＞</a:t>
            </a:r>
            <a:r>
              <a:rPr lang="en-US" altLang="zh-CN" sz="1400" b="1" dirty="0">
                <a:latin typeface="Verdana" pitchFamily="34" charset="0"/>
              </a:rPr>
              <a:t>(021)87654321</a:t>
            </a:r>
            <a:r>
              <a:rPr lang="zh-CN" altLang="en-US" sz="1400" b="1" dirty="0">
                <a:latin typeface="Verdana" pitchFamily="34" charset="0"/>
              </a:rPr>
              <a:t>＜／电话＞</a:t>
            </a:r>
          </a:p>
          <a:p>
            <a:pPr marL="342900" indent="-342900" eaLnBrk="1" hangingPunct="1">
              <a:lnSpc>
                <a:spcPct val="90000"/>
              </a:lnSpc>
              <a:spcBef>
                <a:spcPct val="20000"/>
              </a:spcBef>
            </a:pPr>
            <a:r>
              <a:rPr lang="zh-CN" altLang="en-US" sz="1400" b="1" dirty="0">
                <a:latin typeface="Verdana" pitchFamily="34" charset="0"/>
              </a:rPr>
              <a:t>       ＜地址＞</a:t>
            </a:r>
          </a:p>
          <a:p>
            <a:pPr marL="342900" indent="-342900" eaLnBrk="1" hangingPunct="1">
              <a:lnSpc>
                <a:spcPct val="90000"/>
              </a:lnSpc>
              <a:spcBef>
                <a:spcPct val="20000"/>
              </a:spcBef>
            </a:pPr>
            <a:r>
              <a:rPr lang="zh-CN" altLang="en-US" sz="1400" b="1" dirty="0">
                <a:latin typeface="Verdana" pitchFamily="34" charset="0"/>
              </a:rPr>
              <a:t>           ＜街道＞南京路</a:t>
            </a:r>
            <a:r>
              <a:rPr lang="en-US" altLang="zh-CN" sz="1400" b="1" dirty="0">
                <a:latin typeface="Verdana" pitchFamily="34" charset="0"/>
              </a:rPr>
              <a:t>9876</a:t>
            </a:r>
            <a:r>
              <a:rPr lang="zh-CN" altLang="en-US" sz="1400" b="1" dirty="0">
                <a:latin typeface="Verdana" pitchFamily="34" charset="0"/>
              </a:rPr>
              <a:t>号＜／街道＞</a:t>
            </a:r>
          </a:p>
          <a:p>
            <a:pPr marL="342900" indent="-342900" eaLnBrk="1" hangingPunct="1">
              <a:lnSpc>
                <a:spcPct val="90000"/>
              </a:lnSpc>
              <a:spcBef>
                <a:spcPct val="20000"/>
              </a:spcBef>
            </a:pPr>
            <a:r>
              <a:rPr lang="zh-CN" altLang="en-US" sz="1400" b="1" dirty="0">
                <a:latin typeface="Verdana" pitchFamily="34" charset="0"/>
              </a:rPr>
              <a:t>           ＜城市＞上海市＜／城市＞</a:t>
            </a:r>
          </a:p>
          <a:p>
            <a:pPr marL="342900" indent="-342900" eaLnBrk="1" hangingPunct="1">
              <a:lnSpc>
                <a:spcPct val="90000"/>
              </a:lnSpc>
              <a:spcBef>
                <a:spcPct val="20000"/>
              </a:spcBef>
            </a:pPr>
            <a:r>
              <a:rPr lang="zh-CN" altLang="en-US" sz="1400" b="1" dirty="0">
                <a:latin typeface="Verdana" pitchFamily="34" charset="0"/>
              </a:rPr>
              <a:t>           ＜省份＞上海＜／省份＞</a:t>
            </a:r>
          </a:p>
          <a:p>
            <a:pPr marL="342900" indent="-342900" eaLnBrk="1" hangingPunct="1">
              <a:lnSpc>
                <a:spcPct val="90000"/>
              </a:lnSpc>
              <a:spcBef>
                <a:spcPct val="20000"/>
              </a:spcBef>
            </a:pPr>
            <a:r>
              <a:rPr lang="zh-CN" altLang="en-US" sz="1400" b="1" dirty="0">
                <a:latin typeface="Verdana" pitchFamily="34" charset="0"/>
              </a:rPr>
              <a:t>       ＜／地址＞</a:t>
            </a:r>
          </a:p>
          <a:p>
            <a:pPr marL="342900" indent="-342900" eaLnBrk="1" hangingPunct="1">
              <a:lnSpc>
                <a:spcPct val="90000"/>
              </a:lnSpc>
              <a:spcBef>
                <a:spcPct val="20000"/>
              </a:spcBef>
            </a:pPr>
            <a:r>
              <a:rPr lang="zh-CN" altLang="en-US" sz="1400" b="1" dirty="0">
                <a:latin typeface="Verdana" pitchFamily="34" charset="0"/>
              </a:rPr>
              <a:t>   ＜／联系人＞</a:t>
            </a:r>
          </a:p>
          <a:p>
            <a:pPr marL="342900" indent="-342900" eaLnBrk="1" hangingPunct="1">
              <a:lnSpc>
                <a:spcPct val="90000"/>
              </a:lnSpc>
              <a:spcBef>
                <a:spcPct val="20000"/>
              </a:spcBef>
            </a:pPr>
            <a:r>
              <a:rPr lang="zh-CN" altLang="en-US" sz="1400" b="1" dirty="0">
                <a:latin typeface="Verdana" pitchFamily="34" charset="0"/>
              </a:rPr>
              <a:t>＜／联系人列表＞</a:t>
            </a:r>
          </a:p>
        </p:txBody>
      </p:sp>
      <p:sp>
        <p:nvSpPr>
          <p:cNvPr id="44035" name="Rectangle 6"/>
          <p:cNvSpPr>
            <a:spLocks noChangeArrowheads="1"/>
          </p:cNvSpPr>
          <p:nvPr/>
        </p:nvSpPr>
        <p:spPr bwMode="auto">
          <a:xfrm>
            <a:off x="1785918" y="0"/>
            <a:ext cx="7143800" cy="5562600"/>
          </a:xfrm>
          <a:prstGeom prst="rect">
            <a:avLst/>
          </a:prstGeom>
          <a:noFill/>
          <a:ln w="9525">
            <a:noFill/>
            <a:miter lim="800000"/>
            <a:headEnd/>
            <a:tailEnd/>
          </a:ln>
        </p:spPr>
        <p:txBody>
          <a:bodyPr/>
          <a:lstStyle/>
          <a:p>
            <a:pPr marL="342900" indent="-342900" eaLnBrk="1" hangingPunct="1">
              <a:spcBef>
                <a:spcPct val="20000"/>
              </a:spcBef>
            </a:pPr>
            <a:r>
              <a:rPr lang="zh-CN" altLang="en-US" sz="1400" b="1" dirty="0">
                <a:latin typeface="Verdana" pitchFamily="34" charset="0"/>
              </a:rPr>
              <a:t>＜ </a:t>
            </a:r>
            <a:r>
              <a:rPr lang="en-US" altLang="zh-CN" sz="1400" b="1" dirty="0">
                <a:latin typeface="Verdana" pitchFamily="34" charset="0"/>
              </a:rPr>
              <a:t>? xml version</a:t>
            </a:r>
            <a:r>
              <a:rPr lang="zh-CN" altLang="en-US" sz="1400" b="1" dirty="0">
                <a:latin typeface="Verdana" pitchFamily="34" charset="0"/>
              </a:rPr>
              <a:t>＝“</a:t>
            </a:r>
            <a:r>
              <a:rPr lang="en-US" altLang="zh-CN" sz="1400" b="1" dirty="0">
                <a:latin typeface="Verdana" pitchFamily="34" charset="0"/>
              </a:rPr>
              <a:t>1</a:t>
            </a:r>
            <a:r>
              <a:rPr lang="zh-CN" altLang="en-US" sz="1400" b="1" dirty="0">
                <a:latin typeface="Verdana" pitchFamily="34" charset="0"/>
              </a:rPr>
              <a:t>．</a:t>
            </a:r>
            <a:r>
              <a:rPr lang="en-US" altLang="zh-CN" sz="1400" b="1" dirty="0">
                <a:latin typeface="Verdana" pitchFamily="34" charset="0"/>
              </a:rPr>
              <a:t>0”encoding</a:t>
            </a:r>
            <a:r>
              <a:rPr lang="zh-CN" altLang="en-US" sz="1400" b="1" dirty="0">
                <a:latin typeface="Verdana" pitchFamily="34" charset="0"/>
              </a:rPr>
              <a:t>＝”</a:t>
            </a:r>
            <a:r>
              <a:rPr lang="en-US" altLang="zh-CN" sz="1400" b="1" dirty="0">
                <a:latin typeface="Verdana" pitchFamily="34" charset="0"/>
              </a:rPr>
              <a:t>GB2312” standalone</a:t>
            </a:r>
            <a:r>
              <a:rPr lang="zh-CN" altLang="en-US" sz="1400" b="1" dirty="0">
                <a:latin typeface="Verdana" pitchFamily="34" charset="0"/>
              </a:rPr>
              <a:t>＝”</a:t>
            </a:r>
            <a:r>
              <a:rPr lang="en-US" altLang="zh-CN" sz="1400" b="1" dirty="0">
                <a:latin typeface="Verdana" pitchFamily="34" charset="0"/>
              </a:rPr>
              <a:t>no”?</a:t>
            </a:r>
            <a:r>
              <a:rPr lang="zh-CN" altLang="en-US" sz="1400" b="1" dirty="0">
                <a:latin typeface="Verdana" pitchFamily="34" charset="0"/>
              </a:rPr>
              <a:t>＞</a:t>
            </a:r>
          </a:p>
          <a:p>
            <a:pPr marL="342900" indent="-342900" eaLnBrk="1" hangingPunct="1">
              <a:spcBef>
                <a:spcPct val="20000"/>
              </a:spcBef>
            </a:pPr>
            <a:r>
              <a:rPr lang="zh-CN" altLang="en-US" sz="1400" b="1" dirty="0">
                <a:latin typeface="Verdana" pitchFamily="34" charset="0"/>
              </a:rPr>
              <a:t>＜</a:t>
            </a:r>
            <a:r>
              <a:rPr lang="en-US" altLang="zh-CN" sz="1400" b="1" dirty="0">
                <a:latin typeface="Verdana" pitchFamily="34" charset="0"/>
              </a:rPr>
              <a:t>!DOCTYPE </a:t>
            </a:r>
            <a:r>
              <a:rPr lang="zh-CN" altLang="en-US" sz="1400" b="1" dirty="0">
                <a:latin typeface="Verdana" pitchFamily="34" charset="0"/>
              </a:rPr>
              <a:t>联系人列表 </a:t>
            </a:r>
            <a:r>
              <a:rPr lang="en-US" altLang="zh-CN" sz="1400" b="1" dirty="0" err="1">
                <a:latin typeface="Verdana" pitchFamily="34" charset="0"/>
              </a:rPr>
              <a:t>SYSTEM”fclml</a:t>
            </a:r>
            <a:r>
              <a:rPr lang="zh-CN" altLang="en-US" sz="1400" b="1" dirty="0">
                <a:latin typeface="Verdana" pitchFamily="34" charset="0"/>
              </a:rPr>
              <a:t>．</a:t>
            </a:r>
            <a:r>
              <a:rPr lang="en-US" altLang="zh-CN" sz="1400" b="1" dirty="0" err="1">
                <a:latin typeface="Verdana" pitchFamily="34" charset="0"/>
              </a:rPr>
              <a:t>dtd</a:t>
            </a:r>
            <a:r>
              <a:rPr lang="en-US" altLang="zh-CN" sz="1400" b="1" dirty="0">
                <a:latin typeface="Verdana" pitchFamily="34" charset="0"/>
              </a:rPr>
              <a:t>”</a:t>
            </a:r>
            <a:r>
              <a:rPr lang="zh-CN" altLang="en-US" sz="1400" b="1" dirty="0">
                <a:latin typeface="Verdana" pitchFamily="34" charset="0"/>
              </a:rPr>
              <a:t>＞</a:t>
            </a:r>
          </a:p>
          <a:p>
            <a:pPr marL="342900" indent="-342900" eaLnBrk="1" hangingPunct="1">
              <a:spcBef>
                <a:spcPct val="20000"/>
              </a:spcBef>
            </a:pPr>
            <a:r>
              <a:rPr lang="zh-CN" altLang="en-US" sz="1400" b="1" dirty="0">
                <a:latin typeface="Verdana" pitchFamily="34" charset="0"/>
              </a:rPr>
              <a:t>＜</a:t>
            </a:r>
            <a:r>
              <a:rPr lang="en-US" altLang="zh-CN" sz="1400" b="1" dirty="0">
                <a:latin typeface="Verdana" pitchFamily="34" charset="0"/>
              </a:rPr>
              <a:t>?xml—</a:t>
            </a:r>
            <a:r>
              <a:rPr lang="en-US" altLang="zh-CN" sz="1400" b="1" dirty="0" err="1">
                <a:latin typeface="Verdana" pitchFamily="34" charset="0"/>
              </a:rPr>
              <a:t>stylesheet</a:t>
            </a:r>
            <a:r>
              <a:rPr lang="en-US" altLang="zh-CN" sz="1400" b="1" dirty="0">
                <a:latin typeface="Verdana" pitchFamily="34" charset="0"/>
              </a:rPr>
              <a:t> type</a:t>
            </a:r>
            <a:r>
              <a:rPr lang="zh-CN" altLang="en-US" sz="1400" b="1" dirty="0">
                <a:latin typeface="Verdana" pitchFamily="34" charset="0"/>
              </a:rPr>
              <a:t>＝”</a:t>
            </a:r>
            <a:r>
              <a:rPr lang="en-US" altLang="zh-CN" sz="1400" b="1" dirty="0">
                <a:latin typeface="Verdana" pitchFamily="34" charset="0"/>
              </a:rPr>
              <a:t>text</a:t>
            </a:r>
            <a:r>
              <a:rPr lang="zh-CN" altLang="en-US" sz="1400" b="1" dirty="0">
                <a:latin typeface="Verdana" pitchFamily="34" charset="0"/>
              </a:rPr>
              <a:t>／</a:t>
            </a:r>
            <a:r>
              <a:rPr lang="en-US" altLang="zh-CN" sz="1400" b="1" dirty="0" err="1">
                <a:latin typeface="Verdana" pitchFamily="34" charset="0"/>
              </a:rPr>
              <a:t>xsl</a:t>
            </a:r>
            <a:r>
              <a:rPr lang="en-US" altLang="zh-CN" sz="1400" b="1" dirty="0">
                <a:latin typeface="Verdana" pitchFamily="34" charset="0"/>
              </a:rPr>
              <a:t>” </a:t>
            </a:r>
            <a:r>
              <a:rPr lang="en-US" altLang="zh-CN" sz="1400" b="1" dirty="0" err="1">
                <a:latin typeface="Verdana" pitchFamily="34" charset="0"/>
              </a:rPr>
              <a:t>href</a:t>
            </a:r>
            <a:r>
              <a:rPr lang="zh-CN" altLang="en-US" sz="1400" b="1" dirty="0">
                <a:latin typeface="Verdana" pitchFamily="34" charset="0"/>
              </a:rPr>
              <a:t>＝“</a:t>
            </a:r>
            <a:r>
              <a:rPr lang="en-US" altLang="zh-CN" sz="1400" b="1" dirty="0" err="1">
                <a:latin typeface="Verdana" pitchFamily="34" charset="0"/>
              </a:rPr>
              <a:t>mystyle</a:t>
            </a:r>
            <a:r>
              <a:rPr lang="zh-CN" altLang="en-US" sz="1400" b="1" dirty="0">
                <a:latin typeface="Verdana" pitchFamily="34" charset="0"/>
              </a:rPr>
              <a:t>．</a:t>
            </a:r>
            <a:r>
              <a:rPr lang="en-US" altLang="zh-CN" sz="1400" b="1" dirty="0" err="1">
                <a:latin typeface="Verdana" pitchFamily="34" charset="0"/>
              </a:rPr>
              <a:t>xsl</a:t>
            </a:r>
            <a:r>
              <a:rPr lang="en-US" altLang="zh-CN" sz="1400" b="1" dirty="0">
                <a:latin typeface="Verdana" pitchFamily="34" charset="0"/>
              </a:rPr>
              <a:t>”?</a:t>
            </a:r>
            <a:r>
              <a:rPr lang="zh-CN" altLang="en-US" sz="1400" b="1" dirty="0" smtClean="0">
                <a:latin typeface="Verdana" pitchFamily="34" charset="0"/>
              </a:rPr>
              <a:t>＞</a:t>
            </a:r>
            <a:endParaRPr lang="zh-CN" altLang="en-US" sz="1400" b="1" dirty="0">
              <a:latin typeface="Verdana" pitchFamily="34" charset="0"/>
            </a:endParaRPr>
          </a:p>
          <a:p>
            <a:pPr marL="342900" indent="-342900" eaLnBrk="1" hangingPunct="1">
              <a:spcBef>
                <a:spcPct val="20000"/>
              </a:spcBef>
            </a:pPr>
            <a:r>
              <a:rPr lang="zh-CN" altLang="en-US" sz="1400" b="1" dirty="0">
                <a:latin typeface="Verdana" pitchFamily="34" charset="0"/>
              </a:rPr>
              <a:t>＜联系人列表＞</a:t>
            </a:r>
          </a:p>
          <a:p>
            <a:pPr marL="342900" indent="-342900" eaLnBrk="1" hangingPunct="1">
              <a:spcBef>
                <a:spcPct val="20000"/>
              </a:spcBef>
            </a:pPr>
            <a:r>
              <a:rPr lang="zh-CN" altLang="en-US" sz="1400" b="1" dirty="0">
                <a:latin typeface="Verdana" pitchFamily="34" charset="0"/>
              </a:rPr>
              <a:t>   ＜联系人＞</a:t>
            </a:r>
          </a:p>
          <a:p>
            <a:pPr marL="342900" indent="-342900" eaLnBrk="1" hangingPunct="1">
              <a:spcBef>
                <a:spcPct val="20000"/>
              </a:spcBef>
            </a:pPr>
            <a:r>
              <a:rPr lang="zh-CN" altLang="en-US" sz="1400" b="1" dirty="0">
                <a:latin typeface="Verdana" pitchFamily="34" charset="0"/>
              </a:rPr>
              <a:t>       ＜姓名＞张三＜／姓名＞</a:t>
            </a:r>
          </a:p>
          <a:p>
            <a:pPr marL="342900" indent="-342900" eaLnBrk="1" hangingPunct="1">
              <a:spcBef>
                <a:spcPct val="20000"/>
              </a:spcBef>
            </a:pPr>
            <a:r>
              <a:rPr lang="zh-CN" altLang="en-US" sz="1400" b="1" dirty="0">
                <a:latin typeface="Verdana" pitchFamily="34" charset="0"/>
              </a:rPr>
              <a:t>       ＜</a:t>
            </a:r>
            <a:r>
              <a:rPr lang="en-US" altLang="zh-CN" sz="1400" b="1" dirty="0">
                <a:latin typeface="Verdana" pitchFamily="34" charset="0"/>
              </a:rPr>
              <a:t>ID</a:t>
            </a:r>
            <a:r>
              <a:rPr lang="zh-CN" altLang="en-US" sz="1400" b="1" dirty="0">
                <a:latin typeface="Verdana" pitchFamily="34" charset="0"/>
              </a:rPr>
              <a:t>＞</a:t>
            </a:r>
            <a:r>
              <a:rPr lang="en-US" altLang="zh-CN" sz="1400" b="1" dirty="0">
                <a:latin typeface="Verdana" pitchFamily="34" charset="0"/>
              </a:rPr>
              <a:t>001</a:t>
            </a:r>
            <a:r>
              <a:rPr lang="zh-CN" altLang="en-US" sz="1400" b="1" dirty="0">
                <a:latin typeface="Verdana" pitchFamily="34" charset="0"/>
              </a:rPr>
              <a:t>＜／</a:t>
            </a:r>
            <a:r>
              <a:rPr lang="en-US" altLang="zh-CN" sz="1400" b="1" dirty="0">
                <a:latin typeface="Verdana" pitchFamily="34" charset="0"/>
              </a:rPr>
              <a:t>ID</a:t>
            </a:r>
            <a:r>
              <a:rPr lang="zh-CN" altLang="en-US" sz="1400" b="1" dirty="0">
                <a:latin typeface="Verdana" pitchFamily="34" charset="0"/>
              </a:rPr>
              <a:t>＞</a:t>
            </a:r>
          </a:p>
          <a:p>
            <a:pPr marL="342900" indent="-342900" eaLnBrk="1" hangingPunct="1">
              <a:spcBef>
                <a:spcPct val="20000"/>
              </a:spcBef>
            </a:pPr>
            <a:r>
              <a:rPr lang="zh-CN" altLang="en-US" sz="1400" b="1" dirty="0">
                <a:latin typeface="Verdana" pitchFamily="34" charset="0"/>
              </a:rPr>
              <a:t>       ＜公司＞</a:t>
            </a:r>
            <a:r>
              <a:rPr lang="en-US" altLang="zh-CN" sz="1400" b="1" dirty="0">
                <a:latin typeface="Verdana" pitchFamily="34" charset="0"/>
              </a:rPr>
              <a:t>A</a:t>
            </a:r>
            <a:r>
              <a:rPr lang="zh-CN" altLang="en-US" sz="1400" b="1" dirty="0">
                <a:latin typeface="Verdana" pitchFamily="34" charset="0"/>
              </a:rPr>
              <a:t>公司＜／公司＞</a:t>
            </a:r>
          </a:p>
          <a:p>
            <a:pPr marL="342900" indent="-342900" eaLnBrk="1" hangingPunct="1">
              <a:spcBef>
                <a:spcPct val="20000"/>
              </a:spcBef>
            </a:pPr>
            <a:r>
              <a:rPr lang="zh-CN" altLang="en-US" sz="1400" b="1" dirty="0">
                <a:latin typeface="Verdana" pitchFamily="34" charset="0"/>
              </a:rPr>
              <a:t>       ＜</a:t>
            </a:r>
            <a:r>
              <a:rPr lang="en-US" altLang="zh-CN" sz="1400" b="1" dirty="0">
                <a:latin typeface="Verdana" pitchFamily="34" charset="0"/>
              </a:rPr>
              <a:t>EMAIL</a:t>
            </a:r>
            <a:r>
              <a:rPr lang="zh-CN" altLang="en-US" sz="1400" b="1" dirty="0">
                <a:latin typeface="Verdana" pitchFamily="34" charset="0"/>
              </a:rPr>
              <a:t>＞</a:t>
            </a:r>
            <a:r>
              <a:rPr lang="en-US" altLang="zh-CN" sz="1400" b="1" dirty="0" err="1">
                <a:latin typeface="Verdana" pitchFamily="34" charset="0"/>
              </a:rPr>
              <a:t>zhang</a:t>
            </a:r>
            <a:r>
              <a:rPr lang="zh-CN" altLang="en-US" sz="1400" b="1" dirty="0">
                <a:latin typeface="Verdana" pitchFamily="34" charset="0"/>
              </a:rPr>
              <a:t>＠</a:t>
            </a:r>
            <a:r>
              <a:rPr lang="en-US" altLang="zh-CN" sz="1400" b="1" dirty="0" err="1">
                <a:latin typeface="Verdana" pitchFamily="34" charset="0"/>
              </a:rPr>
              <a:t>aaa</a:t>
            </a:r>
            <a:r>
              <a:rPr lang="zh-CN" altLang="en-US" sz="1400" b="1" dirty="0">
                <a:latin typeface="Verdana" pitchFamily="34" charset="0"/>
              </a:rPr>
              <a:t>．</a:t>
            </a:r>
            <a:r>
              <a:rPr lang="en-US" altLang="zh-CN" sz="1400" b="1" dirty="0">
                <a:latin typeface="Verdana" pitchFamily="34" charset="0"/>
              </a:rPr>
              <a:t>com</a:t>
            </a:r>
            <a:r>
              <a:rPr lang="zh-CN" altLang="en-US" sz="1400" b="1" dirty="0">
                <a:latin typeface="Verdana" pitchFamily="34" charset="0"/>
              </a:rPr>
              <a:t>＜／</a:t>
            </a:r>
            <a:r>
              <a:rPr lang="en-US" altLang="zh-CN" sz="1400" b="1" dirty="0">
                <a:latin typeface="Verdana" pitchFamily="34" charset="0"/>
              </a:rPr>
              <a:t>EMAIL</a:t>
            </a:r>
            <a:r>
              <a:rPr lang="zh-CN" altLang="en-US" sz="1400" b="1" dirty="0">
                <a:latin typeface="Verdana" pitchFamily="34" charset="0"/>
              </a:rPr>
              <a:t>＞</a:t>
            </a:r>
          </a:p>
          <a:p>
            <a:pPr marL="342900" indent="-342900" eaLnBrk="1" hangingPunct="1">
              <a:spcBef>
                <a:spcPct val="20000"/>
              </a:spcBef>
            </a:pPr>
            <a:r>
              <a:rPr lang="zh-CN" altLang="en-US" sz="1400" b="1" dirty="0">
                <a:latin typeface="Verdana" pitchFamily="34" charset="0"/>
              </a:rPr>
              <a:t>       ＜电话＞</a:t>
            </a:r>
            <a:r>
              <a:rPr lang="en-US" altLang="zh-CN" sz="1400" b="1" dirty="0">
                <a:latin typeface="Verdana" pitchFamily="34" charset="0"/>
              </a:rPr>
              <a:t>(010)62345678</a:t>
            </a:r>
            <a:r>
              <a:rPr lang="zh-CN" altLang="en-US" sz="1400" b="1" dirty="0">
                <a:latin typeface="Verdana" pitchFamily="34" charset="0"/>
              </a:rPr>
              <a:t>＜／电话＞</a:t>
            </a:r>
          </a:p>
          <a:p>
            <a:pPr marL="342900" indent="-342900" eaLnBrk="1" hangingPunct="1">
              <a:spcBef>
                <a:spcPct val="20000"/>
              </a:spcBef>
            </a:pPr>
            <a:r>
              <a:rPr lang="zh-CN" altLang="en-US" sz="1400" b="1" dirty="0">
                <a:latin typeface="Verdana" pitchFamily="34" charset="0"/>
              </a:rPr>
              <a:t>       ＜地址＞</a:t>
            </a:r>
          </a:p>
          <a:p>
            <a:pPr marL="342900" indent="-342900" eaLnBrk="1" hangingPunct="1">
              <a:spcBef>
                <a:spcPct val="20000"/>
              </a:spcBef>
            </a:pPr>
            <a:r>
              <a:rPr lang="zh-CN" altLang="en-US" sz="1400" b="1" dirty="0">
                <a:latin typeface="Verdana" pitchFamily="34" charset="0"/>
              </a:rPr>
              <a:t>           ＜街道＞五街</a:t>
            </a:r>
            <a:r>
              <a:rPr lang="en-US" altLang="zh-CN" sz="1400" b="1" dirty="0">
                <a:latin typeface="Verdana" pitchFamily="34" charset="0"/>
              </a:rPr>
              <a:t>1234</a:t>
            </a:r>
            <a:r>
              <a:rPr lang="zh-CN" altLang="en-US" sz="1400" b="1" dirty="0">
                <a:latin typeface="Verdana" pitchFamily="34" charset="0"/>
              </a:rPr>
              <a:t>号＜／街道＞</a:t>
            </a:r>
          </a:p>
          <a:p>
            <a:pPr marL="342900" indent="-342900" eaLnBrk="1" hangingPunct="1">
              <a:spcBef>
                <a:spcPct val="20000"/>
              </a:spcBef>
            </a:pPr>
            <a:r>
              <a:rPr lang="zh-CN" altLang="en-US" sz="1400" b="1" dirty="0">
                <a:latin typeface="Verdana" pitchFamily="34" charset="0"/>
              </a:rPr>
              <a:t>           ＜城市＞北京市＜／城市＞</a:t>
            </a:r>
          </a:p>
          <a:p>
            <a:pPr marL="342900" indent="-342900" eaLnBrk="1" hangingPunct="1">
              <a:spcBef>
                <a:spcPct val="20000"/>
              </a:spcBef>
            </a:pPr>
            <a:r>
              <a:rPr lang="zh-CN" altLang="en-US" sz="1400" b="1" dirty="0">
                <a:latin typeface="Verdana" pitchFamily="34" charset="0"/>
              </a:rPr>
              <a:t>           ＜省份＞北京＜／省份＞</a:t>
            </a:r>
          </a:p>
          <a:p>
            <a:pPr marL="342900" indent="-342900" eaLnBrk="1" hangingPunct="1">
              <a:spcBef>
                <a:spcPct val="20000"/>
              </a:spcBef>
            </a:pPr>
            <a:r>
              <a:rPr lang="zh-CN" altLang="en-US" sz="1400" b="1" dirty="0">
                <a:latin typeface="Verdana" pitchFamily="34" charset="0"/>
              </a:rPr>
              <a:t>       ＜／地址＞</a:t>
            </a:r>
          </a:p>
          <a:p>
            <a:pPr marL="342900" indent="-342900" eaLnBrk="1" hangingPunct="1">
              <a:spcBef>
                <a:spcPct val="20000"/>
              </a:spcBef>
            </a:pPr>
            <a:r>
              <a:rPr lang="zh-CN" altLang="en-US" sz="1400" b="1" dirty="0">
                <a:latin typeface="Verdana" pitchFamily="34" charset="0"/>
              </a:rPr>
              <a:t>   ＜／联系人＞</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609600" indent="-609600">
              <a:defRPr/>
            </a:pPr>
            <a:r>
              <a:rPr lang="zh-CN" altLang="en-US" sz="3200" b="1" dirty="0" smtClean="0">
                <a:latin typeface="+mj-ea"/>
              </a:rPr>
              <a:t>元素声明</a:t>
            </a:r>
            <a:endParaRPr lang="zh-CN" altLang="en-US" sz="3200" b="1" dirty="0">
              <a:latin typeface="+mj-ea"/>
            </a:endParaRPr>
          </a:p>
        </p:txBody>
      </p:sp>
      <p:sp>
        <p:nvSpPr>
          <p:cNvPr id="3" name="内容占位符 2"/>
          <p:cNvSpPr>
            <a:spLocks noGrp="1"/>
          </p:cNvSpPr>
          <p:nvPr>
            <p:ph idx="1"/>
          </p:nvPr>
        </p:nvSpPr>
        <p:spPr/>
        <p:txBody>
          <a:bodyPr>
            <a:normAutofit/>
          </a:bodyPr>
          <a:lstStyle/>
          <a:p>
            <a:r>
              <a:rPr lang="en-US" sz="2800" b="1" dirty="0" smtClean="0">
                <a:latin typeface="+mn-ea"/>
              </a:rPr>
              <a:t>&lt;!ELEMENT </a:t>
            </a:r>
            <a:r>
              <a:rPr lang="zh-CN" altLang="en-US" sz="2800" b="1" dirty="0" smtClean="0">
                <a:latin typeface="+mn-ea"/>
              </a:rPr>
              <a:t>元素名称 元素的内容格式的定义</a:t>
            </a:r>
            <a:r>
              <a:rPr lang="en-US" sz="2800" b="1" dirty="0" smtClean="0">
                <a:latin typeface="+mn-ea"/>
              </a:rPr>
              <a:t>&gt;</a:t>
            </a:r>
          </a:p>
          <a:p>
            <a:endParaRPr lang="en-US" sz="2800" b="1" dirty="0" smtClean="0">
              <a:latin typeface="+mn-ea"/>
            </a:endParaRPr>
          </a:p>
          <a:p>
            <a:r>
              <a:rPr lang="zh-CN" altLang="en-US" sz="2800" b="1" dirty="0" smtClean="0">
                <a:latin typeface="+mn-ea"/>
              </a:rPr>
              <a:t>基本元素声明：</a:t>
            </a:r>
            <a:r>
              <a:rPr lang="en-US" sz="2800" b="1" dirty="0" smtClean="0">
                <a:latin typeface="+mn-ea"/>
              </a:rPr>
              <a:t>&lt;!ELEMENT </a:t>
            </a:r>
            <a:r>
              <a:rPr lang="zh-CN" altLang="en-US" sz="2800" b="1" dirty="0" smtClean="0">
                <a:latin typeface="+mn-ea"/>
              </a:rPr>
              <a:t>姓名 （</a:t>
            </a:r>
            <a:r>
              <a:rPr lang="en-US" sz="2800" b="1" dirty="0" smtClean="0">
                <a:latin typeface="+mn-ea"/>
              </a:rPr>
              <a:t>#PCDATA)&gt;</a:t>
            </a:r>
          </a:p>
          <a:p>
            <a:endParaRPr lang="en-US" sz="2800" b="1" dirty="0" smtClean="0">
              <a:latin typeface="+mn-ea"/>
            </a:endParaRPr>
          </a:p>
          <a:p>
            <a:r>
              <a:rPr lang="zh-CN" altLang="en-US" sz="2800" b="1" dirty="0" smtClean="0">
                <a:latin typeface="+mn-ea"/>
              </a:rPr>
              <a:t>复合元素声明：</a:t>
            </a:r>
            <a:r>
              <a:rPr lang="en-US" sz="2800" b="1" dirty="0" smtClean="0">
                <a:latin typeface="+mn-ea"/>
              </a:rPr>
              <a:t>&lt;!ELEMENT </a:t>
            </a:r>
            <a:r>
              <a:rPr lang="zh-CN" altLang="en-US" sz="2800" b="1" dirty="0" smtClean="0">
                <a:latin typeface="+mn-ea"/>
              </a:rPr>
              <a:t>联系人</a:t>
            </a:r>
            <a:r>
              <a:rPr lang="en-US" sz="2800" b="1" dirty="0" smtClean="0">
                <a:latin typeface="+mn-ea"/>
              </a:rPr>
              <a:t> (</a:t>
            </a:r>
            <a:r>
              <a:rPr lang="zh-CN" altLang="en-US" sz="2800" b="1" dirty="0" smtClean="0">
                <a:latin typeface="+mn-ea"/>
              </a:rPr>
              <a:t>姓名，</a:t>
            </a:r>
            <a:r>
              <a:rPr lang="en-US" sz="2800" b="1" dirty="0" smtClean="0">
                <a:latin typeface="+mn-ea"/>
              </a:rPr>
              <a:t>ID</a:t>
            </a:r>
            <a:r>
              <a:rPr lang="zh-CN" altLang="en-US" sz="2800" b="1" dirty="0" smtClean="0">
                <a:latin typeface="+mn-ea"/>
              </a:rPr>
              <a:t>，公司，</a:t>
            </a:r>
            <a:r>
              <a:rPr lang="en-US" sz="2800" b="1" dirty="0" smtClean="0">
                <a:latin typeface="+mn-ea"/>
              </a:rPr>
              <a:t>EMAIL</a:t>
            </a:r>
            <a:r>
              <a:rPr lang="zh-CN" altLang="en-US" sz="2800" b="1" dirty="0" smtClean="0">
                <a:latin typeface="+mn-ea"/>
              </a:rPr>
              <a:t>，电话</a:t>
            </a:r>
            <a:r>
              <a:rPr lang="en-US" sz="2800" b="1" dirty="0" smtClean="0">
                <a:latin typeface="+mn-ea"/>
              </a:rPr>
              <a:t>)&gt;</a:t>
            </a:r>
            <a:endParaRPr lang="zh-CN" altLang="en-US" sz="2800" b="1" dirty="0">
              <a:latin typeface="+mn-ea"/>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57356" y="71438"/>
            <a:ext cx="6372244" cy="762000"/>
          </a:xfrm>
        </p:spPr>
        <p:txBody>
          <a:bodyPr/>
          <a:lstStyle/>
          <a:p>
            <a:pPr>
              <a:defRPr/>
            </a:pPr>
            <a:r>
              <a:rPr lang="zh-CN" altLang="en-US" sz="3200" b="1" dirty="0" smtClean="0"/>
              <a:t>元素出现次数的控制</a:t>
            </a:r>
            <a:endParaRPr lang="zh-CN" altLang="en-US" sz="3200" b="1" dirty="0">
              <a:latin typeface="+mn-ea"/>
              <a:ea typeface="+mn-ea"/>
            </a:endParaRPr>
          </a:p>
        </p:txBody>
      </p:sp>
      <p:sp>
        <p:nvSpPr>
          <p:cNvPr id="3" name="内容占位符 2"/>
          <p:cNvSpPr>
            <a:spLocks noGrp="1"/>
          </p:cNvSpPr>
          <p:nvPr>
            <p:ph idx="1"/>
          </p:nvPr>
        </p:nvSpPr>
        <p:spPr>
          <a:xfrm>
            <a:off x="1943107" y="5429264"/>
            <a:ext cx="6343669" cy="1381125"/>
          </a:xfrm>
        </p:spPr>
        <p:txBody>
          <a:bodyPr/>
          <a:lstStyle/>
          <a:p>
            <a:pPr>
              <a:buFontTx/>
              <a:buNone/>
              <a:defRPr/>
            </a:pPr>
            <a:r>
              <a:rPr lang="zh-CN" altLang="en-US" sz="2400" b="1" dirty="0" smtClean="0">
                <a:latin typeface="+mn-ea"/>
              </a:rPr>
              <a:t>＜</a:t>
            </a:r>
            <a:r>
              <a:rPr lang="en-US" altLang="zh-CN" sz="2400" b="1" dirty="0" smtClean="0">
                <a:latin typeface="+mn-ea"/>
              </a:rPr>
              <a:t>!ELEMENT </a:t>
            </a:r>
            <a:r>
              <a:rPr lang="zh-CN" altLang="en-US" sz="2400" b="1" dirty="0" smtClean="0">
                <a:latin typeface="+mn-ea"/>
              </a:rPr>
              <a:t>联系人 （姓名，</a:t>
            </a:r>
            <a:r>
              <a:rPr lang="en-US" altLang="zh-CN" sz="2400" b="1" dirty="0" smtClean="0">
                <a:latin typeface="+mn-ea"/>
              </a:rPr>
              <a:t>EMAIL)+</a:t>
            </a:r>
            <a:r>
              <a:rPr lang="zh-CN" altLang="en-US" sz="2400" b="1" dirty="0" smtClean="0">
                <a:latin typeface="+mn-ea"/>
              </a:rPr>
              <a:t>＞</a:t>
            </a:r>
          </a:p>
          <a:p>
            <a:pPr>
              <a:buFontTx/>
              <a:buNone/>
              <a:defRPr/>
            </a:pPr>
            <a:r>
              <a:rPr lang="zh-CN" altLang="en-US" sz="2400" b="1" dirty="0" smtClean="0">
                <a:latin typeface="+mn-ea"/>
              </a:rPr>
              <a:t>＜</a:t>
            </a:r>
            <a:r>
              <a:rPr lang="en-US" altLang="zh-CN" sz="2400" b="1" dirty="0" smtClean="0">
                <a:latin typeface="+mn-ea"/>
              </a:rPr>
              <a:t>!ELEMENT </a:t>
            </a:r>
            <a:r>
              <a:rPr lang="zh-CN" altLang="en-US" sz="2400" b="1" dirty="0" smtClean="0">
                <a:latin typeface="+mn-ea"/>
              </a:rPr>
              <a:t>姓名 （</a:t>
            </a:r>
            <a:r>
              <a:rPr lang="en-US" altLang="zh-CN" sz="2400" b="1" dirty="0" smtClean="0">
                <a:latin typeface="+mn-ea"/>
              </a:rPr>
              <a:t>#PCDATA</a:t>
            </a:r>
            <a:r>
              <a:rPr lang="zh-CN" altLang="en-US" sz="2400" b="1" dirty="0" smtClean="0">
                <a:latin typeface="+mn-ea"/>
              </a:rPr>
              <a:t>）＞</a:t>
            </a:r>
          </a:p>
          <a:p>
            <a:pPr>
              <a:buFontTx/>
              <a:buNone/>
              <a:defRPr/>
            </a:pPr>
            <a:r>
              <a:rPr lang="zh-CN" altLang="en-US" sz="2400" b="1" dirty="0" smtClean="0">
                <a:latin typeface="+mn-ea"/>
              </a:rPr>
              <a:t>＜</a:t>
            </a:r>
            <a:r>
              <a:rPr lang="en-US" altLang="zh-CN" sz="2400" b="1" dirty="0" smtClean="0">
                <a:latin typeface="+mn-ea"/>
              </a:rPr>
              <a:t>!ELEMENT EMAIL </a:t>
            </a:r>
            <a:r>
              <a:rPr lang="zh-CN" altLang="en-US" sz="2400" b="1" dirty="0" smtClean="0">
                <a:latin typeface="+mn-ea"/>
              </a:rPr>
              <a:t>（</a:t>
            </a:r>
            <a:r>
              <a:rPr lang="en-US" altLang="zh-CN" sz="2400" b="1" dirty="0" smtClean="0">
                <a:latin typeface="+mn-ea"/>
              </a:rPr>
              <a:t>#PCDATA</a:t>
            </a:r>
            <a:r>
              <a:rPr lang="zh-CN" altLang="en-US" sz="2400" b="1" dirty="0" smtClean="0">
                <a:latin typeface="+mn-ea"/>
              </a:rPr>
              <a:t>）＞</a:t>
            </a:r>
          </a:p>
          <a:p>
            <a:pPr>
              <a:buFontTx/>
              <a:buNone/>
              <a:defRPr/>
            </a:pPr>
            <a:endParaRPr lang="zh-CN" altLang="en-US" sz="2400" b="1" dirty="0">
              <a:latin typeface="+mn-ea"/>
            </a:endParaRPr>
          </a:p>
        </p:txBody>
      </p:sp>
      <p:graphicFrame>
        <p:nvGraphicFramePr>
          <p:cNvPr id="4" name="Group 36"/>
          <p:cNvGraphicFramePr>
            <a:graphicFrameLocks noGrp="1"/>
          </p:cNvGraphicFramePr>
          <p:nvPr/>
        </p:nvGraphicFramePr>
        <p:xfrm>
          <a:off x="2000232" y="928670"/>
          <a:ext cx="6929517" cy="4401019"/>
        </p:xfrm>
        <a:graphic>
          <a:graphicData uri="http://schemas.openxmlformats.org/drawingml/2006/table">
            <a:tbl>
              <a:tblPr/>
              <a:tblGrid>
                <a:gridCol w="3396822">
                  <a:extLst>
                    <a:ext uri="{9D8B030D-6E8A-4147-A177-3AD203B41FA5}">
                      <a16:colId xmlns:a16="http://schemas.microsoft.com/office/drawing/2014/main" val="20000"/>
                    </a:ext>
                  </a:extLst>
                </a:gridCol>
                <a:gridCol w="3532695">
                  <a:extLst>
                    <a:ext uri="{9D8B030D-6E8A-4147-A177-3AD203B41FA5}">
                      <a16:colId xmlns:a16="http://schemas.microsoft.com/office/drawing/2014/main" val="20001"/>
                    </a:ext>
                  </a:extLst>
                </a:gridCol>
              </a:tblGrid>
              <a:tr h="37127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dirty="0" smtClean="0">
                          <a:ln>
                            <a:noFill/>
                          </a:ln>
                          <a:solidFill>
                            <a:schemeClr val="tx1"/>
                          </a:solidFill>
                          <a:effectLst/>
                          <a:latin typeface="Arial" charset="0"/>
                          <a:ea typeface="宋体" pitchFamily="2" charset="-122"/>
                        </a:rPr>
                        <a:t>元字符</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chemeClr val="tx1"/>
                          </a:solidFill>
                          <a:effectLst/>
                          <a:latin typeface="Arial" charset="0"/>
                          <a:ea typeface="宋体" pitchFamily="2" charset="-122"/>
                        </a:rPr>
                        <a:t>含义</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127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Arial" charset="0"/>
                          <a:ea typeface="宋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dirty="0" smtClean="0">
                          <a:ln>
                            <a:noFill/>
                          </a:ln>
                          <a:solidFill>
                            <a:schemeClr val="tx1"/>
                          </a:solidFill>
                          <a:effectLst/>
                          <a:latin typeface="Arial" charset="0"/>
                          <a:ea typeface="宋体" pitchFamily="2" charset="-122"/>
                        </a:rPr>
                        <a:t>出现一次或多次</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2856">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Arial" charset="0"/>
                          <a:ea typeface="宋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chemeClr val="tx1"/>
                          </a:solidFill>
                          <a:effectLst/>
                          <a:latin typeface="Arial" charset="0"/>
                          <a:ea typeface="宋体" pitchFamily="2" charset="-122"/>
                        </a:rPr>
                        <a:t>出现零次或多次</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53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Arial" charset="0"/>
                          <a:ea typeface="宋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chemeClr val="tx1"/>
                          </a:solidFill>
                          <a:effectLst/>
                          <a:latin typeface="Arial" charset="0"/>
                          <a:ea typeface="宋体" pitchFamily="2" charset="-122"/>
                        </a:rPr>
                        <a:t>可选，不出现或出现一次</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53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Arial" charset="0"/>
                          <a:ea typeface="宋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chemeClr val="tx1"/>
                          </a:solidFill>
                          <a:effectLst/>
                          <a:latin typeface="Arial" charset="0"/>
                          <a:ea typeface="宋体" pitchFamily="2" charset="-122"/>
                        </a:rPr>
                        <a:t>一组要共同匹配的表达式</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253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Arial" charset="0"/>
                          <a:ea typeface="宋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chemeClr val="tx1"/>
                          </a:solidFill>
                          <a:effectLst/>
                          <a:latin typeface="Arial" charset="0"/>
                          <a:ea typeface="宋体" pitchFamily="2" charset="-122"/>
                        </a:rPr>
                        <a:t>或（</a:t>
                      </a:r>
                      <a:r>
                        <a:rPr kumimoji="0" lang="en-US" altLang="zh-CN" sz="1800" b="1" i="0" u="none" strike="noStrike" cap="none" normalizeH="0" baseline="0" smtClean="0">
                          <a:ln>
                            <a:noFill/>
                          </a:ln>
                          <a:solidFill>
                            <a:schemeClr val="tx1"/>
                          </a:solidFill>
                          <a:effectLst/>
                          <a:latin typeface="Arial" charset="0"/>
                          <a:ea typeface="宋体" pitchFamily="2" charset="-122"/>
                        </a:rPr>
                        <a:t>OR</a:t>
                      </a:r>
                      <a:r>
                        <a:rPr kumimoji="0" lang="zh-CN" altLang="en-US" sz="1800" b="1" i="0" u="none" strike="noStrike" cap="none" normalizeH="0" baseline="0" smtClean="0">
                          <a:ln>
                            <a:noFill/>
                          </a:ln>
                          <a:solidFill>
                            <a:schemeClr val="tx1"/>
                          </a:solidFill>
                          <a:effectLst/>
                          <a:latin typeface="Arial" charset="0"/>
                          <a:ea typeface="宋体" pitchFamily="2"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253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Arial" charset="0"/>
                          <a:ea typeface="宋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chemeClr val="tx1"/>
                          </a:solidFill>
                          <a:effectLst/>
                          <a:latin typeface="Arial" charset="0"/>
                          <a:ea typeface="宋体" pitchFamily="2" charset="-122"/>
                        </a:rPr>
                        <a:t>并（</a:t>
                      </a:r>
                      <a:r>
                        <a:rPr kumimoji="0" lang="en-US" altLang="zh-CN" sz="1800" b="1" i="0" u="none" strike="noStrike" cap="none" normalizeH="0" baseline="0" smtClean="0">
                          <a:ln>
                            <a:noFill/>
                          </a:ln>
                          <a:solidFill>
                            <a:schemeClr val="tx1"/>
                          </a:solidFill>
                          <a:effectLst/>
                          <a:latin typeface="Arial" charset="0"/>
                          <a:ea typeface="宋体" pitchFamily="2" charset="-122"/>
                        </a:rPr>
                        <a:t>AND</a:t>
                      </a:r>
                      <a:r>
                        <a:rPr kumimoji="0" lang="zh-CN" altLang="en-US" sz="1800" b="1" i="0" u="none" strike="noStrike" cap="none" normalizeH="0" baseline="0" smtClean="0">
                          <a:ln>
                            <a:noFill/>
                          </a:ln>
                          <a:solidFill>
                            <a:schemeClr val="tx1"/>
                          </a:solidFill>
                          <a:effectLst/>
                          <a:latin typeface="Arial" charset="0"/>
                          <a:ea typeface="宋体" pitchFamily="2" charset="-122"/>
                        </a:rPr>
                        <a:t>），要求严格遵从顺序要求</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039562">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chemeClr val="tx1"/>
                          </a:solidFill>
                          <a:effectLst/>
                          <a:latin typeface="Arial" charset="0"/>
                          <a:ea typeface="宋体" pitchFamily="2" charset="-122"/>
                        </a:rPr>
                        <a:t>元素</a:t>
                      </a:r>
                      <a:r>
                        <a:rPr kumimoji="0" lang="en-US" altLang="zh-CN" sz="1800" b="1" i="0" u="none" strike="noStrike" cap="none" normalizeH="0" baseline="0" smtClean="0">
                          <a:ln>
                            <a:noFill/>
                          </a:ln>
                          <a:solidFill>
                            <a:schemeClr val="tx1"/>
                          </a:solidFill>
                          <a:effectLst/>
                          <a:latin typeface="Arial" charset="0"/>
                          <a:ea typeface="宋体" pitchFamily="2" charset="-122"/>
                        </a:rPr>
                        <a:t>A</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chemeClr val="tx1"/>
                          </a:solidFill>
                          <a:effectLst/>
                          <a:latin typeface="Arial" charset="0"/>
                          <a:ea typeface="宋体" pitchFamily="2" charset="-122"/>
                        </a:rPr>
                        <a:t>元素</a:t>
                      </a:r>
                      <a:r>
                        <a:rPr kumimoji="0" lang="en-US" altLang="zh-CN" sz="1800" b="1" i="0" u="none" strike="noStrike" cap="none" normalizeH="0" baseline="0" smtClean="0">
                          <a:ln>
                            <a:noFill/>
                          </a:ln>
                          <a:solidFill>
                            <a:schemeClr val="tx1"/>
                          </a:solidFill>
                          <a:effectLst/>
                          <a:latin typeface="Arial" charset="0"/>
                          <a:ea typeface="宋体" pitchFamily="2" charset="-122"/>
                        </a:rPr>
                        <a:t>B</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chemeClr val="tx1"/>
                          </a:solidFill>
                          <a:effectLst/>
                          <a:latin typeface="Arial" charset="0"/>
                          <a:ea typeface="宋体" pitchFamily="2" charset="-122"/>
                        </a:rPr>
                        <a:t>元素</a:t>
                      </a:r>
                      <a:r>
                        <a:rPr kumimoji="0" lang="en-US" altLang="zh-CN" sz="1800" b="1" i="0" u="none" strike="noStrike" cap="none" normalizeH="0" baseline="0" smtClean="0">
                          <a:ln>
                            <a:noFill/>
                          </a:ln>
                          <a:solidFill>
                            <a:schemeClr val="tx1"/>
                          </a:solidFill>
                          <a:effectLst/>
                          <a:latin typeface="Arial" charset="0"/>
                          <a:ea typeface="宋体" pitchFamily="2" charset="-122"/>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dirty="0" smtClean="0">
                          <a:ln>
                            <a:noFill/>
                          </a:ln>
                          <a:solidFill>
                            <a:schemeClr val="tx1"/>
                          </a:solidFill>
                          <a:effectLst/>
                          <a:latin typeface="Arial" charset="0"/>
                          <a:ea typeface="宋体" pitchFamily="2" charset="-122"/>
                        </a:rPr>
                        <a:t>元素列表，无须遵从顺序要求</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sz="3200" b="1" dirty="0" smtClean="0"/>
              <a:t>元素属性声明</a:t>
            </a:r>
            <a:endParaRPr lang="zh-CN" altLang="en-US" sz="3200" b="1" dirty="0"/>
          </a:p>
        </p:txBody>
      </p:sp>
      <p:sp>
        <p:nvSpPr>
          <p:cNvPr id="3" name="内容占位符 2"/>
          <p:cNvSpPr>
            <a:spLocks noGrp="1"/>
          </p:cNvSpPr>
          <p:nvPr>
            <p:ph idx="1"/>
          </p:nvPr>
        </p:nvSpPr>
        <p:spPr>
          <a:xfrm>
            <a:off x="1785918" y="1571612"/>
            <a:ext cx="7215238" cy="4114800"/>
          </a:xfrm>
        </p:spPr>
        <p:txBody>
          <a:bodyPr/>
          <a:lstStyle/>
          <a:p>
            <a:pPr marL="342900" lvl="1" indent="-342900">
              <a:lnSpc>
                <a:spcPct val="90000"/>
              </a:lnSpc>
              <a:buFontTx/>
              <a:buNone/>
              <a:defRPr/>
            </a:pPr>
            <a:r>
              <a:rPr lang="zh-CN" altLang="en-US" sz="2400" b="1" dirty="0" smtClean="0">
                <a:latin typeface="+mn-ea"/>
              </a:rPr>
              <a:t>＜</a:t>
            </a:r>
            <a:r>
              <a:rPr lang="en-US" altLang="zh-CN" sz="2400" b="1" dirty="0" smtClean="0">
                <a:latin typeface="+mn-ea"/>
              </a:rPr>
              <a:t>!ATTLIST </a:t>
            </a:r>
            <a:r>
              <a:rPr lang="zh-CN" altLang="en-US" sz="2400" b="1" dirty="0" smtClean="0">
                <a:latin typeface="+mn-ea"/>
              </a:rPr>
              <a:t>元素名 属性名 属性类型 </a:t>
            </a:r>
            <a:r>
              <a:rPr lang="en-US" altLang="zh-CN" sz="2400" b="1" dirty="0" smtClean="0">
                <a:latin typeface="+mn-ea"/>
              </a:rPr>
              <a:t>#REQUIRED</a:t>
            </a:r>
            <a:r>
              <a:rPr lang="zh-CN" altLang="en-US" sz="2400" b="1" dirty="0" smtClean="0">
                <a:latin typeface="+mn-ea"/>
              </a:rPr>
              <a:t>＞</a:t>
            </a:r>
          </a:p>
          <a:p>
            <a:pPr marL="342900" lvl="1" indent="-342900">
              <a:lnSpc>
                <a:spcPct val="90000"/>
              </a:lnSpc>
              <a:buFontTx/>
              <a:buNone/>
              <a:defRPr/>
            </a:pPr>
            <a:r>
              <a:rPr lang="zh-CN" altLang="en-US" sz="2400" b="1" dirty="0" smtClean="0">
                <a:latin typeface="+mn-ea"/>
              </a:rPr>
              <a:t>＜</a:t>
            </a:r>
            <a:r>
              <a:rPr lang="en-US" altLang="zh-CN" sz="2400" b="1" dirty="0" smtClean="0">
                <a:latin typeface="+mn-ea"/>
              </a:rPr>
              <a:t>!ATTLIST </a:t>
            </a:r>
            <a:r>
              <a:rPr lang="zh-CN" altLang="en-US" sz="2400" b="1" dirty="0" smtClean="0">
                <a:latin typeface="+mn-ea"/>
              </a:rPr>
              <a:t>页面作者 姓名 </a:t>
            </a:r>
            <a:r>
              <a:rPr lang="en-US" altLang="zh-CN" sz="2400" b="1" dirty="0" smtClean="0">
                <a:latin typeface="+mn-ea"/>
              </a:rPr>
              <a:t>CDATA  #REQUIRED</a:t>
            </a:r>
            <a:endParaRPr lang="zh-CN" altLang="en-US" sz="2400" b="1" dirty="0" smtClean="0">
              <a:latin typeface="+mn-ea"/>
            </a:endParaRPr>
          </a:p>
          <a:p>
            <a:pPr>
              <a:buFontTx/>
              <a:buNone/>
              <a:defRPr/>
            </a:pPr>
            <a:r>
              <a:rPr lang="en-US" altLang="zh-CN" sz="2400" b="1" dirty="0" smtClean="0">
                <a:latin typeface="+mn-ea"/>
              </a:rPr>
              <a:t>		 #IMPLIED</a:t>
            </a:r>
            <a:r>
              <a:rPr lang="zh-CN" altLang="en-US" sz="2400" b="1" dirty="0" smtClean="0">
                <a:latin typeface="+mn-ea"/>
              </a:rPr>
              <a:t>，</a:t>
            </a:r>
            <a:r>
              <a:rPr lang="en-US" altLang="zh-CN" sz="2400" b="1" dirty="0" smtClean="0">
                <a:latin typeface="+mn-ea"/>
              </a:rPr>
              <a:t> #FIXED</a:t>
            </a:r>
            <a:r>
              <a:rPr lang="zh-CN" altLang="en-US" sz="2400" b="1" dirty="0" smtClean="0">
                <a:latin typeface="+mn-ea"/>
              </a:rPr>
              <a:t>“缺省值” ＞</a:t>
            </a:r>
            <a:endParaRPr lang="en-US" altLang="zh-CN" sz="2400" b="1" dirty="0" smtClean="0">
              <a:latin typeface="+mn-ea"/>
            </a:endParaRPr>
          </a:p>
          <a:p>
            <a:pPr marL="342900" lvl="1" indent="-342900">
              <a:buFontTx/>
              <a:buChar char="•"/>
              <a:defRPr/>
            </a:pPr>
            <a:r>
              <a:rPr lang="zh-CN" altLang="en-US" sz="2400" b="1" dirty="0" smtClean="0">
                <a:latin typeface="+mn-ea"/>
              </a:rPr>
              <a:t>元素名是属性所属的元素的名字</a:t>
            </a:r>
          </a:p>
          <a:p>
            <a:pPr marL="342900" lvl="1" indent="-342900">
              <a:buFontTx/>
              <a:buChar char="•"/>
              <a:defRPr/>
            </a:pPr>
            <a:r>
              <a:rPr lang="zh-CN" altLang="en-US" sz="2400" b="1" dirty="0" smtClean="0">
                <a:latin typeface="+mn-ea"/>
              </a:rPr>
              <a:t>属性名是属性的名字</a:t>
            </a:r>
          </a:p>
          <a:p>
            <a:pPr marL="342900" lvl="1" indent="-342900">
              <a:buFontTx/>
              <a:buChar char="•"/>
              <a:defRPr/>
            </a:pPr>
            <a:r>
              <a:rPr lang="zh-CN" altLang="en-US" sz="2400" b="1" dirty="0" smtClean="0">
                <a:latin typeface="+mn-ea"/>
              </a:rPr>
              <a:t>缺省值是属性的初值</a:t>
            </a:r>
          </a:p>
          <a:p>
            <a:pPr marL="342900" lvl="1" indent="-342900">
              <a:buFontTx/>
              <a:buChar char="•"/>
              <a:defRPr/>
            </a:pPr>
            <a:r>
              <a:rPr lang="zh-CN" altLang="en-US" sz="2400" b="1" dirty="0" smtClean="0">
                <a:latin typeface="+mn-ea"/>
              </a:rPr>
              <a:t>属性类型用来指定其属于哪种有效属性</a:t>
            </a:r>
            <a:endParaRPr lang="en-US" altLang="zh-CN" sz="2400" b="1" dirty="0" smtClean="0">
              <a:latin typeface="+mn-ea"/>
            </a:endParaRPr>
          </a:p>
          <a:p>
            <a:pPr>
              <a:buFontTx/>
              <a:buNone/>
              <a:defRPr/>
            </a:pPr>
            <a:endParaRPr lang="zh-CN" altLang="en-US" sz="2800" b="1" dirty="0" smtClean="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 calcmode="lin" valueType="num">
                                      <p:cBhvr additive="base">
                                        <p:cTn id="4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sz="3200" b="1" dirty="0" smtClean="0">
                <a:latin typeface="+mj-ea"/>
              </a:rPr>
              <a:t>XML</a:t>
            </a:r>
            <a:r>
              <a:rPr lang="zh-CN" altLang="en-US" sz="3200" b="1" dirty="0" smtClean="0">
                <a:latin typeface="+mj-ea"/>
              </a:rPr>
              <a:t>属性类型</a:t>
            </a:r>
            <a:endParaRPr lang="zh-CN" altLang="en-US" sz="3200" b="1" dirty="0">
              <a:latin typeface="+mj-ea"/>
            </a:endParaRPr>
          </a:p>
        </p:txBody>
      </p:sp>
      <p:graphicFrame>
        <p:nvGraphicFramePr>
          <p:cNvPr id="4" name="内容占位符 3"/>
          <p:cNvGraphicFramePr>
            <a:graphicFrameLocks noGrp="1"/>
          </p:cNvGraphicFramePr>
          <p:nvPr>
            <p:ph idx="1"/>
          </p:nvPr>
        </p:nvGraphicFramePr>
        <p:xfrm>
          <a:off x="2000232" y="1643053"/>
          <a:ext cx="6786610" cy="4500590"/>
        </p:xfrm>
        <a:graphic>
          <a:graphicData uri="http://schemas.openxmlformats.org/drawingml/2006/table">
            <a:tbl>
              <a:tblPr/>
              <a:tblGrid>
                <a:gridCol w="3393305">
                  <a:extLst>
                    <a:ext uri="{9D8B030D-6E8A-4147-A177-3AD203B41FA5}">
                      <a16:colId xmlns:a16="http://schemas.microsoft.com/office/drawing/2014/main" val="20000"/>
                    </a:ext>
                  </a:extLst>
                </a:gridCol>
                <a:gridCol w="3393305">
                  <a:extLst>
                    <a:ext uri="{9D8B030D-6E8A-4147-A177-3AD203B41FA5}">
                      <a16:colId xmlns:a16="http://schemas.microsoft.com/office/drawing/2014/main" val="20001"/>
                    </a:ext>
                  </a:extLst>
                </a:gridCol>
              </a:tblGrid>
              <a:tr h="450059">
                <a:tc>
                  <a:txBody>
                    <a:bodyPr/>
                    <a:lstStyle/>
                    <a:p>
                      <a:pPr algn="ctr">
                        <a:spcAft>
                          <a:spcPts val="0"/>
                        </a:spcAft>
                      </a:pPr>
                      <a:r>
                        <a:rPr lang="zh-CN" sz="2400" kern="100">
                          <a:latin typeface="+mn-ea"/>
                          <a:ea typeface="+mn-ea"/>
                          <a:cs typeface="Times New Roman"/>
                        </a:rPr>
                        <a:t>类型</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400" kern="100">
                          <a:latin typeface="+mn-ea"/>
                          <a:ea typeface="+mn-ea"/>
                          <a:cs typeface="Times New Roman"/>
                        </a:rPr>
                        <a:t>含义</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50059">
                <a:tc>
                  <a:txBody>
                    <a:bodyPr/>
                    <a:lstStyle/>
                    <a:p>
                      <a:pPr algn="ctr">
                        <a:spcAft>
                          <a:spcPts val="0"/>
                        </a:spcAft>
                      </a:pPr>
                      <a:r>
                        <a:rPr lang="en-US" sz="2400" kern="100">
                          <a:latin typeface="+mn-ea"/>
                          <a:ea typeface="+mn-ea"/>
                          <a:cs typeface="Times New Roman"/>
                        </a:rPr>
                        <a:t>CDATA</a:t>
                      </a:r>
                      <a:endParaRPr lang="zh-CN" sz="2400" kern="100">
                        <a:latin typeface="+mn-ea"/>
                        <a:ea typeface="+mn-ea"/>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400" kern="100">
                          <a:latin typeface="+mn-ea"/>
                          <a:ea typeface="+mn-ea"/>
                          <a:cs typeface="Times New Roman"/>
                        </a:rPr>
                        <a:t>字符数据</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50059">
                <a:tc>
                  <a:txBody>
                    <a:bodyPr/>
                    <a:lstStyle/>
                    <a:p>
                      <a:pPr algn="ctr">
                        <a:spcAft>
                          <a:spcPts val="0"/>
                        </a:spcAft>
                      </a:pPr>
                      <a:r>
                        <a:rPr lang="en-US" sz="2400" kern="100">
                          <a:latin typeface="+mn-ea"/>
                          <a:ea typeface="+mn-ea"/>
                          <a:cs typeface="Times New Roman"/>
                        </a:rPr>
                        <a:t>ID</a:t>
                      </a:r>
                      <a:endParaRPr lang="zh-CN" sz="2400" kern="100">
                        <a:latin typeface="+mn-ea"/>
                        <a:ea typeface="+mn-ea"/>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400" kern="100">
                          <a:latin typeface="+mn-ea"/>
                          <a:ea typeface="+mn-ea"/>
                          <a:cs typeface="Times New Roman"/>
                        </a:rPr>
                        <a:t>唯一的数字</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50059">
                <a:tc>
                  <a:txBody>
                    <a:bodyPr/>
                    <a:lstStyle/>
                    <a:p>
                      <a:pPr algn="ctr">
                        <a:spcAft>
                          <a:spcPts val="0"/>
                        </a:spcAft>
                      </a:pPr>
                      <a:r>
                        <a:rPr lang="en-US" sz="2400" kern="100">
                          <a:latin typeface="+mn-ea"/>
                          <a:ea typeface="+mn-ea"/>
                          <a:cs typeface="Times New Roman"/>
                        </a:rPr>
                        <a:t>IDREF</a:t>
                      </a:r>
                      <a:endParaRPr lang="zh-CN" sz="2400" kern="100">
                        <a:latin typeface="+mn-ea"/>
                        <a:ea typeface="+mn-ea"/>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latin typeface="+mn-ea"/>
                          <a:ea typeface="+mn-ea"/>
                          <a:cs typeface="Times New Roman"/>
                        </a:rPr>
                        <a:t>ID</a:t>
                      </a:r>
                      <a:r>
                        <a:rPr lang="zh-CN" sz="2400" kern="100">
                          <a:latin typeface="+mn-ea"/>
                          <a:ea typeface="+mn-ea"/>
                          <a:cs typeface="Times New Roman"/>
                        </a:rPr>
                        <a:t>类型属性的值</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50059">
                <a:tc>
                  <a:txBody>
                    <a:bodyPr/>
                    <a:lstStyle/>
                    <a:p>
                      <a:pPr algn="ctr">
                        <a:spcAft>
                          <a:spcPts val="0"/>
                        </a:spcAft>
                      </a:pPr>
                      <a:r>
                        <a:rPr lang="en-US" sz="2400" kern="100">
                          <a:latin typeface="+mn-ea"/>
                          <a:ea typeface="+mn-ea"/>
                          <a:cs typeface="Times New Roman"/>
                        </a:rPr>
                        <a:t>IDREFS</a:t>
                      </a:r>
                      <a:endParaRPr lang="zh-CN" sz="2400" kern="100">
                        <a:latin typeface="+mn-ea"/>
                        <a:ea typeface="+mn-ea"/>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400" kern="100">
                          <a:latin typeface="+mn-ea"/>
                          <a:ea typeface="+mn-ea"/>
                          <a:cs typeface="Times New Roman"/>
                        </a:rPr>
                        <a:t>由空格分开的若干个</a:t>
                      </a:r>
                      <a:r>
                        <a:rPr lang="en-US" sz="2400" kern="100">
                          <a:latin typeface="+mn-ea"/>
                          <a:ea typeface="+mn-ea"/>
                          <a:cs typeface="Times New Roman"/>
                        </a:rPr>
                        <a:t>ID</a:t>
                      </a:r>
                      <a:endParaRPr lang="zh-CN" sz="2400" kern="100">
                        <a:latin typeface="+mn-ea"/>
                        <a:ea typeface="+mn-ea"/>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50059">
                <a:tc>
                  <a:txBody>
                    <a:bodyPr/>
                    <a:lstStyle/>
                    <a:p>
                      <a:pPr algn="ctr">
                        <a:spcAft>
                          <a:spcPts val="0"/>
                        </a:spcAft>
                      </a:pPr>
                      <a:r>
                        <a:rPr lang="en-US" sz="2400" kern="100">
                          <a:latin typeface="+mn-ea"/>
                          <a:ea typeface="+mn-ea"/>
                          <a:cs typeface="Times New Roman"/>
                        </a:rPr>
                        <a:t>ENTITY</a:t>
                      </a:r>
                      <a:endParaRPr lang="zh-CN" sz="2400" kern="100">
                        <a:latin typeface="+mn-ea"/>
                        <a:ea typeface="+mn-ea"/>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400" kern="100">
                          <a:latin typeface="+mn-ea"/>
                          <a:ea typeface="+mn-ea"/>
                          <a:cs typeface="Times New Roman"/>
                        </a:rPr>
                        <a:t>实体</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50059">
                <a:tc>
                  <a:txBody>
                    <a:bodyPr/>
                    <a:lstStyle/>
                    <a:p>
                      <a:pPr algn="ctr">
                        <a:spcAft>
                          <a:spcPts val="0"/>
                        </a:spcAft>
                      </a:pPr>
                      <a:r>
                        <a:rPr lang="en-US" sz="2400" kern="100">
                          <a:latin typeface="+mn-ea"/>
                          <a:ea typeface="+mn-ea"/>
                          <a:cs typeface="Times New Roman"/>
                        </a:rPr>
                        <a:t>ENTITYS</a:t>
                      </a:r>
                      <a:endParaRPr lang="zh-CN" sz="2400" kern="100">
                        <a:latin typeface="+mn-ea"/>
                        <a:ea typeface="+mn-ea"/>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400" kern="100">
                          <a:latin typeface="+mn-ea"/>
                          <a:ea typeface="+mn-ea"/>
                          <a:cs typeface="Times New Roman"/>
                        </a:rPr>
                        <a:t>若干个实体</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50059">
                <a:tc>
                  <a:txBody>
                    <a:bodyPr/>
                    <a:lstStyle/>
                    <a:p>
                      <a:pPr algn="ctr">
                        <a:spcAft>
                          <a:spcPts val="0"/>
                        </a:spcAft>
                      </a:pPr>
                      <a:r>
                        <a:rPr lang="en-US" sz="2400" kern="100">
                          <a:latin typeface="+mn-ea"/>
                          <a:ea typeface="+mn-ea"/>
                          <a:cs typeface="Times New Roman"/>
                        </a:rPr>
                        <a:t>NMTOKEN</a:t>
                      </a:r>
                      <a:endParaRPr lang="zh-CN" sz="2400" kern="100">
                        <a:latin typeface="+mn-ea"/>
                        <a:ea typeface="+mn-ea"/>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latin typeface="+mn-ea"/>
                          <a:ea typeface="+mn-ea"/>
                          <a:cs typeface="Times New Roman"/>
                        </a:rPr>
                        <a:t>XML</a:t>
                      </a:r>
                      <a:r>
                        <a:rPr lang="zh-CN" sz="2400" kern="100">
                          <a:latin typeface="+mn-ea"/>
                          <a:ea typeface="+mn-ea"/>
                          <a:cs typeface="Times New Roman"/>
                        </a:rPr>
                        <a:t>名称</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450059">
                <a:tc>
                  <a:txBody>
                    <a:bodyPr/>
                    <a:lstStyle/>
                    <a:p>
                      <a:pPr algn="ctr">
                        <a:spcAft>
                          <a:spcPts val="0"/>
                        </a:spcAft>
                      </a:pPr>
                      <a:r>
                        <a:rPr lang="en-US" sz="2400" kern="100">
                          <a:latin typeface="+mn-ea"/>
                          <a:ea typeface="+mn-ea"/>
                          <a:cs typeface="Times New Roman"/>
                        </a:rPr>
                        <a:t>NOTATION</a:t>
                      </a:r>
                      <a:endParaRPr lang="zh-CN" sz="2400" kern="100">
                        <a:latin typeface="+mn-ea"/>
                        <a:ea typeface="+mn-ea"/>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latin typeface="+mn-ea"/>
                          <a:ea typeface="+mn-ea"/>
                          <a:cs typeface="Times New Roman"/>
                        </a:rPr>
                        <a:t>DTD</a:t>
                      </a:r>
                      <a:r>
                        <a:rPr lang="zh-CN" sz="2400" kern="100">
                          <a:latin typeface="+mn-ea"/>
                          <a:ea typeface="+mn-ea"/>
                          <a:cs typeface="Times New Roman"/>
                        </a:rPr>
                        <a:t>中声明的注释名</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450059">
                <a:tc>
                  <a:txBody>
                    <a:bodyPr/>
                    <a:lstStyle/>
                    <a:p>
                      <a:pPr algn="ctr">
                        <a:spcAft>
                          <a:spcPts val="0"/>
                        </a:spcAft>
                      </a:pPr>
                      <a:r>
                        <a:rPr lang="en-US" sz="2400" kern="100">
                          <a:latin typeface="+mn-ea"/>
                          <a:ea typeface="+mn-ea"/>
                          <a:cs typeface="Times New Roman"/>
                        </a:rPr>
                        <a:t>NMTOKENS</a:t>
                      </a:r>
                      <a:endParaRPr lang="zh-CN" sz="2400" kern="100">
                        <a:latin typeface="+mn-ea"/>
                        <a:ea typeface="+mn-ea"/>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400" kern="100" dirty="0">
                          <a:latin typeface="+mn-ea"/>
                          <a:ea typeface="+mn-ea"/>
                          <a:cs typeface="Times New Roman"/>
                        </a:rPr>
                        <a:t>多个</a:t>
                      </a:r>
                      <a:r>
                        <a:rPr lang="en-US" sz="2400" kern="100" dirty="0">
                          <a:latin typeface="+mn-ea"/>
                          <a:ea typeface="+mn-ea"/>
                          <a:cs typeface="Times New Roman"/>
                        </a:rPr>
                        <a:t>XML</a:t>
                      </a:r>
                      <a:r>
                        <a:rPr lang="zh-CN" sz="2400" kern="100" dirty="0">
                          <a:latin typeface="+mn-ea"/>
                          <a:ea typeface="+mn-ea"/>
                          <a:cs typeface="Times New Roman"/>
                        </a:rPr>
                        <a:t>名称</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sz="3200" b="1" dirty="0" smtClean="0">
                <a:latin typeface="+mj-ea"/>
              </a:rPr>
              <a:t>DTD</a:t>
            </a:r>
            <a:r>
              <a:rPr lang="zh-CN" altLang="en-US" sz="3200" b="1" dirty="0" smtClean="0">
                <a:latin typeface="+mj-ea"/>
              </a:rPr>
              <a:t>的特点</a:t>
            </a:r>
            <a:endParaRPr lang="zh-CN" altLang="en-US" sz="3200" b="1" dirty="0">
              <a:latin typeface="+mj-ea"/>
            </a:endParaRPr>
          </a:p>
        </p:txBody>
      </p:sp>
      <p:sp>
        <p:nvSpPr>
          <p:cNvPr id="3" name="内容占位符 2"/>
          <p:cNvSpPr>
            <a:spLocks noGrp="1"/>
          </p:cNvSpPr>
          <p:nvPr>
            <p:ph idx="1"/>
          </p:nvPr>
        </p:nvSpPr>
        <p:spPr/>
        <p:txBody>
          <a:bodyPr>
            <a:normAutofit fontScale="70000" lnSpcReduction="20000"/>
          </a:bodyPr>
          <a:lstStyle/>
          <a:p>
            <a:r>
              <a:rPr lang="en-US" sz="3600" dirty="0" smtClean="0">
                <a:latin typeface="+mn-ea"/>
              </a:rPr>
              <a:t>DTD</a:t>
            </a:r>
            <a:r>
              <a:rPr lang="zh-CN" altLang="en-US" sz="3600" dirty="0" smtClean="0">
                <a:latin typeface="+mn-ea"/>
              </a:rPr>
              <a:t>的优势在于每一个</a:t>
            </a:r>
            <a:r>
              <a:rPr lang="en-US" sz="3600" dirty="0" smtClean="0">
                <a:latin typeface="+mn-ea"/>
              </a:rPr>
              <a:t>XML</a:t>
            </a:r>
            <a:r>
              <a:rPr lang="zh-CN" altLang="en-US" sz="3600" dirty="0" smtClean="0">
                <a:latin typeface="+mn-ea"/>
              </a:rPr>
              <a:t>文档都可携带一个</a:t>
            </a:r>
            <a:r>
              <a:rPr lang="en-US" sz="3600" dirty="0" smtClean="0">
                <a:latin typeface="+mn-ea"/>
              </a:rPr>
              <a:t>DTD</a:t>
            </a:r>
            <a:r>
              <a:rPr lang="zh-CN" altLang="en-US" sz="3600" dirty="0" smtClean="0">
                <a:latin typeface="+mn-ea"/>
              </a:rPr>
              <a:t>，用来对该文档格式进行描述</a:t>
            </a:r>
            <a:endParaRPr lang="en-US" altLang="zh-CN" sz="3600" dirty="0" smtClean="0">
              <a:latin typeface="+mn-ea"/>
            </a:endParaRPr>
          </a:p>
          <a:p>
            <a:r>
              <a:rPr lang="zh-CN" altLang="en-US" sz="3600" dirty="0" smtClean="0">
                <a:latin typeface="+mn-ea"/>
              </a:rPr>
              <a:t>多个</a:t>
            </a:r>
            <a:r>
              <a:rPr lang="en-US" sz="3600" dirty="0" smtClean="0">
                <a:latin typeface="+mn-ea"/>
              </a:rPr>
              <a:t>XML</a:t>
            </a:r>
            <a:r>
              <a:rPr lang="zh-CN" altLang="en-US" sz="3600" dirty="0" smtClean="0">
                <a:latin typeface="+mn-ea"/>
              </a:rPr>
              <a:t>文档就都可以共享使用该</a:t>
            </a:r>
            <a:r>
              <a:rPr lang="en-US" sz="3600" dirty="0" smtClean="0">
                <a:latin typeface="+mn-ea"/>
              </a:rPr>
              <a:t>DTD</a:t>
            </a:r>
            <a:r>
              <a:rPr lang="zh-CN" altLang="en-US" sz="3600" dirty="0" smtClean="0">
                <a:latin typeface="+mn-ea"/>
              </a:rPr>
              <a:t>，使得数据交换更为有效。可以用某个</a:t>
            </a:r>
            <a:r>
              <a:rPr lang="en-US" sz="3600" dirty="0" smtClean="0">
                <a:latin typeface="+mn-ea"/>
              </a:rPr>
              <a:t>DTD</a:t>
            </a:r>
            <a:r>
              <a:rPr lang="zh-CN" altLang="en-US" sz="3600" dirty="0" smtClean="0">
                <a:latin typeface="+mn-ea"/>
              </a:rPr>
              <a:t>来检测接收到的数据是否符合某个标准</a:t>
            </a:r>
          </a:p>
          <a:p>
            <a:r>
              <a:rPr lang="en-US" sz="3600" dirty="0" smtClean="0">
                <a:latin typeface="+mn-ea"/>
              </a:rPr>
              <a:t>DTD</a:t>
            </a:r>
            <a:r>
              <a:rPr lang="zh-CN" altLang="en-US" sz="3600" dirty="0" smtClean="0">
                <a:latin typeface="+mn-ea"/>
              </a:rPr>
              <a:t>比</a:t>
            </a:r>
            <a:r>
              <a:rPr lang="en-US" sz="3600" dirty="0" smtClean="0">
                <a:latin typeface="+mn-ea"/>
              </a:rPr>
              <a:t>Schema</a:t>
            </a:r>
            <a:r>
              <a:rPr lang="zh-CN" altLang="en-US" sz="3600" dirty="0" smtClean="0">
                <a:latin typeface="+mn-ea"/>
              </a:rPr>
              <a:t>更加精炼，文档篇幅相同的情况下能表示更多内容</a:t>
            </a:r>
          </a:p>
          <a:p>
            <a:r>
              <a:rPr lang="en-US" sz="3600" dirty="0" smtClean="0">
                <a:latin typeface="+mn-ea"/>
              </a:rPr>
              <a:t>DTD</a:t>
            </a:r>
            <a:r>
              <a:rPr lang="zh-CN" altLang="en-US" sz="3600" dirty="0" smtClean="0">
                <a:latin typeface="+mn-ea"/>
              </a:rPr>
              <a:t>的局限性</a:t>
            </a:r>
            <a:endParaRPr lang="en-US" altLang="zh-CN" sz="3600" dirty="0" smtClean="0">
              <a:latin typeface="+mn-ea"/>
            </a:endParaRPr>
          </a:p>
          <a:p>
            <a:pPr lvl="1"/>
            <a:r>
              <a:rPr lang="en-US" sz="3100" dirty="0" smtClean="0">
                <a:latin typeface="+mn-ea"/>
              </a:rPr>
              <a:t>DTD</a:t>
            </a:r>
            <a:r>
              <a:rPr lang="zh-CN" altLang="en-US" sz="3100" dirty="0" smtClean="0">
                <a:latin typeface="+mn-ea"/>
              </a:rPr>
              <a:t>不遵守</a:t>
            </a:r>
            <a:r>
              <a:rPr lang="en-US" sz="3100" dirty="0" smtClean="0">
                <a:latin typeface="+mn-ea"/>
              </a:rPr>
              <a:t>XML</a:t>
            </a:r>
            <a:r>
              <a:rPr lang="zh-CN" altLang="en-US" sz="3100" dirty="0" smtClean="0">
                <a:latin typeface="+mn-ea"/>
              </a:rPr>
              <a:t>语法</a:t>
            </a:r>
            <a:endParaRPr lang="en-US" altLang="zh-CN" sz="3100" dirty="0" smtClean="0">
              <a:latin typeface="+mn-ea"/>
            </a:endParaRPr>
          </a:p>
          <a:p>
            <a:pPr lvl="1"/>
            <a:r>
              <a:rPr lang="en-US" sz="3100" dirty="0" smtClean="0">
                <a:latin typeface="+mn-ea"/>
              </a:rPr>
              <a:t>DTD</a:t>
            </a:r>
            <a:r>
              <a:rPr lang="zh-CN" altLang="en-US" sz="3100" dirty="0" smtClean="0">
                <a:latin typeface="+mn-ea"/>
              </a:rPr>
              <a:t>数据类型有限</a:t>
            </a:r>
            <a:endParaRPr lang="en-US" altLang="zh-CN" sz="3100" dirty="0" smtClean="0">
              <a:latin typeface="+mn-ea"/>
            </a:endParaRPr>
          </a:p>
          <a:p>
            <a:pPr lvl="1"/>
            <a:r>
              <a:rPr lang="en-US" sz="3100" dirty="0" smtClean="0">
                <a:latin typeface="+mn-ea"/>
              </a:rPr>
              <a:t>DTD</a:t>
            </a:r>
            <a:r>
              <a:rPr lang="zh-CN" altLang="en-US" sz="3100" dirty="0" smtClean="0">
                <a:latin typeface="+mn-ea"/>
              </a:rPr>
              <a:t>不可扩展</a:t>
            </a:r>
            <a:endParaRPr lang="en-US" altLang="zh-CN" sz="3100" dirty="0" smtClean="0">
              <a:latin typeface="+mn-ea"/>
            </a:endParaRPr>
          </a:p>
          <a:p>
            <a:pPr lvl="1"/>
            <a:r>
              <a:rPr lang="en-US" sz="3100" dirty="0" smtClean="0">
                <a:latin typeface="+mn-ea"/>
              </a:rPr>
              <a:t>DTD</a:t>
            </a:r>
            <a:r>
              <a:rPr lang="zh-CN" altLang="en-US" sz="3100" dirty="0" smtClean="0">
                <a:latin typeface="+mn-ea"/>
              </a:rPr>
              <a:t>不支持命名空间</a:t>
            </a:r>
          </a:p>
          <a:p>
            <a:endParaRPr lang="zh-CN" alt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a:defRPr/>
            </a:pPr>
            <a:r>
              <a:rPr lang="en-US" altLang="zh-CN" sz="3200" b="1" dirty="0" smtClean="0">
                <a:latin typeface="+mj-ea"/>
              </a:rPr>
              <a:t>Schema</a:t>
            </a:r>
          </a:p>
        </p:txBody>
      </p:sp>
      <p:sp>
        <p:nvSpPr>
          <p:cNvPr id="39939" name="Rectangle 3"/>
          <p:cNvSpPr>
            <a:spLocks noGrp="1" noChangeArrowheads="1"/>
          </p:cNvSpPr>
          <p:nvPr>
            <p:ph idx="1"/>
          </p:nvPr>
        </p:nvSpPr>
        <p:spPr>
          <a:xfrm>
            <a:off x="1857355" y="1773238"/>
            <a:ext cx="6858049" cy="4114800"/>
          </a:xfrm>
        </p:spPr>
        <p:txBody>
          <a:bodyPr/>
          <a:lstStyle/>
          <a:p>
            <a:pPr>
              <a:defRPr/>
            </a:pPr>
            <a:r>
              <a:rPr lang="en-US" sz="2800" dirty="0" smtClean="0">
                <a:latin typeface="+mn-ea"/>
              </a:rPr>
              <a:t>2001 </a:t>
            </a:r>
            <a:r>
              <a:rPr lang="zh-CN" altLang="en-US" sz="2800" dirty="0" smtClean="0">
                <a:latin typeface="+mn-ea"/>
              </a:rPr>
              <a:t>年</a:t>
            </a:r>
            <a:r>
              <a:rPr lang="en-US" sz="2800" dirty="0" smtClean="0">
                <a:latin typeface="+mn-ea"/>
              </a:rPr>
              <a:t> 5 </a:t>
            </a:r>
            <a:r>
              <a:rPr lang="zh-CN" altLang="en-US" sz="2800" dirty="0" smtClean="0">
                <a:latin typeface="+mn-ea"/>
              </a:rPr>
              <a:t>月</a:t>
            </a:r>
            <a:r>
              <a:rPr lang="en-US" sz="2800" dirty="0" smtClean="0">
                <a:latin typeface="+mn-ea"/>
              </a:rPr>
              <a:t> 2 </a:t>
            </a:r>
            <a:r>
              <a:rPr lang="zh-CN" altLang="en-US" sz="2800" dirty="0" smtClean="0">
                <a:latin typeface="+mn-ea"/>
              </a:rPr>
              <a:t>日成为</a:t>
            </a:r>
            <a:r>
              <a:rPr lang="en-US" sz="2800" dirty="0" smtClean="0">
                <a:latin typeface="+mn-ea"/>
              </a:rPr>
              <a:t> W3C </a:t>
            </a:r>
            <a:r>
              <a:rPr lang="zh-CN" altLang="en-US" sz="2800" dirty="0" smtClean="0">
                <a:latin typeface="+mn-ea"/>
              </a:rPr>
              <a:t>标准</a:t>
            </a:r>
            <a:endParaRPr lang="en-US" altLang="zh-CN" sz="2800" dirty="0" smtClean="0">
              <a:latin typeface="+mn-ea"/>
            </a:endParaRPr>
          </a:p>
          <a:p>
            <a:pPr>
              <a:defRPr/>
            </a:pPr>
            <a:r>
              <a:rPr lang="en-US" sz="2800" dirty="0" smtClean="0">
                <a:latin typeface="+mn-ea"/>
              </a:rPr>
              <a:t>XML</a:t>
            </a:r>
            <a:r>
              <a:rPr lang="zh-CN" altLang="en-US" sz="2800" dirty="0" smtClean="0">
                <a:latin typeface="+mn-ea"/>
              </a:rPr>
              <a:t>文档结构和内容约束的机制</a:t>
            </a:r>
            <a:endParaRPr lang="en-US" altLang="zh-CN" sz="2800" dirty="0" smtClean="0">
              <a:latin typeface="+mn-ea"/>
            </a:endParaRPr>
          </a:p>
          <a:p>
            <a:pPr>
              <a:defRPr/>
            </a:pPr>
            <a:r>
              <a:rPr lang="zh-CN" altLang="en-US" sz="2800" dirty="0" smtClean="0">
                <a:latin typeface="+mn-ea"/>
              </a:rPr>
              <a:t>获得</a:t>
            </a:r>
            <a:r>
              <a:rPr lang="en-US" sz="2800" dirty="0" smtClean="0">
                <a:latin typeface="+mn-ea"/>
              </a:rPr>
              <a:t>W3C</a:t>
            </a:r>
            <a:r>
              <a:rPr lang="zh-CN" altLang="en-US" sz="2800" dirty="0" smtClean="0">
                <a:latin typeface="+mn-ea"/>
              </a:rPr>
              <a:t>推荐标准的第一个独立的</a:t>
            </a:r>
            <a:r>
              <a:rPr lang="en-US" sz="2800" dirty="0" smtClean="0">
                <a:latin typeface="+mn-ea"/>
              </a:rPr>
              <a:t>XML</a:t>
            </a:r>
            <a:r>
              <a:rPr lang="zh-CN" altLang="en-US" sz="2800" dirty="0" smtClean="0">
                <a:latin typeface="+mn-ea"/>
              </a:rPr>
              <a:t>模式语言</a:t>
            </a:r>
            <a:endParaRPr lang="en-US" altLang="zh-CN" sz="2800" dirty="0" smtClean="0">
              <a:latin typeface="+mn-ea"/>
            </a:endParaRPr>
          </a:p>
          <a:p>
            <a:pPr>
              <a:defRPr/>
            </a:pPr>
            <a:r>
              <a:rPr lang="en-US" altLang="zh-CN" sz="2800" dirty="0" smtClean="0">
                <a:latin typeface="+mn-ea"/>
              </a:rPr>
              <a:t>XML</a:t>
            </a:r>
            <a:r>
              <a:rPr lang="zh-CN" altLang="en-US" sz="2800" dirty="0" smtClean="0">
                <a:latin typeface="+mn-ea"/>
              </a:rPr>
              <a:t>的一种应用，将</a:t>
            </a:r>
            <a:r>
              <a:rPr lang="en-US" altLang="zh-CN" sz="2800" dirty="0" smtClean="0">
                <a:latin typeface="+mn-ea"/>
              </a:rPr>
              <a:t>XML DTD</a:t>
            </a:r>
            <a:r>
              <a:rPr lang="zh-CN" altLang="en-US" sz="2800" dirty="0" smtClean="0">
                <a:latin typeface="+mn-ea"/>
              </a:rPr>
              <a:t>重新按照</a:t>
            </a:r>
            <a:r>
              <a:rPr lang="en-US" altLang="zh-CN" sz="2800" dirty="0" smtClean="0">
                <a:latin typeface="+mn-ea"/>
              </a:rPr>
              <a:t>XML</a:t>
            </a:r>
            <a:r>
              <a:rPr lang="zh-CN" altLang="en-US" sz="2800" dirty="0" smtClean="0">
                <a:latin typeface="+mn-ea"/>
              </a:rPr>
              <a:t>语言规范来定义，充分体现了</a:t>
            </a:r>
            <a:r>
              <a:rPr lang="en-US" altLang="zh-CN" sz="2800" dirty="0" smtClean="0">
                <a:latin typeface="+mn-ea"/>
              </a:rPr>
              <a:t>XML</a:t>
            </a:r>
            <a:r>
              <a:rPr lang="zh-CN" altLang="en-US" sz="2800" dirty="0" smtClean="0">
                <a:latin typeface="+mn-ea"/>
              </a:rPr>
              <a:t>自描述性的特点</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idx="1"/>
          </p:nvPr>
        </p:nvSpPr>
        <p:spPr>
          <a:xfrm>
            <a:off x="1785918" y="285750"/>
            <a:ext cx="7143800" cy="6357938"/>
          </a:xfrm>
        </p:spPr>
        <p:txBody>
          <a:bodyPr>
            <a:normAutofit fontScale="92500"/>
          </a:bodyPr>
          <a:lstStyle/>
          <a:p>
            <a:pPr marL="609600" indent="-609600">
              <a:lnSpc>
                <a:spcPct val="90000"/>
              </a:lnSpc>
              <a:buFontTx/>
              <a:buNone/>
              <a:defRPr/>
            </a:pPr>
            <a:r>
              <a:rPr lang="en-US" altLang="zh-CN" sz="2400" b="1" dirty="0" smtClean="0">
                <a:latin typeface="+mn-ea"/>
              </a:rPr>
              <a:t>1.&lt;?xml version=“1.0” </a:t>
            </a:r>
            <a:r>
              <a:rPr lang="en-US" altLang="zh-CN" sz="2400" b="1" dirty="0" err="1" smtClean="0">
                <a:latin typeface="+mn-ea"/>
              </a:rPr>
              <a:t>encording</a:t>
            </a:r>
            <a:r>
              <a:rPr lang="en-US" altLang="zh-CN" sz="2400" b="1" dirty="0" smtClean="0">
                <a:latin typeface="+mn-ea"/>
              </a:rPr>
              <a:t>=“GB2312”?&gt;</a:t>
            </a:r>
          </a:p>
          <a:p>
            <a:pPr marL="609600" indent="-609600">
              <a:lnSpc>
                <a:spcPct val="90000"/>
              </a:lnSpc>
              <a:buFontTx/>
              <a:buNone/>
              <a:defRPr/>
            </a:pPr>
            <a:r>
              <a:rPr lang="en-US" altLang="zh-CN" sz="2400" b="1" dirty="0" smtClean="0">
                <a:latin typeface="+mn-ea"/>
              </a:rPr>
              <a:t>2.</a:t>
            </a:r>
          </a:p>
          <a:p>
            <a:pPr marL="609600" indent="-609600">
              <a:lnSpc>
                <a:spcPct val="90000"/>
              </a:lnSpc>
              <a:buFontTx/>
              <a:buNone/>
              <a:defRPr/>
            </a:pPr>
            <a:r>
              <a:rPr lang="en-US" altLang="zh-CN" sz="2400" b="1" dirty="0" smtClean="0">
                <a:latin typeface="+mn-ea"/>
              </a:rPr>
              <a:t>3. &lt;</a:t>
            </a:r>
            <a:r>
              <a:rPr lang="zh-CN" altLang="en-US" sz="2400" b="1" dirty="0" smtClean="0">
                <a:latin typeface="+mn-ea"/>
              </a:rPr>
              <a:t>学生花名册 年级＝“六年级” 班级＝“一班”</a:t>
            </a:r>
            <a:r>
              <a:rPr lang="en-US" altLang="zh-CN" sz="2400" b="1" dirty="0" smtClean="0">
                <a:latin typeface="+mn-ea"/>
              </a:rPr>
              <a:t>&gt;</a:t>
            </a:r>
          </a:p>
          <a:p>
            <a:pPr marL="609600" indent="-609600">
              <a:lnSpc>
                <a:spcPct val="90000"/>
              </a:lnSpc>
              <a:buFontTx/>
              <a:buAutoNum type="arabicPeriod" startAt="4"/>
              <a:defRPr/>
            </a:pPr>
            <a:r>
              <a:rPr lang="en-US" altLang="zh-CN" sz="2400" b="1" dirty="0" smtClean="0">
                <a:latin typeface="+mn-ea"/>
              </a:rPr>
              <a:t>&lt;</a:t>
            </a:r>
            <a:r>
              <a:rPr lang="zh-CN" altLang="en-US" sz="2400" b="1" dirty="0" smtClean="0">
                <a:latin typeface="+mn-ea"/>
              </a:rPr>
              <a:t>学生</a:t>
            </a:r>
            <a:r>
              <a:rPr lang="en-US" altLang="zh-CN" sz="2400" b="1" dirty="0" smtClean="0">
                <a:latin typeface="+mn-ea"/>
              </a:rPr>
              <a:t>&gt;</a:t>
            </a:r>
          </a:p>
          <a:p>
            <a:pPr marL="609600" indent="-609600">
              <a:lnSpc>
                <a:spcPct val="90000"/>
              </a:lnSpc>
              <a:buFontTx/>
              <a:buAutoNum type="arabicPeriod" startAt="4"/>
              <a:defRPr/>
            </a:pPr>
            <a:r>
              <a:rPr lang="en-US" altLang="zh-CN" sz="2400" b="1" dirty="0" smtClean="0">
                <a:latin typeface="+mn-ea"/>
              </a:rPr>
              <a:t>       &lt;</a:t>
            </a:r>
            <a:r>
              <a:rPr lang="zh-CN" altLang="en-US" sz="2400" b="1" dirty="0" smtClean="0">
                <a:latin typeface="+mn-ea"/>
              </a:rPr>
              <a:t>姓名</a:t>
            </a:r>
            <a:r>
              <a:rPr lang="en-US" altLang="zh-CN" sz="2400" b="1" dirty="0" smtClean="0">
                <a:latin typeface="+mn-ea"/>
              </a:rPr>
              <a:t>&gt;</a:t>
            </a:r>
            <a:r>
              <a:rPr lang="zh-CN" altLang="en-US" sz="2400" b="1" dirty="0" smtClean="0">
                <a:latin typeface="+mn-ea"/>
              </a:rPr>
              <a:t>李华</a:t>
            </a:r>
            <a:r>
              <a:rPr lang="en-US" altLang="zh-CN" sz="2400" b="1" dirty="0" smtClean="0">
                <a:latin typeface="+mn-ea"/>
              </a:rPr>
              <a:t>&lt;/</a:t>
            </a:r>
            <a:r>
              <a:rPr lang="zh-CN" altLang="en-US" sz="2400" b="1" dirty="0" smtClean="0">
                <a:latin typeface="+mn-ea"/>
              </a:rPr>
              <a:t>姓名</a:t>
            </a:r>
            <a:r>
              <a:rPr lang="en-US" altLang="zh-CN" sz="2400" b="1" dirty="0" smtClean="0">
                <a:latin typeface="+mn-ea"/>
              </a:rPr>
              <a:t>&gt;</a:t>
            </a:r>
          </a:p>
          <a:p>
            <a:pPr marL="609600" indent="-609600">
              <a:lnSpc>
                <a:spcPct val="90000"/>
              </a:lnSpc>
              <a:buFontTx/>
              <a:buAutoNum type="arabicPeriod" startAt="4"/>
              <a:defRPr/>
            </a:pPr>
            <a:r>
              <a:rPr lang="en-US" altLang="zh-CN" sz="2400" b="1" dirty="0" smtClean="0">
                <a:latin typeface="+mn-ea"/>
              </a:rPr>
              <a:t>       &lt;</a:t>
            </a:r>
            <a:r>
              <a:rPr lang="zh-CN" altLang="en-US" sz="2400" b="1" dirty="0" smtClean="0">
                <a:latin typeface="+mn-ea"/>
              </a:rPr>
              <a:t>籍贯</a:t>
            </a:r>
            <a:r>
              <a:rPr lang="en-US" altLang="zh-CN" sz="2400" b="1" dirty="0" smtClean="0">
                <a:latin typeface="+mn-ea"/>
              </a:rPr>
              <a:t>&gt;</a:t>
            </a:r>
            <a:r>
              <a:rPr lang="zh-CN" altLang="en-US" sz="2400" b="1" dirty="0" smtClean="0">
                <a:latin typeface="+mn-ea"/>
              </a:rPr>
              <a:t>河北</a:t>
            </a:r>
            <a:r>
              <a:rPr lang="en-US" altLang="zh-CN" sz="2400" b="1" dirty="0" smtClean="0">
                <a:latin typeface="+mn-ea"/>
              </a:rPr>
              <a:t>&lt;/</a:t>
            </a:r>
            <a:r>
              <a:rPr lang="zh-CN" altLang="en-US" sz="2400" b="1" dirty="0" smtClean="0">
                <a:latin typeface="+mn-ea"/>
              </a:rPr>
              <a:t>籍贯</a:t>
            </a:r>
            <a:r>
              <a:rPr lang="en-US" altLang="zh-CN" sz="2400" b="1" dirty="0" smtClean="0">
                <a:latin typeface="+mn-ea"/>
              </a:rPr>
              <a:t>&gt;</a:t>
            </a:r>
          </a:p>
          <a:p>
            <a:pPr marL="609600" indent="-609600">
              <a:lnSpc>
                <a:spcPct val="90000"/>
              </a:lnSpc>
              <a:buFontTx/>
              <a:buAutoNum type="arabicPeriod" startAt="4"/>
              <a:defRPr/>
            </a:pPr>
            <a:r>
              <a:rPr lang="en-US" altLang="zh-CN" sz="2400" b="1" dirty="0" smtClean="0">
                <a:latin typeface="+mn-ea"/>
              </a:rPr>
              <a:t>       &lt;</a:t>
            </a:r>
            <a:r>
              <a:rPr lang="zh-CN" altLang="en-US" sz="2400" b="1" dirty="0" smtClean="0">
                <a:latin typeface="+mn-ea"/>
              </a:rPr>
              <a:t>年龄</a:t>
            </a:r>
            <a:r>
              <a:rPr lang="en-US" altLang="zh-CN" sz="2400" b="1" dirty="0" smtClean="0">
                <a:latin typeface="+mn-ea"/>
              </a:rPr>
              <a:t>&gt;14&lt;/</a:t>
            </a:r>
            <a:r>
              <a:rPr lang="zh-CN" altLang="en-US" sz="2400" b="1" dirty="0" smtClean="0">
                <a:latin typeface="+mn-ea"/>
              </a:rPr>
              <a:t>年龄</a:t>
            </a:r>
            <a:r>
              <a:rPr lang="en-US" altLang="zh-CN" sz="2400" b="1" dirty="0" smtClean="0">
                <a:latin typeface="+mn-ea"/>
              </a:rPr>
              <a:t>&gt;</a:t>
            </a:r>
          </a:p>
          <a:p>
            <a:pPr marL="609600" indent="-609600">
              <a:lnSpc>
                <a:spcPct val="90000"/>
              </a:lnSpc>
              <a:buFontTx/>
              <a:buAutoNum type="arabicPeriod" startAt="4"/>
              <a:defRPr/>
            </a:pPr>
            <a:r>
              <a:rPr lang="en-US" altLang="zh-CN" sz="2400" b="1" dirty="0" smtClean="0">
                <a:latin typeface="+mn-ea"/>
              </a:rPr>
              <a:t>       &lt;</a:t>
            </a:r>
            <a:r>
              <a:rPr lang="zh-CN" altLang="en-US" sz="2400" b="1" dirty="0" smtClean="0">
                <a:latin typeface="+mn-ea"/>
              </a:rPr>
              <a:t>电话</a:t>
            </a:r>
            <a:r>
              <a:rPr lang="en-US" altLang="zh-CN" sz="2400" b="1" dirty="0" smtClean="0">
                <a:latin typeface="+mn-ea"/>
              </a:rPr>
              <a:t>&gt;62875555 &lt;/</a:t>
            </a:r>
            <a:r>
              <a:rPr lang="zh-CN" altLang="en-US" sz="2400" b="1" dirty="0" smtClean="0">
                <a:latin typeface="+mn-ea"/>
              </a:rPr>
              <a:t>电话</a:t>
            </a:r>
            <a:r>
              <a:rPr lang="en-US" altLang="zh-CN" sz="2400" b="1" dirty="0" smtClean="0">
                <a:latin typeface="+mn-ea"/>
              </a:rPr>
              <a:t>&gt;</a:t>
            </a:r>
          </a:p>
          <a:p>
            <a:pPr marL="609600" indent="-609600">
              <a:lnSpc>
                <a:spcPct val="90000"/>
              </a:lnSpc>
              <a:buFontTx/>
              <a:buAutoNum type="arabicPeriod" startAt="4"/>
              <a:defRPr/>
            </a:pPr>
            <a:r>
              <a:rPr lang="en-US" altLang="zh-CN" sz="2400" b="1" dirty="0" smtClean="0">
                <a:latin typeface="+mn-ea"/>
              </a:rPr>
              <a:t> &lt;/</a:t>
            </a:r>
            <a:r>
              <a:rPr lang="zh-CN" altLang="en-US" sz="2400" b="1" dirty="0" smtClean="0">
                <a:latin typeface="+mn-ea"/>
              </a:rPr>
              <a:t>学生</a:t>
            </a:r>
            <a:r>
              <a:rPr lang="en-US" altLang="zh-CN" sz="2400" b="1" dirty="0" smtClean="0">
                <a:latin typeface="+mn-ea"/>
              </a:rPr>
              <a:t>&gt;</a:t>
            </a:r>
          </a:p>
          <a:p>
            <a:pPr marL="609600" indent="-609600">
              <a:lnSpc>
                <a:spcPct val="90000"/>
              </a:lnSpc>
              <a:buFontTx/>
              <a:buAutoNum type="arabicPeriod" startAt="4"/>
              <a:defRPr/>
            </a:pPr>
            <a:r>
              <a:rPr lang="en-US" altLang="zh-CN" sz="2400" b="1" dirty="0" smtClean="0">
                <a:latin typeface="+mn-ea"/>
              </a:rPr>
              <a:t> &lt;</a:t>
            </a:r>
            <a:r>
              <a:rPr lang="zh-CN" altLang="en-US" sz="2400" b="1" dirty="0" smtClean="0">
                <a:latin typeface="+mn-ea"/>
              </a:rPr>
              <a:t>学生</a:t>
            </a:r>
            <a:r>
              <a:rPr lang="en-US" altLang="zh-CN" sz="2400" b="1" dirty="0" smtClean="0">
                <a:latin typeface="+mn-ea"/>
              </a:rPr>
              <a:t>&gt;</a:t>
            </a:r>
          </a:p>
          <a:p>
            <a:pPr marL="609600" indent="-609600">
              <a:lnSpc>
                <a:spcPct val="90000"/>
              </a:lnSpc>
              <a:buFontTx/>
              <a:buAutoNum type="arabicPeriod" startAt="4"/>
              <a:defRPr/>
            </a:pPr>
            <a:r>
              <a:rPr lang="en-US" altLang="zh-CN" sz="2400" b="1" dirty="0" smtClean="0">
                <a:latin typeface="+mn-ea"/>
              </a:rPr>
              <a:t>        &lt;</a:t>
            </a:r>
            <a:r>
              <a:rPr lang="zh-CN" altLang="en-US" sz="2400" b="1" dirty="0" smtClean="0">
                <a:latin typeface="+mn-ea"/>
              </a:rPr>
              <a:t>姓名</a:t>
            </a:r>
            <a:r>
              <a:rPr lang="en-US" altLang="zh-CN" sz="2400" b="1" dirty="0" smtClean="0">
                <a:latin typeface="+mn-ea"/>
              </a:rPr>
              <a:t>&gt;</a:t>
            </a:r>
            <a:r>
              <a:rPr lang="zh-CN" altLang="en-US" sz="2400" b="1" dirty="0" smtClean="0">
                <a:latin typeface="+mn-ea"/>
              </a:rPr>
              <a:t>王珊</a:t>
            </a:r>
            <a:r>
              <a:rPr lang="en-US" altLang="zh-CN" sz="2400" b="1" dirty="0" smtClean="0">
                <a:latin typeface="+mn-ea"/>
              </a:rPr>
              <a:t>&lt;/</a:t>
            </a:r>
            <a:r>
              <a:rPr lang="zh-CN" altLang="en-US" sz="2400" b="1" dirty="0" smtClean="0">
                <a:latin typeface="+mn-ea"/>
              </a:rPr>
              <a:t>姓名</a:t>
            </a:r>
            <a:r>
              <a:rPr lang="en-US" altLang="zh-CN" sz="2400" b="1" dirty="0" smtClean="0">
                <a:latin typeface="+mn-ea"/>
              </a:rPr>
              <a:t>&gt;</a:t>
            </a:r>
          </a:p>
          <a:p>
            <a:pPr marL="609600" indent="-609600">
              <a:lnSpc>
                <a:spcPct val="90000"/>
              </a:lnSpc>
              <a:buFontTx/>
              <a:buAutoNum type="arabicPeriod" startAt="4"/>
              <a:defRPr/>
            </a:pPr>
            <a:r>
              <a:rPr lang="en-US" altLang="zh-CN" sz="2400" b="1" dirty="0" smtClean="0">
                <a:latin typeface="+mn-ea"/>
              </a:rPr>
              <a:t>        &lt;</a:t>
            </a:r>
            <a:r>
              <a:rPr lang="zh-CN" altLang="en-US" sz="2400" b="1" dirty="0" smtClean="0">
                <a:latin typeface="+mn-ea"/>
              </a:rPr>
              <a:t>籍贯</a:t>
            </a:r>
            <a:r>
              <a:rPr lang="en-US" altLang="zh-CN" sz="2400" b="1" dirty="0" smtClean="0">
                <a:latin typeface="+mn-ea"/>
              </a:rPr>
              <a:t>&gt;</a:t>
            </a:r>
            <a:r>
              <a:rPr lang="zh-CN" altLang="en-US" sz="2400" b="1" dirty="0" smtClean="0">
                <a:latin typeface="+mn-ea"/>
              </a:rPr>
              <a:t>北京</a:t>
            </a:r>
            <a:r>
              <a:rPr lang="en-US" altLang="zh-CN" sz="2400" b="1" dirty="0" smtClean="0">
                <a:latin typeface="+mn-ea"/>
              </a:rPr>
              <a:t>&lt;/</a:t>
            </a:r>
            <a:r>
              <a:rPr lang="zh-CN" altLang="en-US" sz="2400" b="1" dirty="0" smtClean="0">
                <a:latin typeface="+mn-ea"/>
              </a:rPr>
              <a:t>籍贯</a:t>
            </a:r>
            <a:r>
              <a:rPr lang="en-US" altLang="zh-CN" sz="2400" b="1" dirty="0" smtClean="0">
                <a:latin typeface="+mn-ea"/>
              </a:rPr>
              <a:t>&gt;</a:t>
            </a:r>
          </a:p>
          <a:p>
            <a:pPr marL="609600" indent="-609600">
              <a:lnSpc>
                <a:spcPct val="90000"/>
              </a:lnSpc>
              <a:buFontTx/>
              <a:buAutoNum type="arabicPeriod" startAt="4"/>
              <a:defRPr/>
            </a:pPr>
            <a:r>
              <a:rPr lang="en-US" altLang="zh-CN" sz="2400" b="1" dirty="0" smtClean="0">
                <a:latin typeface="+mn-ea"/>
              </a:rPr>
              <a:t>        &lt;</a:t>
            </a:r>
            <a:r>
              <a:rPr lang="zh-CN" altLang="en-US" sz="2400" b="1" dirty="0" smtClean="0">
                <a:latin typeface="+mn-ea"/>
              </a:rPr>
              <a:t>年龄</a:t>
            </a:r>
            <a:r>
              <a:rPr lang="en-US" altLang="zh-CN" sz="2400" b="1" dirty="0" smtClean="0">
                <a:latin typeface="+mn-ea"/>
              </a:rPr>
              <a:t>&gt;12&lt;/</a:t>
            </a:r>
            <a:r>
              <a:rPr lang="zh-CN" altLang="en-US" sz="2400" b="1" dirty="0" smtClean="0">
                <a:latin typeface="+mn-ea"/>
              </a:rPr>
              <a:t>年龄</a:t>
            </a:r>
            <a:r>
              <a:rPr lang="en-US" altLang="zh-CN" sz="2400" b="1" dirty="0" smtClean="0">
                <a:latin typeface="+mn-ea"/>
              </a:rPr>
              <a:t>&gt;</a:t>
            </a:r>
          </a:p>
          <a:p>
            <a:pPr marL="609600" indent="-609600">
              <a:lnSpc>
                <a:spcPct val="90000"/>
              </a:lnSpc>
              <a:buFontTx/>
              <a:buAutoNum type="arabicPeriod" startAt="4"/>
              <a:defRPr/>
            </a:pPr>
            <a:r>
              <a:rPr lang="en-US" altLang="zh-CN" sz="2400" b="1" dirty="0" smtClean="0">
                <a:latin typeface="+mn-ea"/>
              </a:rPr>
              <a:t>        &lt;</a:t>
            </a:r>
            <a:r>
              <a:rPr lang="zh-CN" altLang="en-US" sz="2400" b="1" dirty="0" smtClean="0">
                <a:latin typeface="+mn-ea"/>
              </a:rPr>
              <a:t>电话</a:t>
            </a:r>
            <a:r>
              <a:rPr lang="en-US" altLang="zh-CN" sz="2400" b="1" dirty="0" smtClean="0">
                <a:latin typeface="+mn-ea"/>
              </a:rPr>
              <a:t>&gt;82618888&lt;/</a:t>
            </a:r>
            <a:r>
              <a:rPr lang="zh-CN" altLang="en-US" sz="2400" b="1" dirty="0" smtClean="0">
                <a:latin typeface="+mn-ea"/>
              </a:rPr>
              <a:t>电话</a:t>
            </a:r>
            <a:r>
              <a:rPr lang="en-US" altLang="zh-CN" sz="2400" b="1" dirty="0" smtClean="0">
                <a:latin typeface="+mn-ea"/>
              </a:rPr>
              <a:t>&gt;</a:t>
            </a:r>
          </a:p>
          <a:p>
            <a:pPr marL="609600" indent="-609600">
              <a:lnSpc>
                <a:spcPct val="90000"/>
              </a:lnSpc>
              <a:buFontTx/>
              <a:buAutoNum type="arabicPeriod" startAt="4"/>
              <a:defRPr/>
            </a:pPr>
            <a:r>
              <a:rPr lang="en-US" altLang="zh-CN" sz="2400" b="1" dirty="0" smtClean="0">
                <a:latin typeface="+mn-ea"/>
              </a:rPr>
              <a:t> &lt;/</a:t>
            </a:r>
            <a:r>
              <a:rPr lang="zh-CN" altLang="en-US" sz="2400" b="1" dirty="0" smtClean="0">
                <a:latin typeface="+mn-ea"/>
              </a:rPr>
              <a:t>学生</a:t>
            </a:r>
            <a:r>
              <a:rPr lang="en-US" altLang="zh-CN" sz="2400" b="1" dirty="0" smtClean="0">
                <a:latin typeface="+mn-ea"/>
              </a:rPr>
              <a:t>&gt;</a:t>
            </a:r>
          </a:p>
          <a:p>
            <a:pPr marL="609600" indent="-609600">
              <a:lnSpc>
                <a:spcPct val="90000"/>
              </a:lnSpc>
              <a:buFontTx/>
              <a:buNone/>
              <a:defRPr/>
            </a:pPr>
            <a:r>
              <a:rPr lang="en-US" altLang="zh-CN" sz="2400" b="1" dirty="0" smtClean="0">
                <a:latin typeface="+mn-ea"/>
              </a:rPr>
              <a:t>16. &lt;/</a:t>
            </a:r>
            <a:r>
              <a:rPr lang="zh-CN" altLang="en-US" sz="2400" b="1" dirty="0" smtClean="0">
                <a:latin typeface="+mn-ea"/>
              </a:rPr>
              <a:t>学生花名册</a:t>
            </a:r>
            <a:r>
              <a:rPr lang="en-US" altLang="zh-CN" sz="2400" b="1" dirty="0" smtClean="0">
                <a:latin typeface="+mn-ea"/>
              </a:rPr>
              <a:t>&gt;</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p:cNvSpPr>
            <a:spLocks noGrp="1" noChangeArrowheads="1"/>
          </p:cNvSpPr>
          <p:nvPr>
            <p:ph idx="1"/>
          </p:nvPr>
        </p:nvSpPr>
        <p:spPr>
          <a:xfrm>
            <a:off x="1714509" y="1000108"/>
            <a:ext cx="7572399" cy="4643450"/>
          </a:xfrm>
        </p:spPr>
        <p:txBody>
          <a:bodyPr/>
          <a:lstStyle/>
          <a:p>
            <a:pPr>
              <a:lnSpc>
                <a:spcPct val="90000"/>
              </a:lnSpc>
              <a:buFontTx/>
              <a:buNone/>
              <a:defRPr/>
            </a:pPr>
            <a:r>
              <a:rPr lang="zh-CN" altLang="en-US" sz="2400" b="1" dirty="0" smtClean="0">
                <a:latin typeface="+mn-ea"/>
              </a:rPr>
              <a:t>相应</a:t>
            </a:r>
            <a:r>
              <a:rPr lang="en-US" altLang="zh-CN" sz="2400" b="1" dirty="0" smtClean="0">
                <a:latin typeface="+mn-ea"/>
              </a:rPr>
              <a:t>DTD</a:t>
            </a:r>
            <a:r>
              <a:rPr lang="zh-CN" altLang="en-US" sz="2400" b="1" dirty="0" smtClean="0">
                <a:latin typeface="+mn-ea"/>
              </a:rPr>
              <a:t>描述</a:t>
            </a:r>
            <a:r>
              <a:rPr lang="en-US" altLang="zh-CN" sz="2400" b="1" dirty="0" smtClean="0">
                <a:latin typeface="+mn-ea"/>
              </a:rPr>
              <a:t>:</a:t>
            </a:r>
          </a:p>
          <a:p>
            <a:pPr>
              <a:lnSpc>
                <a:spcPct val="90000"/>
              </a:lnSpc>
              <a:buFontTx/>
              <a:buNone/>
              <a:defRPr/>
            </a:pPr>
            <a:r>
              <a:rPr lang="en-US" altLang="zh-CN" sz="2400" b="1" dirty="0" smtClean="0">
                <a:latin typeface="+mn-ea"/>
              </a:rPr>
              <a:t>&lt;!DOCTYPE </a:t>
            </a:r>
            <a:r>
              <a:rPr lang="zh-CN" altLang="en-US" sz="2400" b="1" dirty="0" smtClean="0">
                <a:latin typeface="+mn-ea"/>
              </a:rPr>
              <a:t>学生花名册</a:t>
            </a:r>
            <a:r>
              <a:rPr lang="en-US" altLang="zh-CN" sz="2400" b="1" dirty="0" smtClean="0">
                <a:latin typeface="+mn-ea"/>
              </a:rPr>
              <a:t>[</a:t>
            </a:r>
          </a:p>
          <a:p>
            <a:pPr>
              <a:lnSpc>
                <a:spcPct val="90000"/>
              </a:lnSpc>
              <a:buFontTx/>
              <a:buNone/>
              <a:defRPr/>
            </a:pPr>
            <a:r>
              <a:rPr lang="en-US" altLang="zh-CN" sz="2400" b="1" dirty="0" smtClean="0">
                <a:latin typeface="+mn-ea"/>
              </a:rPr>
              <a:t>&lt;!ELEMENT </a:t>
            </a:r>
            <a:r>
              <a:rPr lang="zh-CN" altLang="en-US" sz="2400" b="1" dirty="0" smtClean="0">
                <a:latin typeface="+mn-ea"/>
              </a:rPr>
              <a:t>学生花名册 （学生*）</a:t>
            </a:r>
            <a:r>
              <a:rPr lang="en-US" altLang="zh-CN" sz="2400" b="1" dirty="0" smtClean="0">
                <a:latin typeface="+mn-ea"/>
              </a:rPr>
              <a:t>&gt;</a:t>
            </a:r>
          </a:p>
          <a:p>
            <a:pPr>
              <a:lnSpc>
                <a:spcPct val="90000"/>
              </a:lnSpc>
              <a:buFontTx/>
              <a:buNone/>
              <a:defRPr/>
            </a:pPr>
            <a:r>
              <a:rPr lang="en-US" altLang="zh-CN" sz="2400" b="1" dirty="0" smtClean="0">
                <a:latin typeface="+mn-ea"/>
              </a:rPr>
              <a:t>&lt;!ATTLIST </a:t>
            </a:r>
            <a:r>
              <a:rPr lang="zh-CN" altLang="en-US" sz="2400" b="1" dirty="0" smtClean="0">
                <a:latin typeface="+mn-ea"/>
              </a:rPr>
              <a:t>学生花名册 年级 </a:t>
            </a:r>
            <a:r>
              <a:rPr lang="en-US" altLang="zh-CN" sz="2400" b="1" dirty="0" smtClean="0">
                <a:latin typeface="+mn-ea"/>
              </a:rPr>
              <a:t>CDATA # REQUIRED</a:t>
            </a:r>
          </a:p>
          <a:p>
            <a:pPr>
              <a:lnSpc>
                <a:spcPct val="90000"/>
              </a:lnSpc>
              <a:buFontTx/>
              <a:buNone/>
              <a:defRPr/>
            </a:pPr>
            <a:r>
              <a:rPr lang="en-US" altLang="zh-CN" sz="2400" b="1" dirty="0" smtClean="0">
                <a:latin typeface="+mn-ea"/>
              </a:rPr>
              <a:t>                     </a:t>
            </a:r>
            <a:r>
              <a:rPr lang="zh-CN" altLang="en-US" sz="2400" b="1" dirty="0" smtClean="0">
                <a:latin typeface="+mn-ea"/>
              </a:rPr>
              <a:t>班级 </a:t>
            </a:r>
            <a:r>
              <a:rPr lang="en-US" altLang="zh-CN" sz="2400" b="1" dirty="0" smtClean="0">
                <a:latin typeface="+mn-ea"/>
              </a:rPr>
              <a:t>CDATA # IMPLIED&gt;</a:t>
            </a:r>
          </a:p>
          <a:p>
            <a:pPr>
              <a:lnSpc>
                <a:spcPct val="90000"/>
              </a:lnSpc>
              <a:buFontTx/>
              <a:buNone/>
              <a:defRPr/>
            </a:pPr>
            <a:r>
              <a:rPr lang="en-US" altLang="zh-CN" sz="2400" b="1" dirty="0" smtClean="0">
                <a:latin typeface="+mn-ea"/>
              </a:rPr>
              <a:t>&lt;!ELEMENT </a:t>
            </a:r>
            <a:r>
              <a:rPr lang="zh-CN" altLang="en-US" sz="2400" b="1" dirty="0" smtClean="0">
                <a:latin typeface="+mn-ea"/>
              </a:rPr>
              <a:t>学生    </a:t>
            </a:r>
            <a:r>
              <a:rPr lang="en-US" altLang="zh-CN" sz="2400" b="1" dirty="0" smtClean="0">
                <a:latin typeface="+mn-ea"/>
              </a:rPr>
              <a:t>(</a:t>
            </a:r>
            <a:r>
              <a:rPr lang="zh-CN" altLang="en-US" sz="2400" b="1" dirty="0" smtClean="0">
                <a:latin typeface="+mn-ea"/>
              </a:rPr>
              <a:t>姓名＋，籍贯，年龄，电话？</a:t>
            </a:r>
            <a:r>
              <a:rPr lang="en-US" altLang="zh-CN" sz="2400" b="1" dirty="0" smtClean="0">
                <a:latin typeface="+mn-ea"/>
              </a:rPr>
              <a:t>)&gt;</a:t>
            </a:r>
          </a:p>
          <a:p>
            <a:pPr>
              <a:lnSpc>
                <a:spcPct val="90000"/>
              </a:lnSpc>
              <a:buFontTx/>
              <a:buNone/>
              <a:defRPr/>
            </a:pPr>
            <a:r>
              <a:rPr lang="en-US" altLang="zh-CN" sz="2400" b="1" dirty="0" smtClean="0">
                <a:latin typeface="+mn-ea"/>
              </a:rPr>
              <a:t>&lt;!ELEMENT </a:t>
            </a:r>
            <a:r>
              <a:rPr lang="zh-CN" altLang="en-US" sz="2400" b="1" dirty="0" smtClean="0">
                <a:latin typeface="+mn-ea"/>
              </a:rPr>
              <a:t>姓名 （</a:t>
            </a:r>
            <a:r>
              <a:rPr lang="en-US" altLang="zh-CN" sz="2400" b="1" dirty="0" smtClean="0">
                <a:latin typeface="+mn-ea"/>
              </a:rPr>
              <a:t># PCDATA</a:t>
            </a:r>
            <a:r>
              <a:rPr lang="zh-CN" altLang="en-US" sz="2400" b="1" dirty="0" smtClean="0">
                <a:latin typeface="+mn-ea"/>
              </a:rPr>
              <a:t>）</a:t>
            </a:r>
            <a:r>
              <a:rPr lang="en-US" altLang="zh-CN" sz="2400" b="1" dirty="0" smtClean="0">
                <a:latin typeface="+mn-ea"/>
              </a:rPr>
              <a:t>&gt;</a:t>
            </a:r>
          </a:p>
          <a:p>
            <a:pPr>
              <a:lnSpc>
                <a:spcPct val="90000"/>
              </a:lnSpc>
              <a:buFontTx/>
              <a:buNone/>
              <a:defRPr/>
            </a:pPr>
            <a:r>
              <a:rPr lang="en-US" altLang="zh-CN" sz="2400" b="1" dirty="0" smtClean="0">
                <a:latin typeface="+mn-ea"/>
              </a:rPr>
              <a:t>&lt;!ELEMENT </a:t>
            </a:r>
            <a:r>
              <a:rPr lang="zh-CN" altLang="en-US" sz="2400" b="1" dirty="0" smtClean="0">
                <a:latin typeface="+mn-ea"/>
              </a:rPr>
              <a:t>籍贯   </a:t>
            </a:r>
            <a:r>
              <a:rPr lang="en-US" altLang="zh-CN" sz="2400" b="1" dirty="0" smtClean="0">
                <a:latin typeface="+mn-ea"/>
              </a:rPr>
              <a:t>(# PCDATA</a:t>
            </a:r>
            <a:r>
              <a:rPr lang="zh-CN" altLang="en-US" sz="2400" b="1" dirty="0" smtClean="0">
                <a:latin typeface="+mn-ea"/>
              </a:rPr>
              <a:t>）</a:t>
            </a:r>
            <a:r>
              <a:rPr lang="en-US" altLang="zh-CN" sz="2400" b="1" dirty="0" smtClean="0">
                <a:latin typeface="+mn-ea"/>
              </a:rPr>
              <a:t>&gt;</a:t>
            </a:r>
          </a:p>
          <a:p>
            <a:pPr>
              <a:lnSpc>
                <a:spcPct val="90000"/>
              </a:lnSpc>
              <a:buFontTx/>
              <a:buNone/>
              <a:defRPr/>
            </a:pPr>
            <a:r>
              <a:rPr lang="en-US" altLang="zh-CN" sz="2400" b="1" dirty="0" smtClean="0">
                <a:latin typeface="+mn-ea"/>
              </a:rPr>
              <a:t>&lt;!ELEMENT </a:t>
            </a:r>
            <a:r>
              <a:rPr lang="zh-CN" altLang="en-US" sz="2400" b="1" dirty="0" smtClean="0">
                <a:latin typeface="+mn-ea"/>
              </a:rPr>
              <a:t>年龄   </a:t>
            </a:r>
            <a:r>
              <a:rPr lang="en-US" altLang="zh-CN" sz="2400" b="1" dirty="0" smtClean="0">
                <a:latin typeface="+mn-ea"/>
              </a:rPr>
              <a:t>(# PCDATA</a:t>
            </a:r>
            <a:r>
              <a:rPr lang="zh-CN" altLang="en-US" sz="2400" b="1" dirty="0" smtClean="0">
                <a:latin typeface="+mn-ea"/>
              </a:rPr>
              <a:t>）</a:t>
            </a:r>
            <a:r>
              <a:rPr lang="en-US" altLang="zh-CN" sz="2400" b="1" dirty="0" smtClean="0">
                <a:latin typeface="+mn-ea"/>
              </a:rPr>
              <a:t>&gt;</a:t>
            </a:r>
          </a:p>
          <a:p>
            <a:pPr>
              <a:lnSpc>
                <a:spcPct val="90000"/>
              </a:lnSpc>
              <a:buFontTx/>
              <a:buNone/>
              <a:defRPr/>
            </a:pPr>
            <a:r>
              <a:rPr lang="en-US" altLang="zh-CN" sz="2400" b="1" dirty="0" smtClean="0">
                <a:latin typeface="+mn-ea"/>
              </a:rPr>
              <a:t>&lt;!ELEMENT </a:t>
            </a:r>
            <a:r>
              <a:rPr lang="zh-CN" altLang="en-US" sz="2400" b="1" dirty="0" smtClean="0">
                <a:latin typeface="+mn-ea"/>
              </a:rPr>
              <a:t>电话   </a:t>
            </a:r>
            <a:r>
              <a:rPr lang="en-US" altLang="zh-CN" sz="2400" b="1" dirty="0" smtClean="0">
                <a:latin typeface="+mn-ea"/>
              </a:rPr>
              <a:t>(# PCDATA</a:t>
            </a:r>
            <a:r>
              <a:rPr lang="zh-CN" altLang="en-US" sz="2400" b="1" dirty="0" smtClean="0">
                <a:latin typeface="+mn-ea"/>
              </a:rPr>
              <a:t>）</a:t>
            </a:r>
            <a:r>
              <a:rPr lang="en-US" altLang="zh-CN" sz="2400" b="1" dirty="0" smtClean="0">
                <a:latin typeface="+mn-ea"/>
              </a:rPr>
              <a:t>&gt;</a:t>
            </a:r>
          </a:p>
          <a:p>
            <a:pPr>
              <a:lnSpc>
                <a:spcPct val="90000"/>
              </a:lnSpc>
              <a:buFontTx/>
              <a:buNone/>
              <a:defRPr/>
            </a:pPr>
            <a:r>
              <a:rPr lang="en-US" altLang="zh-CN" sz="2400" b="1" dirty="0" smtClean="0">
                <a:latin typeface="+mn-ea"/>
              </a:rPr>
              <a:t>]&gt;</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43109" y="428604"/>
            <a:ext cx="6643734" cy="6072187"/>
          </a:xfrm>
        </p:spPr>
        <p:txBody>
          <a:bodyPr/>
          <a:lstStyle/>
          <a:p>
            <a:pPr>
              <a:defRPr/>
            </a:pPr>
            <a:r>
              <a:rPr lang="zh-CN" altLang="en-US" sz="2800" b="1" dirty="0" smtClean="0">
                <a:latin typeface="+mn-ea"/>
              </a:rPr>
              <a:t>上述第</a:t>
            </a:r>
            <a:r>
              <a:rPr lang="en-US" altLang="zh-CN" sz="2800" b="1" dirty="0" smtClean="0">
                <a:latin typeface="+mn-ea"/>
              </a:rPr>
              <a:t>2</a:t>
            </a:r>
            <a:r>
              <a:rPr lang="zh-CN" altLang="en-US" sz="2800" b="1" dirty="0" smtClean="0">
                <a:latin typeface="+mn-ea"/>
              </a:rPr>
              <a:t>行可用下面语句替换：</a:t>
            </a:r>
            <a:endParaRPr lang="en-US" altLang="zh-CN" sz="2800" b="1" dirty="0" smtClean="0">
              <a:latin typeface="+mn-ea"/>
            </a:endParaRPr>
          </a:p>
          <a:p>
            <a:pPr>
              <a:lnSpc>
                <a:spcPct val="90000"/>
              </a:lnSpc>
              <a:buClr>
                <a:schemeClr val="accent2"/>
              </a:buClr>
              <a:buFont typeface="Wingdings" pitchFamily="2" charset="2"/>
              <a:buNone/>
              <a:defRPr/>
            </a:pPr>
            <a:r>
              <a:rPr lang="zh-CN" altLang="en-US" sz="2800" b="1" dirty="0" smtClean="0">
                <a:latin typeface="+mn-ea"/>
              </a:rPr>
              <a:t> </a:t>
            </a:r>
            <a:r>
              <a:rPr lang="en-US" altLang="zh-CN" sz="2800" b="1" dirty="0" smtClean="0">
                <a:latin typeface="+mn-ea"/>
              </a:rPr>
              <a:t>&lt;!DOCTYPE </a:t>
            </a:r>
            <a:r>
              <a:rPr lang="zh-CN" altLang="en-US" sz="2800" b="1" dirty="0" smtClean="0">
                <a:latin typeface="+mn-ea"/>
              </a:rPr>
              <a:t>学生花名册 </a:t>
            </a:r>
            <a:r>
              <a:rPr lang="en-US" altLang="zh-CN" sz="2800" b="1" dirty="0" smtClean="0">
                <a:latin typeface="+mn-ea"/>
              </a:rPr>
              <a:t>SYSTEM “roster.dtd”&gt;</a:t>
            </a:r>
          </a:p>
          <a:p>
            <a:pPr>
              <a:lnSpc>
                <a:spcPct val="90000"/>
              </a:lnSpc>
              <a:buClr>
                <a:schemeClr val="accent2"/>
              </a:buClr>
              <a:buFont typeface="Wingdings" pitchFamily="2" charset="2"/>
              <a:buNone/>
              <a:defRPr/>
            </a:pPr>
            <a:endParaRPr lang="en-US" altLang="zh-CN" sz="2800" b="1" dirty="0" smtClean="0">
              <a:latin typeface="+mn-ea"/>
            </a:endParaRPr>
          </a:p>
          <a:p>
            <a:pPr>
              <a:lnSpc>
                <a:spcPct val="90000"/>
              </a:lnSpc>
              <a:buClr>
                <a:schemeClr val="accent2"/>
              </a:buClr>
              <a:defRPr/>
            </a:pPr>
            <a:r>
              <a:rPr lang="en-US" altLang="zh-CN" sz="2800" b="1" dirty="0" smtClean="0">
                <a:latin typeface="+mn-ea"/>
              </a:rPr>
              <a:t>XML</a:t>
            </a:r>
            <a:r>
              <a:rPr lang="zh-CN" altLang="en-US" sz="2800" b="1" dirty="0" smtClean="0">
                <a:latin typeface="+mn-ea"/>
              </a:rPr>
              <a:t>文档的结构：</a:t>
            </a:r>
            <a:endParaRPr lang="en-US" altLang="zh-CN" sz="2800" b="1" dirty="0" smtClean="0">
              <a:latin typeface="+mn-ea"/>
            </a:endParaRPr>
          </a:p>
          <a:p>
            <a:pPr lvl="1">
              <a:lnSpc>
                <a:spcPct val="90000"/>
              </a:lnSpc>
              <a:buClr>
                <a:schemeClr val="accent2"/>
              </a:buClr>
              <a:defRPr/>
            </a:pPr>
            <a:r>
              <a:rPr lang="zh-CN" altLang="en-US" sz="2400" b="1" dirty="0" smtClean="0">
                <a:latin typeface="+mn-ea"/>
              </a:rPr>
              <a:t>根元素“学生花名册”</a:t>
            </a:r>
            <a:endParaRPr lang="en-US" altLang="zh-CN" sz="2400" b="1" dirty="0" smtClean="0">
              <a:latin typeface="+mn-ea"/>
            </a:endParaRPr>
          </a:p>
          <a:p>
            <a:pPr lvl="2">
              <a:lnSpc>
                <a:spcPct val="90000"/>
              </a:lnSpc>
              <a:buClr>
                <a:schemeClr val="accent2"/>
              </a:buClr>
              <a:defRPr/>
            </a:pPr>
            <a:r>
              <a:rPr lang="zh-CN" altLang="en-US" sz="2000" b="1" dirty="0" smtClean="0">
                <a:latin typeface="+mn-ea"/>
              </a:rPr>
              <a:t>“年级” </a:t>
            </a:r>
            <a:endParaRPr lang="en-US" altLang="zh-CN" sz="2000" b="1" dirty="0" smtClean="0">
              <a:latin typeface="+mn-ea"/>
            </a:endParaRPr>
          </a:p>
          <a:p>
            <a:pPr lvl="2">
              <a:lnSpc>
                <a:spcPct val="90000"/>
              </a:lnSpc>
              <a:buClr>
                <a:schemeClr val="accent2"/>
              </a:buClr>
              <a:defRPr/>
            </a:pPr>
            <a:r>
              <a:rPr lang="zh-CN" altLang="en-US" sz="2000" b="1" dirty="0" smtClean="0">
                <a:latin typeface="+mn-ea"/>
              </a:rPr>
              <a:t>“班级”</a:t>
            </a:r>
            <a:endParaRPr lang="en-US" altLang="zh-CN" sz="2000" b="1" dirty="0" smtClean="0">
              <a:latin typeface="+mn-ea"/>
            </a:endParaRPr>
          </a:p>
          <a:p>
            <a:pPr lvl="1">
              <a:lnSpc>
                <a:spcPct val="90000"/>
              </a:lnSpc>
              <a:buClr>
                <a:schemeClr val="accent2"/>
              </a:buClr>
              <a:defRPr/>
            </a:pPr>
            <a:r>
              <a:rPr lang="zh-CN" altLang="en-US" sz="2400" b="1" dirty="0" smtClean="0">
                <a:latin typeface="+mn-ea"/>
              </a:rPr>
              <a:t>“学生花名册”元素</a:t>
            </a:r>
            <a:endParaRPr lang="en-US" altLang="zh-CN" sz="2400" b="1" dirty="0" smtClean="0">
              <a:latin typeface="+mn-ea"/>
            </a:endParaRPr>
          </a:p>
          <a:p>
            <a:pPr lvl="2">
              <a:lnSpc>
                <a:spcPct val="90000"/>
              </a:lnSpc>
              <a:buClr>
                <a:schemeClr val="accent2"/>
              </a:buClr>
              <a:defRPr/>
            </a:pPr>
            <a:r>
              <a:rPr lang="zh-CN" altLang="en-US" b="1" dirty="0" smtClean="0">
                <a:latin typeface="+mn-ea"/>
              </a:rPr>
              <a:t>“学生”元素</a:t>
            </a:r>
            <a:endParaRPr lang="en-US" altLang="zh-CN" b="1" dirty="0" smtClean="0">
              <a:latin typeface="+mn-ea"/>
            </a:endParaRPr>
          </a:p>
          <a:p>
            <a:pPr lvl="3">
              <a:lnSpc>
                <a:spcPct val="90000"/>
              </a:lnSpc>
              <a:buClr>
                <a:schemeClr val="accent2"/>
              </a:buClr>
              <a:defRPr/>
            </a:pPr>
            <a:r>
              <a:rPr lang="zh-CN" altLang="en-US" b="1" dirty="0" smtClean="0">
                <a:latin typeface="+mn-ea"/>
              </a:rPr>
              <a:t>“姓名”</a:t>
            </a:r>
            <a:endParaRPr lang="en-US" altLang="zh-CN" b="1" dirty="0" smtClean="0">
              <a:latin typeface="+mn-ea"/>
            </a:endParaRPr>
          </a:p>
          <a:p>
            <a:pPr lvl="3">
              <a:lnSpc>
                <a:spcPct val="90000"/>
              </a:lnSpc>
              <a:buClr>
                <a:schemeClr val="accent2"/>
              </a:buClr>
              <a:defRPr/>
            </a:pPr>
            <a:r>
              <a:rPr lang="zh-CN" altLang="en-US" b="1" dirty="0" smtClean="0">
                <a:latin typeface="+mn-ea"/>
              </a:rPr>
              <a:t>“籍贯”</a:t>
            </a:r>
            <a:endParaRPr lang="en-US" altLang="zh-CN" b="1" dirty="0" smtClean="0">
              <a:latin typeface="+mn-ea"/>
            </a:endParaRPr>
          </a:p>
          <a:p>
            <a:pPr lvl="3">
              <a:lnSpc>
                <a:spcPct val="90000"/>
              </a:lnSpc>
              <a:buClr>
                <a:schemeClr val="accent2"/>
              </a:buClr>
              <a:defRPr/>
            </a:pPr>
            <a:r>
              <a:rPr lang="zh-CN" altLang="en-US" b="1" dirty="0" smtClean="0">
                <a:latin typeface="+mn-ea"/>
              </a:rPr>
              <a:t>“年龄”</a:t>
            </a:r>
            <a:endParaRPr lang="en-US" altLang="zh-CN" b="1" dirty="0" smtClean="0">
              <a:latin typeface="+mn-ea"/>
            </a:endParaRPr>
          </a:p>
          <a:p>
            <a:pPr lvl="3">
              <a:lnSpc>
                <a:spcPct val="90000"/>
              </a:lnSpc>
              <a:buClr>
                <a:schemeClr val="accent2"/>
              </a:buClr>
              <a:defRPr/>
            </a:pPr>
            <a:r>
              <a:rPr lang="zh-CN" altLang="en-US" b="1" dirty="0" smtClean="0">
                <a:latin typeface="+mn-ea"/>
              </a:rPr>
              <a:t>“电话”</a:t>
            </a:r>
            <a:endParaRPr lang="zh-CN" altLang="en-US" dirty="0">
              <a:latin typeface="+mn-ea"/>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3"/>
          <p:cNvSpPr>
            <a:spLocks noGrp="1" noChangeArrowheads="1"/>
          </p:cNvSpPr>
          <p:nvPr>
            <p:ph idx="1"/>
          </p:nvPr>
        </p:nvSpPr>
        <p:spPr>
          <a:xfrm>
            <a:off x="2071671" y="428604"/>
            <a:ext cx="6858048" cy="6072187"/>
          </a:xfrm>
        </p:spPr>
        <p:txBody>
          <a:bodyPr/>
          <a:lstStyle/>
          <a:p>
            <a:pPr marL="609600" indent="-609600">
              <a:lnSpc>
                <a:spcPct val="90000"/>
              </a:lnSpc>
              <a:buClr>
                <a:schemeClr val="accent2"/>
              </a:buClr>
              <a:buFont typeface="Wingdings" pitchFamily="2" charset="2"/>
              <a:buNone/>
            </a:pPr>
            <a:r>
              <a:rPr lang="zh-CN" altLang="en-US" sz="2800" b="1" dirty="0" smtClean="0"/>
              <a:t>用</a:t>
            </a:r>
            <a:r>
              <a:rPr lang="en-US" altLang="zh-CN" sz="2800" b="1" dirty="0" smtClean="0"/>
              <a:t>XML Schema </a:t>
            </a:r>
            <a:r>
              <a:rPr lang="zh-CN" altLang="en-US" sz="2800" b="1" dirty="0" smtClean="0"/>
              <a:t>来描述：</a:t>
            </a:r>
            <a:r>
              <a:rPr lang="en-US" altLang="zh-CN" sz="2800" b="1" dirty="0" smtClean="0"/>
              <a:t>rosterschema.xml</a:t>
            </a:r>
          </a:p>
          <a:p>
            <a:pPr marL="609600" indent="-609600">
              <a:lnSpc>
                <a:spcPct val="90000"/>
              </a:lnSpc>
              <a:buClr>
                <a:schemeClr val="accent2"/>
              </a:buClr>
              <a:buFont typeface="Wingdings" pitchFamily="2" charset="2"/>
              <a:buNone/>
            </a:pPr>
            <a:endParaRPr lang="zh-CN" altLang="en-US" sz="2800" b="1" dirty="0" smtClean="0"/>
          </a:p>
          <a:p>
            <a:pPr marL="609600" indent="-609600">
              <a:lnSpc>
                <a:spcPct val="90000"/>
              </a:lnSpc>
              <a:buFontTx/>
              <a:buNone/>
            </a:pPr>
            <a:r>
              <a:rPr lang="en-US" altLang="zh-CN" sz="2400" b="1" dirty="0" smtClean="0"/>
              <a:t>1.&lt;?xml version=“1.0” </a:t>
            </a:r>
            <a:r>
              <a:rPr lang="en-US" altLang="zh-CN" sz="2400" b="1" dirty="0" err="1" smtClean="0"/>
              <a:t>encording</a:t>
            </a:r>
            <a:r>
              <a:rPr lang="en-US" altLang="zh-CN" sz="2400" b="1" dirty="0" smtClean="0"/>
              <a:t>=“GB2312”?&gt;</a:t>
            </a:r>
          </a:p>
          <a:p>
            <a:pPr marL="609600" indent="-609600">
              <a:lnSpc>
                <a:spcPct val="90000"/>
              </a:lnSpc>
              <a:buFontTx/>
              <a:buNone/>
            </a:pPr>
            <a:r>
              <a:rPr lang="en-US" altLang="zh-CN" sz="2400" b="1" dirty="0" smtClean="0"/>
              <a:t>2.&lt;Schema </a:t>
            </a:r>
            <a:r>
              <a:rPr lang="en-US" altLang="zh-CN" sz="2400" b="1" dirty="0" err="1" smtClean="0"/>
              <a:t>xmlns</a:t>
            </a:r>
            <a:r>
              <a:rPr lang="en-US" altLang="zh-CN" sz="2400" b="1" dirty="0" smtClean="0"/>
              <a:t>=“</a:t>
            </a:r>
            <a:r>
              <a:rPr lang="en-US" altLang="zh-CN" sz="2400" b="1" dirty="0" err="1" smtClean="0"/>
              <a:t>urn:schemas-microsoft</a:t>
            </a:r>
            <a:r>
              <a:rPr lang="en-US" altLang="zh-CN" sz="2400" b="1" dirty="0" smtClean="0"/>
              <a:t>-                                     </a:t>
            </a:r>
            <a:r>
              <a:rPr lang="en-US" altLang="zh-CN" sz="2400" b="1" dirty="0" err="1" smtClean="0"/>
              <a:t>com:xml</a:t>
            </a:r>
            <a:r>
              <a:rPr lang="en-US" altLang="zh-CN" sz="2400" b="1" dirty="0" smtClean="0"/>
              <a:t>-data”  </a:t>
            </a:r>
            <a:r>
              <a:rPr lang="en-US" altLang="zh-CN" sz="2400" b="1" dirty="0" err="1" smtClean="0"/>
              <a:t>xmlns:dt</a:t>
            </a:r>
            <a:r>
              <a:rPr lang="en-US" altLang="zh-CN" sz="2400" b="1" dirty="0" smtClean="0"/>
              <a:t>=“</a:t>
            </a:r>
            <a:r>
              <a:rPr lang="en-US" altLang="zh-CN" sz="2400" b="1" dirty="0" err="1" smtClean="0"/>
              <a:t>urn:schemas-microsoft-com:datatypes</a:t>
            </a:r>
            <a:r>
              <a:rPr lang="en-US" altLang="zh-CN" sz="2400" b="1" dirty="0" smtClean="0"/>
              <a:t>”&gt;</a:t>
            </a:r>
          </a:p>
          <a:p>
            <a:pPr marL="609600" indent="-609600">
              <a:lnSpc>
                <a:spcPct val="90000"/>
              </a:lnSpc>
              <a:buFontTx/>
              <a:buAutoNum type="arabicPeriod" startAt="3"/>
            </a:pPr>
            <a:r>
              <a:rPr lang="en-US" altLang="zh-CN" sz="2400" b="1" dirty="0" smtClean="0"/>
              <a:t>&lt;</a:t>
            </a:r>
            <a:r>
              <a:rPr lang="en-US" altLang="zh-CN" sz="2400" b="1" dirty="0" err="1" smtClean="0"/>
              <a:t>AttributeType</a:t>
            </a:r>
            <a:r>
              <a:rPr lang="en-US" altLang="zh-CN" sz="2400" b="1" dirty="0" smtClean="0"/>
              <a:t> name=“</a:t>
            </a:r>
            <a:r>
              <a:rPr lang="zh-CN" altLang="en-US" sz="2400" b="1" dirty="0" smtClean="0"/>
              <a:t>年级”</a:t>
            </a:r>
            <a:r>
              <a:rPr lang="en-US" altLang="zh-CN" sz="2400" b="1" dirty="0" smtClean="0"/>
              <a:t>/&gt;</a:t>
            </a:r>
          </a:p>
          <a:p>
            <a:pPr marL="609600" indent="-609600">
              <a:lnSpc>
                <a:spcPct val="90000"/>
              </a:lnSpc>
              <a:buFontTx/>
              <a:buAutoNum type="arabicPeriod" startAt="3"/>
            </a:pPr>
            <a:r>
              <a:rPr lang="en-US" altLang="zh-CN" sz="2400" b="1" dirty="0" smtClean="0"/>
              <a:t>&lt;</a:t>
            </a:r>
            <a:r>
              <a:rPr lang="en-US" altLang="zh-CN" sz="2400" b="1" dirty="0" err="1" smtClean="0"/>
              <a:t>AttributeType</a:t>
            </a:r>
            <a:r>
              <a:rPr lang="en-US" altLang="zh-CN" sz="2400" b="1" dirty="0" smtClean="0"/>
              <a:t> name=“</a:t>
            </a:r>
            <a:r>
              <a:rPr lang="zh-CN" altLang="en-US" sz="2400" b="1" dirty="0" smtClean="0"/>
              <a:t>班级”</a:t>
            </a:r>
            <a:r>
              <a:rPr lang="en-US" altLang="zh-CN" sz="2400" b="1" dirty="0" smtClean="0"/>
              <a:t>/&gt;</a:t>
            </a:r>
          </a:p>
          <a:p>
            <a:pPr marL="609600" indent="-609600">
              <a:lnSpc>
                <a:spcPct val="90000"/>
              </a:lnSpc>
              <a:buFontTx/>
              <a:buAutoNum type="arabicPeriod" startAt="3"/>
            </a:pPr>
            <a:r>
              <a:rPr lang="en-US" altLang="zh-CN" sz="2400" b="1" dirty="0" smtClean="0"/>
              <a:t>&lt;</a:t>
            </a:r>
            <a:r>
              <a:rPr lang="en-US" altLang="zh-CN" sz="2400" b="1" dirty="0" err="1" smtClean="0"/>
              <a:t>ElementType</a:t>
            </a:r>
            <a:r>
              <a:rPr lang="en-US" altLang="zh-CN" sz="2400" b="1" dirty="0" smtClean="0"/>
              <a:t> name=“</a:t>
            </a:r>
            <a:r>
              <a:rPr lang="zh-CN" altLang="en-US" sz="2400" b="1" dirty="0" smtClean="0"/>
              <a:t>姓名”</a:t>
            </a:r>
            <a:r>
              <a:rPr lang="en-US" altLang="zh-CN" sz="2400" b="1" dirty="0" smtClean="0"/>
              <a:t>/&gt;</a:t>
            </a:r>
          </a:p>
          <a:p>
            <a:pPr marL="609600" indent="-609600">
              <a:lnSpc>
                <a:spcPct val="90000"/>
              </a:lnSpc>
              <a:buFontTx/>
              <a:buAutoNum type="arabicPeriod" startAt="3"/>
            </a:pPr>
            <a:r>
              <a:rPr lang="en-US" altLang="zh-CN" sz="2400" b="1" dirty="0" smtClean="0"/>
              <a:t>&lt;</a:t>
            </a:r>
            <a:r>
              <a:rPr lang="en-US" altLang="zh-CN" sz="2400" b="1" dirty="0" err="1" smtClean="0"/>
              <a:t>ElementType</a:t>
            </a:r>
            <a:r>
              <a:rPr lang="en-US" altLang="zh-CN" sz="2400" b="1" dirty="0" smtClean="0"/>
              <a:t> name=“</a:t>
            </a:r>
            <a:r>
              <a:rPr lang="zh-CN" altLang="en-US" sz="2400" b="1" dirty="0" smtClean="0"/>
              <a:t>籍贯”</a:t>
            </a:r>
            <a:r>
              <a:rPr lang="en-US" altLang="zh-CN" sz="2400" b="1" dirty="0" smtClean="0"/>
              <a:t>/&gt;</a:t>
            </a:r>
          </a:p>
          <a:p>
            <a:pPr marL="609600" indent="-609600">
              <a:lnSpc>
                <a:spcPct val="90000"/>
              </a:lnSpc>
              <a:buFontTx/>
              <a:buAutoNum type="arabicPeriod" startAt="3"/>
            </a:pPr>
            <a:r>
              <a:rPr lang="en-US" altLang="zh-CN" sz="2400" b="1" dirty="0" smtClean="0"/>
              <a:t>&lt;</a:t>
            </a:r>
            <a:r>
              <a:rPr lang="en-US" altLang="zh-CN" sz="2400" b="1" dirty="0" err="1" smtClean="0"/>
              <a:t>ElementType</a:t>
            </a:r>
            <a:r>
              <a:rPr lang="en-US" altLang="zh-CN" sz="2400" b="1" dirty="0" smtClean="0"/>
              <a:t> name=“</a:t>
            </a:r>
            <a:r>
              <a:rPr lang="zh-CN" altLang="en-US" sz="2400" b="1" dirty="0" smtClean="0"/>
              <a:t>年龄”</a:t>
            </a:r>
            <a:r>
              <a:rPr lang="en-US" altLang="zh-CN" sz="2400" b="1" dirty="0" smtClean="0"/>
              <a:t>/&gt;</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Grp="1" noChangeArrowheads="1"/>
          </p:cNvSpPr>
          <p:nvPr>
            <p:ph idx="1"/>
          </p:nvPr>
        </p:nvSpPr>
        <p:spPr>
          <a:xfrm>
            <a:off x="1785918" y="0"/>
            <a:ext cx="7200920" cy="6858000"/>
          </a:xfrm>
        </p:spPr>
        <p:txBody>
          <a:bodyPr/>
          <a:lstStyle/>
          <a:p>
            <a:pPr marL="609600" indent="-609600">
              <a:buFontTx/>
              <a:buNone/>
            </a:pPr>
            <a:r>
              <a:rPr lang="en-US" altLang="zh-CN" sz="2400" b="1" dirty="0" smtClean="0"/>
              <a:t>8.     &lt;</a:t>
            </a:r>
            <a:r>
              <a:rPr lang="en-US" altLang="zh-CN" sz="2400" b="1" dirty="0" err="1" smtClean="0"/>
              <a:t>ElementType</a:t>
            </a:r>
            <a:r>
              <a:rPr lang="en-US" altLang="zh-CN" sz="2400" b="1" dirty="0" smtClean="0"/>
              <a:t> name=“</a:t>
            </a:r>
            <a:r>
              <a:rPr lang="zh-CN" altLang="en-US" sz="2400" b="1" dirty="0" smtClean="0"/>
              <a:t>电话” </a:t>
            </a:r>
            <a:r>
              <a:rPr lang="en-US" altLang="zh-CN" sz="2400" b="1" dirty="0" err="1" smtClean="0"/>
              <a:t>dt:type</a:t>
            </a:r>
            <a:r>
              <a:rPr lang="en-US" altLang="zh-CN" sz="2400" b="1" dirty="0" smtClean="0"/>
              <a:t>=“fixed.14.4”/&gt;</a:t>
            </a:r>
          </a:p>
          <a:p>
            <a:pPr marL="609600" indent="-609600">
              <a:buFontTx/>
              <a:buNone/>
            </a:pPr>
            <a:r>
              <a:rPr lang="en-US" altLang="zh-CN" sz="2400" b="1" dirty="0" smtClean="0"/>
              <a:t>9.      &lt;</a:t>
            </a:r>
            <a:r>
              <a:rPr lang="en-US" altLang="zh-CN" sz="2400" b="1" dirty="0" err="1" smtClean="0"/>
              <a:t>ElementType</a:t>
            </a:r>
            <a:r>
              <a:rPr lang="en-US" altLang="zh-CN" sz="2400" b="1" dirty="0" smtClean="0"/>
              <a:t> name=“</a:t>
            </a:r>
            <a:r>
              <a:rPr lang="zh-CN" altLang="en-US" sz="2400" b="1" dirty="0" smtClean="0"/>
              <a:t>学生” </a:t>
            </a:r>
            <a:r>
              <a:rPr lang="en-US" altLang="zh-CN" sz="2400" b="1" dirty="0" smtClean="0"/>
              <a:t>content=“</a:t>
            </a:r>
            <a:r>
              <a:rPr lang="en-US" altLang="zh-CN" sz="2400" b="1" dirty="0" err="1" smtClean="0"/>
              <a:t>eltOnly</a:t>
            </a:r>
            <a:r>
              <a:rPr lang="en-US" altLang="zh-CN" sz="2400" b="1" dirty="0" smtClean="0"/>
              <a:t>”&gt;</a:t>
            </a:r>
          </a:p>
          <a:p>
            <a:pPr marL="609600" indent="-609600">
              <a:buFontTx/>
              <a:buNone/>
            </a:pPr>
            <a:r>
              <a:rPr lang="en-US" altLang="zh-CN" sz="2400" b="1" dirty="0" smtClean="0"/>
              <a:t>10.                &lt;</a:t>
            </a:r>
            <a:r>
              <a:rPr lang="en-US" altLang="zh-CN" sz="2400" b="1" dirty="0" err="1" smtClean="0"/>
              <a:t>elementType</a:t>
            </a:r>
            <a:r>
              <a:rPr lang="en-US" altLang="zh-CN" sz="2400" b="1" dirty="0" smtClean="0"/>
              <a:t> name=“</a:t>
            </a:r>
            <a:r>
              <a:rPr lang="zh-CN" altLang="en-US" sz="2400" b="1" dirty="0" smtClean="0"/>
              <a:t>姓名”</a:t>
            </a:r>
            <a:r>
              <a:rPr lang="en-US" altLang="zh-CN" sz="2400" b="1" dirty="0" smtClean="0"/>
              <a:t>/&gt;</a:t>
            </a:r>
          </a:p>
          <a:p>
            <a:pPr marL="609600" indent="-609600">
              <a:buFontTx/>
              <a:buAutoNum type="arabicPeriod" startAt="11"/>
            </a:pPr>
            <a:r>
              <a:rPr lang="en-US" altLang="zh-CN" sz="2400" b="1" dirty="0" smtClean="0"/>
              <a:t>             &lt;</a:t>
            </a:r>
            <a:r>
              <a:rPr lang="en-US" altLang="zh-CN" sz="2400" b="1" dirty="0" err="1" smtClean="0"/>
              <a:t>elementType</a:t>
            </a:r>
            <a:r>
              <a:rPr lang="en-US" altLang="zh-CN" sz="2400" b="1" dirty="0" smtClean="0"/>
              <a:t> name=“</a:t>
            </a:r>
            <a:r>
              <a:rPr lang="zh-CN" altLang="en-US" sz="2400" b="1" dirty="0" smtClean="0"/>
              <a:t>籍贯”</a:t>
            </a:r>
            <a:r>
              <a:rPr lang="en-US" altLang="zh-CN" sz="2400" b="1" dirty="0" smtClean="0"/>
              <a:t>/&gt;</a:t>
            </a:r>
          </a:p>
          <a:p>
            <a:pPr marL="609600" indent="-609600">
              <a:buFontTx/>
              <a:buAutoNum type="arabicPeriod" startAt="12"/>
            </a:pPr>
            <a:r>
              <a:rPr lang="en-US" altLang="zh-CN" sz="2400" b="1" dirty="0" smtClean="0"/>
              <a:t>             &lt;</a:t>
            </a:r>
            <a:r>
              <a:rPr lang="en-US" altLang="zh-CN" sz="2400" b="1" dirty="0" err="1" smtClean="0"/>
              <a:t>elementType</a:t>
            </a:r>
            <a:r>
              <a:rPr lang="en-US" altLang="zh-CN" sz="2400" b="1" dirty="0" smtClean="0"/>
              <a:t> name=“</a:t>
            </a:r>
            <a:r>
              <a:rPr lang="zh-CN" altLang="en-US" sz="2400" b="1" dirty="0" smtClean="0"/>
              <a:t>年龄”</a:t>
            </a:r>
            <a:r>
              <a:rPr lang="en-US" altLang="zh-CN" sz="2400" b="1" dirty="0" smtClean="0"/>
              <a:t>/&gt;</a:t>
            </a:r>
          </a:p>
          <a:p>
            <a:pPr marL="609600" indent="-609600">
              <a:buFontTx/>
              <a:buAutoNum type="arabicPeriod" startAt="13"/>
            </a:pPr>
            <a:r>
              <a:rPr lang="en-US" altLang="zh-CN" sz="2400" b="1" dirty="0" smtClean="0"/>
              <a:t>             &lt;</a:t>
            </a:r>
            <a:r>
              <a:rPr lang="en-US" altLang="zh-CN" sz="2400" b="1" dirty="0" err="1" smtClean="0"/>
              <a:t>elementType</a:t>
            </a:r>
            <a:r>
              <a:rPr lang="en-US" altLang="zh-CN" sz="2400" b="1" dirty="0" smtClean="0"/>
              <a:t> name=“</a:t>
            </a:r>
            <a:r>
              <a:rPr lang="zh-CN" altLang="en-US" sz="2400" b="1" dirty="0" smtClean="0"/>
              <a:t>电话”</a:t>
            </a:r>
            <a:r>
              <a:rPr lang="en-US" altLang="zh-CN" sz="2400" b="1" dirty="0" smtClean="0"/>
              <a:t>/&gt;</a:t>
            </a:r>
          </a:p>
          <a:p>
            <a:pPr marL="609600" indent="-609600">
              <a:buFontTx/>
              <a:buNone/>
            </a:pPr>
            <a:r>
              <a:rPr lang="en-US" altLang="zh-CN" sz="2400" b="1" dirty="0" smtClean="0"/>
              <a:t>14.     &lt;</a:t>
            </a:r>
            <a:r>
              <a:rPr lang="en-US" altLang="zh-CN" sz="2400" b="1" dirty="0" err="1" smtClean="0"/>
              <a:t>ElementType</a:t>
            </a:r>
            <a:r>
              <a:rPr lang="en-US" altLang="zh-CN" sz="2400" b="1" dirty="0" smtClean="0"/>
              <a:t> &gt;</a:t>
            </a:r>
          </a:p>
          <a:p>
            <a:pPr marL="609600" indent="-609600">
              <a:buFontTx/>
              <a:buNone/>
            </a:pPr>
            <a:r>
              <a:rPr lang="en-US" altLang="zh-CN" sz="2400" b="1" dirty="0" smtClean="0"/>
              <a:t>15.     &lt;</a:t>
            </a:r>
            <a:r>
              <a:rPr lang="en-US" altLang="zh-CN" sz="2400" b="1" dirty="0" err="1" smtClean="0"/>
              <a:t>ElementType</a:t>
            </a:r>
            <a:r>
              <a:rPr lang="en-US" altLang="zh-CN" sz="2400" b="1" dirty="0" smtClean="0"/>
              <a:t> name=“</a:t>
            </a:r>
            <a:r>
              <a:rPr lang="zh-CN" altLang="en-US" sz="2400" b="1" dirty="0" smtClean="0"/>
              <a:t>学生花名册”	</a:t>
            </a:r>
            <a:r>
              <a:rPr lang="en-US" altLang="zh-CN" sz="2400" b="1" dirty="0" smtClean="0"/>
              <a:t>content=“</a:t>
            </a:r>
            <a:r>
              <a:rPr lang="en-US" altLang="zh-CN" sz="2400" b="1" dirty="0" err="1" smtClean="0"/>
              <a:t>eltOnly</a:t>
            </a:r>
            <a:r>
              <a:rPr lang="en-US" altLang="zh-CN" sz="2400" b="1" smtClean="0"/>
              <a:t>”&gt;</a:t>
            </a:r>
            <a:endParaRPr lang="en-US" altLang="zh-CN" sz="2400" b="1" dirty="0" smtClean="0"/>
          </a:p>
          <a:p>
            <a:pPr marL="609600" indent="-609600">
              <a:buFontTx/>
              <a:buAutoNum type="arabicPeriod" startAt="16"/>
            </a:pPr>
            <a:r>
              <a:rPr lang="en-US" altLang="zh-CN" sz="2400" b="1" dirty="0" smtClean="0"/>
              <a:t>            &lt;</a:t>
            </a:r>
            <a:r>
              <a:rPr lang="en-US" altLang="zh-CN" sz="2400" b="1" dirty="0" err="1" smtClean="0"/>
              <a:t>elementType</a:t>
            </a:r>
            <a:r>
              <a:rPr lang="en-US" altLang="zh-CN" sz="2400" b="1" dirty="0" smtClean="0"/>
              <a:t> =“</a:t>
            </a:r>
            <a:r>
              <a:rPr lang="zh-CN" altLang="en-US" sz="2400" b="1" dirty="0" smtClean="0"/>
              <a:t>学生”</a:t>
            </a:r>
            <a:r>
              <a:rPr lang="en-US" altLang="zh-CN" sz="2400" b="1" dirty="0" smtClean="0"/>
              <a:t>/&gt;</a:t>
            </a:r>
          </a:p>
          <a:p>
            <a:pPr marL="609600" indent="-609600">
              <a:buFontTx/>
              <a:buAutoNum type="arabicPeriod" startAt="17"/>
            </a:pPr>
            <a:r>
              <a:rPr lang="en-US" altLang="zh-CN" sz="2400" b="1" dirty="0" smtClean="0"/>
              <a:t>            &lt;attribute type=“</a:t>
            </a:r>
            <a:r>
              <a:rPr lang="zh-CN" altLang="en-US" sz="2400" b="1" dirty="0" smtClean="0"/>
              <a:t>年级”</a:t>
            </a:r>
            <a:r>
              <a:rPr lang="en-US" altLang="zh-CN" sz="2400" b="1" dirty="0" smtClean="0"/>
              <a:t>/&gt;</a:t>
            </a:r>
          </a:p>
          <a:p>
            <a:pPr marL="609600" indent="-609600">
              <a:buFontTx/>
              <a:buAutoNum type="arabicPeriod" startAt="17"/>
            </a:pPr>
            <a:r>
              <a:rPr lang="en-US" altLang="zh-CN" sz="2400" b="1" dirty="0" smtClean="0"/>
              <a:t>            &lt;attribute type=“</a:t>
            </a:r>
            <a:r>
              <a:rPr lang="zh-CN" altLang="en-US" sz="2400" b="1" dirty="0" smtClean="0"/>
              <a:t>班级”</a:t>
            </a:r>
            <a:r>
              <a:rPr lang="en-US" altLang="zh-CN" sz="2400" b="1" dirty="0" smtClean="0"/>
              <a:t>/&gt;</a:t>
            </a:r>
          </a:p>
          <a:p>
            <a:pPr marL="609600" indent="-609600">
              <a:buFontTx/>
              <a:buAutoNum type="arabicPeriod" startAt="19"/>
            </a:pPr>
            <a:r>
              <a:rPr lang="en-US" altLang="zh-CN" sz="2400" b="1" dirty="0" smtClean="0"/>
              <a:t>  &lt;/Element Type&gt;</a:t>
            </a:r>
          </a:p>
          <a:p>
            <a:pPr marL="609600" indent="-609600">
              <a:buFontTx/>
              <a:buNone/>
            </a:pPr>
            <a:r>
              <a:rPr lang="en-US" altLang="zh-CN" sz="2400" b="1" dirty="0" smtClean="0"/>
              <a:t>20.&lt;/Schema&gt;</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85918" y="714355"/>
            <a:ext cx="7072332" cy="5500707"/>
          </a:xfrm>
        </p:spPr>
        <p:txBody>
          <a:bodyPr/>
          <a:lstStyle/>
          <a:p>
            <a:pPr>
              <a:defRPr/>
            </a:pPr>
            <a:r>
              <a:rPr lang="zh-CN" altLang="en-US" sz="2400" b="1" dirty="0" smtClean="0">
                <a:latin typeface="+mn-ea"/>
              </a:rPr>
              <a:t>为了给</a:t>
            </a:r>
            <a:r>
              <a:rPr lang="en-US" altLang="zh-CN" sz="2400" b="1" dirty="0" smtClean="0">
                <a:latin typeface="+mn-ea"/>
              </a:rPr>
              <a:t>roster.xml</a:t>
            </a:r>
            <a:r>
              <a:rPr lang="zh-CN" altLang="en-US" sz="2400" b="1" dirty="0" smtClean="0">
                <a:latin typeface="+mn-ea"/>
              </a:rPr>
              <a:t>指定文档定义规则，</a:t>
            </a:r>
            <a:r>
              <a:rPr lang="en-US" altLang="zh-CN" sz="2400" b="1" dirty="0" smtClean="0">
                <a:latin typeface="+mn-ea"/>
              </a:rPr>
              <a:t>roster.xml</a:t>
            </a:r>
            <a:r>
              <a:rPr lang="zh-CN" altLang="en-US" sz="2400" b="1" dirty="0" smtClean="0">
                <a:latin typeface="+mn-ea"/>
              </a:rPr>
              <a:t>第</a:t>
            </a:r>
            <a:r>
              <a:rPr lang="en-US" altLang="zh-CN" sz="2400" b="1" dirty="0" smtClean="0">
                <a:latin typeface="+mn-ea"/>
              </a:rPr>
              <a:t>2</a:t>
            </a:r>
            <a:r>
              <a:rPr lang="zh-CN" altLang="en-US" sz="2400" b="1" dirty="0" smtClean="0">
                <a:latin typeface="+mn-ea"/>
              </a:rPr>
              <a:t>行可用下面语句替换：</a:t>
            </a:r>
            <a:r>
              <a:rPr lang="en-US" altLang="zh-CN" sz="2400" b="1" dirty="0" smtClean="0">
                <a:latin typeface="+mn-ea"/>
              </a:rPr>
              <a:t>&lt;</a:t>
            </a:r>
            <a:r>
              <a:rPr lang="zh-CN" altLang="en-US" sz="2400" b="1" dirty="0" smtClean="0">
                <a:latin typeface="+mn-ea"/>
              </a:rPr>
              <a:t>学生花名册 </a:t>
            </a:r>
            <a:r>
              <a:rPr lang="en-US" altLang="zh-CN" sz="2400" b="1" dirty="0" err="1" smtClean="0">
                <a:latin typeface="+mn-ea"/>
              </a:rPr>
              <a:t>xmlns</a:t>
            </a:r>
            <a:r>
              <a:rPr lang="en-US" altLang="zh-CN" sz="2400" b="1" dirty="0" smtClean="0">
                <a:latin typeface="+mn-ea"/>
              </a:rPr>
              <a:t>=“x-</a:t>
            </a:r>
            <a:r>
              <a:rPr lang="en-US" altLang="zh-CN" sz="2400" b="1" dirty="0" err="1" smtClean="0">
                <a:latin typeface="+mn-ea"/>
              </a:rPr>
              <a:t>schema:rosterschema.xml</a:t>
            </a:r>
            <a:r>
              <a:rPr lang="en-US" altLang="zh-CN" sz="2400" b="1" dirty="0" smtClean="0">
                <a:latin typeface="+mn-ea"/>
              </a:rPr>
              <a:t>”&gt;</a:t>
            </a:r>
          </a:p>
          <a:p>
            <a:pPr>
              <a:defRPr/>
            </a:pPr>
            <a:r>
              <a:rPr lang="en-US" altLang="zh-CN" sz="2400" b="1" dirty="0" smtClean="0">
                <a:latin typeface="+mn-ea"/>
              </a:rPr>
              <a:t>rosterschema.xml</a:t>
            </a:r>
            <a:r>
              <a:rPr lang="zh-CN" altLang="en-US" sz="2400" b="1" dirty="0" smtClean="0">
                <a:latin typeface="+mn-ea"/>
              </a:rPr>
              <a:t>分析</a:t>
            </a:r>
            <a:endParaRPr lang="en-US" altLang="zh-CN" sz="2400" b="1" dirty="0" smtClean="0">
              <a:latin typeface="+mn-ea"/>
            </a:endParaRPr>
          </a:p>
          <a:p>
            <a:pPr lvl="1">
              <a:defRPr/>
            </a:pPr>
            <a:r>
              <a:rPr lang="zh-CN" altLang="en-US" sz="2000" b="1" dirty="0" smtClean="0"/>
              <a:t>第</a:t>
            </a:r>
            <a:r>
              <a:rPr lang="en-US" altLang="zh-CN" sz="2000" b="1" dirty="0" smtClean="0"/>
              <a:t>1</a:t>
            </a:r>
            <a:r>
              <a:rPr lang="zh-CN" altLang="en-US" sz="2000" b="1" dirty="0" smtClean="0"/>
              <a:t>行是</a:t>
            </a:r>
            <a:r>
              <a:rPr lang="en-US" altLang="zh-CN" sz="2000" b="1" dirty="0" smtClean="0"/>
              <a:t>XML</a:t>
            </a:r>
            <a:r>
              <a:rPr lang="zh-CN" altLang="en-US" sz="2000" b="1" dirty="0" smtClean="0"/>
              <a:t>类型声明语句，指明该文档是一个</a:t>
            </a:r>
            <a:r>
              <a:rPr lang="en-US" altLang="zh-CN" sz="2000" b="1" dirty="0" smtClean="0"/>
              <a:t>XML</a:t>
            </a:r>
            <a:r>
              <a:rPr lang="zh-CN" altLang="en-US" sz="2000" b="1" dirty="0" smtClean="0"/>
              <a:t>文档，并且符合版本</a:t>
            </a:r>
            <a:r>
              <a:rPr lang="en-US" altLang="zh-CN" sz="2000" b="1" dirty="0" smtClean="0"/>
              <a:t>1.0</a:t>
            </a:r>
            <a:r>
              <a:rPr lang="zh-CN" altLang="en-US" sz="2000" b="1" dirty="0" smtClean="0"/>
              <a:t>规范；该文档采用</a:t>
            </a:r>
            <a:r>
              <a:rPr lang="en-US" altLang="zh-CN" sz="2000" b="1" dirty="0" smtClean="0"/>
              <a:t>GB2312</a:t>
            </a:r>
            <a:r>
              <a:rPr lang="zh-CN" altLang="en-US" sz="2000" b="1" dirty="0" smtClean="0"/>
              <a:t>编码</a:t>
            </a:r>
            <a:endParaRPr lang="en-US" altLang="zh-CN" sz="2000" b="1" dirty="0" smtClean="0"/>
          </a:p>
          <a:p>
            <a:pPr lvl="1">
              <a:defRPr/>
            </a:pPr>
            <a:r>
              <a:rPr lang="zh-CN" altLang="en-US" sz="2000" b="1" dirty="0" smtClean="0"/>
              <a:t>第</a:t>
            </a:r>
            <a:r>
              <a:rPr lang="en-US" altLang="zh-CN" sz="2000" b="1" dirty="0" smtClean="0"/>
              <a:t>2</a:t>
            </a:r>
            <a:r>
              <a:rPr lang="zh-CN" altLang="en-US" sz="2000" b="1" dirty="0" smtClean="0"/>
              <a:t>行是</a:t>
            </a:r>
            <a:r>
              <a:rPr lang="en-US" altLang="zh-CN" sz="2000" b="1" dirty="0" smtClean="0"/>
              <a:t>Schema</a:t>
            </a:r>
            <a:r>
              <a:rPr lang="zh-CN" altLang="en-US" sz="2000" b="1" dirty="0" smtClean="0"/>
              <a:t>声明语句</a:t>
            </a:r>
            <a:r>
              <a:rPr lang="en-US" altLang="zh-CN" sz="2000" b="1" dirty="0" smtClean="0"/>
              <a:t>,</a:t>
            </a:r>
            <a:r>
              <a:rPr lang="zh-CN" altLang="en-US" sz="2000" b="1" dirty="0" smtClean="0"/>
              <a:t>它包含了</a:t>
            </a:r>
            <a:r>
              <a:rPr lang="en-US" altLang="zh-CN" sz="2000" b="1" dirty="0" smtClean="0"/>
              <a:t>Schema</a:t>
            </a:r>
            <a:r>
              <a:rPr lang="zh-CN" altLang="en-US" sz="2000" b="1" dirty="0" smtClean="0"/>
              <a:t>命名空间的声明</a:t>
            </a:r>
            <a:endParaRPr lang="en-US" altLang="zh-CN" sz="2000" b="1" dirty="0" smtClean="0"/>
          </a:p>
          <a:p>
            <a:pPr lvl="1">
              <a:defRPr/>
            </a:pPr>
            <a:r>
              <a:rPr lang="zh-CN" altLang="en-US" sz="2000" b="1" dirty="0" smtClean="0"/>
              <a:t>本例中用到了两个命名空间</a:t>
            </a:r>
            <a:endParaRPr lang="en-US" altLang="zh-CN" sz="2000" b="1" dirty="0" smtClean="0"/>
          </a:p>
          <a:p>
            <a:pPr lvl="2">
              <a:defRPr/>
            </a:pPr>
            <a:r>
              <a:rPr lang="en-US" altLang="zh-CN" sz="1600" b="1" dirty="0" err="1" smtClean="0"/>
              <a:t>xmlns</a:t>
            </a:r>
            <a:r>
              <a:rPr lang="en-US" altLang="zh-CN" sz="1600" b="1" dirty="0" smtClean="0"/>
              <a:t>=“</a:t>
            </a:r>
            <a:r>
              <a:rPr lang="en-US" altLang="zh-CN" sz="1600" b="1" dirty="0" err="1" smtClean="0"/>
              <a:t>urn:schemas</a:t>
            </a:r>
            <a:r>
              <a:rPr lang="en-US" altLang="zh-CN" sz="1600" b="1" dirty="0" smtClean="0"/>
              <a:t>-  </a:t>
            </a:r>
            <a:r>
              <a:rPr lang="en-US" altLang="zh-CN" sz="1600" b="1" dirty="0" err="1" smtClean="0"/>
              <a:t>microsoft</a:t>
            </a:r>
            <a:r>
              <a:rPr lang="en-US" altLang="zh-CN" sz="1600" b="1" dirty="0" smtClean="0"/>
              <a:t>-</a:t>
            </a:r>
            <a:r>
              <a:rPr lang="en-US" altLang="zh-CN" sz="1600" b="1" dirty="0" err="1" smtClean="0"/>
              <a:t>com:xml</a:t>
            </a:r>
            <a:r>
              <a:rPr lang="en-US" altLang="zh-CN" sz="1600" b="1" dirty="0" smtClean="0"/>
              <a:t>-data” </a:t>
            </a:r>
            <a:r>
              <a:rPr lang="zh-CN" altLang="en-US" sz="1600" b="1" dirty="0" smtClean="0"/>
              <a:t>，指定本文档是一个</a:t>
            </a:r>
            <a:r>
              <a:rPr lang="en-US" altLang="zh-CN" sz="1600" b="1" dirty="0" err="1" smtClean="0"/>
              <a:t>XMLSchema</a:t>
            </a:r>
            <a:r>
              <a:rPr lang="zh-CN" altLang="en-US" sz="1600" b="1" dirty="0" smtClean="0"/>
              <a:t>文档</a:t>
            </a:r>
            <a:endParaRPr lang="en-US" altLang="zh-CN" sz="1600" b="1" dirty="0" smtClean="0"/>
          </a:p>
          <a:p>
            <a:pPr lvl="2">
              <a:defRPr/>
            </a:pPr>
            <a:r>
              <a:rPr lang="en-US" altLang="zh-CN" sz="1600" b="1" dirty="0" err="1" smtClean="0"/>
              <a:t>xmlns:dt</a:t>
            </a:r>
            <a:r>
              <a:rPr lang="en-US" altLang="zh-CN" sz="1600" b="1" dirty="0" smtClean="0"/>
              <a:t>=“</a:t>
            </a:r>
            <a:r>
              <a:rPr lang="en-US" altLang="zh-CN" sz="1600" b="1" dirty="0" err="1" smtClean="0"/>
              <a:t>urn:schemas-microsoft-com:datatypes</a:t>
            </a:r>
            <a:r>
              <a:rPr lang="en-US" altLang="zh-CN" sz="1600" b="1" dirty="0" smtClean="0"/>
              <a:t>”&gt;</a:t>
            </a:r>
            <a:r>
              <a:rPr lang="zh-CN" altLang="en-US" sz="1600" b="1" dirty="0" smtClean="0"/>
              <a:t>，定义了本文档中可以使用的数据类型</a:t>
            </a:r>
            <a:endParaRPr lang="en-US" altLang="zh-CN" sz="1600" b="1" dirty="0" smtClean="0">
              <a:latin typeface="+mn-ea"/>
            </a:endParaRPr>
          </a:p>
          <a:p>
            <a:pPr>
              <a:lnSpc>
                <a:spcPct val="90000"/>
              </a:lnSpc>
              <a:buFontTx/>
              <a:buNone/>
              <a:defRPr/>
            </a:pPr>
            <a:endParaRPr lang="en-US" altLang="zh-CN" sz="2800" b="1" dirty="0" smtClean="0">
              <a:latin typeface="+mn-ea"/>
            </a:endParaRPr>
          </a:p>
          <a:p>
            <a:pPr>
              <a:defRPr/>
            </a:pPr>
            <a:endParaRPr lang="zh-CN" altLang="en-US" sz="2800" dirty="0">
              <a:latin typeface="+mn-ea"/>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57356" y="357188"/>
            <a:ext cx="7000894" cy="6215062"/>
          </a:xfrm>
        </p:spPr>
        <p:txBody>
          <a:bodyPr/>
          <a:lstStyle/>
          <a:p>
            <a:pPr>
              <a:defRPr/>
            </a:pPr>
            <a:r>
              <a:rPr lang="zh-CN" altLang="en-US" sz="2400" b="1" dirty="0" smtClean="0">
                <a:latin typeface="+mn-ea"/>
              </a:rPr>
              <a:t>第</a:t>
            </a:r>
            <a:r>
              <a:rPr lang="en-US" altLang="zh-CN" sz="2400" b="1" dirty="0" smtClean="0">
                <a:latin typeface="+mn-ea"/>
              </a:rPr>
              <a:t>3</a:t>
            </a:r>
            <a:r>
              <a:rPr lang="zh-CN" altLang="en-US" sz="2400" b="1" dirty="0" smtClean="0">
                <a:latin typeface="+mn-ea"/>
              </a:rPr>
              <a:t>、</a:t>
            </a:r>
            <a:r>
              <a:rPr lang="en-US" altLang="zh-CN" sz="2400" b="1" dirty="0" smtClean="0">
                <a:latin typeface="+mn-ea"/>
              </a:rPr>
              <a:t>4</a:t>
            </a:r>
            <a:r>
              <a:rPr lang="zh-CN" altLang="en-US" sz="2400" b="1" dirty="0" smtClean="0">
                <a:latin typeface="+mn-ea"/>
              </a:rPr>
              <a:t>行是属性定义语句， 它定义了两个属性：年级和班级</a:t>
            </a:r>
            <a:endParaRPr lang="en-US" altLang="zh-CN" sz="2400" b="1" dirty="0" smtClean="0">
              <a:latin typeface="+mn-ea"/>
            </a:endParaRPr>
          </a:p>
          <a:p>
            <a:pPr>
              <a:defRPr/>
            </a:pPr>
            <a:r>
              <a:rPr lang="zh-CN" altLang="en-US" sz="2400" b="1" dirty="0" smtClean="0">
                <a:latin typeface="+mn-ea"/>
              </a:rPr>
              <a:t>第</a:t>
            </a:r>
            <a:r>
              <a:rPr lang="en-US" altLang="zh-CN" sz="2400" b="1" dirty="0" smtClean="0">
                <a:latin typeface="+mn-ea"/>
              </a:rPr>
              <a:t>5</a:t>
            </a:r>
            <a:r>
              <a:rPr lang="zh-CN" altLang="en-US" sz="2400" b="1" dirty="0" smtClean="0">
                <a:latin typeface="+mn-ea"/>
              </a:rPr>
              <a:t>～</a:t>
            </a:r>
            <a:r>
              <a:rPr lang="en-US" altLang="zh-CN" sz="2400" b="1" dirty="0" smtClean="0">
                <a:latin typeface="+mn-ea"/>
              </a:rPr>
              <a:t>8</a:t>
            </a:r>
            <a:r>
              <a:rPr lang="zh-CN" altLang="en-US" sz="2400" b="1" dirty="0" smtClean="0">
                <a:latin typeface="+mn-ea"/>
              </a:rPr>
              <a:t>行是元素定义语句，它定义了</a:t>
            </a:r>
            <a:r>
              <a:rPr lang="en-US" altLang="zh-CN" sz="2400" b="1" dirty="0" smtClean="0">
                <a:latin typeface="+mn-ea"/>
              </a:rPr>
              <a:t>4</a:t>
            </a:r>
            <a:r>
              <a:rPr lang="zh-CN" altLang="en-US" sz="2400" b="1" dirty="0" smtClean="0">
                <a:latin typeface="+mn-ea"/>
              </a:rPr>
              <a:t>个元素</a:t>
            </a:r>
            <a:endParaRPr lang="en-US" altLang="zh-CN" sz="2400" b="1" dirty="0" smtClean="0">
              <a:latin typeface="+mn-ea"/>
            </a:endParaRPr>
          </a:p>
          <a:p>
            <a:pPr>
              <a:defRPr/>
            </a:pPr>
            <a:r>
              <a:rPr lang="zh-CN" altLang="en-US" sz="2400" b="1" dirty="0" smtClean="0">
                <a:latin typeface="+mn-ea"/>
              </a:rPr>
              <a:t>第</a:t>
            </a:r>
            <a:r>
              <a:rPr lang="en-US" altLang="zh-CN" sz="2400" b="1" dirty="0" smtClean="0">
                <a:latin typeface="+mn-ea"/>
              </a:rPr>
              <a:t>9 </a:t>
            </a:r>
            <a:r>
              <a:rPr lang="zh-CN" altLang="en-US" sz="2400" b="1" dirty="0" smtClean="0">
                <a:latin typeface="+mn-ea"/>
              </a:rPr>
              <a:t>～</a:t>
            </a:r>
            <a:r>
              <a:rPr lang="en-US" altLang="zh-CN" sz="2400" b="1" dirty="0" smtClean="0">
                <a:latin typeface="+mn-ea"/>
              </a:rPr>
              <a:t>14</a:t>
            </a:r>
            <a:r>
              <a:rPr lang="zh-CN" altLang="en-US" sz="2400" b="1" dirty="0" smtClean="0">
                <a:latin typeface="+mn-ea"/>
              </a:rPr>
              <a:t>行定义了本</a:t>
            </a:r>
            <a:r>
              <a:rPr lang="en-US" altLang="zh-CN" sz="2400" b="1" dirty="0" smtClean="0">
                <a:latin typeface="+mn-ea"/>
              </a:rPr>
              <a:t>XML Schema</a:t>
            </a:r>
            <a:r>
              <a:rPr lang="zh-CN" altLang="en-US" sz="2400" b="1" dirty="0" smtClean="0">
                <a:latin typeface="+mn-ea"/>
              </a:rPr>
              <a:t>的二级元素：学生，指明该元素含有包含四个子元素：姓名、年龄、籍贯、电话</a:t>
            </a:r>
            <a:endParaRPr lang="en-US" altLang="zh-CN" sz="2400" b="1" dirty="0" smtClean="0">
              <a:latin typeface="+mn-ea"/>
            </a:endParaRPr>
          </a:p>
          <a:p>
            <a:pPr>
              <a:defRPr/>
            </a:pPr>
            <a:r>
              <a:rPr lang="zh-CN" altLang="en-US" sz="2400" b="1" dirty="0" smtClean="0">
                <a:latin typeface="+mn-ea"/>
              </a:rPr>
              <a:t>第</a:t>
            </a:r>
            <a:r>
              <a:rPr lang="en-US" altLang="zh-CN" sz="2400" b="1" dirty="0" smtClean="0">
                <a:latin typeface="+mn-ea"/>
              </a:rPr>
              <a:t>15</a:t>
            </a:r>
            <a:r>
              <a:rPr lang="zh-CN" altLang="en-US" sz="2400" b="1" dirty="0" smtClean="0">
                <a:latin typeface="+mn-ea"/>
              </a:rPr>
              <a:t>～</a:t>
            </a:r>
            <a:r>
              <a:rPr lang="en-US" altLang="zh-CN" sz="2400" b="1" dirty="0" smtClean="0">
                <a:latin typeface="+mn-ea"/>
              </a:rPr>
              <a:t>19</a:t>
            </a:r>
            <a:r>
              <a:rPr lang="zh-CN" altLang="en-US" sz="2400" b="1" dirty="0" smtClean="0">
                <a:latin typeface="+mn-ea"/>
              </a:rPr>
              <a:t>行定义了本</a:t>
            </a:r>
            <a:r>
              <a:rPr lang="en-US" altLang="zh-CN" sz="2400" b="1" dirty="0" smtClean="0">
                <a:latin typeface="+mn-ea"/>
              </a:rPr>
              <a:t>XML Schema</a:t>
            </a:r>
            <a:r>
              <a:rPr lang="zh-CN" altLang="en-US" sz="2400" b="1" dirty="0" smtClean="0">
                <a:latin typeface="+mn-ea"/>
              </a:rPr>
              <a:t>的顶级元素：学生花名册，指明该元素包含一个子元素：学生，以及两个属性：年级、班级</a:t>
            </a:r>
            <a:endParaRPr lang="en-US" altLang="zh-CN" sz="2400" b="1" dirty="0" smtClean="0">
              <a:latin typeface="+mn-ea"/>
            </a:endParaRPr>
          </a:p>
          <a:p>
            <a:pPr>
              <a:defRPr/>
            </a:pPr>
            <a:r>
              <a:rPr lang="zh-CN" altLang="en-US" sz="2400" b="1" dirty="0" smtClean="0">
                <a:latin typeface="+mn-ea"/>
              </a:rPr>
              <a:t> 第</a:t>
            </a:r>
            <a:r>
              <a:rPr lang="en-US" altLang="zh-CN" sz="2400" b="1" dirty="0" smtClean="0">
                <a:latin typeface="+mn-ea"/>
              </a:rPr>
              <a:t>20</a:t>
            </a:r>
            <a:r>
              <a:rPr lang="zh-CN" altLang="en-US" sz="2400" b="1" dirty="0" smtClean="0">
                <a:latin typeface="+mn-ea"/>
              </a:rPr>
              <a:t>行是结束标记语句，它指明该</a:t>
            </a:r>
            <a:r>
              <a:rPr lang="en-US" altLang="zh-CN" sz="2400" b="1" dirty="0" smtClean="0">
                <a:latin typeface="+mn-ea"/>
              </a:rPr>
              <a:t>XML  Schema </a:t>
            </a:r>
            <a:r>
              <a:rPr lang="zh-CN" altLang="en-US" sz="2400" b="1" dirty="0" smtClean="0">
                <a:latin typeface="+mn-ea"/>
              </a:rPr>
              <a:t>的描述到此为止</a:t>
            </a:r>
          </a:p>
          <a:p>
            <a:pPr>
              <a:defRPr/>
            </a:pPr>
            <a:endParaRPr lang="zh-CN" altLang="en-US" sz="2400" dirty="0">
              <a:latin typeface="+mn-ea"/>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1785918" y="304800"/>
            <a:ext cx="6596082" cy="981075"/>
          </a:xfrm>
        </p:spPr>
        <p:txBody>
          <a:bodyPr/>
          <a:lstStyle/>
          <a:p>
            <a:pPr>
              <a:defRPr/>
            </a:pPr>
            <a:r>
              <a:rPr lang="en-US" altLang="zh-CN" sz="3200" b="1" dirty="0" smtClean="0">
                <a:latin typeface="+mn-ea"/>
                <a:ea typeface="+mn-ea"/>
              </a:rPr>
              <a:t>Schema </a:t>
            </a:r>
            <a:r>
              <a:rPr lang="zh-CN" altLang="en-US" sz="3200" b="1" dirty="0" smtClean="0">
                <a:latin typeface="+mn-ea"/>
                <a:ea typeface="+mn-ea"/>
              </a:rPr>
              <a:t>的优点</a:t>
            </a:r>
          </a:p>
        </p:txBody>
      </p:sp>
      <p:sp>
        <p:nvSpPr>
          <p:cNvPr id="55299" name="内容占位符 3"/>
          <p:cNvSpPr>
            <a:spLocks noGrp="1"/>
          </p:cNvSpPr>
          <p:nvPr>
            <p:ph idx="1"/>
          </p:nvPr>
        </p:nvSpPr>
        <p:spPr/>
        <p:txBody>
          <a:bodyPr/>
          <a:lstStyle/>
          <a:p>
            <a:r>
              <a:rPr lang="en-US" altLang="zh-CN" sz="2800" b="1" dirty="0" smtClean="0">
                <a:latin typeface="+mn-ea"/>
              </a:rPr>
              <a:t>XML Schema</a:t>
            </a:r>
            <a:r>
              <a:rPr lang="zh-CN" altLang="en-US" sz="2800" b="1" dirty="0" smtClean="0">
                <a:latin typeface="+mn-ea"/>
              </a:rPr>
              <a:t>支持数据类型</a:t>
            </a:r>
            <a:endParaRPr lang="en-US" altLang="zh-CN" sz="2800" b="1" dirty="0" smtClean="0">
              <a:latin typeface="+mn-ea"/>
            </a:endParaRPr>
          </a:p>
          <a:p>
            <a:endParaRPr lang="en-US" altLang="zh-CN" sz="2800" b="1" dirty="0" smtClean="0">
              <a:latin typeface="+mn-ea"/>
            </a:endParaRPr>
          </a:p>
          <a:p>
            <a:r>
              <a:rPr lang="en-US" altLang="zh-CN" sz="2800" b="1" dirty="0" smtClean="0">
                <a:latin typeface="+mn-ea"/>
              </a:rPr>
              <a:t>XML Schema</a:t>
            </a:r>
            <a:r>
              <a:rPr lang="zh-CN" altLang="en-US" sz="2800" b="1" dirty="0" smtClean="0">
                <a:latin typeface="+mn-ea"/>
              </a:rPr>
              <a:t>使用</a:t>
            </a:r>
            <a:r>
              <a:rPr lang="en-US" altLang="zh-CN" sz="2800" b="1" dirty="0" smtClean="0">
                <a:latin typeface="+mn-ea"/>
              </a:rPr>
              <a:t>XML</a:t>
            </a:r>
            <a:r>
              <a:rPr lang="zh-CN" altLang="en-US" sz="2800" b="1" dirty="0" smtClean="0">
                <a:latin typeface="+mn-ea"/>
              </a:rPr>
              <a:t>语法</a:t>
            </a:r>
            <a:endParaRPr lang="en-US" altLang="zh-CN" sz="2800" b="1" dirty="0" smtClean="0">
              <a:latin typeface="+mn-ea"/>
            </a:endParaRPr>
          </a:p>
          <a:p>
            <a:endParaRPr lang="en-US" altLang="zh-CN" sz="2800" b="1" dirty="0" smtClean="0">
              <a:latin typeface="+mn-ea"/>
            </a:endParaRPr>
          </a:p>
          <a:p>
            <a:r>
              <a:rPr lang="en-US" altLang="zh-CN" sz="2800" b="1" dirty="0" smtClean="0">
                <a:latin typeface="+mn-ea"/>
              </a:rPr>
              <a:t>XML Schema</a:t>
            </a:r>
            <a:r>
              <a:rPr lang="zh-CN" altLang="en-US" sz="2800" b="1" dirty="0" smtClean="0">
                <a:latin typeface="+mn-ea"/>
              </a:rPr>
              <a:t>安全数据通讯</a:t>
            </a:r>
            <a:endParaRPr lang="en-US" altLang="zh-CN" sz="2800" b="1" dirty="0" smtClean="0">
              <a:latin typeface="+mn-ea"/>
            </a:endParaRPr>
          </a:p>
          <a:p>
            <a:endParaRPr lang="en-US" altLang="zh-CN" sz="2800" b="1" dirty="0" smtClean="0">
              <a:latin typeface="+mn-ea"/>
            </a:endParaRPr>
          </a:p>
          <a:p>
            <a:r>
              <a:rPr lang="en-US" altLang="zh-CN" sz="2800" b="1" dirty="0" smtClean="0">
                <a:latin typeface="+mn-ea"/>
              </a:rPr>
              <a:t>XML Schema</a:t>
            </a:r>
            <a:r>
              <a:rPr lang="zh-CN" altLang="en-US" sz="2800" b="1" dirty="0" smtClean="0">
                <a:latin typeface="+mn-ea"/>
              </a:rPr>
              <a:t>是可扩展的</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b="1" dirty="0" smtClean="0">
                <a:latin typeface="+mn-ea"/>
                <a:ea typeface="+mn-ea"/>
              </a:rPr>
              <a:t> </a:t>
            </a:r>
            <a:r>
              <a:rPr lang="en-US" sz="3200" b="1" dirty="0" smtClean="0">
                <a:latin typeface="+mn-ea"/>
                <a:ea typeface="+mn-ea"/>
              </a:rPr>
              <a:t>XML Schema</a:t>
            </a:r>
            <a:r>
              <a:rPr lang="zh-CN" sz="3200" b="1" dirty="0" smtClean="0">
                <a:latin typeface="+mn-ea"/>
                <a:ea typeface="+mn-ea"/>
              </a:rPr>
              <a:t>支持数据类型</a:t>
            </a:r>
            <a:endParaRPr lang="zh-CN" altLang="en-US" sz="3200" b="1" dirty="0">
              <a:latin typeface="+mn-ea"/>
              <a:ea typeface="+mn-ea"/>
            </a:endParaRPr>
          </a:p>
        </p:txBody>
      </p:sp>
      <p:sp>
        <p:nvSpPr>
          <p:cNvPr id="3" name="内容占位符 2"/>
          <p:cNvSpPr>
            <a:spLocks noGrp="1"/>
          </p:cNvSpPr>
          <p:nvPr>
            <p:ph idx="1"/>
          </p:nvPr>
        </p:nvSpPr>
        <p:spPr/>
        <p:txBody>
          <a:bodyPr/>
          <a:lstStyle/>
          <a:p>
            <a:pPr>
              <a:defRPr/>
            </a:pPr>
            <a:r>
              <a:rPr lang="zh-CN" sz="2800" b="1" dirty="0" smtClean="0">
                <a:latin typeface="+mn-ea"/>
              </a:rPr>
              <a:t>更易于描述允许使用的文档内容</a:t>
            </a:r>
          </a:p>
          <a:p>
            <a:pPr>
              <a:defRPr/>
            </a:pPr>
            <a:r>
              <a:rPr lang="zh-CN" sz="2800" b="1" dirty="0" smtClean="0">
                <a:latin typeface="+mn-ea"/>
              </a:rPr>
              <a:t>更易于检验数据的有效性</a:t>
            </a:r>
          </a:p>
          <a:p>
            <a:pPr>
              <a:defRPr/>
            </a:pPr>
            <a:r>
              <a:rPr lang="zh-CN" sz="2800" b="1" dirty="0" smtClean="0">
                <a:latin typeface="+mn-ea"/>
              </a:rPr>
              <a:t>更易于与数据库中的数据一起协同工作</a:t>
            </a:r>
          </a:p>
          <a:p>
            <a:pPr>
              <a:defRPr/>
            </a:pPr>
            <a:r>
              <a:rPr lang="zh-CN" sz="2800" b="1" dirty="0" smtClean="0">
                <a:latin typeface="+mn-ea"/>
              </a:rPr>
              <a:t>更易于定义关于数据的限制</a:t>
            </a:r>
          </a:p>
          <a:p>
            <a:pPr>
              <a:defRPr/>
            </a:pPr>
            <a:r>
              <a:rPr lang="zh-CN" sz="2800" b="1" dirty="0" smtClean="0">
                <a:latin typeface="+mn-ea"/>
              </a:rPr>
              <a:t>更易于定义数据格式</a:t>
            </a:r>
          </a:p>
          <a:p>
            <a:pPr>
              <a:defRPr/>
            </a:pPr>
            <a:r>
              <a:rPr lang="zh-CN" sz="2800" b="1" dirty="0" smtClean="0">
                <a:latin typeface="+mn-ea"/>
              </a:rPr>
              <a:t>更易于将数据在不同的数据类型之间进行转换</a:t>
            </a:r>
            <a:endParaRPr lang="zh-CN" altLang="en-US" sz="2800" b="1"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blinds(horizontal)">
                                      <p:cBhvr>
                                        <p:cTn id="18" dur="5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sz="3200" b="1" dirty="0" smtClean="0">
                <a:latin typeface="+mn-ea"/>
                <a:ea typeface="+mn-ea"/>
              </a:rPr>
              <a:t>XML Schema</a:t>
            </a:r>
            <a:r>
              <a:rPr lang="zh-CN" sz="3200" b="1" dirty="0" smtClean="0">
                <a:latin typeface="+mn-ea"/>
                <a:ea typeface="+mn-ea"/>
              </a:rPr>
              <a:t>使用</a:t>
            </a:r>
            <a:r>
              <a:rPr lang="en-US" sz="3200" b="1" dirty="0" smtClean="0">
                <a:latin typeface="+mn-ea"/>
                <a:ea typeface="+mn-ea"/>
              </a:rPr>
              <a:t>XML</a:t>
            </a:r>
            <a:r>
              <a:rPr lang="zh-CN" sz="3200" b="1" dirty="0" smtClean="0">
                <a:latin typeface="+mn-ea"/>
                <a:ea typeface="+mn-ea"/>
              </a:rPr>
              <a:t>语法</a:t>
            </a:r>
            <a:endParaRPr lang="zh-CN" altLang="en-US" sz="3200" b="1" dirty="0">
              <a:latin typeface="+mn-ea"/>
              <a:ea typeface="+mn-ea"/>
            </a:endParaRPr>
          </a:p>
        </p:txBody>
      </p:sp>
      <p:sp>
        <p:nvSpPr>
          <p:cNvPr id="3" name="内容占位符 2"/>
          <p:cNvSpPr>
            <a:spLocks noGrp="1"/>
          </p:cNvSpPr>
          <p:nvPr>
            <p:ph idx="1"/>
          </p:nvPr>
        </p:nvSpPr>
        <p:spPr>
          <a:xfrm>
            <a:off x="1785938" y="1600200"/>
            <a:ext cx="7072342" cy="4686300"/>
          </a:xfrm>
        </p:spPr>
        <p:txBody>
          <a:bodyPr/>
          <a:lstStyle/>
          <a:p>
            <a:pPr>
              <a:defRPr/>
            </a:pPr>
            <a:r>
              <a:rPr lang="zh-CN" sz="2800" b="1" dirty="0" smtClean="0">
                <a:latin typeface="+mn-ea"/>
              </a:rPr>
              <a:t>可以不需要再学习一种全新的语言</a:t>
            </a:r>
          </a:p>
          <a:p>
            <a:pPr>
              <a:defRPr/>
            </a:pPr>
            <a:r>
              <a:rPr lang="zh-CN" sz="2800" b="1" dirty="0" smtClean="0">
                <a:latin typeface="+mn-ea"/>
              </a:rPr>
              <a:t>可以使用</a:t>
            </a:r>
            <a:r>
              <a:rPr lang="en-US" sz="2800" b="1" dirty="0" smtClean="0">
                <a:latin typeface="+mn-ea"/>
              </a:rPr>
              <a:t>XML</a:t>
            </a:r>
            <a:r>
              <a:rPr lang="zh-CN" sz="2800" b="1" dirty="0" smtClean="0">
                <a:latin typeface="+mn-ea"/>
              </a:rPr>
              <a:t>编辑器来编辑</a:t>
            </a:r>
            <a:r>
              <a:rPr lang="en-US" sz="2800" b="1" dirty="0" smtClean="0">
                <a:latin typeface="+mn-ea"/>
              </a:rPr>
              <a:t>Schema</a:t>
            </a:r>
            <a:r>
              <a:rPr lang="zh-CN" sz="2800" b="1" dirty="0" smtClean="0">
                <a:latin typeface="+mn-ea"/>
              </a:rPr>
              <a:t>文件</a:t>
            </a:r>
          </a:p>
          <a:p>
            <a:pPr>
              <a:defRPr/>
            </a:pPr>
            <a:r>
              <a:rPr lang="zh-CN" sz="2800" b="1" dirty="0" smtClean="0">
                <a:latin typeface="+mn-ea"/>
              </a:rPr>
              <a:t>可以使用</a:t>
            </a:r>
            <a:r>
              <a:rPr lang="en-US" sz="2800" b="1" dirty="0" smtClean="0">
                <a:latin typeface="+mn-ea"/>
              </a:rPr>
              <a:t>XML</a:t>
            </a:r>
            <a:r>
              <a:rPr lang="zh-CN" sz="2800" b="1" dirty="0" smtClean="0">
                <a:latin typeface="+mn-ea"/>
              </a:rPr>
              <a:t>解析器解析</a:t>
            </a:r>
            <a:r>
              <a:rPr lang="en-US" sz="2800" b="1" dirty="0" smtClean="0">
                <a:latin typeface="+mn-ea"/>
              </a:rPr>
              <a:t>Schema</a:t>
            </a:r>
            <a:r>
              <a:rPr lang="zh-CN" sz="2800" b="1" dirty="0" smtClean="0">
                <a:latin typeface="+mn-ea"/>
              </a:rPr>
              <a:t>文件</a:t>
            </a:r>
          </a:p>
          <a:p>
            <a:pPr>
              <a:defRPr/>
            </a:pPr>
            <a:r>
              <a:rPr lang="zh-CN" sz="2800" b="1" dirty="0" smtClean="0">
                <a:latin typeface="+mn-ea"/>
              </a:rPr>
              <a:t>可以使用</a:t>
            </a:r>
            <a:r>
              <a:rPr lang="en-US" sz="2800" b="1" dirty="0" smtClean="0">
                <a:latin typeface="+mn-ea"/>
              </a:rPr>
              <a:t>XML DOM </a:t>
            </a:r>
            <a:r>
              <a:rPr lang="zh-CN" sz="2800" b="1" dirty="0" smtClean="0">
                <a:latin typeface="+mn-ea"/>
              </a:rPr>
              <a:t>处理</a:t>
            </a:r>
            <a:r>
              <a:rPr lang="en-US" sz="2800" b="1" dirty="0" smtClean="0">
                <a:latin typeface="+mn-ea"/>
              </a:rPr>
              <a:t>Schema</a:t>
            </a:r>
            <a:endParaRPr lang="zh-CN" sz="2800" b="1" dirty="0" smtClean="0">
              <a:latin typeface="+mn-ea"/>
            </a:endParaRPr>
          </a:p>
          <a:p>
            <a:pPr>
              <a:defRPr/>
            </a:pPr>
            <a:r>
              <a:rPr lang="zh-CN" sz="2800" b="1" dirty="0" smtClean="0">
                <a:latin typeface="+mn-ea"/>
              </a:rPr>
              <a:t>可以使用</a:t>
            </a:r>
            <a:r>
              <a:rPr lang="en-US" sz="2800" b="1" dirty="0" smtClean="0">
                <a:latin typeface="+mn-ea"/>
              </a:rPr>
              <a:t>XSLT</a:t>
            </a:r>
            <a:r>
              <a:rPr lang="zh-CN" sz="2800" b="1" dirty="0" smtClean="0">
                <a:latin typeface="+mn-ea"/>
              </a:rPr>
              <a:t>转换</a:t>
            </a:r>
            <a:r>
              <a:rPr lang="en-US" sz="2800" b="1" dirty="0" smtClean="0">
                <a:latin typeface="+mn-ea"/>
              </a:rPr>
              <a:t>Schema</a:t>
            </a:r>
            <a:endParaRPr lang="zh-CN" altLang="en-US" sz="2800" b="1"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sz="3200" b="1" dirty="0" smtClean="0">
                <a:latin typeface="+mn-ea"/>
                <a:ea typeface="+mn-ea"/>
              </a:rPr>
              <a:t>XML Schema</a:t>
            </a:r>
            <a:r>
              <a:rPr lang="zh-CN" sz="3200" b="1" dirty="0" smtClean="0">
                <a:latin typeface="+mn-ea"/>
                <a:ea typeface="+mn-ea"/>
              </a:rPr>
              <a:t>是可扩展的</a:t>
            </a:r>
            <a:endParaRPr lang="zh-CN" altLang="en-US" sz="3200" b="1" dirty="0">
              <a:latin typeface="+mn-ea"/>
              <a:ea typeface="+mn-ea"/>
            </a:endParaRPr>
          </a:p>
        </p:txBody>
      </p:sp>
      <p:sp>
        <p:nvSpPr>
          <p:cNvPr id="3" name="内容占位符 2"/>
          <p:cNvSpPr>
            <a:spLocks noGrp="1"/>
          </p:cNvSpPr>
          <p:nvPr>
            <p:ph idx="1"/>
          </p:nvPr>
        </p:nvSpPr>
        <p:spPr/>
        <p:txBody>
          <a:bodyPr/>
          <a:lstStyle/>
          <a:p>
            <a:pPr>
              <a:defRPr/>
            </a:pPr>
            <a:r>
              <a:rPr lang="zh-CN" sz="2800" b="1" dirty="0" smtClean="0">
                <a:latin typeface="+mn-ea"/>
              </a:rPr>
              <a:t>因为</a:t>
            </a:r>
            <a:r>
              <a:rPr lang="en-US" sz="2800" b="1" dirty="0" smtClean="0">
                <a:latin typeface="+mn-ea"/>
              </a:rPr>
              <a:t>XML Schema</a:t>
            </a:r>
            <a:r>
              <a:rPr lang="zh-CN" sz="2800" b="1" dirty="0" smtClean="0">
                <a:latin typeface="+mn-ea"/>
              </a:rPr>
              <a:t>文件是由</a:t>
            </a:r>
            <a:r>
              <a:rPr lang="en-US" sz="2800" b="1" dirty="0" smtClean="0">
                <a:latin typeface="+mn-ea"/>
              </a:rPr>
              <a:t>XML</a:t>
            </a:r>
            <a:r>
              <a:rPr lang="zh-CN" sz="2800" b="1" dirty="0" smtClean="0">
                <a:latin typeface="+mn-ea"/>
              </a:rPr>
              <a:t>编写，所以可扩展</a:t>
            </a:r>
            <a:endParaRPr lang="en-US" altLang="zh-CN" sz="2800" b="1" dirty="0" smtClean="0">
              <a:latin typeface="+mn-ea"/>
            </a:endParaRPr>
          </a:p>
          <a:p>
            <a:pPr>
              <a:defRPr/>
            </a:pPr>
            <a:r>
              <a:rPr lang="zh-CN" sz="2800" b="1" dirty="0" smtClean="0">
                <a:latin typeface="+mn-ea"/>
              </a:rPr>
              <a:t>在其它的</a:t>
            </a:r>
            <a:r>
              <a:rPr lang="en-US" sz="2800" b="1" dirty="0" smtClean="0">
                <a:latin typeface="+mn-ea"/>
              </a:rPr>
              <a:t>Schema</a:t>
            </a:r>
            <a:r>
              <a:rPr lang="zh-CN" sz="2800" b="1" dirty="0" smtClean="0">
                <a:latin typeface="+mn-ea"/>
              </a:rPr>
              <a:t>文件中再次再次使用你的</a:t>
            </a:r>
            <a:r>
              <a:rPr lang="en-US" sz="2800" b="1" dirty="0" smtClean="0">
                <a:latin typeface="+mn-ea"/>
              </a:rPr>
              <a:t>Schema</a:t>
            </a:r>
            <a:endParaRPr lang="zh-CN" sz="2800" b="1" dirty="0" smtClean="0">
              <a:latin typeface="+mn-ea"/>
            </a:endParaRPr>
          </a:p>
          <a:p>
            <a:pPr>
              <a:defRPr/>
            </a:pPr>
            <a:r>
              <a:rPr lang="zh-CN" sz="2800" b="1" dirty="0" smtClean="0">
                <a:latin typeface="+mn-ea"/>
              </a:rPr>
              <a:t>从标准的数据类型中派生出你自己的数据类型</a:t>
            </a:r>
          </a:p>
          <a:p>
            <a:pPr>
              <a:defRPr/>
            </a:pPr>
            <a:r>
              <a:rPr lang="zh-CN" sz="2800" b="1" dirty="0" smtClean="0">
                <a:latin typeface="+mn-ea"/>
              </a:rPr>
              <a:t>在同一个文档中参考多种</a:t>
            </a:r>
            <a:r>
              <a:rPr lang="en-US" sz="2800" b="1" dirty="0" smtClean="0">
                <a:latin typeface="+mn-ea"/>
              </a:rPr>
              <a:t>Schema</a:t>
            </a:r>
            <a:endParaRPr lang="zh-CN" altLang="en-US" sz="2800" b="1"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p:txBody>
          <a:bodyPr/>
          <a:lstStyle/>
          <a:p>
            <a:pPr lvl="0"/>
            <a:r>
              <a:rPr lang="en-US" sz="3200" b="1" dirty="0" smtClean="0">
                <a:latin typeface="+mj-ea"/>
              </a:rPr>
              <a:t>Schema </a:t>
            </a:r>
            <a:r>
              <a:rPr lang="en-US" sz="3200" b="1" dirty="0" err="1" smtClean="0">
                <a:latin typeface="+mj-ea"/>
              </a:rPr>
              <a:t>声明</a:t>
            </a:r>
            <a:endParaRPr lang="zh-CN" altLang="en-US" sz="3200" b="1" dirty="0">
              <a:latin typeface="+mj-ea"/>
            </a:endParaRPr>
          </a:p>
        </p:txBody>
      </p:sp>
      <p:sp>
        <p:nvSpPr>
          <p:cNvPr id="157699" name="Rectangle 3"/>
          <p:cNvSpPr>
            <a:spLocks noGrp="1" noChangeArrowheads="1"/>
          </p:cNvSpPr>
          <p:nvPr>
            <p:ph idx="1"/>
          </p:nvPr>
        </p:nvSpPr>
        <p:spPr>
          <a:xfrm>
            <a:off x="1857356" y="1428736"/>
            <a:ext cx="7035819" cy="5286412"/>
          </a:xfrm>
        </p:spPr>
        <p:txBody>
          <a:bodyPr>
            <a:normAutofit fontScale="77500" lnSpcReduction="20000"/>
          </a:bodyPr>
          <a:lstStyle/>
          <a:p>
            <a:r>
              <a:rPr lang="zh-CN" altLang="en-US" sz="2800" b="1" dirty="0" smtClean="0">
                <a:latin typeface="+mn-ea"/>
              </a:rPr>
              <a:t> </a:t>
            </a:r>
            <a:r>
              <a:rPr lang="en-US" sz="2800" b="1" dirty="0" smtClean="0">
                <a:latin typeface="+mn-ea"/>
              </a:rPr>
              <a:t>XML Schema</a:t>
            </a:r>
            <a:r>
              <a:rPr lang="zh-CN" altLang="en-US" sz="2800" b="1" dirty="0" smtClean="0">
                <a:latin typeface="+mn-ea"/>
              </a:rPr>
              <a:t>的根元素为</a:t>
            </a:r>
            <a:r>
              <a:rPr lang="en-US" sz="2800" b="1" dirty="0" smtClean="0">
                <a:latin typeface="+mn-ea"/>
              </a:rPr>
              <a:t>schema </a:t>
            </a:r>
            <a:r>
              <a:rPr lang="zh-CN" altLang="en-US" sz="2800" b="1" dirty="0" smtClean="0">
                <a:latin typeface="+mn-ea"/>
              </a:rPr>
              <a:t>元素</a:t>
            </a:r>
            <a:endParaRPr lang="en-US" altLang="zh-CN" sz="2800" b="1" dirty="0" smtClean="0">
              <a:latin typeface="+mn-ea"/>
            </a:endParaRPr>
          </a:p>
          <a:p>
            <a:pPr lvl="1"/>
            <a:r>
              <a:rPr lang="zh-CN" altLang="en-US" sz="2400" b="1" dirty="0" smtClean="0">
                <a:latin typeface="+mn-ea"/>
              </a:rPr>
              <a:t>位于</a:t>
            </a:r>
            <a:r>
              <a:rPr lang="en-US" sz="2400" b="1" dirty="0" smtClean="0">
                <a:latin typeface="+mn-ea"/>
              </a:rPr>
              <a:t>XML Schema</a:t>
            </a:r>
            <a:r>
              <a:rPr lang="zh-CN" altLang="en-US" sz="2400" b="1" dirty="0" smtClean="0">
                <a:latin typeface="+mn-ea"/>
              </a:rPr>
              <a:t>的名字空间</a:t>
            </a:r>
            <a:r>
              <a:rPr lang="en-US" sz="2400" b="1" dirty="0" err="1" smtClean="0">
                <a:latin typeface="+mn-ea"/>
              </a:rPr>
              <a:t>xs</a:t>
            </a:r>
            <a:r>
              <a:rPr lang="en-US" sz="2400" b="1" dirty="0" smtClean="0">
                <a:latin typeface="+mn-ea"/>
              </a:rPr>
              <a:t> (XML Schema)</a:t>
            </a:r>
            <a:r>
              <a:rPr lang="zh-CN" altLang="en-US" sz="2400" b="1" dirty="0" smtClean="0">
                <a:latin typeface="+mn-ea"/>
              </a:rPr>
              <a:t>或</a:t>
            </a:r>
            <a:r>
              <a:rPr lang="en-US" sz="2400" b="1" dirty="0" err="1" smtClean="0">
                <a:latin typeface="+mn-ea"/>
              </a:rPr>
              <a:t>xsd</a:t>
            </a:r>
            <a:r>
              <a:rPr lang="en-US" sz="2400" b="1" dirty="0" smtClean="0">
                <a:latin typeface="+mn-ea"/>
              </a:rPr>
              <a:t> (XML Schema definition)</a:t>
            </a:r>
            <a:r>
              <a:rPr lang="zh-CN" altLang="en-US" sz="2400" b="1" dirty="0" smtClean="0">
                <a:latin typeface="+mn-ea"/>
              </a:rPr>
              <a:t>中</a:t>
            </a:r>
            <a:endParaRPr lang="en-US" altLang="zh-CN" sz="2400" b="1" dirty="0" smtClean="0">
              <a:latin typeface="+mn-ea"/>
            </a:endParaRPr>
          </a:p>
          <a:p>
            <a:r>
              <a:rPr lang="en-US" sz="2800" b="1" dirty="0" smtClean="0">
                <a:latin typeface="+mn-ea"/>
              </a:rPr>
              <a:t>Schema</a:t>
            </a:r>
            <a:r>
              <a:rPr lang="zh-CN" altLang="en-US" sz="2800" b="1" dirty="0" smtClean="0">
                <a:latin typeface="+mn-ea"/>
              </a:rPr>
              <a:t>元素含有多个属性</a:t>
            </a:r>
            <a:endParaRPr lang="en-US" altLang="zh-CN" sz="2800" b="1" dirty="0" smtClean="0">
              <a:latin typeface="+mn-ea"/>
            </a:endParaRPr>
          </a:p>
          <a:p>
            <a:pPr lvl="1"/>
            <a:r>
              <a:rPr lang="zh-CN" altLang="en-US" sz="2400" b="1" dirty="0" smtClean="0">
                <a:latin typeface="+mn-ea"/>
              </a:rPr>
              <a:t>名字空间声明（必须）</a:t>
            </a:r>
            <a:endParaRPr lang="en-US" altLang="zh-CN" sz="2400" b="1" dirty="0" smtClean="0">
              <a:latin typeface="+mn-ea"/>
            </a:endParaRPr>
          </a:p>
          <a:p>
            <a:pPr lvl="1"/>
            <a:r>
              <a:rPr lang="zh-CN" altLang="en-US" sz="2400" b="1" dirty="0" smtClean="0">
                <a:latin typeface="+mn-ea"/>
              </a:rPr>
              <a:t>其他在本文档中要用到的名字空间的声明（可选）</a:t>
            </a:r>
            <a:endParaRPr lang="en-US" altLang="zh-CN" sz="2400" b="1" dirty="0" smtClean="0">
              <a:latin typeface="+mn-ea"/>
            </a:endParaRPr>
          </a:p>
          <a:p>
            <a:pPr lvl="1"/>
            <a:r>
              <a:rPr lang="zh-CN" altLang="en-US" sz="2400" b="1" dirty="0" smtClean="0">
                <a:latin typeface="+mn-ea"/>
              </a:rPr>
              <a:t>该文档描述的目标名字空间（可选）</a:t>
            </a:r>
            <a:endParaRPr lang="en-US" altLang="zh-CN" sz="2400" b="1" dirty="0" smtClean="0">
              <a:latin typeface="+mn-ea"/>
            </a:endParaRPr>
          </a:p>
          <a:p>
            <a:pPr lvl="1"/>
            <a:r>
              <a:rPr lang="zh-CN" altLang="en-US" sz="2400" b="1" dirty="0" smtClean="0">
                <a:latin typeface="+mn-ea"/>
              </a:rPr>
              <a:t>语言（可选）等</a:t>
            </a:r>
          </a:p>
          <a:p>
            <a:r>
              <a:rPr lang="zh-CN" altLang="en-US" sz="2800" b="1" dirty="0" smtClean="0">
                <a:latin typeface="+mn-ea"/>
              </a:rPr>
              <a:t>常用格式为：</a:t>
            </a:r>
          </a:p>
          <a:p>
            <a:pPr>
              <a:buNone/>
            </a:pPr>
            <a:r>
              <a:rPr lang="en-US" sz="2800" b="1" dirty="0" smtClean="0">
                <a:latin typeface="+mn-ea"/>
              </a:rPr>
              <a:t>	&lt;</a:t>
            </a:r>
            <a:r>
              <a:rPr lang="en-US" sz="2800" b="1" dirty="0" err="1" smtClean="0">
                <a:latin typeface="+mn-ea"/>
              </a:rPr>
              <a:t>xsd:schema</a:t>
            </a:r>
            <a:r>
              <a:rPr lang="en-US" sz="2800" b="1" dirty="0" smtClean="0">
                <a:latin typeface="+mn-ea"/>
              </a:rPr>
              <a:t> </a:t>
            </a:r>
            <a:r>
              <a:rPr lang="en-US" sz="2800" b="1" dirty="0" err="1" smtClean="0">
                <a:latin typeface="+mn-ea"/>
              </a:rPr>
              <a:t>xmlns:xsd</a:t>
            </a:r>
            <a:r>
              <a:rPr lang="en-US" sz="2800" b="1" dirty="0" smtClean="0">
                <a:latin typeface="+mn-ea"/>
              </a:rPr>
              <a:t> = "http://www.w3.org/2001/XMLSchema"</a:t>
            </a:r>
            <a:endParaRPr lang="zh-CN" altLang="en-US" sz="2800" b="1" dirty="0" smtClean="0">
              <a:latin typeface="+mn-ea"/>
            </a:endParaRPr>
          </a:p>
          <a:p>
            <a:pPr>
              <a:buNone/>
            </a:pPr>
            <a:r>
              <a:rPr lang="en-US" sz="2800" b="1" dirty="0" smtClean="0">
                <a:latin typeface="+mn-ea"/>
              </a:rPr>
              <a:t>                </a:t>
            </a:r>
            <a:r>
              <a:rPr lang="en-US" sz="2800" b="1" dirty="0" err="1" smtClean="0">
                <a:latin typeface="+mn-ea"/>
              </a:rPr>
              <a:t>xmlns</a:t>
            </a:r>
            <a:r>
              <a:rPr lang="en-US" sz="2800" b="1" dirty="0" smtClean="0">
                <a:latin typeface="+mn-ea"/>
              </a:rPr>
              <a:t>[:</a:t>
            </a:r>
            <a:r>
              <a:rPr lang="zh-CN" altLang="en-US" sz="2800" b="1" dirty="0" smtClean="0">
                <a:latin typeface="+mn-ea"/>
              </a:rPr>
              <a:t>名字空间名</a:t>
            </a:r>
            <a:r>
              <a:rPr lang="en-US" sz="2800" b="1" dirty="0" smtClean="0">
                <a:latin typeface="+mn-ea"/>
              </a:rPr>
              <a:t>] = ”URI”  &lt;!-- </a:t>
            </a:r>
            <a:r>
              <a:rPr lang="zh-CN" altLang="en-US" sz="2800" b="1" dirty="0" smtClean="0">
                <a:latin typeface="+mn-ea"/>
              </a:rPr>
              <a:t>可有若干个</a:t>
            </a:r>
            <a:r>
              <a:rPr lang="en-US" sz="2800" b="1" dirty="0" smtClean="0">
                <a:latin typeface="+mn-ea"/>
              </a:rPr>
              <a:t> --&gt;</a:t>
            </a:r>
            <a:endParaRPr lang="zh-CN" altLang="en-US" sz="2800" b="1" dirty="0" smtClean="0">
              <a:latin typeface="+mn-ea"/>
            </a:endParaRPr>
          </a:p>
          <a:p>
            <a:pPr>
              <a:buNone/>
            </a:pPr>
            <a:r>
              <a:rPr lang="en-US" sz="2800" b="1" dirty="0" smtClean="0">
                <a:latin typeface="+mn-ea"/>
              </a:rPr>
              <a:t>                </a:t>
            </a:r>
            <a:r>
              <a:rPr lang="en-US" sz="2800" b="1" dirty="0" err="1" smtClean="0">
                <a:latin typeface="+mn-ea"/>
              </a:rPr>
              <a:t>targetNamespace</a:t>
            </a:r>
            <a:r>
              <a:rPr lang="en-US" sz="2800" b="1" dirty="0" smtClean="0">
                <a:latin typeface="+mn-ea"/>
              </a:rPr>
              <a:t> = ”URI”</a:t>
            </a:r>
            <a:endParaRPr lang="zh-CN" altLang="en-US" sz="2800" b="1" dirty="0" smtClean="0">
              <a:latin typeface="+mn-ea"/>
            </a:endParaRPr>
          </a:p>
          <a:p>
            <a:pPr>
              <a:buNone/>
            </a:pPr>
            <a:r>
              <a:rPr lang="en-US" sz="2800" b="1" dirty="0" smtClean="0">
                <a:latin typeface="+mn-ea"/>
              </a:rPr>
              <a:t>                </a:t>
            </a:r>
            <a:r>
              <a:rPr lang="en-US" sz="2800" b="1" dirty="0" err="1" smtClean="0">
                <a:latin typeface="+mn-ea"/>
              </a:rPr>
              <a:t>xml:language</a:t>
            </a:r>
            <a:r>
              <a:rPr lang="en-US" sz="2800" b="1" dirty="0" smtClean="0">
                <a:latin typeface="+mn-ea"/>
              </a:rPr>
              <a:t> = “</a:t>
            </a:r>
            <a:r>
              <a:rPr lang="zh-CN" altLang="en-US" sz="2800" b="1" dirty="0" smtClean="0">
                <a:latin typeface="+mn-ea"/>
              </a:rPr>
              <a:t>语种</a:t>
            </a:r>
            <a:r>
              <a:rPr lang="en-US" sz="2800" b="1" dirty="0" smtClean="0">
                <a:latin typeface="+mn-ea"/>
              </a:rPr>
              <a:t>” &gt;</a:t>
            </a:r>
            <a:endParaRPr lang="zh-CN" altLang="en-US" sz="2800" b="1" dirty="0" smtClean="0">
              <a:latin typeface="+mn-ea"/>
            </a:endParaRPr>
          </a:p>
          <a:p>
            <a:pPr>
              <a:buNone/>
            </a:pPr>
            <a:r>
              <a:rPr lang="zh-CN" altLang="en-US" sz="2800" b="1" dirty="0" smtClean="0">
                <a:latin typeface="+mn-ea"/>
              </a:rPr>
              <a:t>                       若干子元素</a:t>
            </a:r>
          </a:p>
          <a:p>
            <a:pPr>
              <a:buNone/>
            </a:pPr>
            <a:r>
              <a:rPr lang="en-US" sz="2800" b="1" dirty="0" smtClean="0">
                <a:latin typeface="+mn-ea"/>
              </a:rPr>
              <a:t>      &lt;/</a:t>
            </a:r>
            <a:r>
              <a:rPr lang="en-US" sz="2800" b="1" dirty="0" err="1" smtClean="0">
                <a:latin typeface="+mn-ea"/>
              </a:rPr>
              <a:t>xsd:schema</a:t>
            </a:r>
            <a:r>
              <a:rPr lang="en-US" sz="2800" b="1" dirty="0" smtClean="0">
                <a:latin typeface="+mn-ea"/>
              </a:rPr>
              <a:t>&gt;</a:t>
            </a:r>
            <a:endParaRPr lang="zh-CN" altLang="en-US" sz="2800" b="1" dirty="0">
              <a:latin typeface="+mn-ea"/>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1643042" y="381000"/>
            <a:ext cx="6586558" cy="815975"/>
          </a:xfrm>
        </p:spPr>
        <p:txBody>
          <a:bodyPr/>
          <a:lstStyle/>
          <a:p>
            <a:pPr algn="ctr">
              <a:defRPr/>
            </a:pPr>
            <a:r>
              <a:rPr lang="zh-CN" altLang="en-US" sz="3200" b="1" dirty="0" smtClean="0">
                <a:latin typeface="+mj-ea"/>
              </a:rPr>
              <a:t>元素的声明 </a:t>
            </a:r>
          </a:p>
        </p:txBody>
      </p:sp>
      <p:sp>
        <p:nvSpPr>
          <p:cNvPr id="50179" name="Rectangle 3"/>
          <p:cNvSpPr>
            <a:spLocks noGrp="1" noChangeArrowheads="1"/>
          </p:cNvSpPr>
          <p:nvPr>
            <p:ph idx="1"/>
          </p:nvPr>
        </p:nvSpPr>
        <p:spPr>
          <a:xfrm>
            <a:off x="1714480" y="1500174"/>
            <a:ext cx="7572396" cy="4752975"/>
          </a:xfrm>
        </p:spPr>
        <p:txBody>
          <a:bodyPr/>
          <a:lstStyle/>
          <a:p>
            <a:pPr>
              <a:lnSpc>
                <a:spcPct val="90000"/>
              </a:lnSpc>
            </a:pPr>
            <a:r>
              <a:rPr lang="en-US" altLang="zh-CN" sz="2400" b="1" dirty="0" smtClean="0">
                <a:latin typeface="宋体" charset="-122"/>
              </a:rPr>
              <a:t>&lt;</a:t>
            </a:r>
            <a:r>
              <a:rPr lang="en-US" altLang="zh-CN" sz="2400" b="1" dirty="0" err="1" smtClean="0">
                <a:latin typeface="宋体" charset="-122"/>
              </a:rPr>
              <a:t>elementType</a:t>
            </a:r>
            <a:r>
              <a:rPr lang="en-US" altLang="zh-CN" sz="2400" b="1" dirty="0" smtClean="0">
                <a:latin typeface="宋体" charset="-122"/>
              </a:rPr>
              <a:t> name=”</a:t>
            </a:r>
            <a:r>
              <a:rPr lang="zh-CN" altLang="en-US" sz="2400" b="1" dirty="0" smtClean="0">
                <a:latin typeface="宋体" charset="-122"/>
              </a:rPr>
              <a:t>元素名” </a:t>
            </a:r>
          </a:p>
          <a:p>
            <a:pPr>
              <a:lnSpc>
                <a:spcPct val="90000"/>
              </a:lnSpc>
              <a:buFontTx/>
              <a:buNone/>
            </a:pPr>
            <a:r>
              <a:rPr lang="zh-CN" altLang="en-US" sz="2400" b="1" dirty="0" smtClean="0">
                <a:latin typeface="宋体" charset="-122"/>
              </a:rPr>
              <a:t>		</a:t>
            </a:r>
            <a:r>
              <a:rPr lang="en-US" altLang="zh-CN" sz="2400" b="1" dirty="0" smtClean="0">
                <a:latin typeface="宋体" charset="-122"/>
              </a:rPr>
              <a:t>content =“{</a:t>
            </a:r>
            <a:r>
              <a:rPr lang="en-US" altLang="zh-CN" sz="2400" b="1" dirty="0" err="1" smtClean="0">
                <a:latin typeface="宋体" charset="-122"/>
              </a:rPr>
              <a:t>empty|textonly|eltonly|mixed</a:t>
            </a:r>
            <a:r>
              <a:rPr lang="en-US" altLang="zh-CN" sz="2400" b="1" dirty="0" smtClean="0">
                <a:latin typeface="宋体" charset="-122"/>
              </a:rPr>
              <a:t>}”</a:t>
            </a:r>
            <a:br>
              <a:rPr lang="en-US" altLang="zh-CN" sz="2400" b="1" dirty="0" smtClean="0">
                <a:latin typeface="宋体" charset="-122"/>
              </a:rPr>
            </a:br>
            <a:r>
              <a:rPr lang="en-US" altLang="zh-CN" sz="2400" b="1" dirty="0" smtClean="0">
                <a:latin typeface="宋体" charset="-122"/>
              </a:rPr>
              <a:t>    </a:t>
            </a:r>
            <a:r>
              <a:rPr lang="en-US" altLang="zh-CN" sz="2400" b="1" dirty="0" err="1" smtClean="0">
                <a:latin typeface="宋体" charset="-122"/>
              </a:rPr>
              <a:t>dt:type</a:t>
            </a:r>
            <a:r>
              <a:rPr lang="en-US" altLang="zh-CN" sz="2400" b="1" dirty="0" smtClean="0">
                <a:latin typeface="宋体" charset="-122"/>
              </a:rPr>
              <a:t> = ”</a:t>
            </a:r>
            <a:r>
              <a:rPr lang="zh-CN" altLang="en-US" sz="2400" b="1" dirty="0" smtClean="0">
                <a:latin typeface="宋体" charset="-122"/>
              </a:rPr>
              <a:t>类型参数” </a:t>
            </a:r>
            <a:br>
              <a:rPr lang="zh-CN" altLang="en-US" sz="2400" b="1" dirty="0" smtClean="0">
                <a:latin typeface="宋体" charset="-122"/>
              </a:rPr>
            </a:br>
            <a:r>
              <a:rPr lang="zh-CN" altLang="en-US" sz="2400" b="1" dirty="0" smtClean="0">
                <a:latin typeface="宋体" charset="-122"/>
              </a:rPr>
              <a:t>    </a:t>
            </a:r>
            <a:r>
              <a:rPr lang="en-US" altLang="zh-CN" sz="2400" b="1" dirty="0" smtClean="0">
                <a:latin typeface="宋体" charset="-122"/>
              </a:rPr>
              <a:t>order = “{</a:t>
            </a:r>
            <a:r>
              <a:rPr lang="en-US" altLang="zh-CN" sz="2400" b="1" dirty="0" err="1" smtClean="0">
                <a:latin typeface="宋体" charset="-122"/>
              </a:rPr>
              <a:t>one|seq|many</a:t>
            </a:r>
            <a:r>
              <a:rPr lang="en-US" altLang="zh-CN" sz="2400" b="1" dirty="0" smtClean="0">
                <a:latin typeface="宋体" charset="-122"/>
              </a:rPr>
              <a:t>}” </a:t>
            </a:r>
            <a:r>
              <a:rPr lang="zh-CN" altLang="en-US" sz="2400" b="1" dirty="0" smtClean="0">
                <a:latin typeface="宋体" charset="-122"/>
              </a:rPr>
              <a:t/>
            </a:r>
            <a:br>
              <a:rPr lang="zh-CN" altLang="en-US" sz="2400" b="1" dirty="0" smtClean="0">
                <a:latin typeface="宋体" charset="-122"/>
              </a:rPr>
            </a:br>
            <a:r>
              <a:rPr lang="zh-CN" altLang="en-US" sz="2400" b="1" dirty="0" smtClean="0">
                <a:latin typeface="宋体" charset="-122"/>
              </a:rPr>
              <a:t>    </a:t>
            </a:r>
            <a:r>
              <a:rPr lang="en-US" altLang="zh-CN" sz="2400" b="1" dirty="0" smtClean="0">
                <a:latin typeface="宋体" charset="-122"/>
              </a:rPr>
              <a:t>model = “{</a:t>
            </a:r>
            <a:r>
              <a:rPr lang="en-US" altLang="zh-CN" sz="2400" b="1" dirty="0" err="1" smtClean="0">
                <a:latin typeface="宋体" charset="-122"/>
              </a:rPr>
              <a:t>open|close</a:t>
            </a:r>
            <a:r>
              <a:rPr lang="en-US" altLang="zh-CN" sz="2400" b="1" dirty="0" smtClean="0">
                <a:latin typeface="宋体" charset="-122"/>
              </a:rPr>
              <a:t>}” </a:t>
            </a:r>
            <a:br>
              <a:rPr lang="en-US" altLang="zh-CN" sz="2400" b="1" dirty="0" smtClean="0">
                <a:latin typeface="宋体" charset="-122"/>
              </a:rPr>
            </a:br>
            <a:r>
              <a:rPr lang="en-US" altLang="zh-CN" sz="2400" b="1" dirty="0" smtClean="0">
                <a:latin typeface="宋体" charset="-122"/>
              </a:rPr>
              <a:t>    </a:t>
            </a:r>
            <a:r>
              <a:rPr lang="en-US" altLang="zh-CN" sz="2400" b="1" dirty="0" err="1" smtClean="0">
                <a:latin typeface="宋体" charset="-122"/>
              </a:rPr>
              <a:t>minOccurs</a:t>
            </a:r>
            <a:r>
              <a:rPr lang="en-US" altLang="zh-CN" sz="2400" b="1" dirty="0" smtClean="0">
                <a:latin typeface="宋体" charset="-122"/>
              </a:rPr>
              <a:t>=”</a:t>
            </a:r>
            <a:r>
              <a:rPr lang="zh-CN" altLang="en-US" sz="2400" b="1" dirty="0" smtClean="0">
                <a:latin typeface="宋体" charset="-122"/>
              </a:rPr>
              <a:t>最少出现次数” </a:t>
            </a:r>
            <a:br>
              <a:rPr lang="zh-CN" altLang="en-US" sz="2400" b="1" dirty="0" smtClean="0">
                <a:latin typeface="宋体" charset="-122"/>
              </a:rPr>
            </a:br>
            <a:r>
              <a:rPr lang="zh-CN" altLang="en-US" sz="2400" b="1" dirty="0" smtClean="0">
                <a:latin typeface="宋体" charset="-122"/>
              </a:rPr>
              <a:t>    </a:t>
            </a:r>
            <a:r>
              <a:rPr lang="en-US" altLang="zh-CN" sz="2400" b="1" dirty="0" err="1" smtClean="0">
                <a:latin typeface="宋体" charset="-122"/>
              </a:rPr>
              <a:t>maxOccurs</a:t>
            </a:r>
            <a:r>
              <a:rPr lang="en-US" altLang="zh-CN" sz="2400" b="1" dirty="0" smtClean="0">
                <a:latin typeface="宋体" charset="-122"/>
              </a:rPr>
              <a:t>=”</a:t>
            </a:r>
            <a:r>
              <a:rPr lang="zh-CN" altLang="en-US" sz="2400" b="1" dirty="0" smtClean="0">
                <a:latin typeface="宋体" charset="-122"/>
              </a:rPr>
              <a:t>最大出现次数”</a:t>
            </a:r>
            <a:r>
              <a:rPr lang="en-US" altLang="zh-CN" sz="2400" b="1" dirty="0" smtClean="0">
                <a:latin typeface="宋体" charset="-122"/>
              </a:rPr>
              <a:t>&gt; </a:t>
            </a:r>
          </a:p>
          <a:p>
            <a:pPr>
              <a:lnSpc>
                <a:spcPct val="90000"/>
              </a:lnSpc>
              <a:buFontTx/>
              <a:buNone/>
            </a:pPr>
            <a:r>
              <a:rPr lang="zh-CN" altLang="en-US" sz="2800" b="1" dirty="0" smtClean="0">
                <a:latin typeface="宋体" charset="-122"/>
              </a:rPr>
              <a:t>	 </a:t>
            </a:r>
            <a:r>
              <a:rPr lang="en-US" altLang="zh-CN" sz="2400" b="1" dirty="0" smtClean="0">
                <a:latin typeface="宋体" charset="-122"/>
              </a:rPr>
              <a:t>&lt;/</a:t>
            </a:r>
            <a:r>
              <a:rPr lang="en-US" altLang="zh-CN" sz="2400" b="1" dirty="0" err="1" smtClean="0">
                <a:latin typeface="宋体" charset="-122"/>
              </a:rPr>
              <a:t>elementType</a:t>
            </a:r>
            <a:r>
              <a:rPr lang="en-US" altLang="zh-CN" sz="2400" b="1" dirty="0" smtClean="0">
                <a:latin typeface="宋体" charset="-122"/>
              </a:rPr>
              <a:t>&gt;</a:t>
            </a:r>
          </a:p>
          <a:p>
            <a:pPr>
              <a:lnSpc>
                <a:spcPct val="90000"/>
              </a:lnSpc>
              <a:buFontTx/>
              <a:buNone/>
            </a:pPr>
            <a:endParaRPr lang="zh-CN" altLang="en-US" sz="2400" b="1" dirty="0" smtClean="0">
              <a:latin typeface="宋体" charset="-122"/>
            </a:endParaRPr>
          </a:p>
          <a:p>
            <a:pPr>
              <a:lnSpc>
                <a:spcPct val="90000"/>
              </a:lnSpc>
              <a:buFontTx/>
              <a:buNone/>
            </a:pPr>
            <a:r>
              <a:rPr lang="zh-CN" altLang="en-US" sz="2400" b="1" dirty="0" smtClean="0">
                <a:latin typeface="宋体" charset="-122"/>
              </a:rPr>
              <a:t>最简单的声明：</a:t>
            </a:r>
          </a:p>
          <a:p>
            <a:pPr>
              <a:lnSpc>
                <a:spcPct val="90000"/>
              </a:lnSpc>
              <a:buFontTx/>
              <a:buNone/>
            </a:pPr>
            <a:r>
              <a:rPr lang="zh-CN" altLang="en-US" sz="2400" b="1" dirty="0" smtClean="0">
                <a:latin typeface="宋体" charset="-122"/>
              </a:rPr>
              <a:t> 	</a:t>
            </a:r>
            <a:r>
              <a:rPr lang="en-US" altLang="zh-CN" sz="2400" b="1" dirty="0" smtClean="0">
                <a:latin typeface="宋体" charset="-122"/>
              </a:rPr>
              <a:t>&lt;</a:t>
            </a:r>
            <a:r>
              <a:rPr lang="en-US" altLang="zh-CN" sz="2400" b="1" dirty="0" err="1" smtClean="0">
                <a:latin typeface="宋体" charset="-122"/>
              </a:rPr>
              <a:t>elementType</a:t>
            </a:r>
            <a:r>
              <a:rPr lang="en-US" altLang="zh-CN" sz="2400" b="1" dirty="0" smtClean="0">
                <a:latin typeface="宋体" charset="-122"/>
              </a:rPr>
              <a:t> name=”A” content= “empty”/&gt;</a:t>
            </a:r>
            <a:endParaRPr lang="zh-CN" altLang="en-US" sz="2400" b="1" dirty="0" smtClean="0">
              <a:latin typeface="宋体"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179">
                                            <p:txEl>
                                              <p:pRg st="0" end="0"/>
                                            </p:txEl>
                                          </p:spTgt>
                                        </p:tgtEl>
                                        <p:attrNameLst>
                                          <p:attrName>style.visibility</p:attrName>
                                        </p:attrNameLst>
                                      </p:cBhvr>
                                      <p:to>
                                        <p:strVal val="visible"/>
                                      </p:to>
                                    </p:set>
                                    <p:anim calcmode="lin" valueType="num">
                                      <p:cBhvr additive="base">
                                        <p:cTn id="7" dur="500" fill="hold"/>
                                        <p:tgtEl>
                                          <p:spTgt spid="501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1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0179">
                                            <p:txEl>
                                              <p:pRg st="1" end="1"/>
                                            </p:txEl>
                                          </p:spTgt>
                                        </p:tgtEl>
                                        <p:attrNameLst>
                                          <p:attrName>style.visibility</p:attrName>
                                        </p:attrNameLst>
                                      </p:cBhvr>
                                      <p:to>
                                        <p:strVal val="visible"/>
                                      </p:to>
                                    </p:set>
                                    <p:anim calcmode="lin" valueType="num">
                                      <p:cBhvr additive="base">
                                        <p:cTn id="13" dur="500" fill="hold"/>
                                        <p:tgtEl>
                                          <p:spTgt spid="5017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0179">
                                            <p:txEl>
                                              <p:pRg st="1" end="1"/>
                                            </p:txEl>
                                          </p:spTgt>
                                        </p:tgtEl>
                                        <p:attrNameLst>
                                          <p:attrName>ppt_y</p:attrName>
                                        </p:attrNameLst>
                                      </p:cBhvr>
                                      <p:tavLst>
                                        <p:tav tm="0">
                                          <p:val>
                                            <p:strVal val="1+#ppt_h/2"/>
                                          </p:val>
                                        </p:tav>
                                        <p:tav tm="100000">
                                          <p:val>
                                            <p:strVal val="#ppt_y"/>
                                          </p:val>
                                        </p:tav>
                                      </p:tavLst>
                                    </p:anim>
                                  </p:childTnLst>
                                </p:cTn>
                              </p:par>
                              <p:par>
                                <p:cTn id="15" presetID="4" presetClass="entr" presetSubtype="16" fill="hold" nodeType="withEffect">
                                  <p:stCondLst>
                                    <p:cond delay="0"/>
                                  </p:stCondLst>
                                  <p:childTnLst>
                                    <p:set>
                                      <p:cBhvr>
                                        <p:cTn id="16" dur="1" fill="hold">
                                          <p:stCondLst>
                                            <p:cond delay="0"/>
                                          </p:stCondLst>
                                        </p:cTn>
                                        <p:tgtEl>
                                          <p:spTgt spid="50179">
                                            <p:txEl>
                                              <p:pRg st="2" end="2"/>
                                            </p:txEl>
                                          </p:spTgt>
                                        </p:tgtEl>
                                        <p:attrNameLst>
                                          <p:attrName>style.visibility</p:attrName>
                                        </p:attrNameLst>
                                      </p:cBhvr>
                                      <p:to>
                                        <p:strVal val="visible"/>
                                      </p:to>
                                    </p:set>
                                    <p:animEffect transition="in" filter="box(in)">
                                      <p:cBhvr>
                                        <p:cTn id="17" dur="500"/>
                                        <p:tgtEl>
                                          <p:spTgt spid="50179">
                                            <p:txEl>
                                              <p:pRg st="2" end="2"/>
                                            </p:txEl>
                                          </p:spTgt>
                                        </p:tgtEl>
                                      </p:cBhvr>
                                    </p:animEffect>
                                  </p:childTnLst>
                                </p:cTn>
                              </p:par>
                              <p:par>
                                <p:cTn id="18" presetID="4" presetClass="entr" presetSubtype="16" fill="hold" nodeType="withEffect">
                                  <p:stCondLst>
                                    <p:cond delay="0"/>
                                  </p:stCondLst>
                                  <p:childTnLst>
                                    <p:set>
                                      <p:cBhvr>
                                        <p:cTn id="19" dur="1" fill="hold">
                                          <p:stCondLst>
                                            <p:cond delay="0"/>
                                          </p:stCondLst>
                                        </p:cTn>
                                        <p:tgtEl>
                                          <p:spTgt spid="50179">
                                            <p:txEl>
                                              <p:pRg st="4" end="4"/>
                                            </p:txEl>
                                          </p:spTgt>
                                        </p:tgtEl>
                                        <p:attrNameLst>
                                          <p:attrName>style.visibility</p:attrName>
                                        </p:attrNameLst>
                                      </p:cBhvr>
                                      <p:to>
                                        <p:strVal val="visible"/>
                                      </p:to>
                                    </p:set>
                                    <p:animEffect transition="in" filter="box(in)">
                                      <p:cBhvr>
                                        <p:cTn id="20" dur="500"/>
                                        <p:tgtEl>
                                          <p:spTgt spid="50179">
                                            <p:txEl>
                                              <p:pRg st="4" end="4"/>
                                            </p:txEl>
                                          </p:spTgt>
                                        </p:tgtEl>
                                      </p:cBhvr>
                                    </p:animEffect>
                                  </p:childTnLst>
                                </p:cTn>
                              </p:par>
                              <p:par>
                                <p:cTn id="21" presetID="4" presetClass="entr" presetSubtype="16" fill="hold" nodeType="withEffect">
                                  <p:stCondLst>
                                    <p:cond delay="0"/>
                                  </p:stCondLst>
                                  <p:childTnLst>
                                    <p:set>
                                      <p:cBhvr>
                                        <p:cTn id="22" dur="1" fill="hold">
                                          <p:stCondLst>
                                            <p:cond delay="0"/>
                                          </p:stCondLst>
                                        </p:cTn>
                                        <p:tgtEl>
                                          <p:spTgt spid="50179">
                                            <p:txEl>
                                              <p:pRg st="5" end="5"/>
                                            </p:txEl>
                                          </p:spTgt>
                                        </p:tgtEl>
                                        <p:attrNameLst>
                                          <p:attrName>style.visibility</p:attrName>
                                        </p:attrNameLst>
                                      </p:cBhvr>
                                      <p:to>
                                        <p:strVal val="visible"/>
                                      </p:to>
                                    </p:set>
                                    <p:animEffect transition="in" filter="box(in)">
                                      <p:cBhvr>
                                        <p:cTn id="23" dur="500"/>
                                        <p:tgtEl>
                                          <p:spTgt spid="5017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title"/>
          </p:nvPr>
        </p:nvSpPr>
        <p:spPr/>
        <p:txBody>
          <a:bodyPr/>
          <a:lstStyle/>
          <a:p>
            <a:r>
              <a:rPr lang="zh-CN" altLang="en-US" sz="3200" b="1" dirty="0" smtClean="0"/>
              <a:t>属性声明</a:t>
            </a:r>
          </a:p>
        </p:txBody>
      </p:sp>
      <p:sp>
        <p:nvSpPr>
          <p:cNvPr id="162819" name="Rectangle 3"/>
          <p:cNvSpPr>
            <a:spLocks noGrp="1" noChangeArrowheads="1"/>
          </p:cNvSpPr>
          <p:nvPr>
            <p:ph idx="1"/>
          </p:nvPr>
        </p:nvSpPr>
        <p:spPr/>
        <p:txBody>
          <a:bodyPr/>
          <a:lstStyle/>
          <a:p>
            <a:r>
              <a:rPr lang="en-US" altLang="zh-CN" sz="2800" b="1" dirty="0" smtClean="0">
                <a:latin typeface="+mn-ea"/>
              </a:rPr>
              <a:t>&lt;</a:t>
            </a:r>
            <a:r>
              <a:rPr lang="en-US" altLang="zh-CN" sz="2800" b="1" dirty="0" err="1" smtClean="0">
                <a:latin typeface="+mn-ea"/>
              </a:rPr>
              <a:t>AttributeType</a:t>
            </a:r>
            <a:endParaRPr lang="en-US" altLang="zh-CN" sz="2800" b="1" dirty="0" smtClean="0">
              <a:latin typeface="+mn-ea"/>
            </a:endParaRPr>
          </a:p>
          <a:p>
            <a:pPr>
              <a:buFontTx/>
              <a:buNone/>
            </a:pPr>
            <a:r>
              <a:rPr lang="en-US" altLang="zh-CN" sz="2800" b="1" dirty="0" smtClean="0">
                <a:latin typeface="+mn-ea"/>
              </a:rPr>
              <a:t>		name = “</a:t>
            </a:r>
            <a:r>
              <a:rPr lang="zh-CN" altLang="en-US" sz="2800" b="1" dirty="0" smtClean="0">
                <a:latin typeface="+mn-ea"/>
              </a:rPr>
              <a:t>属性名”</a:t>
            </a:r>
          </a:p>
          <a:p>
            <a:pPr>
              <a:buFontTx/>
              <a:buNone/>
            </a:pPr>
            <a:r>
              <a:rPr lang="en-US" altLang="zh-CN" sz="2800" b="1" dirty="0" smtClean="0">
                <a:latin typeface="+mn-ea"/>
              </a:rPr>
              <a:t> 		</a:t>
            </a:r>
            <a:r>
              <a:rPr lang="en-US" altLang="zh-CN" sz="2800" b="1" dirty="0" err="1" smtClean="0">
                <a:latin typeface="+mn-ea"/>
              </a:rPr>
              <a:t>dt:type</a:t>
            </a:r>
            <a:r>
              <a:rPr lang="en-US" altLang="zh-CN" sz="2800" b="1" dirty="0" smtClean="0">
                <a:latin typeface="+mn-ea"/>
              </a:rPr>
              <a:t> = “</a:t>
            </a:r>
            <a:r>
              <a:rPr lang="zh-CN" altLang="en-US" sz="2800" b="1" dirty="0" smtClean="0">
                <a:latin typeface="+mn-ea"/>
              </a:rPr>
              <a:t>属性类型</a:t>
            </a:r>
            <a:r>
              <a:rPr lang="en-US" altLang="zh-CN" sz="2800" b="1" dirty="0" smtClean="0">
                <a:latin typeface="+mn-ea"/>
              </a:rPr>
              <a:t>”</a:t>
            </a:r>
          </a:p>
          <a:p>
            <a:pPr>
              <a:buFontTx/>
              <a:buNone/>
            </a:pPr>
            <a:r>
              <a:rPr lang="en-US" altLang="zh-CN" sz="2800" b="1" dirty="0" smtClean="0">
                <a:latin typeface="+mn-ea"/>
              </a:rPr>
              <a:t>		</a:t>
            </a:r>
            <a:r>
              <a:rPr lang="en-US" altLang="zh-CN" sz="2800" b="1" dirty="0" err="1" smtClean="0">
                <a:latin typeface="+mn-ea"/>
              </a:rPr>
              <a:t>dt:value</a:t>
            </a:r>
            <a:r>
              <a:rPr lang="en-US" altLang="zh-CN" sz="2800" b="1" dirty="0" smtClean="0">
                <a:latin typeface="+mn-ea"/>
              </a:rPr>
              <a:t> = “</a:t>
            </a:r>
            <a:r>
              <a:rPr lang="zh-CN" altLang="en-US" sz="2800" b="1" dirty="0" smtClean="0">
                <a:latin typeface="+mn-ea"/>
              </a:rPr>
              <a:t>枚举值列表”</a:t>
            </a:r>
          </a:p>
          <a:p>
            <a:pPr>
              <a:buFontTx/>
              <a:buNone/>
            </a:pPr>
            <a:r>
              <a:rPr lang="en-US" altLang="zh-CN" sz="2800" b="1" dirty="0" smtClean="0">
                <a:latin typeface="+mn-ea"/>
              </a:rPr>
              <a:t>  		default = “</a:t>
            </a:r>
            <a:r>
              <a:rPr lang="zh-CN" altLang="en-US" sz="2800" b="1" dirty="0" smtClean="0">
                <a:latin typeface="+mn-ea"/>
              </a:rPr>
              <a:t>默认值”</a:t>
            </a:r>
          </a:p>
          <a:p>
            <a:pPr>
              <a:buFontTx/>
              <a:buNone/>
            </a:pPr>
            <a:r>
              <a:rPr lang="en-US" altLang="zh-CN" sz="2800" b="1" dirty="0" smtClean="0">
                <a:latin typeface="+mn-ea"/>
              </a:rPr>
              <a:t>		required = “{</a:t>
            </a:r>
            <a:r>
              <a:rPr lang="en-US" altLang="zh-CN" sz="2800" b="1" dirty="0" err="1" smtClean="0">
                <a:latin typeface="+mn-ea"/>
              </a:rPr>
              <a:t>yes|no</a:t>
            </a:r>
            <a:r>
              <a:rPr lang="en-US" altLang="zh-CN" sz="2800" b="1" dirty="0" smtClean="0">
                <a:latin typeface="+mn-ea"/>
              </a:rPr>
              <a:t>}” /&gt;</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Grp="1" noChangeArrowheads="1"/>
          </p:cNvSpPr>
          <p:nvPr>
            <p:ph idx="1"/>
          </p:nvPr>
        </p:nvSpPr>
        <p:spPr>
          <a:xfrm>
            <a:off x="1857356" y="785795"/>
            <a:ext cx="7000924" cy="5595956"/>
          </a:xfrm>
        </p:spPr>
        <p:txBody>
          <a:bodyPr/>
          <a:lstStyle/>
          <a:p>
            <a:pPr>
              <a:lnSpc>
                <a:spcPct val="80000"/>
              </a:lnSpc>
              <a:defRPr/>
            </a:pPr>
            <a:r>
              <a:rPr lang="zh-CN" altLang="en-US" sz="2800" b="1" dirty="0" smtClean="0">
                <a:latin typeface="+mn-ea"/>
              </a:rPr>
              <a:t>例子 </a:t>
            </a:r>
          </a:p>
          <a:p>
            <a:pPr lvl="1">
              <a:lnSpc>
                <a:spcPct val="80000"/>
              </a:lnSpc>
              <a:defRPr/>
            </a:pPr>
            <a:r>
              <a:rPr lang="en-US" altLang="zh-CN" sz="2400" b="1" dirty="0" smtClean="0">
                <a:latin typeface="+mn-ea"/>
              </a:rPr>
              <a:t>&lt;</a:t>
            </a:r>
            <a:r>
              <a:rPr lang="en-US" altLang="zh-CN" sz="2400" b="1" dirty="0" err="1" smtClean="0">
                <a:latin typeface="+mn-ea"/>
              </a:rPr>
              <a:t>Xsd</a:t>
            </a:r>
            <a:r>
              <a:rPr lang="en-US" altLang="zh-CN" sz="2400" b="1" dirty="0" smtClean="0">
                <a:latin typeface="+mn-ea"/>
              </a:rPr>
              <a:t> : element name = ‘</a:t>
            </a:r>
            <a:r>
              <a:rPr lang="en-US" altLang="zh-CN" sz="2400" b="1" dirty="0" err="1" smtClean="0">
                <a:latin typeface="+mn-ea"/>
              </a:rPr>
              <a:t>DNASample</a:t>
            </a:r>
            <a:r>
              <a:rPr lang="en-US" altLang="zh-CN" sz="2400" b="1" dirty="0" smtClean="0">
                <a:latin typeface="+mn-ea"/>
              </a:rPr>
              <a:t>'&gt; </a:t>
            </a:r>
            <a:br>
              <a:rPr lang="en-US" altLang="zh-CN" sz="2400" b="1" dirty="0" smtClean="0">
                <a:latin typeface="+mn-ea"/>
              </a:rPr>
            </a:br>
            <a:r>
              <a:rPr lang="en-US" altLang="zh-CN" sz="2400" b="1" dirty="0" smtClean="0">
                <a:latin typeface="+mn-ea"/>
              </a:rPr>
              <a:t>    &lt;</a:t>
            </a:r>
            <a:r>
              <a:rPr lang="en-US" altLang="zh-CN" sz="2400" b="1" dirty="0" err="1" smtClean="0">
                <a:latin typeface="+mn-ea"/>
              </a:rPr>
              <a:t>xsd</a:t>
            </a:r>
            <a:r>
              <a:rPr lang="en-US" altLang="zh-CN" sz="2400" b="1" dirty="0" smtClean="0">
                <a:latin typeface="+mn-ea"/>
              </a:rPr>
              <a:t> : </a:t>
            </a:r>
            <a:r>
              <a:rPr lang="en-US" altLang="zh-CN" sz="2400" b="1" dirty="0" err="1" smtClean="0">
                <a:latin typeface="+mn-ea"/>
              </a:rPr>
              <a:t>complexType</a:t>
            </a:r>
            <a:r>
              <a:rPr lang="en-US" altLang="zh-CN" sz="2400" b="1" dirty="0" smtClean="0">
                <a:latin typeface="+mn-ea"/>
              </a:rPr>
              <a:t>&gt; </a:t>
            </a:r>
            <a:br>
              <a:rPr lang="en-US" altLang="zh-CN" sz="2400" b="1" dirty="0" smtClean="0">
                <a:latin typeface="+mn-ea"/>
              </a:rPr>
            </a:br>
            <a:r>
              <a:rPr lang="en-US" altLang="zh-CN" sz="2400" b="1" dirty="0" smtClean="0">
                <a:latin typeface="+mn-ea"/>
              </a:rPr>
              <a:t>    &lt;</a:t>
            </a:r>
            <a:r>
              <a:rPr lang="en-US" altLang="zh-CN" sz="2400" b="1" dirty="0" err="1" smtClean="0">
                <a:latin typeface="+mn-ea"/>
              </a:rPr>
              <a:t>xsd</a:t>
            </a:r>
            <a:r>
              <a:rPr lang="en-US" altLang="zh-CN" sz="2400" b="1" dirty="0" smtClean="0">
                <a:latin typeface="+mn-ea"/>
              </a:rPr>
              <a:t> : sequence&gt; </a:t>
            </a:r>
            <a:br>
              <a:rPr lang="en-US" altLang="zh-CN" sz="2400" b="1" dirty="0" smtClean="0">
                <a:latin typeface="+mn-ea"/>
              </a:rPr>
            </a:br>
            <a:r>
              <a:rPr lang="en-US" altLang="zh-CN" sz="2400" b="1" dirty="0" smtClean="0">
                <a:latin typeface="+mn-ea"/>
              </a:rPr>
              <a:t>    &lt;</a:t>
            </a:r>
            <a:r>
              <a:rPr lang="en-US" altLang="zh-CN" sz="2400" b="1" dirty="0" err="1" smtClean="0">
                <a:latin typeface="+mn-ea"/>
              </a:rPr>
              <a:t>xsd</a:t>
            </a:r>
            <a:r>
              <a:rPr lang="en-US" altLang="zh-CN" sz="2400" b="1" dirty="0" smtClean="0">
                <a:latin typeface="+mn-ea"/>
              </a:rPr>
              <a:t> : element name = ‘sample' type = ‘</a:t>
            </a:r>
            <a:r>
              <a:rPr lang="en-US" altLang="zh-CN" sz="2400" b="1" dirty="0" err="1" smtClean="0">
                <a:latin typeface="+mn-ea"/>
              </a:rPr>
              <a:t>dnaType'minOccurs</a:t>
            </a:r>
            <a:r>
              <a:rPr lang="en-US" altLang="zh-CN" sz="2400" b="1" dirty="0" smtClean="0">
                <a:latin typeface="+mn-ea"/>
              </a:rPr>
              <a:t>='2' </a:t>
            </a:r>
            <a:r>
              <a:rPr lang="en-US" altLang="zh-CN" sz="2400" b="1" dirty="0" err="1" smtClean="0">
                <a:latin typeface="+mn-ea"/>
              </a:rPr>
              <a:t>maxOccurs</a:t>
            </a:r>
            <a:r>
              <a:rPr lang="en-US" altLang="zh-CN" sz="2400" b="1" dirty="0" smtClean="0">
                <a:latin typeface="+mn-ea"/>
              </a:rPr>
              <a:t> = ‘5' /&gt; </a:t>
            </a:r>
            <a:br>
              <a:rPr lang="en-US" altLang="zh-CN" sz="2400" b="1" dirty="0" smtClean="0">
                <a:latin typeface="+mn-ea"/>
              </a:rPr>
            </a:br>
            <a:r>
              <a:rPr lang="en-US" altLang="zh-CN" sz="2400" b="1" dirty="0" smtClean="0">
                <a:latin typeface="+mn-ea"/>
              </a:rPr>
              <a:t>    &lt;/</a:t>
            </a:r>
            <a:r>
              <a:rPr lang="en-US" altLang="zh-CN" sz="2400" b="1" dirty="0" err="1" smtClean="0">
                <a:latin typeface="+mn-ea"/>
              </a:rPr>
              <a:t>xsd</a:t>
            </a:r>
            <a:r>
              <a:rPr lang="en-US" altLang="zh-CN" sz="2400" b="1" dirty="0" smtClean="0">
                <a:latin typeface="+mn-ea"/>
              </a:rPr>
              <a:t> : sequence&gt; </a:t>
            </a:r>
            <a:br>
              <a:rPr lang="en-US" altLang="zh-CN" sz="2400" b="1" dirty="0" smtClean="0">
                <a:latin typeface="+mn-ea"/>
              </a:rPr>
            </a:br>
            <a:r>
              <a:rPr lang="en-US" altLang="zh-CN" sz="2400" b="1" dirty="0" smtClean="0">
                <a:latin typeface="+mn-ea"/>
              </a:rPr>
              <a:t>    &lt;/</a:t>
            </a:r>
            <a:r>
              <a:rPr lang="en-US" altLang="zh-CN" sz="2400" b="1" dirty="0" err="1" smtClean="0">
                <a:latin typeface="+mn-ea"/>
              </a:rPr>
              <a:t>xsd</a:t>
            </a:r>
            <a:r>
              <a:rPr lang="en-US" altLang="zh-CN" sz="2400" b="1" dirty="0" smtClean="0">
                <a:latin typeface="+mn-ea"/>
              </a:rPr>
              <a:t> : </a:t>
            </a:r>
            <a:r>
              <a:rPr lang="en-US" altLang="zh-CN" sz="2400" b="1" dirty="0" err="1" smtClean="0">
                <a:latin typeface="+mn-ea"/>
              </a:rPr>
              <a:t>complexType</a:t>
            </a:r>
            <a:r>
              <a:rPr lang="en-US" altLang="zh-CN" sz="2400" b="1" dirty="0" smtClean="0">
                <a:latin typeface="+mn-ea"/>
              </a:rPr>
              <a:t>&gt; </a:t>
            </a:r>
            <a:br>
              <a:rPr lang="en-US" altLang="zh-CN" sz="2400" b="1" dirty="0" smtClean="0">
                <a:latin typeface="+mn-ea"/>
              </a:rPr>
            </a:br>
            <a:r>
              <a:rPr lang="en-US" altLang="zh-CN" sz="2400" b="1" dirty="0" smtClean="0">
                <a:latin typeface="+mn-ea"/>
              </a:rPr>
              <a:t>    &lt;/</a:t>
            </a:r>
            <a:r>
              <a:rPr lang="en-US" altLang="zh-CN" sz="2400" b="1" dirty="0" err="1" smtClean="0">
                <a:latin typeface="+mn-ea"/>
              </a:rPr>
              <a:t>Xsd</a:t>
            </a:r>
            <a:r>
              <a:rPr lang="en-US" altLang="zh-CN" sz="2400" b="1" dirty="0" smtClean="0">
                <a:latin typeface="+mn-ea"/>
              </a:rPr>
              <a:t> : element&gt; </a:t>
            </a:r>
          </a:p>
          <a:p>
            <a:pPr>
              <a:lnSpc>
                <a:spcPct val="80000"/>
              </a:lnSpc>
              <a:defRPr/>
            </a:pPr>
            <a:r>
              <a:rPr lang="zh-CN" altLang="en-US" sz="2800" b="1" dirty="0" smtClean="0">
                <a:latin typeface="+mn-ea"/>
              </a:rPr>
              <a:t>不合法 </a:t>
            </a:r>
          </a:p>
          <a:p>
            <a:pPr lvl="1">
              <a:lnSpc>
                <a:spcPct val="80000"/>
              </a:lnSpc>
              <a:defRPr/>
            </a:pPr>
            <a:r>
              <a:rPr lang="en-US" altLang="zh-CN" sz="2400" b="1" dirty="0" smtClean="0">
                <a:latin typeface="+mn-ea"/>
              </a:rPr>
              <a:t>&lt;</a:t>
            </a:r>
            <a:r>
              <a:rPr lang="en-US" altLang="zh-CN" sz="2400" b="1" dirty="0" err="1" smtClean="0">
                <a:latin typeface="+mn-ea"/>
              </a:rPr>
              <a:t>DNASample</a:t>
            </a:r>
            <a:r>
              <a:rPr lang="en-US" altLang="zh-CN" sz="2400" b="1" dirty="0" smtClean="0">
                <a:latin typeface="+mn-ea"/>
              </a:rPr>
              <a:t>&gt; </a:t>
            </a:r>
            <a:br>
              <a:rPr lang="en-US" altLang="zh-CN" sz="2400" b="1" dirty="0" smtClean="0">
                <a:latin typeface="+mn-ea"/>
              </a:rPr>
            </a:br>
            <a:r>
              <a:rPr lang="en-US" altLang="zh-CN" sz="2400" b="1" dirty="0" smtClean="0">
                <a:latin typeface="+mn-ea"/>
              </a:rPr>
              <a:t>    &lt;sample&gt;GATCTATC&lt;/sample&gt; </a:t>
            </a:r>
            <a:br>
              <a:rPr lang="en-US" altLang="zh-CN" sz="2400" b="1" dirty="0" smtClean="0">
                <a:latin typeface="+mn-ea"/>
              </a:rPr>
            </a:br>
            <a:r>
              <a:rPr lang="en-US" altLang="zh-CN" sz="2400" b="1" dirty="0" smtClean="0">
                <a:latin typeface="+mn-ea"/>
              </a:rPr>
              <a:t> &lt;/</a:t>
            </a:r>
            <a:r>
              <a:rPr lang="en-US" altLang="zh-CN" sz="2400" b="1" dirty="0" err="1" smtClean="0">
                <a:latin typeface="+mn-ea"/>
              </a:rPr>
              <a:t>DNASample</a:t>
            </a:r>
            <a:r>
              <a:rPr lang="en-US" altLang="zh-CN" sz="2400" b="1" dirty="0" smtClean="0">
                <a:latin typeface="+mn-ea"/>
              </a:rPr>
              <a:t>&gt;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2227">
                                            <p:txEl>
                                              <p:pRg st="1" end="1"/>
                                            </p:txEl>
                                          </p:spTgt>
                                        </p:tgtEl>
                                        <p:attrNameLst>
                                          <p:attrName>style.visibility</p:attrName>
                                        </p:attrNameLst>
                                      </p:cBhvr>
                                      <p:to>
                                        <p:strVal val="visible"/>
                                      </p:to>
                                    </p:set>
                                    <p:animEffect transition="in" filter="blinds(horizontal)">
                                      <p:cBhvr>
                                        <p:cTn id="7" dur="500"/>
                                        <p:tgtEl>
                                          <p:spTgt spid="5222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52227">
                                            <p:txEl>
                                              <p:pRg st="3" end="3"/>
                                            </p:txEl>
                                          </p:spTgt>
                                        </p:tgtEl>
                                        <p:attrNameLst>
                                          <p:attrName>style.visibility</p:attrName>
                                        </p:attrNameLst>
                                      </p:cBhvr>
                                      <p:to>
                                        <p:strVal val="visible"/>
                                      </p:to>
                                    </p:set>
                                    <p:animEffect transition="in" filter="box(in)">
                                      <p:cBhvr>
                                        <p:cTn id="12" dur="500"/>
                                        <p:tgtEl>
                                          <p:spTgt spid="52227">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52227">
                                            <p:txEl>
                                              <p:pRg st="2" end="2"/>
                                            </p:txEl>
                                          </p:spTgt>
                                        </p:tgtEl>
                                        <p:attrNameLst>
                                          <p:attrName>style.visibility</p:attrName>
                                        </p:attrNameLst>
                                      </p:cBhvr>
                                      <p:to>
                                        <p:strVal val="visible"/>
                                      </p:to>
                                    </p:set>
                                    <p:animEffect transition="in" filter="checkerboard(across)">
                                      <p:cBhvr>
                                        <p:cTn id="17" dur="500"/>
                                        <p:tgtEl>
                                          <p:spTgt spid="5222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1928794" y="381000"/>
            <a:ext cx="6300806" cy="887413"/>
          </a:xfrm>
        </p:spPr>
        <p:txBody>
          <a:bodyPr/>
          <a:lstStyle/>
          <a:p>
            <a:r>
              <a:rPr lang="zh-CN" altLang="en-US" sz="3200" b="1" dirty="0" smtClean="0"/>
              <a:t>类型定义</a:t>
            </a:r>
            <a:endParaRPr lang="zh-CN" altLang="en-US" sz="3200" b="1" dirty="0" smtClean="0">
              <a:latin typeface="宋体" charset="-122"/>
            </a:endParaRPr>
          </a:p>
        </p:txBody>
      </p:sp>
      <p:sp>
        <p:nvSpPr>
          <p:cNvPr id="51203" name="Rectangle 3"/>
          <p:cNvSpPr>
            <a:spLocks noGrp="1" noChangeArrowheads="1"/>
          </p:cNvSpPr>
          <p:nvPr>
            <p:ph idx="1"/>
          </p:nvPr>
        </p:nvSpPr>
        <p:spPr>
          <a:xfrm>
            <a:off x="1857356" y="1357313"/>
            <a:ext cx="6786582" cy="5143500"/>
          </a:xfrm>
        </p:spPr>
        <p:txBody>
          <a:bodyPr/>
          <a:lstStyle/>
          <a:p>
            <a:pPr lvl="0"/>
            <a:r>
              <a:rPr lang="zh-CN" altLang="en-US" sz="2800" b="1" dirty="0" smtClean="0"/>
              <a:t>内置数据类型</a:t>
            </a:r>
            <a:endParaRPr lang="en-US" altLang="zh-CN" sz="2800" b="1" dirty="0" smtClean="0"/>
          </a:p>
          <a:p>
            <a:pPr lvl="1"/>
            <a:r>
              <a:rPr lang="zh-CN" altLang="en-US" sz="2400" b="1" dirty="0" smtClean="0"/>
              <a:t>数字、串、时间等预定义的基本数据类型，用于叶元素内容和属性值，还可用作简单类型的基</a:t>
            </a:r>
          </a:p>
          <a:p>
            <a:pPr lvl="0"/>
            <a:r>
              <a:rPr lang="zh-CN" altLang="en-US" sz="2800" b="1" dirty="0" smtClean="0"/>
              <a:t>简单类型</a:t>
            </a:r>
            <a:endParaRPr lang="en-US" altLang="zh-CN" sz="2800" b="1" dirty="0" smtClean="0"/>
          </a:p>
          <a:p>
            <a:pPr lvl="1"/>
            <a:r>
              <a:rPr lang="zh-CN" altLang="en-US" sz="2400" b="1" dirty="0" smtClean="0"/>
              <a:t>对内置数据类型的约束、列表和联合，自定义数据的结构和范围，也用于叶元素内容和属性值</a:t>
            </a:r>
          </a:p>
          <a:p>
            <a:pPr lvl="0"/>
            <a:r>
              <a:rPr lang="zh-CN" altLang="en-US" sz="2800" b="1" dirty="0" smtClean="0"/>
              <a:t>复杂类型</a:t>
            </a:r>
            <a:endParaRPr lang="en-US" altLang="zh-CN" sz="2800" b="1" dirty="0" smtClean="0"/>
          </a:p>
          <a:p>
            <a:pPr lvl="1"/>
            <a:r>
              <a:rPr lang="zh-CN" altLang="en-US" sz="2400" b="1" dirty="0" smtClean="0"/>
              <a:t>定义元素的子元素和属性，确定文档的逻辑结构，只能用于根元素和中间元素</a:t>
            </a:r>
            <a:endParaRPr lang="zh-CN" altLang="en-US" sz="24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1203">
                                            <p:txEl>
                                              <p:pRg st="0" end="0"/>
                                            </p:txEl>
                                          </p:spTgt>
                                        </p:tgtEl>
                                        <p:attrNameLst>
                                          <p:attrName>style.visibility</p:attrName>
                                        </p:attrNameLst>
                                      </p:cBhvr>
                                      <p:to>
                                        <p:strVal val="visible"/>
                                      </p:to>
                                    </p:set>
                                    <p:animEffect transition="in" filter="blinds(horizontal)">
                                      <p:cBhvr>
                                        <p:cTn id="7" dur="500"/>
                                        <p:tgtEl>
                                          <p:spTgt spid="512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1203">
                                            <p:txEl>
                                              <p:pRg st="1" end="1"/>
                                            </p:txEl>
                                          </p:spTgt>
                                        </p:tgtEl>
                                        <p:attrNameLst>
                                          <p:attrName>style.visibility</p:attrName>
                                        </p:attrNameLst>
                                      </p:cBhvr>
                                      <p:to>
                                        <p:strVal val="visible"/>
                                      </p:to>
                                    </p:set>
                                    <p:animEffect transition="in" filter="blinds(horizontal)">
                                      <p:cBhvr>
                                        <p:cTn id="12" dur="500"/>
                                        <p:tgtEl>
                                          <p:spTgt spid="512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1203">
                                            <p:txEl>
                                              <p:pRg st="2" end="2"/>
                                            </p:txEl>
                                          </p:spTgt>
                                        </p:tgtEl>
                                        <p:attrNameLst>
                                          <p:attrName>style.visibility</p:attrName>
                                        </p:attrNameLst>
                                      </p:cBhvr>
                                      <p:to>
                                        <p:strVal val="visible"/>
                                      </p:to>
                                    </p:set>
                                    <p:animEffect transition="in" filter="blinds(horizontal)">
                                      <p:cBhvr>
                                        <p:cTn id="17" dur="500"/>
                                        <p:tgtEl>
                                          <p:spTgt spid="512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1203">
                                            <p:txEl>
                                              <p:pRg st="3" end="3"/>
                                            </p:txEl>
                                          </p:spTgt>
                                        </p:tgtEl>
                                        <p:attrNameLst>
                                          <p:attrName>style.visibility</p:attrName>
                                        </p:attrNameLst>
                                      </p:cBhvr>
                                      <p:to>
                                        <p:strVal val="visible"/>
                                      </p:to>
                                    </p:set>
                                    <p:animEffect transition="in" filter="blinds(horizontal)">
                                      <p:cBhvr>
                                        <p:cTn id="22" dur="500"/>
                                        <p:tgtEl>
                                          <p:spTgt spid="5120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1203">
                                            <p:txEl>
                                              <p:pRg st="4" end="4"/>
                                            </p:txEl>
                                          </p:spTgt>
                                        </p:tgtEl>
                                        <p:attrNameLst>
                                          <p:attrName>style.visibility</p:attrName>
                                        </p:attrNameLst>
                                      </p:cBhvr>
                                      <p:to>
                                        <p:strVal val="visible"/>
                                      </p:to>
                                    </p:set>
                                    <p:animEffect transition="in" filter="blinds(horizontal)">
                                      <p:cBhvr>
                                        <p:cTn id="27" dur="500"/>
                                        <p:tgtEl>
                                          <p:spTgt spid="5120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1203">
                                            <p:txEl>
                                              <p:pRg st="5" end="5"/>
                                            </p:txEl>
                                          </p:spTgt>
                                        </p:tgtEl>
                                        <p:attrNameLst>
                                          <p:attrName>style.visibility</p:attrName>
                                        </p:attrNameLst>
                                      </p:cBhvr>
                                      <p:to>
                                        <p:strVal val="visible"/>
                                      </p:to>
                                    </p:set>
                                    <p:animEffect transition="in" filter="blinds(horizontal)">
                                      <p:cBhvr>
                                        <p:cTn id="32" dur="500"/>
                                        <p:tgtEl>
                                          <p:spTgt spid="5120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457200" y="381000"/>
            <a:ext cx="7772400" cy="744538"/>
          </a:xfrm>
        </p:spPr>
        <p:txBody>
          <a:bodyPr/>
          <a:lstStyle/>
          <a:p>
            <a:pPr>
              <a:defRPr/>
            </a:pPr>
            <a:r>
              <a:rPr lang="en-US" altLang="zh-CN" sz="3200" b="1" dirty="0" smtClean="0">
                <a:latin typeface="+mn-ea"/>
                <a:ea typeface="+mn-ea"/>
              </a:rPr>
              <a:t>Scheme XML </a:t>
            </a:r>
            <a:r>
              <a:rPr lang="zh-CN" altLang="en-US" sz="3200" b="1" dirty="0" smtClean="0">
                <a:latin typeface="+mn-ea"/>
                <a:ea typeface="+mn-ea"/>
              </a:rPr>
              <a:t>的两种类型 </a:t>
            </a:r>
          </a:p>
        </p:txBody>
      </p:sp>
      <p:sp>
        <p:nvSpPr>
          <p:cNvPr id="53251" name="Rectangle 3"/>
          <p:cNvSpPr>
            <a:spLocks noGrp="1" noChangeArrowheads="1"/>
          </p:cNvSpPr>
          <p:nvPr>
            <p:ph idx="1"/>
          </p:nvPr>
        </p:nvSpPr>
        <p:spPr/>
        <p:txBody>
          <a:bodyPr/>
          <a:lstStyle/>
          <a:p>
            <a:pPr>
              <a:defRPr/>
            </a:pPr>
            <a:r>
              <a:rPr lang="zh-CN" altLang="en-US" sz="2800" b="1" dirty="0" smtClean="0">
                <a:latin typeface="+mn-ea"/>
              </a:rPr>
              <a:t>简单类型： </a:t>
            </a:r>
            <a:br>
              <a:rPr lang="zh-CN" altLang="en-US" sz="2800" b="1" dirty="0" smtClean="0">
                <a:latin typeface="+mn-ea"/>
              </a:rPr>
            </a:br>
            <a:r>
              <a:rPr lang="zh-CN" altLang="en-US" sz="2800" b="1" dirty="0" smtClean="0">
                <a:latin typeface="+mn-ea"/>
              </a:rPr>
              <a:t> </a:t>
            </a:r>
            <a:r>
              <a:rPr lang="en-US" altLang="zh-CN" sz="2800" b="1" dirty="0" smtClean="0">
                <a:latin typeface="+mn-ea"/>
              </a:rPr>
              <a:t>	</a:t>
            </a:r>
            <a:r>
              <a:rPr lang="zh-CN" altLang="en-US" sz="2400" b="1" dirty="0" smtClean="0">
                <a:latin typeface="+mn-ea"/>
              </a:rPr>
              <a:t>没有属性和子元素 </a:t>
            </a:r>
            <a:br>
              <a:rPr lang="zh-CN" altLang="en-US" sz="2400" b="1" dirty="0" smtClean="0">
                <a:latin typeface="+mn-ea"/>
              </a:rPr>
            </a:br>
            <a:r>
              <a:rPr lang="zh-CN" altLang="en-US" sz="2400" b="1" dirty="0" smtClean="0">
                <a:latin typeface="+mn-ea"/>
              </a:rPr>
              <a:t>  </a:t>
            </a:r>
            <a:r>
              <a:rPr lang="en-US" altLang="zh-CN" sz="2400" b="1" dirty="0" smtClean="0">
                <a:latin typeface="+mn-ea"/>
              </a:rPr>
              <a:t>	</a:t>
            </a:r>
            <a:r>
              <a:rPr lang="zh-CN" altLang="en-US" sz="2400" b="1" dirty="0" smtClean="0">
                <a:latin typeface="+mn-ea"/>
              </a:rPr>
              <a:t>用来定义其他类型 </a:t>
            </a:r>
            <a:br>
              <a:rPr lang="zh-CN" altLang="en-US" sz="2400" b="1" dirty="0" smtClean="0">
                <a:latin typeface="+mn-ea"/>
              </a:rPr>
            </a:br>
            <a:r>
              <a:rPr lang="zh-CN" altLang="en-US" sz="2400" b="1" dirty="0" smtClean="0">
                <a:latin typeface="+mn-ea"/>
              </a:rPr>
              <a:t>   </a:t>
            </a:r>
            <a:r>
              <a:rPr lang="en-US" altLang="zh-CN" sz="2400" b="1" dirty="0" smtClean="0">
                <a:latin typeface="+mn-ea"/>
              </a:rPr>
              <a:t>	</a:t>
            </a:r>
            <a:r>
              <a:rPr lang="zh-CN" altLang="en-US" sz="2400" b="1" dirty="0" smtClean="0">
                <a:latin typeface="+mn-ea"/>
              </a:rPr>
              <a:t>包含</a:t>
            </a:r>
            <a:r>
              <a:rPr lang="en-US" altLang="zh-CN" sz="2400" b="1" dirty="0" smtClean="0">
                <a:latin typeface="+mn-ea"/>
              </a:rPr>
              <a:t>40</a:t>
            </a:r>
            <a:r>
              <a:rPr lang="zh-CN" altLang="en-US" sz="2400" b="1" dirty="0" smtClean="0">
                <a:latin typeface="+mn-ea"/>
              </a:rPr>
              <a:t>种以上的预定义的简单类型 </a:t>
            </a:r>
          </a:p>
          <a:p>
            <a:pPr>
              <a:defRPr/>
            </a:pPr>
            <a:r>
              <a:rPr lang="zh-CN" altLang="en-US" sz="2800" b="1" dirty="0" smtClean="0">
                <a:latin typeface="+mn-ea"/>
              </a:rPr>
              <a:t>复杂类型： </a:t>
            </a:r>
            <a:br>
              <a:rPr lang="zh-CN" altLang="en-US" sz="2800" b="1" dirty="0" smtClean="0">
                <a:latin typeface="+mn-ea"/>
              </a:rPr>
            </a:br>
            <a:r>
              <a:rPr lang="zh-CN" altLang="en-US" sz="2800" b="1" dirty="0" smtClean="0">
                <a:latin typeface="+mn-ea"/>
              </a:rPr>
              <a:t>   </a:t>
            </a:r>
            <a:r>
              <a:rPr lang="en-US" altLang="zh-CN" sz="2800" b="1" dirty="0" smtClean="0">
                <a:latin typeface="+mn-ea"/>
              </a:rPr>
              <a:t>	</a:t>
            </a:r>
            <a:r>
              <a:rPr lang="zh-CN" altLang="en-US" sz="2400" b="1" dirty="0" smtClean="0">
                <a:latin typeface="+mn-ea"/>
              </a:rPr>
              <a:t>可以存在多个属性 </a:t>
            </a:r>
            <a:br>
              <a:rPr lang="zh-CN" altLang="en-US" sz="2400" b="1" dirty="0" smtClean="0">
                <a:latin typeface="+mn-ea"/>
              </a:rPr>
            </a:br>
            <a:r>
              <a:rPr lang="zh-CN" altLang="en-US" sz="2400" b="1" dirty="0" smtClean="0">
                <a:latin typeface="+mn-ea"/>
              </a:rPr>
              <a:t>   </a:t>
            </a:r>
            <a:r>
              <a:rPr lang="en-US" altLang="zh-CN" sz="2400" b="1" dirty="0" smtClean="0">
                <a:latin typeface="+mn-ea"/>
              </a:rPr>
              <a:t>	</a:t>
            </a:r>
            <a:r>
              <a:rPr lang="zh-CN" altLang="en-US" sz="2400" b="1" dirty="0" smtClean="0">
                <a:latin typeface="+mn-ea"/>
              </a:rPr>
              <a:t>可以用在其他复杂类型的定义中 </a:t>
            </a:r>
            <a:br>
              <a:rPr lang="zh-CN" altLang="en-US" sz="2400" b="1" dirty="0" smtClean="0">
                <a:latin typeface="+mn-ea"/>
              </a:rPr>
            </a:br>
            <a:r>
              <a:rPr lang="zh-CN" altLang="en-US" sz="2400" b="1" dirty="0" smtClean="0">
                <a:latin typeface="+mn-ea"/>
              </a:rPr>
              <a:t>   </a:t>
            </a:r>
            <a:r>
              <a:rPr lang="en-US" altLang="zh-CN" sz="2400" b="1" dirty="0" smtClean="0">
                <a:latin typeface="+mn-ea"/>
              </a:rPr>
              <a:t>	</a:t>
            </a:r>
            <a:r>
              <a:rPr lang="zh-CN" altLang="en-US" sz="2400" b="1" dirty="0" smtClean="0">
                <a:latin typeface="+mn-ea"/>
              </a:rPr>
              <a:t>不能用来定义简单类型 </a:t>
            </a:r>
            <a:br>
              <a:rPr lang="zh-CN" altLang="en-US" sz="2400" b="1" dirty="0" smtClean="0">
                <a:latin typeface="+mn-ea"/>
              </a:rPr>
            </a:br>
            <a:r>
              <a:rPr lang="zh-CN" altLang="en-US" sz="2400" b="1" dirty="0" smtClean="0">
                <a:latin typeface="+mn-ea"/>
              </a:rPr>
              <a:t>   </a:t>
            </a:r>
            <a:r>
              <a:rPr lang="en-US" altLang="zh-CN" sz="2400" b="1" dirty="0" smtClean="0">
                <a:latin typeface="+mn-ea"/>
              </a:rPr>
              <a:t>	</a:t>
            </a:r>
            <a:r>
              <a:rPr lang="zh-CN" altLang="en-US" sz="2400" b="1" dirty="0" smtClean="0">
                <a:latin typeface="+mn-ea"/>
              </a:rPr>
              <a:t>可以有子元素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3251">
                                            <p:txEl>
                                              <p:pRg st="0" end="0"/>
                                            </p:txEl>
                                          </p:spTgt>
                                        </p:tgtEl>
                                        <p:attrNameLst>
                                          <p:attrName>style.visibility</p:attrName>
                                        </p:attrNameLst>
                                      </p:cBhvr>
                                      <p:to>
                                        <p:strVal val="visible"/>
                                      </p:to>
                                    </p:set>
                                    <p:anim calcmode="lin" valueType="num">
                                      <p:cBhvr additive="base">
                                        <p:cTn id="7" dur="500" fill="hold"/>
                                        <p:tgtEl>
                                          <p:spTgt spid="532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32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3251">
                                            <p:txEl>
                                              <p:pRg st="1" end="1"/>
                                            </p:txEl>
                                          </p:spTgt>
                                        </p:tgtEl>
                                        <p:attrNameLst>
                                          <p:attrName>style.visibility</p:attrName>
                                        </p:attrNameLst>
                                      </p:cBhvr>
                                      <p:to>
                                        <p:strVal val="visible"/>
                                      </p:to>
                                    </p:set>
                                    <p:anim calcmode="lin" valueType="num">
                                      <p:cBhvr additive="base">
                                        <p:cTn id="13" dur="500" fill="hold"/>
                                        <p:tgtEl>
                                          <p:spTgt spid="5325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3251">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1928794" y="381000"/>
            <a:ext cx="6300806" cy="815975"/>
          </a:xfrm>
        </p:spPr>
        <p:txBody>
          <a:bodyPr/>
          <a:lstStyle/>
          <a:p>
            <a:pPr>
              <a:defRPr/>
            </a:pPr>
            <a:r>
              <a:rPr lang="zh-CN" altLang="en-US" sz="3200" b="1" dirty="0" smtClean="0"/>
              <a:t>内置基本类型</a:t>
            </a:r>
            <a:endParaRPr lang="zh-CN" altLang="en-US" sz="3200" b="1" dirty="0" smtClean="0">
              <a:latin typeface="+mn-ea"/>
              <a:ea typeface="+mn-ea"/>
            </a:endParaRPr>
          </a:p>
        </p:txBody>
      </p:sp>
      <p:sp>
        <p:nvSpPr>
          <p:cNvPr id="55299" name="Rectangle 3"/>
          <p:cNvSpPr>
            <a:spLocks noGrp="1" noChangeArrowheads="1"/>
          </p:cNvSpPr>
          <p:nvPr>
            <p:ph idx="1"/>
          </p:nvPr>
        </p:nvSpPr>
        <p:spPr>
          <a:xfrm>
            <a:off x="1857356" y="1557338"/>
            <a:ext cx="7000924" cy="4943496"/>
          </a:xfrm>
        </p:spPr>
        <p:txBody>
          <a:bodyPr>
            <a:normAutofit/>
          </a:bodyPr>
          <a:lstStyle/>
          <a:p>
            <a:pPr lvl="0"/>
            <a:r>
              <a:rPr lang="zh-CN" altLang="en-US" sz="2400" b="1" dirty="0" smtClean="0">
                <a:latin typeface="+mn-ea"/>
              </a:rPr>
              <a:t>数字：</a:t>
            </a:r>
            <a:r>
              <a:rPr lang="en-US" sz="2400" b="1" dirty="0" smtClean="0">
                <a:latin typeface="+mn-ea"/>
              </a:rPr>
              <a:t>decimal</a:t>
            </a:r>
            <a:r>
              <a:rPr lang="zh-CN" altLang="en-US" sz="2400" b="1" dirty="0" smtClean="0">
                <a:latin typeface="+mn-ea"/>
              </a:rPr>
              <a:t>（十进制数）、</a:t>
            </a:r>
            <a:r>
              <a:rPr lang="en-US" sz="2400" b="1" dirty="0" smtClean="0">
                <a:latin typeface="+mn-ea"/>
              </a:rPr>
              <a:t>float</a:t>
            </a:r>
            <a:r>
              <a:rPr lang="zh-CN" altLang="en-US" sz="2400" b="1" dirty="0" smtClean="0">
                <a:latin typeface="+mn-ea"/>
              </a:rPr>
              <a:t>（浮点数）、</a:t>
            </a:r>
            <a:r>
              <a:rPr lang="en-US" sz="2400" b="1" dirty="0" smtClean="0">
                <a:latin typeface="+mn-ea"/>
              </a:rPr>
              <a:t>double</a:t>
            </a:r>
            <a:r>
              <a:rPr lang="zh-CN" altLang="en-US" sz="2400" b="1" dirty="0" smtClean="0">
                <a:latin typeface="+mn-ea"/>
              </a:rPr>
              <a:t>（双精度数）、</a:t>
            </a:r>
            <a:r>
              <a:rPr lang="en-US" sz="2400" b="1" dirty="0" err="1" smtClean="0">
                <a:latin typeface="+mn-ea"/>
              </a:rPr>
              <a:t>hexBinary</a:t>
            </a:r>
            <a:r>
              <a:rPr lang="zh-CN" altLang="en-US" sz="2400" b="1" dirty="0" smtClean="0">
                <a:latin typeface="+mn-ea"/>
              </a:rPr>
              <a:t>（十六进制数）、</a:t>
            </a:r>
            <a:r>
              <a:rPr lang="en-US" sz="2400" b="1" dirty="0" smtClean="0">
                <a:latin typeface="+mn-ea"/>
              </a:rPr>
              <a:t>base64Binary</a:t>
            </a:r>
            <a:r>
              <a:rPr lang="zh-CN" altLang="en-US" sz="2400" b="1" dirty="0" smtClean="0">
                <a:latin typeface="+mn-ea"/>
              </a:rPr>
              <a:t>（基</a:t>
            </a:r>
            <a:r>
              <a:rPr lang="en-US" sz="2400" b="1" dirty="0" smtClean="0">
                <a:latin typeface="+mn-ea"/>
              </a:rPr>
              <a:t>64</a:t>
            </a:r>
            <a:r>
              <a:rPr lang="zh-CN" altLang="en-US" sz="2400" b="1" dirty="0" smtClean="0">
                <a:latin typeface="+mn-ea"/>
              </a:rPr>
              <a:t>数）</a:t>
            </a:r>
            <a:endParaRPr lang="en-US" altLang="zh-CN" sz="2400" b="1" dirty="0" smtClean="0">
              <a:latin typeface="+mn-ea"/>
            </a:endParaRPr>
          </a:p>
          <a:p>
            <a:pPr lvl="0"/>
            <a:endParaRPr lang="zh-CN" altLang="en-US" sz="2400" b="1" dirty="0" smtClean="0">
              <a:latin typeface="+mn-ea"/>
            </a:endParaRPr>
          </a:p>
          <a:p>
            <a:r>
              <a:rPr lang="zh-CN" altLang="en-US" sz="2400" b="1" dirty="0" smtClean="0">
                <a:latin typeface="+mn-ea"/>
              </a:rPr>
              <a:t>时间：</a:t>
            </a:r>
            <a:r>
              <a:rPr lang="en-US" sz="2400" b="1" dirty="0" smtClean="0">
                <a:latin typeface="+mn-ea"/>
              </a:rPr>
              <a:t>duration</a:t>
            </a:r>
            <a:r>
              <a:rPr lang="zh-CN" altLang="en-US" sz="2400" b="1" dirty="0" smtClean="0">
                <a:latin typeface="+mn-ea"/>
              </a:rPr>
              <a:t>（期间）、</a:t>
            </a:r>
            <a:r>
              <a:rPr lang="en-US" sz="2400" b="1" dirty="0" err="1" smtClean="0">
                <a:latin typeface="+mn-ea"/>
              </a:rPr>
              <a:t>dateTime</a:t>
            </a:r>
            <a:r>
              <a:rPr lang="zh-CN" altLang="en-US" sz="2400" b="1" dirty="0" smtClean="0">
                <a:latin typeface="+mn-ea"/>
              </a:rPr>
              <a:t>（日期与时间）、</a:t>
            </a:r>
            <a:r>
              <a:rPr lang="en-US" sz="2400" b="1" dirty="0" smtClean="0">
                <a:latin typeface="+mn-ea"/>
              </a:rPr>
              <a:t>time</a:t>
            </a:r>
            <a:r>
              <a:rPr lang="zh-CN" altLang="en-US" sz="2400" b="1" dirty="0" smtClean="0">
                <a:latin typeface="+mn-ea"/>
              </a:rPr>
              <a:t>（时间）、</a:t>
            </a:r>
            <a:r>
              <a:rPr lang="en-US" sz="2400" b="1" dirty="0" smtClean="0">
                <a:latin typeface="+mn-ea"/>
              </a:rPr>
              <a:t>date</a:t>
            </a:r>
            <a:r>
              <a:rPr lang="zh-CN" altLang="en-US" sz="2400" b="1" dirty="0" smtClean="0">
                <a:latin typeface="+mn-ea"/>
              </a:rPr>
              <a:t>（日期）、</a:t>
            </a:r>
            <a:r>
              <a:rPr lang="en-US" sz="2400" b="1" dirty="0" err="1" smtClean="0">
                <a:latin typeface="+mn-ea"/>
              </a:rPr>
              <a:t>gYearMonth</a:t>
            </a:r>
            <a:r>
              <a:rPr lang="zh-CN" altLang="en-US" sz="2400" b="1" dirty="0" smtClean="0">
                <a:latin typeface="+mn-ea"/>
              </a:rPr>
              <a:t>（年月）、</a:t>
            </a:r>
            <a:r>
              <a:rPr lang="en-US" sz="2400" b="1" dirty="0" err="1" smtClean="0">
                <a:latin typeface="+mn-ea"/>
              </a:rPr>
              <a:t>gYear</a:t>
            </a:r>
            <a:r>
              <a:rPr lang="zh-CN" altLang="en-US" sz="2400" b="1" dirty="0" smtClean="0">
                <a:latin typeface="+mn-ea"/>
              </a:rPr>
              <a:t>（年）、</a:t>
            </a:r>
            <a:r>
              <a:rPr lang="en-US" sz="2400" b="1" dirty="0" err="1" smtClean="0">
                <a:latin typeface="+mn-ea"/>
              </a:rPr>
              <a:t>gMonth</a:t>
            </a:r>
            <a:r>
              <a:rPr lang="zh-CN" altLang="en-US" sz="2400" b="1" dirty="0" smtClean="0">
                <a:latin typeface="+mn-ea"/>
              </a:rPr>
              <a:t>（月）、</a:t>
            </a:r>
            <a:r>
              <a:rPr lang="en-US" sz="2400" b="1" dirty="0" err="1" smtClean="0">
                <a:latin typeface="+mn-ea"/>
              </a:rPr>
              <a:t>gMonthDay</a:t>
            </a:r>
            <a:r>
              <a:rPr lang="zh-CN" altLang="en-US" sz="2400" b="1" dirty="0" smtClean="0">
                <a:latin typeface="+mn-ea"/>
              </a:rPr>
              <a:t>（月日）、</a:t>
            </a:r>
            <a:r>
              <a:rPr lang="en-US" sz="2400" b="1" dirty="0" err="1" smtClean="0">
                <a:latin typeface="+mn-ea"/>
              </a:rPr>
              <a:t>gDay</a:t>
            </a:r>
            <a:r>
              <a:rPr lang="zh-CN" altLang="en-US" sz="2400" b="1" dirty="0" smtClean="0">
                <a:latin typeface="+mn-ea"/>
              </a:rPr>
              <a:t>（日）</a:t>
            </a:r>
            <a:endParaRPr lang="en-US" altLang="zh-CN" sz="2400" b="1" dirty="0" smtClean="0">
              <a:latin typeface="+mn-ea"/>
            </a:endParaRPr>
          </a:p>
          <a:p>
            <a:endParaRPr lang="zh-CN" altLang="en-US" sz="2400" b="1" dirty="0" smtClean="0">
              <a:latin typeface="+mn-ea"/>
            </a:endParaRPr>
          </a:p>
          <a:p>
            <a:r>
              <a:rPr lang="zh-CN" altLang="en-US" sz="2400" b="1" dirty="0" smtClean="0">
                <a:latin typeface="+mn-ea"/>
              </a:rPr>
              <a:t>其他：</a:t>
            </a:r>
            <a:r>
              <a:rPr lang="en-US" sz="2400" b="1" dirty="0" smtClean="0">
                <a:latin typeface="+mn-ea"/>
              </a:rPr>
              <a:t>string</a:t>
            </a:r>
            <a:r>
              <a:rPr lang="zh-CN" altLang="en-US" sz="2400" b="1" dirty="0" smtClean="0">
                <a:latin typeface="+mn-ea"/>
              </a:rPr>
              <a:t>（串）、</a:t>
            </a:r>
            <a:r>
              <a:rPr lang="en-US" sz="2400" b="1" dirty="0" err="1" smtClean="0">
                <a:latin typeface="+mn-ea"/>
              </a:rPr>
              <a:t>boolean</a:t>
            </a:r>
            <a:r>
              <a:rPr lang="zh-CN" altLang="en-US" sz="2400" b="1" dirty="0" smtClean="0">
                <a:latin typeface="+mn-ea"/>
              </a:rPr>
              <a:t>（布尔）、</a:t>
            </a:r>
            <a:r>
              <a:rPr lang="en-US" sz="2400" b="1" dirty="0" err="1" smtClean="0">
                <a:latin typeface="+mn-ea"/>
              </a:rPr>
              <a:t>anyURI</a:t>
            </a:r>
            <a:r>
              <a:rPr lang="zh-CN" altLang="en-US" sz="2400" b="1" dirty="0" smtClean="0">
                <a:latin typeface="+mn-ea"/>
              </a:rPr>
              <a:t>（任意统一资源标识符）、</a:t>
            </a:r>
            <a:r>
              <a:rPr lang="en-US" sz="2400" b="1" dirty="0" err="1" smtClean="0">
                <a:latin typeface="+mn-ea"/>
              </a:rPr>
              <a:t>QName</a:t>
            </a:r>
            <a:r>
              <a:rPr lang="zh-CN" altLang="en-US" sz="2400" b="1" dirty="0" smtClean="0">
                <a:latin typeface="+mn-ea"/>
              </a:rPr>
              <a:t>（限定名</a:t>
            </a:r>
            <a:r>
              <a:rPr lang="en-US" sz="2400" b="1" dirty="0" smtClean="0">
                <a:latin typeface="+mn-ea"/>
              </a:rPr>
              <a:t>qualified name</a:t>
            </a:r>
            <a:r>
              <a:rPr lang="zh-CN" altLang="en-US" sz="2400" b="1" dirty="0" smtClean="0">
                <a:latin typeface="+mn-ea"/>
              </a:rPr>
              <a:t>）、</a:t>
            </a:r>
            <a:r>
              <a:rPr lang="en-US" sz="2400" b="1" dirty="0" smtClean="0">
                <a:latin typeface="+mn-ea"/>
              </a:rPr>
              <a:t>NOTATION</a:t>
            </a:r>
            <a:r>
              <a:rPr lang="zh-CN" altLang="en-US" sz="2400" b="1" dirty="0" smtClean="0">
                <a:latin typeface="+mn-ea"/>
              </a:rPr>
              <a:t>（符号）</a:t>
            </a:r>
            <a:endParaRPr lang="zh-CN" altLang="en-US" sz="2400" b="1"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anim calcmode="lin" valueType="num">
                                      <p:cBhvr additive="base">
                                        <p:cTn id="7" dur="500" fill="hold"/>
                                        <p:tgtEl>
                                          <p:spTgt spid="552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52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5299">
                                            <p:txEl>
                                              <p:pRg st="2" end="2"/>
                                            </p:txEl>
                                          </p:spTgt>
                                        </p:tgtEl>
                                        <p:attrNameLst>
                                          <p:attrName>style.visibility</p:attrName>
                                        </p:attrNameLst>
                                      </p:cBhvr>
                                      <p:to>
                                        <p:strVal val="visible"/>
                                      </p:to>
                                    </p:set>
                                    <p:anim calcmode="lin" valueType="num">
                                      <p:cBhvr additive="base">
                                        <p:cTn id="13" dur="500" fill="hold"/>
                                        <p:tgtEl>
                                          <p:spTgt spid="5529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529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5299">
                                            <p:txEl>
                                              <p:pRg st="4" end="4"/>
                                            </p:txEl>
                                          </p:spTgt>
                                        </p:tgtEl>
                                        <p:attrNameLst>
                                          <p:attrName>style.visibility</p:attrName>
                                        </p:attrNameLst>
                                      </p:cBhvr>
                                      <p:to>
                                        <p:strVal val="visible"/>
                                      </p:to>
                                    </p:set>
                                    <p:anim calcmode="lin" valueType="num">
                                      <p:cBhvr additive="base">
                                        <p:cTn id="19" dur="500" fill="hold"/>
                                        <p:tgtEl>
                                          <p:spTgt spid="55299">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529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785918" y="142860"/>
            <a:ext cx="6900862" cy="1143000"/>
          </a:xfrm>
        </p:spPr>
        <p:txBody>
          <a:bodyPr/>
          <a:lstStyle/>
          <a:p>
            <a:pPr>
              <a:defRPr/>
            </a:pPr>
            <a:r>
              <a:rPr lang="zh-CN" altLang="en-US" sz="3200" b="1" dirty="0" smtClean="0">
                <a:latin typeface="+mj-ea"/>
              </a:rPr>
              <a:t>有效性验证</a:t>
            </a:r>
          </a:p>
        </p:txBody>
      </p:sp>
      <p:sp>
        <p:nvSpPr>
          <p:cNvPr id="63491" name="Rectangle 4"/>
          <p:cNvSpPr>
            <a:spLocks noChangeArrowheads="1"/>
          </p:cNvSpPr>
          <p:nvPr/>
        </p:nvSpPr>
        <p:spPr bwMode="auto">
          <a:xfrm>
            <a:off x="2071670" y="1500174"/>
            <a:ext cx="6786610" cy="4807470"/>
          </a:xfrm>
          <a:prstGeom prst="rect">
            <a:avLst/>
          </a:prstGeom>
          <a:noFill/>
          <a:ln w="9525">
            <a:noFill/>
            <a:miter lim="800000"/>
            <a:headEnd/>
            <a:tailEnd/>
          </a:ln>
        </p:spPr>
        <p:txBody>
          <a:bodyPr wrap="square">
            <a:spAutoFit/>
          </a:bodyPr>
          <a:lstStyle/>
          <a:p>
            <a:pPr eaLnBrk="1" hangingPunct="1">
              <a:lnSpc>
                <a:spcPct val="90000"/>
              </a:lnSpc>
              <a:spcBef>
                <a:spcPct val="50000"/>
              </a:spcBef>
              <a:buClr>
                <a:srgbClr val="A50021"/>
              </a:buClr>
              <a:buSzPct val="75000"/>
              <a:buFont typeface="Wingdings" pitchFamily="2" charset="2"/>
              <a:buNone/>
            </a:pPr>
            <a:r>
              <a:rPr kumimoji="1" lang="en-US" altLang="zh-CN" sz="2800" b="1" dirty="0">
                <a:latin typeface="+mn-ea"/>
              </a:rPr>
              <a:t>(1) </a:t>
            </a:r>
            <a:r>
              <a:rPr kumimoji="1" lang="zh-CN" altLang="en-US" sz="2800" b="1" dirty="0">
                <a:latin typeface="+mn-ea"/>
              </a:rPr>
              <a:t>解析器构造</a:t>
            </a:r>
            <a:r>
              <a:rPr kumimoji="1" lang="en-US" altLang="zh-CN" sz="2800" b="1" dirty="0">
                <a:latin typeface="+mn-ea"/>
                <a:cs typeface="Times New Roman" pitchFamily="18" charset="0"/>
              </a:rPr>
              <a:t>XML</a:t>
            </a:r>
            <a:r>
              <a:rPr kumimoji="1" lang="zh-CN" altLang="en-US" sz="2800" b="1" dirty="0">
                <a:latin typeface="+mn-ea"/>
              </a:rPr>
              <a:t>文档，判断文档是否格式良好</a:t>
            </a:r>
          </a:p>
          <a:p>
            <a:pPr eaLnBrk="1" hangingPunct="1">
              <a:lnSpc>
                <a:spcPct val="90000"/>
              </a:lnSpc>
              <a:spcBef>
                <a:spcPct val="50000"/>
              </a:spcBef>
              <a:buClr>
                <a:srgbClr val="A50021"/>
              </a:buClr>
              <a:buSzPct val="75000"/>
              <a:buFont typeface="Wingdings" pitchFamily="2" charset="2"/>
              <a:buNone/>
            </a:pPr>
            <a:r>
              <a:rPr kumimoji="1" lang="en-US" altLang="zh-CN" sz="2800" b="1" dirty="0">
                <a:latin typeface="+mn-ea"/>
              </a:rPr>
              <a:t>(2)</a:t>
            </a:r>
            <a:r>
              <a:rPr kumimoji="1" lang="zh-CN" altLang="en-US" sz="2800" b="1" dirty="0">
                <a:latin typeface="+mn-ea"/>
              </a:rPr>
              <a:t>验证文档信息项</a:t>
            </a:r>
            <a:r>
              <a:rPr kumimoji="1" lang="en-US" altLang="zh-CN" sz="2800" b="1" dirty="0">
                <a:latin typeface="+mn-ea"/>
                <a:cs typeface="Times New Roman" pitchFamily="18" charset="0"/>
              </a:rPr>
              <a:t>(</a:t>
            </a:r>
            <a:r>
              <a:rPr kumimoji="1" lang="zh-CN" altLang="en-US" sz="2800" b="1" dirty="0">
                <a:latin typeface="+mn-ea"/>
              </a:rPr>
              <a:t>例如一个元素</a:t>
            </a:r>
            <a:r>
              <a:rPr kumimoji="1" lang="en-US" altLang="zh-CN" sz="2800" b="1" dirty="0">
                <a:latin typeface="+mn-ea"/>
                <a:cs typeface="Times New Roman" pitchFamily="18" charset="0"/>
              </a:rPr>
              <a:t>)</a:t>
            </a:r>
          </a:p>
          <a:p>
            <a:pPr lvl="1" eaLnBrk="1" hangingPunct="1">
              <a:lnSpc>
                <a:spcPct val="90000"/>
              </a:lnSpc>
              <a:spcBef>
                <a:spcPct val="50000"/>
              </a:spcBef>
              <a:buClr>
                <a:schemeClr val="accent2"/>
              </a:buClr>
              <a:buSzPct val="75000"/>
              <a:buFont typeface="Wingdings" pitchFamily="2" charset="2"/>
              <a:buChar char="u"/>
            </a:pPr>
            <a:r>
              <a:rPr kumimoji="1" lang="zh-CN" altLang="en-US" sz="2400" b="1" dirty="0">
                <a:latin typeface="+mn-ea"/>
              </a:rPr>
              <a:t>根据元素的名域</a:t>
            </a:r>
            <a:r>
              <a:rPr kumimoji="1" lang="en-US" altLang="zh-CN" sz="2400" b="1" dirty="0">
                <a:latin typeface="+mn-ea"/>
                <a:cs typeface="Times New Roman" pitchFamily="18" charset="0"/>
              </a:rPr>
              <a:t>URI </a:t>
            </a:r>
            <a:r>
              <a:rPr kumimoji="1" lang="zh-CN" altLang="en-US" sz="2400" b="1" dirty="0">
                <a:latin typeface="+mn-ea"/>
              </a:rPr>
              <a:t>，获取</a:t>
            </a:r>
            <a:r>
              <a:rPr kumimoji="1" lang="en-US" altLang="zh-CN" sz="2400" b="1" dirty="0">
                <a:latin typeface="+mn-ea"/>
                <a:cs typeface="Times New Roman" pitchFamily="18" charset="0"/>
              </a:rPr>
              <a:t>Schema</a:t>
            </a:r>
            <a:endParaRPr kumimoji="1" lang="en-US" altLang="zh-CN" sz="2400" b="1" dirty="0">
              <a:latin typeface="+mn-ea"/>
            </a:endParaRPr>
          </a:p>
          <a:p>
            <a:pPr lvl="1" eaLnBrk="1" hangingPunct="1">
              <a:lnSpc>
                <a:spcPct val="90000"/>
              </a:lnSpc>
              <a:spcBef>
                <a:spcPct val="50000"/>
              </a:spcBef>
              <a:buClr>
                <a:schemeClr val="accent2"/>
              </a:buClr>
              <a:buSzPct val="75000"/>
              <a:buFont typeface="Wingdings" pitchFamily="2" charset="2"/>
              <a:buChar char="u"/>
            </a:pPr>
            <a:r>
              <a:rPr kumimoji="1" lang="zh-CN" altLang="en-US" sz="2400" b="1" dirty="0">
                <a:latin typeface="+mn-ea"/>
              </a:rPr>
              <a:t>将文档信息项关连到相应</a:t>
            </a:r>
            <a:r>
              <a:rPr kumimoji="1" lang="en-US" altLang="zh-CN" sz="2400" b="1" dirty="0">
                <a:latin typeface="+mn-ea"/>
                <a:cs typeface="Times New Roman" pitchFamily="18" charset="0"/>
              </a:rPr>
              <a:t>Schema </a:t>
            </a:r>
            <a:r>
              <a:rPr kumimoji="1" lang="en-US" altLang="zh-CN" sz="2400" b="1" dirty="0" smtClean="0">
                <a:latin typeface="+mn-ea"/>
                <a:cs typeface="Times New Roman" pitchFamily="18" charset="0"/>
              </a:rPr>
              <a:t>Component</a:t>
            </a:r>
            <a:r>
              <a:rPr kumimoji="1" lang="zh-CN" altLang="en-US" sz="2400" b="1" dirty="0" smtClean="0">
                <a:latin typeface="+mn-ea"/>
              </a:rPr>
              <a:t>（</a:t>
            </a:r>
            <a:r>
              <a:rPr kumimoji="1" lang="zh-CN" altLang="en-US" sz="2400" b="1" dirty="0">
                <a:latin typeface="+mn-ea"/>
              </a:rPr>
              <a:t>如元素声明）</a:t>
            </a:r>
          </a:p>
          <a:p>
            <a:pPr lvl="1" eaLnBrk="1" hangingPunct="1">
              <a:lnSpc>
                <a:spcPct val="90000"/>
              </a:lnSpc>
              <a:spcBef>
                <a:spcPct val="50000"/>
              </a:spcBef>
              <a:buClr>
                <a:schemeClr val="accent2"/>
              </a:buClr>
              <a:buSzPct val="75000"/>
              <a:buFont typeface="Wingdings" pitchFamily="2" charset="2"/>
              <a:buChar char="u"/>
            </a:pPr>
            <a:r>
              <a:rPr kumimoji="1" lang="zh-CN" altLang="en-US" sz="2400" b="1" dirty="0">
                <a:latin typeface="+mn-ea"/>
              </a:rPr>
              <a:t>判断</a:t>
            </a:r>
            <a:r>
              <a:rPr kumimoji="1" lang="en-US" altLang="zh-CN" sz="2400" b="1" dirty="0">
                <a:latin typeface="+mn-ea"/>
                <a:cs typeface="Times New Roman" pitchFamily="18" charset="0"/>
              </a:rPr>
              <a:t>Schema Component</a:t>
            </a:r>
            <a:r>
              <a:rPr kumimoji="1" lang="zh-CN" altLang="en-US" sz="2400" b="1" dirty="0">
                <a:latin typeface="+mn-ea"/>
              </a:rPr>
              <a:t>是否有效</a:t>
            </a:r>
          </a:p>
          <a:p>
            <a:pPr lvl="1" eaLnBrk="1" hangingPunct="1">
              <a:lnSpc>
                <a:spcPct val="90000"/>
              </a:lnSpc>
              <a:spcBef>
                <a:spcPct val="50000"/>
              </a:spcBef>
              <a:buClr>
                <a:schemeClr val="accent2"/>
              </a:buClr>
              <a:buSzPct val="75000"/>
              <a:buFont typeface="Wingdings" pitchFamily="2" charset="2"/>
              <a:buChar char="u"/>
            </a:pPr>
            <a:r>
              <a:rPr kumimoji="1" lang="zh-CN" altLang="en-US" sz="2400" b="1" dirty="0">
                <a:latin typeface="+mn-ea"/>
              </a:rPr>
              <a:t>判断</a:t>
            </a:r>
            <a:r>
              <a:rPr kumimoji="1" lang="en-US" altLang="zh-CN" sz="2400" b="1" dirty="0">
                <a:latin typeface="+mn-ea"/>
                <a:cs typeface="Times New Roman" pitchFamily="18" charset="0"/>
              </a:rPr>
              <a:t>Information Item</a:t>
            </a:r>
            <a:r>
              <a:rPr kumimoji="1" lang="zh-CN" altLang="en-US" sz="2400" b="1" dirty="0">
                <a:latin typeface="+mn-ea"/>
              </a:rPr>
              <a:t>是否符合</a:t>
            </a:r>
            <a:r>
              <a:rPr kumimoji="1" lang="en-US" altLang="zh-CN" sz="2400" b="1" dirty="0">
                <a:latin typeface="+mn-ea"/>
                <a:cs typeface="Times New Roman" pitchFamily="18" charset="0"/>
              </a:rPr>
              <a:t>Schema Component</a:t>
            </a:r>
          </a:p>
          <a:p>
            <a:pPr>
              <a:lnSpc>
                <a:spcPct val="90000"/>
              </a:lnSpc>
              <a:spcBef>
                <a:spcPct val="50000"/>
              </a:spcBef>
              <a:buClr>
                <a:srgbClr val="A50021"/>
              </a:buClr>
              <a:buSzPct val="75000"/>
            </a:pPr>
            <a:r>
              <a:rPr kumimoji="1" lang="en-US" altLang="zh-CN" sz="2800" b="1" dirty="0">
                <a:latin typeface="+mn-ea"/>
              </a:rPr>
              <a:t>(3)</a:t>
            </a:r>
            <a:r>
              <a:rPr kumimoji="1" lang="zh-CN" altLang="en-US" sz="2800" b="1" dirty="0">
                <a:latin typeface="+mn-ea"/>
              </a:rPr>
              <a:t>重复第二步，直到验证完整个文档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animEffect transition="in" filter="blinds(horizontal)">
                                      <p:cBhvr>
                                        <p:cTn id="7" dur="500"/>
                                        <p:tgtEl>
                                          <p:spTgt spid="634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3491">
                                            <p:txEl>
                                              <p:pRg st="1" end="1"/>
                                            </p:txEl>
                                          </p:spTgt>
                                        </p:tgtEl>
                                        <p:attrNameLst>
                                          <p:attrName>style.visibility</p:attrName>
                                        </p:attrNameLst>
                                      </p:cBhvr>
                                      <p:to>
                                        <p:strVal val="visible"/>
                                      </p:to>
                                    </p:set>
                                    <p:anim calcmode="lin" valueType="num">
                                      <p:cBhvr additive="base">
                                        <p:cTn id="12" dur="500" fill="hold"/>
                                        <p:tgtEl>
                                          <p:spTgt spid="63491">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634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8" presetClass="entr" presetSubtype="16" fill="hold" nodeType="clickEffect">
                                  <p:stCondLst>
                                    <p:cond delay="0"/>
                                  </p:stCondLst>
                                  <p:childTnLst>
                                    <p:set>
                                      <p:cBhvr>
                                        <p:cTn id="17" dur="1" fill="hold">
                                          <p:stCondLst>
                                            <p:cond delay="0"/>
                                          </p:stCondLst>
                                        </p:cTn>
                                        <p:tgtEl>
                                          <p:spTgt spid="63491">
                                            <p:txEl>
                                              <p:pRg st="2" end="2"/>
                                            </p:txEl>
                                          </p:spTgt>
                                        </p:tgtEl>
                                        <p:attrNameLst>
                                          <p:attrName>style.visibility</p:attrName>
                                        </p:attrNameLst>
                                      </p:cBhvr>
                                      <p:to>
                                        <p:strVal val="visible"/>
                                      </p:to>
                                    </p:set>
                                    <p:animEffect transition="in" filter="diamond(in)">
                                      <p:cBhvr>
                                        <p:cTn id="18" dur="2000"/>
                                        <p:tgtEl>
                                          <p:spTgt spid="63491">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nodeType="clickEffect">
                                  <p:stCondLst>
                                    <p:cond delay="0"/>
                                  </p:stCondLst>
                                  <p:childTnLst>
                                    <p:set>
                                      <p:cBhvr>
                                        <p:cTn id="22" dur="1" fill="hold">
                                          <p:stCondLst>
                                            <p:cond delay="0"/>
                                          </p:stCondLst>
                                        </p:cTn>
                                        <p:tgtEl>
                                          <p:spTgt spid="63491">
                                            <p:txEl>
                                              <p:pRg st="3" end="3"/>
                                            </p:txEl>
                                          </p:spTgt>
                                        </p:tgtEl>
                                        <p:attrNameLst>
                                          <p:attrName>style.visibility</p:attrName>
                                        </p:attrNameLst>
                                      </p:cBhvr>
                                      <p:to>
                                        <p:strVal val="visible"/>
                                      </p:to>
                                    </p:set>
                                    <p:animEffect transition="in" filter="checkerboard(across)">
                                      <p:cBhvr>
                                        <p:cTn id="23" dur="500"/>
                                        <p:tgtEl>
                                          <p:spTgt spid="63491">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nodeType="clickEffect">
                                  <p:stCondLst>
                                    <p:cond delay="0"/>
                                  </p:stCondLst>
                                  <p:childTnLst>
                                    <p:set>
                                      <p:cBhvr>
                                        <p:cTn id="27" dur="1" fill="hold">
                                          <p:stCondLst>
                                            <p:cond delay="0"/>
                                          </p:stCondLst>
                                        </p:cTn>
                                        <p:tgtEl>
                                          <p:spTgt spid="63491">
                                            <p:txEl>
                                              <p:pRg st="4" end="4"/>
                                            </p:txEl>
                                          </p:spTgt>
                                        </p:tgtEl>
                                        <p:attrNameLst>
                                          <p:attrName>style.visibility</p:attrName>
                                        </p:attrNameLst>
                                      </p:cBhvr>
                                      <p:to>
                                        <p:strVal val="visible"/>
                                      </p:to>
                                    </p:set>
                                    <p:animEffect transition="in" filter="box(in)">
                                      <p:cBhvr>
                                        <p:cTn id="28" dur="500"/>
                                        <p:tgtEl>
                                          <p:spTgt spid="63491">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nodeType="clickEffect">
                                  <p:stCondLst>
                                    <p:cond delay="0"/>
                                  </p:stCondLst>
                                  <p:childTnLst>
                                    <p:set>
                                      <p:cBhvr>
                                        <p:cTn id="32" dur="1" fill="hold">
                                          <p:stCondLst>
                                            <p:cond delay="0"/>
                                          </p:stCondLst>
                                        </p:cTn>
                                        <p:tgtEl>
                                          <p:spTgt spid="63491">
                                            <p:txEl>
                                              <p:pRg st="5" end="5"/>
                                            </p:txEl>
                                          </p:spTgt>
                                        </p:tgtEl>
                                        <p:attrNameLst>
                                          <p:attrName>style.visibility</p:attrName>
                                        </p:attrNameLst>
                                      </p:cBhvr>
                                      <p:to>
                                        <p:strVal val="visible"/>
                                      </p:to>
                                    </p:set>
                                    <p:animEffect transition="in" filter="box(in)">
                                      <p:cBhvr>
                                        <p:cTn id="33" dur="500"/>
                                        <p:tgtEl>
                                          <p:spTgt spid="63491">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nodeType="clickEffect">
                                  <p:stCondLst>
                                    <p:cond delay="0"/>
                                  </p:stCondLst>
                                  <p:childTnLst>
                                    <p:set>
                                      <p:cBhvr>
                                        <p:cTn id="37" dur="1" fill="hold">
                                          <p:stCondLst>
                                            <p:cond delay="0"/>
                                          </p:stCondLst>
                                        </p:cTn>
                                        <p:tgtEl>
                                          <p:spTgt spid="63491">
                                            <p:txEl>
                                              <p:pRg st="6" end="6"/>
                                            </p:txEl>
                                          </p:spTgt>
                                        </p:tgtEl>
                                        <p:attrNameLst>
                                          <p:attrName>style.visibility</p:attrName>
                                        </p:attrNameLst>
                                      </p:cBhvr>
                                      <p:to>
                                        <p:strVal val="visible"/>
                                      </p:to>
                                    </p:set>
                                    <p:animEffect transition="in" filter="box(in)">
                                      <p:cBhvr>
                                        <p:cTn id="38" dur="500"/>
                                        <p:tgtEl>
                                          <p:spTgt spid="6349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3"/>
          <p:cNvSpPr>
            <a:spLocks noGrp="1" noChangeArrowheads="1"/>
          </p:cNvSpPr>
          <p:nvPr>
            <p:ph idx="1"/>
          </p:nvPr>
        </p:nvSpPr>
        <p:spPr>
          <a:xfrm>
            <a:off x="1928794" y="500063"/>
            <a:ext cx="6059506" cy="5759450"/>
          </a:xfrm>
        </p:spPr>
        <p:txBody>
          <a:bodyPr>
            <a:normAutofit lnSpcReduction="10000"/>
          </a:bodyPr>
          <a:lstStyle/>
          <a:p>
            <a:pPr marL="609600" indent="-609600">
              <a:buFontTx/>
              <a:buAutoNum type="arabicPeriod"/>
            </a:pPr>
            <a:r>
              <a:rPr lang="en-US" altLang="zh-CN" sz="3600" b="1" dirty="0" smtClean="0"/>
              <a:t>XML</a:t>
            </a:r>
            <a:r>
              <a:rPr lang="zh-CN" altLang="en-US" sz="3600" b="1" dirty="0" smtClean="0"/>
              <a:t>概述</a:t>
            </a:r>
          </a:p>
          <a:p>
            <a:pPr marL="609600" indent="-609600">
              <a:buFontTx/>
              <a:buAutoNum type="arabicPeriod"/>
            </a:pPr>
            <a:endParaRPr lang="zh-CN" altLang="en-US" sz="3600" b="1" dirty="0" smtClean="0">
              <a:solidFill>
                <a:srgbClr val="FF0000"/>
              </a:solidFill>
            </a:endParaRPr>
          </a:p>
          <a:p>
            <a:pPr marL="609600" indent="-609600">
              <a:buFontTx/>
              <a:buAutoNum type="arabicPeriod"/>
            </a:pPr>
            <a:r>
              <a:rPr lang="en-US" altLang="zh-CN" sz="3600" b="1" dirty="0" smtClean="0"/>
              <a:t>XML</a:t>
            </a:r>
            <a:r>
              <a:rPr lang="zh-CN" altLang="en-US" sz="3600" b="1" dirty="0" smtClean="0"/>
              <a:t>语法</a:t>
            </a:r>
          </a:p>
          <a:p>
            <a:pPr marL="609600" indent="-609600">
              <a:buFontTx/>
              <a:buAutoNum type="arabicPeriod"/>
            </a:pPr>
            <a:endParaRPr lang="zh-CN" altLang="en-US" sz="3600" b="1" dirty="0" smtClean="0"/>
          </a:p>
          <a:p>
            <a:pPr marL="609600" indent="-609600">
              <a:buFontTx/>
              <a:buAutoNum type="arabicPeriod"/>
            </a:pPr>
            <a:r>
              <a:rPr lang="en-US" altLang="zh-CN" sz="3600" b="1" dirty="0" smtClean="0"/>
              <a:t>DTD</a:t>
            </a:r>
            <a:r>
              <a:rPr lang="zh-CN" altLang="en-US" sz="3600" b="1" dirty="0" smtClean="0"/>
              <a:t>与</a:t>
            </a:r>
            <a:r>
              <a:rPr lang="en-US" altLang="zh-CN" sz="3600" b="1" dirty="0" smtClean="0"/>
              <a:t>Scheme</a:t>
            </a:r>
          </a:p>
          <a:p>
            <a:pPr marL="609600" indent="-609600">
              <a:buFontTx/>
              <a:buAutoNum type="arabicPeriod"/>
            </a:pPr>
            <a:endParaRPr lang="en-US" altLang="zh-CN" sz="3600" b="1" dirty="0" smtClean="0"/>
          </a:p>
          <a:p>
            <a:pPr marL="609600" indent="-609600">
              <a:buFontTx/>
              <a:buAutoNum type="arabicPeriod"/>
            </a:pPr>
            <a:r>
              <a:rPr lang="en-US" altLang="zh-CN" sz="3600" b="1" dirty="0" smtClean="0">
                <a:solidFill>
                  <a:srgbClr val="FF0000"/>
                </a:solidFill>
              </a:rPr>
              <a:t>XSL</a:t>
            </a:r>
            <a:r>
              <a:rPr lang="zh-CN" altLang="en-US" sz="3600" b="1" dirty="0" smtClean="0">
                <a:solidFill>
                  <a:srgbClr val="FF0000"/>
                </a:solidFill>
              </a:rPr>
              <a:t>，</a:t>
            </a:r>
            <a:r>
              <a:rPr lang="en-US" altLang="zh-CN" sz="3600" b="1" dirty="0" smtClean="0">
                <a:solidFill>
                  <a:srgbClr val="FF0000"/>
                </a:solidFill>
              </a:rPr>
              <a:t>XSLT and </a:t>
            </a:r>
            <a:r>
              <a:rPr lang="en-US" altLang="zh-CN" sz="3600" b="1" dirty="0" err="1" smtClean="0">
                <a:solidFill>
                  <a:srgbClr val="FF0000"/>
                </a:solidFill>
              </a:rPr>
              <a:t>XPath</a:t>
            </a:r>
            <a:endParaRPr lang="en-US" altLang="zh-CN" sz="3600" b="1" dirty="0" smtClean="0">
              <a:solidFill>
                <a:srgbClr val="FF0000"/>
              </a:solidFill>
            </a:endParaRPr>
          </a:p>
          <a:p>
            <a:pPr marL="609600" indent="-609600">
              <a:buFontTx/>
              <a:buAutoNum type="arabicPeriod"/>
            </a:pPr>
            <a:endParaRPr lang="zh-CN" altLang="en-US" sz="3600" b="1" dirty="0" smtClean="0"/>
          </a:p>
          <a:p>
            <a:pPr marL="609600" indent="-609600">
              <a:buFontTx/>
              <a:buAutoNum type="arabicPeriod"/>
            </a:pPr>
            <a:r>
              <a:rPr lang="en-US" altLang="zh-CN" sz="3600" b="1" dirty="0" smtClean="0"/>
              <a:t>XML</a:t>
            </a:r>
            <a:r>
              <a:rPr lang="zh-CN" altLang="en-US" sz="3600" b="1" dirty="0" smtClean="0"/>
              <a:t>解析</a:t>
            </a:r>
            <a:endParaRPr lang="en-US" altLang="zh-CN" sz="3600" b="1" dirty="0" smtClean="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sz="3200" b="1" dirty="0" smtClean="0">
                <a:latin typeface="+mn-ea"/>
                <a:ea typeface="+mn-ea"/>
              </a:rPr>
              <a:t>XSL</a:t>
            </a:r>
            <a:endParaRPr lang="zh-CN" altLang="en-US" sz="3200" b="1" dirty="0">
              <a:latin typeface="+mn-ea"/>
              <a:ea typeface="+mn-ea"/>
            </a:endParaRPr>
          </a:p>
        </p:txBody>
      </p:sp>
      <p:sp>
        <p:nvSpPr>
          <p:cNvPr id="3" name="内容占位符 2"/>
          <p:cNvSpPr>
            <a:spLocks noGrp="1"/>
          </p:cNvSpPr>
          <p:nvPr>
            <p:ph idx="1"/>
          </p:nvPr>
        </p:nvSpPr>
        <p:spPr>
          <a:xfrm>
            <a:off x="2000232" y="1357298"/>
            <a:ext cx="6858048" cy="5072077"/>
          </a:xfrm>
        </p:spPr>
        <p:txBody>
          <a:bodyPr/>
          <a:lstStyle/>
          <a:p>
            <a:pPr>
              <a:defRPr/>
            </a:pPr>
            <a:r>
              <a:rPr lang="en-US" sz="2800" b="1" dirty="0" err="1" smtClean="0">
                <a:latin typeface="+mn-ea"/>
              </a:rPr>
              <a:t>eXtensible</a:t>
            </a:r>
            <a:r>
              <a:rPr lang="en-US" sz="2800" b="1" dirty="0" smtClean="0">
                <a:latin typeface="+mn-ea"/>
              </a:rPr>
              <a:t> </a:t>
            </a:r>
            <a:r>
              <a:rPr lang="en-US" sz="2800" b="1" dirty="0" err="1" smtClean="0">
                <a:latin typeface="+mn-ea"/>
              </a:rPr>
              <a:t>Stylesheet</a:t>
            </a:r>
            <a:r>
              <a:rPr lang="en-US" sz="2800" b="1" dirty="0" smtClean="0">
                <a:latin typeface="+mn-ea"/>
              </a:rPr>
              <a:t> Language</a:t>
            </a:r>
            <a:r>
              <a:rPr lang="zh-CN" sz="2800" b="1" dirty="0" smtClean="0">
                <a:latin typeface="+mn-ea"/>
              </a:rPr>
              <a:t>，即可扩展样式表语言，</a:t>
            </a:r>
            <a:r>
              <a:rPr lang="en-US" sz="2800" b="1" dirty="0" smtClean="0">
                <a:latin typeface="+mn-ea"/>
              </a:rPr>
              <a:t> w3c </a:t>
            </a:r>
            <a:r>
              <a:rPr lang="zh-CN" sz="2800" b="1" dirty="0" smtClean="0">
                <a:latin typeface="+mn-ea"/>
              </a:rPr>
              <a:t>推荐的一种标准，用以定义</a:t>
            </a:r>
            <a:r>
              <a:rPr lang="en-US" sz="2800" b="1" dirty="0" smtClean="0">
                <a:latin typeface="+mn-ea"/>
              </a:rPr>
              <a:t> XML </a:t>
            </a:r>
            <a:r>
              <a:rPr lang="zh-CN" sz="2800" b="1" dirty="0" smtClean="0">
                <a:latin typeface="+mn-ea"/>
              </a:rPr>
              <a:t>文档的转换与格式化</a:t>
            </a:r>
            <a:endParaRPr lang="en-US" altLang="zh-CN" sz="2800" b="1" dirty="0" smtClean="0">
              <a:latin typeface="+mn-ea"/>
            </a:endParaRPr>
          </a:p>
          <a:p>
            <a:pPr>
              <a:defRPr/>
            </a:pPr>
            <a:r>
              <a:rPr lang="zh-CN" sz="2800" b="1" dirty="0" smtClean="0">
                <a:latin typeface="+mn-ea"/>
              </a:rPr>
              <a:t>包含三个部分</a:t>
            </a:r>
            <a:endParaRPr lang="en-US" altLang="zh-CN" sz="2800" b="1" dirty="0" smtClean="0">
              <a:latin typeface="+mn-ea"/>
            </a:endParaRPr>
          </a:p>
          <a:p>
            <a:pPr lvl="1">
              <a:defRPr/>
            </a:pPr>
            <a:r>
              <a:rPr lang="en-US" sz="2400" b="1" dirty="0" smtClean="0">
                <a:latin typeface="+mn-ea"/>
              </a:rPr>
              <a:t>XSLT</a:t>
            </a:r>
            <a:r>
              <a:rPr lang="zh-CN" sz="2400" b="1" dirty="0" smtClean="0">
                <a:latin typeface="+mn-ea"/>
              </a:rPr>
              <a:t>（</a:t>
            </a:r>
            <a:r>
              <a:rPr lang="en-US" sz="2400" b="1" dirty="0" smtClean="0">
                <a:latin typeface="+mn-ea"/>
              </a:rPr>
              <a:t>XSL Transformations</a:t>
            </a:r>
            <a:r>
              <a:rPr lang="zh-CN" sz="2400" b="1" dirty="0" smtClean="0">
                <a:latin typeface="+mn-ea"/>
              </a:rPr>
              <a:t>）用于转换</a:t>
            </a:r>
            <a:r>
              <a:rPr lang="en-US" sz="2400" b="1" dirty="0" smtClean="0">
                <a:latin typeface="+mn-ea"/>
              </a:rPr>
              <a:t> XML </a:t>
            </a:r>
            <a:r>
              <a:rPr lang="zh-CN" sz="2400" b="1" dirty="0" smtClean="0">
                <a:latin typeface="+mn-ea"/>
              </a:rPr>
              <a:t>文档的语言</a:t>
            </a:r>
            <a:endParaRPr lang="en-US" altLang="zh-CN" sz="2400" b="1" dirty="0" smtClean="0">
              <a:latin typeface="+mn-ea"/>
            </a:endParaRPr>
          </a:p>
          <a:p>
            <a:pPr lvl="1">
              <a:defRPr/>
            </a:pPr>
            <a:r>
              <a:rPr lang="en-US" sz="2400" b="1" dirty="0" err="1" smtClean="0">
                <a:latin typeface="+mn-ea"/>
              </a:rPr>
              <a:t>XPath</a:t>
            </a:r>
            <a:r>
              <a:rPr lang="en-US" sz="2400" b="1" dirty="0" smtClean="0">
                <a:latin typeface="+mn-ea"/>
              </a:rPr>
              <a:t> (XML Path Language) </a:t>
            </a:r>
            <a:r>
              <a:rPr lang="zh-CN" sz="2400" b="1" dirty="0" smtClean="0">
                <a:latin typeface="+mn-ea"/>
              </a:rPr>
              <a:t>用于在</a:t>
            </a:r>
            <a:r>
              <a:rPr lang="en-US" sz="2400" b="1" dirty="0" smtClean="0">
                <a:latin typeface="+mn-ea"/>
              </a:rPr>
              <a:t> XML </a:t>
            </a:r>
            <a:r>
              <a:rPr lang="zh-CN" sz="2400" b="1" dirty="0" smtClean="0">
                <a:latin typeface="+mn-ea"/>
              </a:rPr>
              <a:t>文档中导航的语言</a:t>
            </a:r>
            <a:endParaRPr lang="en-US" altLang="zh-CN" sz="2400" b="1" dirty="0" smtClean="0">
              <a:latin typeface="+mn-ea"/>
            </a:endParaRPr>
          </a:p>
          <a:p>
            <a:pPr lvl="1">
              <a:defRPr/>
            </a:pPr>
            <a:r>
              <a:rPr lang="en-US" sz="2400" b="1" dirty="0" smtClean="0">
                <a:latin typeface="+mn-ea"/>
              </a:rPr>
              <a:t>XSL-FO</a:t>
            </a:r>
            <a:r>
              <a:rPr lang="zh-CN" sz="2400" b="1" dirty="0" smtClean="0">
                <a:latin typeface="+mn-ea"/>
              </a:rPr>
              <a:t>（</a:t>
            </a:r>
            <a:r>
              <a:rPr lang="en-US" sz="2400" b="1" dirty="0" smtClean="0">
                <a:latin typeface="+mn-ea"/>
              </a:rPr>
              <a:t>XSL Formatting Objects</a:t>
            </a:r>
            <a:r>
              <a:rPr lang="zh-CN" sz="2400" b="1" dirty="0" smtClean="0">
                <a:latin typeface="+mn-ea"/>
              </a:rPr>
              <a:t>）一种用于格式化</a:t>
            </a:r>
            <a:r>
              <a:rPr lang="en-US" sz="2400" b="1" dirty="0" smtClean="0">
                <a:latin typeface="+mn-ea"/>
              </a:rPr>
              <a:t> XML </a:t>
            </a:r>
            <a:r>
              <a:rPr lang="zh-CN" sz="2400" b="1" dirty="0" smtClean="0">
                <a:latin typeface="+mn-ea"/>
              </a:rPr>
              <a:t>文档的语言</a:t>
            </a:r>
            <a:endParaRPr lang="zh-CN" altLang="en-US" sz="2400" b="1"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 calcmode="lin" valueType="num">
                                      <p:cBhvr additive="base">
                                        <p:cTn id="16"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additive="base">
                                        <p:cTn id="22"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box(in)">
                                      <p:cBhvr>
                                        <p:cTn id="28"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2"/>
          <p:cNvSpPr>
            <a:spLocks noGrp="1" noChangeArrowheads="1"/>
          </p:cNvSpPr>
          <p:nvPr>
            <p:ph type="title"/>
          </p:nvPr>
        </p:nvSpPr>
        <p:spPr>
          <a:xfrm>
            <a:off x="2000232" y="381000"/>
            <a:ext cx="6229368" cy="914400"/>
          </a:xfrm>
        </p:spPr>
        <p:txBody>
          <a:bodyPr/>
          <a:lstStyle/>
          <a:p>
            <a:pPr>
              <a:defRPr/>
            </a:pPr>
            <a:r>
              <a:rPr lang="en-US" altLang="zh-CN" sz="3200" b="1" dirty="0">
                <a:latin typeface="+mn-ea"/>
                <a:ea typeface="+mn-ea"/>
              </a:rPr>
              <a:t>Why need </a:t>
            </a:r>
            <a:r>
              <a:rPr lang="en-US" altLang="zh-CN" sz="3200" b="1" dirty="0" smtClean="0">
                <a:latin typeface="+mn-ea"/>
                <a:ea typeface="+mn-ea"/>
              </a:rPr>
              <a:t>XSL </a:t>
            </a:r>
            <a:endParaRPr lang="en-US" altLang="zh-CN" sz="3200" b="1" dirty="0">
              <a:latin typeface="+mn-ea"/>
              <a:ea typeface="+mn-ea"/>
            </a:endParaRPr>
          </a:p>
        </p:txBody>
      </p:sp>
      <p:sp>
        <p:nvSpPr>
          <p:cNvPr id="252931" name="Rectangle 3"/>
          <p:cNvSpPr>
            <a:spLocks noGrp="1" noChangeArrowheads="1"/>
          </p:cNvSpPr>
          <p:nvPr>
            <p:ph idx="1"/>
          </p:nvPr>
        </p:nvSpPr>
        <p:spPr>
          <a:xfrm>
            <a:off x="1785918" y="1714488"/>
            <a:ext cx="7072362" cy="4686312"/>
          </a:xfrm>
        </p:spPr>
        <p:txBody>
          <a:bodyPr/>
          <a:lstStyle/>
          <a:p>
            <a:pPr>
              <a:lnSpc>
                <a:spcPct val="80000"/>
              </a:lnSpc>
              <a:defRPr/>
            </a:pPr>
            <a:r>
              <a:rPr lang="en-US" altLang="zh-CN" sz="2800" b="1" dirty="0" smtClean="0">
                <a:latin typeface="+mn-ea"/>
              </a:rPr>
              <a:t>XML</a:t>
            </a:r>
            <a:r>
              <a:rPr lang="zh-CN" altLang="en-US" sz="2800" b="1" dirty="0" smtClean="0">
                <a:latin typeface="+mn-ea"/>
              </a:rPr>
              <a:t>文档</a:t>
            </a:r>
            <a:r>
              <a:rPr lang="zh-CN" altLang="en-US" sz="2800" b="1" dirty="0">
                <a:latin typeface="+mn-ea"/>
              </a:rPr>
              <a:t>开发时会遇到的问题 </a:t>
            </a:r>
          </a:p>
          <a:p>
            <a:pPr lvl="1">
              <a:lnSpc>
                <a:spcPct val="80000"/>
              </a:lnSpc>
              <a:defRPr/>
            </a:pPr>
            <a:r>
              <a:rPr lang="zh-CN" altLang="en-US" sz="2400" b="1" dirty="0">
                <a:latin typeface="+mn-ea"/>
              </a:rPr>
              <a:t>面向一个应用设计的组织数据的结构可能对另外的应用不适应 </a:t>
            </a:r>
          </a:p>
          <a:p>
            <a:pPr lvl="1">
              <a:lnSpc>
                <a:spcPct val="80000"/>
              </a:lnSpc>
              <a:defRPr/>
            </a:pPr>
            <a:r>
              <a:rPr lang="zh-CN" altLang="en-US" sz="2400" b="1" dirty="0">
                <a:latin typeface="+mn-ea"/>
              </a:rPr>
              <a:t>需要根据用户不同而对源文件处理，使之呈现内容不同，或者隐藏掉一些内容 </a:t>
            </a:r>
          </a:p>
          <a:p>
            <a:pPr lvl="1">
              <a:lnSpc>
                <a:spcPct val="80000"/>
              </a:lnSpc>
              <a:defRPr/>
            </a:pPr>
            <a:r>
              <a:rPr lang="zh-CN" altLang="en-US" sz="2400" b="1" dirty="0">
                <a:latin typeface="+mn-ea"/>
              </a:rPr>
              <a:t>开发者选择的结构可能其他人员不熟悉，或者不习惯 </a:t>
            </a:r>
          </a:p>
          <a:p>
            <a:pPr>
              <a:lnSpc>
                <a:spcPct val="80000"/>
              </a:lnSpc>
              <a:defRPr/>
            </a:pPr>
            <a:r>
              <a:rPr lang="zh-CN" altLang="en-US" sz="2800" b="1" dirty="0" smtClean="0">
                <a:latin typeface="+mn-ea"/>
              </a:rPr>
              <a:t>相同</a:t>
            </a:r>
            <a:r>
              <a:rPr lang="zh-CN" altLang="en-US" sz="2800" b="1" dirty="0">
                <a:latin typeface="+mn-ea"/>
              </a:rPr>
              <a:t>数据在不同终端</a:t>
            </a:r>
            <a:r>
              <a:rPr lang="zh-CN" altLang="en-US" sz="2800" b="1" dirty="0" smtClean="0">
                <a:latin typeface="+mn-ea"/>
              </a:rPr>
              <a:t>显示，</a:t>
            </a:r>
            <a:r>
              <a:rPr lang="zh-CN" altLang="en-US" sz="2800" b="1" dirty="0">
                <a:latin typeface="+mn-ea"/>
              </a:rPr>
              <a:t>设备不同，显示要求也</a:t>
            </a:r>
            <a:r>
              <a:rPr lang="zh-CN" altLang="en-US" sz="2800" b="1" dirty="0" smtClean="0">
                <a:latin typeface="+mn-ea"/>
              </a:rPr>
              <a:t>不一样，</a:t>
            </a:r>
            <a:r>
              <a:rPr lang="en-US" altLang="zh-CN" sz="2800" b="1" dirty="0" smtClean="0">
                <a:latin typeface="+mn-ea"/>
              </a:rPr>
              <a:t>XSLT</a:t>
            </a:r>
            <a:r>
              <a:rPr lang="zh-CN" altLang="en-US" sz="2800" b="1" dirty="0" smtClean="0">
                <a:latin typeface="+mn-ea"/>
              </a:rPr>
              <a:t>使得避免</a:t>
            </a:r>
            <a:r>
              <a:rPr lang="zh-CN" altLang="en-US" sz="2800" b="1" dirty="0">
                <a:latin typeface="+mn-ea"/>
              </a:rPr>
              <a:t>了大量繁琐的工作 </a:t>
            </a:r>
          </a:p>
          <a:p>
            <a:pPr>
              <a:lnSpc>
                <a:spcPct val="80000"/>
              </a:lnSpc>
              <a:defRPr/>
            </a:pPr>
            <a:r>
              <a:rPr lang="en-US" altLang="zh-CN" sz="2800" b="1" dirty="0">
                <a:latin typeface="+mn-ea"/>
              </a:rPr>
              <a:t>CSS</a:t>
            </a:r>
            <a:r>
              <a:rPr lang="zh-CN" altLang="en-US" sz="2800" b="1" dirty="0">
                <a:latin typeface="+mn-ea"/>
              </a:rPr>
              <a:t>是一种静态的样式描述格式，其本身不遵从</a:t>
            </a:r>
            <a:r>
              <a:rPr lang="en-US" altLang="zh-CN" sz="2800" b="1" dirty="0">
                <a:latin typeface="+mn-ea"/>
              </a:rPr>
              <a:t>XML</a:t>
            </a:r>
            <a:r>
              <a:rPr lang="zh-CN" altLang="en-US" sz="2800" b="1" dirty="0">
                <a:latin typeface="+mn-ea"/>
              </a:rPr>
              <a:t>的语法</a:t>
            </a:r>
            <a:r>
              <a:rPr lang="zh-CN" altLang="en-US" sz="2800" b="1" dirty="0" smtClean="0">
                <a:latin typeface="+mn-ea"/>
              </a:rPr>
              <a:t>规范</a:t>
            </a:r>
            <a:endParaRPr lang="zh-CN" altLang="en-US" sz="2800" b="1"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52931">
                                            <p:txEl>
                                              <p:pRg st="0" end="0"/>
                                            </p:txEl>
                                          </p:spTgt>
                                        </p:tgtEl>
                                        <p:attrNameLst>
                                          <p:attrName>style.visibility</p:attrName>
                                        </p:attrNameLst>
                                      </p:cBhvr>
                                      <p:to>
                                        <p:strVal val="visible"/>
                                      </p:to>
                                    </p:set>
                                    <p:animEffect transition="in" filter="blinds(horizontal)">
                                      <p:cBhvr>
                                        <p:cTn id="7" dur="500"/>
                                        <p:tgtEl>
                                          <p:spTgt spid="2529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52931">
                                            <p:txEl>
                                              <p:pRg st="1" end="1"/>
                                            </p:txEl>
                                          </p:spTgt>
                                        </p:tgtEl>
                                        <p:attrNameLst>
                                          <p:attrName>style.visibility</p:attrName>
                                        </p:attrNameLst>
                                      </p:cBhvr>
                                      <p:to>
                                        <p:strVal val="visible"/>
                                      </p:to>
                                    </p:set>
                                    <p:animEffect transition="in" filter="box(in)">
                                      <p:cBhvr>
                                        <p:cTn id="12" dur="500"/>
                                        <p:tgtEl>
                                          <p:spTgt spid="2529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252931">
                                            <p:txEl>
                                              <p:pRg st="2" end="2"/>
                                            </p:txEl>
                                          </p:spTgt>
                                        </p:tgtEl>
                                        <p:attrNameLst>
                                          <p:attrName>style.visibility</p:attrName>
                                        </p:attrNameLst>
                                      </p:cBhvr>
                                      <p:to>
                                        <p:strVal val="visible"/>
                                      </p:to>
                                    </p:set>
                                    <p:animEffect transition="in" filter="diamond(in)">
                                      <p:cBhvr>
                                        <p:cTn id="17" dur="2000"/>
                                        <p:tgtEl>
                                          <p:spTgt spid="2529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52931">
                                            <p:txEl>
                                              <p:pRg st="3" end="3"/>
                                            </p:txEl>
                                          </p:spTgt>
                                        </p:tgtEl>
                                        <p:attrNameLst>
                                          <p:attrName>style.visibility</p:attrName>
                                        </p:attrNameLst>
                                      </p:cBhvr>
                                      <p:to>
                                        <p:strVal val="visible"/>
                                      </p:to>
                                    </p:set>
                                    <p:animEffect transition="in" filter="checkerboard(across)">
                                      <p:cBhvr>
                                        <p:cTn id="22" dur="500"/>
                                        <p:tgtEl>
                                          <p:spTgt spid="2529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252931">
                                            <p:txEl>
                                              <p:pRg st="4" end="4"/>
                                            </p:txEl>
                                          </p:spTgt>
                                        </p:tgtEl>
                                        <p:attrNameLst>
                                          <p:attrName>style.visibility</p:attrName>
                                        </p:attrNameLst>
                                      </p:cBhvr>
                                      <p:to>
                                        <p:strVal val="visible"/>
                                      </p:to>
                                    </p:set>
                                    <p:animEffect transition="in" filter="checkerboard(across)">
                                      <p:cBhvr>
                                        <p:cTn id="27" dur="500"/>
                                        <p:tgtEl>
                                          <p:spTgt spid="25293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252931">
                                            <p:txEl>
                                              <p:pRg st="5" end="5"/>
                                            </p:txEl>
                                          </p:spTgt>
                                        </p:tgtEl>
                                        <p:attrNameLst>
                                          <p:attrName>style.visibility</p:attrName>
                                        </p:attrNameLst>
                                      </p:cBhvr>
                                      <p:to>
                                        <p:strVal val="visible"/>
                                      </p:to>
                                    </p:set>
                                    <p:anim calcmode="lin" valueType="num">
                                      <p:cBhvr additive="base">
                                        <p:cTn id="32" dur="500" fill="hold"/>
                                        <p:tgtEl>
                                          <p:spTgt spid="252931">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25293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sz="3200" b="1" dirty="0" smtClean="0">
                <a:latin typeface="+mj-ea"/>
              </a:rPr>
              <a:t>XSL</a:t>
            </a:r>
            <a:r>
              <a:rPr lang="en-US" altLang="zh-CN" sz="3200" b="1" dirty="0" smtClean="0">
                <a:latin typeface="+mj-ea"/>
              </a:rPr>
              <a:t>T</a:t>
            </a:r>
            <a:r>
              <a:rPr lang="en-US" sz="3200" b="1" dirty="0" smtClean="0">
                <a:latin typeface="+mj-ea"/>
              </a:rPr>
              <a:t> </a:t>
            </a:r>
            <a:r>
              <a:rPr lang="zh-CN" altLang="en-US" sz="3200" b="1" dirty="0" smtClean="0">
                <a:latin typeface="+mj-ea"/>
              </a:rPr>
              <a:t>文件的格式</a:t>
            </a:r>
            <a:endParaRPr lang="zh-CN" altLang="en-US" sz="3200" b="1" dirty="0">
              <a:latin typeface="+mj-ea"/>
            </a:endParaRPr>
          </a:p>
        </p:txBody>
      </p:sp>
      <p:sp>
        <p:nvSpPr>
          <p:cNvPr id="3" name="内容占位符 2"/>
          <p:cNvSpPr>
            <a:spLocks noGrp="1"/>
          </p:cNvSpPr>
          <p:nvPr>
            <p:ph idx="1"/>
          </p:nvPr>
        </p:nvSpPr>
        <p:spPr>
          <a:xfrm>
            <a:off x="2000232" y="1571625"/>
            <a:ext cx="6929486" cy="4786313"/>
          </a:xfrm>
        </p:spPr>
        <p:txBody>
          <a:bodyPr/>
          <a:lstStyle/>
          <a:p>
            <a:r>
              <a:rPr lang="zh-CN" altLang="en-US" b="1" dirty="0" smtClean="0">
                <a:latin typeface="宋体" charset="-122"/>
              </a:rPr>
              <a:t>宣告部分</a:t>
            </a:r>
            <a:endParaRPr lang="en-US" altLang="zh-CN" b="1" dirty="0" smtClean="0">
              <a:latin typeface="宋体" charset="-122"/>
            </a:endParaRPr>
          </a:p>
          <a:p>
            <a:pPr lvl="1"/>
            <a:r>
              <a:rPr lang="en-US" altLang="zh-CN" b="1" dirty="0" smtClean="0">
                <a:latin typeface="宋体" charset="-122"/>
              </a:rPr>
              <a:t>&lt;?xml version="1.0"?&gt; </a:t>
            </a:r>
          </a:p>
          <a:p>
            <a:pPr lvl="1"/>
            <a:r>
              <a:rPr lang="en-US" altLang="zh-CN" b="1" dirty="0" smtClean="0">
                <a:latin typeface="宋体" charset="-122"/>
              </a:rPr>
              <a:t>&lt;</a:t>
            </a:r>
            <a:r>
              <a:rPr lang="en-US" altLang="zh-CN" b="1" dirty="0" err="1" smtClean="0">
                <a:latin typeface="宋体" charset="-122"/>
              </a:rPr>
              <a:t>xsl:stylesheet</a:t>
            </a:r>
            <a:r>
              <a:rPr lang="en-US" altLang="zh-CN" b="1" dirty="0" smtClean="0">
                <a:latin typeface="宋体" charset="-122"/>
              </a:rPr>
              <a:t> version ="1.0" </a:t>
            </a:r>
            <a:r>
              <a:rPr lang="en-US" altLang="zh-CN" b="1" dirty="0" err="1" smtClean="0">
                <a:latin typeface="宋体" charset="-122"/>
              </a:rPr>
              <a:t>xmlns:xsl</a:t>
            </a:r>
            <a:r>
              <a:rPr lang="en-US" altLang="zh-CN" b="1" dirty="0" smtClean="0">
                <a:latin typeface="宋体" charset="-122"/>
              </a:rPr>
              <a:t> ="http://www.w3.org/1999/XSL/Transform"&gt; </a:t>
            </a:r>
          </a:p>
          <a:p>
            <a:r>
              <a:rPr lang="zh-CN" altLang="en-US" b="1" dirty="0" smtClean="0">
                <a:latin typeface="宋体" charset="-122"/>
              </a:rPr>
              <a:t>主程式部分</a:t>
            </a:r>
            <a:endParaRPr lang="en-US" altLang="zh-CN" b="1" dirty="0" smtClean="0">
              <a:latin typeface="宋体" charset="-122"/>
            </a:endParaRPr>
          </a:p>
          <a:p>
            <a:r>
              <a:rPr lang="zh-CN" altLang="en-US" b="1" dirty="0" smtClean="0">
                <a:latin typeface="宋体" charset="-122"/>
              </a:rPr>
              <a:t>函数部分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 calcmode="lin" valueType="num">
                                      <p:cBhvr additive="base">
                                        <p:cTn id="16"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ox(in)">
                                      <p:cBhvr>
                                        <p:cTn id="22" dur="500"/>
                                        <p:tgtEl>
                                          <p:spTgt spid="3">
                                            <p:txEl>
                                              <p:pRg st="3" end="3"/>
                                            </p:txEl>
                                          </p:spTgt>
                                        </p:tgtEl>
                                      </p:cBhvr>
                                    </p:animEffect>
                                  </p:childTnLst>
                                </p:cTn>
                              </p:par>
                              <p:par>
                                <p:cTn id="23" presetID="4" presetClass="entr" presetSubtype="16"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box(in)">
                                      <p:cBhvr>
                                        <p:cTn id="2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sz="3200" b="1" dirty="0" smtClean="0">
                <a:latin typeface="+mj-ea"/>
              </a:rPr>
              <a:t>XSL</a:t>
            </a:r>
            <a:r>
              <a:rPr lang="en-US" altLang="zh-CN" sz="3200" b="1" dirty="0" smtClean="0">
                <a:latin typeface="+mj-ea"/>
              </a:rPr>
              <a:t>T</a:t>
            </a:r>
            <a:r>
              <a:rPr lang="en-US" sz="3200" b="1" dirty="0" smtClean="0">
                <a:latin typeface="+mj-ea"/>
              </a:rPr>
              <a:t> </a:t>
            </a:r>
            <a:r>
              <a:rPr lang="zh-CN" altLang="en-US" sz="3200" b="1" dirty="0" smtClean="0">
                <a:latin typeface="+mj-ea"/>
              </a:rPr>
              <a:t>的主程式</a:t>
            </a:r>
            <a:endParaRPr lang="zh-CN" altLang="en-US" sz="3200" b="1" dirty="0">
              <a:latin typeface="+mj-ea"/>
            </a:endParaRPr>
          </a:p>
        </p:txBody>
      </p:sp>
      <p:sp>
        <p:nvSpPr>
          <p:cNvPr id="3" name="内容占位符 2"/>
          <p:cNvSpPr>
            <a:spLocks noGrp="1"/>
          </p:cNvSpPr>
          <p:nvPr>
            <p:ph idx="1"/>
          </p:nvPr>
        </p:nvSpPr>
        <p:spPr>
          <a:xfrm>
            <a:off x="1785918" y="1481138"/>
            <a:ext cx="7143800" cy="4376737"/>
          </a:xfrm>
        </p:spPr>
        <p:txBody>
          <a:bodyPr/>
          <a:lstStyle/>
          <a:p>
            <a:pPr>
              <a:defRPr/>
            </a:pPr>
            <a:r>
              <a:rPr lang="zh-CN" altLang="en-US" sz="2800" b="1" dirty="0" smtClean="0">
                <a:latin typeface="+mn-ea"/>
              </a:rPr>
              <a:t>主程式必须由 </a:t>
            </a:r>
            <a:r>
              <a:rPr lang="en-US" altLang="zh-CN" sz="2800" b="1" dirty="0" smtClean="0">
                <a:latin typeface="+mn-ea"/>
              </a:rPr>
              <a:t>&lt;</a:t>
            </a:r>
            <a:r>
              <a:rPr lang="en-US" sz="2800" b="1" dirty="0" err="1" smtClean="0">
                <a:latin typeface="+mn-ea"/>
              </a:rPr>
              <a:t>xsl:template</a:t>
            </a:r>
            <a:r>
              <a:rPr lang="en-US" sz="2800" b="1" dirty="0" smtClean="0">
                <a:latin typeface="+mn-ea"/>
              </a:rPr>
              <a:t> match="/"&gt; </a:t>
            </a:r>
            <a:r>
              <a:rPr lang="zh-CN" altLang="en-US" sz="2800" b="1" dirty="0" smtClean="0">
                <a:latin typeface="+mn-ea"/>
              </a:rPr>
              <a:t>标签开始，而以 </a:t>
            </a:r>
            <a:r>
              <a:rPr lang="en-US" altLang="zh-CN" sz="2800" b="1" dirty="0" smtClean="0">
                <a:latin typeface="+mn-ea"/>
              </a:rPr>
              <a:t>&lt;/</a:t>
            </a:r>
            <a:r>
              <a:rPr lang="en-US" sz="2800" b="1" dirty="0" err="1" smtClean="0">
                <a:latin typeface="+mn-ea"/>
              </a:rPr>
              <a:t>xsl:template</a:t>
            </a:r>
            <a:r>
              <a:rPr lang="en-US" sz="2800" b="1" dirty="0" smtClean="0">
                <a:latin typeface="+mn-ea"/>
              </a:rPr>
              <a:t>&gt; </a:t>
            </a:r>
            <a:r>
              <a:rPr lang="zh-CN" altLang="en-US" sz="2800" b="1" dirty="0" smtClean="0">
                <a:latin typeface="+mn-ea"/>
              </a:rPr>
              <a:t>结束</a:t>
            </a:r>
            <a:endParaRPr lang="en-US" altLang="zh-CN" sz="2800" b="1" dirty="0" smtClean="0">
              <a:latin typeface="+mn-ea"/>
            </a:endParaRPr>
          </a:p>
          <a:p>
            <a:pPr>
              <a:defRPr/>
            </a:pPr>
            <a:r>
              <a:rPr lang="en-US" altLang="zh-CN" sz="2800" b="1" dirty="0" smtClean="0">
                <a:latin typeface="+mn-ea"/>
              </a:rPr>
              <a:t>XSL </a:t>
            </a:r>
            <a:r>
              <a:rPr lang="zh-CN" altLang="en-US" sz="2800" b="1" dirty="0" smtClean="0">
                <a:latin typeface="+mn-ea"/>
              </a:rPr>
              <a:t>程式开始执行时，先执行主程式，其他函数的执行是透过主程式或别的函数来调用</a:t>
            </a:r>
            <a:endParaRPr lang="en-US" altLang="zh-CN" sz="2800" b="1" dirty="0" smtClean="0">
              <a:latin typeface="+mn-ea"/>
            </a:endParaRPr>
          </a:p>
          <a:p>
            <a:pPr>
              <a:defRPr/>
            </a:pPr>
            <a:r>
              <a:rPr lang="en-US" altLang="zh-CN" sz="2800" b="1" dirty="0" smtClean="0">
                <a:latin typeface="+mn-ea"/>
              </a:rPr>
              <a:t>XSL </a:t>
            </a:r>
            <a:r>
              <a:rPr lang="zh-CN" altLang="en-US" sz="2800" b="1" dirty="0" smtClean="0">
                <a:latin typeface="+mn-ea"/>
              </a:rPr>
              <a:t>程式的输出是</a:t>
            </a:r>
            <a:r>
              <a:rPr lang="en-US" altLang="zh-CN" sz="2800" b="1" dirty="0" smtClean="0">
                <a:latin typeface="+mn-ea"/>
              </a:rPr>
              <a:t>HTML </a:t>
            </a:r>
            <a:r>
              <a:rPr lang="zh-CN" altLang="en-US" sz="2800" b="1" dirty="0" smtClean="0">
                <a:latin typeface="+mn-ea"/>
              </a:rPr>
              <a:t>、</a:t>
            </a:r>
            <a:r>
              <a:rPr lang="en-US" altLang="zh-CN" sz="2800" b="1" dirty="0" smtClean="0">
                <a:latin typeface="+mn-ea"/>
              </a:rPr>
              <a:t>XML</a:t>
            </a:r>
            <a:r>
              <a:rPr lang="zh-CN" altLang="en-US" sz="2800" b="1" dirty="0" smtClean="0">
                <a:latin typeface="+mn-ea"/>
              </a:rPr>
              <a:t>或其他结构化的文件</a:t>
            </a:r>
            <a:endParaRPr lang="zh-CN" altLang="en-US" sz="2800" b="1"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box(in)">
                                      <p:cBhvr>
                                        <p:cTn id="18"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sz="3200" b="1" dirty="0" smtClean="0">
                <a:latin typeface="+mj-ea"/>
              </a:rPr>
              <a:t>XSL</a:t>
            </a:r>
            <a:r>
              <a:rPr lang="en-US" altLang="zh-CN" sz="3200" b="1" dirty="0" smtClean="0">
                <a:latin typeface="+mj-ea"/>
              </a:rPr>
              <a:t>T</a:t>
            </a:r>
            <a:r>
              <a:rPr lang="en-US" sz="3200" b="1" dirty="0" smtClean="0">
                <a:latin typeface="+mj-ea"/>
              </a:rPr>
              <a:t> </a:t>
            </a:r>
            <a:r>
              <a:rPr lang="zh-CN" altLang="en-US" sz="3200" b="1" dirty="0" smtClean="0">
                <a:latin typeface="+mj-ea"/>
              </a:rPr>
              <a:t>程式的函数</a:t>
            </a:r>
            <a:endParaRPr lang="zh-CN" altLang="en-US" sz="3200" b="1" dirty="0">
              <a:latin typeface="+mj-ea"/>
            </a:endParaRPr>
          </a:p>
        </p:txBody>
      </p:sp>
      <p:sp>
        <p:nvSpPr>
          <p:cNvPr id="3" name="内容占位符 2"/>
          <p:cNvSpPr>
            <a:spLocks noGrp="1"/>
          </p:cNvSpPr>
          <p:nvPr>
            <p:ph idx="1"/>
          </p:nvPr>
        </p:nvSpPr>
        <p:spPr>
          <a:xfrm>
            <a:off x="1643042" y="1571625"/>
            <a:ext cx="7286646" cy="4929188"/>
          </a:xfrm>
        </p:spPr>
        <p:txBody>
          <a:bodyPr/>
          <a:lstStyle/>
          <a:p>
            <a:pPr>
              <a:defRPr/>
            </a:pPr>
            <a:r>
              <a:rPr lang="zh-CN" altLang="en-US" sz="2800" b="1" dirty="0" smtClean="0">
                <a:latin typeface="+mn-ea"/>
              </a:rPr>
              <a:t>函数由 </a:t>
            </a:r>
            <a:r>
              <a:rPr lang="en-US" altLang="zh-CN" sz="2800" b="1" dirty="0" smtClean="0">
                <a:latin typeface="+mn-ea"/>
              </a:rPr>
              <a:t>&lt;</a:t>
            </a:r>
            <a:r>
              <a:rPr lang="en-US" sz="2800" b="1" dirty="0" err="1" smtClean="0">
                <a:latin typeface="+mn-ea"/>
              </a:rPr>
              <a:t>xsl:template</a:t>
            </a:r>
            <a:r>
              <a:rPr lang="en-US" sz="2800" b="1" dirty="0" smtClean="0">
                <a:latin typeface="+mn-ea"/>
              </a:rPr>
              <a:t>&gt; </a:t>
            </a:r>
            <a:r>
              <a:rPr lang="zh-CN" altLang="en-US" sz="2800" b="1" dirty="0" smtClean="0">
                <a:latin typeface="+mn-ea"/>
              </a:rPr>
              <a:t>标签开始，以 </a:t>
            </a:r>
            <a:r>
              <a:rPr lang="en-US" altLang="zh-CN" sz="2800" b="1" dirty="0" smtClean="0">
                <a:latin typeface="+mn-ea"/>
              </a:rPr>
              <a:t>&lt;/</a:t>
            </a:r>
            <a:r>
              <a:rPr lang="en-US" sz="2800" b="1" dirty="0" err="1" smtClean="0">
                <a:latin typeface="+mn-ea"/>
              </a:rPr>
              <a:t>xsl:template</a:t>
            </a:r>
            <a:r>
              <a:rPr lang="en-US" sz="2800" b="1" dirty="0" smtClean="0">
                <a:latin typeface="+mn-ea"/>
              </a:rPr>
              <a:t>&gt; </a:t>
            </a:r>
            <a:r>
              <a:rPr lang="zh-CN" altLang="en-US" sz="2800" b="1" dirty="0" smtClean="0">
                <a:latin typeface="+mn-ea"/>
              </a:rPr>
              <a:t>结束</a:t>
            </a:r>
            <a:endParaRPr lang="en-US" altLang="zh-CN" sz="2800" b="1" dirty="0" smtClean="0">
              <a:latin typeface="+mn-ea"/>
            </a:endParaRPr>
          </a:p>
          <a:p>
            <a:pPr>
              <a:defRPr/>
            </a:pPr>
            <a:r>
              <a:rPr lang="zh-CN" altLang="en-US" sz="2800" b="1" dirty="0" smtClean="0">
                <a:latin typeface="+mn-ea"/>
              </a:rPr>
              <a:t>和主程式的写法类似，只是函数名称不同。主程式的名称是 </a:t>
            </a:r>
            <a:r>
              <a:rPr lang="en-US" sz="2800" b="1" dirty="0" smtClean="0">
                <a:latin typeface="+mn-ea"/>
              </a:rPr>
              <a:t>match=“/” </a:t>
            </a:r>
            <a:r>
              <a:rPr lang="zh-CN" altLang="en-US" sz="2800" b="1" dirty="0" smtClean="0">
                <a:latin typeface="+mn-ea"/>
              </a:rPr>
              <a:t>中的 </a:t>
            </a:r>
            <a:r>
              <a:rPr lang="en-US" altLang="zh-CN" sz="2800" b="1" dirty="0" smtClean="0">
                <a:latin typeface="+mn-ea"/>
              </a:rPr>
              <a:t>“/” </a:t>
            </a:r>
            <a:r>
              <a:rPr lang="zh-CN" altLang="en-US" sz="2800" b="1" dirty="0" smtClean="0">
                <a:latin typeface="+mn-ea"/>
              </a:rPr>
              <a:t>，表示原来 </a:t>
            </a:r>
            <a:r>
              <a:rPr lang="en-US" sz="2800" b="1" dirty="0" smtClean="0">
                <a:latin typeface="+mn-ea"/>
              </a:rPr>
              <a:t>XML </a:t>
            </a:r>
            <a:r>
              <a:rPr lang="zh-CN" altLang="en-US" sz="2800" b="1" dirty="0" smtClean="0">
                <a:latin typeface="+mn-ea"/>
              </a:rPr>
              <a:t>文件的根标签</a:t>
            </a:r>
            <a:endParaRPr lang="en-US" altLang="zh-CN" sz="2800" b="1" dirty="0" smtClean="0">
              <a:latin typeface="+mn-ea"/>
            </a:endParaRPr>
          </a:p>
          <a:p>
            <a:pPr>
              <a:defRPr/>
            </a:pPr>
            <a:r>
              <a:rPr lang="zh-CN" altLang="en-US" sz="2800" b="1" dirty="0" smtClean="0">
                <a:latin typeface="+mn-ea"/>
              </a:rPr>
              <a:t>函数名称定义在 </a:t>
            </a:r>
            <a:r>
              <a:rPr lang="en-US" altLang="zh-CN" sz="2800" b="1" dirty="0" smtClean="0">
                <a:latin typeface="+mn-ea"/>
              </a:rPr>
              <a:t>&lt;</a:t>
            </a:r>
            <a:r>
              <a:rPr lang="en-US" sz="2800" b="1" dirty="0" err="1" smtClean="0">
                <a:latin typeface="+mn-ea"/>
              </a:rPr>
              <a:t>xsl:template</a:t>
            </a:r>
            <a:r>
              <a:rPr lang="en-US" sz="2800" b="1" dirty="0" smtClean="0">
                <a:latin typeface="+mn-ea"/>
              </a:rPr>
              <a:t> match=" </a:t>
            </a:r>
            <a:r>
              <a:rPr lang="zh-CN" altLang="en-US" sz="2800" b="1" dirty="0" smtClean="0">
                <a:latin typeface="+mn-ea"/>
              </a:rPr>
              <a:t>函数名称</a:t>
            </a:r>
            <a:r>
              <a:rPr lang="en-US" altLang="zh-CN" sz="2800" b="1" dirty="0" smtClean="0">
                <a:latin typeface="+mn-ea"/>
              </a:rPr>
              <a:t>" &gt; </a:t>
            </a:r>
            <a:r>
              <a:rPr lang="zh-CN" altLang="en-US" sz="2800" b="1" dirty="0" smtClean="0">
                <a:latin typeface="+mn-ea"/>
              </a:rPr>
              <a:t>标签中 </a:t>
            </a:r>
            <a:r>
              <a:rPr lang="en-US" sz="2800" b="1" dirty="0" smtClean="0">
                <a:latin typeface="+mn-ea"/>
              </a:rPr>
              <a:t>match </a:t>
            </a:r>
            <a:r>
              <a:rPr lang="zh-CN" altLang="en-US" sz="2800" b="1" dirty="0" smtClean="0">
                <a:latin typeface="+mn-ea"/>
              </a:rPr>
              <a:t>的 </a:t>
            </a:r>
            <a:r>
              <a:rPr lang="en-US" sz="2800" b="1" dirty="0" smtClean="0">
                <a:latin typeface="+mn-ea"/>
              </a:rPr>
              <a:t>attribute </a:t>
            </a:r>
            <a:r>
              <a:rPr lang="zh-CN" altLang="en-US" sz="2800" b="1" dirty="0" smtClean="0">
                <a:latin typeface="+mn-ea"/>
              </a:rPr>
              <a:t>值，即 </a:t>
            </a:r>
            <a:r>
              <a:rPr lang="en-US" altLang="zh-CN" sz="2800" b="1" dirty="0" smtClean="0">
                <a:latin typeface="+mn-ea"/>
              </a:rPr>
              <a:t>" </a:t>
            </a:r>
            <a:r>
              <a:rPr lang="zh-CN" altLang="en-US" sz="2800" b="1" dirty="0" smtClean="0">
                <a:latin typeface="+mn-ea"/>
              </a:rPr>
              <a:t>函数名称 </a:t>
            </a:r>
            <a:r>
              <a:rPr lang="en-US" altLang="zh-CN" sz="2800" b="1" dirty="0" smtClean="0">
                <a:latin typeface="+mn-ea"/>
              </a:rPr>
              <a:t>" </a:t>
            </a:r>
            <a:r>
              <a:rPr lang="zh-CN" altLang="en-US" sz="2800" b="1" dirty="0" smtClean="0">
                <a:latin typeface="+mn-ea"/>
              </a:rPr>
              <a:t>，此函数名称是原来 </a:t>
            </a:r>
            <a:r>
              <a:rPr lang="en-US" sz="2800" b="1" dirty="0" smtClean="0">
                <a:latin typeface="+mn-ea"/>
              </a:rPr>
              <a:t>XML </a:t>
            </a:r>
            <a:r>
              <a:rPr lang="zh-CN" altLang="en-US" sz="2800" b="1" dirty="0" smtClean="0">
                <a:latin typeface="+mn-ea"/>
              </a:rPr>
              <a:t>文件中的标签名称</a:t>
            </a:r>
            <a:endParaRPr lang="zh-CN" altLang="en-US" sz="2800" b="1"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sz="3200" b="1" dirty="0" smtClean="0">
                <a:latin typeface="+mj-ea"/>
              </a:rPr>
              <a:t>match="</a:t>
            </a:r>
            <a:r>
              <a:rPr lang="zh-CN" altLang="en-US" sz="3200" b="1" dirty="0" smtClean="0">
                <a:latin typeface="+mj-ea"/>
              </a:rPr>
              <a:t>具体匹配表达式</a:t>
            </a:r>
            <a:r>
              <a:rPr lang="en-US" altLang="zh-CN" sz="3200" b="1" dirty="0" smtClean="0">
                <a:latin typeface="+mj-ea"/>
              </a:rPr>
              <a:t>"</a:t>
            </a:r>
            <a:endParaRPr lang="zh-CN" altLang="en-US" sz="3200" b="1" dirty="0">
              <a:latin typeface="+mj-ea"/>
            </a:endParaRPr>
          </a:p>
        </p:txBody>
      </p:sp>
      <p:sp>
        <p:nvSpPr>
          <p:cNvPr id="3" name="内容占位符 2"/>
          <p:cNvSpPr>
            <a:spLocks noGrp="1"/>
          </p:cNvSpPr>
          <p:nvPr>
            <p:ph idx="1"/>
          </p:nvPr>
        </p:nvSpPr>
        <p:spPr>
          <a:xfrm>
            <a:off x="1928794" y="1981200"/>
            <a:ext cx="7215206" cy="4519613"/>
          </a:xfrm>
        </p:spPr>
        <p:txBody>
          <a:bodyPr/>
          <a:lstStyle/>
          <a:p>
            <a:pPr>
              <a:defRPr/>
            </a:pPr>
            <a:r>
              <a:rPr lang="zh-CN" altLang="en-US" sz="2400" b="1" dirty="0" smtClean="0">
                <a:latin typeface="+mn-ea"/>
              </a:rPr>
              <a:t>从</a:t>
            </a:r>
            <a:r>
              <a:rPr lang="en-US" altLang="zh-CN" sz="2400" b="1" dirty="0" smtClean="0">
                <a:latin typeface="+mn-ea"/>
              </a:rPr>
              <a:t>XML</a:t>
            </a:r>
            <a:r>
              <a:rPr lang="zh-CN" altLang="en-US" sz="2400" b="1" dirty="0" smtClean="0">
                <a:latin typeface="+mn-ea"/>
              </a:rPr>
              <a:t>文档中取出一个特定的节点集合</a:t>
            </a:r>
            <a:endParaRPr lang="en-US" altLang="zh-CN" sz="2400" b="1" dirty="0" smtClean="0">
              <a:latin typeface="+mn-ea"/>
            </a:endParaRPr>
          </a:p>
          <a:p>
            <a:pPr>
              <a:defRPr/>
            </a:pPr>
            <a:r>
              <a:rPr lang="en-US" sz="2400" b="1" dirty="0" smtClean="0">
                <a:latin typeface="+mn-ea"/>
              </a:rPr>
              <a:t>＜</a:t>
            </a:r>
            <a:r>
              <a:rPr lang="en-US" sz="2400" b="1" dirty="0" err="1" smtClean="0">
                <a:latin typeface="+mn-ea"/>
              </a:rPr>
              <a:t>xsl:template</a:t>
            </a:r>
            <a:r>
              <a:rPr lang="en-US" sz="2400" b="1" dirty="0" smtClean="0">
                <a:latin typeface="+mn-ea"/>
              </a:rPr>
              <a:t> match="/"＞</a:t>
            </a:r>
          </a:p>
          <a:p>
            <a:pPr>
              <a:defRPr/>
            </a:pPr>
            <a:r>
              <a:rPr lang="en-US" sz="2400" b="1" dirty="0" smtClean="0">
                <a:latin typeface="+mn-ea"/>
              </a:rPr>
              <a:t>＜</a:t>
            </a:r>
            <a:r>
              <a:rPr lang="en-US" sz="2400" b="1" dirty="0" err="1" smtClean="0">
                <a:latin typeface="+mn-ea"/>
              </a:rPr>
              <a:t>xsl:template</a:t>
            </a:r>
            <a:r>
              <a:rPr lang="en-US" sz="2400" b="1" dirty="0" smtClean="0">
                <a:latin typeface="+mn-ea"/>
              </a:rPr>
              <a:t> match="</a:t>
            </a:r>
            <a:r>
              <a:rPr lang="en-US" sz="2400" b="1" dirty="0" err="1" smtClean="0">
                <a:latin typeface="+mn-ea"/>
              </a:rPr>
              <a:t>shoppingcart</a:t>
            </a:r>
            <a:r>
              <a:rPr lang="en-US" sz="2400" b="1" dirty="0" smtClean="0">
                <a:latin typeface="+mn-ea"/>
              </a:rPr>
              <a:t>/item"＞</a:t>
            </a:r>
          </a:p>
          <a:p>
            <a:pPr>
              <a:defRPr/>
            </a:pPr>
            <a:r>
              <a:rPr lang="en-US" sz="2400" b="1" dirty="0" smtClean="0">
                <a:latin typeface="+mn-ea"/>
              </a:rPr>
              <a:t>＜</a:t>
            </a:r>
            <a:r>
              <a:rPr lang="en-US" sz="2400" b="1" dirty="0" err="1" smtClean="0">
                <a:latin typeface="+mn-ea"/>
              </a:rPr>
              <a:t>xsl:template</a:t>
            </a:r>
            <a:r>
              <a:rPr lang="en-US" sz="2400" b="1" dirty="0" smtClean="0">
                <a:latin typeface="+mn-ea"/>
              </a:rPr>
              <a:t> match=“/</a:t>
            </a:r>
            <a:r>
              <a:rPr lang="en-US" sz="2400" b="1" dirty="0" err="1" smtClean="0">
                <a:latin typeface="+mn-ea"/>
              </a:rPr>
              <a:t>shoppingcart</a:t>
            </a:r>
            <a:r>
              <a:rPr lang="en-US" sz="2400" b="1" dirty="0" smtClean="0">
                <a:latin typeface="+mn-ea"/>
              </a:rPr>
              <a:t>/item"＞</a:t>
            </a:r>
          </a:p>
          <a:p>
            <a:pPr>
              <a:defRPr/>
            </a:pPr>
            <a:r>
              <a:rPr lang="it-IT" sz="2400" b="1" dirty="0" smtClean="0">
                <a:latin typeface="+mn-ea"/>
              </a:rPr>
              <a:t>＜xsl:template match="</a:t>
            </a:r>
            <a:r>
              <a:rPr lang="en-US" sz="2400" b="1" dirty="0" smtClean="0">
                <a:latin typeface="+mn-ea"/>
              </a:rPr>
              <a:t> </a:t>
            </a:r>
            <a:r>
              <a:rPr lang="en-US" sz="2400" b="1" dirty="0" err="1" smtClean="0">
                <a:latin typeface="+mn-ea"/>
              </a:rPr>
              <a:t>shoppingcart</a:t>
            </a:r>
            <a:r>
              <a:rPr lang="en-US" sz="2400" b="1" dirty="0" smtClean="0">
                <a:latin typeface="+mn-ea"/>
              </a:rPr>
              <a:t>/item</a:t>
            </a:r>
            <a:r>
              <a:rPr lang="it-IT" sz="2400" b="1" dirty="0" smtClean="0">
                <a:latin typeface="+mn-ea"/>
              </a:rPr>
              <a:t>[@</a:t>
            </a:r>
            <a:r>
              <a:rPr lang="en-US" sz="2400" b="1" dirty="0" smtClean="0">
                <a:latin typeface="+mn-ea"/>
              </a:rPr>
              <a:t> </a:t>
            </a:r>
            <a:r>
              <a:rPr lang="en-US" sz="2400" b="1" dirty="0" err="1" smtClean="0">
                <a:latin typeface="+mn-ea"/>
              </a:rPr>
              <a:t>itemNo</a:t>
            </a:r>
            <a:r>
              <a:rPr lang="en-US" sz="2400" b="1" dirty="0" smtClean="0">
                <a:latin typeface="+mn-ea"/>
              </a:rPr>
              <a:t> </a:t>
            </a:r>
            <a:r>
              <a:rPr lang="it-IT" sz="2400" b="1" dirty="0" smtClean="0">
                <a:latin typeface="+mn-ea"/>
              </a:rPr>
              <a:t>=‘3333']"＞</a:t>
            </a:r>
            <a:endParaRPr lang="en-US" sz="2400" b="1" dirty="0" smtClean="0">
              <a:latin typeface="+mn-ea"/>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643042" y="428625"/>
            <a:ext cx="7500958" cy="6143625"/>
          </a:xfrm>
        </p:spPr>
        <p:txBody>
          <a:bodyPr/>
          <a:lstStyle/>
          <a:p>
            <a:pPr>
              <a:defRPr/>
            </a:pPr>
            <a:r>
              <a:rPr lang="en-US" sz="2800" b="1" dirty="0" smtClean="0">
                <a:latin typeface="+mn-ea"/>
              </a:rPr>
              <a:t>＜</a:t>
            </a:r>
            <a:r>
              <a:rPr lang="en-US" sz="2800" b="1" dirty="0" err="1" smtClean="0">
                <a:latin typeface="+mn-ea"/>
              </a:rPr>
              <a:t>shoppingcart</a:t>
            </a:r>
            <a:r>
              <a:rPr lang="en-US" sz="2800" b="1" dirty="0" smtClean="0">
                <a:latin typeface="+mn-ea"/>
              </a:rPr>
              <a:t>＞ </a:t>
            </a:r>
            <a:br>
              <a:rPr lang="en-US" sz="2800" b="1" dirty="0" smtClean="0">
                <a:latin typeface="+mn-ea"/>
              </a:rPr>
            </a:br>
            <a:r>
              <a:rPr lang="en-US" sz="2800" b="1" dirty="0" smtClean="0">
                <a:latin typeface="+mn-ea"/>
              </a:rPr>
              <a:t>　　＜item＞ </a:t>
            </a:r>
            <a:br>
              <a:rPr lang="en-US" sz="2800" b="1" dirty="0" smtClean="0">
                <a:latin typeface="+mn-ea"/>
              </a:rPr>
            </a:br>
            <a:r>
              <a:rPr lang="en-US" sz="2800" b="1" dirty="0" smtClean="0">
                <a:latin typeface="+mn-ea"/>
              </a:rPr>
              <a:t>　　＜itemNo＞3333＜/</a:t>
            </a:r>
            <a:r>
              <a:rPr lang="en-US" sz="2800" b="1" dirty="0" err="1" smtClean="0">
                <a:latin typeface="+mn-ea"/>
              </a:rPr>
              <a:t>itemNo</a:t>
            </a:r>
            <a:r>
              <a:rPr lang="en-US" sz="2800" b="1" dirty="0" smtClean="0">
                <a:latin typeface="+mn-ea"/>
              </a:rPr>
              <a:t>＞ </a:t>
            </a:r>
            <a:br>
              <a:rPr lang="en-US" sz="2800" b="1" dirty="0" smtClean="0">
                <a:latin typeface="+mn-ea"/>
              </a:rPr>
            </a:br>
            <a:r>
              <a:rPr lang="en-US" sz="2800" b="1" dirty="0" smtClean="0">
                <a:latin typeface="+mn-ea"/>
              </a:rPr>
              <a:t>　　＜</a:t>
            </a:r>
            <a:r>
              <a:rPr lang="en-US" sz="2800" b="1" dirty="0" err="1" smtClean="0">
                <a:latin typeface="+mn-ea"/>
              </a:rPr>
              <a:t>itemName</a:t>
            </a:r>
            <a:r>
              <a:rPr lang="en-US" sz="2800" b="1" dirty="0" smtClean="0">
                <a:latin typeface="+mn-ea"/>
              </a:rPr>
              <a:t>＞</a:t>
            </a:r>
            <a:r>
              <a:rPr lang="zh-CN" altLang="en-US" sz="2800" b="1" dirty="0" smtClean="0">
                <a:latin typeface="+mn-ea"/>
              </a:rPr>
              <a:t>屠龙刀＜</a:t>
            </a:r>
            <a:r>
              <a:rPr lang="en-US" altLang="zh-CN" sz="2800" b="1" dirty="0" smtClean="0">
                <a:latin typeface="+mn-ea"/>
              </a:rPr>
              <a:t>/</a:t>
            </a:r>
            <a:r>
              <a:rPr lang="en-US" sz="2800" b="1" dirty="0" err="1" smtClean="0">
                <a:latin typeface="+mn-ea"/>
              </a:rPr>
              <a:t>itemName</a:t>
            </a:r>
            <a:r>
              <a:rPr lang="en-US" sz="2800" b="1" dirty="0" smtClean="0">
                <a:latin typeface="+mn-ea"/>
              </a:rPr>
              <a:t>＞ </a:t>
            </a:r>
            <a:br>
              <a:rPr lang="en-US" sz="2800" b="1" dirty="0" smtClean="0">
                <a:latin typeface="+mn-ea"/>
              </a:rPr>
            </a:br>
            <a:r>
              <a:rPr lang="en-US" sz="2800" b="1" dirty="0" smtClean="0">
                <a:latin typeface="+mn-ea"/>
              </a:rPr>
              <a:t>　　＜/item＞ </a:t>
            </a:r>
            <a:br>
              <a:rPr lang="en-US" sz="2800" b="1" dirty="0" smtClean="0">
                <a:latin typeface="+mn-ea"/>
              </a:rPr>
            </a:br>
            <a:r>
              <a:rPr lang="en-US" sz="2800" b="1" dirty="0" smtClean="0">
                <a:latin typeface="+mn-ea"/>
              </a:rPr>
              <a:t>　　＜item＞ </a:t>
            </a:r>
            <a:br>
              <a:rPr lang="en-US" sz="2800" b="1" dirty="0" smtClean="0">
                <a:latin typeface="+mn-ea"/>
              </a:rPr>
            </a:br>
            <a:r>
              <a:rPr lang="en-US" sz="2800" b="1" dirty="0" smtClean="0">
                <a:latin typeface="+mn-ea"/>
              </a:rPr>
              <a:t>　　＜itemNo＞4444＜/</a:t>
            </a:r>
            <a:r>
              <a:rPr lang="en-US" sz="2800" b="1" dirty="0" err="1" smtClean="0">
                <a:latin typeface="+mn-ea"/>
              </a:rPr>
              <a:t>itemNo</a:t>
            </a:r>
            <a:r>
              <a:rPr lang="en-US" sz="2800" b="1" dirty="0" smtClean="0">
                <a:latin typeface="+mn-ea"/>
              </a:rPr>
              <a:t>＞ </a:t>
            </a:r>
            <a:br>
              <a:rPr lang="en-US" sz="2800" b="1" dirty="0" smtClean="0">
                <a:latin typeface="+mn-ea"/>
              </a:rPr>
            </a:br>
            <a:r>
              <a:rPr lang="en-US" sz="2800" b="1" dirty="0" smtClean="0">
                <a:latin typeface="+mn-ea"/>
              </a:rPr>
              <a:t>　　＜</a:t>
            </a:r>
            <a:r>
              <a:rPr lang="en-US" sz="2800" b="1" dirty="0" err="1" smtClean="0">
                <a:latin typeface="+mn-ea"/>
              </a:rPr>
              <a:t>itemName</a:t>
            </a:r>
            <a:r>
              <a:rPr lang="en-US" sz="2800" b="1" dirty="0" smtClean="0">
                <a:latin typeface="+mn-ea"/>
              </a:rPr>
              <a:t>＞</a:t>
            </a:r>
            <a:r>
              <a:rPr lang="zh-CN" altLang="en-US" sz="2800" b="1" dirty="0" smtClean="0">
                <a:latin typeface="+mn-ea"/>
              </a:rPr>
              <a:t>离别钩＜</a:t>
            </a:r>
            <a:r>
              <a:rPr lang="en-US" altLang="zh-CN" sz="2800" b="1" dirty="0" smtClean="0">
                <a:latin typeface="+mn-ea"/>
              </a:rPr>
              <a:t>/</a:t>
            </a:r>
            <a:r>
              <a:rPr lang="en-US" sz="2800" b="1" dirty="0" err="1" smtClean="0">
                <a:latin typeface="+mn-ea"/>
              </a:rPr>
              <a:t>itemName</a:t>
            </a:r>
            <a:r>
              <a:rPr lang="en-US" sz="2800" b="1" dirty="0" smtClean="0">
                <a:latin typeface="+mn-ea"/>
              </a:rPr>
              <a:t>＞ </a:t>
            </a:r>
            <a:br>
              <a:rPr lang="en-US" sz="2800" b="1" dirty="0" smtClean="0">
                <a:latin typeface="+mn-ea"/>
              </a:rPr>
            </a:br>
            <a:r>
              <a:rPr lang="en-US" sz="2800" b="1" dirty="0" smtClean="0">
                <a:latin typeface="+mn-ea"/>
              </a:rPr>
              <a:t>　　＜/item＞ </a:t>
            </a:r>
            <a:br>
              <a:rPr lang="en-US" sz="2800" b="1" dirty="0" smtClean="0">
                <a:latin typeface="+mn-ea"/>
              </a:rPr>
            </a:br>
            <a:r>
              <a:rPr lang="en-US" sz="2800" b="1" dirty="0" smtClean="0">
                <a:latin typeface="+mn-ea"/>
              </a:rPr>
              <a:t>＜/</a:t>
            </a:r>
            <a:r>
              <a:rPr lang="en-US" sz="2800" b="1" dirty="0" err="1" smtClean="0">
                <a:latin typeface="+mn-ea"/>
              </a:rPr>
              <a:t>shoppingcart</a:t>
            </a:r>
            <a:r>
              <a:rPr lang="en-US" sz="2800" b="1" dirty="0" smtClean="0">
                <a:latin typeface="+mn-ea"/>
              </a:rPr>
              <a:t>＞</a:t>
            </a:r>
            <a:endParaRPr lang="zh-CN" altLang="en-US" sz="2800" b="1" dirty="0">
              <a:latin typeface="+mn-ea"/>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57356" y="381000"/>
            <a:ext cx="6372244" cy="904875"/>
          </a:xfrm>
        </p:spPr>
        <p:txBody>
          <a:bodyPr/>
          <a:lstStyle/>
          <a:p>
            <a:pPr>
              <a:defRPr/>
            </a:pPr>
            <a:r>
              <a:rPr lang="en-US" sz="3200" b="1" dirty="0" err="1" smtClean="0">
                <a:latin typeface="+mj-ea"/>
              </a:rPr>
              <a:t>xsl:for</a:t>
            </a:r>
            <a:r>
              <a:rPr lang="en-US" sz="3200" b="1" dirty="0" smtClean="0">
                <a:latin typeface="+mj-ea"/>
              </a:rPr>
              <a:t>-each select="</a:t>
            </a:r>
            <a:r>
              <a:rPr lang="zh-CN" altLang="en-US" sz="3200" b="1" dirty="0" smtClean="0">
                <a:latin typeface="+mj-ea"/>
              </a:rPr>
              <a:t>词语</a:t>
            </a:r>
            <a:r>
              <a:rPr lang="en-US" altLang="zh-CN" sz="3200" b="1" dirty="0" smtClean="0">
                <a:latin typeface="+mj-ea"/>
              </a:rPr>
              <a:t>"</a:t>
            </a:r>
            <a:endParaRPr lang="zh-CN" altLang="en-US" sz="3200" b="1" dirty="0">
              <a:latin typeface="+mj-ea"/>
            </a:endParaRPr>
          </a:p>
        </p:txBody>
      </p:sp>
      <p:sp>
        <p:nvSpPr>
          <p:cNvPr id="3" name="内容占位符 2"/>
          <p:cNvSpPr>
            <a:spLocks noGrp="1"/>
          </p:cNvSpPr>
          <p:nvPr>
            <p:ph idx="1"/>
          </p:nvPr>
        </p:nvSpPr>
        <p:spPr>
          <a:xfrm>
            <a:off x="1928794" y="1714500"/>
            <a:ext cx="6929486" cy="4500582"/>
          </a:xfrm>
        </p:spPr>
        <p:txBody>
          <a:bodyPr/>
          <a:lstStyle/>
          <a:p>
            <a:pPr>
              <a:defRPr/>
            </a:pPr>
            <a:r>
              <a:rPr lang="zh-CN" altLang="en-US" sz="2800" b="1" dirty="0" smtClean="0">
                <a:latin typeface="+mn-ea"/>
              </a:rPr>
              <a:t>列举特定的元素出来一一进行处理</a:t>
            </a:r>
            <a:endParaRPr lang="en-US" altLang="zh-CN" sz="2800" b="1" dirty="0" smtClean="0">
              <a:latin typeface="+mn-ea"/>
            </a:endParaRPr>
          </a:p>
          <a:p>
            <a:pPr>
              <a:defRPr/>
            </a:pPr>
            <a:r>
              <a:rPr lang="en-US" sz="2800" b="1" dirty="0" smtClean="0">
                <a:latin typeface="+mn-ea"/>
              </a:rPr>
              <a:t>order-by=</a:t>
            </a:r>
            <a:r>
              <a:rPr lang="zh-CN" altLang="en-US" sz="2800" b="1" dirty="0" smtClean="0">
                <a:latin typeface="+mn-ea"/>
              </a:rPr>
              <a:t>“</a:t>
            </a:r>
            <a:r>
              <a:rPr lang="en-US" sz="2800" b="1" dirty="0" smtClean="0">
                <a:latin typeface="+mn-ea"/>
              </a:rPr>
              <a:t>+</a:t>
            </a:r>
            <a:r>
              <a:rPr lang="zh-CN" altLang="en-US" sz="2800" b="1" dirty="0" smtClean="0">
                <a:latin typeface="+mn-ea"/>
              </a:rPr>
              <a:t>名称”</a:t>
            </a:r>
            <a:endParaRPr lang="en-US" altLang="zh-CN" sz="2800" b="1" dirty="0" smtClean="0">
              <a:latin typeface="+mn-ea"/>
            </a:endParaRPr>
          </a:p>
          <a:p>
            <a:pPr lvl="1">
              <a:defRPr/>
            </a:pPr>
            <a:r>
              <a:rPr lang="en-US" altLang="zh-CN" sz="2400" b="1" dirty="0" smtClean="0">
                <a:latin typeface="+mn-ea"/>
              </a:rPr>
              <a:t>"+"</a:t>
            </a:r>
            <a:r>
              <a:rPr lang="zh-CN" altLang="en-US" sz="2400" b="1" dirty="0" smtClean="0">
                <a:latin typeface="+mn-ea"/>
              </a:rPr>
              <a:t>表示按降序排列；</a:t>
            </a:r>
            <a:r>
              <a:rPr lang="en-US" altLang="zh-CN" sz="2400" b="1" dirty="0" smtClean="0">
                <a:latin typeface="+mn-ea"/>
              </a:rPr>
              <a:t>"-"</a:t>
            </a:r>
            <a:r>
              <a:rPr lang="zh-CN" altLang="en-US" sz="2400" b="1" dirty="0" smtClean="0">
                <a:latin typeface="+mn-ea"/>
              </a:rPr>
              <a:t>表示按升序排列</a:t>
            </a:r>
            <a:endParaRPr lang="en-US" altLang="zh-CN" sz="2400" b="1" dirty="0" smtClean="0">
              <a:latin typeface="+mn-ea"/>
            </a:endParaRPr>
          </a:p>
          <a:p>
            <a:pPr>
              <a:defRPr/>
            </a:pPr>
            <a:r>
              <a:rPr lang="en-US" sz="2800" b="1" dirty="0" smtClean="0">
                <a:latin typeface="+mn-ea"/>
              </a:rPr>
              <a:t>＜</a:t>
            </a:r>
            <a:r>
              <a:rPr lang="en-US" sz="2800" b="1" dirty="0" err="1" smtClean="0">
                <a:latin typeface="+mn-ea"/>
              </a:rPr>
              <a:t>xsl:if</a:t>
            </a:r>
            <a:r>
              <a:rPr lang="en-US" sz="2800" b="1" dirty="0" smtClean="0">
                <a:latin typeface="+mn-ea"/>
              </a:rPr>
              <a:t> test=“.[</a:t>
            </a:r>
            <a:r>
              <a:rPr lang="zh-CN" altLang="en-US" sz="2800" b="1" dirty="0" smtClean="0">
                <a:latin typeface="+mn-ea"/>
              </a:rPr>
              <a:t>名称</a:t>
            </a:r>
            <a:r>
              <a:rPr lang="en-US" altLang="zh-CN" sz="2800" b="1" dirty="0" smtClean="0">
                <a:latin typeface="+mn-ea"/>
              </a:rPr>
              <a:t>=‘</a:t>
            </a:r>
            <a:r>
              <a:rPr lang="zh-CN" altLang="en-US" sz="2800" b="1" dirty="0" smtClean="0">
                <a:latin typeface="+mn-ea"/>
              </a:rPr>
              <a:t>。。</a:t>
            </a:r>
            <a:r>
              <a:rPr lang="en-US" altLang="zh-CN" sz="2800" b="1" dirty="0" smtClean="0">
                <a:latin typeface="+mn-ea"/>
              </a:rPr>
              <a:t>']"</a:t>
            </a:r>
            <a:r>
              <a:rPr lang="zh-CN" altLang="en-US" sz="2800" b="1" dirty="0" smtClean="0">
                <a:latin typeface="+mn-ea"/>
              </a:rPr>
              <a:t>＞</a:t>
            </a:r>
            <a:endParaRPr lang="en-US" altLang="zh-CN" sz="2800" b="1" dirty="0" smtClean="0">
              <a:latin typeface="+mn-ea"/>
            </a:endParaRPr>
          </a:p>
          <a:p>
            <a:pPr>
              <a:defRPr/>
            </a:pPr>
            <a:r>
              <a:rPr lang="en-US" sz="2800" b="1" dirty="0" smtClean="0">
                <a:latin typeface="+mn-ea"/>
              </a:rPr>
              <a:t>＜</a:t>
            </a:r>
            <a:r>
              <a:rPr lang="en-US" sz="2800" b="1" dirty="0" err="1" smtClean="0">
                <a:latin typeface="+mn-ea"/>
              </a:rPr>
              <a:t>xsl:value</a:t>
            </a:r>
            <a:r>
              <a:rPr lang="en-US" sz="2800" b="1" dirty="0" smtClean="0">
                <a:latin typeface="+mn-ea"/>
              </a:rPr>
              <a:t>-of select=“</a:t>
            </a:r>
            <a:r>
              <a:rPr lang="en-US" sz="2800" b="1" dirty="0" err="1" smtClean="0">
                <a:latin typeface="+mn-ea"/>
              </a:rPr>
              <a:t>元素名称</a:t>
            </a:r>
            <a:r>
              <a:rPr lang="en-US" sz="2800" b="1" dirty="0" smtClean="0">
                <a:latin typeface="+mn-ea"/>
              </a:rPr>
              <a:t>/@</a:t>
            </a:r>
            <a:r>
              <a:rPr lang="en-US" sz="2800" b="1" dirty="0" err="1" smtClean="0">
                <a:latin typeface="+mn-ea"/>
              </a:rPr>
              <a:t>属性名称</a:t>
            </a:r>
            <a:r>
              <a:rPr lang="en-US" sz="2800" b="1" dirty="0" smtClean="0">
                <a:latin typeface="+mn-ea"/>
              </a:rPr>
              <a:t>”/＞</a:t>
            </a:r>
            <a:r>
              <a:rPr lang="zh-CN" altLang="en-US" sz="2800" b="1" dirty="0" smtClean="0">
                <a:latin typeface="+mn-ea"/>
              </a:rPr>
              <a:t>取属性值</a:t>
            </a:r>
            <a:endParaRPr lang="zh-CN" altLang="en-US" sz="2800" b="1"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ox(in)">
                                      <p:cBhvr>
                                        <p:cTn id="12" dur="500"/>
                                        <p:tgtEl>
                                          <p:spTgt spid="3">
                                            <p:txEl>
                                              <p:pRg st="1" end="1"/>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ox(in)">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 calcmode="lin" valueType="num">
                                      <p:cBhvr additive="base">
                                        <p:cTn id="2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 calcmode="lin" valueType="num">
                                      <p:cBhvr additive="base">
                                        <p:cTn id="2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p:cNvSpPr>
            <a:spLocks noGrp="1" noChangeArrowheads="1"/>
          </p:cNvSpPr>
          <p:nvPr>
            <p:ph type="title"/>
          </p:nvPr>
        </p:nvSpPr>
        <p:spPr>
          <a:xfrm>
            <a:off x="2051720" y="381000"/>
            <a:ext cx="6177880" cy="685800"/>
          </a:xfrm>
        </p:spPr>
        <p:txBody>
          <a:bodyPr/>
          <a:lstStyle/>
          <a:p>
            <a:pPr>
              <a:defRPr/>
            </a:pPr>
            <a:r>
              <a:rPr lang="en-US" altLang="zh-CN" sz="3200" b="1" dirty="0" err="1" smtClean="0">
                <a:latin typeface="+mj-ea"/>
              </a:rPr>
              <a:t>XPath</a:t>
            </a:r>
            <a:endParaRPr lang="en-US" altLang="zh-CN" sz="3200" b="1" dirty="0">
              <a:latin typeface="+mj-ea"/>
            </a:endParaRPr>
          </a:p>
        </p:txBody>
      </p:sp>
      <p:sp>
        <p:nvSpPr>
          <p:cNvPr id="232451" name="Rectangle 3"/>
          <p:cNvSpPr>
            <a:spLocks noGrp="1" noChangeArrowheads="1"/>
          </p:cNvSpPr>
          <p:nvPr>
            <p:ph idx="1"/>
          </p:nvPr>
        </p:nvSpPr>
        <p:spPr>
          <a:xfrm>
            <a:off x="1785918" y="1524000"/>
            <a:ext cx="7143800" cy="5000625"/>
          </a:xfrm>
        </p:spPr>
        <p:txBody>
          <a:bodyPr/>
          <a:lstStyle/>
          <a:p>
            <a:pPr>
              <a:defRPr/>
            </a:pPr>
            <a:r>
              <a:rPr lang="en-US" altLang="zh-CN" sz="2800" b="1" dirty="0" smtClean="0">
                <a:latin typeface="+mn-ea"/>
              </a:rPr>
              <a:t>w3c</a:t>
            </a:r>
            <a:r>
              <a:rPr lang="zh-CN" altLang="en-US" sz="2800" b="1" dirty="0">
                <a:latin typeface="+mn-ea"/>
              </a:rPr>
              <a:t>颁布成为正式</a:t>
            </a:r>
            <a:r>
              <a:rPr lang="zh-CN" altLang="en-US" sz="2800" b="1" dirty="0" smtClean="0">
                <a:latin typeface="+mn-ea"/>
              </a:rPr>
              <a:t>标准</a:t>
            </a:r>
            <a:endParaRPr lang="en-US" altLang="zh-CN" sz="2800" b="1" dirty="0" smtClean="0">
              <a:latin typeface="+mn-ea"/>
            </a:endParaRPr>
          </a:p>
          <a:p>
            <a:pPr lvl="1">
              <a:defRPr/>
            </a:pPr>
            <a:r>
              <a:rPr lang="en-US" altLang="zh-CN" sz="2400" b="1" dirty="0" smtClean="0">
                <a:latin typeface="+mn-ea"/>
              </a:rPr>
              <a:t>XSL</a:t>
            </a:r>
            <a:r>
              <a:rPr lang="zh-CN" altLang="en-US" sz="2400" b="1" dirty="0">
                <a:latin typeface="+mn-ea"/>
              </a:rPr>
              <a:t>和</a:t>
            </a:r>
            <a:r>
              <a:rPr lang="en-US" altLang="zh-CN" sz="2400" b="1" dirty="0" err="1">
                <a:latin typeface="+mn-ea"/>
              </a:rPr>
              <a:t>XPointer</a:t>
            </a:r>
            <a:r>
              <a:rPr lang="zh-CN" altLang="en-US" sz="2400" b="1" dirty="0">
                <a:latin typeface="+mn-ea"/>
              </a:rPr>
              <a:t>对</a:t>
            </a:r>
            <a:r>
              <a:rPr lang="en-US" altLang="zh-CN" sz="2400" b="1" dirty="0">
                <a:latin typeface="+mn-ea"/>
              </a:rPr>
              <a:t>XML</a:t>
            </a:r>
            <a:r>
              <a:rPr lang="zh-CN" altLang="en-US" sz="2400" b="1" dirty="0">
                <a:latin typeface="+mn-ea"/>
              </a:rPr>
              <a:t>源文档进行匹配以定位文档或文档部分时</a:t>
            </a:r>
            <a:r>
              <a:rPr lang="en-US" altLang="zh-CN" sz="2400" b="1" dirty="0">
                <a:latin typeface="+mn-ea"/>
              </a:rPr>
              <a:t>,</a:t>
            </a:r>
            <a:r>
              <a:rPr lang="en-US" altLang="zh-CN" sz="2400" b="1" dirty="0" err="1">
                <a:latin typeface="+mn-ea"/>
              </a:rPr>
              <a:t>XPath</a:t>
            </a:r>
            <a:r>
              <a:rPr lang="zh-CN" altLang="en-US" sz="2400" b="1" dirty="0">
                <a:latin typeface="+mn-ea"/>
              </a:rPr>
              <a:t>提供了一套整合的定位语法，能够向前或向后对文档片段进行</a:t>
            </a:r>
            <a:r>
              <a:rPr lang="zh-CN" altLang="en-US" sz="2400" b="1" dirty="0" smtClean="0">
                <a:latin typeface="+mn-ea"/>
              </a:rPr>
              <a:t>定位</a:t>
            </a:r>
            <a:endParaRPr lang="en-US" altLang="zh-CN" sz="2400" b="1" dirty="0" smtClean="0">
              <a:latin typeface="+mn-ea"/>
            </a:endParaRPr>
          </a:p>
          <a:p>
            <a:pPr lvl="1">
              <a:defRPr/>
            </a:pPr>
            <a:r>
              <a:rPr lang="en-US" altLang="zh-CN" sz="2400" b="1" dirty="0" err="1" smtClean="0">
                <a:latin typeface="+mn-ea"/>
              </a:rPr>
              <a:t>XQuery</a:t>
            </a:r>
            <a:r>
              <a:rPr lang="zh-CN" altLang="en-US" sz="2400" b="1" dirty="0">
                <a:latin typeface="+mn-ea"/>
              </a:rPr>
              <a:t>中，也有广泛的</a:t>
            </a:r>
            <a:r>
              <a:rPr lang="zh-CN" altLang="en-US" sz="2400" b="1" dirty="0" smtClean="0">
                <a:latin typeface="+mn-ea"/>
              </a:rPr>
              <a:t>应用</a:t>
            </a:r>
            <a:endParaRPr lang="en-US" altLang="zh-CN" sz="2400" b="1" dirty="0" smtClean="0">
              <a:latin typeface="+mn-ea"/>
            </a:endParaRPr>
          </a:p>
          <a:p>
            <a:pPr>
              <a:defRPr/>
            </a:pPr>
            <a:r>
              <a:rPr lang="en-US" altLang="zh-CN" sz="2800" b="1" dirty="0" smtClean="0">
                <a:latin typeface="+mn-ea"/>
              </a:rPr>
              <a:t>XML</a:t>
            </a:r>
            <a:r>
              <a:rPr lang="zh-CN" altLang="en-US" sz="2800" b="1" dirty="0" smtClean="0">
                <a:latin typeface="+mn-ea"/>
              </a:rPr>
              <a:t>源文档经常被看作是一些节点的集合，称作源文档树</a:t>
            </a:r>
            <a:endParaRPr lang="en-US" altLang="zh-CN" sz="2800" b="1" dirty="0" smtClean="0">
              <a:latin typeface="+mn-ea"/>
            </a:endParaRPr>
          </a:p>
          <a:p>
            <a:pPr lvl="1">
              <a:defRPr/>
            </a:pPr>
            <a:r>
              <a:rPr lang="en-US" altLang="zh-CN" sz="2400" b="1" dirty="0" err="1" smtClean="0">
                <a:latin typeface="+mn-ea"/>
              </a:rPr>
              <a:t>XPath</a:t>
            </a:r>
            <a:r>
              <a:rPr lang="zh-CN" altLang="en-US" sz="2400" b="1" dirty="0" smtClean="0">
                <a:latin typeface="+mn-ea"/>
              </a:rPr>
              <a:t>的表达式描述了一条对特定节点或节点集合的路径</a:t>
            </a:r>
            <a:endParaRPr lang="en-US" altLang="zh-CN" sz="2400" b="1" dirty="0" smtClean="0">
              <a:latin typeface="+mn-ea"/>
            </a:endParaRPr>
          </a:p>
          <a:p>
            <a:pPr lvl="1">
              <a:defRPr/>
            </a:pPr>
            <a:r>
              <a:rPr lang="zh-CN" altLang="en-US" sz="2400" b="1" dirty="0" smtClean="0">
                <a:latin typeface="+mn-ea"/>
              </a:rPr>
              <a:t>使用符号斜线“</a:t>
            </a:r>
            <a:r>
              <a:rPr lang="en-US" altLang="zh-CN" sz="2400" b="1" dirty="0" smtClean="0">
                <a:latin typeface="+mn-ea"/>
              </a:rPr>
              <a:t>/”</a:t>
            </a:r>
            <a:r>
              <a:rPr lang="zh-CN" altLang="en-US" sz="2400" b="1" dirty="0" smtClean="0">
                <a:latin typeface="+mn-ea"/>
              </a:rPr>
              <a:t>来分离路径上的节点</a:t>
            </a:r>
            <a:endParaRPr lang="zh-CN" altLang="en-US" sz="2400" b="1"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32451">
                                            <p:txEl>
                                              <p:pRg st="0" end="0"/>
                                            </p:txEl>
                                          </p:spTgt>
                                        </p:tgtEl>
                                        <p:attrNameLst>
                                          <p:attrName>style.visibility</p:attrName>
                                        </p:attrNameLst>
                                      </p:cBhvr>
                                      <p:to>
                                        <p:strVal val="visible"/>
                                      </p:to>
                                    </p:set>
                                    <p:animEffect transition="in" filter="blinds(horizontal)">
                                      <p:cBhvr>
                                        <p:cTn id="7" dur="500"/>
                                        <p:tgtEl>
                                          <p:spTgt spid="2324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32451">
                                            <p:txEl>
                                              <p:pRg st="1" end="1"/>
                                            </p:txEl>
                                          </p:spTgt>
                                        </p:tgtEl>
                                        <p:attrNameLst>
                                          <p:attrName>style.visibility</p:attrName>
                                        </p:attrNameLst>
                                      </p:cBhvr>
                                      <p:to>
                                        <p:strVal val="visible"/>
                                      </p:to>
                                    </p:set>
                                    <p:animEffect transition="in" filter="blinds(horizontal)">
                                      <p:cBhvr>
                                        <p:cTn id="12" dur="500"/>
                                        <p:tgtEl>
                                          <p:spTgt spid="2324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32451">
                                            <p:txEl>
                                              <p:pRg st="2" end="2"/>
                                            </p:txEl>
                                          </p:spTgt>
                                        </p:tgtEl>
                                        <p:attrNameLst>
                                          <p:attrName>style.visibility</p:attrName>
                                        </p:attrNameLst>
                                      </p:cBhvr>
                                      <p:to>
                                        <p:strVal val="visible"/>
                                      </p:to>
                                    </p:set>
                                    <p:animEffect transition="in" filter="blinds(horizontal)">
                                      <p:cBhvr>
                                        <p:cTn id="17" dur="500"/>
                                        <p:tgtEl>
                                          <p:spTgt spid="23245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232451">
                                            <p:txEl>
                                              <p:pRg st="3" end="3"/>
                                            </p:txEl>
                                          </p:spTgt>
                                        </p:tgtEl>
                                        <p:attrNameLst>
                                          <p:attrName>style.visibility</p:attrName>
                                        </p:attrNameLst>
                                      </p:cBhvr>
                                      <p:to>
                                        <p:strVal val="visible"/>
                                      </p:to>
                                    </p:set>
                                    <p:animEffect transition="in" filter="box(in)">
                                      <p:cBhvr>
                                        <p:cTn id="22" dur="500"/>
                                        <p:tgtEl>
                                          <p:spTgt spid="23245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232451">
                                            <p:txEl>
                                              <p:pRg st="4" end="4"/>
                                            </p:txEl>
                                          </p:spTgt>
                                        </p:tgtEl>
                                        <p:attrNameLst>
                                          <p:attrName>style.visibility</p:attrName>
                                        </p:attrNameLst>
                                      </p:cBhvr>
                                      <p:to>
                                        <p:strVal val="visible"/>
                                      </p:to>
                                    </p:set>
                                    <p:animEffect transition="in" filter="box(in)">
                                      <p:cBhvr>
                                        <p:cTn id="27" dur="500"/>
                                        <p:tgtEl>
                                          <p:spTgt spid="23245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232451">
                                            <p:txEl>
                                              <p:pRg st="5" end="5"/>
                                            </p:txEl>
                                          </p:spTgt>
                                        </p:tgtEl>
                                        <p:attrNameLst>
                                          <p:attrName>style.visibility</p:attrName>
                                        </p:attrNameLst>
                                      </p:cBhvr>
                                      <p:to>
                                        <p:strVal val="visible"/>
                                      </p:to>
                                    </p:set>
                                    <p:animEffect transition="in" filter="box(in)">
                                      <p:cBhvr>
                                        <p:cTn id="32" dur="500"/>
                                        <p:tgtEl>
                                          <p:spTgt spid="23245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Grp="1" noChangeArrowheads="1"/>
          </p:cNvSpPr>
          <p:nvPr>
            <p:ph type="title"/>
          </p:nvPr>
        </p:nvSpPr>
        <p:spPr>
          <a:xfrm>
            <a:off x="1857356" y="381000"/>
            <a:ext cx="6372244" cy="685800"/>
          </a:xfrm>
        </p:spPr>
        <p:txBody>
          <a:bodyPr/>
          <a:lstStyle/>
          <a:p>
            <a:pPr>
              <a:defRPr/>
            </a:pPr>
            <a:r>
              <a:rPr lang="en-US" altLang="zh-CN" sz="3200" b="1" dirty="0">
                <a:latin typeface="+mn-ea"/>
                <a:ea typeface="+mn-ea"/>
              </a:rPr>
              <a:t>XML</a:t>
            </a:r>
            <a:r>
              <a:rPr lang="zh-CN" altLang="en-US" sz="3200" b="1" dirty="0">
                <a:latin typeface="+mn-ea"/>
                <a:ea typeface="+mn-ea"/>
              </a:rPr>
              <a:t>文档树节点类型 </a:t>
            </a:r>
          </a:p>
        </p:txBody>
      </p:sp>
      <p:sp>
        <p:nvSpPr>
          <p:cNvPr id="234499" name="Rectangle 3"/>
          <p:cNvSpPr>
            <a:spLocks noGrp="1" noChangeArrowheads="1"/>
          </p:cNvSpPr>
          <p:nvPr>
            <p:ph idx="1"/>
          </p:nvPr>
        </p:nvSpPr>
        <p:spPr/>
        <p:txBody>
          <a:bodyPr/>
          <a:lstStyle/>
          <a:p>
            <a:pPr>
              <a:defRPr/>
            </a:pPr>
            <a:r>
              <a:rPr lang="zh-CN" altLang="en-US" sz="2800" b="1" dirty="0">
                <a:latin typeface="+mn-ea"/>
              </a:rPr>
              <a:t>根节点 </a:t>
            </a:r>
          </a:p>
          <a:p>
            <a:pPr>
              <a:defRPr/>
            </a:pPr>
            <a:r>
              <a:rPr lang="zh-CN" altLang="en-US" sz="2800" b="1" dirty="0">
                <a:latin typeface="+mn-ea"/>
              </a:rPr>
              <a:t>元素节点 </a:t>
            </a:r>
          </a:p>
          <a:p>
            <a:pPr>
              <a:defRPr/>
            </a:pPr>
            <a:r>
              <a:rPr lang="zh-CN" altLang="en-US" sz="2800" b="1" dirty="0">
                <a:latin typeface="+mn-ea"/>
              </a:rPr>
              <a:t>文本节点 </a:t>
            </a:r>
          </a:p>
          <a:p>
            <a:pPr>
              <a:defRPr/>
            </a:pPr>
            <a:r>
              <a:rPr lang="zh-CN" altLang="en-US" sz="2800" b="1" dirty="0">
                <a:latin typeface="+mn-ea"/>
              </a:rPr>
              <a:t>属性节点 </a:t>
            </a:r>
          </a:p>
          <a:p>
            <a:pPr>
              <a:defRPr/>
            </a:pPr>
            <a:r>
              <a:rPr lang="zh-CN" altLang="en-US" sz="2800" b="1" dirty="0">
                <a:latin typeface="+mn-ea"/>
              </a:rPr>
              <a:t>名字空间节点 </a:t>
            </a:r>
          </a:p>
          <a:p>
            <a:pPr>
              <a:defRPr/>
            </a:pPr>
            <a:r>
              <a:rPr lang="zh-CN" altLang="en-US" sz="2800" b="1" dirty="0">
                <a:latin typeface="+mn-ea"/>
              </a:rPr>
              <a:t>处理指令节点 </a:t>
            </a:r>
          </a:p>
          <a:p>
            <a:pPr>
              <a:defRPr/>
            </a:pPr>
            <a:r>
              <a:rPr lang="zh-CN" altLang="en-US" sz="2800" b="1" dirty="0">
                <a:latin typeface="+mn-ea"/>
              </a:rPr>
              <a:t>注释节点 </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p:cNvSpPr>
            <a:spLocks noGrp="1" noChangeArrowheads="1"/>
          </p:cNvSpPr>
          <p:nvPr>
            <p:ph type="title"/>
          </p:nvPr>
        </p:nvSpPr>
        <p:spPr>
          <a:xfrm>
            <a:off x="2000232" y="381000"/>
            <a:ext cx="6229368" cy="685800"/>
          </a:xfrm>
        </p:spPr>
        <p:txBody>
          <a:bodyPr/>
          <a:lstStyle/>
          <a:p>
            <a:pPr>
              <a:defRPr/>
            </a:pPr>
            <a:r>
              <a:rPr lang="en-US" altLang="zh-CN" sz="3200" b="1" dirty="0" err="1">
                <a:latin typeface="+mn-ea"/>
                <a:ea typeface="+mn-ea"/>
              </a:rPr>
              <a:t>XPath</a:t>
            </a:r>
            <a:r>
              <a:rPr lang="zh-CN" altLang="en-US" sz="3200" b="1" dirty="0">
                <a:latin typeface="+mn-ea"/>
                <a:ea typeface="+mn-ea"/>
              </a:rPr>
              <a:t>表达式 </a:t>
            </a:r>
          </a:p>
        </p:txBody>
      </p:sp>
      <p:sp>
        <p:nvSpPr>
          <p:cNvPr id="236547" name="Rectangle 3"/>
          <p:cNvSpPr>
            <a:spLocks noGrp="1" noChangeArrowheads="1"/>
          </p:cNvSpPr>
          <p:nvPr>
            <p:ph idx="1"/>
          </p:nvPr>
        </p:nvSpPr>
        <p:spPr/>
        <p:txBody>
          <a:bodyPr/>
          <a:lstStyle/>
          <a:p>
            <a:pPr>
              <a:defRPr/>
            </a:pPr>
            <a:r>
              <a:rPr lang="en-US" altLang="zh-CN" sz="2800" b="1" dirty="0" err="1">
                <a:latin typeface="+mn-ea"/>
              </a:rPr>
              <a:t>XPath</a:t>
            </a:r>
            <a:r>
              <a:rPr lang="zh-CN" altLang="en-US" sz="2800" b="1" dirty="0">
                <a:latin typeface="+mn-ea"/>
              </a:rPr>
              <a:t>的核心语法构架是表达式，</a:t>
            </a:r>
            <a:r>
              <a:rPr lang="en-US" altLang="zh-CN" sz="2800" b="1" dirty="0" err="1">
                <a:latin typeface="+mn-ea"/>
              </a:rPr>
              <a:t>XPath</a:t>
            </a:r>
            <a:r>
              <a:rPr lang="zh-CN" altLang="en-US" sz="2800" b="1" dirty="0">
                <a:latin typeface="+mn-ea"/>
              </a:rPr>
              <a:t>表达式由一系列的步组成，从根节点开始，步步深入，层层分析，直到最后一步返回结果 </a:t>
            </a:r>
          </a:p>
          <a:p>
            <a:pPr lvl="1">
              <a:defRPr/>
            </a:pPr>
            <a:r>
              <a:rPr lang="zh-CN" altLang="en-US" sz="2400" b="1" dirty="0">
                <a:latin typeface="+mn-ea"/>
              </a:rPr>
              <a:t>数字类型 </a:t>
            </a:r>
          </a:p>
          <a:p>
            <a:pPr lvl="1">
              <a:defRPr/>
            </a:pPr>
            <a:r>
              <a:rPr lang="zh-CN" altLang="en-US" sz="2400" b="1" dirty="0">
                <a:latin typeface="+mn-ea"/>
              </a:rPr>
              <a:t>布尔类型 </a:t>
            </a:r>
          </a:p>
          <a:p>
            <a:pPr lvl="1">
              <a:defRPr/>
            </a:pPr>
            <a:r>
              <a:rPr lang="zh-CN" altLang="en-US" sz="2400" b="1" dirty="0">
                <a:latin typeface="+mn-ea"/>
              </a:rPr>
              <a:t>字符串类型 </a:t>
            </a:r>
          </a:p>
          <a:p>
            <a:pPr lvl="1">
              <a:defRPr/>
            </a:pPr>
            <a:r>
              <a:rPr lang="zh-CN" altLang="en-US" sz="2400" b="1" dirty="0">
                <a:latin typeface="+mn-ea"/>
              </a:rPr>
              <a:t>节点集合</a:t>
            </a:r>
            <a:r>
              <a:rPr lang="zh-CN" altLang="en-US" b="1" dirty="0">
                <a:latin typeface="+mn-ea"/>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36547">
                                            <p:txEl>
                                              <p:pRg st="1" end="1"/>
                                            </p:txEl>
                                          </p:spTgt>
                                        </p:tgtEl>
                                        <p:attrNameLst>
                                          <p:attrName>style.visibility</p:attrName>
                                        </p:attrNameLst>
                                      </p:cBhvr>
                                      <p:to>
                                        <p:strVal val="visible"/>
                                      </p:to>
                                    </p:set>
                                    <p:animEffect transition="in" filter="blinds(horizontal)">
                                      <p:cBhvr>
                                        <p:cTn id="7" dur="500"/>
                                        <p:tgtEl>
                                          <p:spTgt spid="236547">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36547">
                                            <p:txEl>
                                              <p:pRg st="2" end="2"/>
                                            </p:txEl>
                                          </p:spTgt>
                                        </p:tgtEl>
                                        <p:attrNameLst>
                                          <p:attrName>style.visibility</p:attrName>
                                        </p:attrNameLst>
                                      </p:cBhvr>
                                      <p:to>
                                        <p:strVal val="visible"/>
                                      </p:to>
                                    </p:set>
                                    <p:animEffect transition="in" filter="blinds(horizontal)">
                                      <p:cBhvr>
                                        <p:cTn id="10" dur="500"/>
                                        <p:tgtEl>
                                          <p:spTgt spid="236547">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36547">
                                            <p:txEl>
                                              <p:pRg st="3" end="3"/>
                                            </p:txEl>
                                          </p:spTgt>
                                        </p:tgtEl>
                                        <p:attrNameLst>
                                          <p:attrName>style.visibility</p:attrName>
                                        </p:attrNameLst>
                                      </p:cBhvr>
                                      <p:to>
                                        <p:strVal val="visible"/>
                                      </p:to>
                                    </p:set>
                                    <p:animEffect transition="in" filter="blinds(horizontal)">
                                      <p:cBhvr>
                                        <p:cTn id="13" dur="500"/>
                                        <p:tgtEl>
                                          <p:spTgt spid="236547">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236547">
                                            <p:txEl>
                                              <p:pRg st="4" end="4"/>
                                            </p:txEl>
                                          </p:spTgt>
                                        </p:tgtEl>
                                        <p:attrNameLst>
                                          <p:attrName>style.visibility</p:attrName>
                                        </p:attrNameLst>
                                      </p:cBhvr>
                                      <p:to>
                                        <p:strVal val="visible"/>
                                      </p:to>
                                    </p:set>
                                    <p:animEffect transition="in" filter="blinds(horizontal)">
                                      <p:cBhvr>
                                        <p:cTn id="16" dur="500"/>
                                        <p:tgtEl>
                                          <p:spTgt spid="2365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p:cNvSpPr>
            <a:spLocks noGrp="1" noChangeArrowheads="1"/>
          </p:cNvSpPr>
          <p:nvPr>
            <p:ph type="title"/>
          </p:nvPr>
        </p:nvSpPr>
        <p:spPr>
          <a:xfrm>
            <a:off x="1857356" y="381000"/>
            <a:ext cx="6372244" cy="762000"/>
          </a:xfrm>
        </p:spPr>
        <p:txBody>
          <a:bodyPr/>
          <a:lstStyle/>
          <a:p>
            <a:pPr>
              <a:defRPr/>
            </a:pPr>
            <a:r>
              <a:rPr lang="zh-CN" altLang="en-US" sz="3200" b="1" dirty="0">
                <a:latin typeface="+mn-ea"/>
                <a:ea typeface="+mn-ea"/>
              </a:rPr>
              <a:t>当前上下文 </a:t>
            </a:r>
          </a:p>
        </p:txBody>
      </p:sp>
      <p:sp>
        <p:nvSpPr>
          <p:cNvPr id="237571" name="Rectangle 3"/>
          <p:cNvSpPr>
            <a:spLocks noGrp="1" noChangeArrowheads="1"/>
          </p:cNvSpPr>
          <p:nvPr>
            <p:ph idx="1"/>
          </p:nvPr>
        </p:nvSpPr>
        <p:spPr>
          <a:xfrm>
            <a:off x="2000232" y="1500174"/>
            <a:ext cx="6858018" cy="4343400"/>
          </a:xfrm>
        </p:spPr>
        <p:txBody>
          <a:bodyPr/>
          <a:lstStyle/>
          <a:p>
            <a:pPr>
              <a:defRPr/>
            </a:pPr>
            <a:r>
              <a:rPr lang="en-US" altLang="zh-CN" sz="2800" b="1" dirty="0">
                <a:latin typeface="+mn-ea"/>
              </a:rPr>
              <a:t>context node</a:t>
            </a:r>
            <a:r>
              <a:rPr lang="zh-CN" altLang="en-US" sz="2800" b="1" dirty="0">
                <a:latin typeface="+mn-ea"/>
              </a:rPr>
              <a:t>：</a:t>
            </a:r>
            <a:r>
              <a:rPr lang="en-US" altLang="zh-CN" sz="2800" b="1" dirty="0" err="1">
                <a:latin typeface="+mn-ea"/>
              </a:rPr>
              <a:t>XPath</a:t>
            </a:r>
            <a:r>
              <a:rPr lang="zh-CN" altLang="en-US" sz="2800" b="1" dirty="0">
                <a:latin typeface="+mn-ea"/>
              </a:rPr>
              <a:t>定位步中的活跃元素 </a:t>
            </a:r>
          </a:p>
          <a:p>
            <a:pPr>
              <a:defRPr/>
            </a:pPr>
            <a:r>
              <a:rPr lang="en-US" altLang="zh-CN" sz="2800" b="1" dirty="0">
                <a:latin typeface="+mn-ea"/>
              </a:rPr>
              <a:t>Root/…/Ancestor/Parent/SELF/Child/Descendant </a:t>
            </a:r>
          </a:p>
        </p:txBody>
      </p:sp>
      <p:pic>
        <p:nvPicPr>
          <p:cNvPr id="81924" name="Picture 4" descr="xml040401"/>
          <p:cNvPicPr>
            <a:picLocks noChangeAspect="1" noChangeArrowheads="1"/>
          </p:cNvPicPr>
          <p:nvPr/>
        </p:nvPicPr>
        <p:blipFill>
          <a:blip r:embed="rId2"/>
          <a:srcRect/>
          <a:stretch>
            <a:fillRect/>
          </a:stretch>
        </p:blipFill>
        <p:spPr bwMode="auto">
          <a:xfrm>
            <a:off x="2786050" y="3429000"/>
            <a:ext cx="5334000" cy="3076574"/>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37571">
                                            <p:txEl>
                                              <p:pRg st="0" end="0"/>
                                            </p:txEl>
                                          </p:spTgt>
                                        </p:tgtEl>
                                        <p:attrNameLst>
                                          <p:attrName>style.visibility</p:attrName>
                                        </p:attrNameLst>
                                      </p:cBhvr>
                                      <p:to>
                                        <p:strVal val="visible"/>
                                      </p:to>
                                    </p:set>
                                    <p:animEffect transition="in" filter="blinds(horizontal)">
                                      <p:cBhvr>
                                        <p:cTn id="7" dur="500"/>
                                        <p:tgtEl>
                                          <p:spTgt spid="2375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37571">
                                            <p:txEl>
                                              <p:pRg st="1" end="1"/>
                                            </p:txEl>
                                          </p:spTgt>
                                        </p:tgtEl>
                                        <p:attrNameLst>
                                          <p:attrName>style.visibility</p:attrName>
                                        </p:attrNameLst>
                                      </p:cBhvr>
                                      <p:to>
                                        <p:strVal val="visible"/>
                                      </p:to>
                                    </p:set>
                                    <p:anim calcmode="lin" valueType="num">
                                      <p:cBhvr additive="base">
                                        <p:cTn id="12" dur="500" fill="hold"/>
                                        <p:tgtEl>
                                          <p:spTgt spid="237571">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37571">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p:cNvSpPr>
            <a:spLocks noGrp="1" noChangeArrowheads="1"/>
          </p:cNvSpPr>
          <p:nvPr>
            <p:ph type="title"/>
          </p:nvPr>
        </p:nvSpPr>
        <p:spPr/>
        <p:txBody>
          <a:bodyPr/>
          <a:lstStyle/>
          <a:p>
            <a:pPr>
              <a:defRPr/>
            </a:pPr>
            <a:r>
              <a:rPr lang="zh-CN" altLang="en-US" sz="3200" b="1" dirty="0">
                <a:latin typeface="+mn-ea"/>
                <a:ea typeface="+mn-ea"/>
              </a:rPr>
              <a:t>定位路径组成 </a:t>
            </a:r>
          </a:p>
        </p:txBody>
      </p:sp>
      <p:sp>
        <p:nvSpPr>
          <p:cNvPr id="238595" name="Rectangle 3"/>
          <p:cNvSpPr>
            <a:spLocks noGrp="1" noChangeArrowheads="1"/>
          </p:cNvSpPr>
          <p:nvPr>
            <p:ph idx="1"/>
          </p:nvPr>
        </p:nvSpPr>
        <p:spPr/>
        <p:txBody>
          <a:bodyPr/>
          <a:lstStyle/>
          <a:p>
            <a:pPr>
              <a:defRPr/>
            </a:pPr>
            <a:r>
              <a:rPr lang="en-US" altLang="zh-CN" sz="2800" b="1" dirty="0" err="1" smtClean="0">
                <a:latin typeface="+mn-ea"/>
              </a:rPr>
              <a:t>XPath</a:t>
            </a:r>
            <a:r>
              <a:rPr lang="zh-CN" altLang="en-US" sz="2800" b="1" dirty="0">
                <a:latin typeface="+mn-ea"/>
              </a:rPr>
              <a:t>定位路径是由一步或许多步构成，这些步被前斜线“</a:t>
            </a:r>
            <a:r>
              <a:rPr lang="en-US" altLang="zh-CN" sz="2800" b="1" dirty="0">
                <a:latin typeface="+mn-ea"/>
              </a:rPr>
              <a:t>/”</a:t>
            </a:r>
            <a:r>
              <a:rPr lang="zh-CN" altLang="en-US" sz="2800" b="1" dirty="0">
                <a:latin typeface="+mn-ea"/>
              </a:rPr>
              <a:t>分隔每一步都由三个部</a:t>
            </a:r>
            <a:r>
              <a:rPr lang="zh-CN" altLang="en-US" sz="2800" b="1" dirty="0" smtClean="0">
                <a:latin typeface="+mn-ea"/>
              </a:rPr>
              <a:t>分组成 </a:t>
            </a:r>
            <a:endParaRPr lang="en-US" altLang="zh-CN" sz="2800" b="1" dirty="0" smtClean="0">
              <a:latin typeface="+mn-ea"/>
            </a:endParaRPr>
          </a:p>
          <a:p>
            <a:pPr lvl="1">
              <a:defRPr/>
            </a:pPr>
            <a:r>
              <a:rPr lang="en-US" altLang="zh-CN" sz="2000" b="1" dirty="0" smtClean="0">
                <a:latin typeface="+mn-ea"/>
              </a:rPr>
              <a:t>…/</a:t>
            </a:r>
            <a:r>
              <a:rPr lang="en-US" altLang="zh-CN" sz="2000" b="1" dirty="0">
                <a:latin typeface="+mn-ea"/>
              </a:rPr>
              <a:t>axis::</a:t>
            </a:r>
            <a:r>
              <a:rPr lang="en-US" altLang="zh-CN" sz="2000" b="1" dirty="0" err="1">
                <a:latin typeface="+mn-ea"/>
              </a:rPr>
              <a:t>nodetest</a:t>
            </a:r>
            <a:r>
              <a:rPr lang="en-US" altLang="zh-CN" sz="2000" b="1" dirty="0">
                <a:latin typeface="+mn-ea"/>
              </a:rPr>
              <a:t>[predicate]/… </a:t>
            </a:r>
          </a:p>
          <a:p>
            <a:pPr lvl="1">
              <a:defRPr/>
            </a:pPr>
            <a:r>
              <a:rPr lang="zh-CN" altLang="en-US" sz="2400" b="1" dirty="0">
                <a:latin typeface="+mn-ea"/>
              </a:rPr>
              <a:t>轴（</a:t>
            </a:r>
            <a:r>
              <a:rPr lang="en-US" altLang="zh-CN" sz="2400" b="1" dirty="0">
                <a:latin typeface="+mn-ea"/>
              </a:rPr>
              <a:t>axis</a:t>
            </a:r>
            <a:r>
              <a:rPr lang="zh-CN" altLang="en-US" sz="2400" b="1" dirty="0">
                <a:latin typeface="+mn-ea"/>
              </a:rPr>
              <a:t>）：由步选择的节点和当前上下文节点之间的关系 </a:t>
            </a:r>
          </a:p>
          <a:p>
            <a:pPr lvl="1">
              <a:defRPr/>
            </a:pPr>
            <a:r>
              <a:rPr lang="zh-CN" altLang="en-US" sz="2400" b="1" dirty="0">
                <a:latin typeface="+mn-ea"/>
              </a:rPr>
              <a:t>节点测试</a:t>
            </a:r>
            <a:r>
              <a:rPr lang="en-US" altLang="zh-CN" sz="2400" b="1" dirty="0">
                <a:latin typeface="+mn-ea"/>
              </a:rPr>
              <a:t>(</a:t>
            </a:r>
            <a:r>
              <a:rPr lang="en-US" altLang="zh-CN" sz="2400" b="1" dirty="0" err="1">
                <a:latin typeface="+mn-ea"/>
              </a:rPr>
              <a:t>nodetest</a:t>
            </a:r>
            <a:r>
              <a:rPr lang="en-US" altLang="zh-CN" sz="2400" b="1" dirty="0">
                <a:latin typeface="+mn-ea"/>
              </a:rPr>
              <a:t>)</a:t>
            </a:r>
            <a:r>
              <a:rPr lang="zh-CN" altLang="en-US" sz="2400" b="1" dirty="0">
                <a:latin typeface="+mn-ea"/>
              </a:rPr>
              <a:t>：由步选择的节点类型和节点扩展名称 </a:t>
            </a:r>
          </a:p>
          <a:p>
            <a:pPr lvl="1">
              <a:defRPr/>
            </a:pPr>
            <a:r>
              <a:rPr lang="zh-CN" altLang="en-US" sz="2400" b="1" dirty="0">
                <a:latin typeface="+mn-ea"/>
              </a:rPr>
              <a:t>谓词</a:t>
            </a:r>
            <a:r>
              <a:rPr lang="en-US" altLang="zh-CN" sz="2400" b="1" dirty="0">
                <a:latin typeface="+mn-ea"/>
              </a:rPr>
              <a:t>(predicate)</a:t>
            </a:r>
            <a:r>
              <a:rPr lang="zh-CN" altLang="en-US" sz="2400" b="1" dirty="0">
                <a:latin typeface="+mn-ea"/>
              </a:rPr>
              <a:t>：可以没有，由表达式进一步筛选节点测试选择的节点集 </a:t>
            </a:r>
          </a:p>
          <a:p>
            <a:pPr lvl="1">
              <a:defRPr/>
            </a:pPr>
            <a:endParaRPr lang="en-US" altLang="zh-CN" sz="2400" b="1"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38595">
                                            <p:txEl>
                                              <p:pRg st="2" end="2"/>
                                            </p:txEl>
                                          </p:spTgt>
                                        </p:tgtEl>
                                        <p:attrNameLst>
                                          <p:attrName>style.visibility</p:attrName>
                                        </p:attrNameLst>
                                      </p:cBhvr>
                                      <p:to>
                                        <p:strVal val="visible"/>
                                      </p:to>
                                    </p:set>
                                    <p:animEffect transition="in" filter="blinds(horizontal)">
                                      <p:cBhvr>
                                        <p:cTn id="7" dur="500"/>
                                        <p:tgtEl>
                                          <p:spTgt spid="23859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38595">
                                            <p:txEl>
                                              <p:pRg st="3" end="3"/>
                                            </p:txEl>
                                          </p:spTgt>
                                        </p:tgtEl>
                                        <p:attrNameLst>
                                          <p:attrName>style.visibility</p:attrName>
                                        </p:attrNameLst>
                                      </p:cBhvr>
                                      <p:to>
                                        <p:strVal val="visible"/>
                                      </p:to>
                                    </p:set>
                                    <p:anim calcmode="lin" valueType="num">
                                      <p:cBhvr additive="base">
                                        <p:cTn id="12" dur="500" fill="hold"/>
                                        <p:tgtEl>
                                          <p:spTgt spid="238595">
                                            <p:txEl>
                                              <p:pRg st="3" end="3"/>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3859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38595">
                                            <p:txEl>
                                              <p:pRg st="4" end="4"/>
                                            </p:txEl>
                                          </p:spTgt>
                                        </p:tgtEl>
                                        <p:attrNameLst>
                                          <p:attrName>style.visibility</p:attrName>
                                        </p:attrNameLst>
                                      </p:cBhvr>
                                      <p:to>
                                        <p:strVal val="visible"/>
                                      </p:to>
                                    </p:set>
                                    <p:anim calcmode="lin" valueType="num">
                                      <p:cBhvr additive="base">
                                        <p:cTn id="18" dur="500" fill="hold"/>
                                        <p:tgtEl>
                                          <p:spTgt spid="238595">
                                            <p:txEl>
                                              <p:pRg st="4" end="4"/>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23859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p:cNvSpPr>
            <a:spLocks noGrp="1" noChangeArrowheads="1"/>
          </p:cNvSpPr>
          <p:nvPr>
            <p:ph type="title"/>
          </p:nvPr>
        </p:nvSpPr>
        <p:spPr>
          <a:xfrm>
            <a:off x="1857356" y="381000"/>
            <a:ext cx="6372244" cy="990600"/>
          </a:xfrm>
        </p:spPr>
        <p:txBody>
          <a:bodyPr/>
          <a:lstStyle/>
          <a:p>
            <a:pPr>
              <a:defRPr/>
            </a:pPr>
            <a:r>
              <a:rPr lang="zh-CN" altLang="en-US" sz="3200" b="1" dirty="0">
                <a:latin typeface="+mn-ea"/>
                <a:ea typeface="+mn-ea"/>
              </a:rPr>
              <a:t>定位路径的种类 </a:t>
            </a:r>
          </a:p>
        </p:txBody>
      </p:sp>
      <p:sp>
        <p:nvSpPr>
          <p:cNvPr id="239619" name="Rectangle 3"/>
          <p:cNvSpPr>
            <a:spLocks noGrp="1" noChangeArrowheads="1"/>
          </p:cNvSpPr>
          <p:nvPr>
            <p:ph idx="1"/>
          </p:nvPr>
        </p:nvSpPr>
        <p:spPr>
          <a:xfrm>
            <a:off x="1857356" y="1981200"/>
            <a:ext cx="6829444" cy="4267200"/>
          </a:xfrm>
        </p:spPr>
        <p:txBody>
          <a:bodyPr/>
          <a:lstStyle/>
          <a:p>
            <a:pPr>
              <a:defRPr/>
            </a:pPr>
            <a:r>
              <a:rPr lang="zh-CN" altLang="en-US" sz="2800" b="1" dirty="0">
                <a:latin typeface="+mn-ea"/>
              </a:rPr>
              <a:t>绝对路径 </a:t>
            </a:r>
          </a:p>
          <a:p>
            <a:pPr lvl="1">
              <a:defRPr/>
            </a:pPr>
            <a:r>
              <a:rPr lang="zh-CN" altLang="en-US" sz="2400" b="1" dirty="0">
                <a:latin typeface="+mn-ea"/>
              </a:rPr>
              <a:t>从根节点开始搜索，并且表达式以：“</a:t>
            </a:r>
            <a:r>
              <a:rPr lang="en-US" altLang="zh-CN" sz="2400" b="1" dirty="0">
                <a:latin typeface="+mn-ea"/>
              </a:rPr>
              <a:t>/”</a:t>
            </a:r>
            <a:r>
              <a:rPr lang="zh-CN" altLang="en-US" sz="2400" b="1" dirty="0">
                <a:latin typeface="+mn-ea"/>
              </a:rPr>
              <a:t>开头</a:t>
            </a:r>
          </a:p>
          <a:p>
            <a:pPr lvl="1">
              <a:defRPr/>
            </a:pPr>
            <a:r>
              <a:rPr lang="zh-CN" altLang="en-US" sz="2400" b="1" dirty="0">
                <a:latin typeface="+mn-ea"/>
              </a:rPr>
              <a:t>例如： </a:t>
            </a:r>
            <a:r>
              <a:rPr lang="en-US" altLang="zh-CN" sz="2400" b="1" dirty="0">
                <a:latin typeface="+mn-ea"/>
              </a:rPr>
              <a:t>/child::catalog/child::tools </a:t>
            </a:r>
          </a:p>
          <a:p>
            <a:pPr>
              <a:defRPr/>
            </a:pPr>
            <a:r>
              <a:rPr lang="zh-CN" altLang="en-US" sz="2800" b="1" dirty="0">
                <a:latin typeface="+mn-ea"/>
              </a:rPr>
              <a:t>相对路径：</a:t>
            </a:r>
          </a:p>
          <a:p>
            <a:pPr lvl="1">
              <a:defRPr/>
            </a:pPr>
            <a:r>
              <a:rPr lang="zh-CN" altLang="en-US" sz="2400" b="1" dirty="0">
                <a:latin typeface="+mn-ea"/>
              </a:rPr>
              <a:t>基于当前上下文节点开始搜索</a:t>
            </a:r>
          </a:p>
          <a:p>
            <a:pPr lvl="1">
              <a:defRPr/>
            </a:pPr>
            <a:r>
              <a:rPr lang="zh-CN" altLang="en-US" sz="2400" b="1" dirty="0">
                <a:latin typeface="+mn-ea"/>
              </a:rPr>
              <a:t>例如： </a:t>
            </a:r>
            <a:r>
              <a:rPr lang="en-US" altLang="zh-CN" sz="2400" b="1" dirty="0">
                <a:latin typeface="+mn-ea"/>
              </a:rPr>
              <a:t>child::tools/child::saw </a:t>
            </a:r>
            <a:r>
              <a:rPr lang="en-US" altLang="zh-CN" b="1" dirty="0">
                <a:latin typeface="+mn-ea"/>
              </a:rPr>
              <a:t/>
            </a:r>
            <a:br>
              <a:rPr lang="en-US" altLang="zh-CN" b="1" dirty="0">
                <a:latin typeface="+mn-ea"/>
              </a:rPr>
            </a:br>
            <a:endParaRPr lang="en-US" altLang="zh-CN" b="1"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39619">
                                            <p:txEl>
                                              <p:pRg st="0" end="0"/>
                                            </p:txEl>
                                          </p:spTgt>
                                        </p:tgtEl>
                                        <p:attrNameLst>
                                          <p:attrName>style.visibility</p:attrName>
                                        </p:attrNameLst>
                                      </p:cBhvr>
                                      <p:to>
                                        <p:strVal val="visible"/>
                                      </p:to>
                                    </p:set>
                                    <p:animEffect transition="in" filter="blinds(horizontal)">
                                      <p:cBhvr>
                                        <p:cTn id="7" dur="500"/>
                                        <p:tgtEl>
                                          <p:spTgt spid="23961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39619">
                                            <p:txEl>
                                              <p:pRg st="1" end="1"/>
                                            </p:txEl>
                                          </p:spTgt>
                                        </p:tgtEl>
                                        <p:attrNameLst>
                                          <p:attrName>style.visibility</p:attrName>
                                        </p:attrNameLst>
                                      </p:cBhvr>
                                      <p:to>
                                        <p:strVal val="visible"/>
                                      </p:to>
                                    </p:set>
                                    <p:animEffect transition="in" filter="blinds(horizontal)">
                                      <p:cBhvr>
                                        <p:cTn id="10" dur="500"/>
                                        <p:tgtEl>
                                          <p:spTgt spid="23961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239619">
                                            <p:txEl>
                                              <p:pRg st="2" end="2"/>
                                            </p:txEl>
                                          </p:spTgt>
                                        </p:tgtEl>
                                        <p:attrNameLst>
                                          <p:attrName>style.visibility</p:attrName>
                                        </p:attrNameLst>
                                      </p:cBhvr>
                                      <p:to>
                                        <p:strVal val="visible"/>
                                      </p:to>
                                    </p:set>
                                    <p:anim calcmode="lin" valueType="num">
                                      <p:cBhvr additive="base">
                                        <p:cTn id="15" dur="500" fill="hold"/>
                                        <p:tgtEl>
                                          <p:spTgt spid="239619">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3961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39619">
                                            <p:txEl>
                                              <p:pRg st="3" end="3"/>
                                            </p:txEl>
                                          </p:spTgt>
                                        </p:tgtEl>
                                        <p:attrNameLst>
                                          <p:attrName>style.visibility</p:attrName>
                                        </p:attrNameLst>
                                      </p:cBhvr>
                                      <p:to>
                                        <p:strVal val="visible"/>
                                      </p:to>
                                    </p:set>
                                    <p:anim calcmode="lin" valueType="num">
                                      <p:cBhvr additive="base">
                                        <p:cTn id="21" dur="500" fill="hold"/>
                                        <p:tgtEl>
                                          <p:spTgt spid="239619">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39619">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39619">
                                            <p:txEl>
                                              <p:pRg st="4" end="4"/>
                                            </p:txEl>
                                          </p:spTgt>
                                        </p:tgtEl>
                                        <p:attrNameLst>
                                          <p:attrName>style.visibility</p:attrName>
                                        </p:attrNameLst>
                                      </p:cBhvr>
                                      <p:to>
                                        <p:strVal val="visible"/>
                                      </p:to>
                                    </p:set>
                                    <p:anim calcmode="lin" valueType="num">
                                      <p:cBhvr additive="base">
                                        <p:cTn id="25" dur="500" fill="hold"/>
                                        <p:tgtEl>
                                          <p:spTgt spid="239619">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3961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nodeType="clickEffect">
                                  <p:stCondLst>
                                    <p:cond delay="0"/>
                                  </p:stCondLst>
                                  <p:childTnLst>
                                    <p:set>
                                      <p:cBhvr>
                                        <p:cTn id="30" dur="1" fill="hold">
                                          <p:stCondLst>
                                            <p:cond delay="0"/>
                                          </p:stCondLst>
                                        </p:cTn>
                                        <p:tgtEl>
                                          <p:spTgt spid="239619">
                                            <p:txEl>
                                              <p:pRg st="5" end="5"/>
                                            </p:txEl>
                                          </p:spTgt>
                                        </p:tgtEl>
                                        <p:attrNameLst>
                                          <p:attrName>style.visibility</p:attrName>
                                        </p:attrNameLst>
                                      </p:cBhvr>
                                      <p:to>
                                        <p:strVal val="visible"/>
                                      </p:to>
                                    </p:set>
                                    <p:animEffect transition="in" filter="box(in)">
                                      <p:cBhvr>
                                        <p:cTn id="31" dur="500"/>
                                        <p:tgtEl>
                                          <p:spTgt spid="2396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ChangeArrowheads="1"/>
          </p:cNvSpPr>
          <p:nvPr>
            <p:ph type="title"/>
          </p:nvPr>
        </p:nvSpPr>
        <p:spPr>
          <a:xfrm>
            <a:off x="2214546" y="142852"/>
            <a:ext cx="6015054" cy="838200"/>
          </a:xfrm>
        </p:spPr>
        <p:txBody>
          <a:bodyPr/>
          <a:lstStyle/>
          <a:p>
            <a:pPr>
              <a:defRPr/>
            </a:pPr>
            <a:r>
              <a:rPr lang="zh-CN" altLang="en-US" sz="3200" b="1" dirty="0">
                <a:latin typeface="+mn-ea"/>
                <a:ea typeface="+mn-ea"/>
              </a:rPr>
              <a:t>例子 </a:t>
            </a:r>
          </a:p>
        </p:txBody>
      </p:sp>
      <p:sp>
        <p:nvSpPr>
          <p:cNvPr id="240643" name="Rectangle 3"/>
          <p:cNvSpPr>
            <a:spLocks noGrp="1" noChangeArrowheads="1"/>
          </p:cNvSpPr>
          <p:nvPr>
            <p:ph idx="1"/>
          </p:nvPr>
        </p:nvSpPr>
        <p:spPr>
          <a:xfrm>
            <a:off x="1785918" y="1285860"/>
            <a:ext cx="6748482" cy="5114940"/>
          </a:xfrm>
        </p:spPr>
        <p:txBody>
          <a:bodyPr/>
          <a:lstStyle/>
          <a:p>
            <a:pPr>
              <a:lnSpc>
                <a:spcPct val="90000"/>
              </a:lnSpc>
              <a:defRPr/>
            </a:pPr>
            <a:r>
              <a:rPr lang="en-US" altLang="zh-CN" sz="2400" b="1" dirty="0">
                <a:latin typeface="+mn-ea"/>
              </a:rPr>
              <a:t>/paper/chapter[1]/section[2]/title : </a:t>
            </a:r>
            <a:r>
              <a:rPr lang="zh-CN" altLang="en-US" sz="2400" b="1" dirty="0">
                <a:latin typeface="+mn-ea"/>
              </a:rPr>
              <a:t>第一章第二部分的标题 </a:t>
            </a:r>
          </a:p>
          <a:p>
            <a:pPr>
              <a:lnSpc>
                <a:spcPct val="90000"/>
              </a:lnSpc>
              <a:defRPr/>
            </a:pPr>
            <a:r>
              <a:rPr lang="en-US" altLang="zh-CN" sz="2400" b="1" dirty="0">
                <a:latin typeface="+mn-ea"/>
              </a:rPr>
              <a:t>/paper/chapter/title : </a:t>
            </a:r>
            <a:r>
              <a:rPr lang="zh-CN" altLang="en-US" sz="2400" b="1" dirty="0">
                <a:latin typeface="+mn-ea"/>
              </a:rPr>
              <a:t>所有章的标题 </a:t>
            </a:r>
          </a:p>
          <a:p>
            <a:pPr>
              <a:lnSpc>
                <a:spcPct val="90000"/>
              </a:lnSpc>
              <a:defRPr/>
            </a:pPr>
            <a:r>
              <a:rPr lang="en-US" altLang="zh-CN" sz="2400" b="1" dirty="0">
                <a:latin typeface="+mn-ea"/>
              </a:rPr>
              <a:t>/paper/*/title : </a:t>
            </a:r>
            <a:r>
              <a:rPr lang="zh-CN" altLang="en-US" sz="2400" b="1" dirty="0">
                <a:latin typeface="+mn-ea"/>
              </a:rPr>
              <a:t>论文中任何子元素的标题 </a:t>
            </a:r>
          </a:p>
          <a:p>
            <a:pPr>
              <a:lnSpc>
                <a:spcPct val="90000"/>
              </a:lnSpc>
              <a:defRPr/>
            </a:pPr>
            <a:r>
              <a:rPr lang="en-US" altLang="zh-CN" sz="2400" b="1" dirty="0">
                <a:latin typeface="+mn-ea"/>
              </a:rPr>
              <a:t>parent::node()or.. : </a:t>
            </a:r>
            <a:r>
              <a:rPr lang="zh-CN" altLang="en-US" sz="2400" b="1" dirty="0">
                <a:latin typeface="+mn-ea"/>
              </a:rPr>
              <a:t>当前节点的父节点 </a:t>
            </a:r>
          </a:p>
          <a:p>
            <a:pPr>
              <a:lnSpc>
                <a:spcPct val="90000"/>
              </a:lnSpc>
              <a:defRPr/>
            </a:pPr>
            <a:r>
              <a:rPr lang="en-US" altLang="zh-CN" sz="2400" b="1" dirty="0">
                <a:latin typeface="+mn-ea"/>
              </a:rPr>
              <a:t>self::node()or. </a:t>
            </a:r>
            <a:r>
              <a:rPr lang="zh-CN" altLang="en-US" sz="2400" b="1" dirty="0">
                <a:latin typeface="+mn-ea"/>
              </a:rPr>
              <a:t>：当前节点 </a:t>
            </a:r>
          </a:p>
          <a:p>
            <a:pPr>
              <a:lnSpc>
                <a:spcPct val="90000"/>
              </a:lnSpc>
              <a:defRPr/>
            </a:pPr>
            <a:r>
              <a:rPr lang="en-US" altLang="zh-CN" sz="2400" b="1" dirty="0">
                <a:latin typeface="+mn-ea"/>
              </a:rPr>
              <a:t>../.. </a:t>
            </a:r>
            <a:r>
              <a:rPr lang="zh-CN" altLang="en-US" sz="2400" b="1" dirty="0">
                <a:latin typeface="+mn-ea"/>
              </a:rPr>
              <a:t>：当前节点的 父节点的父节点 </a:t>
            </a:r>
          </a:p>
          <a:p>
            <a:pPr>
              <a:lnSpc>
                <a:spcPct val="90000"/>
              </a:lnSpc>
              <a:defRPr/>
            </a:pPr>
            <a:r>
              <a:rPr lang="en-US" altLang="zh-CN" sz="2400" b="1" dirty="0">
                <a:latin typeface="+mn-ea"/>
              </a:rPr>
              <a:t>child::* </a:t>
            </a:r>
            <a:r>
              <a:rPr lang="zh-CN" altLang="en-US" sz="2400" b="1" dirty="0">
                <a:latin typeface="+mn-ea"/>
              </a:rPr>
              <a:t>：当前节点的子节点 </a:t>
            </a:r>
          </a:p>
          <a:p>
            <a:pPr>
              <a:lnSpc>
                <a:spcPct val="90000"/>
              </a:lnSpc>
              <a:defRPr/>
            </a:pPr>
            <a:r>
              <a:rPr lang="en-US" altLang="zh-CN" sz="2400" b="1" dirty="0">
                <a:latin typeface="+mn-ea"/>
              </a:rPr>
              <a:t>./following-sibling::node()/@status </a:t>
            </a:r>
            <a:r>
              <a:rPr lang="zh-CN" altLang="en-US" sz="2400" b="1" dirty="0">
                <a:latin typeface="+mn-ea"/>
              </a:rPr>
              <a:t>：后继兄弟节点</a:t>
            </a:r>
            <a:r>
              <a:rPr lang="en-US" altLang="zh-CN" sz="2400" b="1" dirty="0">
                <a:latin typeface="+mn-ea"/>
              </a:rPr>
              <a:t>status</a:t>
            </a:r>
            <a:r>
              <a:rPr lang="zh-CN" altLang="en-US" sz="2400" b="1" dirty="0">
                <a:latin typeface="+mn-ea"/>
              </a:rPr>
              <a:t>属性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40643">
                                            <p:txEl>
                                              <p:pRg st="1" end="1"/>
                                            </p:txEl>
                                          </p:spTgt>
                                        </p:tgtEl>
                                        <p:attrNameLst>
                                          <p:attrName>style.visibility</p:attrName>
                                        </p:attrNameLst>
                                      </p:cBhvr>
                                      <p:to>
                                        <p:strVal val="visible"/>
                                      </p:to>
                                    </p:set>
                                    <p:animEffect transition="in" filter="blinds(horizontal)">
                                      <p:cBhvr>
                                        <p:cTn id="7" dur="500"/>
                                        <p:tgtEl>
                                          <p:spTgt spid="24064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40643">
                                            <p:txEl>
                                              <p:pRg st="2" end="2"/>
                                            </p:txEl>
                                          </p:spTgt>
                                        </p:tgtEl>
                                        <p:attrNameLst>
                                          <p:attrName>style.visibility</p:attrName>
                                        </p:attrNameLst>
                                      </p:cBhvr>
                                      <p:to>
                                        <p:strVal val="visible"/>
                                      </p:to>
                                    </p:set>
                                    <p:anim calcmode="lin" valueType="num">
                                      <p:cBhvr additive="base">
                                        <p:cTn id="12" dur="500" fill="hold"/>
                                        <p:tgtEl>
                                          <p:spTgt spid="240643">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4064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40643">
                                            <p:txEl>
                                              <p:pRg st="3" end="3"/>
                                            </p:txEl>
                                          </p:spTgt>
                                        </p:tgtEl>
                                        <p:attrNameLst>
                                          <p:attrName>style.visibility</p:attrName>
                                        </p:attrNameLst>
                                      </p:cBhvr>
                                      <p:to>
                                        <p:strVal val="visible"/>
                                      </p:to>
                                    </p:set>
                                    <p:anim calcmode="lin" valueType="num">
                                      <p:cBhvr additive="base">
                                        <p:cTn id="18" dur="500" fill="hold"/>
                                        <p:tgtEl>
                                          <p:spTgt spid="240643">
                                            <p:txEl>
                                              <p:pRg st="3" end="3"/>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24064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240643">
                                            <p:txEl>
                                              <p:pRg st="4" end="4"/>
                                            </p:txEl>
                                          </p:spTgt>
                                        </p:tgtEl>
                                        <p:attrNameLst>
                                          <p:attrName>style.visibility</p:attrName>
                                        </p:attrNameLst>
                                      </p:cBhvr>
                                      <p:to>
                                        <p:strVal val="visible"/>
                                      </p:to>
                                    </p:set>
                                    <p:anim calcmode="lin" valueType="num">
                                      <p:cBhvr additive="base">
                                        <p:cTn id="24" dur="500" fill="hold"/>
                                        <p:tgtEl>
                                          <p:spTgt spid="240643">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24064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240643">
                                            <p:txEl>
                                              <p:pRg st="5" end="5"/>
                                            </p:txEl>
                                          </p:spTgt>
                                        </p:tgtEl>
                                        <p:attrNameLst>
                                          <p:attrName>style.visibility</p:attrName>
                                        </p:attrNameLst>
                                      </p:cBhvr>
                                      <p:to>
                                        <p:strVal val="visible"/>
                                      </p:to>
                                    </p:set>
                                    <p:anim calcmode="lin" valueType="num">
                                      <p:cBhvr additive="base">
                                        <p:cTn id="30" dur="500" fill="hold"/>
                                        <p:tgtEl>
                                          <p:spTgt spid="240643">
                                            <p:txEl>
                                              <p:pRg st="5" end="5"/>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24064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240643">
                                            <p:txEl>
                                              <p:pRg st="6" end="6"/>
                                            </p:txEl>
                                          </p:spTgt>
                                        </p:tgtEl>
                                        <p:attrNameLst>
                                          <p:attrName>style.visibility</p:attrName>
                                        </p:attrNameLst>
                                      </p:cBhvr>
                                      <p:to>
                                        <p:strVal val="visible"/>
                                      </p:to>
                                    </p:set>
                                    <p:animEffect transition="in" filter="blinds(horizontal)">
                                      <p:cBhvr>
                                        <p:cTn id="36" dur="500"/>
                                        <p:tgtEl>
                                          <p:spTgt spid="240643">
                                            <p:txEl>
                                              <p:pRg st="6" end="6"/>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16" fill="hold" nodeType="clickEffect">
                                  <p:stCondLst>
                                    <p:cond delay="0"/>
                                  </p:stCondLst>
                                  <p:childTnLst>
                                    <p:set>
                                      <p:cBhvr>
                                        <p:cTn id="40" dur="1" fill="hold">
                                          <p:stCondLst>
                                            <p:cond delay="0"/>
                                          </p:stCondLst>
                                        </p:cTn>
                                        <p:tgtEl>
                                          <p:spTgt spid="240643">
                                            <p:txEl>
                                              <p:pRg st="7" end="7"/>
                                            </p:txEl>
                                          </p:spTgt>
                                        </p:tgtEl>
                                        <p:attrNameLst>
                                          <p:attrName>style.visibility</p:attrName>
                                        </p:attrNameLst>
                                      </p:cBhvr>
                                      <p:to>
                                        <p:strVal val="visible"/>
                                      </p:to>
                                    </p:set>
                                    <p:animEffect transition="in" filter="box(in)">
                                      <p:cBhvr>
                                        <p:cTn id="41" dur="500"/>
                                        <p:tgtEl>
                                          <p:spTgt spid="24064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p:cNvSpPr>
            <a:spLocks noGrp="1" noChangeArrowheads="1"/>
          </p:cNvSpPr>
          <p:nvPr>
            <p:ph type="title"/>
          </p:nvPr>
        </p:nvSpPr>
        <p:spPr>
          <a:xfrm>
            <a:off x="1785918" y="152400"/>
            <a:ext cx="6443682" cy="609600"/>
          </a:xfrm>
        </p:spPr>
        <p:txBody>
          <a:bodyPr/>
          <a:lstStyle/>
          <a:p>
            <a:pPr>
              <a:defRPr/>
            </a:pPr>
            <a:r>
              <a:rPr lang="zh-CN" altLang="en-US" sz="3200" b="1" dirty="0">
                <a:latin typeface="+mn-ea"/>
                <a:ea typeface="+mn-ea"/>
              </a:rPr>
              <a:t>轴 </a:t>
            </a:r>
          </a:p>
        </p:txBody>
      </p:sp>
      <p:pic>
        <p:nvPicPr>
          <p:cNvPr id="86019" name="Picture 3" descr="xml040402"/>
          <p:cNvPicPr>
            <a:picLocks noChangeAspect="1" noChangeArrowheads="1"/>
          </p:cNvPicPr>
          <p:nvPr/>
        </p:nvPicPr>
        <p:blipFill>
          <a:blip r:embed="rId2"/>
          <a:srcRect/>
          <a:stretch>
            <a:fillRect/>
          </a:stretch>
        </p:blipFill>
        <p:spPr bwMode="auto">
          <a:xfrm>
            <a:off x="1785918" y="762000"/>
            <a:ext cx="6824682" cy="4160838"/>
          </a:xfrm>
          <a:prstGeom prst="rect">
            <a:avLst/>
          </a:prstGeom>
          <a:noFill/>
          <a:ln w="9525">
            <a:noFill/>
            <a:miter lim="800000"/>
            <a:headEnd/>
            <a:tailEnd/>
          </a:ln>
        </p:spPr>
      </p:pic>
      <p:pic>
        <p:nvPicPr>
          <p:cNvPr id="86020" name="Picture 4" descr="xml040403"/>
          <p:cNvPicPr>
            <a:picLocks noChangeAspect="1" noChangeArrowheads="1"/>
          </p:cNvPicPr>
          <p:nvPr/>
        </p:nvPicPr>
        <p:blipFill>
          <a:blip r:embed="rId3"/>
          <a:srcRect/>
          <a:stretch>
            <a:fillRect/>
          </a:stretch>
        </p:blipFill>
        <p:spPr bwMode="auto">
          <a:xfrm>
            <a:off x="1857356" y="4876800"/>
            <a:ext cx="6753244" cy="19145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xfrm>
            <a:off x="2071670" y="381000"/>
            <a:ext cx="6157930" cy="838200"/>
          </a:xfrm>
        </p:spPr>
        <p:txBody>
          <a:bodyPr/>
          <a:lstStyle/>
          <a:p>
            <a:pPr>
              <a:defRPr/>
            </a:pPr>
            <a:r>
              <a:rPr lang="zh-CN" altLang="en-US" sz="3200" b="1" dirty="0">
                <a:latin typeface="+mn-ea"/>
                <a:ea typeface="+mn-ea"/>
              </a:rPr>
              <a:t>节点测试 </a:t>
            </a:r>
          </a:p>
        </p:txBody>
      </p:sp>
      <p:sp>
        <p:nvSpPr>
          <p:cNvPr id="242691" name="Rectangle 3"/>
          <p:cNvSpPr>
            <a:spLocks noGrp="1" noChangeArrowheads="1"/>
          </p:cNvSpPr>
          <p:nvPr>
            <p:ph idx="1"/>
          </p:nvPr>
        </p:nvSpPr>
        <p:spPr>
          <a:xfrm>
            <a:off x="1785918" y="1357298"/>
            <a:ext cx="7143800" cy="5214974"/>
          </a:xfrm>
        </p:spPr>
        <p:txBody>
          <a:bodyPr/>
          <a:lstStyle/>
          <a:p>
            <a:pPr>
              <a:defRPr/>
            </a:pPr>
            <a:r>
              <a:rPr lang="en-US" altLang="zh-CN" sz="2800" b="1" dirty="0">
                <a:latin typeface="+mn-ea"/>
              </a:rPr>
              <a:t>*</a:t>
            </a:r>
            <a:r>
              <a:rPr lang="zh-CN" altLang="en-US" sz="2800" b="1" dirty="0">
                <a:latin typeface="+mn-ea"/>
              </a:rPr>
              <a:t>对任何主节点类型的节点测试结果都为真 </a:t>
            </a:r>
          </a:p>
          <a:p>
            <a:pPr>
              <a:defRPr/>
            </a:pPr>
            <a:r>
              <a:rPr lang="zh-CN" altLang="en-US" sz="2800" b="1" dirty="0">
                <a:latin typeface="+mn-ea"/>
              </a:rPr>
              <a:t>形式为</a:t>
            </a:r>
            <a:r>
              <a:rPr lang="en-US" altLang="zh-CN" sz="2800" b="1" dirty="0" err="1">
                <a:latin typeface="+mn-ea"/>
              </a:rPr>
              <a:t>NCName</a:t>
            </a:r>
            <a:r>
              <a:rPr lang="zh-CN" altLang="en-US" sz="2800" b="1" dirty="0">
                <a:latin typeface="+mn-ea"/>
              </a:rPr>
              <a:t>：*时，其前缀和限制名称一样利用当前基准的名域声明进行扩展，除了加入名域的限制外，其选择节点和*一样 </a:t>
            </a:r>
          </a:p>
          <a:p>
            <a:pPr>
              <a:defRPr/>
            </a:pPr>
            <a:r>
              <a:rPr lang="zh-CN" altLang="en-US" sz="2800" b="1" dirty="0">
                <a:latin typeface="+mn-ea"/>
              </a:rPr>
              <a:t>还可以选择节点的类型 </a:t>
            </a:r>
          </a:p>
          <a:p>
            <a:pPr lvl="1">
              <a:defRPr/>
            </a:pPr>
            <a:r>
              <a:rPr lang="en-US" altLang="zh-CN" sz="2400" b="1" dirty="0">
                <a:latin typeface="+mn-ea"/>
              </a:rPr>
              <a:t>//Comment</a:t>
            </a:r>
            <a:r>
              <a:rPr lang="zh-CN" altLang="en-US" sz="2400" b="1" dirty="0">
                <a:latin typeface="+mn-ea"/>
              </a:rPr>
              <a:t>（）：提取文档中所有的注释 </a:t>
            </a:r>
          </a:p>
          <a:p>
            <a:pPr lvl="1">
              <a:defRPr/>
            </a:pPr>
            <a:r>
              <a:rPr lang="en-US" altLang="zh-CN" sz="2400" b="1" dirty="0">
                <a:latin typeface="+mn-ea"/>
              </a:rPr>
              <a:t>/book/chapter[2]//text():</a:t>
            </a:r>
            <a:r>
              <a:rPr lang="zh-CN" altLang="en-US" sz="2400" b="1" dirty="0">
                <a:latin typeface="+mn-ea"/>
              </a:rPr>
              <a:t>提取第二章中所有元素的实际文本内容； </a:t>
            </a: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p:cNvSpPr>
            <a:spLocks noGrp="1" noChangeArrowheads="1"/>
          </p:cNvSpPr>
          <p:nvPr>
            <p:ph type="title"/>
          </p:nvPr>
        </p:nvSpPr>
        <p:spPr>
          <a:xfrm>
            <a:off x="1785918" y="228600"/>
            <a:ext cx="6443682" cy="609600"/>
          </a:xfrm>
        </p:spPr>
        <p:txBody>
          <a:bodyPr/>
          <a:lstStyle/>
          <a:p>
            <a:pPr>
              <a:defRPr/>
            </a:pPr>
            <a:r>
              <a:rPr lang="zh-CN" altLang="en-US" sz="3200" b="1" dirty="0">
                <a:latin typeface="+mn-ea"/>
                <a:ea typeface="+mn-ea"/>
              </a:rPr>
              <a:t>谓词 </a:t>
            </a:r>
          </a:p>
        </p:txBody>
      </p:sp>
      <p:sp>
        <p:nvSpPr>
          <p:cNvPr id="243715" name="Rectangle 3"/>
          <p:cNvSpPr>
            <a:spLocks noGrp="1" noChangeArrowheads="1"/>
          </p:cNvSpPr>
          <p:nvPr>
            <p:ph idx="1"/>
          </p:nvPr>
        </p:nvSpPr>
        <p:spPr>
          <a:xfrm>
            <a:off x="1928794" y="1066800"/>
            <a:ext cx="6834206" cy="5334000"/>
          </a:xfrm>
        </p:spPr>
        <p:txBody>
          <a:bodyPr/>
          <a:lstStyle/>
          <a:p>
            <a:pPr>
              <a:defRPr/>
            </a:pPr>
            <a:r>
              <a:rPr lang="zh-CN" altLang="en-US" sz="2400" b="1" dirty="0">
                <a:latin typeface="+mn-ea"/>
              </a:rPr>
              <a:t>轴和节点测试得到初始节点，由谓词进一步过滤，谓词形式为在方括号中加入谓词表达式，表达式为真时，选择该节点，否则不选择，谓词表达式经计算后结果是数字和非数字两种，若为数字，而且结果和该元素在初始节点集中的位置一样，表达式为真，否则为假 </a:t>
            </a:r>
          </a:p>
        </p:txBody>
      </p:sp>
      <p:pic>
        <p:nvPicPr>
          <p:cNvPr id="88068" name="Picture 4" descr="xml040404"/>
          <p:cNvPicPr>
            <a:picLocks noChangeAspect="1" noChangeArrowheads="1"/>
          </p:cNvPicPr>
          <p:nvPr/>
        </p:nvPicPr>
        <p:blipFill>
          <a:blip r:embed="rId2"/>
          <a:srcRect/>
          <a:stretch>
            <a:fillRect/>
          </a:stretch>
        </p:blipFill>
        <p:spPr bwMode="auto">
          <a:xfrm>
            <a:off x="1857356" y="3733800"/>
            <a:ext cx="6372244" cy="2590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2"/>
          <p:cNvSpPr>
            <a:spLocks noGrp="1" noChangeArrowheads="1"/>
          </p:cNvSpPr>
          <p:nvPr>
            <p:ph type="title"/>
          </p:nvPr>
        </p:nvSpPr>
        <p:spPr>
          <a:xfrm>
            <a:off x="1857356" y="381000"/>
            <a:ext cx="6372244" cy="838200"/>
          </a:xfrm>
        </p:spPr>
        <p:txBody>
          <a:bodyPr/>
          <a:lstStyle/>
          <a:p>
            <a:pPr>
              <a:defRPr/>
            </a:pPr>
            <a:r>
              <a:rPr lang="en-US" altLang="zh-CN" sz="3200" b="1" dirty="0">
                <a:latin typeface="+mn-ea"/>
                <a:ea typeface="+mn-ea"/>
              </a:rPr>
              <a:t> </a:t>
            </a:r>
            <a:r>
              <a:rPr lang="en-US" altLang="zh-CN" sz="3200" b="1" dirty="0" err="1">
                <a:latin typeface="+mn-ea"/>
                <a:ea typeface="+mn-ea"/>
              </a:rPr>
              <a:t>XPath</a:t>
            </a:r>
            <a:r>
              <a:rPr lang="zh-CN" altLang="en-US" sz="3200" b="1" dirty="0">
                <a:latin typeface="+mn-ea"/>
                <a:ea typeface="+mn-ea"/>
              </a:rPr>
              <a:t>中的字符串函数 </a:t>
            </a:r>
          </a:p>
        </p:txBody>
      </p:sp>
      <p:pic>
        <p:nvPicPr>
          <p:cNvPr id="89091" name="Picture 3" descr="xml040405"/>
          <p:cNvPicPr>
            <a:picLocks noChangeAspect="1" noChangeArrowheads="1"/>
          </p:cNvPicPr>
          <p:nvPr/>
        </p:nvPicPr>
        <p:blipFill>
          <a:blip r:embed="rId2"/>
          <a:srcRect/>
          <a:stretch>
            <a:fillRect/>
          </a:stretch>
        </p:blipFill>
        <p:spPr bwMode="auto">
          <a:xfrm>
            <a:off x="1785918" y="1524000"/>
            <a:ext cx="6900882" cy="35956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a:xfrm>
            <a:off x="1928794" y="381000"/>
            <a:ext cx="6300806" cy="838200"/>
          </a:xfrm>
        </p:spPr>
        <p:txBody>
          <a:bodyPr/>
          <a:lstStyle/>
          <a:p>
            <a:pPr>
              <a:defRPr/>
            </a:pPr>
            <a:r>
              <a:rPr lang="en-US" altLang="zh-CN" sz="3200" b="1" dirty="0">
                <a:latin typeface="+mn-ea"/>
                <a:ea typeface="+mn-ea"/>
              </a:rPr>
              <a:t> </a:t>
            </a:r>
            <a:r>
              <a:rPr lang="en-US" altLang="zh-CN" sz="3200" b="1" dirty="0" err="1">
                <a:latin typeface="+mn-ea"/>
                <a:ea typeface="+mn-ea"/>
              </a:rPr>
              <a:t>XPath</a:t>
            </a:r>
            <a:r>
              <a:rPr lang="zh-CN" altLang="en-US" sz="3200" b="1" dirty="0">
                <a:latin typeface="+mn-ea"/>
                <a:ea typeface="+mn-ea"/>
              </a:rPr>
              <a:t>中的数值函数</a:t>
            </a:r>
            <a:r>
              <a:rPr lang="zh-CN" altLang="en-US" b="1" dirty="0">
                <a:latin typeface="+mn-ea"/>
                <a:ea typeface="+mn-ea"/>
              </a:rPr>
              <a:t> </a:t>
            </a:r>
          </a:p>
        </p:txBody>
      </p:sp>
      <p:pic>
        <p:nvPicPr>
          <p:cNvPr id="90115" name="Picture 3" descr="xml040406"/>
          <p:cNvPicPr>
            <a:picLocks noChangeAspect="1" noChangeArrowheads="1"/>
          </p:cNvPicPr>
          <p:nvPr/>
        </p:nvPicPr>
        <p:blipFill>
          <a:blip r:embed="rId2"/>
          <a:srcRect/>
          <a:stretch>
            <a:fillRect/>
          </a:stretch>
        </p:blipFill>
        <p:spPr bwMode="auto">
          <a:xfrm>
            <a:off x="1857356" y="1752600"/>
            <a:ext cx="7058044" cy="29352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ChangeArrowheads="1"/>
          </p:cNvSpPr>
          <p:nvPr>
            <p:ph type="title"/>
          </p:nvPr>
        </p:nvSpPr>
        <p:spPr>
          <a:xfrm>
            <a:off x="1907704" y="381000"/>
            <a:ext cx="6321896" cy="838200"/>
          </a:xfrm>
        </p:spPr>
        <p:txBody>
          <a:bodyPr/>
          <a:lstStyle/>
          <a:p>
            <a:pPr>
              <a:defRPr/>
            </a:pPr>
            <a:r>
              <a:rPr lang="en-US" altLang="zh-CN" sz="3200" b="1" dirty="0">
                <a:latin typeface="+mn-ea"/>
                <a:ea typeface="+mn-ea"/>
              </a:rPr>
              <a:t> </a:t>
            </a:r>
            <a:r>
              <a:rPr lang="en-US" altLang="zh-CN" sz="3200" b="1" dirty="0" err="1">
                <a:latin typeface="+mn-ea"/>
                <a:ea typeface="+mn-ea"/>
              </a:rPr>
              <a:t>XPath</a:t>
            </a:r>
            <a:r>
              <a:rPr lang="zh-CN" altLang="en-US" sz="3200" b="1" dirty="0">
                <a:latin typeface="+mn-ea"/>
                <a:ea typeface="+mn-ea"/>
              </a:rPr>
              <a:t>中的布尔函数</a:t>
            </a:r>
          </a:p>
        </p:txBody>
      </p:sp>
      <p:pic>
        <p:nvPicPr>
          <p:cNvPr id="91139" name="Picture 3" descr="xml040407"/>
          <p:cNvPicPr>
            <a:picLocks noChangeAspect="1" noChangeArrowheads="1"/>
          </p:cNvPicPr>
          <p:nvPr/>
        </p:nvPicPr>
        <p:blipFill>
          <a:blip r:embed="rId2"/>
          <a:srcRect/>
          <a:stretch>
            <a:fillRect/>
          </a:stretch>
        </p:blipFill>
        <p:spPr bwMode="auto">
          <a:xfrm>
            <a:off x="1835696" y="1905000"/>
            <a:ext cx="7003504" cy="2438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85950" y="714375"/>
            <a:ext cx="7500958" cy="6000750"/>
          </a:xfrm>
        </p:spPr>
        <p:txBody>
          <a:bodyPr/>
          <a:lstStyle/>
          <a:p>
            <a:pPr>
              <a:defRPr/>
            </a:pPr>
            <a:r>
              <a:rPr lang="en-US" sz="2400" b="1" dirty="0" smtClean="0">
                <a:latin typeface="+mn-ea"/>
              </a:rPr>
              <a:t>&lt;?xml version="1.0" encoding="ISO-8859-1"?&gt;</a:t>
            </a:r>
            <a:endParaRPr lang="zh-CN" sz="2400" b="1" dirty="0" smtClean="0">
              <a:latin typeface="+mn-ea"/>
            </a:endParaRPr>
          </a:p>
          <a:p>
            <a:pPr>
              <a:defRPr/>
            </a:pPr>
            <a:r>
              <a:rPr lang="en-US" sz="2400" b="1" dirty="0" smtClean="0">
                <a:latin typeface="+mn-ea"/>
              </a:rPr>
              <a:t>&lt;bookstore&gt;</a:t>
            </a:r>
            <a:endParaRPr lang="zh-CN" sz="2400" b="1" dirty="0" smtClean="0">
              <a:latin typeface="+mn-ea"/>
            </a:endParaRPr>
          </a:p>
          <a:p>
            <a:pPr>
              <a:defRPr/>
            </a:pPr>
            <a:r>
              <a:rPr lang="en-US" sz="2400" b="1" dirty="0" smtClean="0">
                <a:latin typeface="+mn-ea"/>
              </a:rPr>
              <a:t>&lt;book&gt;</a:t>
            </a:r>
            <a:endParaRPr lang="zh-CN" sz="2400" b="1" dirty="0" smtClean="0">
              <a:latin typeface="+mn-ea"/>
            </a:endParaRPr>
          </a:p>
          <a:p>
            <a:pPr>
              <a:defRPr/>
            </a:pPr>
            <a:r>
              <a:rPr lang="en-US" sz="2400" b="1" dirty="0" smtClean="0">
                <a:latin typeface="+mn-ea"/>
              </a:rPr>
              <a:t> 	&lt;title </a:t>
            </a:r>
            <a:r>
              <a:rPr lang="en-US" sz="2400" b="1" dirty="0" err="1" smtClean="0">
                <a:latin typeface="+mn-ea"/>
              </a:rPr>
              <a:t>lang</a:t>
            </a:r>
            <a:r>
              <a:rPr lang="en-US" sz="2400" b="1" dirty="0" smtClean="0">
                <a:latin typeface="+mn-ea"/>
              </a:rPr>
              <a:t>="eng"&gt;Harry Potter&lt;/title&gt;</a:t>
            </a:r>
            <a:endParaRPr lang="zh-CN" sz="2400" b="1" dirty="0" smtClean="0">
              <a:latin typeface="+mn-ea"/>
            </a:endParaRPr>
          </a:p>
          <a:p>
            <a:pPr>
              <a:defRPr/>
            </a:pPr>
            <a:r>
              <a:rPr lang="en-US" sz="2400" b="1" dirty="0" smtClean="0">
                <a:latin typeface="+mn-ea"/>
              </a:rPr>
              <a:t> 	&lt;price&gt;29.99&lt;/price&gt;</a:t>
            </a:r>
            <a:endParaRPr lang="zh-CN" sz="2400" b="1" dirty="0" smtClean="0">
              <a:latin typeface="+mn-ea"/>
            </a:endParaRPr>
          </a:p>
          <a:p>
            <a:pPr>
              <a:defRPr/>
            </a:pPr>
            <a:r>
              <a:rPr lang="en-US" sz="2400" b="1" dirty="0" smtClean="0">
                <a:latin typeface="+mn-ea"/>
              </a:rPr>
              <a:t>&lt;/book&gt;</a:t>
            </a:r>
            <a:endParaRPr lang="zh-CN" sz="2400" b="1" dirty="0" smtClean="0">
              <a:latin typeface="+mn-ea"/>
            </a:endParaRPr>
          </a:p>
          <a:p>
            <a:pPr>
              <a:defRPr/>
            </a:pPr>
            <a:r>
              <a:rPr lang="en-US" sz="2400" b="1" dirty="0" smtClean="0">
                <a:latin typeface="+mn-ea"/>
              </a:rPr>
              <a:t>&lt;book&gt;</a:t>
            </a:r>
            <a:endParaRPr lang="zh-CN" sz="2400" b="1" dirty="0" smtClean="0">
              <a:latin typeface="+mn-ea"/>
            </a:endParaRPr>
          </a:p>
          <a:p>
            <a:pPr>
              <a:defRPr/>
            </a:pPr>
            <a:r>
              <a:rPr lang="en-US" sz="2400" b="1" dirty="0" smtClean="0">
                <a:latin typeface="+mn-ea"/>
              </a:rPr>
              <a:t>  	&lt;title </a:t>
            </a:r>
            <a:r>
              <a:rPr lang="en-US" sz="2400" b="1" dirty="0" err="1" smtClean="0">
                <a:latin typeface="+mn-ea"/>
              </a:rPr>
              <a:t>lang</a:t>
            </a:r>
            <a:r>
              <a:rPr lang="en-US" sz="2400" b="1" dirty="0" smtClean="0">
                <a:latin typeface="+mn-ea"/>
              </a:rPr>
              <a:t>="eng"&gt;Learning XML&lt;/title&gt;</a:t>
            </a:r>
            <a:endParaRPr lang="zh-CN" sz="2400" b="1" dirty="0" smtClean="0">
              <a:latin typeface="+mn-ea"/>
            </a:endParaRPr>
          </a:p>
          <a:p>
            <a:pPr>
              <a:defRPr/>
            </a:pPr>
            <a:r>
              <a:rPr lang="en-US" sz="2400" b="1" dirty="0" smtClean="0">
                <a:latin typeface="+mn-ea"/>
              </a:rPr>
              <a:t> 	&lt;price&gt;39.95&lt;/price&gt;</a:t>
            </a:r>
            <a:endParaRPr lang="zh-CN" sz="2400" b="1" dirty="0" smtClean="0">
              <a:latin typeface="+mn-ea"/>
            </a:endParaRPr>
          </a:p>
          <a:p>
            <a:pPr>
              <a:defRPr/>
            </a:pPr>
            <a:r>
              <a:rPr lang="en-US" sz="2400" b="1" dirty="0" smtClean="0">
                <a:latin typeface="+mn-ea"/>
              </a:rPr>
              <a:t>&lt;/book&gt;</a:t>
            </a:r>
            <a:endParaRPr lang="zh-CN" sz="2400" b="1" dirty="0" smtClean="0">
              <a:latin typeface="+mn-ea"/>
            </a:endParaRPr>
          </a:p>
          <a:p>
            <a:pPr>
              <a:defRPr/>
            </a:pPr>
            <a:r>
              <a:rPr lang="en-US" sz="2400" b="1" dirty="0" smtClean="0">
                <a:latin typeface="+mn-ea"/>
              </a:rPr>
              <a:t>&lt;/bookstore&gt;</a:t>
            </a:r>
            <a:endParaRPr lang="zh-CN" sz="2400" b="1" dirty="0" smtClean="0">
              <a:latin typeface="+mn-ea"/>
            </a:endParaRPr>
          </a:p>
          <a:p>
            <a:pPr>
              <a:defRPr/>
            </a:pPr>
            <a:endParaRPr lang="zh-CN" altLang="en-US" sz="2400" b="1" dirty="0">
              <a:latin typeface="+mn-ea"/>
            </a:endParaRP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内容占位符 2"/>
          <p:cNvSpPr>
            <a:spLocks noGrp="1"/>
          </p:cNvSpPr>
          <p:nvPr>
            <p:ph idx="1"/>
          </p:nvPr>
        </p:nvSpPr>
        <p:spPr>
          <a:xfrm>
            <a:off x="1785918" y="714379"/>
            <a:ext cx="7000924" cy="5643579"/>
          </a:xfrm>
        </p:spPr>
        <p:txBody>
          <a:bodyPr/>
          <a:lstStyle/>
          <a:p>
            <a:r>
              <a:rPr lang="en-US" altLang="zh-CN" sz="2000" b="1" dirty="0" smtClean="0">
                <a:latin typeface="+mn-ea"/>
              </a:rPr>
              <a:t>/bookstore/book[1]	</a:t>
            </a:r>
            <a:r>
              <a:rPr lang="zh-CN" altLang="en-US" sz="2000" b="1" dirty="0" smtClean="0">
                <a:latin typeface="+mn-ea"/>
              </a:rPr>
              <a:t>选取属于</a:t>
            </a:r>
            <a:r>
              <a:rPr lang="en-US" sz="2000" b="1" dirty="0" smtClean="0">
                <a:latin typeface="+mn-ea"/>
              </a:rPr>
              <a:t> </a:t>
            </a:r>
            <a:r>
              <a:rPr lang="en-US" altLang="zh-CN" sz="2000" b="1" dirty="0" smtClean="0">
                <a:latin typeface="+mn-ea"/>
              </a:rPr>
              <a:t>bookstore </a:t>
            </a:r>
            <a:r>
              <a:rPr lang="zh-CN" altLang="en-US" sz="2000" b="1" dirty="0" smtClean="0">
                <a:latin typeface="+mn-ea"/>
              </a:rPr>
              <a:t>子元素的第一个</a:t>
            </a:r>
            <a:r>
              <a:rPr lang="en-US" sz="2000" b="1" dirty="0" smtClean="0">
                <a:latin typeface="+mn-ea"/>
              </a:rPr>
              <a:t> </a:t>
            </a:r>
            <a:r>
              <a:rPr lang="en-US" altLang="zh-CN" sz="2000" b="1" dirty="0" smtClean="0">
                <a:latin typeface="+mn-ea"/>
              </a:rPr>
              <a:t>book </a:t>
            </a:r>
            <a:r>
              <a:rPr lang="zh-CN" altLang="en-US" sz="2000" b="1" dirty="0" smtClean="0">
                <a:latin typeface="+mn-ea"/>
              </a:rPr>
              <a:t>元素。</a:t>
            </a:r>
          </a:p>
          <a:p>
            <a:r>
              <a:rPr lang="en-US" altLang="zh-CN" sz="2000" b="1" dirty="0" smtClean="0">
                <a:latin typeface="+mn-ea"/>
              </a:rPr>
              <a:t>/bookstore/book[last()] </a:t>
            </a:r>
            <a:r>
              <a:rPr lang="zh-CN" altLang="en-US" sz="2000" b="1" dirty="0" smtClean="0">
                <a:latin typeface="+mn-ea"/>
              </a:rPr>
              <a:t>选取属于</a:t>
            </a:r>
            <a:r>
              <a:rPr lang="en-US" sz="2000" b="1" dirty="0" smtClean="0">
                <a:latin typeface="+mn-ea"/>
              </a:rPr>
              <a:t> </a:t>
            </a:r>
            <a:r>
              <a:rPr lang="en-US" altLang="zh-CN" sz="2000" b="1" dirty="0" smtClean="0">
                <a:latin typeface="+mn-ea"/>
              </a:rPr>
              <a:t>bookstore </a:t>
            </a:r>
            <a:r>
              <a:rPr lang="zh-CN" altLang="en-US" sz="2000" b="1" dirty="0" smtClean="0">
                <a:latin typeface="+mn-ea"/>
              </a:rPr>
              <a:t>子元素的最后一个</a:t>
            </a:r>
            <a:r>
              <a:rPr lang="en-US" sz="2000" b="1" dirty="0" smtClean="0">
                <a:latin typeface="+mn-ea"/>
              </a:rPr>
              <a:t> </a:t>
            </a:r>
            <a:r>
              <a:rPr lang="en-US" altLang="zh-CN" sz="2000" b="1" dirty="0" smtClean="0">
                <a:latin typeface="+mn-ea"/>
              </a:rPr>
              <a:t>book </a:t>
            </a:r>
            <a:r>
              <a:rPr lang="zh-CN" altLang="en-US" sz="2000" b="1" dirty="0" smtClean="0">
                <a:latin typeface="+mn-ea"/>
              </a:rPr>
              <a:t>元素。</a:t>
            </a:r>
          </a:p>
          <a:p>
            <a:r>
              <a:rPr lang="en-US" altLang="zh-CN" sz="2000" b="1" dirty="0" smtClean="0">
                <a:latin typeface="+mn-ea"/>
              </a:rPr>
              <a:t>/bookstore/book[last()-1]  </a:t>
            </a:r>
            <a:r>
              <a:rPr lang="zh-CN" altLang="en-US" sz="2000" b="1" dirty="0" smtClean="0">
                <a:latin typeface="+mn-ea"/>
              </a:rPr>
              <a:t>选取属于</a:t>
            </a:r>
            <a:r>
              <a:rPr lang="en-US" sz="2000" b="1" dirty="0" smtClean="0">
                <a:latin typeface="+mn-ea"/>
              </a:rPr>
              <a:t> </a:t>
            </a:r>
            <a:r>
              <a:rPr lang="en-US" altLang="zh-CN" sz="2000" b="1" dirty="0" smtClean="0">
                <a:latin typeface="+mn-ea"/>
              </a:rPr>
              <a:t>bookstore </a:t>
            </a:r>
            <a:r>
              <a:rPr lang="zh-CN" altLang="en-US" sz="2000" b="1" dirty="0" smtClean="0">
                <a:latin typeface="+mn-ea"/>
              </a:rPr>
              <a:t>子元素的倒数第二个</a:t>
            </a:r>
            <a:r>
              <a:rPr lang="en-US" sz="2000" b="1" dirty="0" smtClean="0">
                <a:latin typeface="+mn-ea"/>
              </a:rPr>
              <a:t> </a:t>
            </a:r>
            <a:r>
              <a:rPr lang="en-US" altLang="zh-CN" sz="2000" b="1" dirty="0" smtClean="0">
                <a:latin typeface="+mn-ea"/>
              </a:rPr>
              <a:t>book </a:t>
            </a:r>
            <a:r>
              <a:rPr lang="zh-CN" altLang="en-US" sz="2000" b="1" dirty="0" smtClean="0">
                <a:latin typeface="+mn-ea"/>
              </a:rPr>
              <a:t>元素。</a:t>
            </a:r>
          </a:p>
          <a:p>
            <a:r>
              <a:rPr lang="en-US" altLang="zh-CN" sz="2000" b="1" dirty="0" smtClean="0">
                <a:latin typeface="+mn-ea"/>
              </a:rPr>
              <a:t>/bookstore/book[position()&lt;3]	 </a:t>
            </a:r>
            <a:r>
              <a:rPr lang="zh-CN" altLang="en-US" sz="2000" b="1" dirty="0" smtClean="0">
                <a:latin typeface="+mn-ea"/>
              </a:rPr>
              <a:t>选取最前面的两个属于</a:t>
            </a:r>
            <a:r>
              <a:rPr lang="en-US" sz="2000" b="1" dirty="0" smtClean="0">
                <a:latin typeface="+mn-ea"/>
              </a:rPr>
              <a:t> </a:t>
            </a:r>
            <a:r>
              <a:rPr lang="en-US" altLang="zh-CN" sz="2000" b="1" dirty="0" smtClean="0">
                <a:latin typeface="+mn-ea"/>
              </a:rPr>
              <a:t>bookstore </a:t>
            </a:r>
            <a:r>
              <a:rPr lang="zh-CN" altLang="en-US" sz="2000" b="1" dirty="0" smtClean="0">
                <a:latin typeface="+mn-ea"/>
              </a:rPr>
              <a:t>元素的子元素的</a:t>
            </a:r>
            <a:r>
              <a:rPr lang="en-US" sz="2000" b="1" dirty="0" smtClean="0">
                <a:latin typeface="+mn-ea"/>
              </a:rPr>
              <a:t> </a:t>
            </a:r>
            <a:r>
              <a:rPr lang="en-US" altLang="zh-CN" sz="2000" b="1" dirty="0" smtClean="0">
                <a:latin typeface="+mn-ea"/>
              </a:rPr>
              <a:t>book </a:t>
            </a:r>
            <a:r>
              <a:rPr lang="zh-CN" altLang="en-US" sz="2000" b="1" dirty="0" smtClean="0">
                <a:latin typeface="+mn-ea"/>
              </a:rPr>
              <a:t>元素。</a:t>
            </a:r>
          </a:p>
          <a:p>
            <a:r>
              <a:rPr lang="en-US" altLang="zh-CN" sz="2000" b="1" dirty="0" smtClean="0">
                <a:latin typeface="+mn-ea"/>
              </a:rPr>
              <a:t>//title[@</a:t>
            </a:r>
            <a:r>
              <a:rPr lang="en-US" altLang="zh-CN" sz="2000" b="1" dirty="0" err="1" smtClean="0">
                <a:latin typeface="+mn-ea"/>
              </a:rPr>
              <a:t>lang</a:t>
            </a:r>
            <a:r>
              <a:rPr lang="en-US" altLang="zh-CN" sz="2000" b="1" dirty="0" smtClean="0">
                <a:latin typeface="+mn-ea"/>
              </a:rPr>
              <a:t>]	</a:t>
            </a:r>
            <a:r>
              <a:rPr lang="zh-CN" altLang="en-US" sz="2000" b="1" dirty="0" smtClean="0">
                <a:latin typeface="+mn-ea"/>
              </a:rPr>
              <a:t>选取所有拥有名为</a:t>
            </a:r>
            <a:r>
              <a:rPr lang="en-US" sz="2000" b="1" dirty="0" smtClean="0">
                <a:latin typeface="+mn-ea"/>
              </a:rPr>
              <a:t> </a:t>
            </a:r>
            <a:r>
              <a:rPr lang="en-US" altLang="zh-CN" sz="2000" b="1" dirty="0" err="1" smtClean="0">
                <a:latin typeface="+mn-ea"/>
              </a:rPr>
              <a:t>lang</a:t>
            </a:r>
            <a:r>
              <a:rPr lang="en-US" altLang="zh-CN" sz="2000" b="1" dirty="0" smtClean="0">
                <a:latin typeface="+mn-ea"/>
              </a:rPr>
              <a:t> </a:t>
            </a:r>
            <a:r>
              <a:rPr lang="zh-CN" altLang="en-US" sz="2000" b="1" dirty="0" smtClean="0">
                <a:latin typeface="+mn-ea"/>
              </a:rPr>
              <a:t>的属性的</a:t>
            </a:r>
            <a:r>
              <a:rPr lang="en-US" sz="2000" b="1" dirty="0" smtClean="0">
                <a:latin typeface="+mn-ea"/>
              </a:rPr>
              <a:t> </a:t>
            </a:r>
            <a:r>
              <a:rPr lang="en-US" altLang="zh-CN" sz="2000" b="1" dirty="0" smtClean="0">
                <a:latin typeface="+mn-ea"/>
              </a:rPr>
              <a:t>title </a:t>
            </a:r>
            <a:r>
              <a:rPr lang="zh-CN" altLang="en-US" sz="2000" b="1" dirty="0" smtClean="0">
                <a:latin typeface="+mn-ea"/>
              </a:rPr>
              <a:t>元素。</a:t>
            </a:r>
          </a:p>
          <a:p>
            <a:r>
              <a:rPr lang="en-US" altLang="zh-CN" sz="2000" b="1" dirty="0" smtClean="0">
                <a:latin typeface="+mn-ea"/>
              </a:rPr>
              <a:t>//title[@</a:t>
            </a:r>
            <a:r>
              <a:rPr lang="en-US" altLang="zh-CN" sz="2000" b="1" dirty="0" err="1" smtClean="0">
                <a:latin typeface="+mn-ea"/>
              </a:rPr>
              <a:t>lang</a:t>
            </a:r>
            <a:r>
              <a:rPr lang="en-US" altLang="zh-CN" sz="2000" b="1" dirty="0" smtClean="0">
                <a:latin typeface="+mn-ea"/>
              </a:rPr>
              <a:t>='eng']	</a:t>
            </a:r>
            <a:r>
              <a:rPr lang="zh-CN" altLang="en-US" sz="2000" b="1" dirty="0" smtClean="0">
                <a:latin typeface="+mn-ea"/>
              </a:rPr>
              <a:t>选取所有</a:t>
            </a:r>
            <a:r>
              <a:rPr lang="en-US" sz="2000" b="1" dirty="0" smtClean="0">
                <a:latin typeface="+mn-ea"/>
              </a:rPr>
              <a:t> </a:t>
            </a:r>
            <a:r>
              <a:rPr lang="en-US" altLang="zh-CN" sz="2000" b="1" dirty="0" smtClean="0">
                <a:latin typeface="+mn-ea"/>
              </a:rPr>
              <a:t>title </a:t>
            </a:r>
            <a:r>
              <a:rPr lang="zh-CN" altLang="en-US" sz="2000" b="1" dirty="0" smtClean="0">
                <a:latin typeface="+mn-ea"/>
              </a:rPr>
              <a:t>元素，且这些元素拥有值为</a:t>
            </a:r>
            <a:r>
              <a:rPr lang="en-US" sz="2000" b="1" dirty="0" smtClean="0">
                <a:latin typeface="+mn-ea"/>
              </a:rPr>
              <a:t> </a:t>
            </a:r>
            <a:r>
              <a:rPr lang="en-US" altLang="zh-CN" sz="2000" b="1" dirty="0" smtClean="0">
                <a:latin typeface="+mn-ea"/>
              </a:rPr>
              <a:t>eng </a:t>
            </a:r>
            <a:r>
              <a:rPr lang="zh-CN" altLang="en-US" sz="2000" b="1" dirty="0" smtClean="0">
                <a:latin typeface="+mn-ea"/>
              </a:rPr>
              <a:t>的</a:t>
            </a:r>
            <a:r>
              <a:rPr lang="en-US" sz="2000" b="1" dirty="0" smtClean="0">
                <a:latin typeface="+mn-ea"/>
              </a:rPr>
              <a:t> </a:t>
            </a:r>
            <a:r>
              <a:rPr lang="en-US" altLang="zh-CN" sz="2000" b="1" dirty="0" err="1" smtClean="0">
                <a:latin typeface="+mn-ea"/>
              </a:rPr>
              <a:t>lang</a:t>
            </a:r>
            <a:r>
              <a:rPr lang="en-US" altLang="zh-CN" sz="2000" b="1" dirty="0" smtClean="0">
                <a:latin typeface="+mn-ea"/>
              </a:rPr>
              <a:t> </a:t>
            </a:r>
            <a:r>
              <a:rPr lang="zh-CN" altLang="en-US" sz="2000" b="1" dirty="0" smtClean="0">
                <a:latin typeface="+mn-ea"/>
              </a:rPr>
              <a:t>属性。</a:t>
            </a:r>
          </a:p>
          <a:p>
            <a:r>
              <a:rPr lang="en-US" altLang="zh-CN" sz="2000" b="1" dirty="0" smtClean="0">
                <a:latin typeface="+mn-ea"/>
              </a:rPr>
              <a:t>/bookstore/book[price&gt;35.00]	   </a:t>
            </a:r>
            <a:r>
              <a:rPr lang="zh-CN" altLang="en-US" sz="2000" b="1" dirty="0" smtClean="0">
                <a:latin typeface="+mn-ea"/>
              </a:rPr>
              <a:t>选取所有</a:t>
            </a:r>
            <a:r>
              <a:rPr lang="en-US" sz="2000" b="1" dirty="0" smtClean="0">
                <a:latin typeface="+mn-ea"/>
              </a:rPr>
              <a:t> </a:t>
            </a:r>
            <a:r>
              <a:rPr lang="en-US" altLang="zh-CN" sz="2000" b="1" dirty="0" smtClean="0">
                <a:latin typeface="+mn-ea"/>
              </a:rPr>
              <a:t>bookstore </a:t>
            </a:r>
            <a:r>
              <a:rPr lang="zh-CN" altLang="en-US" sz="2000" b="1" dirty="0" smtClean="0">
                <a:latin typeface="+mn-ea"/>
              </a:rPr>
              <a:t>元素的</a:t>
            </a:r>
            <a:r>
              <a:rPr lang="en-US" sz="2000" b="1" dirty="0" smtClean="0">
                <a:latin typeface="+mn-ea"/>
              </a:rPr>
              <a:t> </a:t>
            </a:r>
            <a:r>
              <a:rPr lang="en-US" altLang="zh-CN" sz="2000" b="1" dirty="0" smtClean="0">
                <a:latin typeface="+mn-ea"/>
              </a:rPr>
              <a:t>book </a:t>
            </a:r>
            <a:r>
              <a:rPr lang="zh-CN" altLang="en-US" sz="2000" b="1" dirty="0" smtClean="0">
                <a:latin typeface="+mn-ea"/>
              </a:rPr>
              <a:t>元素，且其中的 </a:t>
            </a:r>
            <a:r>
              <a:rPr lang="en-US" altLang="zh-CN" sz="2000" b="1" dirty="0" smtClean="0">
                <a:latin typeface="+mn-ea"/>
              </a:rPr>
              <a:t>price </a:t>
            </a:r>
            <a:r>
              <a:rPr lang="zh-CN" altLang="en-US" sz="2000" b="1" dirty="0" smtClean="0">
                <a:latin typeface="+mn-ea"/>
              </a:rPr>
              <a:t>元素的值须大于</a:t>
            </a:r>
            <a:r>
              <a:rPr lang="en-US" sz="2000" b="1" dirty="0" smtClean="0">
                <a:latin typeface="+mn-ea"/>
              </a:rPr>
              <a:t> </a:t>
            </a:r>
            <a:r>
              <a:rPr lang="en-US" altLang="zh-CN" sz="2000" b="1" dirty="0" smtClean="0">
                <a:latin typeface="+mn-ea"/>
              </a:rPr>
              <a:t>35.00</a:t>
            </a:r>
            <a:r>
              <a:rPr lang="zh-CN" altLang="en-US" sz="2000" b="1" dirty="0" smtClean="0">
                <a:latin typeface="+mn-ea"/>
              </a:rPr>
              <a:t>。</a:t>
            </a:r>
          </a:p>
          <a:p>
            <a:r>
              <a:rPr lang="en-US" altLang="zh-CN" sz="2000" b="1" dirty="0" smtClean="0">
                <a:latin typeface="+mn-ea"/>
              </a:rPr>
              <a:t>/bookstore/book[price&gt;35.00]/title   </a:t>
            </a:r>
            <a:r>
              <a:rPr lang="zh-CN" altLang="en-US" sz="2000" b="1" dirty="0" smtClean="0">
                <a:latin typeface="+mn-ea"/>
              </a:rPr>
              <a:t>选取所有</a:t>
            </a:r>
            <a:r>
              <a:rPr lang="en-US" sz="2000" b="1" dirty="0" smtClean="0">
                <a:latin typeface="+mn-ea"/>
              </a:rPr>
              <a:t> </a:t>
            </a:r>
            <a:r>
              <a:rPr lang="en-US" altLang="zh-CN" sz="2000" b="1" dirty="0" smtClean="0">
                <a:latin typeface="+mn-ea"/>
              </a:rPr>
              <a:t>bookstore </a:t>
            </a:r>
            <a:r>
              <a:rPr lang="zh-CN" altLang="en-US" sz="2000" b="1" dirty="0" smtClean="0">
                <a:latin typeface="+mn-ea"/>
              </a:rPr>
              <a:t>元素中</a:t>
            </a:r>
            <a:r>
              <a:rPr lang="en-US" sz="2000" b="1" dirty="0" smtClean="0">
                <a:latin typeface="+mn-ea"/>
              </a:rPr>
              <a:t> </a:t>
            </a:r>
            <a:r>
              <a:rPr lang="en-US" altLang="zh-CN" sz="2000" b="1" dirty="0" smtClean="0">
                <a:latin typeface="+mn-ea"/>
              </a:rPr>
              <a:t>book </a:t>
            </a:r>
            <a:r>
              <a:rPr lang="zh-CN" altLang="en-US" sz="2000" b="1" dirty="0" smtClean="0">
                <a:latin typeface="+mn-ea"/>
              </a:rPr>
              <a:t>元素的</a:t>
            </a:r>
            <a:r>
              <a:rPr lang="en-US" sz="2000" b="1" dirty="0" smtClean="0">
                <a:latin typeface="+mn-ea"/>
              </a:rPr>
              <a:t> </a:t>
            </a:r>
            <a:r>
              <a:rPr lang="en-US" altLang="zh-CN" sz="2000" b="1" dirty="0" smtClean="0">
                <a:latin typeface="+mn-ea"/>
              </a:rPr>
              <a:t>title </a:t>
            </a:r>
            <a:r>
              <a:rPr lang="zh-CN" altLang="en-US" sz="2000" b="1" dirty="0" smtClean="0">
                <a:latin typeface="+mn-ea"/>
              </a:rPr>
              <a:t>元素，其中的</a:t>
            </a:r>
            <a:r>
              <a:rPr lang="en-US" sz="2000" b="1" dirty="0" smtClean="0">
                <a:latin typeface="+mn-ea"/>
              </a:rPr>
              <a:t> </a:t>
            </a:r>
            <a:r>
              <a:rPr lang="en-US" altLang="zh-CN" sz="2000" b="1" dirty="0" smtClean="0">
                <a:latin typeface="+mn-ea"/>
              </a:rPr>
              <a:t>price </a:t>
            </a:r>
            <a:r>
              <a:rPr lang="zh-CN" altLang="en-US" sz="2000" b="1" dirty="0" smtClean="0">
                <a:latin typeface="+mn-ea"/>
              </a:rPr>
              <a:t>元素的值须大于</a:t>
            </a:r>
            <a:r>
              <a:rPr lang="en-US" sz="2000" b="1" dirty="0" smtClean="0">
                <a:latin typeface="+mn-ea"/>
              </a:rPr>
              <a:t> </a:t>
            </a:r>
            <a:r>
              <a:rPr lang="en-US" altLang="zh-CN" sz="2000" b="1" dirty="0" smtClean="0">
                <a:latin typeface="+mn-ea"/>
              </a:rPr>
              <a:t>35.00</a:t>
            </a:r>
            <a:endParaRPr lang="zh-CN" altLang="en-US" sz="2000" b="1" dirty="0" smtClean="0">
              <a:latin typeface="+mn-ea"/>
            </a:endParaRP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3"/>
          <p:cNvSpPr>
            <a:spLocks noGrp="1" noChangeArrowheads="1"/>
          </p:cNvSpPr>
          <p:nvPr>
            <p:ph idx="1"/>
          </p:nvPr>
        </p:nvSpPr>
        <p:spPr>
          <a:xfrm>
            <a:off x="2000232" y="500063"/>
            <a:ext cx="5988068" cy="5759450"/>
          </a:xfrm>
        </p:spPr>
        <p:txBody>
          <a:bodyPr>
            <a:normAutofit lnSpcReduction="10000"/>
          </a:bodyPr>
          <a:lstStyle/>
          <a:p>
            <a:pPr marL="609600" indent="-609600">
              <a:buFontTx/>
              <a:buAutoNum type="arabicPeriod"/>
            </a:pPr>
            <a:r>
              <a:rPr lang="en-US" altLang="zh-CN" sz="3600" b="1" dirty="0" smtClean="0"/>
              <a:t>XML</a:t>
            </a:r>
            <a:r>
              <a:rPr lang="zh-CN" altLang="en-US" sz="3600" b="1" dirty="0" smtClean="0"/>
              <a:t>概述</a:t>
            </a:r>
          </a:p>
          <a:p>
            <a:pPr marL="609600" indent="-609600">
              <a:buFontTx/>
              <a:buAutoNum type="arabicPeriod"/>
            </a:pPr>
            <a:endParaRPr lang="zh-CN" altLang="en-US" sz="3600" b="1" dirty="0" smtClean="0">
              <a:solidFill>
                <a:srgbClr val="FF0000"/>
              </a:solidFill>
            </a:endParaRPr>
          </a:p>
          <a:p>
            <a:pPr marL="609600" indent="-609600">
              <a:buFontTx/>
              <a:buAutoNum type="arabicPeriod"/>
            </a:pPr>
            <a:r>
              <a:rPr lang="en-US" altLang="zh-CN" sz="3600" b="1" dirty="0" smtClean="0"/>
              <a:t>XML</a:t>
            </a:r>
            <a:r>
              <a:rPr lang="zh-CN" altLang="en-US" sz="3600" b="1" dirty="0" smtClean="0"/>
              <a:t>语法</a:t>
            </a:r>
          </a:p>
          <a:p>
            <a:pPr marL="609600" indent="-609600">
              <a:buFontTx/>
              <a:buAutoNum type="arabicPeriod"/>
            </a:pPr>
            <a:endParaRPr lang="zh-CN" altLang="en-US" sz="3600" b="1" dirty="0" smtClean="0"/>
          </a:p>
          <a:p>
            <a:pPr marL="609600" indent="-609600">
              <a:buFontTx/>
              <a:buAutoNum type="arabicPeriod"/>
            </a:pPr>
            <a:r>
              <a:rPr lang="en-US" altLang="zh-CN" sz="3600" b="1" dirty="0" smtClean="0"/>
              <a:t>DTD</a:t>
            </a:r>
            <a:r>
              <a:rPr lang="zh-CN" altLang="en-US" sz="3600" b="1" dirty="0" smtClean="0"/>
              <a:t>与</a:t>
            </a:r>
            <a:r>
              <a:rPr lang="en-US" altLang="zh-CN" sz="3600" b="1" dirty="0" smtClean="0"/>
              <a:t>Scheme</a:t>
            </a:r>
          </a:p>
          <a:p>
            <a:pPr marL="609600" indent="-609600">
              <a:buFontTx/>
              <a:buAutoNum type="arabicPeriod"/>
            </a:pPr>
            <a:endParaRPr lang="en-US" altLang="zh-CN" sz="3600" b="1" dirty="0" smtClean="0"/>
          </a:p>
          <a:p>
            <a:pPr marL="609600" indent="-609600">
              <a:buFontTx/>
              <a:buAutoNum type="arabicPeriod"/>
            </a:pPr>
            <a:r>
              <a:rPr lang="en-US" altLang="zh-CN" sz="3600" b="1" dirty="0" smtClean="0"/>
              <a:t>XSL</a:t>
            </a:r>
            <a:r>
              <a:rPr lang="zh-CN" altLang="en-US" sz="3600" b="1" dirty="0" smtClean="0"/>
              <a:t>，</a:t>
            </a:r>
            <a:r>
              <a:rPr lang="en-US" altLang="zh-CN" sz="3600" b="1" dirty="0" smtClean="0"/>
              <a:t>XSLT and </a:t>
            </a:r>
            <a:r>
              <a:rPr lang="en-US" altLang="zh-CN" sz="3600" b="1" dirty="0" err="1" smtClean="0"/>
              <a:t>XPath</a:t>
            </a:r>
            <a:endParaRPr lang="en-US" altLang="zh-CN" sz="3600" b="1" dirty="0" smtClean="0"/>
          </a:p>
          <a:p>
            <a:pPr marL="609600" indent="-609600">
              <a:buFontTx/>
              <a:buAutoNum type="arabicPeriod"/>
            </a:pPr>
            <a:endParaRPr lang="zh-CN" altLang="en-US" sz="3600" b="1" dirty="0" smtClean="0"/>
          </a:p>
          <a:p>
            <a:pPr marL="609600" indent="-609600">
              <a:buFontTx/>
              <a:buAutoNum type="arabicPeriod"/>
            </a:pPr>
            <a:r>
              <a:rPr lang="en-US" altLang="zh-CN" sz="3600" b="1" dirty="0" smtClean="0">
                <a:solidFill>
                  <a:srgbClr val="FF0000"/>
                </a:solidFill>
              </a:rPr>
              <a:t>XML</a:t>
            </a:r>
            <a:r>
              <a:rPr lang="zh-CN" altLang="en-US" sz="3600" b="1" dirty="0" smtClean="0">
                <a:solidFill>
                  <a:srgbClr val="FF0000"/>
                </a:solidFill>
              </a:rPr>
              <a:t>解析</a:t>
            </a:r>
            <a:endParaRPr lang="en-US" altLang="zh-CN" sz="3600" b="1" dirty="0" smtClean="0">
              <a:solidFill>
                <a:srgbClr val="FF0000"/>
              </a:solidFill>
            </a:endParaRP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1"/>
          <p:cNvSpPr>
            <a:spLocks noGrp="1"/>
          </p:cNvSpPr>
          <p:nvPr>
            <p:ph type="title"/>
          </p:nvPr>
        </p:nvSpPr>
        <p:spPr/>
        <p:txBody>
          <a:bodyPr/>
          <a:lstStyle/>
          <a:p>
            <a:r>
              <a:rPr lang="en-US" altLang="zh-CN" sz="3200" b="1" dirty="0" smtClean="0">
                <a:latin typeface="+mj-ea"/>
              </a:rPr>
              <a:t>XML</a:t>
            </a:r>
            <a:r>
              <a:rPr lang="zh-CN" altLang="en-US" sz="3200" b="1" dirty="0" smtClean="0">
                <a:latin typeface="+mj-ea"/>
              </a:rPr>
              <a:t>解析技术的分类</a:t>
            </a:r>
          </a:p>
        </p:txBody>
      </p:sp>
      <p:sp>
        <p:nvSpPr>
          <p:cNvPr id="93187" name="内容占位符 2"/>
          <p:cNvSpPr>
            <a:spLocks noGrp="1"/>
          </p:cNvSpPr>
          <p:nvPr>
            <p:ph idx="1"/>
          </p:nvPr>
        </p:nvSpPr>
        <p:spPr>
          <a:xfrm>
            <a:off x="2123728" y="1628800"/>
            <a:ext cx="6552728" cy="4680520"/>
          </a:xfrm>
        </p:spPr>
        <p:txBody>
          <a:bodyPr/>
          <a:lstStyle/>
          <a:p>
            <a:pPr>
              <a:defRPr/>
            </a:pPr>
            <a:r>
              <a:rPr lang="zh-CN" altLang="en-US" sz="2800" b="1" dirty="0" smtClean="0">
                <a:latin typeface="+mn-ea"/>
              </a:rPr>
              <a:t>把代表</a:t>
            </a:r>
            <a:r>
              <a:rPr lang="en-US" altLang="zh-CN" sz="2800" b="1" dirty="0" smtClean="0">
                <a:latin typeface="+mn-ea"/>
              </a:rPr>
              <a:t>XML</a:t>
            </a:r>
            <a:r>
              <a:rPr lang="zh-CN" altLang="en-US" sz="2800" b="1" dirty="0" smtClean="0">
                <a:latin typeface="+mn-ea"/>
              </a:rPr>
              <a:t>文档的一个无结构的字符序列转换为满足</a:t>
            </a:r>
            <a:r>
              <a:rPr lang="en-US" altLang="zh-CN" sz="2800" b="1" dirty="0" smtClean="0">
                <a:latin typeface="+mn-ea"/>
              </a:rPr>
              <a:t>XML</a:t>
            </a:r>
            <a:r>
              <a:rPr lang="zh-CN" altLang="en-US" sz="2800" b="1" dirty="0" smtClean="0">
                <a:latin typeface="+mn-ea"/>
              </a:rPr>
              <a:t>语法的结构化组件的过程</a:t>
            </a:r>
            <a:endParaRPr lang="en-US" altLang="zh-CN" sz="2800" b="1" dirty="0" smtClean="0">
              <a:latin typeface="+mn-ea"/>
            </a:endParaRPr>
          </a:p>
          <a:p>
            <a:pPr lvl="1">
              <a:defRPr/>
            </a:pPr>
            <a:r>
              <a:rPr lang="zh-CN" sz="2400" b="1" dirty="0" smtClean="0">
                <a:latin typeface="+mn-ea"/>
              </a:rPr>
              <a:t>面向文档的流式解析</a:t>
            </a:r>
            <a:endParaRPr lang="en-US" altLang="zh-CN" sz="2400" b="1" dirty="0" smtClean="0">
              <a:latin typeface="+mn-ea"/>
            </a:endParaRPr>
          </a:p>
          <a:p>
            <a:pPr lvl="1">
              <a:defRPr/>
            </a:pPr>
            <a:r>
              <a:rPr lang="zh-CN" sz="2400" b="1" dirty="0" smtClean="0">
                <a:latin typeface="+mn-ea"/>
              </a:rPr>
              <a:t>面向文档的对象式解析</a:t>
            </a:r>
            <a:endParaRPr lang="en-US" altLang="zh-CN" sz="2400" b="1" dirty="0" smtClean="0">
              <a:latin typeface="+mn-ea"/>
            </a:endParaRPr>
          </a:p>
          <a:p>
            <a:pPr lvl="1">
              <a:defRPr/>
            </a:pPr>
            <a:r>
              <a:rPr lang="zh-CN" sz="2400" b="1" dirty="0" smtClean="0">
                <a:latin typeface="+mn-ea"/>
              </a:rPr>
              <a:t>面向文档的指针式解析</a:t>
            </a:r>
            <a:endParaRPr lang="en-US" altLang="zh-CN" sz="2400" b="1" dirty="0" smtClean="0">
              <a:latin typeface="+mn-ea"/>
            </a:endParaRPr>
          </a:p>
          <a:p>
            <a:pPr lvl="1">
              <a:defRPr/>
            </a:pPr>
            <a:r>
              <a:rPr lang="zh-CN" sz="2400" b="1" dirty="0" smtClean="0">
                <a:latin typeface="+mn-ea"/>
              </a:rPr>
              <a:t>面向应用的对象式解析</a:t>
            </a:r>
            <a:endParaRPr lang="zh-CN" altLang="en-US" sz="2400" b="1" dirty="0" smtClean="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3187">
                                            <p:txEl>
                                              <p:pRg st="1" end="1"/>
                                            </p:txEl>
                                          </p:spTgt>
                                        </p:tgtEl>
                                        <p:attrNameLst>
                                          <p:attrName>style.visibility</p:attrName>
                                        </p:attrNameLst>
                                      </p:cBhvr>
                                      <p:to>
                                        <p:strVal val="visible"/>
                                      </p:to>
                                    </p:set>
                                    <p:animEffect transition="in" filter="blinds(horizontal)">
                                      <p:cBhvr>
                                        <p:cTn id="7" dur="500"/>
                                        <p:tgtEl>
                                          <p:spTgt spid="9318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3187">
                                            <p:txEl>
                                              <p:pRg st="0" end="0"/>
                                            </p:txEl>
                                          </p:spTgt>
                                        </p:tgtEl>
                                        <p:attrNameLst>
                                          <p:attrName>style.visibility</p:attrName>
                                        </p:attrNameLst>
                                      </p:cBhvr>
                                      <p:to>
                                        <p:strVal val="visible"/>
                                      </p:to>
                                    </p:set>
                                    <p:animEffect transition="in" filter="blinds(horizontal)">
                                      <p:cBhvr>
                                        <p:cTn id="12" dur="500"/>
                                        <p:tgtEl>
                                          <p:spTgt spid="9318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93187">
                                            <p:txEl>
                                              <p:pRg st="2" end="2"/>
                                            </p:txEl>
                                          </p:spTgt>
                                        </p:tgtEl>
                                        <p:attrNameLst>
                                          <p:attrName>style.visibility</p:attrName>
                                        </p:attrNameLst>
                                      </p:cBhvr>
                                      <p:to>
                                        <p:strVal val="visible"/>
                                      </p:to>
                                    </p:set>
                                    <p:anim calcmode="lin" valueType="num">
                                      <p:cBhvr additive="base">
                                        <p:cTn id="17" dur="500" fill="hold"/>
                                        <p:tgtEl>
                                          <p:spTgt spid="9318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931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93187">
                                            <p:txEl>
                                              <p:pRg st="3" end="3"/>
                                            </p:txEl>
                                          </p:spTgt>
                                        </p:tgtEl>
                                        <p:attrNameLst>
                                          <p:attrName>style.visibility</p:attrName>
                                        </p:attrNameLst>
                                      </p:cBhvr>
                                      <p:to>
                                        <p:strVal val="visible"/>
                                      </p:to>
                                    </p:set>
                                    <p:animEffect transition="in" filter="blinds(horizontal)">
                                      <p:cBhvr>
                                        <p:cTn id="23" dur="500"/>
                                        <p:tgtEl>
                                          <p:spTgt spid="93187">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nodeType="clickEffect">
                                  <p:stCondLst>
                                    <p:cond delay="0"/>
                                  </p:stCondLst>
                                  <p:childTnLst>
                                    <p:set>
                                      <p:cBhvr>
                                        <p:cTn id="27" dur="1" fill="hold">
                                          <p:stCondLst>
                                            <p:cond delay="0"/>
                                          </p:stCondLst>
                                        </p:cTn>
                                        <p:tgtEl>
                                          <p:spTgt spid="93187">
                                            <p:txEl>
                                              <p:pRg st="4" end="4"/>
                                            </p:txEl>
                                          </p:spTgt>
                                        </p:tgtEl>
                                        <p:attrNameLst>
                                          <p:attrName>style.visibility</p:attrName>
                                        </p:attrNameLst>
                                      </p:cBhvr>
                                      <p:to>
                                        <p:strVal val="visible"/>
                                      </p:to>
                                    </p:set>
                                    <p:animEffect transition="in" filter="box(in)">
                                      <p:cBhvr>
                                        <p:cTn id="28" dur="500"/>
                                        <p:tgtEl>
                                          <p:spTgt spid="9318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1"/>
          <p:cNvSpPr>
            <a:spLocks noGrp="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pPr>
              <a:defRPr/>
            </a:pPr>
            <a:r>
              <a:rPr lang="zh-CN" altLang="zh-CN" sz="3200" b="1" dirty="0" smtClean="0">
                <a:latin typeface="+mj-ea"/>
              </a:rPr>
              <a:t>面向文档的流式解析</a:t>
            </a:r>
            <a:endParaRPr lang="zh-CN" altLang="en-US" sz="3200" b="1" dirty="0" smtClean="0">
              <a:latin typeface="+mj-ea"/>
            </a:endParaRPr>
          </a:p>
        </p:txBody>
      </p:sp>
      <p:sp>
        <p:nvSpPr>
          <p:cNvPr id="94211" name="内容占位符 2"/>
          <p:cNvSpPr>
            <a:spLocks noGrp="1"/>
          </p:cNvSpPr>
          <p:nvPr>
            <p:ph idx="1"/>
          </p:nvPr>
        </p:nvSpPr>
        <p:spPr>
          <a:xfrm>
            <a:off x="1835696" y="1484784"/>
            <a:ext cx="6807671" cy="4786312"/>
          </a:xfrm>
        </p:spPr>
        <p:txBody>
          <a:bodyPr/>
          <a:lstStyle/>
          <a:p>
            <a:r>
              <a:rPr lang="zh-CN" altLang="en-US" sz="2400" b="1" dirty="0" smtClean="0">
                <a:latin typeface="+mn-ea"/>
              </a:rPr>
              <a:t>一种基于事件的解析过程，解析器顺序读取</a:t>
            </a:r>
            <a:r>
              <a:rPr lang="en-US" altLang="zh-CN" sz="2400" b="1" dirty="0" smtClean="0">
                <a:latin typeface="+mn-ea"/>
              </a:rPr>
              <a:t>XML</a:t>
            </a:r>
            <a:r>
              <a:rPr lang="zh-CN" altLang="en-US" sz="2400" b="1" dirty="0" smtClean="0">
                <a:latin typeface="+mn-ea"/>
              </a:rPr>
              <a:t>文档，产生一个对应的事件流，并向事件处理程序发送所捕获的各种事件，如元素开始和元素结束等</a:t>
            </a:r>
            <a:endParaRPr lang="en-US" altLang="zh-CN" sz="2400" b="1" dirty="0" smtClean="0">
              <a:latin typeface="+mn-ea"/>
            </a:endParaRPr>
          </a:p>
          <a:p>
            <a:r>
              <a:rPr lang="zh-CN" altLang="en-US" sz="2400" b="1" dirty="0" smtClean="0">
                <a:latin typeface="+mn-ea"/>
              </a:rPr>
              <a:t>能够立即读取数据，而不是等待所有的数据被处理</a:t>
            </a:r>
            <a:endParaRPr lang="en-US" altLang="zh-CN" sz="2400" b="1" dirty="0" smtClean="0">
              <a:latin typeface="+mn-ea"/>
            </a:endParaRPr>
          </a:p>
          <a:p>
            <a:r>
              <a:rPr lang="zh-CN" altLang="en-US" sz="2400" b="1" dirty="0" smtClean="0">
                <a:latin typeface="+mn-ea"/>
              </a:rPr>
              <a:t>不需要将整个文档一次加载到内存，效率较高</a:t>
            </a:r>
            <a:endParaRPr lang="en-US" altLang="zh-CN" sz="2400" b="1" dirty="0" smtClean="0">
              <a:latin typeface="+mn-ea"/>
            </a:endParaRPr>
          </a:p>
          <a:p>
            <a:r>
              <a:rPr lang="zh-CN" altLang="en-US" sz="2400" b="1" dirty="0" smtClean="0">
                <a:latin typeface="+mn-ea"/>
              </a:rPr>
              <a:t>易用性的降低，流式解析编程较为复杂</a:t>
            </a:r>
            <a:endParaRPr lang="en-US" altLang="zh-CN" sz="2400" b="1" dirty="0" smtClean="0">
              <a:latin typeface="+mn-ea"/>
            </a:endParaRPr>
          </a:p>
          <a:p>
            <a:r>
              <a:rPr lang="zh-CN" altLang="en-US" sz="2400" b="1" dirty="0" smtClean="0">
                <a:latin typeface="+mn-ea"/>
              </a:rPr>
              <a:t>单遍解析特性，不支持随机访问</a:t>
            </a:r>
            <a:endParaRPr lang="en-US" altLang="zh-CN" sz="2400" b="1" dirty="0" smtClean="0">
              <a:latin typeface="+mn-ea"/>
            </a:endParaRPr>
          </a:p>
          <a:p>
            <a:r>
              <a:rPr lang="zh-CN" altLang="en-US" sz="2400" b="1" dirty="0" smtClean="0">
                <a:latin typeface="+mn-ea"/>
              </a:rPr>
              <a:t>推式解析</a:t>
            </a:r>
            <a:r>
              <a:rPr lang="en-US" altLang="zh-CN" sz="2400" b="1" dirty="0" smtClean="0">
                <a:latin typeface="+mn-ea"/>
              </a:rPr>
              <a:t>(SAX)</a:t>
            </a:r>
            <a:r>
              <a:rPr lang="zh-CN" altLang="en-US" sz="2400" b="1" dirty="0" smtClean="0">
                <a:latin typeface="+mn-ea"/>
              </a:rPr>
              <a:t>和拉式解析</a:t>
            </a:r>
            <a:r>
              <a:rPr lang="en-US" altLang="zh-CN" sz="2400" b="1" dirty="0" smtClean="0">
                <a:latin typeface="+mn-ea"/>
              </a:rPr>
              <a:t>(</a:t>
            </a:r>
            <a:r>
              <a:rPr lang="en-US" altLang="zh-CN" sz="2400" b="1" dirty="0" err="1" smtClean="0">
                <a:latin typeface="+mn-ea"/>
              </a:rPr>
              <a:t>StAX</a:t>
            </a:r>
            <a:r>
              <a:rPr lang="en-US" altLang="zh-CN" sz="2400" b="1" dirty="0" smtClean="0">
                <a:latin typeface="+mn-ea"/>
              </a:rPr>
              <a:t>)</a:t>
            </a:r>
          </a:p>
          <a:p>
            <a:endParaRPr lang="zh-CN" altLang="en-US" sz="2400" b="1" dirty="0" smtClean="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4211">
                                            <p:txEl>
                                              <p:pRg st="0" end="0"/>
                                            </p:txEl>
                                          </p:spTgt>
                                        </p:tgtEl>
                                        <p:attrNameLst>
                                          <p:attrName>style.visibility</p:attrName>
                                        </p:attrNameLst>
                                      </p:cBhvr>
                                      <p:to>
                                        <p:strVal val="visible"/>
                                      </p:to>
                                    </p:set>
                                    <p:animEffect transition="in" filter="blinds(horizontal)">
                                      <p:cBhvr>
                                        <p:cTn id="7" dur="500"/>
                                        <p:tgtEl>
                                          <p:spTgt spid="942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94211">
                                            <p:txEl>
                                              <p:pRg st="1" end="1"/>
                                            </p:txEl>
                                          </p:spTgt>
                                        </p:tgtEl>
                                        <p:attrNameLst>
                                          <p:attrName>style.visibility</p:attrName>
                                        </p:attrNameLst>
                                      </p:cBhvr>
                                      <p:to>
                                        <p:strVal val="visible"/>
                                      </p:to>
                                    </p:set>
                                    <p:anim calcmode="lin" valueType="num">
                                      <p:cBhvr additive="base">
                                        <p:cTn id="12" dur="500" fill="hold"/>
                                        <p:tgtEl>
                                          <p:spTgt spid="94211">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942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94211">
                                            <p:txEl>
                                              <p:pRg st="2" end="2"/>
                                            </p:txEl>
                                          </p:spTgt>
                                        </p:tgtEl>
                                        <p:attrNameLst>
                                          <p:attrName>style.visibility</p:attrName>
                                        </p:attrNameLst>
                                      </p:cBhvr>
                                      <p:to>
                                        <p:strVal val="visible"/>
                                      </p:to>
                                    </p:set>
                                    <p:animEffect transition="in" filter="box(in)">
                                      <p:cBhvr>
                                        <p:cTn id="18" dur="500"/>
                                        <p:tgtEl>
                                          <p:spTgt spid="94211">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94211">
                                            <p:txEl>
                                              <p:pRg st="3" end="3"/>
                                            </p:txEl>
                                          </p:spTgt>
                                        </p:tgtEl>
                                        <p:attrNameLst>
                                          <p:attrName>style.visibility</p:attrName>
                                        </p:attrNameLst>
                                      </p:cBhvr>
                                      <p:to>
                                        <p:strVal val="visible"/>
                                      </p:to>
                                    </p:set>
                                    <p:animEffect transition="in" filter="box(in)">
                                      <p:cBhvr>
                                        <p:cTn id="23" dur="500"/>
                                        <p:tgtEl>
                                          <p:spTgt spid="94211">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nodeType="clickEffect">
                                  <p:stCondLst>
                                    <p:cond delay="0"/>
                                  </p:stCondLst>
                                  <p:childTnLst>
                                    <p:set>
                                      <p:cBhvr>
                                        <p:cTn id="27" dur="1" fill="hold">
                                          <p:stCondLst>
                                            <p:cond delay="0"/>
                                          </p:stCondLst>
                                        </p:cTn>
                                        <p:tgtEl>
                                          <p:spTgt spid="94211">
                                            <p:txEl>
                                              <p:pRg st="4" end="4"/>
                                            </p:txEl>
                                          </p:spTgt>
                                        </p:tgtEl>
                                        <p:attrNameLst>
                                          <p:attrName>style.visibility</p:attrName>
                                        </p:attrNameLst>
                                      </p:cBhvr>
                                      <p:to>
                                        <p:strVal val="visible"/>
                                      </p:to>
                                    </p:set>
                                    <p:animEffect transition="in" filter="box(in)">
                                      <p:cBhvr>
                                        <p:cTn id="28" dur="500"/>
                                        <p:tgtEl>
                                          <p:spTgt spid="94211">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nodeType="clickEffect">
                                  <p:stCondLst>
                                    <p:cond delay="0"/>
                                  </p:stCondLst>
                                  <p:childTnLst>
                                    <p:set>
                                      <p:cBhvr>
                                        <p:cTn id="32" dur="1" fill="hold">
                                          <p:stCondLst>
                                            <p:cond delay="0"/>
                                          </p:stCondLst>
                                        </p:cTn>
                                        <p:tgtEl>
                                          <p:spTgt spid="94211">
                                            <p:txEl>
                                              <p:pRg st="5" end="5"/>
                                            </p:txEl>
                                          </p:spTgt>
                                        </p:tgtEl>
                                        <p:attrNameLst>
                                          <p:attrName>style.visibility</p:attrName>
                                        </p:attrNameLst>
                                      </p:cBhvr>
                                      <p:to>
                                        <p:strVal val="visible"/>
                                      </p:to>
                                    </p:set>
                                    <p:animEffect transition="in" filter="box(in)">
                                      <p:cBhvr>
                                        <p:cTn id="33" dur="500"/>
                                        <p:tgtEl>
                                          <p:spTgt spid="9421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1"/>
          <p:cNvSpPr>
            <a:spLocks noGrp="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pPr>
              <a:defRPr/>
            </a:pPr>
            <a:r>
              <a:rPr lang="zh-CN" altLang="zh-CN" sz="3200" b="1" dirty="0" smtClean="0">
                <a:latin typeface="+mj-ea"/>
              </a:rPr>
              <a:t>推式解析</a:t>
            </a:r>
            <a:r>
              <a:rPr lang="en-US" altLang="zh-CN" sz="3200" b="1" dirty="0" smtClean="0">
                <a:latin typeface="+mj-ea"/>
              </a:rPr>
              <a:t>(SAX)</a:t>
            </a:r>
            <a:endParaRPr lang="zh-CN" altLang="en-US" sz="3200" b="1" dirty="0" smtClean="0">
              <a:latin typeface="+mj-ea"/>
            </a:endParaRPr>
          </a:p>
        </p:txBody>
      </p:sp>
      <p:sp>
        <p:nvSpPr>
          <p:cNvPr id="95235" name="内容占位符 2"/>
          <p:cNvSpPr>
            <a:spLocks noGrp="1"/>
          </p:cNvSpPr>
          <p:nvPr>
            <p:ph idx="1"/>
          </p:nvPr>
        </p:nvSpPr>
        <p:spPr>
          <a:xfrm>
            <a:off x="1835696" y="1571625"/>
            <a:ext cx="6736804" cy="4857750"/>
          </a:xfrm>
          <a:noFill/>
          <a:ln w="9525">
            <a:noFill/>
            <a:miter lim="800000"/>
            <a:headEnd/>
            <a:tailEnd/>
          </a:ln>
        </p:spPr>
        <p:txBody>
          <a:bodyPr vert="horz" wrap="square" lIns="91440" tIns="45720" rIns="91440" bIns="45720" numCol="1" anchor="t" anchorCtr="0" compatLnSpc="1">
            <a:prstTxWarp prst="textNoShape">
              <a:avLst/>
            </a:prstTxWarp>
          </a:bodyPr>
          <a:lstStyle/>
          <a:p>
            <a:r>
              <a:rPr lang="zh-CN" altLang="en-US" sz="2400" b="1" dirty="0" smtClean="0">
                <a:latin typeface="+mn-ea"/>
              </a:rPr>
              <a:t>解析器控制着读循环，在文档结束之前控制权不会返回给应用程序。解析器通过回调的方式进行数据处理</a:t>
            </a:r>
            <a:endParaRPr lang="en-US" altLang="zh-CN" sz="2400" b="1" dirty="0" smtClean="0">
              <a:latin typeface="+mn-ea"/>
            </a:endParaRPr>
          </a:p>
          <a:p>
            <a:r>
              <a:rPr lang="en-US" altLang="zh-CN" sz="2400" b="1" dirty="0" smtClean="0">
                <a:latin typeface="+mn-ea"/>
              </a:rPr>
              <a:t>SAX</a:t>
            </a:r>
            <a:r>
              <a:rPr lang="zh-CN" altLang="en-US" sz="2400" b="1" dirty="0" smtClean="0">
                <a:latin typeface="+mn-ea"/>
              </a:rPr>
              <a:t>基于事件驱动，</a:t>
            </a:r>
            <a:r>
              <a:rPr lang="en-US" altLang="zh-CN" sz="2400" b="1" dirty="0" smtClean="0">
                <a:latin typeface="+mn-ea"/>
              </a:rPr>
              <a:t>SAX</a:t>
            </a:r>
            <a:r>
              <a:rPr lang="zh-CN" altLang="en-US" sz="2400" b="1" dirty="0" smtClean="0">
                <a:latin typeface="+mn-ea"/>
              </a:rPr>
              <a:t>解析器在读取</a:t>
            </a:r>
            <a:r>
              <a:rPr lang="en-US" altLang="zh-CN" sz="2400" b="1" dirty="0" smtClean="0">
                <a:latin typeface="+mn-ea"/>
              </a:rPr>
              <a:t>XML</a:t>
            </a:r>
            <a:r>
              <a:rPr lang="zh-CN" altLang="en-US" sz="2400" b="1" dirty="0" smtClean="0">
                <a:latin typeface="+mn-ea"/>
              </a:rPr>
              <a:t>文档的过程中生成一个事件流，并且对于每个事件通过回调事件处理程序中相应的方法来进行处理。比如元素开始和结束标记，元素内容，实体，语法分析错误等事件。针对下面的简单</a:t>
            </a:r>
            <a:r>
              <a:rPr lang="en-US" altLang="zh-CN" sz="2400" b="1" dirty="0" smtClean="0">
                <a:latin typeface="+mn-ea"/>
              </a:rPr>
              <a:t>XML</a:t>
            </a:r>
            <a:r>
              <a:rPr lang="zh-CN" altLang="en-US" sz="2400" b="1" dirty="0" smtClean="0">
                <a:latin typeface="+mn-ea"/>
              </a:rPr>
              <a:t>文档，所产生的事件如图所示，注意针对元素内的空格或回车也会生成一个文本事件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5235">
                                            <p:txEl>
                                              <p:pRg st="0" end="0"/>
                                            </p:txEl>
                                          </p:spTgt>
                                        </p:tgtEl>
                                        <p:attrNameLst>
                                          <p:attrName>style.visibility</p:attrName>
                                        </p:attrNameLst>
                                      </p:cBhvr>
                                      <p:to>
                                        <p:strVal val="visible"/>
                                      </p:to>
                                    </p:set>
                                    <p:anim calcmode="lin" valueType="num">
                                      <p:cBhvr additive="base">
                                        <p:cTn id="7" dur="500" fill="hold"/>
                                        <p:tgtEl>
                                          <p:spTgt spid="952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52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5235">
                                            <p:txEl>
                                              <p:pRg st="1" end="1"/>
                                            </p:txEl>
                                          </p:spTgt>
                                        </p:tgtEl>
                                        <p:attrNameLst>
                                          <p:attrName>style.visibility</p:attrName>
                                        </p:attrNameLst>
                                      </p:cBhvr>
                                      <p:to>
                                        <p:strVal val="visible"/>
                                      </p:to>
                                    </p:set>
                                    <p:anim calcmode="lin" valueType="num">
                                      <p:cBhvr additive="base">
                                        <p:cTn id="13" dur="500" fill="hold"/>
                                        <p:tgtEl>
                                          <p:spTgt spid="9523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523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标题 1"/>
          <p:cNvSpPr>
            <a:spLocks noGrp="1"/>
          </p:cNvSpPr>
          <p:nvPr>
            <p:ph type="title"/>
          </p:nvPr>
        </p:nvSpPr>
        <p:spPr/>
        <p:txBody>
          <a:bodyPr/>
          <a:lstStyle/>
          <a:p>
            <a:pPr>
              <a:defRPr/>
            </a:pPr>
            <a:endParaRPr lang="zh-CN" altLang="en-US" b="1" smtClean="0">
              <a:latin typeface="+mn-ea"/>
              <a:ea typeface="+mn-ea"/>
            </a:endParaRPr>
          </a:p>
        </p:txBody>
      </p:sp>
      <p:sp>
        <p:nvSpPr>
          <p:cNvPr id="98307" name="内容占位符 2"/>
          <p:cNvSpPr>
            <a:spLocks noGrp="1"/>
          </p:cNvSpPr>
          <p:nvPr>
            <p:ph idx="1"/>
          </p:nvPr>
        </p:nvSpPr>
        <p:spPr/>
        <p:txBody>
          <a:bodyPr/>
          <a:lstStyle/>
          <a:p>
            <a:endParaRPr lang="zh-CN" altLang="en-US" smtClean="0"/>
          </a:p>
        </p:txBody>
      </p:sp>
      <p:pic>
        <p:nvPicPr>
          <p:cNvPr id="98308" name="Picture 4"/>
          <p:cNvPicPr>
            <a:picLocks noChangeAspect="1" noChangeArrowheads="1"/>
          </p:cNvPicPr>
          <p:nvPr/>
        </p:nvPicPr>
        <p:blipFill>
          <a:blip r:embed="rId2"/>
          <a:srcRect/>
          <a:stretch>
            <a:fillRect/>
          </a:stretch>
        </p:blipFill>
        <p:spPr bwMode="auto">
          <a:xfrm>
            <a:off x="1835696" y="548680"/>
            <a:ext cx="7184479" cy="523775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标题 1"/>
          <p:cNvSpPr>
            <a:spLocks noGrp="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pPr>
              <a:defRPr/>
            </a:pPr>
            <a:r>
              <a:rPr lang="zh-CN" altLang="zh-CN" sz="3200" b="1" dirty="0" smtClean="0">
                <a:latin typeface="+mj-ea"/>
              </a:rPr>
              <a:t>拉式解析</a:t>
            </a:r>
            <a:r>
              <a:rPr lang="en-US" altLang="zh-CN" sz="3200" b="1" dirty="0" smtClean="0">
                <a:latin typeface="+mj-ea"/>
              </a:rPr>
              <a:t>(</a:t>
            </a:r>
            <a:r>
              <a:rPr lang="en-US" altLang="zh-CN" sz="3200" b="1" dirty="0" err="1" smtClean="0">
                <a:latin typeface="+mj-ea"/>
              </a:rPr>
              <a:t>StAX</a:t>
            </a:r>
            <a:r>
              <a:rPr lang="en-US" altLang="zh-CN" sz="3200" b="1" dirty="0" smtClean="0">
                <a:latin typeface="+mj-ea"/>
              </a:rPr>
              <a:t>)</a:t>
            </a:r>
            <a:endParaRPr lang="zh-CN" altLang="en-US" sz="3200" b="1" dirty="0" smtClean="0">
              <a:latin typeface="+mj-ea"/>
            </a:endParaRPr>
          </a:p>
        </p:txBody>
      </p:sp>
      <p:sp>
        <p:nvSpPr>
          <p:cNvPr id="97283" name="内容占位符 2"/>
          <p:cNvSpPr>
            <a:spLocks noGrp="1"/>
          </p:cNvSpPr>
          <p:nvPr>
            <p:ph idx="1"/>
          </p:nvPr>
        </p:nvSpPr>
        <p:spPr/>
        <p:txBody>
          <a:bodyPr/>
          <a:lstStyle/>
          <a:p>
            <a:pPr>
              <a:defRPr/>
            </a:pPr>
            <a:r>
              <a:rPr lang="zh-CN" sz="2800" b="1" dirty="0" smtClean="0">
                <a:latin typeface="+mn-ea"/>
              </a:rPr>
              <a:t>应用程序控制着读循环。循环中，应用程序负责反复调用解析器获得下一个事件，直到文档结束</a:t>
            </a:r>
            <a:endParaRPr lang="en-US" altLang="zh-CN" sz="2800" b="1" dirty="0" smtClean="0">
              <a:latin typeface="+mn-ea"/>
            </a:endParaRPr>
          </a:p>
          <a:p>
            <a:pPr>
              <a:defRPr/>
            </a:pPr>
            <a:r>
              <a:rPr lang="zh-CN" sz="2800" b="1" dirty="0" smtClean="0">
                <a:latin typeface="+mn-ea"/>
              </a:rPr>
              <a:t>通过保留解析过程的控制权，可以简化调用代码来准确地处理它预期的内容，并且可随时停止解析</a:t>
            </a:r>
            <a:endParaRPr lang="en-US" altLang="zh-CN" sz="2800" b="1" dirty="0" smtClean="0">
              <a:latin typeface="+mn-ea"/>
            </a:endParaRPr>
          </a:p>
          <a:p>
            <a:pPr>
              <a:defRPr/>
            </a:pPr>
            <a:r>
              <a:rPr lang="zh-CN" sz="2800" b="1" dirty="0" smtClean="0">
                <a:latin typeface="+mn-ea"/>
              </a:rPr>
              <a:t>没有基于处理程序回调，应用程序也不需要像</a:t>
            </a:r>
            <a:r>
              <a:rPr lang="en-US" sz="2800" b="1" dirty="0" smtClean="0">
                <a:latin typeface="+mn-ea"/>
              </a:rPr>
              <a:t>SAX</a:t>
            </a:r>
            <a:r>
              <a:rPr lang="zh-CN" sz="2800" b="1" dirty="0" smtClean="0">
                <a:latin typeface="+mn-ea"/>
              </a:rPr>
              <a:t>中那样模拟解析器的状态</a:t>
            </a:r>
            <a:endParaRPr lang="zh-CN" altLang="en-US" sz="2800" b="1" dirty="0" smtClean="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7283">
                                            <p:txEl>
                                              <p:pRg st="0" end="0"/>
                                            </p:txEl>
                                          </p:spTgt>
                                        </p:tgtEl>
                                        <p:attrNameLst>
                                          <p:attrName>style.visibility</p:attrName>
                                        </p:attrNameLst>
                                      </p:cBhvr>
                                      <p:to>
                                        <p:strVal val="visible"/>
                                      </p:to>
                                    </p:set>
                                    <p:anim calcmode="lin" valueType="num">
                                      <p:cBhvr additive="base">
                                        <p:cTn id="7" dur="500" fill="hold"/>
                                        <p:tgtEl>
                                          <p:spTgt spid="972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72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7283">
                                            <p:txEl>
                                              <p:pRg st="1" end="1"/>
                                            </p:txEl>
                                          </p:spTgt>
                                        </p:tgtEl>
                                        <p:attrNameLst>
                                          <p:attrName>style.visibility</p:attrName>
                                        </p:attrNameLst>
                                      </p:cBhvr>
                                      <p:to>
                                        <p:strVal val="visible"/>
                                      </p:to>
                                    </p:set>
                                    <p:anim calcmode="lin" valueType="num">
                                      <p:cBhvr additive="base">
                                        <p:cTn id="13" dur="500" fill="hold"/>
                                        <p:tgtEl>
                                          <p:spTgt spid="9728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72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7283">
                                            <p:txEl>
                                              <p:pRg st="2" end="2"/>
                                            </p:txEl>
                                          </p:spTgt>
                                        </p:tgtEl>
                                        <p:attrNameLst>
                                          <p:attrName>style.visibility</p:attrName>
                                        </p:attrNameLst>
                                      </p:cBhvr>
                                      <p:to>
                                        <p:strVal val="visible"/>
                                      </p:to>
                                    </p:set>
                                    <p:anim calcmode="lin" valueType="num">
                                      <p:cBhvr additive="base">
                                        <p:cTn id="19" dur="500" fill="hold"/>
                                        <p:tgtEl>
                                          <p:spTgt spid="9728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728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标题 1"/>
          <p:cNvSpPr>
            <a:spLocks noGrp="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pPr>
              <a:defRPr/>
            </a:pPr>
            <a:r>
              <a:rPr lang="zh-CN" altLang="zh-CN" sz="3200" b="1" dirty="0" smtClean="0">
                <a:latin typeface="+mj-ea"/>
              </a:rPr>
              <a:t>两套处理</a:t>
            </a:r>
            <a:r>
              <a:rPr lang="en-US" altLang="zh-CN" sz="3200" b="1" dirty="0" smtClean="0">
                <a:latin typeface="+mj-ea"/>
              </a:rPr>
              <a:t>XML</a:t>
            </a:r>
            <a:r>
              <a:rPr lang="zh-CN" altLang="zh-CN" sz="3200" b="1" dirty="0" smtClean="0">
                <a:latin typeface="+mj-ea"/>
              </a:rPr>
              <a:t>的</a:t>
            </a:r>
            <a:r>
              <a:rPr lang="en-US" altLang="zh-CN" sz="3200" b="1" dirty="0" smtClean="0">
                <a:latin typeface="+mj-ea"/>
              </a:rPr>
              <a:t>API</a:t>
            </a:r>
            <a:endParaRPr lang="zh-CN" altLang="en-US" sz="3200" b="1" dirty="0" smtClean="0">
              <a:latin typeface="+mj-ea"/>
            </a:endParaRPr>
          </a:p>
        </p:txBody>
      </p:sp>
      <p:sp>
        <p:nvSpPr>
          <p:cNvPr id="98307" name="内容占位符 2"/>
          <p:cNvSpPr>
            <a:spLocks noGrp="1"/>
          </p:cNvSpPr>
          <p:nvPr>
            <p:ph idx="1"/>
          </p:nvPr>
        </p:nvSpPr>
        <p:spPr>
          <a:xfrm>
            <a:off x="1979712" y="1857375"/>
            <a:ext cx="6735663" cy="4572000"/>
          </a:xfrm>
        </p:spPr>
        <p:txBody>
          <a:bodyPr/>
          <a:lstStyle/>
          <a:p>
            <a:pPr>
              <a:defRPr/>
            </a:pPr>
            <a:r>
              <a:rPr lang="zh-CN" sz="2800" b="1" dirty="0" smtClean="0">
                <a:latin typeface="+mn-ea"/>
              </a:rPr>
              <a:t>基于指针的</a:t>
            </a:r>
            <a:r>
              <a:rPr lang="en-US" sz="2800" b="1" dirty="0" smtClean="0">
                <a:latin typeface="+mn-ea"/>
              </a:rPr>
              <a:t>API</a:t>
            </a:r>
          </a:p>
          <a:p>
            <a:pPr lvl="1">
              <a:defRPr/>
            </a:pPr>
            <a:r>
              <a:rPr lang="zh-CN" sz="2400" b="1" dirty="0" smtClean="0">
                <a:latin typeface="+mn-ea"/>
              </a:rPr>
              <a:t>简单返回事件，此时事件用数值形式来表示。这是一种低层</a:t>
            </a:r>
            <a:r>
              <a:rPr lang="en-US" sz="2400" b="1" dirty="0" smtClean="0">
                <a:latin typeface="+mn-ea"/>
              </a:rPr>
              <a:t>API</a:t>
            </a:r>
            <a:r>
              <a:rPr lang="zh-CN" sz="2400" b="1" dirty="0" smtClean="0">
                <a:latin typeface="+mn-ea"/>
              </a:rPr>
              <a:t>，没有提供底层</a:t>
            </a:r>
            <a:r>
              <a:rPr lang="en-US" sz="2400" b="1" dirty="0" smtClean="0">
                <a:latin typeface="+mn-ea"/>
              </a:rPr>
              <a:t>XML</a:t>
            </a:r>
            <a:r>
              <a:rPr lang="zh-CN" sz="2400" b="1" dirty="0" smtClean="0">
                <a:latin typeface="+mn-ea"/>
              </a:rPr>
              <a:t>结构的抽象</a:t>
            </a:r>
            <a:endParaRPr lang="en-US" sz="2400" b="1" dirty="0" smtClean="0">
              <a:latin typeface="+mn-ea"/>
            </a:endParaRPr>
          </a:p>
          <a:p>
            <a:pPr>
              <a:defRPr/>
            </a:pPr>
            <a:r>
              <a:rPr lang="zh-CN" sz="2800" b="1" dirty="0" smtClean="0">
                <a:latin typeface="+mn-ea"/>
              </a:rPr>
              <a:t>基于迭代器的</a:t>
            </a:r>
            <a:r>
              <a:rPr lang="en-US" sz="2800" b="1" dirty="0" smtClean="0">
                <a:latin typeface="+mn-ea"/>
              </a:rPr>
              <a:t>API</a:t>
            </a:r>
          </a:p>
          <a:p>
            <a:pPr lvl="1">
              <a:defRPr/>
            </a:pPr>
            <a:r>
              <a:rPr lang="zh-CN" sz="2400" b="1" dirty="0" smtClean="0">
                <a:latin typeface="+mn-ea"/>
              </a:rPr>
              <a:t>以对象方式返回事件，每个事件对象都封装了它所表示的特定</a:t>
            </a:r>
            <a:r>
              <a:rPr lang="en-US" sz="2400" b="1" dirty="0" smtClean="0">
                <a:latin typeface="+mn-ea"/>
              </a:rPr>
              <a:t>XML</a:t>
            </a:r>
            <a:r>
              <a:rPr lang="zh-CN" sz="2400" b="1" dirty="0" smtClean="0">
                <a:latin typeface="+mn-ea"/>
              </a:rPr>
              <a:t>结构固有的信息，因此可直接利用其方法获得属于该结构的信息，但也需要额外的对象创建开销</a:t>
            </a:r>
            <a:endParaRPr lang="zh-CN" altLang="en-US" sz="2400" b="1" dirty="0" smtClean="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307">
                                            <p:txEl>
                                              <p:pRg st="0" end="0"/>
                                            </p:txEl>
                                          </p:spTgt>
                                        </p:tgtEl>
                                        <p:attrNameLst>
                                          <p:attrName>style.visibility</p:attrName>
                                        </p:attrNameLst>
                                      </p:cBhvr>
                                      <p:to>
                                        <p:strVal val="visible"/>
                                      </p:to>
                                    </p:set>
                                    <p:anim calcmode="lin" valueType="num">
                                      <p:cBhvr additive="base">
                                        <p:cTn id="7" dur="500" fill="hold"/>
                                        <p:tgtEl>
                                          <p:spTgt spid="983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3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307">
                                            <p:txEl>
                                              <p:pRg st="1" end="1"/>
                                            </p:txEl>
                                          </p:spTgt>
                                        </p:tgtEl>
                                        <p:attrNameLst>
                                          <p:attrName>style.visibility</p:attrName>
                                        </p:attrNameLst>
                                      </p:cBhvr>
                                      <p:to>
                                        <p:strVal val="visible"/>
                                      </p:to>
                                    </p:set>
                                    <p:anim calcmode="lin" valueType="num">
                                      <p:cBhvr additive="base">
                                        <p:cTn id="13" dur="500" fill="hold"/>
                                        <p:tgtEl>
                                          <p:spTgt spid="983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3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nodeType="clickEffect">
                                  <p:stCondLst>
                                    <p:cond delay="0"/>
                                  </p:stCondLst>
                                  <p:childTnLst>
                                    <p:set>
                                      <p:cBhvr>
                                        <p:cTn id="18" dur="1" fill="hold">
                                          <p:stCondLst>
                                            <p:cond delay="0"/>
                                          </p:stCondLst>
                                        </p:cTn>
                                        <p:tgtEl>
                                          <p:spTgt spid="98307">
                                            <p:txEl>
                                              <p:pRg st="2" end="2"/>
                                            </p:txEl>
                                          </p:spTgt>
                                        </p:tgtEl>
                                        <p:attrNameLst>
                                          <p:attrName>style.visibility</p:attrName>
                                        </p:attrNameLst>
                                      </p:cBhvr>
                                      <p:to>
                                        <p:strVal val="visible"/>
                                      </p:to>
                                    </p:set>
                                    <p:animEffect transition="in" filter="box(in)">
                                      <p:cBhvr>
                                        <p:cTn id="19" dur="500"/>
                                        <p:tgtEl>
                                          <p:spTgt spid="98307">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nodeType="clickEffect">
                                  <p:stCondLst>
                                    <p:cond delay="0"/>
                                  </p:stCondLst>
                                  <p:childTnLst>
                                    <p:set>
                                      <p:cBhvr>
                                        <p:cTn id="23" dur="1" fill="hold">
                                          <p:stCondLst>
                                            <p:cond delay="0"/>
                                          </p:stCondLst>
                                        </p:cTn>
                                        <p:tgtEl>
                                          <p:spTgt spid="98307">
                                            <p:txEl>
                                              <p:pRg st="3" end="3"/>
                                            </p:txEl>
                                          </p:spTgt>
                                        </p:tgtEl>
                                        <p:attrNameLst>
                                          <p:attrName>style.visibility</p:attrName>
                                        </p:attrNameLst>
                                      </p:cBhvr>
                                      <p:to>
                                        <p:strVal val="visible"/>
                                      </p:to>
                                    </p:set>
                                    <p:animEffect transition="in" filter="box(in)">
                                      <p:cBhvr>
                                        <p:cTn id="24" dur="500"/>
                                        <p:tgtEl>
                                          <p:spTgt spid="9830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1"/>
          <p:cNvSpPr>
            <a:spLocks noGrp="1"/>
          </p:cNvSpPr>
          <p:nvPr>
            <p:ph type="title"/>
          </p:nvPr>
        </p:nvSpPr>
        <p:spPr>
          <a:xfrm>
            <a:off x="1835696" y="142875"/>
            <a:ext cx="6984776" cy="833438"/>
          </a:xfrm>
          <a:noFill/>
          <a:ln w="9525">
            <a:noFill/>
            <a:miter lim="800000"/>
            <a:headEnd/>
            <a:tailEnd/>
          </a:ln>
        </p:spPr>
        <p:txBody>
          <a:bodyPr vert="horz" wrap="square" lIns="91440" tIns="45720" rIns="91440" bIns="45720" numCol="1" anchor="ctr" anchorCtr="0" compatLnSpc="1">
            <a:prstTxWarp prst="textNoShape">
              <a:avLst/>
            </a:prstTxWarp>
          </a:bodyPr>
          <a:lstStyle/>
          <a:p>
            <a:pPr>
              <a:defRPr/>
            </a:pPr>
            <a:r>
              <a:rPr lang="zh-CN" altLang="zh-CN" sz="3200" b="1" dirty="0" smtClean="0">
                <a:latin typeface="+mj-ea"/>
              </a:rPr>
              <a:t>面向文档的对象式解析技术</a:t>
            </a:r>
            <a:endParaRPr lang="zh-CN" altLang="en-US" sz="3200" b="1" dirty="0" smtClean="0">
              <a:latin typeface="+mj-ea"/>
            </a:endParaRPr>
          </a:p>
        </p:txBody>
      </p:sp>
      <p:sp>
        <p:nvSpPr>
          <p:cNvPr id="99331" name="内容占位符 2"/>
          <p:cNvSpPr>
            <a:spLocks noGrp="1"/>
          </p:cNvSpPr>
          <p:nvPr>
            <p:ph idx="1"/>
          </p:nvPr>
        </p:nvSpPr>
        <p:spPr>
          <a:xfrm>
            <a:off x="1979712" y="1143000"/>
            <a:ext cx="6878538" cy="5357813"/>
          </a:xfrm>
        </p:spPr>
        <p:txBody>
          <a:bodyPr>
            <a:normAutofit/>
          </a:bodyPr>
          <a:lstStyle/>
          <a:p>
            <a:pPr>
              <a:defRPr/>
            </a:pPr>
            <a:r>
              <a:rPr lang="zh-CN" sz="2400" b="1" dirty="0" smtClean="0">
                <a:latin typeface="+mn-ea"/>
              </a:rPr>
              <a:t>流式解析方式无法更改数据和不支持随机访问</a:t>
            </a:r>
            <a:endParaRPr lang="en-US" sz="2400" b="1" dirty="0" smtClean="0">
              <a:latin typeface="+mn-ea"/>
            </a:endParaRPr>
          </a:p>
          <a:p>
            <a:pPr>
              <a:defRPr/>
            </a:pPr>
            <a:r>
              <a:rPr lang="en-US" sz="2400" b="1" dirty="0" smtClean="0">
                <a:latin typeface="+mn-ea"/>
              </a:rPr>
              <a:t>DOM (Document Object Model) </a:t>
            </a:r>
            <a:r>
              <a:rPr lang="zh-CN" sz="2400" b="1" dirty="0" smtClean="0">
                <a:latin typeface="+mn-ea"/>
              </a:rPr>
              <a:t>用与平台和语言无关的方式对</a:t>
            </a:r>
            <a:r>
              <a:rPr lang="en-US" sz="2400" b="1" dirty="0" smtClean="0">
                <a:latin typeface="+mn-ea"/>
              </a:rPr>
              <a:t>XML</a:t>
            </a:r>
            <a:r>
              <a:rPr lang="zh-CN" sz="2400" b="1" dirty="0" smtClean="0">
                <a:latin typeface="+mn-ea"/>
              </a:rPr>
              <a:t>文档进行建模的</a:t>
            </a:r>
            <a:r>
              <a:rPr lang="en-US" sz="2400" b="1" dirty="0" smtClean="0">
                <a:latin typeface="+mn-ea"/>
              </a:rPr>
              <a:t>W3C</a:t>
            </a:r>
            <a:r>
              <a:rPr lang="zh-CN" sz="2400" b="1" dirty="0" smtClean="0">
                <a:latin typeface="+mn-ea"/>
              </a:rPr>
              <a:t>标准，提供一个可以通用于各种程序语言和应用程序的接口</a:t>
            </a:r>
            <a:endParaRPr lang="en-US" altLang="zh-CN" sz="2400" b="1" dirty="0" smtClean="0">
              <a:latin typeface="+mn-ea"/>
            </a:endParaRPr>
          </a:p>
          <a:p>
            <a:pPr>
              <a:defRPr/>
            </a:pPr>
            <a:r>
              <a:rPr lang="en-US" sz="2400" b="1" dirty="0" smtClean="0">
                <a:latin typeface="+mn-ea"/>
              </a:rPr>
              <a:t>DOM</a:t>
            </a:r>
            <a:r>
              <a:rPr lang="zh-CN" sz="2400" b="1" dirty="0" smtClean="0">
                <a:latin typeface="+mn-ea"/>
              </a:rPr>
              <a:t>作为一种对象式解析技术，定义了层次化对象模型来表示</a:t>
            </a:r>
            <a:r>
              <a:rPr lang="en-US" sz="2400" b="1" dirty="0" smtClean="0">
                <a:latin typeface="+mn-ea"/>
              </a:rPr>
              <a:t>XML</a:t>
            </a:r>
            <a:r>
              <a:rPr lang="zh-CN" sz="2400" b="1" dirty="0" smtClean="0">
                <a:latin typeface="+mn-ea"/>
              </a:rPr>
              <a:t>文档。即为</a:t>
            </a:r>
            <a:r>
              <a:rPr lang="en-US" sz="2400" b="1" dirty="0" smtClean="0">
                <a:latin typeface="+mn-ea"/>
              </a:rPr>
              <a:t>XML</a:t>
            </a:r>
            <a:r>
              <a:rPr lang="zh-CN" sz="2400" b="1" dirty="0" smtClean="0">
                <a:latin typeface="+mn-ea"/>
              </a:rPr>
              <a:t>语法中的每个概念</a:t>
            </a:r>
            <a:r>
              <a:rPr lang="en-US" sz="2400" b="1" dirty="0" smtClean="0">
                <a:latin typeface="+mn-ea"/>
              </a:rPr>
              <a:t>(</a:t>
            </a:r>
            <a:r>
              <a:rPr lang="zh-CN" sz="2400" b="1" dirty="0" smtClean="0">
                <a:latin typeface="+mn-ea"/>
              </a:rPr>
              <a:t>如元素，属性，实体，文档等</a:t>
            </a:r>
            <a:r>
              <a:rPr lang="en-US" sz="2400" b="1" dirty="0" smtClean="0">
                <a:latin typeface="+mn-ea"/>
              </a:rPr>
              <a:t>)</a:t>
            </a:r>
            <a:r>
              <a:rPr lang="zh-CN" sz="2400" b="1" dirty="0" smtClean="0">
                <a:latin typeface="+mn-ea"/>
              </a:rPr>
              <a:t>定义对应的类，而解析器在读入</a:t>
            </a:r>
            <a:r>
              <a:rPr lang="en-US" sz="2400" b="1" dirty="0" smtClean="0">
                <a:latin typeface="+mn-ea"/>
              </a:rPr>
              <a:t>XML</a:t>
            </a:r>
            <a:r>
              <a:rPr lang="zh-CN" sz="2400" b="1" dirty="0" smtClean="0">
                <a:latin typeface="+mn-ea"/>
              </a:rPr>
              <a:t>文档的时候，会建立</a:t>
            </a:r>
            <a:r>
              <a:rPr lang="en-US" sz="2400" b="1" dirty="0" smtClean="0">
                <a:latin typeface="+mn-ea"/>
              </a:rPr>
              <a:t>XML</a:t>
            </a:r>
            <a:r>
              <a:rPr lang="zh-CN" sz="2400" b="1" dirty="0" smtClean="0">
                <a:latin typeface="+mn-ea"/>
              </a:rPr>
              <a:t>语法和类之间的一一映射</a:t>
            </a:r>
            <a:endParaRPr lang="en-US" altLang="zh-CN" sz="2400" b="1" dirty="0" smtClean="0">
              <a:latin typeface="+mn-ea"/>
            </a:endParaRPr>
          </a:p>
          <a:p>
            <a:pPr>
              <a:defRPr/>
            </a:pPr>
            <a:r>
              <a:rPr lang="en-US" sz="2400" b="1" dirty="0" smtClean="0">
                <a:latin typeface="+mn-ea"/>
              </a:rPr>
              <a:t>DOM</a:t>
            </a:r>
            <a:r>
              <a:rPr lang="zh-CN" sz="2400" b="1" dirty="0" smtClean="0">
                <a:latin typeface="+mn-ea"/>
              </a:rPr>
              <a:t>的层次化对象模型是一个树形结构，它将一个</a:t>
            </a:r>
            <a:r>
              <a:rPr lang="en-US" sz="2400" b="1" dirty="0" smtClean="0">
                <a:latin typeface="+mn-ea"/>
              </a:rPr>
              <a:t>XML</a:t>
            </a:r>
            <a:r>
              <a:rPr lang="zh-CN" sz="2400" b="1" dirty="0" smtClean="0">
                <a:latin typeface="+mn-ea"/>
              </a:rPr>
              <a:t>文档看作一棵节点树，每个节点代表一个</a:t>
            </a:r>
            <a:r>
              <a:rPr lang="en-US" sz="2400" b="1" dirty="0" smtClean="0">
                <a:latin typeface="+mn-ea"/>
              </a:rPr>
              <a:t>XML</a:t>
            </a:r>
            <a:r>
              <a:rPr lang="zh-CN" sz="2400" b="1" dirty="0" smtClean="0">
                <a:latin typeface="+mn-ea"/>
              </a:rPr>
              <a:t>文档中的元素</a:t>
            </a:r>
            <a:endParaRPr lang="zh-CN" altLang="en-US" sz="2400" b="1" dirty="0" smtClean="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9331">
                                            <p:txEl>
                                              <p:pRg st="0" end="0"/>
                                            </p:txEl>
                                          </p:spTgt>
                                        </p:tgtEl>
                                        <p:attrNameLst>
                                          <p:attrName>style.visibility</p:attrName>
                                        </p:attrNameLst>
                                      </p:cBhvr>
                                      <p:to>
                                        <p:strVal val="visible"/>
                                      </p:to>
                                    </p:set>
                                    <p:anim calcmode="lin" valueType="num">
                                      <p:cBhvr additive="base">
                                        <p:cTn id="7" dur="500" fill="hold"/>
                                        <p:tgtEl>
                                          <p:spTgt spid="993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93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9331">
                                            <p:txEl>
                                              <p:pRg st="1" end="1"/>
                                            </p:txEl>
                                          </p:spTgt>
                                        </p:tgtEl>
                                        <p:attrNameLst>
                                          <p:attrName>style.visibility</p:attrName>
                                        </p:attrNameLst>
                                      </p:cBhvr>
                                      <p:to>
                                        <p:strVal val="visible"/>
                                      </p:to>
                                    </p:set>
                                    <p:anim calcmode="lin" valueType="num">
                                      <p:cBhvr additive="base">
                                        <p:cTn id="13" dur="500" fill="hold"/>
                                        <p:tgtEl>
                                          <p:spTgt spid="9933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933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nodeType="clickEffect">
                                  <p:stCondLst>
                                    <p:cond delay="0"/>
                                  </p:stCondLst>
                                  <p:childTnLst>
                                    <p:set>
                                      <p:cBhvr>
                                        <p:cTn id="18" dur="1" fill="hold">
                                          <p:stCondLst>
                                            <p:cond delay="0"/>
                                          </p:stCondLst>
                                        </p:cTn>
                                        <p:tgtEl>
                                          <p:spTgt spid="99331">
                                            <p:txEl>
                                              <p:pRg st="2" end="2"/>
                                            </p:txEl>
                                          </p:spTgt>
                                        </p:tgtEl>
                                        <p:attrNameLst>
                                          <p:attrName>style.visibility</p:attrName>
                                        </p:attrNameLst>
                                      </p:cBhvr>
                                      <p:to>
                                        <p:strVal val="visible"/>
                                      </p:to>
                                    </p:set>
                                    <p:animEffect transition="in" filter="box(in)">
                                      <p:cBhvr>
                                        <p:cTn id="19" dur="500"/>
                                        <p:tgtEl>
                                          <p:spTgt spid="99331">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99331">
                                            <p:txEl>
                                              <p:pRg st="3" end="3"/>
                                            </p:txEl>
                                          </p:spTgt>
                                        </p:tgtEl>
                                        <p:attrNameLst>
                                          <p:attrName>style.visibility</p:attrName>
                                        </p:attrNameLst>
                                      </p:cBhvr>
                                      <p:to>
                                        <p:strVal val="visible"/>
                                      </p:to>
                                    </p:set>
                                    <p:anim calcmode="lin" valueType="num">
                                      <p:cBhvr additive="base">
                                        <p:cTn id="24" dur="500" fill="hold"/>
                                        <p:tgtEl>
                                          <p:spTgt spid="99331">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9933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标题 1"/>
          <p:cNvSpPr>
            <a:spLocks noGrp="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pPr>
              <a:defRPr/>
            </a:pPr>
            <a:r>
              <a:rPr lang="en-US" altLang="zh-CN" sz="3200" b="1" dirty="0" smtClean="0">
                <a:latin typeface="+mj-ea"/>
              </a:rPr>
              <a:t>DOM</a:t>
            </a:r>
            <a:r>
              <a:rPr lang="zh-CN" altLang="zh-CN" sz="3200" b="1" dirty="0" smtClean="0">
                <a:latin typeface="+mj-ea"/>
              </a:rPr>
              <a:t>的基本节点对象</a:t>
            </a:r>
            <a:endParaRPr lang="zh-CN" altLang="en-US" sz="3200" b="1" dirty="0" smtClean="0">
              <a:latin typeface="+mj-ea"/>
            </a:endParaRPr>
          </a:p>
        </p:txBody>
      </p:sp>
      <p:sp>
        <p:nvSpPr>
          <p:cNvPr id="100355" name="内容占位符 2"/>
          <p:cNvSpPr>
            <a:spLocks noGrp="1"/>
          </p:cNvSpPr>
          <p:nvPr>
            <p:ph idx="1"/>
          </p:nvPr>
        </p:nvSpPr>
        <p:spPr>
          <a:xfrm>
            <a:off x="1907704" y="1785938"/>
            <a:ext cx="6593359" cy="4786312"/>
          </a:xfrm>
        </p:spPr>
        <p:txBody>
          <a:bodyPr/>
          <a:lstStyle/>
          <a:p>
            <a:pPr>
              <a:defRPr/>
            </a:pPr>
            <a:r>
              <a:rPr lang="en-US" sz="2800" b="1" dirty="0" smtClean="0">
                <a:latin typeface="+mn-ea"/>
              </a:rPr>
              <a:t>Document</a:t>
            </a:r>
            <a:r>
              <a:rPr lang="zh-CN" sz="2800" b="1" dirty="0" smtClean="0">
                <a:latin typeface="+mn-ea"/>
              </a:rPr>
              <a:t>对象：树的最高节点，也是对整个文档操作的入口</a:t>
            </a:r>
            <a:endParaRPr lang="en-US" altLang="zh-CN" sz="2800" b="1" dirty="0" smtClean="0">
              <a:latin typeface="+mn-ea"/>
            </a:endParaRPr>
          </a:p>
          <a:p>
            <a:pPr>
              <a:defRPr/>
            </a:pPr>
            <a:r>
              <a:rPr lang="en-US" sz="2800" b="1" dirty="0" smtClean="0">
                <a:latin typeface="+mn-ea"/>
              </a:rPr>
              <a:t>Element</a:t>
            </a:r>
            <a:r>
              <a:rPr lang="zh-CN" sz="2800" b="1" dirty="0" smtClean="0">
                <a:latin typeface="+mn-ea"/>
              </a:rPr>
              <a:t>和</a:t>
            </a:r>
            <a:r>
              <a:rPr lang="en-US" sz="2800" b="1" dirty="0" err="1" smtClean="0">
                <a:latin typeface="+mn-ea"/>
              </a:rPr>
              <a:t>Attr</a:t>
            </a:r>
            <a:r>
              <a:rPr lang="zh-CN" sz="2800" b="1" dirty="0" smtClean="0">
                <a:latin typeface="+mn-ea"/>
              </a:rPr>
              <a:t>对象：对文档中元素和元素属性的映射</a:t>
            </a:r>
            <a:endParaRPr lang="en-US" altLang="zh-CN" sz="2800" b="1" dirty="0" smtClean="0">
              <a:latin typeface="+mn-ea"/>
            </a:endParaRPr>
          </a:p>
          <a:p>
            <a:pPr>
              <a:defRPr/>
            </a:pPr>
            <a:r>
              <a:rPr lang="en-US" sz="2800" b="1" dirty="0" smtClean="0">
                <a:latin typeface="+mn-ea"/>
              </a:rPr>
              <a:t>Text</a:t>
            </a:r>
            <a:r>
              <a:rPr lang="zh-CN" sz="2800" b="1" dirty="0" smtClean="0">
                <a:latin typeface="+mn-ea"/>
              </a:rPr>
              <a:t>对象：作为</a:t>
            </a:r>
            <a:r>
              <a:rPr lang="en-US" sz="2800" b="1" dirty="0" smtClean="0">
                <a:latin typeface="+mn-ea"/>
              </a:rPr>
              <a:t>Element</a:t>
            </a:r>
            <a:r>
              <a:rPr lang="zh-CN" sz="2800" b="1" dirty="0" smtClean="0">
                <a:latin typeface="+mn-ea"/>
              </a:rPr>
              <a:t>和</a:t>
            </a:r>
            <a:r>
              <a:rPr lang="en-US" sz="2800" b="1" dirty="0" err="1" smtClean="0">
                <a:latin typeface="+mn-ea"/>
              </a:rPr>
              <a:t>Attr</a:t>
            </a:r>
            <a:r>
              <a:rPr lang="zh-CN" sz="2800" b="1" dirty="0" smtClean="0">
                <a:latin typeface="+mn-ea"/>
              </a:rPr>
              <a:t>对象的子节点，代表元素或属性的文本内容</a:t>
            </a:r>
            <a:endParaRPr lang="en-US" altLang="zh-CN" sz="2800" b="1" dirty="0" smtClean="0">
              <a:latin typeface="+mn-ea"/>
            </a:endParaRPr>
          </a:p>
          <a:p>
            <a:pPr>
              <a:defRPr/>
            </a:pPr>
            <a:r>
              <a:rPr lang="en-US" sz="2800" b="1" dirty="0" err="1" smtClean="0">
                <a:latin typeface="+mn-ea"/>
              </a:rPr>
              <a:t>NodeList</a:t>
            </a:r>
            <a:r>
              <a:rPr lang="zh-CN" sz="2800" b="1" dirty="0" smtClean="0">
                <a:latin typeface="+mn-ea"/>
              </a:rPr>
              <a:t>对象：对节点按指定的方式进行遍历</a:t>
            </a:r>
            <a:endParaRPr lang="zh-CN" altLang="en-US" sz="2800" b="1" dirty="0" smtClean="0">
              <a:latin typeface="+mn-ea"/>
            </a:endParaRP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标题 1"/>
          <p:cNvSpPr>
            <a:spLocks noGrp="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pPr>
              <a:defRPr/>
            </a:pPr>
            <a:r>
              <a:rPr lang="zh-CN" altLang="zh-CN" sz="3200" b="1" dirty="0" smtClean="0">
                <a:latin typeface="+mj-ea"/>
              </a:rPr>
              <a:t>面向文档的指针式解析技术</a:t>
            </a:r>
            <a:endParaRPr lang="zh-CN" altLang="en-US" sz="3200" b="1" dirty="0" smtClean="0">
              <a:latin typeface="+mj-ea"/>
            </a:endParaRPr>
          </a:p>
        </p:txBody>
      </p:sp>
      <p:sp>
        <p:nvSpPr>
          <p:cNvPr id="101379" name="内容占位符 2"/>
          <p:cNvSpPr>
            <a:spLocks noGrp="1"/>
          </p:cNvSpPr>
          <p:nvPr>
            <p:ph idx="1"/>
          </p:nvPr>
        </p:nvSpPr>
        <p:spPr>
          <a:xfrm>
            <a:off x="1835696" y="1412776"/>
            <a:ext cx="6984776" cy="5184576"/>
          </a:xfrm>
        </p:spPr>
        <p:txBody>
          <a:bodyPr/>
          <a:lstStyle/>
          <a:p>
            <a:r>
              <a:rPr lang="zh-CN" altLang="en-US" sz="2800" b="1" dirty="0" smtClean="0">
                <a:latin typeface="宋体" charset="-122"/>
              </a:rPr>
              <a:t>效率问题</a:t>
            </a:r>
            <a:endParaRPr lang="en-US" altLang="zh-CN" sz="2800" b="1" dirty="0" smtClean="0">
              <a:latin typeface="宋体" charset="-122"/>
            </a:endParaRPr>
          </a:p>
          <a:p>
            <a:pPr lvl="1"/>
            <a:r>
              <a:rPr lang="zh-CN" altLang="en-US" sz="2400" b="1" dirty="0" smtClean="0">
                <a:latin typeface="宋体" charset="-122"/>
              </a:rPr>
              <a:t>提取解析模式，解析时提取一部分源文件（字符串），然后在内存中进行解析构建</a:t>
            </a:r>
            <a:endParaRPr lang="en-US" altLang="zh-CN" sz="2400" b="1" dirty="0" smtClean="0">
              <a:latin typeface="宋体" charset="-122"/>
            </a:endParaRPr>
          </a:p>
          <a:p>
            <a:r>
              <a:rPr lang="en-US" altLang="zh-CN" sz="2800" b="1" dirty="0" smtClean="0">
                <a:latin typeface="宋体" charset="-122"/>
              </a:rPr>
              <a:t>VTD(Virtual Token Descriptor)</a:t>
            </a:r>
            <a:r>
              <a:rPr lang="zh-CN" altLang="zh-CN" sz="2800" b="1" dirty="0" smtClean="0">
                <a:latin typeface="宋体" charset="-122"/>
              </a:rPr>
              <a:t> </a:t>
            </a:r>
            <a:r>
              <a:rPr lang="zh-CN" altLang="en-US" sz="2800" b="1" dirty="0" smtClean="0">
                <a:latin typeface="宋体" charset="-122"/>
              </a:rPr>
              <a:t>记录每个元素的起始位置，长度，深度以及令牌的类型等信息，类似于</a:t>
            </a:r>
            <a:r>
              <a:rPr lang="en-US" altLang="zh-CN" sz="2800" b="1" dirty="0" smtClean="0">
                <a:latin typeface="宋体" charset="-122"/>
              </a:rPr>
              <a:t>XML</a:t>
            </a:r>
            <a:r>
              <a:rPr lang="zh-CN" altLang="en-US" sz="2800" b="1" dirty="0" smtClean="0">
                <a:latin typeface="宋体" charset="-122"/>
              </a:rPr>
              <a:t>文档中元素的指针，可以快速定位到某个元素</a:t>
            </a:r>
            <a:endParaRPr lang="en-US" altLang="zh-CN" sz="2800" b="1" dirty="0" smtClean="0">
              <a:latin typeface="宋体" charset="-122"/>
            </a:endParaRPr>
          </a:p>
          <a:p>
            <a:r>
              <a:rPr lang="en-US" altLang="zh-CN" sz="2800" b="1" dirty="0" smtClean="0">
                <a:latin typeface="宋体" charset="-122"/>
              </a:rPr>
              <a:t>VTD-XML</a:t>
            </a:r>
            <a:r>
              <a:rPr lang="zh-CN" altLang="en-US" sz="2800" b="1" dirty="0" smtClean="0">
                <a:latin typeface="宋体" charset="-122"/>
              </a:rPr>
              <a:t>是一种无提取的</a:t>
            </a:r>
            <a:r>
              <a:rPr lang="en-US" altLang="zh-CN" sz="2800" b="1" dirty="0" smtClean="0">
                <a:latin typeface="宋体" charset="-122"/>
              </a:rPr>
              <a:t>XML</a:t>
            </a:r>
            <a:r>
              <a:rPr lang="zh-CN" altLang="en-US" sz="2800" b="1" dirty="0" smtClean="0">
                <a:latin typeface="宋体" charset="-122"/>
              </a:rPr>
              <a:t>解析方法，解决了</a:t>
            </a:r>
            <a:r>
              <a:rPr lang="en-US" altLang="zh-CN" sz="2800" b="1" dirty="0" smtClean="0">
                <a:latin typeface="宋体" charset="-122"/>
              </a:rPr>
              <a:t>DOM</a:t>
            </a:r>
            <a:r>
              <a:rPr lang="zh-CN" altLang="en-US" sz="2800" b="1" dirty="0" smtClean="0">
                <a:latin typeface="宋体" charset="-122"/>
              </a:rPr>
              <a:t>占用内存过大的缺点，并且还提供了快速的解析与遍历、对</a:t>
            </a:r>
            <a:r>
              <a:rPr lang="en-US" altLang="zh-CN" sz="2800" b="1" dirty="0" err="1" smtClean="0">
                <a:latin typeface="宋体" charset="-122"/>
              </a:rPr>
              <a:t>XPath</a:t>
            </a:r>
            <a:r>
              <a:rPr lang="zh-CN" altLang="en-US" sz="2800" b="1" dirty="0" smtClean="0">
                <a:latin typeface="宋体" charset="-122"/>
              </a:rPr>
              <a:t>的支持和增量更新等特性</a:t>
            </a:r>
            <a:endParaRPr lang="en-US" altLang="zh-CN" sz="2800" b="1" dirty="0" smtClean="0">
              <a:latin typeface="宋体"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1379">
                                            <p:txEl>
                                              <p:pRg st="0" end="0"/>
                                            </p:txEl>
                                          </p:spTgt>
                                        </p:tgtEl>
                                        <p:attrNameLst>
                                          <p:attrName>style.visibility</p:attrName>
                                        </p:attrNameLst>
                                      </p:cBhvr>
                                      <p:to>
                                        <p:strVal val="visible"/>
                                      </p:to>
                                    </p:set>
                                    <p:animEffect transition="in" filter="blinds(horizontal)">
                                      <p:cBhvr>
                                        <p:cTn id="7" dur="500"/>
                                        <p:tgtEl>
                                          <p:spTgt spid="10137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01379">
                                            <p:txEl>
                                              <p:pRg st="1" end="1"/>
                                            </p:txEl>
                                          </p:spTgt>
                                        </p:tgtEl>
                                        <p:attrNameLst>
                                          <p:attrName>style.visibility</p:attrName>
                                        </p:attrNameLst>
                                      </p:cBhvr>
                                      <p:to>
                                        <p:strVal val="visible"/>
                                      </p:to>
                                    </p:set>
                                    <p:animEffect transition="in" filter="blinds(horizontal)">
                                      <p:cBhvr>
                                        <p:cTn id="10" dur="500"/>
                                        <p:tgtEl>
                                          <p:spTgt spid="10137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01379">
                                            <p:txEl>
                                              <p:pRg st="2" end="2"/>
                                            </p:txEl>
                                          </p:spTgt>
                                        </p:tgtEl>
                                        <p:attrNameLst>
                                          <p:attrName>style.visibility</p:attrName>
                                        </p:attrNameLst>
                                      </p:cBhvr>
                                      <p:to>
                                        <p:strVal val="visible"/>
                                      </p:to>
                                    </p:set>
                                    <p:anim calcmode="lin" valueType="num">
                                      <p:cBhvr additive="base">
                                        <p:cTn id="15" dur="500" fill="hold"/>
                                        <p:tgtEl>
                                          <p:spTgt spid="101379">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0137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01379">
                                            <p:txEl>
                                              <p:pRg st="3" end="3"/>
                                            </p:txEl>
                                          </p:spTgt>
                                        </p:tgtEl>
                                        <p:attrNameLst>
                                          <p:attrName>style.visibility</p:attrName>
                                        </p:attrNameLst>
                                      </p:cBhvr>
                                      <p:to>
                                        <p:strVal val="visible"/>
                                      </p:to>
                                    </p:set>
                                    <p:anim calcmode="lin" valueType="num">
                                      <p:cBhvr additive="base">
                                        <p:cTn id="21" dur="500" fill="hold"/>
                                        <p:tgtEl>
                                          <p:spTgt spid="101379">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0137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标题 1"/>
          <p:cNvSpPr>
            <a:spLocks noGrp="1"/>
          </p:cNvSpPr>
          <p:nvPr>
            <p:ph type="title"/>
          </p:nvPr>
        </p:nvSpPr>
        <p:spPr>
          <a:xfrm>
            <a:off x="2483768" y="188640"/>
            <a:ext cx="6105872" cy="904875"/>
          </a:xfrm>
          <a:noFill/>
          <a:ln w="9525">
            <a:noFill/>
            <a:miter lim="800000"/>
            <a:headEnd/>
            <a:tailEnd/>
          </a:ln>
        </p:spPr>
        <p:txBody>
          <a:bodyPr vert="horz" wrap="square" lIns="91440" tIns="45720" rIns="91440" bIns="45720" numCol="1" anchor="ctr" anchorCtr="0" compatLnSpc="1">
            <a:prstTxWarp prst="textNoShape">
              <a:avLst/>
            </a:prstTxWarp>
          </a:bodyPr>
          <a:lstStyle/>
          <a:p>
            <a:pPr>
              <a:defRPr/>
            </a:pPr>
            <a:r>
              <a:rPr lang="en-US" altLang="zh-CN" sz="3200" b="1" dirty="0" smtClean="0">
                <a:latin typeface="+mj-ea"/>
              </a:rPr>
              <a:t>VTD</a:t>
            </a:r>
            <a:r>
              <a:rPr lang="zh-CN" altLang="zh-CN" sz="3200" b="1" dirty="0" smtClean="0">
                <a:latin typeface="+mj-ea"/>
              </a:rPr>
              <a:t>记录的比特层格式</a:t>
            </a:r>
            <a:endParaRPr lang="zh-CN" altLang="en-US" sz="3200" b="1" dirty="0" smtClean="0">
              <a:latin typeface="+mj-ea"/>
            </a:endParaRPr>
          </a:p>
        </p:txBody>
      </p:sp>
      <p:sp>
        <p:nvSpPr>
          <p:cNvPr id="102403" name="内容占位符 2"/>
          <p:cNvSpPr>
            <a:spLocks noGrp="1"/>
          </p:cNvSpPr>
          <p:nvPr>
            <p:ph idx="1"/>
          </p:nvPr>
        </p:nvSpPr>
        <p:spPr>
          <a:xfrm>
            <a:off x="1835696" y="4725144"/>
            <a:ext cx="7180908" cy="2000250"/>
          </a:xfrm>
        </p:spPr>
        <p:txBody>
          <a:bodyPr/>
          <a:lstStyle/>
          <a:p>
            <a:pPr>
              <a:defRPr/>
            </a:pPr>
            <a:r>
              <a:rPr lang="zh-CN" sz="2400" b="1" dirty="0" smtClean="0">
                <a:latin typeface="+mn-ea"/>
              </a:rPr>
              <a:t>令牌开始偏移量</a:t>
            </a:r>
            <a:r>
              <a:rPr lang="en-US" sz="2400" b="1" dirty="0" smtClean="0">
                <a:latin typeface="+mn-ea"/>
              </a:rPr>
              <a:t>(</a:t>
            </a:r>
            <a:r>
              <a:rPr lang="zh-CN" sz="2400" b="1" dirty="0" smtClean="0">
                <a:latin typeface="+mn-ea"/>
              </a:rPr>
              <a:t>即相对于</a:t>
            </a:r>
            <a:r>
              <a:rPr lang="en-US" sz="2400" b="1" dirty="0" smtClean="0">
                <a:latin typeface="+mn-ea"/>
              </a:rPr>
              <a:t>XML</a:t>
            </a:r>
            <a:r>
              <a:rPr lang="zh-CN" sz="2400" b="1" dirty="0" smtClean="0">
                <a:latin typeface="+mn-ea"/>
              </a:rPr>
              <a:t>文档头部的距离</a:t>
            </a:r>
            <a:r>
              <a:rPr lang="en-US" sz="2400" b="1" dirty="0" smtClean="0">
                <a:latin typeface="+mn-ea"/>
              </a:rPr>
              <a:t>)</a:t>
            </a:r>
            <a:r>
              <a:rPr lang="zh-CN" sz="2400" b="1" dirty="0" smtClean="0">
                <a:latin typeface="+mn-ea"/>
              </a:rPr>
              <a:t>是</a:t>
            </a:r>
            <a:r>
              <a:rPr lang="en-US" sz="2400" b="1" dirty="0" smtClean="0">
                <a:latin typeface="+mn-ea"/>
              </a:rPr>
              <a:t>30 bits</a:t>
            </a:r>
            <a:r>
              <a:rPr lang="zh-CN" sz="2400" b="1" dirty="0" smtClean="0">
                <a:latin typeface="+mn-ea"/>
              </a:rPr>
              <a:t>，能解析的最大文件是</a:t>
            </a:r>
            <a:r>
              <a:rPr lang="en-US" sz="2400" b="1" dirty="0" smtClean="0">
                <a:latin typeface="+mn-ea"/>
              </a:rPr>
              <a:t>1G</a:t>
            </a:r>
            <a:r>
              <a:rPr lang="zh-CN" sz="2400" b="1" dirty="0" smtClean="0">
                <a:latin typeface="+mn-ea"/>
              </a:rPr>
              <a:t>。令牌长度为</a:t>
            </a:r>
            <a:r>
              <a:rPr lang="en-US" sz="2400" b="1" dirty="0" smtClean="0">
                <a:latin typeface="+mn-ea"/>
              </a:rPr>
              <a:t>20 bits</a:t>
            </a:r>
            <a:r>
              <a:rPr lang="zh-CN" sz="2400" b="1" dirty="0" smtClean="0">
                <a:latin typeface="+mn-ea"/>
              </a:rPr>
              <a:t>，即一个令牌的最大长度是</a:t>
            </a:r>
            <a:r>
              <a:rPr lang="en-US" sz="2400" b="1" dirty="0" smtClean="0">
                <a:latin typeface="+mn-ea"/>
              </a:rPr>
              <a:t>1M</a:t>
            </a:r>
            <a:r>
              <a:rPr lang="zh-CN" sz="2400" b="1" dirty="0" smtClean="0">
                <a:latin typeface="+mn-ea"/>
              </a:rPr>
              <a:t>。令牌类型</a:t>
            </a:r>
            <a:r>
              <a:rPr lang="en-US" sz="2400" b="1" dirty="0" smtClean="0">
                <a:latin typeface="+mn-ea"/>
              </a:rPr>
              <a:t>4bits</a:t>
            </a:r>
            <a:r>
              <a:rPr lang="zh-CN" sz="2400" b="1" dirty="0" smtClean="0">
                <a:latin typeface="+mn-ea"/>
              </a:rPr>
              <a:t>，说明支持</a:t>
            </a:r>
            <a:r>
              <a:rPr lang="en-US" sz="2400" b="1" dirty="0" smtClean="0">
                <a:latin typeface="+mn-ea"/>
              </a:rPr>
              <a:t>16</a:t>
            </a:r>
            <a:r>
              <a:rPr lang="zh-CN" sz="2400" b="1" dirty="0" smtClean="0">
                <a:latin typeface="+mn-ea"/>
              </a:rPr>
              <a:t>种词汇类型</a:t>
            </a:r>
            <a:endParaRPr lang="zh-CN" altLang="en-US" sz="2400" b="1" dirty="0" smtClean="0">
              <a:latin typeface="+mn-ea"/>
            </a:endParaRPr>
          </a:p>
        </p:txBody>
      </p:sp>
      <p:pic>
        <p:nvPicPr>
          <p:cNvPr id="104452" name="Picture 4"/>
          <p:cNvPicPr>
            <a:picLocks noChangeAspect="1" noChangeArrowheads="1"/>
          </p:cNvPicPr>
          <p:nvPr/>
        </p:nvPicPr>
        <p:blipFill>
          <a:blip r:embed="rId2"/>
          <a:srcRect/>
          <a:stretch>
            <a:fillRect/>
          </a:stretch>
        </p:blipFill>
        <p:spPr bwMode="auto">
          <a:xfrm>
            <a:off x="1763688" y="1124744"/>
            <a:ext cx="7380312" cy="32496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标题 1"/>
          <p:cNvSpPr>
            <a:spLocks noGrp="1"/>
          </p:cNvSpPr>
          <p:nvPr>
            <p:ph type="title"/>
          </p:nvPr>
        </p:nvSpPr>
        <p:spPr>
          <a:xfrm>
            <a:off x="2843808" y="214313"/>
            <a:ext cx="5385792" cy="904875"/>
          </a:xfrm>
          <a:noFill/>
          <a:ln w="9525">
            <a:noFill/>
            <a:miter lim="800000"/>
            <a:headEnd/>
            <a:tailEnd/>
          </a:ln>
        </p:spPr>
        <p:txBody>
          <a:bodyPr vert="horz" wrap="square" lIns="91440" tIns="45720" rIns="91440" bIns="45720" numCol="1" anchor="ctr" anchorCtr="0" compatLnSpc="1">
            <a:prstTxWarp prst="textNoShape">
              <a:avLst/>
            </a:prstTxWarp>
          </a:bodyPr>
          <a:lstStyle/>
          <a:p>
            <a:pPr>
              <a:defRPr/>
            </a:pPr>
            <a:r>
              <a:rPr lang="zh-CN" altLang="zh-CN" sz="3200" b="1" dirty="0" smtClean="0">
                <a:latin typeface="+mj-ea"/>
              </a:rPr>
              <a:t>面向应用的对象式解析技术</a:t>
            </a:r>
            <a:endParaRPr lang="zh-CN" altLang="en-US" sz="3200" b="1" dirty="0" smtClean="0">
              <a:latin typeface="+mj-ea"/>
            </a:endParaRPr>
          </a:p>
        </p:txBody>
      </p:sp>
      <p:sp>
        <p:nvSpPr>
          <p:cNvPr id="103427" name="内容占位符 2"/>
          <p:cNvSpPr>
            <a:spLocks noGrp="1"/>
          </p:cNvSpPr>
          <p:nvPr>
            <p:ph idx="1"/>
          </p:nvPr>
        </p:nvSpPr>
        <p:spPr>
          <a:xfrm>
            <a:off x="2051720" y="1571625"/>
            <a:ext cx="6806530" cy="4786313"/>
          </a:xfrm>
        </p:spPr>
        <p:txBody>
          <a:bodyPr/>
          <a:lstStyle/>
          <a:p>
            <a:r>
              <a:rPr lang="zh-CN" altLang="en-US" sz="2800" b="1" dirty="0" smtClean="0">
                <a:latin typeface="+mn-ea"/>
              </a:rPr>
              <a:t>有的程序关心文档的</a:t>
            </a:r>
            <a:r>
              <a:rPr lang="en-US" altLang="zh-CN" sz="2800" b="1" dirty="0" smtClean="0">
                <a:latin typeface="+mn-ea"/>
              </a:rPr>
              <a:t>XML</a:t>
            </a:r>
            <a:r>
              <a:rPr lang="zh-CN" altLang="en-US" sz="2800" b="1" dirty="0" smtClean="0">
                <a:latin typeface="+mn-ea"/>
              </a:rPr>
              <a:t>结构；有的应用程序仅仅将</a:t>
            </a:r>
            <a:r>
              <a:rPr lang="en-US" altLang="zh-CN" sz="2800" b="1" dirty="0" smtClean="0">
                <a:latin typeface="+mn-ea"/>
              </a:rPr>
              <a:t>XML</a:t>
            </a:r>
            <a:r>
              <a:rPr lang="zh-CN" altLang="en-US" sz="2800" b="1" dirty="0" smtClean="0">
                <a:latin typeface="+mn-ea"/>
              </a:rPr>
              <a:t>作为数据交换的媒介，它们更关心的是文档数据本身</a:t>
            </a:r>
            <a:endParaRPr lang="en-US" altLang="zh-CN" sz="2800" b="1" dirty="0" smtClean="0">
              <a:latin typeface="+mn-ea"/>
            </a:endParaRPr>
          </a:p>
          <a:p>
            <a:r>
              <a:rPr lang="zh-CN" altLang="en-US" sz="2800" b="1" dirty="0" smtClean="0">
                <a:latin typeface="+mn-ea"/>
              </a:rPr>
              <a:t>数据绑定是指将数据从一些存储媒介</a:t>
            </a:r>
            <a:r>
              <a:rPr lang="en-US" altLang="zh-CN" sz="2800" b="1" dirty="0" smtClean="0">
                <a:latin typeface="+mn-ea"/>
              </a:rPr>
              <a:t>(</a:t>
            </a:r>
            <a:r>
              <a:rPr lang="zh-CN" altLang="en-US" sz="2800" b="1" dirty="0" smtClean="0">
                <a:latin typeface="+mn-ea"/>
              </a:rPr>
              <a:t>如</a:t>
            </a:r>
            <a:r>
              <a:rPr lang="en-US" altLang="zh-CN" sz="2800" b="1" dirty="0" smtClean="0">
                <a:latin typeface="+mn-ea"/>
              </a:rPr>
              <a:t>XML</a:t>
            </a:r>
            <a:r>
              <a:rPr lang="zh-CN" altLang="en-US" sz="2800" b="1" dirty="0" smtClean="0">
                <a:latin typeface="+mn-ea"/>
              </a:rPr>
              <a:t>文档、文本文件和数据库</a:t>
            </a:r>
            <a:r>
              <a:rPr lang="en-US" altLang="zh-CN" sz="2800" b="1" dirty="0" smtClean="0">
                <a:latin typeface="+mn-ea"/>
              </a:rPr>
              <a:t>)</a:t>
            </a:r>
            <a:r>
              <a:rPr lang="zh-CN" altLang="en-US" sz="2800" b="1" dirty="0" smtClean="0">
                <a:latin typeface="+mn-ea"/>
              </a:rPr>
              <a:t>中取出，并通过应用程序表示这些数据的过程，即把数据绑定到虚拟机能够理解并且可以操作的某种内存中的结构</a:t>
            </a:r>
            <a:endParaRPr lang="en-US" altLang="zh-CN" sz="2800" b="1" dirty="0" smtClean="0">
              <a:latin typeface="+mn-ea"/>
            </a:endParaRPr>
          </a:p>
          <a:p>
            <a:r>
              <a:rPr lang="en-US" altLang="zh-CN" sz="2800" b="1" dirty="0" smtClean="0">
                <a:latin typeface="+mn-ea"/>
              </a:rPr>
              <a:t>Hibernate</a:t>
            </a:r>
            <a:r>
              <a:rPr lang="zh-CN" altLang="en-US" sz="2800" b="1" dirty="0" smtClean="0">
                <a:latin typeface="+mn-ea"/>
              </a:rPr>
              <a:t>就是针对数据库的轻量级数据绑定框架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3427">
                                            <p:txEl>
                                              <p:pRg st="0" end="0"/>
                                            </p:txEl>
                                          </p:spTgt>
                                        </p:tgtEl>
                                        <p:attrNameLst>
                                          <p:attrName>style.visibility</p:attrName>
                                        </p:attrNameLst>
                                      </p:cBhvr>
                                      <p:to>
                                        <p:strVal val="visible"/>
                                      </p:to>
                                    </p:set>
                                    <p:animEffect transition="in" filter="blinds(horizontal)">
                                      <p:cBhvr>
                                        <p:cTn id="7" dur="500"/>
                                        <p:tgtEl>
                                          <p:spTgt spid="1034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3427">
                                            <p:txEl>
                                              <p:pRg st="1" end="1"/>
                                            </p:txEl>
                                          </p:spTgt>
                                        </p:tgtEl>
                                        <p:attrNameLst>
                                          <p:attrName>style.visibility</p:attrName>
                                        </p:attrNameLst>
                                      </p:cBhvr>
                                      <p:to>
                                        <p:strVal val="visible"/>
                                      </p:to>
                                    </p:set>
                                    <p:animEffect transition="in" filter="blinds(horizontal)">
                                      <p:cBhvr>
                                        <p:cTn id="12" dur="500"/>
                                        <p:tgtEl>
                                          <p:spTgt spid="1034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3427">
                                            <p:txEl>
                                              <p:pRg st="2" end="2"/>
                                            </p:txEl>
                                          </p:spTgt>
                                        </p:tgtEl>
                                        <p:attrNameLst>
                                          <p:attrName>style.visibility</p:attrName>
                                        </p:attrNameLst>
                                      </p:cBhvr>
                                      <p:to>
                                        <p:strVal val="visible"/>
                                      </p:to>
                                    </p:set>
                                    <p:animEffect transition="in" filter="blinds(horizontal)">
                                      <p:cBhvr>
                                        <p:cTn id="17" dur="500"/>
                                        <p:tgtEl>
                                          <p:spTgt spid="10342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标题 1"/>
          <p:cNvSpPr>
            <a:spLocks noGrp="1"/>
          </p:cNvSpPr>
          <p:nvPr>
            <p:ph type="title"/>
          </p:nvPr>
        </p:nvSpPr>
        <p:spPr>
          <a:xfrm>
            <a:off x="3059832" y="214313"/>
            <a:ext cx="5169768" cy="833437"/>
          </a:xfrm>
          <a:noFill/>
          <a:ln w="9525">
            <a:noFill/>
            <a:miter lim="800000"/>
            <a:headEnd/>
            <a:tailEnd/>
          </a:ln>
        </p:spPr>
        <p:txBody>
          <a:bodyPr vert="horz" wrap="square" lIns="91440" tIns="45720" rIns="91440" bIns="45720" numCol="1" anchor="ctr" anchorCtr="0" compatLnSpc="1">
            <a:prstTxWarp prst="textNoShape">
              <a:avLst/>
            </a:prstTxWarp>
          </a:bodyPr>
          <a:lstStyle/>
          <a:p>
            <a:pPr>
              <a:defRPr/>
            </a:pPr>
            <a:r>
              <a:rPr lang="zh-CN" altLang="zh-CN" sz="3200" b="1" dirty="0" smtClean="0">
                <a:latin typeface="+mj-ea"/>
              </a:rPr>
              <a:t>数据绑定的应用</a:t>
            </a:r>
            <a:endParaRPr lang="zh-CN" altLang="en-US" sz="3200" b="1" dirty="0" smtClean="0">
              <a:latin typeface="+mj-ea"/>
            </a:endParaRPr>
          </a:p>
        </p:txBody>
      </p:sp>
      <p:sp>
        <p:nvSpPr>
          <p:cNvPr id="104451" name="内容占位符 2"/>
          <p:cNvSpPr>
            <a:spLocks noGrp="1"/>
          </p:cNvSpPr>
          <p:nvPr>
            <p:ph idx="1"/>
          </p:nvPr>
        </p:nvSpPr>
        <p:spPr>
          <a:xfrm>
            <a:off x="1835696" y="4286250"/>
            <a:ext cx="7022554" cy="2357438"/>
          </a:xfrm>
        </p:spPr>
        <p:txBody>
          <a:bodyPr>
            <a:normAutofit/>
          </a:bodyPr>
          <a:lstStyle/>
          <a:p>
            <a:pPr>
              <a:defRPr/>
            </a:pPr>
            <a:r>
              <a:rPr lang="zh-CN" sz="2400" b="1" dirty="0" smtClean="0">
                <a:latin typeface="+mn-ea"/>
              </a:rPr>
              <a:t>编组</a:t>
            </a:r>
            <a:r>
              <a:rPr lang="en-US" sz="2400" b="1" dirty="0" smtClean="0">
                <a:latin typeface="+mn-ea"/>
              </a:rPr>
              <a:t> (Marshalling) </a:t>
            </a:r>
            <a:r>
              <a:rPr lang="zh-CN" sz="2400" b="1" dirty="0" smtClean="0">
                <a:latin typeface="+mn-ea"/>
              </a:rPr>
              <a:t>：把内存中的数据转换到存储介质中的过程。</a:t>
            </a:r>
            <a:endParaRPr lang="en-US" altLang="zh-CN" sz="2400" b="1" dirty="0" smtClean="0">
              <a:latin typeface="+mn-ea"/>
            </a:endParaRPr>
          </a:p>
          <a:p>
            <a:pPr>
              <a:defRPr/>
            </a:pPr>
            <a:r>
              <a:rPr lang="zh-CN" sz="2400" b="1" dirty="0" smtClean="0">
                <a:latin typeface="+mn-ea"/>
              </a:rPr>
              <a:t>解组</a:t>
            </a:r>
            <a:r>
              <a:rPr lang="en-US" sz="2400" b="1" dirty="0" smtClean="0">
                <a:latin typeface="+mn-ea"/>
              </a:rPr>
              <a:t> (</a:t>
            </a:r>
            <a:r>
              <a:rPr lang="en-US" sz="2400" b="1" dirty="0" err="1" smtClean="0">
                <a:latin typeface="+mn-ea"/>
              </a:rPr>
              <a:t>Unmarshalling</a:t>
            </a:r>
            <a:r>
              <a:rPr lang="en-US" sz="2400" b="1" dirty="0" smtClean="0">
                <a:latin typeface="+mn-ea"/>
              </a:rPr>
              <a:t>) </a:t>
            </a:r>
            <a:r>
              <a:rPr lang="zh-CN" sz="2400" b="1" dirty="0" smtClean="0">
                <a:latin typeface="+mn-ea"/>
              </a:rPr>
              <a:t>：把数据从存储媒介转换到内存中的过程</a:t>
            </a:r>
            <a:endParaRPr lang="en-US" altLang="zh-CN" sz="2400" b="1" dirty="0" smtClean="0">
              <a:latin typeface="+mn-ea"/>
            </a:endParaRPr>
          </a:p>
          <a:p>
            <a:pPr>
              <a:defRPr/>
            </a:pPr>
            <a:r>
              <a:rPr lang="zh-CN" sz="2400" b="1" dirty="0" smtClean="0">
                <a:latin typeface="+mn-ea"/>
              </a:rPr>
              <a:t>映射</a:t>
            </a:r>
            <a:r>
              <a:rPr lang="en-US" sz="2400" b="1" dirty="0" smtClean="0">
                <a:latin typeface="+mn-ea"/>
              </a:rPr>
              <a:t> (Mapping) </a:t>
            </a:r>
            <a:r>
              <a:rPr lang="zh-CN" sz="2400" b="1" dirty="0" smtClean="0">
                <a:latin typeface="+mn-ea"/>
              </a:rPr>
              <a:t>：用于编组和解组的一套规则</a:t>
            </a:r>
            <a:endParaRPr lang="zh-CN" altLang="en-US" sz="2400" b="1" dirty="0" smtClean="0">
              <a:latin typeface="+mn-ea"/>
            </a:endParaRPr>
          </a:p>
        </p:txBody>
      </p:sp>
      <p:pic>
        <p:nvPicPr>
          <p:cNvPr id="106500" name="Picture 4"/>
          <p:cNvPicPr>
            <a:picLocks noChangeAspect="1" noChangeArrowheads="1"/>
          </p:cNvPicPr>
          <p:nvPr/>
        </p:nvPicPr>
        <p:blipFill>
          <a:blip r:embed="rId2"/>
          <a:srcRect/>
          <a:stretch>
            <a:fillRect/>
          </a:stretch>
        </p:blipFill>
        <p:spPr bwMode="auto">
          <a:xfrm>
            <a:off x="1763688" y="1071563"/>
            <a:ext cx="7272808" cy="30003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pPr>
              <a:defRPr/>
            </a:pPr>
            <a:r>
              <a:rPr lang="zh-CN" altLang="zh-CN" sz="3200" b="1" dirty="0" smtClean="0">
                <a:latin typeface="+mj-ea"/>
              </a:rPr>
              <a:t>文档模型和数据绑定模型比较</a:t>
            </a:r>
            <a:endParaRPr lang="zh-CN" altLang="en-US" sz="3200" b="1" dirty="0">
              <a:latin typeface="+mj-ea"/>
            </a:endParaRPr>
          </a:p>
        </p:txBody>
      </p:sp>
      <p:sp>
        <p:nvSpPr>
          <p:cNvPr id="107523" name="内容占位符 2"/>
          <p:cNvSpPr>
            <a:spLocks noGrp="1"/>
          </p:cNvSpPr>
          <p:nvPr>
            <p:ph idx="1"/>
          </p:nvPr>
        </p:nvSpPr>
        <p:spPr/>
        <p:txBody>
          <a:bodyPr/>
          <a:lstStyle/>
          <a:p>
            <a:endParaRPr lang="zh-CN" altLang="en-US" smtClean="0"/>
          </a:p>
        </p:txBody>
      </p:sp>
      <p:pic>
        <p:nvPicPr>
          <p:cNvPr id="107524" name="Picture 2"/>
          <p:cNvPicPr>
            <a:picLocks noChangeAspect="1" noChangeArrowheads="1"/>
          </p:cNvPicPr>
          <p:nvPr/>
        </p:nvPicPr>
        <p:blipFill>
          <a:blip r:embed="rId2"/>
          <a:srcRect/>
          <a:stretch>
            <a:fillRect/>
          </a:stretch>
        </p:blipFill>
        <p:spPr bwMode="auto">
          <a:xfrm>
            <a:off x="1763687" y="1500188"/>
            <a:ext cx="7173937" cy="495314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07704" y="71438"/>
            <a:ext cx="6912768" cy="976312"/>
          </a:xfrm>
          <a:noFill/>
          <a:ln w="9525">
            <a:noFill/>
            <a:miter lim="800000"/>
            <a:headEnd/>
            <a:tailEnd/>
          </a:ln>
        </p:spPr>
        <p:txBody>
          <a:bodyPr vert="horz" wrap="square" lIns="91440" tIns="45720" rIns="91440" bIns="45720" numCol="1" anchor="ctr" anchorCtr="0" compatLnSpc="1">
            <a:prstTxWarp prst="textNoShape">
              <a:avLst/>
            </a:prstTxWarp>
          </a:bodyPr>
          <a:lstStyle/>
          <a:p>
            <a:pPr>
              <a:defRPr/>
            </a:pPr>
            <a:r>
              <a:rPr lang="zh-CN" altLang="zh-CN" sz="3200" b="1" dirty="0" smtClean="0">
                <a:latin typeface="+mj-ea"/>
              </a:rPr>
              <a:t>四种</a:t>
            </a:r>
            <a:r>
              <a:rPr lang="en-US" altLang="zh-CN" sz="3200" b="1" dirty="0" smtClean="0">
                <a:latin typeface="+mj-ea"/>
              </a:rPr>
              <a:t>XML</a:t>
            </a:r>
            <a:r>
              <a:rPr lang="zh-CN" altLang="zh-CN" sz="3200" b="1" dirty="0" smtClean="0">
                <a:latin typeface="+mj-ea"/>
              </a:rPr>
              <a:t>解析技术的特性比较</a:t>
            </a:r>
            <a:endParaRPr lang="zh-CN" altLang="en-US" sz="3200" b="1" dirty="0">
              <a:latin typeface="+mj-ea"/>
            </a:endParaRPr>
          </a:p>
        </p:txBody>
      </p:sp>
      <p:sp>
        <p:nvSpPr>
          <p:cNvPr id="108547" name="内容占位符 2"/>
          <p:cNvSpPr>
            <a:spLocks noGrp="1"/>
          </p:cNvSpPr>
          <p:nvPr>
            <p:ph idx="1"/>
          </p:nvPr>
        </p:nvSpPr>
        <p:spPr/>
        <p:txBody>
          <a:bodyPr/>
          <a:lstStyle/>
          <a:p>
            <a:endParaRPr lang="zh-CN" altLang="en-US" smtClean="0"/>
          </a:p>
        </p:txBody>
      </p:sp>
      <p:pic>
        <p:nvPicPr>
          <p:cNvPr id="108548" name="Picture 2"/>
          <p:cNvPicPr>
            <a:picLocks noChangeAspect="1" noChangeArrowheads="1"/>
          </p:cNvPicPr>
          <p:nvPr/>
        </p:nvPicPr>
        <p:blipFill>
          <a:blip r:embed="rId2"/>
          <a:srcRect/>
          <a:stretch>
            <a:fillRect/>
          </a:stretch>
        </p:blipFill>
        <p:spPr bwMode="auto">
          <a:xfrm>
            <a:off x="1763688" y="1000125"/>
            <a:ext cx="7452320" cy="585479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63688" y="142875"/>
            <a:ext cx="7056784" cy="833438"/>
          </a:xfrm>
          <a:noFill/>
          <a:ln w="9525">
            <a:noFill/>
            <a:miter lim="800000"/>
            <a:headEnd/>
            <a:tailEnd/>
          </a:ln>
        </p:spPr>
        <p:txBody>
          <a:bodyPr vert="horz" wrap="square" lIns="91440" tIns="45720" rIns="91440" bIns="45720" numCol="1" anchor="ctr" anchorCtr="0" compatLnSpc="1">
            <a:prstTxWarp prst="textNoShape">
              <a:avLst/>
            </a:prstTxWarp>
          </a:bodyPr>
          <a:lstStyle/>
          <a:p>
            <a:pPr>
              <a:defRPr/>
            </a:pPr>
            <a:r>
              <a:rPr lang="zh-CN" altLang="zh-CN" sz="3200" b="1" dirty="0" smtClean="0">
                <a:latin typeface="+mj-ea"/>
              </a:rPr>
              <a:t>面向文档解析方式的性能比较</a:t>
            </a:r>
            <a:endParaRPr lang="zh-CN" altLang="en-US" sz="3200" b="1" dirty="0">
              <a:latin typeface="+mj-ea"/>
            </a:endParaRPr>
          </a:p>
        </p:txBody>
      </p:sp>
      <p:sp>
        <p:nvSpPr>
          <p:cNvPr id="109571" name="内容占位符 2"/>
          <p:cNvSpPr>
            <a:spLocks noGrp="1"/>
          </p:cNvSpPr>
          <p:nvPr>
            <p:ph idx="1"/>
          </p:nvPr>
        </p:nvSpPr>
        <p:spPr/>
        <p:txBody>
          <a:bodyPr/>
          <a:lstStyle/>
          <a:p>
            <a:endParaRPr lang="zh-CN" altLang="en-US" smtClean="0"/>
          </a:p>
        </p:txBody>
      </p:sp>
      <p:pic>
        <p:nvPicPr>
          <p:cNvPr id="109572" name="Picture 2"/>
          <p:cNvPicPr>
            <a:picLocks noChangeAspect="1" noChangeArrowheads="1"/>
          </p:cNvPicPr>
          <p:nvPr/>
        </p:nvPicPr>
        <p:blipFill>
          <a:blip r:embed="rId2"/>
          <a:srcRect/>
          <a:stretch>
            <a:fillRect/>
          </a:stretch>
        </p:blipFill>
        <p:spPr bwMode="auto">
          <a:xfrm>
            <a:off x="1835696" y="1177627"/>
            <a:ext cx="7166000" cy="54197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南京大学软件学院模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学院PPT模板2003版软件学院模板</Template>
  <TotalTime>3065</TotalTime>
  <Words>8756</Words>
  <Application>Microsoft Office PowerPoint</Application>
  <PresentationFormat>全屏显示(4:3)</PresentationFormat>
  <Paragraphs>960</Paragraphs>
  <Slides>103</Slides>
  <Notes>23</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103</vt:i4>
      </vt:variant>
    </vt:vector>
  </HeadingPairs>
  <TitlesOfParts>
    <vt:vector size="114" baseType="lpstr">
      <vt:lpstr>Lucida Sans Typewriter</vt:lpstr>
      <vt:lpstr>楷体_GB2312</vt:lpstr>
      <vt:lpstr>宋体</vt:lpstr>
      <vt:lpstr>Arial</vt:lpstr>
      <vt:lpstr>Calibri</vt:lpstr>
      <vt:lpstr>Courier New</vt:lpstr>
      <vt:lpstr>Lucida Console</vt:lpstr>
      <vt:lpstr>Times New Roman</vt:lpstr>
      <vt:lpstr>Verdana</vt:lpstr>
      <vt:lpstr>Wingdings</vt:lpstr>
      <vt:lpstr>南京大学软件学院模版</vt:lpstr>
      <vt:lpstr>XML技术</vt:lpstr>
      <vt:lpstr>PowerPoint 演示文稿</vt:lpstr>
      <vt:lpstr>XML的定义</vt:lpstr>
      <vt:lpstr>XML标准系列</vt:lpstr>
      <vt:lpstr>PowerPoint 演示文稿</vt:lpstr>
      <vt:lpstr>PowerPoint 演示文稿</vt:lpstr>
      <vt:lpstr>XML和HTML比较</vt:lpstr>
      <vt:lpstr>XML的特点</vt:lpstr>
      <vt:lpstr>XML最重要的五个应用</vt:lpstr>
      <vt:lpstr>XML设计目标 </vt:lpstr>
      <vt:lpstr>开发XML应用的步骤</vt:lpstr>
      <vt:lpstr>XML的缺点</vt:lpstr>
      <vt:lpstr>XML应用实例</vt:lpstr>
      <vt:lpstr>Fclml.dtd</vt:lpstr>
      <vt:lpstr>Client.xml</vt:lpstr>
      <vt:lpstr>MyStyle.xsl</vt:lpstr>
      <vt:lpstr>Html格式</vt:lpstr>
      <vt:lpstr>XML格式</vt:lpstr>
      <vt:lpstr>显示</vt:lpstr>
      <vt:lpstr>PowerPoint 演示文稿</vt:lpstr>
      <vt:lpstr>XML文档示例</vt:lpstr>
      <vt:lpstr>XMl文档的基本构成</vt:lpstr>
      <vt:lpstr>XML整体逻辑结构总结</vt:lpstr>
      <vt:lpstr>XML语法概述</vt:lpstr>
      <vt:lpstr>元素规则</vt:lpstr>
      <vt:lpstr>根元素</vt:lpstr>
      <vt:lpstr>必需有结束标记</vt:lpstr>
      <vt:lpstr>属性</vt:lpstr>
      <vt:lpstr>实体引用</vt:lpstr>
      <vt:lpstr>CDATA节</vt:lpstr>
      <vt:lpstr>注释</vt:lpstr>
      <vt:lpstr>良好格式（Well-formed）</vt:lpstr>
      <vt:lpstr>XML名称空间</vt:lpstr>
      <vt:lpstr>PowerPoint 演示文稿</vt:lpstr>
      <vt:lpstr>DTD(Document Type Definition)</vt:lpstr>
      <vt:lpstr>内部DTD示例</vt:lpstr>
      <vt:lpstr>外部DTD示例</vt:lpstr>
      <vt:lpstr>PowerPoint 演示文稿</vt:lpstr>
      <vt:lpstr>元素声明</vt:lpstr>
      <vt:lpstr>元素出现次数的控制</vt:lpstr>
      <vt:lpstr>元素属性声明</vt:lpstr>
      <vt:lpstr>XML属性类型</vt:lpstr>
      <vt:lpstr>DTD的特点</vt:lpstr>
      <vt:lpstr>Schema</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Schema 的优点</vt:lpstr>
      <vt:lpstr> XML Schema支持数据类型</vt:lpstr>
      <vt:lpstr>XML Schema使用XML语法</vt:lpstr>
      <vt:lpstr>XML Schema是可扩展的</vt:lpstr>
      <vt:lpstr>Schema 声明</vt:lpstr>
      <vt:lpstr>元素的声明 </vt:lpstr>
      <vt:lpstr>属性声明</vt:lpstr>
      <vt:lpstr>PowerPoint 演示文稿</vt:lpstr>
      <vt:lpstr>类型定义</vt:lpstr>
      <vt:lpstr>Scheme XML 的两种类型 </vt:lpstr>
      <vt:lpstr>内置基本类型</vt:lpstr>
      <vt:lpstr>有效性验证</vt:lpstr>
      <vt:lpstr>PowerPoint 演示文稿</vt:lpstr>
      <vt:lpstr>XSL</vt:lpstr>
      <vt:lpstr>Why need XSL </vt:lpstr>
      <vt:lpstr>XSLT 文件的格式</vt:lpstr>
      <vt:lpstr>XSLT 的主程式</vt:lpstr>
      <vt:lpstr>XSLT 程式的函数</vt:lpstr>
      <vt:lpstr>match="具体匹配表达式"</vt:lpstr>
      <vt:lpstr>PowerPoint 演示文稿</vt:lpstr>
      <vt:lpstr>xsl:for-each select="词语"</vt:lpstr>
      <vt:lpstr>XPath</vt:lpstr>
      <vt:lpstr>XML文档树节点类型 </vt:lpstr>
      <vt:lpstr>XPath表达式 </vt:lpstr>
      <vt:lpstr>当前上下文 </vt:lpstr>
      <vt:lpstr>定位路径组成 </vt:lpstr>
      <vt:lpstr>定位路径的种类 </vt:lpstr>
      <vt:lpstr>例子 </vt:lpstr>
      <vt:lpstr>轴 </vt:lpstr>
      <vt:lpstr>节点测试 </vt:lpstr>
      <vt:lpstr>谓词 </vt:lpstr>
      <vt:lpstr> XPath中的字符串函数 </vt:lpstr>
      <vt:lpstr> XPath中的数值函数 </vt:lpstr>
      <vt:lpstr> XPath中的布尔函数</vt:lpstr>
      <vt:lpstr>PowerPoint 演示文稿</vt:lpstr>
      <vt:lpstr>PowerPoint 演示文稿</vt:lpstr>
      <vt:lpstr>PowerPoint 演示文稿</vt:lpstr>
      <vt:lpstr>XML解析技术的分类</vt:lpstr>
      <vt:lpstr>面向文档的流式解析</vt:lpstr>
      <vt:lpstr>推式解析(SAX)</vt:lpstr>
      <vt:lpstr>PowerPoint 演示文稿</vt:lpstr>
      <vt:lpstr>拉式解析(StAX)</vt:lpstr>
      <vt:lpstr>两套处理XML的API</vt:lpstr>
      <vt:lpstr>面向文档的对象式解析技术</vt:lpstr>
      <vt:lpstr>DOM的基本节点对象</vt:lpstr>
      <vt:lpstr>面向文档的指针式解析技术</vt:lpstr>
      <vt:lpstr>VTD记录的比特层格式</vt:lpstr>
      <vt:lpstr>面向应用的对象式解析技术</vt:lpstr>
      <vt:lpstr>数据绑定的应用</vt:lpstr>
      <vt:lpstr>文档模型和数据绑定模型比较</vt:lpstr>
      <vt:lpstr>四种XML解析技术的特性比较</vt:lpstr>
      <vt:lpstr>面向文档解析方式的性能比较</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XML技术</dc:title>
  <dc:creator>ufeng</dc:creator>
  <cp:lastModifiedBy>liufeng</cp:lastModifiedBy>
  <cp:revision>70</cp:revision>
  <dcterms:modified xsi:type="dcterms:W3CDTF">2021-03-06T05:21:50Z</dcterms:modified>
</cp:coreProperties>
</file>