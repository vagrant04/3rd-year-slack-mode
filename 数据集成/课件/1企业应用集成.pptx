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3"/>
  </p:notesMasterIdLst>
  <p:sldIdLst>
    <p:sldId id="330" r:id="rId2"/>
    <p:sldId id="256" r:id="rId3"/>
    <p:sldId id="322" r:id="rId4"/>
    <p:sldId id="311" r:id="rId5"/>
    <p:sldId id="316" r:id="rId6"/>
    <p:sldId id="318" r:id="rId7"/>
    <p:sldId id="257" r:id="rId8"/>
    <p:sldId id="270" r:id="rId9"/>
    <p:sldId id="315" r:id="rId10"/>
    <p:sldId id="314" r:id="rId11"/>
    <p:sldId id="319" r:id="rId12"/>
    <p:sldId id="320" r:id="rId13"/>
    <p:sldId id="312" r:id="rId14"/>
    <p:sldId id="272" r:id="rId15"/>
    <p:sldId id="313" r:id="rId16"/>
    <p:sldId id="282" r:id="rId17"/>
    <p:sldId id="281" r:id="rId18"/>
    <p:sldId id="279" r:id="rId19"/>
    <p:sldId id="280" r:id="rId20"/>
    <p:sldId id="273" r:id="rId21"/>
    <p:sldId id="323" r:id="rId22"/>
    <p:sldId id="258" r:id="rId23"/>
    <p:sldId id="260" r:id="rId24"/>
    <p:sldId id="259" r:id="rId25"/>
    <p:sldId id="283" r:id="rId26"/>
    <p:sldId id="265" r:id="rId27"/>
    <p:sldId id="266" r:id="rId28"/>
    <p:sldId id="267" r:id="rId29"/>
    <p:sldId id="284"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1" r:id="rId45"/>
    <p:sldId id="302" r:id="rId46"/>
    <p:sldId id="303" r:id="rId47"/>
    <p:sldId id="304" r:id="rId48"/>
    <p:sldId id="305" r:id="rId49"/>
    <p:sldId id="306" r:id="rId50"/>
    <p:sldId id="308" r:id="rId51"/>
    <p:sldId id="321" r:id="rId52"/>
    <p:sldId id="268" r:id="rId53"/>
    <p:sldId id="261" r:id="rId54"/>
    <p:sldId id="262" r:id="rId55"/>
    <p:sldId id="263" r:id="rId56"/>
    <p:sldId id="324" r:id="rId57"/>
    <p:sldId id="310" r:id="rId58"/>
    <p:sldId id="325" r:id="rId59"/>
    <p:sldId id="326" r:id="rId60"/>
    <p:sldId id="327" r:id="rId61"/>
    <p:sldId id="328" r:id="rId6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212" autoAdjust="0"/>
  </p:normalViewPr>
  <p:slideViewPr>
    <p:cSldViewPr>
      <p:cViewPr varScale="1">
        <p:scale>
          <a:sx n="78" d="100"/>
          <a:sy n="78" d="100"/>
        </p:scale>
        <p:origin x="2020" y="4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D450C5-DE71-4C5A-88B2-0F9EC6620D20}" type="datetimeFigureOut">
              <a:rPr lang="zh-CN" altLang="en-US" smtClean="0"/>
              <a:pPr/>
              <a:t>2026/3/6</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21CE35-43FE-48C4-AF1D-4091619A0117}" type="slidenum">
              <a:rPr lang="zh-CN" altLang="en-US" smtClean="0"/>
              <a:pPr/>
              <a:t>‹#›</a:t>
            </a:fld>
            <a:endParaRPr lang="zh-CN" altLang="en-US"/>
          </a:p>
        </p:txBody>
      </p:sp>
    </p:spTree>
    <p:extLst>
      <p:ext uri="{BB962C8B-B14F-4D97-AF65-F5344CB8AC3E}">
        <p14:creationId xmlns:p14="http://schemas.microsoft.com/office/powerpoint/2010/main" val="493968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8" Type="http://schemas.openxmlformats.org/officeDocument/2006/relationships/hyperlink" Target="http://zhidao.baidu.com/search?word=%E5%85%A8%E7%94%9F%E5%91%BD%E5%91%A8%E6%9C%9F&amp;fr=qb_search_exp&amp;ie=utf8" TargetMode="External"/><Relationship Id="rId13" Type="http://schemas.openxmlformats.org/officeDocument/2006/relationships/hyperlink" Target="http://zhidao.baidu.com/search?word=%E4%BA%A7%E5%93%81%E7%94%9F%E5%91%BD%E5%91%A8%E6%9C%9F%E7%AE%A1%E7%90%86&amp;fr=qb_search_exp&amp;ie=utf8" TargetMode="External"/><Relationship Id="rId3" Type="http://schemas.openxmlformats.org/officeDocument/2006/relationships/hyperlink" Target="http://zhidao.baidu.com/search?word=%E5%AE%A2%E6%88%B7%E5%85%B3%E7%B3%BB%E7%AE%A1%E7%90%86&amp;fr=qb_search_exp&amp;ie=utf8" TargetMode="External"/><Relationship Id="rId7" Type="http://schemas.openxmlformats.org/officeDocument/2006/relationships/hyperlink" Target="http://zhidao.baidu.com/search?word=%E7%AE%A1%E7%90%86%E6%80%9D%E6%83%B3&amp;fr=qb_search_exp&amp;ie=utf8" TargetMode="External"/><Relationship Id="rId12" Type="http://schemas.openxmlformats.org/officeDocument/2006/relationships/hyperlink" Target="http://zhidao.baidu.com/search?word=%E9%A2%84%E9%98%B2%E6%80%A7%E7%BB%B4%E6%8A%A4&amp;fr=qb_search_exp&amp;ie=utf8" TargetMode="External"/><Relationship Id="rId2" Type="http://schemas.openxmlformats.org/officeDocument/2006/relationships/slide" Target="../slides/slide18.xml"/><Relationship Id="rId1" Type="http://schemas.openxmlformats.org/officeDocument/2006/relationships/notesMaster" Target="../notesMasters/notesMaster1.xml"/><Relationship Id="rId6" Type="http://schemas.openxmlformats.org/officeDocument/2006/relationships/hyperlink" Target="http://zhidao.baidu.com/search?word=%E4%BC%81%E4%B8%9A%E8%B5%84%E4%BA%A7%E7%AE%A1%E7%90%86&amp;fr=qb_search_exp&amp;ie=utf8" TargetMode="External"/><Relationship Id="rId11" Type="http://schemas.openxmlformats.org/officeDocument/2006/relationships/hyperlink" Target="http://zhidao.baidu.com/search?word=%E6%95%B0%E6%8D%AE%E9%87%87%E9%9B%86%E7%B3%BB%E7%BB%9F&amp;fr=qb_search_exp&amp;ie=utf8" TargetMode="External"/><Relationship Id="rId5" Type="http://schemas.openxmlformats.org/officeDocument/2006/relationships/hyperlink" Target="http://zhidao.baidu.com/search?word=%E5%AE%A2%E6%88%B7%E6%BB%A1%E6%84%8F&amp;fr=qb_search_exp&amp;ie=utf8" TargetMode="External"/><Relationship Id="rId15" Type="http://schemas.openxmlformats.org/officeDocument/2006/relationships/hyperlink" Target="http://zhidao.baidu.com/search?word=%E4%BA%BA%E5%8A%9B%E8%B5%84%E6%BA%90&amp;fr=qb_search_exp&amp;ie=utf8" TargetMode="External"/><Relationship Id="rId10" Type="http://schemas.openxmlformats.org/officeDocument/2006/relationships/hyperlink" Target="http://zhidao.baidu.com/search?word=%E9%A2%84%E9%98%B2%E6%80%A7%E7%BB%B4%E4%BF%AE&amp;fr=qb_search_exp&amp;ie=utf8" TargetMode="External"/><Relationship Id="rId4" Type="http://schemas.openxmlformats.org/officeDocument/2006/relationships/hyperlink" Target="http://zhidao.baidu.com/search?word=%E4%BC%81%E4%B8%9A%E7%94%B5%E5%AD%90%E5%95%86%E5%8A%A1&amp;fr=qb_search_exp&amp;ie=utf8" TargetMode="External"/><Relationship Id="rId9" Type="http://schemas.openxmlformats.org/officeDocument/2006/relationships/hyperlink" Target="http://zhidao.baidu.com/search?word=%E5%8F%AF%E7%94%A8%E6%80%A7&amp;fr=qb_search_exp&amp;ie=utf8" TargetMode="External"/><Relationship Id="rId14" Type="http://schemas.openxmlformats.org/officeDocument/2006/relationships/hyperlink" Target="http://zhidao.baidu.com/search?word=%E5%9C%A8%E4%BA%A7%E5%93%81&amp;fr=qb_search_exp&amp;ie=utf8"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3</a:t>
            </a:fld>
            <a:endParaRPr lang="zh-CN" altLang="en-US"/>
          </a:p>
        </p:txBody>
      </p:sp>
    </p:spTree>
    <p:extLst>
      <p:ext uri="{BB962C8B-B14F-4D97-AF65-F5344CB8AC3E}">
        <p14:creationId xmlns:p14="http://schemas.microsoft.com/office/powerpoint/2010/main" val="284360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近</a:t>
            </a:r>
            <a:r>
              <a:rPr lang="en-US" altLang="zh-CN" dirty="0"/>
              <a:t>20</a:t>
            </a:r>
            <a:r>
              <a:rPr lang="zh-CN" altLang="en-US" dirty="0"/>
              <a:t>年来</a:t>
            </a:r>
            <a:r>
              <a:rPr lang="en-US" altLang="zh-CN" dirty="0"/>
              <a:t>,</a:t>
            </a:r>
            <a:r>
              <a:rPr lang="zh-CN" altLang="en-US" dirty="0"/>
              <a:t>数据产生的方式不断得到扩展</a:t>
            </a:r>
            <a:r>
              <a:rPr lang="en-US" altLang="zh-CN" dirty="0"/>
              <a:t>,</a:t>
            </a:r>
            <a:r>
              <a:rPr lang="zh-CN" altLang="en-US" dirty="0"/>
              <a:t>带来数据管理需求和任务的不断变化</a:t>
            </a:r>
            <a:r>
              <a:rPr lang="en-US" altLang="zh-CN" dirty="0"/>
              <a:t>,</a:t>
            </a:r>
            <a:r>
              <a:rPr lang="zh-CN" altLang="en-US" dirty="0"/>
              <a:t>促使数据管理技术不断推陈出新。数据库管理系统、数据仓库与数据挖掘、数据集成被视为三足鼎立的现代数据管理技术</a:t>
            </a:r>
            <a:r>
              <a:rPr lang="en-US" altLang="zh-CN" dirty="0"/>
              <a:t>,</a:t>
            </a:r>
            <a:r>
              <a:rPr lang="zh-CN" altLang="en-US" dirty="0"/>
              <a:t>它们在构建信息系统中的作用相当、互为依存、缺一不可。但在人们的认知度上</a:t>
            </a:r>
            <a:r>
              <a:rPr lang="en-US" altLang="zh-CN" dirty="0"/>
              <a:t>,</a:t>
            </a:r>
            <a:r>
              <a:rPr lang="zh-CN" altLang="en-US" dirty="0"/>
              <a:t>数据集成技术远不及前两者</a:t>
            </a: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4</a:t>
            </a:fld>
            <a:endParaRPr lang="zh-CN" altLang="en-US"/>
          </a:p>
        </p:txBody>
      </p:sp>
    </p:spTree>
    <p:extLst>
      <p:ext uri="{BB962C8B-B14F-4D97-AF65-F5344CB8AC3E}">
        <p14:creationId xmlns:p14="http://schemas.microsoft.com/office/powerpoint/2010/main" val="21506868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a:solidFill>
                  <a:schemeClr val="tx1"/>
                </a:solidFill>
                <a:effectLst/>
                <a:latin typeface="+mn-lt"/>
                <a:ea typeface="+mn-ea"/>
                <a:cs typeface="+mn-cs"/>
              </a:rPr>
              <a:t>由于缺乏不同系统之间的互操作性，很难实现跨系统的信息共享，造成信息资源共享的困难。</a:t>
            </a:r>
          </a:p>
          <a:p>
            <a:pPr lvl="0"/>
            <a:r>
              <a:rPr lang="zh-CN" altLang="zh-CN" sz="1200" kern="1200" dirty="0">
                <a:solidFill>
                  <a:schemeClr val="tx1"/>
                </a:solidFill>
                <a:effectLst/>
                <a:latin typeface="+mn-lt"/>
                <a:ea typeface="+mn-ea"/>
                <a:cs typeface="+mn-cs"/>
              </a:rPr>
              <a:t>各系统之间交叉公共数据，不仅造成使用者的负担（如多次录入），还造成系统中的数据冗余，数据的一致性很难得到保障。</a:t>
            </a:r>
          </a:p>
          <a:p>
            <a:pPr lvl="0"/>
            <a:r>
              <a:rPr lang="zh-CN" altLang="zh-CN" sz="1200" kern="1200" dirty="0">
                <a:solidFill>
                  <a:schemeClr val="tx1"/>
                </a:solidFill>
                <a:effectLst/>
                <a:latin typeface="+mn-lt"/>
                <a:ea typeface="+mn-ea"/>
                <a:cs typeface="+mn-cs"/>
              </a:rPr>
              <a:t>由于各系统的异构性，难以用各系统数据进行企业的全局信息分析和处理。</a:t>
            </a:r>
          </a:p>
          <a:p>
            <a:pPr lvl="0"/>
            <a:r>
              <a:rPr lang="zh-CN" altLang="zh-CN" sz="1200" kern="1200" dirty="0">
                <a:solidFill>
                  <a:schemeClr val="tx1"/>
                </a:solidFill>
                <a:effectLst/>
                <a:latin typeface="+mn-lt"/>
                <a:ea typeface="+mn-ea"/>
                <a:cs typeface="+mn-cs"/>
              </a:rPr>
              <a:t>各系统的数据和数据处理紧密绑定，缺乏柔性，不能快速适应企业业务流程的变化和灵活的信息服务需求。</a:t>
            </a:r>
          </a:p>
          <a:p>
            <a:pPr lvl="0"/>
            <a:r>
              <a:rPr lang="zh-CN" altLang="zh-CN" sz="1200" kern="1200" dirty="0">
                <a:solidFill>
                  <a:schemeClr val="tx1"/>
                </a:solidFill>
                <a:effectLst/>
                <a:latin typeface="+mn-lt"/>
                <a:ea typeface="+mn-ea"/>
                <a:cs typeface="+mn-cs"/>
              </a:rPr>
              <a:t>分散的子系统为信息管理、系统维护等工作带来诸多不便。</a:t>
            </a: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7</a:t>
            </a:fld>
            <a:endParaRPr lang="zh-CN" altLang="en-US"/>
          </a:p>
        </p:txBody>
      </p:sp>
    </p:spTree>
    <p:extLst>
      <p:ext uri="{BB962C8B-B14F-4D97-AF65-F5344CB8AC3E}">
        <p14:creationId xmlns:p14="http://schemas.microsoft.com/office/powerpoint/2010/main" val="23378257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EEBA3549-94C4-433F-A546-65B6E5F9899B}" type="slidenum">
              <a:rPr lang="zh-CN" altLang="en-US" smtClean="0"/>
              <a:pPr/>
              <a:t>8</a:t>
            </a:fld>
            <a:endParaRPr lang="zh-CN" altLang="en-US"/>
          </a:p>
        </p:txBody>
      </p:sp>
    </p:spTree>
    <p:extLst>
      <p:ext uri="{BB962C8B-B14F-4D97-AF65-F5344CB8AC3E}">
        <p14:creationId xmlns:p14="http://schemas.microsoft.com/office/powerpoint/2010/main" val="139614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FullServe</a:t>
            </a:r>
            <a:r>
              <a:rPr lang="en-US" altLang="zh-CN" dirty="0"/>
              <a:t> </a:t>
            </a:r>
            <a:r>
              <a:rPr lang="zh-CN" altLang="en-US" dirty="0"/>
              <a:t>是一家提供家庭互联网接入的公司</a:t>
            </a:r>
            <a:r>
              <a:rPr lang="en-US" altLang="zh-CN" dirty="0"/>
              <a:t>,</a:t>
            </a:r>
            <a:r>
              <a:rPr lang="zh-CN" altLang="en-US" dirty="0"/>
              <a:t>同时也卖一些支持家庭计算的基础设施产品</a:t>
            </a:r>
            <a:r>
              <a:rPr lang="en-US" altLang="zh-CN" dirty="0"/>
              <a:t>,</a:t>
            </a:r>
            <a:r>
              <a:rPr lang="zh-CN" altLang="en-US" dirty="0"/>
              <a:t>如调制解调器、无线路由器、</a:t>
            </a:r>
            <a:r>
              <a:rPr lang="en-US" altLang="zh-CN" dirty="0"/>
              <a:t>IP</a:t>
            </a:r>
            <a:r>
              <a:rPr lang="zh-CN" altLang="en-US" dirty="0"/>
              <a:t>语音电话和咖啡机。</a:t>
            </a:r>
            <a:endParaRPr lang="en-US" altLang="zh-CN" dirty="0"/>
          </a:p>
          <a:p>
            <a:r>
              <a:rPr lang="zh-CN" altLang="en-US" dirty="0"/>
              <a:t>人力资源部：全职工、临时工；简历，面试；</a:t>
            </a:r>
            <a:endParaRPr lang="en-US" altLang="zh-CN" dirty="0"/>
          </a:p>
          <a:p>
            <a:r>
              <a:rPr lang="zh-CN" altLang="en-US" dirty="0"/>
              <a:t>培训和发展部：内外部培训课程；</a:t>
            </a:r>
            <a:endParaRPr lang="en-US" altLang="zh-CN" dirty="0"/>
          </a:p>
          <a:p>
            <a:r>
              <a:rPr lang="zh-CN" altLang="en-US" dirty="0"/>
              <a:t>销售部：服务，当前订购者，产品，客户信息；</a:t>
            </a:r>
            <a:endParaRPr lang="en-US" altLang="zh-CN" dirty="0"/>
          </a:p>
          <a:p>
            <a:r>
              <a:rPr lang="zh-CN" altLang="en-US" dirty="0"/>
              <a:t>客户服务部：客户来电内容</a:t>
            </a:r>
            <a:endParaRPr lang="en-US" altLang="zh-CN" dirty="0"/>
          </a:p>
          <a:p>
            <a:r>
              <a:rPr lang="en-US" altLang="zh-CN" dirty="0" err="1"/>
              <a:t>EuroCard</a:t>
            </a:r>
            <a:r>
              <a:rPr lang="zh-CN" altLang="en-US" dirty="0"/>
              <a:t>没有把全职员工和临时工分开存储</a:t>
            </a:r>
            <a:endParaRPr lang="en-US" altLang="zh-CN" dirty="0"/>
          </a:p>
          <a:p>
            <a:r>
              <a:rPr lang="en-US" altLang="zh-CN" dirty="0" err="1"/>
              <a:t>FullServe</a:t>
            </a:r>
            <a:r>
              <a:rPr lang="en-US" altLang="zh-CN" dirty="0"/>
              <a:t> </a:t>
            </a:r>
            <a:r>
              <a:rPr lang="zh-CN" altLang="en-US" dirty="0"/>
              <a:t>的员工雇用数据一部分保存在简历</a:t>
            </a:r>
            <a:r>
              <a:rPr lang="en-US" altLang="zh-CN" dirty="0"/>
              <a:t>(Resume)</a:t>
            </a:r>
            <a:r>
              <a:rPr lang="zh-CN" altLang="en-US" dirty="0"/>
              <a:t>数据库中，另一部分保存在员工数据库中，而</a:t>
            </a:r>
            <a:r>
              <a:rPr lang="en-US" altLang="zh-CN" dirty="0" err="1"/>
              <a:t>EuroCard</a:t>
            </a:r>
            <a:r>
              <a:rPr lang="zh-CN" altLang="en-US" dirty="0"/>
              <a:t>仅在员工数据库中保存雇用日期</a:t>
            </a:r>
            <a:endParaRPr lang="en-US" altLang="zh-CN" dirty="0"/>
          </a:p>
          <a:p>
            <a:endParaRPr lang="en-US" altLang="zh-CN" dirty="0"/>
          </a:p>
          <a:p>
            <a:endParaRPr lang="en-US" altLang="zh-CN"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9</a:t>
            </a:fld>
            <a:endParaRPr lang="zh-CN" altLang="en-US"/>
          </a:p>
        </p:txBody>
      </p:sp>
    </p:spTree>
    <p:extLst>
      <p:ext uri="{BB962C8B-B14F-4D97-AF65-F5344CB8AC3E}">
        <p14:creationId xmlns:p14="http://schemas.microsoft.com/office/powerpoint/2010/main" val="3078586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例如，</a:t>
            </a:r>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10</a:t>
            </a:fld>
            <a:endParaRPr lang="zh-CN" altLang="en-US"/>
          </a:p>
        </p:txBody>
      </p:sp>
    </p:spTree>
    <p:extLst>
      <p:ext uri="{BB962C8B-B14F-4D97-AF65-F5344CB8AC3E}">
        <p14:creationId xmlns:p14="http://schemas.microsoft.com/office/powerpoint/2010/main" val="3335497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、当客户代表与客户通电话时，他需要看到该客户从</a:t>
            </a:r>
            <a:r>
              <a:rPr lang="en-US" altLang="zh-CN" sz="1200" b="0" i="0" kern="1200" dirty="0" err="1">
                <a:solidFill>
                  <a:schemeClr val="tx1"/>
                </a:solidFill>
                <a:effectLst/>
                <a:latin typeface="+mn-lt"/>
                <a:ea typeface="+mn-ea"/>
                <a:cs typeface="+mn-cs"/>
              </a:rPr>
              <a:t>FullServe</a:t>
            </a:r>
            <a:r>
              <a:rPr lang="zh-CN" altLang="en-US" sz="1200" b="0" i="0" kern="1200" dirty="0">
                <a:solidFill>
                  <a:schemeClr val="tx1"/>
                </a:solidFill>
                <a:effectLst/>
                <a:latin typeface="+mn-lt"/>
                <a:ea typeface="+mn-ea"/>
                <a:cs typeface="+mn-cs"/>
              </a:rPr>
              <a:t>获得的整套服务，无论是互联网服务、信用卡或者购买的产品。特别是，当客户打电话来的时候，如果客户代表能够知道他是一个经常使用信用卡的大客户，会非常有用</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、假设</a:t>
            </a:r>
            <a:r>
              <a:rPr lang="en-US" altLang="zh-CN" sz="1200" b="0" i="0" kern="1200" dirty="0" err="1">
                <a:solidFill>
                  <a:schemeClr val="tx1"/>
                </a:solidFill>
                <a:effectLst/>
                <a:latin typeface="+mn-lt"/>
                <a:ea typeface="+mn-ea"/>
                <a:cs typeface="+mn-cs"/>
              </a:rPr>
              <a:t>FullServe</a:t>
            </a:r>
            <a:r>
              <a:rPr lang="zh-CN" altLang="en-US" sz="1200" b="0" i="0" kern="1200" dirty="0">
                <a:solidFill>
                  <a:schemeClr val="tx1"/>
                </a:solidFill>
                <a:effectLst/>
                <a:latin typeface="+mn-lt"/>
                <a:ea typeface="+mn-ea"/>
                <a:cs typeface="+mn-cs"/>
              </a:rPr>
              <a:t>想与其他厂商一起提供一套品牌服务。比如，可以得到你最喜欢的运动队发行的信用卡，但实际上还是由</a:t>
            </a:r>
            <a:r>
              <a:rPr lang="en-US" altLang="zh-CN" sz="1200" b="0" i="0" kern="1200" dirty="0" err="1">
                <a:solidFill>
                  <a:schemeClr val="tx1"/>
                </a:solidFill>
                <a:effectLst/>
                <a:latin typeface="+mn-lt"/>
                <a:ea typeface="+mn-ea"/>
                <a:cs typeface="+mn-cs"/>
              </a:rPr>
              <a:t>FullServe</a:t>
            </a:r>
            <a:r>
              <a:rPr lang="zh-CN" altLang="en-US" sz="1200" b="0" i="0" kern="1200" dirty="0">
                <a:solidFill>
                  <a:schemeClr val="tx1"/>
                </a:solidFill>
                <a:effectLst/>
                <a:latin typeface="+mn-lt"/>
                <a:ea typeface="+mn-ea"/>
                <a:cs typeface="+mn-cs"/>
              </a:rPr>
              <a:t>提供服务。</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、要应答这样的查询就会涉及将员工数据库和简历数据库结合起来。而简历往往是非结构化的文本，并没有很好地组织数据，这又给连接带来了困难。</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11</a:t>
            </a:fld>
            <a:endParaRPr lang="zh-CN" altLang="en-US"/>
          </a:p>
        </p:txBody>
      </p:sp>
    </p:spTree>
    <p:extLst>
      <p:ext uri="{BB962C8B-B14F-4D97-AF65-F5344CB8AC3E}">
        <p14:creationId xmlns:p14="http://schemas.microsoft.com/office/powerpoint/2010/main" val="610708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12</a:t>
            </a:fld>
            <a:endParaRPr lang="zh-CN" altLang="en-US"/>
          </a:p>
        </p:txBody>
      </p:sp>
    </p:spTree>
    <p:extLst>
      <p:ext uri="{BB962C8B-B14F-4D97-AF65-F5344CB8AC3E}">
        <p14:creationId xmlns:p14="http://schemas.microsoft.com/office/powerpoint/2010/main" val="2600126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ffectLst/>
              </a:rPr>
              <a:t>第一阶段，对信息化有低级需求。员工对网络设备感兴趣，但是要求单一，能够上网查找资料即可。</a:t>
            </a:r>
            <a:endParaRPr lang="en-US" altLang="zh-CN" dirty="0">
              <a:effectLst/>
            </a:endParaRPr>
          </a:p>
          <a:p>
            <a:r>
              <a:rPr lang="zh-CN" altLang="en-US" dirty="0">
                <a:effectLst/>
              </a:rPr>
              <a:t>第二阶段，对信息化有针对需求。业务部门开始对信息化部门提出针对性的需求。例如，财务部需要给管理层提供详细报表，为了简化工作量，财务部门需要信息化部门的援助。</a:t>
            </a:r>
            <a:endParaRPr lang="en-US" altLang="zh-CN" dirty="0">
              <a:effectLst/>
            </a:endParaRPr>
          </a:p>
          <a:p>
            <a:r>
              <a:rPr lang="zh-CN" altLang="en-US" dirty="0">
                <a:effectLst/>
              </a:rPr>
              <a:t>第三阶段，信息部门开始主导地位。信息部门有一些初步的规划，主动接触其他各部门，挖掘潜在需求。在这个阶段会遇到各种的沟通问题，只要找对方向，找到方法，并坚持下去，会收到意想不到的结果。</a:t>
            </a:r>
            <a:endParaRPr lang="en-US" altLang="zh-CN" dirty="0">
              <a:effectLst/>
            </a:endParaRPr>
          </a:p>
          <a:p>
            <a:r>
              <a:rPr lang="zh-CN" altLang="en-US" dirty="0">
                <a:effectLst/>
              </a:rPr>
              <a:t>第四阶段，跟上企业发展战略规划的步伐。此时，企业信息化的发展成为企业整理战略发展的重要组成部分，企业规划如何规划，如何落地，这都将由信息部门来统一部署。</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13</a:t>
            </a:fld>
            <a:endParaRPr lang="zh-CN" altLang="en-US"/>
          </a:p>
        </p:txBody>
      </p:sp>
    </p:spTree>
    <p:extLst>
      <p:ext uri="{BB962C8B-B14F-4D97-AF65-F5344CB8AC3E}">
        <p14:creationId xmlns:p14="http://schemas.microsoft.com/office/powerpoint/2010/main" val="1746656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a:r>
              <a:rPr lang="zh-CN" altLang="zh-CN" sz="1200" kern="1200" dirty="0">
                <a:solidFill>
                  <a:schemeClr val="tx1"/>
                </a:solidFill>
                <a:effectLst/>
                <a:latin typeface="+mn-lt"/>
                <a:ea typeface="+mn-ea"/>
                <a:cs typeface="+mn-cs"/>
              </a:rPr>
              <a:t>流程管理：当企业迈向信息化后，内部的工作流程以电子化的方式进行。举例来说，当</a:t>
            </a:r>
            <a:r>
              <a:rPr lang="en-US" altLang="zh-CN" sz="1200" kern="1200" dirty="0">
                <a:solidFill>
                  <a:schemeClr val="tx1"/>
                </a:solidFill>
                <a:effectLst/>
                <a:latin typeface="+mn-lt"/>
                <a:ea typeface="+mn-ea"/>
                <a:cs typeface="+mn-cs"/>
              </a:rPr>
              <a:t>ERP</a:t>
            </a:r>
            <a:r>
              <a:rPr lang="zh-CN" altLang="zh-CN" sz="1200" kern="1200" dirty="0">
                <a:solidFill>
                  <a:schemeClr val="tx1"/>
                </a:solidFill>
                <a:effectLst/>
                <a:latin typeface="+mn-lt"/>
                <a:ea typeface="+mn-ea"/>
                <a:cs typeface="+mn-cs"/>
              </a:rPr>
              <a:t>系统进行存货查询时，就要透过库存系统的信息来进行，应用程序与应用程序间仍存有的系统整合及流程问题；当商业环境转变时，工作流程也必需保持一定的弹性，可以随企业最新的需求变更。</a:t>
            </a:r>
          </a:p>
          <a:p>
            <a:pPr lvl="0"/>
            <a:r>
              <a:rPr lang="zh-CN" altLang="zh-CN" sz="1200" kern="1200" dirty="0">
                <a:solidFill>
                  <a:schemeClr val="tx1"/>
                </a:solidFill>
                <a:effectLst/>
                <a:latin typeface="+mn-lt"/>
                <a:ea typeface="+mn-ea"/>
                <a:cs typeface="+mn-cs"/>
              </a:rPr>
              <a:t>电子商务：整合企业内的应用程序，达到营运流程自动化及跨应用程序间交易的整合，打破原本存在于各应用软件间的鸿沟，对于电子商务而言是重要的竞争优势。此外，对于企业内部部份封闭的作业环境，需要通过企业应用整合将电子商务与这些封闭的系统结合在一起。</a:t>
            </a:r>
          </a:p>
          <a:p>
            <a:pPr lvl="0"/>
            <a:r>
              <a:rPr lang="zh-CN" altLang="zh-CN" sz="1200" kern="1200" dirty="0">
                <a:solidFill>
                  <a:schemeClr val="tx1"/>
                </a:solidFill>
                <a:effectLst/>
                <a:latin typeface="+mn-lt"/>
                <a:ea typeface="+mn-ea"/>
                <a:cs typeface="+mn-cs"/>
              </a:rPr>
              <a:t>协同商务：企业透过因特网与供货商整合进行协同商务时，为能实时反应、防止错误数据产生、避免重复输入并达到营运流程整合，需要将内部的应用程序与供货商的应用程序整合起来。面对不同的协同商务需求，企业需要一个简单且单一的解决方案，透过内部应用程序整合，提供对外单一的窗口会是企业最佳的选择。</a:t>
            </a:r>
          </a:p>
          <a:p>
            <a:pPr lvl="0"/>
            <a:r>
              <a:rPr lang="zh-CN" altLang="zh-CN" sz="1200" kern="1200" dirty="0">
                <a:solidFill>
                  <a:schemeClr val="tx1"/>
                </a:solidFill>
                <a:effectLst/>
                <a:latin typeface="+mn-lt"/>
                <a:ea typeface="+mn-ea"/>
                <a:cs typeface="+mn-cs"/>
              </a:rPr>
              <a:t>企业并购：当两家企业进行合并时，将会有分属在两个企业中大量的数据需要重整，而应用程序间的连结则是关键。</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14</a:t>
            </a:fld>
            <a:endParaRPr lang="zh-CN" altLang="en-US"/>
          </a:p>
        </p:txBody>
      </p:sp>
    </p:spTree>
    <p:extLst>
      <p:ext uri="{BB962C8B-B14F-4D97-AF65-F5344CB8AC3E}">
        <p14:creationId xmlns:p14="http://schemas.microsoft.com/office/powerpoint/2010/main" val="1621284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bwMode="auto">
          <a:noFill/>
          <a:ln>
            <a:solidFill>
              <a:srgbClr val="000000"/>
            </a:solidFill>
            <a:miter lim="800000"/>
            <a:headEnd/>
            <a:tailEnd/>
          </a:ln>
        </p:spPr>
      </p:sp>
      <p:sp>
        <p:nvSpPr>
          <p:cNvPr id="5837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zh-CN" altLang="en-US"/>
              <a:t>这类开发平台的优点是开发工具强大，复杂和简单应用都适用。界面简单，易于与其他系统集成，支持结构化和非结构化数据，具备良好的安全控制手段，伸缩性和扩展性好。</a:t>
            </a:r>
            <a:br>
              <a:rPr lang="zh-CN" altLang="en-US"/>
            </a:br>
            <a:r>
              <a:rPr lang="zh-CN" altLang="en-US"/>
              <a:t> 缺点是需要较高技术素质的人员进行开发，开发成本较高</a:t>
            </a:r>
          </a:p>
        </p:txBody>
      </p:sp>
      <p:sp>
        <p:nvSpPr>
          <p:cNvPr id="58372" name="灯片编号占位符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7207B65-4B11-49D7-BE0E-84444E3D1AA0}" type="slidenum">
              <a:rPr lang="zh-CN" altLang="en-US" smtClean="0"/>
              <a:pPr/>
              <a:t>15</a:t>
            </a:fld>
            <a:endParaRPr lang="en-US" altLang="zh-CN"/>
          </a:p>
        </p:txBody>
      </p:sp>
    </p:spTree>
    <p:extLst>
      <p:ext uri="{BB962C8B-B14F-4D97-AF65-F5344CB8AC3E}">
        <p14:creationId xmlns:p14="http://schemas.microsoft.com/office/powerpoint/2010/main" val="34604565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大众点评网的例子</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16</a:t>
            </a:fld>
            <a:endParaRPr lang="zh-CN" altLang="en-US"/>
          </a:p>
        </p:txBody>
      </p:sp>
    </p:spTree>
    <p:extLst>
      <p:ext uri="{BB962C8B-B14F-4D97-AF65-F5344CB8AC3E}">
        <p14:creationId xmlns:p14="http://schemas.microsoft.com/office/powerpoint/2010/main" val="55188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CRM(Customer Relationship Management)</a:t>
            </a:r>
            <a:r>
              <a:rPr lang="zh-CN" altLang="en-US" dirty="0"/>
              <a:t>，即</a:t>
            </a:r>
            <a:r>
              <a:rPr lang="zh-CN" altLang="en-US" sz="1200" u="none" strike="noStrike" kern="1200" dirty="0">
                <a:solidFill>
                  <a:schemeClr val="tx1"/>
                </a:solidFill>
                <a:effectLst/>
                <a:latin typeface="+mn-lt"/>
                <a:ea typeface="+mn-ea"/>
                <a:cs typeface="+mn-cs"/>
                <a:hlinkClick r:id="rId3"/>
              </a:rPr>
              <a:t>客户关系管理</a:t>
            </a:r>
            <a:r>
              <a:rPr lang="zh-CN" altLang="en-US" dirty="0"/>
              <a:t>。这个概念最初由</a:t>
            </a:r>
            <a:r>
              <a:rPr lang="en-US" altLang="zh-CN" dirty="0"/>
              <a:t>Gartner Group</a:t>
            </a:r>
            <a:r>
              <a:rPr lang="zh-CN" altLang="en-US" dirty="0"/>
              <a:t>提出来，而在最近开始在</a:t>
            </a:r>
            <a:r>
              <a:rPr lang="zh-CN" altLang="en-US" sz="1200" u="none" strike="noStrike" kern="1200" dirty="0">
                <a:solidFill>
                  <a:schemeClr val="tx1"/>
                </a:solidFill>
                <a:effectLst/>
                <a:latin typeface="+mn-lt"/>
                <a:ea typeface="+mn-ea"/>
                <a:cs typeface="+mn-cs"/>
                <a:hlinkClick r:id="rId4"/>
              </a:rPr>
              <a:t>企业电子商务</a:t>
            </a:r>
            <a:r>
              <a:rPr lang="zh-CN" altLang="en-US" dirty="0"/>
              <a:t>中流行。</a:t>
            </a:r>
            <a:r>
              <a:rPr lang="en-US" altLang="zh-CN" dirty="0"/>
              <a:t>CRM</a:t>
            </a:r>
            <a:r>
              <a:rPr lang="zh-CN" altLang="en-US" dirty="0"/>
              <a:t>的主要含义就是通过对客户详细资料的深入分析，来提高</a:t>
            </a:r>
            <a:r>
              <a:rPr lang="zh-CN" altLang="en-US" sz="1200" u="none" strike="noStrike" kern="1200" dirty="0">
                <a:solidFill>
                  <a:schemeClr val="tx1"/>
                </a:solidFill>
                <a:effectLst/>
                <a:latin typeface="+mn-lt"/>
                <a:ea typeface="+mn-ea"/>
                <a:cs typeface="+mn-cs"/>
                <a:hlinkClick r:id="rId5"/>
              </a:rPr>
              <a:t>客户满意</a:t>
            </a:r>
            <a:r>
              <a:rPr lang="zh-CN" altLang="en-US" dirty="0"/>
              <a:t>程度，从而提高企业的竞争力的一种手段。</a:t>
            </a:r>
            <a:endParaRPr lang="en-US" altLang="zh-CN" sz="1200" b="1"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SCM(Supply Chain Management) </a:t>
            </a:r>
            <a:r>
              <a:rPr lang="zh-CN" altLang="en-US" sz="1200" b="0" i="0" kern="1200" dirty="0">
                <a:solidFill>
                  <a:schemeClr val="tx1"/>
                </a:solidFill>
                <a:effectLst/>
                <a:latin typeface="+mn-lt"/>
                <a:ea typeface="+mn-ea"/>
                <a:cs typeface="+mn-cs"/>
              </a:rPr>
              <a:t>供应链管理</a:t>
            </a:r>
          </a:p>
          <a:p>
            <a:r>
              <a:rPr lang="en-US" altLang="zh-CN" sz="1200" b="0" i="0" kern="1200" dirty="0">
                <a:solidFill>
                  <a:schemeClr val="tx1"/>
                </a:solidFill>
                <a:effectLst/>
                <a:latin typeface="+mn-lt"/>
                <a:ea typeface="+mn-ea"/>
                <a:cs typeface="+mn-cs"/>
              </a:rPr>
              <a:t>ERP(Enterprise Resource Planning) </a:t>
            </a:r>
            <a:r>
              <a:rPr lang="zh-CN" altLang="en-US" sz="1200" b="0" i="0" kern="1200" dirty="0">
                <a:solidFill>
                  <a:schemeClr val="tx1"/>
                </a:solidFill>
                <a:effectLst/>
                <a:latin typeface="+mn-lt"/>
                <a:ea typeface="+mn-ea"/>
                <a:cs typeface="+mn-cs"/>
              </a:rPr>
              <a:t>企业资源计划</a:t>
            </a:r>
          </a:p>
          <a:p>
            <a:r>
              <a:rPr lang="en-US" altLang="zh-CN" dirty="0"/>
              <a:t>EAM</a:t>
            </a:r>
            <a:r>
              <a:rPr lang="zh-CN" altLang="en-US" dirty="0"/>
              <a:t>是</a:t>
            </a:r>
            <a:r>
              <a:rPr lang="en-US" altLang="zh-CN" dirty="0"/>
              <a:t>Enterprise Asset Management systems </a:t>
            </a:r>
            <a:r>
              <a:rPr lang="zh-CN" altLang="en-US" dirty="0"/>
              <a:t>的英文缩写</a:t>
            </a:r>
            <a:r>
              <a:rPr lang="en-US" altLang="zh-CN" dirty="0"/>
              <a:t>,</a:t>
            </a:r>
            <a:r>
              <a:rPr lang="zh-CN" altLang="en-US" dirty="0"/>
              <a:t>中文解释为：</a:t>
            </a:r>
            <a:r>
              <a:rPr lang="zh-CN" altLang="en-US" sz="1200" u="none" strike="noStrike" kern="1200" dirty="0">
                <a:solidFill>
                  <a:schemeClr val="tx1"/>
                </a:solidFill>
                <a:effectLst/>
                <a:latin typeface="+mn-lt"/>
                <a:ea typeface="+mn-ea"/>
                <a:cs typeface="+mn-cs"/>
                <a:hlinkClick r:id="rId6"/>
              </a:rPr>
              <a:t>企业资产管理</a:t>
            </a:r>
            <a:r>
              <a:rPr lang="zh-CN" altLang="en-US" dirty="0"/>
              <a:t>。其核心</a:t>
            </a:r>
            <a:r>
              <a:rPr lang="zh-CN" altLang="en-US" sz="1200" u="none" strike="noStrike" kern="1200" dirty="0">
                <a:solidFill>
                  <a:schemeClr val="tx1"/>
                </a:solidFill>
                <a:effectLst/>
                <a:latin typeface="+mn-lt"/>
                <a:ea typeface="+mn-ea"/>
                <a:cs typeface="+mn-cs"/>
                <a:hlinkClick r:id="rId7"/>
              </a:rPr>
              <a:t>管理思想</a:t>
            </a:r>
            <a:r>
              <a:rPr lang="zh-CN" altLang="en-US" dirty="0"/>
              <a:t>是生产设备</a:t>
            </a:r>
            <a:r>
              <a:rPr lang="zh-CN" altLang="en-US" sz="1200" u="none" strike="noStrike" kern="1200" dirty="0">
                <a:solidFill>
                  <a:schemeClr val="tx1"/>
                </a:solidFill>
                <a:effectLst/>
                <a:latin typeface="+mn-lt"/>
                <a:ea typeface="+mn-ea"/>
                <a:cs typeface="+mn-cs"/>
                <a:hlinkClick r:id="rId8"/>
              </a:rPr>
              <a:t>全生命周期</a:t>
            </a:r>
            <a:r>
              <a:rPr lang="zh-CN" altLang="en-US" dirty="0"/>
              <a:t>的管理</a:t>
            </a:r>
            <a:r>
              <a:rPr lang="en-US" altLang="zh-CN" dirty="0"/>
              <a:t>,</a:t>
            </a:r>
            <a:r>
              <a:rPr lang="zh-CN" altLang="en-US" dirty="0"/>
              <a:t>生产设备的维护和维修</a:t>
            </a:r>
            <a:r>
              <a:rPr lang="en-US" altLang="zh-CN" dirty="0"/>
              <a:t>,</a:t>
            </a:r>
            <a:r>
              <a:rPr lang="zh-CN" altLang="en-US" dirty="0"/>
              <a:t>目标是保证投资在备件库存</a:t>
            </a:r>
            <a:r>
              <a:rPr lang="en-US" altLang="zh-CN" dirty="0"/>
              <a:t>,</a:t>
            </a:r>
            <a:r>
              <a:rPr lang="zh-CN" altLang="en-US" dirty="0"/>
              <a:t>维护</a:t>
            </a:r>
            <a:r>
              <a:rPr lang="en-US" altLang="zh-CN" dirty="0"/>
              <a:t>,</a:t>
            </a:r>
            <a:r>
              <a:rPr lang="zh-CN" altLang="en-US" dirty="0"/>
              <a:t>维修上的费用最小的情况下</a:t>
            </a:r>
            <a:r>
              <a:rPr lang="en-US" altLang="zh-CN" dirty="0"/>
              <a:t>,</a:t>
            </a:r>
            <a:r>
              <a:rPr lang="zh-CN" altLang="en-US" dirty="0"/>
              <a:t>使设备的</a:t>
            </a:r>
            <a:r>
              <a:rPr lang="zh-CN" altLang="en-US" sz="1200" u="none" strike="noStrike" kern="1200" dirty="0">
                <a:solidFill>
                  <a:schemeClr val="tx1"/>
                </a:solidFill>
                <a:effectLst/>
                <a:latin typeface="+mn-lt"/>
                <a:ea typeface="+mn-ea"/>
                <a:cs typeface="+mn-cs"/>
                <a:hlinkClick r:id="rId9"/>
              </a:rPr>
              <a:t>可用性</a:t>
            </a:r>
            <a:r>
              <a:rPr lang="zh-CN" altLang="en-US" dirty="0"/>
              <a:t>最好</a:t>
            </a:r>
            <a:r>
              <a:rPr lang="en-US" altLang="zh-CN" dirty="0"/>
              <a:t>.</a:t>
            </a:r>
            <a:r>
              <a:rPr lang="zh-CN" altLang="en-US" dirty="0"/>
              <a:t>它以工单的创建、审批、执行、关闭为主线</a:t>
            </a:r>
            <a:r>
              <a:rPr lang="en-US" altLang="zh-CN" dirty="0"/>
              <a:t>,</a:t>
            </a:r>
            <a:r>
              <a:rPr lang="zh-CN" altLang="en-US" dirty="0"/>
              <a:t>合理优化地安排相关的人、财、物资源</a:t>
            </a:r>
            <a:r>
              <a:rPr lang="en-US" altLang="zh-CN" dirty="0"/>
              <a:t>,</a:t>
            </a:r>
            <a:r>
              <a:rPr lang="zh-CN" altLang="en-US" dirty="0"/>
              <a:t>将传统的被动检修转变为积极主动的</a:t>
            </a:r>
            <a:r>
              <a:rPr lang="zh-CN" altLang="en-US" sz="1200" u="none" strike="noStrike" kern="1200" dirty="0">
                <a:solidFill>
                  <a:schemeClr val="tx1"/>
                </a:solidFill>
                <a:effectLst/>
                <a:latin typeface="+mn-lt"/>
                <a:ea typeface="+mn-ea"/>
                <a:cs typeface="+mn-cs"/>
                <a:hlinkClick r:id="rId10"/>
              </a:rPr>
              <a:t>预防性维修</a:t>
            </a:r>
            <a:r>
              <a:rPr lang="en-US" altLang="zh-CN" dirty="0"/>
              <a:t>,</a:t>
            </a:r>
            <a:r>
              <a:rPr lang="zh-CN" altLang="en-US" dirty="0"/>
              <a:t>并可与实时的</a:t>
            </a:r>
            <a:r>
              <a:rPr lang="zh-CN" altLang="en-US" sz="1200" u="none" strike="noStrike" kern="1200" dirty="0">
                <a:solidFill>
                  <a:schemeClr val="tx1"/>
                </a:solidFill>
                <a:effectLst/>
                <a:latin typeface="+mn-lt"/>
                <a:ea typeface="+mn-ea"/>
                <a:cs typeface="+mn-cs"/>
                <a:hlinkClick r:id="rId11"/>
              </a:rPr>
              <a:t>数据采集系统</a:t>
            </a:r>
            <a:r>
              <a:rPr lang="zh-CN" altLang="en-US" dirty="0"/>
              <a:t>集成</a:t>
            </a:r>
            <a:r>
              <a:rPr lang="en-US" altLang="zh-CN" dirty="0"/>
              <a:t>,</a:t>
            </a:r>
            <a:r>
              <a:rPr lang="zh-CN" altLang="en-US" dirty="0"/>
              <a:t>实现设备标准化的</a:t>
            </a:r>
            <a:r>
              <a:rPr lang="zh-CN" altLang="en-US" sz="1200" u="none" strike="noStrike" kern="1200" dirty="0">
                <a:solidFill>
                  <a:schemeClr val="tx1"/>
                </a:solidFill>
                <a:effectLst/>
                <a:latin typeface="+mn-lt"/>
                <a:ea typeface="+mn-ea"/>
                <a:cs typeface="+mn-cs"/>
                <a:hlinkClick r:id="rId12"/>
              </a:rPr>
              <a:t>预防性维护</a:t>
            </a:r>
            <a:r>
              <a:rPr lang="en-US" altLang="zh-CN" dirty="0"/>
              <a:t>.</a:t>
            </a:r>
          </a:p>
          <a:p>
            <a:r>
              <a:rPr lang="en-US" altLang="zh-CN" dirty="0"/>
              <a:t>PLM</a:t>
            </a:r>
            <a:r>
              <a:rPr lang="zh-CN" altLang="en-US" dirty="0"/>
              <a:t>是</a:t>
            </a:r>
            <a:r>
              <a:rPr lang="en-US" altLang="zh-CN" dirty="0"/>
              <a:t>Product Lifecycle Management systems</a:t>
            </a:r>
            <a:r>
              <a:rPr lang="zh-CN" altLang="en-US" dirty="0"/>
              <a:t>的英文缩写</a:t>
            </a:r>
            <a:r>
              <a:rPr lang="en-US" altLang="zh-CN" dirty="0"/>
              <a:t>,</a:t>
            </a:r>
            <a:r>
              <a:rPr lang="zh-CN" altLang="en-US" dirty="0"/>
              <a:t>中文解释为</a:t>
            </a:r>
            <a:r>
              <a:rPr lang="en-US" altLang="zh-CN" dirty="0"/>
              <a:t>:</a:t>
            </a:r>
            <a:r>
              <a:rPr lang="zh-CN" altLang="en-US" sz="1200" u="none" strike="noStrike" kern="1200" dirty="0">
                <a:solidFill>
                  <a:schemeClr val="tx1"/>
                </a:solidFill>
                <a:effectLst/>
                <a:latin typeface="+mn-lt"/>
                <a:ea typeface="+mn-ea"/>
                <a:cs typeface="+mn-cs"/>
                <a:hlinkClick r:id="rId13"/>
              </a:rPr>
              <a:t>产品生命周期管理</a:t>
            </a:r>
            <a:r>
              <a:rPr lang="zh-CN" altLang="en-US" dirty="0"/>
              <a:t>。是一种应用于在单一地点的企业内部、分散在多个地点的企业内部，以及</a:t>
            </a:r>
            <a:r>
              <a:rPr lang="zh-CN" altLang="en-US" sz="1200" u="none" strike="noStrike" kern="1200" dirty="0">
                <a:solidFill>
                  <a:schemeClr val="tx1"/>
                </a:solidFill>
                <a:effectLst/>
                <a:latin typeface="+mn-lt"/>
                <a:ea typeface="+mn-ea"/>
                <a:cs typeface="+mn-cs"/>
                <a:hlinkClick r:id="rId14"/>
              </a:rPr>
              <a:t>在产品</a:t>
            </a:r>
            <a:r>
              <a:rPr lang="zh-CN" altLang="en-US" dirty="0"/>
              <a:t>研发领域具有协作关系的企业之间的，支持产品</a:t>
            </a:r>
            <a:r>
              <a:rPr lang="zh-CN" altLang="en-US" sz="1200" u="none" strike="noStrike" kern="1200" dirty="0">
                <a:solidFill>
                  <a:schemeClr val="tx1"/>
                </a:solidFill>
                <a:effectLst/>
                <a:latin typeface="+mn-lt"/>
                <a:ea typeface="+mn-ea"/>
                <a:cs typeface="+mn-cs"/>
                <a:hlinkClick r:id="rId8"/>
              </a:rPr>
              <a:t>全生命周期</a:t>
            </a:r>
            <a:r>
              <a:rPr lang="zh-CN" altLang="en-US" dirty="0"/>
              <a:t>的信息的创建、管理、分发和应用的一系列应用解决方案，它能够集成与产品相关的</a:t>
            </a:r>
            <a:r>
              <a:rPr lang="zh-CN" altLang="en-US" sz="1200" u="none" strike="noStrike" kern="1200" dirty="0">
                <a:solidFill>
                  <a:schemeClr val="tx1"/>
                </a:solidFill>
                <a:effectLst/>
                <a:latin typeface="+mn-lt"/>
                <a:ea typeface="+mn-ea"/>
                <a:cs typeface="+mn-cs"/>
                <a:hlinkClick r:id="rId15"/>
              </a:rPr>
              <a:t>人力资源</a:t>
            </a:r>
            <a:r>
              <a:rPr lang="zh-CN" altLang="en-US" dirty="0"/>
              <a:t>、流程、应用系统和信息。</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18</a:t>
            </a:fld>
            <a:endParaRPr lang="zh-CN" altLang="en-US"/>
          </a:p>
        </p:txBody>
      </p:sp>
    </p:spTree>
    <p:extLst>
      <p:ext uri="{BB962C8B-B14F-4D97-AF65-F5344CB8AC3E}">
        <p14:creationId xmlns:p14="http://schemas.microsoft.com/office/powerpoint/2010/main" val="1663652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业务流程自动化（</a:t>
            </a:r>
            <a:r>
              <a:rPr lang="en-US" altLang="zh-CN" sz="1200" b="0" i="0" kern="1200" dirty="0">
                <a:solidFill>
                  <a:schemeClr val="tx1"/>
                </a:solidFill>
                <a:effectLst/>
                <a:latin typeface="+mn-lt"/>
                <a:ea typeface="+mn-ea"/>
                <a:cs typeface="+mn-cs"/>
              </a:rPr>
              <a:t>BPA</a:t>
            </a:r>
            <a:r>
              <a:rPr lang="zh-CN" altLang="en-US" sz="1200" b="0" i="0" kern="1200" dirty="0">
                <a:solidFill>
                  <a:schemeClr val="tx1"/>
                </a:solidFill>
                <a:effectLst/>
                <a:latin typeface="+mn-lt"/>
                <a:ea typeface="+mn-ea"/>
                <a:cs typeface="+mn-cs"/>
              </a:rPr>
              <a:t>）是利用技术对完成一种特别功能或工作流的活动或服务进行自动化。业务流程可以根据公司活动的很多不同的部分确定，包括销售、管理、运营、供应链、人力资源和信息技术。</a:t>
            </a:r>
          </a:p>
          <a:p>
            <a:r>
              <a:rPr lang="zh-CN" altLang="en-US" sz="1200" b="0" i="0" kern="1200" dirty="0">
                <a:solidFill>
                  <a:schemeClr val="tx1"/>
                </a:solidFill>
                <a:effectLst/>
                <a:latin typeface="+mn-lt"/>
                <a:ea typeface="+mn-ea"/>
                <a:cs typeface="+mn-cs"/>
              </a:rPr>
              <a:t>　　业务流程通常由一个触发器开始，例如填写费用报告，而这又需要一套预先确定好的工作流步骤，或流程，最后以员工的款项而结束。</a:t>
            </a:r>
            <a:r>
              <a:rPr lang="en-US" altLang="zh-CN" sz="1200" b="0" i="0" kern="1200" dirty="0">
                <a:solidFill>
                  <a:schemeClr val="tx1"/>
                </a:solidFill>
                <a:effectLst/>
                <a:latin typeface="+mn-lt"/>
                <a:ea typeface="+mn-ea"/>
                <a:cs typeface="+mn-cs"/>
              </a:rPr>
              <a:t>BPA</a:t>
            </a:r>
            <a:r>
              <a:rPr lang="zh-CN" altLang="en-US" sz="1200" b="0" i="0" kern="1200" dirty="0">
                <a:solidFill>
                  <a:schemeClr val="tx1"/>
                </a:solidFill>
                <a:effectLst/>
                <a:latin typeface="+mn-lt"/>
                <a:ea typeface="+mn-ea"/>
                <a:cs typeface="+mn-cs"/>
              </a:rPr>
              <a:t>的目标不只是自动化业务流程，而且还要简化和改善业务工作流。</a:t>
            </a:r>
            <a:r>
              <a:rPr lang="en-US" altLang="zh-CN" sz="1200" b="0" i="0" kern="1200" dirty="0">
                <a:solidFill>
                  <a:schemeClr val="tx1"/>
                </a:solidFill>
                <a:effectLst/>
                <a:latin typeface="+mn-lt"/>
                <a:ea typeface="+mn-ea"/>
                <a:cs typeface="+mn-cs"/>
              </a:rPr>
              <a:t>BPA</a:t>
            </a:r>
            <a:r>
              <a:rPr lang="zh-CN" altLang="en-US" sz="1200" b="0" i="0" kern="1200" dirty="0">
                <a:solidFill>
                  <a:schemeClr val="tx1"/>
                </a:solidFill>
                <a:effectLst/>
                <a:latin typeface="+mn-lt"/>
                <a:ea typeface="+mn-ea"/>
                <a:cs typeface="+mn-cs"/>
              </a:rPr>
              <a:t>可以是一个大型的重要的业务流程管理（</a:t>
            </a:r>
            <a:r>
              <a:rPr lang="en-US" altLang="zh-CN" sz="1200" b="0" i="0" kern="1200" dirty="0">
                <a:solidFill>
                  <a:schemeClr val="tx1"/>
                </a:solidFill>
                <a:effectLst/>
                <a:latin typeface="+mn-lt"/>
                <a:ea typeface="+mn-ea"/>
                <a:cs typeface="+mn-cs"/>
              </a:rPr>
              <a:t>BPM</a:t>
            </a:r>
            <a:r>
              <a:rPr lang="zh-CN" altLang="en-US" sz="1200" b="0" i="0" kern="1200" dirty="0">
                <a:solidFill>
                  <a:schemeClr val="tx1"/>
                </a:solidFill>
                <a:effectLst/>
                <a:latin typeface="+mn-lt"/>
                <a:ea typeface="+mn-ea"/>
                <a:cs typeface="+mn-cs"/>
              </a:rPr>
              <a:t>）策略的单独的一部分。</a:t>
            </a:r>
          </a:p>
          <a:p>
            <a:r>
              <a:rPr lang="zh-CN" altLang="en-US" sz="1200" b="0" i="0" kern="1200" dirty="0">
                <a:solidFill>
                  <a:schemeClr val="tx1"/>
                </a:solidFill>
                <a:effectLst/>
                <a:latin typeface="+mn-lt"/>
                <a:ea typeface="+mn-ea"/>
                <a:cs typeface="+mn-cs"/>
              </a:rPr>
              <a:t>　　在业务流程管理（</a:t>
            </a:r>
            <a:r>
              <a:rPr lang="en-US" altLang="zh-CN" sz="1200" b="0" i="0" kern="1200" dirty="0">
                <a:solidFill>
                  <a:schemeClr val="tx1"/>
                </a:solidFill>
                <a:effectLst/>
                <a:latin typeface="+mn-lt"/>
                <a:ea typeface="+mn-ea"/>
                <a:cs typeface="+mn-cs"/>
              </a:rPr>
              <a:t>BPM</a:t>
            </a:r>
            <a:r>
              <a:rPr lang="zh-CN" altLang="en-US" sz="1200" b="0" i="0" kern="1200" dirty="0">
                <a:solidFill>
                  <a:schemeClr val="tx1"/>
                </a:solidFill>
                <a:effectLst/>
                <a:latin typeface="+mn-lt"/>
                <a:ea typeface="+mn-ea"/>
                <a:cs typeface="+mn-cs"/>
              </a:rPr>
              <a:t>）中，自动化的业务流程可以协作管理来改善机构整体的工作流，以实现更高的效率，用以改变业务需要，减少人为错误并明晰工作角色和责任。</a:t>
            </a:r>
            <a:r>
              <a:rPr lang="en-US" altLang="zh-CN" sz="1200" b="0" i="0" kern="1200" dirty="0">
                <a:solidFill>
                  <a:schemeClr val="tx1"/>
                </a:solidFill>
                <a:effectLst/>
                <a:latin typeface="+mn-lt"/>
                <a:ea typeface="+mn-ea"/>
                <a:cs typeface="+mn-cs"/>
              </a:rPr>
              <a:t>BPM</a:t>
            </a:r>
            <a:r>
              <a:rPr lang="zh-CN" altLang="en-US" sz="1200" b="0" i="0" kern="1200" dirty="0">
                <a:solidFill>
                  <a:schemeClr val="tx1"/>
                </a:solidFill>
                <a:effectLst/>
                <a:latin typeface="+mn-lt"/>
                <a:ea typeface="+mn-ea"/>
                <a:cs typeface="+mn-cs"/>
              </a:rPr>
              <a:t>自己是基础架构管理的一个子部分，而基础架构管理是用于维护和优化机构的核心运营组建，例如流程、设备和数据。</a:t>
            </a:r>
          </a:p>
          <a:p>
            <a:r>
              <a:rPr lang="zh-CN" altLang="en-US" sz="1200" b="0" i="0" kern="1200" dirty="0">
                <a:solidFill>
                  <a:schemeClr val="tx1"/>
                </a:solidFill>
                <a:effectLst/>
                <a:latin typeface="+mn-lt"/>
                <a:ea typeface="+mn-ea"/>
                <a:cs typeface="+mn-cs"/>
              </a:rPr>
              <a:t>业务流程管理是一种方法论，通过</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个阶段的工作来帮助企业提升端到端的业务流程：设计、建模、执行、监控和优化。通常其由定义流程中的各个步骤开始；而后对带来价值的环节进行提升，整合或者去除其他环节；最后调整电子工作流以适应业务规范。</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20</a:t>
            </a:fld>
            <a:endParaRPr lang="zh-CN" altLang="en-US"/>
          </a:p>
        </p:txBody>
      </p:sp>
    </p:spTree>
    <p:extLst>
      <p:ext uri="{BB962C8B-B14F-4D97-AF65-F5344CB8AC3E}">
        <p14:creationId xmlns:p14="http://schemas.microsoft.com/office/powerpoint/2010/main" val="2313535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21</a:t>
            </a:fld>
            <a:endParaRPr lang="zh-CN" altLang="en-US"/>
          </a:p>
        </p:txBody>
      </p:sp>
    </p:spTree>
    <p:extLst>
      <p:ext uri="{BB962C8B-B14F-4D97-AF65-F5344CB8AC3E}">
        <p14:creationId xmlns:p14="http://schemas.microsoft.com/office/powerpoint/2010/main" val="672666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应用集成有三个目标，</a:t>
            </a:r>
            <a:endParaRPr lang="en-US" altLang="zh-C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首先是对存储于不同应用系统中的数据提供访问接口，这些信息由不同的应用系统来管理，并且可能存在着格式差异；</a:t>
            </a:r>
            <a:endParaRPr lang="en-US" altLang="zh-C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其次是在各个应用系统中的信息发生变化时保证相关信息之间的依赖关系和约束条件；</a:t>
            </a:r>
            <a:endParaRPr lang="en-US" altLang="zh-C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最后是使得不同系统中管理数据的程序可以互操作，互相调用获取数据或者实施服务。</a:t>
            </a: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24</a:t>
            </a:fld>
            <a:endParaRPr lang="zh-CN" altLang="en-US"/>
          </a:p>
        </p:txBody>
      </p:sp>
    </p:spTree>
    <p:extLst>
      <p:ext uri="{BB962C8B-B14F-4D97-AF65-F5344CB8AC3E}">
        <p14:creationId xmlns:p14="http://schemas.microsoft.com/office/powerpoint/2010/main" val="35047434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）能提供应用间的互操作性：应用的互操作性不仅提供不同系统间信息的有意义交换，而且还提供系统间功能服务的方便使用，特别是资源的动态发现和动态类型检查。</a:t>
            </a: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能提供分布式环境中应用的可移植性：提供应用程序在系统中迁移的潜力并且不会破坏应用所提供的或正在使用的服务。这种迁移包括静态的系统重新部署以及动态的系统重构。</a:t>
            </a: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）能提供系统中应用分布的透明性：分布的透明性屏蔽了由系统分布所带来的复杂性。分布的透明性使应用实现者不必过于关心系统的实现细节，从而大大减少应用集成编程的复杂性。</a:t>
            </a:r>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26</a:t>
            </a:fld>
            <a:endParaRPr lang="zh-CN" altLang="en-US"/>
          </a:p>
        </p:txBody>
      </p:sp>
    </p:spTree>
    <p:extLst>
      <p:ext uri="{BB962C8B-B14F-4D97-AF65-F5344CB8AC3E}">
        <p14:creationId xmlns:p14="http://schemas.microsoft.com/office/powerpoint/2010/main" val="2415124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世纪</a:t>
            </a:r>
            <a:r>
              <a:rPr lang="en-US" altLang="zh-CN" sz="1200" kern="1200" dirty="0">
                <a:solidFill>
                  <a:schemeClr val="tx1"/>
                </a:solidFill>
                <a:effectLst/>
                <a:latin typeface="+mn-lt"/>
                <a:ea typeface="+mn-ea"/>
                <a:cs typeface="+mn-cs"/>
              </a:rPr>
              <a:t>80</a:t>
            </a:r>
            <a:r>
              <a:rPr lang="zh-CN" altLang="zh-CN" sz="1200" kern="1200" dirty="0">
                <a:solidFill>
                  <a:schemeClr val="tx1"/>
                </a:solidFill>
                <a:effectLst/>
                <a:latin typeface="+mn-lt"/>
                <a:ea typeface="+mn-ea"/>
                <a:cs typeface="+mn-cs"/>
              </a:rPr>
              <a:t>年代，企业规模开始扩大，企业业务和数据日趋复杂，一些公司开始意识到应用集成的价值和必要性</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很多公司的技术人员试图在企业系统整体概念的指导下对已经存在的应用进行重新设计，以便将它们集成在一起。此时点到点</a:t>
            </a:r>
            <a:r>
              <a:rPr lang="en-US" altLang="zh-CN" sz="1200" kern="1200" dirty="0">
                <a:solidFill>
                  <a:schemeClr val="tx1"/>
                </a:solidFill>
                <a:effectLst/>
                <a:latin typeface="+mn-lt"/>
                <a:ea typeface="+mn-ea"/>
                <a:cs typeface="+mn-cs"/>
              </a:rPr>
              <a:t>(point-to-point)</a:t>
            </a:r>
            <a:r>
              <a:rPr lang="zh-CN" altLang="zh-CN" sz="1200" kern="1200" dirty="0">
                <a:solidFill>
                  <a:schemeClr val="tx1"/>
                </a:solidFill>
                <a:effectLst/>
                <a:latin typeface="+mn-lt"/>
                <a:ea typeface="+mn-ea"/>
                <a:cs typeface="+mn-cs"/>
              </a:rPr>
              <a:t>的集成技术开始出现，在各个应用系统之间通过各自不同的接口进行点到点的简单连接，实现信息和数据的共享。</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企业迫切需要新的集成方法：可以少写代码，无须巨额花费，就可以将各种旧的应用系统和新的系统集成起来。</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20</a:t>
            </a:r>
            <a:r>
              <a:rPr lang="zh-CN" altLang="zh-CN" sz="1200" kern="1200" dirty="0">
                <a:solidFill>
                  <a:schemeClr val="tx1"/>
                </a:solidFill>
                <a:effectLst/>
                <a:latin typeface="+mn-lt"/>
                <a:ea typeface="+mn-ea"/>
                <a:cs typeface="+mn-cs"/>
              </a:rPr>
              <a:t>世纪</a:t>
            </a:r>
            <a:r>
              <a:rPr lang="en-US" altLang="zh-CN" sz="1200" kern="1200" dirty="0">
                <a:solidFill>
                  <a:schemeClr val="tx1"/>
                </a:solidFill>
                <a:effectLst/>
                <a:latin typeface="+mn-lt"/>
                <a:ea typeface="+mn-ea"/>
                <a:cs typeface="+mn-cs"/>
              </a:rPr>
              <a:t>90</a:t>
            </a:r>
            <a:r>
              <a:rPr lang="zh-CN" altLang="zh-CN" sz="1200" kern="1200" dirty="0">
                <a:solidFill>
                  <a:schemeClr val="tx1"/>
                </a:solidFill>
                <a:effectLst/>
                <a:latin typeface="+mn-lt"/>
                <a:ea typeface="+mn-ea"/>
                <a:cs typeface="+mn-cs"/>
              </a:rPr>
              <a:t>年代中后期，</a:t>
            </a:r>
            <a:r>
              <a:rPr lang="en-US" altLang="zh-CN" sz="1200" kern="1200" dirty="0">
                <a:solidFill>
                  <a:schemeClr val="tx1"/>
                </a:solidFill>
                <a:effectLst/>
                <a:latin typeface="+mn-lt"/>
                <a:ea typeface="+mn-ea"/>
                <a:cs typeface="+mn-cs"/>
              </a:rPr>
              <a:t>ERP</a:t>
            </a:r>
            <a:r>
              <a:rPr lang="zh-CN" altLang="zh-CN" sz="1200" kern="1200" dirty="0">
                <a:solidFill>
                  <a:schemeClr val="tx1"/>
                </a:solidFill>
                <a:effectLst/>
                <a:latin typeface="+mn-lt"/>
                <a:ea typeface="+mn-ea"/>
                <a:cs typeface="+mn-cs"/>
              </a:rPr>
              <a:t>开始流行起来，企业快速发展与电子商务结合对应用集成解决方案提出了更高的标准，仅仅局限于信息共享的集成技术无法实现企业业务流程自动处理、管理与监控。</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27</a:t>
            </a:fld>
            <a:endParaRPr lang="zh-CN" altLang="en-US"/>
          </a:p>
        </p:txBody>
      </p:sp>
    </p:spTree>
    <p:extLst>
      <p:ext uri="{BB962C8B-B14F-4D97-AF65-F5344CB8AC3E}">
        <p14:creationId xmlns:p14="http://schemas.microsoft.com/office/powerpoint/2010/main" val="22802256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随着全球经济一体化和企业之间竞争的日益加剧 </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企业内 部跨业务部门的横向业务集成和横跨业务伙伴之间的企业间业 务流程集成 </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已经成为当今企业关注的焦点之一 。</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跨公司的商务交易集成通常叫做</a:t>
            </a:r>
            <a:r>
              <a:rPr lang="en-US" altLang="zh-CN" sz="1200" b="0" i="0" kern="1200" dirty="0">
                <a:solidFill>
                  <a:schemeClr val="tx1"/>
                </a:solidFill>
                <a:effectLst/>
                <a:latin typeface="+mn-lt"/>
                <a:ea typeface="+mn-ea"/>
                <a:cs typeface="+mn-cs"/>
              </a:rPr>
              <a:t>B2B</a:t>
            </a:r>
            <a:r>
              <a:rPr lang="zh-CN" altLang="en-US" sz="1200" b="0" i="0" kern="1200" dirty="0">
                <a:solidFill>
                  <a:schemeClr val="tx1"/>
                </a:solidFill>
                <a:effectLst/>
                <a:latin typeface="+mn-lt"/>
                <a:ea typeface="+mn-ea"/>
                <a:cs typeface="+mn-cs"/>
              </a:rPr>
              <a:t>集成。各企业可以采用</a:t>
            </a:r>
            <a:r>
              <a:rPr lang="en-US" altLang="zh-CN" sz="1200" b="0" i="0" kern="1200" dirty="0">
                <a:solidFill>
                  <a:schemeClr val="tx1"/>
                </a:solidFill>
                <a:effectLst/>
                <a:latin typeface="+mn-lt"/>
                <a:ea typeface="+mn-ea"/>
                <a:cs typeface="+mn-cs"/>
              </a:rPr>
              <a:t>Web</a:t>
            </a:r>
            <a:r>
              <a:rPr lang="zh-CN" altLang="en-US" sz="1200" b="0" i="0" kern="1200" dirty="0">
                <a:solidFill>
                  <a:schemeClr val="tx1"/>
                </a:solidFill>
                <a:effectLst/>
                <a:latin typeface="+mn-lt"/>
                <a:ea typeface="+mn-ea"/>
                <a:cs typeface="+mn-cs"/>
              </a:rPr>
              <a:t>服务与其他企业进行通信。通过</a:t>
            </a:r>
            <a:r>
              <a:rPr lang="en-US" altLang="zh-CN" sz="1200" b="0" i="0" kern="1200" dirty="0">
                <a:solidFill>
                  <a:schemeClr val="tx1"/>
                </a:solidFill>
                <a:effectLst/>
                <a:latin typeface="+mn-lt"/>
                <a:ea typeface="+mn-ea"/>
                <a:cs typeface="+mn-cs"/>
              </a:rPr>
              <a:t>Web</a:t>
            </a:r>
            <a:r>
              <a:rPr lang="zh-CN" altLang="en-US" sz="1200" b="0" i="0" kern="1200" dirty="0">
                <a:solidFill>
                  <a:schemeClr val="tx1"/>
                </a:solidFill>
                <a:effectLst/>
                <a:latin typeface="+mn-lt"/>
                <a:ea typeface="+mn-ea"/>
                <a:cs typeface="+mn-cs"/>
              </a:rPr>
              <a:t>服务能够将数据及应用程序的集成扩展到公司的防火墙之外，使公司能够与其伙伴、供应商、发行商和客户共享数据和商业过程，从而加强企业之间的合作关系。</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29</a:t>
            </a:fld>
            <a:endParaRPr lang="zh-CN" altLang="en-US"/>
          </a:p>
        </p:txBody>
      </p:sp>
    </p:spTree>
    <p:extLst>
      <p:ext uri="{BB962C8B-B14F-4D97-AF65-F5344CB8AC3E}">
        <p14:creationId xmlns:p14="http://schemas.microsoft.com/office/powerpoint/2010/main" val="4717517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9F323A7A-4D47-41DF-8E8C-8A61A48C1D82}" type="slidenum">
              <a:rPr lang="en-US" altLang="zh-CN">
                <a:ea typeface="宋体" charset="-122"/>
              </a:rPr>
              <a:pPr/>
              <a:t>38</a:t>
            </a:fld>
            <a:endParaRPr lang="en-US" altLang="zh-CN">
              <a:ea typeface="宋体" charset="-122"/>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eaLnBrk="1" hangingPunct="1"/>
            <a:r>
              <a:rPr lang="en-US" altLang="zh-CN">
                <a:ea typeface="宋体" charset="-122"/>
              </a:rPr>
              <a:t>RPC</a:t>
            </a:r>
          </a:p>
        </p:txBody>
      </p:sp>
    </p:spTree>
    <p:extLst>
      <p:ext uri="{BB962C8B-B14F-4D97-AF65-F5344CB8AC3E}">
        <p14:creationId xmlns:p14="http://schemas.microsoft.com/office/powerpoint/2010/main" val="30518862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p>
            <a:fld id="{4A57154D-BB86-4BDE-B012-F45B222F6ED0}" type="slidenum">
              <a:rPr lang="en-US" altLang="zh-CN">
                <a:ea typeface="宋体" charset="-122"/>
              </a:rPr>
              <a:pPr/>
              <a:t>42</a:t>
            </a:fld>
            <a:endParaRPr lang="en-US" altLang="zh-CN">
              <a:ea typeface="宋体" charset="-122"/>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p:spPr>
        <p:txBody>
          <a:bodyPr/>
          <a:lstStyle/>
          <a:p>
            <a:pPr eaLnBrk="1" hangingPunct="1"/>
            <a:r>
              <a:rPr lang="en-US" altLang="zh-CN">
                <a:ea typeface="宋体" charset="-122"/>
              </a:rPr>
              <a:t>RPC</a:t>
            </a:r>
          </a:p>
        </p:txBody>
      </p:sp>
    </p:spTree>
    <p:extLst>
      <p:ext uri="{BB962C8B-B14F-4D97-AF65-F5344CB8AC3E}">
        <p14:creationId xmlns:p14="http://schemas.microsoft.com/office/powerpoint/2010/main" val="16011478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AEC22491-CE6D-4826-9427-DE86A9C4450E}" type="slidenum">
              <a:rPr lang="en-US" altLang="zh-CN">
                <a:ea typeface="宋体" charset="-122"/>
              </a:rPr>
              <a:pPr/>
              <a:t>47</a:t>
            </a:fld>
            <a:endParaRPr lang="en-US" altLang="zh-CN">
              <a:ea typeface="宋体" charset="-122"/>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r>
              <a:rPr lang="en-US" altLang="zh-CN">
                <a:ea typeface="宋体" charset="-122"/>
              </a:rPr>
              <a:t>RPC</a:t>
            </a:r>
          </a:p>
        </p:txBody>
      </p:sp>
    </p:spTree>
    <p:extLst>
      <p:ext uri="{BB962C8B-B14F-4D97-AF65-F5344CB8AC3E}">
        <p14:creationId xmlns:p14="http://schemas.microsoft.com/office/powerpoint/2010/main" val="4159596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51</a:t>
            </a:fld>
            <a:endParaRPr lang="zh-CN" altLang="en-US"/>
          </a:p>
        </p:txBody>
      </p:sp>
    </p:spTree>
    <p:extLst>
      <p:ext uri="{BB962C8B-B14F-4D97-AF65-F5344CB8AC3E}">
        <p14:creationId xmlns:p14="http://schemas.microsoft.com/office/powerpoint/2010/main" val="309070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在这些网站中，通常会看到的一种形式是，让你填写一些个人信息</a:t>
            </a:r>
            <a:r>
              <a:rPr lang="en-US" altLang="zh-CN" dirty="0"/>
              <a:t>(</a:t>
            </a:r>
            <a:r>
              <a:rPr lang="zh-CN" altLang="en-US" dirty="0"/>
              <a:t>例如，职位、工作所在地、期望的工资水平</a:t>
            </a:r>
            <a:r>
              <a:rPr lang="en-US" altLang="zh-CN" dirty="0"/>
              <a:t>)</a:t>
            </a:r>
          </a:p>
          <a:p>
            <a:r>
              <a:rPr lang="zh-CN" altLang="en-US" dirty="0"/>
              <a:t>每个网站要填的信息略有不同。例如左侧</a:t>
            </a:r>
            <a:r>
              <a:rPr lang="en-US" altLang="zh-CN" dirty="0"/>
              <a:t>Monster</a:t>
            </a:r>
            <a:r>
              <a:rPr lang="zh-CN" altLang="en-US" dirty="0"/>
              <a:t>网站要求填写与工作相关的关键字、工作地点、公司、行业和工作类别，</a:t>
            </a:r>
            <a:endParaRPr lang="en-US" altLang="zh-CN" dirty="0"/>
          </a:p>
          <a:p>
            <a:r>
              <a:rPr lang="zh-CN" altLang="en-US" dirty="0"/>
              <a:t>而右侧</a:t>
            </a:r>
            <a:r>
              <a:rPr lang="en-US" altLang="zh-CN" dirty="0"/>
              <a:t>CareerBuilder</a:t>
            </a:r>
            <a:r>
              <a:rPr lang="zh-CN" altLang="en-US" dirty="0"/>
              <a:t>网站则允许你从一些选项菜单中选择几个工作地点和工作类别，并可以让你进一步指定薪水范围。</a:t>
            </a:r>
          </a:p>
          <a:p>
            <a:r>
              <a:rPr lang="zh-CN" altLang="en-US" dirty="0"/>
              <a:t>理想情况下，只需要访问一个网站，在上面发布一个查询，让这个网站帮助你整合所有相关网站中的数据。</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52</a:t>
            </a:fld>
            <a:endParaRPr lang="zh-CN" altLang="en-US"/>
          </a:p>
        </p:txBody>
      </p:sp>
    </p:spTree>
    <p:extLst>
      <p:ext uri="{BB962C8B-B14F-4D97-AF65-F5344CB8AC3E}">
        <p14:creationId xmlns:p14="http://schemas.microsoft.com/office/powerpoint/2010/main" val="23156297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u="none" strike="noStrike" kern="1200" dirty="0">
                <a:solidFill>
                  <a:schemeClr val="tx1"/>
                </a:solidFill>
                <a:effectLst/>
                <a:latin typeface="+mn-lt"/>
                <a:ea typeface="+mn-ea"/>
                <a:cs typeface="+mn-cs"/>
              </a:rPr>
              <a:t>零售公司以几种关键方式使用该技术，其中最重要的是优化客户体验。该行业的中小型企业可以通过汇总来自网络资源的数据来了解客户对他们的产品及其整体品牌的感觉。这样一来，他们便可以调整产品，并在成为主要问题之前解决较小的问题，监控竞争对手的定价有助于企业主转换更多的线索并保留更大比例的客户群。</a:t>
            </a:r>
            <a:endParaRPr lang="en-US" altLang="zh-CN" sz="1200" b="0" i="0" u="none" strike="noStrike" kern="1200" dirty="0">
              <a:solidFill>
                <a:schemeClr val="tx1"/>
              </a:solidFill>
              <a:effectLst/>
              <a:latin typeface="+mn-lt"/>
              <a:ea typeface="+mn-ea"/>
              <a:cs typeface="+mn-cs"/>
            </a:endParaRPr>
          </a:p>
          <a:p>
            <a:r>
              <a:rPr lang="zh-CN" altLang="en-US" sz="1200" b="0" i="0" u="none" strike="noStrike" kern="1200" dirty="0">
                <a:solidFill>
                  <a:schemeClr val="tx1"/>
                </a:solidFill>
                <a:effectLst/>
                <a:latin typeface="+mn-lt"/>
                <a:ea typeface="+mn-ea"/>
                <a:cs typeface="+mn-cs"/>
              </a:rPr>
              <a:t>另一个例子是金融业，其中</a:t>
            </a:r>
            <a:r>
              <a:rPr lang="en-US" altLang="zh-CN" sz="1200" b="0" i="0" u="none" strike="noStrike" kern="1200" dirty="0">
                <a:solidFill>
                  <a:schemeClr val="tx1"/>
                </a:solidFill>
                <a:effectLst/>
                <a:latin typeface="+mn-lt"/>
                <a:ea typeface="+mn-ea"/>
                <a:cs typeface="+mn-cs"/>
              </a:rPr>
              <a:t>Web</a:t>
            </a:r>
            <a:r>
              <a:rPr lang="zh-CN" altLang="en-US" sz="1200" b="0" i="0" u="none" strike="noStrike" kern="1200" dirty="0">
                <a:solidFill>
                  <a:schemeClr val="tx1"/>
                </a:solidFill>
                <a:effectLst/>
                <a:latin typeface="+mn-lt"/>
                <a:ea typeface="+mn-ea"/>
                <a:cs typeface="+mn-cs"/>
              </a:rPr>
              <a:t>数据集成使访问各种替代数据（例如财务报表，公共记录，甚至卫星图像）成为可能，从而做出更好的贷款决策，例如贷方通常使用财务报表来确定企业的发展轨迹，并查看他们将承受多少风险。至于卫星图像，贷方可以分析停车场的图像，以查看企业获得多少人流。如果停车场通常是空的，那就意味着它可能做得很好，反之亦然</a:t>
            </a:r>
            <a:endParaRPr lang="en-US" altLang="zh-CN" sz="1200" b="0" i="0" u="none" strike="noStrike"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企业需要数据才能蓬勃发展。高质量数据可为企业提供关键见解，并在很大程度上影响其决策制定。尽管企业的许多数据都来自内部来源，例如</a:t>
            </a:r>
            <a:r>
              <a:rPr lang="en-US" altLang="zh-CN" sz="1200" b="0" i="0" kern="1200" dirty="0">
                <a:solidFill>
                  <a:schemeClr val="tx1"/>
                </a:solidFill>
                <a:effectLst/>
                <a:latin typeface="+mn-lt"/>
                <a:ea typeface="+mn-ea"/>
                <a:cs typeface="+mn-cs"/>
              </a:rPr>
              <a:t>CRM</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ERP</a:t>
            </a:r>
            <a:r>
              <a:rPr lang="zh-CN" altLang="en-US" sz="1200" b="0" i="0" kern="1200" dirty="0">
                <a:solidFill>
                  <a:schemeClr val="tx1"/>
                </a:solidFill>
                <a:effectLst/>
                <a:latin typeface="+mn-lt"/>
                <a:ea typeface="+mn-ea"/>
                <a:cs typeface="+mn-cs"/>
              </a:rPr>
              <a:t>软件，但更多的还是来自网络外部。实际上，</a:t>
            </a:r>
            <a:r>
              <a:rPr lang="en-US" altLang="zh-CN" sz="1200" b="0" i="0" kern="1200" dirty="0">
                <a:solidFill>
                  <a:schemeClr val="tx1"/>
                </a:solidFill>
                <a:effectLst/>
                <a:latin typeface="+mn-lt"/>
                <a:ea typeface="+mn-ea"/>
                <a:cs typeface="+mn-cs"/>
              </a:rPr>
              <a:t>Web</a:t>
            </a:r>
            <a:r>
              <a:rPr lang="zh-CN" altLang="en-US" sz="1200" b="0" i="0" kern="1200" dirty="0">
                <a:solidFill>
                  <a:schemeClr val="tx1"/>
                </a:solidFill>
                <a:effectLst/>
                <a:latin typeface="+mn-lt"/>
                <a:ea typeface="+mn-ea"/>
                <a:cs typeface="+mn-cs"/>
              </a:rPr>
              <a:t>是最大的数据存储库。</a:t>
            </a:r>
          </a:p>
          <a:p>
            <a:r>
              <a:rPr lang="zh-CN" altLang="en-US" sz="1200" b="0" i="0" kern="1200" dirty="0">
                <a:solidFill>
                  <a:schemeClr val="tx1"/>
                </a:solidFill>
                <a:effectLst/>
                <a:latin typeface="+mn-lt"/>
                <a:ea typeface="+mn-ea"/>
                <a:cs typeface="+mn-cs"/>
              </a:rPr>
              <a:t>数据世界中的整体数据量已显著增长，并且没有放缓的迹象，它的规模每两年翻一番。</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53</a:t>
            </a:fld>
            <a:endParaRPr lang="zh-CN" altLang="en-US"/>
          </a:p>
        </p:txBody>
      </p:sp>
    </p:spTree>
    <p:extLst>
      <p:ext uri="{BB962C8B-B14F-4D97-AF65-F5344CB8AC3E}">
        <p14:creationId xmlns:p14="http://schemas.microsoft.com/office/powerpoint/2010/main" val="14489508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mn-lt"/>
                <a:ea typeface="+mn-ea"/>
                <a:cs typeface="+mn-cs"/>
              </a:rPr>
              <a:t>在消息传递集成方法中，发送器产生消息，消息中包括预期的操作信息和完成操作所需要的数据。消息既包括控制信息，也包括数据，这种操作和数据的结合给接收器提供了数据环境。例如，消息中可能包括账户号</a:t>
            </a:r>
            <a:r>
              <a:rPr lang="en-US" altLang="zh-CN" sz="1200" kern="1200" dirty="0">
                <a:solidFill>
                  <a:schemeClr val="tx1"/>
                </a:solidFill>
                <a:effectLst/>
                <a:latin typeface="+mn-lt"/>
                <a:ea typeface="+mn-ea"/>
                <a:cs typeface="+mn-cs"/>
              </a:rPr>
              <a:t>023323</a:t>
            </a:r>
            <a:r>
              <a:rPr lang="zh-CN" altLang="zh-CN" sz="1200" kern="1200" dirty="0">
                <a:solidFill>
                  <a:schemeClr val="tx1"/>
                </a:solidFill>
                <a:effectLst/>
                <a:latin typeface="+mn-lt"/>
                <a:ea typeface="+mn-ea"/>
                <a:cs typeface="+mn-cs"/>
              </a:rPr>
              <a:t>，纯粹的数据几乎没有什么意义，但如果加上余额查询这个操作，那么应用软件就能使用这条信息了。消息传递中构造、使用、处理数据的方式很容易理解。数据与控制信息的结合对它们的使用相当重要，因为这降低了不同应用软件间的耦合程度。消息中包含了所有需要的信息，但是，发送器和接收器对消息的编码与解码方式必须完全相同，任何格式上的不一致都会使应用软件误解信息和操作从而导致混乱。</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54</a:t>
            </a:fld>
            <a:endParaRPr lang="zh-CN" altLang="en-US"/>
          </a:p>
        </p:txBody>
      </p:sp>
    </p:spTree>
    <p:extLst>
      <p:ext uri="{BB962C8B-B14F-4D97-AF65-F5344CB8AC3E}">
        <p14:creationId xmlns:p14="http://schemas.microsoft.com/office/powerpoint/2010/main" val="26027466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数百万的表由不同的人用上百种语言来创建</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55</a:t>
            </a:fld>
            <a:endParaRPr lang="zh-CN" altLang="en-US"/>
          </a:p>
        </p:txBody>
      </p:sp>
    </p:spTree>
    <p:extLst>
      <p:ext uri="{BB962C8B-B14F-4D97-AF65-F5344CB8AC3E}">
        <p14:creationId xmlns:p14="http://schemas.microsoft.com/office/powerpoint/2010/main" val="35459018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人天生有这样的特点，即当两个人面对完全相同的数据库应用需求时，他们会设计出非常不同的数据库模式。因此，当数据来自多个数据源时，其差别是不可避免的。</a:t>
            </a:r>
            <a:endParaRPr lang="en-US" altLang="zh-CN" dirty="0"/>
          </a:p>
          <a:p>
            <a:r>
              <a:rPr lang="zh-CN" altLang="en-US" dirty="0"/>
              <a:t>人的这种本性对于数据库专家来说并不陌生，而且还常被用来检测数据库作假。</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56</a:t>
            </a:fld>
            <a:endParaRPr lang="zh-CN" altLang="en-US"/>
          </a:p>
        </p:txBody>
      </p:sp>
    </p:spTree>
    <p:extLst>
      <p:ext uri="{BB962C8B-B14F-4D97-AF65-F5344CB8AC3E}">
        <p14:creationId xmlns:p14="http://schemas.microsoft.com/office/powerpoint/2010/main" val="33132264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一个数据源可能是一个完整的</a:t>
            </a:r>
            <a:r>
              <a:rPr lang="en-US" altLang="zh-CN" dirty="0"/>
              <a:t>SQL</a:t>
            </a:r>
            <a:r>
              <a:rPr lang="zh-CN" altLang="en-US" dirty="0"/>
              <a:t>数据库，因此可以接受非常复杂的查询，而另一个数据源可能是一个</a:t>
            </a:r>
            <a:r>
              <a:rPr lang="en-US" altLang="zh-CN" dirty="0"/>
              <a:t>Web</a:t>
            </a:r>
            <a:r>
              <a:rPr lang="zh-CN" altLang="en-US" dirty="0"/>
              <a:t>表单，因此只能提供简单的查询。</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57</a:t>
            </a:fld>
            <a:endParaRPr lang="zh-CN" altLang="en-US"/>
          </a:p>
        </p:txBody>
      </p:sp>
    </p:spTree>
    <p:extLst>
      <p:ext uri="{BB962C8B-B14F-4D97-AF65-F5344CB8AC3E}">
        <p14:creationId xmlns:p14="http://schemas.microsoft.com/office/powerpoint/2010/main" val="13559631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a:t>
            </a:r>
            <a:r>
              <a:rPr lang="en-US" altLang="zh-CN" sz="1200" kern="1200" dirty="0" err="1">
                <a:solidFill>
                  <a:schemeClr val="tx1"/>
                </a:solidFill>
                <a:effectLst/>
                <a:latin typeface="+mn-lt"/>
                <a:ea typeface="+mn-ea"/>
                <a:cs typeface="+mn-cs"/>
              </a:rPr>
              <a:t>EuroCard</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把临时工和全职员工都保存在同一个数据库表中，而</a:t>
            </a:r>
            <a:r>
              <a:rPr lang="en-US" altLang="zh-CN" sz="1200" kern="1200" dirty="0" err="1">
                <a:solidFill>
                  <a:schemeClr val="tx1"/>
                </a:solidFill>
                <a:effectLst/>
                <a:latin typeface="+mn-lt"/>
                <a:ea typeface="+mn-ea"/>
                <a:cs typeface="+mn-cs"/>
              </a:rPr>
              <a:t>FullServe</a:t>
            </a:r>
            <a:r>
              <a:rPr lang="zh-CN" altLang="en-US" sz="1200" kern="1200" dirty="0">
                <a:solidFill>
                  <a:schemeClr val="tx1"/>
                </a:solidFill>
                <a:effectLst/>
                <a:latin typeface="+mn-lt"/>
                <a:ea typeface="+mn-ea"/>
                <a:cs typeface="+mn-cs"/>
              </a:rPr>
              <a:t>用两个表来分别存储这两类数据。这可能是因为</a:t>
            </a:r>
            <a:r>
              <a:rPr lang="en-US" altLang="zh-CN" sz="1200" kern="1200" dirty="0" err="1">
                <a:solidFill>
                  <a:schemeClr val="tx1"/>
                </a:solidFill>
                <a:effectLst/>
                <a:latin typeface="+mn-lt"/>
                <a:ea typeface="+mn-ea"/>
                <a:cs typeface="+mn-cs"/>
              </a:rPr>
              <a:t>FullServe</a:t>
            </a:r>
            <a:r>
              <a:rPr lang="zh-CN" altLang="en-US" sz="1200" kern="1200" dirty="0">
                <a:solidFill>
                  <a:schemeClr val="tx1"/>
                </a:solidFill>
                <a:effectLst/>
                <a:latin typeface="+mn-lt"/>
                <a:ea typeface="+mn-ea"/>
                <a:cs typeface="+mn-cs"/>
              </a:rPr>
              <a:t>把其临时工承包给一个外部机构</a:t>
            </a:r>
            <a:r>
              <a:rPr lang="zh-CN" altLang="en-US" dirty="0"/>
              <a:t>来管理。</a:t>
            </a:r>
            <a:endParaRPr lang="en-US" altLang="zh-CN"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2</a:t>
            </a:r>
            <a:r>
              <a:rPr lang="zh-CN" altLang="en-US" dirty="0"/>
              <a:t>、即使只是对员工的建模，</a:t>
            </a:r>
            <a:r>
              <a:rPr lang="en-US" altLang="zh-CN" dirty="0" err="1"/>
              <a:t>FullServe</a:t>
            </a:r>
            <a:r>
              <a:rPr lang="zh-CN" altLang="en-US" dirty="0"/>
              <a:t>和</a:t>
            </a:r>
            <a:r>
              <a:rPr lang="en-US" altLang="zh-CN" dirty="0" err="1"/>
              <a:t>EuroCard</a:t>
            </a:r>
            <a:r>
              <a:rPr lang="zh-CN" altLang="en-US" dirty="0"/>
              <a:t>使用的属性也并不相同。例如</a:t>
            </a:r>
            <a:r>
              <a:rPr lang="en-US" altLang="zh-CN" dirty="0" err="1"/>
              <a:t>EuroCard</a:t>
            </a:r>
            <a:r>
              <a:rPr lang="zh-CN" altLang="en-US" dirty="0"/>
              <a:t>使用</a:t>
            </a:r>
            <a:r>
              <a:rPr lang="en-US" altLang="zh-CN" dirty="0"/>
              <a:t>ID</a:t>
            </a:r>
            <a:r>
              <a:rPr lang="zh-CN" altLang="en-US" dirty="0"/>
              <a:t>即居民身份证号来确定员工。而</a:t>
            </a:r>
            <a:r>
              <a:rPr lang="en-US" altLang="zh-CN" dirty="0" err="1"/>
              <a:t>FullServe</a:t>
            </a:r>
            <a:r>
              <a:rPr lang="zh-CN" altLang="en-US" dirty="0"/>
              <a:t>不但记录社会保障码，同时也分配一个雇员</a:t>
            </a:r>
            <a:r>
              <a:rPr lang="en-US" altLang="zh-CN" dirty="0"/>
              <a:t>ID(</a:t>
            </a:r>
            <a:r>
              <a:rPr lang="zh-CN" altLang="en-US" dirty="0"/>
              <a:t>因为在某此情况下，出于隐私保护的原因，社会保障号不能作为主键</a:t>
            </a:r>
            <a:r>
              <a:rPr lang="en-US" altLang="zh-CN" dirty="0"/>
              <a:t>)</a:t>
            </a:r>
            <a:r>
              <a:rPr lang="zh-CN" altLang="en-US" dirty="0"/>
              <a:t>。</a:t>
            </a:r>
            <a:r>
              <a:rPr lang="en-US" altLang="zh-CN" dirty="0" err="1"/>
              <a:t>FullServe</a:t>
            </a:r>
            <a:r>
              <a:rPr lang="en-US" altLang="zh-CN" dirty="0"/>
              <a:t> </a:t>
            </a:r>
            <a:r>
              <a:rPr lang="zh-CN" altLang="en-US" dirty="0"/>
              <a:t>把</a:t>
            </a:r>
            <a:r>
              <a:rPr lang="en-US" altLang="zh-CN" dirty="0" err="1"/>
              <a:t>hireDecision</a:t>
            </a:r>
            <a:r>
              <a:rPr lang="en-US" altLang="zh-CN" dirty="0"/>
              <a:t>(</a:t>
            </a:r>
            <a:r>
              <a:rPr lang="zh-CN" altLang="en-US" dirty="0"/>
              <a:t>招聘意见</a:t>
            </a:r>
            <a:r>
              <a:rPr lang="en-US" altLang="zh-CN" dirty="0"/>
              <a:t>)</a:t>
            </a:r>
            <a:r>
              <a:rPr lang="zh-CN" altLang="en-US" dirty="0"/>
              <a:t>和</a:t>
            </a:r>
            <a:r>
              <a:rPr lang="en-US" altLang="zh-CN" dirty="0" err="1"/>
              <a:t>hireDate</a:t>
            </a:r>
            <a:r>
              <a:rPr lang="en-US" altLang="zh-CN" dirty="0"/>
              <a:t> (</a:t>
            </a:r>
            <a:r>
              <a:rPr lang="zh-CN" altLang="en-US" dirty="0"/>
              <a:t>招聘日期</a:t>
            </a:r>
            <a:r>
              <a:rPr lang="en-US" altLang="zh-CN" dirty="0"/>
              <a:t>)</a:t>
            </a:r>
            <a:r>
              <a:rPr lang="zh-CN" altLang="en-US" dirty="0"/>
              <a:t>属性记录在简历数据库中，而</a:t>
            </a:r>
            <a:r>
              <a:rPr lang="en-US" altLang="zh-CN" dirty="0" err="1"/>
              <a:t>EuroCard</a:t>
            </a:r>
            <a:r>
              <a:rPr lang="zh-CN" altLang="en-US" dirty="0"/>
              <a:t>并没有专门设置这此属性，他们简单地假设这些信息可以用适当的</a:t>
            </a:r>
            <a:r>
              <a:rPr lang="en-US" altLang="zh-CN" dirty="0"/>
              <a:t>SQL</a:t>
            </a:r>
            <a:r>
              <a:rPr lang="zh-CN" altLang="en-US" dirty="0"/>
              <a:t>语句通过查询员工数据库来获得。另一方面</a:t>
            </a:r>
            <a:r>
              <a:rPr lang="en-US" altLang="zh-CN" dirty="0" err="1"/>
              <a:t>EuroCard</a:t>
            </a:r>
            <a:r>
              <a:rPr lang="en-US" altLang="zh-CN" dirty="0"/>
              <a:t> </a:t>
            </a:r>
            <a:r>
              <a:rPr lang="zh-CN" altLang="en-US" dirty="0"/>
              <a:t>对每一次面试地点也进行存储，而</a:t>
            </a:r>
            <a:r>
              <a:rPr lang="en-US" altLang="zh-CN" dirty="0" err="1"/>
              <a:t>FullServe</a:t>
            </a:r>
            <a:r>
              <a:rPr lang="zh-CN" altLang="en-US" dirty="0"/>
              <a:t>没有。 </a:t>
            </a:r>
          </a:p>
          <a:p>
            <a:r>
              <a:rPr lang="en-US" altLang="zh-CN" dirty="0"/>
              <a:t>3</a:t>
            </a:r>
            <a:r>
              <a:rPr lang="zh-CN" altLang="en-US" dirty="0"/>
              <a:t>、即使是对完全相同的属性进行建模、</a:t>
            </a:r>
            <a:r>
              <a:rPr lang="en-US" altLang="zh-CN" dirty="0" err="1"/>
              <a:t>FullServe</a:t>
            </a:r>
            <a:r>
              <a:rPr lang="zh-CN" altLang="en-US" dirty="0"/>
              <a:t>和</a:t>
            </a:r>
            <a:r>
              <a:rPr lang="en-US" altLang="zh-CN" dirty="0" err="1"/>
              <a:t>EuroCard</a:t>
            </a:r>
            <a:r>
              <a:rPr lang="zh-CN" altLang="en-US" dirty="0"/>
              <a:t>也可能会使用不同的属性名称。例如、</a:t>
            </a:r>
            <a:r>
              <a:rPr lang="en-US" altLang="zh-CN" dirty="0" err="1"/>
              <a:t>FullServe</a:t>
            </a:r>
            <a:r>
              <a:rPr lang="zh-CN" altLang="en-US" dirty="0"/>
              <a:t>的客户服务热线数据库使用</a:t>
            </a:r>
            <a:r>
              <a:rPr lang="en-US" altLang="zh-CN" dirty="0"/>
              <a:t>text</a:t>
            </a:r>
            <a:r>
              <a:rPr lang="zh-CN" altLang="en-US" dirty="0"/>
              <a:t>和</a:t>
            </a:r>
            <a:r>
              <a:rPr lang="en-US" altLang="zh-CN" dirty="0"/>
              <a:t>action</a:t>
            </a:r>
            <a:r>
              <a:rPr lang="zh-CN" altLang="en-US" dirty="0"/>
              <a:t>属性，而在</a:t>
            </a:r>
            <a:r>
              <a:rPr lang="en-US" altLang="zh-CN" dirty="0" err="1"/>
              <a:t>EunCard</a:t>
            </a:r>
            <a:r>
              <a:rPr lang="zh-CN" altLang="en-US" dirty="0"/>
              <a:t>的数据库中相应的属性名为</a:t>
            </a:r>
            <a:r>
              <a:rPr lang="en-US" altLang="zh-CN" dirty="0"/>
              <a:t>description </a:t>
            </a:r>
            <a:r>
              <a:rPr lang="zh-CN" altLang="en-US" dirty="0"/>
              <a:t>和</a:t>
            </a:r>
            <a:r>
              <a:rPr lang="en-US" altLang="zh-CN" dirty="0" err="1"/>
              <a:t>followup</a:t>
            </a:r>
            <a:r>
              <a:rPr lang="en-US" altLang="zh-CN" dirty="0"/>
              <a:t>.</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58</a:t>
            </a:fld>
            <a:endParaRPr lang="zh-CN" altLang="en-US"/>
          </a:p>
        </p:txBody>
      </p:sp>
    </p:spTree>
    <p:extLst>
      <p:ext uri="{BB962C8B-B14F-4D97-AF65-F5344CB8AC3E}">
        <p14:creationId xmlns:p14="http://schemas.microsoft.com/office/powerpoint/2010/main" val="1430531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最后，数据的表示也可能有显著不同。例如，在</a:t>
            </a:r>
            <a:r>
              <a:rPr lang="en-US" altLang="zh-CN" dirty="0" err="1"/>
              <a:t>FullServe</a:t>
            </a:r>
            <a:r>
              <a:rPr lang="zh-CN" altLang="en-US" dirty="0"/>
              <a:t>公司的员工数据库里，每一个员工的名字被分成姓</a:t>
            </a:r>
            <a:r>
              <a:rPr lang="en-US" altLang="zh-CN" dirty="0"/>
              <a:t>(</a:t>
            </a:r>
            <a:r>
              <a:rPr lang="en-US" altLang="zh-CN" dirty="0" err="1"/>
              <a:t>lastName</a:t>
            </a:r>
            <a:r>
              <a:rPr lang="en-US" altLang="zh-CN" dirty="0"/>
              <a:t>)</a:t>
            </a:r>
            <a:r>
              <a:rPr lang="zh-CN" altLang="en-US" dirty="0"/>
              <a:t>、中间名</a:t>
            </a:r>
            <a:r>
              <a:rPr lang="en-US" altLang="zh-CN" dirty="0"/>
              <a:t>(</a:t>
            </a:r>
            <a:r>
              <a:rPr lang="en-US" altLang="zh-CN" dirty="0" err="1"/>
              <a:t>middleName</a:t>
            </a:r>
            <a:r>
              <a:rPr lang="en-US" altLang="zh-CN" dirty="0"/>
              <a:t>)</a:t>
            </a:r>
            <a:r>
              <a:rPr lang="zh-CN" altLang="en-US" dirty="0"/>
              <a:t>和名</a:t>
            </a:r>
            <a:r>
              <a:rPr lang="en-US" altLang="zh-CN" dirty="0"/>
              <a:t>(</a:t>
            </a:r>
            <a:r>
              <a:rPr lang="en-US" altLang="zh-CN" dirty="0" err="1"/>
              <a:t>firstName</a:t>
            </a:r>
            <a:r>
              <a:rPr lang="en-US" altLang="zh-CN" dirty="0"/>
              <a:t>)3</a:t>
            </a:r>
            <a:r>
              <a:rPr lang="zh-CN" altLang="en-US" dirty="0"/>
              <a:t>个字段保存。而在培训数据库中，只用一个字段来保存员工的全名。因此，名字经常以不同的格式出现，如</a:t>
            </a:r>
            <a:r>
              <a:rPr lang="en-US" altLang="zh-CN" dirty="0"/>
              <a:t>(</a:t>
            </a:r>
            <a:r>
              <a:rPr lang="zh-CN" altLang="en-US" dirty="0"/>
              <a:t>名，姓</a:t>
            </a:r>
            <a:r>
              <a:rPr lang="en-US" altLang="zh-CN" dirty="0"/>
              <a:t>)</a:t>
            </a:r>
            <a:r>
              <a:rPr lang="zh-CN" altLang="en-US" dirty="0"/>
              <a:t>或</a:t>
            </a:r>
            <a:r>
              <a:rPr lang="en-US" altLang="zh-CN" dirty="0"/>
              <a:t>(</a:t>
            </a:r>
            <a:r>
              <a:rPr lang="zh-CN" altLang="en-US" dirty="0"/>
              <a:t>姓，名的首字母</a:t>
            </a:r>
            <a:r>
              <a:rPr lang="en-US" altLang="zh-CN" dirty="0"/>
              <a:t>)</a:t>
            </a:r>
            <a:r>
              <a:rPr lang="zh-CN" altLang="en-US" dirty="0"/>
              <a:t>。因此，匹配这两个数据库中的记录可能非常困难。</a:t>
            </a:r>
            <a:endParaRPr lang="en-US" altLang="zh-CN" dirty="0"/>
          </a:p>
          <a:p>
            <a:r>
              <a:rPr lang="zh-CN" altLang="en-US" dirty="0"/>
              <a:t>在销售数据库和服务数据库之间。销售数据库用两个字段来记录一个客户</a:t>
            </a:r>
            <a:r>
              <a:rPr lang="en-US" altLang="zh-CN" dirty="0"/>
              <a:t>:</a:t>
            </a:r>
            <a:r>
              <a:rPr lang="zh-CN" altLang="en-US" dirty="0"/>
              <a:t>姓名和地址，而服务数据库更细地记录了每个用户的信息。</a:t>
            </a:r>
            <a:endParaRPr lang="en-US" altLang="zh-CN" dirty="0"/>
          </a:p>
          <a:p>
            <a:r>
              <a:rPr lang="zh-CN" altLang="en-US" dirty="0"/>
              <a:t>度量单位也不同</a:t>
            </a:r>
            <a:r>
              <a:rPr lang="en-US" altLang="zh-CN" dirty="0"/>
              <a:t>:</a:t>
            </a:r>
            <a:r>
              <a:rPr lang="en-US" altLang="zh-CN" dirty="0" err="1"/>
              <a:t>FullServe</a:t>
            </a:r>
            <a:r>
              <a:rPr lang="zh-CN" altLang="en-US" dirty="0"/>
              <a:t>采用美国美元的价格，而</a:t>
            </a:r>
            <a:r>
              <a:rPr lang="en-US" altLang="zh-CN" dirty="0" err="1"/>
              <a:t>EuroCard</a:t>
            </a:r>
            <a:r>
              <a:rPr lang="zh-CN" altLang="en-US" dirty="0"/>
              <a:t>使用欧元。由于汇率不断变化，要提前设定值之间的一个对应关系是不可能的。</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59</a:t>
            </a:fld>
            <a:endParaRPr lang="zh-CN" altLang="en-US"/>
          </a:p>
        </p:txBody>
      </p:sp>
    </p:spTree>
    <p:extLst>
      <p:ext uri="{BB962C8B-B14F-4D97-AF65-F5344CB8AC3E}">
        <p14:creationId xmlns:p14="http://schemas.microsoft.com/office/powerpoint/2010/main" val="38437897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虽然我们不能期望仅仅使用技术手段来解决管理问题，但是技术可以帮助数据拥有者通过数据集成来获得最大的好处，从而鼓励他们参与。</a:t>
            </a:r>
            <a:endParaRPr lang="en-US" altLang="zh-CN" dirty="0"/>
          </a:p>
          <a:p>
            <a:r>
              <a:rPr lang="zh-CN" altLang="en-US" dirty="0"/>
              <a:t>例如，数据集成带来的一大好处就是，数据可以被更多的人看到，从而产生更广泛的影响</a:t>
            </a:r>
            <a:r>
              <a:rPr lang="en-US" altLang="zh-CN" dirty="0"/>
              <a:t>(</a:t>
            </a:r>
            <a:r>
              <a:rPr lang="zh-CN" altLang="en-US" dirty="0"/>
              <a:t>例如，如果数据出现在网络搜索引擎的相关搜索结果中</a:t>
            </a:r>
            <a:r>
              <a:rPr lang="en-US" altLang="zh-CN" dirty="0"/>
              <a:t>)</a:t>
            </a:r>
            <a:r>
              <a:rPr lang="zh-CN" altLang="en-US" dirty="0"/>
              <a:t>。</a:t>
            </a:r>
            <a:endParaRPr lang="en-US" altLang="zh-CN" dirty="0"/>
          </a:p>
          <a:p>
            <a:r>
              <a:rPr lang="zh-CN" altLang="en-US" dirty="0"/>
              <a:t>另一个例子是，一个设计良好的数据集成系统可以使数据的归属始终是明确的</a:t>
            </a:r>
            <a:r>
              <a:rPr lang="en-US" altLang="zh-CN" dirty="0"/>
              <a:t>(</a:t>
            </a:r>
            <a:r>
              <a:rPr lang="zh-CN" altLang="en-US" dirty="0"/>
              <a:t>即使搜索结果是从多个数据源集中起来的</a:t>
            </a:r>
            <a:r>
              <a:rPr lang="en-US" altLang="zh-CN" dirty="0"/>
              <a:t>)</a:t>
            </a:r>
            <a:r>
              <a:rPr lang="zh-CN" altLang="en-US" dirty="0"/>
              <a:t>，从而可以给予数据所有者适当的可信度评级</a:t>
            </a:r>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60</a:t>
            </a:fld>
            <a:endParaRPr lang="zh-CN" altLang="en-US"/>
          </a:p>
        </p:txBody>
      </p:sp>
    </p:spTree>
    <p:extLst>
      <p:ext uri="{BB962C8B-B14F-4D97-AF65-F5344CB8AC3E}">
        <p14:creationId xmlns:p14="http://schemas.microsoft.com/office/powerpoint/2010/main" val="26473139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如果数据集成系统必须始终返回正确且完整的答案，那么不确定性是不可容忍的。但在一些应用中</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比如网络搜索</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，数据集成系统应该能够回答不确定性条件下的查询。例如，当我们在网络上</a:t>
            </a:r>
          </a:p>
          <a:p>
            <a:r>
              <a:rPr lang="zh-CN" altLang="en-US" sz="1200" kern="1200" dirty="0">
                <a:solidFill>
                  <a:schemeClr val="tx1"/>
                </a:solidFill>
                <a:effectLst/>
                <a:latin typeface="+mn-lt"/>
                <a:ea typeface="+mn-ea"/>
                <a:cs typeface="+mn-cs"/>
              </a:rPr>
              <a:t>找工作时，假如符合搜索条件的工作是</a:t>
            </a:r>
            <a:r>
              <a:rPr lang="en-US" altLang="zh-CN" sz="1200" kern="1200" dirty="0">
                <a:solidFill>
                  <a:schemeClr val="tx1"/>
                </a:solidFill>
                <a:effectLst/>
                <a:latin typeface="+mn-lt"/>
                <a:ea typeface="+mn-ea"/>
                <a:cs typeface="+mn-cs"/>
              </a:rPr>
              <a:t>30</a:t>
            </a:r>
            <a:r>
              <a:rPr lang="zh-CN" altLang="en-US" sz="1200" kern="1200" dirty="0">
                <a:solidFill>
                  <a:schemeClr val="tx1"/>
                </a:solidFill>
                <a:effectLst/>
                <a:latin typeface="+mn-lt"/>
                <a:ea typeface="+mn-ea"/>
                <a:cs typeface="+mn-cs"/>
              </a:rPr>
              <a:t>个，那么返回的结果中能包含其中的</a:t>
            </a:r>
            <a:r>
              <a:rPr lang="en-US" altLang="zh-CN" sz="1200" kern="1200" dirty="0">
                <a:solidFill>
                  <a:schemeClr val="tx1"/>
                </a:solidFill>
                <a:effectLst/>
                <a:latin typeface="+mn-lt"/>
                <a:ea typeface="+mn-ea"/>
                <a:cs typeface="+mn-cs"/>
              </a:rPr>
              <a:t>29</a:t>
            </a:r>
            <a:r>
              <a:rPr lang="zh-CN" altLang="en-US" sz="1200" kern="1200" dirty="0">
                <a:solidFill>
                  <a:schemeClr val="tx1"/>
                </a:solidFill>
                <a:effectLst/>
                <a:latin typeface="+mn-lt"/>
                <a:ea typeface="+mn-ea"/>
                <a:cs typeface="+mn-cs"/>
              </a:rPr>
              <a:t>个就已经可以了，或者返回的结果和用户提出的要求并不完全吻合也没关系。</a:t>
            </a:r>
            <a:endParaRPr lang="zh-CN" altLang="en-US" dirty="0"/>
          </a:p>
        </p:txBody>
      </p:sp>
      <p:sp>
        <p:nvSpPr>
          <p:cNvPr id="4" name="灯片编号占位符 3"/>
          <p:cNvSpPr>
            <a:spLocks noGrp="1"/>
          </p:cNvSpPr>
          <p:nvPr>
            <p:ph type="sldNum" sz="quarter" idx="10"/>
          </p:nvPr>
        </p:nvSpPr>
        <p:spPr/>
        <p:txBody>
          <a:bodyPr/>
          <a:lstStyle/>
          <a:p>
            <a:fld id="{D921CE35-43FE-48C4-AF1D-4091619A0117}" type="slidenum">
              <a:rPr lang="zh-CN" altLang="en-US" smtClean="0"/>
              <a:pPr/>
              <a:t>61</a:t>
            </a:fld>
            <a:endParaRPr lang="zh-CN" altLang="en-US"/>
          </a:p>
        </p:txBody>
      </p:sp>
    </p:spTree>
    <p:extLst>
      <p:ext uri="{BB962C8B-B14F-4D97-AF65-F5344CB8AC3E}">
        <p14:creationId xmlns:p14="http://schemas.microsoft.com/office/powerpoint/2010/main" val="3293933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85918" y="2130425"/>
            <a:ext cx="6672282" cy="1470025"/>
          </a:xfrm>
        </p:spPr>
        <p:txBody>
          <a:bodyPr/>
          <a:lstStyle/>
          <a:p>
            <a:r>
              <a:rPr lang="zh-CN" altLang="en-US"/>
              <a:t>单击此处编辑母版标题样式</a:t>
            </a:r>
          </a:p>
        </p:txBody>
      </p:sp>
      <p:sp>
        <p:nvSpPr>
          <p:cNvPr id="3" name="副标题 2"/>
          <p:cNvSpPr>
            <a:spLocks noGrp="1"/>
          </p:cNvSpPr>
          <p:nvPr>
            <p:ph type="subTitle" idx="1"/>
          </p:nvPr>
        </p:nvSpPr>
        <p:spPr>
          <a:xfrm>
            <a:off x="1785918" y="3886200"/>
            <a:ext cx="5986482"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785917" y="4406900"/>
            <a:ext cx="6708795"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1785917" y="2906713"/>
            <a:ext cx="670879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8" name="页脚占位符 4"/>
          <p:cNvSpPr>
            <a:spLocks noGrp="1"/>
          </p:cNvSpPr>
          <p:nvPr>
            <p:ph type="ftr" sz="quarter" idx="11"/>
          </p:nvPr>
        </p:nvSpPr>
        <p:spPr/>
        <p:txBody>
          <a:bodyPr/>
          <a:lstStyle>
            <a:lvl1pPr>
              <a:defRPr/>
            </a:lvl1pPr>
          </a:lstStyle>
          <a:p>
            <a:endParaRPr lang="zh-CN" altLang="en-US"/>
          </a:p>
        </p:txBody>
      </p:sp>
      <p:sp>
        <p:nvSpPr>
          <p:cNvPr id="9"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4" name="页脚占位符 4"/>
          <p:cNvSpPr>
            <a:spLocks noGrp="1"/>
          </p:cNvSpPr>
          <p:nvPr>
            <p:ph type="ftr" sz="quarter" idx="11"/>
          </p:nvPr>
        </p:nvSpPr>
        <p:spPr/>
        <p:txBody>
          <a:bodyPr/>
          <a:lstStyle>
            <a:lvl1pPr>
              <a:defRPr/>
            </a:lvl1pPr>
          </a:lstStyle>
          <a:p>
            <a:endParaRPr lang="zh-CN" altLang="en-US"/>
          </a:p>
        </p:txBody>
      </p:sp>
      <p:sp>
        <p:nvSpPr>
          <p:cNvPr id="5"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3" name="页脚占位符 4"/>
          <p:cNvSpPr>
            <a:spLocks noGrp="1"/>
          </p:cNvSpPr>
          <p:nvPr>
            <p:ph type="ftr" sz="quarter" idx="11"/>
          </p:nvPr>
        </p:nvSpPr>
        <p:spPr/>
        <p:txBody>
          <a:bodyPr/>
          <a:lstStyle>
            <a:lvl1pPr>
              <a:defRPr/>
            </a:lvl1pPr>
          </a:lstStyle>
          <a:p>
            <a:endParaRPr lang="zh-CN" altLang="en-US"/>
          </a:p>
        </p:txBody>
      </p:sp>
      <p:sp>
        <p:nvSpPr>
          <p:cNvPr id="4"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6" name="页脚占位符 4"/>
          <p:cNvSpPr>
            <a:spLocks noGrp="1"/>
          </p:cNvSpPr>
          <p:nvPr>
            <p:ph type="ftr" sz="quarter" idx="11"/>
          </p:nvPr>
        </p:nvSpPr>
        <p:spPr/>
        <p:txBody>
          <a:bodyPr/>
          <a:lstStyle>
            <a:lvl1pPr>
              <a:defRPr/>
            </a:lvl1pPr>
          </a:lstStyle>
          <a:p>
            <a:endParaRPr lang="zh-CN" altLang="en-US"/>
          </a:p>
        </p:txBody>
      </p:sp>
      <p:sp>
        <p:nvSpPr>
          <p:cNvPr id="7"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530820CF-B880-4189-942D-D702A7CBA730}" type="datetimeFigureOut">
              <a:rPr lang="zh-CN" altLang="en-US" smtClean="0"/>
              <a:pPr/>
              <a:t>2026/3/6</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1785938" y="274638"/>
            <a:ext cx="690086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1785938" y="1600200"/>
            <a:ext cx="6900862" cy="46863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ea typeface="+mn-ea"/>
              </a:defRPr>
            </a:lvl1pPr>
          </a:lstStyle>
          <a:p>
            <a:fld id="{530820CF-B880-4189-942D-D702A7CBA730}" type="datetimeFigureOut">
              <a:rPr lang="zh-CN" altLang="en-US" smtClean="0"/>
              <a:pPr/>
              <a:t>2026/3/6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ea typeface="宋体" charset="-122"/>
        </a:defRPr>
      </a:lvl2pPr>
      <a:lvl3pPr algn="ctr" rtl="0" eaLnBrk="1" fontAlgn="base" hangingPunct="1">
        <a:spcBef>
          <a:spcPct val="0"/>
        </a:spcBef>
        <a:spcAft>
          <a:spcPct val="0"/>
        </a:spcAft>
        <a:defRPr sz="4400">
          <a:solidFill>
            <a:schemeClr val="tx1"/>
          </a:solidFill>
          <a:latin typeface="Calibri" pitchFamily="34" charset="0"/>
          <a:ea typeface="宋体" charset="-122"/>
        </a:defRPr>
      </a:lvl3pPr>
      <a:lvl4pPr algn="ctr" rtl="0" eaLnBrk="1" fontAlgn="base" hangingPunct="1">
        <a:spcBef>
          <a:spcPct val="0"/>
        </a:spcBef>
        <a:spcAft>
          <a:spcPct val="0"/>
        </a:spcAft>
        <a:defRPr sz="4400">
          <a:solidFill>
            <a:schemeClr val="tx1"/>
          </a:solidFill>
          <a:latin typeface="Calibri" pitchFamily="34" charset="0"/>
          <a:ea typeface="宋体" charset="-122"/>
        </a:defRPr>
      </a:lvl4pPr>
      <a:lvl5pPr algn="ctr" rtl="0" eaLnBrk="1" fontAlgn="base" hangingPunct="1">
        <a:spcBef>
          <a:spcPct val="0"/>
        </a:spcBef>
        <a:spcAft>
          <a:spcPct val="0"/>
        </a:spcAft>
        <a:defRPr sz="4400">
          <a:solidFill>
            <a:schemeClr val="tx1"/>
          </a:solidFill>
          <a:latin typeface="Calibri" pitchFamily="34" charset="0"/>
          <a:ea typeface="宋体" charset="-122"/>
        </a:defRPr>
      </a:lvl5pPr>
      <a:lvl6pPr marL="457200" algn="ctr" rtl="0" eaLnBrk="1" fontAlgn="base" hangingPunct="1">
        <a:spcBef>
          <a:spcPct val="0"/>
        </a:spcBef>
        <a:spcAft>
          <a:spcPct val="0"/>
        </a:spcAft>
        <a:defRPr sz="4400">
          <a:solidFill>
            <a:schemeClr val="tx1"/>
          </a:solidFill>
          <a:latin typeface="Calibri" pitchFamily="34" charset="0"/>
          <a:ea typeface="宋体" charset="-122"/>
        </a:defRPr>
      </a:lvl6pPr>
      <a:lvl7pPr marL="914400" algn="ctr" rtl="0" eaLnBrk="1" fontAlgn="base" hangingPunct="1">
        <a:spcBef>
          <a:spcPct val="0"/>
        </a:spcBef>
        <a:spcAft>
          <a:spcPct val="0"/>
        </a:spcAft>
        <a:defRPr sz="4400">
          <a:solidFill>
            <a:schemeClr val="tx1"/>
          </a:solidFill>
          <a:latin typeface="Calibri" pitchFamily="34" charset="0"/>
          <a:ea typeface="宋体" charset="-122"/>
        </a:defRPr>
      </a:lvl7pPr>
      <a:lvl8pPr marL="1371600" algn="ctr" rtl="0" eaLnBrk="1" fontAlgn="base" hangingPunct="1">
        <a:spcBef>
          <a:spcPct val="0"/>
        </a:spcBef>
        <a:spcAft>
          <a:spcPct val="0"/>
        </a:spcAft>
        <a:defRPr sz="4400">
          <a:solidFill>
            <a:schemeClr val="tx1"/>
          </a:solidFill>
          <a:latin typeface="Calibri" pitchFamily="34" charset="0"/>
          <a:ea typeface="宋体" charset="-122"/>
        </a:defRPr>
      </a:lvl8pPr>
      <a:lvl9pPr marL="1828800" algn="ctr" rtl="0" eaLnBrk="1" fontAlgn="base" hangingPunct="1">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notesSlide" Target="../notesSlides/notesSlide14.xml"/><Relationship Id="rId7" Type="http://schemas.openxmlformats.org/officeDocument/2006/relationships/image" Target="../media/image15.jpeg"/><Relationship Id="rId12" Type="http://schemas.openxmlformats.org/officeDocument/2006/relationships/image" Target="../media/image20.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4.jpeg"/><Relationship Id="rId11" Type="http://schemas.openxmlformats.org/officeDocument/2006/relationships/image" Target="../media/image19.png"/><Relationship Id="rId5" Type="http://schemas.openxmlformats.org/officeDocument/2006/relationships/image" Target="../media/image13.emf"/><Relationship Id="rId10" Type="http://schemas.openxmlformats.org/officeDocument/2006/relationships/image" Target="../media/image18.png"/><Relationship Id="rId4" Type="http://schemas.openxmlformats.org/officeDocument/2006/relationships/oleObject" Target="../embeddings/oleObject1.bin"/><Relationship Id="rId9" Type="http://schemas.openxmlformats.org/officeDocument/2006/relationships/image" Target="../media/image1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2.wmf"/><Relationship Id="rId4" Type="http://schemas.openxmlformats.org/officeDocument/2006/relationships/oleObject" Target="../embeddings/oleObject2.bin"/></Relationships>
</file>

<file path=ppt/slides/_rels/slide48.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907704" y="116632"/>
            <a:ext cx="6900862" cy="706090"/>
          </a:xfrm>
        </p:spPr>
        <p:txBody>
          <a:bodyPr/>
          <a:lstStyle/>
          <a:p>
            <a:r>
              <a:rPr lang="zh-CN" altLang="en-US" sz="3600" dirty="0"/>
              <a:t>课程介绍</a:t>
            </a:r>
          </a:p>
        </p:txBody>
      </p:sp>
      <p:sp>
        <p:nvSpPr>
          <p:cNvPr id="3" name="内容占位符 2"/>
          <p:cNvSpPr>
            <a:spLocks noGrp="1"/>
          </p:cNvSpPr>
          <p:nvPr>
            <p:ph idx="1"/>
          </p:nvPr>
        </p:nvSpPr>
        <p:spPr>
          <a:xfrm>
            <a:off x="1907704" y="822722"/>
            <a:ext cx="6900862" cy="5702622"/>
          </a:xfrm>
        </p:spPr>
        <p:txBody>
          <a:bodyPr/>
          <a:lstStyle/>
          <a:p>
            <a:r>
              <a:rPr lang="zh-CN" altLang="en-US" sz="2800" dirty="0"/>
              <a:t>课程内容</a:t>
            </a:r>
            <a:endParaRPr lang="en-US" altLang="zh-CN" sz="2800" dirty="0"/>
          </a:p>
          <a:p>
            <a:pPr lvl="1"/>
            <a:r>
              <a:rPr lang="zh-CN" altLang="en-US" sz="2400" dirty="0"/>
              <a:t>企业应用集成</a:t>
            </a:r>
          </a:p>
          <a:p>
            <a:pPr lvl="1"/>
            <a:r>
              <a:rPr lang="en-US" altLang="zh-CN" sz="2400" dirty="0"/>
              <a:t>XML</a:t>
            </a:r>
            <a:r>
              <a:rPr lang="zh-CN" altLang="en-US" sz="2400" dirty="0"/>
              <a:t>技术</a:t>
            </a:r>
          </a:p>
          <a:p>
            <a:pPr lvl="1"/>
            <a:r>
              <a:rPr lang="zh-CN" altLang="en-US" sz="2400" dirty="0"/>
              <a:t>数据集成概念、原理、相关技术</a:t>
            </a:r>
          </a:p>
          <a:p>
            <a:pPr lvl="1"/>
            <a:r>
              <a:rPr lang="zh-CN" altLang="en-US" sz="2400" dirty="0"/>
              <a:t>大数据集成技术与应用</a:t>
            </a:r>
          </a:p>
          <a:p>
            <a:pPr lvl="2"/>
            <a:r>
              <a:rPr lang="zh-CN" altLang="en-US" sz="2000" dirty="0"/>
              <a:t>数据获取技术</a:t>
            </a:r>
          </a:p>
          <a:p>
            <a:pPr lvl="2"/>
            <a:r>
              <a:rPr lang="zh-CN" altLang="en-US" sz="2000" dirty="0"/>
              <a:t>批处理数据集成</a:t>
            </a:r>
          </a:p>
          <a:p>
            <a:pPr lvl="2"/>
            <a:r>
              <a:rPr lang="zh-CN" altLang="en-US" sz="2000" dirty="0"/>
              <a:t>实时数据集成</a:t>
            </a:r>
          </a:p>
          <a:p>
            <a:pPr lvl="1"/>
            <a:r>
              <a:rPr lang="zh-CN" altLang="en-US" sz="2400" dirty="0"/>
              <a:t>数据分析</a:t>
            </a:r>
            <a:endParaRPr lang="en-US" altLang="zh-CN" sz="2400" dirty="0"/>
          </a:p>
          <a:p>
            <a:r>
              <a:rPr lang="zh-CN" altLang="en-US" sz="2800" dirty="0"/>
              <a:t>课程作业</a:t>
            </a:r>
            <a:endParaRPr lang="en-US" altLang="zh-CN" sz="2800" dirty="0"/>
          </a:p>
          <a:p>
            <a:pPr lvl="1"/>
            <a:r>
              <a:rPr lang="zh-CN" altLang="en-US" sz="2400" dirty="0"/>
              <a:t>实践要求较高</a:t>
            </a:r>
            <a:endParaRPr lang="en-US" altLang="zh-CN" sz="2400" dirty="0"/>
          </a:p>
          <a:p>
            <a:pPr lvl="1"/>
            <a:r>
              <a:rPr lang="en-US" altLang="zh-CN" sz="2400" dirty="0"/>
              <a:t>3~4</a:t>
            </a:r>
            <a:r>
              <a:rPr lang="zh-CN" altLang="en-US" sz="2400" dirty="0"/>
              <a:t>个大作业</a:t>
            </a:r>
          </a:p>
          <a:p>
            <a:pPr lvl="1"/>
            <a:endParaRPr lang="zh-CN" altLang="en-US" sz="2400" dirty="0"/>
          </a:p>
        </p:txBody>
      </p:sp>
    </p:spTree>
    <p:extLst>
      <p:ext uri="{BB962C8B-B14F-4D97-AF65-F5344CB8AC3E}">
        <p14:creationId xmlns:p14="http://schemas.microsoft.com/office/powerpoint/2010/main" val="2816087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785918" y="2130425"/>
            <a:ext cx="6672282" cy="1946647"/>
          </a:xfrm>
        </p:spPr>
        <p:txBody>
          <a:bodyPr/>
          <a:lstStyle/>
          <a:p>
            <a:r>
              <a:rPr lang="zh-CN" altLang="en-US" b="1" dirty="0"/>
              <a:t>数据集成概述</a:t>
            </a:r>
            <a:br>
              <a:rPr lang="en-US" altLang="zh-CN" b="1" dirty="0"/>
            </a:br>
            <a:r>
              <a:rPr lang="en-US" altLang="zh-CN" b="1" dirty="0"/>
              <a:t>—</a:t>
            </a:r>
            <a:r>
              <a:rPr lang="zh-CN" altLang="en-US" sz="3200" b="1" dirty="0"/>
              <a:t>企业应用集成背景</a:t>
            </a:r>
          </a:p>
        </p:txBody>
      </p:sp>
      <p:sp>
        <p:nvSpPr>
          <p:cNvPr id="3" name="副标题 2"/>
          <p:cNvSpPr>
            <a:spLocks noGrp="1"/>
          </p:cNvSpPr>
          <p:nvPr>
            <p:ph type="subTitle" idx="1"/>
          </p:nvPr>
        </p:nvSpPr>
        <p:spPr/>
        <p:txBody>
          <a:bodyPr/>
          <a:lstStyle/>
          <a:p>
            <a:r>
              <a:rPr lang="zh-CN" altLang="en-US" dirty="0"/>
              <a:t>刘峰</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sz="3200" b="1" dirty="0"/>
              <a:t>数据集成概述</a:t>
            </a:r>
            <a:endParaRPr lang="zh-CN" altLang="en-US" sz="3200" b="1" dirty="0">
              <a:latin typeface="宋体" charset="-122"/>
            </a:endParaRPr>
          </a:p>
        </p:txBody>
      </p:sp>
      <p:sp>
        <p:nvSpPr>
          <p:cNvPr id="19459" name="Rectangle 3"/>
          <p:cNvSpPr>
            <a:spLocks noGrp="1" noChangeArrowheads="1"/>
          </p:cNvSpPr>
          <p:nvPr>
            <p:ph idx="1"/>
          </p:nvPr>
        </p:nvSpPr>
        <p:spPr/>
        <p:txBody>
          <a:bodyPr/>
          <a:lstStyle/>
          <a:p>
            <a:r>
              <a:rPr lang="zh-CN" altLang="en-US" sz="2800" b="1" dirty="0">
                <a:solidFill>
                  <a:srgbClr val="FF0000"/>
                </a:solidFill>
                <a:latin typeface="宋体" charset="-122"/>
              </a:rPr>
              <a:t>数据集成的需求</a:t>
            </a:r>
          </a:p>
          <a:p>
            <a:endParaRPr lang="zh-CN" altLang="en-US" sz="2800" b="1" dirty="0">
              <a:latin typeface="宋体" charset="-122"/>
            </a:endParaRPr>
          </a:p>
          <a:p>
            <a:r>
              <a:rPr lang="zh-CN" altLang="en-US" sz="2800" b="1" dirty="0">
                <a:latin typeface="宋体" charset="-122"/>
              </a:rPr>
              <a:t>企业应用集成</a:t>
            </a:r>
            <a:r>
              <a:rPr lang="en-US" altLang="zh-CN" sz="2800" b="1" dirty="0">
                <a:latin typeface="宋体" charset="-122"/>
              </a:rPr>
              <a:t>EAI</a:t>
            </a:r>
            <a:endParaRPr lang="zh-CN" altLang="en-US" sz="2800" b="1" dirty="0">
              <a:latin typeface="宋体" charset="-122"/>
            </a:endParaRPr>
          </a:p>
          <a:p>
            <a:endParaRPr lang="zh-CN" altLang="en-US" sz="2800" b="1" dirty="0">
              <a:latin typeface="宋体" charset="-122"/>
            </a:endParaRPr>
          </a:p>
          <a:p>
            <a:r>
              <a:rPr lang="en-US" altLang="zh-CN" sz="2800" b="1" dirty="0">
                <a:latin typeface="宋体" charset="-122"/>
              </a:rPr>
              <a:t>Web</a:t>
            </a:r>
            <a:r>
              <a:rPr lang="zh-CN" altLang="en-US" sz="2800" b="1" dirty="0">
                <a:latin typeface="宋体" charset="-122"/>
              </a:rPr>
              <a:t>数据集成</a:t>
            </a:r>
            <a:r>
              <a:rPr lang="en-US" altLang="zh-CN" sz="2800" b="1" dirty="0">
                <a:latin typeface="宋体" charset="-122"/>
              </a:rPr>
              <a:t>WDI</a:t>
            </a:r>
            <a:endParaRPr lang="zh-CN" altLang="en-US" sz="2800" b="1" dirty="0">
              <a:latin typeface="宋体" charset="-122"/>
            </a:endParaRPr>
          </a:p>
          <a:p>
            <a:endParaRPr lang="zh-CN" altLang="en-US" sz="2800" b="1" dirty="0">
              <a:latin typeface="宋体" charset="-122"/>
            </a:endParaRPr>
          </a:p>
          <a:p>
            <a:r>
              <a:rPr lang="zh-CN" altLang="en-US" sz="2800" b="1" dirty="0">
                <a:latin typeface="宋体" charset="-122"/>
              </a:rPr>
              <a:t>数据集成面临的挑战</a:t>
            </a:r>
          </a:p>
        </p:txBody>
      </p:sp>
    </p:spTree>
    <p:extLst>
      <p:ext uri="{BB962C8B-B14F-4D97-AF65-F5344CB8AC3E}">
        <p14:creationId xmlns:p14="http://schemas.microsoft.com/office/powerpoint/2010/main" val="1359763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t>应用环境图例</a:t>
            </a:r>
          </a:p>
        </p:txBody>
      </p:sp>
      <p:sp>
        <p:nvSpPr>
          <p:cNvPr id="101379" name="Rectangle 3"/>
          <p:cNvSpPr>
            <a:spLocks noGrp="1" noChangeArrowheads="1"/>
          </p:cNvSpPr>
          <p:nvPr>
            <p:ph idx="1"/>
          </p:nvPr>
        </p:nvSpPr>
        <p:spPr>
          <a:xfrm>
            <a:off x="1835696" y="1340768"/>
            <a:ext cx="7056784" cy="1152128"/>
          </a:xfrm>
        </p:spPr>
        <p:txBody>
          <a:bodyPr/>
          <a:lstStyle/>
          <a:p>
            <a:r>
              <a:rPr lang="zh-CN" altLang="en-US" sz="2000" b="1" dirty="0">
                <a:latin typeface="宋体" pitchFamily="2" charset="-122"/>
              </a:rPr>
              <a:t>多应用系统共存，系统或者交叉互连</a:t>
            </a:r>
            <a:r>
              <a:rPr lang="en-US" altLang="zh-CN" sz="2000" b="1" dirty="0">
                <a:latin typeface="宋体" pitchFamily="2" charset="-122"/>
              </a:rPr>
              <a:t>,</a:t>
            </a:r>
            <a:r>
              <a:rPr lang="zh-CN" altLang="en-US" sz="2000" b="1" dirty="0">
                <a:latin typeface="宋体" pitchFamily="2" charset="-122"/>
              </a:rPr>
              <a:t>或者相互孤立</a:t>
            </a:r>
          </a:p>
          <a:p>
            <a:r>
              <a:rPr lang="zh-CN" altLang="en-US" sz="2000" b="1" dirty="0">
                <a:latin typeface="宋体" pitchFamily="2" charset="-122"/>
              </a:rPr>
              <a:t>多操作系统、多数据库系统、多技术平台共存</a:t>
            </a:r>
          </a:p>
          <a:p>
            <a:r>
              <a:rPr lang="zh-CN" altLang="en-US" sz="2000" b="1" dirty="0">
                <a:latin typeface="宋体" pitchFamily="2" charset="-122"/>
              </a:rPr>
              <a:t>用户需要在不同系统中切换</a:t>
            </a:r>
          </a:p>
          <a:p>
            <a:pPr lvl="1">
              <a:buClr>
                <a:srgbClr val="0099FF"/>
              </a:buClr>
              <a:buFont typeface="Wingdings" pitchFamily="2" charset="2"/>
              <a:buChar char="v"/>
            </a:pPr>
            <a:endParaRPr lang="en-US" altLang="zh-CN" sz="2000" b="1" dirty="0">
              <a:latin typeface="宋体" pitchFamily="2" charset="-122"/>
            </a:endParaRPr>
          </a:p>
        </p:txBody>
      </p:sp>
      <p:pic>
        <p:nvPicPr>
          <p:cNvPr id="17412" name="Picture 4"/>
          <p:cNvPicPr>
            <a:picLocks noChangeAspect="1" noChangeArrowheads="1"/>
          </p:cNvPicPr>
          <p:nvPr/>
        </p:nvPicPr>
        <p:blipFill>
          <a:blip r:embed="rId3"/>
          <a:srcRect/>
          <a:stretch>
            <a:fillRect/>
          </a:stretch>
        </p:blipFill>
        <p:spPr bwMode="auto">
          <a:xfrm>
            <a:off x="1907704" y="2700610"/>
            <a:ext cx="6934200" cy="39687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1379">
                                            <p:txEl>
                                              <p:pRg st="0" end="0"/>
                                            </p:txEl>
                                          </p:spTgt>
                                        </p:tgtEl>
                                        <p:attrNameLst>
                                          <p:attrName>style.visibility</p:attrName>
                                        </p:attrNameLst>
                                      </p:cBhvr>
                                      <p:to>
                                        <p:strVal val="visible"/>
                                      </p:to>
                                    </p:set>
                                    <p:animEffect transition="in" filter="blinds(horizontal)">
                                      <p:cBhvr>
                                        <p:cTn id="7" dur="500"/>
                                        <p:tgtEl>
                                          <p:spTgt spid="1013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1379">
                                            <p:txEl>
                                              <p:pRg st="1" end="1"/>
                                            </p:txEl>
                                          </p:spTgt>
                                        </p:tgtEl>
                                        <p:attrNameLst>
                                          <p:attrName>style.visibility</p:attrName>
                                        </p:attrNameLst>
                                      </p:cBhvr>
                                      <p:to>
                                        <p:strVal val="visible"/>
                                      </p:to>
                                    </p:set>
                                    <p:anim calcmode="lin" valueType="num">
                                      <p:cBhvr additive="base">
                                        <p:cTn id="12" dur="500" fill="hold"/>
                                        <p:tgtEl>
                                          <p:spTgt spid="10137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013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101379">
                                            <p:txEl>
                                              <p:pRg st="2" end="2"/>
                                            </p:txEl>
                                          </p:spTgt>
                                        </p:tgtEl>
                                        <p:attrNameLst>
                                          <p:attrName>style.visibility</p:attrName>
                                        </p:attrNameLst>
                                      </p:cBhvr>
                                      <p:to>
                                        <p:strVal val="visible"/>
                                      </p:to>
                                    </p:set>
                                    <p:animEffect transition="in" filter="box(in)">
                                      <p:cBhvr>
                                        <p:cTn id="18" dur="500"/>
                                        <p:tgtEl>
                                          <p:spTgt spid="10137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5" name="内容占位符 4"/>
          <p:cNvPicPr>
            <a:picLocks noGrp="1" noChangeAspect="1"/>
          </p:cNvPicPr>
          <p:nvPr>
            <p:ph idx="1"/>
          </p:nvPr>
        </p:nvPicPr>
        <p:blipFill>
          <a:blip r:embed="rId2"/>
          <a:stretch>
            <a:fillRect/>
          </a:stretch>
        </p:blipFill>
        <p:spPr>
          <a:xfrm>
            <a:off x="3419872" y="4184276"/>
            <a:ext cx="5531433" cy="2617708"/>
          </a:xfrm>
          <a:prstGeom prst="rect">
            <a:avLst/>
          </a:prstGeom>
        </p:spPr>
      </p:pic>
      <p:pic>
        <p:nvPicPr>
          <p:cNvPr id="4" name="图片 3"/>
          <p:cNvPicPr>
            <a:picLocks noChangeAspect="1"/>
          </p:cNvPicPr>
          <p:nvPr/>
        </p:nvPicPr>
        <p:blipFill>
          <a:blip r:embed="rId3"/>
          <a:stretch>
            <a:fillRect/>
          </a:stretch>
        </p:blipFill>
        <p:spPr>
          <a:xfrm>
            <a:off x="1785938" y="1600200"/>
            <a:ext cx="4981427" cy="2476872"/>
          </a:xfrm>
          <a:prstGeom prst="rect">
            <a:avLst/>
          </a:prstGeom>
        </p:spPr>
      </p:pic>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2112" y="1524842"/>
            <a:ext cx="1819193" cy="3891051"/>
          </a:xfrm>
          <a:prstGeom prst="rect">
            <a:avLst/>
          </a:prstGeom>
        </p:spPr>
      </p:pic>
    </p:spTree>
    <p:extLst>
      <p:ext uri="{BB962C8B-B14F-4D97-AF65-F5344CB8AC3E}">
        <p14:creationId xmlns:p14="http://schemas.microsoft.com/office/powerpoint/2010/main" val="4020402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dirty="0"/>
              <a:t>两类集成场景</a:t>
            </a:r>
          </a:p>
        </p:txBody>
      </p:sp>
      <p:sp>
        <p:nvSpPr>
          <p:cNvPr id="3" name="内容占位符 2"/>
          <p:cNvSpPr>
            <a:spLocks noGrp="1"/>
          </p:cNvSpPr>
          <p:nvPr>
            <p:ph idx="1"/>
          </p:nvPr>
        </p:nvSpPr>
        <p:spPr/>
        <p:txBody>
          <a:bodyPr/>
          <a:lstStyle/>
          <a:p>
            <a:r>
              <a:rPr lang="zh-CN" altLang="en-US" sz="2800" b="1" dirty="0">
                <a:latin typeface="+mn-ea"/>
              </a:rPr>
              <a:t>企业异构数据库范畴下的数据集成</a:t>
            </a:r>
            <a:endParaRPr lang="en-US" altLang="zh-CN" sz="2800" b="1" dirty="0">
              <a:latin typeface="+mn-ea"/>
            </a:endParaRPr>
          </a:p>
          <a:p>
            <a:pPr lvl="1"/>
            <a:r>
              <a:rPr lang="zh-CN" altLang="en-US" sz="2400" b="1" dirty="0">
                <a:latin typeface="+mn-ea"/>
              </a:rPr>
              <a:t>信息系统应用发展到一定阶段积累了大量封闭、完备的异构数据库</a:t>
            </a:r>
            <a:endParaRPr lang="en-US" altLang="zh-CN" sz="2400" b="1" dirty="0">
              <a:latin typeface="+mn-ea"/>
            </a:endParaRPr>
          </a:p>
          <a:p>
            <a:pPr lvl="1"/>
            <a:r>
              <a:rPr lang="zh-CN" altLang="en-US" sz="2400" b="1" dirty="0">
                <a:latin typeface="+mn-ea"/>
              </a:rPr>
              <a:t>基于封闭世界的假设</a:t>
            </a:r>
            <a:endParaRPr lang="en-US" altLang="zh-CN" sz="2400" b="1" dirty="0">
              <a:latin typeface="+mn-ea"/>
            </a:endParaRPr>
          </a:p>
          <a:p>
            <a:r>
              <a:rPr lang="en-US" altLang="zh-CN" sz="2800" b="1" dirty="0">
                <a:latin typeface="+mn-ea"/>
              </a:rPr>
              <a:t>Web</a:t>
            </a:r>
            <a:r>
              <a:rPr lang="zh-CN" altLang="en-US" sz="2800" b="1" dirty="0">
                <a:latin typeface="+mn-ea"/>
              </a:rPr>
              <a:t>多源异构数据源范畴下的数据集成</a:t>
            </a:r>
            <a:endParaRPr lang="en-US" altLang="zh-CN" sz="2800" b="1" dirty="0">
              <a:latin typeface="+mn-ea"/>
            </a:endParaRPr>
          </a:p>
          <a:p>
            <a:pPr lvl="1"/>
            <a:r>
              <a:rPr lang="zh-CN" altLang="en-US" sz="2400" b="1" dirty="0">
                <a:latin typeface="+mn-ea"/>
              </a:rPr>
              <a:t>随着</a:t>
            </a:r>
            <a:r>
              <a:rPr lang="en-US" altLang="zh-CN" sz="2400" b="1" dirty="0">
                <a:latin typeface="+mn-ea"/>
              </a:rPr>
              <a:t>Web</a:t>
            </a:r>
            <a:r>
              <a:rPr lang="zh-CN" altLang="en-US" sz="2400" b="1" dirty="0">
                <a:latin typeface="+mn-ea"/>
              </a:rPr>
              <a:t>的出现，积累了大量开放、多源异构的数据源</a:t>
            </a:r>
            <a:endParaRPr lang="en-US" altLang="zh-CN" sz="2400" b="1" dirty="0">
              <a:latin typeface="+mn-ea"/>
            </a:endParaRPr>
          </a:p>
          <a:p>
            <a:pPr lvl="1"/>
            <a:r>
              <a:rPr lang="zh-CN" altLang="en-US" sz="2400" b="1" dirty="0">
                <a:latin typeface="+mn-ea"/>
              </a:rPr>
              <a:t>基于开放世界的假设</a:t>
            </a:r>
          </a:p>
        </p:txBody>
      </p:sp>
    </p:spTree>
    <p:extLst>
      <p:ext uri="{BB962C8B-B14F-4D97-AF65-F5344CB8AC3E}">
        <p14:creationId xmlns:p14="http://schemas.microsoft.com/office/powerpoint/2010/main" val="4049342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dirty="0"/>
              <a:t>信息孤岛</a:t>
            </a:r>
          </a:p>
        </p:txBody>
      </p:sp>
      <p:sp>
        <p:nvSpPr>
          <p:cNvPr id="3" name="内容占位符 2"/>
          <p:cNvSpPr>
            <a:spLocks noGrp="1"/>
          </p:cNvSpPr>
          <p:nvPr>
            <p:ph idx="1"/>
          </p:nvPr>
        </p:nvSpPr>
        <p:spPr/>
        <p:txBody>
          <a:bodyPr/>
          <a:lstStyle/>
          <a:p>
            <a:r>
              <a:rPr lang="zh-CN" altLang="en-US" sz="2800" b="1" dirty="0">
                <a:latin typeface="+mn-ea"/>
              </a:rPr>
              <a:t>缺乏不同系统之间的互操作性</a:t>
            </a:r>
            <a:endParaRPr lang="en-US" altLang="zh-CN" sz="2800" b="1" dirty="0">
              <a:latin typeface="+mn-ea"/>
            </a:endParaRPr>
          </a:p>
          <a:p>
            <a:r>
              <a:rPr lang="zh-CN" altLang="en-US" sz="2800" b="1" dirty="0">
                <a:latin typeface="+mn-ea"/>
              </a:rPr>
              <a:t>交叉公共数据的冗余和一致性问题</a:t>
            </a:r>
            <a:endParaRPr lang="en-US" altLang="zh-CN" sz="2800" b="1" dirty="0">
              <a:latin typeface="+mn-ea"/>
            </a:endParaRPr>
          </a:p>
          <a:p>
            <a:r>
              <a:rPr lang="zh-CN" altLang="en-US" sz="2800" b="1" dirty="0">
                <a:latin typeface="+mn-ea"/>
              </a:rPr>
              <a:t>各系统的异构性使得难以全局信息分析和处理</a:t>
            </a:r>
            <a:endParaRPr lang="en-US" altLang="zh-CN" sz="2800" b="1" dirty="0">
              <a:latin typeface="+mn-ea"/>
            </a:endParaRPr>
          </a:p>
          <a:p>
            <a:r>
              <a:rPr lang="zh-CN" altLang="en-US" sz="2800" b="1" dirty="0">
                <a:latin typeface="+mn-ea"/>
              </a:rPr>
              <a:t>数据和数据处理紧密绑定，缺乏柔性，不能快速适应变化</a:t>
            </a:r>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4509120"/>
            <a:ext cx="6948264" cy="22643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a:xfrm>
            <a:off x="2123728" y="152400"/>
            <a:ext cx="6105872" cy="914400"/>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t>信息化环境的变化</a:t>
            </a:r>
          </a:p>
        </p:txBody>
      </p:sp>
      <p:sp>
        <p:nvSpPr>
          <p:cNvPr id="3" name="内容占位符 2"/>
          <p:cNvSpPr>
            <a:spLocks noGrp="1"/>
          </p:cNvSpPr>
          <p:nvPr>
            <p:ph idx="1"/>
          </p:nvPr>
        </p:nvSpPr>
        <p:spPr>
          <a:xfrm>
            <a:off x="1907704" y="1447800"/>
            <a:ext cx="6931496" cy="4953000"/>
          </a:xfrm>
        </p:spPr>
        <p:txBody>
          <a:bodyPr>
            <a:normAutofit/>
          </a:bodyPr>
          <a:lstStyle/>
          <a:p>
            <a:r>
              <a:rPr lang="zh-CN" altLang="en-US" sz="2800" b="1" dirty="0">
                <a:latin typeface="+mn-ea"/>
              </a:rPr>
              <a:t>应用软件通过</a:t>
            </a:r>
            <a:r>
              <a:rPr lang="en-US" altLang="zh-CN" sz="2800" b="1" dirty="0">
                <a:latin typeface="+mn-ea"/>
              </a:rPr>
              <a:t>Internet</a:t>
            </a:r>
            <a:r>
              <a:rPr lang="zh-CN" altLang="zh-CN" sz="2800" b="1" dirty="0">
                <a:latin typeface="+mn-ea"/>
              </a:rPr>
              <a:t>或</a:t>
            </a:r>
            <a:r>
              <a:rPr lang="en-US" altLang="zh-CN" sz="2800" b="1" dirty="0">
                <a:latin typeface="+mn-ea"/>
              </a:rPr>
              <a:t>WAN</a:t>
            </a:r>
            <a:r>
              <a:rPr lang="zh-CN" altLang="zh-CN" sz="2800" b="1" dirty="0">
                <a:latin typeface="+mn-ea"/>
              </a:rPr>
              <a:t>分布在世界范围</a:t>
            </a:r>
            <a:endParaRPr lang="en-US" altLang="zh-CN" sz="2800" b="1" dirty="0">
              <a:latin typeface="+mn-ea"/>
            </a:endParaRPr>
          </a:p>
          <a:p>
            <a:r>
              <a:rPr lang="zh-CN" altLang="zh-CN" sz="2800" b="1" dirty="0">
                <a:latin typeface="+mn-ea"/>
              </a:rPr>
              <a:t>数以百万/千万计的用户，可能存在的突发事件</a:t>
            </a:r>
            <a:endParaRPr lang="zh-CN" altLang="en-US" sz="2800" b="1" dirty="0">
              <a:latin typeface="+mn-ea"/>
            </a:endParaRPr>
          </a:p>
          <a:p>
            <a:r>
              <a:rPr lang="zh-CN" altLang="en-US" sz="2800" b="1" dirty="0">
                <a:latin typeface="+mn-ea"/>
              </a:rPr>
              <a:t>用户和应用程序间的连接是非持久性的和低速的</a:t>
            </a:r>
            <a:endParaRPr lang="en-US" altLang="zh-CN" sz="2800" b="1" dirty="0">
              <a:latin typeface="+mn-ea"/>
            </a:endParaRPr>
          </a:p>
          <a:p>
            <a:r>
              <a:rPr lang="zh-CN" altLang="en-US" sz="2800" b="1" dirty="0">
                <a:latin typeface="+mn-ea"/>
              </a:rPr>
              <a:t>千差万别的数据表示设备</a:t>
            </a:r>
          </a:p>
          <a:p>
            <a:r>
              <a:rPr lang="zh-CN" altLang="en-US" sz="2800" b="1" dirty="0">
                <a:latin typeface="+mn-ea"/>
              </a:rPr>
              <a:t>应用程序所需的数据可能分布在不同的机器上</a:t>
            </a:r>
            <a:endParaRPr lang="en-US" altLang="zh-CN" sz="2800" b="1" dirty="0">
              <a:latin typeface="+mn-ea"/>
            </a:endParaRPr>
          </a:p>
          <a:p>
            <a:r>
              <a:rPr lang="zh-CN" altLang="en-US" sz="2800" b="1" dirty="0">
                <a:latin typeface="+mn-ea"/>
              </a:rPr>
              <a:t>全球化的协同工作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07250" y="0"/>
            <a:ext cx="6900862" cy="620688"/>
          </a:xfrm>
        </p:spPr>
        <p:txBody>
          <a:bodyPr/>
          <a:lstStyle/>
          <a:p>
            <a:r>
              <a:rPr lang="zh-CN" altLang="en-US" sz="3200" b="1" dirty="0"/>
              <a:t>集成案例</a:t>
            </a:r>
          </a:p>
        </p:txBody>
      </p:sp>
      <p:sp>
        <p:nvSpPr>
          <p:cNvPr id="3" name="内容占位符 2"/>
          <p:cNvSpPr>
            <a:spLocks noGrp="1"/>
          </p:cNvSpPr>
          <p:nvPr>
            <p:ph idx="1"/>
          </p:nvPr>
        </p:nvSpPr>
        <p:spPr>
          <a:xfrm>
            <a:off x="1807250" y="631389"/>
            <a:ext cx="7229246" cy="709379"/>
          </a:xfrm>
        </p:spPr>
        <p:txBody>
          <a:bodyPr/>
          <a:lstStyle/>
          <a:p>
            <a:r>
              <a:rPr lang="zh-CN" altLang="en-US" sz="2000" dirty="0"/>
              <a:t>美国家庭互联网接入公司</a:t>
            </a:r>
            <a:r>
              <a:rPr lang="en-US" altLang="zh-CN" sz="2000" dirty="0" err="1"/>
              <a:t>FullServe</a:t>
            </a:r>
            <a:r>
              <a:rPr lang="zh-CN" altLang="en-US" sz="2000" dirty="0"/>
              <a:t>收购欧洲信用卡供应商</a:t>
            </a:r>
            <a:r>
              <a:rPr lang="en-US" altLang="zh-CN" sz="2000" dirty="0" err="1"/>
              <a:t>EuroCard</a:t>
            </a:r>
            <a:endParaRPr lang="en-US" altLang="zh-CN" sz="2400" dirty="0"/>
          </a:p>
          <a:p>
            <a:pPr lvl="1"/>
            <a:endParaRPr lang="zh-CN" altLang="en-US" sz="2000" dirty="0"/>
          </a:p>
        </p:txBody>
      </p:sp>
      <p:pic>
        <p:nvPicPr>
          <p:cNvPr id="7" name="图片 6"/>
          <p:cNvPicPr>
            <a:picLocks noChangeAspect="1"/>
          </p:cNvPicPr>
          <p:nvPr/>
        </p:nvPicPr>
        <p:blipFill>
          <a:blip r:embed="rId3"/>
          <a:stretch>
            <a:fillRect/>
          </a:stretch>
        </p:blipFill>
        <p:spPr>
          <a:xfrm>
            <a:off x="2124338" y="1332016"/>
            <a:ext cx="6595070" cy="3249112"/>
          </a:xfrm>
          <a:prstGeom prst="rect">
            <a:avLst/>
          </a:prstGeom>
        </p:spPr>
      </p:pic>
      <p:pic>
        <p:nvPicPr>
          <p:cNvPr id="8" name="图片 7"/>
          <p:cNvPicPr>
            <a:picLocks noChangeAspect="1"/>
          </p:cNvPicPr>
          <p:nvPr/>
        </p:nvPicPr>
        <p:blipFill>
          <a:blip r:embed="rId4"/>
          <a:stretch>
            <a:fillRect/>
          </a:stretch>
        </p:blipFill>
        <p:spPr>
          <a:xfrm>
            <a:off x="2107178" y="4581128"/>
            <a:ext cx="6612230" cy="2068937"/>
          </a:xfrm>
          <a:prstGeom prst="rect">
            <a:avLst/>
          </a:prstGeom>
        </p:spPr>
      </p:pic>
    </p:spTree>
    <p:extLst>
      <p:ext uri="{BB962C8B-B14F-4D97-AF65-F5344CB8AC3E}">
        <p14:creationId xmlns:p14="http://schemas.microsoft.com/office/powerpoint/2010/main" val="2618588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015716" y="1412776"/>
            <a:ext cx="6732748" cy="4464496"/>
          </a:xfrm>
        </p:spPr>
        <p:txBody>
          <a:bodyPr/>
          <a:lstStyle/>
          <a:p>
            <a:r>
              <a:rPr lang="zh-CN" altLang="en-US" sz="2400" b="1" dirty="0"/>
              <a:t>部门或者公司合并时难以及时调整相应的数据库</a:t>
            </a:r>
            <a:endParaRPr lang="en-US" altLang="zh-CN" sz="2400" b="1" dirty="0"/>
          </a:p>
          <a:p>
            <a:r>
              <a:rPr lang="zh-CN" altLang="en-US" sz="2400" b="1" dirty="0"/>
              <a:t>当创建数据库时并不能预见公司未来的所有信息需求以及他们今天存储的数据将来可能会有其他的用途</a:t>
            </a:r>
            <a:endParaRPr lang="en-US" altLang="zh-CN" sz="2400" b="1" dirty="0"/>
          </a:p>
          <a:p>
            <a:r>
              <a:rPr lang="zh-CN" altLang="en-US" sz="2400" b="1" dirty="0"/>
              <a:t>业务需求扩展</a:t>
            </a:r>
            <a:endParaRPr lang="en-US" altLang="zh-CN" sz="2400" b="1" dirty="0"/>
          </a:p>
          <a:p>
            <a:pPr lvl="1"/>
            <a:r>
              <a:rPr lang="en-US" altLang="zh-CN" sz="1800" b="1" dirty="0" err="1"/>
              <a:t>FullServe</a:t>
            </a:r>
            <a:r>
              <a:rPr lang="zh-CN" altLang="en-US" sz="1800" b="1" dirty="0"/>
              <a:t>现有的培训（</a:t>
            </a:r>
            <a:r>
              <a:rPr lang="en-US" altLang="zh-CN" sz="1800" b="1" dirty="0"/>
              <a:t>Training</a:t>
            </a:r>
            <a:r>
              <a:rPr lang="zh-CN" altLang="en-US" sz="1800" b="1" dirty="0"/>
              <a:t>）数据库在最开始的时候可能是由少数员工发起的一个小项目，用来记录谁参加了某些培训课程。但是，随着公司的发展以及培训和发展部门的创建，这些数据库就需要进行相应的扩展</a:t>
            </a:r>
            <a:endParaRPr lang="en-US" altLang="zh-CN" sz="1800" b="1" dirty="0"/>
          </a:p>
          <a:p>
            <a:r>
              <a:rPr lang="zh-CN" altLang="en-US" sz="2400" b="1" dirty="0"/>
              <a:t>大型企业通常有几十个到数百个数据库</a:t>
            </a:r>
            <a:endParaRPr lang="en-US" altLang="zh-CN" sz="2400" b="1" dirty="0"/>
          </a:p>
          <a:p>
            <a:endParaRPr lang="en-US" altLang="zh-CN" sz="2200" b="1" dirty="0"/>
          </a:p>
        </p:txBody>
      </p:sp>
      <p:sp>
        <p:nvSpPr>
          <p:cNvPr id="2" name="矩形 1"/>
          <p:cNvSpPr/>
          <p:nvPr/>
        </p:nvSpPr>
        <p:spPr>
          <a:xfrm>
            <a:off x="2969906" y="188640"/>
            <a:ext cx="4716356" cy="584775"/>
          </a:xfrm>
          <a:prstGeom prst="rect">
            <a:avLst/>
          </a:prstGeom>
        </p:spPr>
        <p:txBody>
          <a:bodyPr wrap="none">
            <a:spAutoFit/>
          </a:bodyPr>
          <a:lstStyle/>
          <a:p>
            <a:r>
              <a:rPr lang="zh-CN" altLang="en-US" sz="3200" b="1" dirty="0">
                <a:latin typeface="+mj-lt"/>
                <a:ea typeface="+mj-ea"/>
                <a:cs typeface="+mj-cs"/>
              </a:rPr>
              <a:t>数据分散的原因及其影响</a:t>
            </a:r>
          </a:p>
        </p:txBody>
      </p:sp>
    </p:spTree>
    <p:extLst>
      <p:ext uri="{BB962C8B-B14F-4D97-AF65-F5344CB8AC3E}">
        <p14:creationId xmlns:p14="http://schemas.microsoft.com/office/powerpoint/2010/main" val="1420063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63688" y="980728"/>
            <a:ext cx="7200800" cy="5688632"/>
          </a:xfrm>
        </p:spPr>
        <p:txBody>
          <a:bodyPr/>
          <a:lstStyle/>
          <a:p>
            <a:r>
              <a:rPr lang="zh-CN" altLang="en-US" sz="2400" b="1" dirty="0"/>
              <a:t>员工信息查询</a:t>
            </a:r>
            <a:endParaRPr lang="en-US" altLang="zh-CN" sz="2400" b="1" dirty="0"/>
          </a:p>
          <a:p>
            <a:r>
              <a:rPr lang="zh-CN" altLang="en-US" sz="2400" b="1" dirty="0"/>
              <a:t>针对客户服务热线，客户打电话咨询他们从公司获得的任何服务或产品，客户代表需要掌握全部信息</a:t>
            </a:r>
            <a:endParaRPr lang="en-US" altLang="zh-CN" sz="2400" b="1" dirty="0"/>
          </a:p>
          <a:p>
            <a:r>
              <a:rPr lang="en-US" altLang="zh-CN" sz="2400" b="1" dirty="0" err="1"/>
              <a:t>FullServe</a:t>
            </a:r>
            <a:r>
              <a:rPr lang="zh-CN" altLang="en-US" sz="2400" b="1" dirty="0"/>
              <a:t>要建立一个网站，现有的和潜在的客户应该能够看到</a:t>
            </a:r>
            <a:r>
              <a:rPr lang="en-US" altLang="zh-CN" sz="2400" b="1" dirty="0" err="1"/>
              <a:t>FullServe</a:t>
            </a:r>
            <a:r>
              <a:rPr lang="zh-CN" altLang="en-US" sz="2400" b="1" dirty="0"/>
              <a:t>提供的所有产品和服务，并可以选择捆绑式服务</a:t>
            </a:r>
            <a:endParaRPr lang="en-US" altLang="zh-CN" sz="2400" b="1" dirty="0"/>
          </a:p>
          <a:p>
            <a:r>
              <a:rPr lang="zh-CN" altLang="en-US" sz="2400" b="1" dirty="0"/>
              <a:t>假设</a:t>
            </a:r>
            <a:r>
              <a:rPr lang="en-US" altLang="zh-CN" sz="2400" b="1" dirty="0" err="1"/>
              <a:t>FullServe</a:t>
            </a:r>
            <a:r>
              <a:rPr lang="zh-CN" altLang="en-US" sz="2400" b="1" dirty="0"/>
              <a:t>与其他厂商一起提供一套品牌服务。需要为其他网站提供一个</a:t>
            </a:r>
            <a:r>
              <a:rPr lang="en-US" altLang="zh-CN" sz="2400" b="1" dirty="0"/>
              <a:t>Web</a:t>
            </a:r>
            <a:r>
              <a:rPr lang="zh-CN" altLang="en-US" sz="2400" b="1" dirty="0"/>
              <a:t>服务，单点登录服务</a:t>
            </a:r>
            <a:endParaRPr lang="en-US" altLang="zh-CN" sz="2400" b="1" dirty="0"/>
          </a:p>
          <a:p>
            <a:r>
              <a:rPr lang="zh-CN" altLang="en-US" sz="2400" b="1" dirty="0"/>
              <a:t>应对政府的法律法规的改变。</a:t>
            </a:r>
            <a:r>
              <a:rPr lang="en-US" altLang="zh-CN" sz="2400" b="1" dirty="0" err="1"/>
              <a:t>FullServe</a:t>
            </a:r>
            <a:r>
              <a:rPr lang="zh-CN" altLang="en-US" sz="2400" b="1" dirty="0"/>
              <a:t>需要知道他们的员工在加入公司之前是否在其竞争对手或合作伙伴工作过。</a:t>
            </a:r>
            <a:endParaRPr lang="en-US" altLang="zh-CN" sz="2400" b="1" dirty="0"/>
          </a:p>
        </p:txBody>
      </p:sp>
      <p:sp>
        <p:nvSpPr>
          <p:cNvPr id="2" name="矩形 1"/>
          <p:cNvSpPr/>
          <p:nvPr/>
        </p:nvSpPr>
        <p:spPr>
          <a:xfrm>
            <a:off x="3563888" y="188640"/>
            <a:ext cx="3068469" cy="584775"/>
          </a:xfrm>
          <a:prstGeom prst="rect">
            <a:avLst/>
          </a:prstGeom>
        </p:spPr>
        <p:txBody>
          <a:bodyPr wrap="none">
            <a:spAutoFit/>
          </a:bodyPr>
          <a:lstStyle/>
          <a:p>
            <a:r>
              <a:rPr lang="zh-CN" altLang="en-US" sz="3200" b="1" dirty="0">
                <a:latin typeface="+mj-lt"/>
                <a:ea typeface="+mj-ea"/>
                <a:cs typeface="+mj-cs"/>
              </a:rPr>
              <a:t>关联查询的需求</a:t>
            </a:r>
          </a:p>
        </p:txBody>
      </p:sp>
    </p:spTree>
    <p:extLst>
      <p:ext uri="{BB962C8B-B14F-4D97-AF65-F5344CB8AC3E}">
        <p14:creationId xmlns:p14="http://schemas.microsoft.com/office/powerpoint/2010/main" val="1172752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63688" y="980728"/>
            <a:ext cx="6912768" cy="5688632"/>
          </a:xfrm>
        </p:spPr>
        <p:txBody>
          <a:bodyPr/>
          <a:lstStyle/>
          <a:p>
            <a:r>
              <a:rPr lang="zh-CN" altLang="en-US" sz="2400" b="1" dirty="0"/>
              <a:t>把客户服务热线</a:t>
            </a:r>
            <a:r>
              <a:rPr lang="en-US" altLang="zh-CN" sz="2400" b="1" dirty="0"/>
              <a:t>(Helpline)</a:t>
            </a:r>
            <a:r>
              <a:rPr lang="zh-CN" altLang="en-US" sz="2400" b="1" dirty="0"/>
              <a:t>数据库和销售</a:t>
            </a:r>
            <a:r>
              <a:rPr lang="en-US" altLang="zh-CN" sz="2400" b="1" dirty="0"/>
              <a:t>(Sales)</a:t>
            </a:r>
            <a:r>
              <a:rPr lang="zh-CN" altLang="en-US" sz="2400" b="1" dirty="0"/>
              <a:t>数据库中的数据结合起来</a:t>
            </a:r>
            <a:endParaRPr lang="en-US" altLang="zh-CN" sz="2400" b="1" dirty="0"/>
          </a:p>
          <a:p>
            <a:pPr lvl="1"/>
            <a:r>
              <a:rPr lang="zh-CN" altLang="en-US" sz="2000" b="1" dirty="0"/>
              <a:t>帮助</a:t>
            </a:r>
            <a:r>
              <a:rPr lang="en-US" altLang="zh-CN" sz="2000" b="1" dirty="0" err="1"/>
              <a:t>FullServe</a:t>
            </a:r>
            <a:r>
              <a:rPr lang="zh-CN" altLang="en-US" sz="2000" b="1" dirty="0"/>
              <a:t>在早期发现他们的产品和服务中的问题。</a:t>
            </a:r>
            <a:endParaRPr lang="en-US" altLang="zh-CN" sz="2000" b="1" dirty="0"/>
          </a:p>
          <a:p>
            <a:pPr lvl="1"/>
            <a:r>
              <a:rPr lang="zh-CN" altLang="en-US" sz="2000" b="1" dirty="0"/>
              <a:t>发现不同产品的使用趋势可以使</a:t>
            </a:r>
            <a:r>
              <a:rPr lang="en-US" altLang="zh-CN" sz="2000" b="1" dirty="0" err="1"/>
              <a:t>FullServe</a:t>
            </a:r>
            <a:r>
              <a:rPr lang="zh-CN" altLang="en-US" sz="2000" b="1" dirty="0"/>
              <a:t>积极主动地设定和维持库存水平。</a:t>
            </a:r>
            <a:endParaRPr lang="en-US" altLang="zh-CN" sz="2000" b="1" dirty="0"/>
          </a:p>
          <a:p>
            <a:r>
              <a:rPr lang="zh-CN" altLang="en-US" sz="2400" b="1" dirty="0"/>
              <a:t>结合培训数据库、客户服务热线数据库和服务</a:t>
            </a:r>
            <a:r>
              <a:rPr lang="en-US" altLang="zh-CN" sz="2400" b="1" dirty="0"/>
              <a:t>(Services)</a:t>
            </a:r>
            <a:r>
              <a:rPr lang="zh-CN" altLang="en-US" sz="2400" b="1" dirty="0"/>
              <a:t>数据库</a:t>
            </a:r>
            <a:endParaRPr lang="en-US" altLang="zh-CN" sz="2400" b="1" dirty="0"/>
          </a:p>
          <a:p>
            <a:pPr lvl="1"/>
            <a:r>
              <a:rPr lang="zh-CN" altLang="en-US" sz="2000" b="1" dirty="0"/>
              <a:t>可能会发现某一地区接到的有关他们服务故障的呼叫超乎寻常得多。分析数据发现，安装服务的代理商并没有参加应有的培训课程。</a:t>
            </a:r>
            <a:endParaRPr lang="en-US" altLang="zh-CN" sz="2000" b="1" dirty="0"/>
          </a:p>
        </p:txBody>
      </p:sp>
      <p:sp>
        <p:nvSpPr>
          <p:cNvPr id="2" name="矩形 1"/>
          <p:cNvSpPr/>
          <p:nvPr/>
        </p:nvSpPr>
        <p:spPr>
          <a:xfrm>
            <a:off x="3563888" y="188640"/>
            <a:ext cx="3024336" cy="584775"/>
          </a:xfrm>
          <a:prstGeom prst="rect">
            <a:avLst/>
          </a:prstGeom>
        </p:spPr>
        <p:txBody>
          <a:bodyPr wrap="square">
            <a:spAutoFit/>
          </a:bodyPr>
          <a:lstStyle/>
          <a:p>
            <a:r>
              <a:rPr lang="zh-CN" altLang="en-US" sz="3200" b="1" dirty="0">
                <a:latin typeface="+mj-lt"/>
                <a:ea typeface="+mj-ea"/>
                <a:cs typeface="+mj-cs"/>
              </a:rPr>
              <a:t>数据分析利用</a:t>
            </a:r>
          </a:p>
        </p:txBody>
      </p:sp>
    </p:spTree>
    <p:extLst>
      <p:ext uri="{BB962C8B-B14F-4D97-AF65-F5344CB8AC3E}">
        <p14:creationId xmlns:p14="http://schemas.microsoft.com/office/powerpoint/2010/main" val="8638752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t>企业信息化发展阶段</a:t>
            </a:r>
          </a:p>
        </p:txBody>
      </p:sp>
      <p:grpSp>
        <p:nvGrpSpPr>
          <p:cNvPr id="2" name="组合 1"/>
          <p:cNvGrpSpPr/>
          <p:nvPr/>
        </p:nvGrpSpPr>
        <p:grpSpPr>
          <a:xfrm>
            <a:off x="1896616" y="1902804"/>
            <a:ext cx="7211888" cy="4114800"/>
            <a:chOff x="381000" y="1905000"/>
            <a:chExt cx="7620000" cy="4114800"/>
          </a:xfrm>
        </p:grpSpPr>
        <p:sp>
          <p:nvSpPr>
            <p:cNvPr id="23555" name="Line 4"/>
            <p:cNvSpPr>
              <a:spLocks noChangeShapeType="1"/>
            </p:cNvSpPr>
            <p:nvPr/>
          </p:nvSpPr>
          <p:spPr bwMode="auto">
            <a:xfrm>
              <a:off x="838200" y="5715000"/>
              <a:ext cx="7162800" cy="0"/>
            </a:xfrm>
            <a:prstGeom prst="line">
              <a:avLst/>
            </a:prstGeom>
            <a:noFill/>
            <a:ln w="9525">
              <a:solidFill>
                <a:schemeClr val="tx1"/>
              </a:solidFill>
              <a:round/>
              <a:headEnd/>
              <a:tailEnd type="triangle" w="med" len="med"/>
            </a:ln>
          </p:spPr>
          <p:txBody>
            <a:bodyPr/>
            <a:lstStyle/>
            <a:p>
              <a:endParaRPr lang="zh-CN" altLang="en-US"/>
            </a:p>
          </p:txBody>
        </p:sp>
        <p:sp>
          <p:nvSpPr>
            <p:cNvPr id="23556" name="Line 5"/>
            <p:cNvSpPr>
              <a:spLocks noChangeShapeType="1"/>
            </p:cNvSpPr>
            <p:nvPr/>
          </p:nvSpPr>
          <p:spPr bwMode="auto">
            <a:xfrm flipV="1">
              <a:off x="838200" y="1905000"/>
              <a:ext cx="0" cy="3810000"/>
            </a:xfrm>
            <a:prstGeom prst="line">
              <a:avLst/>
            </a:prstGeom>
            <a:noFill/>
            <a:ln w="9525">
              <a:solidFill>
                <a:schemeClr val="tx1"/>
              </a:solidFill>
              <a:round/>
              <a:headEnd/>
              <a:tailEnd type="triangle" w="med" len="med"/>
            </a:ln>
          </p:spPr>
          <p:txBody>
            <a:bodyPr/>
            <a:lstStyle/>
            <a:p>
              <a:endParaRPr lang="zh-CN" altLang="en-US"/>
            </a:p>
          </p:txBody>
        </p:sp>
        <p:sp>
          <p:nvSpPr>
            <p:cNvPr id="23557" name="Line 6"/>
            <p:cNvSpPr>
              <a:spLocks noChangeShapeType="1"/>
            </p:cNvSpPr>
            <p:nvPr/>
          </p:nvSpPr>
          <p:spPr bwMode="auto">
            <a:xfrm>
              <a:off x="838200" y="4724400"/>
              <a:ext cx="1524000" cy="0"/>
            </a:xfrm>
            <a:prstGeom prst="line">
              <a:avLst/>
            </a:prstGeom>
            <a:noFill/>
            <a:ln w="38100">
              <a:solidFill>
                <a:schemeClr val="tx1"/>
              </a:solidFill>
              <a:round/>
              <a:headEnd/>
              <a:tailEnd/>
            </a:ln>
          </p:spPr>
          <p:txBody>
            <a:bodyPr/>
            <a:lstStyle/>
            <a:p>
              <a:endParaRPr lang="zh-CN" altLang="en-US"/>
            </a:p>
          </p:txBody>
        </p:sp>
        <p:sp>
          <p:nvSpPr>
            <p:cNvPr id="23558" name="Line 7"/>
            <p:cNvSpPr>
              <a:spLocks noChangeShapeType="1"/>
            </p:cNvSpPr>
            <p:nvPr/>
          </p:nvSpPr>
          <p:spPr bwMode="auto">
            <a:xfrm flipV="1">
              <a:off x="2362200" y="3962400"/>
              <a:ext cx="0" cy="762000"/>
            </a:xfrm>
            <a:prstGeom prst="line">
              <a:avLst/>
            </a:prstGeom>
            <a:noFill/>
            <a:ln w="38100">
              <a:solidFill>
                <a:schemeClr val="tx1"/>
              </a:solidFill>
              <a:round/>
              <a:headEnd/>
              <a:tailEnd/>
            </a:ln>
          </p:spPr>
          <p:txBody>
            <a:bodyPr/>
            <a:lstStyle/>
            <a:p>
              <a:endParaRPr lang="zh-CN" altLang="en-US"/>
            </a:p>
          </p:txBody>
        </p:sp>
        <p:sp>
          <p:nvSpPr>
            <p:cNvPr id="23559" name="Line 8"/>
            <p:cNvSpPr>
              <a:spLocks noChangeShapeType="1"/>
            </p:cNvSpPr>
            <p:nvPr/>
          </p:nvSpPr>
          <p:spPr bwMode="auto">
            <a:xfrm>
              <a:off x="2362200" y="3962400"/>
              <a:ext cx="1447800" cy="0"/>
            </a:xfrm>
            <a:prstGeom prst="line">
              <a:avLst/>
            </a:prstGeom>
            <a:noFill/>
            <a:ln w="38100">
              <a:solidFill>
                <a:schemeClr val="tx1"/>
              </a:solidFill>
              <a:round/>
              <a:headEnd/>
              <a:tailEnd/>
            </a:ln>
          </p:spPr>
          <p:txBody>
            <a:bodyPr/>
            <a:lstStyle/>
            <a:p>
              <a:endParaRPr lang="zh-CN" altLang="en-US"/>
            </a:p>
          </p:txBody>
        </p:sp>
        <p:sp>
          <p:nvSpPr>
            <p:cNvPr id="23560" name="Line 9"/>
            <p:cNvSpPr>
              <a:spLocks noChangeShapeType="1"/>
            </p:cNvSpPr>
            <p:nvPr/>
          </p:nvSpPr>
          <p:spPr bwMode="auto">
            <a:xfrm flipV="1">
              <a:off x="3810000" y="3200400"/>
              <a:ext cx="0" cy="762000"/>
            </a:xfrm>
            <a:prstGeom prst="line">
              <a:avLst/>
            </a:prstGeom>
            <a:noFill/>
            <a:ln w="38100">
              <a:solidFill>
                <a:schemeClr val="tx1"/>
              </a:solidFill>
              <a:round/>
              <a:headEnd/>
              <a:tailEnd/>
            </a:ln>
          </p:spPr>
          <p:txBody>
            <a:bodyPr/>
            <a:lstStyle/>
            <a:p>
              <a:endParaRPr lang="zh-CN" altLang="en-US"/>
            </a:p>
          </p:txBody>
        </p:sp>
        <p:sp>
          <p:nvSpPr>
            <p:cNvPr id="23561" name="Line 10"/>
            <p:cNvSpPr>
              <a:spLocks noChangeShapeType="1"/>
            </p:cNvSpPr>
            <p:nvPr/>
          </p:nvSpPr>
          <p:spPr bwMode="auto">
            <a:xfrm>
              <a:off x="3810000" y="3200400"/>
              <a:ext cx="1371600" cy="0"/>
            </a:xfrm>
            <a:prstGeom prst="line">
              <a:avLst/>
            </a:prstGeom>
            <a:noFill/>
            <a:ln w="38100">
              <a:solidFill>
                <a:schemeClr val="tx1"/>
              </a:solidFill>
              <a:round/>
              <a:headEnd/>
              <a:tailEnd/>
            </a:ln>
          </p:spPr>
          <p:txBody>
            <a:bodyPr/>
            <a:lstStyle/>
            <a:p>
              <a:endParaRPr lang="zh-CN" altLang="en-US"/>
            </a:p>
          </p:txBody>
        </p:sp>
        <p:sp>
          <p:nvSpPr>
            <p:cNvPr id="23562" name="Line 11"/>
            <p:cNvSpPr>
              <a:spLocks noChangeShapeType="1"/>
            </p:cNvSpPr>
            <p:nvPr/>
          </p:nvSpPr>
          <p:spPr bwMode="auto">
            <a:xfrm flipV="1">
              <a:off x="5181600" y="2438400"/>
              <a:ext cx="0" cy="762000"/>
            </a:xfrm>
            <a:prstGeom prst="line">
              <a:avLst/>
            </a:prstGeom>
            <a:noFill/>
            <a:ln w="38100">
              <a:solidFill>
                <a:schemeClr val="tx1"/>
              </a:solidFill>
              <a:round/>
              <a:headEnd/>
              <a:tailEnd/>
            </a:ln>
          </p:spPr>
          <p:txBody>
            <a:bodyPr/>
            <a:lstStyle/>
            <a:p>
              <a:endParaRPr lang="zh-CN" altLang="en-US"/>
            </a:p>
          </p:txBody>
        </p:sp>
        <p:sp>
          <p:nvSpPr>
            <p:cNvPr id="23563" name="Line 13"/>
            <p:cNvSpPr>
              <a:spLocks noChangeShapeType="1"/>
            </p:cNvSpPr>
            <p:nvPr/>
          </p:nvSpPr>
          <p:spPr bwMode="auto">
            <a:xfrm>
              <a:off x="5181600" y="2438400"/>
              <a:ext cx="1905000" cy="0"/>
            </a:xfrm>
            <a:prstGeom prst="line">
              <a:avLst/>
            </a:prstGeom>
            <a:noFill/>
            <a:ln w="38100">
              <a:solidFill>
                <a:schemeClr val="tx1"/>
              </a:solidFill>
              <a:round/>
              <a:headEnd/>
              <a:tailEnd type="triangle" w="med" len="med"/>
            </a:ln>
          </p:spPr>
          <p:txBody>
            <a:bodyPr/>
            <a:lstStyle/>
            <a:p>
              <a:endParaRPr lang="zh-CN" altLang="en-US"/>
            </a:p>
          </p:txBody>
        </p:sp>
        <p:sp>
          <p:nvSpPr>
            <p:cNvPr id="23564" name="Rectangle 14"/>
            <p:cNvSpPr>
              <a:spLocks noChangeArrowheads="1"/>
            </p:cNvSpPr>
            <p:nvPr/>
          </p:nvSpPr>
          <p:spPr bwMode="auto">
            <a:xfrm>
              <a:off x="914400" y="4724400"/>
              <a:ext cx="1447800" cy="336550"/>
            </a:xfrm>
            <a:prstGeom prst="rect">
              <a:avLst/>
            </a:prstGeom>
            <a:noFill/>
            <a:ln w="9525">
              <a:noFill/>
              <a:miter lim="800000"/>
              <a:headEnd/>
              <a:tailEnd/>
            </a:ln>
          </p:spPr>
          <p:txBody>
            <a:bodyPr>
              <a:spAutoFit/>
            </a:bodyPr>
            <a:lstStyle/>
            <a:p>
              <a:pPr eaLnBrk="1" hangingPunct="1"/>
              <a:r>
                <a:rPr lang="zh-CN" altLang="en-US" sz="1600" b="1">
                  <a:latin typeface="Arial" charset="0"/>
                </a:rPr>
                <a:t>以流程为核心</a:t>
              </a:r>
            </a:p>
          </p:txBody>
        </p:sp>
        <p:sp>
          <p:nvSpPr>
            <p:cNvPr id="23565" name="Rectangle 15"/>
            <p:cNvSpPr>
              <a:spLocks noChangeArrowheads="1"/>
            </p:cNvSpPr>
            <p:nvPr/>
          </p:nvSpPr>
          <p:spPr bwMode="auto">
            <a:xfrm>
              <a:off x="2438400" y="3962400"/>
              <a:ext cx="1447800" cy="336550"/>
            </a:xfrm>
            <a:prstGeom prst="rect">
              <a:avLst/>
            </a:prstGeom>
            <a:noFill/>
            <a:ln w="9525">
              <a:noFill/>
              <a:miter lim="800000"/>
              <a:headEnd/>
              <a:tailEnd/>
            </a:ln>
          </p:spPr>
          <p:txBody>
            <a:bodyPr>
              <a:spAutoFit/>
            </a:bodyPr>
            <a:lstStyle/>
            <a:p>
              <a:pPr eaLnBrk="1" hangingPunct="1"/>
              <a:r>
                <a:rPr lang="zh-CN" altLang="en-US" sz="1600" b="1">
                  <a:latin typeface="Arial" charset="0"/>
                </a:rPr>
                <a:t>以平台为核心</a:t>
              </a:r>
            </a:p>
          </p:txBody>
        </p:sp>
        <p:sp>
          <p:nvSpPr>
            <p:cNvPr id="23566" name="Rectangle 16"/>
            <p:cNvSpPr>
              <a:spLocks noChangeArrowheads="1"/>
            </p:cNvSpPr>
            <p:nvPr/>
          </p:nvSpPr>
          <p:spPr bwMode="auto">
            <a:xfrm>
              <a:off x="3810000" y="3200400"/>
              <a:ext cx="1676400" cy="336550"/>
            </a:xfrm>
            <a:prstGeom prst="rect">
              <a:avLst/>
            </a:prstGeom>
            <a:noFill/>
            <a:ln w="9525">
              <a:noFill/>
              <a:miter lim="800000"/>
              <a:headEnd/>
              <a:tailEnd/>
            </a:ln>
          </p:spPr>
          <p:txBody>
            <a:bodyPr>
              <a:spAutoFit/>
            </a:bodyPr>
            <a:lstStyle/>
            <a:p>
              <a:pPr eaLnBrk="1" hangingPunct="1"/>
              <a:r>
                <a:rPr lang="zh-CN" altLang="en-US" sz="1600" b="1">
                  <a:latin typeface="Arial" charset="0"/>
                </a:rPr>
                <a:t>以供应链为核心</a:t>
              </a:r>
            </a:p>
          </p:txBody>
        </p:sp>
        <p:sp>
          <p:nvSpPr>
            <p:cNvPr id="23567" name="Rectangle 17"/>
            <p:cNvSpPr>
              <a:spLocks noChangeArrowheads="1"/>
            </p:cNvSpPr>
            <p:nvPr/>
          </p:nvSpPr>
          <p:spPr bwMode="auto">
            <a:xfrm>
              <a:off x="5410200" y="2514600"/>
              <a:ext cx="1447800" cy="336550"/>
            </a:xfrm>
            <a:prstGeom prst="rect">
              <a:avLst/>
            </a:prstGeom>
            <a:noFill/>
            <a:ln w="9525">
              <a:noFill/>
              <a:miter lim="800000"/>
              <a:headEnd/>
              <a:tailEnd/>
            </a:ln>
          </p:spPr>
          <p:txBody>
            <a:bodyPr>
              <a:spAutoFit/>
            </a:bodyPr>
            <a:lstStyle/>
            <a:p>
              <a:pPr eaLnBrk="1" hangingPunct="1"/>
              <a:r>
                <a:rPr lang="zh-CN" altLang="en-US" sz="1600" b="1">
                  <a:latin typeface="Arial" charset="0"/>
                </a:rPr>
                <a:t>以网络为核心</a:t>
              </a:r>
            </a:p>
          </p:txBody>
        </p:sp>
        <p:sp>
          <p:nvSpPr>
            <p:cNvPr id="23568" name="Rectangle 18"/>
            <p:cNvSpPr>
              <a:spLocks noChangeArrowheads="1"/>
            </p:cNvSpPr>
            <p:nvPr/>
          </p:nvSpPr>
          <p:spPr bwMode="auto">
            <a:xfrm>
              <a:off x="5562600" y="2057400"/>
              <a:ext cx="1143000" cy="336550"/>
            </a:xfrm>
            <a:prstGeom prst="rect">
              <a:avLst/>
            </a:prstGeom>
            <a:noFill/>
            <a:ln w="9525">
              <a:noFill/>
              <a:miter lim="800000"/>
              <a:headEnd/>
              <a:tailEnd/>
            </a:ln>
          </p:spPr>
          <p:txBody>
            <a:bodyPr>
              <a:spAutoFit/>
            </a:bodyPr>
            <a:lstStyle/>
            <a:p>
              <a:pPr eaLnBrk="1" hangingPunct="1"/>
              <a:r>
                <a:rPr lang="zh-CN" altLang="en-US" sz="1600" b="1">
                  <a:latin typeface="Arial" charset="0"/>
                </a:rPr>
                <a:t>规模导向</a:t>
              </a:r>
            </a:p>
          </p:txBody>
        </p:sp>
        <p:sp>
          <p:nvSpPr>
            <p:cNvPr id="23569" name="Rectangle 19"/>
            <p:cNvSpPr>
              <a:spLocks noChangeArrowheads="1"/>
            </p:cNvSpPr>
            <p:nvPr/>
          </p:nvSpPr>
          <p:spPr bwMode="auto">
            <a:xfrm>
              <a:off x="4114800" y="2863850"/>
              <a:ext cx="1143000" cy="336550"/>
            </a:xfrm>
            <a:prstGeom prst="rect">
              <a:avLst/>
            </a:prstGeom>
            <a:noFill/>
            <a:ln w="9525">
              <a:noFill/>
              <a:miter lim="800000"/>
              <a:headEnd/>
              <a:tailEnd/>
            </a:ln>
          </p:spPr>
          <p:txBody>
            <a:bodyPr>
              <a:spAutoFit/>
            </a:bodyPr>
            <a:lstStyle/>
            <a:p>
              <a:pPr eaLnBrk="1" hangingPunct="1"/>
              <a:r>
                <a:rPr lang="zh-CN" altLang="en-US" sz="1600" b="1">
                  <a:latin typeface="Arial" charset="0"/>
                </a:rPr>
                <a:t>集成导向</a:t>
              </a:r>
            </a:p>
          </p:txBody>
        </p:sp>
        <p:sp>
          <p:nvSpPr>
            <p:cNvPr id="23570" name="Rectangle 20"/>
            <p:cNvSpPr>
              <a:spLocks noChangeArrowheads="1"/>
            </p:cNvSpPr>
            <p:nvPr/>
          </p:nvSpPr>
          <p:spPr bwMode="auto">
            <a:xfrm>
              <a:off x="2667000" y="3625850"/>
              <a:ext cx="1143000" cy="336550"/>
            </a:xfrm>
            <a:prstGeom prst="rect">
              <a:avLst/>
            </a:prstGeom>
            <a:noFill/>
            <a:ln w="9525">
              <a:noFill/>
              <a:miter lim="800000"/>
              <a:headEnd/>
              <a:tailEnd/>
            </a:ln>
          </p:spPr>
          <p:txBody>
            <a:bodyPr>
              <a:spAutoFit/>
            </a:bodyPr>
            <a:lstStyle/>
            <a:p>
              <a:pPr eaLnBrk="1" hangingPunct="1"/>
              <a:r>
                <a:rPr lang="zh-CN" altLang="en-US" sz="1600" b="1">
                  <a:latin typeface="Arial" charset="0"/>
                </a:rPr>
                <a:t>管理导向</a:t>
              </a:r>
            </a:p>
          </p:txBody>
        </p:sp>
        <p:sp>
          <p:nvSpPr>
            <p:cNvPr id="23571" name="Rectangle 21"/>
            <p:cNvSpPr>
              <a:spLocks noChangeArrowheads="1"/>
            </p:cNvSpPr>
            <p:nvPr/>
          </p:nvSpPr>
          <p:spPr bwMode="auto">
            <a:xfrm>
              <a:off x="1066800" y="4343400"/>
              <a:ext cx="1143000" cy="336550"/>
            </a:xfrm>
            <a:prstGeom prst="rect">
              <a:avLst/>
            </a:prstGeom>
            <a:noFill/>
            <a:ln w="9525">
              <a:noFill/>
              <a:miter lim="800000"/>
              <a:headEnd/>
              <a:tailEnd/>
            </a:ln>
          </p:spPr>
          <p:txBody>
            <a:bodyPr>
              <a:spAutoFit/>
            </a:bodyPr>
            <a:lstStyle/>
            <a:p>
              <a:pPr eaLnBrk="1" hangingPunct="1"/>
              <a:r>
                <a:rPr lang="zh-CN" altLang="en-US" sz="1600" b="1">
                  <a:latin typeface="Arial" charset="0"/>
                </a:rPr>
                <a:t>效率导向</a:t>
              </a:r>
            </a:p>
          </p:txBody>
        </p:sp>
        <p:sp>
          <p:nvSpPr>
            <p:cNvPr id="23572" name="Rectangle 22"/>
            <p:cNvSpPr>
              <a:spLocks noChangeArrowheads="1"/>
            </p:cNvSpPr>
            <p:nvPr/>
          </p:nvSpPr>
          <p:spPr bwMode="auto">
            <a:xfrm>
              <a:off x="381000" y="2784475"/>
              <a:ext cx="381000" cy="1558925"/>
            </a:xfrm>
            <a:prstGeom prst="rect">
              <a:avLst/>
            </a:prstGeom>
            <a:noFill/>
            <a:ln w="9525">
              <a:noFill/>
              <a:miter lim="800000"/>
              <a:headEnd/>
              <a:tailEnd/>
            </a:ln>
          </p:spPr>
          <p:txBody>
            <a:bodyPr>
              <a:spAutoFit/>
            </a:bodyPr>
            <a:lstStyle/>
            <a:p>
              <a:pPr eaLnBrk="1" hangingPunct="1"/>
              <a:r>
                <a:rPr lang="zh-CN" altLang="en-US" sz="1600" b="1">
                  <a:latin typeface="Arial" charset="0"/>
                </a:rPr>
                <a:t>资</a:t>
              </a:r>
            </a:p>
            <a:p>
              <a:pPr eaLnBrk="1" hangingPunct="1"/>
              <a:r>
                <a:rPr lang="zh-CN" altLang="en-US" sz="1600" b="1">
                  <a:latin typeface="Arial" charset="0"/>
                </a:rPr>
                <a:t>源</a:t>
              </a:r>
            </a:p>
            <a:p>
              <a:pPr eaLnBrk="1" hangingPunct="1"/>
              <a:r>
                <a:rPr lang="zh-CN" altLang="en-US" sz="1600" b="1">
                  <a:latin typeface="Arial" charset="0"/>
                </a:rPr>
                <a:t>整</a:t>
              </a:r>
            </a:p>
            <a:p>
              <a:pPr eaLnBrk="1" hangingPunct="1"/>
              <a:r>
                <a:rPr lang="zh-CN" altLang="en-US" sz="1600" b="1">
                  <a:latin typeface="Arial" charset="0"/>
                </a:rPr>
                <a:t>合</a:t>
              </a:r>
            </a:p>
            <a:p>
              <a:pPr eaLnBrk="1" hangingPunct="1"/>
              <a:r>
                <a:rPr lang="zh-CN" altLang="en-US" sz="1600" b="1">
                  <a:latin typeface="Arial" charset="0"/>
                </a:rPr>
                <a:t>程</a:t>
              </a:r>
            </a:p>
            <a:p>
              <a:pPr eaLnBrk="1" hangingPunct="1"/>
              <a:r>
                <a:rPr lang="zh-CN" altLang="en-US" sz="1600" b="1">
                  <a:latin typeface="Arial" charset="0"/>
                </a:rPr>
                <a:t>度</a:t>
              </a:r>
            </a:p>
          </p:txBody>
        </p:sp>
        <p:sp>
          <p:nvSpPr>
            <p:cNvPr id="23573" name="Rectangle 23"/>
            <p:cNvSpPr>
              <a:spLocks noChangeArrowheads="1"/>
            </p:cNvSpPr>
            <p:nvPr/>
          </p:nvSpPr>
          <p:spPr bwMode="auto">
            <a:xfrm>
              <a:off x="3581400" y="5683250"/>
              <a:ext cx="1143000" cy="336550"/>
            </a:xfrm>
            <a:prstGeom prst="rect">
              <a:avLst/>
            </a:prstGeom>
            <a:noFill/>
            <a:ln w="9525">
              <a:noFill/>
              <a:miter lim="800000"/>
              <a:headEnd/>
              <a:tailEnd/>
            </a:ln>
          </p:spPr>
          <p:txBody>
            <a:bodyPr>
              <a:spAutoFit/>
            </a:bodyPr>
            <a:lstStyle/>
            <a:p>
              <a:pPr eaLnBrk="1" hangingPunct="1"/>
              <a:r>
                <a:rPr lang="zh-CN" altLang="en-US" sz="1600" b="1">
                  <a:latin typeface="Arial" charset="0"/>
                </a:rPr>
                <a:t>战略层面</a:t>
              </a:r>
            </a:p>
          </p:txBody>
        </p:sp>
      </p:grpSp>
      <p:grpSp>
        <p:nvGrpSpPr>
          <p:cNvPr id="23" name="组合 22"/>
          <p:cNvGrpSpPr/>
          <p:nvPr/>
        </p:nvGrpSpPr>
        <p:grpSpPr>
          <a:xfrm>
            <a:off x="1483646" y="1475766"/>
            <a:ext cx="7505445" cy="4968875"/>
            <a:chOff x="323850" y="1268413"/>
            <a:chExt cx="8255000" cy="4968875"/>
          </a:xfrm>
        </p:grpSpPr>
        <p:pic>
          <p:nvPicPr>
            <p:cNvPr id="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1268413"/>
              <a:ext cx="4176713" cy="2293937"/>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pic>
        <p:pic>
          <p:nvPicPr>
            <p:cNvPr id="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268413"/>
              <a:ext cx="4006850" cy="2305050"/>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pic>
        <p:pic>
          <p:nvPicPr>
            <p:cNvPr id="2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288" y="3644900"/>
              <a:ext cx="4092575" cy="2592388"/>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pic>
        <p:pic>
          <p:nvPicPr>
            <p:cNvPr id="2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3644900"/>
              <a:ext cx="3990975" cy="2592388"/>
            </a:xfrm>
            <a:prstGeom prst="rect">
              <a:avLst/>
            </a:prstGeom>
            <a:noFill/>
            <a:ln w="9525"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17961" dir="2700000" algn="ctr" rotWithShape="0">
                      <a:schemeClr val="bg2"/>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t>商业集成需求</a:t>
            </a:r>
          </a:p>
        </p:txBody>
      </p:sp>
      <p:grpSp>
        <p:nvGrpSpPr>
          <p:cNvPr id="5" name="组合 4"/>
          <p:cNvGrpSpPr/>
          <p:nvPr/>
        </p:nvGrpSpPr>
        <p:grpSpPr>
          <a:xfrm>
            <a:off x="1835696" y="1676400"/>
            <a:ext cx="7162800" cy="4413250"/>
            <a:chOff x="914400" y="1676400"/>
            <a:chExt cx="7162800" cy="4413250"/>
          </a:xfrm>
        </p:grpSpPr>
        <p:grpSp>
          <p:nvGrpSpPr>
            <p:cNvPr id="2" name="Group 5"/>
            <p:cNvGrpSpPr>
              <a:grpSpLocks/>
            </p:cNvGrpSpPr>
            <p:nvPr/>
          </p:nvGrpSpPr>
          <p:grpSpPr bwMode="auto">
            <a:xfrm>
              <a:off x="914400" y="1971675"/>
              <a:ext cx="7162800" cy="3962400"/>
              <a:chOff x="696" y="1410"/>
              <a:chExt cx="4512" cy="2496"/>
            </a:xfrm>
          </p:grpSpPr>
          <p:sp>
            <p:nvSpPr>
              <p:cNvPr id="14362" name="Oval 6"/>
              <p:cNvSpPr>
                <a:spLocks noChangeArrowheads="1"/>
              </p:cNvSpPr>
              <p:nvPr/>
            </p:nvSpPr>
            <p:spPr bwMode="auto">
              <a:xfrm>
                <a:off x="696" y="1410"/>
                <a:ext cx="4512" cy="2496"/>
              </a:xfrm>
              <a:prstGeom prst="ellipse">
                <a:avLst/>
              </a:prstGeom>
              <a:solidFill>
                <a:schemeClr val="folHlink">
                  <a:alpha val="50195"/>
                </a:schemeClr>
              </a:solidFill>
              <a:ln w="9525">
                <a:solidFill>
                  <a:schemeClr val="tx1"/>
                </a:solidFill>
                <a:round/>
                <a:headEnd/>
                <a:tailEnd/>
              </a:ln>
            </p:spPr>
            <p:txBody>
              <a:bodyPr wrap="none" anchor="ctr"/>
              <a:lstStyle/>
              <a:p>
                <a:endParaRPr lang="zh-CN" altLang="en-US"/>
              </a:p>
            </p:txBody>
          </p:sp>
          <p:sp>
            <p:nvSpPr>
              <p:cNvPr id="14363" name="Line 7"/>
              <p:cNvSpPr>
                <a:spLocks noChangeShapeType="1"/>
              </p:cNvSpPr>
              <p:nvPr/>
            </p:nvSpPr>
            <p:spPr bwMode="auto">
              <a:xfrm>
                <a:off x="1560" y="1986"/>
                <a:ext cx="2544" cy="0"/>
              </a:xfrm>
              <a:prstGeom prst="line">
                <a:avLst/>
              </a:prstGeom>
              <a:noFill/>
              <a:ln w="9525">
                <a:solidFill>
                  <a:srgbClr val="969696"/>
                </a:solidFill>
                <a:round/>
                <a:headEnd/>
                <a:tailEnd/>
              </a:ln>
            </p:spPr>
            <p:txBody>
              <a:bodyPr wrap="none" anchor="ctr"/>
              <a:lstStyle/>
              <a:p>
                <a:endParaRPr lang="zh-CN" altLang="en-US"/>
              </a:p>
            </p:txBody>
          </p:sp>
          <p:sp>
            <p:nvSpPr>
              <p:cNvPr id="14364" name="Line 8"/>
              <p:cNvSpPr>
                <a:spLocks noChangeShapeType="1"/>
              </p:cNvSpPr>
              <p:nvPr/>
            </p:nvSpPr>
            <p:spPr bwMode="auto">
              <a:xfrm>
                <a:off x="4104" y="1986"/>
                <a:ext cx="816" cy="1056"/>
              </a:xfrm>
              <a:prstGeom prst="line">
                <a:avLst/>
              </a:prstGeom>
              <a:noFill/>
              <a:ln w="9525">
                <a:solidFill>
                  <a:srgbClr val="969696"/>
                </a:solidFill>
                <a:round/>
                <a:headEnd/>
                <a:tailEnd/>
              </a:ln>
            </p:spPr>
            <p:txBody>
              <a:bodyPr wrap="none" anchor="ctr"/>
              <a:lstStyle/>
              <a:p>
                <a:endParaRPr lang="zh-CN" altLang="en-US"/>
              </a:p>
            </p:txBody>
          </p:sp>
          <p:sp>
            <p:nvSpPr>
              <p:cNvPr id="14365" name="Line 9"/>
              <p:cNvSpPr>
                <a:spLocks noChangeShapeType="1"/>
              </p:cNvSpPr>
              <p:nvPr/>
            </p:nvSpPr>
            <p:spPr bwMode="auto">
              <a:xfrm>
                <a:off x="3864" y="1986"/>
                <a:ext cx="720" cy="1296"/>
              </a:xfrm>
              <a:prstGeom prst="line">
                <a:avLst/>
              </a:prstGeom>
              <a:noFill/>
              <a:ln w="9525">
                <a:solidFill>
                  <a:srgbClr val="969696"/>
                </a:solidFill>
                <a:round/>
                <a:headEnd/>
                <a:tailEnd/>
              </a:ln>
            </p:spPr>
            <p:txBody>
              <a:bodyPr wrap="none" anchor="ctr"/>
              <a:lstStyle/>
              <a:p>
                <a:endParaRPr lang="zh-CN" altLang="en-US"/>
              </a:p>
            </p:txBody>
          </p:sp>
          <p:sp>
            <p:nvSpPr>
              <p:cNvPr id="14366" name="Line 10"/>
              <p:cNvSpPr>
                <a:spLocks noChangeShapeType="1"/>
              </p:cNvSpPr>
              <p:nvPr/>
            </p:nvSpPr>
            <p:spPr bwMode="auto">
              <a:xfrm>
                <a:off x="3624" y="1986"/>
                <a:ext cx="288" cy="1536"/>
              </a:xfrm>
              <a:prstGeom prst="line">
                <a:avLst/>
              </a:prstGeom>
              <a:noFill/>
              <a:ln w="9525">
                <a:solidFill>
                  <a:srgbClr val="969696"/>
                </a:solidFill>
                <a:round/>
                <a:headEnd/>
                <a:tailEnd/>
              </a:ln>
            </p:spPr>
            <p:txBody>
              <a:bodyPr wrap="none" anchor="ctr"/>
              <a:lstStyle/>
              <a:p>
                <a:endParaRPr lang="zh-CN" altLang="en-US"/>
              </a:p>
            </p:txBody>
          </p:sp>
          <p:sp>
            <p:nvSpPr>
              <p:cNvPr id="14367" name="Line 11"/>
              <p:cNvSpPr>
                <a:spLocks noChangeShapeType="1"/>
              </p:cNvSpPr>
              <p:nvPr/>
            </p:nvSpPr>
            <p:spPr bwMode="auto">
              <a:xfrm flipH="1">
                <a:off x="3144" y="1986"/>
                <a:ext cx="144" cy="1776"/>
              </a:xfrm>
              <a:prstGeom prst="line">
                <a:avLst/>
              </a:prstGeom>
              <a:noFill/>
              <a:ln w="9525">
                <a:solidFill>
                  <a:srgbClr val="969696"/>
                </a:solidFill>
                <a:round/>
                <a:headEnd/>
                <a:tailEnd/>
              </a:ln>
            </p:spPr>
            <p:txBody>
              <a:bodyPr wrap="none" anchor="ctr"/>
              <a:lstStyle/>
              <a:p>
                <a:endParaRPr lang="zh-CN" altLang="en-US"/>
              </a:p>
            </p:txBody>
          </p:sp>
          <p:sp>
            <p:nvSpPr>
              <p:cNvPr id="14368" name="Line 12"/>
              <p:cNvSpPr>
                <a:spLocks noChangeShapeType="1"/>
              </p:cNvSpPr>
              <p:nvPr/>
            </p:nvSpPr>
            <p:spPr bwMode="auto">
              <a:xfrm flipH="1">
                <a:off x="2328" y="1986"/>
                <a:ext cx="672" cy="1776"/>
              </a:xfrm>
              <a:prstGeom prst="line">
                <a:avLst/>
              </a:prstGeom>
              <a:noFill/>
              <a:ln w="9525">
                <a:solidFill>
                  <a:srgbClr val="969696"/>
                </a:solidFill>
                <a:round/>
                <a:headEnd/>
                <a:tailEnd/>
              </a:ln>
            </p:spPr>
            <p:txBody>
              <a:bodyPr wrap="none" anchor="ctr"/>
              <a:lstStyle/>
              <a:p>
                <a:endParaRPr lang="zh-CN" altLang="en-US"/>
              </a:p>
            </p:txBody>
          </p:sp>
          <p:sp>
            <p:nvSpPr>
              <p:cNvPr id="14369" name="Line 13"/>
              <p:cNvSpPr>
                <a:spLocks noChangeShapeType="1"/>
              </p:cNvSpPr>
              <p:nvPr/>
            </p:nvSpPr>
            <p:spPr bwMode="auto">
              <a:xfrm flipH="1">
                <a:off x="1560" y="1986"/>
                <a:ext cx="1104" cy="1440"/>
              </a:xfrm>
              <a:prstGeom prst="line">
                <a:avLst/>
              </a:prstGeom>
              <a:noFill/>
              <a:ln w="9525">
                <a:solidFill>
                  <a:srgbClr val="969696"/>
                </a:solidFill>
                <a:round/>
                <a:headEnd/>
                <a:tailEnd/>
              </a:ln>
            </p:spPr>
            <p:txBody>
              <a:bodyPr wrap="none" anchor="ctr"/>
              <a:lstStyle/>
              <a:p>
                <a:endParaRPr lang="zh-CN" altLang="en-US"/>
              </a:p>
            </p:txBody>
          </p:sp>
          <p:sp>
            <p:nvSpPr>
              <p:cNvPr id="14370" name="Line 14"/>
              <p:cNvSpPr>
                <a:spLocks noChangeShapeType="1"/>
              </p:cNvSpPr>
              <p:nvPr/>
            </p:nvSpPr>
            <p:spPr bwMode="auto">
              <a:xfrm flipH="1">
                <a:off x="936" y="1986"/>
                <a:ext cx="1296" cy="1008"/>
              </a:xfrm>
              <a:prstGeom prst="line">
                <a:avLst/>
              </a:prstGeom>
              <a:noFill/>
              <a:ln w="9525">
                <a:solidFill>
                  <a:srgbClr val="969696"/>
                </a:solidFill>
                <a:round/>
                <a:headEnd/>
                <a:tailEnd/>
              </a:ln>
            </p:spPr>
            <p:txBody>
              <a:bodyPr wrap="none" anchor="ctr"/>
              <a:lstStyle/>
              <a:p>
                <a:endParaRPr lang="zh-CN" altLang="en-US"/>
              </a:p>
            </p:txBody>
          </p:sp>
          <p:sp>
            <p:nvSpPr>
              <p:cNvPr id="14371" name="Line 15"/>
              <p:cNvSpPr>
                <a:spLocks noChangeShapeType="1"/>
              </p:cNvSpPr>
              <p:nvPr/>
            </p:nvSpPr>
            <p:spPr bwMode="auto">
              <a:xfrm flipH="1">
                <a:off x="744" y="1986"/>
                <a:ext cx="960" cy="576"/>
              </a:xfrm>
              <a:prstGeom prst="line">
                <a:avLst/>
              </a:prstGeom>
              <a:noFill/>
              <a:ln w="9525">
                <a:solidFill>
                  <a:srgbClr val="969696"/>
                </a:solidFill>
                <a:round/>
                <a:headEnd/>
                <a:tailEnd/>
              </a:ln>
            </p:spPr>
            <p:txBody>
              <a:bodyPr wrap="none" anchor="ctr"/>
              <a:lstStyle/>
              <a:p>
                <a:endParaRPr lang="zh-CN" altLang="en-US"/>
              </a:p>
            </p:txBody>
          </p:sp>
        </p:grpSp>
        <p:sp>
          <p:nvSpPr>
            <p:cNvPr id="14340" name="Oval 16"/>
            <p:cNvSpPr>
              <a:spLocks noChangeArrowheads="1"/>
            </p:cNvSpPr>
            <p:nvPr/>
          </p:nvSpPr>
          <p:spPr bwMode="auto">
            <a:xfrm>
              <a:off x="3733800" y="2124075"/>
              <a:ext cx="990600" cy="914400"/>
            </a:xfrm>
            <a:prstGeom prst="ellipse">
              <a:avLst/>
            </a:prstGeom>
            <a:solidFill>
              <a:schemeClr val="accent2"/>
            </a:solidFill>
            <a:ln w="9525">
              <a:noFill/>
              <a:round/>
              <a:headEnd/>
              <a:tailEnd/>
            </a:ln>
          </p:spPr>
          <p:txBody>
            <a:bodyPr wrap="none" anchor="ctr"/>
            <a:lstStyle/>
            <a:p>
              <a:pPr algn="ctr"/>
              <a:r>
                <a:rPr lang="zh-CN" altLang="en-US" sz="1300" b="1">
                  <a:latin typeface="Tahoma" pitchFamily="34" charset="0"/>
                </a:rPr>
                <a:t>公司收购</a:t>
              </a:r>
              <a:endParaRPr lang="zh-CN" altLang="en-US" sz="1600" b="1">
                <a:latin typeface="Tahoma" pitchFamily="34" charset="0"/>
              </a:endParaRPr>
            </a:p>
          </p:txBody>
        </p:sp>
        <p:grpSp>
          <p:nvGrpSpPr>
            <p:cNvPr id="3" name="Group 17"/>
            <p:cNvGrpSpPr>
              <a:grpSpLocks/>
            </p:cNvGrpSpPr>
            <p:nvPr/>
          </p:nvGrpSpPr>
          <p:grpSpPr bwMode="auto">
            <a:xfrm>
              <a:off x="1295400" y="3267075"/>
              <a:ext cx="6553200" cy="2133600"/>
              <a:chOff x="936" y="2226"/>
              <a:chExt cx="4128" cy="1344"/>
            </a:xfrm>
          </p:grpSpPr>
          <p:sp>
            <p:nvSpPr>
              <p:cNvPr id="14359" name="Oval 18"/>
              <p:cNvSpPr>
                <a:spLocks noChangeArrowheads="1"/>
              </p:cNvSpPr>
              <p:nvPr/>
            </p:nvSpPr>
            <p:spPr bwMode="auto">
              <a:xfrm>
                <a:off x="936" y="2226"/>
                <a:ext cx="720" cy="720"/>
              </a:xfrm>
              <a:prstGeom prst="ellipse">
                <a:avLst/>
              </a:prstGeom>
              <a:solidFill>
                <a:schemeClr val="accent2"/>
              </a:solidFill>
              <a:ln w="9525">
                <a:noFill/>
                <a:round/>
                <a:headEnd/>
                <a:tailEnd/>
              </a:ln>
            </p:spPr>
            <p:txBody>
              <a:bodyPr wrap="none" anchor="ctr"/>
              <a:lstStyle/>
              <a:p>
                <a:pPr algn="ctr"/>
                <a:r>
                  <a:rPr lang="zh-CN" altLang="en-US" sz="1600" b="1">
                    <a:latin typeface="Tahoma" pitchFamily="34" charset="0"/>
                  </a:rPr>
                  <a:t>您的供应商</a:t>
                </a:r>
                <a:endParaRPr lang="zh-CN" altLang="en-US" sz="1600">
                  <a:latin typeface="Tahoma" pitchFamily="34" charset="0"/>
                </a:endParaRPr>
              </a:p>
            </p:txBody>
          </p:sp>
          <p:sp>
            <p:nvSpPr>
              <p:cNvPr id="14360" name="Oval 19"/>
              <p:cNvSpPr>
                <a:spLocks noChangeArrowheads="1"/>
              </p:cNvSpPr>
              <p:nvPr/>
            </p:nvSpPr>
            <p:spPr bwMode="auto">
              <a:xfrm>
                <a:off x="2760" y="2562"/>
                <a:ext cx="1008" cy="1008"/>
              </a:xfrm>
              <a:prstGeom prst="ellipse">
                <a:avLst/>
              </a:prstGeom>
              <a:solidFill>
                <a:schemeClr val="accent2"/>
              </a:solidFill>
              <a:ln w="9525">
                <a:noFill/>
                <a:round/>
                <a:headEnd/>
                <a:tailEnd/>
              </a:ln>
            </p:spPr>
            <p:txBody>
              <a:bodyPr wrap="none" anchor="ctr"/>
              <a:lstStyle/>
              <a:p>
                <a:pPr algn="ctr"/>
                <a:r>
                  <a:rPr lang="zh-CN" altLang="en-US" sz="1600" b="1">
                    <a:latin typeface="Tahoma" pitchFamily="34" charset="0"/>
                  </a:rPr>
                  <a:t>您的公司</a:t>
                </a:r>
              </a:p>
            </p:txBody>
          </p:sp>
          <p:sp>
            <p:nvSpPr>
              <p:cNvPr id="14361" name="Oval 20"/>
              <p:cNvSpPr>
                <a:spLocks noChangeArrowheads="1"/>
              </p:cNvSpPr>
              <p:nvPr/>
            </p:nvSpPr>
            <p:spPr bwMode="auto">
              <a:xfrm>
                <a:off x="4344" y="2274"/>
                <a:ext cx="720" cy="720"/>
              </a:xfrm>
              <a:prstGeom prst="ellipse">
                <a:avLst/>
              </a:prstGeom>
              <a:solidFill>
                <a:schemeClr val="accent2"/>
              </a:solidFill>
              <a:ln w="9525">
                <a:noFill/>
                <a:round/>
                <a:headEnd/>
                <a:tailEnd/>
              </a:ln>
            </p:spPr>
            <p:txBody>
              <a:bodyPr wrap="none" anchor="ctr"/>
              <a:lstStyle/>
              <a:p>
                <a:pPr algn="ctr"/>
                <a:r>
                  <a:rPr lang="zh-CN" altLang="en-US" sz="1600" b="1">
                    <a:latin typeface="Tahoma" pitchFamily="34" charset="0"/>
                  </a:rPr>
                  <a:t>您的客户</a:t>
                </a:r>
              </a:p>
            </p:txBody>
          </p:sp>
        </p:grpSp>
        <p:sp>
          <p:nvSpPr>
            <p:cNvPr id="96277" name="AutoShape 21"/>
            <p:cNvSpPr>
              <a:spLocks noChangeArrowheads="1"/>
            </p:cNvSpPr>
            <p:nvPr/>
          </p:nvSpPr>
          <p:spPr bwMode="auto">
            <a:xfrm rot="1381100">
              <a:off x="1309688" y="1897063"/>
              <a:ext cx="1752600" cy="685800"/>
            </a:xfrm>
            <a:prstGeom prst="rightArrow">
              <a:avLst>
                <a:gd name="adj1" fmla="val 50000"/>
                <a:gd name="adj2" fmla="val 63889"/>
              </a:avLst>
            </a:prstGeom>
            <a:solidFill>
              <a:schemeClr val="hlink"/>
            </a:solidFill>
            <a:ln w="9525">
              <a:miter lim="800000"/>
              <a:headEnd/>
              <a:tailEnd/>
            </a:ln>
            <a:scene3d>
              <a:camera prst="legacyPerspectiveFront">
                <a:rot lat="20099998" lon="20099998" rev="0"/>
              </a:camera>
              <a:lightRig rig="legacyFlat2" dir="t"/>
            </a:scene3d>
            <a:sp3d extrusionH="430200" prstMaterial="legacyMatte">
              <a:bevelT w="13500" h="13500" prst="angle"/>
              <a:bevelB w="13500" h="13500" prst="angle"/>
              <a:extrusionClr>
                <a:schemeClr val="hlink"/>
              </a:extrusionClr>
            </a:sp3d>
          </p:spPr>
          <p:txBody>
            <a:bodyPr wrap="none" anchor="ctr">
              <a:flatTx/>
            </a:bodyPr>
            <a:lstStyle/>
            <a:p>
              <a:endParaRPr lang="zh-CN" altLang="en-US"/>
            </a:p>
          </p:txBody>
        </p:sp>
        <p:sp>
          <p:nvSpPr>
            <p:cNvPr id="96278" name="AutoShape 22"/>
            <p:cNvSpPr>
              <a:spLocks noChangeArrowheads="1"/>
            </p:cNvSpPr>
            <p:nvPr/>
          </p:nvSpPr>
          <p:spPr bwMode="auto">
            <a:xfrm rot="-2269658">
              <a:off x="1447800" y="5019675"/>
              <a:ext cx="1371600" cy="685800"/>
            </a:xfrm>
            <a:prstGeom prst="rightArrow">
              <a:avLst>
                <a:gd name="adj1" fmla="val 50000"/>
                <a:gd name="adj2" fmla="val 50000"/>
              </a:avLst>
            </a:prstGeom>
            <a:solidFill>
              <a:schemeClr val="hlink"/>
            </a:solidFill>
            <a:ln w="9525">
              <a:miter lim="800000"/>
              <a:headEnd/>
              <a:tailEnd/>
            </a:ln>
            <a:scene3d>
              <a:camera prst="legacyPerspectiveFront">
                <a:rot lat="20099998" lon="20099998" rev="0"/>
              </a:camera>
              <a:lightRig rig="legacyFlat2" dir="t"/>
            </a:scene3d>
            <a:sp3d extrusionH="430200" prstMaterial="legacyMatte">
              <a:bevelT w="13500" h="13500" prst="angle"/>
              <a:bevelB w="13500" h="13500" prst="angle"/>
              <a:extrusionClr>
                <a:schemeClr val="hlink"/>
              </a:extrusionClr>
            </a:sp3d>
          </p:spPr>
          <p:txBody>
            <a:bodyPr wrap="none" anchor="ctr">
              <a:flatTx/>
            </a:bodyPr>
            <a:lstStyle/>
            <a:p>
              <a:endParaRPr lang="zh-CN" altLang="en-US"/>
            </a:p>
          </p:txBody>
        </p:sp>
        <p:sp>
          <p:nvSpPr>
            <p:cNvPr id="14344" name="AutoShape 23"/>
            <p:cNvSpPr>
              <a:spLocks noChangeArrowheads="1"/>
            </p:cNvSpPr>
            <p:nvPr/>
          </p:nvSpPr>
          <p:spPr bwMode="auto">
            <a:xfrm rot="-1615273">
              <a:off x="6389688" y="1931988"/>
              <a:ext cx="1541462" cy="685800"/>
            </a:xfrm>
            <a:prstGeom prst="leftArrow">
              <a:avLst>
                <a:gd name="adj1" fmla="val 50000"/>
                <a:gd name="adj2" fmla="val 56192"/>
              </a:avLst>
            </a:prstGeom>
            <a:solidFill>
              <a:schemeClr val="hlink"/>
            </a:solidFill>
            <a:ln w="9525">
              <a:miter lim="800000"/>
              <a:headEnd/>
              <a:tailEnd/>
            </a:ln>
            <a:scene3d>
              <a:camera prst="legacyPerspectiveFront">
                <a:rot lat="20099998"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zh-CN" altLang="en-US"/>
            </a:p>
          </p:txBody>
        </p:sp>
        <p:sp>
          <p:nvSpPr>
            <p:cNvPr id="14345" name="AutoShape 24"/>
            <p:cNvSpPr>
              <a:spLocks noChangeArrowheads="1"/>
            </p:cNvSpPr>
            <p:nvPr/>
          </p:nvSpPr>
          <p:spPr bwMode="auto">
            <a:xfrm rot="1953772">
              <a:off x="6286500" y="4991100"/>
              <a:ext cx="1524000" cy="609600"/>
            </a:xfrm>
            <a:prstGeom prst="leftArrow">
              <a:avLst>
                <a:gd name="adj1" fmla="val 50000"/>
                <a:gd name="adj2" fmla="val 62500"/>
              </a:avLst>
            </a:prstGeom>
            <a:solidFill>
              <a:schemeClr val="hlink"/>
            </a:solidFill>
            <a:ln w="9525">
              <a:miter lim="800000"/>
              <a:headEnd/>
              <a:tailEnd/>
            </a:ln>
            <a:scene3d>
              <a:camera prst="legacyPerspectiveFront">
                <a:rot lat="20099998" lon="1500000" rev="0"/>
              </a:camera>
              <a:lightRig rig="legacyFlat4" dir="b"/>
            </a:scene3d>
            <a:sp3d extrusionH="430200" prstMaterial="legacyMatte">
              <a:bevelT w="13500" h="13500" prst="angle"/>
              <a:bevelB w="13500" h="13500" prst="angle"/>
              <a:extrusionClr>
                <a:schemeClr val="hlink"/>
              </a:extrusionClr>
            </a:sp3d>
          </p:spPr>
          <p:txBody>
            <a:bodyPr wrap="none" anchor="ctr">
              <a:flatTx/>
            </a:bodyPr>
            <a:lstStyle/>
            <a:p>
              <a:endParaRPr lang="zh-CN" altLang="en-US"/>
            </a:p>
          </p:txBody>
        </p:sp>
        <p:sp>
          <p:nvSpPr>
            <p:cNvPr id="14346" name="Text Box 25"/>
            <p:cNvSpPr txBox="1">
              <a:spLocks noChangeArrowheads="1"/>
            </p:cNvSpPr>
            <p:nvPr/>
          </p:nvSpPr>
          <p:spPr bwMode="auto">
            <a:xfrm>
              <a:off x="2019300" y="1682750"/>
              <a:ext cx="1600200" cy="336550"/>
            </a:xfrm>
            <a:prstGeom prst="rect">
              <a:avLst/>
            </a:prstGeom>
            <a:noFill/>
            <a:ln w="9525">
              <a:noFill/>
              <a:miter lim="800000"/>
              <a:headEnd/>
              <a:tailEnd/>
            </a:ln>
          </p:spPr>
          <p:txBody>
            <a:bodyPr>
              <a:spAutoFit/>
            </a:bodyPr>
            <a:lstStyle/>
            <a:p>
              <a:pPr>
                <a:spcBef>
                  <a:spcPct val="50000"/>
                </a:spcBef>
              </a:pPr>
              <a:r>
                <a:rPr lang="zh-CN" altLang="en-US" sz="1600" b="1">
                  <a:latin typeface="Tahoma" pitchFamily="34" charset="0"/>
                </a:rPr>
                <a:t>全球化</a:t>
              </a:r>
              <a:endParaRPr lang="zh-CN" altLang="en-US" sz="1600">
                <a:latin typeface="Tahoma" pitchFamily="34" charset="0"/>
              </a:endParaRPr>
            </a:p>
          </p:txBody>
        </p:sp>
        <p:sp>
          <p:nvSpPr>
            <p:cNvPr id="14347" name="Text Box 26"/>
            <p:cNvSpPr txBox="1">
              <a:spLocks noChangeArrowheads="1"/>
            </p:cNvSpPr>
            <p:nvPr/>
          </p:nvSpPr>
          <p:spPr bwMode="auto">
            <a:xfrm>
              <a:off x="5981700" y="1676400"/>
              <a:ext cx="996950" cy="336550"/>
            </a:xfrm>
            <a:prstGeom prst="rect">
              <a:avLst/>
            </a:prstGeom>
            <a:noFill/>
            <a:ln w="9525">
              <a:noFill/>
              <a:miter lim="800000"/>
              <a:headEnd/>
              <a:tailEnd/>
            </a:ln>
          </p:spPr>
          <p:txBody>
            <a:bodyPr wrap="none">
              <a:spAutoFit/>
            </a:bodyPr>
            <a:lstStyle/>
            <a:p>
              <a:r>
                <a:rPr lang="zh-CN" altLang="en-US" sz="1600" b="1">
                  <a:latin typeface="Tahoma" pitchFamily="34" charset="0"/>
                </a:rPr>
                <a:t>电子商务</a:t>
              </a:r>
              <a:endParaRPr lang="zh-CN" altLang="en-US" sz="1600" b="1">
                <a:solidFill>
                  <a:srgbClr val="FFFFFF"/>
                </a:solidFill>
                <a:latin typeface="Tahoma" pitchFamily="34" charset="0"/>
              </a:endParaRPr>
            </a:p>
          </p:txBody>
        </p:sp>
        <p:sp>
          <p:nvSpPr>
            <p:cNvPr id="96283" name="Text Box 27"/>
            <p:cNvSpPr txBox="1">
              <a:spLocks noChangeArrowheads="1"/>
            </p:cNvSpPr>
            <p:nvPr/>
          </p:nvSpPr>
          <p:spPr bwMode="auto">
            <a:xfrm>
              <a:off x="2019300" y="5753100"/>
              <a:ext cx="1200150" cy="336550"/>
            </a:xfrm>
            <a:prstGeom prst="rect">
              <a:avLst/>
            </a:prstGeom>
            <a:noFill/>
            <a:ln w="9525">
              <a:noFill/>
              <a:miter lim="800000"/>
              <a:headEnd/>
              <a:tailEnd/>
            </a:ln>
          </p:spPr>
          <p:txBody>
            <a:bodyPr wrap="none">
              <a:spAutoFit/>
            </a:bodyPr>
            <a:lstStyle/>
            <a:p>
              <a:r>
                <a:rPr lang="zh-CN" altLang="en-US" sz="1600" b="1">
                  <a:latin typeface="Tahoma" pitchFamily="34" charset="0"/>
                </a:rPr>
                <a:t>成本及周期</a:t>
              </a:r>
              <a:endParaRPr lang="zh-CN" altLang="en-US" sz="1600">
                <a:latin typeface="Tahoma" pitchFamily="34" charset="0"/>
              </a:endParaRPr>
            </a:p>
          </p:txBody>
        </p:sp>
        <p:sp>
          <p:nvSpPr>
            <p:cNvPr id="14349" name="Text Box 28"/>
            <p:cNvSpPr txBox="1">
              <a:spLocks noChangeArrowheads="1"/>
            </p:cNvSpPr>
            <p:nvPr/>
          </p:nvSpPr>
          <p:spPr bwMode="auto">
            <a:xfrm>
              <a:off x="5681663" y="5676900"/>
              <a:ext cx="1403350" cy="336550"/>
            </a:xfrm>
            <a:prstGeom prst="rect">
              <a:avLst/>
            </a:prstGeom>
            <a:noFill/>
            <a:ln w="9525">
              <a:noFill/>
              <a:miter lim="800000"/>
              <a:headEnd/>
              <a:tailEnd/>
            </a:ln>
          </p:spPr>
          <p:txBody>
            <a:bodyPr wrap="none">
              <a:spAutoFit/>
            </a:bodyPr>
            <a:lstStyle/>
            <a:p>
              <a:pPr algn="ctr"/>
              <a:r>
                <a:rPr lang="zh-CN" altLang="en-US" sz="1600" b="1">
                  <a:latin typeface="Tahoma" pitchFamily="34" charset="0"/>
                </a:rPr>
                <a:t>公司间的竞争</a:t>
              </a:r>
              <a:endParaRPr lang="zh-CN" altLang="en-US" sz="1600">
                <a:latin typeface="Tahoma" pitchFamily="34" charset="0"/>
              </a:endParaRPr>
            </a:p>
          </p:txBody>
        </p:sp>
        <p:sp>
          <p:nvSpPr>
            <p:cNvPr id="96285" name="Text Box 29"/>
            <p:cNvSpPr txBox="1">
              <a:spLocks noChangeArrowheads="1"/>
            </p:cNvSpPr>
            <p:nvPr/>
          </p:nvSpPr>
          <p:spPr bwMode="auto">
            <a:xfrm>
              <a:off x="2152650" y="2863850"/>
              <a:ext cx="963613" cy="581025"/>
            </a:xfrm>
            <a:prstGeom prst="rect">
              <a:avLst/>
            </a:prstGeom>
            <a:noFill/>
            <a:ln w="12700">
              <a:noFill/>
              <a:miter lim="800000"/>
              <a:headEnd/>
              <a:tailEnd/>
            </a:ln>
          </p:spPr>
          <p:txBody>
            <a:bodyPr wrap="none" anchor="ctr">
              <a:spAutoFit/>
            </a:bodyPr>
            <a:lstStyle/>
            <a:p>
              <a:r>
                <a:rPr lang="en-US" altLang="zh-CN" sz="1600" b="1">
                  <a:latin typeface="Arial" charset="0"/>
                </a:rPr>
                <a:t>1. </a:t>
              </a:r>
              <a:r>
                <a:rPr lang="zh-CN" altLang="en-US" sz="1600" b="1">
                  <a:latin typeface="Arial" charset="0"/>
                </a:rPr>
                <a:t>合并</a:t>
              </a:r>
              <a:r>
                <a:rPr lang="en-US" altLang="zh-CN" sz="1600" b="1">
                  <a:latin typeface="Arial" charset="0"/>
                </a:rPr>
                <a:t>&amp;</a:t>
              </a:r>
            </a:p>
            <a:p>
              <a:r>
                <a:rPr lang="en-US" altLang="zh-CN" sz="1600" b="1">
                  <a:latin typeface="Arial" charset="0"/>
                </a:rPr>
                <a:t>   </a:t>
              </a:r>
              <a:r>
                <a:rPr lang="zh-CN" altLang="en-US" sz="1600" b="1">
                  <a:latin typeface="Arial" charset="0"/>
                </a:rPr>
                <a:t>收购</a:t>
              </a:r>
              <a:endParaRPr lang="zh-CN" altLang="en-US" sz="1600" b="1">
                <a:solidFill>
                  <a:schemeClr val="bg1"/>
                </a:solidFill>
                <a:latin typeface="Arial" charset="0"/>
              </a:endParaRPr>
            </a:p>
          </p:txBody>
        </p:sp>
        <p:sp>
          <p:nvSpPr>
            <p:cNvPr id="96286" name="Text Box 30"/>
            <p:cNvSpPr txBox="1">
              <a:spLocks noChangeArrowheads="1"/>
            </p:cNvSpPr>
            <p:nvPr/>
          </p:nvSpPr>
          <p:spPr bwMode="auto">
            <a:xfrm>
              <a:off x="2781300" y="3695700"/>
              <a:ext cx="1833563" cy="581025"/>
            </a:xfrm>
            <a:prstGeom prst="rect">
              <a:avLst/>
            </a:prstGeom>
            <a:noFill/>
            <a:ln w="12700">
              <a:noFill/>
              <a:miter lim="800000"/>
              <a:headEnd/>
              <a:tailEnd/>
            </a:ln>
          </p:spPr>
          <p:txBody>
            <a:bodyPr wrap="none" anchor="ctr">
              <a:spAutoFit/>
            </a:bodyPr>
            <a:lstStyle/>
            <a:p>
              <a:r>
                <a:rPr lang="en-US" altLang="zh-CN" sz="1600" b="1">
                  <a:latin typeface="Arial" charset="0"/>
                </a:rPr>
                <a:t>2. </a:t>
              </a:r>
              <a:r>
                <a:rPr lang="zh-CN" altLang="en-US" sz="1600" b="1">
                  <a:latin typeface="Arial" charset="0"/>
                </a:rPr>
                <a:t>打包的应用集成</a:t>
              </a:r>
            </a:p>
            <a:p>
              <a:r>
                <a:rPr lang="zh-CN" altLang="en-US" sz="1600" b="1">
                  <a:latin typeface="Arial" charset="0"/>
                </a:rPr>
                <a:t>   </a:t>
              </a:r>
              <a:r>
                <a:rPr lang="en-US" altLang="zh-CN" sz="1600" b="1">
                  <a:latin typeface="Arial" charset="0"/>
                </a:rPr>
                <a:t>(ERP)</a:t>
              </a:r>
              <a:endParaRPr lang="en-US" altLang="zh-CN" sz="1600" b="1">
                <a:solidFill>
                  <a:schemeClr val="bg1"/>
                </a:solidFill>
                <a:latin typeface="Arial" charset="0"/>
              </a:endParaRPr>
            </a:p>
          </p:txBody>
        </p:sp>
        <p:sp>
          <p:nvSpPr>
            <p:cNvPr id="96287" name="Text Box 31"/>
            <p:cNvSpPr txBox="1">
              <a:spLocks noChangeArrowheads="1"/>
            </p:cNvSpPr>
            <p:nvPr/>
          </p:nvSpPr>
          <p:spPr bwMode="auto">
            <a:xfrm>
              <a:off x="1289050" y="4575175"/>
              <a:ext cx="1020763" cy="336550"/>
            </a:xfrm>
            <a:prstGeom prst="rect">
              <a:avLst/>
            </a:prstGeom>
            <a:noFill/>
            <a:ln w="12700">
              <a:noFill/>
              <a:miter lim="800000"/>
              <a:headEnd/>
              <a:tailEnd/>
            </a:ln>
          </p:spPr>
          <p:txBody>
            <a:bodyPr wrap="none" anchor="ctr">
              <a:spAutoFit/>
            </a:bodyPr>
            <a:lstStyle/>
            <a:p>
              <a:r>
                <a:rPr lang="en-US" altLang="zh-CN" sz="1600" b="1">
                  <a:latin typeface="Arial" charset="0"/>
                </a:rPr>
                <a:t>4. </a:t>
              </a:r>
              <a:r>
                <a:rPr lang="zh-CN" altLang="en-US" sz="1600" b="1">
                  <a:latin typeface="Arial" charset="0"/>
                </a:rPr>
                <a:t>供应链</a:t>
              </a:r>
            </a:p>
          </p:txBody>
        </p:sp>
        <p:sp>
          <p:nvSpPr>
            <p:cNvPr id="96288" name="Text Box 32"/>
            <p:cNvSpPr txBox="1">
              <a:spLocks noChangeArrowheads="1"/>
            </p:cNvSpPr>
            <p:nvPr/>
          </p:nvSpPr>
          <p:spPr bwMode="auto">
            <a:xfrm>
              <a:off x="2598738" y="5222875"/>
              <a:ext cx="1630362" cy="336550"/>
            </a:xfrm>
            <a:prstGeom prst="rect">
              <a:avLst/>
            </a:prstGeom>
            <a:noFill/>
            <a:ln w="12700">
              <a:noFill/>
              <a:miter lim="800000"/>
              <a:headEnd/>
              <a:tailEnd/>
            </a:ln>
          </p:spPr>
          <p:txBody>
            <a:bodyPr wrap="none" anchor="ctr">
              <a:spAutoFit/>
            </a:bodyPr>
            <a:lstStyle/>
            <a:p>
              <a:r>
                <a:rPr lang="en-US" altLang="zh-CN" sz="1600" b="1">
                  <a:latin typeface="Arial" charset="0"/>
                </a:rPr>
                <a:t>5. </a:t>
              </a:r>
              <a:r>
                <a:rPr lang="zh-CN" altLang="en-US" sz="1600" b="1">
                  <a:latin typeface="Arial" charset="0"/>
                </a:rPr>
                <a:t>直接交易处理</a:t>
              </a:r>
            </a:p>
          </p:txBody>
        </p:sp>
        <p:sp>
          <p:nvSpPr>
            <p:cNvPr id="96289" name="Text Box 33"/>
            <p:cNvSpPr txBox="1">
              <a:spLocks noChangeArrowheads="1"/>
            </p:cNvSpPr>
            <p:nvPr/>
          </p:nvSpPr>
          <p:spPr bwMode="auto">
            <a:xfrm>
              <a:off x="4737100" y="2308225"/>
              <a:ext cx="1303338" cy="336550"/>
            </a:xfrm>
            <a:prstGeom prst="rect">
              <a:avLst/>
            </a:prstGeom>
            <a:noFill/>
            <a:ln w="12700">
              <a:noFill/>
              <a:miter lim="800000"/>
              <a:headEnd/>
              <a:tailEnd/>
            </a:ln>
          </p:spPr>
          <p:txBody>
            <a:bodyPr wrap="none" anchor="ctr">
              <a:spAutoFit/>
            </a:bodyPr>
            <a:lstStyle/>
            <a:p>
              <a:r>
                <a:rPr lang="en-US" altLang="zh-CN" sz="1600" b="1">
                  <a:latin typeface="Arial" charset="0"/>
                </a:rPr>
                <a:t>6. Web </a:t>
              </a:r>
              <a:r>
                <a:rPr lang="zh-CN" altLang="en-US" sz="1600" b="1">
                  <a:latin typeface="Arial" charset="0"/>
                </a:rPr>
                <a:t>集成</a:t>
              </a:r>
              <a:endParaRPr lang="zh-CN" altLang="en-US" sz="1600" b="1">
                <a:solidFill>
                  <a:schemeClr val="bg1"/>
                </a:solidFill>
                <a:latin typeface="Arial" charset="0"/>
              </a:endParaRPr>
            </a:p>
          </p:txBody>
        </p:sp>
        <p:sp>
          <p:nvSpPr>
            <p:cNvPr id="96290" name="AutoShape 34"/>
            <p:cNvSpPr>
              <a:spLocks noChangeArrowheads="1"/>
            </p:cNvSpPr>
            <p:nvPr/>
          </p:nvSpPr>
          <p:spPr bwMode="auto">
            <a:xfrm rot="-4332932">
              <a:off x="3028157" y="3837781"/>
              <a:ext cx="280988" cy="1450975"/>
            </a:xfrm>
            <a:prstGeom prst="upDownArrow">
              <a:avLst>
                <a:gd name="adj1" fmla="val 50000"/>
                <a:gd name="adj2" fmla="val 103277"/>
              </a:avLst>
            </a:prstGeom>
            <a:solidFill>
              <a:schemeClr val="accent1"/>
            </a:solidFill>
            <a:ln w="12700">
              <a:solidFill>
                <a:schemeClr val="tx2"/>
              </a:solidFill>
              <a:miter lim="800000"/>
              <a:headEnd/>
              <a:tailEnd/>
            </a:ln>
          </p:spPr>
          <p:txBody>
            <a:bodyPr wrap="none" anchor="ctr"/>
            <a:lstStyle/>
            <a:p>
              <a:endParaRPr lang="zh-CN" altLang="en-US"/>
            </a:p>
          </p:txBody>
        </p:sp>
        <p:sp>
          <p:nvSpPr>
            <p:cNvPr id="96291" name="Text Box 35"/>
            <p:cNvSpPr txBox="1">
              <a:spLocks noChangeArrowheads="1"/>
            </p:cNvSpPr>
            <p:nvPr/>
          </p:nvSpPr>
          <p:spPr bwMode="auto">
            <a:xfrm>
              <a:off x="5164138" y="3132138"/>
              <a:ext cx="1630362" cy="336550"/>
            </a:xfrm>
            <a:prstGeom prst="rect">
              <a:avLst/>
            </a:prstGeom>
            <a:noFill/>
            <a:ln w="12700">
              <a:noFill/>
              <a:miter lim="800000"/>
              <a:headEnd/>
              <a:tailEnd/>
            </a:ln>
          </p:spPr>
          <p:txBody>
            <a:bodyPr wrap="none" anchor="ctr">
              <a:spAutoFit/>
            </a:bodyPr>
            <a:lstStyle/>
            <a:p>
              <a:r>
                <a:rPr lang="en-US" altLang="zh-CN" sz="1600" b="1">
                  <a:latin typeface="Arial" charset="0"/>
                </a:rPr>
                <a:t>3. </a:t>
              </a:r>
              <a:r>
                <a:rPr lang="zh-CN" altLang="en-US" sz="1600" b="1">
                  <a:latin typeface="Arial" charset="0"/>
                </a:rPr>
                <a:t>客户关系管理</a:t>
              </a:r>
            </a:p>
          </p:txBody>
        </p:sp>
        <p:sp>
          <p:nvSpPr>
            <p:cNvPr id="14357" name="AutoShape 36"/>
            <p:cNvSpPr>
              <a:spLocks noChangeArrowheads="1"/>
            </p:cNvSpPr>
            <p:nvPr/>
          </p:nvSpPr>
          <p:spPr bwMode="auto">
            <a:xfrm rot="-1420753">
              <a:off x="4381500" y="3162300"/>
              <a:ext cx="242888" cy="619125"/>
            </a:xfrm>
            <a:prstGeom prst="upDownArrow">
              <a:avLst>
                <a:gd name="adj1" fmla="val 50000"/>
                <a:gd name="adj2" fmla="val 50980"/>
              </a:avLst>
            </a:prstGeom>
            <a:solidFill>
              <a:schemeClr val="accent1"/>
            </a:solidFill>
            <a:ln w="12700">
              <a:solidFill>
                <a:schemeClr val="tx2"/>
              </a:solidFill>
              <a:miter lim="800000"/>
              <a:headEnd/>
              <a:tailEnd/>
            </a:ln>
          </p:spPr>
          <p:txBody>
            <a:bodyPr wrap="none" anchor="ctr"/>
            <a:lstStyle/>
            <a:p>
              <a:endParaRPr lang="zh-CN" altLang="en-US"/>
            </a:p>
          </p:txBody>
        </p:sp>
        <p:sp>
          <p:nvSpPr>
            <p:cNvPr id="96293" name="AutoShape 37"/>
            <p:cNvSpPr>
              <a:spLocks noChangeArrowheads="1"/>
            </p:cNvSpPr>
            <p:nvPr/>
          </p:nvSpPr>
          <p:spPr bwMode="auto">
            <a:xfrm rot="4548248">
              <a:off x="6134894" y="4006056"/>
              <a:ext cx="242888" cy="619125"/>
            </a:xfrm>
            <a:prstGeom prst="upDownArrow">
              <a:avLst>
                <a:gd name="adj1" fmla="val 50000"/>
                <a:gd name="adj2" fmla="val 50980"/>
              </a:avLst>
            </a:prstGeom>
            <a:solidFill>
              <a:schemeClr val="accent1"/>
            </a:solidFill>
            <a:ln w="12700">
              <a:solidFill>
                <a:schemeClr val="tx2"/>
              </a:solidFill>
              <a:miter lim="800000"/>
              <a:headEnd/>
              <a:tailEnd/>
            </a:ln>
          </p:spPr>
          <p:txBody>
            <a:bodyPr wrap="none" anchor="ctr"/>
            <a:lstStyle/>
            <a:p>
              <a:endParaRPr lang="zh-CN" alt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1"/>
          <p:cNvSpPr>
            <a:spLocks noGrp="1"/>
          </p:cNvSpPr>
          <p:nvPr>
            <p:ph type="title"/>
          </p:nvPr>
        </p:nvSpPr>
        <p:spPr>
          <a:xfrm>
            <a:off x="1979712" y="152400"/>
            <a:ext cx="6173688" cy="914400"/>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t>信息系统开发工具的选择</a:t>
            </a:r>
          </a:p>
        </p:txBody>
      </p:sp>
      <p:sp>
        <p:nvSpPr>
          <p:cNvPr id="3" name="内容占位符 2"/>
          <p:cNvSpPr>
            <a:spLocks noGrp="1"/>
          </p:cNvSpPr>
          <p:nvPr>
            <p:ph idx="1"/>
          </p:nvPr>
        </p:nvSpPr>
        <p:spPr>
          <a:xfrm>
            <a:off x="1763688" y="1295400"/>
            <a:ext cx="7200800" cy="5105400"/>
          </a:xfrm>
        </p:spPr>
        <p:txBody>
          <a:bodyPr>
            <a:normAutofit fontScale="92500"/>
          </a:bodyPr>
          <a:lstStyle/>
          <a:p>
            <a:pPr>
              <a:defRPr/>
            </a:pPr>
            <a:r>
              <a:rPr lang="zh-CN" altLang="en-US" sz="2800" b="1" dirty="0">
                <a:latin typeface="+mn-ea"/>
              </a:rPr>
              <a:t>基于</a:t>
            </a:r>
            <a:r>
              <a:rPr lang="en-US" sz="2800" b="1" dirty="0" err="1">
                <a:latin typeface="+mn-ea"/>
              </a:rPr>
              <a:t>VB、Delphi、PowerBuilder</a:t>
            </a:r>
            <a:r>
              <a:rPr lang="zh-CN" altLang="en-US" sz="2800" b="1" dirty="0">
                <a:latin typeface="+mn-ea"/>
              </a:rPr>
              <a:t>等开发工具</a:t>
            </a:r>
            <a:endParaRPr lang="en-US" altLang="zh-CN" sz="2800" b="1" dirty="0">
              <a:latin typeface="+mn-ea"/>
            </a:endParaRPr>
          </a:p>
          <a:p>
            <a:pPr lvl="1">
              <a:defRPr/>
            </a:pPr>
            <a:r>
              <a:rPr lang="zh-CN" altLang="en-US" sz="2400" b="1" dirty="0">
                <a:latin typeface="+mn-ea"/>
              </a:rPr>
              <a:t>数据处理能力强、访问速度快、适用范围广</a:t>
            </a:r>
            <a:endParaRPr lang="en-US" altLang="zh-CN" sz="2400" b="1" dirty="0">
              <a:latin typeface="+mn-ea"/>
            </a:endParaRPr>
          </a:p>
          <a:p>
            <a:pPr lvl="1">
              <a:defRPr/>
            </a:pPr>
            <a:r>
              <a:rPr lang="zh-CN" altLang="en-US" sz="2400" b="1" dirty="0">
                <a:latin typeface="+mn-ea"/>
              </a:rPr>
              <a:t>可伸缩性和扩展性较差，而且开发工作量大</a:t>
            </a:r>
            <a:endParaRPr lang="en-US" altLang="zh-CN" sz="2400" b="1" dirty="0">
              <a:latin typeface="+mn-ea"/>
            </a:endParaRPr>
          </a:p>
          <a:p>
            <a:pPr>
              <a:defRPr/>
            </a:pPr>
            <a:r>
              <a:rPr lang="zh-CN" altLang="en-US" sz="2800" b="1" dirty="0">
                <a:latin typeface="+mn-ea"/>
              </a:rPr>
              <a:t>基于</a:t>
            </a:r>
            <a:r>
              <a:rPr lang="en-US" altLang="en-US" sz="2800" b="1" dirty="0">
                <a:latin typeface="+mn-ea"/>
              </a:rPr>
              <a:t>Domino/</a:t>
            </a:r>
            <a:r>
              <a:rPr lang="en-US" altLang="en-US" sz="2800" b="1" dirty="0" err="1">
                <a:latin typeface="+mn-ea"/>
              </a:rPr>
              <a:t>Notes、Exchange</a:t>
            </a:r>
            <a:r>
              <a:rPr lang="zh-CN" altLang="en-US" sz="2800" b="1" dirty="0">
                <a:latin typeface="+mn-ea"/>
              </a:rPr>
              <a:t>等群件系统</a:t>
            </a:r>
            <a:endParaRPr lang="en-US" altLang="zh-CN" sz="2800" b="1" dirty="0">
              <a:latin typeface="+mn-ea"/>
            </a:endParaRPr>
          </a:p>
          <a:p>
            <a:pPr lvl="1">
              <a:defRPr/>
            </a:pPr>
            <a:r>
              <a:rPr lang="zh-CN" altLang="en-US" sz="2400" b="1" dirty="0">
                <a:latin typeface="+mn-ea"/>
              </a:rPr>
              <a:t>完善的通信手段和非结构化数据支持能力，可伸缩性和扩展性好，提供安全权限和工作流管理机制，易于安装和维护</a:t>
            </a:r>
            <a:endParaRPr lang="en-US" altLang="zh-CN" sz="2400" b="1" dirty="0">
              <a:latin typeface="+mn-ea"/>
            </a:endParaRPr>
          </a:p>
          <a:p>
            <a:pPr lvl="1">
              <a:defRPr/>
            </a:pPr>
            <a:r>
              <a:rPr lang="zh-CN" altLang="en-US" sz="2400" b="1" dirty="0">
                <a:latin typeface="+mn-ea"/>
              </a:rPr>
              <a:t>处理结构化数据能力较弱，开发工具缺乏灵活性，不擅长数据的计算、分析、统计，运行效率较低，可开发性差，不利于进行多种复杂应用的集成</a:t>
            </a:r>
            <a:endParaRPr lang="en-US" altLang="zh-CN" sz="2400" b="1" dirty="0">
              <a:latin typeface="+mn-ea"/>
            </a:endParaRPr>
          </a:p>
          <a:p>
            <a:pPr>
              <a:defRPr/>
            </a:pPr>
            <a:r>
              <a:rPr lang="zh-CN" altLang="en-US" sz="2800" b="1" dirty="0">
                <a:latin typeface="+mn-ea"/>
              </a:rPr>
              <a:t>基于</a:t>
            </a:r>
            <a:r>
              <a:rPr lang="en-US" altLang="zh-CN" sz="2800" b="1" dirty="0" err="1">
                <a:latin typeface="+mn-ea"/>
              </a:rPr>
              <a:t>.</a:t>
            </a:r>
            <a:r>
              <a:rPr lang="en-US" altLang="en-US" sz="2800" b="1" dirty="0" err="1">
                <a:latin typeface="+mn-ea"/>
              </a:rPr>
              <a:t>net</a:t>
            </a:r>
            <a:r>
              <a:rPr lang="zh-CN" altLang="en-US" sz="2800" b="1" dirty="0">
                <a:latin typeface="+mn-ea"/>
              </a:rPr>
              <a:t>或</a:t>
            </a:r>
            <a:r>
              <a:rPr lang="en-US" altLang="en-US" sz="2800" b="1" dirty="0">
                <a:latin typeface="+mn-ea"/>
              </a:rPr>
              <a:t>Java</a:t>
            </a:r>
            <a:r>
              <a:rPr lang="zh-CN" altLang="en-US" sz="2800" b="1" dirty="0">
                <a:latin typeface="+mn-ea"/>
              </a:rPr>
              <a:t>技术，采用</a:t>
            </a:r>
            <a:r>
              <a:rPr lang="en-US" altLang="en-US" sz="2800" b="1" dirty="0">
                <a:latin typeface="+mn-ea"/>
              </a:rPr>
              <a:t>Browser/</a:t>
            </a:r>
            <a:r>
              <a:rPr lang="en-US" altLang="en-US" sz="2800" b="1" dirty="0" err="1">
                <a:latin typeface="+mn-ea"/>
              </a:rPr>
              <a:t>WebServer</a:t>
            </a:r>
            <a:r>
              <a:rPr lang="zh-CN" altLang="en-US" sz="2800" b="1" dirty="0">
                <a:latin typeface="+mn-ea"/>
              </a:rPr>
              <a:t>软件结构</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t>企业信息化的挑战</a:t>
            </a:r>
          </a:p>
        </p:txBody>
      </p:sp>
      <p:sp>
        <p:nvSpPr>
          <p:cNvPr id="3" name="内容占位符 2"/>
          <p:cNvSpPr>
            <a:spLocks noGrp="1"/>
          </p:cNvSpPr>
          <p:nvPr>
            <p:ph idx="1"/>
          </p:nvPr>
        </p:nvSpPr>
        <p:spPr>
          <a:xfrm>
            <a:off x="2051720" y="1752600"/>
            <a:ext cx="6482680" cy="4572000"/>
          </a:xfrm>
        </p:spPr>
        <p:txBody>
          <a:bodyPr>
            <a:normAutofit/>
          </a:bodyPr>
          <a:lstStyle/>
          <a:p>
            <a:r>
              <a:rPr lang="zh-CN" altLang="en-US" sz="2800" b="1" dirty="0">
                <a:latin typeface="+mn-ea"/>
              </a:rPr>
              <a:t>保护已有的投资</a:t>
            </a:r>
            <a:endParaRPr lang="en-US" altLang="zh-CN" sz="2800" b="1" dirty="0">
              <a:latin typeface="+mn-ea"/>
            </a:endParaRPr>
          </a:p>
          <a:p>
            <a:r>
              <a:rPr lang="zh-CN" altLang="en-US" sz="2800" b="1" dirty="0">
                <a:latin typeface="+mn-ea"/>
              </a:rPr>
              <a:t>将来的不确定性 </a:t>
            </a:r>
            <a:endParaRPr lang="en-US" altLang="zh-CN" sz="2800" b="1" dirty="0">
              <a:latin typeface="+mn-ea"/>
            </a:endParaRPr>
          </a:p>
          <a:p>
            <a:r>
              <a:rPr lang="zh-CN" altLang="en-US" sz="2800" b="1" dirty="0">
                <a:latin typeface="+mn-ea"/>
              </a:rPr>
              <a:t>价值链的集成</a:t>
            </a:r>
            <a:endParaRPr lang="en-US" altLang="zh-CN" sz="2800" b="1" dirty="0">
              <a:latin typeface="+mn-ea"/>
            </a:endParaRPr>
          </a:p>
          <a:p>
            <a:r>
              <a:rPr lang="zh-CN" altLang="en-US" sz="2800" b="1" dirty="0">
                <a:latin typeface="+mn-ea"/>
              </a:rPr>
              <a:t>技术的整合</a:t>
            </a:r>
            <a:endParaRPr lang="en-US" altLang="zh-CN" sz="2800" b="1" dirty="0">
              <a:latin typeface="+mn-ea"/>
            </a:endParaRPr>
          </a:p>
          <a:p>
            <a:r>
              <a:rPr lang="zh-CN" altLang="en-US" sz="2800" b="1" dirty="0">
                <a:latin typeface="+mn-ea"/>
              </a:rPr>
              <a:t>重用和团队的开发</a:t>
            </a:r>
            <a:endParaRPr lang="en-US" altLang="zh-CN" sz="2800" b="1" dirty="0">
              <a:latin typeface="+mn-ea"/>
            </a:endParaRPr>
          </a:p>
          <a:p>
            <a:r>
              <a:rPr lang="zh-CN" altLang="en-US" sz="2800" b="1" dirty="0">
                <a:latin typeface="+mn-ea"/>
              </a:rPr>
              <a:t>多种技术的需求</a:t>
            </a:r>
            <a:endParaRPr lang="en-US" altLang="zh-CN" sz="2800" b="1" dirty="0">
              <a:latin typeface="+mn-ea"/>
            </a:endParaRPr>
          </a:p>
          <a:p>
            <a:pPr lvl="1"/>
            <a:r>
              <a:rPr lang="zh-CN" altLang="en-US" sz="2400" b="1" dirty="0">
                <a:latin typeface="+mn-ea"/>
              </a:rPr>
              <a:t>有限的经验</a:t>
            </a:r>
            <a:endParaRPr lang="en-US" altLang="zh-CN" sz="2400" b="1" dirty="0">
              <a:latin typeface="+mn-ea"/>
            </a:endParaRPr>
          </a:p>
          <a:p>
            <a:r>
              <a:rPr lang="zh-CN" altLang="en-US" sz="2800" b="1" dirty="0">
                <a:latin typeface="+mn-ea"/>
              </a:rPr>
              <a:t>对于上千万用户的可扩展性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ox(in)">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box(in)">
                                      <p:cBhvr>
                                        <p:cTn id="4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dirty="0">
                <a:latin typeface="+mj-ea"/>
              </a:rPr>
              <a:t>EAI</a:t>
            </a:r>
            <a:r>
              <a:rPr lang="zh-CN" altLang="en-US" sz="3200" b="1" dirty="0">
                <a:latin typeface="+mj-ea"/>
              </a:rPr>
              <a:t>的优势</a:t>
            </a:r>
          </a:p>
        </p:txBody>
      </p:sp>
      <p:sp>
        <p:nvSpPr>
          <p:cNvPr id="45059" name="Rectangle 3"/>
          <p:cNvSpPr>
            <a:spLocks noGrp="1" noChangeArrowheads="1"/>
          </p:cNvSpPr>
          <p:nvPr>
            <p:ph idx="1"/>
          </p:nvPr>
        </p:nvSpPr>
        <p:spPr/>
        <p:txBody>
          <a:bodyPr/>
          <a:lstStyle/>
          <a:p>
            <a:r>
              <a:rPr lang="zh-CN" altLang="en-US" sz="2800" b="1" dirty="0"/>
              <a:t>增进与客户的联系</a:t>
            </a:r>
          </a:p>
          <a:p>
            <a:endParaRPr lang="zh-CN" altLang="en-US" sz="2800" b="1" dirty="0"/>
          </a:p>
          <a:p>
            <a:r>
              <a:rPr lang="zh-CN" altLang="en-US" sz="2800" b="1" dirty="0"/>
              <a:t>增强供应链间的联系</a:t>
            </a:r>
          </a:p>
          <a:p>
            <a:pPr lvl="1"/>
            <a:endParaRPr lang="zh-CN" altLang="en-US" b="1" dirty="0"/>
          </a:p>
          <a:p>
            <a:r>
              <a:rPr lang="zh-CN" altLang="en-US" sz="2800" b="1" dirty="0"/>
              <a:t>改善内部流程</a:t>
            </a:r>
          </a:p>
          <a:p>
            <a:endParaRPr lang="zh-CN" altLang="en-US" sz="2800" b="1" dirty="0"/>
          </a:p>
          <a:p>
            <a:r>
              <a:rPr lang="zh-CN" altLang="en-US" sz="2800" b="1" dirty="0"/>
              <a:t>减少市场化周期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 calcmode="lin" valueType="num">
                                      <p:cBhvr additive="base">
                                        <p:cTn id="7" dur="500" fill="hold"/>
                                        <p:tgtEl>
                                          <p:spTgt spid="450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50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5059">
                                            <p:txEl>
                                              <p:pRg st="2" end="2"/>
                                            </p:txEl>
                                          </p:spTgt>
                                        </p:tgtEl>
                                        <p:attrNameLst>
                                          <p:attrName>style.visibility</p:attrName>
                                        </p:attrNameLst>
                                      </p:cBhvr>
                                      <p:to>
                                        <p:strVal val="visible"/>
                                      </p:to>
                                    </p:set>
                                    <p:anim calcmode="lin" valueType="num">
                                      <p:cBhvr additive="base">
                                        <p:cTn id="13" dur="500" fill="hold"/>
                                        <p:tgtEl>
                                          <p:spTgt spid="450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50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19" dur="500"/>
                                        <p:tgtEl>
                                          <p:spTgt spid="4505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5059">
                                            <p:txEl>
                                              <p:pRg st="6" end="6"/>
                                            </p:txEl>
                                          </p:spTgt>
                                        </p:tgtEl>
                                        <p:attrNameLst>
                                          <p:attrName>style.visibility</p:attrName>
                                        </p:attrNameLst>
                                      </p:cBhvr>
                                      <p:to>
                                        <p:strVal val="visible"/>
                                      </p:to>
                                    </p:set>
                                    <p:anim calcmode="lin" valueType="num">
                                      <p:cBhvr additive="base">
                                        <p:cTn id="24" dur="500" fill="hold"/>
                                        <p:tgtEl>
                                          <p:spTgt spid="45059">
                                            <p:txEl>
                                              <p:pRg st="6" end="6"/>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50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780478" y="990600"/>
            <a:ext cx="7256017" cy="5181600"/>
            <a:chOff x="685800" y="990600"/>
            <a:chExt cx="7772400" cy="5181600"/>
          </a:xfrm>
        </p:grpSpPr>
        <p:sp>
          <p:nvSpPr>
            <p:cNvPr id="51204" name="Oval 4"/>
            <p:cNvSpPr>
              <a:spLocks noChangeArrowheads="1"/>
            </p:cNvSpPr>
            <p:nvPr/>
          </p:nvSpPr>
          <p:spPr bwMode="auto">
            <a:xfrm>
              <a:off x="3949700" y="2924175"/>
              <a:ext cx="1400175" cy="1470025"/>
            </a:xfrm>
            <a:prstGeom prst="ellipse">
              <a:avLst/>
            </a:prstGeom>
            <a:solidFill>
              <a:schemeClr val="accent1"/>
            </a:solidFill>
            <a:ln w="12700">
              <a:solidFill>
                <a:schemeClr val="tx1"/>
              </a:solidFill>
              <a:round/>
              <a:headEnd type="none" w="sm" len="sm"/>
              <a:tailEnd type="none" w="sm" len="sm"/>
            </a:ln>
          </p:spPr>
          <p:txBody>
            <a:bodyPr wrap="none" anchor="ctr"/>
            <a:lstStyle/>
            <a:p>
              <a:pPr algn="ctr"/>
              <a:r>
                <a:rPr lang="en-US" altLang="zh-CN" b="1"/>
                <a:t>EAI</a:t>
              </a:r>
            </a:p>
          </p:txBody>
        </p:sp>
        <p:sp>
          <p:nvSpPr>
            <p:cNvPr id="51205" name="Line 5"/>
            <p:cNvSpPr>
              <a:spLocks noChangeShapeType="1"/>
            </p:cNvSpPr>
            <p:nvPr/>
          </p:nvSpPr>
          <p:spPr bwMode="auto">
            <a:xfrm flipV="1">
              <a:off x="4649788" y="1454150"/>
              <a:ext cx="0" cy="1470025"/>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07" name="Rectangle 7"/>
            <p:cNvSpPr>
              <a:spLocks noChangeArrowheads="1"/>
            </p:cNvSpPr>
            <p:nvPr/>
          </p:nvSpPr>
          <p:spPr bwMode="auto">
            <a:xfrm>
              <a:off x="3949700" y="990600"/>
              <a:ext cx="1400175" cy="4635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财务系统</a:t>
              </a:r>
            </a:p>
          </p:txBody>
        </p:sp>
        <p:sp>
          <p:nvSpPr>
            <p:cNvPr id="51210" name="Line 10"/>
            <p:cNvSpPr>
              <a:spLocks noChangeShapeType="1"/>
            </p:cNvSpPr>
            <p:nvPr/>
          </p:nvSpPr>
          <p:spPr bwMode="auto">
            <a:xfrm flipV="1">
              <a:off x="5116513" y="1919288"/>
              <a:ext cx="1087437" cy="1158875"/>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11" name="Rectangle 11"/>
            <p:cNvSpPr>
              <a:spLocks noChangeArrowheads="1"/>
            </p:cNvSpPr>
            <p:nvPr/>
          </p:nvSpPr>
          <p:spPr bwMode="auto">
            <a:xfrm>
              <a:off x="5970588" y="1454150"/>
              <a:ext cx="1400175" cy="465138"/>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行政管理</a:t>
              </a:r>
            </a:p>
          </p:txBody>
        </p:sp>
        <p:sp>
          <p:nvSpPr>
            <p:cNvPr id="51212" name="Line 12"/>
            <p:cNvSpPr>
              <a:spLocks noChangeShapeType="1"/>
            </p:cNvSpPr>
            <p:nvPr/>
          </p:nvSpPr>
          <p:spPr bwMode="auto">
            <a:xfrm flipV="1">
              <a:off x="5272088" y="2692400"/>
              <a:ext cx="1320800" cy="617538"/>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13" name="Rectangle 13"/>
            <p:cNvSpPr>
              <a:spLocks noChangeArrowheads="1"/>
            </p:cNvSpPr>
            <p:nvPr/>
          </p:nvSpPr>
          <p:spPr bwMode="auto">
            <a:xfrm>
              <a:off x="6670675" y="2227263"/>
              <a:ext cx="1398588" cy="465137"/>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数据库</a:t>
              </a:r>
            </a:p>
          </p:txBody>
        </p:sp>
        <p:sp>
          <p:nvSpPr>
            <p:cNvPr id="51214" name="Line 14"/>
            <p:cNvSpPr>
              <a:spLocks noChangeShapeType="1"/>
            </p:cNvSpPr>
            <p:nvPr/>
          </p:nvSpPr>
          <p:spPr bwMode="auto">
            <a:xfrm flipV="1">
              <a:off x="5349875" y="3543300"/>
              <a:ext cx="1709738" cy="0"/>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15" name="Rectangle 15"/>
            <p:cNvSpPr>
              <a:spLocks noChangeArrowheads="1"/>
            </p:cNvSpPr>
            <p:nvPr/>
          </p:nvSpPr>
          <p:spPr bwMode="auto">
            <a:xfrm>
              <a:off x="7059613" y="3309938"/>
              <a:ext cx="1398587" cy="465137"/>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人力资源</a:t>
              </a:r>
            </a:p>
          </p:txBody>
        </p:sp>
        <p:sp>
          <p:nvSpPr>
            <p:cNvPr id="51216" name="Line 16"/>
            <p:cNvSpPr>
              <a:spLocks noChangeShapeType="1"/>
            </p:cNvSpPr>
            <p:nvPr/>
          </p:nvSpPr>
          <p:spPr bwMode="auto">
            <a:xfrm>
              <a:off x="5349875" y="3852863"/>
              <a:ext cx="1631950" cy="617537"/>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17" name="Rectangle 17"/>
            <p:cNvSpPr>
              <a:spLocks noChangeArrowheads="1"/>
            </p:cNvSpPr>
            <p:nvPr/>
          </p:nvSpPr>
          <p:spPr bwMode="auto">
            <a:xfrm>
              <a:off x="6981825" y="4316413"/>
              <a:ext cx="1398588" cy="4635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zh-CN" b="1"/>
                <a:t>EAM</a:t>
              </a:r>
            </a:p>
          </p:txBody>
        </p:sp>
        <p:sp>
          <p:nvSpPr>
            <p:cNvPr id="51218" name="Line 18"/>
            <p:cNvSpPr>
              <a:spLocks noChangeShapeType="1"/>
            </p:cNvSpPr>
            <p:nvPr/>
          </p:nvSpPr>
          <p:spPr bwMode="auto">
            <a:xfrm flipH="1" flipV="1">
              <a:off x="3406775" y="1919288"/>
              <a:ext cx="854075" cy="1158875"/>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19" name="Rectangle 19"/>
            <p:cNvSpPr>
              <a:spLocks noChangeArrowheads="1"/>
            </p:cNvSpPr>
            <p:nvPr/>
          </p:nvSpPr>
          <p:spPr bwMode="auto">
            <a:xfrm>
              <a:off x="2473325" y="1454150"/>
              <a:ext cx="1398588" cy="465138"/>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zh-CN" b="1"/>
                <a:t>CRM</a:t>
              </a:r>
            </a:p>
          </p:txBody>
        </p:sp>
        <p:sp>
          <p:nvSpPr>
            <p:cNvPr id="51220" name="Line 20"/>
            <p:cNvSpPr>
              <a:spLocks noChangeShapeType="1"/>
            </p:cNvSpPr>
            <p:nvPr/>
          </p:nvSpPr>
          <p:spPr bwMode="auto">
            <a:xfrm flipH="1" flipV="1">
              <a:off x="2862263" y="2536825"/>
              <a:ext cx="1165225" cy="850900"/>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21" name="Rectangle 21"/>
            <p:cNvSpPr>
              <a:spLocks noChangeArrowheads="1"/>
            </p:cNvSpPr>
            <p:nvPr/>
          </p:nvSpPr>
          <p:spPr bwMode="auto">
            <a:xfrm>
              <a:off x="1463675" y="2151063"/>
              <a:ext cx="1398588" cy="4635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zh-CN" b="1"/>
                <a:t>ERP</a:t>
              </a:r>
            </a:p>
          </p:txBody>
        </p:sp>
        <p:sp>
          <p:nvSpPr>
            <p:cNvPr id="51222" name="Line 22"/>
            <p:cNvSpPr>
              <a:spLocks noChangeShapeType="1"/>
            </p:cNvSpPr>
            <p:nvPr/>
          </p:nvSpPr>
          <p:spPr bwMode="auto">
            <a:xfrm flipH="1" flipV="1">
              <a:off x="2084388" y="3543300"/>
              <a:ext cx="1865312" cy="0"/>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23" name="Rectangle 23"/>
            <p:cNvSpPr>
              <a:spLocks noChangeArrowheads="1"/>
            </p:cNvSpPr>
            <p:nvPr/>
          </p:nvSpPr>
          <p:spPr bwMode="auto">
            <a:xfrm>
              <a:off x="685800" y="3309938"/>
              <a:ext cx="1398588" cy="465137"/>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zh-CN" b="1"/>
                <a:t>SCM</a:t>
              </a:r>
            </a:p>
          </p:txBody>
        </p:sp>
        <p:sp>
          <p:nvSpPr>
            <p:cNvPr id="51224" name="Line 24"/>
            <p:cNvSpPr>
              <a:spLocks noChangeShapeType="1"/>
            </p:cNvSpPr>
            <p:nvPr/>
          </p:nvSpPr>
          <p:spPr bwMode="auto">
            <a:xfrm flipV="1">
              <a:off x="1928813" y="3697288"/>
              <a:ext cx="2020887" cy="773112"/>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25" name="Rectangle 25"/>
            <p:cNvSpPr>
              <a:spLocks noChangeArrowheads="1"/>
            </p:cNvSpPr>
            <p:nvPr/>
          </p:nvSpPr>
          <p:spPr bwMode="auto">
            <a:xfrm>
              <a:off x="996950" y="4470400"/>
              <a:ext cx="1398588" cy="465138"/>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企业门户</a:t>
              </a:r>
            </a:p>
          </p:txBody>
        </p:sp>
        <p:sp>
          <p:nvSpPr>
            <p:cNvPr id="51226" name="Line 26"/>
            <p:cNvSpPr>
              <a:spLocks noChangeShapeType="1"/>
            </p:cNvSpPr>
            <p:nvPr/>
          </p:nvSpPr>
          <p:spPr bwMode="auto">
            <a:xfrm flipV="1">
              <a:off x="3173413" y="4160838"/>
              <a:ext cx="931862" cy="1238250"/>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27" name="Rectangle 27"/>
            <p:cNvSpPr>
              <a:spLocks noChangeArrowheads="1"/>
            </p:cNvSpPr>
            <p:nvPr/>
          </p:nvSpPr>
          <p:spPr bwMode="auto">
            <a:xfrm>
              <a:off x="1928813" y="5399088"/>
              <a:ext cx="1400175" cy="4635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en-US" altLang="zh-CN" b="1"/>
                <a:t>Web</a:t>
              </a:r>
              <a:r>
                <a:rPr lang="zh-CN" altLang="en-US" b="1"/>
                <a:t>应用</a:t>
              </a:r>
            </a:p>
          </p:txBody>
        </p:sp>
        <p:sp>
          <p:nvSpPr>
            <p:cNvPr id="51228" name="Line 28"/>
            <p:cNvSpPr>
              <a:spLocks noChangeShapeType="1"/>
            </p:cNvSpPr>
            <p:nvPr/>
          </p:nvSpPr>
          <p:spPr bwMode="auto">
            <a:xfrm flipH="1" flipV="1">
              <a:off x="5116513" y="4160838"/>
              <a:ext cx="1398587" cy="1238250"/>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29" name="Rectangle 29"/>
            <p:cNvSpPr>
              <a:spLocks noChangeArrowheads="1"/>
            </p:cNvSpPr>
            <p:nvPr/>
          </p:nvSpPr>
          <p:spPr bwMode="auto">
            <a:xfrm>
              <a:off x="6359525" y="5399088"/>
              <a:ext cx="1398588" cy="4635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内部应用</a:t>
              </a:r>
            </a:p>
          </p:txBody>
        </p:sp>
        <p:sp>
          <p:nvSpPr>
            <p:cNvPr id="51230" name="Line 30"/>
            <p:cNvSpPr>
              <a:spLocks noChangeShapeType="1"/>
            </p:cNvSpPr>
            <p:nvPr/>
          </p:nvSpPr>
          <p:spPr bwMode="auto">
            <a:xfrm flipV="1">
              <a:off x="4727575" y="4394200"/>
              <a:ext cx="0" cy="1314450"/>
            </a:xfrm>
            <a:prstGeom prst="line">
              <a:avLst/>
            </a:prstGeom>
            <a:noFill/>
            <a:ln w="38100">
              <a:solidFill>
                <a:schemeClr val="tx1"/>
              </a:solidFill>
              <a:round/>
              <a:headEnd type="triangle" w="sm" len="sm"/>
              <a:tailEnd type="triangle" w="sm" len="sm"/>
            </a:ln>
          </p:spPr>
          <p:txBody>
            <a:bodyPr/>
            <a:lstStyle/>
            <a:p>
              <a:endParaRPr lang="zh-CN" altLang="en-US"/>
            </a:p>
          </p:txBody>
        </p:sp>
        <p:sp>
          <p:nvSpPr>
            <p:cNvPr id="51231" name="Rectangle 31"/>
            <p:cNvSpPr>
              <a:spLocks noChangeArrowheads="1"/>
            </p:cNvSpPr>
            <p:nvPr/>
          </p:nvSpPr>
          <p:spPr bwMode="auto">
            <a:xfrm>
              <a:off x="4027488" y="5708650"/>
              <a:ext cx="1400175" cy="46355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遗留系统</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mj-ea"/>
              </a:rPr>
              <a:t>常见的</a:t>
            </a:r>
            <a:r>
              <a:rPr lang="en-US" altLang="zh-CN" sz="3200" b="1" dirty="0">
                <a:latin typeface="+mj-ea"/>
              </a:rPr>
              <a:t>EAI</a:t>
            </a:r>
            <a:r>
              <a:rPr lang="zh-CN" altLang="en-US" sz="3200" b="1" dirty="0">
                <a:latin typeface="+mj-ea"/>
              </a:rPr>
              <a:t>需求</a:t>
            </a:r>
          </a:p>
        </p:txBody>
      </p:sp>
      <p:sp>
        <p:nvSpPr>
          <p:cNvPr id="96259" name="Rectangle 3"/>
          <p:cNvSpPr>
            <a:spLocks noGrp="1" noChangeArrowheads="1"/>
          </p:cNvSpPr>
          <p:nvPr>
            <p:ph idx="1"/>
          </p:nvPr>
        </p:nvSpPr>
        <p:spPr/>
        <p:txBody>
          <a:bodyPr/>
          <a:lstStyle/>
          <a:p>
            <a:r>
              <a:rPr lang="zh-CN" altLang="en-US" sz="2800" b="1" dirty="0"/>
              <a:t>信息门户</a:t>
            </a:r>
          </a:p>
          <a:p>
            <a:r>
              <a:rPr lang="zh-CN" altLang="en-US" sz="2800" b="1" dirty="0"/>
              <a:t>数据复制</a:t>
            </a:r>
          </a:p>
          <a:p>
            <a:r>
              <a:rPr lang="zh-CN" altLang="en-US" sz="2800" b="1" dirty="0"/>
              <a:t>共享的业务功能</a:t>
            </a:r>
          </a:p>
          <a:p>
            <a:r>
              <a:rPr lang="zh-CN" altLang="en-US" sz="2800" b="1" dirty="0"/>
              <a:t>面向服务的体系结构</a:t>
            </a:r>
          </a:p>
          <a:p>
            <a:r>
              <a:rPr lang="zh-CN" altLang="en-US" sz="2800" b="1" dirty="0"/>
              <a:t>分布式的业务过程</a:t>
            </a:r>
          </a:p>
          <a:p>
            <a:r>
              <a:rPr lang="zh-CN" altLang="en-US" sz="2800" b="1" dirty="0"/>
              <a:t>企业到企业的集成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blinds(horizontal)">
                                      <p:cBhvr>
                                        <p:cTn id="7" dur="500"/>
                                        <p:tgtEl>
                                          <p:spTgt spid="962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6259">
                                            <p:txEl>
                                              <p:pRg st="1" end="1"/>
                                            </p:txEl>
                                          </p:spTgt>
                                        </p:tgtEl>
                                        <p:attrNameLst>
                                          <p:attrName>style.visibility</p:attrName>
                                        </p:attrNameLst>
                                      </p:cBhvr>
                                      <p:to>
                                        <p:strVal val="visible"/>
                                      </p:to>
                                    </p:set>
                                    <p:anim calcmode="lin" valueType="num">
                                      <p:cBhvr additive="base">
                                        <p:cTn id="12"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6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96259">
                                            <p:txEl>
                                              <p:pRg st="2" end="2"/>
                                            </p:txEl>
                                          </p:spTgt>
                                        </p:tgtEl>
                                        <p:attrNameLst>
                                          <p:attrName>style.visibility</p:attrName>
                                        </p:attrNameLst>
                                      </p:cBhvr>
                                      <p:to>
                                        <p:strVal val="visible"/>
                                      </p:to>
                                    </p:set>
                                    <p:animEffect transition="in" filter="box(in)">
                                      <p:cBhvr>
                                        <p:cTn id="18" dur="500"/>
                                        <p:tgtEl>
                                          <p:spTgt spid="9625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96259">
                                            <p:txEl>
                                              <p:pRg st="3" end="3"/>
                                            </p:txEl>
                                          </p:spTgt>
                                        </p:tgtEl>
                                        <p:attrNameLst>
                                          <p:attrName>style.visibility</p:attrName>
                                        </p:attrNameLst>
                                      </p:cBhvr>
                                      <p:to>
                                        <p:strVal val="visible"/>
                                      </p:to>
                                    </p:set>
                                    <p:anim calcmode="lin" valueType="num">
                                      <p:cBhvr additive="base">
                                        <p:cTn id="23" dur="5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62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96259">
                                            <p:txEl>
                                              <p:pRg st="4" end="4"/>
                                            </p:txEl>
                                          </p:spTgt>
                                        </p:tgtEl>
                                        <p:attrNameLst>
                                          <p:attrName>style.visibility</p:attrName>
                                        </p:attrNameLst>
                                      </p:cBhvr>
                                      <p:to>
                                        <p:strVal val="visible"/>
                                      </p:to>
                                    </p:set>
                                    <p:animEffect transition="in" filter="checkerboard(across)">
                                      <p:cBhvr>
                                        <p:cTn id="29" dur="500"/>
                                        <p:tgtEl>
                                          <p:spTgt spid="96259">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96259">
                                            <p:txEl>
                                              <p:pRg st="5" end="5"/>
                                            </p:txEl>
                                          </p:spTgt>
                                        </p:tgtEl>
                                        <p:attrNameLst>
                                          <p:attrName>style.visibility</p:attrName>
                                        </p:attrNameLst>
                                      </p:cBhvr>
                                      <p:to>
                                        <p:strVal val="visible"/>
                                      </p:to>
                                    </p:set>
                                    <p:animEffect transition="in" filter="blinds(horizontal)">
                                      <p:cBhvr>
                                        <p:cTn id="34" dur="500"/>
                                        <p:tgtEl>
                                          <p:spTgt spid="96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8" name="Rectangle 2"/>
          <p:cNvSpPr>
            <a:spLocks noChangeArrowheads="1"/>
          </p:cNvSpPr>
          <p:nvPr/>
        </p:nvSpPr>
        <p:spPr bwMode="auto">
          <a:xfrm>
            <a:off x="1983580" y="228600"/>
            <a:ext cx="7160419"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algn="ctr" fontAlgn="base">
              <a:spcBef>
                <a:spcPct val="0"/>
              </a:spcBef>
              <a:spcAft>
                <a:spcPct val="0"/>
              </a:spcAft>
            </a:pPr>
            <a:r>
              <a:rPr lang="en-US" altLang="zh-CN" sz="3200" b="1" dirty="0">
                <a:latin typeface="+mj-ea"/>
                <a:ea typeface="+mj-ea"/>
                <a:cs typeface="+mj-cs"/>
              </a:rPr>
              <a:t>Automated Business Processes</a:t>
            </a:r>
          </a:p>
        </p:txBody>
      </p:sp>
      <p:grpSp>
        <p:nvGrpSpPr>
          <p:cNvPr id="14" name="组合 13"/>
          <p:cNvGrpSpPr/>
          <p:nvPr/>
        </p:nvGrpSpPr>
        <p:grpSpPr>
          <a:xfrm>
            <a:off x="1879600" y="1143000"/>
            <a:ext cx="7084888" cy="5334000"/>
            <a:chOff x="381000" y="1143000"/>
            <a:chExt cx="8686800" cy="5334000"/>
          </a:xfrm>
        </p:grpSpPr>
        <p:graphicFrame>
          <p:nvGraphicFramePr>
            <p:cNvPr id="2050" name="Object 2"/>
            <p:cNvGraphicFramePr>
              <a:graphicFrameLocks noChangeAspect="1"/>
            </p:cNvGraphicFramePr>
            <p:nvPr>
              <p:extLst>
                <p:ext uri="{D42A27DB-BD31-4B8C-83A1-F6EECF244321}">
                  <p14:modId xmlns:p14="http://schemas.microsoft.com/office/powerpoint/2010/main" val="2855863932"/>
                </p:ext>
              </p:extLst>
            </p:nvPr>
          </p:nvGraphicFramePr>
          <p:xfrm>
            <a:off x="3505200" y="5059363"/>
            <a:ext cx="2209800" cy="1417637"/>
          </p:xfrm>
          <a:graphic>
            <a:graphicData uri="http://schemas.openxmlformats.org/presentationml/2006/ole">
              <mc:AlternateContent xmlns:mc="http://schemas.openxmlformats.org/markup-compatibility/2006">
                <mc:Choice xmlns:v="urn:schemas-microsoft-com:vml" Requires="v">
                  <p:oleObj spid="_x0000_s1100" name="Worksheet" r:id="rId4" imgW="3981602" imgH="2552700" progId="Excel.Sheet.8">
                    <p:embed/>
                  </p:oleObj>
                </mc:Choice>
                <mc:Fallback>
                  <p:oleObj name="Worksheet" r:id="rId4" imgW="3981602" imgH="2552700"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l="4385" t="2238" r="3110" b="5225"/>
                        <a:stretch>
                          <a:fillRect/>
                        </a:stretch>
                      </p:blipFill>
                      <p:spPr bwMode="auto">
                        <a:xfrm>
                          <a:off x="3505200" y="5059363"/>
                          <a:ext cx="2209800" cy="1417637"/>
                        </a:xfrm>
                        <a:prstGeom prst="rect">
                          <a:avLst/>
                        </a:prstGeom>
                        <a:noFill/>
                        <a:ln>
                          <a:noFill/>
                        </a:ln>
                        <a:effectLst/>
                      </p:spPr>
                    </p:pic>
                  </p:oleObj>
                </mc:Fallback>
              </mc:AlternateContent>
            </a:graphicData>
          </a:graphic>
        </p:graphicFrame>
        <p:pic>
          <p:nvPicPr>
            <p:cNvPr id="2052" name="Picture 4" descr="N:\KPerkins\DATA\PRESENTS\assemblyline2.jpg"/>
            <p:cNvPicPr>
              <a:picLocks noChangeAspect="1" noChangeArrowheads="1"/>
            </p:cNvPicPr>
            <p:nvPr/>
          </p:nvPicPr>
          <p:blipFill>
            <a:blip r:embed="rId6"/>
            <a:srcRect l="3398" t="62067" r="77185" b="4147"/>
            <a:stretch>
              <a:fillRect/>
            </a:stretch>
          </p:blipFill>
          <p:spPr bwMode="auto">
            <a:xfrm>
              <a:off x="7010400" y="1143000"/>
              <a:ext cx="2057400" cy="1828800"/>
            </a:xfrm>
            <a:prstGeom prst="rect">
              <a:avLst/>
            </a:prstGeom>
            <a:noFill/>
            <a:ln w="9525">
              <a:noFill/>
              <a:miter lim="800000"/>
              <a:headEnd/>
              <a:tailEnd/>
            </a:ln>
          </p:spPr>
        </p:pic>
        <p:pic>
          <p:nvPicPr>
            <p:cNvPr id="2053" name="Picture 5" descr="N:\KPerkins\DATA\PRESENTS\warehouse yellow copy.JPG"/>
            <p:cNvPicPr>
              <a:picLocks noChangeAspect="1" noChangeArrowheads="1"/>
            </p:cNvPicPr>
            <p:nvPr/>
          </p:nvPicPr>
          <p:blipFill>
            <a:blip r:embed="rId7"/>
            <a:srcRect/>
            <a:stretch>
              <a:fillRect/>
            </a:stretch>
          </p:blipFill>
          <p:spPr bwMode="auto">
            <a:xfrm>
              <a:off x="7162800" y="3157538"/>
              <a:ext cx="1828800" cy="1219200"/>
            </a:xfrm>
            <a:prstGeom prst="rect">
              <a:avLst/>
            </a:prstGeom>
            <a:noFill/>
            <a:ln w="9525">
              <a:noFill/>
              <a:miter lim="800000"/>
              <a:headEnd/>
              <a:tailEnd/>
            </a:ln>
          </p:spPr>
        </p:pic>
        <p:pic>
          <p:nvPicPr>
            <p:cNvPr id="2054" name="Picture 6" descr="N:\KPerkins\DATA\PRESENTS\truck2 copy.jpg"/>
            <p:cNvPicPr>
              <a:picLocks noChangeAspect="1" noChangeArrowheads="1"/>
            </p:cNvPicPr>
            <p:nvPr/>
          </p:nvPicPr>
          <p:blipFill>
            <a:blip r:embed="rId8"/>
            <a:srcRect/>
            <a:stretch>
              <a:fillRect/>
            </a:stretch>
          </p:blipFill>
          <p:spPr bwMode="auto">
            <a:xfrm>
              <a:off x="7288213" y="4572000"/>
              <a:ext cx="1703387" cy="1905000"/>
            </a:xfrm>
            <a:prstGeom prst="rect">
              <a:avLst/>
            </a:prstGeom>
            <a:noFill/>
            <a:ln w="9525">
              <a:noFill/>
              <a:miter lim="800000"/>
              <a:headEnd/>
              <a:tailEnd/>
            </a:ln>
          </p:spPr>
        </p:pic>
        <p:pic>
          <p:nvPicPr>
            <p:cNvPr id="2055" name="Picture 7" descr="N:\KPerkins\DATA\PRESENTS\rawmats copy.jpg"/>
            <p:cNvPicPr>
              <a:picLocks noChangeAspect="1" noChangeArrowheads="1"/>
            </p:cNvPicPr>
            <p:nvPr/>
          </p:nvPicPr>
          <p:blipFill>
            <a:blip r:embed="rId9"/>
            <a:srcRect/>
            <a:stretch>
              <a:fillRect/>
            </a:stretch>
          </p:blipFill>
          <p:spPr bwMode="auto">
            <a:xfrm>
              <a:off x="381000" y="4673600"/>
              <a:ext cx="1828800" cy="1803400"/>
            </a:xfrm>
            <a:prstGeom prst="rect">
              <a:avLst/>
            </a:prstGeom>
            <a:noFill/>
            <a:ln w="9525">
              <a:noFill/>
              <a:miter lim="800000"/>
              <a:headEnd/>
              <a:tailEnd/>
            </a:ln>
          </p:spPr>
        </p:pic>
        <p:pic>
          <p:nvPicPr>
            <p:cNvPr id="2056" name="Picture 8" descr="N:\KPerkins\DATA\PRESENTS\invoice.bmp"/>
            <p:cNvPicPr>
              <a:picLocks noChangeAspect="1" noChangeArrowheads="1"/>
            </p:cNvPicPr>
            <p:nvPr/>
          </p:nvPicPr>
          <p:blipFill>
            <a:blip r:embed="rId10"/>
            <a:srcRect l="6000" r="61000" b="68666"/>
            <a:stretch>
              <a:fillRect/>
            </a:stretch>
          </p:blipFill>
          <p:spPr bwMode="auto">
            <a:xfrm>
              <a:off x="4191000" y="1143000"/>
              <a:ext cx="1828800" cy="1301750"/>
            </a:xfrm>
            <a:prstGeom prst="rect">
              <a:avLst/>
            </a:prstGeom>
            <a:noFill/>
            <a:ln w="9525">
              <a:solidFill>
                <a:schemeClr val="tx1"/>
              </a:solidFill>
              <a:miter lim="800000"/>
              <a:headEnd/>
              <a:tailEnd/>
            </a:ln>
          </p:spPr>
        </p:pic>
        <p:sp>
          <p:nvSpPr>
            <p:cNvPr id="2057" name="Rectangle 9"/>
            <p:cNvSpPr>
              <a:spLocks noChangeArrowheads="1"/>
            </p:cNvSpPr>
            <p:nvPr/>
          </p:nvSpPr>
          <p:spPr bwMode="auto">
            <a:xfrm>
              <a:off x="3581400" y="3187700"/>
              <a:ext cx="2057400" cy="838200"/>
            </a:xfrm>
            <a:prstGeom prst="rect">
              <a:avLst/>
            </a:prstGeom>
            <a:solidFill>
              <a:schemeClr val="accent2"/>
            </a:solidFill>
            <a:ln w="9525">
              <a:solidFill>
                <a:schemeClr val="tx1"/>
              </a:solidFill>
              <a:miter lim="800000"/>
              <a:headEnd/>
              <a:tailEnd/>
            </a:ln>
          </p:spPr>
          <p:txBody>
            <a:bodyPr wrap="none" anchor="ctr"/>
            <a:lstStyle/>
            <a:p>
              <a:pPr algn="ctr"/>
              <a:r>
                <a:rPr lang="en-US" altLang="zh-CN" sz="1800"/>
                <a:t>Process Server</a:t>
              </a:r>
            </a:p>
          </p:txBody>
        </p:sp>
        <p:grpSp>
          <p:nvGrpSpPr>
            <p:cNvPr id="2" name="Group 10"/>
            <p:cNvGrpSpPr>
              <a:grpSpLocks/>
            </p:cNvGrpSpPr>
            <p:nvPr/>
          </p:nvGrpSpPr>
          <p:grpSpPr bwMode="auto">
            <a:xfrm>
              <a:off x="474663" y="2500313"/>
              <a:ext cx="7639050" cy="2614612"/>
              <a:chOff x="299" y="1767"/>
              <a:chExt cx="4812" cy="1647"/>
            </a:xfrm>
          </p:grpSpPr>
          <p:sp>
            <p:nvSpPr>
              <p:cNvPr id="2116" name="Line 11"/>
              <p:cNvSpPr>
                <a:spLocks noChangeShapeType="1"/>
              </p:cNvSpPr>
              <p:nvPr/>
            </p:nvSpPr>
            <p:spPr bwMode="auto">
              <a:xfrm>
                <a:off x="2544" y="2736"/>
                <a:ext cx="0" cy="528"/>
              </a:xfrm>
              <a:prstGeom prst="line">
                <a:avLst/>
              </a:prstGeom>
              <a:noFill/>
              <a:ln w="38100">
                <a:solidFill>
                  <a:schemeClr val="tx1"/>
                </a:solidFill>
                <a:round/>
                <a:headEnd/>
                <a:tailEnd/>
              </a:ln>
            </p:spPr>
            <p:txBody>
              <a:bodyPr wrap="none" anchor="ctr"/>
              <a:lstStyle/>
              <a:p>
                <a:endParaRPr lang="zh-CN" altLang="en-US"/>
              </a:p>
            </p:txBody>
          </p:sp>
          <p:sp>
            <p:nvSpPr>
              <p:cNvPr id="2117" name="Line 12"/>
              <p:cNvSpPr>
                <a:spLocks noChangeShapeType="1"/>
              </p:cNvSpPr>
              <p:nvPr/>
            </p:nvSpPr>
            <p:spPr bwMode="auto">
              <a:xfrm flipH="1">
                <a:off x="1392" y="3264"/>
                <a:ext cx="1152"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18" name="Line 13"/>
              <p:cNvSpPr>
                <a:spLocks noChangeShapeType="1"/>
              </p:cNvSpPr>
              <p:nvPr/>
            </p:nvSpPr>
            <p:spPr bwMode="auto">
              <a:xfrm flipV="1">
                <a:off x="3504" y="1968"/>
                <a:ext cx="0" cy="240"/>
              </a:xfrm>
              <a:prstGeom prst="line">
                <a:avLst/>
              </a:prstGeom>
              <a:noFill/>
              <a:ln w="38100">
                <a:solidFill>
                  <a:schemeClr val="tx1"/>
                </a:solidFill>
                <a:round/>
                <a:headEnd/>
                <a:tailEnd/>
              </a:ln>
            </p:spPr>
            <p:txBody>
              <a:bodyPr wrap="none" anchor="ctr"/>
              <a:lstStyle/>
              <a:p>
                <a:endParaRPr lang="zh-CN" altLang="en-US"/>
              </a:p>
            </p:txBody>
          </p:sp>
          <p:sp>
            <p:nvSpPr>
              <p:cNvPr id="2119" name="Line 14"/>
              <p:cNvSpPr>
                <a:spLocks noChangeShapeType="1"/>
              </p:cNvSpPr>
              <p:nvPr/>
            </p:nvSpPr>
            <p:spPr bwMode="auto">
              <a:xfrm>
                <a:off x="3504" y="1968"/>
                <a:ext cx="912"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20" name="Text Box 15"/>
              <p:cNvSpPr txBox="1">
                <a:spLocks noChangeArrowheads="1"/>
              </p:cNvSpPr>
              <p:nvPr/>
            </p:nvSpPr>
            <p:spPr bwMode="auto">
              <a:xfrm>
                <a:off x="299" y="3183"/>
                <a:ext cx="551" cy="231"/>
              </a:xfrm>
              <a:prstGeom prst="rect">
                <a:avLst/>
              </a:prstGeom>
              <a:noFill/>
              <a:ln w="12700">
                <a:noFill/>
                <a:miter lim="800000"/>
                <a:headEnd/>
                <a:tailEnd/>
              </a:ln>
            </p:spPr>
            <p:txBody>
              <a:bodyPr wrap="none">
                <a:spAutoFit/>
              </a:bodyPr>
              <a:lstStyle/>
              <a:p>
                <a:r>
                  <a:rPr lang="zh-CN" altLang="en-US" sz="1800">
                    <a:solidFill>
                      <a:schemeClr val="tx2"/>
                    </a:solidFill>
                  </a:rPr>
                  <a:t>原材料</a:t>
                </a:r>
                <a:endParaRPr lang="zh-CN" altLang="en-US" sz="1000">
                  <a:solidFill>
                    <a:schemeClr val="tx2"/>
                  </a:solidFill>
                </a:endParaRPr>
              </a:p>
            </p:txBody>
          </p:sp>
          <p:sp>
            <p:nvSpPr>
              <p:cNvPr id="2121" name="Text Box 16"/>
              <p:cNvSpPr txBox="1">
                <a:spLocks noChangeArrowheads="1"/>
              </p:cNvSpPr>
              <p:nvPr/>
            </p:nvSpPr>
            <p:spPr bwMode="auto">
              <a:xfrm>
                <a:off x="4560" y="1767"/>
                <a:ext cx="551" cy="231"/>
              </a:xfrm>
              <a:prstGeom prst="rect">
                <a:avLst/>
              </a:prstGeom>
              <a:noFill/>
              <a:ln w="12700">
                <a:noFill/>
                <a:miter lim="800000"/>
                <a:headEnd/>
                <a:tailEnd/>
              </a:ln>
            </p:spPr>
            <p:txBody>
              <a:bodyPr wrap="none">
                <a:spAutoFit/>
              </a:bodyPr>
              <a:lstStyle/>
              <a:p>
                <a:r>
                  <a:rPr lang="zh-CN" altLang="en-US" sz="1800"/>
                  <a:t>制造业</a:t>
                </a:r>
                <a:endParaRPr lang="zh-CN" altLang="en-US" sz="1000"/>
              </a:p>
            </p:txBody>
          </p:sp>
        </p:grpSp>
        <p:grpSp>
          <p:nvGrpSpPr>
            <p:cNvPr id="3" name="Group 17"/>
            <p:cNvGrpSpPr>
              <a:grpSpLocks/>
            </p:cNvGrpSpPr>
            <p:nvPr/>
          </p:nvGrpSpPr>
          <p:grpSpPr bwMode="auto">
            <a:xfrm>
              <a:off x="4114800" y="3810000"/>
              <a:ext cx="4156075" cy="2255838"/>
              <a:chOff x="2592" y="2592"/>
              <a:chExt cx="2618" cy="1421"/>
            </a:xfrm>
          </p:grpSpPr>
          <p:sp>
            <p:nvSpPr>
              <p:cNvPr id="2110" name="Line 18"/>
              <p:cNvSpPr>
                <a:spLocks noChangeShapeType="1"/>
              </p:cNvSpPr>
              <p:nvPr/>
            </p:nvSpPr>
            <p:spPr bwMode="auto">
              <a:xfrm flipH="1">
                <a:off x="3552" y="2592"/>
                <a:ext cx="960"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11" name="Line 19"/>
              <p:cNvSpPr>
                <a:spLocks noChangeShapeType="1"/>
              </p:cNvSpPr>
              <p:nvPr/>
            </p:nvSpPr>
            <p:spPr bwMode="auto">
              <a:xfrm>
                <a:off x="3408" y="2736"/>
                <a:ext cx="0" cy="528"/>
              </a:xfrm>
              <a:prstGeom prst="line">
                <a:avLst/>
              </a:prstGeom>
              <a:noFill/>
              <a:ln w="38100">
                <a:solidFill>
                  <a:schemeClr val="tx1"/>
                </a:solidFill>
                <a:round/>
                <a:headEnd/>
                <a:tailEnd/>
              </a:ln>
            </p:spPr>
            <p:txBody>
              <a:bodyPr wrap="none" anchor="ctr"/>
              <a:lstStyle/>
              <a:p>
                <a:endParaRPr lang="zh-CN" altLang="en-US"/>
              </a:p>
            </p:txBody>
          </p:sp>
          <p:sp>
            <p:nvSpPr>
              <p:cNvPr id="2112" name="Line 20"/>
              <p:cNvSpPr>
                <a:spLocks noChangeShapeType="1"/>
              </p:cNvSpPr>
              <p:nvPr/>
            </p:nvSpPr>
            <p:spPr bwMode="auto">
              <a:xfrm>
                <a:off x="3408" y="3264"/>
                <a:ext cx="1200"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13" name="Text Box 21"/>
              <p:cNvSpPr txBox="1">
                <a:spLocks noChangeArrowheads="1"/>
              </p:cNvSpPr>
              <p:nvPr/>
            </p:nvSpPr>
            <p:spPr bwMode="auto">
              <a:xfrm>
                <a:off x="4804" y="3063"/>
                <a:ext cx="406" cy="231"/>
              </a:xfrm>
              <a:prstGeom prst="rect">
                <a:avLst/>
              </a:prstGeom>
              <a:noFill/>
              <a:ln w="12700">
                <a:noFill/>
                <a:miter lim="800000"/>
                <a:headEnd/>
                <a:tailEnd/>
              </a:ln>
            </p:spPr>
            <p:txBody>
              <a:bodyPr wrap="none">
                <a:spAutoFit/>
              </a:bodyPr>
              <a:lstStyle/>
              <a:p>
                <a:r>
                  <a:rPr lang="zh-CN" altLang="en-US" sz="1800"/>
                  <a:t>运输</a:t>
                </a:r>
                <a:endParaRPr lang="zh-CN" altLang="en-US" sz="1000"/>
              </a:p>
            </p:txBody>
          </p:sp>
          <p:sp>
            <p:nvSpPr>
              <p:cNvPr id="2114" name="Line 22"/>
              <p:cNvSpPr>
                <a:spLocks noChangeShapeType="1"/>
              </p:cNvSpPr>
              <p:nvPr/>
            </p:nvSpPr>
            <p:spPr bwMode="auto">
              <a:xfrm>
                <a:off x="3216" y="2736"/>
                <a:ext cx="0" cy="864"/>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15" name="Text Box 23"/>
              <p:cNvSpPr txBox="1">
                <a:spLocks noChangeArrowheads="1"/>
              </p:cNvSpPr>
              <p:nvPr/>
            </p:nvSpPr>
            <p:spPr bwMode="auto">
              <a:xfrm>
                <a:off x="2592" y="3782"/>
                <a:ext cx="841" cy="231"/>
              </a:xfrm>
              <a:prstGeom prst="rect">
                <a:avLst/>
              </a:prstGeom>
              <a:noFill/>
              <a:ln w="12700">
                <a:noFill/>
                <a:miter lim="800000"/>
                <a:headEnd/>
                <a:tailEnd/>
              </a:ln>
            </p:spPr>
            <p:txBody>
              <a:bodyPr wrap="none">
                <a:spAutoFit/>
              </a:bodyPr>
              <a:lstStyle/>
              <a:p>
                <a:r>
                  <a:rPr lang="zh-CN" altLang="en-US" sz="1800"/>
                  <a:t>供应链管理</a:t>
                </a:r>
                <a:endParaRPr lang="zh-CN" altLang="en-US" sz="1000"/>
              </a:p>
            </p:txBody>
          </p:sp>
        </p:grpSp>
        <p:grpSp>
          <p:nvGrpSpPr>
            <p:cNvPr id="4" name="Group 24"/>
            <p:cNvGrpSpPr>
              <a:grpSpLocks/>
            </p:cNvGrpSpPr>
            <p:nvPr/>
          </p:nvGrpSpPr>
          <p:grpSpPr bwMode="auto">
            <a:xfrm>
              <a:off x="933450" y="2057400"/>
              <a:ext cx="3959225" cy="2133600"/>
              <a:chOff x="588" y="1488"/>
              <a:chExt cx="2494" cy="1344"/>
            </a:xfrm>
          </p:grpSpPr>
          <p:sp>
            <p:nvSpPr>
              <p:cNvPr id="2106" name="Line 25"/>
              <p:cNvSpPr>
                <a:spLocks noChangeShapeType="1"/>
              </p:cNvSpPr>
              <p:nvPr/>
            </p:nvSpPr>
            <p:spPr bwMode="auto">
              <a:xfrm flipV="1">
                <a:off x="2928" y="1728"/>
                <a:ext cx="0" cy="48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07" name="Line 26"/>
              <p:cNvSpPr>
                <a:spLocks noChangeShapeType="1"/>
              </p:cNvSpPr>
              <p:nvPr/>
            </p:nvSpPr>
            <p:spPr bwMode="auto">
              <a:xfrm flipH="1">
                <a:off x="1392" y="2592"/>
                <a:ext cx="864"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08" name="Text Box 27"/>
              <p:cNvSpPr txBox="1">
                <a:spLocks noChangeArrowheads="1"/>
              </p:cNvSpPr>
              <p:nvPr/>
            </p:nvSpPr>
            <p:spPr bwMode="auto">
              <a:xfrm>
                <a:off x="588" y="2428"/>
                <a:ext cx="852" cy="404"/>
              </a:xfrm>
              <a:prstGeom prst="rect">
                <a:avLst/>
              </a:prstGeom>
              <a:noFill/>
              <a:ln w="12700">
                <a:noFill/>
                <a:miter lim="800000"/>
                <a:headEnd/>
                <a:tailEnd/>
              </a:ln>
            </p:spPr>
            <p:txBody>
              <a:bodyPr wrap="none">
                <a:spAutoFit/>
              </a:bodyPr>
              <a:lstStyle/>
              <a:p>
                <a:r>
                  <a:rPr lang="en-US" altLang="zh-CN" sz="1800">
                    <a:solidFill>
                      <a:srgbClr val="FFCC00"/>
                    </a:solidFill>
                  </a:rPr>
                  <a:t>Sales Force</a:t>
                </a:r>
              </a:p>
              <a:p>
                <a:r>
                  <a:rPr lang="en-US" altLang="zh-CN" sz="1800">
                    <a:solidFill>
                      <a:srgbClr val="FFCC00"/>
                    </a:solidFill>
                  </a:rPr>
                  <a:t>Automation</a:t>
                </a:r>
                <a:endParaRPr lang="en-US" altLang="zh-CN" sz="1000">
                  <a:solidFill>
                    <a:schemeClr val="accent2"/>
                  </a:solidFill>
                </a:endParaRPr>
              </a:p>
            </p:txBody>
          </p:sp>
          <p:sp>
            <p:nvSpPr>
              <p:cNvPr id="2109" name="Text Box 28"/>
              <p:cNvSpPr txBox="1">
                <a:spLocks noChangeArrowheads="1"/>
              </p:cNvSpPr>
              <p:nvPr/>
            </p:nvSpPr>
            <p:spPr bwMode="auto">
              <a:xfrm>
                <a:off x="2676" y="1488"/>
                <a:ext cx="406" cy="231"/>
              </a:xfrm>
              <a:prstGeom prst="rect">
                <a:avLst/>
              </a:prstGeom>
              <a:noFill/>
              <a:ln w="12700">
                <a:noFill/>
                <a:miter lim="800000"/>
                <a:headEnd/>
                <a:tailEnd/>
              </a:ln>
            </p:spPr>
            <p:txBody>
              <a:bodyPr wrap="none">
                <a:spAutoFit/>
              </a:bodyPr>
              <a:lstStyle/>
              <a:p>
                <a:r>
                  <a:rPr lang="zh-CN" altLang="en-US" sz="1800"/>
                  <a:t>记费</a:t>
                </a:r>
                <a:endParaRPr lang="zh-CN" altLang="en-US" sz="1000"/>
              </a:p>
            </p:txBody>
          </p:sp>
        </p:grpSp>
        <p:grpSp>
          <p:nvGrpSpPr>
            <p:cNvPr id="5" name="Group 29"/>
            <p:cNvGrpSpPr>
              <a:grpSpLocks/>
            </p:cNvGrpSpPr>
            <p:nvPr/>
          </p:nvGrpSpPr>
          <p:grpSpPr bwMode="auto">
            <a:xfrm>
              <a:off x="474663" y="2500313"/>
              <a:ext cx="7639050" cy="2614612"/>
              <a:chOff x="299" y="1767"/>
              <a:chExt cx="4812" cy="1647"/>
            </a:xfrm>
          </p:grpSpPr>
          <p:sp>
            <p:nvSpPr>
              <p:cNvPr id="2099" name="Line 30"/>
              <p:cNvSpPr>
                <a:spLocks noChangeShapeType="1"/>
              </p:cNvSpPr>
              <p:nvPr/>
            </p:nvSpPr>
            <p:spPr bwMode="auto">
              <a:xfrm flipV="1">
                <a:off x="720" y="2976"/>
                <a:ext cx="0" cy="144"/>
              </a:xfrm>
              <a:prstGeom prst="line">
                <a:avLst/>
              </a:prstGeom>
              <a:noFill/>
              <a:ln w="38100">
                <a:solidFill>
                  <a:schemeClr val="tx1"/>
                </a:solidFill>
                <a:round/>
                <a:headEnd/>
                <a:tailEnd/>
              </a:ln>
            </p:spPr>
            <p:txBody>
              <a:bodyPr wrap="none" anchor="ctr"/>
              <a:lstStyle/>
              <a:p>
                <a:endParaRPr lang="zh-CN" altLang="en-US"/>
              </a:p>
            </p:txBody>
          </p:sp>
          <p:sp>
            <p:nvSpPr>
              <p:cNvPr id="2100" name="Line 31"/>
              <p:cNvSpPr>
                <a:spLocks noChangeShapeType="1"/>
              </p:cNvSpPr>
              <p:nvPr/>
            </p:nvSpPr>
            <p:spPr bwMode="auto">
              <a:xfrm>
                <a:off x="720" y="2976"/>
                <a:ext cx="1632" cy="0"/>
              </a:xfrm>
              <a:prstGeom prst="line">
                <a:avLst/>
              </a:prstGeom>
              <a:noFill/>
              <a:ln w="38100">
                <a:solidFill>
                  <a:schemeClr val="tx1"/>
                </a:solidFill>
                <a:round/>
                <a:headEnd/>
                <a:tailEnd/>
              </a:ln>
            </p:spPr>
            <p:txBody>
              <a:bodyPr wrap="none" anchor="ctr"/>
              <a:lstStyle/>
              <a:p>
                <a:endParaRPr lang="zh-CN" altLang="en-US"/>
              </a:p>
            </p:txBody>
          </p:sp>
          <p:sp>
            <p:nvSpPr>
              <p:cNvPr id="2101" name="Line 32"/>
              <p:cNvSpPr>
                <a:spLocks noChangeShapeType="1"/>
              </p:cNvSpPr>
              <p:nvPr/>
            </p:nvSpPr>
            <p:spPr bwMode="auto">
              <a:xfrm flipV="1">
                <a:off x="2352" y="2736"/>
                <a:ext cx="0" cy="24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02" name="Line 33"/>
              <p:cNvSpPr>
                <a:spLocks noChangeShapeType="1"/>
              </p:cNvSpPr>
              <p:nvPr/>
            </p:nvSpPr>
            <p:spPr bwMode="auto">
              <a:xfrm flipH="1">
                <a:off x="3408" y="1824"/>
                <a:ext cx="1008" cy="0"/>
              </a:xfrm>
              <a:prstGeom prst="line">
                <a:avLst/>
              </a:prstGeom>
              <a:noFill/>
              <a:ln w="38100">
                <a:solidFill>
                  <a:schemeClr val="tx1"/>
                </a:solidFill>
                <a:round/>
                <a:headEnd/>
                <a:tailEnd/>
              </a:ln>
            </p:spPr>
            <p:txBody>
              <a:bodyPr wrap="none" anchor="ctr"/>
              <a:lstStyle/>
              <a:p>
                <a:endParaRPr lang="zh-CN" altLang="en-US"/>
              </a:p>
            </p:txBody>
          </p:sp>
          <p:sp>
            <p:nvSpPr>
              <p:cNvPr id="2103" name="Line 34"/>
              <p:cNvSpPr>
                <a:spLocks noChangeShapeType="1"/>
              </p:cNvSpPr>
              <p:nvPr/>
            </p:nvSpPr>
            <p:spPr bwMode="auto">
              <a:xfrm>
                <a:off x="3408" y="1824"/>
                <a:ext cx="0" cy="384"/>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104" name="Text Box 35"/>
              <p:cNvSpPr txBox="1">
                <a:spLocks noChangeArrowheads="1"/>
              </p:cNvSpPr>
              <p:nvPr/>
            </p:nvSpPr>
            <p:spPr bwMode="auto">
              <a:xfrm>
                <a:off x="299" y="3183"/>
                <a:ext cx="551" cy="231"/>
              </a:xfrm>
              <a:prstGeom prst="rect">
                <a:avLst/>
              </a:prstGeom>
              <a:noFill/>
              <a:ln w="12700">
                <a:noFill/>
                <a:miter lim="800000"/>
                <a:headEnd/>
                <a:tailEnd/>
              </a:ln>
            </p:spPr>
            <p:txBody>
              <a:bodyPr wrap="none">
                <a:spAutoFit/>
              </a:bodyPr>
              <a:lstStyle/>
              <a:p>
                <a:r>
                  <a:rPr lang="zh-CN" altLang="en-US" sz="1800">
                    <a:solidFill>
                      <a:schemeClr val="bg1"/>
                    </a:solidFill>
                  </a:rPr>
                  <a:t>原材料</a:t>
                </a:r>
                <a:endParaRPr lang="zh-CN" altLang="en-US" sz="1000">
                  <a:solidFill>
                    <a:schemeClr val="bg1"/>
                  </a:solidFill>
                </a:endParaRPr>
              </a:p>
            </p:txBody>
          </p:sp>
          <p:sp>
            <p:nvSpPr>
              <p:cNvPr id="2105" name="Text Box 36"/>
              <p:cNvSpPr txBox="1">
                <a:spLocks noChangeArrowheads="1"/>
              </p:cNvSpPr>
              <p:nvPr/>
            </p:nvSpPr>
            <p:spPr bwMode="auto">
              <a:xfrm>
                <a:off x="4560" y="1767"/>
                <a:ext cx="551" cy="231"/>
              </a:xfrm>
              <a:prstGeom prst="rect">
                <a:avLst/>
              </a:prstGeom>
              <a:noFill/>
              <a:ln w="12700">
                <a:noFill/>
                <a:miter lim="800000"/>
                <a:headEnd/>
                <a:tailEnd/>
              </a:ln>
            </p:spPr>
            <p:txBody>
              <a:bodyPr wrap="none">
                <a:spAutoFit/>
              </a:bodyPr>
              <a:lstStyle/>
              <a:p>
                <a:r>
                  <a:rPr lang="zh-CN" altLang="en-US" sz="1800"/>
                  <a:t>制造业</a:t>
                </a:r>
                <a:endParaRPr lang="zh-CN" altLang="en-US" sz="1000"/>
              </a:p>
            </p:txBody>
          </p:sp>
        </p:grpSp>
        <p:sp>
          <p:nvSpPr>
            <p:cNvPr id="2062" name="Rectangle 37"/>
            <p:cNvSpPr>
              <a:spLocks noChangeArrowheads="1"/>
            </p:cNvSpPr>
            <p:nvPr/>
          </p:nvSpPr>
          <p:spPr bwMode="auto">
            <a:xfrm>
              <a:off x="457200" y="3200400"/>
              <a:ext cx="1752600" cy="990600"/>
            </a:xfrm>
            <a:prstGeom prst="rect">
              <a:avLst/>
            </a:prstGeom>
            <a:solidFill>
              <a:srgbClr val="003366"/>
            </a:solidFill>
            <a:ln w="9525">
              <a:solidFill>
                <a:schemeClr val="tx1"/>
              </a:solidFill>
              <a:miter lim="800000"/>
              <a:headEnd/>
              <a:tailEnd/>
            </a:ln>
          </p:spPr>
          <p:txBody>
            <a:bodyPr wrap="none" anchor="ctr"/>
            <a:lstStyle/>
            <a:p>
              <a:endParaRPr lang="zh-CN" altLang="en-US"/>
            </a:p>
          </p:txBody>
        </p:sp>
        <p:pic>
          <p:nvPicPr>
            <p:cNvPr id="2063" name="Picture 38" descr="N:\KPerkins\DATA\LOGO\siebel_header.gif"/>
            <p:cNvPicPr>
              <a:picLocks noChangeAspect="1" noChangeArrowheads="1"/>
            </p:cNvPicPr>
            <p:nvPr/>
          </p:nvPicPr>
          <p:blipFill>
            <a:blip r:embed="rId11"/>
            <a:srcRect r="76471"/>
            <a:stretch>
              <a:fillRect/>
            </a:stretch>
          </p:blipFill>
          <p:spPr bwMode="auto">
            <a:xfrm>
              <a:off x="457200" y="3124200"/>
              <a:ext cx="1752600" cy="514350"/>
            </a:xfrm>
            <a:prstGeom prst="rect">
              <a:avLst/>
            </a:prstGeom>
            <a:noFill/>
            <a:ln w="9525">
              <a:noFill/>
              <a:miter lim="800000"/>
              <a:headEnd/>
              <a:tailEnd/>
            </a:ln>
          </p:spPr>
        </p:pic>
        <p:grpSp>
          <p:nvGrpSpPr>
            <p:cNvPr id="6" name="Group 39"/>
            <p:cNvGrpSpPr>
              <a:grpSpLocks/>
            </p:cNvGrpSpPr>
            <p:nvPr/>
          </p:nvGrpSpPr>
          <p:grpSpPr bwMode="auto">
            <a:xfrm>
              <a:off x="2514600" y="2590800"/>
              <a:ext cx="1066800" cy="685800"/>
              <a:chOff x="1584" y="1824"/>
              <a:chExt cx="672" cy="432"/>
            </a:xfrm>
          </p:grpSpPr>
          <p:sp>
            <p:nvSpPr>
              <p:cNvPr id="2097" name="Line 40"/>
              <p:cNvSpPr>
                <a:spLocks noChangeShapeType="1"/>
              </p:cNvSpPr>
              <p:nvPr/>
            </p:nvSpPr>
            <p:spPr bwMode="auto">
              <a:xfrm>
                <a:off x="1584" y="1824"/>
                <a:ext cx="0" cy="432"/>
              </a:xfrm>
              <a:prstGeom prst="line">
                <a:avLst/>
              </a:prstGeom>
              <a:noFill/>
              <a:ln w="38100">
                <a:solidFill>
                  <a:schemeClr val="tx1"/>
                </a:solidFill>
                <a:round/>
                <a:headEnd type="none" w="sm" len="sm"/>
                <a:tailEnd/>
              </a:ln>
            </p:spPr>
            <p:txBody>
              <a:bodyPr wrap="none" anchor="ctr"/>
              <a:lstStyle/>
              <a:p>
                <a:endParaRPr lang="zh-CN" altLang="en-US"/>
              </a:p>
            </p:txBody>
          </p:sp>
          <p:sp>
            <p:nvSpPr>
              <p:cNvPr id="2098" name="Line 41"/>
              <p:cNvSpPr>
                <a:spLocks noChangeShapeType="1"/>
              </p:cNvSpPr>
              <p:nvPr/>
            </p:nvSpPr>
            <p:spPr bwMode="auto">
              <a:xfrm>
                <a:off x="1584" y="2256"/>
                <a:ext cx="672" cy="0"/>
              </a:xfrm>
              <a:prstGeom prst="line">
                <a:avLst/>
              </a:prstGeom>
              <a:noFill/>
              <a:ln w="38100">
                <a:solidFill>
                  <a:schemeClr val="tx1"/>
                </a:solidFill>
                <a:round/>
                <a:headEnd type="none" w="sm" len="sm"/>
                <a:tailEnd type="triangle" w="med" len="med"/>
              </a:ln>
            </p:spPr>
            <p:txBody>
              <a:bodyPr wrap="none" anchor="ctr"/>
              <a:lstStyle/>
              <a:p>
                <a:endParaRPr lang="zh-CN" altLang="en-US"/>
              </a:p>
            </p:txBody>
          </p:sp>
        </p:grpSp>
        <p:grpSp>
          <p:nvGrpSpPr>
            <p:cNvPr id="7" name="Group 42"/>
            <p:cNvGrpSpPr>
              <a:grpSpLocks/>
            </p:cNvGrpSpPr>
            <p:nvPr/>
          </p:nvGrpSpPr>
          <p:grpSpPr bwMode="auto">
            <a:xfrm>
              <a:off x="3048000" y="2286000"/>
              <a:ext cx="685800" cy="914400"/>
              <a:chOff x="1920" y="1632"/>
              <a:chExt cx="432" cy="576"/>
            </a:xfrm>
          </p:grpSpPr>
          <p:sp>
            <p:nvSpPr>
              <p:cNvPr id="2095" name="Line 43"/>
              <p:cNvSpPr>
                <a:spLocks noChangeShapeType="1"/>
              </p:cNvSpPr>
              <p:nvPr/>
            </p:nvSpPr>
            <p:spPr bwMode="auto">
              <a:xfrm flipV="1">
                <a:off x="2352" y="1632"/>
                <a:ext cx="0" cy="576"/>
              </a:xfrm>
              <a:prstGeom prst="line">
                <a:avLst/>
              </a:prstGeom>
              <a:noFill/>
              <a:ln w="38100">
                <a:solidFill>
                  <a:schemeClr val="tx1"/>
                </a:solidFill>
                <a:round/>
                <a:headEnd type="none" w="sm" len="sm"/>
                <a:tailEnd/>
              </a:ln>
            </p:spPr>
            <p:txBody>
              <a:bodyPr wrap="none" anchor="ctr"/>
              <a:lstStyle/>
              <a:p>
                <a:endParaRPr lang="zh-CN" altLang="en-US"/>
              </a:p>
            </p:txBody>
          </p:sp>
          <p:sp>
            <p:nvSpPr>
              <p:cNvPr id="2096" name="Line 44"/>
              <p:cNvSpPr>
                <a:spLocks noChangeShapeType="1"/>
              </p:cNvSpPr>
              <p:nvPr/>
            </p:nvSpPr>
            <p:spPr bwMode="auto">
              <a:xfrm flipH="1">
                <a:off x="1920" y="1632"/>
                <a:ext cx="432" cy="0"/>
              </a:xfrm>
              <a:prstGeom prst="line">
                <a:avLst/>
              </a:prstGeom>
              <a:noFill/>
              <a:ln w="38100">
                <a:solidFill>
                  <a:schemeClr val="tx1"/>
                </a:solidFill>
                <a:round/>
                <a:headEnd type="none" w="sm" len="sm"/>
                <a:tailEnd type="triangle" w="med" len="med"/>
              </a:ln>
            </p:spPr>
            <p:txBody>
              <a:bodyPr wrap="none" anchor="ctr"/>
              <a:lstStyle/>
              <a:p>
                <a:endParaRPr lang="zh-CN" altLang="en-US"/>
              </a:p>
            </p:txBody>
          </p:sp>
        </p:grpSp>
        <p:grpSp>
          <p:nvGrpSpPr>
            <p:cNvPr id="8" name="Group 45"/>
            <p:cNvGrpSpPr>
              <a:grpSpLocks/>
            </p:cNvGrpSpPr>
            <p:nvPr/>
          </p:nvGrpSpPr>
          <p:grpSpPr bwMode="auto">
            <a:xfrm>
              <a:off x="2209800" y="3186113"/>
              <a:ext cx="5819775" cy="623887"/>
              <a:chOff x="1392" y="2199"/>
              <a:chExt cx="3666" cy="393"/>
            </a:xfrm>
          </p:grpSpPr>
          <p:grpSp>
            <p:nvGrpSpPr>
              <p:cNvPr id="9" name="Group 46"/>
              <p:cNvGrpSpPr>
                <a:grpSpLocks/>
              </p:cNvGrpSpPr>
              <p:nvPr/>
            </p:nvGrpSpPr>
            <p:grpSpPr bwMode="auto">
              <a:xfrm>
                <a:off x="3552" y="2199"/>
                <a:ext cx="1506" cy="249"/>
                <a:chOff x="3552" y="2199"/>
                <a:chExt cx="1506" cy="249"/>
              </a:xfrm>
            </p:grpSpPr>
            <p:sp>
              <p:nvSpPr>
                <p:cNvPr id="2093" name="Line 47"/>
                <p:cNvSpPr>
                  <a:spLocks noChangeShapeType="1"/>
                </p:cNvSpPr>
                <p:nvPr/>
              </p:nvSpPr>
              <p:spPr bwMode="auto">
                <a:xfrm>
                  <a:off x="3552" y="2448"/>
                  <a:ext cx="960"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094" name="Text Box 48"/>
                <p:cNvSpPr txBox="1">
                  <a:spLocks noChangeArrowheads="1"/>
                </p:cNvSpPr>
                <p:nvPr/>
              </p:nvSpPr>
              <p:spPr bwMode="auto">
                <a:xfrm>
                  <a:off x="4652" y="2199"/>
                  <a:ext cx="406" cy="231"/>
                </a:xfrm>
                <a:prstGeom prst="rect">
                  <a:avLst/>
                </a:prstGeom>
                <a:noFill/>
                <a:ln w="12700">
                  <a:noFill/>
                  <a:miter lim="800000"/>
                  <a:headEnd/>
                  <a:tailEnd/>
                </a:ln>
              </p:spPr>
              <p:txBody>
                <a:bodyPr wrap="none">
                  <a:spAutoFit/>
                </a:bodyPr>
                <a:lstStyle/>
                <a:p>
                  <a:r>
                    <a:rPr lang="zh-CN" altLang="en-US" sz="1800"/>
                    <a:t>配送</a:t>
                  </a:r>
                  <a:endParaRPr lang="zh-CN" altLang="en-US" sz="1000"/>
                </a:p>
              </p:txBody>
            </p:sp>
          </p:grpSp>
          <p:sp>
            <p:nvSpPr>
              <p:cNvPr id="2092" name="Line 49"/>
              <p:cNvSpPr>
                <a:spLocks noChangeShapeType="1"/>
              </p:cNvSpPr>
              <p:nvPr/>
            </p:nvSpPr>
            <p:spPr bwMode="auto">
              <a:xfrm flipH="1">
                <a:off x="1392" y="2592"/>
                <a:ext cx="864" cy="0"/>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10" name="Group 50"/>
            <p:cNvGrpSpPr>
              <a:grpSpLocks/>
            </p:cNvGrpSpPr>
            <p:nvPr/>
          </p:nvGrpSpPr>
          <p:grpSpPr bwMode="auto">
            <a:xfrm>
              <a:off x="914400" y="3565525"/>
              <a:ext cx="6229350" cy="641350"/>
              <a:chOff x="588" y="2418"/>
              <a:chExt cx="3924" cy="404"/>
            </a:xfrm>
          </p:grpSpPr>
          <p:grpSp>
            <p:nvGrpSpPr>
              <p:cNvPr id="11" name="Group 51"/>
              <p:cNvGrpSpPr>
                <a:grpSpLocks/>
              </p:cNvGrpSpPr>
              <p:nvPr/>
            </p:nvGrpSpPr>
            <p:grpSpPr bwMode="auto">
              <a:xfrm>
                <a:off x="588" y="2418"/>
                <a:ext cx="1668" cy="404"/>
                <a:chOff x="588" y="2418"/>
                <a:chExt cx="1668" cy="404"/>
              </a:xfrm>
            </p:grpSpPr>
            <p:sp>
              <p:nvSpPr>
                <p:cNvPr id="2089" name="Line 52"/>
                <p:cNvSpPr>
                  <a:spLocks noChangeShapeType="1"/>
                </p:cNvSpPr>
                <p:nvPr/>
              </p:nvSpPr>
              <p:spPr bwMode="auto">
                <a:xfrm>
                  <a:off x="1392" y="2448"/>
                  <a:ext cx="864" cy="0"/>
                </a:xfrm>
                <a:prstGeom prst="line">
                  <a:avLst/>
                </a:prstGeom>
                <a:noFill/>
                <a:ln w="38100">
                  <a:solidFill>
                    <a:schemeClr val="tx1"/>
                  </a:solidFill>
                  <a:round/>
                  <a:headEnd/>
                  <a:tailEnd type="triangle" w="med" len="med"/>
                </a:ln>
              </p:spPr>
              <p:txBody>
                <a:bodyPr wrap="none" anchor="ctr"/>
                <a:lstStyle/>
                <a:p>
                  <a:endParaRPr lang="zh-CN" altLang="en-US"/>
                </a:p>
              </p:txBody>
            </p:sp>
            <p:sp>
              <p:nvSpPr>
                <p:cNvPr id="2090" name="Text Box 53"/>
                <p:cNvSpPr txBox="1">
                  <a:spLocks noChangeArrowheads="1"/>
                </p:cNvSpPr>
                <p:nvPr/>
              </p:nvSpPr>
              <p:spPr bwMode="auto">
                <a:xfrm>
                  <a:off x="588" y="2418"/>
                  <a:ext cx="841" cy="404"/>
                </a:xfrm>
                <a:prstGeom prst="rect">
                  <a:avLst/>
                </a:prstGeom>
                <a:noFill/>
                <a:ln w="12700">
                  <a:noFill/>
                  <a:miter lim="800000"/>
                  <a:headEnd/>
                  <a:tailEnd/>
                </a:ln>
              </p:spPr>
              <p:txBody>
                <a:bodyPr wrap="none">
                  <a:spAutoFit/>
                </a:bodyPr>
                <a:lstStyle/>
                <a:p>
                  <a:r>
                    <a:rPr lang="zh-CN" altLang="en-US" sz="1800">
                      <a:solidFill>
                        <a:srgbClr val="FFCC00"/>
                      </a:solidFill>
                    </a:rPr>
                    <a:t>销售自动控</a:t>
                  </a:r>
                  <a:br>
                    <a:rPr lang="zh-CN" altLang="en-US" sz="1800">
                      <a:solidFill>
                        <a:srgbClr val="FFCC00"/>
                      </a:solidFill>
                    </a:rPr>
                  </a:br>
                  <a:r>
                    <a:rPr lang="zh-CN" altLang="en-US" sz="1800">
                      <a:solidFill>
                        <a:srgbClr val="FFCC00"/>
                      </a:solidFill>
                    </a:rPr>
                    <a:t>制</a:t>
                  </a:r>
                  <a:endParaRPr lang="zh-CN" altLang="en-US" sz="1000">
                    <a:solidFill>
                      <a:schemeClr val="accent2"/>
                    </a:solidFill>
                  </a:endParaRPr>
                </a:p>
              </p:txBody>
            </p:sp>
          </p:grpSp>
          <p:sp>
            <p:nvSpPr>
              <p:cNvPr id="2088" name="Line 54"/>
              <p:cNvSpPr>
                <a:spLocks noChangeShapeType="1"/>
              </p:cNvSpPr>
              <p:nvPr/>
            </p:nvSpPr>
            <p:spPr bwMode="auto">
              <a:xfrm flipH="1">
                <a:off x="3552" y="2592"/>
                <a:ext cx="960" cy="0"/>
              </a:xfrm>
              <a:prstGeom prst="line">
                <a:avLst/>
              </a:prstGeom>
              <a:noFill/>
              <a:ln w="38100">
                <a:solidFill>
                  <a:schemeClr val="tx1"/>
                </a:solidFill>
                <a:round/>
                <a:headEnd/>
                <a:tailEnd type="triangle" w="med" len="med"/>
              </a:ln>
            </p:spPr>
            <p:txBody>
              <a:bodyPr wrap="none" anchor="ctr"/>
              <a:lstStyle/>
              <a:p>
                <a:endParaRPr lang="zh-CN" altLang="en-US"/>
              </a:p>
            </p:txBody>
          </p:sp>
        </p:grpSp>
        <p:grpSp>
          <p:nvGrpSpPr>
            <p:cNvPr id="12" name="Group 55"/>
            <p:cNvGrpSpPr>
              <a:grpSpLocks/>
            </p:cNvGrpSpPr>
            <p:nvPr/>
          </p:nvGrpSpPr>
          <p:grpSpPr bwMode="auto">
            <a:xfrm>
              <a:off x="2514600" y="2590800"/>
              <a:ext cx="1066800" cy="685800"/>
              <a:chOff x="1584" y="1824"/>
              <a:chExt cx="672" cy="432"/>
            </a:xfrm>
          </p:grpSpPr>
          <p:sp>
            <p:nvSpPr>
              <p:cNvPr id="2085" name="Line 56"/>
              <p:cNvSpPr>
                <a:spLocks noChangeShapeType="1"/>
              </p:cNvSpPr>
              <p:nvPr/>
            </p:nvSpPr>
            <p:spPr bwMode="auto">
              <a:xfrm>
                <a:off x="1584" y="1824"/>
                <a:ext cx="0" cy="432"/>
              </a:xfrm>
              <a:prstGeom prst="line">
                <a:avLst/>
              </a:prstGeom>
              <a:noFill/>
              <a:ln w="38100">
                <a:solidFill>
                  <a:schemeClr val="tx1"/>
                </a:solidFill>
                <a:round/>
                <a:headEnd type="none" w="sm" len="sm"/>
                <a:tailEnd/>
              </a:ln>
            </p:spPr>
            <p:txBody>
              <a:bodyPr wrap="none" anchor="ctr"/>
              <a:lstStyle/>
              <a:p>
                <a:endParaRPr lang="zh-CN" altLang="en-US"/>
              </a:p>
            </p:txBody>
          </p:sp>
          <p:sp>
            <p:nvSpPr>
              <p:cNvPr id="2086" name="Line 57"/>
              <p:cNvSpPr>
                <a:spLocks noChangeShapeType="1"/>
              </p:cNvSpPr>
              <p:nvPr/>
            </p:nvSpPr>
            <p:spPr bwMode="auto">
              <a:xfrm>
                <a:off x="1584" y="2256"/>
                <a:ext cx="672" cy="0"/>
              </a:xfrm>
              <a:prstGeom prst="line">
                <a:avLst/>
              </a:prstGeom>
              <a:noFill/>
              <a:ln w="38100">
                <a:solidFill>
                  <a:schemeClr val="tx1"/>
                </a:solidFill>
                <a:round/>
                <a:headEnd type="none" w="sm" len="sm"/>
                <a:tailEnd type="triangle" w="med" len="med"/>
              </a:ln>
            </p:spPr>
            <p:txBody>
              <a:bodyPr wrap="none" anchor="ctr"/>
              <a:lstStyle/>
              <a:p>
                <a:endParaRPr lang="zh-CN" altLang="en-US"/>
              </a:p>
            </p:txBody>
          </p:sp>
        </p:grpSp>
        <p:sp>
          <p:nvSpPr>
            <p:cNvPr id="2069" name="Line 58"/>
            <p:cNvSpPr>
              <a:spLocks noChangeShapeType="1"/>
            </p:cNvSpPr>
            <p:nvPr/>
          </p:nvSpPr>
          <p:spPr bwMode="auto">
            <a:xfrm>
              <a:off x="5638800" y="3581400"/>
              <a:ext cx="1524000" cy="0"/>
            </a:xfrm>
            <a:prstGeom prst="line">
              <a:avLst/>
            </a:prstGeom>
            <a:noFill/>
            <a:ln w="38100">
              <a:solidFill>
                <a:schemeClr val="tx1"/>
              </a:solidFill>
              <a:round/>
              <a:headEnd type="none" w="sm" len="sm"/>
              <a:tailEnd type="triangle" w="med" len="med"/>
            </a:ln>
          </p:spPr>
          <p:txBody>
            <a:bodyPr wrap="none" anchor="ctr"/>
            <a:lstStyle/>
            <a:p>
              <a:endParaRPr lang="zh-CN" altLang="en-US"/>
            </a:p>
          </p:txBody>
        </p:sp>
        <p:sp>
          <p:nvSpPr>
            <p:cNvPr id="2070" name="Line 59"/>
            <p:cNvSpPr>
              <a:spLocks noChangeShapeType="1"/>
            </p:cNvSpPr>
            <p:nvPr/>
          </p:nvSpPr>
          <p:spPr bwMode="auto">
            <a:xfrm flipH="1" flipV="1">
              <a:off x="3048000" y="2590800"/>
              <a:ext cx="533400" cy="609600"/>
            </a:xfrm>
            <a:prstGeom prst="line">
              <a:avLst/>
            </a:prstGeom>
            <a:noFill/>
            <a:ln w="38100">
              <a:solidFill>
                <a:schemeClr val="tx1"/>
              </a:solidFill>
              <a:prstDash val="dash"/>
              <a:round/>
              <a:headEnd type="none" w="sm" len="sm"/>
              <a:tailEnd type="triangle" w="med" len="med"/>
            </a:ln>
          </p:spPr>
          <p:txBody>
            <a:bodyPr wrap="none" anchor="ctr"/>
            <a:lstStyle/>
            <a:p>
              <a:endParaRPr lang="zh-CN" altLang="en-US"/>
            </a:p>
          </p:txBody>
        </p:sp>
        <p:sp>
          <p:nvSpPr>
            <p:cNvPr id="2071" name="Line 60"/>
            <p:cNvSpPr>
              <a:spLocks noChangeShapeType="1"/>
            </p:cNvSpPr>
            <p:nvPr/>
          </p:nvSpPr>
          <p:spPr bwMode="auto">
            <a:xfrm flipV="1">
              <a:off x="4267200" y="4038600"/>
              <a:ext cx="0" cy="1295400"/>
            </a:xfrm>
            <a:prstGeom prst="line">
              <a:avLst/>
            </a:prstGeom>
            <a:noFill/>
            <a:ln w="38100">
              <a:solidFill>
                <a:schemeClr val="tx1"/>
              </a:solidFill>
              <a:round/>
              <a:headEnd type="none" w="sm" len="sm"/>
              <a:tailEnd type="triangle" w="med" len="med"/>
            </a:ln>
          </p:spPr>
          <p:txBody>
            <a:bodyPr wrap="none" anchor="ctr"/>
            <a:lstStyle/>
            <a:p>
              <a:endParaRPr lang="zh-CN" altLang="en-US"/>
            </a:p>
          </p:txBody>
        </p:sp>
        <p:grpSp>
          <p:nvGrpSpPr>
            <p:cNvPr id="13" name="Group 61"/>
            <p:cNvGrpSpPr>
              <a:grpSpLocks/>
            </p:cNvGrpSpPr>
            <p:nvPr/>
          </p:nvGrpSpPr>
          <p:grpSpPr bwMode="auto">
            <a:xfrm>
              <a:off x="381000" y="1143000"/>
              <a:ext cx="2867025" cy="1447800"/>
              <a:chOff x="288" y="432"/>
              <a:chExt cx="1806" cy="912"/>
            </a:xfrm>
          </p:grpSpPr>
          <p:pic>
            <p:nvPicPr>
              <p:cNvPr id="2073" name="Picture 62" descr="N:\LJohnson\Data\EPE\graphics\PSFT_order_entry.bmp"/>
              <p:cNvPicPr>
                <a:picLocks noChangeAspect="1" noChangeArrowheads="1"/>
              </p:cNvPicPr>
              <p:nvPr/>
            </p:nvPicPr>
            <p:blipFill>
              <a:blip r:embed="rId12"/>
              <a:srcRect r="17999" b="40666"/>
              <a:stretch>
                <a:fillRect/>
              </a:stretch>
            </p:blipFill>
            <p:spPr bwMode="auto">
              <a:xfrm>
                <a:off x="288" y="432"/>
                <a:ext cx="1680" cy="912"/>
              </a:xfrm>
              <a:prstGeom prst="rect">
                <a:avLst/>
              </a:prstGeom>
              <a:noFill/>
              <a:ln w="9525">
                <a:noFill/>
                <a:miter lim="800000"/>
                <a:headEnd/>
                <a:tailEnd/>
              </a:ln>
            </p:spPr>
          </p:pic>
          <p:sp>
            <p:nvSpPr>
              <p:cNvPr id="2074" name="Text Box 63"/>
              <p:cNvSpPr txBox="1">
                <a:spLocks noChangeArrowheads="1"/>
              </p:cNvSpPr>
              <p:nvPr/>
            </p:nvSpPr>
            <p:spPr bwMode="auto">
              <a:xfrm>
                <a:off x="321" y="833"/>
                <a:ext cx="447" cy="106"/>
              </a:xfrm>
              <a:prstGeom prst="rect">
                <a:avLst/>
              </a:prstGeom>
              <a:noFill/>
              <a:ln w="9525">
                <a:noFill/>
                <a:miter lim="800000"/>
                <a:headEnd/>
                <a:tailEnd/>
              </a:ln>
            </p:spPr>
            <p:txBody>
              <a:bodyPr wrap="none">
                <a:spAutoFit/>
              </a:bodyPr>
              <a:lstStyle/>
              <a:p>
                <a:r>
                  <a:rPr lang="en-US" altLang="zh-CN" sz="500"/>
                  <a:t>Buena Vista Corp</a:t>
                </a:r>
              </a:p>
            </p:txBody>
          </p:sp>
          <p:sp>
            <p:nvSpPr>
              <p:cNvPr id="2075" name="Text Box 64"/>
              <p:cNvSpPr txBox="1">
                <a:spLocks noChangeArrowheads="1"/>
              </p:cNvSpPr>
              <p:nvPr/>
            </p:nvSpPr>
            <p:spPr bwMode="auto">
              <a:xfrm>
                <a:off x="1098" y="833"/>
                <a:ext cx="399" cy="106"/>
              </a:xfrm>
              <a:prstGeom prst="rect">
                <a:avLst/>
              </a:prstGeom>
              <a:noFill/>
              <a:ln w="9525">
                <a:noFill/>
                <a:miter lim="800000"/>
                <a:headEnd/>
                <a:tailEnd/>
              </a:ln>
            </p:spPr>
            <p:txBody>
              <a:bodyPr wrap="none">
                <a:spAutoFit/>
              </a:bodyPr>
              <a:lstStyle/>
              <a:p>
                <a:r>
                  <a:rPr lang="en-US" altLang="zh-CN" sz="500"/>
                  <a:t>BVC001949332</a:t>
                </a:r>
              </a:p>
            </p:txBody>
          </p:sp>
          <p:sp>
            <p:nvSpPr>
              <p:cNvPr id="2076" name="Text Box 65"/>
              <p:cNvSpPr txBox="1">
                <a:spLocks noChangeArrowheads="1"/>
              </p:cNvSpPr>
              <p:nvPr/>
            </p:nvSpPr>
            <p:spPr bwMode="auto">
              <a:xfrm>
                <a:off x="320" y="997"/>
                <a:ext cx="447" cy="106"/>
              </a:xfrm>
              <a:prstGeom prst="rect">
                <a:avLst/>
              </a:prstGeom>
              <a:noFill/>
              <a:ln w="9525">
                <a:noFill/>
                <a:miter lim="800000"/>
                <a:headEnd/>
                <a:tailEnd/>
              </a:ln>
            </p:spPr>
            <p:txBody>
              <a:bodyPr wrap="none">
                <a:spAutoFit/>
              </a:bodyPr>
              <a:lstStyle/>
              <a:p>
                <a:r>
                  <a:rPr lang="en-US" altLang="zh-CN" sz="500"/>
                  <a:t>Buena Vista Corp</a:t>
                </a:r>
              </a:p>
            </p:txBody>
          </p:sp>
          <p:sp>
            <p:nvSpPr>
              <p:cNvPr id="2077" name="Text Box 66"/>
              <p:cNvSpPr txBox="1">
                <a:spLocks noChangeArrowheads="1"/>
              </p:cNvSpPr>
              <p:nvPr/>
            </p:nvSpPr>
            <p:spPr bwMode="auto">
              <a:xfrm>
                <a:off x="706" y="833"/>
                <a:ext cx="167" cy="106"/>
              </a:xfrm>
              <a:prstGeom prst="rect">
                <a:avLst/>
              </a:prstGeom>
              <a:noFill/>
              <a:ln w="9525">
                <a:noFill/>
                <a:miter lim="800000"/>
                <a:headEnd/>
                <a:tailEnd/>
              </a:ln>
            </p:spPr>
            <p:txBody>
              <a:bodyPr wrap="none">
                <a:spAutoFit/>
              </a:bodyPr>
              <a:lstStyle/>
              <a:p>
                <a:r>
                  <a:rPr lang="zh-CN" altLang="en-US" sz="500"/>
                  <a:t>6</a:t>
                </a:r>
                <a:r>
                  <a:rPr lang="en-US" altLang="zh-CN" sz="500"/>
                  <a:t>A</a:t>
                </a:r>
                <a:endParaRPr lang="en-US" altLang="zh-CN" sz="1000"/>
              </a:p>
            </p:txBody>
          </p:sp>
          <p:sp>
            <p:nvSpPr>
              <p:cNvPr id="2078" name="Text Box 67"/>
              <p:cNvSpPr txBox="1">
                <a:spLocks noChangeArrowheads="1"/>
              </p:cNvSpPr>
              <p:nvPr/>
            </p:nvSpPr>
            <p:spPr bwMode="auto">
              <a:xfrm>
                <a:off x="704" y="1001"/>
                <a:ext cx="167" cy="106"/>
              </a:xfrm>
              <a:prstGeom prst="rect">
                <a:avLst/>
              </a:prstGeom>
              <a:noFill/>
              <a:ln w="9525">
                <a:noFill/>
                <a:miter lim="800000"/>
                <a:headEnd/>
                <a:tailEnd/>
              </a:ln>
            </p:spPr>
            <p:txBody>
              <a:bodyPr wrap="none">
                <a:spAutoFit/>
              </a:bodyPr>
              <a:lstStyle/>
              <a:p>
                <a:r>
                  <a:rPr lang="zh-CN" altLang="en-US" sz="500"/>
                  <a:t>6</a:t>
                </a:r>
                <a:r>
                  <a:rPr lang="en-US" altLang="zh-CN" sz="500"/>
                  <a:t>A</a:t>
                </a:r>
              </a:p>
            </p:txBody>
          </p:sp>
          <p:sp>
            <p:nvSpPr>
              <p:cNvPr id="2079" name="Text Box 68"/>
              <p:cNvSpPr txBox="1">
                <a:spLocks noChangeArrowheads="1"/>
              </p:cNvSpPr>
              <p:nvPr/>
            </p:nvSpPr>
            <p:spPr bwMode="auto">
              <a:xfrm>
                <a:off x="810" y="1001"/>
                <a:ext cx="422" cy="106"/>
              </a:xfrm>
              <a:prstGeom prst="rect">
                <a:avLst/>
              </a:prstGeom>
              <a:noFill/>
              <a:ln w="9525">
                <a:noFill/>
                <a:miter lim="800000"/>
                <a:headEnd/>
                <a:tailEnd/>
              </a:ln>
            </p:spPr>
            <p:txBody>
              <a:bodyPr wrap="none">
                <a:spAutoFit/>
              </a:bodyPr>
              <a:lstStyle/>
              <a:p>
                <a:r>
                  <a:rPr lang="zh-CN" altLang="en-US" sz="500"/>
                  <a:t>6700 </a:t>
                </a:r>
                <a:r>
                  <a:rPr lang="en-US" altLang="zh-CN" sz="500"/>
                  <a:t>Quebec St.</a:t>
                </a:r>
              </a:p>
            </p:txBody>
          </p:sp>
          <p:sp>
            <p:nvSpPr>
              <p:cNvPr id="2080" name="Text Box 69"/>
              <p:cNvSpPr txBox="1">
                <a:spLocks noChangeArrowheads="1"/>
              </p:cNvSpPr>
              <p:nvPr/>
            </p:nvSpPr>
            <p:spPr bwMode="auto">
              <a:xfrm>
                <a:off x="1676" y="1001"/>
                <a:ext cx="292" cy="106"/>
              </a:xfrm>
              <a:prstGeom prst="rect">
                <a:avLst/>
              </a:prstGeom>
              <a:noFill/>
              <a:ln w="9525">
                <a:noFill/>
                <a:miter lim="800000"/>
                <a:headEnd/>
                <a:tailEnd/>
              </a:ln>
            </p:spPr>
            <p:txBody>
              <a:bodyPr wrap="none">
                <a:spAutoFit/>
              </a:bodyPr>
              <a:lstStyle/>
              <a:p>
                <a:r>
                  <a:rPr lang="zh-CN" altLang="en-US" sz="500"/>
                  <a:t>34093748</a:t>
                </a:r>
              </a:p>
            </p:txBody>
          </p:sp>
          <p:sp>
            <p:nvSpPr>
              <p:cNvPr id="2081" name="Text Box 70"/>
              <p:cNvSpPr txBox="1">
                <a:spLocks noChangeArrowheads="1"/>
              </p:cNvSpPr>
              <p:nvPr/>
            </p:nvSpPr>
            <p:spPr bwMode="auto">
              <a:xfrm>
                <a:off x="1692" y="1172"/>
                <a:ext cx="402" cy="106"/>
              </a:xfrm>
              <a:prstGeom prst="rect">
                <a:avLst/>
              </a:prstGeom>
              <a:noFill/>
              <a:ln w="9525">
                <a:noFill/>
                <a:miter lim="800000"/>
                <a:headEnd/>
                <a:tailEnd/>
              </a:ln>
            </p:spPr>
            <p:txBody>
              <a:bodyPr>
                <a:spAutoFit/>
              </a:bodyPr>
              <a:lstStyle/>
              <a:p>
                <a:r>
                  <a:rPr lang="zh-CN" altLang="en-US" sz="500"/>
                  <a:t>74,000</a:t>
                </a:r>
              </a:p>
            </p:txBody>
          </p:sp>
          <p:sp>
            <p:nvSpPr>
              <p:cNvPr id="2082" name="Text Box 71"/>
              <p:cNvSpPr txBox="1">
                <a:spLocks noChangeArrowheads="1"/>
              </p:cNvSpPr>
              <p:nvPr/>
            </p:nvSpPr>
            <p:spPr bwMode="auto">
              <a:xfrm>
                <a:off x="1306" y="1169"/>
                <a:ext cx="182" cy="106"/>
              </a:xfrm>
              <a:prstGeom prst="rect">
                <a:avLst/>
              </a:prstGeom>
              <a:noFill/>
              <a:ln w="9525">
                <a:noFill/>
                <a:miter lim="800000"/>
                <a:headEnd/>
                <a:tailEnd/>
              </a:ln>
            </p:spPr>
            <p:txBody>
              <a:bodyPr wrap="none">
                <a:spAutoFit/>
              </a:bodyPr>
              <a:lstStyle/>
              <a:p>
                <a:r>
                  <a:rPr lang="zh-CN" altLang="en-US" sz="500"/>
                  <a:t>100</a:t>
                </a:r>
              </a:p>
            </p:txBody>
          </p:sp>
          <p:sp>
            <p:nvSpPr>
              <p:cNvPr id="2083" name="Text Box 72"/>
              <p:cNvSpPr txBox="1">
                <a:spLocks noChangeArrowheads="1"/>
              </p:cNvSpPr>
              <p:nvPr/>
            </p:nvSpPr>
            <p:spPr bwMode="auto">
              <a:xfrm>
                <a:off x="858" y="1170"/>
                <a:ext cx="235" cy="106"/>
              </a:xfrm>
              <a:prstGeom prst="rect">
                <a:avLst/>
              </a:prstGeom>
              <a:noFill/>
              <a:ln w="9525">
                <a:noFill/>
                <a:miter lim="800000"/>
                <a:headEnd/>
                <a:tailEnd/>
              </a:ln>
            </p:spPr>
            <p:txBody>
              <a:bodyPr wrap="none">
                <a:spAutoFit/>
              </a:bodyPr>
              <a:lstStyle/>
              <a:p>
                <a:r>
                  <a:rPr lang="zh-CN" altLang="en-US" sz="500"/>
                  <a:t>800</a:t>
                </a:r>
                <a:r>
                  <a:rPr lang="en-US" altLang="zh-CN" sz="500"/>
                  <a:t>AF</a:t>
                </a:r>
              </a:p>
            </p:txBody>
          </p:sp>
          <p:sp>
            <p:nvSpPr>
              <p:cNvPr id="2084" name="Text Box 73"/>
              <p:cNvSpPr txBox="1">
                <a:spLocks noChangeArrowheads="1"/>
              </p:cNvSpPr>
              <p:nvPr/>
            </p:nvSpPr>
            <p:spPr bwMode="auto">
              <a:xfrm>
                <a:off x="1752" y="833"/>
                <a:ext cx="204" cy="106"/>
              </a:xfrm>
              <a:prstGeom prst="rect">
                <a:avLst/>
              </a:prstGeom>
              <a:noFill/>
              <a:ln w="9525">
                <a:noFill/>
                <a:miter lim="800000"/>
                <a:headEnd/>
                <a:tailEnd/>
              </a:ln>
            </p:spPr>
            <p:txBody>
              <a:bodyPr wrap="none">
                <a:spAutoFit/>
              </a:bodyPr>
              <a:lstStyle/>
              <a:p>
                <a:r>
                  <a:rPr lang="zh-CN" altLang="en-US" sz="500"/>
                  <a:t>0800</a:t>
                </a:r>
              </a:p>
            </p:txBody>
          </p:sp>
        </p:grpSp>
      </p:gr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sz="3200" b="1" dirty="0"/>
              <a:t>数据集成概述</a:t>
            </a:r>
            <a:endParaRPr lang="zh-CN" altLang="en-US" sz="3200" b="1" dirty="0">
              <a:latin typeface="宋体" charset="-122"/>
            </a:endParaRPr>
          </a:p>
        </p:txBody>
      </p:sp>
      <p:sp>
        <p:nvSpPr>
          <p:cNvPr id="19459" name="Rectangle 3"/>
          <p:cNvSpPr>
            <a:spLocks noGrp="1" noChangeArrowheads="1"/>
          </p:cNvSpPr>
          <p:nvPr>
            <p:ph idx="1"/>
          </p:nvPr>
        </p:nvSpPr>
        <p:spPr/>
        <p:txBody>
          <a:bodyPr/>
          <a:lstStyle/>
          <a:p>
            <a:r>
              <a:rPr lang="zh-CN" altLang="en-US" sz="2800" b="1" dirty="0">
                <a:latin typeface="宋体" charset="-122"/>
              </a:rPr>
              <a:t>数据集成的需求</a:t>
            </a:r>
          </a:p>
          <a:p>
            <a:endParaRPr lang="zh-CN" altLang="en-US" sz="2800" b="1" dirty="0">
              <a:latin typeface="宋体" charset="-122"/>
            </a:endParaRPr>
          </a:p>
          <a:p>
            <a:r>
              <a:rPr lang="zh-CN" altLang="en-US" sz="2800" b="1" dirty="0">
                <a:solidFill>
                  <a:srgbClr val="FF0000"/>
                </a:solidFill>
                <a:latin typeface="宋体" charset="-122"/>
              </a:rPr>
              <a:t>企业应用集成</a:t>
            </a:r>
            <a:r>
              <a:rPr lang="en-US" altLang="zh-CN" sz="2800" b="1" dirty="0">
                <a:solidFill>
                  <a:srgbClr val="FF0000"/>
                </a:solidFill>
                <a:latin typeface="宋体" charset="-122"/>
              </a:rPr>
              <a:t>EAI</a:t>
            </a:r>
            <a:endParaRPr lang="zh-CN" altLang="en-US" sz="2800" b="1" dirty="0">
              <a:solidFill>
                <a:srgbClr val="FF0000"/>
              </a:solidFill>
              <a:latin typeface="宋体" charset="-122"/>
            </a:endParaRPr>
          </a:p>
          <a:p>
            <a:endParaRPr lang="zh-CN" altLang="en-US" sz="2800" b="1" dirty="0">
              <a:latin typeface="宋体" charset="-122"/>
            </a:endParaRPr>
          </a:p>
          <a:p>
            <a:r>
              <a:rPr lang="en-US" altLang="zh-CN" sz="2800" b="1" dirty="0">
                <a:latin typeface="宋体" charset="-122"/>
              </a:rPr>
              <a:t>Web</a:t>
            </a:r>
            <a:r>
              <a:rPr lang="zh-CN" altLang="en-US" sz="2800" b="1" dirty="0">
                <a:latin typeface="宋体" charset="-122"/>
              </a:rPr>
              <a:t>数据集成</a:t>
            </a:r>
            <a:r>
              <a:rPr lang="en-US" altLang="zh-CN" sz="2800" b="1" dirty="0">
                <a:latin typeface="宋体" charset="-122"/>
              </a:rPr>
              <a:t>WDI</a:t>
            </a:r>
            <a:endParaRPr lang="zh-CN" altLang="en-US" sz="2800" b="1" dirty="0">
              <a:latin typeface="宋体" charset="-122"/>
            </a:endParaRPr>
          </a:p>
          <a:p>
            <a:endParaRPr lang="zh-CN" altLang="en-US" sz="2800" b="1" dirty="0">
              <a:latin typeface="宋体" charset="-122"/>
            </a:endParaRPr>
          </a:p>
          <a:p>
            <a:r>
              <a:rPr lang="zh-CN" altLang="en-US" sz="2800" b="1" dirty="0">
                <a:latin typeface="宋体" charset="-122"/>
              </a:rPr>
              <a:t>数据集成面临的挑战</a:t>
            </a:r>
          </a:p>
        </p:txBody>
      </p:sp>
    </p:spTree>
    <p:extLst>
      <p:ext uri="{BB962C8B-B14F-4D97-AF65-F5344CB8AC3E}">
        <p14:creationId xmlns:p14="http://schemas.microsoft.com/office/powerpoint/2010/main" val="21266459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企业应用集成</a:t>
            </a:r>
            <a:r>
              <a:rPr lang="en-US" sz="3200" b="1" dirty="0">
                <a:latin typeface="宋体" charset="-122"/>
              </a:rPr>
              <a:t>(EAI)</a:t>
            </a:r>
            <a:endParaRPr lang="zh-CN" altLang="en-US" sz="3200" b="1" dirty="0">
              <a:latin typeface="宋体" charset="-122"/>
            </a:endParaRPr>
          </a:p>
        </p:txBody>
      </p:sp>
      <p:sp>
        <p:nvSpPr>
          <p:cNvPr id="3" name="内容占位符 2"/>
          <p:cNvSpPr>
            <a:spLocks noGrp="1"/>
          </p:cNvSpPr>
          <p:nvPr>
            <p:ph idx="1"/>
          </p:nvPr>
        </p:nvSpPr>
        <p:spPr>
          <a:xfrm>
            <a:off x="1763688" y="1340768"/>
            <a:ext cx="6984776" cy="4896544"/>
          </a:xfrm>
        </p:spPr>
        <p:txBody>
          <a:bodyPr>
            <a:noAutofit/>
          </a:bodyPr>
          <a:lstStyle/>
          <a:p>
            <a:r>
              <a:rPr lang="zh-CN" altLang="en-US" sz="2400" b="1" dirty="0">
                <a:latin typeface="+mn-ea"/>
              </a:rPr>
              <a:t>实现在组织内、外的各种异构系统，应用和数据之间共享和交换信息和协作的途径，方法学，标准和技术</a:t>
            </a:r>
            <a:endParaRPr lang="en-US" altLang="zh-CN" sz="2400" b="1" dirty="0">
              <a:latin typeface="+mn-ea"/>
            </a:endParaRPr>
          </a:p>
          <a:p>
            <a:r>
              <a:rPr lang="zh-CN" altLang="en-US" sz="2400" b="1" dirty="0">
                <a:latin typeface="+mn-ea"/>
              </a:rPr>
              <a:t>集成是一种把多个系统的数据和功能组合或连接成一个具有凝聚力的集合的方法</a:t>
            </a:r>
            <a:endParaRPr lang="en-US" altLang="zh-CN" sz="2400" b="1" dirty="0">
              <a:latin typeface="+mn-ea"/>
            </a:endParaRPr>
          </a:p>
          <a:p>
            <a:r>
              <a:rPr lang="zh-CN" altLang="en-US" sz="2400" b="1" dirty="0">
                <a:latin typeface="+mn-ea"/>
              </a:rPr>
              <a:t>多个系统之间各种互操作的一致性。</a:t>
            </a:r>
            <a:endParaRPr lang="en-US" altLang="zh-CN" sz="2400" b="1" dirty="0">
              <a:latin typeface="+mn-ea"/>
            </a:endParaRPr>
          </a:p>
          <a:p>
            <a:r>
              <a:rPr lang="zh-CN" altLang="en-US" sz="2400" b="1" dirty="0">
                <a:latin typeface="+mn-ea"/>
              </a:rPr>
              <a:t>应用集成是将基于各种不同平台、用不同方案建立的异构应用集成的一种方法和技术。</a:t>
            </a:r>
            <a:endParaRPr lang="en-US" altLang="zh-CN" sz="2400" b="1" dirty="0">
              <a:latin typeface="+mn-ea"/>
            </a:endParaRPr>
          </a:p>
          <a:p>
            <a:r>
              <a:rPr lang="zh-CN" altLang="en-US" sz="2400" b="1" dirty="0">
                <a:latin typeface="+mn-ea"/>
              </a:rPr>
              <a:t>应用集成为应用提供了一种一致无缝的认知和操作模型</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应用集成的前提</a:t>
            </a:r>
          </a:p>
        </p:txBody>
      </p:sp>
      <p:sp>
        <p:nvSpPr>
          <p:cNvPr id="3" name="内容占位符 2"/>
          <p:cNvSpPr>
            <a:spLocks noGrp="1"/>
          </p:cNvSpPr>
          <p:nvPr>
            <p:ph idx="1"/>
          </p:nvPr>
        </p:nvSpPr>
        <p:spPr/>
        <p:txBody>
          <a:bodyPr>
            <a:normAutofit/>
          </a:bodyPr>
          <a:lstStyle/>
          <a:p>
            <a:r>
              <a:rPr lang="zh-CN" altLang="en-US" sz="2800" b="1" dirty="0">
                <a:latin typeface="+mn-ea"/>
              </a:rPr>
              <a:t>多个模块组成的复合应用，其中的这些模块可以相互调用或进行合作</a:t>
            </a:r>
            <a:endParaRPr lang="en-US" altLang="zh-CN" sz="2800" b="1" dirty="0">
              <a:latin typeface="+mn-ea"/>
            </a:endParaRPr>
          </a:p>
          <a:p>
            <a:endParaRPr lang="en-US" altLang="zh-CN" sz="2800" b="1" dirty="0">
              <a:latin typeface="+mn-ea"/>
            </a:endParaRPr>
          </a:p>
          <a:p>
            <a:r>
              <a:rPr lang="zh-CN" altLang="en-US" sz="2800" b="1" dirty="0">
                <a:latin typeface="+mn-ea"/>
              </a:rPr>
              <a:t>理解并保持应用系统之间相互关联和操作</a:t>
            </a:r>
            <a:endParaRPr lang="en-US" altLang="zh-CN" sz="2800" b="1" dirty="0">
              <a:latin typeface="+mn-ea"/>
            </a:endParaRPr>
          </a:p>
          <a:p>
            <a:endParaRPr lang="en-US" altLang="zh-CN" sz="2800" b="1" dirty="0">
              <a:latin typeface="+mn-ea"/>
            </a:endParaRPr>
          </a:p>
          <a:p>
            <a:r>
              <a:rPr lang="zh-CN" altLang="en-US" sz="2800" b="1" dirty="0">
                <a:latin typeface="+mn-ea"/>
              </a:rPr>
              <a:t>数据共享和通讯</a:t>
            </a:r>
            <a:endParaRPr lang="en-US" altLang="zh-CN" sz="2800" b="1" dirty="0">
              <a:latin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三个目标</a:t>
            </a:r>
          </a:p>
        </p:txBody>
      </p:sp>
      <p:sp>
        <p:nvSpPr>
          <p:cNvPr id="3" name="内容占位符 2"/>
          <p:cNvSpPr>
            <a:spLocks noGrp="1"/>
          </p:cNvSpPr>
          <p:nvPr>
            <p:ph idx="1"/>
          </p:nvPr>
        </p:nvSpPr>
        <p:spPr>
          <a:xfrm>
            <a:off x="1785938" y="1600200"/>
            <a:ext cx="7106542" cy="4686300"/>
          </a:xfrm>
        </p:spPr>
        <p:txBody>
          <a:bodyPr/>
          <a:lstStyle/>
          <a:p>
            <a:r>
              <a:rPr lang="zh-CN" altLang="en-US" sz="2800" b="1" dirty="0">
                <a:latin typeface="+mn-ea"/>
              </a:rPr>
              <a:t>对不同应用中的数据提供访问接口</a:t>
            </a:r>
            <a:endParaRPr lang="en-US" altLang="zh-CN" sz="2800" b="1" dirty="0">
              <a:latin typeface="+mn-ea"/>
            </a:endParaRPr>
          </a:p>
          <a:p>
            <a:endParaRPr lang="en-US" altLang="zh-CN" sz="2800" b="1" dirty="0">
              <a:latin typeface="+mn-ea"/>
            </a:endParaRPr>
          </a:p>
          <a:p>
            <a:r>
              <a:rPr lang="zh-CN" altLang="en-US" sz="2800" b="1" dirty="0">
                <a:latin typeface="+mn-ea"/>
              </a:rPr>
              <a:t>保证相关信息之间的依赖关系和约束条件</a:t>
            </a:r>
            <a:endParaRPr lang="en-US" altLang="zh-CN" sz="2800" b="1" dirty="0">
              <a:latin typeface="+mn-ea"/>
            </a:endParaRPr>
          </a:p>
          <a:p>
            <a:endParaRPr lang="en-US" altLang="zh-CN" sz="2800" b="1" dirty="0">
              <a:latin typeface="+mn-ea"/>
            </a:endParaRPr>
          </a:p>
          <a:p>
            <a:r>
              <a:rPr lang="zh-CN" altLang="en-US" sz="2800" b="1" dirty="0">
                <a:latin typeface="+mn-ea"/>
              </a:rPr>
              <a:t>程序互操作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ChangeArrowheads="1"/>
          </p:cNvSpPr>
          <p:nvPr/>
        </p:nvSpPr>
        <p:spPr bwMode="auto">
          <a:xfrm>
            <a:off x="2209800" y="3962400"/>
            <a:ext cx="5410200" cy="1905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sz="3200" b="1"/>
              <a:t>网络集成（互连）－语法</a:t>
            </a:r>
          </a:p>
        </p:txBody>
      </p:sp>
      <p:sp>
        <p:nvSpPr>
          <p:cNvPr id="53255" name="Rectangle 7"/>
          <p:cNvSpPr>
            <a:spLocks noChangeArrowheads="1"/>
          </p:cNvSpPr>
          <p:nvPr/>
        </p:nvSpPr>
        <p:spPr bwMode="auto">
          <a:xfrm>
            <a:off x="2438400" y="2514600"/>
            <a:ext cx="4800600" cy="1447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sz="2800" b="1"/>
              <a:t>数据集成（互通）－语义</a:t>
            </a:r>
          </a:p>
        </p:txBody>
      </p:sp>
      <p:sp>
        <p:nvSpPr>
          <p:cNvPr id="53256" name="Rectangle 8"/>
          <p:cNvSpPr>
            <a:spLocks noChangeArrowheads="1"/>
          </p:cNvSpPr>
          <p:nvPr/>
        </p:nvSpPr>
        <p:spPr bwMode="auto">
          <a:xfrm>
            <a:off x="3048000" y="1371600"/>
            <a:ext cx="3581400" cy="11430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应用集成（互连）－语用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animEffect transition="in" filter="blinds(horizontal)">
                                      <p:cBhvr>
                                        <p:cTn id="7" dur="500"/>
                                        <p:tgtEl>
                                          <p:spTgt spid="5325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3255"/>
                                        </p:tgtEl>
                                        <p:attrNameLst>
                                          <p:attrName>style.visibility</p:attrName>
                                        </p:attrNameLst>
                                      </p:cBhvr>
                                      <p:to>
                                        <p:strVal val="visible"/>
                                      </p:to>
                                    </p:set>
                                    <p:anim calcmode="lin" valueType="num">
                                      <p:cBhvr additive="base">
                                        <p:cTn id="12" dur="500" fill="hold"/>
                                        <p:tgtEl>
                                          <p:spTgt spid="53255"/>
                                        </p:tgtEl>
                                        <p:attrNameLst>
                                          <p:attrName>ppt_x</p:attrName>
                                        </p:attrNameLst>
                                      </p:cBhvr>
                                      <p:tavLst>
                                        <p:tav tm="0">
                                          <p:val>
                                            <p:strVal val="#ppt_x"/>
                                          </p:val>
                                        </p:tav>
                                        <p:tav tm="100000">
                                          <p:val>
                                            <p:strVal val="#ppt_x"/>
                                          </p:val>
                                        </p:tav>
                                      </p:tavLst>
                                    </p:anim>
                                    <p:anim calcmode="lin" valueType="num">
                                      <p:cBhvr additive="base">
                                        <p:cTn id="13" dur="500" fill="hold"/>
                                        <p:tgtEl>
                                          <p:spTgt spid="5325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3256"/>
                                        </p:tgtEl>
                                        <p:attrNameLst>
                                          <p:attrName>style.visibility</p:attrName>
                                        </p:attrNameLst>
                                      </p:cBhvr>
                                      <p:to>
                                        <p:strVal val="visible"/>
                                      </p:to>
                                    </p:set>
                                    <p:anim calcmode="lin" valueType="num">
                                      <p:cBhvr additive="base">
                                        <p:cTn id="18" dur="500" fill="hold"/>
                                        <p:tgtEl>
                                          <p:spTgt spid="53256"/>
                                        </p:tgtEl>
                                        <p:attrNameLst>
                                          <p:attrName>ppt_x</p:attrName>
                                        </p:attrNameLst>
                                      </p:cBhvr>
                                      <p:tavLst>
                                        <p:tav tm="0">
                                          <p:val>
                                            <p:strVal val="#ppt_x"/>
                                          </p:val>
                                        </p:tav>
                                        <p:tav tm="100000">
                                          <p:val>
                                            <p:strVal val="#ppt_x"/>
                                          </p:val>
                                        </p:tav>
                                      </p:tavLst>
                                    </p:anim>
                                    <p:anim calcmode="lin" valueType="num">
                                      <p:cBhvr additive="base">
                                        <p:cTn id="19" dur="500" fill="hold"/>
                                        <p:tgtEl>
                                          <p:spTgt spid="532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nimBg="1"/>
      <p:bldP spid="53255" grpId="0" animBg="1"/>
      <p:bldP spid="5325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技术要求</a:t>
            </a:r>
          </a:p>
        </p:txBody>
      </p:sp>
      <p:sp>
        <p:nvSpPr>
          <p:cNvPr id="3" name="内容占位符 2"/>
          <p:cNvSpPr>
            <a:spLocks noGrp="1"/>
          </p:cNvSpPr>
          <p:nvPr>
            <p:ph idx="1"/>
          </p:nvPr>
        </p:nvSpPr>
        <p:spPr>
          <a:xfrm>
            <a:off x="1907704" y="1628800"/>
            <a:ext cx="6900862" cy="4686300"/>
          </a:xfrm>
        </p:spPr>
        <p:txBody>
          <a:bodyPr>
            <a:normAutofit/>
          </a:bodyPr>
          <a:lstStyle/>
          <a:p>
            <a:r>
              <a:rPr lang="zh-CN" altLang="en-US" sz="3000" b="1" dirty="0">
                <a:latin typeface="+mn-ea"/>
              </a:rPr>
              <a:t>能提供应用间的互操作性</a:t>
            </a:r>
            <a:endParaRPr lang="en-US" altLang="zh-CN" sz="3000" b="1" dirty="0">
              <a:latin typeface="+mn-ea"/>
            </a:endParaRPr>
          </a:p>
          <a:p>
            <a:pPr lvl="1"/>
            <a:r>
              <a:rPr lang="zh-CN" altLang="en-US" sz="2400" b="1" dirty="0">
                <a:latin typeface="+mn-ea"/>
              </a:rPr>
              <a:t>信息有意义的交换</a:t>
            </a:r>
            <a:endParaRPr lang="en-US" altLang="zh-CN" sz="2400" b="1" dirty="0">
              <a:latin typeface="+mn-ea"/>
            </a:endParaRPr>
          </a:p>
          <a:p>
            <a:pPr lvl="1"/>
            <a:r>
              <a:rPr lang="zh-CN" altLang="en-US" sz="2400" b="1" dirty="0">
                <a:latin typeface="+mn-ea"/>
              </a:rPr>
              <a:t>功能服务：资源的动态发现，动态类型检查</a:t>
            </a:r>
            <a:endParaRPr lang="en-US" altLang="zh-CN" sz="2400" b="1" dirty="0">
              <a:latin typeface="+mn-ea"/>
            </a:endParaRPr>
          </a:p>
          <a:p>
            <a:r>
              <a:rPr lang="zh-CN" altLang="en-US" sz="3000" b="1" dirty="0">
                <a:latin typeface="+mn-ea"/>
              </a:rPr>
              <a:t>能提供分布式环境中应用的可移植性</a:t>
            </a:r>
            <a:endParaRPr lang="en-US" altLang="zh-CN" sz="3000" b="1" dirty="0">
              <a:latin typeface="+mn-ea"/>
            </a:endParaRPr>
          </a:p>
          <a:p>
            <a:pPr lvl="1"/>
            <a:r>
              <a:rPr lang="zh-CN" altLang="en-US" sz="2400" b="1" dirty="0">
                <a:latin typeface="+mn-ea"/>
              </a:rPr>
              <a:t>不会破坏应用所提供的或正在使用的服务</a:t>
            </a:r>
            <a:endParaRPr lang="en-US" altLang="zh-CN" sz="2400" b="1" dirty="0">
              <a:latin typeface="+mn-ea"/>
            </a:endParaRPr>
          </a:p>
          <a:p>
            <a:pPr lvl="1"/>
            <a:r>
              <a:rPr lang="zh-CN" altLang="en-US" sz="2400" b="1" dirty="0">
                <a:latin typeface="+mn-ea"/>
              </a:rPr>
              <a:t>静态的系统重新部署以及动态的系统重构</a:t>
            </a:r>
            <a:endParaRPr lang="en-US" altLang="zh-CN" sz="2400" b="1" dirty="0">
              <a:latin typeface="+mn-ea"/>
            </a:endParaRPr>
          </a:p>
          <a:p>
            <a:r>
              <a:rPr lang="zh-CN" altLang="en-US" sz="3000" b="1" dirty="0">
                <a:latin typeface="+mn-ea"/>
              </a:rPr>
              <a:t>能提供系统中应用分布的透明性</a:t>
            </a:r>
            <a:endParaRPr lang="en-US" altLang="zh-CN" sz="3000" b="1" dirty="0">
              <a:latin typeface="+mn-ea"/>
            </a:endParaRPr>
          </a:p>
          <a:p>
            <a:pPr lvl="1"/>
            <a:r>
              <a:rPr lang="zh-CN" altLang="en-US" sz="2400" b="1" dirty="0">
                <a:latin typeface="+mn-ea"/>
              </a:rPr>
              <a:t>实现细节，复杂性</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应用集成的历史</a:t>
            </a:r>
          </a:p>
        </p:txBody>
      </p:sp>
      <p:sp>
        <p:nvSpPr>
          <p:cNvPr id="3" name="内容占位符 2"/>
          <p:cNvSpPr>
            <a:spLocks noGrp="1"/>
          </p:cNvSpPr>
          <p:nvPr>
            <p:ph idx="1"/>
          </p:nvPr>
        </p:nvSpPr>
        <p:spPr/>
        <p:txBody>
          <a:bodyPr>
            <a:normAutofit fontScale="92500" lnSpcReduction="10000"/>
          </a:bodyPr>
          <a:lstStyle/>
          <a:p>
            <a:r>
              <a:rPr lang="en-US" sz="3000" b="1" dirty="0">
                <a:latin typeface="+mn-ea"/>
              </a:rPr>
              <a:t>60</a:t>
            </a:r>
            <a:r>
              <a:rPr lang="zh-CN" altLang="en-US" sz="3000" b="1" dirty="0">
                <a:latin typeface="+mn-ea"/>
              </a:rPr>
              <a:t>年代到</a:t>
            </a:r>
            <a:r>
              <a:rPr lang="en-US" sz="3000" b="1" dirty="0">
                <a:latin typeface="+mn-ea"/>
              </a:rPr>
              <a:t>70</a:t>
            </a:r>
            <a:r>
              <a:rPr lang="zh-CN" altLang="en-US" sz="3000" b="1" dirty="0">
                <a:latin typeface="+mn-ea"/>
              </a:rPr>
              <a:t>年代</a:t>
            </a:r>
            <a:endParaRPr lang="en-US" altLang="zh-CN" sz="3000" b="1" dirty="0">
              <a:latin typeface="+mn-ea"/>
            </a:endParaRPr>
          </a:p>
          <a:p>
            <a:r>
              <a:rPr lang="en-US" sz="3000" b="1" dirty="0">
                <a:latin typeface="+mn-ea"/>
              </a:rPr>
              <a:t>80</a:t>
            </a:r>
            <a:r>
              <a:rPr lang="zh-CN" altLang="en-US" sz="3000" b="1" dirty="0">
                <a:latin typeface="+mn-ea"/>
              </a:rPr>
              <a:t>年代</a:t>
            </a:r>
            <a:endParaRPr lang="en-US" altLang="zh-CN" sz="3000" b="1" dirty="0">
              <a:latin typeface="+mn-ea"/>
            </a:endParaRPr>
          </a:p>
          <a:p>
            <a:pPr lvl="1"/>
            <a:r>
              <a:rPr lang="zh-CN" altLang="en-US" sz="2600" b="1" dirty="0">
                <a:latin typeface="+mn-ea"/>
              </a:rPr>
              <a:t>点到点</a:t>
            </a:r>
            <a:r>
              <a:rPr lang="en-US" sz="2600" b="1" dirty="0">
                <a:latin typeface="+mn-ea"/>
              </a:rPr>
              <a:t>(point-to-point)</a:t>
            </a:r>
            <a:r>
              <a:rPr lang="zh-CN" altLang="en-US" sz="2600" b="1" dirty="0">
                <a:latin typeface="+mn-ea"/>
              </a:rPr>
              <a:t>的集成，信息和数据共享</a:t>
            </a:r>
            <a:endParaRPr lang="en-US" altLang="zh-CN" sz="2600" b="1" dirty="0">
              <a:latin typeface="+mn-ea"/>
            </a:endParaRPr>
          </a:p>
          <a:p>
            <a:r>
              <a:rPr lang="en-US" sz="3000" b="1" dirty="0">
                <a:latin typeface="+mn-ea"/>
              </a:rPr>
              <a:t>80</a:t>
            </a:r>
            <a:r>
              <a:rPr lang="zh-CN" altLang="en-US" sz="3000" b="1" dirty="0">
                <a:latin typeface="+mn-ea"/>
              </a:rPr>
              <a:t>年代末和</a:t>
            </a:r>
            <a:r>
              <a:rPr lang="en-US" sz="3000" b="1" dirty="0">
                <a:latin typeface="+mn-ea"/>
              </a:rPr>
              <a:t>90</a:t>
            </a:r>
            <a:r>
              <a:rPr lang="zh-CN" altLang="en-US" sz="3000" b="1" dirty="0">
                <a:latin typeface="+mn-ea"/>
              </a:rPr>
              <a:t>年代初</a:t>
            </a:r>
            <a:endParaRPr lang="en-US" altLang="zh-CN" sz="3000" b="1" dirty="0">
              <a:latin typeface="+mn-ea"/>
            </a:endParaRPr>
          </a:p>
          <a:p>
            <a:pPr lvl="1"/>
            <a:r>
              <a:rPr lang="en-US" sz="2600" b="1" dirty="0">
                <a:latin typeface="+mn-ea"/>
              </a:rPr>
              <a:t>CORBA</a:t>
            </a:r>
            <a:r>
              <a:rPr lang="zh-CN" altLang="en-US" sz="2600" b="1" dirty="0">
                <a:latin typeface="+mn-ea"/>
              </a:rPr>
              <a:t>、</a:t>
            </a:r>
            <a:r>
              <a:rPr lang="en-US" sz="2600" b="1" dirty="0">
                <a:latin typeface="+mn-ea"/>
              </a:rPr>
              <a:t>DCOM</a:t>
            </a:r>
            <a:r>
              <a:rPr lang="zh-CN" altLang="en-US" sz="2600" b="1" dirty="0">
                <a:latin typeface="+mn-ea"/>
              </a:rPr>
              <a:t>、</a:t>
            </a:r>
            <a:r>
              <a:rPr lang="en-US" sz="2600" b="1" dirty="0">
                <a:latin typeface="+mn-ea"/>
              </a:rPr>
              <a:t>MOM</a:t>
            </a:r>
            <a:endParaRPr lang="en-US" altLang="zh-CN" sz="2600" b="1" dirty="0">
              <a:latin typeface="+mn-ea"/>
            </a:endParaRPr>
          </a:p>
          <a:p>
            <a:r>
              <a:rPr lang="en-US" sz="3000" b="1" dirty="0">
                <a:latin typeface="+mn-ea"/>
              </a:rPr>
              <a:t>90</a:t>
            </a:r>
            <a:r>
              <a:rPr lang="zh-CN" altLang="en-US" sz="3000" b="1" dirty="0">
                <a:latin typeface="+mn-ea"/>
              </a:rPr>
              <a:t>年代中后期</a:t>
            </a:r>
            <a:endParaRPr lang="en-US" altLang="zh-CN" sz="3000" b="1" dirty="0">
              <a:latin typeface="+mn-ea"/>
            </a:endParaRPr>
          </a:p>
          <a:p>
            <a:pPr lvl="1"/>
            <a:r>
              <a:rPr lang="zh-CN" altLang="en-US" sz="2600" b="1" dirty="0">
                <a:latin typeface="+mn-ea"/>
              </a:rPr>
              <a:t>业务流程集成技术</a:t>
            </a:r>
            <a:r>
              <a:rPr lang="en-US" sz="2600" b="1" dirty="0">
                <a:latin typeface="+mn-ea"/>
              </a:rPr>
              <a:t>BPI</a:t>
            </a:r>
            <a:endParaRPr lang="en-US" altLang="zh-CN" sz="2600" b="1" dirty="0">
              <a:latin typeface="+mn-ea"/>
            </a:endParaRPr>
          </a:p>
          <a:p>
            <a:r>
              <a:rPr lang="en-US" sz="3000" b="1" dirty="0">
                <a:latin typeface="+mn-ea"/>
              </a:rPr>
              <a:t>21</a:t>
            </a:r>
            <a:r>
              <a:rPr lang="zh-CN" altLang="en-US" sz="3000" b="1" dirty="0">
                <a:latin typeface="+mn-ea"/>
              </a:rPr>
              <a:t>世纪以来</a:t>
            </a:r>
            <a:endParaRPr lang="en-US" altLang="zh-CN" sz="3000" b="1" dirty="0">
              <a:latin typeface="+mn-ea"/>
            </a:endParaRPr>
          </a:p>
          <a:p>
            <a:pPr lvl="1"/>
            <a:r>
              <a:rPr lang="en-US" sz="2600" b="1" dirty="0">
                <a:latin typeface="+mn-ea"/>
              </a:rPr>
              <a:t>B2B</a:t>
            </a:r>
            <a:r>
              <a:rPr lang="zh-CN" altLang="en-US" sz="2600" b="1" dirty="0">
                <a:latin typeface="+mn-ea"/>
              </a:rPr>
              <a:t>与</a:t>
            </a:r>
            <a:r>
              <a:rPr lang="en-US" sz="2600" b="1" dirty="0">
                <a:latin typeface="+mn-ea"/>
              </a:rPr>
              <a:t>B2C</a:t>
            </a:r>
            <a:r>
              <a:rPr lang="zh-CN" altLang="en-US" sz="2600" b="1" dirty="0">
                <a:latin typeface="+mn-ea"/>
              </a:rPr>
              <a:t>、</a:t>
            </a:r>
            <a:r>
              <a:rPr lang="en-US" sz="2600" b="1" dirty="0">
                <a:latin typeface="+mn-ea"/>
              </a:rPr>
              <a:t>XML</a:t>
            </a:r>
            <a:r>
              <a:rPr lang="zh-CN" altLang="en-US" sz="2600" b="1" dirty="0">
                <a:latin typeface="+mn-ea"/>
              </a:rPr>
              <a:t>、</a:t>
            </a:r>
            <a:r>
              <a:rPr lang="en-US" altLang="zh-CN" sz="2600" b="1" dirty="0">
                <a:latin typeface="+mn-ea"/>
              </a:rPr>
              <a:t>Web Service</a:t>
            </a:r>
            <a:r>
              <a:rPr lang="zh-CN" altLang="en-US" sz="2600" b="1" dirty="0">
                <a:latin typeface="+mn-ea"/>
              </a:rPr>
              <a:t>、</a:t>
            </a:r>
            <a:r>
              <a:rPr lang="en-US" sz="2600" b="1" dirty="0">
                <a:latin typeface="+mn-ea"/>
              </a:rPr>
              <a:t>SOA</a:t>
            </a:r>
            <a:endParaRPr lang="zh-CN" altLang="en-US" sz="2600" b="1" dirty="0">
              <a:latin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集成模型</a:t>
            </a:r>
          </a:p>
        </p:txBody>
      </p:sp>
      <p:sp>
        <p:nvSpPr>
          <p:cNvPr id="3" name="内容占位符 2"/>
          <p:cNvSpPr>
            <a:spLocks noGrp="1"/>
          </p:cNvSpPr>
          <p:nvPr>
            <p:ph idx="1"/>
          </p:nvPr>
        </p:nvSpPr>
        <p:spPr/>
        <p:txBody>
          <a:bodyPr/>
          <a:lstStyle/>
          <a:p>
            <a:r>
              <a:rPr lang="zh-CN" altLang="en-US" sz="2800" b="1" dirty="0"/>
              <a:t>集成软件的特定方法和结构</a:t>
            </a:r>
          </a:p>
          <a:p>
            <a:r>
              <a:rPr lang="zh-CN" altLang="en-US" sz="2800" b="1" dirty="0"/>
              <a:t>对集成模型的关注点</a:t>
            </a:r>
          </a:p>
          <a:p>
            <a:pPr lvl="1"/>
            <a:r>
              <a:rPr lang="zh-CN" altLang="en-US" sz="2400" b="1" dirty="0"/>
              <a:t>实现集成简单性</a:t>
            </a:r>
          </a:p>
          <a:p>
            <a:pPr lvl="1"/>
            <a:r>
              <a:rPr lang="zh-CN" altLang="en-US" sz="2400" b="1" dirty="0"/>
              <a:t>对于不同配置集成的可重用性</a:t>
            </a:r>
          </a:p>
          <a:p>
            <a:pPr lvl="1"/>
            <a:r>
              <a:rPr lang="zh-CN" altLang="en-US" sz="2400" b="1" dirty="0"/>
              <a:t>可用集成方法的广泛度</a:t>
            </a:r>
          </a:p>
          <a:p>
            <a:pPr lvl="1"/>
            <a:r>
              <a:rPr lang="zh-CN" altLang="en-US" sz="2400" b="1" dirty="0"/>
              <a:t>在执行集成的过程中要求的专门技术</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集成模型种类</a:t>
            </a:r>
          </a:p>
        </p:txBody>
      </p:sp>
      <p:sp>
        <p:nvSpPr>
          <p:cNvPr id="7171" name="Rectangle 3"/>
          <p:cNvSpPr>
            <a:spLocks noGrp="1" noChangeArrowheads="1"/>
          </p:cNvSpPr>
          <p:nvPr>
            <p:ph idx="1"/>
          </p:nvPr>
        </p:nvSpPr>
        <p:spPr>
          <a:xfrm>
            <a:off x="2051720" y="1600200"/>
            <a:ext cx="6635080" cy="4800600"/>
          </a:xfrm>
        </p:spPr>
        <p:txBody>
          <a:bodyPr/>
          <a:lstStyle/>
          <a:p>
            <a:r>
              <a:rPr lang="zh-CN" altLang="en-US" sz="2800" b="1" dirty="0"/>
              <a:t>表示集成</a:t>
            </a:r>
          </a:p>
          <a:p>
            <a:pPr lvl="1"/>
            <a:r>
              <a:rPr lang="zh-CN" altLang="en-US" sz="2400" b="1" dirty="0"/>
              <a:t>软件用户界面</a:t>
            </a:r>
          </a:p>
          <a:p>
            <a:r>
              <a:rPr lang="zh-CN" altLang="en-US" sz="2800" b="1" dirty="0"/>
              <a:t>数据集成</a:t>
            </a:r>
          </a:p>
          <a:p>
            <a:pPr lvl="1"/>
            <a:r>
              <a:rPr lang="zh-CN" altLang="en-US" sz="2400" b="1" dirty="0"/>
              <a:t>直接访问软件创建、维护并存储的信息</a:t>
            </a:r>
          </a:p>
          <a:p>
            <a:r>
              <a:rPr lang="zh-CN" altLang="en-US" sz="2800" b="1" dirty="0"/>
              <a:t>功能集成</a:t>
            </a:r>
          </a:p>
          <a:p>
            <a:pPr lvl="1"/>
            <a:r>
              <a:rPr lang="zh-CN" altLang="en-US" sz="2400" b="1" dirty="0"/>
              <a:t>代码级别的软件集成</a:t>
            </a:r>
          </a:p>
          <a:p>
            <a:r>
              <a:rPr lang="zh-CN" altLang="en-US" sz="2800" b="1" dirty="0"/>
              <a:t>业务流程集成</a:t>
            </a:r>
          </a:p>
          <a:p>
            <a:pPr lvl="1"/>
            <a:r>
              <a:rPr lang="zh-CN" altLang="en-US" sz="2400" b="1" dirty="0"/>
              <a:t>商务逻辑</a:t>
            </a:r>
          </a:p>
          <a:p>
            <a:r>
              <a:rPr lang="en-US" altLang="zh-CN" sz="2800" b="1" dirty="0"/>
              <a:t>B2B</a:t>
            </a:r>
            <a:r>
              <a:rPr lang="zh-CN" altLang="en-US" sz="2800" b="1" dirty="0"/>
              <a:t>集成</a:t>
            </a:r>
          </a:p>
          <a:p>
            <a:pPr lvl="1"/>
            <a:r>
              <a:rPr lang="zh-CN" altLang="en-US" sz="2400" b="1" dirty="0"/>
              <a:t>不同贸易协议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Effect transition="in" filter="blinds(horizontal)">
                                      <p:cBhvr>
                                        <p:cTn id="7" dur="500"/>
                                        <p:tgtEl>
                                          <p:spTgt spid="7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171">
                                            <p:txEl>
                                              <p:pRg st="1" end="1"/>
                                            </p:txEl>
                                          </p:spTgt>
                                        </p:tgtEl>
                                        <p:attrNameLst>
                                          <p:attrName>style.visibility</p:attrName>
                                        </p:attrNameLst>
                                      </p:cBhvr>
                                      <p:to>
                                        <p:strVal val="visible"/>
                                      </p:to>
                                    </p:set>
                                    <p:anim calcmode="lin" valueType="num">
                                      <p:cBhvr additive="base">
                                        <p:cTn id="12"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7171">
                                            <p:txEl>
                                              <p:pRg st="2" end="2"/>
                                            </p:txEl>
                                          </p:spTgt>
                                        </p:tgtEl>
                                        <p:attrNameLst>
                                          <p:attrName>style.visibility</p:attrName>
                                        </p:attrNameLst>
                                      </p:cBhvr>
                                      <p:to>
                                        <p:strVal val="visible"/>
                                      </p:to>
                                    </p:set>
                                    <p:animEffect transition="in" filter="blinds(horizontal)">
                                      <p:cBhvr>
                                        <p:cTn id="18" dur="500"/>
                                        <p:tgtEl>
                                          <p:spTgt spid="7171">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171">
                                            <p:txEl>
                                              <p:pRg st="3" end="3"/>
                                            </p:txEl>
                                          </p:spTgt>
                                        </p:tgtEl>
                                        <p:attrNameLst>
                                          <p:attrName>style.visibility</p:attrName>
                                        </p:attrNameLst>
                                      </p:cBhvr>
                                      <p:to>
                                        <p:strVal val="visible"/>
                                      </p:to>
                                    </p:set>
                                    <p:anim calcmode="lin" valueType="num">
                                      <p:cBhvr additive="base">
                                        <p:cTn id="23"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9" dur="500"/>
                                        <p:tgtEl>
                                          <p:spTgt spid="7171">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7171">
                                            <p:txEl>
                                              <p:pRg st="5" end="5"/>
                                            </p:txEl>
                                          </p:spTgt>
                                        </p:tgtEl>
                                        <p:attrNameLst>
                                          <p:attrName>style.visibility</p:attrName>
                                        </p:attrNameLst>
                                      </p:cBhvr>
                                      <p:to>
                                        <p:strVal val="visible"/>
                                      </p:to>
                                    </p:set>
                                    <p:anim calcmode="lin" valueType="num">
                                      <p:cBhvr additive="base">
                                        <p:cTn id="34"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71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171">
                                            <p:txEl>
                                              <p:pRg st="6" end="6"/>
                                            </p:txEl>
                                          </p:spTgt>
                                        </p:tgtEl>
                                        <p:attrNameLst>
                                          <p:attrName>style.visibility</p:attrName>
                                        </p:attrNameLst>
                                      </p:cBhvr>
                                      <p:to>
                                        <p:strVal val="visible"/>
                                      </p:to>
                                    </p:set>
                                    <p:animEffect transition="in" filter="blinds(horizontal)">
                                      <p:cBhvr>
                                        <p:cTn id="40" dur="500"/>
                                        <p:tgtEl>
                                          <p:spTgt spid="7171">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171">
                                            <p:txEl>
                                              <p:pRg st="7" end="7"/>
                                            </p:txEl>
                                          </p:spTgt>
                                        </p:tgtEl>
                                        <p:attrNameLst>
                                          <p:attrName>style.visibility</p:attrName>
                                        </p:attrNameLst>
                                      </p:cBhvr>
                                      <p:to>
                                        <p:strVal val="visible"/>
                                      </p:to>
                                    </p:set>
                                    <p:anim calcmode="lin" valueType="num">
                                      <p:cBhvr additive="base">
                                        <p:cTn id="45" dur="500" fill="hold"/>
                                        <p:tgtEl>
                                          <p:spTgt spid="7171">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17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nodeType="clickEffect">
                                  <p:stCondLst>
                                    <p:cond delay="0"/>
                                  </p:stCondLst>
                                  <p:childTnLst>
                                    <p:set>
                                      <p:cBhvr>
                                        <p:cTn id="50" dur="1" fill="hold">
                                          <p:stCondLst>
                                            <p:cond delay="0"/>
                                          </p:stCondLst>
                                        </p:cTn>
                                        <p:tgtEl>
                                          <p:spTgt spid="7171">
                                            <p:txEl>
                                              <p:pRg st="8" end="8"/>
                                            </p:txEl>
                                          </p:spTgt>
                                        </p:tgtEl>
                                        <p:attrNameLst>
                                          <p:attrName>style.visibility</p:attrName>
                                        </p:attrNameLst>
                                      </p:cBhvr>
                                      <p:to>
                                        <p:strVal val="visible"/>
                                      </p:to>
                                    </p:set>
                                    <p:animEffect transition="in" filter="blinds(horizontal)">
                                      <p:cBhvr>
                                        <p:cTn id="51" dur="500"/>
                                        <p:tgtEl>
                                          <p:spTgt spid="7171">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7171">
                                            <p:txEl>
                                              <p:pRg st="9" end="9"/>
                                            </p:txEl>
                                          </p:spTgt>
                                        </p:tgtEl>
                                        <p:attrNameLst>
                                          <p:attrName>style.visibility</p:attrName>
                                        </p:attrNameLst>
                                      </p:cBhvr>
                                      <p:to>
                                        <p:strVal val="visible"/>
                                      </p:to>
                                    </p:set>
                                    <p:anim calcmode="lin" valueType="num">
                                      <p:cBhvr additive="base">
                                        <p:cTn id="56" dur="500" fill="hold"/>
                                        <p:tgtEl>
                                          <p:spTgt spid="7171">
                                            <p:txEl>
                                              <p:pRg st="9" end="9"/>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717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表示集成模型</a:t>
            </a:r>
          </a:p>
        </p:txBody>
      </p:sp>
      <p:sp>
        <p:nvSpPr>
          <p:cNvPr id="8196" name="AutoShape 4"/>
          <p:cNvSpPr>
            <a:spLocks noChangeArrowheads="1"/>
          </p:cNvSpPr>
          <p:nvPr/>
        </p:nvSpPr>
        <p:spPr bwMode="auto">
          <a:xfrm>
            <a:off x="2492821" y="5715000"/>
            <a:ext cx="1447800" cy="609600"/>
          </a:xfrm>
          <a:prstGeom prst="flowChartMagneticDisk">
            <a:avLst/>
          </a:prstGeom>
          <a:solidFill>
            <a:schemeClr val="accent1"/>
          </a:solidFill>
          <a:ln w="12700">
            <a:solidFill>
              <a:schemeClr val="tx1"/>
            </a:solidFill>
            <a:round/>
            <a:headEnd type="none" w="sm" len="sm"/>
            <a:tailEnd type="none" w="sm" len="sm"/>
          </a:ln>
        </p:spPr>
        <p:txBody>
          <a:bodyPr wrap="none" anchor="ctr"/>
          <a:lstStyle/>
          <a:p>
            <a:pPr algn="ctr"/>
            <a:r>
              <a:rPr lang="zh-CN" altLang="en-US"/>
              <a:t>数据</a:t>
            </a:r>
          </a:p>
        </p:txBody>
      </p:sp>
      <p:sp>
        <p:nvSpPr>
          <p:cNvPr id="8197" name="AutoShape 5"/>
          <p:cNvSpPr>
            <a:spLocks noChangeArrowheads="1"/>
          </p:cNvSpPr>
          <p:nvPr/>
        </p:nvSpPr>
        <p:spPr bwMode="auto">
          <a:xfrm>
            <a:off x="6074221" y="5638800"/>
            <a:ext cx="1524000" cy="685800"/>
          </a:xfrm>
          <a:prstGeom prst="flowChartMagneticDisk">
            <a:avLst/>
          </a:prstGeom>
          <a:solidFill>
            <a:schemeClr val="accent1"/>
          </a:solidFill>
          <a:ln w="12700">
            <a:solidFill>
              <a:schemeClr val="tx1"/>
            </a:solidFill>
            <a:round/>
            <a:headEnd type="none" w="sm" len="sm"/>
            <a:tailEnd type="none" w="sm" len="sm"/>
          </a:ln>
        </p:spPr>
        <p:txBody>
          <a:bodyPr wrap="none" anchor="ctr"/>
          <a:lstStyle/>
          <a:p>
            <a:pPr algn="ctr"/>
            <a:r>
              <a:rPr lang="zh-CN" altLang="en-US"/>
              <a:t>数据</a:t>
            </a:r>
          </a:p>
        </p:txBody>
      </p:sp>
      <p:sp>
        <p:nvSpPr>
          <p:cNvPr id="8198" name="Rectangle 6"/>
          <p:cNvSpPr>
            <a:spLocks noChangeArrowheads="1"/>
          </p:cNvSpPr>
          <p:nvPr/>
        </p:nvSpPr>
        <p:spPr bwMode="auto">
          <a:xfrm>
            <a:off x="2340421" y="4572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a:t>遗留应用</a:t>
            </a:r>
          </a:p>
        </p:txBody>
      </p:sp>
      <p:sp>
        <p:nvSpPr>
          <p:cNvPr id="8199" name="Rectangle 7"/>
          <p:cNvSpPr>
            <a:spLocks noChangeArrowheads="1"/>
          </p:cNvSpPr>
          <p:nvPr/>
        </p:nvSpPr>
        <p:spPr bwMode="auto">
          <a:xfrm>
            <a:off x="5845621" y="4572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a:t>封装式应用</a:t>
            </a:r>
          </a:p>
        </p:txBody>
      </p:sp>
      <p:sp>
        <p:nvSpPr>
          <p:cNvPr id="8200" name="Rectangle 8"/>
          <p:cNvSpPr>
            <a:spLocks noChangeArrowheads="1"/>
          </p:cNvSpPr>
          <p:nvPr/>
        </p:nvSpPr>
        <p:spPr bwMode="auto">
          <a:xfrm>
            <a:off x="2340421" y="32766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a:t>表示</a:t>
            </a:r>
          </a:p>
        </p:txBody>
      </p:sp>
      <p:sp>
        <p:nvSpPr>
          <p:cNvPr id="8201" name="Rectangle 9"/>
          <p:cNvSpPr>
            <a:spLocks noChangeArrowheads="1"/>
          </p:cNvSpPr>
          <p:nvPr/>
        </p:nvSpPr>
        <p:spPr bwMode="auto">
          <a:xfrm>
            <a:off x="5845621" y="32766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a:t>表示</a:t>
            </a:r>
          </a:p>
        </p:txBody>
      </p:sp>
      <p:sp>
        <p:nvSpPr>
          <p:cNvPr id="8202" name="Rectangle 10"/>
          <p:cNvSpPr>
            <a:spLocks noChangeArrowheads="1"/>
          </p:cNvSpPr>
          <p:nvPr/>
        </p:nvSpPr>
        <p:spPr bwMode="auto">
          <a:xfrm>
            <a:off x="4093021" y="17526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a:t>通用表示</a:t>
            </a:r>
          </a:p>
        </p:txBody>
      </p:sp>
      <p:sp>
        <p:nvSpPr>
          <p:cNvPr id="8208" name="Line 16"/>
          <p:cNvSpPr>
            <a:spLocks noChangeShapeType="1"/>
          </p:cNvSpPr>
          <p:nvPr/>
        </p:nvSpPr>
        <p:spPr bwMode="auto">
          <a:xfrm flipV="1">
            <a:off x="3254821" y="52578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8209" name="Line 17"/>
          <p:cNvSpPr>
            <a:spLocks noChangeShapeType="1"/>
          </p:cNvSpPr>
          <p:nvPr/>
        </p:nvSpPr>
        <p:spPr bwMode="auto">
          <a:xfrm flipV="1">
            <a:off x="6836221" y="51816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8210" name="Line 18"/>
          <p:cNvSpPr>
            <a:spLocks noChangeShapeType="1"/>
          </p:cNvSpPr>
          <p:nvPr/>
        </p:nvSpPr>
        <p:spPr bwMode="auto">
          <a:xfrm flipV="1">
            <a:off x="3254821" y="3962400"/>
            <a:ext cx="0" cy="6096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8211" name="Line 19"/>
          <p:cNvSpPr>
            <a:spLocks noChangeShapeType="1"/>
          </p:cNvSpPr>
          <p:nvPr/>
        </p:nvSpPr>
        <p:spPr bwMode="auto">
          <a:xfrm flipV="1">
            <a:off x="6836221" y="3962400"/>
            <a:ext cx="0" cy="6096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8212" name="Line 20"/>
          <p:cNvSpPr>
            <a:spLocks noChangeShapeType="1"/>
          </p:cNvSpPr>
          <p:nvPr/>
        </p:nvSpPr>
        <p:spPr bwMode="auto">
          <a:xfrm flipV="1">
            <a:off x="3254821" y="2438400"/>
            <a:ext cx="1447800" cy="838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8213" name="Line 21"/>
          <p:cNvSpPr>
            <a:spLocks noChangeShapeType="1"/>
          </p:cNvSpPr>
          <p:nvPr/>
        </p:nvSpPr>
        <p:spPr bwMode="auto">
          <a:xfrm flipH="1" flipV="1">
            <a:off x="5159821" y="2438400"/>
            <a:ext cx="1524000" cy="838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8214" name="Rectangle 22"/>
          <p:cNvSpPr>
            <a:spLocks noChangeArrowheads="1"/>
          </p:cNvSpPr>
          <p:nvPr/>
        </p:nvSpPr>
        <p:spPr bwMode="auto">
          <a:xfrm>
            <a:off x="7064821" y="1447800"/>
            <a:ext cx="1971675" cy="1187450"/>
          </a:xfrm>
          <a:prstGeom prst="rect">
            <a:avLst/>
          </a:prstGeom>
          <a:noFill/>
          <a:ln w="12700">
            <a:noFill/>
            <a:miter lim="800000"/>
            <a:headEnd type="none" w="sm" len="sm"/>
            <a:tailEnd type="none" w="sm" len="sm"/>
          </a:ln>
        </p:spPr>
        <p:txBody>
          <a:bodyPr wrap="none">
            <a:spAutoFit/>
          </a:bodyPr>
          <a:lstStyle/>
          <a:p>
            <a:r>
              <a:rPr lang="en-US" altLang="zh-CN" dirty="0">
                <a:solidFill>
                  <a:schemeClr val="tx2"/>
                </a:solidFill>
              </a:rPr>
              <a:t>Web</a:t>
            </a:r>
            <a:r>
              <a:rPr lang="zh-CN" altLang="en-US" dirty="0">
                <a:solidFill>
                  <a:schemeClr val="tx2"/>
                </a:solidFill>
              </a:rPr>
              <a:t>浏览器</a:t>
            </a:r>
          </a:p>
          <a:p>
            <a:r>
              <a:rPr lang="en-US" altLang="zh-CN" dirty="0">
                <a:solidFill>
                  <a:schemeClr val="tx2"/>
                </a:solidFill>
              </a:rPr>
              <a:t>Java</a:t>
            </a:r>
          </a:p>
          <a:p>
            <a:r>
              <a:rPr lang="en-US" altLang="zh-CN" dirty="0">
                <a:solidFill>
                  <a:schemeClr val="tx2"/>
                </a:solidFill>
              </a:rPr>
              <a:t>Windows GUI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196"/>
                                        </p:tgtEl>
                                        <p:attrNameLst>
                                          <p:attrName>style.visibility</p:attrName>
                                        </p:attrNameLst>
                                      </p:cBhvr>
                                      <p:to>
                                        <p:strVal val="visible"/>
                                      </p:to>
                                    </p:set>
                                    <p:animEffect transition="in" filter="blinds(horizontal)">
                                      <p:cBhvr>
                                        <p:cTn id="7" dur="500"/>
                                        <p:tgtEl>
                                          <p:spTgt spid="819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208"/>
                                        </p:tgtEl>
                                        <p:attrNameLst>
                                          <p:attrName>style.visibility</p:attrName>
                                        </p:attrNameLst>
                                      </p:cBhvr>
                                      <p:to>
                                        <p:strVal val="visible"/>
                                      </p:to>
                                    </p:set>
                                    <p:animEffect transition="in" filter="blinds(horizontal)">
                                      <p:cBhvr>
                                        <p:cTn id="10" dur="500"/>
                                        <p:tgtEl>
                                          <p:spTgt spid="820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210"/>
                                        </p:tgtEl>
                                        <p:attrNameLst>
                                          <p:attrName>style.visibility</p:attrName>
                                        </p:attrNameLst>
                                      </p:cBhvr>
                                      <p:to>
                                        <p:strVal val="visible"/>
                                      </p:to>
                                    </p:set>
                                    <p:animEffect transition="in" filter="blinds(horizontal)">
                                      <p:cBhvr>
                                        <p:cTn id="13" dur="500"/>
                                        <p:tgtEl>
                                          <p:spTgt spid="82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198"/>
                                        </p:tgtEl>
                                        <p:attrNameLst>
                                          <p:attrName>style.visibility</p:attrName>
                                        </p:attrNameLst>
                                      </p:cBhvr>
                                      <p:to>
                                        <p:strVal val="visible"/>
                                      </p:to>
                                    </p:set>
                                    <p:animEffect transition="in" filter="blinds(horizontal)">
                                      <p:cBhvr>
                                        <p:cTn id="16" dur="500"/>
                                        <p:tgtEl>
                                          <p:spTgt spid="819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200"/>
                                        </p:tgtEl>
                                        <p:attrNameLst>
                                          <p:attrName>style.visibility</p:attrName>
                                        </p:attrNameLst>
                                      </p:cBhvr>
                                      <p:to>
                                        <p:strVal val="visible"/>
                                      </p:to>
                                    </p:set>
                                    <p:animEffect transition="in" filter="blinds(horizontal)">
                                      <p:cBhvr>
                                        <p:cTn id="19" dur="500"/>
                                        <p:tgtEl>
                                          <p:spTgt spid="8200"/>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8197"/>
                                        </p:tgtEl>
                                        <p:attrNameLst>
                                          <p:attrName>style.visibility</p:attrName>
                                        </p:attrNameLst>
                                      </p:cBhvr>
                                      <p:to>
                                        <p:strVal val="visible"/>
                                      </p:to>
                                    </p:set>
                                    <p:animEffect transition="in" filter="blinds(horizontal)">
                                      <p:cBhvr>
                                        <p:cTn id="24" dur="500"/>
                                        <p:tgtEl>
                                          <p:spTgt spid="819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8199"/>
                                        </p:tgtEl>
                                        <p:attrNameLst>
                                          <p:attrName>style.visibility</p:attrName>
                                        </p:attrNameLst>
                                      </p:cBhvr>
                                      <p:to>
                                        <p:strVal val="visible"/>
                                      </p:to>
                                    </p:set>
                                    <p:animEffect transition="in" filter="blinds(horizontal)">
                                      <p:cBhvr>
                                        <p:cTn id="27" dur="500"/>
                                        <p:tgtEl>
                                          <p:spTgt spid="8199"/>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8201"/>
                                        </p:tgtEl>
                                        <p:attrNameLst>
                                          <p:attrName>style.visibility</p:attrName>
                                        </p:attrNameLst>
                                      </p:cBhvr>
                                      <p:to>
                                        <p:strVal val="visible"/>
                                      </p:to>
                                    </p:set>
                                    <p:animEffect transition="in" filter="blinds(horizontal)">
                                      <p:cBhvr>
                                        <p:cTn id="30" dur="500"/>
                                        <p:tgtEl>
                                          <p:spTgt spid="8201"/>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8209"/>
                                        </p:tgtEl>
                                        <p:attrNameLst>
                                          <p:attrName>style.visibility</p:attrName>
                                        </p:attrNameLst>
                                      </p:cBhvr>
                                      <p:to>
                                        <p:strVal val="visible"/>
                                      </p:to>
                                    </p:set>
                                    <p:animEffect transition="in" filter="blinds(horizontal)">
                                      <p:cBhvr>
                                        <p:cTn id="33" dur="500"/>
                                        <p:tgtEl>
                                          <p:spTgt spid="820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8211"/>
                                        </p:tgtEl>
                                        <p:attrNameLst>
                                          <p:attrName>style.visibility</p:attrName>
                                        </p:attrNameLst>
                                      </p:cBhvr>
                                      <p:to>
                                        <p:strVal val="visible"/>
                                      </p:to>
                                    </p:set>
                                    <p:animEffect transition="in" filter="blinds(horizontal)">
                                      <p:cBhvr>
                                        <p:cTn id="36" dur="500"/>
                                        <p:tgtEl>
                                          <p:spTgt spid="8211"/>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8212"/>
                                        </p:tgtEl>
                                        <p:attrNameLst>
                                          <p:attrName>style.visibility</p:attrName>
                                        </p:attrNameLst>
                                      </p:cBhvr>
                                      <p:to>
                                        <p:strVal val="visible"/>
                                      </p:to>
                                    </p:set>
                                    <p:anim calcmode="lin" valueType="num">
                                      <p:cBhvr additive="base">
                                        <p:cTn id="41" dur="500" fill="hold"/>
                                        <p:tgtEl>
                                          <p:spTgt spid="8212"/>
                                        </p:tgtEl>
                                        <p:attrNameLst>
                                          <p:attrName>ppt_x</p:attrName>
                                        </p:attrNameLst>
                                      </p:cBhvr>
                                      <p:tavLst>
                                        <p:tav tm="0">
                                          <p:val>
                                            <p:strVal val="#ppt_x"/>
                                          </p:val>
                                        </p:tav>
                                        <p:tav tm="100000">
                                          <p:val>
                                            <p:strVal val="#ppt_x"/>
                                          </p:val>
                                        </p:tav>
                                      </p:tavLst>
                                    </p:anim>
                                    <p:anim calcmode="lin" valueType="num">
                                      <p:cBhvr additive="base">
                                        <p:cTn id="42" dur="500" fill="hold"/>
                                        <p:tgtEl>
                                          <p:spTgt spid="82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8213"/>
                                        </p:tgtEl>
                                        <p:attrNameLst>
                                          <p:attrName>style.visibility</p:attrName>
                                        </p:attrNameLst>
                                      </p:cBhvr>
                                      <p:to>
                                        <p:strVal val="visible"/>
                                      </p:to>
                                    </p:set>
                                    <p:anim calcmode="lin" valueType="num">
                                      <p:cBhvr additive="base">
                                        <p:cTn id="45" dur="500" fill="hold"/>
                                        <p:tgtEl>
                                          <p:spTgt spid="8213"/>
                                        </p:tgtEl>
                                        <p:attrNameLst>
                                          <p:attrName>ppt_x</p:attrName>
                                        </p:attrNameLst>
                                      </p:cBhvr>
                                      <p:tavLst>
                                        <p:tav tm="0">
                                          <p:val>
                                            <p:strVal val="#ppt_x"/>
                                          </p:val>
                                        </p:tav>
                                        <p:tav tm="100000">
                                          <p:val>
                                            <p:strVal val="#ppt_x"/>
                                          </p:val>
                                        </p:tav>
                                      </p:tavLst>
                                    </p:anim>
                                    <p:anim calcmode="lin" valueType="num">
                                      <p:cBhvr additive="base">
                                        <p:cTn id="46" dur="500" fill="hold"/>
                                        <p:tgtEl>
                                          <p:spTgt spid="8213"/>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8202"/>
                                        </p:tgtEl>
                                        <p:attrNameLst>
                                          <p:attrName>style.visibility</p:attrName>
                                        </p:attrNameLst>
                                      </p:cBhvr>
                                      <p:to>
                                        <p:strVal val="visible"/>
                                      </p:to>
                                    </p:set>
                                    <p:anim calcmode="lin" valueType="num">
                                      <p:cBhvr additive="base">
                                        <p:cTn id="49" dur="500" fill="hold"/>
                                        <p:tgtEl>
                                          <p:spTgt spid="8202"/>
                                        </p:tgtEl>
                                        <p:attrNameLst>
                                          <p:attrName>ppt_x</p:attrName>
                                        </p:attrNameLst>
                                      </p:cBhvr>
                                      <p:tavLst>
                                        <p:tav tm="0">
                                          <p:val>
                                            <p:strVal val="#ppt_x"/>
                                          </p:val>
                                        </p:tav>
                                        <p:tav tm="100000">
                                          <p:val>
                                            <p:strVal val="#ppt_x"/>
                                          </p:val>
                                        </p:tav>
                                      </p:tavLst>
                                    </p:anim>
                                    <p:anim calcmode="lin" valueType="num">
                                      <p:cBhvr additive="base">
                                        <p:cTn id="50" dur="500" fill="hold"/>
                                        <p:tgtEl>
                                          <p:spTgt spid="820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8214"/>
                                        </p:tgtEl>
                                        <p:attrNameLst>
                                          <p:attrName>style.visibility</p:attrName>
                                        </p:attrNameLst>
                                      </p:cBhvr>
                                      <p:to>
                                        <p:strVal val="visible"/>
                                      </p:to>
                                    </p:set>
                                    <p:animEffect transition="in" filter="blinds(horizontal)">
                                      <p:cBhvr>
                                        <p:cTn id="55" dur="500"/>
                                        <p:tgtEl>
                                          <p:spTgt spid="8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animBg="1"/>
      <p:bldP spid="8197" grpId="0" animBg="1"/>
      <p:bldP spid="8198" grpId="0" animBg="1"/>
      <p:bldP spid="8199" grpId="0" animBg="1"/>
      <p:bldP spid="8200" grpId="0" animBg="1"/>
      <p:bldP spid="8201" grpId="0" animBg="1"/>
      <p:bldP spid="8202" grpId="0" animBg="1"/>
      <p:bldP spid="8208" grpId="0" animBg="1"/>
      <p:bldP spid="8209" grpId="0" animBg="1"/>
      <p:bldP spid="8210" grpId="0" animBg="1"/>
      <p:bldP spid="8211" grpId="0" animBg="1"/>
      <p:bldP spid="8212" grpId="0" animBg="1"/>
      <p:bldP spid="8213" grpId="0" animBg="1"/>
      <p:bldP spid="82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应用场景</a:t>
            </a:r>
          </a:p>
        </p:txBody>
      </p:sp>
      <p:sp>
        <p:nvSpPr>
          <p:cNvPr id="9219" name="Rectangle 3"/>
          <p:cNvSpPr>
            <a:spLocks noGrp="1" noChangeArrowheads="1"/>
          </p:cNvSpPr>
          <p:nvPr>
            <p:ph idx="1"/>
          </p:nvPr>
        </p:nvSpPr>
        <p:spPr/>
        <p:txBody>
          <a:bodyPr/>
          <a:lstStyle/>
          <a:p>
            <a:pPr>
              <a:lnSpc>
                <a:spcPct val="90000"/>
              </a:lnSpc>
            </a:pPr>
            <a:r>
              <a:rPr lang="zh-CN" altLang="en-US" sz="2800" b="1" dirty="0">
                <a:latin typeface="+mn-ea"/>
              </a:rPr>
              <a:t>为原来基于终端的应用软件提供</a:t>
            </a:r>
            <a:r>
              <a:rPr lang="en-US" altLang="zh-CN" sz="2800" b="1" dirty="0">
                <a:latin typeface="+mn-ea"/>
              </a:rPr>
              <a:t>PC</a:t>
            </a:r>
            <a:r>
              <a:rPr lang="zh-CN" altLang="en-US" sz="2800" b="1" dirty="0">
                <a:latin typeface="+mn-ea"/>
              </a:rPr>
              <a:t>界面</a:t>
            </a:r>
          </a:p>
          <a:p>
            <a:pPr>
              <a:lnSpc>
                <a:spcPct val="90000"/>
              </a:lnSpc>
            </a:pPr>
            <a:r>
              <a:rPr lang="zh-CN" altLang="en-US" sz="2800" b="1" dirty="0">
                <a:latin typeface="+mn-ea"/>
              </a:rPr>
              <a:t>提供一个由多组件合成的应用软件</a:t>
            </a:r>
          </a:p>
          <a:p>
            <a:pPr>
              <a:lnSpc>
                <a:spcPct val="90000"/>
              </a:lnSpc>
            </a:pPr>
            <a:r>
              <a:rPr lang="zh-CN" altLang="en-US" sz="2800" b="1" dirty="0">
                <a:latin typeface="+mn-ea"/>
              </a:rPr>
              <a:t>案例</a:t>
            </a:r>
          </a:p>
          <a:p>
            <a:pPr lvl="1">
              <a:lnSpc>
                <a:spcPct val="90000"/>
              </a:lnSpc>
            </a:pPr>
            <a:r>
              <a:rPr lang="zh-CN" altLang="en-US" sz="2400" b="1" dirty="0">
                <a:latin typeface="+mn-ea"/>
              </a:rPr>
              <a:t>为大型机提供</a:t>
            </a:r>
            <a:r>
              <a:rPr lang="en-US" altLang="zh-CN" sz="2400" b="1" dirty="0">
                <a:latin typeface="+mn-ea"/>
              </a:rPr>
              <a:t>windows</a:t>
            </a:r>
            <a:r>
              <a:rPr lang="zh-CN" altLang="en-US" sz="2400" b="1" dirty="0">
                <a:latin typeface="+mn-ea"/>
              </a:rPr>
              <a:t>界面</a:t>
            </a:r>
          </a:p>
          <a:p>
            <a:pPr lvl="1">
              <a:lnSpc>
                <a:spcPct val="90000"/>
              </a:lnSpc>
            </a:pPr>
            <a:r>
              <a:rPr lang="zh-CN" altLang="en-US" sz="2400" b="1" dirty="0">
                <a:latin typeface="+mn-ea"/>
              </a:rPr>
              <a:t>为</a:t>
            </a:r>
            <a:r>
              <a:rPr lang="en-US" altLang="zh-CN" sz="2400" b="1" dirty="0">
                <a:latin typeface="+mn-ea"/>
              </a:rPr>
              <a:t>SAP R/3</a:t>
            </a:r>
            <a:r>
              <a:rPr lang="zh-CN" altLang="en-US" sz="2400" b="1" dirty="0">
                <a:latin typeface="+mn-ea"/>
              </a:rPr>
              <a:t>与大型机程序提供统一的</a:t>
            </a:r>
            <a:r>
              <a:rPr lang="en-US" altLang="zh-CN" sz="2400" b="1" dirty="0">
                <a:latin typeface="+mn-ea"/>
              </a:rPr>
              <a:t>HTML</a:t>
            </a:r>
            <a:r>
              <a:rPr lang="zh-CN" altLang="en-US" sz="2400" b="1" dirty="0">
                <a:latin typeface="+mn-ea"/>
              </a:rPr>
              <a:t>界面</a:t>
            </a:r>
          </a:p>
          <a:p>
            <a:pPr lvl="1">
              <a:lnSpc>
                <a:spcPct val="90000"/>
              </a:lnSpc>
            </a:pPr>
            <a:r>
              <a:rPr lang="zh-CN" altLang="en-US" sz="2400" b="1" dirty="0">
                <a:latin typeface="+mn-ea"/>
              </a:rPr>
              <a:t>为多个大型机应用程序提供统一的基于</a:t>
            </a:r>
            <a:r>
              <a:rPr lang="en-US" altLang="zh-CN" sz="2400" b="1" dirty="0">
                <a:latin typeface="+mn-ea"/>
              </a:rPr>
              <a:t>Java</a:t>
            </a:r>
            <a:r>
              <a:rPr lang="zh-CN" altLang="en-US" sz="2400" b="1" dirty="0">
                <a:latin typeface="+mn-ea"/>
              </a:rPr>
              <a:t>的界面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blinds(horizontal)">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 calcmode="lin" valueType="num">
                                      <p:cBhvr additive="base">
                                        <p:cTn id="12" dur="500" fill="hold"/>
                                        <p:tgtEl>
                                          <p:spTgt spid="9219">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92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9219">
                                            <p:txEl>
                                              <p:pRg st="2" end="2"/>
                                            </p:txEl>
                                          </p:spTgt>
                                        </p:tgtEl>
                                        <p:attrNameLst>
                                          <p:attrName>style.visibility</p:attrName>
                                        </p:attrNameLst>
                                      </p:cBhvr>
                                      <p:to>
                                        <p:strVal val="visible"/>
                                      </p:to>
                                    </p:set>
                                    <p:animEffect transition="in" filter="blinds(horizontal)">
                                      <p:cBhvr>
                                        <p:cTn id="18" dur="500"/>
                                        <p:tgtEl>
                                          <p:spTgt spid="9219">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9219">
                                            <p:txEl>
                                              <p:pRg st="3" end="3"/>
                                            </p:txEl>
                                          </p:spTgt>
                                        </p:tgtEl>
                                        <p:attrNameLst>
                                          <p:attrName>style.visibility</p:attrName>
                                        </p:attrNameLst>
                                      </p:cBhvr>
                                      <p:to>
                                        <p:strVal val="visible"/>
                                      </p:to>
                                    </p:set>
                                    <p:animEffect transition="in" filter="blinds(horizontal)">
                                      <p:cBhvr>
                                        <p:cTn id="21" dur="500"/>
                                        <p:tgtEl>
                                          <p:spTgt spid="921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9219">
                                            <p:txEl>
                                              <p:pRg st="4" end="4"/>
                                            </p:txEl>
                                          </p:spTgt>
                                        </p:tgtEl>
                                        <p:attrNameLst>
                                          <p:attrName>style.visibility</p:attrName>
                                        </p:attrNameLst>
                                      </p:cBhvr>
                                      <p:to>
                                        <p:strVal val="visible"/>
                                      </p:to>
                                    </p:set>
                                    <p:anim calcmode="lin" valueType="num">
                                      <p:cBhvr additive="base">
                                        <p:cTn id="26"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219">
                                            <p:txEl>
                                              <p:pRg st="5" end="5"/>
                                            </p:txEl>
                                          </p:spTgt>
                                        </p:tgtEl>
                                        <p:attrNameLst>
                                          <p:attrName>style.visibility</p:attrName>
                                        </p:attrNameLst>
                                      </p:cBhvr>
                                      <p:to>
                                        <p:strVal val="visible"/>
                                      </p:to>
                                    </p:set>
                                    <p:anim calcmode="lin" valueType="num">
                                      <p:cBhvr additive="base">
                                        <p:cTn id="32" dur="500" fill="hold"/>
                                        <p:tgtEl>
                                          <p:spTgt spid="9219">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92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9219">
                                            <p:txEl>
                                              <p:pRg st="5" end="5"/>
                                            </p:txEl>
                                          </p:spTgt>
                                        </p:tgtEl>
                                        <p:attrNameLst>
                                          <p:attrName>style.visibility</p:attrName>
                                        </p:attrNameLst>
                                      </p:cBhvr>
                                      <p:to>
                                        <p:strVal val="visible"/>
                                      </p:to>
                                    </p:set>
                                    <p:anim calcmode="lin" valueType="num">
                                      <p:cBhvr additive="base">
                                        <p:cTn id="38" dur="500" fill="hold"/>
                                        <p:tgtEl>
                                          <p:spTgt spid="9219">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921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表示集成的特点</a:t>
            </a:r>
          </a:p>
        </p:txBody>
      </p:sp>
      <p:sp>
        <p:nvSpPr>
          <p:cNvPr id="10243" name="Rectangle 3"/>
          <p:cNvSpPr>
            <a:spLocks noGrp="1" noChangeArrowheads="1"/>
          </p:cNvSpPr>
          <p:nvPr>
            <p:ph idx="1"/>
          </p:nvPr>
        </p:nvSpPr>
        <p:spPr/>
        <p:txBody>
          <a:bodyPr/>
          <a:lstStyle/>
          <a:p>
            <a:r>
              <a:rPr lang="zh-CN" altLang="en-US" sz="2800" b="1" dirty="0"/>
              <a:t>易于实现</a:t>
            </a:r>
          </a:p>
          <a:p>
            <a:r>
              <a:rPr lang="zh-CN" altLang="en-US" sz="2800" b="1" dirty="0"/>
              <a:t>结构简单清楚</a:t>
            </a:r>
          </a:p>
          <a:p>
            <a:r>
              <a:rPr lang="zh-CN" altLang="en-US" sz="2800" b="1" dirty="0"/>
              <a:t>性能瓶颈</a:t>
            </a:r>
          </a:p>
          <a:p>
            <a:r>
              <a:rPr lang="zh-CN" altLang="en-US" sz="2800" b="1" dirty="0"/>
              <a:t>屏蔽原有接口</a:t>
            </a:r>
          </a:p>
          <a:p>
            <a:r>
              <a:rPr lang="zh-CN" altLang="en-US" sz="2800" b="1" dirty="0"/>
              <a:t>功能有限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 calcmode="lin" valueType="num">
                                      <p:cBhvr additive="base">
                                        <p:cTn id="17"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243">
                                            <p:txEl>
                                              <p:pRg st="3" end="3"/>
                                            </p:txEl>
                                          </p:spTgt>
                                        </p:tgtEl>
                                        <p:attrNameLst>
                                          <p:attrName>style.visibility</p:attrName>
                                        </p:attrNameLst>
                                      </p:cBhvr>
                                      <p:to>
                                        <p:strVal val="visible"/>
                                      </p:to>
                                    </p:set>
                                    <p:anim calcmode="lin" valueType="num">
                                      <p:cBhvr additive="base">
                                        <p:cTn id="23" dur="5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24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10243">
                                            <p:txEl>
                                              <p:pRg st="4" end="4"/>
                                            </p:txEl>
                                          </p:spTgt>
                                        </p:tgtEl>
                                        <p:attrNameLst>
                                          <p:attrName>style.visibility</p:attrName>
                                        </p:attrNameLst>
                                      </p:cBhvr>
                                      <p:to>
                                        <p:strVal val="visible"/>
                                      </p:to>
                                    </p:set>
                                    <p:animEffect transition="in" filter="blinds(horizontal)">
                                      <p:cBhvr>
                                        <p:cTn id="29" dur="500"/>
                                        <p:tgtEl>
                                          <p:spTgt spid="1024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数据集成</a:t>
            </a:r>
          </a:p>
        </p:txBody>
      </p:sp>
      <p:sp>
        <p:nvSpPr>
          <p:cNvPr id="11267" name="Rectangle 3"/>
          <p:cNvSpPr>
            <a:spLocks noGrp="1" noChangeArrowheads="1"/>
          </p:cNvSpPr>
          <p:nvPr>
            <p:ph idx="1"/>
          </p:nvPr>
        </p:nvSpPr>
        <p:spPr/>
        <p:txBody>
          <a:bodyPr/>
          <a:lstStyle/>
          <a:p>
            <a:r>
              <a:rPr lang="zh-CN" altLang="en-US" sz="2800" b="1" dirty="0">
                <a:latin typeface="+mn-ea"/>
              </a:rPr>
              <a:t>批量文件传输</a:t>
            </a:r>
          </a:p>
          <a:p>
            <a:endParaRPr lang="zh-CN" altLang="en-US" sz="2800" b="1" dirty="0">
              <a:latin typeface="+mn-ea"/>
            </a:endParaRPr>
          </a:p>
          <a:p>
            <a:r>
              <a:rPr lang="zh-CN" altLang="en-US" sz="2800" b="1" dirty="0">
                <a:latin typeface="+mn-ea"/>
              </a:rPr>
              <a:t>开放式数据连接</a:t>
            </a:r>
            <a:r>
              <a:rPr lang="en-US" altLang="zh-CN" sz="2800" b="1" dirty="0">
                <a:latin typeface="+mn-ea"/>
              </a:rPr>
              <a:t>ODBC</a:t>
            </a:r>
          </a:p>
          <a:p>
            <a:endParaRPr lang="en-US" altLang="zh-CN" sz="2800" b="1" dirty="0">
              <a:latin typeface="+mn-ea"/>
            </a:endParaRPr>
          </a:p>
          <a:p>
            <a:r>
              <a:rPr lang="zh-CN" altLang="en-US" sz="2800" b="1" dirty="0">
                <a:latin typeface="+mn-ea"/>
              </a:rPr>
              <a:t>数据库访问中间件</a:t>
            </a:r>
          </a:p>
          <a:p>
            <a:endParaRPr lang="zh-CN" altLang="en-US" sz="2800" b="1" dirty="0">
              <a:latin typeface="+mn-ea"/>
            </a:endParaRPr>
          </a:p>
          <a:p>
            <a:r>
              <a:rPr lang="zh-CN" altLang="en-US" sz="2800" b="1" dirty="0">
                <a:latin typeface="+mn-ea"/>
              </a:rPr>
              <a:t>数据转换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7" dur="500"/>
                                        <p:tgtEl>
                                          <p:spTgt spid="11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267">
                                            <p:txEl>
                                              <p:pRg st="2" end="2"/>
                                            </p:txEl>
                                          </p:spTgt>
                                        </p:tgtEl>
                                        <p:attrNameLst>
                                          <p:attrName>style.visibility</p:attrName>
                                        </p:attrNameLst>
                                      </p:cBhvr>
                                      <p:to>
                                        <p:strVal val="visible"/>
                                      </p:to>
                                    </p:set>
                                    <p:anim calcmode="lin" valueType="num">
                                      <p:cBhvr additive="base">
                                        <p:cTn id="12" dur="500" fill="hold"/>
                                        <p:tgtEl>
                                          <p:spTgt spid="11267">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18" dur="500"/>
                                        <p:tgtEl>
                                          <p:spTgt spid="1126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23" dur="500"/>
                                        <p:tgtEl>
                                          <p:spTgt spid="11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051720" y="381000"/>
            <a:ext cx="6177880" cy="990600"/>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数据集成模型</a:t>
            </a:r>
          </a:p>
        </p:txBody>
      </p:sp>
      <p:sp>
        <p:nvSpPr>
          <p:cNvPr id="12292" name="AutoShape 4"/>
          <p:cNvSpPr>
            <a:spLocks noChangeArrowheads="1"/>
          </p:cNvSpPr>
          <p:nvPr/>
        </p:nvSpPr>
        <p:spPr bwMode="auto">
          <a:xfrm>
            <a:off x="2668835" y="6019800"/>
            <a:ext cx="1447800" cy="609600"/>
          </a:xfrm>
          <a:prstGeom prst="flowChartMagneticDisk">
            <a:avLst/>
          </a:prstGeom>
          <a:solidFill>
            <a:schemeClr val="accent1"/>
          </a:solidFill>
          <a:ln w="12700">
            <a:solidFill>
              <a:schemeClr val="tx1"/>
            </a:solidFill>
            <a:round/>
            <a:headEnd type="none" w="sm" len="sm"/>
            <a:tailEnd type="none" w="sm" len="sm"/>
          </a:ln>
        </p:spPr>
        <p:txBody>
          <a:bodyPr wrap="none" anchor="ctr"/>
          <a:lstStyle/>
          <a:p>
            <a:pPr algn="ctr"/>
            <a:r>
              <a:rPr lang="zh-CN" altLang="en-US" b="1"/>
              <a:t>数据</a:t>
            </a:r>
          </a:p>
        </p:txBody>
      </p:sp>
      <p:sp>
        <p:nvSpPr>
          <p:cNvPr id="12293" name="AutoShape 5"/>
          <p:cNvSpPr>
            <a:spLocks noChangeArrowheads="1"/>
          </p:cNvSpPr>
          <p:nvPr/>
        </p:nvSpPr>
        <p:spPr bwMode="auto">
          <a:xfrm>
            <a:off x="6250235" y="5943600"/>
            <a:ext cx="1524000" cy="685800"/>
          </a:xfrm>
          <a:prstGeom prst="flowChartMagneticDisk">
            <a:avLst/>
          </a:prstGeom>
          <a:solidFill>
            <a:schemeClr val="accent1"/>
          </a:solidFill>
          <a:ln w="12700">
            <a:solidFill>
              <a:schemeClr val="tx1"/>
            </a:solidFill>
            <a:round/>
            <a:headEnd type="none" w="sm" len="sm"/>
            <a:tailEnd type="none" w="sm" len="sm"/>
          </a:ln>
        </p:spPr>
        <p:txBody>
          <a:bodyPr wrap="none" anchor="ctr"/>
          <a:lstStyle/>
          <a:p>
            <a:pPr algn="ctr"/>
            <a:r>
              <a:rPr lang="zh-CN" altLang="en-US" b="1"/>
              <a:t>数据</a:t>
            </a:r>
          </a:p>
        </p:txBody>
      </p:sp>
      <p:sp>
        <p:nvSpPr>
          <p:cNvPr id="12294" name="Rectangle 6"/>
          <p:cNvSpPr>
            <a:spLocks noChangeArrowheads="1"/>
          </p:cNvSpPr>
          <p:nvPr/>
        </p:nvSpPr>
        <p:spPr bwMode="auto">
          <a:xfrm>
            <a:off x="2516435" y="48768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遗留应用</a:t>
            </a:r>
          </a:p>
        </p:txBody>
      </p:sp>
      <p:sp>
        <p:nvSpPr>
          <p:cNvPr id="12295" name="Rectangle 7"/>
          <p:cNvSpPr>
            <a:spLocks noChangeArrowheads="1"/>
          </p:cNvSpPr>
          <p:nvPr/>
        </p:nvSpPr>
        <p:spPr bwMode="auto">
          <a:xfrm>
            <a:off x="6021635" y="48768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封装式应用</a:t>
            </a:r>
          </a:p>
        </p:txBody>
      </p:sp>
      <p:sp>
        <p:nvSpPr>
          <p:cNvPr id="12296" name="Rectangle 8"/>
          <p:cNvSpPr>
            <a:spLocks noChangeArrowheads="1"/>
          </p:cNvSpPr>
          <p:nvPr/>
        </p:nvSpPr>
        <p:spPr bwMode="auto">
          <a:xfrm>
            <a:off x="4040435" y="1524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表示</a:t>
            </a:r>
          </a:p>
        </p:txBody>
      </p:sp>
      <p:sp>
        <p:nvSpPr>
          <p:cNvPr id="12297" name="Rectangle 9"/>
          <p:cNvSpPr>
            <a:spLocks noChangeArrowheads="1"/>
          </p:cNvSpPr>
          <p:nvPr/>
        </p:nvSpPr>
        <p:spPr bwMode="auto">
          <a:xfrm>
            <a:off x="4040435" y="2667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应用逻辑</a:t>
            </a:r>
          </a:p>
        </p:txBody>
      </p:sp>
      <p:sp>
        <p:nvSpPr>
          <p:cNvPr id="12299" name="Line 11"/>
          <p:cNvSpPr>
            <a:spLocks noChangeShapeType="1"/>
          </p:cNvSpPr>
          <p:nvPr/>
        </p:nvSpPr>
        <p:spPr bwMode="auto">
          <a:xfrm flipV="1">
            <a:off x="3430835" y="55626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2300" name="Line 12"/>
          <p:cNvSpPr>
            <a:spLocks noChangeShapeType="1"/>
          </p:cNvSpPr>
          <p:nvPr/>
        </p:nvSpPr>
        <p:spPr bwMode="auto">
          <a:xfrm flipV="1">
            <a:off x="7012235" y="54864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2301" name="Line 13"/>
          <p:cNvSpPr>
            <a:spLocks noChangeShapeType="1"/>
          </p:cNvSpPr>
          <p:nvPr/>
        </p:nvSpPr>
        <p:spPr bwMode="auto">
          <a:xfrm flipV="1">
            <a:off x="4954835" y="22098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26636" name="Line 14"/>
          <p:cNvSpPr>
            <a:spLocks noChangeShapeType="1"/>
          </p:cNvSpPr>
          <p:nvPr/>
        </p:nvSpPr>
        <p:spPr bwMode="auto">
          <a:xfrm flipV="1">
            <a:off x="4954835" y="3276600"/>
            <a:ext cx="0" cy="6096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2303" name="Line 15"/>
          <p:cNvSpPr>
            <a:spLocks noChangeShapeType="1"/>
          </p:cNvSpPr>
          <p:nvPr/>
        </p:nvSpPr>
        <p:spPr bwMode="auto">
          <a:xfrm flipV="1">
            <a:off x="3735635" y="4495800"/>
            <a:ext cx="1066800" cy="15240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2304" name="Line 16"/>
          <p:cNvSpPr>
            <a:spLocks noChangeShapeType="1"/>
          </p:cNvSpPr>
          <p:nvPr/>
        </p:nvSpPr>
        <p:spPr bwMode="auto">
          <a:xfrm flipH="1" flipV="1">
            <a:off x="5031035" y="4495800"/>
            <a:ext cx="1676400" cy="14478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2305" name="Rectangle 17"/>
          <p:cNvSpPr>
            <a:spLocks noChangeArrowheads="1"/>
          </p:cNvSpPr>
          <p:nvPr/>
        </p:nvSpPr>
        <p:spPr bwMode="auto">
          <a:xfrm>
            <a:off x="6412160" y="1219200"/>
            <a:ext cx="2057400" cy="1187450"/>
          </a:xfrm>
          <a:prstGeom prst="rect">
            <a:avLst/>
          </a:prstGeom>
          <a:noFill/>
          <a:ln w="12700">
            <a:noFill/>
            <a:miter lim="800000"/>
            <a:headEnd type="none" w="sm" len="sm"/>
            <a:tailEnd type="none" w="sm" len="sm"/>
          </a:ln>
        </p:spPr>
        <p:txBody>
          <a:bodyPr wrap="none">
            <a:spAutoFit/>
          </a:bodyPr>
          <a:lstStyle/>
          <a:p>
            <a:r>
              <a:rPr lang="en-US" altLang="zh-CN" b="1">
                <a:solidFill>
                  <a:schemeClr val="tx2"/>
                </a:solidFill>
              </a:rPr>
              <a:t>Web</a:t>
            </a:r>
            <a:r>
              <a:rPr lang="zh-CN" altLang="en-US" b="1">
                <a:solidFill>
                  <a:schemeClr val="tx2"/>
                </a:solidFill>
              </a:rPr>
              <a:t>浏览器</a:t>
            </a:r>
          </a:p>
          <a:p>
            <a:r>
              <a:rPr lang="en-US" altLang="zh-CN" b="1">
                <a:solidFill>
                  <a:schemeClr val="tx2"/>
                </a:solidFill>
              </a:rPr>
              <a:t>Java</a:t>
            </a:r>
          </a:p>
          <a:p>
            <a:r>
              <a:rPr lang="en-US" altLang="zh-CN" b="1">
                <a:solidFill>
                  <a:schemeClr val="tx2"/>
                </a:solidFill>
              </a:rPr>
              <a:t>Windows GUI</a:t>
            </a:r>
          </a:p>
        </p:txBody>
      </p:sp>
      <p:sp>
        <p:nvSpPr>
          <p:cNvPr id="12306" name="Rectangle 18"/>
          <p:cNvSpPr>
            <a:spLocks noChangeArrowheads="1"/>
          </p:cNvSpPr>
          <p:nvPr/>
        </p:nvSpPr>
        <p:spPr bwMode="auto">
          <a:xfrm>
            <a:off x="4040435" y="3810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中间件</a:t>
            </a:r>
          </a:p>
        </p:txBody>
      </p:sp>
      <p:sp>
        <p:nvSpPr>
          <p:cNvPr id="12307" name="Rectangle 19"/>
          <p:cNvSpPr>
            <a:spLocks noChangeArrowheads="1"/>
          </p:cNvSpPr>
          <p:nvPr/>
        </p:nvSpPr>
        <p:spPr bwMode="auto">
          <a:xfrm>
            <a:off x="6402635" y="3048000"/>
            <a:ext cx="2561853" cy="1200329"/>
          </a:xfrm>
          <a:prstGeom prst="rect">
            <a:avLst/>
          </a:prstGeom>
          <a:noFill/>
          <a:ln w="12700">
            <a:noFill/>
            <a:miter lim="800000"/>
            <a:headEnd type="none" w="sm" len="sm"/>
            <a:tailEnd type="none" w="sm" len="sm"/>
          </a:ln>
        </p:spPr>
        <p:txBody>
          <a:bodyPr wrap="square">
            <a:spAutoFit/>
          </a:bodyPr>
          <a:lstStyle/>
          <a:p>
            <a:r>
              <a:rPr lang="zh-CN" altLang="en-US" b="1" dirty="0"/>
              <a:t>批量文件传输</a:t>
            </a:r>
          </a:p>
          <a:p>
            <a:r>
              <a:rPr lang="zh-CN" altLang="en-US" b="1" dirty="0"/>
              <a:t>开放式数据连接</a:t>
            </a:r>
            <a:r>
              <a:rPr lang="en-US" altLang="zh-CN" b="1" dirty="0"/>
              <a:t>ODBC</a:t>
            </a:r>
          </a:p>
          <a:p>
            <a:r>
              <a:rPr lang="zh-CN" altLang="en-US" b="1" dirty="0"/>
              <a:t>数据库访问中间件</a:t>
            </a:r>
          </a:p>
          <a:p>
            <a:r>
              <a:rPr lang="zh-CN" altLang="en-US" b="1" dirty="0"/>
              <a:t>数据转换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blinds(horizontal)">
                                      <p:cBhvr>
                                        <p:cTn id="7" dur="500"/>
                                        <p:tgtEl>
                                          <p:spTgt spid="1229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294"/>
                                        </p:tgtEl>
                                        <p:attrNameLst>
                                          <p:attrName>style.visibility</p:attrName>
                                        </p:attrNameLst>
                                      </p:cBhvr>
                                      <p:to>
                                        <p:strVal val="visible"/>
                                      </p:to>
                                    </p:set>
                                    <p:animEffect transition="in" filter="blinds(horizontal)">
                                      <p:cBhvr>
                                        <p:cTn id="10" dur="500"/>
                                        <p:tgtEl>
                                          <p:spTgt spid="1229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299"/>
                                        </p:tgtEl>
                                        <p:attrNameLst>
                                          <p:attrName>style.visibility</p:attrName>
                                        </p:attrNameLst>
                                      </p:cBhvr>
                                      <p:to>
                                        <p:strVal val="visible"/>
                                      </p:to>
                                    </p:set>
                                    <p:animEffect transition="in" filter="blinds(horizontal)">
                                      <p:cBhvr>
                                        <p:cTn id="13" dur="500"/>
                                        <p:tgtEl>
                                          <p:spTgt spid="12299"/>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2293"/>
                                        </p:tgtEl>
                                        <p:attrNameLst>
                                          <p:attrName>style.visibility</p:attrName>
                                        </p:attrNameLst>
                                      </p:cBhvr>
                                      <p:to>
                                        <p:strVal val="visible"/>
                                      </p:to>
                                    </p:set>
                                    <p:animEffect transition="in" filter="blinds(horizontal)">
                                      <p:cBhvr>
                                        <p:cTn id="18" dur="500"/>
                                        <p:tgtEl>
                                          <p:spTgt spid="12293"/>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2295"/>
                                        </p:tgtEl>
                                        <p:attrNameLst>
                                          <p:attrName>style.visibility</p:attrName>
                                        </p:attrNameLst>
                                      </p:cBhvr>
                                      <p:to>
                                        <p:strVal val="visible"/>
                                      </p:to>
                                    </p:set>
                                    <p:animEffect transition="in" filter="blinds(horizontal)">
                                      <p:cBhvr>
                                        <p:cTn id="21" dur="500"/>
                                        <p:tgtEl>
                                          <p:spTgt spid="12295"/>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2300"/>
                                        </p:tgtEl>
                                        <p:attrNameLst>
                                          <p:attrName>style.visibility</p:attrName>
                                        </p:attrNameLst>
                                      </p:cBhvr>
                                      <p:to>
                                        <p:strVal val="visible"/>
                                      </p:to>
                                    </p:set>
                                    <p:animEffect transition="in" filter="blinds(horizontal)">
                                      <p:cBhvr>
                                        <p:cTn id="24" dur="500"/>
                                        <p:tgtEl>
                                          <p:spTgt spid="12300"/>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303"/>
                                        </p:tgtEl>
                                        <p:attrNameLst>
                                          <p:attrName>style.visibility</p:attrName>
                                        </p:attrNameLst>
                                      </p:cBhvr>
                                      <p:to>
                                        <p:strVal val="visible"/>
                                      </p:to>
                                    </p:set>
                                    <p:animEffect transition="in" filter="blinds(horizontal)">
                                      <p:cBhvr>
                                        <p:cTn id="29" dur="500"/>
                                        <p:tgtEl>
                                          <p:spTgt spid="12303"/>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2304"/>
                                        </p:tgtEl>
                                        <p:attrNameLst>
                                          <p:attrName>style.visibility</p:attrName>
                                        </p:attrNameLst>
                                      </p:cBhvr>
                                      <p:to>
                                        <p:strVal val="visible"/>
                                      </p:to>
                                    </p:set>
                                    <p:animEffect transition="in" filter="blinds(horizontal)">
                                      <p:cBhvr>
                                        <p:cTn id="32" dur="500"/>
                                        <p:tgtEl>
                                          <p:spTgt spid="1230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2306"/>
                                        </p:tgtEl>
                                        <p:attrNameLst>
                                          <p:attrName>style.visibility</p:attrName>
                                        </p:attrNameLst>
                                      </p:cBhvr>
                                      <p:to>
                                        <p:strVal val="visible"/>
                                      </p:to>
                                    </p:set>
                                    <p:animEffect transition="in" filter="blinds(horizontal)">
                                      <p:cBhvr>
                                        <p:cTn id="35" dur="500"/>
                                        <p:tgtEl>
                                          <p:spTgt spid="12306"/>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1" nodeType="clickEffect">
                                  <p:stCondLst>
                                    <p:cond delay="0"/>
                                  </p:stCondLst>
                                  <p:childTnLst>
                                    <p:set>
                                      <p:cBhvr>
                                        <p:cTn id="39" dur="1" fill="hold">
                                          <p:stCondLst>
                                            <p:cond delay="0"/>
                                          </p:stCondLst>
                                        </p:cTn>
                                        <p:tgtEl>
                                          <p:spTgt spid="12303"/>
                                        </p:tgtEl>
                                        <p:attrNameLst>
                                          <p:attrName>style.visibility</p:attrName>
                                        </p:attrNameLst>
                                      </p:cBhvr>
                                      <p:to>
                                        <p:strVal val="visible"/>
                                      </p:to>
                                    </p:set>
                                    <p:animEffect transition="in" filter="blinds(horizontal)">
                                      <p:cBhvr>
                                        <p:cTn id="40" dur="500"/>
                                        <p:tgtEl>
                                          <p:spTgt spid="12303"/>
                                        </p:tgtEl>
                                      </p:cBhvr>
                                    </p:animEffect>
                                  </p:childTnLst>
                                </p:cTn>
                              </p:par>
                              <p:par>
                                <p:cTn id="41" presetID="3" presetClass="entr" presetSubtype="10" fill="hold" grpId="1" nodeType="withEffect">
                                  <p:stCondLst>
                                    <p:cond delay="0"/>
                                  </p:stCondLst>
                                  <p:childTnLst>
                                    <p:set>
                                      <p:cBhvr>
                                        <p:cTn id="42" dur="1" fill="hold">
                                          <p:stCondLst>
                                            <p:cond delay="0"/>
                                          </p:stCondLst>
                                        </p:cTn>
                                        <p:tgtEl>
                                          <p:spTgt spid="12304"/>
                                        </p:tgtEl>
                                        <p:attrNameLst>
                                          <p:attrName>style.visibility</p:attrName>
                                        </p:attrNameLst>
                                      </p:cBhvr>
                                      <p:to>
                                        <p:strVal val="visible"/>
                                      </p:to>
                                    </p:set>
                                    <p:animEffect transition="in" filter="blinds(horizontal)">
                                      <p:cBhvr>
                                        <p:cTn id="43" dur="500"/>
                                        <p:tgtEl>
                                          <p:spTgt spid="12304"/>
                                        </p:tgtEl>
                                      </p:cBhvr>
                                    </p:animEffect>
                                  </p:childTnLst>
                                </p:cTn>
                              </p:par>
                              <p:par>
                                <p:cTn id="44" presetID="3" presetClass="entr" presetSubtype="10" fill="hold" grpId="1" nodeType="withEffect">
                                  <p:stCondLst>
                                    <p:cond delay="0"/>
                                  </p:stCondLst>
                                  <p:childTnLst>
                                    <p:set>
                                      <p:cBhvr>
                                        <p:cTn id="45" dur="1" fill="hold">
                                          <p:stCondLst>
                                            <p:cond delay="0"/>
                                          </p:stCondLst>
                                        </p:cTn>
                                        <p:tgtEl>
                                          <p:spTgt spid="12306"/>
                                        </p:tgtEl>
                                        <p:attrNameLst>
                                          <p:attrName>style.visibility</p:attrName>
                                        </p:attrNameLst>
                                      </p:cBhvr>
                                      <p:to>
                                        <p:strVal val="visible"/>
                                      </p:to>
                                    </p:set>
                                    <p:animEffect transition="in" filter="blinds(horizontal)">
                                      <p:cBhvr>
                                        <p:cTn id="46" dur="500"/>
                                        <p:tgtEl>
                                          <p:spTgt spid="12306"/>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12297"/>
                                        </p:tgtEl>
                                        <p:attrNameLst>
                                          <p:attrName>style.visibility</p:attrName>
                                        </p:attrNameLst>
                                      </p:cBhvr>
                                      <p:to>
                                        <p:strVal val="visible"/>
                                      </p:to>
                                    </p:set>
                                    <p:animEffect transition="in" filter="blinds(horizontal)">
                                      <p:cBhvr>
                                        <p:cTn id="49" dur="500"/>
                                        <p:tgtEl>
                                          <p:spTgt spid="12297"/>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2296"/>
                                        </p:tgtEl>
                                        <p:attrNameLst>
                                          <p:attrName>style.visibility</p:attrName>
                                        </p:attrNameLst>
                                      </p:cBhvr>
                                      <p:to>
                                        <p:strVal val="visible"/>
                                      </p:to>
                                    </p:set>
                                    <p:animEffect transition="in" filter="blinds(horizontal)">
                                      <p:cBhvr>
                                        <p:cTn id="52" dur="500"/>
                                        <p:tgtEl>
                                          <p:spTgt spid="12296"/>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12301"/>
                                        </p:tgtEl>
                                        <p:attrNameLst>
                                          <p:attrName>style.visibility</p:attrName>
                                        </p:attrNameLst>
                                      </p:cBhvr>
                                      <p:to>
                                        <p:strVal val="visible"/>
                                      </p:to>
                                    </p:set>
                                    <p:animEffect transition="in" filter="blinds(horizontal)">
                                      <p:cBhvr>
                                        <p:cTn id="55" dur="500"/>
                                        <p:tgtEl>
                                          <p:spTgt spid="12301"/>
                                        </p:tgtEl>
                                      </p:cBhvr>
                                    </p:animEffect>
                                  </p:childTnLst>
                                </p:cTn>
                              </p:par>
                            </p:childTnLst>
                          </p:cTn>
                        </p:par>
                      </p:childTnLst>
                    </p:cTn>
                  </p:par>
                  <p:par>
                    <p:cTn id="56" fill="hold">
                      <p:stCondLst>
                        <p:cond delay="indefinite"/>
                      </p:stCondLst>
                      <p:childTnLst>
                        <p:par>
                          <p:cTn id="57" fill="hold">
                            <p:stCondLst>
                              <p:cond delay="0"/>
                            </p:stCondLst>
                            <p:childTnLst>
                              <p:par>
                                <p:cTn id="58" presetID="5" presetClass="entr" presetSubtype="10" fill="hold" grpId="0" nodeType="clickEffect">
                                  <p:stCondLst>
                                    <p:cond delay="0"/>
                                  </p:stCondLst>
                                  <p:childTnLst>
                                    <p:set>
                                      <p:cBhvr>
                                        <p:cTn id="59" dur="1" fill="hold">
                                          <p:stCondLst>
                                            <p:cond delay="0"/>
                                          </p:stCondLst>
                                        </p:cTn>
                                        <p:tgtEl>
                                          <p:spTgt spid="12307"/>
                                        </p:tgtEl>
                                        <p:attrNameLst>
                                          <p:attrName>style.visibility</p:attrName>
                                        </p:attrNameLst>
                                      </p:cBhvr>
                                      <p:to>
                                        <p:strVal val="visible"/>
                                      </p:to>
                                    </p:set>
                                    <p:animEffect transition="in" filter="checkerboard(across)">
                                      <p:cBhvr>
                                        <p:cTn id="60" dur="500"/>
                                        <p:tgtEl>
                                          <p:spTgt spid="12307"/>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12305"/>
                                        </p:tgtEl>
                                        <p:attrNameLst>
                                          <p:attrName>style.visibility</p:attrName>
                                        </p:attrNameLst>
                                      </p:cBhvr>
                                      <p:to>
                                        <p:strVal val="visible"/>
                                      </p:to>
                                    </p:set>
                                    <p:animEffect transition="in" filter="blinds(horizontal)">
                                      <p:cBhvr>
                                        <p:cTn id="65" dur="500"/>
                                        <p:tgtEl>
                                          <p:spTgt spid="12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p:bldP spid="12293" grpId="0" animBg="1"/>
      <p:bldP spid="12294" grpId="0" animBg="1"/>
      <p:bldP spid="12295" grpId="0" animBg="1"/>
      <p:bldP spid="12296" grpId="0" animBg="1"/>
      <p:bldP spid="12297" grpId="0" animBg="1"/>
      <p:bldP spid="12299" grpId="0" animBg="1"/>
      <p:bldP spid="12300" grpId="0" animBg="1"/>
      <p:bldP spid="12301" grpId="0" animBg="1"/>
      <p:bldP spid="12303" grpId="0" animBg="1"/>
      <p:bldP spid="12303" grpId="1" animBg="1"/>
      <p:bldP spid="12304" grpId="0" animBg="1"/>
      <p:bldP spid="12304" grpId="1" animBg="1"/>
      <p:bldP spid="12305" grpId="0"/>
      <p:bldP spid="12306" grpId="0" animBg="1"/>
      <p:bldP spid="12306" grpId="1" animBg="1"/>
      <p:bldP spid="1230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应用场景</a:t>
            </a:r>
          </a:p>
        </p:txBody>
      </p:sp>
      <p:sp>
        <p:nvSpPr>
          <p:cNvPr id="21507" name="Rectangle 3"/>
          <p:cNvSpPr>
            <a:spLocks noGrp="1" noChangeArrowheads="1"/>
          </p:cNvSpPr>
          <p:nvPr>
            <p:ph idx="1"/>
          </p:nvPr>
        </p:nvSpPr>
        <p:spPr>
          <a:xfrm>
            <a:off x="1691680" y="1484784"/>
            <a:ext cx="7373888" cy="4114800"/>
          </a:xfrm>
        </p:spPr>
        <p:txBody>
          <a:bodyPr/>
          <a:lstStyle/>
          <a:p>
            <a:pPr>
              <a:lnSpc>
                <a:spcPct val="90000"/>
              </a:lnSpc>
            </a:pPr>
            <a:r>
              <a:rPr lang="zh-CN" altLang="en-US" sz="2800" b="1" dirty="0">
                <a:latin typeface="+mn-ea"/>
              </a:rPr>
              <a:t>多个信息源综合数据进行分析和决策</a:t>
            </a:r>
          </a:p>
          <a:p>
            <a:pPr>
              <a:lnSpc>
                <a:spcPct val="90000"/>
              </a:lnSpc>
            </a:pPr>
            <a:r>
              <a:rPr lang="zh-CN" altLang="en-US" sz="2800" b="1" dirty="0">
                <a:latin typeface="+mn-ea"/>
              </a:rPr>
              <a:t>向多个应用软件提供公共信息源的只读权限</a:t>
            </a:r>
          </a:p>
          <a:p>
            <a:pPr>
              <a:lnSpc>
                <a:spcPct val="90000"/>
              </a:lnSpc>
            </a:pPr>
            <a:r>
              <a:rPr lang="zh-CN" altLang="en-US" sz="2800" b="1" dirty="0">
                <a:latin typeface="+mn-ea"/>
              </a:rPr>
              <a:t>以一个信息源的信息来更新另一个数据源</a:t>
            </a:r>
          </a:p>
          <a:p>
            <a:pPr>
              <a:lnSpc>
                <a:spcPct val="90000"/>
              </a:lnSpc>
            </a:pPr>
            <a:r>
              <a:rPr lang="zh-CN" altLang="en-US" sz="2800" b="1" dirty="0">
                <a:latin typeface="+mn-ea"/>
              </a:rPr>
              <a:t>案例</a:t>
            </a:r>
          </a:p>
          <a:p>
            <a:pPr lvl="1">
              <a:lnSpc>
                <a:spcPct val="90000"/>
              </a:lnSpc>
            </a:pPr>
            <a:r>
              <a:rPr lang="zh-CN" altLang="en-US" sz="2400" b="1" dirty="0">
                <a:latin typeface="+mn-ea"/>
              </a:rPr>
              <a:t>综合</a:t>
            </a:r>
            <a:r>
              <a:rPr lang="en-US" altLang="zh-CN" sz="2400" b="1" dirty="0" err="1">
                <a:latin typeface="+mn-ea"/>
              </a:rPr>
              <a:t>sybase</a:t>
            </a:r>
            <a:r>
              <a:rPr lang="zh-CN" altLang="en-US" sz="2400" b="1" dirty="0">
                <a:latin typeface="+mn-ea"/>
              </a:rPr>
              <a:t>、</a:t>
            </a:r>
            <a:r>
              <a:rPr lang="en-US" altLang="zh-CN" sz="2400" b="1" dirty="0">
                <a:latin typeface="+mn-ea"/>
              </a:rPr>
              <a:t>DB2</a:t>
            </a:r>
            <a:r>
              <a:rPr lang="zh-CN" altLang="en-US" sz="2400" b="1" dirty="0">
                <a:latin typeface="+mn-ea"/>
              </a:rPr>
              <a:t>和</a:t>
            </a:r>
            <a:r>
              <a:rPr lang="en-US" altLang="zh-CN" sz="2400" b="1" dirty="0">
                <a:latin typeface="+mn-ea"/>
              </a:rPr>
              <a:t>SAP P/3</a:t>
            </a:r>
            <a:r>
              <a:rPr lang="zh-CN" altLang="en-US" sz="2400" b="1" dirty="0">
                <a:latin typeface="+mn-ea"/>
              </a:rPr>
              <a:t>数据库中的数据</a:t>
            </a:r>
          </a:p>
          <a:p>
            <a:pPr lvl="1">
              <a:lnSpc>
                <a:spcPct val="90000"/>
              </a:lnSpc>
            </a:pPr>
            <a:r>
              <a:rPr lang="zh-CN" altLang="en-US" sz="2400" b="1" dirty="0">
                <a:latin typeface="+mn-ea"/>
              </a:rPr>
              <a:t>使用大型机和</a:t>
            </a:r>
            <a:r>
              <a:rPr lang="en-US" altLang="zh-CN" sz="2400" b="1" dirty="0">
                <a:latin typeface="+mn-ea"/>
              </a:rPr>
              <a:t>Oracle</a:t>
            </a:r>
            <a:r>
              <a:rPr lang="zh-CN" altLang="en-US" sz="2400" b="1" dirty="0">
                <a:latin typeface="+mn-ea"/>
              </a:rPr>
              <a:t>的可执行信息系统</a:t>
            </a:r>
          </a:p>
          <a:p>
            <a:pPr lvl="1">
              <a:lnSpc>
                <a:spcPct val="90000"/>
              </a:lnSpc>
            </a:pPr>
            <a:r>
              <a:rPr lang="zh-CN" altLang="en-US" sz="2400" b="1" dirty="0">
                <a:latin typeface="+mn-ea"/>
              </a:rPr>
              <a:t>允许其他应用程序在</a:t>
            </a:r>
            <a:r>
              <a:rPr lang="en-US" altLang="zh-CN" sz="2400" b="1" dirty="0" err="1">
                <a:latin typeface="+mn-ea"/>
              </a:rPr>
              <a:t>peoplesoft</a:t>
            </a:r>
            <a:r>
              <a:rPr lang="zh-CN" altLang="en-US" sz="2400" b="1" dirty="0">
                <a:latin typeface="+mn-ea"/>
              </a:rPr>
              <a:t>和定制的</a:t>
            </a:r>
            <a:r>
              <a:rPr lang="en-US" altLang="zh-CN" sz="2400" b="1" dirty="0">
                <a:latin typeface="+mn-ea"/>
              </a:rPr>
              <a:t>Oracle</a:t>
            </a:r>
            <a:r>
              <a:rPr lang="zh-CN" altLang="en-US" sz="2400" b="1" dirty="0">
                <a:latin typeface="+mn-ea"/>
              </a:rPr>
              <a:t>数据库中获取数据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Effect transition="in" filter="blinds(horizontal)">
                                      <p:cBhvr>
                                        <p:cTn id="7" dur="500"/>
                                        <p:tgtEl>
                                          <p:spTgt spid="215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507">
                                            <p:txEl>
                                              <p:pRg st="1" end="1"/>
                                            </p:txEl>
                                          </p:spTgt>
                                        </p:tgtEl>
                                        <p:attrNameLst>
                                          <p:attrName>style.visibility</p:attrName>
                                        </p:attrNameLst>
                                      </p:cBhvr>
                                      <p:to>
                                        <p:strVal val="visible"/>
                                      </p:to>
                                    </p:set>
                                    <p:anim calcmode="lin" valueType="num">
                                      <p:cBhvr additive="base">
                                        <p:cTn id="12"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1507">
                                            <p:txEl>
                                              <p:pRg st="2" end="2"/>
                                            </p:txEl>
                                          </p:spTgt>
                                        </p:tgtEl>
                                        <p:attrNameLst>
                                          <p:attrName>style.visibility</p:attrName>
                                        </p:attrNameLst>
                                      </p:cBhvr>
                                      <p:to>
                                        <p:strVal val="visible"/>
                                      </p:to>
                                    </p:set>
                                    <p:animEffect transition="in" filter="blinds(horizontal)">
                                      <p:cBhvr>
                                        <p:cTn id="18" dur="500"/>
                                        <p:tgtEl>
                                          <p:spTgt spid="2150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1507">
                                            <p:txEl>
                                              <p:pRg st="3" end="3"/>
                                            </p:txEl>
                                          </p:spTgt>
                                        </p:tgtEl>
                                        <p:attrNameLst>
                                          <p:attrName>style.visibility</p:attrName>
                                        </p:attrNameLst>
                                      </p:cBhvr>
                                      <p:to>
                                        <p:strVal val="visible"/>
                                      </p:to>
                                    </p:set>
                                    <p:animEffect transition="in" filter="blinds(horizontal)">
                                      <p:cBhvr>
                                        <p:cTn id="23" dur="500"/>
                                        <p:tgtEl>
                                          <p:spTgt spid="21507">
                                            <p:txEl>
                                              <p:pRg st="3" end="3"/>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21507">
                                            <p:txEl>
                                              <p:pRg st="4" end="4"/>
                                            </p:txEl>
                                          </p:spTgt>
                                        </p:tgtEl>
                                        <p:attrNameLst>
                                          <p:attrName>style.visibility</p:attrName>
                                        </p:attrNameLst>
                                      </p:cBhvr>
                                      <p:to>
                                        <p:strVal val="visible"/>
                                      </p:to>
                                    </p:set>
                                    <p:animEffect transition="in" filter="blinds(horizontal)">
                                      <p:cBhvr>
                                        <p:cTn id="26" dur="500"/>
                                        <p:tgtEl>
                                          <p:spTgt spid="2150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507">
                                            <p:txEl>
                                              <p:pRg st="5" end="5"/>
                                            </p:txEl>
                                          </p:spTgt>
                                        </p:tgtEl>
                                        <p:attrNameLst>
                                          <p:attrName>style.visibility</p:attrName>
                                        </p:attrNameLst>
                                      </p:cBhvr>
                                      <p:to>
                                        <p:strVal val="visible"/>
                                      </p:to>
                                    </p:set>
                                    <p:anim calcmode="lin" valueType="num">
                                      <p:cBhvr additive="base">
                                        <p:cTn id="31" dur="500" fill="hold"/>
                                        <p:tgtEl>
                                          <p:spTgt spid="2150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15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507">
                                            <p:txEl>
                                              <p:pRg st="6" end="6"/>
                                            </p:txEl>
                                          </p:spTgt>
                                        </p:tgtEl>
                                        <p:attrNameLst>
                                          <p:attrName>style.visibility</p:attrName>
                                        </p:attrNameLst>
                                      </p:cBhvr>
                                      <p:to>
                                        <p:strVal val="visible"/>
                                      </p:to>
                                    </p:set>
                                    <p:anim calcmode="lin" valueType="num">
                                      <p:cBhvr additive="base">
                                        <p:cTn id="37" dur="500" fill="hold"/>
                                        <p:tgtEl>
                                          <p:spTgt spid="2150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15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数据集成的特点</a:t>
            </a:r>
          </a:p>
        </p:txBody>
      </p:sp>
      <p:sp>
        <p:nvSpPr>
          <p:cNvPr id="13315" name="Rectangle 3"/>
          <p:cNvSpPr>
            <a:spLocks noGrp="1" noChangeArrowheads="1"/>
          </p:cNvSpPr>
          <p:nvPr>
            <p:ph idx="1"/>
          </p:nvPr>
        </p:nvSpPr>
        <p:spPr/>
        <p:txBody>
          <a:bodyPr/>
          <a:lstStyle/>
          <a:p>
            <a:r>
              <a:rPr lang="zh-CN" altLang="en-US" sz="2800" b="1" dirty="0"/>
              <a:t>更广泛的数据访问</a:t>
            </a:r>
          </a:p>
          <a:p>
            <a:r>
              <a:rPr lang="zh-CN" altLang="en-US" sz="2800" b="1" dirty="0"/>
              <a:t>简化数据库访问</a:t>
            </a:r>
          </a:p>
          <a:p>
            <a:r>
              <a:rPr lang="zh-CN" altLang="en-US" sz="2800" b="1" dirty="0"/>
              <a:t>方便新数据源的集成</a:t>
            </a:r>
          </a:p>
          <a:p>
            <a:r>
              <a:rPr lang="zh-CN" altLang="en-US" sz="2800" b="1" dirty="0"/>
              <a:t>系统逻辑演变的维护工作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animEffect transition="in" filter="blinds(horizontal)">
                                      <p:cBhvr>
                                        <p:cTn id="7" dur="500"/>
                                        <p:tgtEl>
                                          <p:spTgt spid="13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315">
                                            <p:txEl>
                                              <p:pRg st="1" end="1"/>
                                            </p:txEl>
                                          </p:spTgt>
                                        </p:tgtEl>
                                        <p:attrNameLst>
                                          <p:attrName>style.visibility</p:attrName>
                                        </p:attrNameLst>
                                      </p:cBhvr>
                                      <p:to>
                                        <p:strVal val="visible"/>
                                      </p:to>
                                    </p:set>
                                    <p:anim calcmode="lin" valueType="num">
                                      <p:cBhvr additive="base">
                                        <p:cTn id="12"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3315">
                                            <p:txEl>
                                              <p:pRg st="2" end="2"/>
                                            </p:txEl>
                                          </p:spTgt>
                                        </p:tgtEl>
                                        <p:attrNameLst>
                                          <p:attrName>style.visibility</p:attrName>
                                        </p:attrNameLst>
                                      </p:cBhvr>
                                      <p:to>
                                        <p:strVal val="visible"/>
                                      </p:to>
                                    </p:set>
                                    <p:anim calcmode="lin" valueType="num">
                                      <p:cBhvr additive="base">
                                        <p:cTn id="18"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13315">
                                            <p:txEl>
                                              <p:pRg st="3" end="3"/>
                                            </p:txEl>
                                          </p:spTgt>
                                        </p:tgtEl>
                                        <p:attrNameLst>
                                          <p:attrName>style.visibility</p:attrName>
                                        </p:attrNameLst>
                                      </p:cBhvr>
                                      <p:to>
                                        <p:strVal val="visible"/>
                                      </p:to>
                                    </p:set>
                                    <p:animEffect transition="in" filter="blinds(horizontal)">
                                      <p:cBhvr>
                                        <p:cTn id="24" dur="500"/>
                                        <p:tgtEl>
                                          <p:spTgt spid="13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功能集成模型</a:t>
            </a:r>
          </a:p>
        </p:txBody>
      </p:sp>
      <p:sp>
        <p:nvSpPr>
          <p:cNvPr id="18436" name="AutoShape 4"/>
          <p:cNvSpPr>
            <a:spLocks noChangeArrowheads="1"/>
          </p:cNvSpPr>
          <p:nvPr/>
        </p:nvSpPr>
        <p:spPr bwMode="auto">
          <a:xfrm>
            <a:off x="2947739" y="6096000"/>
            <a:ext cx="1447800" cy="609600"/>
          </a:xfrm>
          <a:prstGeom prst="flowChartMagneticDisk">
            <a:avLst/>
          </a:prstGeom>
          <a:solidFill>
            <a:schemeClr val="accent1"/>
          </a:solidFill>
          <a:ln w="12700">
            <a:solidFill>
              <a:schemeClr val="tx1"/>
            </a:solidFill>
            <a:round/>
            <a:headEnd type="none" w="sm" len="sm"/>
            <a:tailEnd type="none" w="sm" len="sm"/>
          </a:ln>
        </p:spPr>
        <p:txBody>
          <a:bodyPr wrap="none" anchor="ctr"/>
          <a:lstStyle/>
          <a:p>
            <a:pPr algn="ctr"/>
            <a:r>
              <a:rPr lang="zh-CN" altLang="en-US" b="1"/>
              <a:t>数据</a:t>
            </a:r>
          </a:p>
        </p:txBody>
      </p:sp>
      <p:sp>
        <p:nvSpPr>
          <p:cNvPr id="18437" name="AutoShape 5"/>
          <p:cNvSpPr>
            <a:spLocks noChangeArrowheads="1"/>
          </p:cNvSpPr>
          <p:nvPr/>
        </p:nvSpPr>
        <p:spPr bwMode="auto">
          <a:xfrm>
            <a:off x="6529139" y="6019800"/>
            <a:ext cx="1524000" cy="685800"/>
          </a:xfrm>
          <a:prstGeom prst="flowChartMagneticDisk">
            <a:avLst/>
          </a:prstGeom>
          <a:solidFill>
            <a:schemeClr val="accent1"/>
          </a:solidFill>
          <a:ln w="12700">
            <a:solidFill>
              <a:schemeClr val="tx1"/>
            </a:solidFill>
            <a:round/>
            <a:headEnd type="none" w="sm" len="sm"/>
            <a:tailEnd type="none" w="sm" len="sm"/>
          </a:ln>
        </p:spPr>
        <p:txBody>
          <a:bodyPr wrap="none" anchor="ctr"/>
          <a:lstStyle/>
          <a:p>
            <a:pPr algn="ctr"/>
            <a:r>
              <a:rPr lang="zh-CN" altLang="en-US" b="1"/>
              <a:t>数据</a:t>
            </a:r>
          </a:p>
        </p:txBody>
      </p:sp>
      <p:sp>
        <p:nvSpPr>
          <p:cNvPr id="18438" name="Rectangle 6"/>
          <p:cNvSpPr>
            <a:spLocks noChangeArrowheads="1"/>
          </p:cNvSpPr>
          <p:nvPr/>
        </p:nvSpPr>
        <p:spPr bwMode="auto">
          <a:xfrm>
            <a:off x="2795339" y="4953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遗留应用</a:t>
            </a:r>
          </a:p>
        </p:txBody>
      </p:sp>
      <p:sp>
        <p:nvSpPr>
          <p:cNvPr id="18439" name="Rectangle 7"/>
          <p:cNvSpPr>
            <a:spLocks noChangeArrowheads="1"/>
          </p:cNvSpPr>
          <p:nvPr/>
        </p:nvSpPr>
        <p:spPr bwMode="auto">
          <a:xfrm>
            <a:off x="6300539" y="49530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封装式应用</a:t>
            </a:r>
          </a:p>
        </p:txBody>
      </p:sp>
      <p:sp>
        <p:nvSpPr>
          <p:cNvPr id="18440" name="Rectangle 8"/>
          <p:cNvSpPr>
            <a:spLocks noChangeArrowheads="1"/>
          </p:cNvSpPr>
          <p:nvPr/>
        </p:nvSpPr>
        <p:spPr bwMode="auto">
          <a:xfrm>
            <a:off x="4319339" y="16002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表示</a:t>
            </a:r>
          </a:p>
        </p:txBody>
      </p:sp>
      <p:sp>
        <p:nvSpPr>
          <p:cNvPr id="18441" name="Rectangle 9"/>
          <p:cNvSpPr>
            <a:spLocks noChangeArrowheads="1"/>
          </p:cNvSpPr>
          <p:nvPr/>
        </p:nvSpPr>
        <p:spPr bwMode="auto">
          <a:xfrm>
            <a:off x="4319339" y="27432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应用逻辑</a:t>
            </a:r>
          </a:p>
        </p:txBody>
      </p:sp>
      <p:sp>
        <p:nvSpPr>
          <p:cNvPr id="18442" name="Line 10"/>
          <p:cNvSpPr>
            <a:spLocks noChangeShapeType="1"/>
          </p:cNvSpPr>
          <p:nvPr/>
        </p:nvSpPr>
        <p:spPr bwMode="auto">
          <a:xfrm flipV="1">
            <a:off x="3709739" y="56388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8443" name="Line 11"/>
          <p:cNvSpPr>
            <a:spLocks noChangeShapeType="1"/>
          </p:cNvSpPr>
          <p:nvPr/>
        </p:nvSpPr>
        <p:spPr bwMode="auto">
          <a:xfrm flipV="1">
            <a:off x="7291139" y="55626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8444" name="Line 12"/>
          <p:cNvSpPr>
            <a:spLocks noChangeShapeType="1"/>
          </p:cNvSpPr>
          <p:nvPr/>
        </p:nvSpPr>
        <p:spPr bwMode="auto">
          <a:xfrm flipV="1">
            <a:off x="5233739" y="2286000"/>
            <a:ext cx="0" cy="4572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8445" name="Line 13"/>
          <p:cNvSpPr>
            <a:spLocks noChangeShapeType="1"/>
          </p:cNvSpPr>
          <p:nvPr/>
        </p:nvSpPr>
        <p:spPr bwMode="auto">
          <a:xfrm flipV="1">
            <a:off x="5233739" y="3352800"/>
            <a:ext cx="0" cy="6096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8446" name="Line 14"/>
          <p:cNvSpPr>
            <a:spLocks noChangeShapeType="1"/>
          </p:cNvSpPr>
          <p:nvPr/>
        </p:nvSpPr>
        <p:spPr bwMode="auto">
          <a:xfrm flipV="1">
            <a:off x="3633539" y="4572000"/>
            <a:ext cx="1447800" cy="3810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8447" name="Line 15"/>
          <p:cNvSpPr>
            <a:spLocks noChangeShapeType="1"/>
          </p:cNvSpPr>
          <p:nvPr/>
        </p:nvSpPr>
        <p:spPr bwMode="auto">
          <a:xfrm flipH="1" flipV="1">
            <a:off x="5309939" y="4572000"/>
            <a:ext cx="1905000" cy="381000"/>
          </a:xfrm>
          <a:prstGeom prst="line">
            <a:avLst/>
          </a:prstGeom>
          <a:noFill/>
          <a:ln w="76200">
            <a:solidFill>
              <a:schemeClr val="tx1"/>
            </a:solidFill>
            <a:round/>
            <a:headEnd type="triangle" w="sm" len="sm"/>
            <a:tailEnd type="triangle" w="sm" len="sm"/>
          </a:ln>
        </p:spPr>
        <p:txBody>
          <a:bodyPr/>
          <a:lstStyle/>
          <a:p>
            <a:endParaRPr lang="zh-CN" altLang="en-US"/>
          </a:p>
        </p:txBody>
      </p:sp>
      <p:sp>
        <p:nvSpPr>
          <p:cNvPr id="18448" name="Rectangle 16"/>
          <p:cNvSpPr>
            <a:spLocks noChangeArrowheads="1"/>
          </p:cNvSpPr>
          <p:nvPr/>
        </p:nvSpPr>
        <p:spPr bwMode="auto">
          <a:xfrm>
            <a:off x="6691064" y="1295400"/>
            <a:ext cx="2057400" cy="1187450"/>
          </a:xfrm>
          <a:prstGeom prst="rect">
            <a:avLst/>
          </a:prstGeom>
          <a:noFill/>
          <a:ln w="12700">
            <a:noFill/>
            <a:miter lim="800000"/>
            <a:headEnd type="none" w="sm" len="sm"/>
            <a:tailEnd type="none" w="sm" len="sm"/>
          </a:ln>
        </p:spPr>
        <p:txBody>
          <a:bodyPr wrap="none">
            <a:spAutoFit/>
          </a:bodyPr>
          <a:lstStyle/>
          <a:p>
            <a:r>
              <a:rPr lang="en-US" altLang="zh-CN" b="1">
                <a:solidFill>
                  <a:schemeClr val="tx2"/>
                </a:solidFill>
              </a:rPr>
              <a:t>Web</a:t>
            </a:r>
            <a:r>
              <a:rPr lang="zh-CN" altLang="en-US" b="1">
                <a:solidFill>
                  <a:schemeClr val="tx2"/>
                </a:solidFill>
              </a:rPr>
              <a:t>浏览器</a:t>
            </a:r>
          </a:p>
          <a:p>
            <a:r>
              <a:rPr lang="en-US" altLang="zh-CN" b="1">
                <a:solidFill>
                  <a:schemeClr val="tx2"/>
                </a:solidFill>
              </a:rPr>
              <a:t>Java</a:t>
            </a:r>
          </a:p>
          <a:p>
            <a:r>
              <a:rPr lang="en-US" altLang="zh-CN" b="1">
                <a:solidFill>
                  <a:schemeClr val="tx2"/>
                </a:solidFill>
              </a:rPr>
              <a:t>Windows GUI</a:t>
            </a:r>
          </a:p>
        </p:txBody>
      </p:sp>
      <p:sp>
        <p:nvSpPr>
          <p:cNvPr id="18449" name="Rectangle 17"/>
          <p:cNvSpPr>
            <a:spLocks noChangeArrowheads="1"/>
          </p:cNvSpPr>
          <p:nvPr/>
        </p:nvSpPr>
        <p:spPr bwMode="auto">
          <a:xfrm>
            <a:off x="4319339" y="3886200"/>
            <a:ext cx="1828800" cy="685800"/>
          </a:xfrm>
          <a:prstGeom prst="rect">
            <a:avLst/>
          </a:prstGeom>
          <a:solidFill>
            <a:schemeClr val="accent1"/>
          </a:solidFill>
          <a:ln w="12700">
            <a:solidFill>
              <a:schemeClr val="tx1"/>
            </a:solidFill>
            <a:miter lim="800000"/>
            <a:headEnd type="none" w="sm" len="sm"/>
            <a:tailEnd type="none" w="sm" len="sm"/>
          </a:ln>
        </p:spPr>
        <p:txBody>
          <a:bodyPr wrap="none" anchor="ctr"/>
          <a:lstStyle/>
          <a:p>
            <a:pPr algn="ctr"/>
            <a:r>
              <a:rPr lang="zh-CN" altLang="en-US" b="1"/>
              <a:t>中间件</a:t>
            </a:r>
          </a:p>
        </p:txBody>
      </p:sp>
      <p:sp>
        <p:nvSpPr>
          <p:cNvPr id="18450" name="Rectangle 18"/>
          <p:cNvSpPr>
            <a:spLocks noChangeArrowheads="1"/>
          </p:cNvSpPr>
          <p:nvPr/>
        </p:nvSpPr>
        <p:spPr bwMode="auto">
          <a:xfrm>
            <a:off x="6681539" y="3144838"/>
            <a:ext cx="995363" cy="1187450"/>
          </a:xfrm>
          <a:prstGeom prst="rect">
            <a:avLst/>
          </a:prstGeom>
          <a:noFill/>
          <a:ln w="12700">
            <a:noFill/>
            <a:miter lim="800000"/>
            <a:headEnd type="none" w="sm" len="sm"/>
            <a:tailEnd type="none" w="sm" len="sm"/>
          </a:ln>
        </p:spPr>
        <p:txBody>
          <a:bodyPr wrap="none">
            <a:spAutoFit/>
          </a:bodyPr>
          <a:lstStyle/>
          <a:p>
            <a:r>
              <a:rPr lang="en-US" altLang="zh-CN" b="1"/>
              <a:t>MOM</a:t>
            </a:r>
          </a:p>
          <a:p>
            <a:r>
              <a:rPr lang="en-US" altLang="zh-CN" b="1"/>
              <a:t>DOT</a:t>
            </a:r>
          </a:p>
          <a:p>
            <a:r>
              <a:rPr lang="en-US" altLang="zh-CN" b="1"/>
              <a:t>TPM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6"/>
                                        </p:tgtEl>
                                        <p:attrNameLst>
                                          <p:attrName>style.visibility</p:attrName>
                                        </p:attrNameLst>
                                      </p:cBhvr>
                                      <p:to>
                                        <p:strVal val="visible"/>
                                      </p:to>
                                    </p:set>
                                    <p:animEffect transition="in" filter="blinds(horizontal)">
                                      <p:cBhvr>
                                        <p:cTn id="7" dur="500"/>
                                        <p:tgtEl>
                                          <p:spTgt spid="184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8438"/>
                                        </p:tgtEl>
                                        <p:attrNameLst>
                                          <p:attrName>style.visibility</p:attrName>
                                        </p:attrNameLst>
                                      </p:cBhvr>
                                      <p:to>
                                        <p:strVal val="visible"/>
                                      </p:to>
                                    </p:set>
                                    <p:animEffect transition="in" filter="blinds(horizontal)">
                                      <p:cBhvr>
                                        <p:cTn id="10" dur="500"/>
                                        <p:tgtEl>
                                          <p:spTgt spid="1843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442"/>
                                        </p:tgtEl>
                                        <p:attrNameLst>
                                          <p:attrName>style.visibility</p:attrName>
                                        </p:attrNameLst>
                                      </p:cBhvr>
                                      <p:to>
                                        <p:strVal val="visible"/>
                                      </p:to>
                                    </p:set>
                                    <p:animEffect transition="in" filter="blinds(horizontal)">
                                      <p:cBhvr>
                                        <p:cTn id="13" dur="500"/>
                                        <p:tgtEl>
                                          <p:spTgt spid="18442"/>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8437"/>
                                        </p:tgtEl>
                                        <p:attrNameLst>
                                          <p:attrName>style.visibility</p:attrName>
                                        </p:attrNameLst>
                                      </p:cBhvr>
                                      <p:to>
                                        <p:strVal val="visible"/>
                                      </p:to>
                                    </p:set>
                                    <p:animEffect transition="in" filter="blinds(horizontal)">
                                      <p:cBhvr>
                                        <p:cTn id="18" dur="500"/>
                                        <p:tgtEl>
                                          <p:spTgt spid="1843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8439"/>
                                        </p:tgtEl>
                                        <p:attrNameLst>
                                          <p:attrName>style.visibility</p:attrName>
                                        </p:attrNameLst>
                                      </p:cBhvr>
                                      <p:to>
                                        <p:strVal val="visible"/>
                                      </p:to>
                                    </p:set>
                                    <p:animEffect transition="in" filter="blinds(horizontal)">
                                      <p:cBhvr>
                                        <p:cTn id="21" dur="500"/>
                                        <p:tgtEl>
                                          <p:spTgt spid="18439"/>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8443"/>
                                        </p:tgtEl>
                                        <p:attrNameLst>
                                          <p:attrName>style.visibility</p:attrName>
                                        </p:attrNameLst>
                                      </p:cBhvr>
                                      <p:to>
                                        <p:strVal val="visible"/>
                                      </p:to>
                                    </p:set>
                                    <p:animEffect transition="in" filter="blinds(horizontal)">
                                      <p:cBhvr>
                                        <p:cTn id="24" dur="500"/>
                                        <p:tgtEl>
                                          <p:spTgt spid="1844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8446"/>
                                        </p:tgtEl>
                                        <p:attrNameLst>
                                          <p:attrName>style.visibility</p:attrName>
                                        </p:attrNameLst>
                                      </p:cBhvr>
                                      <p:to>
                                        <p:strVal val="visible"/>
                                      </p:to>
                                    </p:set>
                                    <p:anim calcmode="lin" valueType="num">
                                      <p:cBhvr additive="base">
                                        <p:cTn id="29" dur="500" fill="hold"/>
                                        <p:tgtEl>
                                          <p:spTgt spid="18446"/>
                                        </p:tgtEl>
                                        <p:attrNameLst>
                                          <p:attrName>ppt_x</p:attrName>
                                        </p:attrNameLst>
                                      </p:cBhvr>
                                      <p:tavLst>
                                        <p:tav tm="0">
                                          <p:val>
                                            <p:strVal val="#ppt_x"/>
                                          </p:val>
                                        </p:tav>
                                        <p:tav tm="100000">
                                          <p:val>
                                            <p:strVal val="#ppt_x"/>
                                          </p:val>
                                        </p:tav>
                                      </p:tavLst>
                                    </p:anim>
                                    <p:anim calcmode="lin" valueType="num">
                                      <p:cBhvr additive="base">
                                        <p:cTn id="30" dur="500" fill="hold"/>
                                        <p:tgtEl>
                                          <p:spTgt spid="1844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447"/>
                                        </p:tgtEl>
                                        <p:attrNameLst>
                                          <p:attrName>style.visibility</p:attrName>
                                        </p:attrNameLst>
                                      </p:cBhvr>
                                      <p:to>
                                        <p:strVal val="visible"/>
                                      </p:to>
                                    </p:set>
                                    <p:anim calcmode="lin" valueType="num">
                                      <p:cBhvr additive="base">
                                        <p:cTn id="33" dur="500" fill="hold"/>
                                        <p:tgtEl>
                                          <p:spTgt spid="18447"/>
                                        </p:tgtEl>
                                        <p:attrNameLst>
                                          <p:attrName>ppt_x</p:attrName>
                                        </p:attrNameLst>
                                      </p:cBhvr>
                                      <p:tavLst>
                                        <p:tav tm="0">
                                          <p:val>
                                            <p:strVal val="#ppt_x"/>
                                          </p:val>
                                        </p:tav>
                                        <p:tav tm="100000">
                                          <p:val>
                                            <p:strVal val="#ppt_x"/>
                                          </p:val>
                                        </p:tav>
                                      </p:tavLst>
                                    </p:anim>
                                    <p:anim calcmode="lin" valueType="num">
                                      <p:cBhvr additive="base">
                                        <p:cTn id="34" dur="500" fill="hold"/>
                                        <p:tgtEl>
                                          <p:spTgt spid="184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449"/>
                                        </p:tgtEl>
                                        <p:attrNameLst>
                                          <p:attrName>style.visibility</p:attrName>
                                        </p:attrNameLst>
                                      </p:cBhvr>
                                      <p:to>
                                        <p:strVal val="visible"/>
                                      </p:to>
                                    </p:set>
                                    <p:anim calcmode="lin" valueType="num">
                                      <p:cBhvr additive="base">
                                        <p:cTn id="37" dur="500" fill="hold"/>
                                        <p:tgtEl>
                                          <p:spTgt spid="18449"/>
                                        </p:tgtEl>
                                        <p:attrNameLst>
                                          <p:attrName>ppt_x</p:attrName>
                                        </p:attrNameLst>
                                      </p:cBhvr>
                                      <p:tavLst>
                                        <p:tav tm="0">
                                          <p:val>
                                            <p:strVal val="#ppt_x"/>
                                          </p:val>
                                        </p:tav>
                                        <p:tav tm="100000">
                                          <p:val>
                                            <p:strVal val="#ppt_x"/>
                                          </p:val>
                                        </p:tav>
                                      </p:tavLst>
                                    </p:anim>
                                    <p:anim calcmode="lin" valueType="num">
                                      <p:cBhvr additive="base">
                                        <p:cTn id="38" dur="500" fill="hold"/>
                                        <p:tgtEl>
                                          <p:spTgt spid="1844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8450"/>
                                        </p:tgtEl>
                                        <p:attrNameLst>
                                          <p:attrName>style.visibility</p:attrName>
                                        </p:attrNameLst>
                                      </p:cBhvr>
                                      <p:to>
                                        <p:strVal val="visible"/>
                                      </p:to>
                                    </p:set>
                                    <p:animEffect transition="in" filter="blinds(horizontal)">
                                      <p:cBhvr>
                                        <p:cTn id="43" dur="500"/>
                                        <p:tgtEl>
                                          <p:spTgt spid="1845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8445"/>
                                        </p:tgtEl>
                                        <p:attrNameLst>
                                          <p:attrName>style.visibility</p:attrName>
                                        </p:attrNameLst>
                                      </p:cBhvr>
                                      <p:to>
                                        <p:strVal val="visible"/>
                                      </p:to>
                                    </p:set>
                                    <p:animEffect transition="in" filter="blinds(horizontal)">
                                      <p:cBhvr>
                                        <p:cTn id="48" dur="500"/>
                                        <p:tgtEl>
                                          <p:spTgt spid="18445"/>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18441"/>
                                        </p:tgtEl>
                                        <p:attrNameLst>
                                          <p:attrName>style.visibility</p:attrName>
                                        </p:attrNameLst>
                                      </p:cBhvr>
                                      <p:to>
                                        <p:strVal val="visible"/>
                                      </p:to>
                                    </p:set>
                                    <p:animEffect transition="in" filter="blinds(horizontal)">
                                      <p:cBhvr>
                                        <p:cTn id="51" dur="500"/>
                                        <p:tgtEl>
                                          <p:spTgt spid="18441"/>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18444"/>
                                        </p:tgtEl>
                                        <p:attrNameLst>
                                          <p:attrName>style.visibility</p:attrName>
                                        </p:attrNameLst>
                                      </p:cBhvr>
                                      <p:to>
                                        <p:strVal val="visible"/>
                                      </p:to>
                                    </p:set>
                                    <p:animEffect transition="in" filter="blinds(horizontal)">
                                      <p:cBhvr>
                                        <p:cTn id="54" dur="500"/>
                                        <p:tgtEl>
                                          <p:spTgt spid="18444"/>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8440"/>
                                        </p:tgtEl>
                                        <p:attrNameLst>
                                          <p:attrName>style.visibility</p:attrName>
                                        </p:attrNameLst>
                                      </p:cBhvr>
                                      <p:to>
                                        <p:strVal val="visible"/>
                                      </p:to>
                                    </p:set>
                                    <p:animEffect transition="in" filter="blinds(horizontal)">
                                      <p:cBhvr>
                                        <p:cTn id="57" dur="500"/>
                                        <p:tgtEl>
                                          <p:spTgt spid="1844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8448"/>
                                        </p:tgtEl>
                                        <p:attrNameLst>
                                          <p:attrName>style.visibility</p:attrName>
                                        </p:attrNameLst>
                                      </p:cBhvr>
                                      <p:to>
                                        <p:strVal val="visible"/>
                                      </p:to>
                                    </p:set>
                                    <p:animEffect transition="in" filter="blinds(horizontal)">
                                      <p:cBhvr>
                                        <p:cTn id="62" dur="500"/>
                                        <p:tgtEl>
                                          <p:spTgt spid="18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animBg="1"/>
      <p:bldP spid="18438" grpId="0" animBg="1"/>
      <p:bldP spid="18439" grpId="0" animBg="1"/>
      <p:bldP spid="18440" grpId="0" animBg="1"/>
      <p:bldP spid="18441" grpId="0" animBg="1"/>
      <p:bldP spid="18442" grpId="0" animBg="1"/>
      <p:bldP spid="18443" grpId="0" animBg="1"/>
      <p:bldP spid="18444" grpId="0" animBg="1"/>
      <p:bldP spid="18445" grpId="0" animBg="1"/>
      <p:bldP spid="18446" grpId="0" animBg="1"/>
      <p:bldP spid="18447" grpId="0" animBg="1"/>
      <p:bldP spid="18448" grpId="0"/>
      <p:bldP spid="18449" grpId="0" animBg="1"/>
      <p:bldP spid="1845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分布式处理中间件</a:t>
            </a:r>
          </a:p>
        </p:txBody>
      </p:sp>
      <p:sp>
        <p:nvSpPr>
          <p:cNvPr id="19459" name="Rectangle 3"/>
          <p:cNvSpPr>
            <a:spLocks noGrp="1" noChangeArrowheads="1"/>
          </p:cNvSpPr>
          <p:nvPr>
            <p:ph idx="1"/>
          </p:nvPr>
        </p:nvSpPr>
        <p:spPr/>
        <p:txBody>
          <a:bodyPr/>
          <a:lstStyle/>
          <a:p>
            <a:r>
              <a:rPr lang="zh-CN" altLang="en-US" sz="2800" b="1" dirty="0">
                <a:latin typeface="+mn-ea"/>
              </a:rPr>
              <a:t>面向消息的中间件</a:t>
            </a:r>
            <a:r>
              <a:rPr lang="en-US" altLang="zh-CN" sz="2800" b="1" dirty="0">
                <a:latin typeface="+mn-ea"/>
              </a:rPr>
              <a:t>MOM</a:t>
            </a:r>
          </a:p>
          <a:p>
            <a:pPr lvl="1"/>
            <a:r>
              <a:rPr lang="en-US" altLang="zh-CN" sz="2400" b="1" dirty="0" err="1">
                <a:latin typeface="+mn-ea"/>
              </a:rPr>
              <a:t>IBM.MQSeries</a:t>
            </a:r>
            <a:endParaRPr lang="en-US" altLang="zh-CN" sz="2400" b="1" dirty="0">
              <a:latin typeface="+mn-ea"/>
            </a:endParaRPr>
          </a:p>
          <a:p>
            <a:r>
              <a:rPr lang="zh-CN" altLang="en-US" sz="2800" b="1" dirty="0">
                <a:latin typeface="+mn-ea"/>
              </a:rPr>
              <a:t>分布式对象技术</a:t>
            </a:r>
          </a:p>
          <a:p>
            <a:pPr lvl="1"/>
            <a:r>
              <a:rPr lang="en-US" altLang="zh-CN" sz="2400" b="1" dirty="0">
                <a:latin typeface="+mn-ea"/>
              </a:rPr>
              <a:t>OMG.CORBA</a:t>
            </a:r>
            <a:r>
              <a:rPr lang="zh-CN" altLang="en-US" sz="2400" b="1" dirty="0">
                <a:latin typeface="+mn-ea"/>
              </a:rPr>
              <a:t>；</a:t>
            </a:r>
            <a:r>
              <a:rPr lang="en-US" altLang="zh-CN" sz="2400" b="1" dirty="0">
                <a:latin typeface="+mn-ea"/>
              </a:rPr>
              <a:t>COM+</a:t>
            </a:r>
            <a:r>
              <a:rPr lang="zh-CN" altLang="en-US" sz="2400" b="1" dirty="0">
                <a:latin typeface="+mn-ea"/>
              </a:rPr>
              <a:t>；</a:t>
            </a:r>
            <a:r>
              <a:rPr lang="en-US" altLang="zh-CN" sz="2400" b="1" dirty="0">
                <a:latin typeface="+mn-ea"/>
              </a:rPr>
              <a:t>J2EE</a:t>
            </a:r>
          </a:p>
          <a:p>
            <a:r>
              <a:rPr lang="zh-CN" altLang="en-US" sz="2800" b="1" dirty="0">
                <a:latin typeface="+mn-ea"/>
              </a:rPr>
              <a:t>事务处理监控器</a:t>
            </a:r>
          </a:p>
          <a:p>
            <a:pPr lvl="1"/>
            <a:r>
              <a:rPr lang="en-US" altLang="zh-CN" sz="2400" b="1" dirty="0" err="1">
                <a:latin typeface="+mn-ea"/>
              </a:rPr>
              <a:t>BEA.Tuxedo</a:t>
            </a:r>
            <a:endParaRPr lang="en-US" altLang="zh-CN" sz="2400" b="1" dirty="0">
              <a:latin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Effect transition="in" filter="blinds(horizontal)">
                                      <p:cBhvr>
                                        <p:cTn id="7" dur="500"/>
                                        <p:tgtEl>
                                          <p:spTgt spid="194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9">
                                            <p:txEl>
                                              <p:pRg st="1" end="1"/>
                                            </p:txEl>
                                          </p:spTgt>
                                        </p:tgtEl>
                                        <p:attrNameLst>
                                          <p:attrName>style.visibility</p:attrName>
                                        </p:attrNameLst>
                                      </p:cBhvr>
                                      <p:to>
                                        <p:strVal val="visible"/>
                                      </p:to>
                                    </p:set>
                                    <p:animEffect transition="in" filter="blinds(horizontal)">
                                      <p:cBhvr>
                                        <p:cTn id="12" dur="500"/>
                                        <p:tgtEl>
                                          <p:spTgt spid="194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459">
                                            <p:txEl>
                                              <p:pRg st="2" end="2"/>
                                            </p:txEl>
                                          </p:spTgt>
                                        </p:tgtEl>
                                        <p:attrNameLst>
                                          <p:attrName>style.visibility</p:attrName>
                                        </p:attrNameLst>
                                      </p:cBhvr>
                                      <p:to>
                                        <p:strVal val="visible"/>
                                      </p:to>
                                    </p:set>
                                    <p:animEffect transition="in" filter="blinds(horizontal)">
                                      <p:cBhvr>
                                        <p:cTn id="17" dur="500"/>
                                        <p:tgtEl>
                                          <p:spTgt spid="194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9459">
                                            <p:txEl>
                                              <p:pRg st="3" end="3"/>
                                            </p:txEl>
                                          </p:spTgt>
                                        </p:tgtEl>
                                        <p:attrNameLst>
                                          <p:attrName>style.visibility</p:attrName>
                                        </p:attrNameLst>
                                      </p:cBhvr>
                                      <p:to>
                                        <p:strVal val="visible"/>
                                      </p:to>
                                    </p:set>
                                    <p:animEffect transition="in" filter="blinds(horizontal)">
                                      <p:cBhvr>
                                        <p:cTn id="22" dur="500"/>
                                        <p:tgtEl>
                                          <p:spTgt spid="1945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Effect transition="in" filter="blinds(horizontal)">
                                      <p:cBhvr>
                                        <p:cTn id="27" dur="500"/>
                                        <p:tgtEl>
                                          <p:spTgt spid="1945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9459">
                                            <p:txEl>
                                              <p:pRg st="5" end="5"/>
                                            </p:txEl>
                                          </p:spTgt>
                                        </p:tgtEl>
                                        <p:attrNameLst>
                                          <p:attrName>style.visibility</p:attrName>
                                        </p:attrNameLst>
                                      </p:cBhvr>
                                      <p:to>
                                        <p:strVal val="visible"/>
                                      </p:to>
                                    </p:set>
                                    <p:animEffect transition="in" filter="blinds(horizontal)">
                                      <p:cBhvr>
                                        <p:cTn id="32" dur="500"/>
                                        <p:tgtEl>
                                          <p:spTgt spid="194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835696" y="188640"/>
            <a:ext cx="6900862" cy="1143000"/>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应用场景</a:t>
            </a:r>
          </a:p>
        </p:txBody>
      </p:sp>
      <p:sp>
        <p:nvSpPr>
          <p:cNvPr id="20483" name="Rectangle 3"/>
          <p:cNvSpPr>
            <a:spLocks noGrp="1" noChangeArrowheads="1"/>
          </p:cNvSpPr>
          <p:nvPr>
            <p:ph idx="1"/>
          </p:nvPr>
        </p:nvSpPr>
        <p:spPr>
          <a:xfrm>
            <a:off x="2051720" y="1628800"/>
            <a:ext cx="6836296" cy="4608512"/>
          </a:xfrm>
        </p:spPr>
        <p:txBody>
          <a:bodyPr/>
          <a:lstStyle/>
          <a:p>
            <a:pPr>
              <a:lnSpc>
                <a:spcPct val="90000"/>
              </a:lnSpc>
            </a:pPr>
            <a:r>
              <a:rPr lang="zh-CN" altLang="en-US" sz="2800" b="1" dirty="0"/>
              <a:t>能够解决前两种方法可解决的问题</a:t>
            </a:r>
          </a:p>
          <a:p>
            <a:pPr>
              <a:lnSpc>
                <a:spcPct val="90000"/>
              </a:lnSpc>
            </a:pPr>
            <a:r>
              <a:rPr lang="zh-CN" altLang="en-US" sz="2800" b="1" dirty="0"/>
              <a:t>要求新软件具有其他程序的功能</a:t>
            </a:r>
          </a:p>
          <a:p>
            <a:pPr>
              <a:lnSpc>
                <a:spcPct val="90000"/>
              </a:lnSpc>
            </a:pPr>
            <a:r>
              <a:rPr lang="zh-CN" altLang="en-US" sz="2800" b="1" dirty="0"/>
              <a:t>在集成中暗含工作流</a:t>
            </a:r>
          </a:p>
          <a:p>
            <a:pPr>
              <a:lnSpc>
                <a:spcPct val="90000"/>
              </a:lnSpc>
            </a:pPr>
            <a:r>
              <a:rPr lang="zh-CN" altLang="en-US" sz="2800" b="1" dirty="0"/>
              <a:t>确保应用间的事务完整性</a:t>
            </a:r>
          </a:p>
          <a:p>
            <a:pPr>
              <a:lnSpc>
                <a:spcPct val="90000"/>
              </a:lnSpc>
            </a:pPr>
            <a:r>
              <a:rPr lang="zh-CN" altLang="en-US" sz="2800" b="1" dirty="0"/>
              <a:t>案例</a:t>
            </a:r>
          </a:p>
          <a:p>
            <a:pPr lvl="1">
              <a:lnSpc>
                <a:spcPct val="90000"/>
              </a:lnSpc>
            </a:pPr>
            <a:r>
              <a:rPr lang="zh-CN" altLang="en-US" sz="2400" b="1" dirty="0">
                <a:latin typeface="+mn-ea"/>
              </a:rPr>
              <a:t>获取用户信息，对</a:t>
            </a:r>
            <a:r>
              <a:rPr lang="en-US" altLang="zh-CN" sz="2400" b="1" dirty="0">
                <a:latin typeface="+mn-ea"/>
              </a:rPr>
              <a:t>java</a:t>
            </a:r>
            <a:r>
              <a:rPr lang="zh-CN" altLang="en-US" sz="2400" b="1" dirty="0">
                <a:latin typeface="+mn-ea"/>
              </a:rPr>
              <a:t>程序、大型机程序、</a:t>
            </a:r>
            <a:r>
              <a:rPr lang="en-US" altLang="zh-CN" sz="2400" b="1" dirty="0">
                <a:latin typeface="+mn-ea"/>
              </a:rPr>
              <a:t>Oracle</a:t>
            </a:r>
            <a:r>
              <a:rPr lang="zh-CN" altLang="en-US" sz="2400" b="1" dirty="0">
                <a:latin typeface="+mn-ea"/>
              </a:rPr>
              <a:t>数据库作更新</a:t>
            </a:r>
          </a:p>
          <a:p>
            <a:pPr lvl="1">
              <a:lnSpc>
                <a:spcPct val="90000"/>
              </a:lnSpc>
            </a:pPr>
            <a:r>
              <a:rPr lang="zh-CN" altLang="en-US" sz="2400" b="1" dirty="0">
                <a:latin typeface="+mn-ea"/>
              </a:rPr>
              <a:t>把供应商的系统集成到采购系统中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blinds(horizontal)">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 calcmode="lin" valueType="num">
                                      <p:cBhvr additive="base">
                                        <p:cTn id="12"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20483">
                                            <p:txEl>
                                              <p:pRg st="2" end="2"/>
                                            </p:txEl>
                                          </p:spTgt>
                                        </p:tgtEl>
                                        <p:attrNameLst>
                                          <p:attrName>style.visibility</p:attrName>
                                        </p:attrNameLst>
                                      </p:cBhvr>
                                      <p:to>
                                        <p:strVal val="visible"/>
                                      </p:to>
                                    </p:set>
                                    <p:animEffect transition="in" filter="blinds(horizontal)">
                                      <p:cBhvr>
                                        <p:cTn id="18" dur="500"/>
                                        <p:tgtEl>
                                          <p:spTgt spid="2048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0483">
                                            <p:txEl>
                                              <p:pRg st="3" end="3"/>
                                            </p:txEl>
                                          </p:spTgt>
                                        </p:tgtEl>
                                        <p:attrNameLst>
                                          <p:attrName>style.visibility</p:attrName>
                                        </p:attrNameLst>
                                      </p:cBhvr>
                                      <p:to>
                                        <p:strVal val="visible"/>
                                      </p:to>
                                    </p:set>
                                    <p:animEffect transition="in" filter="blinds(horizontal)">
                                      <p:cBhvr>
                                        <p:cTn id="23" dur="500"/>
                                        <p:tgtEl>
                                          <p:spTgt spid="2048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0483">
                                            <p:txEl>
                                              <p:pRg st="4" end="4"/>
                                            </p:txEl>
                                          </p:spTgt>
                                        </p:tgtEl>
                                        <p:attrNameLst>
                                          <p:attrName>style.visibility</p:attrName>
                                        </p:attrNameLst>
                                      </p:cBhvr>
                                      <p:to>
                                        <p:strVal val="visible"/>
                                      </p:to>
                                    </p:set>
                                    <p:anim calcmode="lin" valueType="num">
                                      <p:cBhvr additive="base">
                                        <p:cTn id="28"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20483">
                                            <p:txEl>
                                              <p:pRg st="5" end="5"/>
                                            </p:txEl>
                                          </p:spTgt>
                                        </p:tgtEl>
                                        <p:attrNameLst>
                                          <p:attrName>style.visibility</p:attrName>
                                        </p:attrNameLst>
                                      </p:cBhvr>
                                      <p:to>
                                        <p:strVal val="visible"/>
                                      </p:to>
                                    </p:set>
                                    <p:anim calcmode="lin" valueType="num">
                                      <p:cBhvr additive="base">
                                        <p:cTn id="32"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204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0483">
                                            <p:txEl>
                                              <p:pRg st="6" end="6"/>
                                            </p:txEl>
                                          </p:spTgt>
                                        </p:tgtEl>
                                        <p:attrNameLst>
                                          <p:attrName>style.visibility</p:attrName>
                                        </p:attrNameLst>
                                      </p:cBhvr>
                                      <p:to>
                                        <p:strVal val="visible"/>
                                      </p:to>
                                    </p:set>
                                    <p:anim calcmode="lin" valueType="num">
                                      <p:cBhvr additive="base">
                                        <p:cTn id="38"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2048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功能集成的特点</a:t>
            </a:r>
          </a:p>
        </p:txBody>
      </p:sp>
      <p:sp>
        <p:nvSpPr>
          <p:cNvPr id="22531" name="Rectangle 3"/>
          <p:cNvSpPr>
            <a:spLocks noGrp="1" noChangeArrowheads="1"/>
          </p:cNvSpPr>
          <p:nvPr>
            <p:ph idx="1"/>
          </p:nvPr>
        </p:nvSpPr>
        <p:spPr/>
        <p:txBody>
          <a:bodyPr/>
          <a:lstStyle/>
          <a:p>
            <a:r>
              <a:rPr lang="zh-CN" altLang="en-US" sz="2800" b="1" dirty="0"/>
              <a:t>集成能力强</a:t>
            </a:r>
          </a:p>
          <a:p>
            <a:endParaRPr lang="zh-CN" altLang="en-US" sz="2800" b="1" dirty="0"/>
          </a:p>
          <a:p>
            <a:r>
              <a:rPr lang="zh-CN" altLang="en-US" sz="2800" b="1" dirty="0"/>
              <a:t>更高的重用性</a:t>
            </a:r>
          </a:p>
          <a:p>
            <a:endParaRPr lang="zh-CN" altLang="en-US" sz="2800" b="1" dirty="0"/>
          </a:p>
          <a:p>
            <a:r>
              <a:rPr lang="zh-CN" altLang="en-US" sz="2800" b="1" dirty="0"/>
              <a:t>复杂度增加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animEffect transition="in" filter="blinds(horizontal)">
                                      <p:cBhvr>
                                        <p:cTn id="7" dur="500"/>
                                        <p:tgtEl>
                                          <p:spTgt spid="2253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1">
                                            <p:txEl>
                                              <p:pRg st="2" end="2"/>
                                            </p:txEl>
                                          </p:spTgt>
                                        </p:tgtEl>
                                        <p:attrNameLst>
                                          <p:attrName>style.visibility</p:attrName>
                                        </p:attrNameLst>
                                      </p:cBhvr>
                                      <p:to>
                                        <p:strVal val="visible"/>
                                      </p:to>
                                    </p:set>
                                    <p:animEffect transition="in" filter="blinds(horizontal)">
                                      <p:cBhvr>
                                        <p:cTn id="12" dur="500"/>
                                        <p:tgtEl>
                                          <p:spTgt spid="2253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31">
                                            <p:txEl>
                                              <p:pRg st="4" end="4"/>
                                            </p:txEl>
                                          </p:spTgt>
                                        </p:tgtEl>
                                        <p:attrNameLst>
                                          <p:attrName>style.visibility</p:attrName>
                                        </p:attrNameLst>
                                      </p:cBhvr>
                                      <p:to>
                                        <p:strVal val="visible"/>
                                      </p:to>
                                    </p:set>
                                    <p:animEffect transition="in" filter="blinds(horizontal)">
                                      <p:cBhvr>
                                        <p:cTn id="17" dur="500"/>
                                        <p:tgtEl>
                                          <p:spTgt spid="22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2195736" y="228600"/>
            <a:ext cx="5881464" cy="914400"/>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业务流程集成模型</a:t>
            </a:r>
          </a:p>
        </p:txBody>
      </p:sp>
      <p:pic>
        <p:nvPicPr>
          <p:cNvPr id="24578" name="Picture 2"/>
          <p:cNvPicPr>
            <a:picLocks noChangeAspect="1" noChangeArrowheads="1"/>
          </p:cNvPicPr>
          <p:nvPr/>
        </p:nvPicPr>
        <p:blipFill>
          <a:blip r:embed="rId2"/>
          <a:srcRect/>
          <a:stretch>
            <a:fillRect/>
          </a:stretch>
        </p:blipFill>
        <p:spPr bwMode="auto">
          <a:xfrm>
            <a:off x="2051720" y="1196752"/>
            <a:ext cx="6286544" cy="5076481"/>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业务流程</a:t>
            </a:r>
          </a:p>
        </p:txBody>
      </p:sp>
      <p:sp>
        <p:nvSpPr>
          <p:cNvPr id="33795" name="Rectangle 3"/>
          <p:cNvSpPr>
            <a:spLocks noGrp="1" noChangeArrowheads="1"/>
          </p:cNvSpPr>
          <p:nvPr>
            <p:ph idx="1"/>
          </p:nvPr>
        </p:nvSpPr>
        <p:spPr>
          <a:xfrm>
            <a:off x="1979712" y="1600200"/>
            <a:ext cx="6912768" cy="4709120"/>
          </a:xfrm>
        </p:spPr>
        <p:txBody>
          <a:bodyPr/>
          <a:lstStyle/>
          <a:p>
            <a:r>
              <a:rPr lang="zh-CN" altLang="en-US" sz="2400" b="1" dirty="0">
                <a:latin typeface="+mn-ea"/>
              </a:rPr>
              <a:t>为在一定时期内达到特定的商业目标，而按照各种商务规则连接起来的业务功能集</a:t>
            </a:r>
          </a:p>
          <a:p>
            <a:r>
              <a:rPr lang="zh-CN" altLang="en-US" sz="2400" b="1" dirty="0">
                <a:latin typeface="+mn-ea"/>
              </a:rPr>
              <a:t>具体实现受限于业务功能运行所必须的可用资源，包括业务人员，</a:t>
            </a:r>
            <a:r>
              <a:rPr lang="en-US" altLang="zh-CN" sz="2400" b="1" dirty="0">
                <a:latin typeface="+mn-ea"/>
              </a:rPr>
              <a:t>IT</a:t>
            </a:r>
            <a:r>
              <a:rPr lang="zh-CN" altLang="en-US" sz="2400" b="1" dirty="0">
                <a:latin typeface="+mn-ea"/>
              </a:rPr>
              <a:t>业务应用系统，客户，和商务交往及贸易伙伴等</a:t>
            </a:r>
          </a:p>
          <a:p>
            <a:r>
              <a:rPr lang="zh-CN" altLang="en-US" sz="2400" b="1" dirty="0">
                <a:latin typeface="+mn-ea"/>
              </a:rPr>
              <a:t>在业务流程中，商务规则或者表现为条件和限制，或者表现为实施并发、串行等流程中的行为（</a:t>
            </a:r>
            <a:r>
              <a:rPr lang="en-US" altLang="zh-CN" sz="2400" b="1" dirty="0">
                <a:latin typeface="+mn-ea"/>
              </a:rPr>
              <a:t>Activity</a:t>
            </a:r>
            <a:r>
              <a:rPr lang="zh-CN" altLang="en-US" sz="2400" b="1" dirty="0">
                <a:latin typeface="+mn-ea"/>
              </a:rPr>
              <a:t>）节点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animEffect transition="in" filter="blinds(horizontal)">
                                      <p:cBhvr>
                                        <p:cTn id="7" dur="500"/>
                                        <p:tgtEl>
                                          <p:spTgt spid="33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5">
                                            <p:txEl>
                                              <p:pRg st="1" end="1"/>
                                            </p:txEl>
                                          </p:spTgt>
                                        </p:tgtEl>
                                        <p:attrNameLst>
                                          <p:attrName>style.visibility</p:attrName>
                                        </p:attrNameLst>
                                      </p:cBhvr>
                                      <p:to>
                                        <p:strVal val="visible"/>
                                      </p:to>
                                    </p:set>
                                    <p:animEffect transition="in" filter="blinds(horizontal)">
                                      <p:cBhvr>
                                        <p:cTn id="12" dur="500"/>
                                        <p:tgtEl>
                                          <p:spTgt spid="33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3795">
                                            <p:txEl>
                                              <p:pRg st="2" end="2"/>
                                            </p:txEl>
                                          </p:spTgt>
                                        </p:tgtEl>
                                        <p:attrNameLst>
                                          <p:attrName>style.visibility</p:attrName>
                                        </p:attrNameLst>
                                      </p:cBhvr>
                                      <p:to>
                                        <p:strVal val="visible"/>
                                      </p:to>
                                    </p:set>
                                    <p:animEffect transition="in" filter="box(in)">
                                      <p:cBhvr>
                                        <p:cTn id="17" dur="500"/>
                                        <p:tgtEl>
                                          <p:spTgt spid="337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业务流程集成的技术成分 </a:t>
            </a:r>
          </a:p>
        </p:txBody>
      </p:sp>
      <p:sp>
        <p:nvSpPr>
          <p:cNvPr id="58371" name="Rectangle 3"/>
          <p:cNvSpPr>
            <a:spLocks noGrp="1" noChangeArrowheads="1"/>
          </p:cNvSpPr>
          <p:nvPr>
            <p:ph idx="1"/>
          </p:nvPr>
        </p:nvSpPr>
        <p:spPr/>
        <p:txBody>
          <a:bodyPr/>
          <a:lstStyle/>
          <a:p>
            <a:pPr>
              <a:lnSpc>
                <a:spcPct val="90000"/>
              </a:lnSpc>
            </a:pPr>
            <a:r>
              <a:rPr lang="zh-CN" altLang="en-US" sz="2800" b="1" dirty="0"/>
              <a:t>业务流程引擎 </a:t>
            </a:r>
          </a:p>
          <a:p>
            <a:pPr>
              <a:lnSpc>
                <a:spcPct val="90000"/>
              </a:lnSpc>
            </a:pPr>
            <a:r>
              <a:rPr lang="zh-CN" altLang="en-US" sz="2800" b="1" dirty="0"/>
              <a:t>资源管理工具 </a:t>
            </a:r>
          </a:p>
          <a:p>
            <a:pPr>
              <a:lnSpc>
                <a:spcPct val="90000"/>
              </a:lnSpc>
            </a:pPr>
            <a:r>
              <a:rPr lang="zh-CN" altLang="en-US" sz="2800" b="1" dirty="0"/>
              <a:t>调度工具 </a:t>
            </a:r>
          </a:p>
          <a:p>
            <a:pPr>
              <a:lnSpc>
                <a:spcPct val="90000"/>
              </a:lnSpc>
            </a:pPr>
            <a:r>
              <a:rPr lang="zh-CN" altLang="en-US" sz="2800" b="1" dirty="0"/>
              <a:t>审计管理工具 </a:t>
            </a:r>
          </a:p>
          <a:p>
            <a:pPr>
              <a:lnSpc>
                <a:spcPct val="90000"/>
              </a:lnSpc>
            </a:pPr>
            <a:r>
              <a:rPr lang="zh-CN" altLang="en-US" sz="2800" b="1" dirty="0"/>
              <a:t>错误管理工具 </a:t>
            </a:r>
          </a:p>
          <a:p>
            <a:pPr>
              <a:lnSpc>
                <a:spcPct val="90000"/>
              </a:lnSpc>
            </a:pPr>
            <a:r>
              <a:rPr lang="zh-CN" altLang="en-US" sz="2800" b="1" dirty="0"/>
              <a:t>资源库 </a:t>
            </a:r>
          </a:p>
          <a:p>
            <a:pPr lvl="1">
              <a:lnSpc>
                <a:spcPct val="90000"/>
              </a:lnSpc>
            </a:pPr>
            <a:r>
              <a:rPr lang="zh-CN" altLang="en-US" sz="2400" b="1" dirty="0"/>
              <a:t>业务流程集成层资源库中可存储多种数据对象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58371">
                                            <p:txEl>
                                              <p:pRg st="1" end="1"/>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应用场景</a:t>
            </a:r>
          </a:p>
        </p:txBody>
      </p:sp>
      <p:sp>
        <p:nvSpPr>
          <p:cNvPr id="35843" name="Rectangle 3"/>
          <p:cNvSpPr>
            <a:spLocks noGrp="1" noChangeArrowheads="1"/>
          </p:cNvSpPr>
          <p:nvPr>
            <p:ph idx="1"/>
          </p:nvPr>
        </p:nvSpPr>
        <p:spPr>
          <a:xfrm>
            <a:off x="1763688" y="1600200"/>
            <a:ext cx="7200800" cy="4953000"/>
          </a:xfrm>
        </p:spPr>
        <p:txBody>
          <a:bodyPr/>
          <a:lstStyle/>
          <a:p>
            <a:r>
              <a:rPr lang="zh-CN" altLang="en-US" sz="2800" b="1" dirty="0"/>
              <a:t>通过子流程来实现业务流程共享</a:t>
            </a:r>
          </a:p>
          <a:p>
            <a:endParaRPr lang="zh-CN" altLang="en-US" sz="2800" b="1" dirty="0"/>
          </a:p>
          <a:p>
            <a:r>
              <a:rPr lang="zh-CN" altLang="en-US" sz="2800" b="1" dirty="0"/>
              <a:t>支持技术和商务标准协议</a:t>
            </a:r>
          </a:p>
          <a:p>
            <a:endParaRPr lang="zh-CN" altLang="en-US" sz="2800" b="1" dirty="0"/>
          </a:p>
          <a:p>
            <a:r>
              <a:rPr lang="zh-CN" altLang="en-US" sz="2800" b="1" dirty="0"/>
              <a:t>支持快速实施</a:t>
            </a:r>
          </a:p>
          <a:p>
            <a:endParaRPr lang="zh-CN" altLang="en-US" sz="2800" b="1" dirty="0"/>
          </a:p>
          <a:p>
            <a:r>
              <a:rPr lang="zh-CN" altLang="en-US" sz="2800" b="1" dirty="0"/>
              <a:t>帮助企业获得全面业务透视能力，从而让企业可以全面掌控业务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3">
                                            <p:txEl>
                                              <p:pRg st="0" end="0"/>
                                            </p:txEl>
                                          </p:spTgt>
                                        </p:tgtEl>
                                        <p:attrNameLst>
                                          <p:attrName>style.visibility</p:attrName>
                                        </p:attrNameLst>
                                      </p:cBhvr>
                                      <p:to>
                                        <p:strVal val="visible"/>
                                      </p:to>
                                    </p:set>
                                    <p:animEffect transition="in" filter="blinds(horizontal)">
                                      <p:cBhvr>
                                        <p:cTn id="7" dur="500"/>
                                        <p:tgtEl>
                                          <p:spTgt spid="35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843">
                                            <p:txEl>
                                              <p:pRg st="2" end="2"/>
                                            </p:txEl>
                                          </p:spTgt>
                                        </p:tgtEl>
                                        <p:attrNameLst>
                                          <p:attrName>style.visibility</p:attrName>
                                        </p:attrNameLst>
                                      </p:cBhvr>
                                      <p:to>
                                        <p:strVal val="visible"/>
                                      </p:to>
                                    </p:set>
                                    <p:animEffect transition="in" filter="blinds(horizontal)">
                                      <p:cBhvr>
                                        <p:cTn id="12" dur="500"/>
                                        <p:tgtEl>
                                          <p:spTgt spid="3584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843">
                                            <p:txEl>
                                              <p:pRg st="4" end="4"/>
                                            </p:txEl>
                                          </p:spTgt>
                                        </p:tgtEl>
                                        <p:attrNameLst>
                                          <p:attrName>style.visibility</p:attrName>
                                        </p:attrNameLst>
                                      </p:cBhvr>
                                      <p:to>
                                        <p:strVal val="visible"/>
                                      </p:to>
                                    </p:set>
                                    <p:animEffect transition="in" filter="blinds(horizontal)">
                                      <p:cBhvr>
                                        <p:cTn id="17" dur="500"/>
                                        <p:tgtEl>
                                          <p:spTgt spid="3584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843">
                                            <p:txEl>
                                              <p:pRg st="6" end="6"/>
                                            </p:txEl>
                                          </p:spTgt>
                                        </p:tgtEl>
                                        <p:attrNameLst>
                                          <p:attrName>style.visibility</p:attrName>
                                        </p:attrNameLst>
                                      </p:cBhvr>
                                      <p:to>
                                        <p:strVal val="visible"/>
                                      </p:to>
                                    </p:set>
                                    <p:animEffect transition="in" filter="blinds(horizontal)">
                                      <p:cBhvr>
                                        <p:cTn id="22" dur="500"/>
                                        <p:tgtEl>
                                          <p:spTgt spid="3584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a:latin typeface="宋体" charset="-122"/>
              </a:rPr>
              <a:t>流程集成应用开发模式</a:t>
            </a:r>
          </a:p>
        </p:txBody>
      </p:sp>
      <p:sp>
        <p:nvSpPr>
          <p:cNvPr id="36869" name="AutoShape 5"/>
          <p:cNvSpPr>
            <a:spLocks noChangeArrowheads="1"/>
          </p:cNvSpPr>
          <p:nvPr/>
        </p:nvSpPr>
        <p:spPr bwMode="auto">
          <a:xfrm>
            <a:off x="2712095" y="1816100"/>
            <a:ext cx="5748337" cy="52705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dirty="0">
                <a:solidFill>
                  <a:srgbClr val="000099"/>
                </a:solidFill>
                <a:latin typeface="Arial Narrow" pitchFamily="34" charset="0"/>
                <a:ea typeface="宋体" pitchFamily="2" charset="-122"/>
                <a:cs typeface="Arial" charset="0"/>
              </a:rPr>
              <a:t>定义流转中的消息</a:t>
            </a:r>
            <a:r>
              <a:rPr lang="en-US" altLang="zh-CN" sz="2000" b="1" dirty="0">
                <a:solidFill>
                  <a:srgbClr val="000099"/>
                </a:solidFill>
                <a:latin typeface="Arial Narrow" pitchFamily="34" charset="0"/>
                <a:ea typeface="宋体" pitchFamily="2" charset="-122"/>
                <a:cs typeface="Arial" charset="0"/>
              </a:rPr>
              <a:t>schemas</a:t>
            </a:r>
          </a:p>
        </p:txBody>
      </p:sp>
      <p:sp>
        <p:nvSpPr>
          <p:cNvPr id="36870" name="AutoShape 6"/>
          <p:cNvSpPr>
            <a:spLocks noChangeArrowheads="1"/>
          </p:cNvSpPr>
          <p:nvPr/>
        </p:nvSpPr>
        <p:spPr bwMode="auto">
          <a:xfrm>
            <a:off x="2573982" y="1927225"/>
            <a:ext cx="273050" cy="304800"/>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1</a:t>
            </a:r>
          </a:p>
        </p:txBody>
      </p:sp>
      <p:grpSp>
        <p:nvGrpSpPr>
          <p:cNvPr id="2" name="Group 7"/>
          <p:cNvGrpSpPr>
            <a:grpSpLocks/>
          </p:cNvGrpSpPr>
          <p:nvPr/>
        </p:nvGrpSpPr>
        <p:grpSpPr bwMode="auto">
          <a:xfrm>
            <a:off x="2561282" y="2481263"/>
            <a:ext cx="5886450" cy="527050"/>
            <a:chOff x="657" y="1152"/>
            <a:chExt cx="4408" cy="327"/>
          </a:xfrm>
        </p:grpSpPr>
        <p:sp>
          <p:nvSpPr>
            <p:cNvPr id="36872" name="AutoShape 8"/>
            <p:cNvSpPr>
              <a:spLocks noChangeArrowheads="1"/>
            </p:cNvSpPr>
            <p:nvPr/>
          </p:nvSpPr>
          <p:spPr bwMode="auto">
            <a:xfrm>
              <a:off x="760" y="1152"/>
              <a:ext cx="4305" cy="3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a:solidFill>
                    <a:srgbClr val="000099"/>
                  </a:solidFill>
                  <a:latin typeface="Arial Narrow" pitchFamily="34" charset="0"/>
                  <a:ea typeface="宋体" pitchFamily="2" charset="-122"/>
                  <a:cs typeface="Arial" charset="0"/>
                </a:rPr>
                <a:t>基于工具组成流程的形状</a:t>
              </a:r>
            </a:p>
          </p:txBody>
        </p:sp>
        <p:sp>
          <p:nvSpPr>
            <p:cNvPr id="36873" name="AutoShape 9"/>
            <p:cNvSpPr>
              <a:spLocks noChangeArrowheads="1"/>
            </p:cNvSpPr>
            <p:nvPr/>
          </p:nvSpPr>
          <p:spPr bwMode="auto">
            <a:xfrm>
              <a:off x="657" y="1221"/>
              <a:ext cx="204" cy="1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2</a:t>
              </a:r>
            </a:p>
          </p:txBody>
        </p:sp>
      </p:grpSp>
      <p:grpSp>
        <p:nvGrpSpPr>
          <p:cNvPr id="3" name="Group 10"/>
          <p:cNvGrpSpPr>
            <a:grpSpLocks/>
          </p:cNvGrpSpPr>
          <p:nvPr/>
        </p:nvGrpSpPr>
        <p:grpSpPr bwMode="auto">
          <a:xfrm>
            <a:off x="2573982" y="3092450"/>
            <a:ext cx="5886450" cy="527050"/>
            <a:chOff x="657" y="1152"/>
            <a:chExt cx="4408" cy="327"/>
          </a:xfrm>
        </p:grpSpPr>
        <p:sp>
          <p:nvSpPr>
            <p:cNvPr id="36875" name="AutoShape 11"/>
            <p:cNvSpPr>
              <a:spLocks noChangeArrowheads="1"/>
            </p:cNvSpPr>
            <p:nvPr/>
          </p:nvSpPr>
          <p:spPr bwMode="auto">
            <a:xfrm>
              <a:off x="760" y="1152"/>
              <a:ext cx="4305" cy="3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a:solidFill>
                    <a:srgbClr val="000099"/>
                  </a:solidFill>
                  <a:latin typeface="Arial Narrow" pitchFamily="34" charset="0"/>
                  <a:ea typeface="宋体" pitchFamily="2" charset="-122"/>
                  <a:cs typeface="Arial" charset="0"/>
                </a:rPr>
                <a:t>为消息赋值或在不同的消息间定义转换关系</a:t>
              </a:r>
            </a:p>
          </p:txBody>
        </p:sp>
        <p:sp>
          <p:nvSpPr>
            <p:cNvPr id="36876" name="AutoShape 12"/>
            <p:cNvSpPr>
              <a:spLocks noChangeArrowheads="1"/>
            </p:cNvSpPr>
            <p:nvPr/>
          </p:nvSpPr>
          <p:spPr bwMode="auto">
            <a:xfrm>
              <a:off x="657" y="1221"/>
              <a:ext cx="204" cy="1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3</a:t>
              </a:r>
            </a:p>
          </p:txBody>
        </p:sp>
      </p:grpSp>
      <p:grpSp>
        <p:nvGrpSpPr>
          <p:cNvPr id="4" name="Group 13"/>
          <p:cNvGrpSpPr>
            <a:grpSpLocks/>
          </p:cNvGrpSpPr>
          <p:nvPr/>
        </p:nvGrpSpPr>
        <p:grpSpPr bwMode="auto">
          <a:xfrm>
            <a:off x="2573982" y="3730625"/>
            <a:ext cx="5886450" cy="527050"/>
            <a:chOff x="657" y="1152"/>
            <a:chExt cx="4408" cy="327"/>
          </a:xfrm>
        </p:grpSpPr>
        <p:sp>
          <p:nvSpPr>
            <p:cNvPr id="36878" name="AutoShape 14"/>
            <p:cNvSpPr>
              <a:spLocks noChangeArrowheads="1"/>
            </p:cNvSpPr>
            <p:nvPr/>
          </p:nvSpPr>
          <p:spPr bwMode="auto">
            <a:xfrm>
              <a:off x="760" y="1152"/>
              <a:ext cx="4305" cy="3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dirty="0">
                  <a:solidFill>
                    <a:srgbClr val="000099"/>
                  </a:solidFill>
                  <a:latin typeface="Arial Narrow" pitchFamily="34" charset="0"/>
                  <a:ea typeface="宋体" pitchFamily="2" charset="-122"/>
                  <a:cs typeface="Arial" charset="0"/>
                </a:rPr>
                <a:t>定义消息的逻辑发送和接收端口</a:t>
              </a:r>
            </a:p>
          </p:txBody>
        </p:sp>
        <p:sp>
          <p:nvSpPr>
            <p:cNvPr id="36879" name="AutoShape 15"/>
            <p:cNvSpPr>
              <a:spLocks noChangeArrowheads="1"/>
            </p:cNvSpPr>
            <p:nvPr/>
          </p:nvSpPr>
          <p:spPr bwMode="auto">
            <a:xfrm>
              <a:off x="657" y="1221"/>
              <a:ext cx="204" cy="1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4</a:t>
              </a:r>
            </a:p>
          </p:txBody>
        </p:sp>
      </p:grpSp>
      <p:grpSp>
        <p:nvGrpSpPr>
          <p:cNvPr id="5" name="Group 16"/>
          <p:cNvGrpSpPr>
            <a:grpSpLocks/>
          </p:cNvGrpSpPr>
          <p:nvPr/>
        </p:nvGrpSpPr>
        <p:grpSpPr bwMode="auto">
          <a:xfrm>
            <a:off x="2573982" y="4368800"/>
            <a:ext cx="5886450" cy="527050"/>
            <a:chOff x="657" y="1152"/>
            <a:chExt cx="4408" cy="327"/>
          </a:xfrm>
        </p:grpSpPr>
        <p:sp>
          <p:nvSpPr>
            <p:cNvPr id="36881" name="AutoShape 17"/>
            <p:cNvSpPr>
              <a:spLocks noChangeArrowheads="1"/>
            </p:cNvSpPr>
            <p:nvPr/>
          </p:nvSpPr>
          <p:spPr bwMode="auto">
            <a:xfrm>
              <a:off x="760" y="1152"/>
              <a:ext cx="4305" cy="3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a:solidFill>
                    <a:srgbClr val="000099"/>
                  </a:solidFill>
                  <a:latin typeface="Arial Narrow" pitchFamily="34" charset="0"/>
                  <a:ea typeface="宋体" pitchFamily="2" charset="-122"/>
                  <a:cs typeface="Arial" charset="0"/>
                </a:rPr>
                <a:t>定义变量和类型</a:t>
              </a:r>
            </a:p>
          </p:txBody>
        </p:sp>
        <p:sp>
          <p:nvSpPr>
            <p:cNvPr id="36882" name="AutoShape 18"/>
            <p:cNvSpPr>
              <a:spLocks noChangeArrowheads="1"/>
            </p:cNvSpPr>
            <p:nvPr/>
          </p:nvSpPr>
          <p:spPr bwMode="auto">
            <a:xfrm>
              <a:off x="657" y="1221"/>
              <a:ext cx="204" cy="1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5</a:t>
              </a:r>
            </a:p>
          </p:txBody>
        </p:sp>
      </p:grpSp>
      <p:grpSp>
        <p:nvGrpSpPr>
          <p:cNvPr id="6" name="Group 19"/>
          <p:cNvGrpSpPr>
            <a:grpSpLocks/>
          </p:cNvGrpSpPr>
          <p:nvPr/>
        </p:nvGrpSpPr>
        <p:grpSpPr bwMode="auto">
          <a:xfrm>
            <a:off x="2573982" y="5006975"/>
            <a:ext cx="5886450" cy="527050"/>
            <a:chOff x="657" y="1152"/>
            <a:chExt cx="4408" cy="327"/>
          </a:xfrm>
        </p:grpSpPr>
        <p:sp>
          <p:nvSpPr>
            <p:cNvPr id="36884" name="AutoShape 20"/>
            <p:cNvSpPr>
              <a:spLocks noChangeArrowheads="1"/>
            </p:cNvSpPr>
            <p:nvPr/>
          </p:nvSpPr>
          <p:spPr bwMode="auto">
            <a:xfrm>
              <a:off x="760" y="1152"/>
              <a:ext cx="4305" cy="3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a:solidFill>
                    <a:srgbClr val="000099"/>
                  </a:solidFill>
                  <a:latin typeface="Arial Narrow" pitchFamily="34" charset="0"/>
                  <a:ea typeface="宋体" pitchFamily="2" charset="-122"/>
                  <a:cs typeface="Arial" charset="0"/>
                </a:rPr>
                <a:t>绑定</a:t>
              </a:r>
              <a:r>
                <a:rPr lang="en-US" altLang="zh-CN" sz="2000" b="1">
                  <a:solidFill>
                    <a:srgbClr val="000099"/>
                  </a:solidFill>
                  <a:latin typeface="Arial Narrow" pitchFamily="34" charset="0"/>
                  <a:ea typeface="宋体" pitchFamily="2" charset="-122"/>
                  <a:cs typeface="Arial" charset="0"/>
                </a:rPr>
                <a:t>Send</a:t>
              </a:r>
              <a:r>
                <a:rPr lang="zh-CN" altLang="en-US" sz="2000" b="1">
                  <a:solidFill>
                    <a:srgbClr val="000099"/>
                  </a:solidFill>
                  <a:latin typeface="Arial Narrow" pitchFamily="34" charset="0"/>
                  <a:ea typeface="宋体" pitchFamily="2" charset="-122"/>
                  <a:cs typeface="Arial" charset="0"/>
                </a:rPr>
                <a:t>和</a:t>
              </a:r>
              <a:r>
                <a:rPr lang="en-US" altLang="zh-CN" sz="2000" b="1">
                  <a:solidFill>
                    <a:srgbClr val="000099"/>
                  </a:solidFill>
                  <a:latin typeface="Arial Narrow" pitchFamily="34" charset="0"/>
                  <a:ea typeface="宋体" pitchFamily="2" charset="-122"/>
                  <a:cs typeface="Arial" charset="0"/>
                </a:rPr>
                <a:t>Receive</a:t>
              </a:r>
              <a:r>
                <a:rPr lang="zh-CN" altLang="en-US" sz="2000" b="1">
                  <a:solidFill>
                    <a:srgbClr val="000099"/>
                  </a:solidFill>
                  <a:latin typeface="Arial Narrow" pitchFamily="34" charset="0"/>
                  <a:ea typeface="宋体" pitchFamily="2" charset="-122"/>
                  <a:cs typeface="Arial" charset="0"/>
                </a:rPr>
                <a:t>形状到相应的逻辑端口</a:t>
              </a:r>
            </a:p>
          </p:txBody>
        </p:sp>
        <p:sp>
          <p:nvSpPr>
            <p:cNvPr id="36885" name="AutoShape 21"/>
            <p:cNvSpPr>
              <a:spLocks noChangeArrowheads="1"/>
            </p:cNvSpPr>
            <p:nvPr/>
          </p:nvSpPr>
          <p:spPr bwMode="auto">
            <a:xfrm>
              <a:off x="657" y="1221"/>
              <a:ext cx="204" cy="1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6</a:t>
              </a:r>
            </a:p>
          </p:txBody>
        </p:sp>
      </p:grpSp>
      <p:grpSp>
        <p:nvGrpSpPr>
          <p:cNvPr id="7" name="Group 22"/>
          <p:cNvGrpSpPr>
            <a:grpSpLocks/>
          </p:cNvGrpSpPr>
          <p:nvPr/>
        </p:nvGrpSpPr>
        <p:grpSpPr bwMode="auto">
          <a:xfrm>
            <a:off x="2573982" y="5645150"/>
            <a:ext cx="5886450" cy="527050"/>
            <a:chOff x="657" y="1152"/>
            <a:chExt cx="4408" cy="327"/>
          </a:xfrm>
        </p:grpSpPr>
        <p:sp>
          <p:nvSpPr>
            <p:cNvPr id="36887" name="AutoShape 23"/>
            <p:cNvSpPr>
              <a:spLocks noChangeArrowheads="1"/>
            </p:cNvSpPr>
            <p:nvPr/>
          </p:nvSpPr>
          <p:spPr bwMode="auto">
            <a:xfrm>
              <a:off x="760" y="1152"/>
              <a:ext cx="4305" cy="32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lIns="457200" anchor="ctr"/>
            <a:lstStyle/>
            <a:p>
              <a:pPr>
                <a:lnSpc>
                  <a:spcPct val="80000"/>
                </a:lnSpc>
                <a:defRPr/>
              </a:pPr>
              <a:r>
                <a:rPr lang="zh-CN" altLang="en-US" sz="2000" b="1">
                  <a:solidFill>
                    <a:srgbClr val="000099"/>
                  </a:solidFill>
                  <a:latin typeface="Arial Narrow" pitchFamily="34" charset="0"/>
                  <a:ea typeface="宋体" pitchFamily="2" charset="-122"/>
                  <a:cs typeface="Arial" charset="0"/>
                </a:rPr>
                <a:t>编译和测试</a:t>
              </a:r>
            </a:p>
          </p:txBody>
        </p:sp>
        <p:sp>
          <p:nvSpPr>
            <p:cNvPr id="36888" name="AutoShape 24"/>
            <p:cNvSpPr>
              <a:spLocks noChangeArrowheads="1"/>
            </p:cNvSpPr>
            <p:nvPr/>
          </p:nvSpPr>
          <p:spPr bwMode="auto">
            <a:xfrm>
              <a:off x="657" y="1221"/>
              <a:ext cx="204" cy="1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pPr algn="ctr">
                <a:defRPr/>
              </a:pPr>
              <a:r>
                <a:rPr lang="en-US" altLang="zh-CN" sz="2000" b="1">
                  <a:solidFill>
                    <a:srgbClr val="990033"/>
                  </a:solidFill>
                  <a:latin typeface="Arial Narrow" pitchFamily="34" charset="0"/>
                  <a:ea typeface="宋体" pitchFamily="2" charset="-122"/>
                  <a:cs typeface="Arial" charset="0"/>
                </a:rPr>
                <a:t>7</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ppt_x"/>
                                          </p:val>
                                        </p:tav>
                                        <p:tav tm="100000">
                                          <p:val>
                                            <p:strVal val="#ppt_x"/>
                                          </p:val>
                                        </p:tav>
                                      </p:tavLst>
                                    </p:anim>
                                    <p:anim calcmode="lin" valueType="num">
                                      <p:cBhvr additive="base">
                                        <p:cTn id="8" dur="500" fill="hold"/>
                                        <p:tgtEl>
                                          <p:spTgt spid="3686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870"/>
                                        </p:tgtEl>
                                        <p:attrNameLst>
                                          <p:attrName>style.visibility</p:attrName>
                                        </p:attrNameLst>
                                      </p:cBhvr>
                                      <p:to>
                                        <p:strVal val="visible"/>
                                      </p:to>
                                    </p:set>
                                    <p:anim calcmode="lin" valueType="num">
                                      <p:cBhvr additive="base">
                                        <p:cTn id="11" dur="500" fill="hold"/>
                                        <p:tgtEl>
                                          <p:spTgt spid="36870"/>
                                        </p:tgtEl>
                                        <p:attrNameLst>
                                          <p:attrName>ppt_x</p:attrName>
                                        </p:attrNameLst>
                                      </p:cBhvr>
                                      <p:tavLst>
                                        <p:tav tm="0">
                                          <p:val>
                                            <p:strVal val="#ppt_x"/>
                                          </p:val>
                                        </p:tav>
                                        <p:tav tm="100000">
                                          <p:val>
                                            <p:strVal val="#ppt_x"/>
                                          </p:val>
                                        </p:tav>
                                      </p:tavLst>
                                    </p:anim>
                                    <p:anim calcmode="lin" valueType="num">
                                      <p:cBhvr additive="base">
                                        <p:cTn id="12" dur="500" fill="hold"/>
                                        <p:tgtEl>
                                          <p:spTgt spid="3687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anim calcmode="lin" valueType="num">
                                      <p:cBhvr additive="base">
                                        <p:cTn id="23" dur="500" fill="hold"/>
                                        <p:tgtEl>
                                          <p:spTgt spid="3"/>
                                        </p:tgtEl>
                                        <p:attrNameLst>
                                          <p:attrName>ppt_x</p:attrName>
                                        </p:attrNameLst>
                                      </p:cBhvr>
                                      <p:tavLst>
                                        <p:tav tm="0">
                                          <p:val>
                                            <p:strVal val="#ppt_x"/>
                                          </p:val>
                                        </p:tav>
                                        <p:tav tm="100000">
                                          <p:val>
                                            <p:strVal val="#ppt_x"/>
                                          </p:val>
                                        </p:tav>
                                      </p:tavLst>
                                    </p:anim>
                                    <p:anim calcmode="lin" valueType="num">
                                      <p:cBhvr additive="base">
                                        <p:cTn id="2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 calcmode="lin" valueType="num">
                                      <p:cBhvr additive="base">
                                        <p:cTn id="35" dur="500" fill="hold"/>
                                        <p:tgtEl>
                                          <p:spTgt spid="5"/>
                                        </p:tgtEl>
                                        <p:attrNameLst>
                                          <p:attrName>ppt_x</p:attrName>
                                        </p:attrNameLst>
                                      </p:cBhvr>
                                      <p:tavLst>
                                        <p:tav tm="0">
                                          <p:val>
                                            <p:strVal val="#ppt_x"/>
                                          </p:val>
                                        </p:tav>
                                        <p:tav tm="100000">
                                          <p:val>
                                            <p:strVal val="#ppt_x"/>
                                          </p:val>
                                        </p:tav>
                                      </p:tavLst>
                                    </p:anim>
                                    <p:anim calcmode="lin" valueType="num">
                                      <p:cBhvr additive="base">
                                        <p:cTn id="3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ppt_x"/>
                                          </p:val>
                                        </p:tav>
                                        <p:tav tm="100000">
                                          <p:val>
                                            <p:strVal val="#ppt_x"/>
                                          </p:val>
                                        </p:tav>
                                      </p:tavLst>
                                    </p:anim>
                                    <p:anim calcmode="lin" valueType="num">
                                      <p:cBhvr additive="base">
                                        <p:cTn id="4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 calcmode="lin" valueType="num">
                                      <p:cBhvr additive="base">
                                        <p:cTn id="47" dur="500" fill="hold"/>
                                        <p:tgtEl>
                                          <p:spTgt spid="7"/>
                                        </p:tgtEl>
                                        <p:attrNameLst>
                                          <p:attrName>ppt_x</p:attrName>
                                        </p:attrNameLst>
                                      </p:cBhvr>
                                      <p:tavLst>
                                        <p:tav tm="0">
                                          <p:val>
                                            <p:strVal val="#ppt_x"/>
                                          </p:val>
                                        </p:tav>
                                        <p:tav tm="100000">
                                          <p:val>
                                            <p:strVal val="#ppt_x"/>
                                          </p:val>
                                        </p:tav>
                                      </p:tavLst>
                                    </p:anim>
                                    <p:anim calcmode="lin" valueType="num">
                                      <p:cBhvr additive="base">
                                        <p:cTn id="4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animBg="1"/>
      <p:bldP spid="36870"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304800"/>
            <a:ext cx="7772400" cy="9144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a:latin typeface="宋体" charset="-122"/>
              </a:rPr>
              <a:t>B2B</a:t>
            </a:r>
            <a:r>
              <a:rPr lang="zh-CN" altLang="en-US" sz="3200" b="1">
                <a:latin typeface="宋体" charset="-122"/>
              </a:rPr>
              <a:t>电子商务</a:t>
            </a:r>
          </a:p>
        </p:txBody>
      </p:sp>
      <p:sp>
        <p:nvSpPr>
          <p:cNvPr id="37906" name="Rectangle 18"/>
          <p:cNvSpPr>
            <a:spLocks noGrp="1" noChangeArrowheads="1"/>
          </p:cNvSpPr>
          <p:nvPr>
            <p:ph idx="1"/>
          </p:nvPr>
        </p:nvSpPr>
        <p:spPr>
          <a:xfrm>
            <a:off x="1805284" y="1219200"/>
            <a:ext cx="7087196" cy="2743200"/>
          </a:xfrm>
          <a:noFill/>
        </p:spPr>
        <p:txBody>
          <a:bodyPr/>
          <a:lstStyle/>
          <a:p>
            <a:r>
              <a:rPr lang="zh-CN" altLang="en-US" sz="2800" b="1" dirty="0"/>
              <a:t>企业与企业之间通过网络进行产品、服务及信息的交换</a:t>
            </a:r>
          </a:p>
          <a:p>
            <a:pPr lvl="1"/>
            <a:r>
              <a:rPr lang="zh-CN" altLang="en-US" sz="2400" b="1" dirty="0"/>
              <a:t>信息标准化、身份验证</a:t>
            </a:r>
          </a:p>
          <a:p>
            <a:r>
              <a:rPr lang="zh-CN" altLang="en-US" sz="2800" b="1" dirty="0"/>
              <a:t>将买方和卖方集中到一个市场上进行信息交流、广告、拍卖竞标、交易、库存管理</a:t>
            </a:r>
          </a:p>
        </p:txBody>
      </p:sp>
      <p:grpSp>
        <p:nvGrpSpPr>
          <p:cNvPr id="2" name="Group 19"/>
          <p:cNvGrpSpPr>
            <a:grpSpLocks/>
          </p:cNvGrpSpPr>
          <p:nvPr/>
        </p:nvGrpSpPr>
        <p:grpSpPr bwMode="auto">
          <a:xfrm>
            <a:off x="1949896" y="3645024"/>
            <a:ext cx="7086600" cy="2743200"/>
            <a:chOff x="340" y="1771"/>
            <a:chExt cx="5180" cy="2216"/>
          </a:xfrm>
        </p:grpSpPr>
        <p:sp>
          <p:nvSpPr>
            <p:cNvPr id="37908" name="Line 20"/>
            <p:cNvSpPr>
              <a:spLocks noChangeShapeType="1"/>
            </p:cNvSpPr>
            <p:nvPr/>
          </p:nvSpPr>
          <p:spPr bwMode="auto">
            <a:xfrm flipH="1">
              <a:off x="4512" y="3648"/>
              <a:ext cx="433"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09" name="Rectangle 21"/>
            <p:cNvSpPr>
              <a:spLocks noChangeArrowheads="1"/>
            </p:cNvSpPr>
            <p:nvPr/>
          </p:nvSpPr>
          <p:spPr bwMode="auto">
            <a:xfrm>
              <a:off x="4896" y="2112"/>
              <a:ext cx="384" cy="1872"/>
            </a:xfrm>
            <a:prstGeom prst="rect">
              <a:avLst/>
            </a:prstGeom>
            <a:solidFill>
              <a:schemeClr val="bg1"/>
            </a:solidFill>
            <a:ln w="9525">
              <a:solidFill>
                <a:schemeClr val="folHlink"/>
              </a:solidFill>
              <a:miter lim="800000"/>
              <a:headEnd/>
              <a:tailEnd/>
            </a:ln>
            <a:effectLst>
              <a:prstShdw prst="shdw17" dist="17961" dir="2700000">
                <a:schemeClr val="folHlink">
                  <a:gamma/>
                  <a:shade val="60000"/>
                  <a:invGamma/>
                </a:schemeClr>
              </a:prstShdw>
            </a:effectLst>
          </p:spPr>
          <p:txBody>
            <a:bodyPr wrap="none" anchor="ctr"/>
            <a:lstStyle/>
            <a:p>
              <a:pPr algn="ctr" eaLnBrk="1" hangingPunct="1">
                <a:defRPr/>
              </a:pPr>
              <a:r>
                <a:rPr kumimoji="1" lang="en-US" altLang="zh-CN">
                  <a:latin typeface="宋体" pitchFamily="2" charset="-122"/>
                  <a:ea typeface="宋体" pitchFamily="2" charset="-122"/>
                </a:rPr>
                <a:t>B</a:t>
              </a:r>
            </a:p>
            <a:p>
              <a:pPr algn="ctr" eaLnBrk="1" hangingPunct="1">
                <a:defRPr/>
              </a:pPr>
              <a:r>
                <a:rPr kumimoji="1" lang="zh-CN" altLang="en-US">
                  <a:latin typeface="宋体" pitchFamily="2" charset="-122"/>
                  <a:ea typeface="宋体" pitchFamily="2" charset="-122"/>
                </a:rPr>
                <a:t>公</a:t>
              </a:r>
            </a:p>
            <a:p>
              <a:pPr algn="ctr" eaLnBrk="1" hangingPunct="1">
                <a:defRPr/>
              </a:pPr>
              <a:r>
                <a:rPr kumimoji="1" lang="zh-CN" altLang="en-US">
                  <a:latin typeface="宋体" pitchFamily="2" charset="-122"/>
                  <a:ea typeface="宋体" pitchFamily="2" charset="-122"/>
                </a:rPr>
                <a:t>司</a:t>
              </a:r>
            </a:p>
            <a:p>
              <a:pPr algn="ctr" eaLnBrk="1" hangingPunct="1">
                <a:defRPr/>
              </a:pPr>
              <a:r>
                <a:rPr kumimoji="1" lang="zh-CN" altLang="en-US">
                  <a:latin typeface="宋体" pitchFamily="2" charset="-122"/>
                  <a:ea typeface="宋体" pitchFamily="2" charset="-122"/>
                </a:rPr>
                <a:t>格</a:t>
              </a:r>
            </a:p>
            <a:p>
              <a:pPr algn="ctr" eaLnBrk="1" hangingPunct="1">
                <a:defRPr/>
              </a:pPr>
              <a:r>
                <a:rPr kumimoji="1" lang="zh-CN" altLang="en-US">
                  <a:latin typeface="宋体" pitchFamily="2" charset="-122"/>
                  <a:ea typeface="宋体" pitchFamily="2" charset="-122"/>
                </a:rPr>
                <a:t>式</a:t>
              </a:r>
            </a:p>
            <a:p>
              <a:pPr algn="ctr" eaLnBrk="1" hangingPunct="1">
                <a:defRPr/>
              </a:pPr>
              <a:r>
                <a:rPr kumimoji="1" lang="zh-CN" altLang="en-US">
                  <a:latin typeface="宋体" pitchFamily="2" charset="-122"/>
                  <a:ea typeface="宋体" pitchFamily="2" charset="-122"/>
                </a:rPr>
                <a:t>单</a:t>
              </a:r>
            </a:p>
            <a:p>
              <a:pPr algn="ctr" eaLnBrk="1" hangingPunct="1">
                <a:defRPr/>
              </a:pPr>
              <a:r>
                <a:rPr kumimoji="1" lang="zh-CN" altLang="en-US">
                  <a:latin typeface="宋体" pitchFamily="2" charset="-122"/>
                  <a:ea typeface="宋体" pitchFamily="2" charset="-122"/>
                </a:rPr>
                <a:t>证</a:t>
              </a:r>
            </a:p>
            <a:p>
              <a:pPr algn="ctr" eaLnBrk="1" hangingPunct="1">
                <a:defRPr/>
              </a:pPr>
              <a:endParaRPr kumimoji="1" lang="en-US" altLang="zh-CN">
                <a:latin typeface="宋体" pitchFamily="2" charset="-122"/>
                <a:ea typeface="宋体" pitchFamily="2" charset="-122"/>
              </a:endParaRPr>
            </a:p>
          </p:txBody>
        </p:sp>
        <p:sp>
          <p:nvSpPr>
            <p:cNvPr id="37910" name="Line 22"/>
            <p:cNvSpPr>
              <a:spLocks noChangeShapeType="1"/>
            </p:cNvSpPr>
            <p:nvPr/>
          </p:nvSpPr>
          <p:spPr bwMode="auto">
            <a:xfrm>
              <a:off x="719" y="2448"/>
              <a:ext cx="384"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1" name="Line 23"/>
            <p:cNvSpPr>
              <a:spLocks noChangeShapeType="1"/>
            </p:cNvSpPr>
            <p:nvPr/>
          </p:nvSpPr>
          <p:spPr bwMode="auto">
            <a:xfrm>
              <a:off x="1440" y="2448"/>
              <a:ext cx="384"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2" name="Line 24"/>
            <p:cNvSpPr>
              <a:spLocks noChangeShapeType="1"/>
            </p:cNvSpPr>
            <p:nvPr/>
          </p:nvSpPr>
          <p:spPr bwMode="auto">
            <a:xfrm>
              <a:off x="2208" y="2448"/>
              <a:ext cx="384"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3" name="Line 25"/>
            <p:cNvSpPr>
              <a:spLocks noChangeShapeType="1"/>
            </p:cNvSpPr>
            <p:nvPr/>
          </p:nvSpPr>
          <p:spPr bwMode="auto">
            <a:xfrm flipH="1">
              <a:off x="1440" y="3648"/>
              <a:ext cx="432"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4" name="Line 26"/>
            <p:cNvSpPr>
              <a:spLocks noChangeShapeType="1"/>
            </p:cNvSpPr>
            <p:nvPr/>
          </p:nvSpPr>
          <p:spPr bwMode="auto">
            <a:xfrm>
              <a:off x="3743" y="2448"/>
              <a:ext cx="384"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5" name="Line 27"/>
            <p:cNvSpPr>
              <a:spLocks noChangeShapeType="1"/>
            </p:cNvSpPr>
            <p:nvPr/>
          </p:nvSpPr>
          <p:spPr bwMode="auto">
            <a:xfrm flipH="1">
              <a:off x="719" y="3648"/>
              <a:ext cx="433"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6" name="Line 28"/>
            <p:cNvSpPr>
              <a:spLocks noChangeShapeType="1"/>
            </p:cNvSpPr>
            <p:nvPr/>
          </p:nvSpPr>
          <p:spPr bwMode="auto">
            <a:xfrm>
              <a:off x="2976" y="2448"/>
              <a:ext cx="384"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7" name="Line 29"/>
            <p:cNvSpPr>
              <a:spLocks noChangeShapeType="1"/>
            </p:cNvSpPr>
            <p:nvPr/>
          </p:nvSpPr>
          <p:spPr bwMode="auto">
            <a:xfrm>
              <a:off x="4512" y="2448"/>
              <a:ext cx="384"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8" name="Line 30"/>
            <p:cNvSpPr>
              <a:spLocks noChangeShapeType="1"/>
            </p:cNvSpPr>
            <p:nvPr/>
          </p:nvSpPr>
          <p:spPr bwMode="auto">
            <a:xfrm flipH="1">
              <a:off x="2208" y="3648"/>
              <a:ext cx="432"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19" name="Line 31"/>
            <p:cNvSpPr>
              <a:spLocks noChangeShapeType="1"/>
            </p:cNvSpPr>
            <p:nvPr/>
          </p:nvSpPr>
          <p:spPr bwMode="auto">
            <a:xfrm flipH="1">
              <a:off x="3743" y="3648"/>
              <a:ext cx="433"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7920" name="Line 32"/>
            <p:cNvSpPr>
              <a:spLocks noChangeShapeType="1"/>
            </p:cNvSpPr>
            <p:nvPr/>
          </p:nvSpPr>
          <p:spPr bwMode="auto">
            <a:xfrm flipH="1">
              <a:off x="2928" y="3648"/>
              <a:ext cx="433" cy="0"/>
            </a:xfrm>
            <a:prstGeom prst="line">
              <a:avLst/>
            </a:prstGeom>
            <a:noFill/>
            <a:ln w="19050">
              <a:solidFill>
                <a:schemeClr val="tx1"/>
              </a:solidFill>
              <a:round/>
              <a:headEnd/>
              <a:tailEnd type="stealth" w="med" len="med"/>
            </a:ln>
            <a:effectLst>
              <a:prstShdw prst="shdw17" dist="17961" dir="2700000">
                <a:schemeClr val="tx1">
                  <a:gamma/>
                  <a:shade val="60000"/>
                  <a:invGamma/>
                </a:schemeClr>
              </a:prstShdw>
            </a:effectLst>
          </p:spPr>
          <p:txBody>
            <a:bodyPr/>
            <a:lstStyle/>
            <a:p>
              <a:pPr>
                <a:defRPr/>
              </a:pPr>
              <a:endParaRPr lang="zh-CN" altLang="en-US">
                <a:ea typeface="宋体" pitchFamily="2" charset="-122"/>
              </a:endParaRPr>
            </a:p>
          </p:txBody>
        </p:sp>
        <p:sp>
          <p:nvSpPr>
            <p:cNvPr id="39954" name="Rectangle 33"/>
            <p:cNvSpPr>
              <a:spLocks noChangeArrowheads="1"/>
            </p:cNvSpPr>
            <p:nvPr/>
          </p:nvSpPr>
          <p:spPr bwMode="auto">
            <a:xfrm>
              <a:off x="340" y="2115"/>
              <a:ext cx="384" cy="1872"/>
            </a:xfrm>
            <a:prstGeom prst="rect">
              <a:avLst/>
            </a:prstGeom>
            <a:solidFill>
              <a:schemeClr val="bg1"/>
            </a:solidFill>
            <a:ln w="9525">
              <a:solidFill>
                <a:srgbClr val="FFFF00"/>
              </a:solidFill>
              <a:miter lim="800000"/>
              <a:headEnd/>
              <a:tailEnd/>
            </a:ln>
            <a:effectLst>
              <a:prstShdw prst="shdw17" dist="17961" dir="2700000">
                <a:srgbClr val="999900"/>
              </a:prstShdw>
            </a:effectLst>
          </p:spPr>
          <p:txBody>
            <a:bodyPr wrap="none" anchor="ctr"/>
            <a:lstStyle/>
            <a:p>
              <a:pPr algn="ctr" eaLnBrk="1" hangingPunct="1"/>
              <a:r>
                <a:rPr kumimoji="1" lang="en-US" altLang="zh-CN"/>
                <a:t>A</a:t>
              </a:r>
            </a:p>
            <a:p>
              <a:pPr algn="ctr" eaLnBrk="1" hangingPunct="1"/>
              <a:r>
                <a:rPr kumimoji="1" lang="zh-CN" altLang="en-US"/>
                <a:t>公</a:t>
              </a:r>
            </a:p>
            <a:p>
              <a:pPr algn="ctr" eaLnBrk="1" hangingPunct="1"/>
              <a:r>
                <a:rPr kumimoji="1" lang="zh-CN" altLang="en-US"/>
                <a:t>司</a:t>
              </a:r>
            </a:p>
            <a:p>
              <a:pPr algn="ctr" eaLnBrk="1" hangingPunct="1"/>
              <a:r>
                <a:rPr kumimoji="1" lang="zh-CN" altLang="en-US"/>
                <a:t>格</a:t>
              </a:r>
            </a:p>
            <a:p>
              <a:pPr algn="ctr" eaLnBrk="1" hangingPunct="1"/>
              <a:r>
                <a:rPr kumimoji="1" lang="zh-CN" altLang="en-US"/>
                <a:t>式</a:t>
              </a:r>
            </a:p>
            <a:p>
              <a:pPr algn="ctr" eaLnBrk="1" hangingPunct="1"/>
              <a:r>
                <a:rPr kumimoji="1" lang="zh-CN" altLang="en-US"/>
                <a:t>单</a:t>
              </a:r>
            </a:p>
            <a:p>
              <a:pPr algn="ctr" eaLnBrk="1" hangingPunct="1"/>
              <a:r>
                <a:rPr kumimoji="1" lang="zh-CN" altLang="en-US"/>
                <a:t>证</a:t>
              </a:r>
            </a:p>
            <a:p>
              <a:pPr algn="ctr" eaLnBrk="1" hangingPunct="1"/>
              <a:endParaRPr kumimoji="1" lang="en-US" altLang="zh-CN"/>
            </a:p>
          </p:txBody>
        </p:sp>
        <p:sp>
          <p:nvSpPr>
            <p:cNvPr id="37922" name="Rectangle 34"/>
            <p:cNvSpPr>
              <a:spLocks noChangeArrowheads="1"/>
            </p:cNvSpPr>
            <p:nvPr/>
          </p:nvSpPr>
          <p:spPr bwMode="auto">
            <a:xfrm>
              <a:off x="1104" y="2112"/>
              <a:ext cx="337" cy="1872"/>
            </a:xfrm>
            <a:prstGeom prst="rect">
              <a:avLst/>
            </a:prstGeom>
            <a:solidFill>
              <a:schemeClr val="bg1"/>
            </a:solidFill>
            <a:ln w="9525">
              <a:solidFill>
                <a:schemeClr val="folHlink"/>
              </a:solidFill>
              <a:miter lim="800000"/>
              <a:headEnd/>
              <a:tailEnd/>
            </a:ln>
            <a:effectLst>
              <a:prstShdw prst="shdw17" dist="17961" dir="2700000">
                <a:schemeClr val="folHlink">
                  <a:gamma/>
                  <a:shade val="60000"/>
                  <a:invGamma/>
                </a:schemeClr>
              </a:prstShdw>
            </a:effectLst>
          </p:spPr>
          <p:txBody>
            <a:bodyPr wrap="none" anchor="ctr"/>
            <a:lstStyle/>
            <a:p>
              <a:pPr algn="ctr" eaLnBrk="1" hangingPunct="1">
                <a:defRPr/>
              </a:pPr>
              <a:r>
                <a:rPr kumimoji="1" lang="zh-CN" altLang="en-US">
                  <a:latin typeface="宋体" pitchFamily="2" charset="-122"/>
                  <a:ea typeface="宋体" pitchFamily="2" charset="-122"/>
                </a:rPr>
                <a:t>平</a:t>
              </a:r>
            </a:p>
            <a:p>
              <a:pPr algn="ctr" eaLnBrk="1" hangingPunct="1">
                <a:defRPr/>
              </a:pPr>
              <a:r>
                <a:rPr kumimoji="1" lang="zh-CN" altLang="en-US">
                  <a:latin typeface="宋体" pitchFamily="2" charset="-122"/>
                  <a:ea typeface="宋体" pitchFamily="2" charset="-122"/>
                </a:rPr>
                <a:t>面</a:t>
              </a:r>
            </a:p>
            <a:p>
              <a:pPr algn="ctr" eaLnBrk="1" hangingPunct="1">
                <a:defRPr/>
              </a:pPr>
              <a:r>
                <a:rPr kumimoji="1" lang="zh-CN" altLang="en-US">
                  <a:latin typeface="宋体" pitchFamily="2" charset="-122"/>
                  <a:ea typeface="宋体" pitchFamily="2" charset="-122"/>
                </a:rPr>
                <a:t>文</a:t>
              </a:r>
            </a:p>
            <a:p>
              <a:pPr algn="ctr" eaLnBrk="1" hangingPunct="1">
                <a:defRPr/>
              </a:pPr>
              <a:r>
                <a:rPr kumimoji="1" lang="zh-CN" altLang="en-US">
                  <a:latin typeface="宋体" pitchFamily="2" charset="-122"/>
                  <a:ea typeface="宋体" pitchFamily="2" charset="-122"/>
                </a:rPr>
                <a:t>件</a:t>
              </a:r>
              <a:r>
                <a:rPr kumimoji="1" lang="zh-CN" altLang="en-US">
                  <a:ea typeface="宋体" pitchFamily="2" charset="-122"/>
                </a:rPr>
                <a:t> </a:t>
              </a:r>
            </a:p>
          </p:txBody>
        </p:sp>
        <p:sp>
          <p:nvSpPr>
            <p:cNvPr id="37923" name="Rectangle 35"/>
            <p:cNvSpPr>
              <a:spLocks noChangeArrowheads="1"/>
            </p:cNvSpPr>
            <p:nvPr/>
          </p:nvSpPr>
          <p:spPr bwMode="auto">
            <a:xfrm>
              <a:off x="1824" y="2112"/>
              <a:ext cx="384" cy="1872"/>
            </a:xfrm>
            <a:prstGeom prst="rect">
              <a:avLst/>
            </a:prstGeom>
            <a:solidFill>
              <a:schemeClr val="bg1"/>
            </a:solidFill>
            <a:ln w="9525">
              <a:solidFill>
                <a:schemeClr val="folHlink"/>
              </a:solidFill>
              <a:miter lim="800000"/>
              <a:headEnd/>
              <a:tailEnd/>
            </a:ln>
            <a:effectLst>
              <a:prstShdw prst="shdw17" dist="17961" dir="2700000">
                <a:schemeClr val="folHlink">
                  <a:gamma/>
                  <a:shade val="60000"/>
                  <a:invGamma/>
                </a:schemeClr>
              </a:prstShdw>
            </a:effectLst>
          </p:spPr>
          <p:txBody>
            <a:bodyPr wrap="none" anchor="ctr"/>
            <a:lstStyle/>
            <a:p>
              <a:pPr algn="ctr" eaLnBrk="1" hangingPunct="1">
                <a:defRPr/>
              </a:pPr>
              <a:r>
                <a:rPr kumimoji="1" lang="en-US" altLang="zh-CN">
                  <a:latin typeface="宋体" pitchFamily="2" charset="-122"/>
                  <a:ea typeface="宋体" pitchFamily="2" charset="-122"/>
                </a:rPr>
                <a:t>EDI</a:t>
              </a:r>
            </a:p>
            <a:p>
              <a:pPr algn="ctr" eaLnBrk="1" hangingPunct="1">
                <a:defRPr/>
              </a:pPr>
              <a:r>
                <a:rPr kumimoji="1" lang="zh-CN" altLang="en-US">
                  <a:latin typeface="宋体" pitchFamily="2" charset="-122"/>
                  <a:ea typeface="宋体" pitchFamily="2" charset="-122"/>
                </a:rPr>
                <a:t>标</a:t>
              </a:r>
            </a:p>
            <a:p>
              <a:pPr algn="ctr" eaLnBrk="1" hangingPunct="1">
                <a:defRPr/>
              </a:pPr>
              <a:r>
                <a:rPr kumimoji="1" lang="zh-CN" altLang="en-US">
                  <a:latin typeface="宋体" pitchFamily="2" charset="-122"/>
                  <a:ea typeface="宋体" pitchFamily="2" charset="-122"/>
                </a:rPr>
                <a:t>准</a:t>
              </a:r>
            </a:p>
            <a:p>
              <a:pPr algn="ctr" eaLnBrk="1" hangingPunct="1">
                <a:defRPr/>
              </a:pPr>
              <a:r>
                <a:rPr kumimoji="1" lang="zh-CN" altLang="en-US">
                  <a:latin typeface="宋体" pitchFamily="2" charset="-122"/>
                  <a:ea typeface="宋体" pitchFamily="2" charset="-122"/>
                </a:rPr>
                <a:t>报</a:t>
              </a:r>
            </a:p>
            <a:p>
              <a:pPr algn="ctr" eaLnBrk="1" hangingPunct="1">
                <a:defRPr/>
              </a:pPr>
              <a:r>
                <a:rPr kumimoji="1" lang="zh-CN" altLang="en-US">
                  <a:latin typeface="宋体" pitchFamily="2" charset="-122"/>
                  <a:ea typeface="宋体" pitchFamily="2" charset="-122"/>
                </a:rPr>
                <a:t>文</a:t>
              </a:r>
            </a:p>
            <a:p>
              <a:pPr algn="ctr" eaLnBrk="1" hangingPunct="1">
                <a:defRPr/>
              </a:pPr>
              <a:endParaRPr kumimoji="1" lang="en-US" altLang="zh-CN">
                <a:latin typeface="宋体" pitchFamily="2" charset="-122"/>
                <a:ea typeface="宋体" pitchFamily="2" charset="-122"/>
              </a:endParaRPr>
            </a:p>
          </p:txBody>
        </p:sp>
        <p:sp>
          <p:nvSpPr>
            <p:cNvPr id="37924" name="Rectangle 36"/>
            <p:cNvSpPr>
              <a:spLocks noChangeArrowheads="1"/>
            </p:cNvSpPr>
            <p:nvPr/>
          </p:nvSpPr>
          <p:spPr bwMode="auto">
            <a:xfrm>
              <a:off x="3361" y="2112"/>
              <a:ext cx="383" cy="1872"/>
            </a:xfrm>
            <a:prstGeom prst="rect">
              <a:avLst/>
            </a:prstGeom>
            <a:solidFill>
              <a:schemeClr val="bg1"/>
            </a:solidFill>
            <a:ln w="9525">
              <a:solidFill>
                <a:schemeClr val="folHlink"/>
              </a:solidFill>
              <a:miter lim="800000"/>
              <a:headEnd/>
              <a:tailEnd/>
            </a:ln>
            <a:effectLst>
              <a:prstShdw prst="shdw17" dist="17961" dir="2700000">
                <a:schemeClr val="folHlink">
                  <a:gamma/>
                  <a:shade val="60000"/>
                  <a:invGamma/>
                </a:schemeClr>
              </a:prstShdw>
            </a:effectLst>
          </p:spPr>
          <p:txBody>
            <a:bodyPr wrap="none" anchor="ctr"/>
            <a:lstStyle/>
            <a:p>
              <a:pPr algn="ctr" eaLnBrk="1" hangingPunct="1">
                <a:defRPr/>
              </a:pPr>
              <a:r>
                <a:rPr kumimoji="1" lang="en-US" altLang="zh-CN" dirty="0">
                  <a:latin typeface="宋体" pitchFamily="2" charset="-122"/>
                  <a:ea typeface="宋体" pitchFamily="2" charset="-122"/>
                </a:rPr>
                <a:t>EDI</a:t>
              </a:r>
            </a:p>
            <a:p>
              <a:pPr algn="ctr" eaLnBrk="1" hangingPunct="1">
                <a:defRPr/>
              </a:pPr>
              <a:r>
                <a:rPr kumimoji="1" lang="zh-CN" altLang="en-US" dirty="0">
                  <a:latin typeface="宋体" pitchFamily="2" charset="-122"/>
                  <a:ea typeface="宋体" pitchFamily="2" charset="-122"/>
                </a:rPr>
                <a:t>标</a:t>
              </a:r>
            </a:p>
            <a:p>
              <a:pPr algn="ctr" eaLnBrk="1" hangingPunct="1">
                <a:defRPr/>
              </a:pPr>
              <a:r>
                <a:rPr kumimoji="1" lang="zh-CN" altLang="en-US" dirty="0">
                  <a:latin typeface="宋体" pitchFamily="2" charset="-122"/>
                  <a:ea typeface="宋体" pitchFamily="2" charset="-122"/>
                </a:rPr>
                <a:t>准</a:t>
              </a:r>
            </a:p>
            <a:p>
              <a:pPr algn="ctr" eaLnBrk="1" hangingPunct="1">
                <a:defRPr/>
              </a:pPr>
              <a:r>
                <a:rPr kumimoji="1" lang="zh-CN" altLang="en-US" dirty="0">
                  <a:latin typeface="宋体" pitchFamily="2" charset="-122"/>
                  <a:ea typeface="宋体" pitchFamily="2" charset="-122"/>
                </a:rPr>
                <a:t>报</a:t>
              </a:r>
            </a:p>
            <a:p>
              <a:pPr algn="ctr" eaLnBrk="1" hangingPunct="1">
                <a:defRPr/>
              </a:pPr>
              <a:r>
                <a:rPr kumimoji="1" lang="zh-CN" altLang="en-US" dirty="0">
                  <a:latin typeface="宋体" pitchFamily="2" charset="-122"/>
                  <a:ea typeface="宋体" pitchFamily="2" charset="-122"/>
                </a:rPr>
                <a:t>文</a:t>
              </a:r>
            </a:p>
            <a:p>
              <a:pPr algn="ctr" eaLnBrk="1" hangingPunct="1">
                <a:defRPr/>
              </a:pPr>
              <a:endParaRPr kumimoji="1" lang="en-US" altLang="zh-CN" dirty="0">
                <a:latin typeface="宋体" pitchFamily="2" charset="-122"/>
                <a:ea typeface="宋体" pitchFamily="2" charset="-122"/>
              </a:endParaRPr>
            </a:p>
          </p:txBody>
        </p:sp>
        <p:sp>
          <p:nvSpPr>
            <p:cNvPr id="37925" name="Rectangle 37"/>
            <p:cNvSpPr>
              <a:spLocks noChangeArrowheads="1"/>
            </p:cNvSpPr>
            <p:nvPr/>
          </p:nvSpPr>
          <p:spPr bwMode="auto">
            <a:xfrm>
              <a:off x="4128" y="2112"/>
              <a:ext cx="384" cy="1872"/>
            </a:xfrm>
            <a:prstGeom prst="rect">
              <a:avLst/>
            </a:prstGeom>
            <a:solidFill>
              <a:schemeClr val="bg1"/>
            </a:solidFill>
            <a:ln w="9525">
              <a:solidFill>
                <a:schemeClr val="folHlink"/>
              </a:solidFill>
              <a:miter lim="800000"/>
              <a:headEnd/>
              <a:tailEnd/>
            </a:ln>
            <a:effectLst>
              <a:prstShdw prst="shdw17" dist="17961" dir="2700000">
                <a:schemeClr val="folHlink">
                  <a:gamma/>
                  <a:shade val="60000"/>
                  <a:invGamma/>
                </a:schemeClr>
              </a:prstShdw>
            </a:effectLst>
          </p:spPr>
          <p:txBody>
            <a:bodyPr wrap="none" anchor="ctr"/>
            <a:lstStyle/>
            <a:p>
              <a:pPr algn="ctr" eaLnBrk="1" hangingPunct="1">
                <a:defRPr/>
              </a:pPr>
              <a:r>
                <a:rPr kumimoji="1" lang="zh-CN" altLang="en-US">
                  <a:latin typeface="宋体" pitchFamily="2" charset="-122"/>
                  <a:ea typeface="宋体" pitchFamily="2" charset="-122"/>
                </a:rPr>
                <a:t>平</a:t>
              </a:r>
            </a:p>
            <a:p>
              <a:pPr algn="ctr" eaLnBrk="1" hangingPunct="1">
                <a:defRPr/>
              </a:pPr>
              <a:r>
                <a:rPr kumimoji="1" lang="zh-CN" altLang="en-US">
                  <a:latin typeface="宋体" pitchFamily="2" charset="-122"/>
                  <a:ea typeface="宋体" pitchFamily="2" charset="-122"/>
                </a:rPr>
                <a:t>面</a:t>
              </a:r>
            </a:p>
            <a:p>
              <a:pPr algn="ctr" eaLnBrk="1" hangingPunct="1">
                <a:defRPr/>
              </a:pPr>
              <a:r>
                <a:rPr kumimoji="1" lang="zh-CN" altLang="en-US">
                  <a:latin typeface="宋体" pitchFamily="2" charset="-122"/>
                  <a:ea typeface="宋体" pitchFamily="2" charset="-122"/>
                </a:rPr>
                <a:t>文</a:t>
              </a:r>
            </a:p>
            <a:p>
              <a:pPr algn="ctr" eaLnBrk="1" hangingPunct="1">
                <a:defRPr/>
              </a:pPr>
              <a:r>
                <a:rPr kumimoji="1" lang="zh-CN" altLang="en-US">
                  <a:latin typeface="宋体" pitchFamily="2" charset="-122"/>
                  <a:ea typeface="宋体" pitchFamily="2" charset="-122"/>
                </a:rPr>
                <a:t>件</a:t>
              </a:r>
            </a:p>
            <a:p>
              <a:pPr algn="ctr" eaLnBrk="1" hangingPunct="1">
                <a:defRPr/>
              </a:pPr>
              <a:endParaRPr kumimoji="1" lang="en-US" altLang="zh-CN">
                <a:latin typeface="宋体" pitchFamily="2" charset="-122"/>
                <a:ea typeface="宋体" pitchFamily="2" charset="-122"/>
              </a:endParaRPr>
            </a:p>
          </p:txBody>
        </p:sp>
        <p:sp>
          <p:nvSpPr>
            <p:cNvPr id="37926" name="Oval 38"/>
            <p:cNvSpPr>
              <a:spLocks noChangeArrowheads="1"/>
            </p:cNvSpPr>
            <p:nvPr/>
          </p:nvSpPr>
          <p:spPr bwMode="auto">
            <a:xfrm>
              <a:off x="2544" y="2112"/>
              <a:ext cx="480" cy="1727"/>
            </a:xfrm>
            <a:prstGeom prst="ellipse">
              <a:avLst/>
            </a:prstGeom>
            <a:noFill/>
            <a:ln w="9525">
              <a:solidFill>
                <a:schemeClr val="folHlink"/>
              </a:solidFill>
              <a:round/>
              <a:headEnd/>
              <a:tailEnd/>
            </a:ln>
            <a:effectLst>
              <a:prstShdw prst="shdw17" dist="17961" dir="2700000">
                <a:schemeClr val="folHlink">
                  <a:gamma/>
                  <a:shade val="60000"/>
                  <a:invGamma/>
                </a:schemeClr>
              </a:prstShdw>
            </a:effectLst>
          </p:spPr>
          <p:txBody>
            <a:bodyPr wrap="none" anchor="ctr"/>
            <a:lstStyle/>
            <a:p>
              <a:pPr algn="ctr" eaLnBrk="1" hangingPunct="1">
                <a:defRPr/>
              </a:pPr>
              <a:r>
                <a:rPr kumimoji="1" lang="zh-CN" altLang="en-US">
                  <a:latin typeface="宋体" pitchFamily="2" charset="-122"/>
                  <a:ea typeface="宋体" pitchFamily="2" charset="-122"/>
                </a:rPr>
                <a:t>网</a:t>
              </a:r>
            </a:p>
            <a:p>
              <a:pPr algn="ctr" eaLnBrk="1" hangingPunct="1">
                <a:defRPr/>
              </a:pPr>
              <a:r>
                <a:rPr kumimoji="1" lang="zh-CN" altLang="en-US">
                  <a:latin typeface="Times New Roman"/>
                  <a:ea typeface="宋体" pitchFamily="2" charset="-122"/>
                </a:rPr>
                <a:t> </a:t>
              </a:r>
              <a:endParaRPr kumimoji="1" lang="zh-CN" altLang="en-US">
                <a:latin typeface="宋体" pitchFamily="2" charset="-122"/>
                <a:ea typeface="宋体" pitchFamily="2" charset="-122"/>
              </a:endParaRPr>
            </a:p>
            <a:p>
              <a:pPr algn="ctr" eaLnBrk="1" hangingPunct="1">
                <a:defRPr/>
              </a:pPr>
              <a:r>
                <a:rPr kumimoji="1" lang="zh-CN" altLang="en-US">
                  <a:latin typeface="宋体" pitchFamily="2" charset="-122"/>
                  <a:ea typeface="宋体" pitchFamily="2" charset="-122"/>
                </a:rPr>
                <a:t>络</a:t>
              </a:r>
            </a:p>
          </p:txBody>
        </p:sp>
        <p:sp>
          <p:nvSpPr>
            <p:cNvPr id="39960" name="Text Box 39"/>
            <p:cNvSpPr txBox="1">
              <a:spLocks noChangeArrowheads="1"/>
            </p:cNvSpPr>
            <p:nvPr/>
          </p:nvSpPr>
          <p:spPr bwMode="auto">
            <a:xfrm>
              <a:off x="382" y="1771"/>
              <a:ext cx="5138" cy="272"/>
            </a:xfrm>
            <a:prstGeom prst="rect">
              <a:avLst/>
            </a:prstGeom>
            <a:noFill/>
            <a:ln w="9525">
              <a:noFill/>
              <a:miter lim="800000"/>
              <a:headEnd/>
              <a:tailEnd/>
            </a:ln>
          </p:spPr>
          <p:txBody>
            <a:bodyPr>
              <a:spAutoFit/>
            </a:bodyPr>
            <a:lstStyle/>
            <a:p>
              <a:pPr algn="ctr" eaLnBrk="1" hangingPunct="1">
                <a:spcBef>
                  <a:spcPct val="50000"/>
                </a:spcBef>
              </a:pPr>
              <a:r>
                <a:rPr kumimoji="1" lang="en-US" altLang="zh-CN" sz="1600" dirty="0"/>
                <a:t> </a:t>
              </a:r>
              <a:r>
                <a:rPr kumimoji="1" lang="zh-CN" altLang="en-US" sz="1600" dirty="0"/>
                <a:t>格式转换    翻译      通信          通信       翻译     格式转换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906">
                                            <p:txEl>
                                              <p:pRg st="0" end="0"/>
                                            </p:txEl>
                                          </p:spTgt>
                                        </p:tgtEl>
                                        <p:attrNameLst>
                                          <p:attrName>style.visibility</p:attrName>
                                        </p:attrNameLst>
                                      </p:cBhvr>
                                      <p:to>
                                        <p:strVal val="visible"/>
                                      </p:to>
                                    </p:set>
                                    <p:animEffect transition="in" filter="blinds(horizontal)">
                                      <p:cBhvr>
                                        <p:cTn id="7" dur="500"/>
                                        <p:tgtEl>
                                          <p:spTgt spid="379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7906">
                                            <p:txEl>
                                              <p:pRg st="1" end="1"/>
                                            </p:txEl>
                                          </p:spTgt>
                                        </p:tgtEl>
                                        <p:attrNameLst>
                                          <p:attrName>style.visibility</p:attrName>
                                        </p:attrNameLst>
                                      </p:cBhvr>
                                      <p:to>
                                        <p:strVal val="visible"/>
                                      </p:to>
                                    </p:set>
                                    <p:anim calcmode="lin" valueType="num">
                                      <p:cBhvr additive="base">
                                        <p:cTn id="12" dur="500" fill="hold"/>
                                        <p:tgtEl>
                                          <p:spTgt spid="37906">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79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7906">
                                            <p:txEl>
                                              <p:pRg st="2" end="2"/>
                                            </p:txEl>
                                          </p:spTgt>
                                        </p:tgtEl>
                                        <p:attrNameLst>
                                          <p:attrName>style.visibility</p:attrName>
                                        </p:attrNameLst>
                                      </p:cBhvr>
                                      <p:to>
                                        <p:strVal val="visible"/>
                                      </p:to>
                                    </p:set>
                                    <p:animEffect transition="in" filter="blinds(horizontal)">
                                      <p:cBhvr>
                                        <p:cTn id="18" dur="500"/>
                                        <p:tgtEl>
                                          <p:spTgt spid="37906">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ox(in)">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a:latin typeface="宋体" charset="-122"/>
              </a:rPr>
              <a:t>B2B</a:t>
            </a:r>
            <a:r>
              <a:rPr lang="zh-CN" altLang="en-US" sz="3200" b="1">
                <a:latin typeface="宋体" charset="-122"/>
              </a:rPr>
              <a:t>模式</a:t>
            </a:r>
          </a:p>
        </p:txBody>
      </p:sp>
      <p:graphicFrame>
        <p:nvGraphicFramePr>
          <p:cNvPr id="1026" name="Object 5"/>
          <p:cNvGraphicFramePr>
            <a:graphicFrameLocks noGrp="1" noChangeAspect="1"/>
          </p:cNvGraphicFramePr>
          <p:nvPr>
            <p:ph idx="1"/>
            <p:extLst>
              <p:ext uri="{D42A27DB-BD31-4B8C-83A1-F6EECF244321}">
                <p14:modId xmlns:p14="http://schemas.microsoft.com/office/powerpoint/2010/main" val="3712575962"/>
              </p:ext>
            </p:extLst>
          </p:nvPr>
        </p:nvGraphicFramePr>
        <p:xfrm>
          <a:off x="1835696" y="1676400"/>
          <a:ext cx="7079704" cy="4318000"/>
        </p:xfrm>
        <a:graphic>
          <a:graphicData uri="http://schemas.openxmlformats.org/presentationml/2006/ole">
            <mc:AlternateContent xmlns:mc="http://schemas.openxmlformats.org/markup-compatibility/2006">
              <mc:Choice xmlns:v="urn:schemas-microsoft-com:vml" Requires="v">
                <p:oleObj spid="_x0000_s23627" r:id="rId4" imgW="8454545" imgH="4240207" progId="">
                  <p:embed/>
                </p:oleObj>
              </mc:Choice>
              <mc:Fallback>
                <p:oleObj r:id="rId4" imgW="8454545" imgH="4240207"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1676400"/>
                        <a:ext cx="7079704" cy="4318000"/>
                      </a:xfrm>
                      <a:prstGeom prst="rect">
                        <a:avLst/>
                      </a:prstGeom>
                      <a:noFill/>
                    </p:spPr>
                  </p:pic>
                </p:oleObj>
              </mc:Fallback>
            </mc:AlternateContent>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a:latin typeface="宋体" charset="-122"/>
              </a:rPr>
              <a:t>B2B</a:t>
            </a:r>
            <a:r>
              <a:rPr lang="zh-CN" altLang="en-US" sz="3200" b="1">
                <a:latin typeface="宋体" charset="-122"/>
              </a:rPr>
              <a:t>集成场景</a:t>
            </a:r>
          </a:p>
        </p:txBody>
      </p:sp>
      <p:sp>
        <p:nvSpPr>
          <p:cNvPr id="40968" name="Rectangle 8"/>
          <p:cNvSpPr>
            <a:spLocks noGrp="1" noChangeArrowheads="1"/>
          </p:cNvSpPr>
          <p:nvPr>
            <p:ph idx="1"/>
          </p:nvPr>
        </p:nvSpPr>
        <p:spPr>
          <a:xfrm>
            <a:off x="1907704" y="4221088"/>
            <a:ext cx="7128792" cy="2332112"/>
          </a:xfrm>
          <a:noFill/>
        </p:spPr>
        <p:txBody>
          <a:bodyPr/>
          <a:lstStyle/>
          <a:p>
            <a:pPr>
              <a:spcBef>
                <a:spcPct val="0"/>
              </a:spcBef>
              <a:buFont typeface="Wingdings" pitchFamily="2" charset="2"/>
              <a:buChar char="l"/>
            </a:pPr>
            <a:r>
              <a:rPr lang="zh-CN" altLang="en-US" sz="2400" b="1" dirty="0">
                <a:latin typeface="+mn-ea"/>
              </a:rPr>
              <a:t>企业内部的多个应用系统与多个外部信息系统进行交互</a:t>
            </a:r>
          </a:p>
          <a:p>
            <a:pPr>
              <a:spcBef>
                <a:spcPct val="0"/>
              </a:spcBef>
              <a:buFont typeface="Wingdings" pitchFamily="2" charset="2"/>
              <a:buChar char="l"/>
            </a:pPr>
            <a:r>
              <a:rPr lang="en-US" altLang="zh-CN" sz="2400" b="1" dirty="0">
                <a:latin typeface="+mn-ea"/>
              </a:rPr>
              <a:t>M×N</a:t>
            </a:r>
            <a:r>
              <a:rPr lang="zh-CN" altLang="en-US" sz="2400" b="1" dirty="0">
                <a:latin typeface="+mn-ea"/>
              </a:rPr>
              <a:t>交互场景（</a:t>
            </a:r>
            <a:r>
              <a:rPr lang="en-US" altLang="zh-CN" sz="2400" b="1" dirty="0">
                <a:latin typeface="+mn-ea"/>
              </a:rPr>
              <a:t>M</a:t>
            </a:r>
            <a:r>
              <a:rPr lang="zh-CN" altLang="en-US" sz="2400" b="1" dirty="0">
                <a:latin typeface="+mn-ea"/>
              </a:rPr>
              <a:t>个内部系统与</a:t>
            </a:r>
            <a:r>
              <a:rPr lang="en-US" altLang="zh-CN" sz="2400" b="1" dirty="0">
                <a:latin typeface="+mn-ea"/>
              </a:rPr>
              <a:t>N</a:t>
            </a:r>
            <a:r>
              <a:rPr lang="zh-CN" altLang="en-US" sz="2400" b="1" dirty="0">
                <a:latin typeface="+mn-ea"/>
              </a:rPr>
              <a:t>个外部系统进行交互）</a:t>
            </a:r>
          </a:p>
          <a:p>
            <a:pPr>
              <a:spcBef>
                <a:spcPct val="0"/>
              </a:spcBef>
              <a:buFont typeface="Wingdings" pitchFamily="2" charset="2"/>
              <a:buChar char="l"/>
            </a:pPr>
            <a:r>
              <a:rPr lang="zh-CN" altLang="en-US" sz="2400" b="1" dirty="0">
                <a:latin typeface="+mn-ea"/>
              </a:rPr>
              <a:t>每个系统都有各自的数据交换格式，这些格式不一定需要被外部系统所理解。</a:t>
            </a:r>
          </a:p>
        </p:txBody>
      </p:sp>
      <p:pic>
        <p:nvPicPr>
          <p:cNvPr id="40966" name="Picture 6" descr="b04_1t2"/>
          <p:cNvPicPr>
            <a:picLocks noChangeAspect="1" noChangeArrowheads="1"/>
          </p:cNvPicPr>
          <p:nvPr/>
        </p:nvPicPr>
        <p:blipFill>
          <a:blip r:embed="rId2"/>
          <a:srcRect/>
          <a:stretch>
            <a:fillRect/>
          </a:stretch>
        </p:blipFill>
        <p:spPr bwMode="auto">
          <a:xfrm>
            <a:off x="1979712" y="1340768"/>
            <a:ext cx="6912768" cy="25908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66"/>
                                        </p:tgtEl>
                                        <p:attrNameLst>
                                          <p:attrName>style.visibility</p:attrName>
                                        </p:attrNameLst>
                                      </p:cBhvr>
                                      <p:to>
                                        <p:strVal val="visible"/>
                                      </p:to>
                                    </p:set>
                                    <p:animEffect transition="in" filter="blinds(horizontal)">
                                      <p:cBhvr>
                                        <p:cTn id="7" dur="500"/>
                                        <p:tgtEl>
                                          <p:spTgt spid="409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0968">
                                            <p:txEl>
                                              <p:pRg st="0" end="0"/>
                                            </p:txEl>
                                          </p:spTgt>
                                        </p:tgtEl>
                                        <p:attrNameLst>
                                          <p:attrName>style.visibility</p:attrName>
                                        </p:attrNameLst>
                                      </p:cBhvr>
                                      <p:to>
                                        <p:strVal val="visible"/>
                                      </p:to>
                                    </p:set>
                                    <p:anim calcmode="lin" valueType="num">
                                      <p:cBhvr additive="base">
                                        <p:cTn id="12" dur="500" fill="hold"/>
                                        <p:tgtEl>
                                          <p:spTgt spid="40968">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096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0968">
                                            <p:txEl>
                                              <p:pRg st="1" end="1"/>
                                            </p:txEl>
                                          </p:spTgt>
                                        </p:tgtEl>
                                        <p:attrNameLst>
                                          <p:attrName>style.visibility</p:attrName>
                                        </p:attrNameLst>
                                      </p:cBhvr>
                                      <p:to>
                                        <p:strVal val="visible"/>
                                      </p:to>
                                    </p:set>
                                    <p:anim calcmode="lin" valueType="num">
                                      <p:cBhvr additive="base">
                                        <p:cTn id="18" dur="500" fill="hold"/>
                                        <p:tgtEl>
                                          <p:spTgt spid="40968">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09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0968">
                                            <p:txEl>
                                              <p:pRg st="2" end="2"/>
                                            </p:txEl>
                                          </p:spTgt>
                                        </p:tgtEl>
                                        <p:attrNameLst>
                                          <p:attrName>style.visibility</p:attrName>
                                        </p:attrNameLst>
                                      </p:cBhvr>
                                      <p:to>
                                        <p:strVal val="visible"/>
                                      </p:to>
                                    </p:set>
                                    <p:animEffect transition="in" filter="blinds(horizontal)">
                                      <p:cBhvr>
                                        <p:cTn id="24" dur="500"/>
                                        <p:tgtEl>
                                          <p:spTgt spid="4096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2123728" y="381000"/>
            <a:ext cx="6105872" cy="762000"/>
          </a:xfrm>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dirty="0">
                <a:latin typeface="宋体" charset="-122"/>
              </a:rPr>
              <a:t>B2B</a:t>
            </a:r>
            <a:r>
              <a:rPr lang="zh-CN" altLang="en-US" sz="3200" b="1" dirty="0">
                <a:latin typeface="宋体" charset="-122"/>
              </a:rPr>
              <a:t>集成解决方案（宏观）</a:t>
            </a:r>
          </a:p>
        </p:txBody>
      </p:sp>
      <p:sp>
        <p:nvSpPr>
          <p:cNvPr id="41987" name="Rectangle 3"/>
          <p:cNvSpPr>
            <a:spLocks noGrp="1" noChangeArrowheads="1"/>
          </p:cNvSpPr>
          <p:nvPr>
            <p:ph idx="1"/>
          </p:nvPr>
        </p:nvSpPr>
        <p:spPr>
          <a:xfrm>
            <a:off x="1691680" y="1447800"/>
            <a:ext cx="7344816" cy="5105400"/>
          </a:xfrm>
        </p:spPr>
        <p:txBody>
          <a:bodyPr/>
          <a:lstStyle/>
          <a:p>
            <a:pPr>
              <a:lnSpc>
                <a:spcPct val="80000"/>
              </a:lnSpc>
            </a:pPr>
            <a:r>
              <a:rPr lang="zh-CN" altLang="en-US" sz="2400" b="1" dirty="0"/>
              <a:t>接收及验证发往外部信息系统以获取一些业务数据的请求消息</a:t>
            </a:r>
          </a:p>
          <a:p>
            <a:pPr>
              <a:lnSpc>
                <a:spcPct val="80000"/>
              </a:lnSpc>
            </a:pPr>
            <a:r>
              <a:rPr lang="zh-CN" altLang="en-US" sz="2400" b="1" dirty="0"/>
              <a:t>选择某个外部信息系统（商家）来获得请求的数据 </a:t>
            </a:r>
          </a:p>
          <a:p>
            <a:pPr>
              <a:lnSpc>
                <a:spcPct val="80000"/>
              </a:lnSpc>
            </a:pPr>
            <a:r>
              <a:rPr lang="zh-CN" altLang="en-US" sz="2400" b="1" dirty="0"/>
              <a:t>运行一些可能针对具体请求环境的业务规则 </a:t>
            </a:r>
          </a:p>
          <a:p>
            <a:pPr>
              <a:lnSpc>
                <a:spcPct val="80000"/>
              </a:lnSpc>
            </a:pPr>
            <a:r>
              <a:rPr lang="zh-CN" altLang="en-US" sz="2400" b="1" dirty="0"/>
              <a:t>创建命令，规定适合于所选择的外部信息系统的格式 </a:t>
            </a:r>
          </a:p>
          <a:p>
            <a:pPr>
              <a:lnSpc>
                <a:spcPct val="80000"/>
              </a:lnSpc>
            </a:pPr>
            <a:r>
              <a:rPr lang="zh-CN" altLang="en-US" sz="2400" b="1" dirty="0"/>
              <a:t>通过商家支持的传输协议，把含有商家数据格式命令的请求消息传送给对方 </a:t>
            </a:r>
          </a:p>
          <a:p>
            <a:pPr>
              <a:lnSpc>
                <a:spcPct val="80000"/>
              </a:lnSpc>
            </a:pPr>
            <a:r>
              <a:rPr lang="zh-CN" altLang="en-US" sz="2400" b="1" dirty="0"/>
              <a:t>对外部信息系统的响应采用的步骤类似对出站命令请求采用的步骤（譬如验证和数据转换） </a:t>
            </a:r>
          </a:p>
          <a:p>
            <a:pPr>
              <a:lnSpc>
                <a:spcPct val="80000"/>
              </a:lnSpc>
            </a:pPr>
            <a:r>
              <a:rPr lang="zh-CN" altLang="en-US" sz="2400" b="1" dirty="0"/>
              <a:t>管理与外部信息系统的联系以及定义事务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animEffect transition="in" filter="blinds(horizontal)">
                                      <p:cBhvr>
                                        <p:cTn id="7" dur="500"/>
                                        <p:tgtEl>
                                          <p:spTgt spid="419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1987">
                                            <p:txEl>
                                              <p:pRg st="1" end="1"/>
                                            </p:txEl>
                                          </p:spTgt>
                                        </p:tgtEl>
                                        <p:attrNameLst>
                                          <p:attrName>style.visibility</p:attrName>
                                        </p:attrNameLst>
                                      </p:cBhvr>
                                      <p:to>
                                        <p:strVal val="visible"/>
                                      </p:to>
                                    </p:set>
                                    <p:anim calcmode="lin" valueType="num">
                                      <p:cBhvr additive="base">
                                        <p:cTn id="12" dur="500" fill="hold"/>
                                        <p:tgtEl>
                                          <p:spTgt spid="4198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19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1987">
                                            <p:txEl>
                                              <p:pRg st="2" end="2"/>
                                            </p:txEl>
                                          </p:spTgt>
                                        </p:tgtEl>
                                        <p:attrNameLst>
                                          <p:attrName>style.visibility</p:attrName>
                                        </p:attrNameLst>
                                      </p:cBhvr>
                                      <p:to>
                                        <p:strVal val="visible"/>
                                      </p:to>
                                    </p:set>
                                    <p:anim calcmode="lin" valueType="num">
                                      <p:cBhvr additive="base">
                                        <p:cTn id="18" dur="500" fill="hold"/>
                                        <p:tgtEl>
                                          <p:spTgt spid="41987">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198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1987">
                                            <p:txEl>
                                              <p:pRg st="3" end="3"/>
                                            </p:txEl>
                                          </p:spTgt>
                                        </p:tgtEl>
                                        <p:attrNameLst>
                                          <p:attrName>style.visibility</p:attrName>
                                        </p:attrNameLst>
                                      </p:cBhvr>
                                      <p:to>
                                        <p:strVal val="visible"/>
                                      </p:to>
                                    </p:set>
                                    <p:anim calcmode="lin" valueType="num">
                                      <p:cBhvr additive="base">
                                        <p:cTn id="24" dur="500" fill="hold"/>
                                        <p:tgtEl>
                                          <p:spTgt spid="41987">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19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1987">
                                            <p:txEl>
                                              <p:pRg st="4" end="4"/>
                                            </p:txEl>
                                          </p:spTgt>
                                        </p:tgtEl>
                                        <p:attrNameLst>
                                          <p:attrName>style.visibility</p:attrName>
                                        </p:attrNameLst>
                                      </p:cBhvr>
                                      <p:to>
                                        <p:strVal val="visible"/>
                                      </p:to>
                                    </p:set>
                                    <p:anim calcmode="lin" valueType="num">
                                      <p:cBhvr additive="base">
                                        <p:cTn id="30" dur="500" fill="hold"/>
                                        <p:tgtEl>
                                          <p:spTgt spid="41987">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19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41987">
                                            <p:txEl>
                                              <p:pRg st="5" end="5"/>
                                            </p:txEl>
                                          </p:spTgt>
                                        </p:tgtEl>
                                        <p:attrNameLst>
                                          <p:attrName>style.visibility</p:attrName>
                                        </p:attrNameLst>
                                      </p:cBhvr>
                                      <p:to>
                                        <p:strVal val="visible"/>
                                      </p:to>
                                    </p:set>
                                    <p:anim calcmode="lin" valueType="num">
                                      <p:cBhvr additive="base">
                                        <p:cTn id="36" dur="500" fill="hold"/>
                                        <p:tgtEl>
                                          <p:spTgt spid="41987">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4198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41987">
                                            <p:txEl>
                                              <p:pRg st="6" end="6"/>
                                            </p:txEl>
                                          </p:spTgt>
                                        </p:tgtEl>
                                        <p:attrNameLst>
                                          <p:attrName>style.visibility</p:attrName>
                                        </p:attrNameLst>
                                      </p:cBhvr>
                                      <p:to>
                                        <p:strVal val="visible"/>
                                      </p:to>
                                    </p:set>
                                    <p:anim calcmode="lin" valueType="num">
                                      <p:cBhvr additive="base">
                                        <p:cTn id="42" dur="500" fill="hold"/>
                                        <p:tgtEl>
                                          <p:spTgt spid="41987">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198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dirty="0">
                <a:latin typeface="宋体" charset="-122"/>
              </a:rPr>
              <a:t>B2B</a:t>
            </a:r>
            <a:r>
              <a:rPr lang="zh-CN" altLang="en-US" sz="3200" b="1" dirty="0">
                <a:latin typeface="宋体" charset="-122"/>
              </a:rPr>
              <a:t>系统的主要部分 </a:t>
            </a:r>
          </a:p>
        </p:txBody>
      </p:sp>
      <p:sp>
        <p:nvSpPr>
          <p:cNvPr id="67587" name="Rectangle 3"/>
          <p:cNvSpPr>
            <a:spLocks noGrp="1" noChangeArrowheads="1"/>
          </p:cNvSpPr>
          <p:nvPr>
            <p:ph idx="1"/>
          </p:nvPr>
        </p:nvSpPr>
        <p:spPr/>
        <p:txBody>
          <a:bodyPr/>
          <a:lstStyle/>
          <a:p>
            <a:r>
              <a:rPr lang="zh-CN" altLang="en-US" sz="2800" b="1" dirty="0"/>
              <a:t>用于接收客户请求和外部信息系统响应的事件侦听器 </a:t>
            </a:r>
          </a:p>
          <a:p>
            <a:pPr lvl="1"/>
            <a:r>
              <a:rPr lang="zh-CN" altLang="en-US" sz="2400" b="1" dirty="0"/>
              <a:t>服务器小程序 </a:t>
            </a:r>
          </a:p>
          <a:p>
            <a:r>
              <a:rPr lang="zh-CN" altLang="en-US" sz="2800" b="1" dirty="0"/>
              <a:t>定义集成工作流中逻辑步骤的流程定义</a:t>
            </a:r>
          </a:p>
          <a:p>
            <a:pPr lvl="1"/>
            <a:r>
              <a:rPr lang="zh-CN" altLang="en-US" sz="2400" b="1" dirty="0"/>
              <a:t>用隐式方式拥有事务管理逻辑  </a:t>
            </a:r>
          </a:p>
          <a:p>
            <a:r>
              <a:rPr lang="zh-CN" altLang="en-US" sz="2800" b="1" dirty="0"/>
              <a:t>流程定义用来执行该步骤的支持组件 </a:t>
            </a:r>
          </a:p>
          <a:p>
            <a:pPr lvl="1"/>
            <a:r>
              <a:rPr lang="zh-CN" altLang="en-US" sz="2400" b="1" dirty="0"/>
              <a:t>数据验证、转换和业务规则执行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blinds(horizontal)">
                                      <p:cBhvr>
                                        <p:cTn id="7" dur="500"/>
                                        <p:tgtEl>
                                          <p:spTgt spid="675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7587">
                                            <p:txEl>
                                              <p:pRg st="1" end="1"/>
                                            </p:txEl>
                                          </p:spTgt>
                                        </p:tgtEl>
                                        <p:attrNameLst>
                                          <p:attrName>style.visibility</p:attrName>
                                        </p:attrNameLst>
                                      </p:cBhvr>
                                      <p:to>
                                        <p:strVal val="visible"/>
                                      </p:to>
                                    </p:set>
                                    <p:anim calcmode="lin" valueType="num">
                                      <p:cBhvr additive="base">
                                        <p:cTn id="12" dur="500" fill="hold"/>
                                        <p:tgtEl>
                                          <p:spTgt spid="67587">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75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67587">
                                            <p:txEl>
                                              <p:pRg st="2" end="2"/>
                                            </p:txEl>
                                          </p:spTgt>
                                        </p:tgtEl>
                                        <p:attrNameLst>
                                          <p:attrName>style.visibility</p:attrName>
                                        </p:attrNameLst>
                                      </p:cBhvr>
                                      <p:to>
                                        <p:strVal val="visible"/>
                                      </p:to>
                                    </p:set>
                                    <p:animEffect transition="in" filter="blinds(horizontal)">
                                      <p:cBhvr>
                                        <p:cTn id="18" dur="500"/>
                                        <p:tgtEl>
                                          <p:spTgt spid="67587">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7587">
                                            <p:txEl>
                                              <p:pRg st="3" end="3"/>
                                            </p:txEl>
                                          </p:spTgt>
                                        </p:tgtEl>
                                        <p:attrNameLst>
                                          <p:attrName>style.visibility</p:attrName>
                                        </p:attrNameLst>
                                      </p:cBhvr>
                                      <p:to>
                                        <p:strVal val="visible"/>
                                      </p:to>
                                    </p:set>
                                    <p:anim calcmode="lin" valueType="num">
                                      <p:cBhvr additive="base">
                                        <p:cTn id="23" dur="500" fill="hold"/>
                                        <p:tgtEl>
                                          <p:spTgt spid="6758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675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7587">
                                            <p:txEl>
                                              <p:pRg st="4" end="4"/>
                                            </p:txEl>
                                          </p:spTgt>
                                        </p:tgtEl>
                                        <p:attrNameLst>
                                          <p:attrName>style.visibility</p:attrName>
                                        </p:attrNameLst>
                                      </p:cBhvr>
                                      <p:to>
                                        <p:strVal val="visible"/>
                                      </p:to>
                                    </p:set>
                                    <p:animEffect transition="in" filter="blinds(horizontal)">
                                      <p:cBhvr>
                                        <p:cTn id="29" dur="500"/>
                                        <p:tgtEl>
                                          <p:spTgt spid="67587">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67587">
                                            <p:txEl>
                                              <p:pRg st="5" end="5"/>
                                            </p:txEl>
                                          </p:spTgt>
                                        </p:tgtEl>
                                        <p:attrNameLst>
                                          <p:attrName>style.visibility</p:attrName>
                                        </p:attrNameLst>
                                      </p:cBhvr>
                                      <p:to>
                                        <p:strVal val="visible"/>
                                      </p:to>
                                    </p:set>
                                    <p:anim calcmode="lin" valueType="num">
                                      <p:cBhvr additive="base">
                                        <p:cTn id="34" dur="500" fill="hold"/>
                                        <p:tgtEl>
                                          <p:spTgt spid="67587">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675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sz="3200" b="1" dirty="0"/>
              <a:t>数据集成概述</a:t>
            </a:r>
            <a:endParaRPr lang="zh-CN" altLang="en-US" sz="3200" b="1" dirty="0">
              <a:latin typeface="宋体" charset="-122"/>
            </a:endParaRPr>
          </a:p>
        </p:txBody>
      </p:sp>
      <p:sp>
        <p:nvSpPr>
          <p:cNvPr id="19459" name="Rectangle 3"/>
          <p:cNvSpPr>
            <a:spLocks noGrp="1" noChangeArrowheads="1"/>
          </p:cNvSpPr>
          <p:nvPr>
            <p:ph idx="1"/>
          </p:nvPr>
        </p:nvSpPr>
        <p:spPr/>
        <p:txBody>
          <a:bodyPr/>
          <a:lstStyle/>
          <a:p>
            <a:r>
              <a:rPr lang="zh-CN" altLang="en-US" sz="2800" b="1" dirty="0">
                <a:latin typeface="宋体" charset="-122"/>
              </a:rPr>
              <a:t>数据集成的需求</a:t>
            </a:r>
          </a:p>
          <a:p>
            <a:endParaRPr lang="zh-CN" altLang="en-US" sz="2800" b="1" dirty="0">
              <a:latin typeface="宋体" charset="-122"/>
            </a:endParaRPr>
          </a:p>
          <a:p>
            <a:r>
              <a:rPr lang="zh-CN" altLang="en-US" sz="2800" b="1" dirty="0">
                <a:latin typeface="宋体" charset="-122"/>
              </a:rPr>
              <a:t>企业应用集成</a:t>
            </a:r>
            <a:r>
              <a:rPr lang="en-US" altLang="zh-CN" sz="2800" b="1" dirty="0">
                <a:latin typeface="宋体" charset="-122"/>
              </a:rPr>
              <a:t>EAI</a:t>
            </a:r>
            <a:endParaRPr lang="zh-CN" altLang="en-US" sz="2800" b="1" dirty="0">
              <a:latin typeface="宋体" charset="-122"/>
            </a:endParaRPr>
          </a:p>
          <a:p>
            <a:endParaRPr lang="zh-CN" altLang="en-US" sz="2800" b="1" dirty="0">
              <a:latin typeface="宋体" charset="-122"/>
            </a:endParaRPr>
          </a:p>
          <a:p>
            <a:r>
              <a:rPr lang="en-US" altLang="zh-CN" sz="2800" b="1" dirty="0">
                <a:solidFill>
                  <a:srgbClr val="FF0000"/>
                </a:solidFill>
                <a:latin typeface="宋体" charset="-122"/>
              </a:rPr>
              <a:t>Web</a:t>
            </a:r>
            <a:r>
              <a:rPr lang="zh-CN" altLang="en-US" sz="2800" b="1" dirty="0">
                <a:solidFill>
                  <a:srgbClr val="FF0000"/>
                </a:solidFill>
                <a:latin typeface="宋体" charset="-122"/>
              </a:rPr>
              <a:t>数据集成</a:t>
            </a:r>
            <a:r>
              <a:rPr lang="en-US" altLang="zh-CN" sz="2800" b="1" dirty="0">
                <a:solidFill>
                  <a:srgbClr val="FF0000"/>
                </a:solidFill>
                <a:latin typeface="宋体" charset="-122"/>
              </a:rPr>
              <a:t>WDI</a:t>
            </a:r>
            <a:endParaRPr lang="zh-CN" altLang="en-US" sz="2800" b="1" dirty="0">
              <a:solidFill>
                <a:srgbClr val="FF0000"/>
              </a:solidFill>
              <a:latin typeface="宋体" charset="-122"/>
            </a:endParaRPr>
          </a:p>
          <a:p>
            <a:endParaRPr lang="zh-CN" altLang="en-US" sz="2800" b="1" dirty="0">
              <a:latin typeface="宋体" charset="-122"/>
            </a:endParaRPr>
          </a:p>
          <a:p>
            <a:r>
              <a:rPr lang="zh-CN" altLang="en-US" sz="2800" b="1" dirty="0">
                <a:latin typeface="宋体" charset="-122"/>
              </a:rPr>
              <a:t>数据集成面临的挑战</a:t>
            </a:r>
          </a:p>
        </p:txBody>
      </p:sp>
    </p:spTree>
    <p:extLst>
      <p:ext uri="{BB962C8B-B14F-4D97-AF65-F5344CB8AC3E}">
        <p14:creationId xmlns:p14="http://schemas.microsoft.com/office/powerpoint/2010/main" val="33317973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25402" y="44624"/>
            <a:ext cx="6900862" cy="648072"/>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集成案例</a:t>
            </a:r>
            <a:r>
              <a:rPr lang="en-US" altLang="zh-CN" sz="3200" b="1" dirty="0">
                <a:latin typeface="宋体" charset="-122"/>
              </a:rPr>
              <a:t>2</a:t>
            </a:r>
            <a:endParaRPr lang="zh-CN" altLang="en-US" sz="3200" b="1" dirty="0">
              <a:latin typeface="宋体" charset="-122"/>
            </a:endParaRPr>
          </a:p>
        </p:txBody>
      </p:sp>
      <p:sp>
        <p:nvSpPr>
          <p:cNvPr id="3" name="内容占位符 2"/>
          <p:cNvSpPr>
            <a:spLocks noGrp="1"/>
          </p:cNvSpPr>
          <p:nvPr>
            <p:ph idx="1"/>
          </p:nvPr>
        </p:nvSpPr>
        <p:spPr>
          <a:xfrm>
            <a:off x="1855118" y="704032"/>
            <a:ext cx="6900862" cy="1036712"/>
          </a:xfrm>
        </p:spPr>
        <p:txBody>
          <a:bodyPr/>
          <a:lstStyle/>
          <a:p>
            <a:r>
              <a:rPr lang="en-US" altLang="zh-CN" sz="2800" b="1" dirty="0">
                <a:latin typeface="+mn-ea"/>
              </a:rPr>
              <a:t>Web</a:t>
            </a:r>
            <a:r>
              <a:rPr lang="zh-CN" altLang="en-US" sz="2800" b="1" dirty="0">
                <a:latin typeface="+mn-ea"/>
              </a:rPr>
              <a:t>表单个人信息填写</a:t>
            </a:r>
            <a:endParaRPr lang="en-US" altLang="zh-CN" sz="2800" b="1" dirty="0">
              <a:latin typeface="+mn-ea"/>
            </a:endParaRPr>
          </a:p>
          <a:p>
            <a:pPr lvl="1"/>
            <a:r>
              <a:rPr lang="zh-CN" altLang="en-US" sz="2400" b="1" dirty="0">
                <a:latin typeface="+mn-ea"/>
              </a:rPr>
              <a:t>求职等</a:t>
            </a:r>
            <a:endParaRPr lang="en-US" altLang="zh-CN" sz="2400" b="1" dirty="0">
              <a:latin typeface="+mn-ea"/>
            </a:endParaRPr>
          </a:p>
        </p:txBody>
      </p:sp>
      <p:pic>
        <p:nvPicPr>
          <p:cNvPr id="4" name="图片 3"/>
          <p:cNvPicPr>
            <a:picLocks noChangeAspect="1"/>
          </p:cNvPicPr>
          <p:nvPr/>
        </p:nvPicPr>
        <p:blipFill>
          <a:blip r:embed="rId3"/>
          <a:stretch>
            <a:fillRect/>
          </a:stretch>
        </p:blipFill>
        <p:spPr>
          <a:xfrm>
            <a:off x="1855117" y="1628800"/>
            <a:ext cx="2496637" cy="5112568"/>
          </a:xfrm>
          <a:prstGeom prst="rect">
            <a:avLst/>
          </a:prstGeom>
        </p:spPr>
      </p:pic>
      <p:pic>
        <p:nvPicPr>
          <p:cNvPr id="6" name="图片 5"/>
          <p:cNvPicPr>
            <a:picLocks noChangeAspect="1"/>
          </p:cNvPicPr>
          <p:nvPr/>
        </p:nvPicPr>
        <p:blipFill>
          <a:blip r:embed="rId4"/>
          <a:stretch>
            <a:fillRect/>
          </a:stretch>
        </p:blipFill>
        <p:spPr>
          <a:xfrm>
            <a:off x="4572000" y="1268760"/>
            <a:ext cx="4333875" cy="55245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b="1" dirty="0"/>
              <a:t>Web</a:t>
            </a:r>
            <a:r>
              <a:rPr lang="zh-CN" altLang="en-US" b="1" dirty="0"/>
              <a:t>数据集成</a:t>
            </a:r>
            <a:endParaRPr lang="zh-CN" altLang="en-US" sz="3200" b="1" dirty="0">
              <a:latin typeface="宋体" charset="-122"/>
            </a:endParaRPr>
          </a:p>
        </p:txBody>
      </p:sp>
      <p:sp>
        <p:nvSpPr>
          <p:cNvPr id="3" name="内容占位符 2"/>
          <p:cNvSpPr>
            <a:spLocks noGrp="1"/>
          </p:cNvSpPr>
          <p:nvPr>
            <p:ph idx="1"/>
          </p:nvPr>
        </p:nvSpPr>
        <p:spPr>
          <a:xfrm>
            <a:off x="1808510" y="1399630"/>
            <a:ext cx="6900862" cy="4686300"/>
          </a:xfrm>
        </p:spPr>
        <p:txBody>
          <a:bodyPr/>
          <a:lstStyle/>
          <a:p>
            <a:r>
              <a:rPr lang="en-US" altLang="zh-CN" sz="2400" b="1" dirty="0"/>
              <a:t>Web</a:t>
            </a:r>
            <a:r>
              <a:rPr lang="zh-CN" altLang="en-US" sz="2400" b="1" dirty="0"/>
              <a:t>数据集成（</a:t>
            </a:r>
            <a:r>
              <a:rPr lang="en-US" altLang="zh-CN" sz="2400" b="1" dirty="0"/>
              <a:t>WDI</a:t>
            </a:r>
            <a:r>
              <a:rPr lang="zh-CN" altLang="en-US" sz="2400" b="1" dirty="0"/>
              <a:t>）是将来自不同网站的数据聚合和管理到单个同类工作流程的过程。该过程包括数据访问，转换，映射，质量保证和数据融合</a:t>
            </a:r>
            <a:endParaRPr lang="en-US" altLang="zh-CN" sz="2400" b="1" dirty="0"/>
          </a:p>
          <a:p>
            <a:r>
              <a:rPr lang="zh-CN" altLang="en-US" sz="2400" b="1" dirty="0"/>
              <a:t>网络数据是最大的数据源</a:t>
            </a:r>
            <a:endParaRPr lang="en-US" altLang="zh-CN" sz="2000" b="1" dirty="0">
              <a:latin typeface="+mn-ea"/>
            </a:endParaRPr>
          </a:p>
          <a:p>
            <a:pPr lvl="1"/>
            <a:r>
              <a:rPr lang="zh-CN" altLang="en-US" sz="1800" b="1" dirty="0">
                <a:latin typeface="+mn-ea"/>
              </a:rPr>
              <a:t>网络中包含数百万的数据库，其中一些数据在网页中，其他一些可通过</a:t>
            </a:r>
            <a:r>
              <a:rPr lang="en-US" altLang="zh-CN" sz="1800" b="1" dirty="0">
                <a:latin typeface="+mn-ea"/>
              </a:rPr>
              <a:t>Web</a:t>
            </a:r>
            <a:r>
              <a:rPr lang="zh-CN" altLang="en-US" sz="1800" b="1" dirty="0">
                <a:latin typeface="+mn-ea"/>
              </a:rPr>
              <a:t>表单来访问</a:t>
            </a:r>
            <a:endParaRPr lang="en-US" altLang="zh-CN" sz="1800" b="1" dirty="0">
              <a:latin typeface="+mn-ea"/>
            </a:endParaRPr>
          </a:p>
          <a:p>
            <a:pPr lvl="1"/>
            <a:r>
              <a:rPr lang="zh-CN" altLang="en-US" sz="1800" b="1" dirty="0">
                <a:latin typeface="+mn-ea"/>
              </a:rPr>
              <a:t>数据呈指数级增长且不断变化，从</a:t>
            </a:r>
            <a:r>
              <a:rPr lang="en-US" altLang="zh-CN" sz="1800" b="1" dirty="0">
                <a:latin typeface="+mn-ea"/>
              </a:rPr>
              <a:t>2013</a:t>
            </a:r>
            <a:r>
              <a:rPr lang="zh-CN" altLang="en-US" sz="1800" b="1" dirty="0">
                <a:latin typeface="+mn-ea"/>
              </a:rPr>
              <a:t>年的</a:t>
            </a:r>
            <a:r>
              <a:rPr lang="en-US" altLang="zh-CN" sz="1800" b="1" dirty="0">
                <a:latin typeface="+mn-ea"/>
              </a:rPr>
              <a:t>4.4</a:t>
            </a:r>
            <a:r>
              <a:rPr lang="zh-CN" altLang="en-US" sz="1800" b="1" dirty="0">
                <a:latin typeface="+mn-ea"/>
              </a:rPr>
              <a:t>兆字节增长到</a:t>
            </a:r>
            <a:r>
              <a:rPr lang="en-US" altLang="zh-CN" sz="1800" b="1" dirty="0">
                <a:latin typeface="+mn-ea"/>
              </a:rPr>
              <a:t>2020</a:t>
            </a:r>
            <a:r>
              <a:rPr lang="zh-CN" altLang="en-US" sz="1800" b="1" dirty="0">
                <a:latin typeface="+mn-ea"/>
              </a:rPr>
              <a:t>年的预测的</a:t>
            </a:r>
            <a:r>
              <a:rPr lang="en-US" altLang="zh-CN" sz="1800" b="1" dirty="0">
                <a:latin typeface="+mn-ea"/>
              </a:rPr>
              <a:t>44</a:t>
            </a:r>
            <a:r>
              <a:rPr lang="zh-CN" altLang="en-US" sz="1800" b="1" dirty="0">
                <a:latin typeface="+mn-ea"/>
              </a:rPr>
              <a:t>兆字节（或</a:t>
            </a:r>
            <a:r>
              <a:rPr lang="en-US" altLang="zh-CN" sz="1800" b="1" dirty="0">
                <a:latin typeface="+mn-ea"/>
              </a:rPr>
              <a:t>44</a:t>
            </a:r>
            <a:r>
              <a:rPr lang="zh-CN" altLang="en-US" sz="1800" b="1" dirty="0">
                <a:latin typeface="+mn-ea"/>
              </a:rPr>
              <a:t>万亿</a:t>
            </a:r>
            <a:r>
              <a:rPr lang="en-US" altLang="zh-CN" sz="1800" b="1" dirty="0">
                <a:latin typeface="+mn-ea"/>
              </a:rPr>
              <a:t>GB</a:t>
            </a:r>
            <a:r>
              <a:rPr lang="zh-CN" altLang="en-US" sz="1800" b="1" dirty="0">
                <a:latin typeface="+mn-ea"/>
              </a:rPr>
              <a:t>）</a:t>
            </a:r>
            <a:endParaRPr lang="en-US" altLang="zh-CN" sz="1800" b="1" dirty="0">
              <a:latin typeface="+mn-ea"/>
            </a:endParaRPr>
          </a:p>
          <a:p>
            <a:r>
              <a:rPr lang="zh-CN" altLang="en-US" sz="2400" b="1" dirty="0"/>
              <a:t>网络数据信息可用于决策制定、提供替代数据集、提供启发灵感</a:t>
            </a:r>
            <a:endParaRPr lang="en-US" altLang="zh-CN" sz="2400" b="1" dirty="0"/>
          </a:p>
          <a:p>
            <a:pPr lvl="1"/>
            <a:r>
              <a:rPr lang="zh-CN" altLang="en-US" sz="1800" b="1" dirty="0">
                <a:latin typeface="+mn-ea"/>
              </a:rPr>
              <a:t>特别对于股权、金融研究、零售、制造、旅游酒店业</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dirty="0"/>
              <a:t>Web</a:t>
            </a:r>
            <a:r>
              <a:rPr lang="zh-CN" altLang="en-US" sz="3200" b="1" dirty="0"/>
              <a:t>数据集成步骤</a:t>
            </a:r>
            <a:endParaRPr lang="zh-CN" altLang="en-US" sz="3200" b="1" dirty="0">
              <a:latin typeface="宋体" charset="-122"/>
            </a:endParaRPr>
          </a:p>
        </p:txBody>
      </p:sp>
      <p:sp>
        <p:nvSpPr>
          <p:cNvPr id="3" name="内容占位符 2"/>
          <p:cNvSpPr>
            <a:spLocks noGrp="1"/>
          </p:cNvSpPr>
          <p:nvPr>
            <p:ph idx="1"/>
          </p:nvPr>
        </p:nvSpPr>
        <p:spPr/>
        <p:txBody>
          <a:bodyPr/>
          <a:lstStyle/>
          <a:p>
            <a:r>
              <a:rPr lang="zh-CN" altLang="en-US" dirty="0"/>
              <a:t>识别信息所在的</a:t>
            </a:r>
            <a:r>
              <a:rPr lang="en-US" altLang="zh-CN" dirty="0"/>
              <a:t>Web</a:t>
            </a:r>
            <a:r>
              <a:rPr lang="zh-CN" altLang="en-US" dirty="0"/>
              <a:t>来源</a:t>
            </a:r>
          </a:p>
          <a:p>
            <a:r>
              <a:rPr lang="zh-CN" altLang="en-US" dirty="0"/>
              <a:t>提取显示或隐藏的数据</a:t>
            </a:r>
          </a:p>
          <a:p>
            <a:r>
              <a:rPr lang="zh-CN" altLang="en-US" dirty="0"/>
              <a:t>清理并准备数据</a:t>
            </a:r>
          </a:p>
          <a:p>
            <a:r>
              <a:rPr lang="zh-CN" altLang="en-US" dirty="0"/>
              <a:t>数据分析挖掘</a:t>
            </a:r>
            <a:endParaRPr lang="en-US" altLang="zh-CN" dirty="0"/>
          </a:p>
          <a:p>
            <a:r>
              <a:rPr lang="zh-CN" altLang="en-US" dirty="0"/>
              <a:t>数据可视化</a:t>
            </a:r>
          </a:p>
          <a:p>
            <a:endParaRPr lang="en-US" altLang="zh-CN" sz="2800" b="1" dirty="0">
              <a:latin typeface="+mn-ea"/>
            </a:endParaRPr>
          </a:p>
          <a:p>
            <a:endParaRPr lang="zh-CN" altLang="en-US" sz="2800" b="1" dirty="0">
              <a:latin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en-US" altLang="zh-CN" sz="3200" b="1" dirty="0"/>
              <a:t>Web</a:t>
            </a:r>
            <a:r>
              <a:rPr lang="zh-CN" altLang="en-US" sz="3200" b="1" dirty="0"/>
              <a:t>数据集成难点</a:t>
            </a:r>
            <a:endParaRPr lang="zh-CN" altLang="en-US" sz="3200" b="1" dirty="0">
              <a:latin typeface="宋体" charset="-122"/>
            </a:endParaRPr>
          </a:p>
        </p:txBody>
      </p:sp>
      <p:sp>
        <p:nvSpPr>
          <p:cNvPr id="3" name="内容占位符 2"/>
          <p:cNvSpPr>
            <a:spLocks noGrp="1"/>
          </p:cNvSpPr>
          <p:nvPr>
            <p:ph idx="1"/>
          </p:nvPr>
        </p:nvSpPr>
        <p:spPr/>
        <p:txBody>
          <a:bodyPr/>
          <a:lstStyle/>
          <a:p>
            <a:r>
              <a:rPr lang="zh-CN" altLang="en-US" sz="2800" b="1" dirty="0"/>
              <a:t>超大规模数据库集合的模式异构性</a:t>
            </a:r>
          </a:p>
          <a:p>
            <a:r>
              <a:rPr lang="zh-CN" altLang="en-US" sz="2800" b="1" dirty="0"/>
              <a:t>提取数据的困难</a:t>
            </a:r>
            <a:endParaRPr lang="en-US" altLang="zh-CN" sz="2800" b="1" dirty="0"/>
          </a:p>
          <a:p>
            <a:pPr lvl="1"/>
            <a:r>
              <a:rPr lang="zh-CN" altLang="en-US" sz="2400" b="1" dirty="0"/>
              <a:t>网页表单数据理解</a:t>
            </a:r>
            <a:endParaRPr lang="en-US" altLang="zh-CN" sz="2400" b="1" dirty="0"/>
          </a:p>
          <a:p>
            <a:pPr lvl="1"/>
            <a:r>
              <a:rPr lang="zh-CN" altLang="en-US" sz="2400" b="1" dirty="0"/>
              <a:t>通过表单来访问深层网络</a:t>
            </a:r>
            <a:r>
              <a:rPr lang="en-US" altLang="zh-CN" sz="2400" b="1" dirty="0"/>
              <a:t>(</a:t>
            </a:r>
            <a:r>
              <a:rPr lang="en-US" altLang="zh-CN" sz="2400" b="1" dirty="0" err="1"/>
              <a:t>DeepWeb</a:t>
            </a:r>
            <a:r>
              <a:rPr lang="en-US" altLang="zh-CN" sz="2400" b="1" dirty="0"/>
              <a:t>)</a:t>
            </a:r>
            <a:r>
              <a:rPr lang="zh-CN" altLang="en-US" sz="2400" b="1" dirty="0"/>
              <a:t>或隐式网络</a:t>
            </a:r>
            <a:r>
              <a:rPr lang="en-US" altLang="zh-CN" sz="2400" b="1" dirty="0"/>
              <a:t>(Invisible Web)</a:t>
            </a:r>
            <a:endParaRPr lang="zh-CN" altLang="en-US" sz="2400" b="1" dirty="0"/>
          </a:p>
          <a:p>
            <a:r>
              <a:rPr lang="en-US" altLang="zh-CN" sz="2800" b="1" dirty="0"/>
              <a:t>Web</a:t>
            </a:r>
            <a:r>
              <a:rPr lang="zh-CN" altLang="en-US" sz="2800" b="1" dirty="0"/>
              <a:t>上的数据往往是错的、过时的，甚至是矛盾的。因此，从这些数据源获得答案，需要不同的方法来对数据进行组合和排序</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zh-CN" altLang="en-US" sz="3200" b="1" dirty="0"/>
              <a:t>数据集成概述</a:t>
            </a:r>
            <a:endParaRPr lang="zh-CN" altLang="en-US" sz="3200" b="1" dirty="0">
              <a:latin typeface="宋体" charset="-122"/>
            </a:endParaRPr>
          </a:p>
        </p:txBody>
      </p:sp>
      <p:sp>
        <p:nvSpPr>
          <p:cNvPr id="19459" name="Rectangle 3"/>
          <p:cNvSpPr>
            <a:spLocks noGrp="1" noChangeArrowheads="1"/>
          </p:cNvSpPr>
          <p:nvPr>
            <p:ph idx="1"/>
          </p:nvPr>
        </p:nvSpPr>
        <p:spPr/>
        <p:txBody>
          <a:bodyPr/>
          <a:lstStyle/>
          <a:p>
            <a:r>
              <a:rPr lang="zh-CN" altLang="en-US" sz="2800" b="1" dirty="0">
                <a:latin typeface="宋体" charset="-122"/>
              </a:rPr>
              <a:t>数据集成的需求</a:t>
            </a:r>
          </a:p>
          <a:p>
            <a:endParaRPr lang="zh-CN" altLang="en-US" sz="2800" b="1" dirty="0">
              <a:latin typeface="宋体" charset="-122"/>
            </a:endParaRPr>
          </a:p>
          <a:p>
            <a:r>
              <a:rPr lang="zh-CN" altLang="en-US" sz="2800" b="1" dirty="0">
                <a:latin typeface="宋体" charset="-122"/>
              </a:rPr>
              <a:t>企业应用集成</a:t>
            </a:r>
            <a:r>
              <a:rPr lang="en-US" altLang="zh-CN" sz="2800" b="1" dirty="0">
                <a:latin typeface="宋体" charset="-122"/>
              </a:rPr>
              <a:t>EAI</a:t>
            </a:r>
            <a:endParaRPr lang="zh-CN" altLang="en-US" sz="2800" b="1" dirty="0">
              <a:latin typeface="宋体" charset="-122"/>
            </a:endParaRPr>
          </a:p>
          <a:p>
            <a:endParaRPr lang="zh-CN" altLang="en-US" sz="2800" b="1" dirty="0">
              <a:latin typeface="宋体" charset="-122"/>
            </a:endParaRPr>
          </a:p>
          <a:p>
            <a:r>
              <a:rPr lang="en-US" altLang="zh-CN" sz="2800" b="1" dirty="0">
                <a:latin typeface="宋体" charset="-122"/>
              </a:rPr>
              <a:t>Web</a:t>
            </a:r>
            <a:r>
              <a:rPr lang="zh-CN" altLang="en-US" sz="2800" b="1" dirty="0">
                <a:latin typeface="宋体" charset="-122"/>
              </a:rPr>
              <a:t>数据集成</a:t>
            </a:r>
            <a:r>
              <a:rPr lang="en-US" altLang="zh-CN" sz="2800" b="1" dirty="0">
                <a:latin typeface="宋体" charset="-122"/>
              </a:rPr>
              <a:t>WDI</a:t>
            </a:r>
            <a:endParaRPr lang="zh-CN" altLang="en-US" sz="2800" b="1" dirty="0">
              <a:latin typeface="宋体" charset="-122"/>
            </a:endParaRPr>
          </a:p>
          <a:p>
            <a:endParaRPr lang="zh-CN" altLang="en-US" sz="2800" b="1" dirty="0">
              <a:latin typeface="宋体" charset="-122"/>
            </a:endParaRPr>
          </a:p>
          <a:p>
            <a:r>
              <a:rPr lang="zh-CN" altLang="en-US" sz="2800" b="1" dirty="0">
                <a:solidFill>
                  <a:srgbClr val="FF0000"/>
                </a:solidFill>
                <a:latin typeface="宋体" charset="-122"/>
              </a:rPr>
              <a:t>数据集成面临的挑战</a:t>
            </a:r>
          </a:p>
        </p:txBody>
      </p:sp>
    </p:spTree>
    <p:extLst>
      <p:ext uri="{BB962C8B-B14F-4D97-AF65-F5344CB8AC3E}">
        <p14:creationId xmlns:p14="http://schemas.microsoft.com/office/powerpoint/2010/main" val="3027738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系统原因</a:t>
            </a:r>
          </a:p>
        </p:txBody>
      </p:sp>
      <p:sp>
        <p:nvSpPr>
          <p:cNvPr id="12291" name="Rectangle 3"/>
          <p:cNvSpPr>
            <a:spLocks noGrp="1" noChangeArrowheads="1"/>
          </p:cNvSpPr>
          <p:nvPr>
            <p:ph idx="1"/>
          </p:nvPr>
        </p:nvSpPr>
        <p:spPr/>
        <p:txBody>
          <a:bodyPr/>
          <a:lstStyle/>
          <a:p>
            <a:r>
              <a:rPr lang="zh-CN" altLang="en-US" sz="2800" b="1" dirty="0"/>
              <a:t>如何使不同的系统之间无缝交流</a:t>
            </a:r>
          </a:p>
          <a:p>
            <a:pPr lvl="1"/>
            <a:r>
              <a:rPr lang="zh-CN" altLang="en-US" sz="2400" b="1" dirty="0"/>
              <a:t>虽然</a:t>
            </a:r>
            <a:r>
              <a:rPr lang="en-US" altLang="zh-CN" sz="2400" b="1" dirty="0"/>
              <a:t>SQL</a:t>
            </a:r>
            <a:r>
              <a:rPr lang="zh-CN" altLang="en-US" sz="2400" b="1" dirty="0"/>
              <a:t>是一种用于关系数据库的标准查询语言，但不同供应商的实现方式也有差异，在集成过程中，这些差异就需要进行协调</a:t>
            </a:r>
          </a:p>
          <a:p>
            <a:r>
              <a:rPr lang="zh-CN" altLang="en-US" sz="2800" b="1" dirty="0"/>
              <a:t>如何有效地执行跨系统的查询</a:t>
            </a:r>
          </a:p>
          <a:p>
            <a:pPr lvl="1"/>
            <a:r>
              <a:rPr lang="zh-CN" altLang="en-US" sz="2400" b="1" dirty="0"/>
              <a:t>在数据集成中，而临的是已经存在的数据源，而数据的结构往往非常复杂，并且不一定是已知的</a:t>
            </a:r>
            <a:endParaRPr lang="en-US" altLang="zh-CN" sz="2400" b="1" dirty="0"/>
          </a:p>
          <a:p>
            <a:pPr lvl="1"/>
            <a:r>
              <a:rPr lang="zh-CN" altLang="en-US" sz="2400" b="1" dirty="0"/>
              <a:t>每个数据源提供的查询处理能力也大不相同</a:t>
            </a:r>
            <a:endParaRPr lang="en-US" altLang="zh-CN" sz="2400" b="1"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85938" y="44624"/>
            <a:ext cx="6900862" cy="706090"/>
          </a:xfrm>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逻辑原因</a:t>
            </a:r>
          </a:p>
        </p:txBody>
      </p:sp>
      <p:sp>
        <p:nvSpPr>
          <p:cNvPr id="3" name="内容占位符 2"/>
          <p:cNvSpPr>
            <a:spLocks noGrp="1"/>
          </p:cNvSpPr>
          <p:nvPr>
            <p:ph idx="1"/>
          </p:nvPr>
        </p:nvSpPr>
        <p:spPr>
          <a:xfrm>
            <a:off x="1810420" y="749474"/>
            <a:ext cx="6900862" cy="2463502"/>
          </a:xfrm>
        </p:spPr>
        <p:txBody>
          <a:bodyPr/>
          <a:lstStyle/>
          <a:p>
            <a:r>
              <a:rPr lang="zh-CN" altLang="en-US" sz="2400" b="1" dirty="0">
                <a:latin typeface="+mn-ea"/>
              </a:rPr>
              <a:t>多个数据源集成的语义异构问题</a:t>
            </a:r>
            <a:endParaRPr lang="en-US" altLang="zh-CN" sz="2400" b="1" dirty="0">
              <a:latin typeface="+mn-ea"/>
            </a:endParaRPr>
          </a:p>
          <a:p>
            <a:pPr lvl="1"/>
            <a:r>
              <a:rPr lang="zh-CN" altLang="en-US" sz="2000" b="1" dirty="0">
                <a:latin typeface="+mn-ea"/>
              </a:rPr>
              <a:t>结构化的数据源根据模式组织数据</a:t>
            </a:r>
            <a:endParaRPr lang="en-US" altLang="zh-CN" sz="2000" b="1" dirty="0">
              <a:latin typeface="+mn-ea"/>
            </a:endParaRPr>
          </a:p>
          <a:p>
            <a:pPr lvl="1"/>
            <a:r>
              <a:rPr lang="zh-CN" altLang="en-US" sz="2000" b="1" dirty="0">
                <a:latin typeface="+mn-ea"/>
              </a:rPr>
              <a:t>关系数据库：表</a:t>
            </a:r>
            <a:endParaRPr lang="en-US" altLang="zh-CN" sz="2000" b="1" dirty="0">
              <a:latin typeface="+mn-ea"/>
            </a:endParaRPr>
          </a:p>
          <a:p>
            <a:pPr lvl="1"/>
            <a:r>
              <a:rPr lang="zh-CN" altLang="en-US" sz="2000" b="1" dirty="0">
                <a:latin typeface="+mn-ea"/>
              </a:rPr>
              <a:t>其他数据模型：特定的标签、类和属性</a:t>
            </a:r>
            <a:endParaRPr lang="en-US" altLang="zh-CN" sz="2000" b="1" dirty="0">
              <a:latin typeface="+mn-ea"/>
            </a:endParaRPr>
          </a:p>
          <a:p>
            <a:r>
              <a:rPr lang="en-US" altLang="zh-CN" sz="2400" b="1" dirty="0" err="1">
                <a:latin typeface="+mn-ea"/>
              </a:rPr>
              <a:t>FullServe</a:t>
            </a:r>
            <a:r>
              <a:rPr lang="zh-CN" altLang="en-US" sz="2400" b="1" dirty="0">
                <a:latin typeface="+mn-ea"/>
              </a:rPr>
              <a:t>和</a:t>
            </a:r>
            <a:r>
              <a:rPr lang="en-US" altLang="zh-CN" sz="2400" b="1" dirty="0" err="1">
                <a:latin typeface="+mn-ea"/>
              </a:rPr>
              <a:t>EuroCard</a:t>
            </a:r>
            <a:r>
              <a:rPr lang="zh-CN" altLang="en-US" sz="2400" b="1" dirty="0">
                <a:latin typeface="+mn-ea"/>
              </a:rPr>
              <a:t>的差异</a:t>
            </a:r>
            <a:endParaRPr lang="en-US" altLang="zh-CN" sz="2400" b="1" dirty="0">
              <a:latin typeface="+mn-ea"/>
            </a:endParaRPr>
          </a:p>
          <a:p>
            <a:r>
              <a:rPr lang="zh-CN" altLang="en-US" sz="2400" b="1" dirty="0">
                <a:latin typeface="+mn-ea"/>
              </a:rPr>
              <a:t>数据表示和语义的差异</a:t>
            </a:r>
          </a:p>
        </p:txBody>
      </p:sp>
      <p:sp>
        <p:nvSpPr>
          <p:cNvPr id="5" name="内容占位符 2"/>
          <p:cNvSpPr txBox="1">
            <a:spLocks/>
          </p:cNvSpPr>
          <p:nvPr/>
        </p:nvSpPr>
        <p:spPr bwMode="auto">
          <a:xfrm>
            <a:off x="1790006" y="3356992"/>
            <a:ext cx="7246490" cy="338437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1800" b="1" dirty="0" err="1"/>
              <a:t>EuroCard</a:t>
            </a:r>
            <a:r>
              <a:rPr lang="zh-CN" altLang="en-US" sz="1800" b="1" dirty="0"/>
              <a:t>公司数据库</a:t>
            </a:r>
            <a:endParaRPr lang="en-US" altLang="zh-CN" sz="1800" b="1" dirty="0"/>
          </a:p>
          <a:p>
            <a:pPr lvl="1"/>
            <a:r>
              <a:rPr lang="en-US" altLang="zh-CN" sz="1600" b="1" dirty="0"/>
              <a:t>Employee</a:t>
            </a:r>
            <a:r>
              <a:rPr lang="zh-CN" altLang="en-US" sz="1600" b="1" dirty="0"/>
              <a:t>数据库</a:t>
            </a:r>
            <a:endParaRPr lang="en-US" altLang="zh-CN" sz="1600" b="1" dirty="0"/>
          </a:p>
          <a:p>
            <a:pPr lvl="2"/>
            <a:r>
              <a:rPr lang="en-US" altLang="zh-CN" sz="1400" b="1" dirty="0" err="1"/>
              <a:t>Emp</a:t>
            </a:r>
            <a:r>
              <a:rPr lang="en-US" altLang="zh-CN" sz="1400" b="1" dirty="0"/>
              <a:t>(ID, </a:t>
            </a:r>
            <a:r>
              <a:rPr lang="en-US" altLang="zh-CN" sz="1400" b="1" dirty="0" err="1"/>
              <a:t>firstNameMiddielnitial</a:t>
            </a:r>
            <a:r>
              <a:rPr lang="en-US" altLang="zh-CN" sz="1400" b="1" dirty="0"/>
              <a:t>, </a:t>
            </a:r>
            <a:r>
              <a:rPr lang="en-US" altLang="zh-CN" sz="1400" b="1" dirty="0" err="1"/>
              <a:t>lastName</a:t>
            </a:r>
            <a:r>
              <a:rPr lang="en-US" altLang="zh-CN" sz="1400" b="1" dirty="0"/>
              <a:t>. Salary)</a:t>
            </a:r>
          </a:p>
          <a:p>
            <a:pPr lvl="2"/>
            <a:r>
              <a:rPr lang="en-US" altLang="zh-CN" sz="1400" b="1" dirty="0"/>
              <a:t>Hire(ID, </a:t>
            </a:r>
            <a:r>
              <a:rPr lang="en-US" altLang="zh-CN" sz="1400" b="1" dirty="0" err="1"/>
              <a:t>hireDate</a:t>
            </a:r>
            <a:r>
              <a:rPr lang="en-US" altLang="zh-CN" sz="1400" b="1" dirty="0"/>
              <a:t>, recruiter)</a:t>
            </a:r>
            <a:endParaRPr lang="zh-CN" altLang="en-US" sz="1400" b="1" dirty="0"/>
          </a:p>
          <a:p>
            <a:pPr lvl="1"/>
            <a:r>
              <a:rPr lang="en-US" altLang="zh-CN" sz="1600" b="1" dirty="0"/>
              <a:t>Resume</a:t>
            </a:r>
            <a:r>
              <a:rPr lang="zh-CN" altLang="en-US" sz="1600" b="1" dirty="0"/>
              <a:t>数据库</a:t>
            </a:r>
            <a:endParaRPr lang="en-US" altLang="zh-CN" sz="1600" b="1" dirty="0"/>
          </a:p>
          <a:p>
            <a:pPr lvl="2"/>
            <a:r>
              <a:rPr lang="en-US" altLang="zh-CN" sz="1400" b="1" dirty="0"/>
              <a:t>Interviews(</a:t>
            </a:r>
            <a:r>
              <a:rPr lang="en-US" altLang="zh-CN" sz="1400" b="1" dirty="0" err="1"/>
              <a:t>lD</a:t>
            </a:r>
            <a:r>
              <a:rPr lang="en-US" altLang="zh-CN" sz="1400" b="1" dirty="0"/>
              <a:t>, date, location, recruiter)</a:t>
            </a:r>
          </a:p>
          <a:p>
            <a:pPr lvl="2"/>
            <a:r>
              <a:rPr lang="en-US" altLang="zh-CN" sz="1400" b="1" dirty="0"/>
              <a:t>CVs(</a:t>
            </a:r>
            <a:r>
              <a:rPr lang="en-US" altLang="zh-CN" sz="1400" b="1" dirty="0" err="1"/>
              <a:t>candID</a:t>
            </a:r>
            <a:r>
              <a:rPr lang="en-US" altLang="zh-CN" sz="1400" b="1" dirty="0"/>
              <a:t>, resume)</a:t>
            </a:r>
          </a:p>
          <a:p>
            <a:pPr lvl="1"/>
            <a:r>
              <a:rPr lang="en-US" altLang="zh-CN" sz="1600" b="1" dirty="0"/>
              <a:t>Credit Card</a:t>
            </a:r>
            <a:r>
              <a:rPr lang="zh-CN" altLang="en-US" sz="1600" b="1" dirty="0"/>
              <a:t>数据库</a:t>
            </a:r>
            <a:endParaRPr lang="en-US" altLang="zh-CN" sz="1600" b="1" dirty="0"/>
          </a:p>
          <a:p>
            <a:pPr lvl="2"/>
            <a:r>
              <a:rPr lang="en-US" altLang="zh-CN" sz="1400" b="1" dirty="0"/>
              <a:t>Cards(</a:t>
            </a:r>
            <a:r>
              <a:rPr lang="en-US" altLang="zh-CN" sz="1400" b="1" dirty="0" err="1"/>
              <a:t>CustlD</a:t>
            </a:r>
            <a:r>
              <a:rPr lang="en-US" altLang="zh-CN" sz="1400" b="1" dirty="0"/>
              <a:t>, </a:t>
            </a:r>
            <a:r>
              <a:rPr lang="en-US" altLang="zh-CN" sz="1400" b="1" dirty="0" err="1"/>
              <a:t>cardNum</a:t>
            </a:r>
            <a:r>
              <a:rPr lang="en-US" altLang="zh-CN" sz="1400" b="1" dirty="0"/>
              <a:t>, expiration, </a:t>
            </a:r>
            <a:r>
              <a:rPr lang="en-US" altLang="zh-CN" sz="1400" b="1" dirty="0" err="1"/>
              <a:t>currentBalance</a:t>
            </a:r>
            <a:r>
              <a:rPr lang="en-US" altLang="zh-CN" sz="1400" b="1" dirty="0"/>
              <a:t>)</a:t>
            </a:r>
          </a:p>
          <a:p>
            <a:pPr lvl="2"/>
            <a:r>
              <a:rPr lang="en-US" altLang="zh-CN" sz="1400" b="1" dirty="0"/>
              <a:t>customers(</a:t>
            </a:r>
            <a:r>
              <a:rPr lang="en-US" altLang="zh-CN" sz="1400" b="1" dirty="0" err="1"/>
              <a:t>CustlD</a:t>
            </a:r>
            <a:r>
              <a:rPr lang="en-US" altLang="zh-CN" sz="1400" b="1" dirty="0"/>
              <a:t>, name, address)</a:t>
            </a:r>
            <a:endParaRPr lang="zh-CN" altLang="en-US" sz="1400" b="1" dirty="0"/>
          </a:p>
          <a:p>
            <a:pPr lvl="1"/>
            <a:r>
              <a:rPr lang="en-US" altLang="zh-CN" sz="1600" b="1" dirty="0" err="1"/>
              <a:t>HelpLine</a:t>
            </a:r>
            <a:r>
              <a:rPr lang="zh-CN" altLang="en-US" sz="1600" b="1" dirty="0"/>
              <a:t>数据库</a:t>
            </a:r>
            <a:endParaRPr lang="en-US" altLang="zh-CN" sz="1600" b="1" dirty="0"/>
          </a:p>
          <a:p>
            <a:pPr lvl="2"/>
            <a:r>
              <a:rPr lang="en-US" altLang="zh-CN" sz="1400" b="1" dirty="0"/>
              <a:t>Calls(date, agent, </a:t>
            </a:r>
            <a:r>
              <a:rPr lang="en-US" altLang="zh-CN" sz="1400" b="1" dirty="0" err="1"/>
              <a:t>custlD</a:t>
            </a:r>
            <a:r>
              <a:rPr lang="en-US" altLang="zh-CN" sz="1400" b="1" dirty="0"/>
              <a:t>, description, </a:t>
            </a:r>
            <a:r>
              <a:rPr lang="en-US" altLang="zh-CN" sz="1400" b="1" dirty="0" err="1"/>
              <a:t>followup</a:t>
            </a:r>
            <a:r>
              <a:rPr lang="en-US" altLang="zh-CN" sz="1400" b="1" dirty="0"/>
              <a:t>)</a:t>
            </a:r>
          </a:p>
          <a:p>
            <a:pPr lvl="2"/>
            <a:endParaRPr lang="zh-CN" altLang="en-US" sz="1400" b="1" dirty="0"/>
          </a:p>
        </p:txBody>
      </p:sp>
    </p:spTree>
    <p:extLst>
      <p:ext uri="{BB962C8B-B14F-4D97-AF65-F5344CB8AC3E}">
        <p14:creationId xmlns:p14="http://schemas.microsoft.com/office/powerpoint/2010/main" val="37532451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p:cNvSpPr txBox="1">
            <a:spLocks/>
          </p:cNvSpPr>
          <p:nvPr/>
        </p:nvSpPr>
        <p:spPr bwMode="auto">
          <a:xfrm>
            <a:off x="1835696" y="260648"/>
            <a:ext cx="7358062" cy="623224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altLang="zh-CN" sz="2000" b="1" dirty="0" err="1"/>
              <a:t>FullServe</a:t>
            </a:r>
            <a:r>
              <a:rPr lang="zh-CN" altLang="en-US" sz="2000" b="1" dirty="0"/>
              <a:t>的数据库</a:t>
            </a:r>
            <a:endParaRPr lang="en-US" altLang="zh-CN" sz="2400" b="1" dirty="0"/>
          </a:p>
          <a:p>
            <a:pPr lvl="1"/>
            <a:r>
              <a:rPr lang="en-US" altLang="zh-CN" sz="1800" b="1" dirty="0"/>
              <a:t>Employee </a:t>
            </a:r>
            <a:r>
              <a:rPr lang="zh-CN" altLang="en-US" sz="1800" b="1" dirty="0"/>
              <a:t>数据库</a:t>
            </a:r>
            <a:endParaRPr lang="en-US" altLang="zh-CN" sz="1800" b="1" dirty="0"/>
          </a:p>
          <a:p>
            <a:pPr lvl="2"/>
            <a:r>
              <a:rPr lang="en-US" altLang="zh-CN" sz="1600" b="1" dirty="0" err="1"/>
              <a:t>FullTimeEmps</a:t>
            </a:r>
            <a:r>
              <a:rPr lang="en-US" altLang="zh-CN" sz="1600" b="1" dirty="0"/>
              <a:t> (</a:t>
            </a:r>
            <a:r>
              <a:rPr lang="en-US" altLang="zh-CN" sz="1600" b="1" dirty="0" err="1"/>
              <a:t>ssn</a:t>
            </a:r>
            <a:r>
              <a:rPr lang="en-US" altLang="zh-CN" sz="1600" b="1" dirty="0"/>
              <a:t>, </a:t>
            </a:r>
            <a:r>
              <a:rPr lang="en-US" altLang="zh-CN" sz="1600" b="1" dirty="0" err="1"/>
              <a:t>emplD</a:t>
            </a:r>
            <a:r>
              <a:rPr lang="en-US" altLang="zh-CN" sz="1600" b="1" dirty="0"/>
              <a:t>, </a:t>
            </a:r>
            <a:r>
              <a:rPr lang="en-US" altLang="zh-CN" sz="1600" b="1" dirty="0" err="1"/>
              <a:t>firstName</a:t>
            </a:r>
            <a:r>
              <a:rPr lang="en-US" altLang="zh-CN" sz="1600" b="1" dirty="0"/>
              <a:t>,  </a:t>
            </a:r>
            <a:r>
              <a:rPr lang="en-US" altLang="zh-CN" sz="1600" b="1" dirty="0" err="1"/>
              <a:t>middleName</a:t>
            </a:r>
            <a:r>
              <a:rPr lang="en-US" altLang="zh-CN" sz="1600" b="1" dirty="0"/>
              <a:t>, </a:t>
            </a:r>
            <a:r>
              <a:rPr lang="en-US" altLang="zh-CN" sz="1600" b="1" dirty="0" err="1"/>
              <a:t>lastName</a:t>
            </a:r>
            <a:r>
              <a:rPr lang="en-US" altLang="zh-CN" sz="1600" b="1" dirty="0"/>
              <a:t> )</a:t>
            </a:r>
          </a:p>
          <a:p>
            <a:pPr lvl="2"/>
            <a:r>
              <a:rPr lang="en-US" altLang="zh-CN" sz="1600" b="1" dirty="0"/>
              <a:t>Hire (</a:t>
            </a:r>
            <a:r>
              <a:rPr lang="en-US" altLang="zh-CN" sz="1600" b="1" dirty="0" err="1"/>
              <a:t>emplD</a:t>
            </a:r>
            <a:r>
              <a:rPr lang="en-US" altLang="zh-CN" sz="1600" b="1" dirty="0"/>
              <a:t>, </a:t>
            </a:r>
            <a:r>
              <a:rPr lang="en-US" altLang="zh-CN" sz="1600" b="1" dirty="0" err="1"/>
              <a:t>hireDate</a:t>
            </a:r>
            <a:r>
              <a:rPr lang="en-US" altLang="zh-CN" sz="1600" b="1" dirty="0"/>
              <a:t>, recruiter )</a:t>
            </a:r>
          </a:p>
          <a:p>
            <a:pPr lvl="2"/>
            <a:r>
              <a:rPr lang="en-US" altLang="zh-CN" sz="1600" b="1" dirty="0" err="1"/>
              <a:t>TempEmployees</a:t>
            </a:r>
            <a:r>
              <a:rPr lang="en-US" altLang="zh-CN" sz="1600" b="1" dirty="0"/>
              <a:t> (</a:t>
            </a:r>
            <a:r>
              <a:rPr lang="en-US" altLang="zh-CN" sz="1600" b="1" dirty="0" err="1"/>
              <a:t>ssn,hireStart</a:t>
            </a:r>
            <a:r>
              <a:rPr lang="en-US" altLang="zh-CN" sz="1600" b="1" dirty="0"/>
              <a:t>, </a:t>
            </a:r>
            <a:r>
              <a:rPr lang="en-US" altLang="zh-CN" sz="1600" b="1" dirty="0" err="1"/>
              <a:t>hireEnd</a:t>
            </a:r>
            <a:r>
              <a:rPr lang="en-US" altLang="zh-CN" sz="1600" b="1" dirty="0"/>
              <a:t> ,name ,</a:t>
            </a:r>
            <a:r>
              <a:rPr lang="en-US" altLang="zh-CN" sz="1600" b="1" dirty="0" err="1"/>
              <a:t>hourlyRate</a:t>
            </a:r>
            <a:r>
              <a:rPr lang="en-US" altLang="zh-CN" sz="1600" b="1" dirty="0"/>
              <a:t> )</a:t>
            </a:r>
          </a:p>
          <a:p>
            <a:pPr lvl="1"/>
            <a:r>
              <a:rPr lang="en-US" altLang="zh-CN" sz="1800" b="1" dirty="0"/>
              <a:t>Resume </a:t>
            </a:r>
            <a:r>
              <a:rPr lang="zh-CN" altLang="en-US" sz="1800" b="1" dirty="0"/>
              <a:t>数据库</a:t>
            </a:r>
            <a:endParaRPr lang="en-US" altLang="zh-CN" sz="1800" b="1" dirty="0"/>
          </a:p>
          <a:p>
            <a:pPr lvl="2"/>
            <a:r>
              <a:rPr lang="en-US" altLang="zh-CN" sz="1600" b="1" dirty="0"/>
              <a:t>Interviews (</a:t>
            </a:r>
            <a:r>
              <a:rPr lang="en-US" altLang="zh-CN" sz="1600" b="1" dirty="0" err="1"/>
              <a:t>interviewDate</a:t>
            </a:r>
            <a:r>
              <a:rPr lang="en-US" altLang="zh-CN" sz="1600" b="1" dirty="0"/>
              <a:t>, </a:t>
            </a:r>
            <a:r>
              <a:rPr lang="en-US" altLang="zh-CN" sz="1600" b="1" dirty="0" err="1"/>
              <a:t>pID</a:t>
            </a:r>
            <a:r>
              <a:rPr lang="en-US" altLang="zh-CN" sz="1600" b="1" dirty="0"/>
              <a:t>, recruiter, </a:t>
            </a:r>
            <a:r>
              <a:rPr lang="en-US" altLang="zh-CN" sz="1600" b="1" dirty="0" err="1"/>
              <a:t>hireDecision</a:t>
            </a:r>
            <a:r>
              <a:rPr lang="en-US" altLang="zh-CN" sz="1600" b="1" dirty="0"/>
              <a:t>, </a:t>
            </a:r>
            <a:r>
              <a:rPr lang="en-US" altLang="zh-CN" sz="1600" b="1" dirty="0" err="1"/>
              <a:t>hireDate</a:t>
            </a:r>
            <a:r>
              <a:rPr lang="en-US" altLang="zh-CN" sz="1600" b="1" dirty="0"/>
              <a:t> )</a:t>
            </a:r>
          </a:p>
          <a:p>
            <a:pPr lvl="2"/>
            <a:r>
              <a:rPr lang="en-US" altLang="zh-CN" sz="1600" b="1" dirty="0"/>
              <a:t>CVs (</a:t>
            </a:r>
            <a:r>
              <a:rPr lang="en-US" altLang="zh-CN" sz="1600" b="1" dirty="0" err="1"/>
              <a:t>ID,resume</a:t>
            </a:r>
            <a:r>
              <a:rPr lang="en-US" altLang="zh-CN" sz="1600" b="1" dirty="0"/>
              <a:t> )</a:t>
            </a:r>
          </a:p>
          <a:p>
            <a:pPr lvl="1"/>
            <a:r>
              <a:rPr lang="en-US" altLang="zh-CN" sz="1800" b="1" dirty="0"/>
              <a:t>Training </a:t>
            </a:r>
            <a:r>
              <a:rPr lang="zh-CN" altLang="en-US" sz="1800" b="1" dirty="0"/>
              <a:t>数据库</a:t>
            </a:r>
            <a:endParaRPr lang="en-US" altLang="zh-CN" sz="1800" b="1" dirty="0"/>
          </a:p>
          <a:p>
            <a:pPr lvl="2"/>
            <a:r>
              <a:rPr lang="en-US" altLang="zh-CN" sz="1600" b="1" dirty="0"/>
              <a:t>Courses (</a:t>
            </a:r>
            <a:r>
              <a:rPr lang="en-US" altLang="zh-CN" sz="1600" b="1" dirty="0" err="1"/>
              <a:t>courselD,name</a:t>
            </a:r>
            <a:r>
              <a:rPr lang="en-US" altLang="zh-CN" sz="1600" b="1" dirty="0"/>
              <a:t> ,instructor )</a:t>
            </a:r>
          </a:p>
          <a:p>
            <a:pPr lvl="2"/>
            <a:r>
              <a:rPr lang="en-US" altLang="zh-CN" sz="1600" b="1" dirty="0" err="1"/>
              <a:t>Enroliments</a:t>
            </a:r>
            <a:r>
              <a:rPr lang="en-US" altLang="zh-CN" sz="1600" b="1" dirty="0"/>
              <a:t> (</a:t>
            </a:r>
            <a:r>
              <a:rPr lang="en-US" altLang="zh-CN" sz="1600" b="1" dirty="0" err="1"/>
              <a:t>courselD</a:t>
            </a:r>
            <a:r>
              <a:rPr lang="en-US" altLang="zh-CN" sz="1600" b="1" dirty="0"/>
              <a:t>,,date )</a:t>
            </a:r>
          </a:p>
          <a:p>
            <a:pPr lvl="1"/>
            <a:r>
              <a:rPr lang="en-US" altLang="zh-CN" sz="1800" b="1" dirty="0"/>
              <a:t>Services </a:t>
            </a:r>
            <a:r>
              <a:rPr lang="zh-CN" altLang="en-US" sz="1800" b="1" dirty="0"/>
              <a:t>数据库</a:t>
            </a:r>
            <a:endParaRPr lang="en-US" altLang="zh-CN" sz="1800" b="1" dirty="0"/>
          </a:p>
          <a:p>
            <a:pPr lvl="2"/>
            <a:r>
              <a:rPr lang="en-US" altLang="zh-CN" sz="1600" b="1" dirty="0"/>
              <a:t>Services (</a:t>
            </a:r>
            <a:r>
              <a:rPr lang="en-US" altLang="zh-CN" sz="1600" b="1" dirty="0" err="1"/>
              <a:t>packName,textDescription</a:t>
            </a:r>
            <a:r>
              <a:rPr lang="en-US" altLang="zh-CN" sz="1600" b="1" dirty="0"/>
              <a:t> )</a:t>
            </a:r>
          </a:p>
          <a:p>
            <a:pPr lvl="2"/>
            <a:r>
              <a:rPr lang="en-US" altLang="zh-CN" sz="1600" b="1" dirty="0"/>
              <a:t>Customers (name, ID, </a:t>
            </a:r>
            <a:r>
              <a:rPr lang="en-US" altLang="zh-CN" sz="1600" b="1" dirty="0" err="1"/>
              <a:t>zipCode</a:t>
            </a:r>
            <a:r>
              <a:rPr lang="en-US" altLang="zh-CN" sz="1600" b="1" dirty="0"/>
              <a:t>, </a:t>
            </a:r>
            <a:r>
              <a:rPr lang="en-US" altLang="zh-CN" sz="1600" b="1" dirty="0" err="1"/>
              <a:t>streetAdr</a:t>
            </a:r>
            <a:r>
              <a:rPr lang="en-US" altLang="zh-CN" sz="1600" b="1" dirty="0"/>
              <a:t>, phone )</a:t>
            </a:r>
          </a:p>
          <a:p>
            <a:pPr lvl="1"/>
            <a:r>
              <a:rPr lang="en-US" altLang="zh-CN" sz="1800" b="1" dirty="0"/>
              <a:t>Sales </a:t>
            </a:r>
            <a:r>
              <a:rPr lang="zh-CN" altLang="en-US" sz="1800" b="1" dirty="0"/>
              <a:t>数据库</a:t>
            </a:r>
            <a:endParaRPr lang="en-US" altLang="zh-CN" sz="1800" b="1" dirty="0"/>
          </a:p>
          <a:p>
            <a:pPr lvl="2"/>
            <a:r>
              <a:rPr lang="en-US" altLang="zh-CN" sz="1600" b="1" dirty="0"/>
              <a:t>Products (</a:t>
            </a:r>
            <a:r>
              <a:rPr lang="en-US" altLang="zh-CN" sz="1600" b="1" dirty="0" err="1"/>
              <a:t>prodName,prodID</a:t>
            </a:r>
            <a:r>
              <a:rPr lang="en-US" altLang="zh-CN" sz="1600" b="1" dirty="0"/>
              <a:t> )</a:t>
            </a:r>
          </a:p>
          <a:p>
            <a:pPr lvl="2"/>
            <a:r>
              <a:rPr lang="en-US" altLang="zh-CN" sz="1600" b="1" dirty="0"/>
              <a:t>Sales (</a:t>
            </a:r>
            <a:r>
              <a:rPr lang="en-US" altLang="zh-CN" sz="1600" b="1" dirty="0" err="1"/>
              <a:t>prodID,customerD</a:t>
            </a:r>
            <a:r>
              <a:rPr lang="en-US" altLang="zh-CN" sz="1600" b="1" dirty="0"/>
              <a:t> , </a:t>
            </a:r>
            <a:r>
              <a:rPr lang="en-US" altLang="zh-CN" sz="1600" b="1" dirty="0" err="1"/>
              <a:t>custName</a:t>
            </a:r>
            <a:r>
              <a:rPr lang="en-US" altLang="zh-CN" sz="1600" b="1" dirty="0"/>
              <a:t> ,address )</a:t>
            </a:r>
          </a:p>
          <a:p>
            <a:pPr lvl="1"/>
            <a:r>
              <a:rPr lang="en-US" altLang="zh-CN" sz="1800" b="1" dirty="0" err="1"/>
              <a:t>HelpLine</a:t>
            </a:r>
            <a:r>
              <a:rPr lang="en-US" altLang="zh-CN" sz="1800" b="1" dirty="0"/>
              <a:t> </a:t>
            </a:r>
            <a:r>
              <a:rPr lang="zh-CN" altLang="en-US" sz="1800" b="1" dirty="0"/>
              <a:t>数据库</a:t>
            </a:r>
            <a:endParaRPr lang="en-US" altLang="zh-CN" sz="1800" b="1" dirty="0"/>
          </a:p>
          <a:p>
            <a:pPr lvl="2"/>
            <a:r>
              <a:rPr lang="en-US" altLang="zh-CN" sz="1600" b="1" dirty="0"/>
              <a:t>Calls (</a:t>
            </a:r>
            <a:r>
              <a:rPr lang="en-US" altLang="zh-CN" sz="1600" b="1" dirty="0" err="1"/>
              <a:t>date,agent</a:t>
            </a:r>
            <a:r>
              <a:rPr lang="en-US" altLang="zh-CN" sz="1600" b="1" dirty="0"/>
              <a:t> ,text ,action )</a:t>
            </a:r>
          </a:p>
          <a:p>
            <a:pPr lvl="1"/>
            <a:endParaRPr lang="zh-CN" altLang="en-US" sz="2000" b="1" dirty="0"/>
          </a:p>
        </p:txBody>
      </p:sp>
    </p:spTree>
    <p:extLst>
      <p:ext uri="{BB962C8B-B14F-4D97-AF65-F5344CB8AC3E}">
        <p14:creationId xmlns:p14="http://schemas.microsoft.com/office/powerpoint/2010/main" val="427993498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3200" b="1" dirty="0">
                <a:latin typeface="宋体" charset="-122"/>
              </a:rPr>
              <a:t>社会和管理原因</a:t>
            </a:r>
          </a:p>
        </p:txBody>
      </p:sp>
      <p:sp>
        <p:nvSpPr>
          <p:cNvPr id="3" name="内容占位符 2"/>
          <p:cNvSpPr>
            <a:spLocks noGrp="1"/>
          </p:cNvSpPr>
          <p:nvPr>
            <p:ph idx="1"/>
          </p:nvPr>
        </p:nvSpPr>
        <p:spPr>
          <a:xfrm>
            <a:off x="1785938" y="1268760"/>
            <a:ext cx="6900862" cy="4686300"/>
          </a:xfrm>
        </p:spPr>
        <p:txBody>
          <a:bodyPr/>
          <a:lstStyle/>
          <a:p>
            <a:r>
              <a:rPr lang="zh-CN" altLang="en-US" sz="2400" b="1" dirty="0"/>
              <a:t>数据源难以获得</a:t>
            </a:r>
            <a:endParaRPr lang="en-US" altLang="zh-CN" sz="2400" b="1" dirty="0"/>
          </a:p>
          <a:p>
            <a:pPr lvl="1"/>
            <a:r>
              <a:rPr lang="en-US" altLang="zh-CN" sz="2000" b="1" dirty="0" err="1"/>
              <a:t>EuroCard</a:t>
            </a:r>
            <a:r>
              <a:rPr lang="zh-CN" altLang="en-US" sz="2000" b="1" dirty="0"/>
              <a:t>可能根本就没有保存员工的电子简历</a:t>
            </a:r>
            <a:endParaRPr lang="en-US" altLang="zh-CN" sz="2000" b="1" dirty="0"/>
          </a:p>
          <a:p>
            <a:r>
              <a:rPr lang="zh-CN" altLang="en-US" sz="2400" b="1" dirty="0"/>
              <a:t>出于法律上的原因，不能共享数据</a:t>
            </a:r>
            <a:endParaRPr lang="en-US" altLang="zh-CN" sz="2400" b="1" dirty="0"/>
          </a:p>
          <a:p>
            <a:r>
              <a:rPr lang="zh-CN" altLang="en-US" sz="2400" b="1" dirty="0"/>
              <a:t>数据的所有者也可能不愿意配合数据的整合</a:t>
            </a:r>
            <a:endParaRPr lang="en-US" altLang="zh-CN" sz="2400" b="1" dirty="0"/>
          </a:p>
          <a:p>
            <a:pPr lvl="1"/>
            <a:r>
              <a:rPr lang="zh-CN" altLang="en-US" sz="2000" b="1" dirty="0"/>
              <a:t>数据关系到企业的一些关键业务，允许来自数据集成系统的额外查询可能会给他们的系统带来难以承受的高负荷</a:t>
            </a:r>
            <a:endParaRPr lang="en-US" altLang="zh-CN" sz="2000" b="1" dirty="0"/>
          </a:p>
          <a:p>
            <a:pPr lvl="1"/>
            <a:r>
              <a:rPr lang="zh-CN" altLang="en-US" sz="2000" b="1" dirty="0"/>
              <a:t>数据只能被企业内部特定的人员看到，数据的所有者有理由担心数据集成系统无法强制执行这些限制</a:t>
            </a:r>
            <a:endParaRPr lang="en-US" altLang="zh-CN" sz="2000" b="1" dirty="0"/>
          </a:p>
          <a:p>
            <a:pPr lvl="1"/>
            <a:r>
              <a:rPr lang="zh-CN" altLang="en-US" sz="2000" b="1" dirty="0"/>
              <a:t>对数据的访问意味着在组织内拥有更多的权力</a:t>
            </a:r>
          </a:p>
        </p:txBody>
      </p:sp>
    </p:spTree>
    <p:extLst>
      <p:ext uri="{BB962C8B-B14F-4D97-AF65-F5344CB8AC3E}">
        <p14:creationId xmlns:p14="http://schemas.microsoft.com/office/powerpoint/2010/main" val="23446045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ln w="9525">
            <a:noFill/>
            <a:miter lim="800000"/>
            <a:headEnd/>
            <a:tailEnd/>
          </a:ln>
        </p:spPr>
        <p:txBody>
          <a:bodyPr vert="horz" wrap="square" lIns="91440" tIns="45720" rIns="91440" bIns="45720" numCol="1" anchor="ctr" anchorCtr="0" compatLnSpc="1">
            <a:prstTxWarp prst="textNoShape">
              <a:avLst/>
            </a:prstTxWarp>
          </a:bodyPr>
          <a:lstStyle/>
          <a:p>
            <a:r>
              <a:rPr lang="zh-CN" altLang="en-US" sz="3200" b="1" dirty="0">
                <a:latin typeface="宋体" charset="-122"/>
              </a:rPr>
              <a:t>设定预期</a:t>
            </a:r>
          </a:p>
        </p:txBody>
      </p:sp>
      <p:sp>
        <p:nvSpPr>
          <p:cNvPr id="3" name="内容占位符 2"/>
          <p:cNvSpPr>
            <a:spLocks noGrp="1"/>
          </p:cNvSpPr>
          <p:nvPr>
            <p:ph idx="1"/>
          </p:nvPr>
        </p:nvSpPr>
        <p:spPr/>
        <p:txBody>
          <a:bodyPr/>
          <a:lstStyle/>
          <a:p>
            <a:r>
              <a:rPr lang="zh-CN" altLang="en-US" sz="2400" b="1" dirty="0">
                <a:latin typeface="+mn-ea"/>
              </a:rPr>
              <a:t>数据集成问题难以彻底解决</a:t>
            </a:r>
            <a:endParaRPr lang="en-US" altLang="zh-CN" sz="2400" b="1" dirty="0">
              <a:latin typeface="+mn-ea"/>
            </a:endParaRPr>
          </a:p>
          <a:p>
            <a:r>
              <a:rPr lang="zh-CN" altLang="en-US" sz="2400" b="1" dirty="0">
                <a:latin typeface="+mn-ea"/>
              </a:rPr>
              <a:t>两个较为实际的目标</a:t>
            </a:r>
            <a:endParaRPr lang="en-US" altLang="zh-CN" sz="2400" b="1" dirty="0">
              <a:latin typeface="+mn-ea"/>
            </a:endParaRPr>
          </a:p>
          <a:p>
            <a:pPr lvl="1"/>
            <a:r>
              <a:rPr lang="zh-CN" altLang="en-US" sz="2000" b="1" dirty="0">
                <a:latin typeface="+mn-ea"/>
              </a:rPr>
              <a:t>构建工具来减少整合一组数据源所需要付出的努力。例如，这些工具应该易于添加新的数据源、将模式关联到其他数据源、自动调整数据集成系统以获得更好的性能</a:t>
            </a:r>
            <a:endParaRPr lang="en-US" altLang="zh-CN" sz="2000" b="1" dirty="0">
              <a:latin typeface="+mn-ea"/>
            </a:endParaRPr>
          </a:p>
          <a:p>
            <a:pPr lvl="1"/>
            <a:r>
              <a:rPr lang="zh-CN" altLang="en-US" sz="2000" b="1" dirty="0">
                <a:latin typeface="+mn-ea"/>
              </a:rPr>
              <a:t>提高系统在不确定环境下回答用户查询的能力。在数据集成应用时，减少用户的负担和提高准确性不能两全</a:t>
            </a:r>
            <a:endParaRPr lang="en-US" altLang="zh-CN" sz="2000" b="1" dirty="0">
              <a:latin typeface="+mn-ea"/>
            </a:endParaRPr>
          </a:p>
          <a:p>
            <a:r>
              <a:rPr lang="zh-CN" altLang="en-US" sz="2400" b="1" dirty="0">
                <a:latin typeface="+mn-ea"/>
              </a:rPr>
              <a:t>用户以较小的代价从数据集成系统中获得更好的结果</a:t>
            </a:r>
          </a:p>
        </p:txBody>
      </p:sp>
    </p:spTree>
    <p:extLst>
      <p:ext uri="{BB962C8B-B14F-4D97-AF65-F5344CB8AC3E}">
        <p14:creationId xmlns:p14="http://schemas.microsoft.com/office/powerpoint/2010/main" val="2886785696"/>
      </p:ext>
    </p:extLst>
  </p:cSld>
  <p:clrMapOvr>
    <a:masterClrMapping/>
  </p:clrMapOvr>
</p:sld>
</file>

<file path=ppt/theme/theme1.xml><?xml version="1.0" encoding="utf-8"?>
<a:theme xmlns:a="http://schemas.openxmlformats.org/drawingml/2006/main" name="南京大学软件学院模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学院PPT模板2003版软件学院模板</Template>
  <TotalTime>6862</TotalTime>
  <Words>6383</Words>
  <Application>Microsoft Office PowerPoint</Application>
  <PresentationFormat>全屏显示(4:3)</PresentationFormat>
  <Paragraphs>631</Paragraphs>
  <Slides>61</Slides>
  <Notes>33</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61</vt:i4>
      </vt:variant>
    </vt:vector>
  </HeadingPairs>
  <TitlesOfParts>
    <vt:vector size="70" baseType="lpstr">
      <vt:lpstr>宋体</vt:lpstr>
      <vt:lpstr>Arial</vt:lpstr>
      <vt:lpstr>Arial Narrow</vt:lpstr>
      <vt:lpstr>Calibri</vt:lpstr>
      <vt:lpstr>Tahoma</vt:lpstr>
      <vt:lpstr>Times New Roman</vt:lpstr>
      <vt:lpstr>Wingdings</vt:lpstr>
      <vt:lpstr>南京大学软件学院模版</vt:lpstr>
      <vt:lpstr>Worksheet</vt:lpstr>
      <vt:lpstr>课程介绍</vt:lpstr>
      <vt:lpstr>数据集成概述 —企业应用集成背景</vt:lpstr>
      <vt:lpstr>数据集成概述</vt:lpstr>
      <vt:lpstr>应用环境图例</vt:lpstr>
      <vt:lpstr>PowerPoint 演示文稿</vt:lpstr>
      <vt:lpstr>两类集成场景</vt:lpstr>
      <vt:lpstr>信息孤岛</vt:lpstr>
      <vt:lpstr>信息化环境的变化</vt:lpstr>
      <vt:lpstr>集成案例</vt:lpstr>
      <vt:lpstr>PowerPoint 演示文稿</vt:lpstr>
      <vt:lpstr>PowerPoint 演示文稿</vt:lpstr>
      <vt:lpstr>PowerPoint 演示文稿</vt:lpstr>
      <vt:lpstr>企业信息化发展阶段</vt:lpstr>
      <vt:lpstr>商业集成需求</vt:lpstr>
      <vt:lpstr>信息系统开发工具的选择</vt:lpstr>
      <vt:lpstr>企业信息化的挑战</vt:lpstr>
      <vt:lpstr>EAI的优势</vt:lpstr>
      <vt:lpstr>PowerPoint 演示文稿</vt:lpstr>
      <vt:lpstr>常见的EAI需求</vt:lpstr>
      <vt:lpstr>PowerPoint 演示文稿</vt:lpstr>
      <vt:lpstr>数据集成概述</vt:lpstr>
      <vt:lpstr>企业应用集成(EAI)</vt:lpstr>
      <vt:lpstr>应用集成的前提</vt:lpstr>
      <vt:lpstr>三个目标</vt:lpstr>
      <vt:lpstr>PowerPoint 演示文稿</vt:lpstr>
      <vt:lpstr>技术要求</vt:lpstr>
      <vt:lpstr>应用集成的历史</vt:lpstr>
      <vt:lpstr>集成模型</vt:lpstr>
      <vt:lpstr>集成模型种类</vt:lpstr>
      <vt:lpstr>表示集成模型</vt:lpstr>
      <vt:lpstr>应用场景</vt:lpstr>
      <vt:lpstr>表示集成的特点</vt:lpstr>
      <vt:lpstr>数据集成</vt:lpstr>
      <vt:lpstr>数据集成模型</vt:lpstr>
      <vt:lpstr>应用场景</vt:lpstr>
      <vt:lpstr>数据集成的特点</vt:lpstr>
      <vt:lpstr>功能集成模型</vt:lpstr>
      <vt:lpstr>分布式处理中间件</vt:lpstr>
      <vt:lpstr>应用场景</vt:lpstr>
      <vt:lpstr>功能集成的特点</vt:lpstr>
      <vt:lpstr>业务流程集成模型</vt:lpstr>
      <vt:lpstr>业务流程</vt:lpstr>
      <vt:lpstr>业务流程集成的技术成分 </vt:lpstr>
      <vt:lpstr>应用场景</vt:lpstr>
      <vt:lpstr>流程集成应用开发模式</vt:lpstr>
      <vt:lpstr>B2B电子商务</vt:lpstr>
      <vt:lpstr>B2B模式</vt:lpstr>
      <vt:lpstr>B2B集成场景</vt:lpstr>
      <vt:lpstr>B2B集成解决方案（宏观）</vt:lpstr>
      <vt:lpstr>B2B系统的主要部分 </vt:lpstr>
      <vt:lpstr>数据集成概述</vt:lpstr>
      <vt:lpstr>集成案例2</vt:lpstr>
      <vt:lpstr>Web数据集成</vt:lpstr>
      <vt:lpstr>Web数据集成步骤</vt:lpstr>
      <vt:lpstr>Web数据集成难点</vt:lpstr>
      <vt:lpstr>数据集成概述</vt:lpstr>
      <vt:lpstr>系统原因</vt:lpstr>
      <vt:lpstr>逻辑原因</vt:lpstr>
      <vt:lpstr>PowerPoint 演示文稿</vt:lpstr>
      <vt:lpstr>社会和管理原因</vt:lpstr>
      <vt:lpstr>设定预期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应用集成概述</dc:title>
  <dc:creator>ufeng</dc:creator>
  <cp:lastModifiedBy>峰</cp:lastModifiedBy>
  <cp:revision>112</cp:revision>
  <dcterms:modified xsi:type="dcterms:W3CDTF">2026-03-06T10:14:33Z</dcterms:modified>
</cp:coreProperties>
</file>