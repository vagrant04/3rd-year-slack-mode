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a7becdb63f4562" /><Relationship Type="http://schemas.openxmlformats.org/officeDocument/2006/relationships/extended-properties" Target="/docProps/app.xml" Id="R912209e0541045a2" /><Relationship Type="http://schemas.openxmlformats.org/officeDocument/2006/relationships/officeDocument" Target="/ppt/presentation.xml" Id="R9cd3a59c5d494d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4e40183ba54dcb"/>
  </p:sldMasterIdLst>
  <p:notesMasterIdLst>
    <p:notesMasterId xmlns:r="http://schemas.openxmlformats.org/officeDocument/2006/relationships" r:id="R471fd8a82f854f6c"/>
  </p:notesMasterIdLst>
  <p:sldIdLst>
    <p:sldId xmlns:r="http://schemas.openxmlformats.org/officeDocument/2006/relationships" id="256" r:id="Rdb219c6f3e9c431c"/>
    <p:sldId xmlns:r="http://schemas.openxmlformats.org/officeDocument/2006/relationships" id="257" r:id="Raad56cba27024f64"/>
    <p:sldId xmlns:r="http://schemas.openxmlformats.org/officeDocument/2006/relationships" id="258" r:id="R385f411ce61a4a2b"/>
    <p:sldId xmlns:r="http://schemas.openxmlformats.org/officeDocument/2006/relationships" id="259" r:id="Rcd479fc9a3ea4522"/>
    <p:sldId xmlns:r="http://schemas.openxmlformats.org/officeDocument/2006/relationships" id="260" r:id="R61ee2b877a574968"/>
    <p:sldId xmlns:r="http://schemas.openxmlformats.org/officeDocument/2006/relationships" id="261" r:id="R5e21ff43a7784853"/>
    <p:sldId xmlns:r="http://schemas.openxmlformats.org/officeDocument/2006/relationships" id="262" r:id="R624bd06b7a0a45e2"/>
    <p:sldId xmlns:r="http://schemas.openxmlformats.org/officeDocument/2006/relationships" id="263" r:id="Rb459289b1f57418a"/>
    <p:sldId xmlns:r="http://schemas.openxmlformats.org/officeDocument/2006/relationships" id="264" r:id="R9d7f44693a824c69"/>
    <p:sldId xmlns:r="http://schemas.openxmlformats.org/officeDocument/2006/relationships" id="265" r:id="Re5345890d5ca4a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a0933747f460f" /><Relationship Type="http://schemas.openxmlformats.org/officeDocument/2006/relationships/slideMaster" Target="/ppt/slideMasters/slideMaster1.xml" Id="Re64e40183ba54dcb" /><Relationship Type="http://schemas.openxmlformats.org/officeDocument/2006/relationships/notesMaster" Target="/ppt/notesMasters/notesMaster1.xml" Id="R471fd8a82f854f6c" /><Relationship Type="http://schemas.openxmlformats.org/officeDocument/2006/relationships/presProps" Target="/ppt/presProps.xml" Id="R11e5d2c334bc47e6" /><Relationship Type="http://schemas.openxmlformats.org/officeDocument/2006/relationships/viewProps" Target="/ppt/viewProps.xml" Id="Red5c1218e1954796" /><Relationship Type="http://schemas.openxmlformats.org/officeDocument/2006/relationships/tableStyles" Target="/ppt/tableStyles.xml" Id="R82ee4d075d784b79" /><Relationship Type="http://schemas.openxmlformats.org/officeDocument/2006/relationships/slide" Target="/ppt/slides/slide1.xml" Id="Rdb219c6f3e9c431c" /><Relationship Type="http://schemas.openxmlformats.org/officeDocument/2006/relationships/slide" Target="/ppt/slides/slide2.xml" Id="Raad56cba27024f64" /><Relationship Type="http://schemas.openxmlformats.org/officeDocument/2006/relationships/slide" Target="/ppt/slides/slide3.xml" Id="R385f411ce61a4a2b" /><Relationship Type="http://schemas.openxmlformats.org/officeDocument/2006/relationships/slide" Target="/ppt/slides/slide4.xml" Id="Rcd479fc9a3ea4522" /><Relationship Type="http://schemas.openxmlformats.org/officeDocument/2006/relationships/slide" Target="/ppt/slides/slide5.xml" Id="R61ee2b877a574968" /><Relationship Type="http://schemas.openxmlformats.org/officeDocument/2006/relationships/slide" Target="/ppt/slides/slide6.xml" Id="R5e21ff43a7784853" /><Relationship Type="http://schemas.openxmlformats.org/officeDocument/2006/relationships/slide" Target="/ppt/slides/slide7.xml" Id="R624bd06b7a0a45e2" /><Relationship Type="http://schemas.openxmlformats.org/officeDocument/2006/relationships/slide" Target="/ppt/slides/slide8.xml" Id="Rb459289b1f57418a" /><Relationship Type="http://schemas.openxmlformats.org/officeDocument/2006/relationships/slide" Target="/ppt/slides/slide9.xml" Id="R9d7f44693a824c69" /><Relationship Type="http://schemas.openxmlformats.org/officeDocument/2006/relationships/slide" Target="/ppt/slides/slide10.xml" Id="Re5345890d5ca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f19f6eb914d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8212cd87b54942" /><Relationship Type="http://schemas.openxmlformats.org/officeDocument/2006/relationships/notesMaster" Target="/ppt/notesMasters/notesMaster1.xml" Id="R02b80c559f8547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a5808cc4a940ee" /><Relationship Type="http://schemas.openxmlformats.org/officeDocument/2006/relationships/notesMaster" Target="/ppt/notesMasters/notesMaster1.xml" Id="R51fc52e1e6aa4c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0ef134a28d4943" /><Relationship Type="http://schemas.openxmlformats.org/officeDocument/2006/relationships/notesMaster" Target="/ppt/notesMasters/notesMaster1.xml" Id="R80a90f5f563e43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5cbba8ed3482c" /><Relationship Type="http://schemas.openxmlformats.org/officeDocument/2006/relationships/notesMaster" Target="/ppt/notesMasters/notesMaster1.xml" Id="Rea3479cebc8d42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090b1c45c94cdc" /><Relationship Type="http://schemas.openxmlformats.org/officeDocument/2006/relationships/notesMaster" Target="/ppt/notesMasters/notesMaster1.xml" Id="R2c7c0ffb5ddb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bc755a0f2c4bbf" /><Relationship Type="http://schemas.openxmlformats.org/officeDocument/2006/relationships/notesMaster" Target="/ppt/notesMasters/notesMaster1.xml" Id="Re0e2f2d4dd834e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06f209dd324ca1" /><Relationship Type="http://schemas.openxmlformats.org/officeDocument/2006/relationships/notesMaster" Target="/ppt/notesMasters/notesMaster1.xml" Id="R1c3b9750e62a40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e6473a6c054eb0" /><Relationship Type="http://schemas.openxmlformats.org/officeDocument/2006/relationships/notesMaster" Target="/ppt/notesMasters/notesMaster1.xml" Id="R82d655a502fa4a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357cb900a24961" /><Relationship Type="http://schemas.openxmlformats.org/officeDocument/2006/relationships/notesMaster" Target="/ppt/notesMasters/notesMaster1.xml" Id="R4c45e9afe37b4d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aaab894de446b" /><Relationship Type="http://schemas.openxmlformats.org/officeDocument/2006/relationships/notesMaster" Target="/ppt/notesMasters/notesMaster1.xml" Id="Rdd3beeb11b9f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3ba0896f4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f52206e9844d3" /><Relationship Type="http://schemas.openxmlformats.org/officeDocument/2006/relationships/slideLayout" Target="/ppt/slideLayouts/slideLayout1.xml" Id="R8c7691457a5a40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691457a5a40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2ef2ac4454b47" /><Relationship Type="http://schemas.openxmlformats.org/officeDocument/2006/relationships/notesSlide" Target="/ppt/notesSlides/notesSlide1.xml" Id="Rd8ca17dedaa5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5e581765e4939" /><Relationship Type="http://schemas.openxmlformats.org/officeDocument/2006/relationships/notesSlide" Target="/ppt/notesSlides/notesSlide2.xml" Id="R8399245c775e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35414ec514d34" /><Relationship Type="http://schemas.openxmlformats.org/officeDocument/2006/relationships/notesSlide" Target="/ppt/notesSlides/notesSlide3.xml" Id="Rde244003540a42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63e89fa9d4f83" /><Relationship Type="http://schemas.openxmlformats.org/officeDocument/2006/relationships/notesSlide" Target="/ppt/notesSlides/notesSlide4.xml" Id="Rdb793fe7973f4c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37c4f21ab4321" /><Relationship Type="http://schemas.openxmlformats.org/officeDocument/2006/relationships/notesSlide" Target="/ppt/notesSlides/notesSlide5.xml" Id="Re96fec22f26740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cb9842e794ec8" /><Relationship Type="http://schemas.openxmlformats.org/officeDocument/2006/relationships/notesSlide" Target="/ppt/notesSlides/notesSlide6.xml" Id="Rc68a0363bce747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276c3f20147de" /><Relationship Type="http://schemas.openxmlformats.org/officeDocument/2006/relationships/notesSlide" Target="/ppt/notesSlides/notesSlide7.xml" Id="R86cf644c038c4a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8a7d097cc43b1" /><Relationship Type="http://schemas.openxmlformats.org/officeDocument/2006/relationships/notesSlide" Target="/ppt/notesSlides/notesSlide8.xml" Id="R20551e3c71af4a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835b1c1734d3e" /><Relationship Type="http://schemas.openxmlformats.org/officeDocument/2006/relationships/notesSlide" Target="/ppt/notesSlides/notesSlide9.xml" Id="R15cd083e38f94d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f2a3417a146b7" /><Relationship Type="http://schemas.openxmlformats.org/officeDocument/2006/relationships/notesSlide" Target="/ppt/notesSlides/notesSlide10.xml" Id="R584b2a9ef6834c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BF7B8-B5EC-47F7-A7BD-9D1A66C9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BE82B-A96F-4AF2-BBCA-31181E8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FC2EB-0BD3-481E-83EC-92521EF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2C582-440E-42E5-BB22-5417C7CD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TSP 启动会议汇报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3B05-1D85-4178-8410-A36E223E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57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FIM 测评平台</a:t>
            </a:r>
          </a:p>
          <a:p xmlns:a="http://schemas.openxmlformats.org/drawingml/2006/main">
            <a:pPr algn="l">
              <a:defRPr sz="4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项目方案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7B1E6-40A0-4459-8D33-A648E2AB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800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自主团队 + Scrum 迭代 + TSP 度量控制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81E11-E44B-4CC1-881A-28462810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7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4613C-C1D9-4176-BC3F-2EE9574A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25CBC-6992-4529-AACF-11555CC9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4 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0BB3-4FA9-426E-AA6B-4F30D3C0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114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跨职能团队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4B2E6-033C-45F9-A177-D0BE4C26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TSP 与 Scrum 双角色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B4B30-ED92-4A5A-A709-458FAF41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2E267-93C8-42B4-971D-363587A0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rPr>
              <a:t>14 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3859C-F085-4857-BA04-E123FFD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2114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核心平台上线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028EE-31C8-443D-92A5-9D86998E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8632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3 个 Sprint + 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0F9C1-C230-4915-AD4A-E5022D83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86ABF-3C0A-4EE1-B85B-55A7E52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276 人时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73E00-8DDB-4A90-A940-2FB85010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29150"/>
            <a:ext cx="2114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计划工作量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34FC2-90E6-4202-AE78-35A99992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8632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总容量 280 人时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264AE-2F40-4E3F-BAEC-C0FB5F7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57650"/>
            <a:ext cx="2933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90F74-8E90-4BC1-9BFD-2275593F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Day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7A756-571C-4464-BB04-38EA6011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2915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最小闭环可演示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50886-E79E-40F3-9EB4-54343C15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863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提交 + 评测 + 榜单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9B673-9DAB-4491-94A7-3FDE882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目标：交付可上线运行、可审计、可扩展的 FIM 测评平台最小可用版本</a:t>
            </a:r>
          </a:p>
        </p:txBody>
      </p:sp>
    </p:spTree>
    <p:extLst>
      <p:ext uri="{BB962C8B-B14F-4D97-AF65-F5344CB8AC3E}">
        <p14:creationId xmlns:p14="http://schemas.microsoft.com/office/powerpoint/2010/main" val="1977145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77F19-14B4-4A81-A13D-7AB65DA3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789367A-7476-40EF-8C2A-F3FE31A5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2BA8A53B-4B85-4CF6-835B-9EE278DA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方案边界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4A426-5B1A-4DB4-B141-6CAA2E2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把分散的评测步骤组织成可审计的完整服务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60F7D-4186-4043-9407-363C24BF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64C42-E742-4965-A6EE-861C0F64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37A6F-DCB2-4D6A-9042-1B69C6D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581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F1899-C036-4338-9050-BA34C7B7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06F19-9BE9-471E-9457-3216F43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24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30B38-D9CC-4A5A-B659-F5947BFC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提交同步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444E7-7658-44F1-BF3B-DB317E0D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OBS / 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69142-ED51-4B86-B047-AFECED4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05150"/>
            <a:ext cx="17145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BC559-532D-4580-84B3-2E5CD9C2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5500"/>
            <a:ext cx="1581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30E9A-9CA3-4539-8976-6DC85299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D6BDB-105A-4801-84D8-F239015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24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0A2CC-A77D-46E1-A1F9-1CDE333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670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模型校验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BDE96-BEA5-44CC-9C71-55BDF64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2425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目录与关键文件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E1348-0244-49FB-91DA-A9BA1E75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17145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D506C-6C24-4C45-B9CF-E36FEED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1581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6302D-8930-4E4B-BBB1-437CC459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502FE-92CB-4A05-9682-5BEA5BF7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24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619A5-BA1F-49AA-B87A-D8D5EBA9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评测编排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BE805-9F73-4B83-A041-822C0B0C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队列 / 状态 / 日志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0F377-77EF-4632-BF7C-DA56FA39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105150"/>
            <a:ext cx="17145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8BC0C7-5AA3-449C-B4CB-723AD3B3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581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C5C67-2233-48E5-926A-D55E06C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9844E-7512-409E-9AB7-2D2AB2A2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24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1CF45D-C0AA-49D5-A45C-6920550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后端推理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F53869-40B8-49F3-A012-0ED0C95F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MindSpeed 优先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C014B-D3BF-434A-8CAF-4DA48F2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05150"/>
            <a:ext cx="17145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4C7F8-5994-409C-A5D6-DBB932AD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1581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69B68-2218-4FEA-BED7-133B826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22D830-E94C-4951-B7AA-4CF01BE3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24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CA98BB-965A-4FB9-BB8A-8EC7C94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指标恢复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83187-3D65-4612-A466-BE963BDF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EM / ES / 复读 / TLE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7A837C-18EA-43CE-8B1C-334A2E60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105150"/>
            <a:ext cx="17145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B38C9E-634C-4918-A63E-2B2A0F8D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95500"/>
            <a:ext cx="1581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11BD6F-FE46-47EB-BC27-171AB869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0398EF-5CEC-4D30-81D8-413EB742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324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51F4B6-DCC2-4CB8-9003-645BE8F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670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报告发布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5AC10A-7D2E-4593-9C34-E7F1F5DD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24250"/>
            <a:ext cx="139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内部报告 / 公开榜单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17E004-E263-4792-BA7B-CCF08C49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076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F864F6-CA84-41AA-86AA-220E9F4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平台的可信基础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0C299B-36C1-46FD-B9E0-B676DAE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固定数据集、评分源码、后端版本、采样参数和提交截止策略；保存评测元数据与重算入口。</a:t>
            </a:r>
          </a:p>
        </p:txBody>
      </p:sp>
    </p:spTree>
    <p:extLst>
      <p:ext uri="{BB962C8B-B14F-4D97-AF65-F5344CB8AC3E}">
        <p14:creationId xmlns:p14="http://schemas.microsoft.com/office/powerpoint/2010/main" val="7894638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704E7-3F68-43E1-BC18-D81C8900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319AE3D0-31A4-4F85-9147-32C1AE37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1BF019F-6EFA-433E-B9CC-CCBAB4D6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团队组成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CC7F8-0EA8-40B2-A532-558ADA8E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四人跨职能配置，以专业主责和关键模块互备降低单点风险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1616C-4177-47D7-B9A9-9AB8E6B0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0A3DF-C45D-47F7-840C-A44D6419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43040-5ECA-4DE1-B0CE-776A1CD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B2DA2-C965-4773-9A13-EB675DE0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88B07-E3BD-48B2-B71C-D49A3C8B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7604E-DBEC-47EC-BE99-8C951C4E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716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张天翔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78E6C-8608-49C7-9701-A020E90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050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TL / 支持经理</a:t>
            </a:r>
          </a:p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Scrum Master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AC7C6-35D8-4EDF-820C-29865A4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总体协调、OBS/STS、任务编排、DevOps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7D126-2243-4895-982E-C1DA2A9F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备份：后端 API、故障恢复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C7160-C2BE-4A5D-A699-D26DC8EC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F5455-C19E-4AAC-9D35-FED4D294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586A1-B2A7-4194-8A96-12A0B3E6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91884-5056-4698-905A-DABC2CF4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716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李屹帆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50B82-7222-4421-8D2B-395B76BB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050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计划经理 / 产品负责人</a:t>
            </a:r>
          </a:p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Product 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0366E-2E2D-4D12-9BF6-F0590D0F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527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需求拆解、API 契约、前端控制台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D740F-F3C5-482E-9A75-001BAE9D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1955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备份：E2E、用户培训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C8F62-9AC3-4685-A5EF-27EA9359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08D77-84F4-44A1-9A39-57DBD27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B7502-94EF-4783-901F-2502BD3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E1E10-C7AD-4EE4-8DD2-E9F549C5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716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傅彦翎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057C7-0B3B-4FE8-B4FB-C4B63DA9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050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开发经理</a:t>
            </a:r>
          </a:p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开发团队成员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B4B0D-37DD-498A-B96F-BF70E47F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Worker、MindSpeed 适配、指标恢复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FB4C5F-A0A9-4FEE-9DDE-EE536891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备份：架构、性能优化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5B822-C24E-4BF3-8CBF-2CF6FA56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A4B20-1ABA-4064-9CC4-801636FB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00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76F15-9066-4B4B-ABB4-153E384D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00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4B3391-50F1-4D16-9FEF-4C6AD2C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971675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刘盘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F2324A-C7A2-4298-A8BB-C13EF33F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05050"/>
            <a:ext cx="1485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质量经理 / 过程经理</a:t>
            </a:r>
          </a:p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开发团队成员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47D827-3DA8-4708-A775-D7435121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9527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测试、权限安全、校验、报告榜单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8211A5-DE1D-4D87-9426-8883776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1955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备份：实时日志、数据库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909AF9-16C0-454A-9200-AE631DC9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2662EA-4F37-4DAD-A2F4-01F3DB43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分配考虑 1：能力匹配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546CEA-1A5E-4276-BEDC-2617E09F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B9A8E2-BFDB-40E7-B980-796BA439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分配考虑 2：职责闭环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6C0784-E543-4153-BB66-A19505F8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86375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94EE97-8C3B-49FD-AEC2-40A79CA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863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分配考虑 3：前后端并行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A6E369-8851-45D9-8862-97BCB71E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86375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490CA5-73FB-46BF-816A-DC0702C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863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分配考虑 4：高风险前置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EBAFCD-9775-48EB-9875-FFFC8B72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86375"/>
            <a:ext cx="2533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E72A58-2B71-45A9-A1B8-70F8139C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86375"/>
            <a:ext cx="2533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分配考虑 5：关键模块互备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47CB36-F791-44ED-A71D-FFCE9D2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开发团队整体对每个 Sprint 的可发布增量负责，不设置“只属于某个人”的责任孤岛。</a:t>
            </a:r>
          </a:p>
        </p:txBody>
      </p:sp>
    </p:spTree>
    <p:extLst>
      <p:ext uri="{BB962C8B-B14F-4D97-AF65-F5344CB8AC3E}">
        <p14:creationId xmlns:p14="http://schemas.microsoft.com/office/powerpoint/2010/main" val="277178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57E8A-9633-4AC9-B4E8-A3EBAC53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4DF1824D-48AC-4117-83D9-34AFAC99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973E594B-1FDF-47F3-AE00-BC1B4824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交付与节点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8C177-8490-4478-9B52-D5E65FD0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交付物按可评审、可演示、可验收三个层级逐步收敛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C4798-C458-4426-AD66-F4C47C7E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93543-9817-48E8-8870-A78206A8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7CF3E-81A7-4461-8378-1131D016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981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387EB-7F99-49E3-A32F-1E6338D6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5AD0D-1A13-474D-849A-A5771BF8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43BE9-CF40-4D08-BE05-1B93466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rPr>
              <a:t>Day 1-4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D6512-0902-4C55-A482-33EBC34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设计基线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05267-9595-4BAD-97C9-EC34BBB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71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需求规格 / WBS / API 草案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数据库模型 / Docker Compose / CI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任务状态机原型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ADA5-FD81-49F4-A3FB-831A962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CD1A5-4DD6-4265-9815-12B7EEC1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52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AAE71-5AB7-4310-B005-85BD671A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051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Day 5-8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C13EA-C46C-434F-9484-426F82C9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主链路闭环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94317-18DD-47D1-8866-D64B5819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00500"/>
            <a:ext cx="2171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OBS/STS / 模型校验器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Worker 队列 / MindSpeed adapter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实时日志原型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6539F-E716-4015-AB8F-51E460AA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B9EA8-7AAC-4323-B533-990B326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7A365-FB53-477D-914B-A3406AF9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Day 9-12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2D588-9026-4C58-9AFC-D01F7B57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质量与发布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7DB9F-EBC9-4922-B779-F7983303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2171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指标计算 / 内部报告 / 公开榜单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学生查分 / 管理员配置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测试报告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42CE1C-A3F3-404C-A41C-43BE77CC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9461C-2DF1-4329-AF1A-6DE6A6A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6FC78-956E-4836-8E6E-ED9A72CF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051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Day 13-14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4950C-4D53-495A-A860-940357FE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766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验收交付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646B0-0DBF-4E7C-A5C2-97530E1F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00500"/>
            <a:ext cx="2171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部署说明 / 用户手册 / 演示数据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验收报告 / 发布版本</a:t>
            </a:r>
          </a:p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质量报告与项目总结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4B450-1A18-478F-AFB9-51FE5D17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76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最终提交覆盖：文档、软件、配置、测试与运维五类产物。</a:t>
            </a:r>
          </a:p>
        </p:txBody>
      </p:sp>
    </p:spTree>
    <p:extLst>
      <p:ext uri="{BB962C8B-B14F-4D97-AF65-F5344CB8AC3E}">
        <p14:creationId xmlns:p14="http://schemas.microsoft.com/office/powerpoint/2010/main" val="4417682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9B1D9-F89B-4771-B16B-24C44F0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8EC1D7BB-1A2B-47A2-928C-FEC8087D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0AAAD6A-FFEE-4FC7-8E16-3FB97EA6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质量机制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DB13A-B52E-4B98-9FAF-E7DBFAAA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质量活动嵌入每个 Sprint，用完成定义把措施变成发布门禁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F1EE3-5C59-4742-B0A1-9DC30FAF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ABD3A-355D-45D7-A583-41A8F4F5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401B3-84E9-45C1-AF39-0A363870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24D77-B244-4DDF-BF8D-D02FB8CA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94DC6-A529-4626-8FAB-C7B9568E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F0B02-AD27-4556-A597-5A280552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需求与设计前移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4AF92-4DD5-4357-B80B-C28BB832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3114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优先级 ≥4 的 PBI 必须有验收标准；重大设计问题关闭后才进入开发。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89101-5D01-41BD-91DA-32222D65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0B8AF-B24D-4962-9F42-501199A7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B084D-7A58-47A1-B518-03A7E35B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70A31-9972-4910-8942-09377F0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24050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持续自动检查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C797C-B6B1-4330-A1AE-C770AC72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14575"/>
            <a:ext cx="3114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ruff / mypy / ESLint / Prettier 纳入 CI，阻塞级问题不允许合并。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FF24C-96DE-468F-BC7C-6F35058F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3448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FAD06-92C6-4742-856F-BCD2773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17F23-F50C-4F8A-A0DB-F1232BBC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DC947-F0A0-45AF-AE73-1FEB06C5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分层测试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6BD57-5F0D-4F2F-8C06-CE6EB665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14575"/>
            <a:ext cx="3181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单元、集成、E2E、安全与故障测试覆盖核心业务链路。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65F32-9A64-4543-81D3-98A60D0E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94D6B-52E3-4C0F-B0CF-B06648F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0ED71-7376-4FA2-97D3-EC222BC0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03763-3A07-4829-A6B4-CBAFC63B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非作者评审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7FD2F-B3B3-43A8-BD8A-914E8773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3114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每个 MR 至少一名非作者评审，代码评审覆盖率目标 ≥95%。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E4350-6302-4169-908E-F962EF71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43D07-16AC-42AC-85F2-5A7A0D97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77696F-4C34-4A0B-A9E4-A1D69922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159D26-9BEB-4A0D-BEA6-3B23550B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2714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契约与数据门禁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5C029D-7A2B-4545-B1C5-DBCCFD9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48075"/>
            <a:ext cx="3114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generation JSONL 必须通过 schema 校验；榜单只按字段白名单发布。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75CC5-275F-465E-927E-7A2A67E0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448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09608A-7F51-4AFB-819B-0D2A1A00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BE5B24-3412-488B-8846-F57B7036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44990C-D44D-4A1A-89D6-9978627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演示环境验收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E6042C-D553-4CF6-9D8E-7B9B7506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48075"/>
            <a:ext cx="3181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权限、敏感信息边界、文档与 CI 全部满足后，PBI 才能进入 Done。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227187-5E6A-4422-98DC-3A5A0A51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076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Definition of Done：合并主分支 + CI 通过 + 关键测试 + 文档记录 + 安全检查 + 评审关闭 + 演示验收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573BE2-B3A6-4187-B711-D7932B71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76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发布目标：P0/P1 缺陷 = 0；P2 缺陷 ≤ 2 且有规避方案。</a:t>
            </a:r>
          </a:p>
        </p:txBody>
      </p:sp>
    </p:spTree>
    <p:extLst>
      <p:ext uri="{BB962C8B-B14F-4D97-AF65-F5344CB8AC3E}">
        <p14:creationId xmlns:p14="http://schemas.microsoft.com/office/powerpoint/2010/main" val="7209656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BE0BF-3BEC-4935-B5DC-8D05E72B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A092234E-E375-491A-A219-BE7E9283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81A336-0559-43CD-8D56-68916EF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效果度量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4FC27-6DDE-498C-8666-3C7AB601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覆盖率、评审率和过程指标共同验证质量措施是否有效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38526-E556-47C1-BD55-55FA85B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F7312-EB96-45DA-B89D-8DEDE42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843E8-6950-49D1-B69E-394D5C32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1FA08-71CF-42E5-937D-3BCDF553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rPr>
              <a:t>≥85%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371BD-FAAB-4DF9-9C3E-3D534B49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114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核心 API 单元测试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E66CE-A761-44B7-AD83-A8C330C1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核心后端模块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EE418-EFED-4B27-A478-5FF8B6C5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00BC7-B91A-4770-9BAB-A52FC1D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≥90%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18C91-9B6D-44E9-BC01-9782E1AC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114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适配与指标测试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54426-5C01-490A-83CA-7AC669FE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4317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核心评测链路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89B59-A15F-4AD4-8481-67E82005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145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D6BAD-125A-47F5-9CBF-FEB6849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288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≥95%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26330-A10F-4296-8C71-B5C5485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86000"/>
            <a:ext cx="2114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代码评审覆盖率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876B3-1CA4-4F48-B9A6-2D9B2875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4317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重要模块非作者评审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C6E72-CB87-4258-BF98-6620E292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990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43BEA-C0DA-4EF9-BA3E-9A938064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28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≥8 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099EC-E63C-4DD3-B267-A6B25FA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关键链路通过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B5619-19B3-4BA9-B5B0-1C9CFA0D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4317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集成与端到端测试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3FCA8-B617-41C9-949F-BCD30110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685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4E27D-CFAB-424B-B24A-8BDA3CF8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38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质量效果检查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E1AC2-2AF8-4DB3-8525-D0E8334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核心 API 覆盖率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2FD8DA-F59E-4AF1-8F72-9CEEF797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9433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0BFFC-D46B-40AF-8625-2F2D74F8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943350"/>
            <a:ext cx="267176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67A5A-6DEA-4EBC-85BE-EF3602DD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766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rPr>
              <a:t>≥85%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AB37D5-E8EF-4060-B884-80D7AECF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适配与指标覆盖率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7BB39-9E47-424E-A113-92DDC21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005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1A8286-8F20-4108-8860-64B21246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00550"/>
            <a:ext cx="28289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8E4C0-C0A9-4F5D-AE3B-7DA36FC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338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≥90%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06BEFB-7B69-4DFE-BC21-F732308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代码评审覆盖率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74AFDB-43C5-41E9-9152-F226DD36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577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A24838-7291-4009-AB1A-2BA190D5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57750"/>
            <a:ext cx="298608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DE6D3E-7512-4A51-9379-610D1134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7910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≥95%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77F41C-8D55-490A-BD76-B48D50DF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敏感过滤用例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967819-F15D-4193-B878-73674FB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3149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3B6D6A-6564-4C62-8E53-DE53DF7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3149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B2F370-9905-462D-8ED5-1CCF4142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24827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59BFD2-8B3F-4885-B517-E7C16600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3657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AF6C3C-F367-4419-B778-934F9B8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320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TSP 过程度量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C2C6AD-3B97-4E6B-BB8D-80057F1D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320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A/FR ≈ 0.73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B621B7-C084-44D6-96AD-8C0E54B6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320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PQI 下限 ≈ 0.41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FAA325-21A5-40BB-BD6F-4E4E7CD9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3200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燃尽图每日更新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0DB527-3393-4F89-975E-2FC6B0F2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320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连续两天高于计划 10 点以上，立即触发重新计划。</a:t>
            </a:r>
          </a:p>
        </p:txBody>
      </p:sp>
    </p:spTree>
    <p:extLst>
      <p:ext uri="{BB962C8B-B14F-4D97-AF65-F5344CB8AC3E}">
        <p14:creationId xmlns:p14="http://schemas.microsoft.com/office/powerpoint/2010/main" val="2353601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AE143E-7AC3-4705-A56D-A70FAB27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E5A907EB-3157-4DCC-B851-10A56603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D7C9E51-61B8-460F-87FA-2A54FE54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日程与估算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ED913-4DF9-4B08-BDC6-F096023F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关键节点由功能依赖、外部风险、复用程度和 280 人时容量共同形成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ED036-F881-49A5-ADB1-14F80600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79A4C-6C5A-466C-A5B1-8A7BCE79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83C28-6C44-4340-B44B-372C6F41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01B04-70B1-4190-AEA2-90E46B3D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rPr>
              <a:t>Day 1-4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2E04A-4A35-4B47-9C6C-7E61B288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冻结需求与契约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B4EFB-C797-4D52-9C14-192B35F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架构 / API / DevOps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0878E-8A68-4FF0-A92F-E7B7CA9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0500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6184D-ED24-44C9-91D4-5431935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336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Day 5-8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08E2A-BD94-4B73-B762-2C965813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14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前后端并行开发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7D27F-A9BB-4872-8770-D20B7C57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主链路最小闭环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E9810-C6ED-42C3-80D6-906E9589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9610A-5762-4714-A54F-3ABA88B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Day 9-12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0203B-A9E5-47F5-96EC-F81C79F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指标、报告与测试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CBE33-4AD1-4C6D-89F4-98CD56C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发布候选版本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AE283-6E17-49A7-B713-1790EFE3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05000"/>
            <a:ext cx="2476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20E19-64AB-4374-9599-CB38E2C7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336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Day 13-14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99799-F8D6-4205-AF2D-6977D04F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14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部署、培训、验收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1DCB6-18BC-4D54-9FEF-12511F3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修复与发布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12595-C8F8-47DE-B616-5B0F9D41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76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5E1EF-1FA7-47B2-8506-770CB49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PROBE 估算考虑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F2567-9004-4A8E-8D70-3748BECE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028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684E3-7534-4FEE-BB01-DB283FF0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028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功能边界与异常分支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5C54A-C7DA-43F4-AA1A-4A0C0919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3028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993B6-90C7-4D61-A19C-7C2C239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3028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 / 可靠 / 可观测要求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67D96-9086-4503-B493-C8B6A50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62450"/>
            <a:ext cx="3028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2D845D-E2EC-40AF-995D-133C4025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62450"/>
            <a:ext cx="3028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外部依赖强度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A95B8-F021-4A33-AA4E-46851361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3028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68E263-4D73-4E98-B0FC-91AD0F7B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3028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已有能力复用程度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DE727C-8CE5-4722-B543-5EFC7ED3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14900"/>
            <a:ext cx="3028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B8F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83142-BA2F-48E1-B69F-BFFCC51D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14900"/>
            <a:ext cx="3028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角色数量与联调复杂度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35BAA-859A-4EF1-885B-7C29740A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4 人 × 14 天 × 5 小时 = 280 人时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329E69-DA8E-402B-9356-DDBB00E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计划 276 人时，显式缓冲 4 人时</a:t>
            </a:r>
          </a:p>
        </p:txBody>
      </p:sp>
    </p:spTree>
    <p:extLst>
      <p:ext uri="{BB962C8B-B14F-4D97-AF65-F5344CB8AC3E}">
        <p14:creationId xmlns:p14="http://schemas.microsoft.com/office/powerpoint/2010/main" val="7119705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55E9F-14C6-4F32-A694-810A1F71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8B705182-5AB6-470A-85D7-C5B6DD6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2CF8AB87-63BC-4A06-8B39-1359B81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紧周期策略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A2161-8F50-4D53-AB71-ED6CFE3B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不是压缩所有工作，而是保护核心链路并提前消除集成风险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7357D-3F65-48EE-B6E6-96D26EFD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63FF3-71C0-4E21-BEC7-296F8F15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E6698-0CBB-4239-AF37-10CC397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F2D9E-35F0-4422-AB90-82D29414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73582-80D5-4366-9DAA-BAC40DBC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API 契约 Day 4 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72FAD-564E-4E3A-8F9D-95203B7E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前端 Day 5 起使用 mock API，与后端并行。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670B4-0D5A-42E3-889F-3F5E7096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D4380-AAAA-4E8D-AF32-B2FCE9A1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585AA-145A-4CCB-B8D5-16B42EF8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高风险 Spike 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2DD54-73F6-43CE-B728-9B48C9B2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OBS/STS、MindSpeed、JSONL schema 在 Sprint 2 前半完成。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BCC70-1814-4CCF-8592-EE5C8F4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8F3D0-D653-4853-9AF9-341C26E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5621D-2CA7-4ED4-A156-E572D852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质量嵌入 Sprint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A87B2-D5D6-47D5-AE72-9839D71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每个 Sprint 第 4 天固定评审与回顾。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43E6F-19A4-43C0-9B24-238D52F6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9070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A4E8D-36D6-45D0-B7EF-634193F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621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6CCA3-C7E4-4A5C-B50E-98BB4DD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05000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Day 8 冻结新增需求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CC55E-5475-4169-8C1E-FD0CBA61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之后只修复缺陷并完善核心链路。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C50A5-FAF6-460D-B2BD-BF576944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05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46854-1D98-4E94-97EA-2BACC58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766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3BD3F-6191-49F3-891C-F5E4F455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19450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优先保障 PBI-01 至 PBI-12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6948F-7936-42EA-93D9-3166B0B4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8140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延后多后端完整适配、高级可视化、榜单回滚。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FB976-BD57-44C8-BFAA-308DEB4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41960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50164D-72CD-4759-9E7D-2DDBE25D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9105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B7043-EC87-4DB6-A3E5-1DA7CDC3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449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复用而非重写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EE6FE1-9FF3-4130-BE76-58CB1331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9585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封装现有 MindSpeed、evaluator、聚合报告和榜单能力。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0407A4-41C6-4B4B-BD34-E669ECF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76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兜底路径：真实后端不可用时，使用 mock backend 与已有 raw 结果演示完整链路。</a:t>
            </a:r>
          </a:p>
        </p:txBody>
      </p:sp>
    </p:spTree>
    <p:extLst>
      <p:ext uri="{BB962C8B-B14F-4D97-AF65-F5344CB8AC3E}">
        <p14:creationId xmlns:p14="http://schemas.microsoft.com/office/powerpoint/2010/main" val="3567043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58214-FA28-4ED3-8050-DFCFD04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A47DF19F-F268-45BB-B370-B5EF9C2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5460EFE7-EA96-4935-8332-5824535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BA"/>
                </a:solidFill>
                <a:latin typeface="Aptos"/>
                <a:ea typeface="Aptos"/>
                <a:cs typeface="Aptos"/>
              </a:rPr>
              <a:t>风险管理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FD4B2-D51C-454C-AD84-E65AB5C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优先处理后端环境、进度、外部服务、安全与指标兼容五类高风险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CD509-FDFC-4803-8ADC-0859AAC1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来源：FIM测评平台项目策划方案.md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A9494-D33E-4B7A-A9BD-0A816404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5C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5C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B1190-1F3C-490D-B4AC-0B079D9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9F11B-28F9-44B8-BB4B-3ADDCA81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3F01B-1DA2-4928-AF9A-31DA317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优先级 × 可能性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34AF4-F8E0-45C0-B6E3-4774B049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546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应对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7D62A-C0A3-450E-B89F-F081270C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927E4-D538-4C3E-B999-1B4FD5A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4464D-97BF-4018-9556-F2FF0165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MindSpeed / NPU 不可用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18F4A-1D39-492F-B73A-6AA011B5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3 ×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C8CB3-A809-4716-A3C9-98629307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mock + sample raw；版本记录；容器隔离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428D9-F686-4DD7-90F6-2B3FE265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508B2-450C-47C0-A517-F0FD89CD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R6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DAB4F-AAE2-4A46-AA8F-11413E50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14 天内功能过多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BDDED-C952-43A3-B9F9-D1750DBA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3 ×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4DE65-EA3A-440F-ADC3-ADA1738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保障 PBI-01~12；Day 8 后冻结新增需求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E73DD-BB85-4428-9706-A9AB6D2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8F8D7-F339-407A-9597-4572385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476AA-9D20-4F6C-9DF7-DE83F02F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STS / OBS 中断或过期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05AE3-76F8-4D24-9659-1923CC7E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3 ×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5E5B3-E0A1-424B-AEB1-C593F56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凭证刷新、断点续传、重试、失败显式化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110DE-CDAB-4A64-A3AA-EC96FDAC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641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EA2144-241B-4F8D-B135-437ED50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R5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8A5F6-1542-455A-922F-8A8C6FF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JSONL 与 evaluator 不兼容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310D8-96ED-484F-B0BE-C4995DC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3 ×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88114-FFF4-4AE4-BF63-1AB588B5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schema 校验、契约测试、golden cases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15D19-ECE3-4ADB-9B46-136B762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3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2133F-5B44-4904-ADA2-9A112D59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R4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C43A6-E976-4F68-B8C8-76E29597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榜单泄露路径或样本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8490DF-6219-465A-8F65-58C7D08A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24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3 ×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F3D1F7-9FB7-49BA-A0CB-7EAD00A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2445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B5C8"/>
                </a:solidFill>
                <a:latin typeface="Microsoft YaHei"/>
                <a:ea typeface="Microsoft YaHei"/>
                <a:cs typeface="Microsoft YaHei"/>
              </a:rPr>
              <a:t>字段白名单；安全测试 100%；阻断发布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D5F854-6293-4A3F-AA6E-1FC55648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076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风险响应原则：前置验证、自动阻断、可降级演示、可重试恢复、任务可转交。</a:t>
            </a:r>
          </a:p>
        </p:txBody>
      </p:sp>
    </p:spTree>
    <p:extLst>
      <p:ext uri="{BB962C8B-B14F-4D97-AF65-F5344CB8AC3E}">
        <p14:creationId xmlns:p14="http://schemas.microsoft.com/office/powerpoint/2010/main" val="17538845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B43D0-B671-417A-9036-4907C310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EBFEE-F6FC-45E8-BE96-4DF48C6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493D2-5941-4510-B261-7A926D7C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最终承诺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281E6-0A26-4C24-8E98-0F4B6A4B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我们能完成：</a:t>
            </a:r>
          </a:p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以可运行闭环为优先，用度量控制质量、用优先级管理范围、用 mock 与复用能力化解外部依赖，在 14 天内交付满足验收预期的 FIM 测评平台核心版本。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EBB71-486A-4D11-9FB8-494325F6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7"/>
          </a:solidFill>
          <a:ln xmlns:a="http://schemas.openxmlformats.org/drawingml/2006/main" w="9525">
            <a:solidFill>
              <a:srgbClr val="2B3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49342-83C0-49CC-8822-01F04F29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5EB49-DEBC-417D-987F-F7849FEC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核心平台可上线运行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22027-8314-4A81-B913-4593F82E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62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8FF9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9B132-0237-410E-A51D-281A521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P0/P1 清零，核心测试通过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07C0C-547B-4A39-A1A0-608EA53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B454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0991C-40EC-4FB7-9282-481D1AB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每日燃尽与缺陷记录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4BF21-1436-4B4C-9186-2E215983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DFF57-068D-4FFC-9EBA-1CF7C710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高风险前置，延期按优先级降级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1E556-A39F-4559-90F8-B014366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共同对最终交付负责</a:t>
            </a:r>
          </a:p>
        </p:txBody>
      </p:sp>
    </p:spTree>
    <p:extLst>
      <p:ext uri="{BB962C8B-B14F-4D97-AF65-F5344CB8AC3E}">
        <p14:creationId xmlns:p14="http://schemas.microsoft.com/office/powerpoint/2010/main" val="1233499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2026-06-15T14:59:46.3890000Z</dcterms:created>
  <dcterms:modified xsi:type="dcterms:W3CDTF">2026-06-15T14:59:46.3890000Z</dcterms:modified>
</coreProperties>
</file>