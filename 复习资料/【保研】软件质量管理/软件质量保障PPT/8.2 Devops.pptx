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Lst>
  <p:notesMasterIdLst>
    <p:notesMasterId r:id="rId52"/>
  </p:notesMasterIdLst>
  <p:sldIdLst>
    <p:sldId id="258" r:id="rId4"/>
    <p:sldId id="259" r:id="rId5"/>
    <p:sldId id="260" r:id="rId6"/>
    <p:sldId id="264" r:id="rId7"/>
    <p:sldId id="265" r:id="rId8"/>
    <p:sldId id="266" r:id="rId9"/>
    <p:sldId id="267" r:id="rId10"/>
    <p:sldId id="268" r:id="rId11"/>
    <p:sldId id="262" r:id="rId12"/>
    <p:sldId id="261" r:id="rId13"/>
    <p:sldId id="309" r:id="rId14"/>
    <p:sldId id="277" r:id="rId15"/>
    <p:sldId id="270" r:id="rId16"/>
    <p:sldId id="271" r:id="rId17"/>
    <p:sldId id="272" r:id="rId18"/>
    <p:sldId id="273" r:id="rId19"/>
    <p:sldId id="274" r:id="rId20"/>
    <p:sldId id="294" r:id="rId21"/>
    <p:sldId id="295" r:id="rId22"/>
    <p:sldId id="296" r:id="rId23"/>
    <p:sldId id="297" r:id="rId24"/>
    <p:sldId id="298" r:id="rId25"/>
    <p:sldId id="299" r:id="rId26"/>
    <p:sldId id="300" r:id="rId27"/>
    <p:sldId id="301" r:id="rId28"/>
    <p:sldId id="302" r:id="rId29"/>
    <p:sldId id="303" r:id="rId30"/>
    <p:sldId id="304"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306" r:id="rId47"/>
    <p:sldId id="307" r:id="rId48"/>
    <p:sldId id="308" r:id="rId49"/>
    <p:sldId id="293" r:id="rId50"/>
    <p:sldId id="305" r:id="rId51"/>
  </p:sldIdLst>
  <p:sldSz cx="9144000" cy="6858000" type="screen4x3"/>
  <p:notesSz cx="6797675" cy="9874250"/>
  <p:defaultTextStyle>
    <a:defPPr>
      <a:defRPr lang="zh-CN"/>
    </a:defPPr>
    <a:lvl1pPr algn="ctr" rtl="0" fontAlgn="base">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1pPr>
    <a:lvl2pPr marL="457200" algn="ctr" rtl="0" fontAlgn="base">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FFFFFF"/>
    <a:srgbClr val="BFBC3E"/>
    <a:srgbClr val="CCFFCC"/>
    <a:srgbClr val="FFFFCC"/>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44" autoAdjust="0"/>
    <p:restoredTop sz="83784" autoAdjust="0"/>
  </p:normalViewPr>
  <p:slideViewPr>
    <p:cSldViewPr>
      <p:cViewPr varScale="1">
        <p:scale>
          <a:sx n="71" d="100"/>
          <a:sy n="71" d="100"/>
        </p:scale>
        <p:origin x="462" y="60"/>
      </p:cViewPr>
      <p:guideLst>
        <p:guide orient="horz" pos="2160"/>
        <p:guide pos="28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a:defRPr sz="1200">
                <a:latin typeface="Arial" panose="020B0604020202020204" pitchFamily="34" charset="0"/>
              </a:defRPr>
            </a:lvl1pPr>
          </a:lstStyle>
          <a:p>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endParaRPr lang="en-US" altLang="zh-CN"/>
          </a:p>
        </p:txBody>
      </p:sp>
      <p:sp>
        <p:nvSpPr>
          <p:cNvPr id="209924"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a:effectLst/>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a:defRPr sz="1200">
                <a:latin typeface="Arial" panose="020B0604020202020204" pitchFamily="34" charset="0"/>
              </a:defRPr>
            </a:lvl1pPr>
          </a:lstStyle>
          <a:p>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defRPr>
            </a:lvl1pPr>
          </a:lstStyle>
          <a:p>
            <a:fld id="{A58F0DB9-BEA5-4E16-A42D-3BB1C7105E20}"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34B50A2-BDD3-48CA-8CE8-9F9AC5E4473F}" type="slidenum">
              <a:rPr lang="en-US" altLang="zh-CN"/>
              <a:t>1</a:t>
            </a:fld>
            <a:endParaRPr lang="en-US" altLang="zh-CN" dirty="0"/>
          </a:p>
        </p:txBody>
      </p:sp>
      <p:sp>
        <p:nvSpPr>
          <p:cNvPr id="302082" name="Rectangle 2"/>
          <p:cNvSpPr>
            <a:spLocks noGrp="1" noRot="1" noChangeAspect="1" noChangeArrowheads="1" noTextEdit="1"/>
          </p:cNvSpPr>
          <p:nvPr>
            <p:ph type="sldImg"/>
          </p:nvPr>
        </p:nvSpPr>
        <p:spPr/>
      </p:sp>
      <p:sp>
        <p:nvSpPr>
          <p:cNvPr id="302083"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8F0DB9-BEA5-4E16-A42D-3BB1C7105E20}" type="slidenum">
              <a:rPr lang="en-US" altLang="zh-CN" smtClean="0"/>
              <a:t>15</a:t>
            </a:fld>
            <a:endParaRPr lang="en-US" altLang="zh-CN"/>
          </a:p>
        </p:txBody>
      </p:sp>
    </p:spTree>
    <p:extLst>
      <p:ext uri="{BB962C8B-B14F-4D97-AF65-F5344CB8AC3E}">
        <p14:creationId xmlns:p14="http://schemas.microsoft.com/office/powerpoint/2010/main" val="1799418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8F0DB9-BEA5-4E16-A42D-3BB1C7105E20}" type="slidenum">
              <a:rPr lang="en-US" altLang="zh-CN" smtClean="0"/>
              <a:t>17</a:t>
            </a:fld>
            <a:endParaRPr lang="en-US" altLang="zh-CN"/>
          </a:p>
        </p:txBody>
      </p:sp>
    </p:spTree>
    <p:extLst>
      <p:ext uri="{BB962C8B-B14F-4D97-AF65-F5344CB8AC3E}">
        <p14:creationId xmlns:p14="http://schemas.microsoft.com/office/powerpoint/2010/main" val="588206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DevOps</a:t>
            </a:r>
            <a:r>
              <a:rPr lang="zh-CN" altLang="en-US" dirty="0" smtClean="0"/>
              <a:t>是一个旨在统一软件开发和软件运维的软件工程实践。</a:t>
            </a:r>
            <a:r>
              <a:rPr lang="en-US" altLang="zh-CN" dirty="0" smtClean="0"/>
              <a:t>DevOps</a:t>
            </a:r>
            <a:r>
              <a:rPr lang="zh-CN" altLang="en-US" dirty="0" smtClean="0"/>
              <a:t>的主要特点是在软件构建的所有步骤（从集成、测试、发布到部署和基础架构管理）中大力倡导自动化和监控。</a:t>
            </a:r>
            <a:r>
              <a:rPr lang="en-US" altLang="zh-CN" dirty="0" smtClean="0"/>
              <a:t>DevOps</a:t>
            </a:r>
            <a:r>
              <a:rPr lang="zh-CN" altLang="en-US" dirty="0" smtClean="0"/>
              <a:t>的目标是缩短开发周期，提高部署频率，更可靠的发布，并且与业务目标保持一致</a:t>
            </a:r>
            <a:endParaRPr lang="en-US" altLang="zh-CN" dirty="0" smtClean="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634502-0C0B-4FB5-B73A-F2D9B2A0FB7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76168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634502-0C0B-4FB5-B73A-F2D9B2A0FB7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06451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634502-0C0B-4FB5-B73A-F2D9B2A0FB7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62991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err="1" smtClean="0">
                <a:solidFill>
                  <a:schemeClr val="tx1"/>
                </a:solidFill>
                <a:effectLst/>
                <a:latin typeface="+mn-lt"/>
                <a:ea typeface="+mn-ea"/>
                <a:cs typeface="+mn-cs"/>
              </a:rPr>
              <a:t>DevOps</a:t>
            </a:r>
            <a:r>
              <a:rPr lang="en-US" altLang="zh-CN" sz="1200" b="1" i="0" kern="1200" dirty="0" smtClean="0">
                <a:solidFill>
                  <a:schemeClr val="tx1"/>
                </a:solidFill>
                <a:effectLst/>
                <a:latin typeface="+mn-lt"/>
                <a:ea typeface="+mn-ea"/>
                <a:cs typeface="+mn-cs"/>
              </a:rPr>
              <a:t> Tools</a:t>
            </a:r>
            <a:r>
              <a:rPr lang="en-US" altLang="zh-CN" dirty="0" smtClean="0"/>
              <a:t/>
            </a:r>
            <a:br>
              <a:rPr lang="en-US" altLang="zh-CN" dirty="0" smtClean="0"/>
            </a:br>
            <a:r>
              <a:rPr lang="en-US" altLang="zh-CN" sz="1200" b="0" i="0" kern="1200" dirty="0" err="1" smtClean="0">
                <a:solidFill>
                  <a:schemeClr val="tx1"/>
                </a:solidFill>
                <a:effectLst/>
                <a:latin typeface="+mn-lt"/>
                <a:ea typeface="+mn-ea"/>
                <a:cs typeface="+mn-cs"/>
              </a:rPr>
              <a:t>DevOps</a:t>
            </a:r>
            <a:r>
              <a:rPr lang="en-US" altLang="zh-CN" sz="1200" b="0" i="0" kern="1200" dirty="0" smtClean="0">
                <a:solidFill>
                  <a:schemeClr val="tx1"/>
                </a:solidFill>
                <a:effectLst/>
                <a:latin typeface="+mn-lt"/>
                <a:ea typeface="+mn-ea"/>
                <a:cs typeface="+mn-cs"/>
              </a:rPr>
              <a:t> tools consist of configuration management, test and build systems, application deployment, version control and monitoring tools. </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4B3D2E4-E0AE-8048-A45C-69E66416FB0F}" type="slidenum">
              <a:rPr kumimoji="0" lang="zh-CN" altLang="en-US" sz="1200" b="0" i="0" u="none" strike="noStrike" kern="1200" cap="none" spc="0" normalizeH="0" baseline="0" noProof="0" smtClean="0">
                <a:ln>
                  <a:noFill/>
                </a:ln>
                <a:solidFill>
                  <a:prstClr val="black"/>
                </a:solidFill>
                <a:effectLst/>
                <a:uLnTx/>
                <a:uFillTx/>
                <a:latin typeface="Arial" charset="0"/>
                <a:ea typeface="宋体"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Arial" charset="0"/>
              <a:ea typeface="宋体" charset="0"/>
              <a:cs typeface="+mn-cs"/>
            </a:endParaRPr>
          </a:p>
        </p:txBody>
      </p:sp>
    </p:spTree>
    <p:extLst>
      <p:ext uri="{BB962C8B-B14F-4D97-AF65-F5344CB8AC3E}">
        <p14:creationId xmlns:p14="http://schemas.microsoft.com/office/powerpoint/2010/main" val="523154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 Continuous deployment means that every change is automatically deployed to production. Continuous delivery means that the team ensures every change can be deployed to production but may choose not to do it, usually due to business reasons. In order to do continuous deployment one must be doing continuous delivery.</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4B3D2E4-E0AE-8048-A45C-69E66416FB0F}" type="slidenum">
              <a:rPr kumimoji="0" lang="zh-CN" altLang="en-US" sz="1200" b="0" i="0" u="none" strike="noStrike" kern="1200" cap="none" spc="0" normalizeH="0" baseline="0" noProof="0" smtClean="0">
                <a:ln>
                  <a:noFill/>
                </a:ln>
                <a:solidFill>
                  <a:prstClr val="black"/>
                </a:solidFill>
                <a:effectLst/>
                <a:uLnTx/>
                <a:uFillTx/>
                <a:latin typeface="Arial" charset="0"/>
                <a:ea typeface="宋体"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Arial" charset="0"/>
              <a:ea typeface="宋体" charset="0"/>
              <a:cs typeface="+mn-cs"/>
            </a:endParaRPr>
          </a:p>
        </p:txBody>
      </p:sp>
    </p:spTree>
    <p:extLst>
      <p:ext uri="{BB962C8B-B14F-4D97-AF65-F5344CB8AC3E}">
        <p14:creationId xmlns:p14="http://schemas.microsoft.com/office/powerpoint/2010/main" val="526322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4B3D2E4-E0AE-8048-A45C-69E66416FB0F}" type="slidenum">
              <a:rPr kumimoji="0" lang="zh-CN" altLang="en-US" sz="1200" b="0" i="0" u="none" strike="noStrike" kern="1200" cap="none" spc="0" normalizeH="0" baseline="0" noProof="0" smtClean="0">
                <a:ln>
                  <a:noFill/>
                </a:ln>
                <a:solidFill>
                  <a:prstClr val="black"/>
                </a:solidFill>
                <a:effectLst/>
                <a:uLnTx/>
                <a:uFillTx/>
                <a:latin typeface="Arial" charset="0"/>
                <a:ea typeface="宋体"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Arial" charset="0"/>
              <a:ea typeface="宋体" charset="0"/>
              <a:cs typeface="+mn-cs"/>
            </a:endParaRPr>
          </a:p>
        </p:txBody>
      </p:sp>
    </p:spTree>
    <p:extLst>
      <p:ext uri="{BB962C8B-B14F-4D97-AF65-F5344CB8AC3E}">
        <p14:creationId xmlns:p14="http://schemas.microsoft.com/office/powerpoint/2010/main" val="509514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4B3D2E4-E0AE-8048-A45C-69E66416FB0F}" type="slidenum">
              <a:rPr kumimoji="0" lang="zh-CN" altLang="en-US" sz="1200" b="0" i="0" u="none" strike="noStrike" kern="1200" cap="none" spc="0" normalizeH="0" baseline="0" noProof="0" smtClean="0">
                <a:ln>
                  <a:noFill/>
                </a:ln>
                <a:solidFill>
                  <a:prstClr val="black"/>
                </a:solidFill>
                <a:effectLst/>
                <a:uLnTx/>
                <a:uFillTx/>
                <a:latin typeface="Arial" charset="0"/>
                <a:ea typeface="宋体"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Arial" charset="0"/>
              <a:ea typeface="宋体" charset="0"/>
              <a:cs typeface="+mn-cs"/>
            </a:endParaRPr>
          </a:p>
        </p:txBody>
      </p:sp>
    </p:spTree>
    <p:extLst>
      <p:ext uri="{BB962C8B-B14F-4D97-AF65-F5344CB8AC3E}">
        <p14:creationId xmlns:p14="http://schemas.microsoft.com/office/powerpoint/2010/main" val="3399863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zh-CN" sz="2400" dirty="0" smtClean="0"/>
              <a:t>Microservices are a more concrete and modern interpretation of service-oriented architectures (SOA) used to build distributed software systems. Like in SOA, services in a </a:t>
            </a:r>
            <a:r>
              <a:rPr lang="en-US" altLang="zh-CN" sz="2400" dirty="0" err="1" smtClean="0"/>
              <a:t>microservice</a:t>
            </a:r>
            <a:r>
              <a:rPr lang="en-US" altLang="zh-CN" sz="2400" dirty="0" smtClean="0"/>
              <a:t> architecture (MSA) are processes that communicate with each other over the network in order to fulfill a goal. Also, like in SOA, these services use technology-agnostic protocols. Microservices architectural style is a first </a:t>
            </a:r>
            <a:r>
              <a:rPr lang="en-US" altLang="zh-CN" sz="2400" dirty="0" err="1" smtClean="0"/>
              <a:t>realisation</a:t>
            </a:r>
            <a:r>
              <a:rPr lang="en-US" altLang="zh-CN" sz="2400" dirty="0" smtClean="0"/>
              <a:t> of SOA that has happened after the introduction of </a:t>
            </a:r>
            <a:r>
              <a:rPr lang="en-US" altLang="zh-CN" sz="2400" dirty="0" err="1" smtClean="0"/>
              <a:t>DevOps</a:t>
            </a:r>
            <a:r>
              <a:rPr lang="en-US" altLang="zh-CN" sz="2400" dirty="0" smtClean="0"/>
              <a:t> and this is becoming the standard for building continuously deployed systems.</a:t>
            </a:r>
          </a:p>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4B3D2E4-E0AE-8048-A45C-69E66416FB0F}" type="slidenum">
              <a:rPr kumimoji="0" lang="zh-CN" altLang="en-US" sz="1200" b="0" i="0" u="none" strike="noStrike" kern="1200" cap="none" spc="0" normalizeH="0" baseline="0" noProof="0" smtClean="0">
                <a:ln>
                  <a:noFill/>
                </a:ln>
                <a:solidFill>
                  <a:prstClr val="black"/>
                </a:solidFill>
                <a:effectLst/>
                <a:uLnTx/>
                <a:uFillTx/>
                <a:latin typeface="Arial" charset="0"/>
                <a:ea typeface="宋体"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Arial" charset="0"/>
              <a:ea typeface="宋体" charset="0"/>
              <a:cs typeface="+mn-cs"/>
            </a:endParaRPr>
          </a:p>
        </p:txBody>
      </p:sp>
    </p:spTree>
    <p:extLst>
      <p:ext uri="{BB962C8B-B14F-4D97-AF65-F5344CB8AC3E}">
        <p14:creationId xmlns:p14="http://schemas.microsoft.com/office/powerpoint/2010/main" val="2404759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zh-CN" sz="2400" dirty="0" smtClean="0"/>
              <a:t>Microservices are a more concrete and modern interpretation of service-oriented architectures (SOA) used to build distributed software systems. Like in SOA, services in a </a:t>
            </a:r>
            <a:r>
              <a:rPr lang="en-US" altLang="zh-CN" sz="2400" dirty="0" err="1" smtClean="0"/>
              <a:t>microservice</a:t>
            </a:r>
            <a:r>
              <a:rPr lang="en-US" altLang="zh-CN" sz="2400" dirty="0" smtClean="0"/>
              <a:t> architecture (MSA) are processes that communicate with each other over the network in order to fulfill a goal. Also, like in SOA, these services use technology-agnostic protocols. Microservices architectural style is a first </a:t>
            </a:r>
            <a:r>
              <a:rPr lang="en-US" altLang="zh-CN" sz="2400" dirty="0" err="1" smtClean="0"/>
              <a:t>realisation</a:t>
            </a:r>
            <a:r>
              <a:rPr lang="en-US" altLang="zh-CN" sz="2400" dirty="0" smtClean="0"/>
              <a:t> of SOA that has happened after the introduction of </a:t>
            </a:r>
            <a:r>
              <a:rPr lang="en-US" altLang="zh-CN" sz="2400" dirty="0" err="1" smtClean="0"/>
              <a:t>DevOps</a:t>
            </a:r>
            <a:r>
              <a:rPr lang="en-US" altLang="zh-CN" sz="2400" dirty="0" smtClean="0"/>
              <a:t> and this is becoming the standard for building continuously deployed systems.</a:t>
            </a:r>
          </a:p>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4B3D2E4-E0AE-8048-A45C-69E66416FB0F}" type="slidenum">
              <a:rPr kumimoji="0" lang="zh-CN" altLang="en-US" sz="1200" b="0" i="0" u="none" strike="noStrike" kern="1200" cap="none" spc="0" normalizeH="0" baseline="0" noProof="0" smtClean="0">
                <a:ln>
                  <a:noFill/>
                </a:ln>
                <a:solidFill>
                  <a:prstClr val="black"/>
                </a:solidFill>
                <a:effectLst/>
                <a:uLnTx/>
                <a:uFillTx/>
                <a:latin typeface="Arial" charset="0"/>
                <a:ea typeface="宋体"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Arial" charset="0"/>
              <a:ea typeface="宋体" charset="0"/>
              <a:cs typeface="+mn-cs"/>
            </a:endParaRPr>
          </a:p>
        </p:txBody>
      </p:sp>
    </p:spTree>
    <p:extLst>
      <p:ext uri="{BB962C8B-B14F-4D97-AF65-F5344CB8AC3E}">
        <p14:creationId xmlns:p14="http://schemas.microsoft.com/office/powerpoint/2010/main" val="26404536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zh-CN" sz="2400" dirty="0" smtClean="0"/>
              <a:t>Microservices are a more concrete and modern interpretation of service-oriented architectures (SOA) used to build distributed software systems. Like in SOA, services in a </a:t>
            </a:r>
            <a:r>
              <a:rPr lang="en-US" altLang="zh-CN" sz="2400" dirty="0" err="1" smtClean="0"/>
              <a:t>microservice</a:t>
            </a:r>
            <a:r>
              <a:rPr lang="en-US" altLang="zh-CN" sz="2400" dirty="0" smtClean="0"/>
              <a:t> architecture (MSA) are processes that communicate with each other over the network in order to fulfill a goal. Also, like in SOA, these services use technology-agnostic protocols. Microservices architectural style is a first </a:t>
            </a:r>
            <a:r>
              <a:rPr lang="en-US" altLang="zh-CN" sz="2400" dirty="0" err="1" smtClean="0"/>
              <a:t>realisation</a:t>
            </a:r>
            <a:r>
              <a:rPr lang="en-US" altLang="zh-CN" sz="2400" dirty="0" smtClean="0"/>
              <a:t> of SOA that has happened after the introduction of </a:t>
            </a:r>
            <a:r>
              <a:rPr lang="en-US" altLang="zh-CN" sz="2400" dirty="0" err="1" smtClean="0"/>
              <a:t>DevOps</a:t>
            </a:r>
            <a:r>
              <a:rPr lang="en-US" altLang="zh-CN" sz="2400" dirty="0" smtClean="0"/>
              <a:t> and this is becoming the standard for building continuously deployed systems.</a:t>
            </a:r>
          </a:p>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4B3D2E4-E0AE-8048-A45C-69E66416FB0F}" type="slidenum">
              <a:rPr kumimoji="0" lang="zh-CN" altLang="en-US" sz="1200" b="0" i="0" u="none" strike="noStrike" kern="1200" cap="none" spc="0" normalizeH="0" baseline="0" noProof="0" smtClean="0">
                <a:ln>
                  <a:noFill/>
                </a:ln>
                <a:solidFill>
                  <a:prstClr val="black"/>
                </a:solidFill>
                <a:effectLst/>
                <a:uLnTx/>
                <a:uFillTx/>
                <a:latin typeface="Arial" charset="0"/>
                <a:ea typeface="宋体"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Arial" charset="0"/>
              <a:ea typeface="宋体" charset="0"/>
              <a:cs typeface="+mn-cs"/>
            </a:endParaRPr>
          </a:p>
        </p:txBody>
      </p:sp>
    </p:spTree>
    <p:extLst>
      <p:ext uri="{BB962C8B-B14F-4D97-AF65-F5344CB8AC3E}">
        <p14:creationId xmlns:p14="http://schemas.microsoft.com/office/powerpoint/2010/main" val="35620063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8F0DB9-BEA5-4E16-A42D-3BB1C7105E20}" type="slidenum">
              <a:rPr lang="en-US" altLang="zh-CN" smtClean="0"/>
              <a:t>48</a:t>
            </a:fld>
            <a:endParaRPr lang="en-US" altLang="zh-CN"/>
          </a:p>
        </p:txBody>
      </p:sp>
    </p:spTree>
    <p:extLst>
      <p:ext uri="{BB962C8B-B14F-4D97-AF65-F5344CB8AC3E}">
        <p14:creationId xmlns:p14="http://schemas.microsoft.com/office/powerpoint/2010/main" val="2499406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89442" name="Rectangle 2"/>
          <p:cNvSpPr>
            <a:spLocks noGrp="1" noChangeArrowheads="1"/>
          </p:cNvSpPr>
          <p:nvPr>
            <p:ph type="subTitle" idx="1"/>
          </p:nvPr>
        </p:nvSpPr>
        <p:spPr>
          <a:xfrm>
            <a:off x="3059114" y="4149727"/>
            <a:ext cx="5184775" cy="1336675"/>
          </a:xfrm>
        </p:spPr>
        <p:txBody>
          <a:bodyPr/>
          <a:lstStyle>
            <a:lvl1pPr marL="0" indent="0">
              <a:buFont typeface="Wingdings" panose="05000000000000000000" pitchFamily="2" charset="2"/>
              <a:buNone/>
              <a:defRPr/>
            </a:lvl1pPr>
          </a:lstStyle>
          <a:p>
            <a:r>
              <a:rPr lang="zh-CN" altLang="en-US"/>
              <a:t>单击此处编辑母版副标题样式</a:t>
            </a:r>
          </a:p>
        </p:txBody>
      </p:sp>
      <p:sp>
        <p:nvSpPr>
          <p:cNvPr id="189443" name="Rectangle 3"/>
          <p:cNvSpPr>
            <a:spLocks noGrp="1" noChangeArrowheads="1"/>
          </p:cNvSpPr>
          <p:nvPr>
            <p:ph type="dt" sz="half" idx="2"/>
          </p:nvPr>
        </p:nvSpPr>
        <p:spPr>
          <a:xfrm>
            <a:off x="685801" y="6284913"/>
            <a:ext cx="1293813" cy="457200"/>
          </a:xfrm>
        </p:spPr>
        <p:txBody>
          <a:bodyPr/>
          <a:lstStyle>
            <a:lvl1pPr>
              <a:defRPr/>
            </a:lvl1pPr>
          </a:lstStyle>
          <a:p>
            <a:fld id="{3823FCAE-681B-4D29-9144-731469F10ED9}" type="datetime1">
              <a:rPr lang="zh-CN" altLang="en-US" smtClean="0"/>
              <a:t>2020/6/29</a:t>
            </a:fld>
            <a:endParaRPr lang="en-US" altLang="zh-CN"/>
          </a:p>
        </p:txBody>
      </p:sp>
      <p:sp>
        <p:nvSpPr>
          <p:cNvPr id="189444" name="Rectangle 4"/>
          <p:cNvSpPr>
            <a:spLocks noGrp="1" noChangeArrowheads="1"/>
          </p:cNvSpPr>
          <p:nvPr>
            <p:ph type="ftr" sz="quarter" idx="3"/>
          </p:nvPr>
        </p:nvSpPr>
        <p:spPr>
          <a:xfrm>
            <a:off x="2195514" y="6202363"/>
            <a:ext cx="5113337" cy="539750"/>
          </a:xfrm>
        </p:spPr>
        <p:txBody>
          <a:bodyPr/>
          <a:lstStyle>
            <a:lvl1pPr>
              <a:defRPr/>
            </a:lvl1pPr>
          </a:lstStyle>
          <a:p>
            <a:r>
              <a:rPr lang="en-US" altLang="zh-CN"/>
              <a:t>Situational Awareness by Risk-Conscious Skills</a:t>
            </a:r>
          </a:p>
        </p:txBody>
      </p:sp>
      <p:sp>
        <p:nvSpPr>
          <p:cNvPr id="189445" name="Rectangle 5"/>
          <p:cNvSpPr>
            <a:spLocks noGrp="1" noChangeArrowheads="1"/>
          </p:cNvSpPr>
          <p:nvPr>
            <p:ph type="sldNum" sz="quarter" idx="4"/>
          </p:nvPr>
        </p:nvSpPr>
        <p:spPr/>
        <p:txBody>
          <a:bodyPr/>
          <a:lstStyle>
            <a:lvl1pPr>
              <a:defRPr/>
            </a:lvl1pPr>
          </a:lstStyle>
          <a:p>
            <a:fld id="{B51D635C-56A2-40F5-B0BA-DEDEDAACF2AC}" type="slidenum">
              <a:rPr lang="en-US" altLang="zh-CN"/>
              <a:t>‹#›</a:t>
            </a:fld>
            <a:endParaRPr lang="en-US" altLang="zh-CN"/>
          </a:p>
        </p:txBody>
      </p:sp>
      <p:sp>
        <p:nvSpPr>
          <p:cNvPr id="189446" name="Oval 6"/>
          <p:cNvSpPr>
            <a:spLocks noChangeArrowheads="1"/>
          </p:cNvSpPr>
          <p:nvPr/>
        </p:nvSpPr>
        <p:spPr bwMode="auto">
          <a:xfrm>
            <a:off x="228600" y="1635125"/>
            <a:ext cx="2514600" cy="2514600"/>
          </a:xfrm>
          <a:prstGeom prst="ellipse">
            <a:avLst/>
          </a:prstGeom>
          <a:noFill/>
          <a:ln w="12700">
            <a:solidFill>
              <a:schemeClr val="accent1"/>
            </a:solidFill>
            <a:round/>
          </a:ln>
          <a:effectLst/>
        </p:spPr>
        <p:txBody>
          <a:bodyPr wrap="none" anchor="ctr"/>
          <a:lstStyle/>
          <a:p>
            <a:endParaRPr lang="zh-CN" altLang="zh-CN">
              <a:latin typeface="Arial" panose="020B0604020202020204" pitchFamily="34" charset="0"/>
            </a:endParaRPr>
          </a:p>
        </p:txBody>
      </p:sp>
      <p:sp>
        <p:nvSpPr>
          <p:cNvPr id="189447" name="Rectangle 7"/>
          <p:cNvSpPr>
            <a:spLocks noChangeArrowheads="1"/>
          </p:cNvSpPr>
          <p:nvPr/>
        </p:nvSpPr>
        <p:spPr bwMode="hidden">
          <a:xfrm>
            <a:off x="0" y="2397125"/>
            <a:ext cx="4724400" cy="1143000"/>
          </a:xfrm>
          <a:prstGeom prst="rect">
            <a:avLst/>
          </a:prstGeom>
          <a:solidFill>
            <a:schemeClr val="accent2"/>
          </a:solidFill>
          <a:ln w="9525">
            <a:noFill/>
            <a:miter lim="800000"/>
          </a:ln>
          <a:effectLst/>
        </p:spPr>
        <p:txBody>
          <a:bodyPr wrap="none" anchor="ctr"/>
          <a:lstStyle/>
          <a:p>
            <a:endParaRPr lang="zh-CN" altLang="zh-CN" sz="1800"/>
          </a:p>
        </p:txBody>
      </p:sp>
      <p:sp>
        <p:nvSpPr>
          <p:cNvPr id="189448"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endParaRPr lang="zh-CN" altLang="zh-CN" sz="1800"/>
          </a:p>
        </p:txBody>
      </p:sp>
      <p:sp>
        <p:nvSpPr>
          <p:cNvPr id="189449" name="Rectangle 9"/>
          <p:cNvSpPr>
            <a:spLocks noGrp="1" noChangeArrowheads="1"/>
          </p:cNvSpPr>
          <p:nvPr>
            <p:ph type="ctrTitle"/>
          </p:nvPr>
        </p:nvSpPr>
        <p:spPr>
          <a:xfrm>
            <a:off x="838201" y="2163763"/>
            <a:ext cx="7405688" cy="1600200"/>
          </a:xfrm>
        </p:spPr>
        <p:txBody>
          <a:bodyPr anchor="ctr"/>
          <a:lstStyle>
            <a:lvl1pPr>
              <a:defRPr/>
            </a:lvl1pPr>
          </a:lstStyle>
          <a:p>
            <a:r>
              <a:rPr lang="zh-CN" altLang="en-US"/>
              <a:t>单击此处编辑母版标题样式</a:t>
            </a:r>
          </a:p>
        </p:txBody>
      </p:sp>
      <p:pic>
        <p:nvPicPr>
          <p:cNvPr id="189450" name="Picture 10" descr="tower"/>
          <p:cNvPicPr>
            <a:picLocks noChangeAspect="1" noChangeArrowheads="1"/>
          </p:cNvPicPr>
          <p:nvPr/>
        </p:nvPicPr>
        <p:blipFill>
          <a:blip r:embed="rId2"/>
          <a:srcRect/>
          <a:stretch>
            <a:fillRect/>
          </a:stretch>
        </p:blipFill>
        <p:spPr bwMode="auto">
          <a:xfrm>
            <a:off x="6542089" y="188915"/>
            <a:ext cx="1990725" cy="1095375"/>
          </a:xfrm>
          <a:prstGeom prst="rect">
            <a:avLst/>
          </a:prstGeom>
          <a:noFill/>
        </p:spPr>
      </p:pic>
      <p:pic>
        <p:nvPicPr>
          <p:cNvPr id="189451" name="Picture 11" descr="NJU2"/>
          <p:cNvPicPr>
            <a:picLocks noChangeAspect="1" noChangeArrowheads="1"/>
          </p:cNvPicPr>
          <p:nvPr/>
        </p:nvPicPr>
        <p:blipFill>
          <a:blip r:embed="rId3" cstate="print"/>
          <a:srcRect/>
          <a:stretch>
            <a:fillRect/>
          </a:stretch>
        </p:blipFill>
        <p:spPr bwMode="auto">
          <a:xfrm>
            <a:off x="252414" y="260352"/>
            <a:ext cx="2303462" cy="904875"/>
          </a:xfrm>
          <a:prstGeom prst="rect">
            <a:avLst/>
          </a:prstGeom>
          <a:noFill/>
        </p:spPr>
      </p:pic>
      <p:pic>
        <p:nvPicPr>
          <p:cNvPr id="189452" name="Picture 12"/>
          <p:cNvPicPr>
            <a:picLocks noChangeAspect="1" noChangeArrowheads="1"/>
          </p:cNvPicPr>
          <p:nvPr/>
        </p:nvPicPr>
        <p:blipFill>
          <a:blip r:embed="rId4"/>
          <a:srcRect/>
          <a:stretch>
            <a:fillRect/>
          </a:stretch>
        </p:blipFill>
        <p:spPr bwMode="auto">
          <a:xfrm>
            <a:off x="14288" y="6092827"/>
            <a:ext cx="9117012" cy="28575"/>
          </a:xfrm>
          <a:prstGeom prst="rect">
            <a:avLst/>
          </a:prstGeom>
          <a:noFill/>
        </p:spPr>
      </p:pic>
      <p:pic>
        <p:nvPicPr>
          <p:cNvPr id="189453" name="Picture 13"/>
          <p:cNvPicPr>
            <a:picLocks noChangeAspect="1" noChangeArrowheads="1"/>
          </p:cNvPicPr>
          <p:nvPr/>
        </p:nvPicPr>
        <p:blipFill>
          <a:blip r:embed="rId4"/>
          <a:srcRect/>
          <a:stretch>
            <a:fillRect/>
          </a:stretch>
        </p:blipFill>
        <p:spPr bwMode="auto">
          <a:xfrm>
            <a:off x="1" y="1268415"/>
            <a:ext cx="9117013" cy="28575"/>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913B518D-9588-4EA2-9129-B3CB225BB853}" type="datetime1">
              <a:rPr lang="zh-CN" altLang="en-US" smtClean="0"/>
              <a:t>2020/6/29</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Situational Awareness by Risk-Conscious Skills</a:t>
            </a:r>
          </a:p>
        </p:txBody>
      </p:sp>
      <p:sp>
        <p:nvSpPr>
          <p:cNvPr id="6" name="灯片编号占位符 5"/>
          <p:cNvSpPr>
            <a:spLocks noGrp="1"/>
          </p:cNvSpPr>
          <p:nvPr>
            <p:ph type="sldNum" sz="quarter" idx="12"/>
          </p:nvPr>
        </p:nvSpPr>
        <p:spPr/>
        <p:txBody>
          <a:bodyPr/>
          <a:lstStyle>
            <a:lvl1pPr>
              <a:defRPr/>
            </a:lvl1pPr>
          </a:lstStyle>
          <a:p>
            <a:fld id="{06128CA3-9668-437A-8B46-F616277CD5DC}"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E2B2C2B6-6697-4370-862D-46B2D3199AD2}" type="datetime1">
              <a:rPr lang="zh-CN" altLang="en-US" smtClean="0"/>
              <a:t>2020/6/29</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Situational Awareness by Risk-Conscious Skills</a:t>
            </a:r>
          </a:p>
        </p:txBody>
      </p:sp>
      <p:sp>
        <p:nvSpPr>
          <p:cNvPr id="6" name="灯片编号占位符 5"/>
          <p:cNvSpPr>
            <a:spLocks noGrp="1"/>
          </p:cNvSpPr>
          <p:nvPr>
            <p:ph type="sldNum" sz="quarter" idx="12"/>
          </p:nvPr>
        </p:nvSpPr>
        <p:spPr/>
        <p:txBody>
          <a:bodyPr/>
          <a:lstStyle>
            <a:lvl1pPr>
              <a:defRPr/>
            </a:lvl1pPr>
          </a:lstStyle>
          <a:p>
            <a:fld id="{91A945EB-CF5B-4B6C-A7FD-F1EFE6933D89}"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4" y="1484313"/>
            <a:ext cx="3994150" cy="439261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4864" y="1484313"/>
            <a:ext cx="3995737" cy="439261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FC6BA3E6-5D10-498F-8073-3E5687378EC3}" type="datetime1">
              <a:rPr lang="zh-CN" altLang="en-US" smtClean="0"/>
              <a:t>2020/6/29</a:t>
            </a:fld>
            <a:endParaRPr lang="en-US" altLang="zh-CN"/>
          </a:p>
        </p:txBody>
      </p:sp>
      <p:sp>
        <p:nvSpPr>
          <p:cNvPr id="6" name="页脚占位符 5"/>
          <p:cNvSpPr>
            <a:spLocks noGrp="1"/>
          </p:cNvSpPr>
          <p:nvPr>
            <p:ph type="ftr" sz="quarter" idx="11"/>
          </p:nvPr>
        </p:nvSpPr>
        <p:spPr/>
        <p:txBody>
          <a:bodyPr/>
          <a:lstStyle>
            <a:lvl1pPr>
              <a:defRPr/>
            </a:lvl1pPr>
          </a:lstStyle>
          <a:p>
            <a:r>
              <a:rPr lang="en-US" altLang="zh-CN"/>
              <a:t>Situational Awareness by Risk-Conscious Skills</a:t>
            </a:r>
          </a:p>
        </p:txBody>
      </p:sp>
      <p:sp>
        <p:nvSpPr>
          <p:cNvPr id="7" name="灯片编号占位符 6"/>
          <p:cNvSpPr>
            <a:spLocks noGrp="1"/>
          </p:cNvSpPr>
          <p:nvPr>
            <p:ph type="sldNum" sz="quarter" idx="12"/>
          </p:nvPr>
        </p:nvSpPr>
        <p:spPr/>
        <p:txBody>
          <a:bodyPr/>
          <a:lstStyle>
            <a:lvl1pPr>
              <a:defRPr/>
            </a:lvl1pPr>
          </a:lstStyle>
          <a:p>
            <a:fld id="{EE5941EC-9B6D-4F5D-8EA8-7AEEEC8FD110}"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BB552AEB-3CD2-4B13-AF93-43AF1BB63BC3}" type="datetime1">
              <a:rPr lang="zh-CN" altLang="en-US" smtClean="0"/>
              <a:t>2020/6/29</a:t>
            </a:fld>
            <a:endParaRPr lang="en-US" altLang="zh-CN"/>
          </a:p>
        </p:txBody>
      </p:sp>
      <p:sp>
        <p:nvSpPr>
          <p:cNvPr id="8" name="页脚占位符 7"/>
          <p:cNvSpPr>
            <a:spLocks noGrp="1"/>
          </p:cNvSpPr>
          <p:nvPr>
            <p:ph type="ftr" sz="quarter" idx="11"/>
          </p:nvPr>
        </p:nvSpPr>
        <p:spPr/>
        <p:txBody>
          <a:bodyPr/>
          <a:lstStyle>
            <a:lvl1pPr>
              <a:defRPr/>
            </a:lvl1pPr>
          </a:lstStyle>
          <a:p>
            <a:r>
              <a:rPr lang="en-US" altLang="zh-CN"/>
              <a:t>Situational Awareness by Risk-Conscious Skills</a:t>
            </a:r>
          </a:p>
        </p:txBody>
      </p:sp>
      <p:sp>
        <p:nvSpPr>
          <p:cNvPr id="9" name="灯片编号占位符 8"/>
          <p:cNvSpPr>
            <a:spLocks noGrp="1"/>
          </p:cNvSpPr>
          <p:nvPr>
            <p:ph type="sldNum" sz="quarter" idx="12"/>
          </p:nvPr>
        </p:nvSpPr>
        <p:spPr/>
        <p:txBody>
          <a:bodyPr/>
          <a:lstStyle>
            <a:lvl1pPr>
              <a:defRPr/>
            </a:lvl1pPr>
          </a:lstStyle>
          <a:p>
            <a:fld id="{618E98B9-16F3-49E6-B1CE-80E2ECCA8F65}"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5E9EEDB6-D92F-4139-97DB-4107B6A6ECE7}" type="datetime1">
              <a:rPr lang="zh-CN" altLang="en-US" smtClean="0"/>
              <a:t>2020/6/29</a:t>
            </a:fld>
            <a:endParaRPr lang="en-US" altLang="zh-CN"/>
          </a:p>
        </p:txBody>
      </p:sp>
      <p:sp>
        <p:nvSpPr>
          <p:cNvPr id="4" name="页脚占位符 3"/>
          <p:cNvSpPr>
            <a:spLocks noGrp="1"/>
          </p:cNvSpPr>
          <p:nvPr>
            <p:ph type="ftr" sz="quarter" idx="11"/>
          </p:nvPr>
        </p:nvSpPr>
        <p:spPr/>
        <p:txBody>
          <a:bodyPr/>
          <a:lstStyle>
            <a:lvl1pPr>
              <a:defRPr/>
            </a:lvl1pPr>
          </a:lstStyle>
          <a:p>
            <a:r>
              <a:rPr lang="en-US" altLang="zh-CN"/>
              <a:t>Situational Awareness by Risk-Conscious Skills</a:t>
            </a:r>
          </a:p>
        </p:txBody>
      </p:sp>
      <p:sp>
        <p:nvSpPr>
          <p:cNvPr id="5" name="灯片编号占位符 4"/>
          <p:cNvSpPr>
            <a:spLocks noGrp="1"/>
          </p:cNvSpPr>
          <p:nvPr>
            <p:ph type="sldNum" sz="quarter" idx="12"/>
          </p:nvPr>
        </p:nvSpPr>
        <p:spPr/>
        <p:txBody>
          <a:bodyPr/>
          <a:lstStyle>
            <a:lvl1pPr>
              <a:defRPr/>
            </a:lvl1pPr>
          </a:lstStyle>
          <a:p>
            <a:fld id="{A95F3866-699E-4CF3-A119-C6FD0D195A48}"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9F2B1CE2-ADB7-4CDC-894B-14259D4D4DD5}" type="datetime1">
              <a:rPr lang="zh-CN" altLang="en-US" smtClean="0"/>
              <a:t>2020/6/29</a:t>
            </a:fld>
            <a:endParaRPr lang="en-US" altLang="zh-CN"/>
          </a:p>
        </p:txBody>
      </p:sp>
      <p:sp>
        <p:nvSpPr>
          <p:cNvPr id="3" name="页脚占位符 2"/>
          <p:cNvSpPr>
            <a:spLocks noGrp="1"/>
          </p:cNvSpPr>
          <p:nvPr>
            <p:ph type="ftr" sz="quarter" idx="11"/>
          </p:nvPr>
        </p:nvSpPr>
        <p:spPr/>
        <p:txBody>
          <a:bodyPr/>
          <a:lstStyle>
            <a:lvl1pPr>
              <a:defRPr/>
            </a:lvl1pPr>
          </a:lstStyle>
          <a:p>
            <a:r>
              <a:rPr lang="en-US" altLang="zh-CN"/>
              <a:t>Situational Awareness by Risk-Conscious Skills</a:t>
            </a:r>
          </a:p>
        </p:txBody>
      </p:sp>
      <p:sp>
        <p:nvSpPr>
          <p:cNvPr id="4" name="灯片编号占位符 3"/>
          <p:cNvSpPr>
            <a:spLocks noGrp="1"/>
          </p:cNvSpPr>
          <p:nvPr>
            <p:ph type="sldNum" sz="quarter" idx="12"/>
          </p:nvPr>
        </p:nvSpPr>
        <p:spPr/>
        <p:txBody>
          <a:bodyPr/>
          <a:lstStyle>
            <a:lvl1pPr>
              <a:defRPr/>
            </a:lvl1pPr>
          </a:lstStyle>
          <a:p>
            <a:fld id="{027D281B-A9F2-414F-9760-76C46C99C35B}"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3CBFC708-60F3-443A-943E-AF46D4A129B3}" type="datetime1">
              <a:rPr lang="zh-CN" altLang="en-US" smtClean="0"/>
              <a:t>2020/6/29</a:t>
            </a:fld>
            <a:endParaRPr lang="en-US" altLang="zh-CN"/>
          </a:p>
        </p:txBody>
      </p:sp>
      <p:sp>
        <p:nvSpPr>
          <p:cNvPr id="6" name="页脚占位符 5"/>
          <p:cNvSpPr>
            <a:spLocks noGrp="1"/>
          </p:cNvSpPr>
          <p:nvPr>
            <p:ph type="ftr" sz="quarter" idx="11"/>
          </p:nvPr>
        </p:nvSpPr>
        <p:spPr/>
        <p:txBody>
          <a:bodyPr/>
          <a:lstStyle>
            <a:lvl1pPr>
              <a:defRPr/>
            </a:lvl1pPr>
          </a:lstStyle>
          <a:p>
            <a:r>
              <a:rPr lang="en-US" altLang="zh-CN"/>
              <a:t>Situational Awareness by Risk-Conscious Skills</a:t>
            </a:r>
          </a:p>
        </p:txBody>
      </p:sp>
      <p:sp>
        <p:nvSpPr>
          <p:cNvPr id="7" name="灯片编号占位符 6"/>
          <p:cNvSpPr>
            <a:spLocks noGrp="1"/>
          </p:cNvSpPr>
          <p:nvPr>
            <p:ph type="sldNum" sz="quarter" idx="12"/>
          </p:nvPr>
        </p:nvSpPr>
        <p:spPr/>
        <p:txBody>
          <a:bodyPr/>
          <a:lstStyle>
            <a:lvl1pPr>
              <a:defRPr/>
            </a:lvl1pPr>
          </a:lstStyle>
          <a:p>
            <a:fld id="{55E8B56C-84E1-4A4C-8203-9DD79F33C9C7}"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DD991D8F-4BC9-46EF-A79E-D6E5E31A21BB}" type="datetime1">
              <a:rPr lang="zh-CN" altLang="en-US" smtClean="0"/>
              <a:t>2020/6/29</a:t>
            </a:fld>
            <a:endParaRPr lang="en-US" altLang="zh-CN"/>
          </a:p>
        </p:txBody>
      </p:sp>
      <p:sp>
        <p:nvSpPr>
          <p:cNvPr id="6" name="页脚占位符 5"/>
          <p:cNvSpPr>
            <a:spLocks noGrp="1"/>
          </p:cNvSpPr>
          <p:nvPr>
            <p:ph type="ftr" sz="quarter" idx="11"/>
          </p:nvPr>
        </p:nvSpPr>
        <p:spPr/>
        <p:txBody>
          <a:bodyPr/>
          <a:lstStyle>
            <a:lvl1pPr>
              <a:defRPr/>
            </a:lvl1pPr>
          </a:lstStyle>
          <a:p>
            <a:r>
              <a:rPr lang="en-US" altLang="zh-CN"/>
              <a:t>Situational Awareness by Risk-Conscious Skills</a:t>
            </a:r>
          </a:p>
        </p:txBody>
      </p:sp>
      <p:sp>
        <p:nvSpPr>
          <p:cNvPr id="7" name="灯片编号占位符 6"/>
          <p:cNvSpPr>
            <a:spLocks noGrp="1"/>
          </p:cNvSpPr>
          <p:nvPr>
            <p:ph type="sldNum" sz="quarter" idx="12"/>
          </p:nvPr>
        </p:nvSpPr>
        <p:spPr/>
        <p:txBody>
          <a:bodyPr/>
          <a:lstStyle>
            <a:lvl1pPr>
              <a:defRPr/>
            </a:lvl1pPr>
          </a:lstStyle>
          <a:p>
            <a:fld id="{C7696C0A-14E6-40CC-A710-E16347632254}"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9553129C-5DF4-42AB-9F15-49054A2087A4}" type="datetime1">
              <a:rPr lang="zh-CN" altLang="en-US" smtClean="0"/>
              <a:t>2020/6/29</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Situational Awareness by Risk-Conscious Skills</a:t>
            </a:r>
          </a:p>
        </p:txBody>
      </p:sp>
      <p:sp>
        <p:nvSpPr>
          <p:cNvPr id="6" name="灯片编号占位符 5"/>
          <p:cNvSpPr>
            <a:spLocks noGrp="1"/>
          </p:cNvSpPr>
          <p:nvPr>
            <p:ph type="sldNum" sz="quarter" idx="12"/>
          </p:nvPr>
        </p:nvSpPr>
        <p:spPr/>
        <p:txBody>
          <a:bodyPr/>
          <a:lstStyle>
            <a:lvl1pPr>
              <a:defRPr/>
            </a:lvl1pPr>
          </a:lstStyle>
          <a:p>
            <a:fld id="{5F8D00BC-2A52-4030-964B-89DEA86CED19}"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6" y="404813"/>
            <a:ext cx="2035175" cy="5472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841AB344-E4D6-4A50-94D4-2CB4C83ACE7B}" type="datetime1">
              <a:rPr lang="zh-CN" altLang="en-US" smtClean="0"/>
              <a:t>2020/6/29</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Situational Awareness by Risk-Conscious Skills</a:t>
            </a:r>
          </a:p>
        </p:txBody>
      </p:sp>
      <p:sp>
        <p:nvSpPr>
          <p:cNvPr id="6" name="灯片编号占位符 5"/>
          <p:cNvSpPr>
            <a:spLocks noGrp="1"/>
          </p:cNvSpPr>
          <p:nvPr>
            <p:ph type="sldNum" sz="quarter" idx="12"/>
          </p:nvPr>
        </p:nvSpPr>
        <p:spPr/>
        <p:txBody>
          <a:bodyPr/>
          <a:lstStyle>
            <a:lvl1pPr>
              <a:defRPr/>
            </a:lvl1pPr>
          </a:lstStyle>
          <a:p>
            <a:fld id="{9746B8CD-2634-4926-8EBC-6FB656478DA2}"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smtClean="0">
              <a:solidFill>
                <a:schemeClr val="bg1"/>
              </a:solidFill>
              <a:latin typeface="Verdana" pitchFamily="34" charset="0"/>
            </a:endParaRPr>
          </a:p>
        </p:txBody>
      </p:sp>
      <p:pic>
        <p:nvPicPr>
          <p:cNvPr id="6"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0038" y="188913"/>
            <a:ext cx="3163887" cy="722312"/>
          </a:xfrm>
          <a:prstGeom prst="rect">
            <a:avLst/>
          </a:prstGeom>
          <a:noFill/>
          <a:ln>
            <a:noFill/>
          </a:ln>
          <a:effectLst>
            <a:outerShdw blurRad="50800" dist="38100" dir="2700000" algn="tl" rotWithShape="0">
              <a:srgbClr val="000000">
                <a:alpha val="39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dirty="0" smtClean="0"/>
              <a:t>单击此处编辑母版副标题样式</a:t>
            </a:r>
            <a:endParaRPr lang="en-US" altLang="zh-CN" noProof="0" dirty="0" smtClean="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a:extLst/>
        </p:spPr>
        <p:txBody>
          <a:bodyPr/>
          <a:lstStyle>
            <a:lvl1pPr>
              <a:defRPr sz="4000"/>
            </a:lvl1pPr>
          </a:lstStyle>
          <a:p>
            <a:pPr lvl="0"/>
            <a:r>
              <a:rPr lang="zh-CN" altLang="en-US" noProof="0" dirty="0" smtClean="0"/>
              <a:t>单击此处编辑母版标题样式</a:t>
            </a:r>
            <a:endParaRPr lang="en-US" altLang="ko-KR" noProof="0" dirty="0" smtClean="0"/>
          </a:p>
        </p:txBody>
      </p:sp>
    </p:spTree>
    <p:extLst>
      <p:ext uri="{BB962C8B-B14F-4D97-AF65-F5344CB8AC3E}">
        <p14:creationId xmlns:p14="http://schemas.microsoft.com/office/powerpoint/2010/main" val="342726706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B6ED9058-364A-BB40-B969-9ADF058EEDE7}" type="slidenum">
              <a:rPr lang="en-US" altLang="zh-CN"/>
              <a:pPr>
                <a:defRPr/>
              </a:pPr>
              <a:t>‹#›</a:t>
            </a:fld>
            <a:endParaRPr lang="en-US" altLang="zh-CN"/>
          </a:p>
        </p:txBody>
      </p:sp>
    </p:spTree>
    <p:extLst>
      <p:ext uri="{BB962C8B-B14F-4D97-AF65-F5344CB8AC3E}">
        <p14:creationId xmlns:p14="http://schemas.microsoft.com/office/powerpoint/2010/main" val="10698994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90280D21-E74B-554C-B0DF-4A171B97F8DD}" type="slidenum">
              <a:rPr lang="en-US" altLang="zh-CN"/>
              <a:pPr>
                <a:defRPr/>
              </a:pPr>
              <a:t>‹#›</a:t>
            </a:fld>
            <a:endParaRPr lang="en-US" altLang="zh-CN"/>
          </a:p>
        </p:txBody>
      </p:sp>
    </p:spTree>
    <p:extLst>
      <p:ext uri="{BB962C8B-B14F-4D97-AF65-F5344CB8AC3E}">
        <p14:creationId xmlns:p14="http://schemas.microsoft.com/office/powerpoint/2010/main" val="260154221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fld id="{DD03D246-0CFE-AF49-AC2D-0C72748DC8F4}" type="slidenum">
              <a:rPr lang="en-US" altLang="zh-CN"/>
              <a:pPr>
                <a:defRPr/>
              </a:pPr>
              <a:t>‹#›</a:t>
            </a:fld>
            <a:endParaRPr lang="en-US" altLang="zh-CN"/>
          </a:p>
        </p:txBody>
      </p:sp>
    </p:spTree>
    <p:extLst>
      <p:ext uri="{BB962C8B-B14F-4D97-AF65-F5344CB8AC3E}">
        <p14:creationId xmlns:p14="http://schemas.microsoft.com/office/powerpoint/2010/main" val="402086784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fld id="{940C8E51-B8E0-374C-80C6-37AA1CA64B5B}" type="slidenum">
              <a:rPr lang="en-US" altLang="zh-CN"/>
              <a:pPr>
                <a:defRPr/>
              </a:pPr>
              <a:t>‹#›</a:t>
            </a:fld>
            <a:endParaRPr lang="en-US" altLang="zh-CN"/>
          </a:p>
        </p:txBody>
      </p:sp>
    </p:spTree>
    <p:extLst>
      <p:ext uri="{BB962C8B-B14F-4D97-AF65-F5344CB8AC3E}">
        <p14:creationId xmlns:p14="http://schemas.microsoft.com/office/powerpoint/2010/main" val="425407042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fld id="{85B02542-16DB-CE4C-87A8-997224D19F2D}" type="slidenum">
              <a:rPr lang="en-US" altLang="zh-CN"/>
              <a:pPr>
                <a:defRPr/>
              </a:pPr>
              <a:t>‹#›</a:t>
            </a:fld>
            <a:endParaRPr lang="en-US" altLang="zh-CN"/>
          </a:p>
        </p:txBody>
      </p:sp>
    </p:spTree>
    <p:extLst>
      <p:ext uri="{BB962C8B-B14F-4D97-AF65-F5344CB8AC3E}">
        <p14:creationId xmlns:p14="http://schemas.microsoft.com/office/powerpoint/2010/main" val="198074439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2CC232FA-A8EA-1C4D-A7BC-FC5E1C1178A4}" type="slidenum">
              <a:rPr lang="en-US" altLang="zh-CN"/>
              <a:pPr>
                <a:defRPr/>
              </a:pPr>
              <a:t>‹#›</a:t>
            </a:fld>
            <a:endParaRPr lang="en-US" altLang="zh-CN"/>
          </a:p>
        </p:txBody>
      </p:sp>
    </p:spTree>
    <p:extLst>
      <p:ext uri="{BB962C8B-B14F-4D97-AF65-F5344CB8AC3E}">
        <p14:creationId xmlns:p14="http://schemas.microsoft.com/office/powerpoint/2010/main" val="22804971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A1EF1822-5267-5243-BA69-7FAC74561681}" type="slidenum">
              <a:rPr lang="en-US" altLang="zh-CN"/>
              <a:pPr>
                <a:defRPr/>
              </a:pPr>
              <a:t>‹#›</a:t>
            </a:fld>
            <a:endParaRPr lang="en-US" altLang="zh-CN"/>
          </a:p>
        </p:txBody>
      </p:sp>
    </p:spTree>
    <p:extLst>
      <p:ext uri="{BB962C8B-B14F-4D97-AF65-F5344CB8AC3E}">
        <p14:creationId xmlns:p14="http://schemas.microsoft.com/office/powerpoint/2010/main" val="279762333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F84ED6E-CCB3-7F40-94B3-C8699D99127B}" type="slidenum">
              <a:rPr lang="en-US" altLang="zh-CN"/>
              <a:pPr>
                <a:defRPr/>
              </a:pPr>
              <a:t>‹#›</a:t>
            </a:fld>
            <a:endParaRPr lang="en-US" altLang="zh-CN"/>
          </a:p>
        </p:txBody>
      </p:sp>
    </p:spTree>
    <p:extLst>
      <p:ext uri="{BB962C8B-B14F-4D97-AF65-F5344CB8AC3E}">
        <p14:creationId xmlns:p14="http://schemas.microsoft.com/office/powerpoint/2010/main" val="3772872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fld id="{CC064837-550D-584B-890C-50F7856DB8D7}" type="slidenum">
              <a:rPr lang="en-US" altLang="zh-CN"/>
              <a:pPr>
                <a:defRPr/>
              </a:pPr>
              <a:t>‹#›</a:t>
            </a:fld>
            <a:endParaRPr lang="en-US" altLang="zh-CN"/>
          </a:p>
        </p:txBody>
      </p:sp>
    </p:spTree>
    <p:extLst>
      <p:ext uri="{BB962C8B-B14F-4D97-AF65-F5344CB8AC3E}">
        <p14:creationId xmlns:p14="http://schemas.microsoft.com/office/powerpoint/2010/main" val="321344104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fld id="{8AFADBFD-9173-5E40-B17B-519BEB517BD5}" type="slidenum">
              <a:rPr lang="en-US" altLang="zh-CN"/>
              <a:pPr>
                <a:defRPr/>
              </a:pPr>
              <a:t>‹#›</a:t>
            </a:fld>
            <a:endParaRPr lang="en-US" altLang="zh-CN"/>
          </a:p>
        </p:txBody>
      </p:sp>
    </p:spTree>
    <p:extLst>
      <p:ext uri="{BB962C8B-B14F-4D97-AF65-F5344CB8AC3E}">
        <p14:creationId xmlns:p14="http://schemas.microsoft.com/office/powerpoint/2010/main" val="2373457802"/>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smtClean="0"/>
              <a:t>单击图标添加表格</a:t>
            </a:r>
            <a:endParaRPr lang="zh-CN" altLang="en-US" noProof="0"/>
          </a:p>
        </p:txBody>
      </p:sp>
      <p:sp>
        <p:nvSpPr>
          <p:cNvPr id="4" name="Rectangle 6"/>
          <p:cNvSpPr>
            <a:spLocks noGrp="1" noChangeArrowheads="1"/>
          </p:cNvSpPr>
          <p:nvPr>
            <p:ph type="sldNum" sz="quarter" idx="10"/>
          </p:nvPr>
        </p:nvSpPr>
        <p:spPr>
          <a:ln/>
        </p:spPr>
        <p:txBody>
          <a:bodyPr/>
          <a:lstStyle>
            <a:lvl1pPr>
              <a:defRPr/>
            </a:lvl1pPr>
          </a:lstStyle>
          <a:p>
            <a:pPr>
              <a:defRPr/>
            </a:pPr>
            <a:fld id="{F0E65436-4F36-7248-BC1E-87620BD6924E}" type="slidenum">
              <a:rPr lang="en-US" altLang="zh-CN"/>
              <a:pPr>
                <a:defRPr/>
              </a:pPr>
              <a:t>‹#›</a:t>
            </a:fld>
            <a:endParaRPr lang="en-US" altLang="zh-CN"/>
          </a:p>
        </p:txBody>
      </p:sp>
    </p:spTree>
    <p:extLst>
      <p:ext uri="{BB962C8B-B14F-4D97-AF65-F5344CB8AC3E}">
        <p14:creationId xmlns:p14="http://schemas.microsoft.com/office/powerpoint/2010/main" val="2269212427"/>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447801"/>
            <a:ext cx="6619244" cy="3329581"/>
          </a:xfrm>
        </p:spPr>
        <p:txBody>
          <a:bodyPr anchor="b"/>
          <a:lstStyle>
            <a:lvl1pP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866216" y="4777380"/>
            <a:ext cx="6619244" cy="861420"/>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26733097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3"/>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29003766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66217" y="2861734"/>
            <a:ext cx="6619243" cy="1915647"/>
          </a:xfrm>
        </p:spPr>
        <p:txBody>
          <a:bodyPr anchor="b"/>
          <a:lstStyle>
            <a:lvl1pPr algn="l">
              <a:defRPr sz="3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66216" y="4777381"/>
            <a:ext cx="6619244" cy="8604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21167834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27485" y="2060576"/>
            <a:ext cx="3297254" cy="4195763"/>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240870" y="2056093"/>
            <a:ext cx="3297256" cy="4200245"/>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7397974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7485" y="1905000"/>
            <a:ext cx="3297254"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Content Placeholder 3"/>
          <p:cNvSpPr>
            <a:spLocks noGrp="1"/>
          </p:cNvSpPr>
          <p:nvPr>
            <p:ph sz="half" idx="2"/>
          </p:nvPr>
        </p:nvSpPr>
        <p:spPr>
          <a:xfrm>
            <a:off x="827485" y="2514600"/>
            <a:ext cx="3297254" cy="3741738"/>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240872" y="1905000"/>
            <a:ext cx="3297254"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Content Placeholder 5"/>
          <p:cNvSpPr>
            <a:spLocks noGrp="1"/>
          </p:cNvSpPr>
          <p:nvPr>
            <p:ph sz="quarter" idx="4"/>
          </p:nvPr>
        </p:nvSpPr>
        <p:spPr>
          <a:xfrm>
            <a:off x="4240872" y="2514600"/>
            <a:ext cx="3297254" cy="3741738"/>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1995338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7" name="Date Placeholder 2"/>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5" name="Footer Placeholder 3"/>
          <p:cNvSpPr>
            <a:spLocks noGrp="1"/>
          </p:cNvSpPr>
          <p:nvPr>
            <p:ph type="ftr" sz="quarter" idx="11"/>
          </p:nvPr>
        </p:nvSpPr>
        <p:spPr/>
        <p:txBody>
          <a:bodyPr/>
          <a:lstStyle/>
          <a:p>
            <a:endParaRPr lang="zh-CN" altLang="en-US"/>
          </a:p>
        </p:txBody>
      </p:sp>
      <p:sp>
        <p:nvSpPr>
          <p:cNvPr id="6" name="Slide Number Placeholder 4"/>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27425204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5" name="Footer Placeholder 2"/>
          <p:cNvSpPr>
            <a:spLocks noGrp="1"/>
          </p:cNvSpPr>
          <p:nvPr>
            <p:ph type="ftr" sz="quarter" idx="11"/>
          </p:nvPr>
        </p:nvSpPr>
        <p:spPr/>
        <p:txBody>
          <a:bodyPr/>
          <a:lstStyle/>
          <a:p>
            <a:endParaRPr lang="zh-CN" altLang="en-US"/>
          </a:p>
        </p:txBody>
      </p:sp>
      <p:sp>
        <p:nvSpPr>
          <p:cNvPr id="6" name="Slide Number Placeholder 3"/>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14520694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66215" y="1447800"/>
            <a:ext cx="2550798" cy="1447800"/>
          </a:xfrm>
        </p:spPr>
        <p:txBody>
          <a:bodyPr anchor="b"/>
          <a:lstStyle>
            <a:lvl1pPr algn="l">
              <a:defRPr sz="18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588462" y="1447800"/>
            <a:ext cx="3896998" cy="4572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66215" y="3129281"/>
            <a:ext cx="2550797" cy="28955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7" name="Date Placeholder 4"/>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5" name="Footer Placeholder 5"/>
          <p:cNvSpPr>
            <a:spLocks noGrp="1"/>
          </p:cNvSpPr>
          <p:nvPr>
            <p:ph type="ftr" sz="quarter" idx="11"/>
          </p:nvPr>
        </p:nvSpPr>
        <p:spPr/>
        <p:txBody>
          <a:bodyPr/>
          <a:lstStyle/>
          <a:p>
            <a:endParaRPr lang="zh-CN" altLang="en-US"/>
          </a:p>
        </p:txBody>
      </p:sp>
      <p:sp>
        <p:nvSpPr>
          <p:cNvPr id="6" name="Slide Number Placeholder 6"/>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8243238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65430" y="1854192"/>
            <a:ext cx="3819680" cy="1574808"/>
          </a:xfrm>
        </p:spPr>
        <p:txBody>
          <a:bodyPr anchor="b">
            <a:normAutofit/>
          </a:bodyPr>
          <a:lstStyle>
            <a:lvl1pPr algn="l">
              <a:defRPr sz="27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212160" y="1143000"/>
            <a:ext cx="24003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66216" y="3657600"/>
            <a:ext cx="3813734" cy="13716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30298154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866217" y="4800587"/>
            <a:ext cx="6619243" cy="566738"/>
          </a:xfrm>
        </p:spPr>
        <p:txBody>
          <a:bodyPr anchor="b">
            <a:normAutofit/>
          </a:bodyPr>
          <a:lstStyle>
            <a:lvl1pPr algn="l">
              <a:defRPr sz="18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866216" y="685800"/>
            <a:ext cx="6619244"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66217" y="5367325"/>
            <a:ext cx="6619242" cy="493712"/>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31571364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866216" y="1447800"/>
            <a:ext cx="6619244" cy="1981200"/>
          </a:xfrm>
        </p:spPr>
        <p:txBody>
          <a:bodyPr/>
          <a:lstStyle>
            <a:lvl1pPr>
              <a:defRPr sz="3600"/>
            </a:lvl1pPr>
          </a:lstStyle>
          <a:p>
            <a:r>
              <a:rPr lang="zh-CN" altLang="en-US" smtClean="0"/>
              <a:t>单击此处编辑母版标题样式</a:t>
            </a:r>
            <a:endParaRPr lang="en-US" dirty="0"/>
          </a:p>
        </p:txBody>
      </p:sp>
      <p:sp>
        <p:nvSpPr>
          <p:cNvPr id="8" name="Text Placeholder 3"/>
          <p:cNvSpPr>
            <a:spLocks noGrp="1"/>
          </p:cNvSpPr>
          <p:nvPr>
            <p:ph type="body" sz="half" idx="2"/>
          </p:nvPr>
        </p:nvSpPr>
        <p:spPr>
          <a:xfrm>
            <a:off x="866216" y="3657600"/>
            <a:ext cx="6619244" cy="23622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10372036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181101" y="1447800"/>
            <a:ext cx="5999486" cy="2323374"/>
          </a:xfrm>
        </p:spPr>
        <p:txBody>
          <a:bodyPr/>
          <a:lstStyle>
            <a:lvl1pPr>
              <a:defRPr sz="3600"/>
            </a:lvl1pPr>
          </a:lstStyle>
          <a:p>
            <a:r>
              <a:rPr lang="zh-CN" altLang="en-US" smtClean="0"/>
              <a:t>单击此处编辑母版标题样式</a:t>
            </a:r>
            <a:endParaRPr lang="en-US" dirty="0"/>
          </a:p>
        </p:txBody>
      </p:sp>
      <p:sp>
        <p:nvSpPr>
          <p:cNvPr id="11" name="Text Placeholder 3"/>
          <p:cNvSpPr>
            <a:spLocks noGrp="1"/>
          </p:cNvSpPr>
          <p:nvPr>
            <p:ph type="body" sz="half" idx="14"/>
          </p:nvPr>
        </p:nvSpPr>
        <p:spPr>
          <a:xfrm>
            <a:off x="1447800" y="3771174"/>
            <a:ext cx="5459737" cy="342174"/>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zh-CN" altLang="en-US" smtClean="0"/>
              <a:t>编辑母版文本样式</a:t>
            </a:r>
          </a:p>
        </p:txBody>
      </p:sp>
      <p:sp>
        <p:nvSpPr>
          <p:cNvPr id="10" name="Text Placeholder 3"/>
          <p:cNvSpPr>
            <a:spLocks noGrp="1"/>
          </p:cNvSpPr>
          <p:nvPr>
            <p:ph type="body" sz="half" idx="2"/>
          </p:nvPr>
        </p:nvSpPr>
        <p:spPr>
          <a:xfrm>
            <a:off x="866216" y="4350657"/>
            <a:ext cx="6619244" cy="16764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E2A96B-CD83-4B93-B857-40DA55F6EFD8}" type="slidenum">
              <a:rPr lang="zh-CN" altLang="en-US" smtClean="0"/>
              <a:t>‹#›</a:t>
            </a:fld>
            <a:endParaRPr lang="zh-CN" altLang="en-US"/>
          </a:p>
        </p:txBody>
      </p:sp>
      <p:sp>
        <p:nvSpPr>
          <p:cNvPr id="12" name="TextBox 11"/>
          <p:cNvSpPr txBox="1"/>
          <p:nvPr/>
        </p:nvSpPr>
        <p:spPr>
          <a:xfrm>
            <a:off x="673721" y="971254"/>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2613788"/>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35326927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866216" y="3124201"/>
            <a:ext cx="6619245" cy="1653180"/>
          </a:xfrm>
        </p:spPr>
        <p:txBody>
          <a:bodyPr anchor="b"/>
          <a:lstStyle>
            <a:lvl1pPr algn="l">
              <a:defRPr sz="3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66216" y="4777381"/>
            <a:ext cx="6619244" cy="8604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24838972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474710" y="1981200"/>
            <a:ext cx="2210150"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16" name="Text Placeholder 3"/>
          <p:cNvSpPr>
            <a:spLocks noGrp="1"/>
          </p:cNvSpPr>
          <p:nvPr>
            <p:ph type="body" sz="half" idx="15"/>
          </p:nvPr>
        </p:nvSpPr>
        <p:spPr>
          <a:xfrm>
            <a:off x="489347" y="2667000"/>
            <a:ext cx="2195513"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Text Placeholder 4"/>
          <p:cNvSpPr>
            <a:spLocks noGrp="1"/>
          </p:cNvSpPr>
          <p:nvPr>
            <p:ph type="body" sz="quarter" idx="3"/>
          </p:nvPr>
        </p:nvSpPr>
        <p:spPr>
          <a:xfrm>
            <a:off x="2912745" y="1981200"/>
            <a:ext cx="2202181"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19" name="Text Placeholder 3"/>
          <p:cNvSpPr>
            <a:spLocks noGrp="1"/>
          </p:cNvSpPr>
          <p:nvPr>
            <p:ph type="body" sz="half" idx="16"/>
          </p:nvPr>
        </p:nvSpPr>
        <p:spPr>
          <a:xfrm>
            <a:off x="2904829" y="2667000"/>
            <a:ext cx="2210096"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14" name="Text Placeholder 4"/>
          <p:cNvSpPr>
            <a:spLocks noGrp="1"/>
          </p:cNvSpPr>
          <p:nvPr>
            <p:ph type="body" sz="quarter" idx="13"/>
          </p:nvPr>
        </p:nvSpPr>
        <p:spPr>
          <a:xfrm>
            <a:off x="5343525" y="1981200"/>
            <a:ext cx="2199085"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20" name="Text Placeholder 3"/>
          <p:cNvSpPr>
            <a:spLocks noGrp="1"/>
          </p:cNvSpPr>
          <p:nvPr>
            <p:ph type="body" sz="half" idx="17"/>
          </p:nvPr>
        </p:nvSpPr>
        <p:spPr>
          <a:xfrm>
            <a:off x="5343525" y="2667000"/>
            <a:ext cx="2199085"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cxnSp>
        <p:nvCxnSpPr>
          <p:cNvPr id="17" name="Straight Connector 16"/>
          <p:cNvCxnSpPr/>
          <p:nvPr/>
        </p:nvCxnSpPr>
        <p:spPr>
          <a:xfrm>
            <a:off x="2794607"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30066238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489347" y="4250949"/>
            <a:ext cx="2205038"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29" name="Picture Placeholder 2"/>
          <p:cNvSpPr>
            <a:spLocks noGrp="1" noChangeAspect="1"/>
          </p:cNvSpPr>
          <p:nvPr>
            <p:ph type="pic" idx="15"/>
          </p:nvPr>
        </p:nvSpPr>
        <p:spPr>
          <a:xfrm>
            <a:off x="489347" y="2209800"/>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22" name="Text Placeholder 3"/>
          <p:cNvSpPr>
            <a:spLocks noGrp="1"/>
          </p:cNvSpPr>
          <p:nvPr>
            <p:ph type="body" sz="half" idx="18"/>
          </p:nvPr>
        </p:nvSpPr>
        <p:spPr>
          <a:xfrm>
            <a:off x="489347" y="4827212"/>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Text Placeholder 4"/>
          <p:cNvSpPr>
            <a:spLocks noGrp="1"/>
          </p:cNvSpPr>
          <p:nvPr>
            <p:ph type="body" sz="quarter" idx="3"/>
          </p:nvPr>
        </p:nvSpPr>
        <p:spPr>
          <a:xfrm>
            <a:off x="2917032" y="4250949"/>
            <a:ext cx="2197894"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30" name="Picture Placeholder 2"/>
          <p:cNvSpPr>
            <a:spLocks noGrp="1" noChangeAspect="1"/>
          </p:cNvSpPr>
          <p:nvPr>
            <p:ph type="pic" idx="21"/>
          </p:nvPr>
        </p:nvSpPr>
        <p:spPr>
          <a:xfrm>
            <a:off x="2917031" y="2209800"/>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23" name="Text Placeholder 3"/>
          <p:cNvSpPr>
            <a:spLocks noGrp="1"/>
          </p:cNvSpPr>
          <p:nvPr>
            <p:ph type="body" sz="half" idx="19"/>
          </p:nvPr>
        </p:nvSpPr>
        <p:spPr>
          <a:xfrm>
            <a:off x="2916016" y="4827211"/>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14" name="Text Placeholder 4"/>
          <p:cNvSpPr>
            <a:spLocks noGrp="1"/>
          </p:cNvSpPr>
          <p:nvPr>
            <p:ph type="body" sz="quarter" idx="13"/>
          </p:nvPr>
        </p:nvSpPr>
        <p:spPr>
          <a:xfrm>
            <a:off x="5343525" y="4250949"/>
            <a:ext cx="2199085"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31" name="Picture Placeholder 2"/>
          <p:cNvSpPr>
            <a:spLocks noGrp="1" noChangeAspect="1"/>
          </p:cNvSpPr>
          <p:nvPr>
            <p:ph type="pic" idx="22"/>
          </p:nvPr>
        </p:nvSpPr>
        <p:spPr>
          <a:xfrm>
            <a:off x="5343525" y="2209800"/>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24" name="Text Placeholder 3"/>
          <p:cNvSpPr>
            <a:spLocks noGrp="1"/>
          </p:cNvSpPr>
          <p:nvPr>
            <p:ph type="body" sz="half" idx="20"/>
          </p:nvPr>
        </p:nvSpPr>
        <p:spPr>
          <a:xfrm>
            <a:off x="5343432" y="4827209"/>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cxnSp>
        <p:nvCxnSpPr>
          <p:cNvPr id="19" name="Straight Connector 18"/>
          <p:cNvCxnSpPr/>
          <p:nvPr/>
        </p:nvCxnSpPr>
        <p:spPr>
          <a:xfrm>
            <a:off x="2794607"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4076938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35860724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430214"/>
            <a:ext cx="1314451" cy="5826125"/>
          </a:xfrm>
        </p:spPr>
        <p:txBody>
          <a:bodyPr vert="eaVert" anchor="b" anchorCtr="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89348" y="887414"/>
            <a:ext cx="5567362" cy="5368924"/>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10D266E-E9D0-4151-9D1B-CB9881BD1651}"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1032855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theme" Target="../theme/theme3.xml"/><Relationship Id="rId3" Type="http://schemas.openxmlformats.org/officeDocument/2006/relationships/slideLayout" Target="../slideLayouts/slideLayout26.xml"/><Relationship Id="rId21" Type="http://schemas.openxmlformats.org/officeDocument/2006/relationships/image" Target="../media/image11.png"/><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image" Target="../media/image10.png"/><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image" Target="../media/image9.png"/><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image" Target="../media/image1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8418" name="Rectangle 2"/>
          <p:cNvSpPr>
            <a:spLocks noChangeArrowheads="1"/>
          </p:cNvSpPr>
          <p:nvPr/>
        </p:nvSpPr>
        <p:spPr bwMode="auto">
          <a:xfrm>
            <a:off x="0" y="1125538"/>
            <a:ext cx="2133600" cy="101600"/>
          </a:xfrm>
          <a:prstGeom prst="rect">
            <a:avLst/>
          </a:prstGeom>
          <a:solidFill>
            <a:schemeClr val="accent2"/>
          </a:solidFill>
          <a:ln w="9525">
            <a:noFill/>
            <a:miter lim="800000"/>
          </a:ln>
          <a:effectLst/>
        </p:spPr>
        <p:txBody>
          <a:bodyPr wrap="none" anchor="ctr"/>
          <a:lstStyle/>
          <a:p>
            <a:endParaRPr lang="zh-CN" altLang="zh-CN" sz="1800"/>
          </a:p>
        </p:txBody>
      </p:sp>
      <p:sp>
        <p:nvSpPr>
          <p:cNvPr id="188419"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endParaRPr lang="zh-CN" altLang="zh-CN" sz="1800"/>
          </a:p>
        </p:txBody>
      </p:sp>
      <p:sp>
        <p:nvSpPr>
          <p:cNvPr id="188420" name="Rectangle 4"/>
          <p:cNvSpPr>
            <a:spLocks noGrp="1" noChangeArrowheads="1"/>
          </p:cNvSpPr>
          <p:nvPr>
            <p:ph type="title"/>
          </p:nvPr>
        </p:nvSpPr>
        <p:spPr bwMode="auto">
          <a:xfrm>
            <a:off x="1042989" y="404813"/>
            <a:ext cx="5616575" cy="576262"/>
          </a:xfrm>
          <a:prstGeom prst="rect">
            <a:avLst/>
          </a:prstGeom>
          <a:noFill/>
          <a:ln w="9525">
            <a:noFill/>
            <a:miter lim="800000"/>
          </a:ln>
          <a:effectLst/>
        </p:spPr>
        <p:txBody>
          <a:bodyPr vert="horz" wrap="square" lIns="91440" tIns="45720" rIns="91440" bIns="45720" numCol="1" anchor="b" anchorCtr="0" compatLnSpc="1"/>
          <a:lstStyle/>
          <a:p>
            <a:pPr lvl="0"/>
            <a:r>
              <a:rPr lang="zh-CN" altLang="en-US"/>
              <a:t>单击此处编辑母版标题样式</a:t>
            </a:r>
          </a:p>
        </p:txBody>
      </p:sp>
      <p:sp>
        <p:nvSpPr>
          <p:cNvPr id="188421" name="Rectangle 5"/>
          <p:cNvSpPr>
            <a:spLocks noGrp="1" noChangeArrowheads="1"/>
          </p:cNvSpPr>
          <p:nvPr>
            <p:ph type="body" idx="1"/>
          </p:nvPr>
        </p:nvSpPr>
        <p:spPr bwMode="auto">
          <a:xfrm>
            <a:off x="468314" y="1484313"/>
            <a:ext cx="8142287" cy="4392612"/>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88422" name="Picture 6" descr="tower"/>
          <p:cNvPicPr>
            <a:picLocks noChangeAspect="1" noChangeArrowheads="1"/>
          </p:cNvPicPr>
          <p:nvPr/>
        </p:nvPicPr>
        <p:blipFill>
          <a:blip r:embed="rId13"/>
          <a:srcRect/>
          <a:stretch>
            <a:fillRect/>
          </a:stretch>
        </p:blipFill>
        <p:spPr bwMode="auto">
          <a:xfrm>
            <a:off x="6542089" y="188915"/>
            <a:ext cx="1990725" cy="1095375"/>
          </a:xfrm>
          <a:prstGeom prst="rect">
            <a:avLst/>
          </a:prstGeom>
          <a:noFill/>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mn-lt"/>
              </a:defRPr>
            </a:lvl1pPr>
          </a:lstStyle>
          <a:p>
            <a:fld id="{3B0E8CDC-F1D2-4D7B-8DDA-FD1EFE243693}" type="datetime1">
              <a:rPr lang="zh-CN" altLang="en-US" smtClean="0"/>
              <a:t>2020/6/29</a:t>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defRPr sz="1200">
                <a:latin typeface="+mn-lt"/>
              </a:defRPr>
            </a:lvl1pPr>
          </a:lstStyle>
          <a:p>
            <a:r>
              <a:rPr lang="en-US" altLang="zh-CN"/>
              <a:t>Situational Awareness by Risk-Conscious Skills</a:t>
            </a:r>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mn-lt"/>
              </a:defRPr>
            </a:lvl1pPr>
          </a:lstStyle>
          <a:p>
            <a:fld id="{F2D024EB-E688-4F94-9D6D-0BDE28FD91DF}" type="slidenum">
              <a:rPr lang="en-US" altLang="zh-CN"/>
              <a:t>‹#›</a:t>
            </a:fld>
            <a:endParaRPr lang="en-US" altLang="zh-CN"/>
          </a:p>
        </p:txBody>
      </p:sp>
      <p:pic>
        <p:nvPicPr>
          <p:cNvPr id="188426" name="Picture 10"/>
          <p:cNvPicPr>
            <a:picLocks noChangeAspect="1" noChangeArrowheads="1"/>
          </p:cNvPicPr>
          <p:nvPr/>
        </p:nvPicPr>
        <p:blipFill>
          <a:blip r:embed="rId14"/>
          <a:srcRect/>
          <a:stretch>
            <a:fillRect/>
          </a:stretch>
        </p:blipFill>
        <p:spPr bwMode="auto">
          <a:xfrm>
            <a:off x="14288" y="6092827"/>
            <a:ext cx="9117012" cy="28575"/>
          </a:xfrm>
          <a:prstGeom prst="rect">
            <a:avLst/>
          </a:prstGeom>
          <a:noFill/>
        </p:spPr>
      </p:pic>
      <p:pic>
        <p:nvPicPr>
          <p:cNvPr id="188427" name="Picture 11" descr="校徽"/>
          <p:cNvPicPr>
            <a:picLocks noChangeAspect="1" noChangeArrowheads="1"/>
          </p:cNvPicPr>
          <p:nvPr/>
        </p:nvPicPr>
        <p:blipFill>
          <a:blip r:embed="rId15" cstate="print"/>
          <a:srcRect/>
          <a:stretch>
            <a:fillRect/>
          </a:stretch>
        </p:blipFill>
        <p:spPr bwMode="auto">
          <a:xfrm>
            <a:off x="306388" y="261940"/>
            <a:ext cx="665162" cy="790575"/>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fontAlgn="base">
        <a:spcBef>
          <a:spcPct val="0"/>
        </a:spcBef>
        <a:spcAft>
          <a:spcPct val="0"/>
        </a:spcAft>
        <a:defRPr sz="2400">
          <a:solidFill>
            <a:schemeClr val="tx1"/>
          </a:solidFill>
          <a:latin typeface="+mj-lt"/>
          <a:ea typeface="+mj-ea"/>
          <a:cs typeface="+mj-cs"/>
        </a:defRPr>
      </a:lvl1pPr>
      <a:lvl2pPr algn="ctr" rtl="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2pPr>
      <a:lvl3pPr algn="ctr" rtl="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3pPr>
      <a:lvl4pPr algn="ctr" rtl="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4pPr>
      <a:lvl5pPr algn="ctr" rtl="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5pPr>
      <a:lvl6pPr marL="342900" algn="ctr" rtl="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685800" algn="ctr" rtl="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1028700" algn="ctr" rtl="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1371600" algn="ctr" rtl="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9pPr>
    </p:titleStyle>
    <p:bodyStyle>
      <a:lvl1pPr marL="335915" indent="-335915" algn="l" rtl="0" fontAlgn="base">
        <a:spcBef>
          <a:spcPct val="20000"/>
        </a:spcBef>
        <a:spcAft>
          <a:spcPct val="0"/>
        </a:spcAft>
        <a:buClr>
          <a:schemeClr val="accent1"/>
        </a:buClr>
        <a:buSzPct val="70000"/>
        <a:buFont typeface="Wingdings" panose="05000000000000000000" pitchFamily="2" charset="2"/>
        <a:buChar char="n"/>
        <a:defRPr sz="2100">
          <a:solidFill>
            <a:schemeClr val="tx1"/>
          </a:solidFill>
          <a:latin typeface="+mn-lt"/>
          <a:ea typeface="+mn-ea"/>
          <a:cs typeface="+mn-cs"/>
        </a:defRPr>
      </a:lvl1pPr>
      <a:lvl2pPr marL="666750" indent="-329565" algn="l" rtl="0" fontAlgn="base">
        <a:spcBef>
          <a:spcPct val="20000"/>
        </a:spcBef>
        <a:spcAft>
          <a:spcPct val="0"/>
        </a:spcAft>
        <a:buClr>
          <a:schemeClr val="hlink"/>
        </a:buClr>
        <a:buSzPct val="65000"/>
        <a:buFont typeface="Wingdings" panose="05000000000000000000" pitchFamily="2" charset="2"/>
        <a:buChar char="¡"/>
        <a:defRPr sz="1800">
          <a:solidFill>
            <a:schemeClr val="tx1"/>
          </a:solidFill>
          <a:latin typeface="+mn-lt"/>
          <a:ea typeface="+mn-ea"/>
        </a:defRPr>
      </a:lvl2pPr>
      <a:lvl3pPr marL="970280" indent="-302260" algn="l" rtl="0" fontAlgn="base">
        <a:spcBef>
          <a:spcPct val="20000"/>
        </a:spcBef>
        <a:spcAft>
          <a:spcPct val="0"/>
        </a:spcAft>
        <a:buClr>
          <a:schemeClr val="accent1"/>
        </a:buClr>
        <a:buSzPct val="70000"/>
        <a:buFont typeface="Wingdings" panose="05000000000000000000" pitchFamily="2" charset="2"/>
        <a:buChar char="n"/>
        <a:defRPr sz="1500">
          <a:solidFill>
            <a:schemeClr val="tx1"/>
          </a:solidFill>
          <a:latin typeface="+mn-lt"/>
          <a:ea typeface="+mn-ea"/>
        </a:defRPr>
      </a:lvl3pPr>
      <a:lvl4pPr marL="1261110" indent="-289560" algn="l" rtl="0" fontAlgn="base">
        <a:spcBef>
          <a:spcPct val="20000"/>
        </a:spcBef>
        <a:spcAft>
          <a:spcPct val="0"/>
        </a:spcAft>
        <a:buClr>
          <a:schemeClr val="hlink"/>
        </a:buClr>
        <a:buSzPct val="75000"/>
        <a:buFont typeface="Wingdings" panose="05000000000000000000" pitchFamily="2" charset="2"/>
        <a:buChar char="¡"/>
        <a:defRPr>
          <a:solidFill>
            <a:schemeClr val="tx1"/>
          </a:solidFill>
          <a:latin typeface="+mn-lt"/>
          <a:ea typeface="+mn-ea"/>
        </a:defRPr>
      </a:lvl4pPr>
      <a:lvl5pPr marL="1552575" indent="-290830" algn="l" rtl="0" fontAlgn="base">
        <a:spcBef>
          <a:spcPct val="20000"/>
        </a:spcBef>
        <a:spcAft>
          <a:spcPct val="0"/>
        </a:spcAft>
        <a:buClr>
          <a:schemeClr val="accent1"/>
        </a:buClr>
        <a:buSzPct val="70000"/>
        <a:buFont typeface="Wingdings" panose="05000000000000000000" pitchFamily="2" charset="2"/>
        <a:buChar char="n"/>
        <a:defRPr sz="1200">
          <a:solidFill>
            <a:schemeClr val="tx1"/>
          </a:solidFill>
          <a:latin typeface="+mn-lt"/>
          <a:ea typeface="+mn-ea"/>
        </a:defRPr>
      </a:lvl5pPr>
      <a:lvl6pPr marL="1895475" indent="-290830" algn="l" rtl="0" fontAlgn="base">
        <a:spcBef>
          <a:spcPct val="20000"/>
        </a:spcBef>
        <a:spcAft>
          <a:spcPct val="0"/>
        </a:spcAft>
        <a:buClr>
          <a:schemeClr val="accent1"/>
        </a:buClr>
        <a:buSzPct val="70000"/>
        <a:buFont typeface="Wingdings" panose="05000000000000000000" pitchFamily="2" charset="2"/>
        <a:buChar char="n"/>
        <a:defRPr sz="1200">
          <a:solidFill>
            <a:schemeClr val="tx1"/>
          </a:solidFill>
          <a:latin typeface="+mn-lt"/>
          <a:ea typeface="+mn-ea"/>
        </a:defRPr>
      </a:lvl6pPr>
      <a:lvl7pPr marL="2238375" indent="-290830" algn="l" rtl="0" fontAlgn="base">
        <a:spcBef>
          <a:spcPct val="20000"/>
        </a:spcBef>
        <a:spcAft>
          <a:spcPct val="0"/>
        </a:spcAft>
        <a:buClr>
          <a:schemeClr val="accent1"/>
        </a:buClr>
        <a:buSzPct val="70000"/>
        <a:buFont typeface="Wingdings" panose="05000000000000000000" pitchFamily="2" charset="2"/>
        <a:buChar char="n"/>
        <a:defRPr sz="1200">
          <a:solidFill>
            <a:schemeClr val="tx1"/>
          </a:solidFill>
          <a:latin typeface="+mn-lt"/>
          <a:ea typeface="+mn-ea"/>
        </a:defRPr>
      </a:lvl7pPr>
      <a:lvl8pPr marL="2581275" indent="-290830" algn="l" rtl="0" fontAlgn="base">
        <a:spcBef>
          <a:spcPct val="20000"/>
        </a:spcBef>
        <a:spcAft>
          <a:spcPct val="0"/>
        </a:spcAft>
        <a:buClr>
          <a:schemeClr val="accent1"/>
        </a:buClr>
        <a:buSzPct val="70000"/>
        <a:buFont typeface="Wingdings" panose="05000000000000000000" pitchFamily="2" charset="2"/>
        <a:buChar char="n"/>
        <a:defRPr sz="1200">
          <a:solidFill>
            <a:schemeClr val="tx1"/>
          </a:solidFill>
          <a:latin typeface="+mn-lt"/>
          <a:ea typeface="+mn-ea"/>
        </a:defRPr>
      </a:lvl8pPr>
      <a:lvl9pPr marL="2924175" indent="-290830" algn="l" rtl="0" fontAlgn="base">
        <a:spcBef>
          <a:spcPct val="20000"/>
        </a:spcBef>
        <a:spcAft>
          <a:spcPct val="0"/>
        </a:spcAft>
        <a:buClr>
          <a:schemeClr val="accent1"/>
        </a:buClr>
        <a:buSzPct val="70000"/>
        <a:buFont typeface="Wingdings" panose="05000000000000000000" pitchFamily="2" charset="2"/>
        <a:buChar char="n"/>
        <a:defRPr sz="12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defRPr/>
            </a:pPr>
            <a:endParaRPr lang="zh-CN" altLang="en-US" smtClean="0"/>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1" hangingPunct="1">
              <a:defRPr sz="1200">
                <a:latin typeface="Verdana" charset="0"/>
              </a:defRPr>
            </a:lvl1pPr>
          </a:lstStyle>
          <a:p>
            <a:pPr>
              <a:defRPr/>
            </a:pPr>
            <a:fld id="{819118F7-5E29-FC41-A198-728DEC2CCBC4}"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smtClean="0">
              <a:solidFill>
                <a:schemeClr val="bg1"/>
              </a:solidFill>
              <a:latin typeface="Verdana" pitchFamily="34" charset="0"/>
            </a:endParaRPr>
          </a:p>
        </p:txBody>
      </p:sp>
      <p:pic>
        <p:nvPicPr>
          <p:cNvPr id="9" name="图片 8"/>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380288" y="6453188"/>
            <a:ext cx="1579562" cy="360362"/>
          </a:xfrm>
          <a:prstGeom prst="rect">
            <a:avLst/>
          </a:prstGeom>
          <a:noFill/>
          <a:ln>
            <a:noFill/>
          </a:ln>
          <a:effectLst>
            <a:outerShdw blurRad="50800" dist="38100" dir="2700000" algn="tl" rotWithShape="0">
              <a:srgbClr val="000000">
                <a:alpha val="39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14192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timing>
    <p:tnLst>
      <p:par>
        <p:cTn id="1" dur="indefinite" restart="never" nodeType="tmRoot"/>
      </p:par>
    </p:tnLst>
  </p:timing>
  <p:hf sldNum="0" hdr="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0" fontAlgn="base" hangingPunct="0">
        <a:spcBef>
          <a:spcPct val="20000"/>
        </a:spcBef>
        <a:spcAft>
          <a:spcPct val="0"/>
        </a:spcAft>
        <a:buClr>
          <a:srgbClr val="00607A"/>
        </a:buClr>
        <a:buFont typeface="Wingdings" charset="2"/>
        <a:buChar char="l"/>
        <a:defRPr sz="3200">
          <a:solidFill>
            <a:srgbClr val="00607A"/>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charset="2"/>
        <a:buChar char="n"/>
        <a:defRPr sz="2800">
          <a:solidFill>
            <a:srgbClr val="00607A"/>
          </a:solidFill>
          <a:latin typeface="+mn-lt"/>
        </a:defRPr>
      </a:lvl2pPr>
      <a:lvl3pPr marL="1079500" indent="-363538" algn="l" rtl="0" eaLnBrk="0" fontAlgn="base" hangingPunct="0">
        <a:spcBef>
          <a:spcPct val="20000"/>
        </a:spcBef>
        <a:spcAft>
          <a:spcPct val="0"/>
        </a:spcAft>
        <a:buClr>
          <a:srgbClr val="00607A"/>
        </a:buClr>
        <a:buFont typeface="Wingdings" charset="2"/>
        <a:buChar char="u"/>
        <a:defRPr sz="2400">
          <a:solidFill>
            <a:srgbClr val="00607A"/>
          </a:solidFill>
          <a:latin typeface="+mn-lt"/>
        </a:defRPr>
      </a:lvl3pPr>
      <a:lvl4pPr marL="1431925" indent="-352425" algn="l" rtl="0" eaLnBrk="0" fontAlgn="base" hangingPunct="0">
        <a:spcBef>
          <a:spcPct val="20000"/>
        </a:spcBef>
        <a:spcAft>
          <a:spcPct val="0"/>
        </a:spcAft>
        <a:buChar char="–"/>
        <a:defRPr sz="2000">
          <a:solidFill>
            <a:srgbClr val="00607A"/>
          </a:solidFill>
          <a:latin typeface="+mn-lt"/>
        </a:defRPr>
      </a:lvl4pPr>
      <a:lvl5pPr marL="1795463" indent="-363538" algn="l" rtl="0" eaLnBrk="0" fontAlgn="base" hangingPunct="0">
        <a:spcBef>
          <a:spcPct val="20000"/>
        </a:spcBef>
        <a:spcAft>
          <a:spcPct val="0"/>
        </a:spcAft>
        <a:buFont typeface="Wingdings"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6"/>
            <a:ext cx="302775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8"/>
            <a:ext cx="1141809" cy="2365453"/>
          </a:xfrm>
          <a:prstGeom prst="rect">
            <a:avLst/>
          </a:prstGeom>
        </p:spPr>
      </p:pic>
      <p:sp>
        <p:nvSpPr>
          <p:cNvPr id="16" name="Oval 15"/>
          <p:cNvSpPr/>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5999560" y="1"/>
            <a:ext cx="1202540"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14" name="Rectangle 13"/>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452718"/>
            <a:ext cx="7053542" cy="1400530"/>
          </a:xfrm>
          <a:prstGeom prst="rect">
            <a:avLst/>
          </a:prstGeom>
        </p:spPr>
        <p:txBody>
          <a:bodyPr vert="horz" lIns="91440" tIns="45720" rIns="91440" bIns="45720" rtlCol="0" anchor="t">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7484" y="2052919"/>
            <a:ext cx="6709906" cy="4195481"/>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rot="5400000">
            <a:off x="7492905" y="1828801"/>
            <a:ext cx="99059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A10D266E-E9D0-4151-9D1B-CB9881BD1651}" type="datetimeFigureOut">
              <a:rPr lang="zh-CN" altLang="en-US" smtClean="0"/>
              <a:t>2020/6/29</a:t>
            </a:fld>
            <a:endParaRPr lang="zh-CN" altLang="en-US"/>
          </a:p>
        </p:txBody>
      </p:sp>
      <p:sp>
        <p:nvSpPr>
          <p:cNvPr id="5" name="Footer Placeholder 4"/>
          <p:cNvSpPr>
            <a:spLocks noGrp="1"/>
          </p:cNvSpPr>
          <p:nvPr>
            <p:ph type="ftr" sz="quarter" idx="3"/>
          </p:nvPr>
        </p:nvSpPr>
        <p:spPr>
          <a:xfrm rot="5400000">
            <a:off x="6231206" y="3263398"/>
            <a:ext cx="3859795"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zh-CN" altLang="en-US"/>
          </a:p>
        </p:txBody>
      </p:sp>
      <p:sp>
        <p:nvSpPr>
          <p:cNvPr id="6" name="Slide Number Placeholder 5"/>
          <p:cNvSpPr>
            <a:spLocks noGrp="1"/>
          </p:cNvSpPr>
          <p:nvPr>
            <p:ph type="sldNum" sz="quarter" idx="4"/>
          </p:nvPr>
        </p:nvSpPr>
        <p:spPr bwMode="gray">
          <a:xfrm>
            <a:off x="7764406" y="295730"/>
            <a:ext cx="628649" cy="767687"/>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BDE2A96B-CD83-4B93-B857-40DA55F6EFD8}" type="slidenum">
              <a:rPr lang="zh-CN" altLang="en-US" smtClean="0"/>
              <a:t>‹#›</a:t>
            </a:fld>
            <a:endParaRPr lang="zh-CN" altLang="en-US"/>
          </a:p>
        </p:txBody>
      </p:sp>
    </p:spTree>
    <p:extLst>
      <p:ext uri="{BB962C8B-B14F-4D97-AF65-F5344CB8AC3E}">
        <p14:creationId xmlns:p14="http://schemas.microsoft.com/office/powerpoint/2010/main" val="2581651818"/>
      </p:ext>
    </p:extLst>
  </p:cSld>
  <p:clrMap bg1="dk1" tx1="lt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Lst>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5.xml"/><Relationship Id="rId1" Type="http://schemas.openxmlformats.org/officeDocument/2006/relationships/slideLayout" Target="../slideLayouts/slideLayout25.xml"/><Relationship Id="rId5" Type="http://schemas.openxmlformats.org/officeDocument/2006/relationships/slide" Target="slide28.xml"/><Relationship Id="rId4" Type="http://schemas.openxmlformats.org/officeDocument/2006/relationships/slide" Target="slide27.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slide" Target="slide24.xml"/></Relationships>
</file>

<file path=ppt/slides/_rels/slide26.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sz="half" idx="2"/>
          </p:nvPr>
        </p:nvSpPr>
        <p:spPr/>
        <p:txBody>
          <a:bodyPr/>
          <a:lstStyle/>
          <a:p>
            <a:fld id="{086E4419-E977-474C-AD04-3800230C61E8}" type="datetime1">
              <a:rPr lang="zh-CN" altLang="en-US" smtClean="0"/>
              <a:t>2020/6/29</a:t>
            </a:fld>
            <a:endParaRPr lang="en-US" altLang="zh-CN" dirty="0"/>
          </a:p>
        </p:txBody>
      </p:sp>
      <p:sp>
        <p:nvSpPr>
          <p:cNvPr id="5" name="Rectangle 5"/>
          <p:cNvSpPr>
            <a:spLocks noGrp="1" noChangeArrowheads="1"/>
          </p:cNvSpPr>
          <p:nvPr>
            <p:ph type="sldNum" sz="quarter" idx="4"/>
          </p:nvPr>
        </p:nvSpPr>
        <p:spPr/>
        <p:txBody>
          <a:bodyPr/>
          <a:lstStyle/>
          <a:p>
            <a:fld id="{B2CB23BA-3A00-4F0A-87D2-A7328CC13ADC}" type="slidenum">
              <a:rPr lang="en-US" altLang="zh-CN"/>
              <a:t>1</a:t>
            </a:fld>
            <a:endParaRPr lang="en-US" altLang="zh-CN" dirty="0"/>
          </a:p>
        </p:txBody>
      </p:sp>
      <p:sp>
        <p:nvSpPr>
          <p:cNvPr id="3" name="Title 2"/>
          <p:cNvSpPr>
            <a:spLocks noGrp="1"/>
          </p:cNvSpPr>
          <p:nvPr>
            <p:ph type="ctrTitle"/>
          </p:nvPr>
        </p:nvSpPr>
        <p:spPr/>
        <p:txBody>
          <a:bodyPr/>
          <a:lstStyle/>
          <a:p>
            <a:r>
              <a:rPr lang="en-US" altLang="zh-CN" sz="4400" kern="1200">
                <a:ea typeface="宋体" panose="02010600030101010101" pitchFamily="2" charset="-122"/>
                <a:sym typeface="+mn-ea"/>
              </a:rPr>
              <a:t>Devops</a:t>
            </a:r>
            <a:endParaRPr lang="en-US" altLang="zh-CN" sz="4400"/>
          </a:p>
        </p:txBody>
      </p:sp>
      <p:sp>
        <p:nvSpPr>
          <p:cNvPr id="2" name="副标题 1"/>
          <p:cNvSpPr>
            <a:spLocks noGrp="1"/>
          </p:cNvSpPr>
          <p:nvPr>
            <p:ph type="subTitle" idx="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6652"/>
    </mc:Choice>
    <mc:Fallback xmlns="">
      <p:transition spd="slow" advTm="26652"/>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1200">
                <a:sym typeface="+mn-ea"/>
              </a:rPr>
              <a:t>什么是</a:t>
            </a:r>
            <a:r>
              <a:rPr lang="en-US" altLang="zh-CN" kern="1200">
                <a:sym typeface="+mn-ea"/>
              </a:rPr>
              <a:t>Devops</a:t>
            </a:r>
            <a:r>
              <a:rPr lang="zh-CN" altLang="en-US" kern="1200">
                <a:sym typeface="+mn-ea"/>
              </a:rPr>
              <a:t>？</a:t>
            </a:r>
            <a:endParaRPr lang="zh-CN" altLang="en-US" dirty="0"/>
          </a:p>
        </p:txBody>
      </p:sp>
      <p:sp>
        <p:nvSpPr>
          <p:cNvPr id="3" name="内容占位符 2"/>
          <p:cNvSpPr>
            <a:spLocks noGrp="1"/>
          </p:cNvSpPr>
          <p:nvPr>
            <p:ph idx="1"/>
          </p:nvPr>
        </p:nvSpPr>
        <p:spPr>
          <a:xfrm>
            <a:off x="500699" y="1063943"/>
            <a:ext cx="8142287" cy="4392612"/>
          </a:xfrm>
        </p:spPr>
        <p:txBody>
          <a:bodyPr/>
          <a:lstStyle/>
          <a:p>
            <a:endParaRPr lang="zh-CN" altLang="en-US" sz="3600" kern="1200" dirty="0">
              <a:latin typeface="+mj-lt"/>
              <a:ea typeface="+mj-ea"/>
              <a:cs typeface="+mj-cs"/>
            </a:endParaRPr>
          </a:p>
          <a:p>
            <a:pPr fontAlgn="auto">
              <a:lnSpc>
                <a:spcPct val="120000"/>
              </a:lnSpc>
            </a:pPr>
            <a:r>
              <a:rPr lang="en-US" altLang="zh-CN" sz="3200" dirty="0" smtClean="0">
                <a:sym typeface="+mn-lt"/>
              </a:rPr>
              <a:t>DevOps（Development和Operations的组合词）是一种重视“软件开发人员（Dev）”和“IT运维技术人员（Ops）”之间沟通合作的文化、运动或惯例。</a:t>
            </a:r>
            <a:endParaRPr lang="en-US" altLang="zh-CN" sz="3200" kern="1200" dirty="0">
              <a:sym typeface="+mn-ea"/>
            </a:endParaRPr>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smtClean="0"/>
              <a:t>2</a:t>
            </a:fld>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3</a:t>
            </a:fld>
            <a:endParaRPr lang="en-US" altLang="zh-CN"/>
          </a:p>
        </p:txBody>
      </p:sp>
      <p:sp>
        <p:nvSpPr>
          <p:cNvPr id="6" name="矩形 5"/>
          <p:cNvSpPr/>
          <p:nvPr/>
        </p:nvSpPr>
        <p:spPr>
          <a:xfrm>
            <a:off x="987425" y="2829560"/>
            <a:ext cx="7169150" cy="1198880"/>
          </a:xfrm>
          <a:prstGeom prst="rect">
            <a:avLst/>
          </a:prstGeom>
          <a:noFill/>
          <a:ln>
            <a:noFill/>
          </a:ln>
        </p:spPr>
        <p:txBody>
          <a:bodyPr wrap="none" rtlCol="0" anchor="t">
            <a:spAutoFit/>
          </a:bodyPr>
          <a:lstStyle/>
          <a:p>
            <a:pPr algn="ctr"/>
            <a:r>
              <a:rPr lang="en-US" altLang="zh-CN" sz="7200" b="1" dirty="0">
                <a:solidFill>
                  <a:srgbClr val="FF0000"/>
                </a:solidFill>
                <a:effectLst>
                  <a:outerShdw blurRad="38100" dist="25400" dir="5400000" algn="ctr" rotWithShape="0">
                    <a:srgbClr val="6E747A">
                      <a:alpha val="43000"/>
                    </a:srgbClr>
                  </a:outerShdw>
                </a:effectLst>
              </a:rPr>
              <a:t>Devops=Dev+Ops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4</a:t>
            </a:fld>
            <a:endParaRPr lang="en-US" altLang="zh-CN"/>
          </a:p>
        </p:txBody>
      </p:sp>
      <p:sp>
        <p:nvSpPr>
          <p:cNvPr id="6" name="矩形 5"/>
          <p:cNvSpPr/>
          <p:nvPr/>
        </p:nvSpPr>
        <p:spPr>
          <a:xfrm>
            <a:off x="1544638" y="2829560"/>
            <a:ext cx="6054725" cy="1198880"/>
          </a:xfrm>
          <a:prstGeom prst="rect">
            <a:avLst/>
          </a:prstGeom>
          <a:noFill/>
          <a:ln>
            <a:noFill/>
          </a:ln>
        </p:spPr>
        <p:txBody>
          <a:bodyPr wrap="none" rtlCol="0" anchor="t">
            <a:spAutoFit/>
          </a:bodyPr>
          <a:lstStyle/>
          <a:p>
            <a:pPr algn="ctr"/>
            <a:r>
              <a:rPr lang="en-US" altLang="zh-CN" sz="7200" b="1">
                <a:solidFill>
                  <a:schemeClr val="accent1"/>
                </a:solidFill>
                <a:effectLst>
                  <a:outerShdw blurRad="38100" dist="25400" dir="5400000" algn="ctr" rotWithShape="0">
                    <a:srgbClr val="6E747A">
                      <a:alpha val="43000"/>
                    </a:srgbClr>
                  </a:outerShdw>
                </a:effectLst>
              </a:rPr>
              <a:t>Why Devops</a:t>
            </a:r>
            <a:r>
              <a:rPr lang="zh-CN" altLang="en-US" sz="7200" b="1">
                <a:solidFill>
                  <a:schemeClr val="accent1"/>
                </a:solidFill>
                <a:effectLst>
                  <a:outerShdw blurRad="38100" dist="25400" dir="5400000" algn="ctr" rotWithShape="0">
                    <a:srgbClr val="6E747A">
                      <a:alpha val="43000"/>
                    </a:srgbClr>
                  </a:outerShdw>
                </a:effectLst>
              </a:rPr>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一个小张的例子</a:t>
            </a:r>
          </a:p>
        </p:txBody>
      </p:sp>
      <p:sp>
        <p:nvSpPr>
          <p:cNvPr id="3" name="内容占位符 2"/>
          <p:cNvSpPr>
            <a:spLocks noGrp="1"/>
          </p:cNvSpPr>
          <p:nvPr>
            <p:ph idx="1"/>
          </p:nvPr>
        </p:nvSpPr>
        <p:spPr/>
        <p:txBody>
          <a:bodyPr/>
          <a:lstStyle/>
          <a:p>
            <a:r>
              <a:rPr lang="zh-CN" altLang="en-US" sz="5400"/>
              <a:t>大学期间，小张跟老师做一些小项目，开发、测试、部署都是自己一个人搞定。</a:t>
            </a:r>
          </a:p>
          <a:p>
            <a:endParaRPr lang="zh-CN" altLang="en-US" sz="5400"/>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5</a:t>
            </a:fld>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sz="4000"/>
              <a:t>小张毕业后去公司了，有了开发团队。</a:t>
            </a:r>
          </a:p>
          <a:p>
            <a:r>
              <a:rPr lang="zh-CN" altLang="en-US" sz="4000"/>
              <a:t>部署人员一般都是由开发团队兼任。</a:t>
            </a:r>
          </a:p>
          <a:p>
            <a:r>
              <a:rPr lang="zh-CN" altLang="en-US" sz="4000"/>
              <a:t>因为有了开发团队，所以小张他们采用了瀑布模型进行开发。</a:t>
            </a:r>
            <a:endParaRPr lang="zh-CN" altLang="en-US"/>
          </a:p>
          <a:p>
            <a:pPr marL="0" indent="0">
              <a:buNone/>
            </a:pPr>
            <a:endParaRPr lang="zh-CN" altLang="en-US"/>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6</a:t>
            </a:fld>
            <a:endParaRPr lang="en-US" altLang="zh-C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sz="4000"/>
              <a:t>后来项目越来越复杂，开发团队无法再兼任测试的任务，公司又添加了测试部门，这个时候再用瀑布模型就会使开发团队和测试团队沟通成本太大，于是小张他们使用敏捷开发进行开发，加快了服务上线的速度。</a:t>
            </a:r>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7</a:t>
            </a:fld>
            <a:endParaRPr lang="en-US" altLang="zh-C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sz="3200"/>
              <a:t>互联网浪潮来袭后小张他们做了一个互联网软件，但是这个系统可比原来的单机软件要复杂得多，尤其是要面对海量用户的高并发访问，需要解决各种各样的技术难题，挑战巨大。 系统不但复杂，还需要以24*7的方式运行， 靠开发或测试的兼职人员已经无法维护了。这时候公司就引进了运维部门。</a:t>
            </a:r>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8</a:t>
            </a:fld>
            <a:endParaRPr lang="en-US" altLang="zh-C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sz="2000"/>
              <a:t>小张负责的开发团队向运维提交了一份</a:t>
            </a:r>
            <a:r>
              <a:rPr lang="en-US" altLang="zh-CN" sz="2000"/>
              <a:t>“</a:t>
            </a:r>
            <a:r>
              <a:rPr lang="zh-CN" altLang="en-US" sz="2000"/>
              <a:t>完美</a:t>
            </a:r>
            <a:r>
              <a:rPr lang="en-US" altLang="zh-CN" sz="2000"/>
              <a:t>”</a:t>
            </a:r>
            <a:r>
              <a:rPr lang="zh-CN" altLang="en-US" sz="2000"/>
              <a:t>的代码。 </a:t>
            </a:r>
          </a:p>
          <a:p>
            <a:endParaRPr lang="zh-CN" altLang="en-US" sz="2000"/>
          </a:p>
          <a:p>
            <a:r>
              <a:rPr lang="zh-CN" altLang="en-US" sz="2000"/>
              <a:t>但是这份开发团队认为</a:t>
            </a:r>
            <a:r>
              <a:rPr lang="en-US" altLang="zh-CN" sz="2000"/>
              <a:t>“</a:t>
            </a:r>
            <a:r>
              <a:rPr lang="zh-CN" altLang="en-US" sz="2000"/>
              <a:t>完美</a:t>
            </a:r>
            <a:r>
              <a:rPr lang="en-US" altLang="zh-CN" sz="2000"/>
              <a:t>”</a:t>
            </a:r>
            <a:r>
              <a:rPr lang="zh-CN" altLang="en-US" sz="2000"/>
              <a:t>的代码却在运维团队的部署中出现了</a:t>
            </a:r>
            <a:r>
              <a:rPr lang="en-US" altLang="zh-CN" sz="2000"/>
              <a:t>down</a:t>
            </a:r>
            <a:r>
              <a:rPr lang="zh-CN" altLang="en-US" sz="2000"/>
              <a:t>机。运维部门的小王就来找小张，说他们的代码有问题。</a:t>
            </a:r>
          </a:p>
          <a:p>
            <a:endParaRPr lang="zh-CN" altLang="en-US" sz="2000"/>
          </a:p>
          <a:p>
            <a:r>
              <a:rPr lang="zh-CN" altLang="en-US" sz="2000"/>
              <a:t>小张怎么也想不到是这种结果，于是跟小王争论到：“我们在测试的时候的用户压力比实际压力大好多，代码十分完美，肯定是你们运维部门配置错了！” </a:t>
            </a:r>
          </a:p>
          <a:p>
            <a:endParaRPr lang="zh-CN" altLang="en-US" sz="2000"/>
          </a:p>
          <a:p>
            <a:r>
              <a:rPr lang="zh-CN" altLang="en-US" sz="2000"/>
              <a:t>“不可能，我们是严格按照你们要求的步骤来部署的，肯定是你们代码的问题！” </a:t>
            </a:r>
          </a:p>
          <a:p>
            <a:endParaRPr lang="zh-CN" altLang="en-US" sz="2000"/>
          </a:p>
          <a:p>
            <a:r>
              <a:rPr lang="zh-CN" altLang="en-US" sz="2000"/>
              <a:t>“那测试环境怎么就没有问题？”</a:t>
            </a:r>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9</a:t>
            </a:fld>
            <a:endParaRPr lang="en-US" altLang="zh-C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为什么要运用</a:t>
            </a:r>
            <a:r>
              <a:rPr lang="en-US" altLang="zh-CN"/>
              <a:t>Devops</a:t>
            </a:r>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10</a:t>
            </a:fld>
            <a:endParaRPr lang="en-US" altLang="zh-CN"/>
          </a:p>
        </p:txBody>
      </p:sp>
      <p:pic>
        <p:nvPicPr>
          <p:cNvPr id="8" name="内容占位符 7"/>
          <p:cNvPicPr>
            <a:picLocks noGrp="1" noChangeAspect="1"/>
          </p:cNvPicPr>
          <p:nvPr>
            <p:ph idx="1"/>
          </p:nvPr>
        </p:nvPicPr>
        <p:blipFill>
          <a:blip r:embed="rId3"/>
          <a:stretch>
            <a:fillRect/>
          </a:stretch>
        </p:blipFill>
        <p:spPr>
          <a:xfrm>
            <a:off x="403225" y="1551940"/>
            <a:ext cx="7913370" cy="407225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 name="内容占位符 5"/>
          <p:cNvPicPr>
            <a:picLocks noGrp="1" noChangeAspect="1"/>
          </p:cNvPicPr>
          <p:nvPr>
            <p:ph idx="1"/>
          </p:nvPr>
        </p:nvPicPr>
        <p:blipFill>
          <a:blip r:embed="rId2"/>
          <a:stretch>
            <a:fillRect/>
          </a:stretch>
        </p:blipFill>
        <p:spPr>
          <a:xfrm>
            <a:off x="0" y="1196752"/>
            <a:ext cx="9143999" cy="4968552"/>
          </a:xfrm>
          <a:prstGeom prst="rect">
            <a:avLst/>
          </a:prstGeom>
        </p:spPr>
      </p:pic>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smtClean="0"/>
              <a:t>11</a:t>
            </a:fld>
            <a:endParaRPr lang="en-US" altLang="zh-CN"/>
          </a:p>
        </p:txBody>
      </p:sp>
    </p:spTree>
    <p:extLst>
      <p:ext uri="{BB962C8B-B14F-4D97-AF65-F5344CB8AC3E}">
        <p14:creationId xmlns:p14="http://schemas.microsoft.com/office/powerpoint/2010/main" val="64221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sz="3200"/>
              <a:t>每次部署都是一整个项目的部署，环境配置很有可能出错</a:t>
            </a:r>
          </a:p>
          <a:p>
            <a:r>
              <a:rPr lang="zh-CN" altLang="en-US" sz="3200"/>
              <a:t>每次开发团队交付代码，都得派人去运维部门进行指导教学</a:t>
            </a:r>
          </a:p>
          <a:p>
            <a:r>
              <a:rPr lang="zh-CN" altLang="en-US" sz="3200"/>
              <a:t>运维部门只想按部就班配置环境，出了错就找开发团队</a:t>
            </a:r>
          </a:p>
          <a:p>
            <a:r>
              <a:rPr lang="zh-CN" altLang="en-US" sz="3200"/>
              <a:t>运维部门与开发部门之间沟通代价巨大</a:t>
            </a:r>
            <a:endParaRPr lang="zh-CN" altLang="en-US"/>
          </a:p>
          <a:p>
            <a:endParaRPr lang="zh-CN" altLang="en-US"/>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12</a:t>
            </a:fld>
            <a:endParaRPr lang="en-US" altLang="zh-C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sz="3200"/>
              <a:t>运维部门缺乏对项目的充分认识，开发部门缺乏对生产环境的足够认识，导致代码在开发完毕到上线后要经历一个巨大的鸿沟。</a:t>
            </a:r>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13</a:t>
            </a:fld>
            <a:endParaRPr lang="en-US" altLang="zh-C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How</a:t>
            </a:r>
            <a:r>
              <a:rPr lang="zh-CN" altLang="en-US"/>
              <a:t>？</a:t>
            </a:r>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14</a:t>
            </a:fld>
            <a:endParaRPr lang="en-US" altLang="zh-CN"/>
          </a:p>
        </p:txBody>
      </p:sp>
      <p:pic>
        <p:nvPicPr>
          <p:cNvPr id="6" name="内容占位符 5"/>
          <p:cNvPicPr>
            <a:picLocks noGrp="1" noChangeAspect="1"/>
          </p:cNvPicPr>
          <p:nvPr>
            <p:ph idx="1"/>
          </p:nvPr>
        </p:nvPicPr>
        <p:blipFill>
          <a:blip r:embed="rId2"/>
          <a:stretch>
            <a:fillRect/>
          </a:stretch>
        </p:blipFill>
        <p:spPr>
          <a:xfrm>
            <a:off x="967105" y="1760855"/>
            <a:ext cx="7143750" cy="383857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运维人员要了解业务</a:t>
            </a:r>
          </a:p>
          <a:p>
            <a:r>
              <a:rPr lang="zh-CN" altLang="en-US" dirty="0"/>
              <a:t>Code变化带来的影响要告知运维人员</a:t>
            </a:r>
          </a:p>
          <a:p>
            <a:r>
              <a:rPr lang="zh-CN" altLang="en-US" dirty="0"/>
              <a:t>开发人员工作的开发/测试环境要尽可能地和生产环境一致</a:t>
            </a:r>
          </a:p>
          <a:p>
            <a:r>
              <a:rPr lang="zh-CN" altLang="en-US" dirty="0"/>
              <a:t>以微服务为单位进行部署，实现频繁部署的可能</a:t>
            </a:r>
          </a:p>
          <a:p>
            <a:r>
              <a:rPr lang="zh-CN" altLang="en-US" dirty="0"/>
              <a:t>开发和运维团队合作，实现自动化部署</a:t>
            </a:r>
          </a:p>
          <a:p>
            <a:endParaRPr lang="zh-CN" altLang="en-US" dirty="0"/>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15</a:t>
            </a:fld>
            <a:endParaRPr lang="en-US" altLang="zh-C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最终目的</a:t>
            </a:r>
          </a:p>
        </p:txBody>
      </p:sp>
      <p:sp>
        <p:nvSpPr>
          <p:cNvPr id="3" name="内容占位符 2"/>
          <p:cNvSpPr>
            <a:spLocks noGrp="1"/>
          </p:cNvSpPr>
          <p:nvPr>
            <p:ph idx="1"/>
          </p:nvPr>
        </p:nvSpPr>
        <p:spPr>
          <a:xfrm>
            <a:off x="611189" y="2635568"/>
            <a:ext cx="8142287" cy="4392612"/>
          </a:xfrm>
        </p:spPr>
        <p:txBody>
          <a:bodyPr/>
          <a:lstStyle/>
          <a:p>
            <a:r>
              <a:rPr lang="zh-CN" altLang="en-US" sz="3600">
                <a:solidFill>
                  <a:srgbClr val="FF0000"/>
                </a:solidFill>
                <a:effectLst>
                  <a:outerShdw blurRad="38100" dist="25400" dir="5400000" algn="ctr" rotWithShape="0">
                    <a:srgbClr val="6E747A">
                      <a:alpha val="43000"/>
                    </a:srgbClr>
                  </a:outerShdw>
                </a:effectLst>
              </a:rPr>
              <a:t>减少需求从提出到上线，交付给用户使用的时间</a:t>
            </a:r>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16</a:t>
            </a:fld>
            <a:endParaRPr lang="en-US" altLang="zh-CN"/>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17</a:t>
            </a:fld>
            <a:endParaRPr lang="en-US" altLang="zh-CN"/>
          </a:p>
        </p:txBody>
      </p:sp>
      <p:pic>
        <p:nvPicPr>
          <p:cNvPr id="6" name="内容占位符 5"/>
          <p:cNvPicPr>
            <a:picLocks noGrp="1" noChangeAspect="1"/>
          </p:cNvPicPr>
          <p:nvPr>
            <p:ph idx="1"/>
          </p:nvPr>
        </p:nvPicPr>
        <p:blipFill>
          <a:blip r:embed="rId3"/>
          <a:stretch>
            <a:fillRect/>
          </a:stretch>
        </p:blipFill>
        <p:spPr>
          <a:xfrm>
            <a:off x="935990" y="981075"/>
            <a:ext cx="7272020" cy="4392295"/>
          </a:xfrm>
          <a:prstGeom prst="rect">
            <a:avLst/>
          </a:prstGeom>
        </p:spPr>
      </p:pic>
      <p:cxnSp>
        <p:nvCxnSpPr>
          <p:cNvPr id="7" name="直接箭头连接符 6"/>
          <p:cNvCxnSpPr/>
          <p:nvPr/>
        </p:nvCxnSpPr>
        <p:spPr>
          <a:xfrm>
            <a:off x="1734820" y="5609590"/>
            <a:ext cx="5789930" cy="11430"/>
          </a:xfrm>
          <a:prstGeom prst="straightConnector1">
            <a:avLst/>
          </a:prstGeom>
          <a:ln w="76200">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8" name="矩形 7"/>
          <p:cNvSpPr/>
          <p:nvPr/>
        </p:nvSpPr>
        <p:spPr>
          <a:xfrm>
            <a:off x="1361440" y="5829935"/>
            <a:ext cx="6846570" cy="645160"/>
          </a:xfrm>
          <a:prstGeom prst="rect">
            <a:avLst/>
          </a:prstGeom>
          <a:noFill/>
          <a:ln>
            <a:noFill/>
          </a:ln>
        </p:spPr>
        <p:txBody>
          <a:bodyPr wrap="square" rtlCol="0" anchor="t">
            <a:spAutoFit/>
          </a:bodyPr>
          <a:lstStyle/>
          <a:p>
            <a:pPr algn="ctr"/>
            <a:r>
              <a:rPr lang="zh-CN" altLang="en-US" sz="3600" b="1">
                <a:solidFill>
                  <a:srgbClr val="FF0000"/>
                </a:solidFill>
                <a:effectLst>
                  <a:outerShdw blurRad="38100" dist="25400" dir="5400000" algn="ctr" rotWithShape="0">
                    <a:srgbClr val="6E747A">
                      <a:alpha val="43000"/>
                    </a:srgbClr>
                  </a:outerShdw>
                </a:effectLst>
              </a:rPr>
              <a:t>程序和服务越来越复杂</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简介</a:t>
            </a:r>
            <a:endParaRPr lang="zh-CN" altLang="en-US" dirty="0"/>
          </a:p>
        </p:txBody>
      </p:sp>
      <p:sp>
        <p:nvSpPr>
          <p:cNvPr id="3" name="内容占位符 2"/>
          <p:cNvSpPr>
            <a:spLocks noGrp="1"/>
          </p:cNvSpPr>
          <p:nvPr>
            <p:ph idx="1"/>
          </p:nvPr>
        </p:nvSpPr>
        <p:spPr>
          <a:xfrm>
            <a:off x="-4462" y="1824116"/>
            <a:ext cx="5120993" cy="4024859"/>
          </a:xfrm>
        </p:spPr>
        <p:txBody>
          <a:bodyPr/>
          <a:lstStyle/>
          <a:p>
            <a:pPr lvl="1"/>
            <a:r>
              <a:rPr lang="en-US" altLang="zh-CN" dirty="0"/>
              <a:t>DevOps</a:t>
            </a:r>
            <a:r>
              <a:rPr lang="zh-CN" altLang="en-US" dirty="0"/>
              <a:t>（英文</a:t>
            </a:r>
            <a:r>
              <a:rPr lang="en-US" altLang="zh-CN" dirty="0"/>
              <a:t>Development</a:t>
            </a:r>
            <a:r>
              <a:rPr lang="zh-CN" altLang="en-US" dirty="0"/>
              <a:t>和</a:t>
            </a:r>
            <a:r>
              <a:rPr lang="en-US" altLang="zh-CN" dirty="0"/>
              <a:t>Operations</a:t>
            </a:r>
            <a:r>
              <a:rPr lang="zh-CN" altLang="en-US" dirty="0"/>
              <a:t>的组合）是一组过程、方法与系统的统称，用于促进开发（应用程序</a:t>
            </a:r>
            <a:r>
              <a:rPr lang="en-US" altLang="zh-CN" dirty="0"/>
              <a:t>/</a:t>
            </a:r>
            <a:r>
              <a:rPr lang="zh-CN" altLang="en-US" dirty="0"/>
              <a:t>软件工程）、技术运营和质量保障（</a:t>
            </a:r>
            <a:r>
              <a:rPr lang="en-US" altLang="zh-CN" dirty="0"/>
              <a:t>QA</a:t>
            </a:r>
            <a:r>
              <a:rPr lang="zh-CN" altLang="en-US" dirty="0"/>
              <a:t>）部门之间的沟通、协作与整合。它的出现是由于软件行业日益清晰地认识到：为了按时交付软件产品和服务，开发和运营工作必须紧密合作</a:t>
            </a:r>
            <a:r>
              <a:rPr lang="zh-CN" altLang="en-US" dirty="0" smtClean="0"/>
              <a:t>。</a:t>
            </a:r>
            <a:endParaRPr lang="en-US" altLang="zh-CN" dirty="0" smtClean="0"/>
          </a:p>
          <a:p>
            <a:pPr lvl="1"/>
            <a:endParaRPr lang="en-US" altLang="zh-CN" dirty="0" smtClean="0"/>
          </a:p>
          <a:p>
            <a:pPr lvl="1"/>
            <a:r>
              <a:rPr lang="en-US" altLang="zh-CN" dirty="0"/>
              <a:t>DevOps (a clipped compound of "</a:t>
            </a:r>
            <a:r>
              <a:rPr lang="en-US" altLang="zh-CN" dirty="0">
                <a:solidFill>
                  <a:srgbClr val="FFFF00"/>
                </a:solidFill>
              </a:rPr>
              <a:t>development</a:t>
            </a:r>
            <a:r>
              <a:rPr lang="en-US" altLang="zh-CN" dirty="0"/>
              <a:t>" and "</a:t>
            </a:r>
            <a:r>
              <a:rPr lang="en-US" altLang="zh-CN" dirty="0">
                <a:solidFill>
                  <a:srgbClr val="FFFF00"/>
                </a:solidFill>
              </a:rPr>
              <a:t>operations</a:t>
            </a:r>
            <a:r>
              <a:rPr lang="en-US" altLang="zh-CN" dirty="0"/>
              <a:t>") is a software engineering practice that aims at </a:t>
            </a:r>
            <a:r>
              <a:rPr lang="en-US" altLang="zh-CN" dirty="0">
                <a:solidFill>
                  <a:srgbClr val="FFFF00"/>
                </a:solidFill>
              </a:rPr>
              <a:t>unifying software development </a:t>
            </a:r>
            <a:r>
              <a:rPr lang="en-US" altLang="zh-CN" dirty="0"/>
              <a:t>(Dev) and </a:t>
            </a:r>
            <a:r>
              <a:rPr lang="en-US" altLang="zh-CN" dirty="0">
                <a:solidFill>
                  <a:srgbClr val="FFFF00"/>
                </a:solidFill>
              </a:rPr>
              <a:t>software operation </a:t>
            </a:r>
            <a:r>
              <a:rPr lang="en-US" altLang="zh-CN" dirty="0"/>
              <a:t>(Ops). The main characteristic of the DevOps movement is to strongly advocate </a:t>
            </a:r>
            <a:r>
              <a:rPr lang="en-US" altLang="zh-CN" dirty="0">
                <a:solidFill>
                  <a:srgbClr val="FFFF00"/>
                </a:solidFill>
              </a:rPr>
              <a:t>automation</a:t>
            </a:r>
            <a:r>
              <a:rPr lang="en-US" altLang="zh-CN" dirty="0"/>
              <a:t> and </a:t>
            </a:r>
            <a:r>
              <a:rPr lang="en-US" altLang="zh-CN" dirty="0">
                <a:solidFill>
                  <a:srgbClr val="FFFF00"/>
                </a:solidFill>
              </a:rPr>
              <a:t>monitoring</a:t>
            </a:r>
            <a:r>
              <a:rPr lang="en-US" altLang="zh-CN" dirty="0"/>
              <a:t> at all steps of software construction, from </a:t>
            </a:r>
            <a:r>
              <a:rPr lang="en-US" altLang="zh-CN" dirty="0">
                <a:solidFill>
                  <a:srgbClr val="FFFF00"/>
                </a:solidFill>
              </a:rPr>
              <a:t>integration</a:t>
            </a:r>
            <a:r>
              <a:rPr lang="en-US" altLang="zh-CN" dirty="0"/>
              <a:t>, </a:t>
            </a:r>
            <a:r>
              <a:rPr lang="en-US" altLang="zh-CN" dirty="0">
                <a:solidFill>
                  <a:srgbClr val="FFFF00"/>
                </a:solidFill>
              </a:rPr>
              <a:t>testing</a:t>
            </a:r>
            <a:r>
              <a:rPr lang="en-US" altLang="zh-CN" dirty="0"/>
              <a:t>, </a:t>
            </a:r>
            <a:r>
              <a:rPr lang="en-US" altLang="zh-CN" dirty="0">
                <a:solidFill>
                  <a:srgbClr val="FFFF00"/>
                </a:solidFill>
              </a:rPr>
              <a:t>releasing</a:t>
            </a:r>
            <a:r>
              <a:rPr lang="en-US" altLang="zh-CN" dirty="0"/>
              <a:t> to </a:t>
            </a:r>
            <a:r>
              <a:rPr lang="en-US" altLang="zh-CN" dirty="0">
                <a:solidFill>
                  <a:srgbClr val="FFFF00"/>
                </a:solidFill>
              </a:rPr>
              <a:t>deployment</a:t>
            </a:r>
            <a:r>
              <a:rPr lang="en-US" altLang="zh-CN" dirty="0"/>
              <a:t> and </a:t>
            </a:r>
            <a:r>
              <a:rPr lang="en-US" altLang="zh-CN" dirty="0">
                <a:solidFill>
                  <a:srgbClr val="FFFF00"/>
                </a:solidFill>
              </a:rPr>
              <a:t>infrastructure management</a:t>
            </a:r>
            <a:r>
              <a:rPr lang="en-US" altLang="zh-CN" dirty="0"/>
              <a:t>. DevOps aims at shorter development cycles, increased deployment frequency, more dependable releases, in close alignment with business objectives. </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1441" y="2164154"/>
            <a:ext cx="3657600" cy="3471863"/>
          </a:xfrm>
          <a:prstGeom prst="rect">
            <a:avLst/>
          </a:prstGeom>
        </p:spPr>
      </p:pic>
    </p:spTree>
    <p:extLst>
      <p:ext uri="{BB962C8B-B14F-4D97-AF65-F5344CB8AC3E}">
        <p14:creationId xmlns:p14="http://schemas.microsoft.com/office/powerpoint/2010/main" val="3941626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传统软件组织</a:t>
            </a:r>
            <a:endParaRPr lang="zh-CN" altLang="en-US" dirty="0"/>
          </a:p>
        </p:txBody>
      </p:sp>
      <p:sp>
        <p:nvSpPr>
          <p:cNvPr id="3" name="内容占位符 2"/>
          <p:cNvSpPr>
            <a:spLocks noGrp="1"/>
          </p:cNvSpPr>
          <p:nvPr>
            <p:ph idx="1"/>
          </p:nvPr>
        </p:nvSpPr>
        <p:spPr/>
        <p:txBody>
          <a:bodyPr/>
          <a:lstStyle/>
          <a:p>
            <a:r>
              <a:rPr lang="zh-CN" altLang="en-US" dirty="0"/>
              <a:t>传统的软件组织将开发、</a:t>
            </a:r>
            <a:r>
              <a:rPr lang="en-US" altLang="zh-CN" dirty="0"/>
              <a:t>IT</a:t>
            </a:r>
            <a:r>
              <a:rPr lang="zh-CN" altLang="en-US" dirty="0"/>
              <a:t>运营和质量保障设为各自分离的部门。在这种环境下如何采用新的开发</a:t>
            </a:r>
            <a:r>
              <a:rPr lang="zh-CN" altLang="en-US" dirty="0" smtClean="0"/>
              <a:t>方法（例如敏捷开发），</a:t>
            </a:r>
            <a:r>
              <a:rPr lang="zh-CN" altLang="en-US" dirty="0"/>
              <a:t>这是一个重要的课题：按照从前的工作方式，开发和部署不需要</a:t>
            </a:r>
            <a:r>
              <a:rPr lang="en-US" altLang="zh-CN" dirty="0"/>
              <a:t>IT</a:t>
            </a:r>
            <a:r>
              <a:rPr lang="zh-CN" altLang="en-US" dirty="0"/>
              <a:t>支持或者</a:t>
            </a:r>
            <a:r>
              <a:rPr lang="en-US" altLang="zh-CN" dirty="0"/>
              <a:t>QA</a:t>
            </a:r>
            <a:r>
              <a:rPr lang="zh-CN" altLang="en-US" dirty="0"/>
              <a:t>深入的、跨部门的支持，而却需要极其紧密的多部门协作</a:t>
            </a:r>
            <a:r>
              <a:rPr lang="zh-CN" altLang="en-US" dirty="0" smtClean="0"/>
              <a:t>。</a:t>
            </a:r>
            <a:endParaRPr lang="en-US" altLang="zh-CN" dirty="0" smtClean="0"/>
          </a:p>
          <a:p>
            <a:endParaRPr lang="en-US" altLang="zh-CN" dirty="0"/>
          </a:p>
          <a:p>
            <a:r>
              <a:rPr lang="zh-CN" altLang="en-US" dirty="0"/>
              <a:t>如果一个组织要生产面向多种用户、具备多样功能的应用程序，其部署周期必然会很短。这种能力也被称为持续部署，并且经常与</a:t>
            </a:r>
            <a:r>
              <a:rPr lang="zh-CN" altLang="en-US" dirty="0">
                <a:hlinkClick r:id="rId2" action="ppaction://hlinksldjump"/>
              </a:rPr>
              <a:t>精益创业</a:t>
            </a:r>
            <a:r>
              <a:rPr lang="zh-CN" altLang="en-US" dirty="0"/>
              <a:t>方法联系起来。</a:t>
            </a:r>
          </a:p>
        </p:txBody>
      </p:sp>
    </p:spTree>
    <p:extLst>
      <p:ext uri="{BB962C8B-B14F-4D97-AF65-F5344CB8AC3E}">
        <p14:creationId xmlns:p14="http://schemas.microsoft.com/office/powerpoint/2010/main" val="37888886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精益创业</a:t>
            </a:r>
            <a:endParaRPr lang="zh-CN" altLang="en-US" dirty="0"/>
          </a:p>
        </p:txBody>
      </p:sp>
      <p:sp>
        <p:nvSpPr>
          <p:cNvPr id="3" name="内容占位符 2"/>
          <p:cNvSpPr>
            <a:spLocks noGrp="1"/>
          </p:cNvSpPr>
          <p:nvPr>
            <p:ph idx="1"/>
          </p:nvPr>
        </p:nvSpPr>
        <p:spPr/>
        <p:txBody>
          <a:bodyPr/>
          <a:lstStyle/>
          <a:p>
            <a:r>
              <a:rPr lang="zh-CN" altLang="en-US" dirty="0"/>
              <a:t>精益创业来源于互联网行业，是软件开发的一种新模式。但其背后的“客户验证”思想在大量非</a:t>
            </a:r>
            <a:r>
              <a:rPr lang="en-US" altLang="zh-CN" dirty="0"/>
              <a:t>IT</a:t>
            </a:r>
            <a:r>
              <a:rPr lang="zh-CN" altLang="en-US" dirty="0"/>
              <a:t>领域得到应用。例如美剧的拍摄，往往都会先拍摄一部几十分钟的先导片，交代主要的人物关系、矛盾冲突、故事背景，然后邀请几十位观众参加小规模试映会，再根据观众的反馈来决定剧情要作那些修改，是否需要调整演员，以及决定是否投拍。在每一季结束时，制作方又会根据收视率和观众意见，决策是砍掉该剧还是订购新一季内容。这种周拍季播的模式，把所有的决策权交给观众，让制作方的投资以及失败成本降到了最低，是一种典型的精益创业方式。</a:t>
            </a:r>
          </a:p>
        </p:txBody>
      </p:sp>
    </p:spTree>
    <p:extLst>
      <p:ext uri="{BB962C8B-B14F-4D97-AF65-F5344CB8AC3E}">
        <p14:creationId xmlns:p14="http://schemas.microsoft.com/office/powerpoint/2010/main" val="30600618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出现原因</a:t>
            </a:r>
            <a:endParaRPr lang="zh-CN" altLang="en-US" dirty="0"/>
          </a:p>
        </p:txBody>
      </p:sp>
      <p:sp>
        <p:nvSpPr>
          <p:cNvPr id="3" name="内容占位符 2"/>
          <p:cNvSpPr>
            <a:spLocks noGrp="1"/>
          </p:cNvSpPr>
          <p:nvPr>
            <p:ph idx="1"/>
          </p:nvPr>
        </p:nvSpPr>
        <p:spPr/>
        <p:txBody>
          <a:bodyPr/>
          <a:lstStyle/>
          <a:p>
            <a:r>
              <a:rPr lang="en-US" altLang="zh-CN" dirty="0"/>
              <a:t>DevOps</a:t>
            </a:r>
            <a:r>
              <a:rPr lang="zh-CN" altLang="en-US" dirty="0"/>
              <a:t>的引入能对产品交付、测试、功能开发和维护（包括──曾经罕见但如今已屡见不鲜的──“热补丁”）起到意义深远的影响。在缺乏</a:t>
            </a:r>
            <a:r>
              <a:rPr lang="en-US" altLang="zh-CN" dirty="0"/>
              <a:t>DevOps</a:t>
            </a:r>
            <a:r>
              <a:rPr lang="zh-CN" altLang="en-US" dirty="0"/>
              <a:t>能力的组织中，开发与运营之间存在着信息“鸿沟”──例如运营人员要求更好的可靠性和安全性，开发人员则希望基础设施响应更快，而业务用户的需求则是更快地将更多的特性发布给最终用户使用。这种信息鸿沟就是</a:t>
            </a:r>
            <a:r>
              <a:rPr lang="zh-CN" altLang="en-US" dirty="0" smtClean="0"/>
              <a:t>最常</a:t>
            </a:r>
            <a:r>
              <a:rPr lang="zh-CN" altLang="en-US" dirty="0"/>
              <a:t>出问题的地方</a:t>
            </a:r>
            <a:r>
              <a:rPr lang="zh-CN" altLang="en-US" dirty="0" smtClean="0"/>
              <a:t>。</a:t>
            </a:r>
            <a:endParaRPr lang="en-US" altLang="zh-CN" dirty="0" smtClean="0"/>
          </a:p>
          <a:p>
            <a:r>
              <a:rPr lang="zh-CN" altLang="en-US" dirty="0"/>
              <a:t>以下几方面因素可能促使一个组织引入</a:t>
            </a:r>
            <a:r>
              <a:rPr lang="en-US" altLang="zh-CN" dirty="0"/>
              <a:t>DevOps</a:t>
            </a:r>
            <a:r>
              <a:rPr lang="zh-CN" altLang="en-US" dirty="0"/>
              <a:t>：</a:t>
            </a:r>
          </a:p>
          <a:p>
            <a:pPr lvl="1"/>
            <a:r>
              <a:rPr lang="zh-CN" altLang="en-US" dirty="0"/>
              <a:t>使用敏捷或其他软件开发过程与方法</a:t>
            </a:r>
          </a:p>
          <a:p>
            <a:pPr lvl="1"/>
            <a:r>
              <a:rPr lang="zh-CN" altLang="en-US" dirty="0"/>
              <a:t>业务负责人要求加快产品交付的速率</a:t>
            </a:r>
          </a:p>
          <a:p>
            <a:pPr lvl="1"/>
            <a:r>
              <a:rPr lang="zh-CN" altLang="en-US" dirty="0"/>
              <a:t>虚拟化和云计算基础</a:t>
            </a:r>
            <a:r>
              <a:rPr lang="zh-CN" altLang="en-US" dirty="0" smtClean="0"/>
              <a:t>设施日益</a:t>
            </a:r>
            <a:r>
              <a:rPr lang="zh-CN" altLang="en-US" dirty="0"/>
              <a:t>普遍</a:t>
            </a:r>
          </a:p>
          <a:p>
            <a:pPr lvl="1"/>
            <a:r>
              <a:rPr lang="zh-CN" altLang="en-US" dirty="0"/>
              <a:t>数据中心自动化技术和配置管理工具的普及</a:t>
            </a:r>
          </a:p>
        </p:txBody>
      </p:sp>
    </p:spTree>
    <p:extLst>
      <p:ext uri="{BB962C8B-B14F-4D97-AF65-F5344CB8AC3E}">
        <p14:creationId xmlns:p14="http://schemas.microsoft.com/office/powerpoint/2010/main" val="29445789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a:t>
            </a:r>
            <a:r>
              <a:rPr lang="zh-CN" altLang="en-US" dirty="0"/>
              <a:t>应用程序发布的影响</a:t>
            </a:r>
          </a:p>
        </p:txBody>
      </p:sp>
      <p:sp>
        <p:nvSpPr>
          <p:cNvPr id="3" name="内容占位符 2"/>
          <p:cNvSpPr>
            <a:spLocks noGrp="1"/>
          </p:cNvSpPr>
          <p:nvPr>
            <p:ph idx="1"/>
          </p:nvPr>
        </p:nvSpPr>
        <p:spPr/>
        <p:txBody>
          <a:bodyPr/>
          <a:lstStyle/>
          <a:p>
            <a:r>
              <a:rPr lang="zh-CN" altLang="en-US" dirty="0"/>
              <a:t>在很多企业中，应用程序发布是一项涉及多个团队、压力很大、风险很高的活动。然而在具备</a:t>
            </a:r>
            <a:r>
              <a:rPr lang="en-US" altLang="zh-CN" dirty="0"/>
              <a:t>DevOps</a:t>
            </a:r>
            <a:r>
              <a:rPr lang="zh-CN" altLang="en-US" dirty="0"/>
              <a:t>能力的组织中，应用程序发布的风险很低，原因如下</a:t>
            </a:r>
            <a:r>
              <a:rPr lang="zh-CN" altLang="en-US" dirty="0" smtClean="0"/>
              <a:t>：</a:t>
            </a:r>
            <a:endParaRPr lang="en-US" altLang="zh-CN" dirty="0" smtClean="0"/>
          </a:p>
          <a:p>
            <a:pPr lvl="1"/>
            <a:r>
              <a:rPr lang="zh-CN" altLang="en-US" dirty="0"/>
              <a:t>与传统开发方法那种大规模的、不频繁的发布（通常以“季度”或“年”为单位）相比，敏捷方法大大提升了发布频率（通常以“天”或“周”为单位</a:t>
            </a:r>
            <a:r>
              <a:rPr lang="zh-CN" altLang="en-US" dirty="0" smtClean="0"/>
              <a:t>）</a:t>
            </a:r>
            <a:endParaRPr lang="en-US" altLang="zh-CN" dirty="0" smtClean="0"/>
          </a:p>
          <a:p>
            <a:pPr lvl="1"/>
            <a:r>
              <a:rPr lang="zh-CN" altLang="en-US" dirty="0"/>
              <a:t>减少变更</a:t>
            </a:r>
            <a:r>
              <a:rPr lang="zh-CN" altLang="en-US" dirty="0" smtClean="0"/>
              <a:t>范围，与</a:t>
            </a:r>
            <a:r>
              <a:rPr lang="zh-CN" altLang="en-US" dirty="0"/>
              <a:t>传统的瀑布式开发模型相比，采用敏捷或迭代式开发意味着更频繁的发布、每次发布包含的变化更少。由于部署经常进行，因此每次部署不会对生产系统造成巨大影响，应用程序会以平滑的速率逐渐生长。加强发布</a:t>
            </a:r>
            <a:r>
              <a:rPr lang="zh-CN" altLang="en-US" dirty="0" smtClean="0"/>
              <a:t>协调，靠</a:t>
            </a:r>
            <a:r>
              <a:rPr lang="zh-CN" altLang="en-US" dirty="0"/>
              <a:t>强有力的发布协调人来弥合开发与运营之间的技能鸿沟和沟通鸿沟；采用电子数据表、电话会议、即时消息、企业门户（</a:t>
            </a:r>
            <a:r>
              <a:rPr lang="en-US" altLang="zh-CN" dirty="0"/>
              <a:t>wiki</a:t>
            </a:r>
            <a:r>
              <a:rPr lang="zh-CN" altLang="en-US" dirty="0"/>
              <a:t>、</a:t>
            </a:r>
            <a:r>
              <a:rPr lang="en-US" altLang="zh-CN" dirty="0" err="1"/>
              <a:t>sharepoint</a:t>
            </a:r>
            <a:r>
              <a:rPr lang="zh-CN" altLang="en-US" dirty="0"/>
              <a:t>）等协作工具来确保所有相关人员理解变更的内容并全力合作。自动化强大的部署自动化手段确保部署任务的可重复性、减少部署出错的可能性。</a:t>
            </a:r>
          </a:p>
        </p:txBody>
      </p:sp>
    </p:spTree>
    <p:extLst>
      <p:ext uri="{BB962C8B-B14F-4D97-AF65-F5344CB8AC3E}">
        <p14:creationId xmlns:p14="http://schemas.microsoft.com/office/powerpoint/2010/main" val="25838925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协调人</a:t>
            </a:r>
            <a:endParaRPr lang="zh-CN" altLang="en-US" dirty="0"/>
          </a:p>
        </p:txBody>
      </p:sp>
      <p:sp>
        <p:nvSpPr>
          <p:cNvPr id="3" name="内容占位符 2"/>
          <p:cNvSpPr>
            <a:spLocks noGrp="1"/>
          </p:cNvSpPr>
          <p:nvPr>
            <p:ph idx="1"/>
          </p:nvPr>
        </p:nvSpPr>
        <p:spPr/>
        <p:txBody>
          <a:bodyPr/>
          <a:lstStyle/>
          <a:p>
            <a:r>
              <a:rPr lang="zh-CN" altLang="en-US" dirty="0" smtClean="0"/>
              <a:t>协调人是企业级</a:t>
            </a:r>
            <a:r>
              <a:rPr lang="en-US" altLang="zh-CN" dirty="0" smtClean="0"/>
              <a:t>IT</a:t>
            </a:r>
            <a:r>
              <a:rPr lang="zh-CN" altLang="en-US" dirty="0"/>
              <a:t>组织中一个新出现的角色，其主要任务就是协调安排将企业级软件部署到预生产环境。对发布协调人的需求来自于以下几方面原因</a:t>
            </a:r>
            <a:r>
              <a:rPr lang="zh-CN" altLang="en-US" dirty="0" smtClean="0"/>
              <a:t>：</a:t>
            </a:r>
            <a:endParaRPr lang="en-US" altLang="zh-CN" dirty="0" smtClean="0"/>
          </a:p>
          <a:p>
            <a:endParaRPr lang="zh-CN" altLang="en-US" dirty="0"/>
          </a:p>
          <a:p>
            <a:pPr lvl="1"/>
            <a:r>
              <a:rPr lang="zh-CN" altLang="en-US" dirty="0"/>
              <a:t>需要弥合开发与运营的鸿沟</a:t>
            </a:r>
          </a:p>
          <a:p>
            <a:pPr lvl="1"/>
            <a:r>
              <a:rPr lang="zh-CN" altLang="en-US" dirty="0"/>
              <a:t>基础设施日益变得复杂：为了运营</a:t>
            </a:r>
            <a:r>
              <a:rPr lang="en-US" altLang="zh-CN" dirty="0"/>
              <a:t>web</a:t>
            </a:r>
            <a:r>
              <a:rPr lang="zh-CN" altLang="en-US" dirty="0"/>
              <a:t>应用，需要多层基础设施和多种平台</a:t>
            </a:r>
          </a:p>
          <a:p>
            <a:pPr lvl="1"/>
            <a:r>
              <a:rPr lang="zh-CN" altLang="en-US" dirty="0"/>
              <a:t>发布频率上升（由于敏捷和迭代式开发的引入）</a:t>
            </a:r>
          </a:p>
          <a:p>
            <a:pPr lvl="1"/>
            <a:r>
              <a:rPr lang="zh-CN" altLang="en-US" dirty="0"/>
              <a:t>分布式团队：位于全球多个地点的、包含外包人员的、混合开发</a:t>
            </a:r>
            <a:r>
              <a:rPr lang="en-US" altLang="zh-CN" dirty="0"/>
              <a:t>/</a:t>
            </a:r>
            <a:r>
              <a:rPr lang="zh-CN" altLang="en-US" dirty="0"/>
              <a:t>测试</a:t>
            </a:r>
            <a:r>
              <a:rPr lang="en-US" altLang="zh-CN" dirty="0"/>
              <a:t>/</a:t>
            </a:r>
            <a:r>
              <a:rPr lang="zh-CN" altLang="en-US" dirty="0"/>
              <a:t>基础设施的团队</a:t>
            </a:r>
          </a:p>
        </p:txBody>
      </p:sp>
    </p:spTree>
    <p:extLst>
      <p:ext uri="{BB962C8B-B14F-4D97-AF65-F5344CB8AC3E}">
        <p14:creationId xmlns:p14="http://schemas.microsoft.com/office/powerpoint/2010/main" val="34860536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DevOps</a:t>
            </a:r>
            <a:r>
              <a:rPr lang="zh-CN" altLang="en-US" dirty="0" smtClean="0"/>
              <a:t>基本原则</a:t>
            </a:r>
            <a:endParaRPr lang="zh-CN" altLang="en-US" dirty="0"/>
          </a:p>
        </p:txBody>
      </p:sp>
      <p:sp>
        <p:nvSpPr>
          <p:cNvPr id="3" name="内容占位符 2"/>
          <p:cNvSpPr>
            <a:spLocks noGrp="1"/>
          </p:cNvSpPr>
          <p:nvPr>
            <p:ph idx="1"/>
          </p:nvPr>
        </p:nvSpPr>
        <p:spPr/>
        <p:txBody>
          <a:bodyPr/>
          <a:lstStyle/>
          <a:p>
            <a:r>
              <a:rPr lang="zh-CN" altLang="en-US" sz="3000" dirty="0">
                <a:hlinkClick r:id="rId2" action="ppaction://hlinksldjump"/>
              </a:rPr>
              <a:t>基础架构即代码</a:t>
            </a:r>
            <a:endParaRPr lang="en-US" altLang="zh-CN" sz="3000" dirty="0"/>
          </a:p>
          <a:p>
            <a:endParaRPr lang="en-US" altLang="zh-CN" sz="3000" dirty="0"/>
          </a:p>
          <a:p>
            <a:r>
              <a:rPr lang="zh-CN" altLang="en-US" sz="3000" dirty="0">
                <a:hlinkClick r:id="rId3" action="ppaction://hlinksldjump"/>
              </a:rPr>
              <a:t>持续交付</a:t>
            </a:r>
            <a:endParaRPr lang="en-US" altLang="zh-CN" sz="3000" dirty="0"/>
          </a:p>
          <a:p>
            <a:endParaRPr lang="zh-CN" altLang="en-US" sz="3000" dirty="0"/>
          </a:p>
          <a:p>
            <a:r>
              <a:rPr lang="zh-CN" altLang="en-US" sz="3000" dirty="0">
                <a:hlinkClick r:id="rId4" action="ppaction://hlinksldjump"/>
              </a:rPr>
              <a:t>协作</a:t>
            </a:r>
            <a:endParaRPr lang="zh-CN" altLang="en-US" sz="3000" dirty="0"/>
          </a:p>
          <a:p>
            <a:pPr marL="0" indent="0">
              <a:buNone/>
            </a:pPr>
            <a:endParaRPr lang="zh-CN" altLang="en-US" dirty="0"/>
          </a:p>
        </p:txBody>
      </p:sp>
      <p:sp>
        <p:nvSpPr>
          <p:cNvPr id="4" name="文本框 3"/>
          <p:cNvSpPr txBox="1"/>
          <p:nvPr/>
        </p:nvSpPr>
        <p:spPr>
          <a:xfrm>
            <a:off x="7674795" y="5289667"/>
            <a:ext cx="2018872" cy="415498"/>
          </a:xfrm>
          <a:prstGeom prst="rect">
            <a:avLst/>
          </a:prstGeom>
          <a:noFill/>
        </p:spPr>
        <p:txBody>
          <a:bodyPr wrap="square" rtlCol="0">
            <a:spAutoFit/>
          </a:bodyPr>
          <a:lstStyle/>
          <a:p>
            <a:pPr algn="l" defTabSz="685800" fontAlgn="auto">
              <a:spcBef>
                <a:spcPts val="0"/>
              </a:spcBef>
              <a:spcAft>
                <a:spcPts val="0"/>
              </a:spcAft>
            </a:pPr>
            <a:r>
              <a:rPr lang="en-US" altLang="zh-CN" sz="2100" i="1" u="sng" dirty="0">
                <a:solidFill>
                  <a:prstClr val="white"/>
                </a:solidFill>
                <a:latin typeface="Century Gothic" panose="020B0502020202020204"/>
                <a:hlinkClick r:id="rId5" action="ppaction://hlinksldjump"/>
              </a:rPr>
              <a:t>Next</a:t>
            </a:r>
            <a:endParaRPr lang="zh-CN" altLang="en-US" sz="2100" i="1" u="sng" dirty="0">
              <a:solidFill>
                <a:prstClr val="white"/>
              </a:solidFill>
              <a:latin typeface="Century Gothic" panose="020B0502020202020204"/>
            </a:endParaRPr>
          </a:p>
        </p:txBody>
      </p:sp>
    </p:spTree>
    <p:extLst>
      <p:ext uri="{BB962C8B-B14F-4D97-AF65-F5344CB8AC3E}">
        <p14:creationId xmlns:p14="http://schemas.microsoft.com/office/powerpoint/2010/main" val="295687220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300" dirty="0"/>
              <a:t>基础架构即代码</a:t>
            </a:r>
            <a:r>
              <a:rPr lang="en-US" altLang="zh-CN" sz="3300" dirty="0"/>
              <a:t/>
            </a:r>
            <a:br>
              <a:rPr lang="en-US" altLang="zh-CN" sz="3300" dirty="0"/>
            </a:br>
            <a:endParaRPr lang="zh-CN" altLang="en-US" dirty="0"/>
          </a:p>
        </p:txBody>
      </p:sp>
      <p:sp>
        <p:nvSpPr>
          <p:cNvPr id="3" name="内容占位符 2"/>
          <p:cNvSpPr>
            <a:spLocks noGrp="1"/>
          </p:cNvSpPr>
          <p:nvPr>
            <p:ph idx="1"/>
          </p:nvPr>
        </p:nvSpPr>
        <p:spPr/>
        <p:txBody>
          <a:bodyPr/>
          <a:lstStyle/>
          <a:p>
            <a:r>
              <a:rPr lang="zh-CN" altLang="en-US" dirty="0"/>
              <a:t>基础架构即代码（</a:t>
            </a:r>
            <a:r>
              <a:rPr lang="en-US" altLang="zh-CN" dirty="0" err="1"/>
              <a:t>IaC</a:t>
            </a:r>
            <a:r>
              <a:rPr lang="zh-CN" altLang="en-US" dirty="0"/>
              <a:t>）是大部分通用</a:t>
            </a:r>
            <a:r>
              <a:rPr lang="en-US" altLang="zh-CN" dirty="0"/>
              <a:t>DevOps</a:t>
            </a:r>
            <a:r>
              <a:rPr lang="zh-CN" altLang="en-US" dirty="0"/>
              <a:t>实践的前提要求，例如版本控制、代码审阅、持续集成、自动化测试。这一概念涉及计算基础架构（容器、虚拟机、物理机、软件安装等）的管理和供应，以及通过机器可处理的定义文件或脚本对其进行的配置，交互式配置工具和手工命令的使用已经不合时宜</a:t>
            </a:r>
            <a:r>
              <a:rPr lang="zh-CN" altLang="en-US" dirty="0" smtClean="0"/>
              <a:t>了。</a:t>
            </a:r>
            <a:endParaRPr lang="en-US" altLang="zh-CN" dirty="0" smtClean="0"/>
          </a:p>
          <a:p>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9948" y="3392697"/>
            <a:ext cx="4057442" cy="2508237"/>
          </a:xfrm>
          <a:prstGeom prst="rect">
            <a:avLst/>
          </a:prstGeom>
        </p:spPr>
      </p:pic>
      <p:sp>
        <p:nvSpPr>
          <p:cNvPr id="5" name="文本框 4"/>
          <p:cNvSpPr txBox="1"/>
          <p:nvPr/>
        </p:nvSpPr>
        <p:spPr>
          <a:xfrm>
            <a:off x="7767264" y="5347342"/>
            <a:ext cx="1225193" cy="415498"/>
          </a:xfrm>
          <a:prstGeom prst="rect">
            <a:avLst/>
          </a:prstGeom>
          <a:noFill/>
        </p:spPr>
        <p:txBody>
          <a:bodyPr wrap="square" rtlCol="0">
            <a:spAutoFit/>
          </a:bodyPr>
          <a:lstStyle/>
          <a:p>
            <a:pPr algn="l" defTabSz="685800" fontAlgn="auto">
              <a:spcBef>
                <a:spcPts val="0"/>
              </a:spcBef>
              <a:spcAft>
                <a:spcPts val="0"/>
              </a:spcAft>
            </a:pPr>
            <a:r>
              <a:rPr lang="en-US" altLang="zh-CN" sz="2100" i="1" u="sng" dirty="0">
                <a:solidFill>
                  <a:prstClr val="black"/>
                </a:solidFill>
                <a:latin typeface="Century Gothic" panose="020B0502020202020204"/>
                <a:hlinkClick r:id="rId4" action="ppaction://hlinksldjump"/>
              </a:rPr>
              <a:t>Back</a:t>
            </a:r>
            <a:endParaRPr lang="zh-CN" altLang="en-US" sz="2100" i="1" u="sng" dirty="0">
              <a:solidFill>
                <a:prstClr val="black"/>
              </a:solidFill>
              <a:latin typeface="Century Gothic" panose="020B0502020202020204"/>
            </a:endParaRPr>
          </a:p>
        </p:txBody>
      </p:sp>
    </p:spTree>
    <p:extLst>
      <p:ext uri="{BB962C8B-B14F-4D97-AF65-F5344CB8AC3E}">
        <p14:creationId xmlns:p14="http://schemas.microsoft.com/office/powerpoint/2010/main" val="14300078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7384"/>
            <a:ext cx="7053542" cy="1400530"/>
          </a:xfrm>
        </p:spPr>
        <p:txBody>
          <a:bodyPr/>
          <a:lstStyle/>
          <a:p>
            <a:r>
              <a:rPr lang="zh-CN" altLang="en-US" sz="3300" dirty="0"/>
              <a:t>持续交付</a:t>
            </a:r>
            <a:r>
              <a:rPr lang="en-US" altLang="zh-CN" sz="3300" dirty="0"/>
              <a:t/>
            </a:r>
            <a:br>
              <a:rPr lang="en-US" altLang="zh-CN" sz="3300" dirty="0"/>
            </a:br>
            <a:endParaRPr lang="zh-CN" altLang="en-US" dirty="0"/>
          </a:p>
        </p:txBody>
      </p:sp>
      <p:sp>
        <p:nvSpPr>
          <p:cNvPr id="3" name="内容占位符 2"/>
          <p:cNvSpPr>
            <a:spLocks noGrp="1"/>
          </p:cNvSpPr>
          <p:nvPr>
            <p:ph idx="1"/>
          </p:nvPr>
        </p:nvSpPr>
        <p:spPr>
          <a:xfrm>
            <a:off x="2195705" y="434515"/>
            <a:ext cx="6709906" cy="4195481"/>
          </a:xfrm>
        </p:spPr>
        <p:txBody>
          <a:bodyPr/>
          <a:lstStyle/>
          <a:p>
            <a:r>
              <a:rPr lang="zh-CN" altLang="en-US" dirty="0"/>
              <a:t>持续交付是一种可以帮助团队以更短的周期交付软件的方法，该方法确保了团队可以在任何时间发布出可靠的软件。该方法意在以更快速度更高频率进行软件的构建、测试和发布</a:t>
            </a:r>
            <a:r>
              <a:rPr lang="zh-CN" altLang="en-US" dirty="0" smtClean="0"/>
              <a:t>。</a:t>
            </a:r>
            <a:endParaRPr lang="en-US" altLang="zh-CN" dirty="0" smtClean="0"/>
          </a:p>
          <a:p>
            <a:r>
              <a:rPr lang="zh-CN" altLang="en-US" dirty="0"/>
              <a:t>通过对生产环境中的应用程序进行更高频次的增量更新，这种方法有助于降低交付变更过程中涉及的成本、时间和风险。足够简单直接并且可重复的部署流程对持续交付而言至关重要</a:t>
            </a:r>
            <a:r>
              <a:rPr lang="zh-CN" altLang="en-US" dirty="0" smtClean="0"/>
              <a:t>。</a:t>
            </a:r>
            <a:endParaRPr lang="en-US" altLang="zh-CN" dirty="0" smtClean="0"/>
          </a:p>
          <a:p>
            <a:r>
              <a:rPr lang="zh-CN" altLang="en-US" dirty="0"/>
              <a:t>持续交付的主要</a:t>
            </a:r>
            <a:r>
              <a:rPr lang="zh-CN" altLang="en-US" dirty="0" smtClean="0"/>
              <a:t>想法：</a:t>
            </a:r>
            <a:endParaRPr lang="en-US" altLang="zh-CN" dirty="0" smtClean="0"/>
          </a:p>
          <a:p>
            <a:pPr lvl="1"/>
            <a:r>
              <a:rPr lang="zh-CN" altLang="en-US" b="1" dirty="0"/>
              <a:t>部署越频繁，对部署流程就会越熟悉，自动化机制就能获得更好的</a:t>
            </a:r>
            <a:r>
              <a:rPr lang="zh-CN" altLang="en-US" b="1" dirty="0" smtClean="0"/>
              <a:t>结果</a:t>
            </a:r>
            <a:endParaRPr lang="en-US" altLang="zh-CN" dirty="0" smtClean="0"/>
          </a:p>
          <a:p>
            <a:pPr lvl="1"/>
            <a:r>
              <a:rPr lang="zh-CN" altLang="en-US" b="1" dirty="0"/>
              <a:t>部署越频繁，</a:t>
            </a:r>
            <a:r>
              <a:rPr lang="zh-CN" altLang="en-US" b="1" dirty="0" smtClean="0"/>
              <a:t>所部署的</a:t>
            </a:r>
            <a:r>
              <a:rPr lang="zh-CN" altLang="en-US" b="1" dirty="0"/>
              <a:t>变更集就越</a:t>
            </a:r>
            <a:r>
              <a:rPr lang="zh-CN" altLang="en-US" b="1" dirty="0" smtClean="0"/>
              <a:t>微不足道</a:t>
            </a:r>
            <a:endParaRPr lang="en-US" altLang="zh-CN" b="1" dirty="0" smtClean="0"/>
          </a:p>
          <a:p>
            <a:pPr lvl="1"/>
            <a:r>
              <a:rPr lang="zh-CN" altLang="en-US" b="1" dirty="0"/>
              <a:t>部署越频繁，</a:t>
            </a:r>
            <a:r>
              <a:rPr lang="en-US" altLang="zh-CN" b="1" dirty="0"/>
              <a:t>TTR</a:t>
            </a:r>
            <a:r>
              <a:rPr lang="zh-CN" altLang="en-US" b="1" dirty="0"/>
              <a:t>（修复／解决所需时间）指标就会越出色</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735" y="3501008"/>
            <a:ext cx="6530625" cy="3166635"/>
          </a:xfrm>
          <a:prstGeom prst="rect">
            <a:avLst/>
          </a:prstGeom>
        </p:spPr>
      </p:pic>
      <p:sp>
        <p:nvSpPr>
          <p:cNvPr id="5" name="文本框 4"/>
          <p:cNvSpPr txBox="1"/>
          <p:nvPr/>
        </p:nvSpPr>
        <p:spPr>
          <a:xfrm>
            <a:off x="7767264" y="5347342"/>
            <a:ext cx="1225193" cy="415498"/>
          </a:xfrm>
          <a:prstGeom prst="rect">
            <a:avLst/>
          </a:prstGeom>
          <a:noFill/>
        </p:spPr>
        <p:txBody>
          <a:bodyPr wrap="square" rtlCol="0">
            <a:spAutoFit/>
          </a:bodyPr>
          <a:lstStyle/>
          <a:p>
            <a:pPr algn="l" defTabSz="685800" fontAlgn="auto">
              <a:spcBef>
                <a:spcPts val="0"/>
              </a:spcBef>
              <a:spcAft>
                <a:spcPts val="0"/>
              </a:spcAft>
            </a:pPr>
            <a:r>
              <a:rPr lang="en-US" altLang="zh-CN" sz="2100" i="1" u="sng" dirty="0">
                <a:solidFill>
                  <a:prstClr val="black"/>
                </a:solidFill>
                <a:latin typeface="Century Gothic" panose="020B0502020202020204"/>
                <a:hlinkClick r:id="rId3" action="ppaction://hlinksldjump"/>
              </a:rPr>
              <a:t>Back</a:t>
            </a:r>
            <a:endParaRPr lang="zh-CN" altLang="en-US" sz="2100" i="1" u="sng" dirty="0">
              <a:solidFill>
                <a:prstClr val="black"/>
              </a:solidFill>
              <a:latin typeface="Century Gothic" panose="020B0502020202020204"/>
            </a:endParaRPr>
          </a:p>
        </p:txBody>
      </p:sp>
    </p:spTree>
    <p:extLst>
      <p:ext uri="{BB962C8B-B14F-4D97-AF65-F5344CB8AC3E}">
        <p14:creationId xmlns:p14="http://schemas.microsoft.com/office/powerpoint/2010/main" val="143776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300" dirty="0"/>
              <a:t>协作</a:t>
            </a:r>
            <a:br>
              <a:rPr lang="zh-CN" altLang="en-US" sz="3300" dirty="0"/>
            </a:br>
            <a:endParaRPr lang="zh-CN" altLang="en-US" dirty="0"/>
          </a:p>
        </p:txBody>
      </p:sp>
      <p:sp>
        <p:nvSpPr>
          <p:cNvPr id="3" name="内容占位符 2"/>
          <p:cNvSpPr>
            <a:spLocks noGrp="1"/>
          </p:cNvSpPr>
          <p:nvPr>
            <p:ph idx="1"/>
          </p:nvPr>
        </p:nvSpPr>
        <p:spPr/>
        <p:txBody>
          <a:bodyPr/>
          <a:lstStyle/>
          <a:p>
            <a:r>
              <a:rPr lang="zh-CN" altLang="en-US" dirty="0"/>
              <a:t>敏捷软件开发破除了需求分析、测试和开发之间的一些隔阂。部署、运维和维护等其他活动与软件开发过程中的其他环节也存在类似的分隔。</a:t>
            </a:r>
            <a:r>
              <a:rPr lang="en-US" altLang="zh-CN" dirty="0"/>
              <a:t>DevOps</a:t>
            </a:r>
            <a:r>
              <a:rPr lang="zh-CN" altLang="en-US" dirty="0"/>
              <a:t>方法意在破除所有这些隔阂，鼓励开发和运维人员之间的协作</a:t>
            </a:r>
            <a:r>
              <a:rPr lang="zh-CN" altLang="en-US" dirty="0" smtClean="0"/>
              <a:t>。</a:t>
            </a:r>
            <a:endParaRPr lang="en-US" altLang="zh-CN" dirty="0" smtClean="0"/>
          </a:p>
          <a:p>
            <a:r>
              <a:rPr lang="en-US" altLang="zh-CN" dirty="0"/>
              <a:t>DevOps</a:t>
            </a:r>
            <a:r>
              <a:rPr lang="zh-CN" altLang="en-US" dirty="0"/>
              <a:t>文化的主要特征在于开发和运维角色之间日益增加的协作。这是一种在团队内部以及组织层面上很重要的文化变迁，通过这样的变迁才能促进更好的协作</a:t>
            </a:r>
            <a:r>
              <a:rPr lang="zh-CN" altLang="en-US" dirty="0" smtClean="0"/>
              <a:t>。</a:t>
            </a:r>
            <a:endParaRPr lang="en-US" altLang="zh-CN" dirty="0" smtClean="0"/>
          </a:p>
          <a:p>
            <a:r>
              <a:rPr lang="zh-CN" altLang="en-US" dirty="0"/>
              <a:t>团队合作对</a:t>
            </a:r>
            <a:r>
              <a:rPr lang="en-US" altLang="zh-CN" dirty="0"/>
              <a:t>DevOps</a:t>
            </a:r>
            <a:r>
              <a:rPr lang="zh-CN" altLang="en-US" dirty="0"/>
              <a:t>是如此的重要，大部分方法论所要实现的最终目标总的来说可以通过两个</a:t>
            </a:r>
            <a:r>
              <a:rPr lang="en-US" altLang="zh-CN" dirty="0"/>
              <a:t>C</a:t>
            </a:r>
            <a:r>
              <a:rPr lang="zh-CN" altLang="en-US" dirty="0"/>
              <a:t>来实现：协作（</a:t>
            </a:r>
            <a:r>
              <a:rPr lang="en-US" altLang="zh-CN" dirty="0"/>
              <a:t>Collaboration</a:t>
            </a:r>
            <a:r>
              <a:rPr lang="zh-CN" altLang="en-US" dirty="0"/>
              <a:t>）和沟通（</a:t>
            </a:r>
            <a:r>
              <a:rPr lang="en-US" altLang="zh-CN" dirty="0"/>
              <a:t>Communication</a:t>
            </a:r>
            <a:r>
              <a:rPr lang="zh-CN" altLang="en-US" dirty="0"/>
              <a:t>）。虽然单纯做到这些距离真正的</a:t>
            </a:r>
            <a:r>
              <a:rPr lang="en-US" altLang="zh-CN" dirty="0"/>
              <a:t>DevOps</a:t>
            </a:r>
            <a:r>
              <a:rPr lang="zh-CN" altLang="en-US" dirty="0"/>
              <a:t>工作环境还有很大的差距，但任何公司只要能坚持这两个</a:t>
            </a:r>
            <a:r>
              <a:rPr lang="en-US" altLang="zh-CN" dirty="0"/>
              <a:t>C</a:t>
            </a:r>
            <a:r>
              <a:rPr lang="zh-CN" altLang="en-US" dirty="0"/>
              <a:t>，就等于迈出了最正确的第一步。</a:t>
            </a:r>
          </a:p>
        </p:txBody>
      </p:sp>
      <p:sp>
        <p:nvSpPr>
          <p:cNvPr id="4" name="文本框 3"/>
          <p:cNvSpPr txBox="1"/>
          <p:nvPr/>
        </p:nvSpPr>
        <p:spPr>
          <a:xfrm>
            <a:off x="7767264" y="5347342"/>
            <a:ext cx="1225193" cy="415498"/>
          </a:xfrm>
          <a:prstGeom prst="rect">
            <a:avLst/>
          </a:prstGeom>
          <a:noFill/>
        </p:spPr>
        <p:txBody>
          <a:bodyPr wrap="square" rtlCol="0">
            <a:spAutoFit/>
          </a:bodyPr>
          <a:lstStyle/>
          <a:p>
            <a:pPr algn="l" defTabSz="685800" fontAlgn="auto">
              <a:spcBef>
                <a:spcPts val="0"/>
              </a:spcBef>
              <a:spcAft>
                <a:spcPts val="0"/>
              </a:spcAft>
            </a:pPr>
            <a:r>
              <a:rPr lang="en-US" altLang="zh-CN" sz="2100" i="1" u="sng" dirty="0">
                <a:solidFill>
                  <a:prstClr val="black"/>
                </a:solidFill>
                <a:latin typeface="Century Gothic" panose="020B0502020202020204"/>
                <a:hlinkClick r:id="rId3" action="ppaction://hlinksldjump"/>
              </a:rPr>
              <a:t>Back</a:t>
            </a:r>
            <a:endParaRPr lang="zh-CN" altLang="en-US" sz="2100" i="1" u="sng" dirty="0">
              <a:solidFill>
                <a:prstClr val="black"/>
              </a:solidFill>
              <a:latin typeface="Century Gothic" panose="020B0502020202020204"/>
            </a:endParaRPr>
          </a:p>
        </p:txBody>
      </p:sp>
    </p:spTree>
    <p:extLst>
      <p:ext uri="{BB962C8B-B14F-4D97-AF65-F5344CB8AC3E}">
        <p14:creationId xmlns:p14="http://schemas.microsoft.com/office/powerpoint/2010/main" val="36927790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实施障碍</a:t>
            </a:r>
            <a:endParaRPr lang="zh-CN" altLang="en-US" dirty="0"/>
          </a:p>
        </p:txBody>
      </p:sp>
      <p:sp>
        <p:nvSpPr>
          <p:cNvPr id="3" name="内容占位符 2"/>
          <p:cNvSpPr>
            <a:spLocks noGrp="1"/>
          </p:cNvSpPr>
          <p:nvPr>
            <p:ph idx="1"/>
          </p:nvPr>
        </p:nvSpPr>
        <p:spPr/>
        <p:txBody>
          <a:bodyPr>
            <a:normAutofit lnSpcReduction="10000"/>
          </a:bodyPr>
          <a:lstStyle/>
          <a:p>
            <a:r>
              <a:rPr lang="zh-CN" altLang="en-US" sz="1575" b="1" dirty="0"/>
              <a:t>将技术置于人之前</a:t>
            </a:r>
            <a:endParaRPr lang="en-US" altLang="zh-CN" sz="1575" b="1" dirty="0"/>
          </a:p>
          <a:p>
            <a:pPr lvl="1"/>
            <a:r>
              <a:rPr lang="zh-CN" altLang="en-US" dirty="0"/>
              <a:t>实施</a:t>
            </a:r>
            <a:r>
              <a:rPr lang="en-US" altLang="zh-CN" dirty="0"/>
              <a:t>DevOps</a:t>
            </a:r>
            <a:r>
              <a:rPr lang="zh-CN" altLang="en-US" dirty="0"/>
              <a:t>的核心目的是消除开发者和</a:t>
            </a:r>
            <a:r>
              <a:rPr lang="en-US" altLang="zh-CN" dirty="0"/>
              <a:t>IT</a:t>
            </a:r>
            <a:r>
              <a:rPr lang="zh-CN" altLang="en-US" dirty="0"/>
              <a:t>操作人员之间的障碍。企业在实施</a:t>
            </a:r>
            <a:r>
              <a:rPr lang="en-US" altLang="zh-CN" dirty="0"/>
              <a:t>DevOps</a:t>
            </a:r>
            <a:r>
              <a:rPr lang="zh-CN" altLang="en-US" dirty="0"/>
              <a:t>时会犯的一个常见错误是太早、太频繁的关注在技术上，而不是人员和流程上。</a:t>
            </a:r>
            <a:br>
              <a:rPr lang="zh-CN" altLang="en-US" dirty="0"/>
            </a:br>
            <a:endParaRPr lang="en-US" altLang="zh-CN" dirty="0" smtClean="0"/>
          </a:p>
          <a:p>
            <a:r>
              <a:rPr lang="zh-CN" altLang="en-US" sz="1575" b="1" dirty="0"/>
              <a:t>忽视安全和管理</a:t>
            </a:r>
            <a:endParaRPr lang="en-US" altLang="zh-CN" sz="1575" b="1" dirty="0"/>
          </a:p>
          <a:p>
            <a:pPr lvl="1"/>
            <a:r>
              <a:rPr lang="zh-CN" altLang="en-US" dirty="0"/>
              <a:t>实施</a:t>
            </a:r>
            <a:r>
              <a:rPr lang="en-US" altLang="zh-CN" dirty="0"/>
              <a:t>DevOps</a:t>
            </a:r>
            <a:r>
              <a:rPr lang="zh-CN" altLang="en-US" dirty="0"/>
              <a:t>时的另一个常见错误就是没有将安全性和管理以全面系统地方式考虑进你的应用里。现如今你不再能将安全性从应用程序中隔离开来。在每一个流程中都需要包含对安全性的考量，包括持续测试和持续部署。</a:t>
            </a:r>
            <a:br>
              <a:rPr lang="zh-CN" altLang="en-US" dirty="0"/>
            </a:br>
            <a:endParaRPr lang="en-US" altLang="zh-CN" dirty="0" smtClean="0"/>
          </a:p>
          <a:p>
            <a:r>
              <a:rPr lang="zh-CN" altLang="en-US" sz="1575" b="1" dirty="0"/>
              <a:t>不愿作出改变</a:t>
            </a:r>
            <a:r>
              <a:rPr lang="zh-CN" altLang="en-US" dirty="0"/>
              <a:t> </a:t>
            </a:r>
            <a:endParaRPr lang="en-US" altLang="zh-CN" dirty="0" smtClean="0"/>
          </a:p>
          <a:p>
            <a:pPr lvl="1"/>
            <a:r>
              <a:rPr lang="en-US" altLang="zh-CN" dirty="0"/>
              <a:t>DevOps</a:t>
            </a:r>
            <a:r>
              <a:rPr lang="zh-CN" altLang="en-US" dirty="0"/>
              <a:t>实施意味着需要一直质疑你开发、测试、部署和运行应用的方式。流程，技术和工具都需要改变，组织应该收集各种指标，以确定所做的变更是否真的提高了生产率</a:t>
            </a:r>
            <a:r>
              <a:rPr lang="zh-CN" altLang="en-US" dirty="0" smtClean="0"/>
              <a:t>。</a:t>
            </a:r>
            <a:r>
              <a:rPr lang="en-US" altLang="zh-CN" dirty="0"/>
              <a:t>DevOps</a:t>
            </a:r>
            <a:r>
              <a:rPr lang="zh-CN" altLang="en-US" dirty="0"/>
              <a:t>需要改变和发展以跟上新兴的理念和技术。在设计你的</a:t>
            </a:r>
            <a:r>
              <a:rPr lang="en-US" altLang="zh-CN" dirty="0"/>
              <a:t>DevOps</a:t>
            </a:r>
            <a:r>
              <a:rPr lang="zh-CN" altLang="en-US" dirty="0"/>
              <a:t>流程时始终要将变化考虑</a:t>
            </a:r>
            <a:r>
              <a:rPr lang="zh-CN" altLang="en-US" dirty="0" smtClean="0"/>
              <a:t>在内</a:t>
            </a:r>
            <a:r>
              <a:rPr lang="en-US" altLang="zh-CN" dirty="0" smtClean="0"/>
              <a:t>.</a:t>
            </a:r>
            <a:r>
              <a:rPr lang="zh-CN" altLang="en-US" dirty="0"/>
              <a:t/>
            </a:r>
            <a:br>
              <a:rPr lang="zh-CN" altLang="en-US" dirty="0"/>
            </a:br>
            <a:r>
              <a:rPr lang="zh-CN" altLang="en-US" dirty="0"/>
              <a:t/>
            </a:r>
            <a:br>
              <a:rPr lang="zh-CN" altLang="en-US" dirty="0"/>
            </a:br>
            <a:endParaRPr lang="zh-CN" altLang="en-US" dirty="0"/>
          </a:p>
        </p:txBody>
      </p:sp>
    </p:spTree>
    <p:extLst>
      <p:ext uri="{BB962C8B-B14F-4D97-AF65-F5344CB8AC3E}">
        <p14:creationId xmlns:p14="http://schemas.microsoft.com/office/powerpoint/2010/main" val="54025545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一些</a:t>
            </a:r>
            <a:r>
              <a:rPr lang="en-US" altLang="zh-CN"/>
              <a:t>Devops</a:t>
            </a:r>
            <a:r>
              <a:rPr lang="zh-CN" altLang="en-US"/>
              <a:t>的工具</a:t>
            </a:r>
          </a:p>
        </p:txBody>
      </p:sp>
      <p:sp>
        <p:nvSpPr>
          <p:cNvPr id="3" name="内容占位符 2"/>
          <p:cNvSpPr>
            <a:spLocks noGrp="1"/>
          </p:cNvSpPr>
          <p:nvPr>
            <p:ph idx="1"/>
          </p:nvPr>
        </p:nvSpPr>
        <p:spPr/>
        <p:txBody>
          <a:bodyPr/>
          <a:lstStyle/>
          <a:p>
            <a:r>
              <a:rPr lang="zh-CN" altLang="en-US" kern="1200">
                <a:latin typeface="+mj-lt"/>
                <a:ea typeface="+mj-ea"/>
                <a:cs typeface="+mj-cs"/>
                <a:sym typeface="+mn-ea"/>
              </a:rPr>
              <a:t>开发类的DevOps工具</a:t>
            </a:r>
          </a:p>
          <a:p>
            <a:endParaRPr lang="zh-CN" altLang="en-US" kern="1200">
              <a:latin typeface="+mj-lt"/>
              <a:ea typeface="+mj-ea"/>
              <a:cs typeface="+mj-cs"/>
            </a:endParaRPr>
          </a:p>
          <a:p>
            <a:pPr defTabSz="685800"/>
            <a:r>
              <a:rPr lang="zh-CN" altLang="en-US" kern="1200">
                <a:sym typeface="+mn-ea"/>
              </a:rPr>
              <a:t>版本控制和协作，例如Git、SVN等；</a:t>
            </a:r>
            <a:endParaRPr lang="zh-CN" altLang="en-US" kern="1200">
              <a:latin typeface="+mn-lt"/>
              <a:ea typeface="+mn-ea"/>
              <a:cs typeface="+mn-cs"/>
            </a:endParaRPr>
          </a:p>
          <a:p>
            <a:pPr defTabSz="685800"/>
            <a:endParaRPr lang="zh-CN" altLang="en-US" kern="1200">
              <a:latin typeface="+mn-lt"/>
              <a:ea typeface="+mn-ea"/>
              <a:cs typeface="+mn-cs"/>
            </a:endParaRPr>
          </a:p>
          <a:p>
            <a:pPr defTabSz="685800"/>
            <a:r>
              <a:rPr lang="zh-CN" altLang="en-US" kern="1200">
                <a:sym typeface="+mn-ea"/>
              </a:rPr>
              <a:t> 构建和测试自动化，例如Ant、Selenium、Jmeter等；</a:t>
            </a:r>
            <a:endParaRPr lang="zh-CN" altLang="en-US" kern="1200">
              <a:latin typeface="+mn-lt"/>
              <a:ea typeface="+mn-ea"/>
              <a:cs typeface="+mn-cs"/>
            </a:endParaRPr>
          </a:p>
          <a:p>
            <a:pPr defTabSz="685800"/>
            <a:endParaRPr lang="zh-CN" altLang="en-US" kern="1200">
              <a:latin typeface="+mn-lt"/>
              <a:ea typeface="+mn-ea"/>
              <a:cs typeface="+mn-cs"/>
            </a:endParaRPr>
          </a:p>
          <a:p>
            <a:pPr defTabSz="685800"/>
            <a:r>
              <a:rPr lang="zh-CN" altLang="en-US" kern="1200">
                <a:sym typeface="+mn-ea"/>
              </a:rPr>
              <a:t> 持续集成和交付，例如Jenkins（开源持续集成组件）、CruiseControl等；</a:t>
            </a:r>
            <a:endParaRPr lang="zh-CN" altLang="en-US" kern="1200">
              <a:latin typeface="+mn-lt"/>
              <a:ea typeface="+mn-ea"/>
              <a:cs typeface="+mn-cs"/>
            </a:endParaRPr>
          </a:p>
          <a:p>
            <a:endParaRPr lang="zh-CN" altLang="en-US"/>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29</a:t>
            </a:fld>
            <a:endParaRPr lang="en-US" altLang="zh-CN"/>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kern="1200">
                <a:latin typeface="+mj-lt"/>
                <a:ea typeface="+mj-ea"/>
                <a:cs typeface="+mj-cs"/>
                <a:sym typeface="+mn-ea"/>
              </a:rPr>
              <a:t>部署类的DevOps工具</a:t>
            </a:r>
            <a:endParaRPr lang="zh-CN" altLang="en-US" kern="1200">
              <a:latin typeface="+mj-lt"/>
              <a:ea typeface="+mj-ea"/>
              <a:cs typeface="+mj-cs"/>
            </a:endParaRPr>
          </a:p>
          <a:p>
            <a:pPr defTabSz="685800"/>
            <a:r>
              <a:rPr lang="zh-CN" altLang="en-US" kern="1200">
                <a:sym typeface="+mn-ea"/>
              </a:rPr>
              <a:t>容器平台，例如Docker（开源容器组件）等；</a:t>
            </a:r>
            <a:endParaRPr lang="zh-CN" altLang="en-US" kern="1200">
              <a:latin typeface="+mn-lt"/>
              <a:ea typeface="+mn-ea"/>
              <a:cs typeface="+mn-cs"/>
            </a:endParaRPr>
          </a:p>
          <a:p>
            <a:pPr defTabSz="685800"/>
            <a:endParaRPr lang="zh-CN" altLang="en-US" kern="1200">
              <a:latin typeface="+mn-lt"/>
              <a:ea typeface="+mn-ea"/>
              <a:cs typeface="+mn-cs"/>
            </a:endParaRPr>
          </a:p>
          <a:p>
            <a:pPr defTabSz="685800"/>
            <a:r>
              <a:rPr lang="zh-CN" altLang="en-US" kern="1200">
                <a:sym typeface="+mn-ea"/>
              </a:rPr>
              <a:t> 配置管理，例如Chef、Puppet、Ansible等；</a:t>
            </a:r>
            <a:endParaRPr lang="zh-CN" altLang="en-US" kern="1200">
              <a:latin typeface="+mn-lt"/>
              <a:ea typeface="+mn-ea"/>
              <a:cs typeface="+mn-cs"/>
            </a:endParaRPr>
          </a:p>
          <a:p>
            <a:pPr defTabSz="685800"/>
            <a:endParaRPr lang="zh-CN" altLang="en-US" kern="1200">
              <a:latin typeface="+mn-lt"/>
              <a:ea typeface="+mn-ea"/>
              <a:cs typeface="+mn-cs"/>
            </a:endParaRPr>
          </a:p>
          <a:p>
            <a:pPr defTabSz="685800"/>
            <a:r>
              <a:rPr lang="zh-CN" altLang="en-US" kern="1200">
                <a:sym typeface="+mn-ea"/>
              </a:rPr>
              <a:t> 微服务平台，例如Cloud Foundry、Kubernetes（开源产品化容器编排平台）等；</a:t>
            </a:r>
            <a:endParaRPr lang="zh-CN" altLang="en-US" kern="1200">
              <a:latin typeface="+mn-lt"/>
              <a:ea typeface="+mn-ea"/>
              <a:cs typeface="+mn-cs"/>
            </a:endParaRPr>
          </a:p>
          <a:p>
            <a:pPr defTabSz="685800"/>
            <a:endParaRPr lang="zh-CN" altLang="en-US" kern="1200">
              <a:latin typeface="+mn-lt"/>
              <a:ea typeface="+mn-ea"/>
              <a:cs typeface="+mn-cs"/>
            </a:endParaRPr>
          </a:p>
          <a:p>
            <a:pPr defTabSz="685800"/>
            <a:r>
              <a:rPr lang="zh-CN" altLang="en-US" kern="1200">
                <a:sym typeface="+mn-ea"/>
              </a:rPr>
              <a:t> 服务开通，例如Puppet、Docker Swarm、Vagrant等；</a:t>
            </a:r>
            <a:endParaRPr lang="zh-CN" altLang="en-US" kern="1200">
              <a:latin typeface="+mn-lt"/>
              <a:ea typeface="+mn-ea"/>
              <a:cs typeface="+mn-cs"/>
            </a:endParaRPr>
          </a:p>
          <a:p>
            <a:endParaRPr lang="zh-CN" altLang="en-US"/>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30</a:t>
            </a:fld>
            <a:endParaRPr lang="en-US" altLang="zh-C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kern="1200">
                <a:latin typeface="+mj-lt"/>
                <a:ea typeface="+mj-ea"/>
                <a:cs typeface="+mj-cs"/>
                <a:sym typeface="+mn-ea"/>
              </a:rPr>
              <a:t>维护类的DevOps工具</a:t>
            </a:r>
          </a:p>
          <a:p>
            <a:pPr defTabSz="685800"/>
            <a:r>
              <a:rPr lang="zh-CN" altLang="en-US" kern="1200">
                <a:sym typeface="+mn-ea"/>
              </a:rPr>
              <a:t>日志，例如logstash等；</a:t>
            </a:r>
            <a:endParaRPr lang="zh-CN" altLang="en-US" kern="1200">
              <a:latin typeface="+mn-lt"/>
              <a:ea typeface="+mn-ea"/>
              <a:cs typeface="+mn-cs"/>
            </a:endParaRPr>
          </a:p>
          <a:p>
            <a:pPr defTabSz="685800"/>
            <a:endParaRPr lang="zh-CN" altLang="en-US" kern="1200">
              <a:latin typeface="+mn-lt"/>
              <a:ea typeface="+mn-ea"/>
              <a:cs typeface="+mn-cs"/>
            </a:endParaRPr>
          </a:p>
          <a:p>
            <a:pPr defTabSz="685800"/>
            <a:r>
              <a:rPr lang="zh-CN" altLang="en-US" kern="1200">
                <a:sym typeface="+mn-ea"/>
              </a:rPr>
              <a:t> 监控告警和分析，例如Nagios、Zabbix（开源自动化监控组件）、Kibana等；</a:t>
            </a:r>
            <a:endParaRPr lang="zh-CN" altLang="en-US" kern="1200">
              <a:latin typeface="+mn-lt"/>
              <a:ea typeface="+mn-ea"/>
              <a:cs typeface="+mn-cs"/>
            </a:endParaRPr>
          </a:p>
          <a:p>
            <a:endParaRPr lang="zh-CN" altLang="en-US"/>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31</a:t>
            </a:fld>
            <a:endParaRPr lang="en-US" altLang="zh-CN"/>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sym typeface="+mn-ea"/>
              </a:rPr>
              <a:t>Docker</a:t>
            </a:r>
            <a:br>
              <a:rPr lang="zh-CN" altLang="en-US" dirty="0">
                <a:sym typeface="+mn-ea"/>
              </a:rPr>
            </a:br>
            <a:r>
              <a:rPr lang="zh-CN" altLang="en-US" dirty="0">
                <a:sym typeface="+mn-ea"/>
              </a:rPr>
              <a:t/>
            </a:r>
            <a:br>
              <a:rPr lang="zh-CN" altLang="en-US" dirty="0">
                <a:sym typeface="+mn-ea"/>
              </a:rPr>
            </a:br>
            <a:r>
              <a:rPr lang="zh-CN" altLang="en-US" dirty="0">
                <a:sym typeface="+mn-ea"/>
              </a:rPr>
              <a:t>使用Docker——以容器化的方式去部署应用，进行持续集成。Docker像集装箱一样，打包了所有依赖，再在其它服务器上部署很容易，不至于换服务器后发现各种配置文件散乱放置，这样就解决了编译时依赖和运行时依赖的问题。Docker简化了配置管理，提升了可操控性，并让横向扩展变得简单。Docker还能让容器在不同的位置自由地移动。</a:t>
            </a:r>
            <a:endParaRPr lang="zh-CN" altLang="en-US" strike="noStrike" noProof="1"/>
          </a:p>
          <a:p>
            <a:endParaRPr lang="zh-CN" altLang="en-US" dirty="0"/>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32</a:t>
            </a:fld>
            <a:endParaRPr lang="en-US" altLang="zh-CN"/>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a:sym typeface="+mn-ea"/>
              </a:rPr>
              <a:t>Git</a:t>
            </a:r>
            <a:br>
              <a:rPr lang="zh-CN" altLang="en-US">
                <a:sym typeface="+mn-ea"/>
              </a:rPr>
            </a:br>
            <a:r>
              <a:rPr lang="zh-CN" altLang="en-US">
                <a:sym typeface="+mn-ea"/>
              </a:rPr>
              <a:t/>
            </a:r>
            <a:br>
              <a:rPr lang="zh-CN" altLang="en-US">
                <a:sym typeface="+mn-ea"/>
              </a:rPr>
            </a:br>
            <a:r>
              <a:rPr lang="zh-CN" altLang="en-US">
                <a:sym typeface="+mn-ea"/>
              </a:rPr>
              <a:t>Git平台有助于开发者们在上面进行协作，进行统一的代码管理，如代码仓库、代码拉取等等。与GitHub的集成十分容易，几乎任何系统都可以连接到GitHub上，没有什么特殊限制。GitHub也可以放置个人信息和项目相关的数据。它支持本地分支、过度区域和多工作流。</a:t>
            </a:r>
            <a:br>
              <a:rPr lang="zh-CN" altLang="en-US">
                <a:sym typeface="+mn-ea"/>
              </a:rPr>
            </a:br>
            <a:endParaRPr lang="zh-CN" altLang="en-US"/>
          </a:p>
        </p:txBody>
      </p:sp>
      <p:sp>
        <p:nvSpPr>
          <p:cNvPr id="4" name="日期占位符 3"/>
          <p:cNvSpPr>
            <a:spLocks noGrp="1"/>
          </p:cNvSpPr>
          <p:nvPr>
            <p:ph type="dt" sz="half" idx="10"/>
          </p:nvPr>
        </p:nvSpPr>
        <p:spPr/>
        <p:txBody>
          <a:bodyPr/>
          <a:lstStyle/>
          <a:p>
            <a:fld id="{913B518D-9588-4EA2-9129-B3CB225BB853}" type="datetime1">
              <a:rPr lang="zh-CN" altLang="en-US" smtClean="0"/>
              <a:t>2020/6/29</a:t>
            </a:fld>
            <a:endParaRPr lang="en-US" altLang="zh-CN"/>
          </a:p>
        </p:txBody>
      </p:sp>
      <p:sp>
        <p:nvSpPr>
          <p:cNvPr id="5" name="灯片编号占位符 4"/>
          <p:cNvSpPr>
            <a:spLocks noGrp="1"/>
          </p:cNvSpPr>
          <p:nvPr>
            <p:ph type="sldNum" sz="quarter" idx="12"/>
          </p:nvPr>
        </p:nvSpPr>
        <p:spPr/>
        <p:txBody>
          <a:bodyPr/>
          <a:lstStyle/>
          <a:p>
            <a:fld id="{06128CA3-9668-437A-8B46-F616277CD5DC}" type="slidenum">
              <a:rPr lang="en-US" altLang="zh-CN"/>
              <a:t>33</a:t>
            </a:fld>
            <a:endParaRPr lang="en-US" altLang="zh-CN"/>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什么是</a:t>
            </a:r>
            <a:r>
              <a:rPr kumimoji="1" lang="en-US" altLang="zh-CN" dirty="0" err="1" smtClean="0"/>
              <a:t>DevOps</a:t>
            </a:r>
            <a:endParaRPr kumimoji="1" lang="zh-CN" altLang="en-US" dirty="0"/>
          </a:p>
        </p:txBody>
      </p:sp>
      <p:sp>
        <p:nvSpPr>
          <p:cNvPr id="3" name="内容占位符 2"/>
          <p:cNvSpPr>
            <a:spLocks noGrp="1"/>
          </p:cNvSpPr>
          <p:nvPr>
            <p:ph idx="1"/>
          </p:nvPr>
        </p:nvSpPr>
        <p:spPr>
          <a:xfrm>
            <a:off x="0" y="1158078"/>
            <a:ext cx="8604448" cy="5799314"/>
          </a:xfrm>
        </p:spPr>
        <p:txBody>
          <a:bodyPr/>
          <a:lstStyle/>
          <a:p>
            <a:r>
              <a:rPr lang="en-US" altLang="zh-CN" b="1" dirty="0" err="1"/>
              <a:t>DevOps</a:t>
            </a:r>
            <a:r>
              <a:rPr lang="en-US" altLang="zh-CN" b="1" dirty="0"/>
              <a:t> is the practice of operations and development engineers participating together in the entire service lifecycle, from design through the development process to production support. </a:t>
            </a:r>
            <a:endParaRPr lang="en-US" altLang="zh-CN" b="1" dirty="0" smtClean="0"/>
          </a:p>
          <a:p>
            <a:r>
              <a:rPr lang="en-US" altLang="zh-CN" b="1" dirty="0" err="1" smtClean="0"/>
              <a:t>DevOps</a:t>
            </a:r>
            <a:r>
              <a:rPr lang="en-US" altLang="zh-CN" b="1" dirty="0" smtClean="0"/>
              <a:t> </a:t>
            </a:r>
            <a:r>
              <a:rPr lang="en-US" altLang="zh-CN" b="1" dirty="0"/>
              <a:t>is also characterized by operations staff making use many of the same techniques as developers for their systems work.</a:t>
            </a:r>
            <a:endParaRPr lang="zh-CN" altLang="en-US" b="1" dirty="0"/>
          </a:p>
        </p:txBody>
      </p:sp>
    </p:spTree>
    <p:extLst>
      <p:ext uri="{BB962C8B-B14F-4D97-AF65-F5344CB8AC3E}">
        <p14:creationId xmlns:p14="http://schemas.microsoft.com/office/powerpoint/2010/main" val="437238595"/>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5</a:t>
            </a:r>
            <a:r>
              <a:rPr kumimoji="1" lang="zh-CN" altLang="en-US" dirty="0" smtClean="0"/>
              <a:t> </a:t>
            </a:r>
            <a:r>
              <a:rPr kumimoji="1" lang="en-US" altLang="zh-CN" dirty="0" smtClean="0"/>
              <a:t>Levels Agile VS.</a:t>
            </a:r>
            <a:r>
              <a:rPr kumimoji="1" lang="zh-CN" altLang="en-US" dirty="0" smtClean="0"/>
              <a:t> </a:t>
            </a:r>
            <a:r>
              <a:rPr kumimoji="1" lang="en-US" altLang="zh-CN" dirty="0" err="1" smtClean="0"/>
              <a:t>DevOps</a:t>
            </a:r>
            <a:endParaRPr kumimoji="1" lang="zh-CN" altLang="en-US" dirty="0"/>
          </a:p>
        </p:txBody>
      </p:sp>
      <p:sp>
        <p:nvSpPr>
          <p:cNvPr id="3" name="内容占位符 2"/>
          <p:cNvSpPr>
            <a:spLocks noGrp="1"/>
          </p:cNvSpPr>
          <p:nvPr>
            <p:ph idx="1"/>
          </p:nvPr>
        </p:nvSpPr>
        <p:spPr>
          <a:xfrm>
            <a:off x="3779912" y="908720"/>
            <a:ext cx="5472608" cy="5817399"/>
          </a:xfrm>
        </p:spPr>
        <p:txBody>
          <a:bodyPr/>
          <a:lstStyle/>
          <a:p>
            <a:r>
              <a:rPr kumimoji="1" lang="en-US" altLang="zh-CN" dirty="0" err="1" smtClean="0"/>
              <a:t>DevOps</a:t>
            </a:r>
            <a:r>
              <a:rPr kumimoji="1" lang="zh-CN" altLang="en-US" dirty="0" smtClean="0"/>
              <a:t> </a:t>
            </a:r>
            <a:r>
              <a:rPr kumimoji="1" lang="en-US" altLang="zh-CN" dirty="0" smtClean="0"/>
              <a:t>Values</a:t>
            </a:r>
          </a:p>
          <a:p>
            <a:pPr marL="363538" lvl="1" indent="0">
              <a:buNone/>
            </a:pPr>
            <a:r>
              <a:rPr kumimoji="1" lang="en-US" altLang="zh-CN" sz="1800" dirty="0" smtClean="0">
                <a:solidFill>
                  <a:srgbClr val="FF0000"/>
                </a:solidFill>
                <a:cs typeface="+mn-cs"/>
              </a:rPr>
              <a:t>-working </a:t>
            </a:r>
            <a:r>
              <a:rPr kumimoji="1" lang="en-US" altLang="zh-CN" sz="1800" dirty="0">
                <a:solidFill>
                  <a:srgbClr val="FF0000"/>
                </a:solidFill>
                <a:cs typeface="+mn-cs"/>
              </a:rPr>
              <a:t>software-&gt;service or delivered software</a:t>
            </a:r>
          </a:p>
          <a:p>
            <a:r>
              <a:rPr kumimoji="1" lang="en-US" altLang="zh-CN" dirty="0" err="1" smtClean="0"/>
              <a:t>DevOps</a:t>
            </a:r>
            <a:r>
              <a:rPr kumimoji="1" lang="en-US" altLang="zh-CN" dirty="0" smtClean="0"/>
              <a:t> Principles</a:t>
            </a:r>
          </a:p>
          <a:p>
            <a:pPr marL="363538" lvl="1" indent="0">
              <a:buNone/>
            </a:pPr>
            <a:r>
              <a:rPr kumimoji="1" lang="en-US" altLang="zh-CN" sz="1800" dirty="0" smtClean="0">
                <a:solidFill>
                  <a:srgbClr val="FF0000"/>
                </a:solidFill>
                <a:cs typeface="+mn-cs"/>
              </a:rPr>
              <a:t>widening </a:t>
            </a:r>
            <a:r>
              <a:rPr kumimoji="1" lang="en-US" altLang="zh-CN" sz="1800" dirty="0">
                <a:solidFill>
                  <a:srgbClr val="FF0000"/>
                </a:solidFill>
                <a:cs typeface="+mn-cs"/>
              </a:rPr>
              <a:t>of </a:t>
            </a:r>
            <a:r>
              <a:rPr kumimoji="1" lang="en-US" altLang="zh-CN" sz="1800" dirty="0" err="1">
                <a:solidFill>
                  <a:srgbClr val="FF0000"/>
                </a:solidFill>
                <a:cs typeface="+mn-cs"/>
              </a:rPr>
              <a:t>Agile’s</a:t>
            </a:r>
            <a:r>
              <a:rPr kumimoji="1" lang="en-US" altLang="zh-CN" sz="1800" dirty="0">
                <a:solidFill>
                  <a:srgbClr val="FF0000"/>
                </a:solidFill>
                <a:cs typeface="+mn-cs"/>
              </a:rPr>
              <a:t> principles to include systems and </a:t>
            </a:r>
            <a:r>
              <a:rPr kumimoji="1" lang="en-US" altLang="zh-CN" sz="1800" dirty="0" smtClean="0">
                <a:solidFill>
                  <a:srgbClr val="FF0000"/>
                </a:solidFill>
                <a:cs typeface="+mn-cs"/>
              </a:rPr>
              <a:t>operations</a:t>
            </a:r>
            <a:r>
              <a:rPr kumimoji="1" lang="en-US" altLang="zh-CN" sz="1800" dirty="0">
                <a:solidFill>
                  <a:srgbClr val="FF0000"/>
                </a:solidFill>
                <a:cs typeface="+mn-cs"/>
              </a:rPr>
              <a:t>, e.g., Infrastructure is code</a:t>
            </a:r>
          </a:p>
          <a:p>
            <a:r>
              <a:rPr kumimoji="1" lang="en-US" altLang="zh-CN" dirty="0" err="1" smtClean="0"/>
              <a:t>DevOps</a:t>
            </a:r>
            <a:r>
              <a:rPr kumimoji="1" lang="en-US" altLang="zh-CN" dirty="0" smtClean="0"/>
              <a:t> Methods</a:t>
            </a:r>
          </a:p>
          <a:p>
            <a:pPr marL="363538" lvl="1" indent="0">
              <a:buNone/>
            </a:pPr>
            <a:r>
              <a:rPr kumimoji="1" lang="en-US" altLang="zh-CN" sz="1800" dirty="0" smtClean="0">
                <a:solidFill>
                  <a:srgbClr val="FF0000"/>
                </a:solidFill>
                <a:cs typeface="+mn-cs"/>
              </a:rPr>
              <a:t>-same as agile, except for several distinct methods, e.g., Visible </a:t>
            </a:r>
            <a:r>
              <a:rPr kumimoji="1" lang="en-US" altLang="zh-CN" sz="1800" dirty="0">
                <a:solidFill>
                  <a:srgbClr val="FF0000"/>
                </a:solidFill>
                <a:cs typeface="+mn-cs"/>
              </a:rPr>
              <a:t>Ops-style change control</a:t>
            </a:r>
          </a:p>
          <a:p>
            <a:r>
              <a:rPr kumimoji="1" lang="en-US" altLang="zh-CN" dirty="0" err="1" smtClean="0"/>
              <a:t>DevOps</a:t>
            </a:r>
            <a:r>
              <a:rPr kumimoji="1" lang="en-US" altLang="zh-CN" dirty="0" smtClean="0"/>
              <a:t> Practices</a:t>
            </a:r>
          </a:p>
          <a:p>
            <a:pPr marL="363538" lvl="1" indent="0">
              <a:buNone/>
            </a:pPr>
            <a:r>
              <a:rPr kumimoji="1" lang="en-US" altLang="zh-CN" sz="1800" dirty="0">
                <a:solidFill>
                  <a:srgbClr val="FF0000"/>
                </a:solidFill>
                <a:cs typeface="+mn-cs"/>
              </a:rPr>
              <a:t>-CD, </a:t>
            </a:r>
            <a:r>
              <a:rPr kumimoji="1" lang="en-US" altLang="zh-CN" sz="1800" dirty="0" err="1">
                <a:solidFill>
                  <a:srgbClr val="FF0000"/>
                </a:solidFill>
                <a:cs typeface="+mn-cs"/>
              </a:rPr>
              <a:t>toolchain</a:t>
            </a:r>
            <a:r>
              <a:rPr kumimoji="1" lang="en-US" altLang="zh-CN" sz="1800" dirty="0">
                <a:solidFill>
                  <a:srgbClr val="FF0000"/>
                </a:solidFill>
                <a:cs typeface="+mn-cs"/>
              </a:rPr>
              <a:t>, virtualization and cloud computing , metrics and monitoring schemes,</a:t>
            </a:r>
          </a:p>
          <a:p>
            <a:r>
              <a:rPr kumimoji="1" lang="en-US" altLang="zh-CN" dirty="0" err="1" smtClean="0"/>
              <a:t>DevOps</a:t>
            </a:r>
            <a:r>
              <a:rPr kumimoji="1" lang="en-US" altLang="zh-CN" dirty="0" smtClean="0"/>
              <a:t> Tools</a:t>
            </a:r>
          </a:p>
          <a:p>
            <a:pPr marL="363538" lvl="1" indent="0">
              <a:buNone/>
            </a:pPr>
            <a:r>
              <a:rPr kumimoji="1" lang="en-US" altLang="zh-CN" sz="1800" dirty="0" smtClean="0">
                <a:solidFill>
                  <a:srgbClr val="FF0000"/>
                </a:solidFill>
                <a:cs typeface="+mn-cs"/>
              </a:rPr>
              <a:t>-Explosion </a:t>
            </a:r>
            <a:r>
              <a:rPr kumimoji="1" lang="en-US" altLang="zh-CN" sz="1800" dirty="0">
                <a:solidFill>
                  <a:srgbClr val="FF0000"/>
                </a:solidFill>
                <a:cs typeface="+mn-cs"/>
              </a:rPr>
              <a:t>of tools, e.g., </a:t>
            </a:r>
            <a:r>
              <a:rPr kumimoji="1" lang="en-US" altLang="zh-CN" sz="1800" dirty="0" err="1">
                <a:solidFill>
                  <a:srgbClr val="FF0000"/>
                </a:solidFill>
                <a:cs typeface="+mn-cs"/>
              </a:rPr>
              <a:t>jenkins</a:t>
            </a:r>
            <a:r>
              <a:rPr kumimoji="1" lang="en-US" altLang="zh-CN" sz="1800" dirty="0">
                <a:solidFill>
                  <a:srgbClr val="FF0000"/>
                </a:solidFill>
                <a:cs typeface="+mn-cs"/>
              </a:rPr>
              <a:t>, </a:t>
            </a:r>
            <a:r>
              <a:rPr kumimoji="1" lang="en-US" altLang="zh-CN" sz="1800" dirty="0" err="1">
                <a:solidFill>
                  <a:srgbClr val="FF0000"/>
                </a:solidFill>
                <a:cs typeface="+mn-cs"/>
              </a:rPr>
              <a:t>travis</a:t>
            </a:r>
            <a:r>
              <a:rPr kumimoji="1" lang="en-US" altLang="zh-CN" sz="1800" dirty="0">
                <a:solidFill>
                  <a:srgbClr val="FF0000"/>
                </a:solidFill>
                <a:cs typeface="+mn-cs"/>
              </a:rPr>
              <a:t>, </a:t>
            </a:r>
            <a:r>
              <a:rPr kumimoji="1" lang="en-US" altLang="zh-CN" sz="1800" dirty="0" err="1">
                <a:solidFill>
                  <a:srgbClr val="FF0000"/>
                </a:solidFill>
                <a:cs typeface="+mn-cs"/>
              </a:rPr>
              <a:t>teamcity</a:t>
            </a:r>
            <a:r>
              <a:rPr kumimoji="1" lang="en-US" altLang="zh-CN" sz="1800" dirty="0">
                <a:solidFill>
                  <a:srgbClr val="FF0000"/>
                </a:solidFill>
                <a:cs typeface="+mn-cs"/>
              </a:rPr>
              <a:t>, </a:t>
            </a:r>
            <a:r>
              <a:rPr kumimoji="1" lang="en-US" altLang="zh-CN" sz="1800" dirty="0" err="1">
                <a:solidFill>
                  <a:srgbClr val="FF0000"/>
                </a:solidFill>
                <a:cs typeface="+mn-cs"/>
              </a:rPr>
              <a:t>ansible</a:t>
            </a:r>
            <a:r>
              <a:rPr kumimoji="1" lang="en-US" altLang="zh-CN" sz="1800" dirty="0">
                <a:solidFill>
                  <a:srgbClr val="FF0000"/>
                </a:solidFill>
                <a:cs typeface="+mn-cs"/>
              </a:rPr>
              <a:t>, </a:t>
            </a:r>
            <a:r>
              <a:rPr kumimoji="1" lang="en-US" altLang="zh-CN" sz="1800" dirty="0" err="1">
                <a:solidFill>
                  <a:srgbClr val="FF0000"/>
                </a:solidFill>
                <a:cs typeface="+mn-cs"/>
              </a:rPr>
              <a:t>mesos</a:t>
            </a:r>
            <a:r>
              <a:rPr kumimoji="1" lang="en-US" altLang="zh-CN" sz="1800" dirty="0">
                <a:solidFill>
                  <a:srgbClr val="FF0000"/>
                </a:solidFill>
                <a:cs typeface="+mn-cs"/>
              </a:rPr>
              <a:t>, </a:t>
            </a:r>
            <a:r>
              <a:rPr kumimoji="1" lang="en-US" altLang="zh-CN" sz="1800" dirty="0" err="1">
                <a:solidFill>
                  <a:srgbClr val="FF0000"/>
                </a:solidFill>
                <a:cs typeface="+mn-cs"/>
              </a:rPr>
              <a:t>OpenStack</a:t>
            </a:r>
            <a:r>
              <a:rPr kumimoji="1" lang="en-US" altLang="zh-CN" sz="1800" dirty="0">
                <a:solidFill>
                  <a:srgbClr val="FF0000"/>
                </a:solidFill>
                <a:cs typeface="+mn-cs"/>
              </a:rPr>
              <a:t>, </a:t>
            </a:r>
            <a:r>
              <a:rPr kumimoji="1" lang="en-US" altLang="zh-CN" sz="1800" dirty="0" err="1">
                <a:solidFill>
                  <a:srgbClr val="FF0000"/>
                </a:solidFill>
                <a:cs typeface="+mn-cs"/>
              </a:rPr>
              <a:t>docker</a:t>
            </a:r>
            <a:r>
              <a:rPr kumimoji="1" lang="en-US" altLang="zh-CN" sz="1800" dirty="0">
                <a:solidFill>
                  <a:srgbClr val="FF0000"/>
                </a:solidFill>
                <a:cs typeface="+mn-cs"/>
              </a:rPr>
              <a:t>,</a:t>
            </a:r>
            <a:endParaRPr kumimoji="1" lang="zh-CN" altLang="en-US" sz="1800" dirty="0">
              <a:solidFill>
                <a:srgbClr val="FF0000"/>
              </a:solidFill>
              <a:cs typeface="+mn-cs"/>
            </a:endParaRPr>
          </a:p>
        </p:txBody>
      </p:sp>
      <p:sp>
        <p:nvSpPr>
          <p:cNvPr id="5" name="内容占位符 2"/>
          <p:cNvSpPr txBox="1">
            <a:spLocks/>
          </p:cNvSpPr>
          <p:nvPr/>
        </p:nvSpPr>
        <p:spPr bwMode="auto">
          <a:xfrm>
            <a:off x="-108520" y="908720"/>
            <a:ext cx="4211960" cy="581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63538" marR="0" lvl="0" indent="-363538" algn="l" defTabSz="914400" rtl="0" eaLnBrk="0" fontAlgn="base" latinLnBrk="0" hangingPunct="0">
              <a:lnSpc>
                <a:spcPct val="100000"/>
              </a:lnSpc>
              <a:spcBef>
                <a:spcPct val="20000"/>
              </a:spcBef>
              <a:spcAft>
                <a:spcPct val="0"/>
              </a:spcAft>
              <a:buClr>
                <a:srgbClr val="00607A"/>
              </a:buClr>
              <a:buSzTx/>
              <a:buFont typeface="Wingdings" charset="2"/>
              <a:buChar char="l"/>
              <a:tabLst/>
              <a:defRPr/>
            </a:pPr>
            <a:r>
              <a:rPr kumimoji="1" lang="en-US" altLang="zh-CN" sz="3200" b="0" i="0" u="none" strike="noStrike" kern="0" cap="none" spc="0" normalizeH="0" baseline="0" noProof="0" dirty="0" smtClean="0">
                <a:ln>
                  <a:noFill/>
                </a:ln>
                <a:solidFill>
                  <a:srgbClr val="00708E"/>
                </a:solidFill>
                <a:effectLst/>
                <a:uLnTx/>
                <a:uFillTx/>
                <a:latin typeface="Arial"/>
                <a:ea typeface="+mn-ea"/>
                <a:cs typeface="+mn-cs"/>
              </a:rPr>
              <a:t>Agile Values</a:t>
            </a:r>
          </a:p>
          <a:p>
            <a:pPr marL="363538" marR="0" lvl="1" indent="0" algn="l" defTabSz="914400" rtl="0" eaLnBrk="0" fontAlgn="base" latinLnBrk="0" hangingPunct="0">
              <a:lnSpc>
                <a:spcPct val="100000"/>
              </a:lnSpc>
              <a:spcBef>
                <a:spcPct val="20000"/>
              </a:spcBef>
              <a:spcAft>
                <a:spcPct val="0"/>
              </a:spcAft>
              <a:buClr>
                <a:srgbClr val="00607A"/>
              </a:buClr>
              <a:buSzTx/>
              <a:buFont typeface="Wingdings" charset="2"/>
              <a:buNone/>
              <a:tabLst/>
              <a:defRPr/>
            </a:pPr>
            <a:r>
              <a:rPr kumimoji="1" lang="en-US" altLang="zh-CN" sz="1800" b="0" i="0" u="none" strike="noStrike" kern="0" cap="none" spc="0" normalizeH="0" baseline="0" noProof="0" dirty="0" smtClean="0">
                <a:ln>
                  <a:noFill/>
                </a:ln>
                <a:solidFill>
                  <a:srgbClr val="00708E"/>
                </a:solidFill>
                <a:effectLst/>
                <a:uLnTx/>
                <a:uFillTx/>
                <a:latin typeface="+mn-ea"/>
                <a:ea typeface="+mn-ea"/>
                <a:cs typeface="+mn-cs"/>
              </a:rPr>
              <a:t>-Philosophy, Agile Manifesto</a:t>
            </a:r>
          </a:p>
          <a:p>
            <a:pPr marL="363538" marR="0" lvl="0" indent="-363538" algn="l" defTabSz="914400" rtl="0" eaLnBrk="0" fontAlgn="base" latinLnBrk="0" hangingPunct="0">
              <a:lnSpc>
                <a:spcPct val="100000"/>
              </a:lnSpc>
              <a:spcBef>
                <a:spcPct val="20000"/>
              </a:spcBef>
              <a:spcAft>
                <a:spcPct val="0"/>
              </a:spcAft>
              <a:buClr>
                <a:srgbClr val="00607A"/>
              </a:buClr>
              <a:buSzTx/>
              <a:buFont typeface="Wingdings" charset="2"/>
              <a:buChar char="l"/>
              <a:tabLst/>
              <a:defRPr/>
            </a:pPr>
            <a:r>
              <a:rPr kumimoji="1" lang="en-US" altLang="zh-CN" sz="3200" b="0" i="0" u="none" strike="noStrike" kern="0" cap="none" spc="0" normalizeH="0" baseline="0" noProof="0" dirty="0" smtClean="0">
                <a:ln>
                  <a:noFill/>
                </a:ln>
                <a:solidFill>
                  <a:srgbClr val="00708E"/>
                </a:solidFill>
                <a:effectLst/>
                <a:uLnTx/>
                <a:uFillTx/>
                <a:latin typeface="Arial"/>
                <a:ea typeface="+mn-ea"/>
                <a:cs typeface="+mn-cs"/>
              </a:rPr>
              <a:t>Agile Principles</a:t>
            </a:r>
          </a:p>
          <a:p>
            <a:pPr marL="363538" marR="0" lvl="1" indent="0" algn="l" defTabSz="914400" rtl="0" eaLnBrk="0" fontAlgn="base" latinLnBrk="0" hangingPunct="0">
              <a:lnSpc>
                <a:spcPct val="100000"/>
              </a:lnSpc>
              <a:spcBef>
                <a:spcPct val="20000"/>
              </a:spcBef>
              <a:spcAft>
                <a:spcPct val="0"/>
              </a:spcAft>
              <a:buClr>
                <a:srgbClr val="00607A"/>
              </a:buClr>
              <a:buSzTx/>
              <a:buFont typeface="Wingdings" charset="2"/>
              <a:buNone/>
              <a:tabLst/>
              <a:defRPr/>
            </a:pPr>
            <a:r>
              <a:rPr kumimoji="1" lang="en-US" altLang="zh-CN" sz="1800" b="0" i="0" u="none" strike="noStrike" kern="0" cap="none" spc="0" normalizeH="0" baseline="0" noProof="0" dirty="0" smtClean="0">
                <a:ln>
                  <a:noFill/>
                </a:ln>
                <a:solidFill>
                  <a:srgbClr val="00708E"/>
                </a:solidFill>
                <a:effectLst/>
                <a:uLnTx/>
                <a:uFillTx/>
                <a:latin typeface="+mn-ea"/>
                <a:ea typeface="+mn-ea"/>
                <a:cs typeface="+mn-cs"/>
              </a:rPr>
              <a:t>-Strategic approaches (</a:t>
            </a:r>
            <a:r>
              <a:rPr kumimoji="1" lang="en-US" altLang="zh-CN" sz="1800" b="0" i="0" u="none" strike="noStrike" kern="0" cap="none" spc="0" normalizeH="0" baseline="0" noProof="0" dirty="0">
                <a:ln>
                  <a:noFill/>
                </a:ln>
                <a:solidFill>
                  <a:srgbClr val="00708E"/>
                </a:solidFill>
                <a:effectLst/>
                <a:uLnTx/>
                <a:uFillTx/>
                <a:latin typeface="+mn-ea"/>
                <a:ea typeface="+mn-ea"/>
                <a:cs typeface="+mn-cs"/>
              </a:rPr>
              <a:t>Welcome changing, etc.)</a:t>
            </a:r>
          </a:p>
          <a:p>
            <a:pPr marL="363538" marR="0" lvl="0" indent="-363538" algn="l" defTabSz="914400" rtl="0" eaLnBrk="0" fontAlgn="base" latinLnBrk="0" hangingPunct="0">
              <a:lnSpc>
                <a:spcPct val="100000"/>
              </a:lnSpc>
              <a:spcBef>
                <a:spcPct val="20000"/>
              </a:spcBef>
              <a:spcAft>
                <a:spcPct val="0"/>
              </a:spcAft>
              <a:buClr>
                <a:srgbClr val="00607A"/>
              </a:buClr>
              <a:buSzTx/>
              <a:buFont typeface="Wingdings" charset="2"/>
              <a:buChar char="l"/>
              <a:tabLst/>
              <a:defRPr/>
            </a:pPr>
            <a:r>
              <a:rPr kumimoji="1" lang="en-US" altLang="zh-CN" sz="3200" b="0" i="0" u="none" strike="noStrike" kern="0" cap="none" spc="0" normalizeH="0" baseline="0" noProof="0" dirty="0" smtClean="0">
                <a:ln>
                  <a:noFill/>
                </a:ln>
                <a:solidFill>
                  <a:srgbClr val="00708E"/>
                </a:solidFill>
                <a:effectLst/>
                <a:uLnTx/>
                <a:uFillTx/>
                <a:latin typeface="Arial"/>
                <a:ea typeface="+mn-ea"/>
                <a:cs typeface="+mn-cs"/>
              </a:rPr>
              <a:t>Agile Methods</a:t>
            </a:r>
          </a:p>
          <a:p>
            <a:pPr marL="363538" marR="0" lvl="1" indent="0" algn="l" defTabSz="914400" rtl="0" eaLnBrk="0" fontAlgn="base" latinLnBrk="0" hangingPunct="0">
              <a:lnSpc>
                <a:spcPct val="100000"/>
              </a:lnSpc>
              <a:spcBef>
                <a:spcPct val="20000"/>
              </a:spcBef>
              <a:spcAft>
                <a:spcPct val="0"/>
              </a:spcAft>
              <a:buClr>
                <a:srgbClr val="00607A"/>
              </a:buClr>
              <a:buSzTx/>
              <a:buFont typeface="Wingdings" charset="2"/>
              <a:buNone/>
              <a:tabLst/>
              <a:defRPr/>
            </a:pPr>
            <a:r>
              <a:rPr kumimoji="1" lang="en-US" altLang="zh-CN" sz="1800" b="0" i="0" u="none" strike="noStrike" kern="0" cap="none" spc="0" normalizeH="0" baseline="0" noProof="0" dirty="0" smtClean="0">
                <a:ln>
                  <a:noFill/>
                </a:ln>
                <a:solidFill>
                  <a:srgbClr val="00708E"/>
                </a:solidFill>
                <a:effectLst/>
                <a:uLnTx/>
                <a:uFillTx/>
                <a:latin typeface="+mn-ea"/>
                <a:ea typeface="+mn-ea"/>
                <a:cs typeface="+mn-cs"/>
              </a:rPr>
              <a:t>-Specific process implementation , e.g., </a:t>
            </a:r>
            <a:r>
              <a:rPr kumimoji="1" lang="en-US" altLang="zh-CN" sz="1800" b="0" i="0" u="none" strike="noStrike" kern="0" cap="none" spc="0" normalizeH="0" baseline="0" noProof="0" dirty="0" err="1" smtClean="0">
                <a:ln>
                  <a:noFill/>
                </a:ln>
                <a:solidFill>
                  <a:srgbClr val="00708E"/>
                </a:solidFill>
                <a:effectLst/>
                <a:uLnTx/>
                <a:uFillTx/>
                <a:latin typeface="+mn-ea"/>
                <a:ea typeface="+mn-ea"/>
                <a:cs typeface="+mn-cs"/>
              </a:rPr>
              <a:t>XP,Scrum</a:t>
            </a:r>
            <a:r>
              <a:rPr kumimoji="1" lang="en-US" altLang="zh-CN" sz="1800" b="0" i="0" u="none" strike="noStrike" kern="0" cap="none" spc="0" normalizeH="0" baseline="0" noProof="0" dirty="0">
                <a:ln>
                  <a:noFill/>
                </a:ln>
                <a:solidFill>
                  <a:srgbClr val="00708E"/>
                </a:solidFill>
                <a:effectLst/>
                <a:uLnTx/>
                <a:uFillTx/>
                <a:latin typeface="+mn-ea"/>
                <a:ea typeface="+mn-ea"/>
                <a:cs typeface="+mn-cs"/>
              </a:rPr>
              <a:t>, etc.</a:t>
            </a:r>
          </a:p>
          <a:p>
            <a:pPr marL="363538" marR="0" lvl="0" indent="-363538" algn="l" defTabSz="914400" rtl="0" eaLnBrk="0" fontAlgn="base" latinLnBrk="0" hangingPunct="0">
              <a:lnSpc>
                <a:spcPct val="100000"/>
              </a:lnSpc>
              <a:spcBef>
                <a:spcPct val="20000"/>
              </a:spcBef>
              <a:spcAft>
                <a:spcPct val="0"/>
              </a:spcAft>
              <a:buClr>
                <a:srgbClr val="00607A"/>
              </a:buClr>
              <a:buSzTx/>
              <a:buFont typeface="Wingdings" charset="2"/>
              <a:buChar char="l"/>
              <a:tabLst/>
              <a:defRPr/>
            </a:pPr>
            <a:r>
              <a:rPr kumimoji="1" lang="en-US" altLang="zh-CN" sz="3200" b="0" i="0" u="none" strike="noStrike" kern="0" cap="none" spc="0" normalizeH="0" baseline="0" noProof="0" dirty="0" smtClean="0">
                <a:ln>
                  <a:noFill/>
                </a:ln>
                <a:solidFill>
                  <a:srgbClr val="00708E"/>
                </a:solidFill>
                <a:effectLst/>
                <a:uLnTx/>
                <a:uFillTx/>
                <a:latin typeface="Arial"/>
                <a:ea typeface="+mn-ea"/>
                <a:cs typeface="+mn-cs"/>
              </a:rPr>
              <a:t>Agile Practices</a:t>
            </a:r>
          </a:p>
          <a:p>
            <a:pPr marL="363538" marR="0" lvl="1" indent="0" algn="l" defTabSz="914400" rtl="0" eaLnBrk="0" fontAlgn="base" latinLnBrk="0" hangingPunct="0">
              <a:lnSpc>
                <a:spcPct val="100000"/>
              </a:lnSpc>
              <a:spcBef>
                <a:spcPct val="20000"/>
              </a:spcBef>
              <a:spcAft>
                <a:spcPct val="0"/>
              </a:spcAft>
              <a:buClr>
                <a:srgbClr val="00607A"/>
              </a:buClr>
              <a:buSzTx/>
              <a:buFont typeface="Wingdings" charset="2"/>
              <a:buNone/>
              <a:tabLst/>
              <a:defRPr/>
            </a:pPr>
            <a:r>
              <a:rPr kumimoji="1" lang="en-US" altLang="zh-CN" sz="1800" b="0" i="0" u="none" strike="noStrike" kern="0" cap="none" spc="0" normalizeH="0" baseline="0" noProof="0" dirty="0" smtClean="0">
                <a:ln>
                  <a:noFill/>
                </a:ln>
                <a:solidFill>
                  <a:srgbClr val="00708E"/>
                </a:solidFill>
                <a:effectLst/>
                <a:uLnTx/>
                <a:uFillTx/>
                <a:latin typeface="+mn-ea"/>
                <a:ea typeface="+mn-ea"/>
                <a:cs typeface="+mn-cs"/>
              </a:rPr>
              <a:t>-highly </a:t>
            </a:r>
            <a:r>
              <a:rPr kumimoji="1" lang="en-US" altLang="zh-CN" sz="1800" b="0" i="0" u="none" strike="noStrike" kern="0" cap="none" spc="0" normalizeH="0" baseline="0" noProof="0" dirty="0">
                <a:ln>
                  <a:noFill/>
                </a:ln>
                <a:solidFill>
                  <a:srgbClr val="00708E"/>
                </a:solidFill>
                <a:effectLst/>
                <a:uLnTx/>
                <a:uFillTx/>
                <a:latin typeface="+mn-ea"/>
                <a:ea typeface="+mn-ea"/>
                <a:cs typeface="+mn-cs"/>
              </a:rPr>
              <a:t>specific tactical techniques, </a:t>
            </a:r>
            <a:r>
              <a:rPr kumimoji="1" lang="en-US" altLang="zh-CN" sz="1800" b="0" i="0" u="none" strike="noStrike" kern="0" cap="none" spc="0" normalizeH="0" baseline="0" noProof="0" dirty="0" err="1">
                <a:ln>
                  <a:noFill/>
                </a:ln>
                <a:solidFill>
                  <a:srgbClr val="00708E"/>
                </a:solidFill>
                <a:effectLst/>
                <a:uLnTx/>
                <a:uFillTx/>
                <a:latin typeface="+mn-ea"/>
                <a:ea typeface="+mn-ea"/>
                <a:cs typeface="+mn-cs"/>
              </a:rPr>
              <a:t>e.g.,standups</a:t>
            </a:r>
            <a:r>
              <a:rPr kumimoji="1" lang="en-US" altLang="zh-CN" sz="1800" b="0" i="0" u="none" strike="noStrike" kern="0" cap="none" spc="0" normalizeH="0" baseline="0" noProof="0" dirty="0">
                <a:ln>
                  <a:noFill/>
                </a:ln>
                <a:solidFill>
                  <a:srgbClr val="00708E"/>
                </a:solidFill>
                <a:effectLst/>
                <a:uLnTx/>
                <a:uFillTx/>
                <a:latin typeface="+mn-ea"/>
                <a:ea typeface="+mn-ea"/>
                <a:cs typeface="+mn-cs"/>
              </a:rPr>
              <a:t>, planning poker, backlogs, ci, etc.</a:t>
            </a:r>
          </a:p>
          <a:p>
            <a:pPr marL="363538" marR="0" lvl="0" indent="-363538" algn="l" defTabSz="914400" rtl="0" eaLnBrk="0" fontAlgn="base" latinLnBrk="0" hangingPunct="0">
              <a:lnSpc>
                <a:spcPct val="100000"/>
              </a:lnSpc>
              <a:spcBef>
                <a:spcPct val="20000"/>
              </a:spcBef>
              <a:spcAft>
                <a:spcPct val="0"/>
              </a:spcAft>
              <a:buClr>
                <a:srgbClr val="00607A"/>
              </a:buClr>
              <a:buSzTx/>
              <a:buFont typeface="Wingdings" charset="2"/>
              <a:buChar char="l"/>
              <a:tabLst/>
              <a:defRPr/>
            </a:pPr>
            <a:r>
              <a:rPr kumimoji="1" lang="en-US" altLang="zh-CN" sz="3200" b="0" i="0" u="none" strike="noStrike" kern="0" cap="none" spc="0" normalizeH="0" baseline="0" noProof="0" dirty="0" smtClean="0">
                <a:ln>
                  <a:noFill/>
                </a:ln>
                <a:solidFill>
                  <a:srgbClr val="00708E"/>
                </a:solidFill>
                <a:effectLst/>
                <a:uLnTx/>
                <a:uFillTx/>
                <a:latin typeface="Arial"/>
                <a:ea typeface="+mn-ea"/>
                <a:cs typeface="+mn-cs"/>
              </a:rPr>
              <a:t>Agile Tools</a:t>
            </a:r>
          </a:p>
          <a:p>
            <a:pPr marL="363538" marR="0" lvl="1" indent="0" algn="l" defTabSz="914400" rtl="0" eaLnBrk="0" fontAlgn="base" latinLnBrk="0" hangingPunct="0">
              <a:lnSpc>
                <a:spcPct val="100000"/>
              </a:lnSpc>
              <a:spcBef>
                <a:spcPct val="20000"/>
              </a:spcBef>
              <a:spcAft>
                <a:spcPct val="0"/>
              </a:spcAft>
              <a:buClr>
                <a:srgbClr val="00607A"/>
              </a:buClr>
              <a:buSzTx/>
              <a:buFont typeface="Wingdings" charset="2"/>
              <a:buNone/>
              <a:tabLst/>
              <a:defRPr/>
            </a:pPr>
            <a:r>
              <a:rPr kumimoji="1" lang="en-US" altLang="zh-CN" sz="1800" b="0" i="0" u="none" strike="noStrike" kern="0" cap="none" spc="0" normalizeH="0" baseline="0" noProof="0" dirty="0">
                <a:ln>
                  <a:noFill/>
                </a:ln>
                <a:solidFill>
                  <a:srgbClr val="00708E"/>
                </a:solidFill>
                <a:effectLst/>
                <a:uLnTx/>
                <a:uFillTx/>
                <a:latin typeface="+mn-ea"/>
                <a:ea typeface="+mn-ea"/>
                <a:cs typeface="+mn-cs"/>
              </a:rPr>
              <a:t>-Specific technical implementations, e.g., JIRA, Version one, etc.</a:t>
            </a:r>
            <a:endParaRPr kumimoji="1" lang="zh-CN" altLang="en-US" sz="1800" b="0" i="0" u="none" strike="noStrike" kern="0" cap="none" spc="0" normalizeH="0" baseline="0" noProof="0" dirty="0">
              <a:ln>
                <a:noFill/>
              </a:ln>
              <a:solidFill>
                <a:srgbClr val="00708E"/>
              </a:solidFill>
              <a:effectLst/>
              <a:uLnTx/>
              <a:uFillTx/>
              <a:latin typeface="+mn-ea"/>
              <a:ea typeface="+mn-ea"/>
              <a:cs typeface="+mn-cs"/>
            </a:endParaRPr>
          </a:p>
        </p:txBody>
      </p:sp>
    </p:spTree>
    <p:extLst>
      <p:ext uri="{BB962C8B-B14F-4D97-AF65-F5344CB8AC3E}">
        <p14:creationId xmlns:p14="http://schemas.microsoft.com/office/powerpoint/2010/main" val="3818318383"/>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DevOps</a:t>
            </a:r>
            <a:r>
              <a:rPr lang="en-US" altLang="zh-CN" dirty="0" smtClean="0"/>
              <a:t> </a:t>
            </a:r>
            <a:r>
              <a:rPr lang="zh-CN" altLang="en-US" dirty="0" smtClean="0"/>
              <a:t>关键术语 （</a:t>
            </a:r>
            <a:r>
              <a:rPr lang="en-US" altLang="zh-CN" dirty="0" smtClean="0"/>
              <a:t>1</a:t>
            </a:r>
            <a:r>
              <a:rPr lang="zh-CN" altLang="en-US" dirty="0" smtClean="0"/>
              <a:t>）</a:t>
            </a:r>
            <a:endParaRPr lang="zh-CN" altLang="en-US" dirty="0"/>
          </a:p>
        </p:txBody>
      </p:sp>
      <p:sp>
        <p:nvSpPr>
          <p:cNvPr id="3" name="内容占位符 2"/>
          <p:cNvSpPr>
            <a:spLocks noGrp="1"/>
          </p:cNvSpPr>
          <p:nvPr>
            <p:ph idx="1"/>
          </p:nvPr>
        </p:nvSpPr>
        <p:spPr>
          <a:xfrm>
            <a:off x="0" y="980728"/>
            <a:ext cx="9144000" cy="5877271"/>
          </a:xfrm>
        </p:spPr>
        <p:txBody>
          <a:bodyPr/>
          <a:lstStyle/>
          <a:p>
            <a:r>
              <a:rPr lang="zh-CN" altLang="en-US" dirty="0" smtClean="0"/>
              <a:t>持续集成（</a:t>
            </a:r>
            <a:r>
              <a:rPr lang="en-US" altLang="zh-CN" dirty="0"/>
              <a:t> Continuous </a:t>
            </a:r>
            <a:r>
              <a:rPr lang="en-US" altLang="zh-CN" dirty="0" smtClean="0"/>
              <a:t>Integration, CI</a:t>
            </a:r>
            <a:r>
              <a:rPr lang="zh-CN" altLang="en-US" dirty="0" smtClean="0"/>
              <a:t>）</a:t>
            </a:r>
            <a:endParaRPr lang="en-US" altLang="zh-CN" dirty="0" smtClean="0"/>
          </a:p>
          <a:p>
            <a:pPr marL="363538" lvl="1" indent="0">
              <a:buNone/>
            </a:pPr>
            <a:r>
              <a:rPr lang="en-US" altLang="zh-CN" sz="2400" dirty="0" smtClean="0"/>
              <a:t> </a:t>
            </a:r>
            <a:r>
              <a:rPr lang="en-US" altLang="zh-CN" sz="2400" i="1" dirty="0" smtClean="0"/>
              <a:t>is </a:t>
            </a:r>
            <a:r>
              <a:rPr lang="en-US" altLang="zh-CN" sz="2400" i="1" dirty="0"/>
              <a:t>a development practice that requires developers to integrate code into a shared repository several times a day. Each check-in is then verified by an </a:t>
            </a:r>
            <a:r>
              <a:rPr lang="en-US" altLang="zh-CN" sz="2400" b="1" i="1" dirty="0"/>
              <a:t>automated</a:t>
            </a:r>
            <a:r>
              <a:rPr lang="en-US" altLang="zh-CN" sz="2400" i="1" dirty="0"/>
              <a:t> build, allowing teams to detect problems early.</a:t>
            </a:r>
          </a:p>
          <a:p>
            <a:r>
              <a:rPr lang="zh-CN" altLang="en-US" dirty="0"/>
              <a:t>持</a:t>
            </a:r>
            <a:r>
              <a:rPr lang="zh-CN" altLang="en-US" dirty="0" smtClean="0"/>
              <a:t>续交付（</a:t>
            </a:r>
            <a:r>
              <a:rPr lang="en-US" altLang="zh-CN" dirty="0"/>
              <a:t> Continuous Delivery </a:t>
            </a:r>
            <a:r>
              <a:rPr lang="en-US" altLang="zh-CN" dirty="0" smtClean="0"/>
              <a:t>,CD</a:t>
            </a:r>
            <a:r>
              <a:rPr lang="zh-CN" altLang="en-US" dirty="0" smtClean="0"/>
              <a:t>）</a:t>
            </a:r>
            <a:r>
              <a:rPr lang="en-US" altLang="zh-CN" dirty="0" smtClean="0"/>
              <a:t> </a:t>
            </a:r>
          </a:p>
          <a:p>
            <a:pPr marL="363538" lvl="1" indent="0">
              <a:buNone/>
            </a:pPr>
            <a:r>
              <a:rPr lang="en-US" altLang="zh-CN" sz="2400" dirty="0"/>
              <a:t>is a set of processes and practices that radically removes waste from your software production process, enables faster delivery of high-quality functionality and sets up a rapid and effective feedback loop between your business and your users</a:t>
            </a:r>
          </a:p>
          <a:p>
            <a:r>
              <a:rPr lang="zh-CN" altLang="en-US" dirty="0"/>
              <a:t>持</a:t>
            </a:r>
            <a:r>
              <a:rPr lang="zh-CN" altLang="en-US" dirty="0" smtClean="0"/>
              <a:t>续部署（</a:t>
            </a:r>
            <a:r>
              <a:rPr lang="en-US" altLang="zh-CN" dirty="0" smtClean="0"/>
              <a:t>Continuous Deployment, CD </a:t>
            </a:r>
            <a:r>
              <a:rPr lang="zh-CN" altLang="en-US" dirty="0" smtClean="0"/>
              <a:t>）</a:t>
            </a:r>
            <a:endParaRPr lang="en-US" altLang="zh-CN" dirty="0" smtClean="0"/>
          </a:p>
          <a:p>
            <a:pPr marL="363538" lvl="1" indent="0">
              <a:buNone/>
            </a:pPr>
            <a:r>
              <a:rPr lang="en-US" altLang="zh-CN" sz="2400" dirty="0"/>
              <a:t>means that you actually deploy and expose the change to the user immediately.</a:t>
            </a:r>
            <a:endParaRPr lang="zh-CN" altLang="en-US" sz="2400" dirty="0"/>
          </a:p>
        </p:txBody>
      </p:sp>
    </p:spTree>
    <p:extLst>
      <p:ext uri="{BB962C8B-B14F-4D97-AF65-F5344CB8AC3E}">
        <p14:creationId xmlns:p14="http://schemas.microsoft.com/office/powerpoint/2010/main" val="3922317758"/>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DevOps</a:t>
            </a:r>
            <a:r>
              <a:rPr lang="en-US" altLang="zh-CN" dirty="0"/>
              <a:t> </a:t>
            </a:r>
            <a:r>
              <a:rPr lang="zh-CN" altLang="en-US" dirty="0"/>
              <a:t>关键术语 </a:t>
            </a:r>
            <a:r>
              <a:rPr lang="zh-CN" altLang="en-US" dirty="0" smtClean="0"/>
              <a:t>（</a:t>
            </a:r>
            <a:r>
              <a:rPr lang="en-US" altLang="zh-CN" dirty="0" smtClean="0"/>
              <a:t>2</a:t>
            </a:r>
            <a:r>
              <a:rPr lang="zh-CN" altLang="en-US" dirty="0" smtClean="0"/>
              <a:t>）</a:t>
            </a:r>
            <a:endParaRPr lang="zh-CN" altLang="en-US" dirty="0"/>
          </a:p>
        </p:txBody>
      </p:sp>
      <p:sp>
        <p:nvSpPr>
          <p:cNvPr id="3" name="内容占位符 2"/>
          <p:cNvSpPr>
            <a:spLocks noGrp="1"/>
          </p:cNvSpPr>
          <p:nvPr>
            <p:ph idx="1"/>
          </p:nvPr>
        </p:nvSpPr>
        <p:spPr>
          <a:xfrm>
            <a:off x="0" y="908720"/>
            <a:ext cx="9144000" cy="5688631"/>
          </a:xfrm>
        </p:spPr>
        <p:txBody>
          <a:bodyPr/>
          <a:lstStyle/>
          <a:p>
            <a:r>
              <a:rPr lang="en-US" altLang="zh-CN" b="1" dirty="0"/>
              <a:t>Software as a Service </a:t>
            </a:r>
            <a:r>
              <a:rPr lang="en-US" altLang="zh-CN" b="1" dirty="0" smtClean="0"/>
              <a:t>(</a:t>
            </a:r>
            <a:r>
              <a:rPr lang="en-US" altLang="zh-CN" b="1" dirty="0" err="1" smtClean="0"/>
              <a:t>SaaS</a:t>
            </a:r>
            <a:r>
              <a:rPr lang="en-US" altLang="zh-CN" b="1" dirty="0" smtClean="0"/>
              <a:t>)</a:t>
            </a:r>
          </a:p>
          <a:p>
            <a:pPr marL="363538" lvl="1" indent="0">
              <a:buNone/>
            </a:pPr>
            <a:r>
              <a:rPr lang="en-US" altLang="zh-CN" sz="2400" dirty="0"/>
              <a:t>is a software licensing and delivery model in which software is licensed on a subscription basis and is centrally hosted.</a:t>
            </a:r>
          </a:p>
          <a:p>
            <a:r>
              <a:rPr lang="en-US" altLang="zh-CN" b="1" dirty="0" smtClean="0"/>
              <a:t>Infrastructure as </a:t>
            </a:r>
            <a:r>
              <a:rPr lang="en-US" altLang="zh-CN" b="1" dirty="0"/>
              <a:t>a Service (</a:t>
            </a:r>
            <a:r>
              <a:rPr lang="en-US" altLang="zh-CN" b="1" dirty="0" err="1"/>
              <a:t>IaaS</a:t>
            </a:r>
            <a:r>
              <a:rPr lang="en-US" altLang="zh-CN" b="1" dirty="0"/>
              <a:t>)</a:t>
            </a:r>
          </a:p>
          <a:p>
            <a:pPr marL="363538" lvl="1" indent="0">
              <a:buNone/>
            </a:pPr>
            <a:r>
              <a:rPr lang="en-US" altLang="zh-CN" sz="2400" dirty="0"/>
              <a:t>Cloud-hosted virtualized machines usually billed on a “pay as you go” basis. Users have full control of the machines but need to install and configure any required middleware and applications themselves.</a:t>
            </a:r>
          </a:p>
          <a:p>
            <a:r>
              <a:rPr lang="en-US" altLang="zh-CN" b="1" dirty="0"/>
              <a:t>Platform as a service (</a:t>
            </a:r>
            <a:r>
              <a:rPr lang="en-US" altLang="zh-CN" b="1" dirty="0" err="1"/>
              <a:t>PaaS</a:t>
            </a:r>
            <a:r>
              <a:rPr lang="en-US" altLang="zh-CN" b="1" dirty="0"/>
              <a:t>)</a:t>
            </a:r>
          </a:p>
          <a:p>
            <a:pPr marL="363538" lvl="1" indent="0">
              <a:buNone/>
            </a:pPr>
            <a:r>
              <a:rPr lang="en-US" altLang="zh-CN" sz="2400" dirty="0" err="1"/>
              <a:t>PaaS</a:t>
            </a:r>
            <a:r>
              <a:rPr lang="en-US" altLang="zh-CN" sz="2400" dirty="0"/>
              <a:t> vendors offer a development environment to application developers. The provider typically develops toolkit and standards for development and channels for distribution and payment.</a:t>
            </a:r>
            <a:endParaRPr lang="zh-CN" altLang="en-US" sz="2400" dirty="0"/>
          </a:p>
        </p:txBody>
      </p:sp>
    </p:spTree>
    <p:extLst>
      <p:ext uri="{BB962C8B-B14F-4D97-AF65-F5344CB8AC3E}">
        <p14:creationId xmlns:p14="http://schemas.microsoft.com/office/powerpoint/2010/main" val="431037963"/>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DevOps</a:t>
            </a:r>
            <a:r>
              <a:rPr lang="en-US" altLang="zh-CN" dirty="0"/>
              <a:t> </a:t>
            </a:r>
            <a:r>
              <a:rPr lang="zh-CN" altLang="en-US" dirty="0"/>
              <a:t>关键术语 </a:t>
            </a:r>
            <a:r>
              <a:rPr lang="zh-CN" altLang="en-US" dirty="0" smtClean="0"/>
              <a:t>（</a:t>
            </a:r>
            <a:r>
              <a:rPr lang="en-US" altLang="zh-CN" dirty="0" smtClean="0"/>
              <a:t>3</a:t>
            </a:r>
            <a:r>
              <a:rPr lang="zh-CN" altLang="en-US" dirty="0" smtClean="0"/>
              <a:t>）</a:t>
            </a:r>
            <a:endParaRPr lang="zh-CN" altLang="en-US" dirty="0"/>
          </a:p>
        </p:txBody>
      </p:sp>
      <p:sp>
        <p:nvSpPr>
          <p:cNvPr id="3" name="内容占位符 2"/>
          <p:cNvSpPr>
            <a:spLocks noGrp="1"/>
          </p:cNvSpPr>
          <p:nvPr>
            <p:ph idx="1"/>
          </p:nvPr>
        </p:nvSpPr>
        <p:spPr>
          <a:xfrm>
            <a:off x="-72008" y="980728"/>
            <a:ext cx="9324528" cy="6192688"/>
          </a:xfrm>
        </p:spPr>
        <p:txBody>
          <a:bodyPr/>
          <a:lstStyle/>
          <a:p>
            <a:r>
              <a:rPr lang="en-US" altLang="zh-CN" sz="3000" b="1" dirty="0" smtClean="0"/>
              <a:t>Metrics</a:t>
            </a:r>
          </a:p>
          <a:p>
            <a:pPr lvl="1"/>
            <a:r>
              <a:rPr lang="en-US" altLang="zh-CN" b="1" dirty="0" smtClean="0"/>
              <a:t>Deployment </a:t>
            </a:r>
            <a:r>
              <a:rPr lang="en-US" altLang="zh-CN" b="1" dirty="0"/>
              <a:t>frequency</a:t>
            </a:r>
            <a:r>
              <a:rPr lang="en-US" altLang="zh-CN" dirty="0"/>
              <a:t>	</a:t>
            </a:r>
          </a:p>
          <a:p>
            <a:pPr marL="715962" lvl="2" indent="0">
              <a:buNone/>
            </a:pPr>
            <a:r>
              <a:rPr lang="en-US" altLang="zh-CN" dirty="0" smtClean="0">
                <a:solidFill>
                  <a:srgbClr val="FF0000"/>
                </a:solidFill>
              </a:rPr>
              <a:t>how </a:t>
            </a:r>
            <a:r>
              <a:rPr lang="en-US" altLang="zh-CN" dirty="0">
                <a:solidFill>
                  <a:srgbClr val="FF0000"/>
                </a:solidFill>
              </a:rPr>
              <a:t>often does your organization deploy code?</a:t>
            </a:r>
          </a:p>
          <a:p>
            <a:pPr lvl="1"/>
            <a:r>
              <a:rPr lang="en-US" altLang="zh-CN" b="1" dirty="0" smtClean="0"/>
              <a:t>Lead </a:t>
            </a:r>
            <a:r>
              <a:rPr lang="en-US" altLang="zh-CN" b="1" dirty="0"/>
              <a:t>time for changes</a:t>
            </a:r>
            <a:r>
              <a:rPr lang="en-US" altLang="zh-CN" dirty="0"/>
              <a:t>	</a:t>
            </a:r>
          </a:p>
          <a:p>
            <a:pPr marL="715962" lvl="2" indent="0">
              <a:buNone/>
            </a:pPr>
            <a:r>
              <a:rPr lang="en-US" altLang="zh-CN" dirty="0">
                <a:solidFill>
                  <a:srgbClr val="FF0000"/>
                </a:solidFill>
              </a:rPr>
              <a:t>how long does it take to go from code commit to code successfully running in production?</a:t>
            </a:r>
            <a:endParaRPr lang="zh-CN" altLang="en-US" dirty="0">
              <a:solidFill>
                <a:srgbClr val="FF0000"/>
              </a:solidFill>
            </a:endParaRPr>
          </a:p>
          <a:p>
            <a:pPr lvl="1"/>
            <a:r>
              <a:rPr lang="en-US" altLang="zh-CN" b="1" dirty="0" smtClean="0"/>
              <a:t>Mean </a:t>
            </a:r>
            <a:r>
              <a:rPr lang="en-US" altLang="zh-CN" b="1" dirty="0"/>
              <a:t>time to recover (MTTR)</a:t>
            </a:r>
            <a:r>
              <a:rPr lang="en-US" altLang="zh-CN" dirty="0"/>
              <a:t>	</a:t>
            </a:r>
          </a:p>
          <a:p>
            <a:pPr marL="715962" lvl="2" indent="0">
              <a:buNone/>
            </a:pPr>
            <a:r>
              <a:rPr lang="en-US" altLang="zh-CN" dirty="0" smtClean="0">
                <a:solidFill>
                  <a:srgbClr val="FF0000"/>
                </a:solidFill>
              </a:rPr>
              <a:t>how </a:t>
            </a:r>
            <a:r>
              <a:rPr lang="en-US" altLang="zh-CN" dirty="0">
                <a:solidFill>
                  <a:srgbClr val="FF0000"/>
                </a:solidFill>
              </a:rPr>
              <a:t>long does it generally take to restore service when a service incident occurs</a:t>
            </a:r>
            <a:endParaRPr lang="zh-CN" altLang="en-US" dirty="0">
              <a:solidFill>
                <a:srgbClr val="FF0000"/>
              </a:solidFill>
            </a:endParaRPr>
          </a:p>
          <a:p>
            <a:pPr lvl="1"/>
            <a:r>
              <a:rPr lang="en-US" altLang="zh-CN" b="1" dirty="0" smtClean="0"/>
              <a:t>Change </a:t>
            </a:r>
            <a:r>
              <a:rPr lang="en-US" altLang="zh-CN" b="1" dirty="0"/>
              <a:t>failure rate</a:t>
            </a:r>
            <a:r>
              <a:rPr lang="en-US" altLang="zh-CN" dirty="0"/>
              <a:t>	</a:t>
            </a:r>
            <a:endParaRPr lang="en-US" altLang="zh-CN" dirty="0" smtClean="0"/>
          </a:p>
          <a:p>
            <a:pPr marL="715962" lvl="2" indent="0">
              <a:buNone/>
            </a:pPr>
            <a:r>
              <a:rPr lang="en-US" altLang="zh-CN" dirty="0">
                <a:solidFill>
                  <a:srgbClr val="FF0000"/>
                </a:solidFill>
              </a:rPr>
              <a:t>what percentage of the changes either result in degraded service or subsequently require </a:t>
            </a:r>
            <a:r>
              <a:rPr lang="en-US" altLang="zh-CN" dirty="0" smtClean="0">
                <a:solidFill>
                  <a:srgbClr val="FF0000"/>
                </a:solidFill>
              </a:rPr>
              <a:t>remediation?</a:t>
            </a:r>
            <a:endParaRPr lang="en-US" altLang="zh-CN" dirty="0">
              <a:solidFill>
                <a:srgbClr val="FF0000"/>
              </a:solidFill>
            </a:endParaRPr>
          </a:p>
          <a:p>
            <a:pPr marL="363538" lvl="1" indent="0">
              <a:buNone/>
            </a:pPr>
            <a:endParaRPr lang="en-US" altLang="zh-CN" dirty="0"/>
          </a:p>
          <a:p>
            <a:endParaRPr lang="zh-CN" altLang="en-US" dirty="0"/>
          </a:p>
        </p:txBody>
      </p:sp>
    </p:spTree>
    <p:extLst>
      <p:ext uri="{BB962C8B-B14F-4D97-AF65-F5344CB8AC3E}">
        <p14:creationId xmlns:p14="http://schemas.microsoft.com/office/powerpoint/2010/main" val="1362305651"/>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DevOps</a:t>
            </a:r>
            <a:r>
              <a:rPr lang="en-US" altLang="zh-CN" dirty="0"/>
              <a:t> </a:t>
            </a:r>
            <a:r>
              <a:rPr lang="zh-CN" altLang="en-US" dirty="0"/>
              <a:t>关键术语 </a:t>
            </a:r>
            <a:r>
              <a:rPr lang="zh-CN" altLang="en-US" dirty="0" smtClean="0"/>
              <a:t>（</a:t>
            </a:r>
            <a:r>
              <a:rPr lang="en-US" altLang="zh-CN" dirty="0" smtClean="0"/>
              <a:t>4</a:t>
            </a:r>
            <a:r>
              <a:rPr lang="zh-CN" altLang="en-US" dirty="0" smtClean="0"/>
              <a:t>）</a:t>
            </a:r>
            <a:endParaRPr lang="zh-CN" altLang="en-US" dirty="0"/>
          </a:p>
        </p:txBody>
      </p:sp>
      <p:sp>
        <p:nvSpPr>
          <p:cNvPr id="3" name="内容占位符 2"/>
          <p:cNvSpPr>
            <a:spLocks noGrp="1"/>
          </p:cNvSpPr>
          <p:nvPr>
            <p:ph idx="1"/>
          </p:nvPr>
        </p:nvSpPr>
        <p:spPr/>
        <p:txBody>
          <a:bodyPr/>
          <a:lstStyle/>
          <a:p>
            <a:r>
              <a:rPr lang="en-US" altLang="zh-CN" b="1" dirty="0" smtClean="0"/>
              <a:t>Pipeline </a:t>
            </a:r>
          </a:p>
          <a:p>
            <a:pPr marL="363538" lvl="1" indent="0">
              <a:buNone/>
            </a:pPr>
            <a:r>
              <a:rPr lang="en-US" altLang="zh-CN" sz="2400" dirty="0" smtClean="0"/>
              <a:t>to </a:t>
            </a:r>
            <a:r>
              <a:rPr lang="en-US" altLang="zh-CN" sz="2400" dirty="0"/>
              <a:t>get </a:t>
            </a:r>
            <a:r>
              <a:rPr lang="en-US" altLang="zh-CN" sz="2400" dirty="0" smtClean="0"/>
              <a:t>application </a:t>
            </a:r>
            <a:r>
              <a:rPr lang="en-US" altLang="zh-CN" sz="2400" dirty="0"/>
              <a:t>from concept to production, </a:t>
            </a:r>
            <a:r>
              <a:rPr lang="en-US" altLang="zh-CN" sz="2400" dirty="0" smtClean="0"/>
              <a:t>engineers</a:t>
            </a:r>
            <a:r>
              <a:rPr lang="zh-CN" altLang="en-US" sz="2400" dirty="0" smtClean="0"/>
              <a:t> </a:t>
            </a:r>
            <a:r>
              <a:rPr lang="en-US" altLang="zh-CN" sz="2400" dirty="0" smtClean="0"/>
              <a:t>all </a:t>
            </a:r>
            <a:r>
              <a:rPr lang="en-US" altLang="zh-CN" sz="2400" dirty="0"/>
              <a:t>work through steps that become sequential and eventually routine.</a:t>
            </a:r>
          </a:p>
          <a:p>
            <a:r>
              <a:rPr lang="en-US" altLang="zh-CN" b="1" dirty="0" smtClean="0"/>
              <a:t>Pipeline </a:t>
            </a:r>
            <a:r>
              <a:rPr lang="en-US" altLang="zh-CN" b="1" dirty="0"/>
              <a:t>Orchestration</a:t>
            </a:r>
          </a:p>
          <a:p>
            <a:pPr marL="363538" lvl="1" indent="0">
              <a:buNone/>
            </a:pPr>
            <a:r>
              <a:rPr lang="en-US" altLang="zh-CN" sz="2400" dirty="0"/>
              <a:t>Tools or products that enable the various automated tasks that make up a Continuous Delivery pipeline to be invoked at the right time. They generally also record the state and output of each of those tasks and visualize the flow of features through the pipeline</a:t>
            </a:r>
            <a:r>
              <a:rPr lang="en-US" altLang="zh-CN" sz="2400" dirty="0" smtClean="0"/>
              <a:t>.</a:t>
            </a:r>
            <a:endParaRPr lang="en-US" altLang="zh-CN" sz="2400" dirty="0"/>
          </a:p>
        </p:txBody>
      </p:sp>
    </p:spTree>
    <p:extLst>
      <p:ext uri="{BB962C8B-B14F-4D97-AF65-F5344CB8AC3E}">
        <p14:creationId xmlns:p14="http://schemas.microsoft.com/office/powerpoint/2010/main" val="200743492"/>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DevOps</a:t>
            </a:r>
            <a:r>
              <a:rPr lang="en-US" altLang="zh-CN" dirty="0"/>
              <a:t> </a:t>
            </a:r>
            <a:r>
              <a:rPr lang="zh-CN" altLang="en-US" dirty="0"/>
              <a:t>关键术语 </a:t>
            </a:r>
            <a:r>
              <a:rPr lang="zh-CN" altLang="en-US" dirty="0" smtClean="0"/>
              <a:t>（</a:t>
            </a:r>
            <a:r>
              <a:rPr lang="en-US" altLang="zh-CN" dirty="0"/>
              <a:t>5</a:t>
            </a:r>
            <a:r>
              <a:rPr lang="zh-CN" altLang="en-US" dirty="0" smtClean="0"/>
              <a:t>）</a:t>
            </a:r>
            <a:endParaRPr lang="zh-CN" altLang="en-US" dirty="0"/>
          </a:p>
        </p:txBody>
      </p:sp>
      <p:sp>
        <p:nvSpPr>
          <p:cNvPr id="3" name="内容占位符 2"/>
          <p:cNvSpPr>
            <a:spLocks noGrp="1"/>
          </p:cNvSpPr>
          <p:nvPr>
            <p:ph idx="1"/>
          </p:nvPr>
        </p:nvSpPr>
        <p:spPr>
          <a:xfrm>
            <a:off x="0" y="908720"/>
            <a:ext cx="9144000" cy="5492080"/>
          </a:xfrm>
        </p:spPr>
        <p:txBody>
          <a:bodyPr/>
          <a:lstStyle/>
          <a:p>
            <a:r>
              <a:rPr lang="en-US" altLang="zh-CN" b="1" dirty="0" smtClean="0"/>
              <a:t>Container</a:t>
            </a:r>
          </a:p>
          <a:p>
            <a:pPr marL="363538" lvl="1" indent="0">
              <a:buNone/>
            </a:pPr>
            <a:r>
              <a:rPr lang="en-US" altLang="zh-CN" sz="2400" dirty="0"/>
              <a:t>Containers provide a lightweight alternative to virtual machines and they enable developers to work with identical </a:t>
            </a:r>
            <a:r>
              <a:rPr lang="en-US" altLang="zh-CN" sz="2400" dirty="0" smtClean="0"/>
              <a:t>DEV environments </a:t>
            </a:r>
            <a:r>
              <a:rPr lang="en-US" altLang="zh-CN" sz="2400" dirty="0"/>
              <a:t>and stacks. They also facilitate </a:t>
            </a:r>
            <a:r>
              <a:rPr lang="en-US" altLang="zh-CN" sz="2400" dirty="0" err="1"/>
              <a:t>DevOps</a:t>
            </a:r>
            <a:r>
              <a:rPr lang="en-US" altLang="zh-CN" sz="2400" dirty="0"/>
              <a:t> by encouraging the use of stateless designs. </a:t>
            </a:r>
          </a:p>
          <a:p>
            <a:r>
              <a:rPr lang="en-US" altLang="zh-CN" b="1" dirty="0"/>
              <a:t> </a:t>
            </a:r>
            <a:r>
              <a:rPr lang="en-US" altLang="zh-CN" b="1" dirty="0" err="1" smtClean="0"/>
              <a:t>Docker</a:t>
            </a:r>
            <a:endParaRPr lang="en-US" altLang="zh-CN" b="1" dirty="0" smtClean="0"/>
          </a:p>
          <a:p>
            <a:pPr marL="363538" lvl="1" indent="0">
              <a:buNone/>
            </a:pPr>
            <a:r>
              <a:rPr lang="en-US" altLang="zh-CN" sz="2400" dirty="0" err="1"/>
              <a:t>Docker</a:t>
            </a:r>
            <a:r>
              <a:rPr lang="en-US" altLang="zh-CN" sz="2400" dirty="0"/>
              <a:t> is an open-source project that automates the deployment of Linux applications inside software containers. Quote of features from </a:t>
            </a:r>
            <a:r>
              <a:rPr lang="en-US" altLang="zh-CN" sz="2400" dirty="0" err="1"/>
              <a:t>Docker</a:t>
            </a:r>
            <a:r>
              <a:rPr lang="en-US" altLang="zh-CN" sz="2400" dirty="0"/>
              <a:t> web pages:</a:t>
            </a:r>
          </a:p>
          <a:p>
            <a:pPr marL="363538" lvl="1" indent="0">
              <a:buNone/>
            </a:pPr>
            <a:r>
              <a:rPr lang="en-US" altLang="zh-CN" sz="2000" i="1" dirty="0" err="1">
                <a:solidFill>
                  <a:srgbClr val="FF0000"/>
                </a:solidFill>
              </a:rPr>
              <a:t>Docker</a:t>
            </a:r>
            <a:r>
              <a:rPr lang="en-US" altLang="zh-CN" sz="2000" i="1" dirty="0">
                <a:solidFill>
                  <a:srgbClr val="FF0000"/>
                </a:solidFill>
              </a:rPr>
              <a:t> containers wrap up a piece of software in a complete </a:t>
            </a:r>
            <a:r>
              <a:rPr lang="en-US" altLang="zh-CN" sz="2000" i="1" dirty="0" err="1">
                <a:solidFill>
                  <a:srgbClr val="FF0000"/>
                </a:solidFill>
              </a:rPr>
              <a:t>filesystem</a:t>
            </a:r>
            <a:r>
              <a:rPr lang="en-US" altLang="zh-CN" sz="2000" i="1" dirty="0">
                <a:solidFill>
                  <a:srgbClr val="FF0000"/>
                </a:solidFill>
              </a:rPr>
              <a:t> that contains everything it needs to run: code, runtime, system tools, system libraries – anything you can install on a server. This guarantees that it will always run the same, regardless of the environment it is running </a:t>
            </a:r>
            <a:r>
              <a:rPr lang="en-US" altLang="zh-CN" sz="2000" i="1" dirty="0" smtClean="0">
                <a:solidFill>
                  <a:srgbClr val="FF0000"/>
                </a:solidFill>
              </a:rPr>
              <a:t>in.</a:t>
            </a:r>
            <a:endParaRPr lang="en-US" altLang="zh-CN" sz="2000" i="1" dirty="0">
              <a:solidFill>
                <a:srgbClr val="FF0000"/>
              </a:solidFill>
            </a:endParaRPr>
          </a:p>
          <a:p>
            <a:pPr marL="363538" lvl="1" indent="0">
              <a:buNone/>
            </a:pPr>
            <a:endParaRPr lang="en-US" altLang="zh-CN" sz="2400" dirty="0"/>
          </a:p>
        </p:txBody>
      </p:sp>
    </p:spTree>
    <p:extLst>
      <p:ext uri="{BB962C8B-B14F-4D97-AF65-F5344CB8AC3E}">
        <p14:creationId xmlns:p14="http://schemas.microsoft.com/office/powerpoint/2010/main" val="434925743"/>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DevOps</a:t>
            </a:r>
            <a:r>
              <a:rPr lang="en-US" altLang="zh-CN" dirty="0"/>
              <a:t> </a:t>
            </a:r>
            <a:r>
              <a:rPr lang="zh-CN" altLang="en-US" dirty="0"/>
              <a:t>关键术语 </a:t>
            </a:r>
            <a:r>
              <a:rPr lang="zh-CN" altLang="en-US" dirty="0" smtClean="0"/>
              <a:t>（</a:t>
            </a:r>
            <a:r>
              <a:rPr lang="en-US" altLang="zh-CN" dirty="0" smtClean="0"/>
              <a:t>6</a:t>
            </a:r>
            <a:r>
              <a:rPr lang="zh-CN" altLang="en-US" dirty="0" smtClean="0"/>
              <a:t>）</a:t>
            </a:r>
            <a:endParaRPr lang="zh-CN" altLang="en-US" dirty="0"/>
          </a:p>
        </p:txBody>
      </p:sp>
      <p:sp>
        <p:nvSpPr>
          <p:cNvPr id="3" name="内容占位符 2"/>
          <p:cNvSpPr>
            <a:spLocks noGrp="1"/>
          </p:cNvSpPr>
          <p:nvPr>
            <p:ph idx="1"/>
          </p:nvPr>
        </p:nvSpPr>
        <p:spPr>
          <a:xfrm>
            <a:off x="107504" y="1052736"/>
            <a:ext cx="8579296" cy="5348064"/>
          </a:xfrm>
        </p:spPr>
        <p:txBody>
          <a:bodyPr/>
          <a:lstStyle/>
          <a:p>
            <a:r>
              <a:rPr lang="en-US" altLang="zh-CN" b="1" dirty="0"/>
              <a:t> microservices </a:t>
            </a:r>
            <a:endParaRPr lang="en-US" altLang="zh-CN" b="1" dirty="0" smtClean="0"/>
          </a:p>
          <a:p>
            <a:pPr marL="363538" lvl="1" indent="0">
              <a:buNone/>
            </a:pPr>
            <a:r>
              <a:rPr lang="en-US" altLang="zh-CN" sz="2400" dirty="0" smtClean="0"/>
              <a:t>The </a:t>
            </a:r>
            <a:r>
              <a:rPr lang="en-US" altLang="zh-CN" sz="2400" dirty="0"/>
              <a:t>term "</a:t>
            </a:r>
            <a:r>
              <a:rPr lang="en-US" altLang="zh-CN" sz="2400" dirty="0" err="1"/>
              <a:t>Microservice</a:t>
            </a:r>
            <a:r>
              <a:rPr lang="en-US" altLang="zh-CN" sz="2400" dirty="0"/>
              <a:t> Architecture" has sprung up over the last few years to describe a particular way of designing software applications as suites of independently deployable services. While there is no precise definition of this architectural style, there are certain common characteristics around organization around business capability, automated deployment, intelligence in the endpoints, and decentralized control of languages and data.</a:t>
            </a:r>
            <a:endParaRPr lang="zh-CN" altLang="en-US" sz="2400" b="1" dirty="0"/>
          </a:p>
        </p:txBody>
      </p:sp>
    </p:spTree>
    <p:extLst>
      <p:ext uri="{BB962C8B-B14F-4D97-AF65-F5344CB8AC3E}">
        <p14:creationId xmlns:p14="http://schemas.microsoft.com/office/powerpoint/2010/main" val="2071416862"/>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DevOps</a:t>
            </a:r>
            <a:r>
              <a:rPr lang="en-US" altLang="zh-CN" dirty="0"/>
              <a:t> </a:t>
            </a:r>
            <a:r>
              <a:rPr lang="zh-CN" altLang="en-US" dirty="0"/>
              <a:t>关键术语 </a:t>
            </a:r>
            <a:r>
              <a:rPr lang="zh-CN" altLang="en-US" dirty="0" smtClean="0"/>
              <a:t>（</a:t>
            </a:r>
            <a:r>
              <a:rPr lang="en-US" altLang="zh-CN" dirty="0"/>
              <a:t>7</a:t>
            </a:r>
            <a:r>
              <a:rPr lang="zh-CN" altLang="en-US" dirty="0" smtClean="0"/>
              <a:t>）</a:t>
            </a:r>
            <a:endParaRPr lang="zh-CN" altLang="en-US" dirty="0"/>
          </a:p>
        </p:txBody>
      </p:sp>
      <p:sp>
        <p:nvSpPr>
          <p:cNvPr id="3" name="内容占位符 2"/>
          <p:cNvSpPr>
            <a:spLocks noGrp="1"/>
          </p:cNvSpPr>
          <p:nvPr>
            <p:ph idx="1"/>
          </p:nvPr>
        </p:nvSpPr>
        <p:spPr>
          <a:xfrm>
            <a:off x="0" y="980728"/>
            <a:ext cx="9144000" cy="5760640"/>
          </a:xfrm>
        </p:spPr>
        <p:txBody>
          <a:bodyPr/>
          <a:lstStyle/>
          <a:p>
            <a:r>
              <a:rPr lang="en-US" altLang="zh-CN" b="1" dirty="0"/>
              <a:t> </a:t>
            </a:r>
            <a:r>
              <a:rPr lang="en-US" altLang="zh-CN" b="1" dirty="0" smtClean="0"/>
              <a:t>GIT</a:t>
            </a:r>
          </a:p>
          <a:p>
            <a:pPr marL="363538" lvl="1" indent="0">
              <a:buNone/>
            </a:pPr>
            <a:r>
              <a:rPr lang="en-US" altLang="zh-CN" sz="2400" dirty="0" err="1"/>
              <a:t>Git</a:t>
            </a:r>
            <a:r>
              <a:rPr lang="en-US" altLang="zh-CN" sz="2400" dirty="0"/>
              <a:t> is a distributed revision control system with an emphasis on speed, data integrity, and support for distributed, non-linear workflows. </a:t>
            </a:r>
            <a:r>
              <a:rPr lang="en-US" altLang="zh-CN" sz="2400" dirty="0" err="1"/>
              <a:t>Git</a:t>
            </a:r>
            <a:r>
              <a:rPr lang="en-US" altLang="zh-CN" sz="2400" dirty="0"/>
              <a:t> was initially designed and developed by Linus Torvalds for Linux kernel development in 2005, and has since become the most widely adopted version control system for software development</a:t>
            </a:r>
            <a:r>
              <a:rPr lang="en-US" altLang="zh-CN" sz="2400" dirty="0" smtClean="0"/>
              <a:t>.</a:t>
            </a:r>
            <a:endParaRPr lang="zh-CN" altLang="en-US" sz="2400" dirty="0" smtClean="0"/>
          </a:p>
          <a:p>
            <a:pPr marL="363538" lvl="1" indent="-363538">
              <a:buFont typeface="Wingdings" charset="2"/>
              <a:buChar char="l"/>
            </a:pPr>
            <a:r>
              <a:rPr lang="en-US" altLang="zh-CN" sz="3200" b="1" dirty="0" err="1">
                <a:latin typeface="+mn-lt"/>
                <a:cs typeface="+mn-cs"/>
              </a:rPr>
              <a:t>Github</a:t>
            </a:r>
            <a:endParaRPr lang="en-US" altLang="zh-CN" sz="3200" b="1" dirty="0">
              <a:latin typeface="+mn-lt"/>
              <a:cs typeface="+mn-cs"/>
            </a:endParaRPr>
          </a:p>
          <a:p>
            <a:pPr marL="363538" lvl="1" indent="0">
              <a:buNone/>
            </a:pPr>
            <a:r>
              <a:rPr lang="en-US" altLang="zh-CN" sz="2400" dirty="0" err="1"/>
              <a:t>GitHub</a:t>
            </a:r>
            <a:r>
              <a:rPr lang="en-US" altLang="zh-CN" sz="2400" dirty="0"/>
              <a:t> is a web-based </a:t>
            </a:r>
            <a:r>
              <a:rPr lang="en-US" altLang="zh-CN" sz="2400" dirty="0" err="1"/>
              <a:t>Git</a:t>
            </a:r>
            <a:r>
              <a:rPr lang="en-US" altLang="zh-CN" sz="2400" dirty="0"/>
              <a:t> repository hosting service, which offers all of the distributed revision control and source code management (SCM) functionality of </a:t>
            </a:r>
            <a:r>
              <a:rPr lang="en-US" altLang="zh-CN" sz="2400" dirty="0" err="1"/>
              <a:t>Git</a:t>
            </a:r>
            <a:r>
              <a:rPr lang="en-US" altLang="zh-CN" sz="2400" dirty="0"/>
              <a:t> as well as adding its own features. Unlike </a:t>
            </a:r>
            <a:r>
              <a:rPr lang="en-US" altLang="zh-CN" sz="2400" dirty="0" err="1"/>
              <a:t>Git</a:t>
            </a:r>
            <a:r>
              <a:rPr lang="en-US" altLang="zh-CN" sz="2400" dirty="0"/>
              <a:t>, which is strictly a command-line tool, </a:t>
            </a:r>
            <a:r>
              <a:rPr lang="en-US" altLang="zh-CN" sz="2400" dirty="0" err="1"/>
              <a:t>GitHub</a:t>
            </a:r>
            <a:r>
              <a:rPr lang="en-US" altLang="zh-CN" sz="2400" dirty="0"/>
              <a:t> provides a web-based graphical interface and desktop as well as mobile integration.</a:t>
            </a:r>
            <a:endParaRPr lang="zh-CN" altLang="en-US" sz="2400" b="1" dirty="0"/>
          </a:p>
        </p:txBody>
      </p:sp>
    </p:spTree>
    <p:extLst>
      <p:ext uri="{BB962C8B-B14F-4D97-AF65-F5344CB8AC3E}">
        <p14:creationId xmlns:p14="http://schemas.microsoft.com/office/powerpoint/2010/main" val="3486589777"/>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DevOps</a:t>
            </a:r>
            <a:r>
              <a:rPr lang="en-US" altLang="zh-CN" dirty="0"/>
              <a:t> </a:t>
            </a:r>
            <a:r>
              <a:rPr lang="zh-CN" altLang="en-US" dirty="0"/>
              <a:t>关键术语 </a:t>
            </a:r>
            <a:r>
              <a:rPr lang="zh-CN" altLang="en-US" dirty="0" smtClean="0"/>
              <a:t>（</a:t>
            </a:r>
            <a:r>
              <a:rPr lang="en-US" altLang="zh-CN" dirty="0" smtClean="0"/>
              <a:t>8</a:t>
            </a:r>
            <a:r>
              <a:rPr lang="zh-CN" altLang="en-US" dirty="0" smtClean="0"/>
              <a:t>）</a:t>
            </a:r>
            <a:endParaRPr lang="zh-CN" altLang="en-US" dirty="0"/>
          </a:p>
        </p:txBody>
      </p:sp>
      <p:sp>
        <p:nvSpPr>
          <p:cNvPr id="3" name="内容占位符 2"/>
          <p:cNvSpPr>
            <a:spLocks noGrp="1"/>
          </p:cNvSpPr>
          <p:nvPr>
            <p:ph idx="1"/>
          </p:nvPr>
        </p:nvSpPr>
        <p:spPr>
          <a:xfrm>
            <a:off x="0" y="980728"/>
            <a:ext cx="9144000" cy="5760640"/>
          </a:xfrm>
        </p:spPr>
        <p:txBody>
          <a:bodyPr/>
          <a:lstStyle/>
          <a:p>
            <a:r>
              <a:rPr lang="en-US" altLang="zh-CN" b="1" dirty="0"/>
              <a:t> </a:t>
            </a:r>
            <a:r>
              <a:rPr lang="en-US" altLang="zh-CN" b="1" dirty="0" smtClean="0"/>
              <a:t>A/B Testing</a:t>
            </a:r>
          </a:p>
          <a:p>
            <a:pPr marL="363538" lvl="1" indent="0">
              <a:buNone/>
            </a:pPr>
            <a:r>
              <a:rPr lang="en-US" altLang="zh-CN" sz="2400" dirty="0"/>
              <a:t>A technique in which a new feature, or different variants of a feature, are made available to different sets of users and evaluated by comparing metrics and user behavior.</a:t>
            </a:r>
          </a:p>
          <a:p>
            <a:pPr marL="363538" lvl="1" indent="0">
              <a:buNone/>
            </a:pPr>
            <a:endParaRPr lang="zh-CN" altLang="en-US" sz="2400" b="1" dirty="0"/>
          </a:p>
        </p:txBody>
      </p:sp>
    </p:spTree>
    <p:extLst>
      <p:ext uri="{BB962C8B-B14F-4D97-AF65-F5344CB8AC3E}">
        <p14:creationId xmlns:p14="http://schemas.microsoft.com/office/powerpoint/2010/main" val="1134239004"/>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AWS</a:t>
            </a:r>
            <a:r>
              <a:rPr lang="zh-CN" altLang="en-US" dirty="0"/>
              <a:t>是如何去开展</a:t>
            </a:r>
            <a:r>
              <a:rPr lang="en-US" altLang="zh-CN" dirty="0"/>
              <a:t>DevOps</a:t>
            </a:r>
            <a:endParaRPr lang="zh-CN" altLang="en-US" dirty="0"/>
          </a:p>
        </p:txBody>
      </p:sp>
      <p:pic>
        <p:nvPicPr>
          <p:cNvPr id="4" name="内容占位符 3"/>
          <p:cNvPicPr>
            <a:picLocks noGrp="1" noChangeAspect="1"/>
          </p:cNvPicPr>
          <p:nvPr>
            <p:ph sz="half" idx="1"/>
          </p:nvPr>
        </p:nvPicPr>
        <p:blipFill>
          <a:blip r:embed="rId2"/>
          <a:stretch>
            <a:fillRect/>
          </a:stretch>
        </p:blipFill>
        <p:spPr>
          <a:xfrm>
            <a:off x="179512" y="836712"/>
            <a:ext cx="8856984" cy="5688632"/>
          </a:xfrm>
          <a:prstGeom prst="rect">
            <a:avLst/>
          </a:prstGeom>
        </p:spPr>
      </p:pic>
    </p:spTree>
    <p:extLst>
      <p:ext uri="{BB962C8B-B14F-4D97-AF65-F5344CB8AC3E}">
        <p14:creationId xmlns:p14="http://schemas.microsoft.com/office/powerpoint/2010/main" val="3816291105"/>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0" y="764704"/>
            <a:ext cx="9144000" cy="5688632"/>
          </a:xfrm>
          <a:prstGeom prst="rect">
            <a:avLst/>
          </a:prstGeom>
        </p:spPr>
      </p:pic>
    </p:spTree>
    <p:extLst>
      <p:ext uri="{BB962C8B-B14F-4D97-AF65-F5344CB8AC3E}">
        <p14:creationId xmlns:p14="http://schemas.microsoft.com/office/powerpoint/2010/main" val="2331217322"/>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547664" y="116632"/>
            <a:ext cx="5486400" cy="804862"/>
          </a:xfrm>
        </p:spPr>
        <p:txBody>
          <a:bodyPr/>
          <a:lstStyle/>
          <a:p>
            <a:r>
              <a:rPr lang="zh-CN" altLang="en-US" sz="2800" dirty="0" smtClean="0">
                <a:solidFill>
                  <a:srgbClr val="FF0000"/>
                </a:solidFill>
              </a:rPr>
              <a:t>公司</a:t>
            </a:r>
            <a:r>
              <a:rPr lang="en-US" altLang="zh-CN" sz="2800" dirty="0" smtClean="0">
                <a:solidFill>
                  <a:srgbClr val="FF0000"/>
                </a:solidFill>
              </a:rPr>
              <a:t>DevOps</a:t>
            </a:r>
            <a:r>
              <a:rPr lang="zh-CN" altLang="en-US" sz="2800" dirty="0" smtClean="0">
                <a:solidFill>
                  <a:srgbClr val="FF0000"/>
                </a:solidFill>
              </a:rPr>
              <a:t>实施方案</a:t>
            </a:r>
            <a:endParaRPr lang="zh-CN" altLang="en-US" sz="2800" dirty="0">
              <a:solidFill>
                <a:srgbClr val="FF0000"/>
              </a:solidFill>
            </a:endParaRPr>
          </a:p>
        </p:txBody>
      </p:sp>
      <p:pic>
        <p:nvPicPr>
          <p:cNvPr id="6" name="图片 5"/>
          <p:cNvPicPr>
            <a:picLocks noChangeAspect="1"/>
          </p:cNvPicPr>
          <p:nvPr/>
        </p:nvPicPr>
        <p:blipFill>
          <a:blip r:embed="rId2"/>
          <a:stretch>
            <a:fillRect/>
          </a:stretch>
        </p:blipFill>
        <p:spPr>
          <a:xfrm>
            <a:off x="1" y="921494"/>
            <a:ext cx="9144000" cy="5936506"/>
          </a:xfrm>
          <a:prstGeom prst="rect">
            <a:avLst/>
          </a:prstGeom>
        </p:spPr>
      </p:pic>
    </p:spTree>
    <p:extLst>
      <p:ext uri="{BB962C8B-B14F-4D97-AF65-F5344CB8AC3E}">
        <p14:creationId xmlns:p14="http://schemas.microsoft.com/office/powerpoint/2010/main" val="325213050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Reading List on </a:t>
            </a:r>
            <a:r>
              <a:rPr kumimoji="1" lang="en-US" altLang="zh-CN" dirty="0" err="1" smtClean="0"/>
              <a:t>DevOps</a:t>
            </a:r>
            <a:endParaRPr kumimoji="1" lang="zh-CN" altLang="en-US" dirty="0"/>
          </a:p>
        </p:txBody>
      </p:sp>
      <p:sp>
        <p:nvSpPr>
          <p:cNvPr id="3" name="内容占位符 2"/>
          <p:cNvSpPr>
            <a:spLocks noGrp="1"/>
          </p:cNvSpPr>
          <p:nvPr>
            <p:ph idx="1"/>
          </p:nvPr>
        </p:nvSpPr>
        <p:spPr>
          <a:xfrm>
            <a:off x="1115616" y="3429000"/>
            <a:ext cx="7344816" cy="2880321"/>
          </a:xfrm>
        </p:spPr>
        <p:txBody>
          <a:bodyPr/>
          <a:lstStyle/>
          <a:p>
            <a:r>
              <a:rPr kumimoji="1" lang="en-US" altLang="zh-CN" sz="1800" dirty="0" smtClean="0"/>
              <a:t>“The </a:t>
            </a:r>
            <a:r>
              <a:rPr kumimoji="1" lang="en-US" altLang="zh-CN" sz="1800" dirty="0"/>
              <a:t>Phoenix </a:t>
            </a:r>
            <a:r>
              <a:rPr kumimoji="1" lang="en-US" altLang="zh-CN" sz="1800" dirty="0" smtClean="0"/>
              <a:t>Project”, </a:t>
            </a:r>
            <a:r>
              <a:rPr lang="en-US" altLang="zh-CN" sz="1800" dirty="0"/>
              <a:t>Gene Kim, George </a:t>
            </a:r>
            <a:r>
              <a:rPr lang="en-US" altLang="zh-CN" sz="1800" dirty="0" err="1"/>
              <a:t>Spafford</a:t>
            </a:r>
            <a:r>
              <a:rPr lang="en-US" altLang="zh-CN" sz="1800" dirty="0"/>
              <a:t>, Kevin Behr </a:t>
            </a:r>
            <a:endParaRPr lang="en-US" altLang="zh-CN" sz="1800" dirty="0" smtClean="0"/>
          </a:p>
          <a:p>
            <a:r>
              <a:rPr kumimoji="1" lang="en-US" altLang="zh-CN" sz="1800" dirty="0" smtClean="0"/>
              <a:t>“Continuous Delivery”, </a:t>
            </a:r>
            <a:r>
              <a:rPr kumimoji="1" lang="en-US" altLang="zh-CN" sz="1800" dirty="0" err="1"/>
              <a:t>Jez</a:t>
            </a:r>
            <a:r>
              <a:rPr kumimoji="1" lang="en-US" altLang="zh-CN" sz="1800" dirty="0"/>
              <a:t> Humble and David </a:t>
            </a:r>
            <a:r>
              <a:rPr kumimoji="1" lang="en-US" altLang="zh-CN" sz="1800" dirty="0" smtClean="0"/>
              <a:t>Farley</a:t>
            </a:r>
          </a:p>
          <a:p>
            <a:r>
              <a:rPr kumimoji="1" lang="en-US" altLang="zh-CN" sz="1800" dirty="0" smtClean="0"/>
              <a:t>“Release </a:t>
            </a:r>
            <a:r>
              <a:rPr kumimoji="1" lang="en-US" altLang="zh-CN" sz="1800" dirty="0"/>
              <a:t>It</a:t>
            </a:r>
            <a:r>
              <a:rPr kumimoji="1" lang="en-US" altLang="zh-CN" sz="1800" dirty="0" smtClean="0"/>
              <a:t>!”, </a:t>
            </a:r>
            <a:r>
              <a:rPr kumimoji="1" lang="en-US" altLang="zh-CN" sz="1800" dirty="0"/>
              <a:t>Michael </a:t>
            </a:r>
            <a:r>
              <a:rPr kumimoji="1" lang="en-US" altLang="zh-CN" sz="1800" dirty="0" err="1"/>
              <a:t>Nygard</a:t>
            </a:r>
            <a:r>
              <a:rPr kumimoji="1" lang="en-US" altLang="zh-CN" sz="1800" dirty="0"/>
              <a:t> </a:t>
            </a:r>
            <a:endParaRPr kumimoji="1" lang="en-US" altLang="zh-CN" sz="1800" dirty="0" smtClean="0"/>
          </a:p>
          <a:p>
            <a:r>
              <a:rPr kumimoji="1" lang="en-US" altLang="zh-CN" sz="1800" dirty="0" smtClean="0"/>
              <a:t>“Lean </a:t>
            </a:r>
            <a:r>
              <a:rPr kumimoji="1" lang="en-US" altLang="zh-CN" sz="1800" dirty="0"/>
              <a:t>Software </a:t>
            </a:r>
            <a:r>
              <a:rPr kumimoji="1" lang="en-US" altLang="zh-CN" sz="1800" dirty="0" smtClean="0"/>
              <a:t>Development”, </a:t>
            </a:r>
            <a:r>
              <a:rPr kumimoji="1" lang="en-US" altLang="zh-CN" sz="1800" dirty="0"/>
              <a:t>Mary and Tom </a:t>
            </a:r>
            <a:r>
              <a:rPr kumimoji="1" lang="en-US" altLang="zh-CN" sz="1800" dirty="0" err="1" smtClean="0"/>
              <a:t>Poppendieck</a:t>
            </a:r>
            <a:endParaRPr kumimoji="1" lang="en-US" altLang="zh-CN" sz="1800" dirty="0" smtClean="0"/>
          </a:p>
          <a:p>
            <a:r>
              <a:rPr kumimoji="1" lang="en-US" altLang="zh-CN" sz="1800" dirty="0" smtClean="0"/>
              <a:t>“</a:t>
            </a:r>
            <a:r>
              <a:rPr kumimoji="1" lang="en-US" altLang="zh-CN" sz="1800" dirty="0"/>
              <a:t>2014 State of </a:t>
            </a:r>
            <a:r>
              <a:rPr kumimoji="1" lang="en-US" altLang="zh-CN" sz="1800" dirty="0" err="1"/>
              <a:t>DevOps</a:t>
            </a:r>
            <a:r>
              <a:rPr kumimoji="1" lang="en-US" altLang="zh-CN" sz="1800" dirty="0"/>
              <a:t> Report</a:t>
            </a:r>
            <a:r>
              <a:rPr kumimoji="1" lang="en-US" altLang="zh-CN" sz="1800" dirty="0" smtClean="0"/>
              <a:t>,”</a:t>
            </a:r>
            <a:r>
              <a:rPr kumimoji="1" lang="en-US" altLang="zh-CN" sz="1800" dirty="0"/>
              <a:t> </a:t>
            </a:r>
            <a:r>
              <a:rPr kumimoji="1" lang="en-US" altLang="zh-CN" sz="1800" dirty="0" err="1"/>
              <a:t>Jez</a:t>
            </a:r>
            <a:r>
              <a:rPr kumimoji="1" lang="en-US" altLang="zh-CN" sz="1800" dirty="0"/>
              <a:t> Humble, Nigel </a:t>
            </a:r>
            <a:r>
              <a:rPr kumimoji="1" lang="en-US" altLang="zh-CN" sz="1800" dirty="0" err="1"/>
              <a:t>Kersten</a:t>
            </a:r>
            <a:r>
              <a:rPr kumimoji="1" lang="en-US" altLang="zh-CN" sz="1800" dirty="0"/>
              <a:t>, Gene Kim, and Nicole </a:t>
            </a:r>
            <a:r>
              <a:rPr kumimoji="1" lang="en-US" altLang="zh-CN" sz="1800" dirty="0" err="1"/>
              <a:t>Forsgren</a:t>
            </a:r>
            <a:r>
              <a:rPr kumimoji="1" lang="en-US" altLang="zh-CN" sz="1800" dirty="0"/>
              <a:t> Velasquez, </a:t>
            </a:r>
            <a:endParaRPr kumimoji="1" lang="en-US" altLang="zh-CN" sz="1800" dirty="0" smtClean="0"/>
          </a:p>
          <a:p>
            <a:r>
              <a:rPr kumimoji="1" lang="en-US" altLang="zh-CN" sz="1800" dirty="0" smtClean="0"/>
              <a:t>“2015 State of DevOps Report” puppet labs, IT Revolution</a:t>
            </a:r>
          </a:p>
          <a:p>
            <a:r>
              <a:rPr kumimoji="1" lang="en-US" altLang="zh-CN" sz="1800" dirty="0" smtClean="0"/>
              <a:t>“2016 </a:t>
            </a:r>
            <a:r>
              <a:rPr kumimoji="1" lang="en-US" altLang="zh-CN" sz="1800" dirty="0"/>
              <a:t>State of DevOps </a:t>
            </a:r>
            <a:r>
              <a:rPr kumimoji="1" lang="en-US" altLang="zh-CN" sz="1800" dirty="0" smtClean="0"/>
              <a:t>Report”</a:t>
            </a:r>
          </a:p>
          <a:p>
            <a:r>
              <a:rPr kumimoji="1" lang="en-US" altLang="zh-CN" sz="1800" dirty="0" smtClean="0"/>
              <a:t>“2017 </a:t>
            </a:r>
            <a:r>
              <a:rPr kumimoji="1" lang="en-US" altLang="zh-CN" sz="1800" dirty="0"/>
              <a:t>State of DevOps </a:t>
            </a:r>
            <a:r>
              <a:rPr kumimoji="1" lang="en-US" altLang="zh-CN" sz="1800" dirty="0" smtClean="0"/>
              <a:t>Report”</a:t>
            </a:r>
            <a:endParaRPr kumimoji="1" lang="zh-CN" altLang="en-US" sz="2600" dirty="0"/>
          </a:p>
        </p:txBody>
      </p:sp>
    </p:spTree>
    <p:extLst>
      <p:ext uri="{BB962C8B-B14F-4D97-AF65-F5344CB8AC3E}">
        <p14:creationId xmlns:p14="http://schemas.microsoft.com/office/powerpoint/2010/main" val="2386383168"/>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dirty="0"/>
          </a:p>
        </p:txBody>
      </p:sp>
      <p:sp>
        <p:nvSpPr>
          <p:cNvPr id="5" name="文本框 4"/>
          <p:cNvSpPr txBox="1"/>
          <p:nvPr/>
        </p:nvSpPr>
        <p:spPr>
          <a:xfrm>
            <a:off x="3143892" y="3312067"/>
            <a:ext cx="4076273" cy="923330"/>
          </a:xfrm>
          <a:prstGeom prst="rect">
            <a:avLst/>
          </a:prstGeom>
          <a:noFill/>
        </p:spPr>
        <p:txBody>
          <a:bodyPr wrap="square" rtlCol="0">
            <a:spAutoFit/>
          </a:bodyPr>
          <a:lstStyle/>
          <a:p>
            <a:pPr algn="l" defTabSz="685800" fontAlgn="auto">
              <a:spcBef>
                <a:spcPts val="0"/>
              </a:spcBef>
              <a:spcAft>
                <a:spcPts val="0"/>
              </a:spcAft>
            </a:pPr>
            <a:r>
              <a:rPr lang="en-US" altLang="zh-CN" sz="5400" i="1" dirty="0">
                <a:solidFill>
                  <a:prstClr val="white"/>
                </a:solidFill>
                <a:latin typeface="Blackadder ITC" panose="04020505051007020D02" pitchFamily="82" charset="0"/>
              </a:rPr>
              <a:t>Thanks</a:t>
            </a:r>
            <a:endParaRPr lang="zh-CN" altLang="en-US" sz="5400" i="1" dirty="0">
              <a:solidFill>
                <a:prstClr val="white"/>
              </a:solidFill>
              <a:latin typeface="Blackadder ITC" panose="04020505051007020D02" pitchFamily="82" charset="0"/>
            </a:endParaRPr>
          </a:p>
        </p:txBody>
      </p:sp>
    </p:spTree>
    <p:extLst>
      <p:ext uri="{BB962C8B-B14F-4D97-AF65-F5344CB8AC3E}">
        <p14:creationId xmlns:p14="http://schemas.microsoft.com/office/powerpoint/2010/main" val="1822370436"/>
      </p:ext>
    </p:extLst>
  </p:cSld>
  <p:clrMapOvr>
    <a:masterClrMapping/>
  </p:clrMapOvr>
  <p:timing>
    <p:tnLst>
      <p:par>
        <p:cTn id="1" dur="indefinite" restart="never" nodeType="tmRoot"/>
      </p:par>
    </p:tnLst>
  </p:timing>
</p:sld>
</file>

<file path=ppt/theme/_rels/theme3.xml.rels><?xml version="1.0" encoding="UTF-8" standalone="yes"?>
<Relationships xmlns="http://schemas.openxmlformats.org/package/2006/relationships"><Relationship Id="rId1" Type="http://schemas.openxmlformats.org/officeDocument/2006/relationships/image" Target="../media/image8.jpeg"/></Relationships>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pt0000000">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离子">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2776</TotalTime>
  <Words>4179</Words>
  <Application>Microsoft Office PowerPoint</Application>
  <PresentationFormat>全屏显示(4:3)</PresentationFormat>
  <Paragraphs>263</Paragraphs>
  <Slides>48</Slides>
  <Notes>16</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48</vt:i4>
      </vt:variant>
    </vt:vector>
  </HeadingPairs>
  <TitlesOfParts>
    <vt:vector size="61" baseType="lpstr">
      <vt:lpstr>Blackadder ITC</vt:lpstr>
      <vt:lpstr>Century Gothic</vt:lpstr>
      <vt:lpstr>等线</vt:lpstr>
      <vt:lpstr>宋体</vt:lpstr>
      <vt:lpstr>Arial</vt:lpstr>
      <vt:lpstr>Calibri</vt:lpstr>
      <vt:lpstr>Times New Roman</vt:lpstr>
      <vt:lpstr>Verdana</vt:lpstr>
      <vt:lpstr>Wingdings</vt:lpstr>
      <vt:lpstr>Wingdings 3</vt:lpstr>
      <vt:lpstr>Axis</vt:lpstr>
      <vt:lpstr>Ppt0000000</vt:lpstr>
      <vt:lpstr>离子</vt:lpstr>
      <vt:lpstr>Devops</vt:lpstr>
      <vt:lpstr>什么是Devops？</vt:lpstr>
      <vt:lpstr>PowerPoint 演示文稿</vt:lpstr>
      <vt:lpstr>PowerPoint 演示文稿</vt:lpstr>
      <vt:lpstr>一个小张的例子</vt:lpstr>
      <vt:lpstr>PowerPoint 演示文稿</vt:lpstr>
      <vt:lpstr>PowerPoint 演示文稿</vt:lpstr>
      <vt:lpstr>PowerPoint 演示文稿</vt:lpstr>
      <vt:lpstr>PowerPoint 演示文稿</vt:lpstr>
      <vt:lpstr>为什么要运用Devops</vt:lpstr>
      <vt:lpstr>PowerPoint 演示文稿</vt:lpstr>
      <vt:lpstr>PowerPoint 演示文稿</vt:lpstr>
      <vt:lpstr>PowerPoint 演示文稿</vt:lpstr>
      <vt:lpstr>How？</vt:lpstr>
      <vt:lpstr>PowerPoint 演示文稿</vt:lpstr>
      <vt:lpstr>最终目的</vt:lpstr>
      <vt:lpstr>PowerPoint 演示文稿</vt:lpstr>
      <vt:lpstr>简介</vt:lpstr>
      <vt:lpstr>传统软件组织</vt:lpstr>
      <vt:lpstr>精益创业</vt:lpstr>
      <vt:lpstr>出现原因</vt:lpstr>
      <vt:lpstr>对应用程序发布的影响</vt:lpstr>
      <vt:lpstr>协调人</vt:lpstr>
      <vt:lpstr>DevOps基本原则</vt:lpstr>
      <vt:lpstr>基础架构即代码 </vt:lpstr>
      <vt:lpstr>持续交付 </vt:lpstr>
      <vt:lpstr>协作 </vt:lpstr>
      <vt:lpstr>实施障碍</vt:lpstr>
      <vt:lpstr>一些Devops的工具</vt:lpstr>
      <vt:lpstr>PowerPoint 演示文稿</vt:lpstr>
      <vt:lpstr>PowerPoint 演示文稿</vt:lpstr>
      <vt:lpstr>PowerPoint 演示文稿</vt:lpstr>
      <vt:lpstr>PowerPoint 演示文稿</vt:lpstr>
      <vt:lpstr>什么是DevOps</vt:lpstr>
      <vt:lpstr>5 Levels Agile VS. DevOps</vt:lpstr>
      <vt:lpstr>DevOps 关键术语 （1）</vt:lpstr>
      <vt:lpstr>DevOps 关键术语 （2）</vt:lpstr>
      <vt:lpstr>DevOps 关键术语 （3）</vt:lpstr>
      <vt:lpstr>DevOps 关键术语 （4）</vt:lpstr>
      <vt:lpstr>DevOps 关键术语 （5）</vt:lpstr>
      <vt:lpstr>DevOps 关键术语 （6）</vt:lpstr>
      <vt:lpstr>DevOps 关键术语 （7）</vt:lpstr>
      <vt:lpstr>DevOps 关键术语 （8）</vt:lpstr>
      <vt:lpstr>AWS是如何去开展DevOps</vt:lpstr>
      <vt:lpstr>PowerPoint 演示文稿</vt:lpstr>
      <vt:lpstr>PowerPoint 演示文稿</vt:lpstr>
      <vt:lpstr>Reading List on DevOps</vt:lpstr>
      <vt:lpstr>PowerPoint 演示文稿</vt:lpstr>
    </vt:vector>
  </TitlesOfParts>
  <Company>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nie</cp:lastModifiedBy>
  <cp:revision>1064</cp:revision>
  <dcterms:created xsi:type="dcterms:W3CDTF">2005-03-03T04:54:00Z</dcterms:created>
  <dcterms:modified xsi:type="dcterms:W3CDTF">2020-06-29T07:51:52Z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2052-10.1.0.7668</vt:lpwstr>
  </property>
</Properties>
</file>