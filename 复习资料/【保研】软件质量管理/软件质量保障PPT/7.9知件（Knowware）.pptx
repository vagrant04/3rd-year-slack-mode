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312" r:id="rId2"/>
    <p:sldId id="313" r:id="rId3"/>
    <p:sldId id="322" r:id="rId4"/>
    <p:sldId id="319" r:id="rId5"/>
    <p:sldId id="324" r:id="rId6"/>
    <p:sldId id="320" r:id="rId7"/>
    <p:sldId id="326" r:id="rId8"/>
    <p:sldId id="325" r:id="rId9"/>
    <p:sldId id="286" r:id="rId10"/>
  </p:sldIdLst>
  <p:sldSz cx="9144000" cy="6858000" type="screen4x3"/>
  <p:notesSz cx="6797675" cy="9874250"/>
  <p:defaultTextStyle>
    <a:defPPr>
      <a:defRPr lang="zh-CN"/>
    </a:defPPr>
    <a:lvl1pPr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2">
          <p15:clr>
            <a:srgbClr val="A4A3A4"/>
          </p15:clr>
        </p15:guide>
        <p15:guide id="2" pos="28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FF"/>
    <a:srgbClr val="BFBC3E"/>
    <a:srgbClr val="CCFFCC"/>
    <a:srgbClr val="FFFFCC"/>
    <a:srgbClr val="FF0000"/>
    <a:srgbClr val="00FF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03" autoAdjust="0"/>
    <p:restoredTop sz="94298" autoAdjust="0"/>
  </p:normalViewPr>
  <p:slideViewPr>
    <p:cSldViewPr>
      <p:cViewPr varScale="1">
        <p:scale>
          <a:sx n="80" d="100"/>
          <a:sy n="80" d="100"/>
        </p:scale>
        <p:origin x="180" y="78"/>
      </p:cViewPr>
      <p:guideLst>
        <p:guide orient="horz" pos="2162"/>
        <p:guide pos="28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22" name="Rectangle 2"/>
          <p:cNvSpPr>
            <a:spLocks noGrp="1" noChangeArrowheads="1"/>
          </p:cNvSpPr>
          <p:nvPr>
            <p:ph type="hdr" sz="quarter"/>
          </p:nvPr>
        </p:nvSpPr>
        <p:spPr bwMode="auto">
          <a:xfrm>
            <a:off x="0" y="0"/>
            <a:ext cx="2946400" cy="493713"/>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atin typeface="Arial" panose="020B0604020202020204" pitchFamily="34" charset="0"/>
              </a:defRPr>
            </a:lvl1pPr>
          </a:lstStyle>
          <a:p>
            <a:pPr>
              <a:defRPr/>
            </a:pPr>
            <a:endParaRPr lang="en-US" altLang="zh-CN"/>
          </a:p>
        </p:txBody>
      </p:sp>
      <p:sp>
        <p:nvSpPr>
          <p:cNvPr id="209923" name="Rectangle 3"/>
          <p:cNvSpPr>
            <a:spLocks noGrp="1" noChangeArrowheads="1"/>
          </p:cNvSpPr>
          <p:nvPr>
            <p:ph type="dt" idx="1"/>
          </p:nvPr>
        </p:nvSpPr>
        <p:spPr bwMode="auto">
          <a:xfrm>
            <a:off x="3849688" y="0"/>
            <a:ext cx="2946400" cy="493713"/>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31863" y="741363"/>
            <a:ext cx="4935537" cy="37020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09925" name="Rectangle 5"/>
          <p:cNvSpPr>
            <a:spLocks noGrp="1" noChangeArrowheads="1"/>
          </p:cNvSpPr>
          <p:nvPr>
            <p:ph type="body" sz="quarter" idx="3"/>
          </p:nvPr>
        </p:nvSpPr>
        <p:spPr bwMode="auto">
          <a:xfrm>
            <a:off x="679450" y="4691063"/>
            <a:ext cx="5438775" cy="4443412"/>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9926" name="Rectangle 6"/>
          <p:cNvSpPr>
            <a:spLocks noGrp="1" noChangeArrowheads="1"/>
          </p:cNvSpPr>
          <p:nvPr>
            <p:ph type="ftr" sz="quarter" idx="4"/>
          </p:nvPr>
        </p:nvSpPr>
        <p:spPr bwMode="auto">
          <a:xfrm>
            <a:off x="0" y="9378950"/>
            <a:ext cx="2946400" cy="493713"/>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atin typeface="Arial" panose="020B0604020202020204" pitchFamily="34" charset="0"/>
              </a:defRPr>
            </a:lvl1pPr>
          </a:lstStyle>
          <a:p>
            <a:pPr>
              <a:defRPr/>
            </a:pPr>
            <a:endParaRPr lang="en-US" altLang="zh-CN"/>
          </a:p>
        </p:txBody>
      </p:sp>
      <p:sp>
        <p:nvSpPr>
          <p:cNvPr id="209927" name="Rectangle 7"/>
          <p:cNvSpPr>
            <a:spLocks noGrp="1" noChangeArrowheads="1"/>
          </p:cNvSpPr>
          <p:nvPr>
            <p:ph type="sldNum" sz="quarter" idx="5"/>
          </p:nvPr>
        </p:nvSpPr>
        <p:spPr bwMode="auto">
          <a:xfrm>
            <a:off x="3849688" y="9378950"/>
            <a:ext cx="2946400" cy="493713"/>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Arial" panose="020B0604020202020204" pitchFamily="34" charset="0"/>
              </a:defRPr>
            </a:lvl1pPr>
          </a:lstStyle>
          <a:p>
            <a:pPr>
              <a:defRPr/>
            </a:pPr>
            <a:fld id="{28BC3818-33E2-4CBF-86AC-C0FF0478E305}"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228600" y="1635125"/>
            <a:ext cx="2514600" cy="2514600"/>
          </a:xfrm>
          <a:prstGeom prst="ellipse">
            <a:avLst/>
          </a:prstGeom>
          <a:noFill/>
          <a:ln w="12700">
            <a:solidFill>
              <a:schemeClr val="accent1"/>
            </a:solidFill>
            <a:rou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mtClean="0">
              <a:latin typeface="Arial" panose="020B0604020202020204" pitchFamily="34" charset="0"/>
            </a:endParaRPr>
          </a:p>
        </p:txBody>
      </p:sp>
      <p:sp>
        <p:nvSpPr>
          <p:cNvPr id="5" name="Rectangle 7"/>
          <p:cNvSpPr>
            <a:spLocks noChangeArrowheads="1"/>
          </p:cNvSpPr>
          <p:nvPr/>
        </p:nvSpPr>
        <p:spPr bwMode="hidden">
          <a:xfrm>
            <a:off x="0" y="2397125"/>
            <a:ext cx="4724400" cy="1143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6"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pic>
        <p:nvPicPr>
          <p:cNvPr id="7" name="Picture 10" descr="tow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1" descr="NJU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3" y="260350"/>
            <a:ext cx="2303462"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68413"/>
            <a:ext cx="9117013"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442" name="Rectangle 2"/>
          <p:cNvSpPr>
            <a:spLocks noGrp="1" noChangeArrowheads="1"/>
          </p:cNvSpPr>
          <p:nvPr>
            <p:ph type="subTitle" idx="1"/>
          </p:nvPr>
        </p:nvSpPr>
        <p:spPr>
          <a:xfrm>
            <a:off x="3059113" y="4149725"/>
            <a:ext cx="5184775" cy="1336675"/>
          </a:xfrm>
        </p:spPr>
        <p:txBody>
          <a:bodyPr/>
          <a:lstStyle>
            <a:lvl1pPr marL="0" indent="0">
              <a:buFont typeface="Wingdings" panose="05000000000000000000" pitchFamily="2" charset="2"/>
              <a:buNone/>
              <a:defRPr/>
            </a:lvl1pPr>
          </a:lstStyle>
          <a:p>
            <a:r>
              <a:rPr lang="zh-CN" altLang="en-US"/>
              <a:t>单击此处编辑母版副标题样式</a:t>
            </a:r>
          </a:p>
        </p:txBody>
      </p:sp>
      <p:sp>
        <p:nvSpPr>
          <p:cNvPr id="189449" name="Rectangle 9"/>
          <p:cNvSpPr>
            <a:spLocks noGrp="1" noChangeArrowheads="1"/>
          </p:cNvSpPr>
          <p:nvPr>
            <p:ph type="ctrTitle"/>
          </p:nvPr>
        </p:nvSpPr>
        <p:spPr>
          <a:xfrm>
            <a:off x="838200" y="2163763"/>
            <a:ext cx="7405688" cy="1600200"/>
          </a:xfrm>
        </p:spPr>
        <p:txBody>
          <a:bodyPr anchor="ctr"/>
          <a:lstStyle>
            <a:lvl1pPr>
              <a:defRPr/>
            </a:lvl1pPr>
          </a:lstStyle>
          <a:p>
            <a:r>
              <a:rPr lang="zh-CN" altLang="en-US"/>
              <a:t>单击此处编辑母版标题样式</a:t>
            </a:r>
          </a:p>
        </p:txBody>
      </p:sp>
      <p:sp>
        <p:nvSpPr>
          <p:cNvPr id="11" name="Rectangle 3"/>
          <p:cNvSpPr>
            <a:spLocks noGrp="1" noChangeArrowheads="1"/>
          </p:cNvSpPr>
          <p:nvPr>
            <p:ph type="dt" sz="half" idx="10"/>
          </p:nvPr>
        </p:nvSpPr>
        <p:spPr>
          <a:xfrm>
            <a:off x="685800" y="6284913"/>
            <a:ext cx="1293813" cy="457200"/>
          </a:xfrm>
        </p:spPr>
        <p:txBody>
          <a:bodyPr/>
          <a:lstStyle>
            <a:lvl1pPr>
              <a:defRPr/>
            </a:lvl1pPr>
          </a:lstStyle>
          <a:p>
            <a:pPr>
              <a:defRPr/>
            </a:pPr>
            <a:fld id="{1475A542-FF97-4E94-8C9E-5FD46A7BBE19}" type="datetime1">
              <a:rPr lang="zh-CN" altLang="en-US"/>
              <a:t>2021/11/11</a:t>
            </a:fld>
            <a:endParaRPr lang="en-US" altLang="zh-CN"/>
          </a:p>
        </p:txBody>
      </p:sp>
      <p:sp>
        <p:nvSpPr>
          <p:cNvPr id="12" name="Rectangle 4"/>
          <p:cNvSpPr>
            <a:spLocks noGrp="1" noChangeArrowheads="1"/>
          </p:cNvSpPr>
          <p:nvPr>
            <p:ph type="ftr" sz="quarter" idx="11"/>
          </p:nvPr>
        </p:nvSpPr>
        <p:spPr>
          <a:xfrm>
            <a:off x="2195513" y="6202363"/>
            <a:ext cx="5113337" cy="539750"/>
          </a:xfrm>
        </p:spPr>
        <p:txBody>
          <a:bodyPr/>
          <a:lstStyle>
            <a:lvl1pPr>
              <a:defRPr/>
            </a:lvl1pPr>
          </a:lstStyle>
          <a:p>
            <a:pPr>
              <a:defRPr/>
            </a:pPr>
            <a:r>
              <a:rPr lang="en-US" altLang="zh-CN"/>
              <a:t> Institute of Computer Software</a:t>
            </a:r>
          </a:p>
          <a:p>
            <a:pPr>
              <a:defRPr/>
            </a:pPr>
            <a:r>
              <a:rPr lang="en-US" altLang="zh-CN"/>
              <a:t>Nanjing University</a:t>
            </a:r>
          </a:p>
        </p:txBody>
      </p:sp>
      <p:sp>
        <p:nvSpPr>
          <p:cNvPr id="13" name="Rectangle 5"/>
          <p:cNvSpPr>
            <a:spLocks noGrp="1" noChangeArrowheads="1"/>
          </p:cNvSpPr>
          <p:nvPr>
            <p:ph type="sldNum" sz="quarter" idx="12"/>
          </p:nvPr>
        </p:nvSpPr>
        <p:spPr/>
        <p:txBody>
          <a:bodyPr/>
          <a:lstStyle>
            <a:lvl1pPr>
              <a:defRPr/>
            </a:lvl1pPr>
          </a:lstStyle>
          <a:p>
            <a:pPr>
              <a:defRPr/>
            </a:pPr>
            <a:fld id="{DB3C08A1-3E05-4455-8A0A-3ABF159E45AC}"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9FD41CD5-89FF-4815-9A8E-C21C31C05EB7}" type="datetime1">
              <a:rPr lang="zh-CN" altLang="en-US"/>
              <a:t>2021/11/11</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B9108D6E-A297-4ADF-9676-E7DF0EB00A91}"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7"/>
          <p:cNvSpPr>
            <a:spLocks noGrp="1" noChangeArrowheads="1"/>
          </p:cNvSpPr>
          <p:nvPr>
            <p:ph type="dt" sz="half" idx="10"/>
          </p:nvPr>
        </p:nvSpPr>
        <p:spPr/>
        <p:txBody>
          <a:bodyPr/>
          <a:lstStyle>
            <a:lvl1pPr>
              <a:defRPr/>
            </a:lvl1pPr>
          </a:lstStyle>
          <a:p>
            <a:pPr>
              <a:defRPr/>
            </a:pPr>
            <a:fld id="{A376EB1E-8A2E-4A6A-AD54-3AE0768AA555}" type="datetime1">
              <a:rPr lang="zh-CN" altLang="en-US"/>
              <a:t>2021/11/11</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F919AA54-8FFA-4A12-B297-594A2E6FA45C}"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1484313"/>
            <a:ext cx="399415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14863" y="1484313"/>
            <a:ext cx="3995737"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7"/>
          <p:cNvSpPr>
            <a:spLocks noGrp="1" noChangeArrowheads="1"/>
          </p:cNvSpPr>
          <p:nvPr>
            <p:ph type="dt" sz="half" idx="10"/>
          </p:nvPr>
        </p:nvSpPr>
        <p:spPr/>
        <p:txBody>
          <a:bodyPr/>
          <a:lstStyle>
            <a:lvl1pPr>
              <a:defRPr/>
            </a:lvl1pPr>
          </a:lstStyle>
          <a:p>
            <a:pPr>
              <a:defRPr/>
            </a:pPr>
            <a:fld id="{4FCD87E6-73D0-47B4-905F-DC815C685E99}" type="datetime1">
              <a:rPr lang="zh-CN" altLang="en-US"/>
              <a:t>2021/11/11</a:t>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p:txBody>
          <a:bodyPr/>
          <a:lstStyle>
            <a:lvl1pPr>
              <a:defRPr/>
            </a:lvl1pPr>
          </a:lstStyle>
          <a:p>
            <a:pPr>
              <a:defRPr/>
            </a:pPr>
            <a:fld id="{0340AE11-C2C8-4DD8-9751-9EF7167DEB2C}"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7"/>
          <p:cNvSpPr>
            <a:spLocks noGrp="1" noChangeArrowheads="1"/>
          </p:cNvSpPr>
          <p:nvPr>
            <p:ph type="dt" sz="half" idx="10"/>
          </p:nvPr>
        </p:nvSpPr>
        <p:spPr/>
        <p:txBody>
          <a:bodyPr/>
          <a:lstStyle>
            <a:lvl1pPr>
              <a:defRPr/>
            </a:lvl1pPr>
          </a:lstStyle>
          <a:p>
            <a:pPr>
              <a:defRPr/>
            </a:pPr>
            <a:fld id="{95C88E1D-58DB-465F-989B-9A799DCE91BB}" type="datetime1">
              <a:rPr lang="zh-CN" altLang="en-US"/>
              <a:t>2021/11/11</a:t>
            </a:fld>
            <a:endParaRPr lang="en-US" altLang="zh-CN"/>
          </a:p>
        </p:txBody>
      </p:sp>
      <p:sp>
        <p:nvSpPr>
          <p:cNvPr id="8"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9" name="Rectangle 9"/>
          <p:cNvSpPr>
            <a:spLocks noGrp="1" noChangeArrowheads="1"/>
          </p:cNvSpPr>
          <p:nvPr>
            <p:ph type="sldNum" sz="quarter" idx="12"/>
          </p:nvPr>
        </p:nvSpPr>
        <p:spPr/>
        <p:txBody>
          <a:bodyPr/>
          <a:lstStyle>
            <a:lvl1pPr>
              <a:defRPr/>
            </a:lvl1pPr>
          </a:lstStyle>
          <a:p>
            <a:pPr>
              <a:defRPr/>
            </a:pPr>
            <a:fld id="{1A18A6B2-3671-450D-8213-E332F3334BEC}"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dt" sz="half" idx="10"/>
          </p:nvPr>
        </p:nvSpPr>
        <p:spPr/>
        <p:txBody>
          <a:bodyPr/>
          <a:lstStyle>
            <a:lvl1pPr>
              <a:defRPr/>
            </a:lvl1pPr>
          </a:lstStyle>
          <a:p>
            <a:pPr>
              <a:defRPr/>
            </a:pPr>
            <a:fld id="{B2A4182F-F80C-47F4-A204-BAC44C2212CC}" type="datetime1">
              <a:rPr lang="zh-CN" altLang="en-US"/>
              <a:t>2021/11/11</a:t>
            </a:fld>
            <a:endParaRPr lang="en-US" altLang="zh-CN"/>
          </a:p>
        </p:txBody>
      </p:sp>
      <p:sp>
        <p:nvSpPr>
          <p:cNvPr id="4"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5" name="Rectangle 9"/>
          <p:cNvSpPr>
            <a:spLocks noGrp="1" noChangeArrowheads="1"/>
          </p:cNvSpPr>
          <p:nvPr>
            <p:ph type="sldNum" sz="quarter" idx="12"/>
          </p:nvPr>
        </p:nvSpPr>
        <p:spPr/>
        <p:txBody>
          <a:bodyPr/>
          <a:lstStyle>
            <a:lvl1pPr>
              <a:defRPr/>
            </a:lvl1pPr>
          </a:lstStyle>
          <a:p>
            <a:pPr>
              <a:defRPr/>
            </a:pPr>
            <a:fld id="{AA45D972-190F-494D-8971-828DD155C2C4}"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p:txBody>
          <a:bodyPr/>
          <a:lstStyle>
            <a:lvl1pPr>
              <a:defRPr/>
            </a:lvl1pPr>
          </a:lstStyle>
          <a:p>
            <a:pPr>
              <a:defRPr/>
            </a:pPr>
            <a:fld id="{A99977D3-D740-4EC6-9A28-CE2400C1D7A0}" type="datetime1">
              <a:rPr lang="zh-CN" altLang="en-US"/>
              <a:t>2021/11/11</a:t>
            </a:fld>
            <a:endParaRPr lang="en-US" altLang="zh-CN"/>
          </a:p>
        </p:txBody>
      </p:sp>
      <p:sp>
        <p:nvSpPr>
          <p:cNvPr id="3"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4" name="Rectangle 9"/>
          <p:cNvSpPr>
            <a:spLocks noGrp="1" noChangeArrowheads="1"/>
          </p:cNvSpPr>
          <p:nvPr>
            <p:ph type="sldNum" sz="quarter" idx="12"/>
          </p:nvPr>
        </p:nvSpPr>
        <p:spPr/>
        <p:txBody>
          <a:bodyPr/>
          <a:lstStyle>
            <a:lvl1pPr>
              <a:defRPr/>
            </a:lvl1pPr>
          </a:lstStyle>
          <a:p>
            <a:pPr>
              <a:defRPr/>
            </a:pPr>
            <a:fld id="{AAA1E598-A757-40C0-A8C3-807FB5EF1D6D}"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7"/>
          <p:cNvSpPr>
            <a:spLocks noGrp="1" noChangeArrowheads="1"/>
          </p:cNvSpPr>
          <p:nvPr>
            <p:ph type="dt" sz="half" idx="10"/>
          </p:nvPr>
        </p:nvSpPr>
        <p:spPr/>
        <p:txBody>
          <a:bodyPr/>
          <a:lstStyle>
            <a:lvl1pPr>
              <a:defRPr/>
            </a:lvl1pPr>
          </a:lstStyle>
          <a:p>
            <a:pPr>
              <a:defRPr/>
            </a:pPr>
            <a:fld id="{020E123C-0239-4C15-BD7B-45CAAD0DEEFB}" type="datetime1">
              <a:rPr lang="zh-CN" altLang="en-US"/>
              <a:t>2021/11/11</a:t>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p:txBody>
          <a:bodyPr/>
          <a:lstStyle>
            <a:lvl1pPr>
              <a:defRPr/>
            </a:lvl1pPr>
          </a:lstStyle>
          <a:p>
            <a:pPr>
              <a:defRPr/>
            </a:pPr>
            <a:fld id="{8EEA10C3-A35E-4F9C-9E8D-BE801303C7E6}"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7"/>
          <p:cNvSpPr>
            <a:spLocks noGrp="1" noChangeArrowheads="1"/>
          </p:cNvSpPr>
          <p:nvPr>
            <p:ph type="dt" sz="half" idx="10"/>
          </p:nvPr>
        </p:nvSpPr>
        <p:spPr/>
        <p:txBody>
          <a:bodyPr/>
          <a:lstStyle>
            <a:lvl1pPr>
              <a:defRPr/>
            </a:lvl1pPr>
          </a:lstStyle>
          <a:p>
            <a:pPr>
              <a:defRPr/>
            </a:pPr>
            <a:fld id="{DEDE9E44-D2CC-4A44-B045-974AEDF1F624}" type="datetime1">
              <a:rPr lang="zh-CN" altLang="en-US"/>
              <a:t>2021/11/11</a:t>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7" name="Rectangle 9"/>
          <p:cNvSpPr>
            <a:spLocks noGrp="1" noChangeArrowheads="1"/>
          </p:cNvSpPr>
          <p:nvPr>
            <p:ph type="sldNum" sz="quarter" idx="12"/>
          </p:nvPr>
        </p:nvSpPr>
        <p:spPr/>
        <p:txBody>
          <a:bodyPr/>
          <a:lstStyle>
            <a:lvl1pPr>
              <a:defRPr/>
            </a:lvl1pPr>
          </a:lstStyle>
          <a:p>
            <a:pPr>
              <a:defRPr/>
            </a:pPr>
            <a:fld id="{2C2A0CD2-156D-44D7-A674-82A44BA18C4B}"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B9A93ED9-A663-4E50-BEF4-BC350B72FF91}" type="datetime1">
              <a:rPr lang="zh-CN" altLang="en-US"/>
              <a:t>2021/11/11</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282E679D-2698-4C91-8FCE-2C3EFB0B5865}"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5" y="404813"/>
            <a:ext cx="2035175" cy="5472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404813"/>
            <a:ext cx="5954712" cy="54721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6D1F1FD6-CBF6-495D-8EC6-8E63A46F54DC}" type="datetime1">
              <a:rPr lang="zh-CN" altLang="en-US"/>
              <a:t>2021/11/11</a:t>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p>
          <a:p>
            <a:pPr>
              <a:defRPr/>
            </a:pPr>
            <a:r>
              <a:rPr lang="en-US" altLang="zh-CN"/>
              <a:t>Nanjing University</a:t>
            </a:r>
          </a:p>
        </p:txBody>
      </p:sp>
      <p:sp>
        <p:nvSpPr>
          <p:cNvPr id="6" name="Rectangle 9"/>
          <p:cNvSpPr>
            <a:spLocks noGrp="1" noChangeArrowheads="1"/>
          </p:cNvSpPr>
          <p:nvPr>
            <p:ph type="sldNum" sz="quarter" idx="12"/>
          </p:nvPr>
        </p:nvSpPr>
        <p:spPr/>
        <p:txBody>
          <a:bodyPr/>
          <a:lstStyle>
            <a:lvl1pPr>
              <a:defRPr/>
            </a:lvl1pPr>
          </a:lstStyle>
          <a:p>
            <a:pPr>
              <a:defRPr/>
            </a:pPr>
            <a:fld id="{ACF72455-0FFD-4906-A044-8C4DF4394141}"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1125538"/>
            <a:ext cx="2133600" cy="1016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1027" name="Rectangle 3"/>
          <p:cNvSpPr>
            <a:spLocks noChangeArrowheads="1"/>
          </p:cNvSpPr>
          <p:nvPr/>
        </p:nvSpPr>
        <p:spPr bwMode="auto">
          <a:xfrm>
            <a:off x="1447800" y="1125538"/>
            <a:ext cx="7239000" cy="101600"/>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zh-CN" sz="2400" smtClean="0"/>
          </a:p>
        </p:txBody>
      </p:sp>
      <p:sp>
        <p:nvSpPr>
          <p:cNvPr id="1028" name="Rectangle 4"/>
          <p:cNvSpPr>
            <a:spLocks noGrp="1" noChangeArrowheads="1"/>
          </p:cNvSpPr>
          <p:nvPr>
            <p:ph type="title"/>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smtClean="0"/>
              <a:t>单击此处编辑母版标题样式</a:t>
            </a:r>
          </a:p>
        </p:txBody>
      </p:sp>
      <p:sp>
        <p:nvSpPr>
          <p:cNvPr id="1029" name="Rectangle 5"/>
          <p:cNvSpPr>
            <a:spLocks noGrp="1" noChangeArrowheads="1"/>
          </p:cNvSpPr>
          <p:nvPr>
            <p:ph type="body" idx="1"/>
          </p:nvPr>
        </p:nvSpPr>
        <p:spPr bwMode="auto">
          <a:xfrm>
            <a:off x="468313" y="1484313"/>
            <a:ext cx="8142287"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pic>
        <p:nvPicPr>
          <p:cNvPr id="1030" name="Picture 6" descr="towe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423" name="Rectangle 7"/>
          <p:cNvSpPr>
            <a:spLocks noGrp="1" noChangeArrowheads="1"/>
          </p:cNvSpPr>
          <p:nvPr>
            <p:ph type="dt" sz="half" idx="2"/>
          </p:nvPr>
        </p:nvSpPr>
        <p:spPr bwMode="auto">
          <a:xfrm>
            <a:off x="611188" y="6284913"/>
            <a:ext cx="1293812"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600">
                <a:latin typeface="+mn-lt"/>
              </a:defRPr>
            </a:lvl1pPr>
          </a:lstStyle>
          <a:p>
            <a:pPr>
              <a:defRPr/>
            </a:pPr>
            <a:fld id="{B81EED3E-5B33-49F9-B6A9-104461501133}" type="datetime1">
              <a:rPr lang="zh-CN" altLang="en-US"/>
              <a:t>2021/11/11</a:t>
            </a:fld>
            <a:endParaRPr lang="en-US" altLang="zh-CN"/>
          </a:p>
        </p:txBody>
      </p:sp>
      <p:sp>
        <p:nvSpPr>
          <p:cNvPr id="188424" name="Rectangle 8"/>
          <p:cNvSpPr>
            <a:spLocks noGrp="1" noChangeArrowheads="1"/>
          </p:cNvSpPr>
          <p:nvPr>
            <p:ph type="ftr" sz="quarter" idx="3"/>
          </p:nvPr>
        </p:nvSpPr>
        <p:spPr bwMode="auto">
          <a:xfrm>
            <a:off x="2051050" y="6202363"/>
            <a:ext cx="5257800" cy="5397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600">
                <a:latin typeface="+mn-lt"/>
              </a:defRPr>
            </a:lvl1pPr>
          </a:lstStyle>
          <a:p>
            <a:pPr>
              <a:defRPr/>
            </a:pPr>
            <a:r>
              <a:rPr lang="en-US" altLang="zh-CN"/>
              <a:t> Institute of Computer Software</a:t>
            </a:r>
          </a:p>
          <a:p>
            <a:pPr>
              <a:defRPr/>
            </a:pPr>
            <a:r>
              <a:rPr lang="en-US" altLang="zh-CN"/>
              <a:t>Nanjing University</a:t>
            </a:r>
          </a:p>
        </p:txBody>
      </p:sp>
      <p:sp>
        <p:nvSpPr>
          <p:cNvPr id="188425" name="Rectangle 9"/>
          <p:cNvSpPr>
            <a:spLocks noGrp="1" noChangeArrowheads="1"/>
          </p:cNvSpPr>
          <p:nvPr>
            <p:ph type="sldNum" sz="quarter" idx="4"/>
          </p:nvPr>
        </p:nvSpPr>
        <p:spPr bwMode="auto">
          <a:xfrm>
            <a:off x="7524750" y="6284913"/>
            <a:ext cx="93345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600">
                <a:latin typeface="Arial" panose="020B0604020202020204" pitchFamily="34" charset="0"/>
              </a:defRPr>
            </a:lvl1pPr>
          </a:lstStyle>
          <a:p>
            <a:pPr>
              <a:defRPr/>
            </a:pPr>
            <a:fld id="{A90CF984-3908-45D5-BC5E-31FD5A405E51}" type="slidenum">
              <a:rPr lang="en-US" altLang="zh-CN"/>
              <a:t>‹#›</a:t>
            </a:fld>
            <a:endParaRPr lang="en-US" altLang="zh-CN"/>
          </a:p>
        </p:txBody>
      </p:sp>
      <p:pic>
        <p:nvPicPr>
          <p:cNvPr id="1034" name="Picture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5" name="Picture 11" descr="校徽"/>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6388" y="261938"/>
            <a:ext cx="665162"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rtl="0" eaLnBrk="0" fontAlgn="base" hangingPunct="0">
        <a:spcBef>
          <a:spcPct val="0"/>
        </a:spcBef>
        <a:spcAft>
          <a:spcPct val="0"/>
        </a:spcAft>
        <a:defRPr sz="3200">
          <a:solidFill>
            <a:schemeClr val="tx1"/>
          </a:solidFill>
          <a:latin typeface="+mj-lt"/>
          <a:ea typeface="+mj-ea"/>
          <a:cs typeface="+mj-cs"/>
        </a:defRPr>
      </a:lvl1pPr>
      <a:lvl2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p:titleStyle>
    <p:bodyStyle>
      <a:lvl1pPr marL="447675" indent="-447675" algn="l" rtl="0" eaLnBrk="0" fontAlgn="base" hangingPunct="0">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ea typeface="+mn-ea"/>
          <a:cs typeface="+mn-cs"/>
        </a:defRPr>
      </a:lvl1pPr>
      <a:lvl2pPr marL="889000" indent="-440055" algn="l" rtl="0" eaLnBrk="0" fontAlgn="base" hangingPunct="0">
        <a:spcBef>
          <a:spcPct val="20000"/>
        </a:spcBef>
        <a:spcAft>
          <a:spcPct val="0"/>
        </a:spcAft>
        <a:buClr>
          <a:schemeClr val="hlink"/>
        </a:buClr>
        <a:buSzPct val="65000"/>
        <a:buFont typeface="Wingdings" panose="05000000000000000000" pitchFamily="2" charset="2"/>
        <a:buChar char="¡"/>
        <a:defRPr sz="2400">
          <a:solidFill>
            <a:schemeClr val="tx1"/>
          </a:solidFill>
          <a:latin typeface="+mn-lt"/>
          <a:ea typeface="+mn-ea"/>
        </a:defRPr>
      </a:lvl2pPr>
      <a:lvl3pPr marL="1294130" indent="-403225" algn="l" rtl="0" eaLnBrk="0" fontAlgn="base" hangingPunct="0">
        <a:spcBef>
          <a:spcPct val="20000"/>
        </a:spcBef>
        <a:spcAft>
          <a:spcPct val="0"/>
        </a:spcAft>
        <a:buClr>
          <a:schemeClr val="accent1"/>
        </a:buClr>
        <a:buSzPct val="70000"/>
        <a:buFont typeface="Wingdings" panose="05000000000000000000" pitchFamily="2" charset="2"/>
        <a:buChar char="n"/>
        <a:defRPr sz="2000">
          <a:solidFill>
            <a:schemeClr val="tx1"/>
          </a:solidFill>
          <a:latin typeface="+mn-lt"/>
          <a:ea typeface="+mn-ea"/>
        </a:defRPr>
      </a:lvl3pPr>
      <a:lvl4pPr marL="1681480" indent="-386080" algn="l" rtl="0" eaLnBrk="0" fontAlgn="base" hangingPunct="0">
        <a:spcBef>
          <a:spcPct val="20000"/>
        </a:spcBef>
        <a:spcAft>
          <a:spcPct val="0"/>
        </a:spcAft>
        <a:buClr>
          <a:schemeClr val="hlink"/>
        </a:buClr>
        <a:buSzPct val="75000"/>
        <a:buFont typeface="Wingdings" panose="05000000000000000000" pitchFamily="2" charset="2"/>
        <a:buChar char="¡"/>
        <a:defRPr sz="2000">
          <a:solidFill>
            <a:schemeClr val="tx1"/>
          </a:solidFill>
          <a:latin typeface="+mn-lt"/>
          <a:ea typeface="+mn-ea"/>
        </a:defRPr>
      </a:lvl4pPr>
      <a:lvl5pPr marL="2070100" indent="-387350" algn="l" rtl="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3"/>
          <p:cNvSpPr>
            <a:spLocks noGrp="1" noChangeArrowheads="1"/>
          </p:cNvSpPr>
          <p:nvPr>
            <p:ph type="subTitle" idx="1"/>
          </p:nvPr>
        </p:nvSpPr>
        <p:spPr/>
        <p:txBody>
          <a:bodyPr/>
          <a:lstStyle/>
          <a:p>
            <a:pPr algn="r"/>
            <a:r>
              <a:rPr lang="zh-CN" altLang="en-US"/>
              <a:t>南京大学计算机科学与技术系</a:t>
            </a:r>
          </a:p>
          <a:p>
            <a:pPr algn="r"/>
            <a:r>
              <a:rPr lang="zh-CN" altLang="en-US"/>
              <a:t>聂长海</a:t>
            </a:r>
          </a:p>
        </p:txBody>
      </p:sp>
      <p:sp>
        <p:nvSpPr>
          <p:cNvPr id="5" name="标题 4"/>
          <p:cNvSpPr>
            <a:spLocks noGrp="1" noChangeArrowheads="1"/>
          </p:cNvSpPr>
          <p:nvPr>
            <p:ph type="ctrTitle"/>
          </p:nvPr>
        </p:nvSpPr>
        <p:spPr>
          <a:xfrm>
            <a:off x="0" y="2163763"/>
            <a:ext cx="9144000" cy="1600200"/>
          </a:xfrm>
        </p:spPr>
        <p:txBody>
          <a:bodyPr/>
          <a:lstStyle/>
          <a:p>
            <a:r>
              <a:rPr lang="zh-CN" altLang="en-US" sz="4800" b="1" dirty="0" smtClean="0"/>
              <a:t>知</a:t>
            </a:r>
            <a:r>
              <a:rPr lang="zh-CN" altLang="en-US" sz="4800" b="1" dirty="0"/>
              <a:t>件（</a:t>
            </a:r>
            <a:r>
              <a:rPr lang="en-US" altLang="zh-CN" sz="4800" b="1" dirty="0"/>
              <a:t>Knowware</a:t>
            </a:r>
            <a:r>
              <a:rPr lang="zh-CN" altLang="en-US" sz="4800" b="1" dirty="0"/>
              <a:t>）</a:t>
            </a:r>
            <a:endParaRPr lang="zh-CN" altLang="en-US" sz="4800" b="1" dirty="0"/>
          </a:p>
        </p:txBody>
      </p:sp>
      <p:sp>
        <p:nvSpPr>
          <p:cNvPr id="2" name="日期占位符 1"/>
          <p:cNvSpPr>
            <a:spLocks noGrp="1"/>
          </p:cNvSpPr>
          <p:nvPr>
            <p:ph type="dt" sz="half" idx="10"/>
          </p:nvPr>
        </p:nvSpPr>
        <p:spPr/>
        <p:txBody>
          <a:bodyPr/>
          <a:lstStyle/>
          <a:p>
            <a:pPr>
              <a:defRPr/>
            </a:pPr>
            <a:fld id="{A99977D3-D740-4EC6-9A28-CE2400C1D7A0}" type="datetime1">
              <a:rPr lang="zh-CN" altLang="en-US"/>
              <a:t>2021/11/14</a:t>
            </a:fld>
            <a:endParaRPr lang="en-US" altLang="zh-CN"/>
          </a:p>
        </p:txBody>
      </p:sp>
      <p:sp>
        <p:nvSpPr>
          <p:cNvPr id="3" name="灯片编号占位符 2"/>
          <p:cNvSpPr>
            <a:spLocks noGrp="1"/>
          </p:cNvSpPr>
          <p:nvPr>
            <p:ph type="sldNum" sz="quarter" idx="12"/>
          </p:nvPr>
        </p:nvSpPr>
        <p:spPr/>
        <p:txBody>
          <a:bodyPr/>
          <a:lstStyle/>
          <a:p>
            <a:pPr>
              <a:defRPr/>
            </a:pPr>
            <a:fld id="{AAA1E598-A757-40C0-A8C3-807FB5EF1D6D}" type="slidenum">
              <a:rPr lang="en-US" altLang="zh-CN"/>
              <a:t>1</a:t>
            </a:fld>
            <a:endParaRPr lang="en-US" altLang="zh-C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258888" y="332423"/>
            <a:ext cx="5616575" cy="576262"/>
          </a:xfrm>
        </p:spPr>
        <p:txBody>
          <a:bodyPr/>
          <a:lstStyle/>
          <a:p>
            <a:r>
              <a:rPr lang="zh-CN" altLang="en-US" b="1" dirty="0" smtClean="0"/>
              <a:t>知</a:t>
            </a:r>
            <a:r>
              <a:rPr lang="zh-CN" altLang="en-US" b="1" dirty="0"/>
              <a:t>件（</a:t>
            </a:r>
            <a:r>
              <a:rPr lang="en-US" altLang="zh-CN" b="1" dirty="0"/>
              <a:t>Knowware</a:t>
            </a:r>
            <a:r>
              <a:rPr lang="zh-CN" altLang="en-US" b="1" dirty="0"/>
              <a:t>）</a:t>
            </a:r>
            <a:endParaRPr lang="zh-CN" altLang="en-US" dirty="0"/>
          </a:p>
        </p:txBody>
      </p:sp>
      <p:sp>
        <p:nvSpPr>
          <p:cNvPr id="5" name="内容占位符 4"/>
          <p:cNvSpPr>
            <a:spLocks noGrp="1"/>
          </p:cNvSpPr>
          <p:nvPr>
            <p:ph idx="1"/>
          </p:nvPr>
        </p:nvSpPr>
        <p:spPr>
          <a:xfrm>
            <a:off x="30480" y="1234440"/>
            <a:ext cx="9113520" cy="4852035"/>
          </a:xfrm>
        </p:spPr>
        <p:txBody>
          <a:bodyPr/>
          <a:lstStyle/>
          <a:p>
            <a:r>
              <a:rPr lang="zh-CN" altLang="en-US" sz="2000" dirty="0"/>
              <a:t>所谓知件，就是从软件中分离出来的领域知识的商品化形式。</a:t>
            </a:r>
            <a:r>
              <a:rPr lang="zh-CN" altLang="en-US" sz="2000" b="1" dirty="0">
                <a:solidFill>
                  <a:srgbClr val="FF0000"/>
                </a:solidFill>
              </a:rPr>
              <a:t>知件是一个知识模块</a:t>
            </a:r>
            <a:r>
              <a:rPr lang="zh-CN" altLang="en-US" sz="2000" dirty="0"/>
              <a:t>，独立于硬件和软件，可被硬件和软件调用，已经商品化，遵循工业标准，有完备的文档。</a:t>
            </a:r>
          </a:p>
          <a:p>
            <a:r>
              <a:rPr lang="zh-CN" altLang="en-US" sz="2000" dirty="0"/>
              <a:t>许多年来，人们一直把软件和领域知识混在一起，把软件著作权和知识专利混在一起，对软件开发和其中所含的知识开发不加区分，对软件开发队伍和知识开发队伍不加区分，而这个队伍又不是领域专家，对软件产业和知识产业不加区分；人们只把硬件作为软件的运行基础平台，而软件才是实现用户需求的工具，这种混沌状态不仅拖了软件产业的后腿，也使知识产业不能获得腾飞的机</a:t>
            </a:r>
            <a:r>
              <a:rPr lang="zh-CN" altLang="en-US" sz="2000" dirty="0" smtClean="0"/>
              <a:t>会。</a:t>
            </a:r>
            <a:endParaRPr lang="zh-CN" altLang="en-US" sz="2000" dirty="0"/>
          </a:p>
          <a:p>
            <a:r>
              <a:rPr lang="zh-CN" altLang="en-US" sz="2000" dirty="0"/>
              <a:t>基于知识的系统（知识系统）指利用知识库并提供推理能力以支持问题求解，是软件智能化的重要途径。传统知识系统的典型代表是专家系统，由于知识源匮乏易导致知识获取瓶颈，不同知识 系统间互操作困难易形成知识孤岛，其规模化和个性化都受到限制。互联网海量信息提供了丰富的知识来源，但如何有序地组织知识、有目的地获取和适时更新知识、以及有效地利用知识仍然是目前面临的挑战。</a:t>
            </a:r>
            <a:endParaRPr lang="zh-CN" altLang="en-US" sz="2000" dirty="0"/>
          </a:p>
        </p:txBody>
      </p:sp>
      <p:sp>
        <p:nvSpPr>
          <p:cNvPr id="2" name="日期占位符 1"/>
          <p:cNvSpPr>
            <a:spLocks noGrp="1"/>
          </p:cNvSpPr>
          <p:nvPr>
            <p:ph type="dt" sz="half" idx="10"/>
          </p:nvPr>
        </p:nvSpPr>
        <p:spPr/>
        <p:txBody>
          <a:bodyPr/>
          <a:lstStyle/>
          <a:p>
            <a:pPr>
              <a:defRPr/>
            </a:pPr>
            <a:fld id="{A99977D3-D740-4EC6-9A28-CE2400C1D7A0}" type="datetime1">
              <a:rPr lang="zh-CN" altLang="en-US"/>
              <a:t>2021/11/14</a:t>
            </a:fld>
            <a:endParaRPr lang="en-US" altLang="zh-CN"/>
          </a:p>
        </p:txBody>
      </p:sp>
      <p:sp>
        <p:nvSpPr>
          <p:cNvPr id="3" name="灯片编号占位符 2"/>
          <p:cNvSpPr>
            <a:spLocks noGrp="1"/>
          </p:cNvSpPr>
          <p:nvPr>
            <p:ph type="sldNum" sz="quarter" idx="12"/>
          </p:nvPr>
        </p:nvSpPr>
        <p:spPr/>
        <p:txBody>
          <a:bodyPr/>
          <a:lstStyle/>
          <a:p>
            <a:pPr>
              <a:defRPr/>
            </a:pPr>
            <a:fld id="{AAA1E598-A757-40C0-A8C3-807FB5EF1D6D}" type="slidenum">
              <a:rPr lang="en-US" altLang="zh-CN"/>
              <a:t>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193308" cy="576262"/>
          </a:xfrm>
        </p:spPr>
        <p:txBody>
          <a:bodyPr/>
          <a:lstStyle/>
          <a:p>
            <a:r>
              <a:rPr lang="zh-CN" altLang="en-US" dirty="0"/>
              <a:t>知件（</a:t>
            </a:r>
            <a:r>
              <a:rPr lang="en-US" altLang="zh-CN" dirty="0"/>
              <a:t>Knowware</a:t>
            </a:r>
            <a:r>
              <a:rPr lang="zh-CN" altLang="en-US" dirty="0" smtClean="0"/>
              <a:t>）与软件比较</a:t>
            </a:r>
            <a:r>
              <a:rPr lang="en-US" altLang="zh-CN" dirty="0" smtClean="0"/>
              <a:t> </a:t>
            </a:r>
            <a:endParaRPr lang="zh-CN" altLang="en-US" dirty="0"/>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3</a:t>
            </a:fld>
            <a:endParaRPr lang="en-US" altLang="zh-CN"/>
          </a:p>
        </p:txBody>
      </p:sp>
      <p:graphicFrame>
        <p:nvGraphicFramePr>
          <p:cNvPr id="10" name="内容占位符 9"/>
          <p:cNvGraphicFramePr>
            <a:graphicFrameLocks noGrp="1"/>
          </p:cNvGraphicFramePr>
          <p:nvPr>
            <p:ph idx="1"/>
            <p:extLst>
              <p:ext uri="{D42A27DB-BD31-4B8C-83A1-F6EECF244321}">
                <p14:modId xmlns:p14="http://schemas.microsoft.com/office/powerpoint/2010/main" val="2589009942"/>
              </p:ext>
            </p:extLst>
          </p:nvPr>
        </p:nvGraphicFramePr>
        <p:xfrm>
          <a:off x="251521" y="1196753"/>
          <a:ext cx="8496942" cy="4896542"/>
        </p:xfrm>
        <a:graphic>
          <a:graphicData uri="http://schemas.openxmlformats.org/drawingml/2006/table">
            <a:tbl>
              <a:tblPr firstRow="1" bandRow="1">
                <a:tableStyleId>{5C22544A-7EE6-4342-B048-85BDC9FD1C3A}</a:tableStyleId>
              </a:tblPr>
              <a:tblGrid>
                <a:gridCol w="2832314">
                  <a:extLst>
                    <a:ext uri="{9D8B030D-6E8A-4147-A177-3AD203B41FA5}">
                      <a16:colId xmlns:a16="http://schemas.microsoft.com/office/drawing/2014/main" val="4220073018"/>
                    </a:ext>
                  </a:extLst>
                </a:gridCol>
                <a:gridCol w="2832314">
                  <a:extLst>
                    <a:ext uri="{9D8B030D-6E8A-4147-A177-3AD203B41FA5}">
                      <a16:colId xmlns:a16="http://schemas.microsoft.com/office/drawing/2014/main" val="2650276106"/>
                    </a:ext>
                  </a:extLst>
                </a:gridCol>
                <a:gridCol w="2832314">
                  <a:extLst>
                    <a:ext uri="{9D8B030D-6E8A-4147-A177-3AD203B41FA5}">
                      <a16:colId xmlns:a16="http://schemas.microsoft.com/office/drawing/2014/main" val="1793200200"/>
                    </a:ext>
                  </a:extLst>
                </a:gridCol>
              </a:tblGrid>
              <a:tr h="699506">
                <a:tc>
                  <a:txBody>
                    <a:bodyPr/>
                    <a:lstStyle/>
                    <a:p>
                      <a:pPr marL="0" marR="0" algn="just">
                        <a:spcBef>
                          <a:spcPts val="0"/>
                        </a:spcBef>
                        <a:spcAft>
                          <a:spcPts val="0"/>
                        </a:spcAft>
                      </a:pPr>
                      <a:endParaRPr lang="zh-CN" altLang="en-US" sz="1800" kern="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tc>
                  <a:txBody>
                    <a:bodyPr/>
                    <a:lstStyle/>
                    <a:p>
                      <a:pPr marL="0" marR="0" algn="just">
                        <a:spcBef>
                          <a:spcPts val="0"/>
                        </a:spcBef>
                        <a:spcAft>
                          <a:spcPts val="0"/>
                        </a:spcAft>
                      </a:pPr>
                      <a:r>
                        <a:rPr lang="zh-CN" altLang="en-US" sz="1800" kern="0">
                          <a:effectLst/>
                          <a:latin typeface="等线" panose="02010600030101010101" pitchFamily="2" charset="-122"/>
                          <a:ea typeface="等线" panose="02010600030101010101" pitchFamily="2" charset="-122"/>
                          <a:cs typeface="Times New Roman" panose="02020603050405020304" pitchFamily="18" charset="0"/>
                        </a:rPr>
                        <a:t>软件</a:t>
                      </a:r>
                      <a:endParaRPr lang="zh-CN" altLang="en-US"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tc>
                  <a:txBody>
                    <a:bodyPr/>
                    <a:lstStyle/>
                    <a:p>
                      <a:pPr marL="0" marR="0" algn="just">
                        <a:spcBef>
                          <a:spcPts val="0"/>
                        </a:spcBef>
                        <a:spcAft>
                          <a:spcPts val="0"/>
                        </a:spcAft>
                      </a:pPr>
                      <a:r>
                        <a:rPr lang="zh-CN" altLang="en-US" sz="1800" kern="0">
                          <a:effectLst/>
                          <a:latin typeface="等线" panose="02010600030101010101" pitchFamily="2" charset="-122"/>
                          <a:ea typeface="等线" panose="02010600030101010101" pitchFamily="2" charset="-122"/>
                          <a:cs typeface="Times New Roman" panose="02020603050405020304" pitchFamily="18" charset="0"/>
                        </a:rPr>
                        <a:t>知件</a:t>
                      </a:r>
                      <a:endParaRPr lang="zh-CN" altLang="en-US"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extLst>
                  <a:ext uri="{0D108BD9-81ED-4DB2-BD59-A6C34878D82A}">
                    <a16:rowId xmlns:a16="http://schemas.microsoft.com/office/drawing/2014/main" val="1965579620"/>
                  </a:ext>
                </a:extLst>
              </a:tr>
              <a:tr h="699506">
                <a:tc>
                  <a:txBody>
                    <a:bodyPr/>
                    <a:lstStyle/>
                    <a:p>
                      <a:pPr marL="0" marR="0" algn="just">
                        <a:spcBef>
                          <a:spcPts val="0"/>
                        </a:spcBef>
                        <a:spcAft>
                          <a:spcPts val="0"/>
                        </a:spcAft>
                      </a:pPr>
                      <a:r>
                        <a:rPr lang="zh-CN" altLang="en-US" sz="1800" kern="0" dirty="0">
                          <a:effectLst/>
                          <a:latin typeface="等线" panose="02010600030101010101" pitchFamily="2" charset="-122"/>
                          <a:ea typeface="等线" panose="02010600030101010101" pitchFamily="2" charset="-122"/>
                          <a:cs typeface="Times New Roman" panose="02020603050405020304" pitchFamily="18" charset="0"/>
                        </a:rPr>
                        <a:t>技术内容</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tc>
                  <a:txBody>
                    <a:bodyPr/>
                    <a:lstStyle/>
                    <a:p>
                      <a:pPr marL="0" marR="0" algn="just">
                        <a:spcBef>
                          <a:spcPts val="0"/>
                        </a:spcBef>
                        <a:spcAft>
                          <a:spcPts val="0"/>
                        </a:spcAft>
                      </a:pPr>
                      <a:r>
                        <a:rPr lang="zh-CN" altLang="en-US" sz="1800" kern="0">
                          <a:effectLst/>
                          <a:latin typeface="等线" panose="02010600030101010101" pitchFamily="2" charset="-122"/>
                          <a:ea typeface="等线" panose="02010600030101010101" pitchFamily="2" charset="-122"/>
                          <a:cs typeface="Times New Roman" panose="02020603050405020304" pitchFamily="18" charset="0"/>
                        </a:rPr>
                        <a:t>领域知识</a:t>
                      </a:r>
                      <a:r>
                        <a:rPr lang="en-US" altLang="zh-CN" sz="1800" kern="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0">
                          <a:effectLst/>
                          <a:latin typeface="等线" panose="02010600030101010101" pitchFamily="2" charset="-122"/>
                          <a:ea typeface="等线" panose="02010600030101010101" pitchFamily="2" charset="-122"/>
                          <a:cs typeface="Times New Roman" panose="02020603050405020304" pitchFamily="18" charset="0"/>
                        </a:rPr>
                        <a:t>软件技术</a:t>
                      </a:r>
                      <a:endParaRPr lang="zh-CN" altLang="en-US"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tc>
                  <a:txBody>
                    <a:bodyPr/>
                    <a:lstStyle/>
                    <a:p>
                      <a:pPr marL="0" marR="0" algn="just">
                        <a:spcBef>
                          <a:spcPts val="0"/>
                        </a:spcBef>
                        <a:spcAft>
                          <a:spcPts val="0"/>
                        </a:spcAft>
                      </a:pPr>
                      <a:r>
                        <a:rPr lang="zh-CN" altLang="en-US" sz="1800" kern="0">
                          <a:effectLst/>
                          <a:latin typeface="等线" panose="02010600030101010101" pitchFamily="2" charset="-122"/>
                          <a:ea typeface="等线" panose="02010600030101010101" pitchFamily="2" charset="-122"/>
                          <a:cs typeface="Times New Roman" panose="02020603050405020304" pitchFamily="18" charset="0"/>
                        </a:rPr>
                        <a:t>领域知识</a:t>
                      </a:r>
                      <a:endParaRPr lang="zh-CN" altLang="en-US"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extLst>
                  <a:ext uri="{0D108BD9-81ED-4DB2-BD59-A6C34878D82A}">
                    <a16:rowId xmlns:a16="http://schemas.microsoft.com/office/drawing/2014/main" val="3823786096"/>
                  </a:ext>
                </a:extLst>
              </a:tr>
              <a:tr h="699506">
                <a:tc>
                  <a:txBody>
                    <a:bodyPr/>
                    <a:lstStyle/>
                    <a:p>
                      <a:pPr marL="0" marR="0" algn="just">
                        <a:spcBef>
                          <a:spcPts val="0"/>
                        </a:spcBef>
                        <a:spcAft>
                          <a:spcPts val="0"/>
                        </a:spcAft>
                      </a:pPr>
                      <a:r>
                        <a:rPr lang="zh-CN" altLang="en-US" sz="1800" kern="0" dirty="0">
                          <a:effectLst/>
                          <a:latin typeface="等线" panose="02010600030101010101" pitchFamily="2" charset="-122"/>
                          <a:ea typeface="等线" panose="02010600030101010101" pitchFamily="2" charset="-122"/>
                          <a:cs typeface="Times New Roman" panose="02020603050405020304" pitchFamily="18" charset="0"/>
                        </a:rPr>
                        <a:t>可操作性</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tc>
                  <a:txBody>
                    <a:bodyPr/>
                    <a:lstStyle/>
                    <a:p>
                      <a:pPr marL="0" marR="0" algn="just">
                        <a:spcBef>
                          <a:spcPts val="0"/>
                        </a:spcBef>
                        <a:spcAft>
                          <a:spcPts val="0"/>
                        </a:spcAft>
                      </a:pPr>
                      <a:r>
                        <a:rPr lang="zh-CN" altLang="en-US" sz="1800" kern="0" dirty="0">
                          <a:effectLst/>
                          <a:latin typeface="等线" panose="02010600030101010101" pitchFamily="2" charset="-122"/>
                          <a:ea typeface="等线" panose="02010600030101010101" pitchFamily="2" charset="-122"/>
                          <a:cs typeface="Times New Roman" panose="02020603050405020304" pitchFamily="18" charset="0"/>
                        </a:rPr>
                        <a:t>独立运行</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tc>
                  <a:txBody>
                    <a:bodyPr/>
                    <a:lstStyle/>
                    <a:p>
                      <a:pPr marL="0" marR="0" algn="just">
                        <a:spcBef>
                          <a:spcPts val="0"/>
                        </a:spcBef>
                        <a:spcAft>
                          <a:spcPts val="0"/>
                        </a:spcAft>
                      </a:pPr>
                      <a:r>
                        <a:rPr lang="zh-CN" altLang="en-US" sz="1800" kern="0">
                          <a:effectLst/>
                          <a:latin typeface="等线" panose="02010600030101010101" pitchFamily="2" charset="-122"/>
                          <a:ea typeface="等线" panose="02010600030101010101" pitchFamily="2" charset="-122"/>
                          <a:cs typeface="Times New Roman" panose="02020603050405020304" pitchFamily="18" charset="0"/>
                        </a:rPr>
                        <a:t>不能独立运行，只支持软件运行</a:t>
                      </a:r>
                      <a:endParaRPr lang="zh-CN" altLang="en-US"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extLst>
                  <a:ext uri="{0D108BD9-81ED-4DB2-BD59-A6C34878D82A}">
                    <a16:rowId xmlns:a16="http://schemas.microsoft.com/office/drawing/2014/main" val="421306444"/>
                  </a:ext>
                </a:extLst>
              </a:tr>
              <a:tr h="699506">
                <a:tc>
                  <a:txBody>
                    <a:bodyPr/>
                    <a:lstStyle/>
                    <a:p>
                      <a:pPr marL="0" marR="0" algn="just">
                        <a:spcBef>
                          <a:spcPts val="0"/>
                        </a:spcBef>
                        <a:spcAft>
                          <a:spcPts val="0"/>
                        </a:spcAft>
                      </a:pPr>
                      <a:r>
                        <a:rPr lang="zh-CN" altLang="en-US" sz="1800" kern="0">
                          <a:effectLst/>
                          <a:latin typeface="等线" panose="02010600030101010101" pitchFamily="2" charset="-122"/>
                          <a:ea typeface="等线" panose="02010600030101010101" pitchFamily="2" charset="-122"/>
                          <a:cs typeface="Times New Roman" panose="02020603050405020304" pitchFamily="18" charset="0"/>
                        </a:rPr>
                        <a:t>生命周期</a:t>
                      </a:r>
                      <a:endParaRPr lang="zh-CN" altLang="en-US"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tc>
                  <a:txBody>
                    <a:bodyPr/>
                    <a:lstStyle/>
                    <a:p>
                      <a:pPr marL="0" marR="0" algn="just">
                        <a:spcBef>
                          <a:spcPts val="0"/>
                        </a:spcBef>
                        <a:spcAft>
                          <a:spcPts val="0"/>
                        </a:spcAft>
                      </a:pPr>
                      <a:r>
                        <a:rPr lang="zh-CN" altLang="en-US" sz="1800" kern="0" dirty="0">
                          <a:effectLst/>
                          <a:latin typeface="等线" panose="02010600030101010101" pitchFamily="2" charset="-122"/>
                          <a:ea typeface="等线" panose="02010600030101010101" pitchFamily="2" charset="-122"/>
                          <a:cs typeface="Times New Roman" panose="02020603050405020304" pitchFamily="18" charset="0"/>
                        </a:rPr>
                        <a:t>取决于用户需求</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tc>
                  <a:txBody>
                    <a:bodyPr/>
                    <a:lstStyle/>
                    <a:p>
                      <a:pPr marL="0" marR="0" algn="just">
                        <a:spcBef>
                          <a:spcPts val="0"/>
                        </a:spcBef>
                        <a:spcAft>
                          <a:spcPts val="0"/>
                        </a:spcAft>
                      </a:pPr>
                      <a:r>
                        <a:rPr lang="zh-CN" altLang="en-US" sz="1800" kern="0">
                          <a:effectLst/>
                          <a:latin typeface="等线" panose="02010600030101010101" pitchFamily="2" charset="-122"/>
                          <a:ea typeface="等线" panose="02010600030101010101" pitchFamily="2" charset="-122"/>
                          <a:cs typeface="Times New Roman" panose="02020603050405020304" pitchFamily="18" charset="0"/>
                        </a:rPr>
                        <a:t>取决于领域知识的积累和演化</a:t>
                      </a:r>
                      <a:endParaRPr lang="zh-CN" altLang="en-US"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extLst>
                  <a:ext uri="{0D108BD9-81ED-4DB2-BD59-A6C34878D82A}">
                    <a16:rowId xmlns:a16="http://schemas.microsoft.com/office/drawing/2014/main" val="1140369438"/>
                  </a:ext>
                </a:extLst>
              </a:tr>
              <a:tr h="699506">
                <a:tc>
                  <a:txBody>
                    <a:bodyPr/>
                    <a:lstStyle/>
                    <a:p>
                      <a:pPr marL="0" marR="0" algn="just">
                        <a:spcBef>
                          <a:spcPts val="0"/>
                        </a:spcBef>
                        <a:spcAft>
                          <a:spcPts val="0"/>
                        </a:spcAft>
                      </a:pPr>
                      <a:r>
                        <a:rPr lang="zh-CN" altLang="en-US" sz="1800" kern="0">
                          <a:effectLst/>
                          <a:latin typeface="等线" panose="02010600030101010101" pitchFamily="2" charset="-122"/>
                          <a:ea typeface="等线" panose="02010600030101010101" pitchFamily="2" charset="-122"/>
                          <a:cs typeface="Times New Roman" panose="02020603050405020304" pitchFamily="18" charset="0"/>
                        </a:rPr>
                        <a:t>分类</a:t>
                      </a:r>
                      <a:endParaRPr lang="zh-CN" altLang="en-US"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tc>
                  <a:txBody>
                    <a:bodyPr/>
                    <a:lstStyle/>
                    <a:p>
                      <a:pPr marL="0" marR="0" algn="just">
                        <a:spcBef>
                          <a:spcPts val="0"/>
                        </a:spcBef>
                        <a:spcAft>
                          <a:spcPts val="0"/>
                        </a:spcAft>
                      </a:pPr>
                      <a:r>
                        <a:rPr lang="zh-CN" altLang="en-US" sz="1800" kern="0" dirty="0">
                          <a:effectLst/>
                          <a:latin typeface="等线" panose="02010600030101010101" pitchFamily="2" charset="-122"/>
                          <a:ea typeface="等线" panose="02010600030101010101" pitchFamily="2" charset="-122"/>
                          <a:cs typeface="Times New Roman" panose="02020603050405020304" pitchFamily="18" charset="0"/>
                        </a:rPr>
                        <a:t>主要分为系统软件和应用软件</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tc>
                  <a:txBody>
                    <a:bodyPr/>
                    <a:lstStyle/>
                    <a:p>
                      <a:pPr marL="0" marR="0" algn="just">
                        <a:spcBef>
                          <a:spcPts val="0"/>
                        </a:spcBef>
                        <a:spcAft>
                          <a:spcPts val="0"/>
                        </a:spcAft>
                      </a:pPr>
                      <a:r>
                        <a:rPr lang="zh-CN" altLang="en-US" sz="1800" kern="0">
                          <a:effectLst/>
                          <a:latin typeface="等线" panose="02010600030101010101" pitchFamily="2" charset="-122"/>
                          <a:ea typeface="等线" panose="02010600030101010101" pitchFamily="2" charset="-122"/>
                          <a:cs typeface="Times New Roman" panose="02020603050405020304" pitchFamily="18" charset="0"/>
                        </a:rPr>
                        <a:t>只有应用知件</a:t>
                      </a:r>
                      <a:endParaRPr lang="zh-CN" altLang="en-US"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extLst>
                  <a:ext uri="{0D108BD9-81ED-4DB2-BD59-A6C34878D82A}">
                    <a16:rowId xmlns:a16="http://schemas.microsoft.com/office/drawing/2014/main" val="3890021583"/>
                  </a:ext>
                </a:extLst>
              </a:tr>
              <a:tr h="699506">
                <a:tc>
                  <a:txBody>
                    <a:bodyPr/>
                    <a:lstStyle/>
                    <a:p>
                      <a:pPr marL="0" marR="0" algn="just">
                        <a:spcBef>
                          <a:spcPts val="0"/>
                        </a:spcBef>
                        <a:spcAft>
                          <a:spcPts val="0"/>
                        </a:spcAft>
                      </a:pPr>
                      <a:r>
                        <a:rPr lang="zh-CN" altLang="en-US" sz="1800" kern="0">
                          <a:effectLst/>
                          <a:latin typeface="等线" panose="02010600030101010101" pitchFamily="2" charset="-122"/>
                          <a:ea typeface="等线" panose="02010600030101010101" pitchFamily="2" charset="-122"/>
                          <a:cs typeface="Times New Roman" panose="02020603050405020304" pitchFamily="18" charset="0"/>
                        </a:rPr>
                        <a:t>开发者</a:t>
                      </a:r>
                      <a:endParaRPr lang="zh-CN" altLang="en-US"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tc>
                  <a:txBody>
                    <a:bodyPr/>
                    <a:lstStyle/>
                    <a:p>
                      <a:pPr marL="0" marR="0" algn="just">
                        <a:spcBef>
                          <a:spcPts val="0"/>
                        </a:spcBef>
                        <a:spcAft>
                          <a:spcPts val="0"/>
                        </a:spcAft>
                      </a:pPr>
                      <a:r>
                        <a:rPr lang="zh-CN" altLang="en-US" sz="1800" kern="0" dirty="0">
                          <a:effectLst/>
                          <a:latin typeface="等线" panose="02010600030101010101" pitchFamily="2" charset="-122"/>
                          <a:ea typeface="等线" panose="02010600030101010101" pitchFamily="2" charset="-122"/>
                          <a:cs typeface="Times New Roman" panose="02020603050405020304" pitchFamily="18" charset="0"/>
                        </a:rPr>
                        <a:t>软件工程师（有时需要领域专家支持）</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tc>
                  <a:txBody>
                    <a:bodyPr/>
                    <a:lstStyle/>
                    <a:p>
                      <a:pPr marL="0" marR="0" algn="just">
                        <a:spcBef>
                          <a:spcPts val="0"/>
                        </a:spcBef>
                        <a:spcAft>
                          <a:spcPts val="0"/>
                        </a:spcAft>
                      </a:pPr>
                      <a:r>
                        <a:rPr lang="zh-CN" altLang="en-US" sz="1800" kern="0">
                          <a:effectLst/>
                          <a:latin typeface="等线" panose="02010600030101010101" pitchFamily="2" charset="-122"/>
                          <a:ea typeface="等线" panose="02010600030101010101" pitchFamily="2" charset="-122"/>
                          <a:cs typeface="Times New Roman" panose="02020603050405020304" pitchFamily="18" charset="0"/>
                        </a:rPr>
                        <a:t>领域专家</a:t>
                      </a:r>
                      <a:endParaRPr lang="zh-CN" altLang="en-US"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extLst>
                  <a:ext uri="{0D108BD9-81ED-4DB2-BD59-A6C34878D82A}">
                    <a16:rowId xmlns:a16="http://schemas.microsoft.com/office/drawing/2014/main" val="1444739787"/>
                  </a:ext>
                </a:extLst>
              </a:tr>
              <a:tr h="699506">
                <a:tc>
                  <a:txBody>
                    <a:bodyPr/>
                    <a:lstStyle/>
                    <a:p>
                      <a:pPr marL="0" marR="0" algn="just">
                        <a:spcBef>
                          <a:spcPts val="0"/>
                        </a:spcBef>
                        <a:spcAft>
                          <a:spcPts val="0"/>
                        </a:spcAft>
                      </a:pPr>
                      <a:r>
                        <a:rPr lang="zh-CN" altLang="en-US" sz="1800" kern="0">
                          <a:effectLst/>
                          <a:latin typeface="等线" panose="02010600030101010101" pitchFamily="2" charset="-122"/>
                          <a:ea typeface="等线" panose="02010600030101010101" pitchFamily="2" charset="-122"/>
                          <a:cs typeface="Times New Roman" panose="02020603050405020304" pitchFamily="18" charset="0"/>
                        </a:rPr>
                        <a:t>知识产权</a:t>
                      </a:r>
                      <a:endParaRPr lang="zh-CN" altLang="en-US"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tc>
                  <a:txBody>
                    <a:bodyPr/>
                    <a:lstStyle/>
                    <a:p>
                      <a:pPr marL="0" marR="0" algn="just">
                        <a:spcBef>
                          <a:spcPts val="0"/>
                        </a:spcBef>
                        <a:spcAft>
                          <a:spcPts val="0"/>
                        </a:spcAft>
                      </a:pPr>
                      <a:r>
                        <a:rPr lang="zh-CN" altLang="en-US" sz="1800" kern="0" dirty="0">
                          <a:effectLst/>
                          <a:latin typeface="等线" panose="02010600030101010101" pitchFamily="2" charset="-122"/>
                          <a:ea typeface="等线" panose="02010600030101010101" pitchFamily="2" charset="-122"/>
                          <a:cs typeface="Times New Roman" panose="02020603050405020304" pitchFamily="18" charset="0"/>
                        </a:rPr>
                        <a:t>软件著作权</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tc>
                  <a:txBody>
                    <a:bodyPr/>
                    <a:lstStyle/>
                    <a:p>
                      <a:pPr marL="0" marR="0" algn="just">
                        <a:spcBef>
                          <a:spcPts val="0"/>
                        </a:spcBef>
                        <a:spcAft>
                          <a:spcPts val="0"/>
                        </a:spcAft>
                      </a:pPr>
                      <a:r>
                        <a:rPr lang="zh-CN" altLang="en-US" sz="1800" kern="0" dirty="0">
                          <a:effectLst/>
                          <a:latin typeface="等线" panose="02010600030101010101" pitchFamily="2" charset="-122"/>
                          <a:ea typeface="等线" panose="02010600030101010101" pitchFamily="2" charset="-122"/>
                          <a:cs typeface="Times New Roman" panose="02020603050405020304" pitchFamily="18" charset="0"/>
                        </a:rPr>
                        <a:t>专利</a:t>
                      </a:r>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tc>
                <a:extLst>
                  <a:ext uri="{0D108BD9-81ED-4DB2-BD59-A6C34878D82A}">
                    <a16:rowId xmlns:a16="http://schemas.microsoft.com/office/drawing/2014/main" val="3031459018"/>
                  </a:ext>
                </a:extLst>
              </a:tr>
            </a:tbl>
          </a:graphicData>
        </a:graphic>
      </p:graphicFrame>
    </p:spTree>
    <p:extLst>
      <p:ext uri="{BB962C8B-B14F-4D97-AF65-F5344CB8AC3E}">
        <p14:creationId xmlns:p14="http://schemas.microsoft.com/office/powerpoint/2010/main" val="2492871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知件（</a:t>
            </a:r>
            <a:r>
              <a:rPr lang="en-US" altLang="zh-CN" b="1" dirty="0"/>
              <a:t>Knowware</a:t>
            </a:r>
            <a:r>
              <a:rPr lang="zh-CN" altLang="en-US" b="1" dirty="0"/>
              <a:t>）意</a:t>
            </a:r>
            <a:r>
              <a:rPr lang="zh-CN" altLang="en-US" b="1" dirty="0" smtClean="0"/>
              <a:t>义</a:t>
            </a:r>
            <a:r>
              <a:rPr lang="en-US" altLang="zh-CN" b="1" dirty="0" smtClean="0"/>
              <a:t> </a:t>
            </a:r>
            <a:endParaRPr lang="zh-CN" altLang="en-US" dirty="0"/>
          </a:p>
        </p:txBody>
      </p:sp>
      <p:sp>
        <p:nvSpPr>
          <p:cNvPr id="3" name="内容占位符 2"/>
          <p:cNvSpPr>
            <a:spLocks noGrp="1"/>
          </p:cNvSpPr>
          <p:nvPr>
            <p:ph idx="1"/>
          </p:nvPr>
        </p:nvSpPr>
        <p:spPr>
          <a:xfrm>
            <a:off x="0" y="1196752"/>
            <a:ext cx="9144000" cy="4930998"/>
          </a:xfrm>
        </p:spPr>
        <p:txBody>
          <a:bodyPr/>
          <a:lstStyle/>
          <a:p>
            <a:r>
              <a:rPr lang="zh-CN" altLang="en-US" sz="2000" dirty="0"/>
              <a:t>一般的基于知识的系统都是对于某一方面特化的，因为不可能把世间万物的知识都放进一个知识库中，就算有，这样的知识库对于</a:t>
            </a:r>
            <a:r>
              <a:rPr lang="en-US" altLang="zh-CN" sz="2000" dirty="0"/>
              <a:t>PC</a:t>
            </a:r>
            <a:r>
              <a:rPr lang="zh-CN" altLang="en-US" sz="2000" dirty="0"/>
              <a:t>来说也应该是很可怕的事情。所以基于知识的系统都是特化某一方面的知识库，特化某一种类型的推理机的组合。</a:t>
            </a:r>
          </a:p>
          <a:p>
            <a:r>
              <a:rPr lang="zh-CN" altLang="en-US" sz="2000" dirty="0"/>
              <a:t>作为一个正式的术语，知件是才出现的，其出现是随着基于知识的系统的发展出现的。但是对于我们的知件系统来说这个词的意思稍微有点不同，我们主要做的不仅仅是知识的描述，重用和处理</a:t>
            </a:r>
            <a:r>
              <a:rPr lang="en-US" altLang="zh-CN" sz="2000" dirty="0"/>
              <a:t>,</a:t>
            </a:r>
            <a:r>
              <a:rPr lang="zh-CN" altLang="en-US" sz="2000" dirty="0"/>
              <a:t>而主要是自动构造一个根据用户提供的或者数据挖掘的知识的系统的方式，更多的说明在文档。</a:t>
            </a:r>
          </a:p>
          <a:p>
            <a:r>
              <a:rPr lang="zh-CN" altLang="en-US" sz="2000" dirty="0"/>
              <a:t>知件系统是一个用于辅助建立一个基于知识的系统的工具。知件系统并不包含任何具体知识。而只是有基本的智能组件，由使用者添加知识库和特定的系统模型就能够生成一个基于知识的系统。</a:t>
            </a:r>
          </a:p>
          <a:p>
            <a:r>
              <a:rPr lang="zh-CN" altLang="en-US" sz="2000" dirty="0"/>
              <a:t>知件系统的概念就是提供基本的智能组件，例如过滤组件，决策组件。用户使用这些基本的组件可以构成更复杂的，他们所需要的应用系统，而知识库也根据用户的需要进行添加。这样对于用户来说针对某一方面基于知识的系统就可以这样简单的构建出来了。</a:t>
            </a:r>
            <a:endParaRPr lang="zh-CN" altLang="en-US" sz="2000" dirty="0"/>
          </a:p>
        </p:txBody>
      </p:sp>
      <p:sp>
        <p:nvSpPr>
          <p:cNvPr id="4" name="日期占位符 3"/>
          <p:cNvSpPr>
            <a:spLocks noGrp="1"/>
          </p:cNvSpPr>
          <p:nvPr>
            <p:ph type="dt" sz="half" idx="10"/>
          </p:nvPr>
        </p:nvSpPr>
        <p:spPr/>
        <p:txBody>
          <a:bodyPr/>
          <a:lstStyle/>
          <a:p>
            <a:pPr>
              <a:defRPr/>
            </a:pPr>
            <a:fld id="{9FD41CD5-89FF-4815-9A8E-C21C31C05EB7}" type="datetime1">
              <a:rPr lang="zh-CN" altLang="en-US"/>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a:t>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2"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2"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2"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2"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build="p"/>
      <p:bldP spid="3" grpId="2"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049292" cy="576262"/>
          </a:xfrm>
        </p:spPr>
        <p:txBody>
          <a:bodyPr/>
          <a:lstStyle/>
          <a:p>
            <a:r>
              <a:rPr lang="zh-CN" altLang="en-US" dirty="0"/>
              <a:t>知件（</a:t>
            </a:r>
            <a:r>
              <a:rPr lang="en-US" altLang="zh-CN" dirty="0"/>
              <a:t>Knowware</a:t>
            </a:r>
            <a:r>
              <a:rPr lang="zh-CN" altLang="en-US" dirty="0" smtClean="0"/>
              <a:t>）</a:t>
            </a:r>
            <a:r>
              <a:rPr lang="en-US" altLang="zh-CN" dirty="0" smtClean="0"/>
              <a:t>——</a:t>
            </a:r>
            <a:r>
              <a:rPr lang="zh-CN" altLang="en-US" dirty="0" smtClean="0"/>
              <a:t>实例</a:t>
            </a:r>
            <a:r>
              <a:rPr lang="en-US" altLang="zh-CN" dirty="0" smtClean="0"/>
              <a:t> </a:t>
            </a:r>
            <a:endParaRPr lang="zh-CN" altLang="en-US" dirty="0"/>
          </a:p>
        </p:txBody>
      </p:sp>
      <p:sp>
        <p:nvSpPr>
          <p:cNvPr id="3" name="内容占位符 2"/>
          <p:cNvSpPr>
            <a:spLocks noGrp="1"/>
          </p:cNvSpPr>
          <p:nvPr>
            <p:ph idx="1"/>
          </p:nvPr>
        </p:nvSpPr>
        <p:spPr>
          <a:xfrm>
            <a:off x="0" y="1196752"/>
            <a:ext cx="9143999" cy="4896544"/>
          </a:xfrm>
        </p:spPr>
        <p:txBody>
          <a:bodyPr/>
          <a:lstStyle/>
          <a:p>
            <a:r>
              <a:rPr lang="zh-CN" altLang="en-US" sz="2500" dirty="0"/>
              <a:t>知件成果在东软熙康健康管理平台构建等项目中得到全面实施，有效提高了知识获取的效率和质量，规范了知识系统的构建。目前熙康健康管理平台已累计创建和管理</a:t>
            </a:r>
            <a:r>
              <a:rPr lang="en-US" altLang="zh-CN" sz="2500" dirty="0"/>
              <a:t>30000</a:t>
            </a:r>
            <a:r>
              <a:rPr lang="zh-CN" altLang="en-US" sz="2500" dirty="0"/>
              <a:t>多个领域知件，服务覆盖国内</a:t>
            </a:r>
            <a:r>
              <a:rPr lang="en-US" altLang="zh-CN" sz="2500" dirty="0"/>
              <a:t>30</a:t>
            </a:r>
            <a:r>
              <a:rPr lang="zh-CN" altLang="en-US" sz="2500" dirty="0"/>
              <a:t>个省（含直辖市、自治区）和</a:t>
            </a:r>
            <a:r>
              <a:rPr lang="en-US" altLang="zh-CN" sz="2500" dirty="0"/>
              <a:t>20000</a:t>
            </a:r>
            <a:r>
              <a:rPr lang="zh-CN" altLang="en-US" sz="2500" dirty="0"/>
              <a:t>多家基层医疗服务机构，服务人群近</a:t>
            </a:r>
            <a:r>
              <a:rPr lang="en-US" altLang="zh-CN" sz="2500" dirty="0"/>
              <a:t>3000</a:t>
            </a:r>
            <a:r>
              <a:rPr lang="zh-CN" altLang="en-US" sz="2500" dirty="0"/>
              <a:t>万人，取得巨大社会效益，受到国家领导人的高度关注</a:t>
            </a:r>
            <a:r>
              <a:rPr lang="zh-CN" altLang="en-US" sz="2500" dirty="0" smtClean="0"/>
              <a:t>。</a:t>
            </a:r>
            <a:endParaRPr lang="en-US" altLang="zh-CN" sz="2500" dirty="0" smtClean="0"/>
          </a:p>
          <a:p>
            <a:r>
              <a:rPr lang="zh-CN" altLang="en-US" sz="2400" dirty="0" smtClean="0"/>
              <a:t>该</a:t>
            </a:r>
            <a:r>
              <a:rPr lang="zh-CN" altLang="en-US" sz="2400" dirty="0"/>
              <a:t>成果整体直接应用于平安银行等</a:t>
            </a:r>
            <a:r>
              <a:rPr lang="en-US" altLang="zh-CN" sz="2400" dirty="0"/>
              <a:t>20</a:t>
            </a:r>
            <a:r>
              <a:rPr lang="zh-CN" altLang="en-US" sz="2400" dirty="0"/>
              <a:t>多家单位的</a:t>
            </a:r>
            <a:r>
              <a:rPr lang="zh-CN" altLang="en-US" sz="2400" dirty="0" smtClean="0"/>
              <a:t>知识</a:t>
            </a:r>
            <a:r>
              <a:rPr lang="zh-CN" altLang="en-US" sz="2400" dirty="0"/>
              <a:t>系统构建和智能系统知识库构建项目中，近三年直接新增销售额</a:t>
            </a:r>
            <a:r>
              <a:rPr lang="en-US" altLang="zh-CN" sz="2400" dirty="0"/>
              <a:t>5033</a:t>
            </a:r>
            <a:r>
              <a:rPr lang="zh-CN" altLang="en-US" sz="2400" dirty="0"/>
              <a:t>万元，新增利润</a:t>
            </a:r>
            <a:r>
              <a:rPr lang="en-US" altLang="zh-CN" sz="2400" dirty="0"/>
              <a:t>517.2</a:t>
            </a:r>
            <a:r>
              <a:rPr lang="zh-CN" altLang="en-US" sz="2400" dirty="0"/>
              <a:t>万元。 用于支持航天光达、江苏蓝安、上海汇和等企业完成行业知识系统的构建，并使其智能化程问题求 解结果的准确性等指标达到行业实际应用要求，自</a:t>
            </a:r>
            <a:r>
              <a:rPr lang="en-US" altLang="zh-CN" sz="2400" dirty="0"/>
              <a:t>2013</a:t>
            </a:r>
            <a:r>
              <a:rPr lang="zh-CN" altLang="en-US" sz="2400" dirty="0"/>
              <a:t>年来累计新增销售额</a:t>
            </a:r>
            <a:r>
              <a:rPr lang="en-US" altLang="zh-CN" sz="2400" dirty="0"/>
              <a:t>14312.8</a:t>
            </a:r>
            <a:r>
              <a:rPr lang="zh-CN" altLang="en-US" sz="2400" dirty="0"/>
              <a:t>万元，新增利润</a:t>
            </a:r>
            <a:r>
              <a:rPr lang="en-US" altLang="zh-CN" sz="2400" dirty="0"/>
              <a:t>743.6</a:t>
            </a:r>
            <a:r>
              <a:rPr lang="zh-CN" altLang="en-US" sz="2400" dirty="0"/>
              <a:t>万元。</a:t>
            </a:r>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5</a:t>
            </a:fld>
            <a:endParaRPr lang="en-US" altLang="zh-CN"/>
          </a:p>
        </p:txBody>
      </p:sp>
    </p:spTree>
    <p:extLst>
      <p:ext uri="{BB962C8B-B14F-4D97-AF65-F5344CB8AC3E}">
        <p14:creationId xmlns:p14="http://schemas.microsoft.com/office/powerpoint/2010/main" val="3572071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6481762" cy="576262"/>
          </a:xfrm>
        </p:spPr>
        <p:txBody>
          <a:bodyPr/>
          <a:lstStyle/>
          <a:p>
            <a:r>
              <a:rPr lang="zh-CN" altLang="en-US" b="1" dirty="0"/>
              <a:t>知件（</a:t>
            </a:r>
            <a:r>
              <a:rPr lang="en-US" altLang="zh-CN" b="1" dirty="0"/>
              <a:t>Knowware</a:t>
            </a:r>
            <a:r>
              <a:rPr lang="zh-CN" altLang="en-US" b="1" dirty="0" smtClean="0"/>
              <a:t>）</a:t>
            </a:r>
            <a:r>
              <a:rPr lang="en-US" altLang="zh-CN" b="1" dirty="0" smtClean="0"/>
              <a:t>——</a:t>
            </a:r>
            <a:r>
              <a:rPr lang="zh-CN" altLang="en-US" b="1" dirty="0" smtClean="0"/>
              <a:t>优点</a:t>
            </a:r>
            <a:endParaRPr lang="zh-CN" altLang="en-US" dirty="0"/>
          </a:p>
        </p:txBody>
      </p:sp>
      <p:sp>
        <p:nvSpPr>
          <p:cNvPr id="3" name="内容占位符 2"/>
          <p:cNvSpPr>
            <a:spLocks noGrp="1"/>
          </p:cNvSpPr>
          <p:nvPr>
            <p:ph idx="1"/>
          </p:nvPr>
        </p:nvSpPr>
        <p:spPr>
          <a:xfrm>
            <a:off x="468630" y="1158875"/>
            <a:ext cx="8141970" cy="4934421"/>
          </a:xfrm>
        </p:spPr>
        <p:txBody>
          <a:bodyPr/>
          <a:lstStyle/>
          <a:p>
            <a:r>
              <a:rPr lang="zh-CN" altLang="en-US" dirty="0"/>
              <a:t>知件系统也控制着系统整体的有效性，对于最后完成的基于知识的系统，知件系统会在整体上对其完成一个完整的流程控制，遇到错误怎么办，结果无效怎么办，之类的都在知件系统中事先进行了设定和调整，这样屏蔽掉系统控制的部分也可以让用户省下不少的时间。</a:t>
            </a:r>
          </a:p>
          <a:p>
            <a:r>
              <a:rPr lang="zh-CN" altLang="en-US" dirty="0"/>
              <a:t>知件系统的使用者所需要做的就是把智能组件按照他所需要的系统要求连接起来，加上某一领域的知识库。就可以得到他所想要的一个基于知识的系统。知件系统就是这样一个辅助建立基于知识系统的工具系统。。</a:t>
            </a:r>
            <a:endParaRPr lang="zh-CN" altLang="en-US" dirty="0"/>
          </a:p>
        </p:txBody>
      </p:sp>
      <p:sp>
        <p:nvSpPr>
          <p:cNvPr id="4" name="日期占位符 3"/>
          <p:cNvSpPr>
            <a:spLocks noGrp="1"/>
          </p:cNvSpPr>
          <p:nvPr>
            <p:ph type="dt" sz="half" idx="10"/>
          </p:nvPr>
        </p:nvSpPr>
        <p:spPr/>
        <p:txBody>
          <a:bodyPr/>
          <a:lstStyle/>
          <a:p>
            <a:pPr>
              <a:defRPr/>
            </a:pPr>
            <a:fld id="{9FD41CD5-89FF-4815-9A8E-C21C31C05EB7}" type="datetime1">
              <a:rPr lang="zh-CN" altLang="en-US"/>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a:t>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7415212" cy="576262"/>
          </a:xfrm>
        </p:spPr>
        <p:txBody>
          <a:bodyPr/>
          <a:lstStyle/>
          <a:p>
            <a:r>
              <a:rPr lang="zh-CN" altLang="en-US" dirty="0"/>
              <a:t>知件（</a:t>
            </a:r>
            <a:r>
              <a:rPr lang="en-US" altLang="zh-CN" dirty="0"/>
              <a:t>Knowware</a:t>
            </a:r>
            <a:r>
              <a:rPr lang="zh-CN" altLang="en-US" dirty="0" smtClean="0"/>
              <a:t>）</a:t>
            </a:r>
            <a:r>
              <a:rPr lang="en-US" altLang="zh-CN" dirty="0" smtClean="0"/>
              <a:t>——</a:t>
            </a:r>
            <a:r>
              <a:rPr lang="zh-CN" altLang="en-US" dirty="0" smtClean="0">
                <a:solidFill>
                  <a:srgbClr val="FF0000"/>
                </a:solidFill>
              </a:rPr>
              <a:t>研</a:t>
            </a:r>
            <a:r>
              <a:rPr lang="zh-CN" altLang="en-US" dirty="0">
                <a:solidFill>
                  <a:srgbClr val="FF0000"/>
                </a:solidFill>
              </a:rPr>
              <a:t>究现状</a:t>
            </a:r>
          </a:p>
        </p:txBody>
      </p:sp>
      <p:sp>
        <p:nvSpPr>
          <p:cNvPr id="3" name="内容占位符 2"/>
          <p:cNvSpPr>
            <a:spLocks noGrp="1"/>
          </p:cNvSpPr>
          <p:nvPr>
            <p:ph idx="1"/>
          </p:nvPr>
        </p:nvSpPr>
        <p:spPr>
          <a:xfrm>
            <a:off x="0" y="1196752"/>
            <a:ext cx="9143999" cy="4680173"/>
          </a:xfrm>
        </p:spPr>
        <p:txBody>
          <a:bodyPr/>
          <a:lstStyle/>
          <a:p>
            <a:r>
              <a:rPr lang="zh-CN" altLang="en-US" sz="2400" dirty="0"/>
              <a:t>陆汝钤院士在多年知识系统研究经验基础上，提出“知件”概念和将“知件”与“硬 件”、“软件”作为信息技术三大基石的理念，旨在刻画智能化软件的知识特征</a:t>
            </a:r>
            <a:r>
              <a:rPr lang="zh-CN" altLang="en-US" sz="2400" dirty="0" smtClean="0"/>
              <a:t>。</a:t>
            </a:r>
            <a:endParaRPr lang="en-US" altLang="zh-CN" sz="2400" dirty="0" smtClean="0"/>
          </a:p>
          <a:p>
            <a:r>
              <a:rPr lang="zh-CN" altLang="en-US" sz="2400" dirty="0" smtClean="0"/>
              <a:t>该</a:t>
            </a:r>
            <a:r>
              <a:rPr lang="zh-CN" altLang="en-US" sz="2400" dirty="0"/>
              <a:t>成果以知件为核 心，知件获取为突破口，知件中间件为支撑，基于知件的问题求解为目标，在知识内容模块化、知件获取在线化、知件推理目的化和知识服务个性化等方面取得突破性进展，为知识服务平台和智能 化软件的构造提供关键技术支撑和实践指南，为知识产业奠定基础</a:t>
            </a:r>
            <a:r>
              <a:rPr lang="zh-CN" altLang="en-US" sz="2400" dirty="0" smtClean="0"/>
              <a:t>。</a:t>
            </a:r>
            <a:endParaRPr lang="en-US" altLang="zh-CN" sz="2400" dirty="0" smtClean="0"/>
          </a:p>
          <a:p>
            <a:r>
              <a:rPr lang="zh-CN" altLang="en-US" sz="2400" dirty="0" smtClean="0"/>
              <a:t>目</a:t>
            </a:r>
            <a:r>
              <a:rPr lang="zh-CN" altLang="en-US" sz="2400" dirty="0"/>
              <a:t>前，陆汝钤院士团队正在按照大知识软件工程原则，以大型知识图谱为中心内容，建设一个大知识系统，其中体系结构和服务功能是两个主攻方向</a:t>
            </a:r>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7</a:t>
            </a:fld>
            <a:endParaRPr lang="en-US" altLang="zh-CN"/>
          </a:p>
        </p:txBody>
      </p:sp>
    </p:spTree>
    <p:extLst>
      <p:ext uri="{BB962C8B-B14F-4D97-AF65-F5344CB8AC3E}">
        <p14:creationId xmlns:p14="http://schemas.microsoft.com/office/powerpoint/2010/main" val="22808468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思考题</a:t>
            </a:r>
            <a:endParaRPr lang="zh-CN" altLang="en-US" dirty="0"/>
          </a:p>
        </p:txBody>
      </p:sp>
      <p:sp>
        <p:nvSpPr>
          <p:cNvPr id="3" name="内容占位符 2"/>
          <p:cNvSpPr>
            <a:spLocks noGrp="1"/>
          </p:cNvSpPr>
          <p:nvPr>
            <p:ph idx="1"/>
          </p:nvPr>
        </p:nvSpPr>
        <p:spPr/>
        <p:txBody>
          <a:bodyPr/>
          <a:lstStyle/>
          <a:p>
            <a:r>
              <a:rPr lang="en-US" altLang="zh-CN" dirty="0"/>
              <a:t>1</a:t>
            </a:r>
            <a:r>
              <a:rPr lang="zh-CN" altLang="en-US" dirty="0"/>
              <a:t>什么是知件？</a:t>
            </a:r>
          </a:p>
          <a:p>
            <a:r>
              <a:rPr lang="en-US" altLang="zh-CN" dirty="0"/>
              <a:t>2</a:t>
            </a:r>
            <a:r>
              <a:rPr lang="zh-CN" altLang="en-US" dirty="0"/>
              <a:t>知件具有哪些特点？</a:t>
            </a:r>
          </a:p>
        </p:txBody>
      </p:sp>
      <p:sp>
        <p:nvSpPr>
          <p:cNvPr id="4" name="日期占位符 3"/>
          <p:cNvSpPr>
            <a:spLocks noGrp="1"/>
          </p:cNvSpPr>
          <p:nvPr>
            <p:ph type="dt" sz="half" idx="10"/>
          </p:nvPr>
        </p:nvSpPr>
        <p:spPr/>
        <p:txBody>
          <a:bodyPr/>
          <a:lstStyle/>
          <a:p>
            <a:pPr>
              <a:defRPr/>
            </a:pPr>
            <a:fld id="{9FD41CD5-89FF-4815-9A8E-C21C31C05EB7}" type="datetime1">
              <a:rPr lang="zh-CN" altLang="en-US" smtClean="0"/>
              <a:t>2021/11/14</a:t>
            </a:fld>
            <a:endParaRPr lang="en-US" altLang="zh-CN"/>
          </a:p>
        </p:txBody>
      </p:sp>
      <p:sp>
        <p:nvSpPr>
          <p:cNvPr id="5" name="灯片编号占位符 4"/>
          <p:cNvSpPr>
            <a:spLocks noGrp="1"/>
          </p:cNvSpPr>
          <p:nvPr>
            <p:ph type="sldNum" sz="quarter" idx="12"/>
          </p:nvPr>
        </p:nvSpPr>
        <p:spPr/>
        <p:txBody>
          <a:bodyPr/>
          <a:lstStyle/>
          <a:p>
            <a:pPr>
              <a:defRPr/>
            </a:pPr>
            <a:fld id="{B9108D6E-A297-4ADF-9676-E7DF0EB00A91}" type="slidenum">
              <a:rPr lang="en-US" altLang="zh-CN" smtClean="0"/>
              <a:t>8</a:t>
            </a:fld>
            <a:endParaRPr lang="en-US" altLang="zh-CN"/>
          </a:p>
        </p:txBody>
      </p:sp>
    </p:spTree>
    <p:extLst>
      <p:ext uri="{BB962C8B-B14F-4D97-AF65-F5344CB8AC3E}">
        <p14:creationId xmlns:p14="http://schemas.microsoft.com/office/powerpoint/2010/main" val="14534874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3FAA6BF-FC65-42B7-B3DA-EEABD2231966}" type="datetime1">
              <a:rPr lang="zh-CN" altLang="en-US"/>
              <a:t>2021/11/11</a:t>
            </a:fld>
            <a:endParaRPr lang="en-US" altLang="zh-CN"/>
          </a:p>
        </p:txBody>
      </p:sp>
      <p:sp>
        <p:nvSpPr>
          <p:cNvPr id="6147"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A306D690-7FB6-4F1C-A386-B6D9CAEF90B5}" type="slidenum">
              <a:rPr lang="en-US" altLang="zh-CN" sz="1600" smtClean="0"/>
              <a:t>9</a:t>
            </a:fld>
            <a:endParaRPr lang="en-US" altLang="zh-CN" sz="1600" smtClean="0"/>
          </a:p>
        </p:txBody>
      </p:sp>
      <p:sp>
        <p:nvSpPr>
          <p:cNvPr id="2" name="文本框 1"/>
          <p:cNvSpPr txBox="1"/>
          <p:nvPr/>
        </p:nvSpPr>
        <p:spPr>
          <a:xfrm>
            <a:off x="2339752" y="2924944"/>
            <a:ext cx="4608512" cy="1015663"/>
          </a:xfrm>
          <a:prstGeom prst="rect">
            <a:avLst/>
          </a:prstGeom>
          <a:noFill/>
        </p:spPr>
        <p:txBody>
          <a:bodyPr wrap="square" rtlCol="0">
            <a:spAutoFit/>
          </a:bodyPr>
          <a:lstStyle/>
          <a:p>
            <a:r>
              <a:rPr lang="en-US" altLang="zh-CN" sz="6000" b="1" dirty="0" smtClean="0"/>
              <a:t>Thank You</a:t>
            </a:r>
            <a:r>
              <a:rPr lang="zh-CN" altLang="en-US" sz="6000" b="1" dirty="0" smtClean="0"/>
              <a:t>！</a:t>
            </a:r>
            <a:endParaRPr lang="zh-CN" altLang="en-US" sz="6000" b="1"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xis">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4794</TotalTime>
  <Words>1861</Words>
  <Application>Microsoft Office PowerPoint</Application>
  <PresentationFormat>全屏显示(4:3)</PresentationFormat>
  <Paragraphs>65</Paragraphs>
  <Slides>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9</vt:i4>
      </vt:variant>
    </vt:vector>
  </HeadingPairs>
  <TitlesOfParts>
    <vt:vector size="15" baseType="lpstr">
      <vt:lpstr>等线</vt:lpstr>
      <vt:lpstr>宋体</vt:lpstr>
      <vt:lpstr>Arial</vt:lpstr>
      <vt:lpstr>Times New Roman</vt:lpstr>
      <vt:lpstr>Wingdings</vt:lpstr>
      <vt:lpstr>Axis</vt:lpstr>
      <vt:lpstr>知件（Knowware）</vt:lpstr>
      <vt:lpstr>知件（Knowware）</vt:lpstr>
      <vt:lpstr>知件（Knowware）与软件比较 </vt:lpstr>
      <vt:lpstr>知件（Knowware）意义 </vt:lpstr>
      <vt:lpstr>知件（Knowware）——实例 </vt:lpstr>
      <vt:lpstr>知件（Knowware）——优点</vt:lpstr>
      <vt:lpstr>知件（Knowware）——研究现状</vt:lpstr>
      <vt:lpstr>思考题</vt:lpstr>
      <vt:lpstr>PowerPoint 演示文稿</vt:lpstr>
    </vt:vector>
  </TitlesOfParts>
  <Company>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HMM词性标注</dc:title>
  <dc:creator>HuangShujian</dc:creator>
  <cp:lastModifiedBy>nie</cp:lastModifiedBy>
  <cp:revision>918</cp:revision>
  <dcterms:created xsi:type="dcterms:W3CDTF">2005-03-03T04:54:00Z</dcterms:created>
  <dcterms:modified xsi:type="dcterms:W3CDTF">2021-11-14T07:48:52Z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F116C3EDCEB844DA810AB381055B1871</vt:lpwstr>
  </property>
  <property fmtid="{D5CDD505-2E9C-101B-9397-08002B2CF9AE}" pid="3" name="KSOProductBuildVer">
    <vt:lpwstr>2052-11.1.0.10495</vt:lpwstr>
  </property>
</Properties>
</file>