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7" r:id="rId4"/>
    <p:sldId id="262" r:id="rId5"/>
    <p:sldId id="258" r:id="rId6"/>
    <p:sldId id="259" r:id="rId7"/>
    <p:sldId id="263" r:id="rId8"/>
    <p:sldId id="261" r:id="rId9"/>
    <p:sldId id="265" r:id="rId10"/>
    <p:sldId id="266" r:id="rId11"/>
    <p:sldId id="267" r:id="rId12"/>
    <p:sldId id="268" r:id="rId13"/>
    <p:sldId id="269" r:id="rId14"/>
    <p:sldId id="270" r:id="rId15"/>
    <p:sldId id="271" r:id="rId16"/>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9B7532-AB01-4E53-98E8-B51E2E5718D4}" type="doc">
      <dgm:prSet loTypeId="urn:microsoft.com/office/officeart/2005/8/layout/cycle1" loCatId="cycle" qsTypeId="urn:microsoft.com/office/officeart/2005/8/quickstyle/simple4" qsCatId="simple" csTypeId="urn:microsoft.com/office/officeart/2005/8/colors/accent1_2" csCatId="accent1" phldr="1"/>
      <dgm:spPr/>
      <dgm:t>
        <a:bodyPr/>
        <a:lstStyle/>
        <a:p>
          <a:endParaRPr lang="zh-CN" altLang="en-US"/>
        </a:p>
      </dgm:t>
    </dgm:pt>
    <dgm:pt modelId="{472478DB-49C0-40D5-AFB8-5C533A6F0126}">
      <dgm:prSet phldrT="[文本]" custT="1"/>
      <dgm:spPr/>
      <dgm:t>
        <a:bodyPr/>
        <a:lstStyle/>
        <a:p>
          <a:pPr marL="0" lvl="0" algn="ctr" defTabSz="666750">
            <a:lnSpc>
              <a:spcPct val="90000"/>
            </a:lnSpc>
            <a:spcBef>
              <a:spcPct val="0"/>
            </a:spcBef>
            <a:spcAft>
              <a:spcPct val="35000"/>
            </a:spcAft>
            <a:buNone/>
          </a:pPr>
          <a:r>
            <a:rPr lang="zh-CN" altLang="en-US" sz="1500" kern="1200" dirty="0"/>
            <a:t>在风险变为问题前发现</a:t>
          </a:r>
          <a:endParaRPr lang="en-US" altLang="zh-CN" sz="15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识别</a:t>
          </a:r>
        </a:p>
      </dgm:t>
    </dgm:pt>
    <dgm:pt modelId="{DB8BE856-2657-47F0-8F3D-269D3EE07668}" cxnId="{693D8511-9A2A-45A3-A243-7A3263DAD17C}" type="parTrans">
      <dgm:prSet/>
      <dgm:spPr/>
      <dgm:t>
        <a:bodyPr/>
        <a:lstStyle/>
        <a:p>
          <a:endParaRPr lang="zh-CN" altLang="en-US"/>
        </a:p>
      </dgm:t>
    </dgm:pt>
    <dgm:pt modelId="{BC4370A7-B615-4212-829C-F75707F4B6CC}" cxnId="{693D8511-9A2A-45A3-A243-7A3263DAD17C}" type="sibTrans">
      <dgm:prSet/>
      <dgm:spPr/>
      <dgm:t>
        <a:bodyPr/>
        <a:lstStyle/>
        <a:p>
          <a:endParaRPr lang="zh-CN" altLang="en-US"/>
        </a:p>
      </dgm:t>
    </dgm:pt>
    <dgm:pt modelId="{04C27AB3-0D43-4AC3-94C5-7BF59F1C0541}">
      <dgm:prSet phldrT="[文本]" custT="1"/>
      <dgm:spPr/>
      <dgm:t>
        <a:bodyPr/>
        <a:lstStyle/>
        <a:p>
          <a:pPr marL="0" lvl="0" algn="ctr" defTabSz="666750">
            <a:lnSpc>
              <a:spcPct val="90000"/>
            </a:lnSpc>
            <a:spcBef>
              <a:spcPct val="0"/>
            </a:spcBef>
            <a:spcAft>
              <a:spcPct val="35000"/>
            </a:spcAft>
            <a:buNone/>
          </a:pPr>
          <a:r>
            <a:rPr lang="zh-CN" altLang="en-US" sz="1500" kern="1200" dirty="0"/>
            <a:t>对风险的影响，概率进行分析</a:t>
          </a:r>
          <a:endParaRPr lang="en-US" altLang="zh-CN" sz="15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分析</a:t>
          </a:r>
        </a:p>
      </dgm:t>
    </dgm:pt>
    <dgm:pt modelId="{845A8689-57D2-4CF0-9FB7-F8A773B5C748}" cxnId="{A988FC7C-5DC2-4115-9149-E5A9E95F27AE}" type="parTrans">
      <dgm:prSet/>
      <dgm:spPr/>
      <dgm:t>
        <a:bodyPr/>
        <a:lstStyle/>
        <a:p>
          <a:endParaRPr lang="zh-CN" altLang="en-US"/>
        </a:p>
      </dgm:t>
    </dgm:pt>
    <dgm:pt modelId="{70AC86EC-3029-493B-A366-C10F1E1F47A8}" cxnId="{A988FC7C-5DC2-4115-9149-E5A9E95F27AE}" type="sibTrans">
      <dgm:prSet/>
      <dgm:spPr/>
      <dgm:t>
        <a:bodyPr/>
        <a:lstStyle/>
        <a:p>
          <a:endParaRPr lang="zh-CN" altLang="en-US"/>
        </a:p>
      </dgm:t>
    </dgm:pt>
    <dgm:pt modelId="{F4F069E3-9F96-4208-B216-A15EAD7949EF}">
      <dgm:prSet phldrT="[文本]" custT="1"/>
      <dgm:spPr/>
      <dgm:t>
        <a:bodyPr/>
        <a:lstStyle/>
        <a:p>
          <a:pPr marL="0" lvl="0" algn="ctr" defTabSz="711200">
            <a:lnSpc>
              <a:spcPct val="90000"/>
            </a:lnSpc>
            <a:spcBef>
              <a:spcPct val="0"/>
            </a:spcBef>
            <a:spcAft>
              <a:spcPct val="35000"/>
            </a:spcAft>
            <a:buNone/>
          </a:pPr>
          <a:r>
            <a:rPr lang="zh-CN" altLang="en-US" sz="1600" kern="1200" dirty="0"/>
            <a:t>给予分析，做出决策</a:t>
          </a:r>
          <a:endParaRPr lang="en-US" altLang="zh-CN" sz="16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计划</a:t>
          </a:r>
        </a:p>
      </dgm:t>
    </dgm:pt>
    <dgm:pt modelId="{84BAC01A-6C19-4B24-9A41-7DA822C59113}" cxnId="{345A1A09-7F58-483F-94C9-E183E50D07BB}" type="parTrans">
      <dgm:prSet/>
      <dgm:spPr/>
      <dgm:t>
        <a:bodyPr/>
        <a:lstStyle/>
        <a:p>
          <a:endParaRPr lang="zh-CN" altLang="en-US"/>
        </a:p>
      </dgm:t>
    </dgm:pt>
    <dgm:pt modelId="{66328639-BCDB-4957-9741-40FEB8255A6F}" cxnId="{345A1A09-7F58-483F-94C9-E183E50D07BB}" type="sibTrans">
      <dgm:prSet/>
      <dgm:spPr/>
      <dgm:t>
        <a:bodyPr/>
        <a:lstStyle/>
        <a:p>
          <a:endParaRPr lang="zh-CN" altLang="en-US"/>
        </a:p>
      </dgm:t>
    </dgm:pt>
    <dgm:pt modelId="{DA74257F-4C7B-483A-A830-6336F9F0DD18}">
      <dgm:prSet phldrT="[文本]" custT="1"/>
      <dgm:spPr/>
      <dgm:t>
        <a:bodyPr/>
        <a:lstStyle/>
        <a:p>
          <a:pPr marL="0" lvl="0" algn="ctr" defTabSz="711200">
            <a:lnSpc>
              <a:spcPct val="90000"/>
            </a:lnSpc>
            <a:spcBef>
              <a:spcPct val="0"/>
            </a:spcBef>
            <a:spcAft>
              <a:spcPct val="35000"/>
            </a:spcAft>
            <a:buNone/>
          </a:pPr>
          <a:r>
            <a:rPr lang="zh-CN" altLang="en-US" sz="1600" kern="1200" dirty="0"/>
            <a:t>弱化，转移，控制风险</a:t>
          </a:r>
          <a:endParaRPr lang="en-US" altLang="zh-CN" sz="16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控制</a:t>
          </a:r>
        </a:p>
      </dgm:t>
    </dgm:pt>
    <dgm:pt modelId="{B6F0CBB9-560F-493B-959C-9C0EF8BB359C}" cxnId="{0635E749-DA0E-4D97-920D-599088DB5CBC}" type="parTrans">
      <dgm:prSet/>
      <dgm:spPr/>
      <dgm:t>
        <a:bodyPr/>
        <a:lstStyle/>
        <a:p>
          <a:endParaRPr lang="zh-CN" altLang="en-US"/>
        </a:p>
      </dgm:t>
    </dgm:pt>
    <dgm:pt modelId="{49585F44-8DFE-4BF1-B722-2F31908C109C}" cxnId="{0635E749-DA0E-4D97-920D-599088DB5CBC}" type="sibTrans">
      <dgm:prSet/>
      <dgm:spPr/>
      <dgm:t>
        <a:bodyPr/>
        <a:lstStyle/>
        <a:p>
          <a:endParaRPr lang="zh-CN" altLang="en-US"/>
        </a:p>
      </dgm:t>
    </dgm:pt>
    <dgm:pt modelId="{B2FDB4A1-7418-43CB-9333-5ABEE5CBED10}">
      <dgm:prSet phldrT="[文本]" custT="1"/>
      <dgm:spPr/>
      <dgm:t>
        <a:bodyPr/>
        <a:lstStyle/>
        <a:p>
          <a:r>
            <a:rPr lang="zh-CN" altLang="en-US" sz="1400" dirty="0"/>
            <a:t>检查对策的适应性</a:t>
          </a:r>
          <a:endParaRPr lang="en-US" altLang="zh-CN" sz="1400" dirty="0"/>
        </a:p>
        <a:p>
          <a:r>
            <a:rPr lang="zh-CN" altLang="en-US" sz="2400" dirty="0"/>
            <a:t>跟踪</a:t>
          </a:r>
        </a:p>
      </dgm:t>
    </dgm:pt>
    <dgm:pt modelId="{8CF7B065-387E-49D9-BA4E-6B55D3F51D9A}" cxnId="{0D64CC8C-059E-4CD4-9514-0FEB95CCC79D}" type="parTrans">
      <dgm:prSet/>
      <dgm:spPr/>
      <dgm:t>
        <a:bodyPr/>
        <a:lstStyle/>
        <a:p>
          <a:endParaRPr lang="zh-CN" altLang="en-US"/>
        </a:p>
      </dgm:t>
    </dgm:pt>
    <dgm:pt modelId="{4EAC14E0-2CDA-4650-9F6A-E177E2BB04F4}" cxnId="{0D64CC8C-059E-4CD4-9514-0FEB95CCC79D}" type="sibTrans">
      <dgm:prSet/>
      <dgm:spPr/>
      <dgm:t>
        <a:bodyPr/>
        <a:lstStyle/>
        <a:p>
          <a:endParaRPr lang="zh-CN" altLang="en-US"/>
        </a:p>
      </dgm:t>
    </dgm:pt>
    <dgm:pt modelId="{6D0A06CE-63D5-4E78-B8AE-8BCF8F5136A8}" type="pres">
      <dgm:prSet presAssocID="{849B7532-AB01-4E53-98E8-B51E2E5718D4}" presName="cycle" presStyleCnt="0">
        <dgm:presLayoutVars>
          <dgm:dir/>
          <dgm:resizeHandles val="exact"/>
        </dgm:presLayoutVars>
      </dgm:prSet>
      <dgm:spPr/>
      <dgm:t>
        <a:bodyPr/>
        <a:lstStyle/>
        <a:p>
          <a:endParaRPr lang="zh-CN" altLang="en-US"/>
        </a:p>
      </dgm:t>
    </dgm:pt>
    <dgm:pt modelId="{286CB6C4-2907-4561-9FF0-C534D71D09C6}" type="pres">
      <dgm:prSet presAssocID="{472478DB-49C0-40D5-AFB8-5C533A6F0126}" presName="dummy" presStyleCnt="0"/>
      <dgm:spPr/>
    </dgm:pt>
    <dgm:pt modelId="{1C173752-3066-4E82-AA5F-B39589108911}" type="pres">
      <dgm:prSet presAssocID="{472478DB-49C0-40D5-AFB8-5C533A6F0126}" presName="node" presStyleLbl="revTx" presStyleIdx="0" presStyleCnt="5" custScaleX="131232">
        <dgm:presLayoutVars>
          <dgm:bulletEnabled val="1"/>
        </dgm:presLayoutVars>
      </dgm:prSet>
      <dgm:spPr/>
      <dgm:t>
        <a:bodyPr/>
        <a:lstStyle/>
        <a:p>
          <a:endParaRPr lang="zh-CN" altLang="en-US"/>
        </a:p>
      </dgm:t>
    </dgm:pt>
    <dgm:pt modelId="{C4C30298-7076-4050-882F-A73D11F7D87C}" type="pres">
      <dgm:prSet presAssocID="{BC4370A7-B615-4212-829C-F75707F4B6CC}" presName="sibTrans" presStyleLbl="node1" presStyleIdx="0" presStyleCnt="5"/>
      <dgm:spPr/>
      <dgm:t>
        <a:bodyPr/>
        <a:lstStyle/>
        <a:p>
          <a:endParaRPr lang="zh-CN" altLang="en-US"/>
        </a:p>
      </dgm:t>
    </dgm:pt>
    <dgm:pt modelId="{DB5B7D4E-9CAC-4928-9798-EE70C11BFE9E}" type="pres">
      <dgm:prSet presAssocID="{04C27AB3-0D43-4AC3-94C5-7BF59F1C0541}" presName="dummy" presStyleCnt="0"/>
      <dgm:spPr/>
    </dgm:pt>
    <dgm:pt modelId="{CA981023-167E-4045-8CEB-DA9080ACE638}" type="pres">
      <dgm:prSet presAssocID="{04C27AB3-0D43-4AC3-94C5-7BF59F1C0541}" presName="node" presStyleLbl="revTx" presStyleIdx="1" presStyleCnt="5" custScaleX="170350">
        <dgm:presLayoutVars>
          <dgm:bulletEnabled val="1"/>
        </dgm:presLayoutVars>
      </dgm:prSet>
      <dgm:spPr/>
      <dgm:t>
        <a:bodyPr/>
        <a:lstStyle/>
        <a:p>
          <a:endParaRPr lang="zh-CN" altLang="en-US"/>
        </a:p>
      </dgm:t>
    </dgm:pt>
    <dgm:pt modelId="{AADAC409-86AF-4FCD-8201-D68CFB0D0921}" type="pres">
      <dgm:prSet presAssocID="{70AC86EC-3029-493B-A366-C10F1E1F47A8}" presName="sibTrans" presStyleLbl="node1" presStyleIdx="1" presStyleCnt="5"/>
      <dgm:spPr/>
      <dgm:t>
        <a:bodyPr/>
        <a:lstStyle/>
        <a:p>
          <a:endParaRPr lang="zh-CN" altLang="en-US"/>
        </a:p>
      </dgm:t>
    </dgm:pt>
    <dgm:pt modelId="{001C0AEC-189A-46F0-88D9-87EA09D9E72F}" type="pres">
      <dgm:prSet presAssocID="{F4F069E3-9F96-4208-B216-A15EAD7949EF}" presName="dummy" presStyleCnt="0"/>
      <dgm:spPr/>
    </dgm:pt>
    <dgm:pt modelId="{294EC211-1A5A-4FE5-BA53-1DDE7171561F}" type="pres">
      <dgm:prSet presAssocID="{F4F069E3-9F96-4208-B216-A15EAD7949EF}" presName="node" presStyleLbl="revTx" presStyleIdx="2" presStyleCnt="5" custScaleX="114991">
        <dgm:presLayoutVars>
          <dgm:bulletEnabled val="1"/>
        </dgm:presLayoutVars>
      </dgm:prSet>
      <dgm:spPr/>
      <dgm:t>
        <a:bodyPr/>
        <a:lstStyle/>
        <a:p>
          <a:endParaRPr lang="zh-CN" altLang="en-US"/>
        </a:p>
      </dgm:t>
    </dgm:pt>
    <dgm:pt modelId="{06583742-F7DB-4E89-9AA4-A493AE56D3FC}" type="pres">
      <dgm:prSet presAssocID="{66328639-BCDB-4957-9741-40FEB8255A6F}" presName="sibTrans" presStyleLbl="node1" presStyleIdx="2" presStyleCnt="5"/>
      <dgm:spPr/>
      <dgm:t>
        <a:bodyPr/>
        <a:lstStyle/>
        <a:p>
          <a:endParaRPr lang="zh-CN" altLang="en-US"/>
        </a:p>
      </dgm:t>
    </dgm:pt>
    <dgm:pt modelId="{07D6E1C7-371E-4A0F-9A66-367EC85C4998}" type="pres">
      <dgm:prSet presAssocID="{DA74257F-4C7B-483A-A830-6336F9F0DD18}" presName="dummy" presStyleCnt="0"/>
      <dgm:spPr/>
    </dgm:pt>
    <dgm:pt modelId="{0E56FAA4-D29A-47C8-BB1A-351371FE8097}" type="pres">
      <dgm:prSet presAssocID="{DA74257F-4C7B-483A-A830-6336F9F0DD18}" presName="node" presStyleLbl="revTx" presStyleIdx="3" presStyleCnt="5" custScaleX="165115">
        <dgm:presLayoutVars>
          <dgm:bulletEnabled val="1"/>
        </dgm:presLayoutVars>
      </dgm:prSet>
      <dgm:spPr/>
      <dgm:t>
        <a:bodyPr/>
        <a:lstStyle/>
        <a:p>
          <a:endParaRPr lang="zh-CN" altLang="en-US"/>
        </a:p>
      </dgm:t>
    </dgm:pt>
    <dgm:pt modelId="{B91AC1B1-6A6F-4EA7-877F-37BB6BF36BCD}" type="pres">
      <dgm:prSet presAssocID="{49585F44-8DFE-4BF1-B722-2F31908C109C}" presName="sibTrans" presStyleLbl="node1" presStyleIdx="3" presStyleCnt="5"/>
      <dgm:spPr/>
      <dgm:t>
        <a:bodyPr/>
        <a:lstStyle/>
        <a:p>
          <a:endParaRPr lang="zh-CN" altLang="en-US"/>
        </a:p>
      </dgm:t>
    </dgm:pt>
    <dgm:pt modelId="{BE8205DA-7BBD-4716-AC25-1A8DD1077BC1}" type="pres">
      <dgm:prSet presAssocID="{B2FDB4A1-7418-43CB-9333-5ABEE5CBED10}" presName="dummy" presStyleCnt="0"/>
      <dgm:spPr/>
    </dgm:pt>
    <dgm:pt modelId="{A83ECE86-E778-4578-99EC-D82643B7B997}" type="pres">
      <dgm:prSet presAssocID="{B2FDB4A1-7418-43CB-9333-5ABEE5CBED10}" presName="node" presStyleLbl="revTx" presStyleIdx="4" presStyleCnt="5" custScaleX="109870">
        <dgm:presLayoutVars>
          <dgm:bulletEnabled val="1"/>
        </dgm:presLayoutVars>
      </dgm:prSet>
      <dgm:spPr/>
      <dgm:t>
        <a:bodyPr/>
        <a:lstStyle/>
        <a:p>
          <a:endParaRPr lang="zh-CN" altLang="en-US"/>
        </a:p>
      </dgm:t>
    </dgm:pt>
    <dgm:pt modelId="{5DD22FB8-EE94-42B4-8DB6-221E75BFAC7C}" type="pres">
      <dgm:prSet presAssocID="{4EAC14E0-2CDA-4650-9F6A-E177E2BB04F4}" presName="sibTrans" presStyleLbl="node1" presStyleIdx="4" presStyleCnt="5"/>
      <dgm:spPr/>
      <dgm:t>
        <a:bodyPr/>
        <a:lstStyle/>
        <a:p>
          <a:endParaRPr lang="zh-CN" altLang="en-US"/>
        </a:p>
      </dgm:t>
    </dgm:pt>
  </dgm:ptLst>
  <dgm:cxnLst>
    <dgm:cxn modelId="{DA43B82A-8622-40B7-80F8-ABFE078945B9}" type="presOf" srcId="{49585F44-8DFE-4BF1-B722-2F31908C109C}" destId="{B91AC1B1-6A6F-4EA7-877F-37BB6BF36BCD}" srcOrd="0" destOrd="0" presId="urn:microsoft.com/office/officeart/2005/8/layout/cycle1"/>
    <dgm:cxn modelId="{C8A6B38A-720B-4AA5-9B9A-4F8BF7B81691}" type="presOf" srcId="{472478DB-49C0-40D5-AFB8-5C533A6F0126}" destId="{1C173752-3066-4E82-AA5F-B39589108911}" srcOrd="0" destOrd="0" presId="urn:microsoft.com/office/officeart/2005/8/layout/cycle1"/>
    <dgm:cxn modelId="{AD72DB53-B691-4BB1-8F62-DDA80020A802}" type="presOf" srcId="{66328639-BCDB-4957-9741-40FEB8255A6F}" destId="{06583742-F7DB-4E89-9AA4-A493AE56D3FC}" srcOrd="0" destOrd="0" presId="urn:microsoft.com/office/officeart/2005/8/layout/cycle1"/>
    <dgm:cxn modelId="{C27067CD-F171-4C56-93EA-B4BBB032A758}" type="presOf" srcId="{DA74257F-4C7B-483A-A830-6336F9F0DD18}" destId="{0E56FAA4-D29A-47C8-BB1A-351371FE8097}" srcOrd="0" destOrd="0" presId="urn:microsoft.com/office/officeart/2005/8/layout/cycle1"/>
    <dgm:cxn modelId="{AB8C17E0-A616-457C-88B4-1A737C4C3BA6}" type="presOf" srcId="{BC4370A7-B615-4212-829C-F75707F4B6CC}" destId="{C4C30298-7076-4050-882F-A73D11F7D87C}" srcOrd="0" destOrd="0" presId="urn:microsoft.com/office/officeart/2005/8/layout/cycle1"/>
    <dgm:cxn modelId="{693D8511-9A2A-45A3-A243-7A3263DAD17C}" srcId="{849B7532-AB01-4E53-98E8-B51E2E5718D4}" destId="{472478DB-49C0-40D5-AFB8-5C533A6F0126}" srcOrd="0" destOrd="0" parTransId="{DB8BE856-2657-47F0-8F3D-269D3EE07668}" sibTransId="{BC4370A7-B615-4212-829C-F75707F4B6CC}"/>
    <dgm:cxn modelId="{A988FC7C-5DC2-4115-9149-E5A9E95F27AE}" srcId="{849B7532-AB01-4E53-98E8-B51E2E5718D4}" destId="{04C27AB3-0D43-4AC3-94C5-7BF59F1C0541}" srcOrd="1" destOrd="0" parTransId="{845A8689-57D2-4CF0-9FB7-F8A773B5C748}" sibTransId="{70AC86EC-3029-493B-A366-C10F1E1F47A8}"/>
    <dgm:cxn modelId="{708C51DC-9A3C-4287-8E95-C6D5F64A7D28}" type="presOf" srcId="{4EAC14E0-2CDA-4650-9F6A-E177E2BB04F4}" destId="{5DD22FB8-EE94-42B4-8DB6-221E75BFAC7C}" srcOrd="0" destOrd="0" presId="urn:microsoft.com/office/officeart/2005/8/layout/cycle1"/>
    <dgm:cxn modelId="{3BFD95AA-1B48-40C6-B934-9A4D96D387A9}" type="presOf" srcId="{F4F069E3-9F96-4208-B216-A15EAD7949EF}" destId="{294EC211-1A5A-4FE5-BA53-1DDE7171561F}" srcOrd="0" destOrd="0" presId="urn:microsoft.com/office/officeart/2005/8/layout/cycle1"/>
    <dgm:cxn modelId="{0D64CC8C-059E-4CD4-9514-0FEB95CCC79D}" srcId="{849B7532-AB01-4E53-98E8-B51E2E5718D4}" destId="{B2FDB4A1-7418-43CB-9333-5ABEE5CBED10}" srcOrd="4" destOrd="0" parTransId="{8CF7B065-387E-49D9-BA4E-6B55D3F51D9A}" sibTransId="{4EAC14E0-2CDA-4650-9F6A-E177E2BB04F4}"/>
    <dgm:cxn modelId="{345A1A09-7F58-483F-94C9-E183E50D07BB}" srcId="{849B7532-AB01-4E53-98E8-B51E2E5718D4}" destId="{F4F069E3-9F96-4208-B216-A15EAD7949EF}" srcOrd="2" destOrd="0" parTransId="{84BAC01A-6C19-4B24-9A41-7DA822C59113}" sibTransId="{66328639-BCDB-4957-9741-40FEB8255A6F}"/>
    <dgm:cxn modelId="{3BEE0C06-ECCC-40C7-A3B6-CFF5F2DD22DD}" type="presOf" srcId="{04C27AB3-0D43-4AC3-94C5-7BF59F1C0541}" destId="{CA981023-167E-4045-8CEB-DA9080ACE638}" srcOrd="0" destOrd="0" presId="urn:microsoft.com/office/officeart/2005/8/layout/cycle1"/>
    <dgm:cxn modelId="{0635E749-DA0E-4D97-920D-599088DB5CBC}" srcId="{849B7532-AB01-4E53-98E8-B51E2E5718D4}" destId="{DA74257F-4C7B-483A-A830-6336F9F0DD18}" srcOrd="3" destOrd="0" parTransId="{B6F0CBB9-560F-493B-959C-9C0EF8BB359C}" sibTransId="{49585F44-8DFE-4BF1-B722-2F31908C109C}"/>
    <dgm:cxn modelId="{5B358224-EF42-4CD4-9441-4DAEBBFD6132}" type="presOf" srcId="{849B7532-AB01-4E53-98E8-B51E2E5718D4}" destId="{6D0A06CE-63D5-4E78-B8AE-8BCF8F5136A8}" srcOrd="0" destOrd="0" presId="urn:microsoft.com/office/officeart/2005/8/layout/cycle1"/>
    <dgm:cxn modelId="{C49717B8-91B6-4497-AB18-795100C6266D}" type="presOf" srcId="{70AC86EC-3029-493B-A366-C10F1E1F47A8}" destId="{AADAC409-86AF-4FCD-8201-D68CFB0D0921}" srcOrd="0" destOrd="0" presId="urn:microsoft.com/office/officeart/2005/8/layout/cycle1"/>
    <dgm:cxn modelId="{36869410-35A5-4260-AC41-0937522F16E2}" type="presOf" srcId="{B2FDB4A1-7418-43CB-9333-5ABEE5CBED10}" destId="{A83ECE86-E778-4578-99EC-D82643B7B997}" srcOrd="0" destOrd="0" presId="urn:microsoft.com/office/officeart/2005/8/layout/cycle1"/>
    <dgm:cxn modelId="{B1C7EE6E-4206-45AF-893D-5A26825EE768}" type="presParOf" srcId="{6D0A06CE-63D5-4E78-B8AE-8BCF8F5136A8}" destId="{286CB6C4-2907-4561-9FF0-C534D71D09C6}" srcOrd="0" destOrd="0" presId="urn:microsoft.com/office/officeart/2005/8/layout/cycle1"/>
    <dgm:cxn modelId="{9274BD93-897B-47AA-A70D-9AA8D371ADE9}" type="presParOf" srcId="{6D0A06CE-63D5-4E78-B8AE-8BCF8F5136A8}" destId="{1C173752-3066-4E82-AA5F-B39589108911}" srcOrd="1" destOrd="0" presId="urn:microsoft.com/office/officeart/2005/8/layout/cycle1"/>
    <dgm:cxn modelId="{B8A77D83-2791-4B5E-8680-6EDC2B0547A3}" type="presParOf" srcId="{6D0A06CE-63D5-4E78-B8AE-8BCF8F5136A8}" destId="{C4C30298-7076-4050-882F-A73D11F7D87C}" srcOrd="2" destOrd="0" presId="urn:microsoft.com/office/officeart/2005/8/layout/cycle1"/>
    <dgm:cxn modelId="{92505C96-90F5-4520-A283-6838482FC6C5}" type="presParOf" srcId="{6D0A06CE-63D5-4E78-B8AE-8BCF8F5136A8}" destId="{DB5B7D4E-9CAC-4928-9798-EE70C11BFE9E}" srcOrd="3" destOrd="0" presId="urn:microsoft.com/office/officeart/2005/8/layout/cycle1"/>
    <dgm:cxn modelId="{2F8B1ADC-5298-4C43-98CC-A3A1E50A1F4B}" type="presParOf" srcId="{6D0A06CE-63D5-4E78-B8AE-8BCF8F5136A8}" destId="{CA981023-167E-4045-8CEB-DA9080ACE638}" srcOrd="4" destOrd="0" presId="urn:microsoft.com/office/officeart/2005/8/layout/cycle1"/>
    <dgm:cxn modelId="{52C9DCB9-5CF2-4B7B-BB8E-FF2A836F3C29}" type="presParOf" srcId="{6D0A06CE-63D5-4E78-B8AE-8BCF8F5136A8}" destId="{AADAC409-86AF-4FCD-8201-D68CFB0D0921}" srcOrd="5" destOrd="0" presId="urn:microsoft.com/office/officeart/2005/8/layout/cycle1"/>
    <dgm:cxn modelId="{66BE9F4F-7701-4433-AAAA-D3666F60CF8D}" type="presParOf" srcId="{6D0A06CE-63D5-4E78-B8AE-8BCF8F5136A8}" destId="{001C0AEC-189A-46F0-88D9-87EA09D9E72F}" srcOrd="6" destOrd="0" presId="urn:microsoft.com/office/officeart/2005/8/layout/cycle1"/>
    <dgm:cxn modelId="{4A18F068-28AC-4AB6-B81F-3E27ADC09B2D}" type="presParOf" srcId="{6D0A06CE-63D5-4E78-B8AE-8BCF8F5136A8}" destId="{294EC211-1A5A-4FE5-BA53-1DDE7171561F}" srcOrd="7" destOrd="0" presId="urn:microsoft.com/office/officeart/2005/8/layout/cycle1"/>
    <dgm:cxn modelId="{4BD47E93-EB45-45B7-9174-3B80FD5287EA}" type="presParOf" srcId="{6D0A06CE-63D5-4E78-B8AE-8BCF8F5136A8}" destId="{06583742-F7DB-4E89-9AA4-A493AE56D3FC}" srcOrd="8" destOrd="0" presId="urn:microsoft.com/office/officeart/2005/8/layout/cycle1"/>
    <dgm:cxn modelId="{32D102D3-61BA-4F35-9F34-0CC0EF158935}" type="presParOf" srcId="{6D0A06CE-63D5-4E78-B8AE-8BCF8F5136A8}" destId="{07D6E1C7-371E-4A0F-9A66-367EC85C4998}" srcOrd="9" destOrd="0" presId="urn:microsoft.com/office/officeart/2005/8/layout/cycle1"/>
    <dgm:cxn modelId="{AF506238-2406-49C6-B280-B809D9554D72}" type="presParOf" srcId="{6D0A06CE-63D5-4E78-B8AE-8BCF8F5136A8}" destId="{0E56FAA4-D29A-47C8-BB1A-351371FE8097}" srcOrd="10" destOrd="0" presId="urn:microsoft.com/office/officeart/2005/8/layout/cycle1"/>
    <dgm:cxn modelId="{7CA6C637-FBC4-4BA0-A3C6-64AA1C7D219E}" type="presParOf" srcId="{6D0A06CE-63D5-4E78-B8AE-8BCF8F5136A8}" destId="{B91AC1B1-6A6F-4EA7-877F-37BB6BF36BCD}" srcOrd="11" destOrd="0" presId="urn:microsoft.com/office/officeart/2005/8/layout/cycle1"/>
    <dgm:cxn modelId="{B4DF9DD0-6430-460A-A899-F15D8204866B}" type="presParOf" srcId="{6D0A06CE-63D5-4E78-B8AE-8BCF8F5136A8}" destId="{BE8205DA-7BBD-4716-AC25-1A8DD1077BC1}" srcOrd="12" destOrd="0" presId="urn:microsoft.com/office/officeart/2005/8/layout/cycle1"/>
    <dgm:cxn modelId="{5AC51C6D-A6B7-49D7-A26C-44BE7636AE48}" type="presParOf" srcId="{6D0A06CE-63D5-4E78-B8AE-8BCF8F5136A8}" destId="{A83ECE86-E778-4578-99EC-D82643B7B997}" srcOrd="13" destOrd="0" presId="urn:microsoft.com/office/officeart/2005/8/layout/cycle1"/>
    <dgm:cxn modelId="{A0B2E4A7-D49C-43EC-9650-0A0FC271C32F}" type="presParOf" srcId="{6D0A06CE-63D5-4E78-B8AE-8BCF8F5136A8}" destId="{5DD22FB8-EE94-42B4-8DB6-221E75BFAC7C}" srcOrd="14" destOrd="0" presId="urn:microsoft.com/office/officeart/2005/8/layout/cycle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173752-3066-4E82-AA5F-B39589108911}">
      <dsp:nvSpPr>
        <dsp:cNvPr id="0" name=""/>
        <dsp:cNvSpPr/>
      </dsp:nvSpPr>
      <dsp:spPr>
        <a:xfrm>
          <a:off x="5822493" y="32931"/>
          <a:ext cx="1423810" cy="1084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algn="ctr" defTabSz="666750">
            <a:lnSpc>
              <a:spcPct val="90000"/>
            </a:lnSpc>
            <a:spcBef>
              <a:spcPct val="0"/>
            </a:spcBef>
            <a:spcAft>
              <a:spcPct val="35000"/>
            </a:spcAft>
            <a:buNone/>
          </a:pPr>
          <a:r>
            <a:rPr lang="zh-CN" altLang="en-US" sz="1500" kern="1200" dirty="0"/>
            <a:t>在风险变为问题前发现</a:t>
          </a:r>
          <a:endParaRPr lang="en-US" altLang="zh-CN" sz="15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识别</a:t>
          </a:r>
        </a:p>
      </dsp:txBody>
      <dsp:txXfrm>
        <a:off x="5822493" y="32931"/>
        <a:ext cx="1423810" cy="1084957"/>
      </dsp:txXfrm>
    </dsp:sp>
    <dsp:sp modelId="{C4C30298-7076-4050-882F-A73D11F7D87C}">
      <dsp:nvSpPr>
        <dsp:cNvPr id="0" name=""/>
        <dsp:cNvSpPr/>
      </dsp:nvSpPr>
      <dsp:spPr>
        <a:xfrm>
          <a:off x="3435884" y="1083"/>
          <a:ext cx="4072632" cy="4072632"/>
        </a:xfrm>
        <a:prstGeom prst="circularArrow">
          <a:avLst>
            <a:gd name="adj1" fmla="val 5195"/>
            <a:gd name="adj2" fmla="val 335525"/>
            <a:gd name="adj3" fmla="val 21294821"/>
            <a:gd name="adj4" fmla="val 19764855"/>
            <a:gd name="adj5" fmla="val 6061"/>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A981023-167E-4045-8CEB-DA9080ACE638}">
      <dsp:nvSpPr>
        <dsp:cNvPr id="0" name=""/>
        <dsp:cNvSpPr/>
      </dsp:nvSpPr>
      <dsp:spPr>
        <a:xfrm>
          <a:off x="6266760" y="2053351"/>
          <a:ext cx="1848224" cy="1084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algn="ctr" defTabSz="666750">
            <a:lnSpc>
              <a:spcPct val="90000"/>
            </a:lnSpc>
            <a:spcBef>
              <a:spcPct val="0"/>
            </a:spcBef>
            <a:spcAft>
              <a:spcPct val="35000"/>
            </a:spcAft>
            <a:buNone/>
          </a:pPr>
          <a:r>
            <a:rPr lang="zh-CN" altLang="en-US" sz="1500" kern="1200" dirty="0"/>
            <a:t>对风险的影响，概率进行分析</a:t>
          </a:r>
          <a:endParaRPr lang="en-US" altLang="zh-CN" sz="15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分析</a:t>
          </a:r>
        </a:p>
      </dsp:txBody>
      <dsp:txXfrm>
        <a:off x="6266760" y="2053351"/>
        <a:ext cx="1848224" cy="1084957"/>
      </dsp:txXfrm>
    </dsp:sp>
    <dsp:sp modelId="{AADAC409-86AF-4FCD-8201-D68CFB0D0921}">
      <dsp:nvSpPr>
        <dsp:cNvPr id="0" name=""/>
        <dsp:cNvSpPr/>
      </dsp:nvSpPr>
      <dsp:spPr>
        <a:xfrm>
          <a:off x="3435884" y="1083"/>
          <a:ext cx="4072632" cy="4072632"/>
        </a:xfrm>
        <a:prstGeom prst="circularArrow">
          <a:avLst>
            <a:gd name="adj1" fmla="val 5195"/>
            <a:gd name="adj2" fmla="val 335525"/>
            <a:gd name="adj3" fmla="val 3852867"/>
            <a:gd name="adj4" fmla="val 2251930"/>
            <a:gd name="adj5" fmla="val 6061"/>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94EC211-1A5A-4FE5-BA53-1DDE7171561F}">
      <dsp:nvSpPr>
        <dsp:cNvPr id="0" name=""/>
        <dsp:cNvSpPr/>
      </dsp:nvSpPr>
      <dsp:spPr>
        <a:xfrm>
          <a:off x="4848399" y="3302040"/>
          <a:ext cx="1247602" cy="1084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algn="ctr" defTabSz="711200">
            <a:lnSpc>
              <a:spcPct val="90000"/>
            </a:lnSpc>
            <a:spcBef>
              <a:spcPct val="0"/>
            </a:spcBef>
            <a:spcAft>
              <a:spcPct val="35000"/>
            </a:spcAft>
            <a:buNone/>
          </a:pPr>
          <a:r>
            <a:rPr lang="zh-CN" altLang="en-US" sz="1600" kern="1200" dirty="0"/>
            <a:t>给予分析，做出决策</a:t>
          </a:r>
          <a:endParaRPr lang="en-US" altLang="zh-CN" sz="16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计划</a:t>
          </a:r>
        </a:p>
      </dsp:txBody>
      <dsp:txXfrm>
        <a:off x="4848399" y="3302040"/>
        <a:ext cx="1247602" cy="1084957"/>
      </dsp:txXfrm>
    </dsp:sp>
    <dsp:sp modelId="{06583742-F7DB-4E89-9AA4-A493AE56D3FC}">
      <dsp:nvSpPr>
        <dsp:cNvPr id="0" name=""/>
        <dsp:cNvSpPr/>
      </dsp:nvSpPr>
      <dsp:spPr>
        <a:xfrm>
          <a:off x="3435884" y="1083"/>
          <a:ext cx="4072632" cy="4072632"/>
        </a:xfrm>
        <a:prstGeom prst="circularArrow">
          <a:avLst>
            <a:gd name="adj1" fmla="val 5195"/>
            <a:gd name="adj2" fmla="val 335525"/>
            <a:gd name="adj3" fmla="val 8212545"/>
            <a:gd name="adj4" fmla="val 6611608"/>
            <a:gd name="adj5" fmla="val 6061"/>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E56FAA4-D29A-47C8-BB1A-351371FE8097}">
      <dsp:nvSpPr>
        <dsp:cNvPr id="0" name=""/>
        <dsp:cNvSpPr/>
      </dsp:nvSpPr>
      <dsp:spPr>
        <a:xfrm>
          <a:off x="2857814" y="2053351"/>
          <a:ext cx="1791426" cy="1084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algn="ctr" defTabSz="711200">
            <a:lnSpc>
              <a:spcPct val="90000"/>
            </a:lnSpc>
            <a:spcBef>
              <a:spcPct val="0"/>
            </a:spcBef>
            <a:spcAft>
              <a:spcPct val="35000"/>
            </a:spcAft>
            <a:buNone/>
          </a:pPr>
          <a:r>
            <a:rPr lang="zh-CN" altLang="en-US" sz="1600" kern="1200" dirty="0"/>
            <a:t>弱化，转移，控制风险</a:t>
          </a:r>
          <a:endParaRPr lang="en-US" altLang="zh-CN" sz="1600" kern="1200" dirty="0"/>
        </a:p>
        <a:p>
          <a:pPr marL="0" lvl="0" algn="ctr" defTabSz="666750">
            <a:lnSpc>
              <a:spcPct val="90000"/>
            </a:lnSpc>
            <a:spcBef>
              <a:spcPct val="0"/>
            </a:spcBef>
            <a:spcAft>
              <a:spcPct val="35000"/>
            </a:spcAft>
            <a:buNone/>
          </a:pPr>
          <a:r>
            <a:rPr lang="zh-CN" altLang="en-US" sz="2400" kern="1200" dirty="0">
              <a:solidFill>
                <a:prstClr val="black">
                  <a:hueOff val="0"/>
                  <a:satOff val="0"/>
                  <a:lumOff val="0"/>
                  <a:alphaOff val="0"/>
                </a:prstClr>
              </a:solidFill>
              <a:latin typeface="Palatino Linotype" panose="02040502050505030304"/>
              <a:ea typeface="宋体" panose="02010600030101010101" pitchFamily="2" charset="-122"/>
              <a:cs typeface="+mn-cs"/>
            </a:rPr>
            <a:t>控制</a:t>
          </a:r>
        </a:p>
      </dsp:txBody>
      <dsp:txXfrm>
        <a:off x="2857814" y="2053351"/>
        <a:ext cx="1791426" cy="1084957"/>
      </dsp:txXfrm>
    </dsp:sp>
    <dsp:sp modelId="{B91AC1B1-6A6F-4EA7-877F-37BB6BF36BCD}">
      <dsp:nvSpPr>
        <dsp:cNvPr id="0" name=""/>
        <dsp:cNvSpPr/>
      </dsp:nvSpPr>
      <dsp:spPr>
        <a:xfrm>
          <a:off x="3435884" y="1083"/>
          <a:ext cx="4072632" cy="4072632"/>
        </a:xfrm>
        <a:prstGeom prst="circularArrow">
          <a:avLst>
            <a:gd name="adj1" fmla="val 5195"/>
            <a:gd name="adj2" fmla="val 335525"/>
            <a:gd name="adj3" fmla="val 12299619"/>
            <a:gd name="adj4" fmla="val 10769654"/>
            <a:gd name="adj5" fmla="val 6061"/>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83ECE86-E778-4578-99EC-D82643B7B997}">
      <dsp:nvSpPr>
        <dsp:cNvPr id="0" name=""/>
        <dsp:cNvSpPr/>
      </dsp:nvSpPr>
      <dsp:spPr>
        <a:xfrm>
          <a:off x="3813981" y="32931"/>
          <a:ext cx="1192042" cy="1084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a:t>检查对策的适应性</a:t>
          </a:r>
          <a:endParaRPr lang="en-US" altLang="zh-CN" sz="1400" kern="1200" dirty="0"/>
        </a:p>
        <a:p>
          <a:pPr lvl="0" algn="ctr" defTabSz="622300">
            <a:lnSpc>
              <a:spcPct val="90000"/>
            </a:lnSpc>
            <a:spcBef>
              <a:spcPct val="0"/>
            </a:spcBef>
            <a:spcAft>
              <a:spcPct val="35000"/>
            </a:spcAft>
          </a:pPr>
          <a:r>
            <a:rPr lang="zh-CN" altLang="en-US" sz="2400" kern="1200" dirty="0"/>
            <a:t>跟踪</a:t>
          </a:r>
        </a:p>
      </dsp:txBody>
      <dsp:txXfrm>
        <a:off x="3813981" y="32931"/>
        <a:ext cx="1192042" cy="1084957"/>
      </dsp:txXfrm>
    </dsp:sp>
    <dsp:sp modelId="{5DD22FB8-EE94-42B4-8DB6-221E75BFAC7C}">
      <dsp:nvSpPr>
        <dsp:cNvPr id="0" name=""/>
        <dsp:cNvSpPr/>
      </dsp:nvSpPr>
      <dsp:spPr>
        <a:xfrm>
          <a:off x="3435884" y="1083"/>
          <a:ext cx="4072632" cy="4072632"/>
        </a:xfrm>
        <a:prstGeom prst="circularArrow">
          <a:avLst>
            <a:gd name="adj1" fmla="val 5195"/>
            <a:gd name="adj2" fmla="val 335525"/>
            <a:gd name="adj3" fmla="val 16535094"/>
            <a:gd name="adj4" fmla="val 15303033"/>
            <a:gd name="adj5" fmla="val 6061"/>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49C76E-D6CD-4D67-9C75-C93D9B88253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3FEDBA-BD1D-4A9B-9179-1CCDFA6FF53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fld>
            <a:endParaRPr lang="zh-CN" alt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fld>
            <a:endParaRPr lang="zh-CN" alt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840FD20-7688-452C-8792-06956155867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CF0681-CED7-4E0C-8FF4-B16FA1D6022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40FD20-7688-452C-8792-06956155867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CF0681-CED7-4E0C-8FF4-B16FA1D6022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3.wdp"/><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7" Type="http://schemas.openxmlformats.org/officeDocument/2006/relationships/slideLayout" Target="../slideLayouts/slideLayout7.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软件质量保障与控制</a:t>
            </a:r>
            <a:br>
              <a:rPr lang="en-US" altLang="zh-CN" dirty="0" smtClean="0"/>
            </a:br>
            <a:r>
              <a:rPr lang="en-US" altLang="zh-CN" dirty="0" err="1" smtClean="0"/>
              <a:t>Qa&amp;Qc</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a:t>
            </a:r>
            <a:r>
              <a:rPr lang="en-US" altLang="zh-CN" dirty="0" err="1" smtClean="0"/>
              <a:t>Qa</a:t>
            </a:r>
            <a:r>
              <a:rPr lang="zh-CN" altLang="en-US" dirty="0" smtClean="0"/>
              <a:t>和</a:t>
            </a:r>
            <a:r>
              <a:rPr lang="en-US" altLang="zh-CN" dirty="0" smtClean="0"/>
              <a:t>Qc</a:t>
            </a:r>
            <a:endParaRPr lang="zh-CN" altLang="en-US" dirty="0"/>
          </a:p>
        </p:txBody>
      </p:sp>
      <p:sp>
        <p:nvSpPr>
          <p:cNvPr id="3" name="内容占位符 2"/>
          <p:cNvSpPr>
            <a:spLocks noGrp="1"/>
          </p:cNvSpPr>
          <p:nvPr>
            <p:ph idx="1"/>
          </p:nvPr>
        </p:nvSpPr>
        <p:spPr/>
        <p:txBody>
          <a:bodyPr/>
          <a:lstStyle/>
          <a:p>
            <a:r>
              <a:rPr lang="en-US" altLang="zh-CN" dirty="0" smtClean="0"/>
              <a:t>QA(Quality Assurance </a:t>
            </a:r>
            <a:r>
              <a:rPr lang="zh-CN" altLang="en-US" dirty="0" smtClean="0"/>
              <a:t>质量保证</a:t>
            </a:r>
            <a:r>
              <a:rPr lang="en-US" altLang="zh-CN" dirty="0" smtClean="0"/>
              <a:t>)</a:t>
            </a:r>
            <a:endParaRPr lang="en-US" altLang="zh-CN" dirty="0"/>
          </a:p>
          <a:p>
            <a:pPr marL="0" indent="0">
              <a:buNone/>
            </a:pPr>
            <a:r>
              <a:rPr lang="en-US" altLang="zh-CN" dirty="0" smtClean="0"/>
              <a:t>	</a:t>
            </a:r>
            <a:r>
              <a:rPr lang="zh-CN" altLang="en-US" dirty="0" smtClean="0"/>
              <a:t>为</a:t>
            </a:r>
            <a:r>
              <a:rPr lang="zh-CN" altLang="en-US" dirty="0"/>
              <a:t>了提供足够的信任表明实体能满足质量要求，而实施的根据需要进行证实的全部有计划、有系统的活动。针对项目产品的技术手段。</a:t>
            </a:r>
            <a:endParaRPr lang="en-US" altLang="zh-CN" dirty="0" smtClean="0"/>
          </a:p>
          <a:p>
            <a:pPr marL="0" indent="0">
              <a:buNone/>
            </a:pPr>
            <a:endParaRPr lang="en-US" altLang="zh-CN" dirty="0" smtClean="0"/>
          </a:p>
          <a:p>
            <a:r>
              <a:rPr lang="en-US" altLang="zh-CN" dirty="0" smtClean="0"/>
              <a:t>QC</a:t>
            </a:r>
            <a:r>
              <a:rPr lang="zh-CN" altLang="en-US" dirty="0" smtClean="0"/>
              <a:t>（</a:t>
            </a:r>
            <a:r>
              <a:rPr lang="en-US" altLang="zh-CN" dirty="0" smtClean="0"/>
              <a:t>Quality Control </a:t>
            </a:r>
            <a:r>
              <a:rPr lang="zh-CN" altLang="en-US" dirty="0" smtClean="0"/>
              <a:t>质量控制）</a:t>
            </a:r>
            <a:endParaRPr lang="en-US" altLang="zh-CN" dirty="0" smtClean="0"/>
          </a:p>
          <a:p>
            <a:pPr marL="0" indent="0">
              <a:buNone/>
            </a:pPr>
            <a:r>
              <a:rPr lang="en-US" altLang="zh-CN" dirty="0" smtClean="0"/>
              <a:t>	</a:t>
            </a:r>
            <a:r>
              <a:rPr lang="zh-CN" altLang="en-US" dirty="0"/>
              <a:t>为达到质量要求所采取的作业技术和活动。针对项目实施过程的管理手段。</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Qa</a:t>
            </a:r>
            <a:r>
              <a:rPr lang="zh-CN" altLang="en-US" dirty="0" smtClean="0"/>
              <a:t>细说</a:t>
            </a:r>
            <a:endParaRPr lang="zh-CN" altLang="en-US" dirty="0"/>
          </a:p>
        </p:txBody>
      </p:sp>
      <p:sp>
        <p:nvSpPr>
          <p:cNvPr id="3" name="内容占位符 2"/>
          <p:cNvSpPr>
            <a:spLocks noGrp="1"/>
          </p:cNvSpPr>
          <p:nvPr>
            <p:ph idx="1"/>
          </p:nvPr>
        </p:nvSpPr>
        <p:spPr/>
        <p:txBody>
          <a:bodyPr/>
          <a:lstStyle/>
          <a:p>
            <a:r>
              <a:rPr lang="en-US" altLang="zh-CN" dirty="0" smtClean="0"/>
              <a:t>    </a:t>
            </a:r>
            <a:r>
              <a:rPr lang="zh-CN" altLang="zh-CN" dirty="0" smtClean="0"/>
              <a:t>一般地说</a:t>
            </a:r>
            <a:r>
              <a:rPr lang="zh-CN" altLang="zh-CN" dirty="0"/>
              <a:t>，项目的</a:t>
            </a:r>
            <a:r>
              <a:rPr lang="en-US" altLang="zh-CN" dirty="0"/>
              <a:t>QA</a:t>
            </a:r>
            <a:r>
              <a:rPr lang="zh-CN" altLang="zh-CN" dirty="0"/>
              <a:t>人员要检查项目开发过程是否制定和贯彻了管理标准、过程（</a:t>
            </a:r>
            <a:r>
              <a:rPr lang="en-US" altLang="zh-CN" dirty="0"/>
              <a:t>Process</a:t>
            </a:r>
            <a:r>
              <a:rPr lang="zh-CN" altLang="zh-CN" dirty="0"/>
              <a:t>）、策略等正规要求，要提出完善改进的意见，指出过程是否有效、如何让过程更有效，并评估这些要求的效率、效果。</a:t>
            </a:r>
            <a:endParaRPr lang="zh-CN" altLang="zh-CN" dirty="0"/>
          </a:p>
          <a:p>
            <a:r>
              <a:rPr lang="zh-CN" altLang="zh-CN" dirty="0"/>
              <a:t>　</a:t>
            </a:r>
            <a:r>
              <a:rPr lang="en-US" altLang="zh-CN" dirty="0" smtClean="0"/>
              <a:t>QA</a:t>
            </a:r>
            <a:r>
              <a:rPr lang="zh-CN" altLang="zh-CN" dirty="0"/>
              <a:t>人员还要确保项目组成员理解这些要求。除了培训新员工理解组织过程，或培训老员工理解变更了的组织过程之外，他并不直接干预开发者的工作，而是在项目管理的最高层面上工作。他要与项目经理和</a:t>
            </a:r>
            <a:r>
              <a:rPr lang="en-US" altLang="zh-CN" dirty="0"/>
              <a:t>CCB</a:t>
            </a:r>
            <a:r>
              <a:rPr lang="zh-CN" altLang="zh-CN" dirty="0"/>
              <a:t>、配置管理员、</a:t>
            </a:r>
            <a:r>
              <a:rPr lang="en-US" altLang="zh-CN" dirty="0"/>
              <a:t>QC</a:t>
            </a:r>
            <a:r>
              <a:rPr lang="zh-CN" altLang="zh-CN" dirty="0"/>
              <a:t>人员打交道。</a:t>
            </a:r>
            <a:endParaRPr lang="zh-CN" altLang="zh-CN" dirty="0"/>
          </a:p>
          <a:p>
            <a:pPr marL="0" indent="0">
              <a:buNone/>
            </a:pP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Qa</a:t>
            </a:r>
            <a:r>
              <a:rPr lang="zh-CN" altLang="en-US" dirty="0" smtClean="0"/>
              <a:t>细说</a:t>
            </a:r>
            <a:endParaRPr lang="zh-CN" altLang="en-US" dirty="0"/>
          </a:p>
        </p:txBody>
      </p:sp>
      <p:sp>
        <p:nvSpPr>
          <p:cNvPr id="3" name="内容占位符 2"/>
          <p:cNvSpPr>
            <a:spLocks noGrp="1"/>
          </p:cNvSpPr>
          <p:nvPr>
            <p:ph idx="1"/>
          </p:nvPr>
        </p:nvSpPr>
        <p:spPr/>
        <p:txBody>
          <a:bodyPr/>
          <a:lstStyle/>
          <a:p>
            <a:r>
              <a:rPr lang="zh-CN" altLang="zh-CN" dirty="0"/>
              <a:t>例如，在一个大项目中，</a:t>
            </a:r>
            <a:r>
              <a:rPr lang="en-US" altLang="zh-CN" dirty="0"/>
              <a:t>QA</a:t>
            </a:r>
            <a:r>
              <a:rPr lang="zh-CN" altLang="zh-CN" dirty="0"/>
              <a:t>人员可以帮助项目经理制定项目计划，使项目按照有组织的规程推进；他要使项目组成员明白，应按照相应的报告、里</a:t>
            </a:r>
            <a:r>
              <a:rPr lang="zh-CN" altLang="zh-CN" dirty="0" smtClean="0"/>
              <a:t>程碑</a:t>
            </a:r>
            <a:r>
              <a:rPr lang="zh-CN" altLang="zh-CN" dirty="0"/>
              <a:t>、文档等规定来开展自己的工作。随着项目的进展，</a:t>
            </a:r>
            <a:r>
              <a:rPr lang="en-US" altLang="zh-CN" dirty="0"/>
              <a:t>QA</a:t>
            </a:r>
            <a:r>
              <a:rPr lang="zh-CN" altLang="zh-CN" dirty="0"/>
              <a:t>人员可以适时导入</a:t>
            </a:r>
            <a:r>
              <a:rPr lang="en-US" altLang="zh-CN" dirty="0"/>
              <a:t>“</a:t>
            </a:r>
            <a:r>
              <a:rPr lang="zh-CN" altLang="zh-CN" dirty="0"/>
              <a:t>检查点</a:t>
            </a:r>
            <a:r>
              <a:rPr lang="en-US" altLang="zh-CN" dirty="0"/>
              <a:t>”</a:t>
            </a:r>
            <a:r>
              <a:rPr lang="zh-CN" altLang="zh-CN" dirty="0"/>
              <a:t>来查看哪里会发生新的风险</a:t>
            </a:r>
            <a:r>
              <a:rPr lang="zh-CN" altLang="zh-CN" dirty="0" smtClean="0"/>
              <a:t>。</a:t>
            </a:r>
            <a:endParaRPr lang="en-US" altLang="zh-CN" dirty="0" smtClean="0"/>
          </a:p>
          <a:p>
            <a:r>
              <a:rPr lang="zh-CN" altLang="en-US" dirty="0" smtClean="0"/>
              <a:t>比</a:t>
            </a:r>
            <a:r>
              <a:rPr lang="zh-CN" altLang="zh-CN" dirty="0" smtClean="0"/>
              <a:t>如</a:t>
            </a:r>
            <a:r>
              <a:rPr lang="zh-CN" altLang="zh-CN" dirty="0"/>
              <a:t>，项目正在从事预定范围之外的工作，或项 目有待加强管 理之处。这些检查点是确保合适的人在正确时间就位的一个</a:t>
            </a:r>
            <a:r>
              <a:rPr lang="zh-CN" altLang="zh-CN" dirty="0" smtClean="0"/>
              <a:t>机会</a:t>
            </a:r>
            <a:r>
              <a:rPr lang="zh-CN" altLang="en-US" dirty="0" smtClean="0"/>
              <a:t>。</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Qc</a:t>
            </a:r>
            <a:r>
              <a:rPr lang="zh-CN" altLang="en-US" dirty="0" smtClean="0"/>
              <a:t>细说</a:t>
            </a:r>
            <a:endParaRPr lang="zh-CN" altLang="en-US" dirty="0"/>
          </a:p>
        </p:txBody>
      </p:sp>
      <p:sp>
        <p:nvSpPr>
          <p:cNvPr id="3" name="内容占位符 2"/>
          <p:cNvSpPr>
            <a:spLocks noGrp="1"/>
          </p:cNvSpPr>
          <p:nvPr>
            <p:ph idx="1"/>
          </p:nvPr>
        </p:nvSpPr>
        <p:spPr/>
        <p:txBody>
          <a:bodyPr/>
          <a:lstStyle/>
          <a:p>
            <a:r>
              <a:rPr lang="en-US" altLang="zh-CN" dirty="0"/>
              <a:t>QC</a:t>
            </a:r>
            <a:r>
              <a:rPr lang="zh-CN" altLang="zh-CN" dirty="0"/>
              <a:t>是最后一关</a:t>
            </a:r>
            <a:endParaRPr lang="en-US" altLang="zh-CN" dirty="0" smtClean="0"/>
          </a:p>
          <a:p>
            <a:r>
              <a:rPr lang="en-US" altLang="zh-CN" dirty="0" smtClean="0"/>
              <a:t>QC</a:t>
            </a:r>
            <a:r>
              <a:rPr lang="zh-CN" altLang="zh-CN" dirty="0"/>
              <a:t>是</a:t>
            </a:r>
            <a:r>
              <a:rPr lang="en-US" altLang="zh-CN" dirty="0"/>
              <a:t>“</a:t>
            </a:r>
            <a:r>
              <a:rPr lang="zh-CN" altLang="zh-CN" dirty="0"/>
              <a:t>用现实应用场景来评测开发人员理想化思路</a:t>
            </a:r>
            <a:r>
              <a:rPr lang="en-US" altLang="zh-CN" dirty="0"/>
              <a:t>”</a:t>
            </a:r>
            <a:r>
              <a:rPr lang="zh-CN" altLang="zh-CN" dirty="0"/>
              <a:t>的</a:t>
            </a:r>
            <a:r>
              <a:rPr lang="zh-CN" altLang="zh-CN" dirty="0" smtClean="0"/>
              <a:t>过程</a:t>
            </a:r>
            <a:r>
              <a:rPr lang="zh-CN" altLang="en-US" dirty="0" smtClean="0"/>
              <a:t>。</a:t>
            </a:r>
            <a:endParaRPr lang="en-US" altLang="zh-CN" dirty="0" smtClean="0"/>
          </a:p>
          <a:p>
            <a:r>
              <a:rPr lang="zh-CN" altLang="zh-CN" dirty="0"/>
              <a:t>测试人员需要站在软件技术和用户应用场景之间，反复、全面地检查验证二 者的映射关系，还要分析</a:t>
            </a:r>
            <a:r>
              <a:rPr lang="en-US" altLang="zh-CN" dirty="0"/>
              <a:t>“BUG</a:t>
            </a:r>
            <a:r>
              <a:rPr lang="zh-CN" altLang="zh-CN" dirty="0"/>
              <a:t>越改越多</a:t>
            </a:r>
            <a:r>
              <a:rPr lang="en-US" altLang="zh-CN" dirty="0"/>
              <a:t>”</a:t>
            </a:r>
            <a:r>
              <a:rPr lang="zh-CN" altLang="zh-CN" dirty="0"/>
              <a:t>的成因并说服、帮助开发人员澄清和遵从产品版本的质量底线。</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Qc</a:t>
            </a:r>
            <a:r>
              <a:rPr lang="zh-CN" altLang="en-US" dirty="0" smtClean="0"/>
              <a:t>细说</a:t>
            </a:r>
            <a:endParaRPr lang="zh-CN" altLang="en-US" dirty="0"/>
          </a:p>
        </p:txBody>
      </p:sp>
      <p:sp>
        <p:nvSpPr>
          <p:cNvPr id="3" name="内容占位符 2"/>
          <p:cNvSpPr>
            <a:spLocks noGrp="1"/>
          </p:cNvSpPr>
          <p:nvPr>
            <p:ph idx="1"/>
          </p:nvPr>
        </p:nvSpPr>
        <p:spPr/>
        <p:txBody>
          <a:bodyPr/>
          <a:lstStyle/>
          <a:p>
            <a:r>
              <a:rPr lang="zh-CN" altLang="zh-CN" dirty="0"/>
              <a:t>测试人员不得不经常在很紧张的时间压力下，以清醒的 探险性、逆反的批判性思维来全面细致地</a:t>
            </a:r>
            <a:r>
              <a:rPr lang="en-US" altLang="zh-CN" dirty="0"/>
              <a:t>“</a:t>
            </a:r>
            <a:r>
              <a:rPr lang="zh-CN" altLang="zh-CN" dirty="0"/>
              <a:t>围捕</a:t>
            </a:r>
            <a:r>
              <a:rPr lang="en-US" altLang="zh-CN" dirty="0"/>
              <a:t>”</a:t>
            </a:r>
            <a:r>
              <a:rPr lang="zh-CN" altLang="zh-CN" dirty="0"/>
              <a:t>程序员的疏忽。这就要求他要比程序员更快更准地理解用户需求、软件架构；并在接受新项目的时候，头脑迅速切 换到不同的用户应用场景。即，他要有更强的跨行业学习的能力。</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小结</a:t>
            </a:r>
            <a:r>
              <a:rPr lang="en-US" altLang="zh-CN" dirty="0" smtClean="0"/>
              <a:t>1</a:t>
            </a:r>
            <a:endParaRPr lang="zh-CN" altLang="en-US" dirty="0"/>
          </a:p>
        </p:txBody>
      </p:sp>
      <p:sp>
        <p:nvSpPr>
          <p:cNvPr id="3" name="内容占位符 2"/>
          <p:cNvSpPr>
            <a:spLocks noGrp="1"/>
          </p:cNvSpPr>
          <p:nvPr>
            <p:ph idx="1"/>
          </p:nvPr>
        </p:nvSpPr>
        <p:spPr>
          <a:xfrm>
            <a:off x="838200" y="1539020"/>
            <a:ext cx="10515600" cy="4834483"/>
          </a:xfrm>
        </p:spPr>
        <p:txBody>
          <a:bodyPr>
            <a:normAutofit fontScale="77500" lnSpcReduction="20000"/>
          </a:bodyPr>
          <a:lstStyle/>
          <a:p>
            <a:pPr>
              <a:lnSpc>
                <a:spcPct val="120000"/>
              </a:lnSpc>
              <a:spcBef>
                <a:spcPts val="1200"/>
              </a:spcBef>
              <a:spcAft>
                <a:spcPts val="600"/>
              </a:spcAft>
            </a:pPr>
            <a:r>
              <a:rPr lang="en-US" altLang="zh-CN" dirty="0" smtClean="0"/>
              <a:t>Qa, </a:t>
            </a:r>
            <a:r>
              <a:rPr lang="zh-CN" altLang="en-US" dirty="0" smtClean="0"/>
              <a:t>品质保证</a:t>
            </a:r>
            <a:r>
              <a:rPr lang="zh-CN" altLang="en-US" dirty="0"/>
              <a:t>，通过建立和维持</a:t>
            </a:r>
            <a:r>
              <a:rPr lang="zh-CN" altLang="en-US" u="sng" dirty="0"/>
              <a:t>质量管理</a:t>
            </a:r>
            <a:r>
              <a:rPr lang="zh-CN" altLang="en-US" dirty="0"/>
              <a:t>体系来确保产品质量没有问题。一般包括体系工程师，</a:t>
            </a:r>
            <a:r>
              <a:rPr lang="en-US" altLang="zh-CN" dirty="0"/>
              <a:t>SQE</a:t>
            </a:r>
            <a:r>
              <a:rPr lang="zh-CN" altLang="en-US" dirty="0"/>
              <a:t>（</a:t>
            </a:r>
            <a:r>
              <a:rPr lang="en-US" altLang="zh-CN" dirty="0"/>
              <a:t>Supplier Quality Engineer</a:t>
            </a:r>
            <a:r>
              <a:rPr lang="zh-CN" altLang="en-US" dirty="0"/>
              <a:t>：供应商质量工程师），</a:t>
            </a:r>
            <a:r>
              <a:rPr lang="en-US" altLang="zh-CN" dirty="0"/>
              <a:t>CTS</a:t>
            </a:r>
            <a:r>
              <a:rPr lang="zh-CN" altLang="en-US" dirty="0"/>
              <a:t>（客户技术服务人员），</a:t>
            </a:r>
            <a:r>
              <a:rPr lang="en-US" altLang="zh-CN" dirty="0"/>
              <a:t>6sigma</a:t>
            </a:r>
            <a:r>
              <a:rPr lang="zh-CN" altLang="en-US" dirty="0"/>
              <a:t>工程师，计量器具的</a:t>
            </a:r>
            <a:r>
              <a:rPr lang="zh-CN" altLang="en-US" dirty="0" smtClean="0"/>
              <a:t>校验和</a:t>
            </a:r>
            <a:r>
              <a:rPr lang="zh-CN" altLang="en-US" dirty="0"/>
              <a:t>管理等方面的人员。</a:t>
            </a:r>
            <a:r>
              <a:rPr lang="en-US" altLang="zh-CN" dirty="0"/>
              <a:t>QA</a:t>
            </a:r>
            <a:r>
              <a:rPr lang="zh-CN" altLang="en-US" dirty="0"/>
              <a:t>不仅要知道问题出在哪里，还要知道这些问题解决方案如何制订，今后该如何的预防，</a:t>
            </a:r>
            <a:r>
              <a:rPr lang="en-US" altLang="zh-CN" dirty="0"/>
              <a:t>QC</a:t>
            </a:r>
            <a:r>
              <a:rPr lang="zh-CN" altLang="en-US" dirty="0"/>
              <a:t>要知道仅仅是有问题就去控制，但不一定要知道为什么要这样去控制</a:t>
            </a:r>
            <a:r>
              <a:rPr lang="zh-CN" altLang="en-US" dirty="0" smtClean="0"/>
              <a:t>。</a:t>
            </a:r>
            <a:endParaRPr lang="en-US" altLang="zh-CN" dirty="0" smtClean="0"/>
          </a:p>
          <a:p>
            <a:pPr>
              <a:lnSpc>
                <a:spcPct val="120000"/>
              </a:lnSpc>
              <a:spcBef>
                <a:spcPts val="1200"/>
              </a:spcBef>
              <a:spcAft>
                <a:spcPts val="600"/>
              </a:spcAft>
            </a:pPr>
            <a:r>
              <a:rPr lang="en-US" altLang="zh-CN" dirty="0" smtClean="0"/>
              <a:t>Qc</a:t>
            </a:r>
            <a:r>
              <a:rPr lang="zh-CN" altLang="en-US" dirty="0" smtClean="0"/>
              <a:t>，品质控制</a:t>
            </a:r>
            <a:r>
              <a:rPr lang="zh-CN" altLang="en-US" dirty="0"/>
              <a:t>，产品</a:t>
            </a:r>
            <a:r>
              <a:rPr lang="zh-CN" altLang="en-US" dirty="0" smtClean="0"/>
              <a:t>的</a:t>
            </a:r>
            <a:r>
              <a:rPr lang="zh-CN" altLang="en-US" dirty="0"/>
              <a:t>质量</a:t>
            </a:r>
            <a:r>
              <a:rPr lang="zh-CN" altLang="en-US" dirty="0" smtClean="0"/>
              <a:t>检验，发现</a:t>
            </a:r>
            <a:r>
              <a:rPr lang="zh-CN" altLang="en-US" dirty="0"/>
              <a:t>质量问题后的分析、改善和不合格品控制相关人员的总称。一般包括</a:t>
            </a:r>
            <a:r>
              <a:rPr lang="en-US" altLang="zh-CN" dirty="0"/>
              <a:t>IQC</a:t>
            </a:r>
            <a:r>
              <a:rPr lang="zh-CN" altLang="en-US" dirty="0" smtClean="0"/>
              <a:t>（来料</a:t>
            </a:r>
            <a:r>
              <a:rPr lang="zh-CN" altLang="en-US" dirty="0"/>
              <a:t>检验），</a:t>
            </a:r>
            <a:r>
              <a:rPr lang="en-US" altLang="zh-CN" dirty="0"/>
              <a:t>IPQC</a:t>
            </a:r>
            <a:r>
              <a:rPr lang="zh-CN" altLang="en-US" dirty="0" smtClean="0"/>
              <a:t>（制</a:t>
            </a:r>
            <a:r>
              <a:rPr lang="zh-CN" altLang="en-US" dirty="0"/>
              <a:t>程检验），</a:t>
            </a:r>
            <a:r>
              <a:rPr lang="en-US" altLang="zh-CN" dirty="0"/>
              <a:t>FQC</a:t>
            </a:r>
            <a:r>
              <a:rPr lang="zh-CN" altLang="en-US" dirty="0" smtClean="0"/>
              <a:t>（成品检验</a:t>
            </a:r>
            <a:r>
              <a:rPr lang="zh-CN" altLang="en-US" dirty="0"/>
              <a:t>），</a:t>
            </a:r>
            <a:r>
              <a:rPr lang="en-US" altLang="zh-CN" dirty="0"/>
              <a:t>OQC</a:t>
            </a:r>
            <a:r>
              <a:rPr lang="zh-CN" altLang="en-US" dirty="0" smtClean="0"/>
              <a:t>（出货</a:t>
            </a:r>
            <a:r>
              <a:rPr lang="zh-CN" altLang="en-US" dirty="0"/>
              <a:t>检验）。</a:t>
            </a:r>
            <a:r>
              <a:rPr lang="en-US" altLang="zh-CN" dirty="0"/>
              <a:t>QC</a:t>
            </a:r>
            <a:r>
              <a:rPr lang="zh-CN" altLang="en-US" dirty="0"/>
              <a:t>所关注的是产品，而非系统（体系）这是它与</a:t>
            </a:r>
            <a:r>
              <a:rPr lang="en-US" altLang="zh-CN" dirty="0"/>
              <a:t>QA</a:t>
            </a:r>
            <a:r>
              <a:rPr lang="zh-CN" altLang="en-US" dirty="0"/>
              <a:t>主要差异，目的与</a:t>
            </a:r>
            <a:r>
              <a:rPr lang="en-US" altLang="zh-CN" dirty="0"/>
              <a:t>QA</a:t>
            </a:r>
            <a:r>
              <a:rPr lang="zh-CN" altLang="en-US" dirty="0"/>
              <a:t>是一致的，都是“满足或超越顾客要求。</a:t>
            </a:r>
            <a:r>
              <a:rPr lang="zh-CN" altLang="en-US" dirty="0" smtClean="0"/>
              <a:t>”</a:t>
            </a:r>
            <a:endParaRPr lang="en-US" altLang="zh-CN" dirty="0" smtClean="0"/>
          </a:p>
          <a:p>
            <a:pPr>
              <a:lnSpc>
                <a:spcPct val="120000"/>
              </a:lnSpc>
              <a:spcBef>
                <a:spcPts val="1200"/>
              </a:spcBef>
              <a:spcAft>
                <a:spcPts val="600"/>
              </a:spcAft>
            </a:pPr>
            <a:r>
              <a:rPr lang="en-US" altLang="zh-CN" dirty="0"/>
              <a:t>QA</a:t>
            </a:r>
            <a:r>
              <a:rPr lang="zh-CN" altLang="zh-CN" dirty="0"/>
              <a:t>、</a:t>
            </a:r>
            <a:r>
              <a:rPr lang="en-US" altLang="zh-CN" dirty="0"/>
              <a:t>QC</a:t>
            </a:r>
            <a:r>
              <a:rPr lang="zh-CN" altLang="zh-CN" dirty="0"/>
              <a:t>是各不相同的重要工作，需要不同素质的人来担任。不应该认为</a:t>
            </a:r>
            <a:r>
              <a:rPr lang="en-US" altLang="zh-CN" dirty="0"/>
              <a:t>“QA</a:t>
            </a:r>
            <a:r>
              <a:rPr lang="zh-CN" altLang="zh-CN" dirty="0"/>
              <a:t>和</a:t>
            </a:r>
            <a:r>
              <a:rPr lang="en-US" altLang="zh-CN" dirty="0"/>
              <a:t>QC</a:t>
            </a:r>
            <a:r>
              <a:rPr lang="zh-CN" altLang="zh-CN" dirty="0"/>
              <a:t>可以合并</a:t>
            </a:r>
            <a:r>
              <a:rPr lang="en-US" altLang="zh-CN" dirty="0"/>
              <a:t>”</a:t>
            </a:r>
            <a:r>
              <a:rPr lang="zh-CN" altLang="zh-CN" dirty="0"/>
              <a:t>，也不应该忽略哪一个工作</a:t>
            </a:r>
            <a:r>
              <a:rPr lang="zh-CN" altLang="zh-CN" dirty="0" smtClean="0"/>
              <a:t>。</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rPr>
              <a:t>QA</a:t>
            </a:r>
            <a:r>
              <a:rPr lang="zh-CN" altLang="en-US" dirty="0" smtClean="0">
                <a:solidFill>
                  <a:srgbClr val="FF0000"/>
                </a:solidFill>
              </a:rPr>
              <a:t>与</a:t>
            </a:r>
            <a:r>
              <a:rPr lang="en-US" altLang="zh-CN" dirty="0" smtClean="0">
                <a:solidFill>
                  <a:srgbClr val="FF0000"/>
                </a:solidFill>
              </a:rPr>
              <a:t>QC-2-</a:t>
            </a:r>
            <a:r>
              <a:rPr lang="zh-CN" altLang="en-US" dirty="0" smtClean="0">
                <a:solidFill>
                  <a:srgbClr val="FF0000"/>
                </a:solidFill>
              </a:rPr>
              <a:t>目</a:t>
            </a:r>
            <a:r>
              <a:rPr lang="zh-CN" altLang="en-US" dirty="0">
                <a:solidFill>
                  <a:srgbClr val="FF0000"/>
                </a:solidFill>
              </a:rPr>
              <a:t>录</a:t>
            </a:r>
            <a:endParaRPr lang="zh-CN" altLang="en-US" dirty="0">
              <a:solidFill>
                <a:srgbClr val="FF0000"/>
              </a:solidFill>
            </a:endParaRPr>
          </a:p>
        </p:txBody>
      </p:sp>
      <p:sp>
        <p:nvSpPr>
          <p:cNvPr id="3" name="内容占位符 2"/>
          <p:cNvSpPr>
            <a:spLocks noGrp="1"/>
          </p:cNvSpPr>
          <p:nvPr>
            <p:ph idx="1"/>
          </p:nvPr>
        </p:nvSpPr>
        <p:spPr/>
        <p:txBody>
          <a:bodyPr>
            <a:normAutofit lnSpcReduction="10000"/>
          </a:bodyPr>
          <a:lstStyle/>
          <a:p>
            <a:pPr>
              <a:lnSpc>
                <a:spcPct val="200000"/>
              </a:lnSpc>
            </a:pPr>
            <a:r>
              <a:rPr lang="en-US" altLang="zh-CN" sz="3200" dirty="0">
                <a:latin typeface="黑体" panose="02010609060101010101" pitchFamily="49" charset="-122"/>
                <a:ea typeface="黑体" panose="02010609060101010101" pitchFamily="49" charset="-122"/>
              </a:rPr>
              <a:t>QA</a:t>
            </a:r>
            <a:r>
              <a:rPr lang="zh-CN" altLang="en-US" sz="3200" dirty="0">
                <a:latin typeface="黑体" panose="02010609060101010101" pitchFamily="49" charset="-122"/>
                <a:ea typeface="黑体" panose="02010609060101010101" pitchFamily="49" charset="-122"/>
              </a:rPr>
              <a:t>与</a:t>
            </a:r>
            <a:r>
              <a:rPr lang="en-US" altLang="zh-CN" sz="3200" dirty="0">
                <a:latin typeface="黑体" panose="02010609060101010101" pitchFamily="49" charset="-122"/>
                <a:ea typeface="黑体" panose="02010609060101010101" pitchFamily="49" charset="-122"/>
              </a:rPr>
              <a:t>QC</a:t>
            </a:r>
            <a:r>
              <a:rPr lang="zh-CN" altLang="en-US" sz="3200" dirty="0">
                <a:latin typeface="黑体" panose="02010609060101010101" pitchFamily="49" charset="-122"/>
                <a:ea typeface="黑体" panose="02010609060101010101" pitchFamily="49" charset="-122"/>
              </a:rPr>
              <a:t>的定义</a:t>
            </a:r>
            <a:endParaRPr lang="en-US" altLang="zh-CN" sz="3200" dirty="0">
              <a:latin typeface="黑体" panose="02010609060101010101" pitchFamily="49" charset="-122"/>
              <a:ea typeface="黑体" panose="02010609060101010101" pitchFamily="49" charset="-122"/>
            </a:endParaRPr>
          </a:p>
          <a:p>
            <a:pPr>
              <a:lnSpc>
                <a:spcPct val="200000"/>
              </a:lnSpc>
            </a:pPr>
            <a:r>
              <a:rPr lang="en-US" altLang="zh-CN" sz="3200" dirty="0">
                <a:latin typeface="黑体" panose="02010609060101010101" pitchFamily="49" charset="-122"/>
                <a:ea typeface="黑体" panose="02010609060101010101" pitchFamily="49" charset="-122"/>
              </a:rPr>
              <a:t>QA</a:t>
            </a:r>
            <a:r>
              <a:rPr lang="zh-CN" altLang="en-US" sz="3200" dirty="0">
                <a:latin typeface="黑体" panose="02010609060101010101" pitchFamily="49" charset="-122"/>
                <a:ea typeface="黑体" panose="02010609060101010101" pitchFamily="49" charset="-122"/>
              </a:rPr>
              <a:t>与</a:t>
            </a:r>
            <a:r>
              <a:rPr lang="en-US" altLang="zh-CN" sz="3200" dirty="0">
                <a:latin typeface="黑体" panose="02010609060101010101" pitchFamily="49" charset="-122"/>
                <a:ea typeface="黑体" panose="02010609060101010101" pitchFamily="49" charset="-122"/>
              </a:rPr>
              <a:t>QC</a:t>
            </a:r>
            <a:r>
              <a:rPr lang="zh-CN" altLang="en-US" sz="3200" dirty="0">
                <a:latin typeface="黑体" panose="02010609060101010101" pitchFamily="49" charset="-122"/>
                <a:ea typeface="黑体" panose="02010609060101010101" pitchFamily="49" charset="-122"/>
              </a:rPr>
              <a:t>做些什么</a:t>
            </a:r>
            <a:endParaRPr lang="en-US" altLang="zh-CN" sz="3200" dirty="0">
              <a:latin typeface="黑体" panose="02010609060101010101" pitchFamily="49" charset="-122"/>
              <a:ea typeface="黑体" panose="02010609060101010101" pitchFamily="49" charset="-122"/>
            </a:endParaRPr>
          </a:p>
          <a:p>
            <a:pPr>
              <a:lnSpc>
                <a:spcPct val="200000"/>
              </a:lnSpc>
            </a:pPr>
            <a:r>
              <a:rPr lang="en-US" altLang="zh-CN" sz="3200" dirty="0">
                <a:latin typeface="黑体" panose="02010609060101010101" pitchFamily="49" charset="-122"/>
                <a:ea typeface="黑体" panose="02010609060101010101" pitchFamily="49" charset="-122"/>
              </a:rPr>
              <a:t>QA</a:t>
            </a:r>
            <a:r>
              <a:rPr lang="zh-CN" altLang="en-US" sz="3200" dirty="0">
                <a:latin typeface="黑体" panose="02010609060101010101" pitchFamily="49" charset="-122"/>
                <a:ea typeface="黑体" panose="02010609060101010101" pitchFamily="49" charset="-122"/>
              </a:rPr>
              <a:t>与</a:t>
            </a:r>
            <a:r>
              <a:rPr lang="en-US" altLang="zh-CN" sz="3200" dirty="0">
                <a:latin typeface="黑体" panose="02010609060101010101" pitchFamily="49" charset="-122"/>
                <a:ea typeface="黑体" panose="02010609060101010101" pitchFamily="49" charset="-122"/>
              </a:rPr>
              <a:t>QC</a:t>
            </a:r>
            <a:r>
              <a:rPr lang="zh-CN" altLang="en-US" sz="3200" dirty="0">
                <a:latin typeface="黑体" panose="02010609060101010101" pitchFamily="49" charset="-122"/>
                <a:ea typeface="黑体" panose="02010609060101010101" pitchFamily="49" charset="-122"/>
              </a:rPr>
              <a:t>的异同</a:t>
            </a:r>
            <a:endParaRPr lang="en-US" altLang="zh-CN" sz="3200" dirty="0">
              <a:latin typeface="黑体" panose="02010609060101010101" pitchFamily="49" charset="-122"/>
              <a:ea typeface="黑体" panose="02010609060101010101" pitchFamily="49" charset="-122"/>
            </a:endParaRPr>
          </a:p>
          <a:p>
            <a:pPr>
              <a:lnSpc>
                <a:spcPct val="200000"/>
              </a:lnSpc>
            </a:pPr>
            <a:r>
              <a:rPr lang="zh-CN" altLang="en-US" sz="3200" dirty="0">
                <a:latin typeface="黑体" panose="02010609060101010101" pitchFamily="49" charset="-122"/>
                <a:ea typeface="黑体" panose="02010609060101010101" pitchFamily="49" charset="-122"/>
              </a:rPr>
              <a:t>软件工程中的</a:t>
            </a:r>
            <a:r>
              <a:rPr lang="en-US" altLang="zh-CN" sz="3200" dirty="0">
                <a:latin typeface="黑体" panose="02010609060101010101" pitchFamily="49" charset="-122"/>
                <a:ea typeface="黑体" panose="02010609060101010101" pitchFamily="49" charset="-122"/>
              </a:rPr>
              <a:t>QA&amp;QC</a:t>
            </a:r>
            <a:endParaRPr lang="en-US" altLang="zh-CN" sz="32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QA</a:t>
            </a:r>
            <a:r>
              <a:rPr lang="zh-CN" altLang="en-US" dirty="0"/>
              <a:t>是什么</a:t>
            </a:r>
            <a:endParaRPr lang="zh-CN" altLang="en-US" dirty="0"/>
          </a:p>
        </p:txBody>
      </p:sp>
      <p:sp>
        <p:nvSpPr>
          <p:cNvPr id="3" name="内容占位符 2"/>
          <p:cNvSpPr>
            <a:spLocks noGrp="1"/>
          </p:cNvSpPr>
          <p:nvPr>
            <p:ph idx="1"/>
          </p:nvPr>
        </p:nvSpPr>
        <p:spPr>
          <a:xfrm>
            <a:off x="609600" y="1935480"/>
            <a:ext cx="10972800" cy="4389120"/>
          </a:xfrm>
        </p:spPr>
        <p:txBody>
          <a:bodyPr>
            <a:normAutofit fontScale="85000" lnSpcReduction="20000"/>
          </a:bodyPr>
          <a:lstStyle/>
          <a:p>
            <a:pPr>
              <a:lnSpc>
                <a:spcPct val="120000"/>
              </a:lnSpc>
            </a:pPr>
            <a:r>
              <a:rPr lang="en-US" altLang="zh-CN" sz="3200" dirty="0">
                <a:latin typeface="黑体" panose="02010609060101010101" pitchFamily="49" charset="-122"/>
                <a:ea typeface="黑体" panose="02010609060101010101" pitchFamily="49" charset="-122"/>
              </a:rPr>
              <a:t>QA</a:t>
            </a:r>
            <a:r>
              <a:rPr lang="zh-CN" altLang="en-US" sz="3200" dirty="0">
                <a:latin typeface="黑体" panose="02010609060101010101" pitchFamily="49" charset="-122"/>
                <a:ea typeface="黑体" panose="02010609060101010101" pitchFamily="49" charset="-122"/>
              </a:rPr>
              <a:t>即</a:t>
            </a:r>
            <a:r>
              <a:rPr lang="en-GB" altLang="zh-CN" sz="3200" dirty="0">
                <a:latin typeface="黑体" panose="02010609060101010101" pitchFamily="49" charset="-122"/>
                <a:ea typeface="黑体" panose="02010609060101010101" pitchFamily="49" charset="-122"/>
              </a:rPr>
              <a:t>Quality Assurance</a:t>
            </a:r>
            <a:r>
              <a:rPr lang="zh-CN" altLang="en-US" sz="3200" dirty="0">
                <a:latin typeface="黑体" panose="02010609060101010101" pitchFamily="49" charset="-122"/>
                <a:ea typeface="黑体" panose="02010609060101010101" pitchFamily="49" charset="-122"/>
              </a:rPr>
              <a:t>（质量保证）</a:t>
            </a:r>
            <a:endParaRPr lang="en-US" altLang="zh-CN" sz="3200" dirty="0">
              <a:latin typeface="黑体" panose="02010609060101010101" pitchFamily="49" charset="-122"/>
              <a:ea typeface="黑体" panose="02010609060101010101" pitchFamily="49" charset="-122"/>
            </a:endParaRPr>
          </a:p>
          <a:p>
            <a:pPr>
              <a:lnSpc>
                <a:spcPct val="120000"/>
              </a:lnSpc>
            </a:pPr>
            <a:r>
              <a:rPr lang="en-US" altLang="zh-CN" sz="3200" dirty="0">
                <a:latin typeface="黑体" panose="02010609060101010101" pitchFamily="49" charset="-122"/>
                <a:ea typeface="黑体" panose="02010609060101010101" pitchFamily="49" charset="-122"/>
              </a:rPr>
              <a:t>ISO9000:</a:t>
            </a:r>
            <a:endParaRPr lang="en-US" altLang="zh-CN" sz="3200" dirty="0">
              <a:latin typeface="黑体" panose="02010609060101010101" pitchFamily="49" charset="-122"/>
              <a:ea typeface="黑体" panose="02010609060101010101" pitchFamily="49" charset="-122"/>
            </a:endParaRPr>
          </a:p>
          <a:p>
            <a:pPr lvl="1">
              <a:lnSpc>
                <a:spcPct val="120000"/>
              </a:lnSpc>
            </a:pPr>
            <a:r>
              <a:rPr lang="zh-CN" altLang="en-US" sz="3000" dirty="0">
                <a:latin typeface="黑体" panose="02010609060101010101" pitchFamily="49" charset="-122"/>
                <a:ea typeface="黑体" panose="02010609060101010101" pitchFamily="49" charset="-122"/>
              </a:rPr>
              <a:t>质量管理的一部分，致力于提供质量要求会得到满足的信任</a:t>
            </a:r>
            <a:endParaRPr lang="en-US" altLang="zh-CN" sz="3000" dirty="0">
              <a:latin typeface="黑体" panose="02010609060101010101" pitchFamily="49" charset="-122"/>
              <a:ea typeface="黑体" panose="02010609060101010101" pitchFamily="49" charset="-122"/>
            </a:endParaRPr>
          </a:p>
          <a:p>
            <a:pPr>
              <a:lnSpc>
                <a:spcPct val="120000"/>
              </a:lnSpc>
            </a:pPr>
            <a:endParaRPr lang="en-US" altLang="zh-CN" sz="3200" dirty="0">
              <a:latin typeface="黑体" panose="02010609060101010101" pitchFamily="49" charset="-122"/>
              <a:ea typeface="黑体" panose="02010609060101010101" pitchFamily="49" charset="-122"/>
            </a:endParaRPr>
          </a:p>
          <a:p>
            <a:pPr>
              <a:lnSpc>
                <a:spcPct val="120000"/>
              </a:lnSpc>
            </a:pPr>
            <a:r>
              <a:rPr lang="en-US" altLang="zh-CN" sz="3200" dirty="0">
                <a:latin typeface="黑体" panose="02010609060101010101" pitchFamily="49" charset="-122"/>
                <a:ea typeface="黑体" panose="02010609060101010101" pitchFamily="49" charset="-122"/>
              </a:rPr>
              <a:t>QA</a:t>
            </a:r>
            <a:r>
              <a:rPr lang="zh-CN" altLang="en-US" sz="3200" dirty="0">
                <a:latin typeface="黑体" panose="02010609060101010101" pitchFamily="49" charset="-122"/>
                <a:ea typeface="黑体" panose="02010609060101010101" pitchFamily="49" charset="-122"/>
              </a:rPr>
              <a:t>对企业内部来说是</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全面有效的质量管理活动</a:t>
            </a:r>
            <a:endParaRPr lang="en-US" altLang="zh-CN" sz="3200" dirty="0">
              <a:latin typeface="黑体" panose="02010609060101010101" pitchFamily="49" charset="-122"/>
              <a:ea typeface="黑体" panose="02010609060101010101" pitchFamily="49" charset="-122"/>
            </a:endParaRPr>
          </a:p>
          <a:p>
            <a:pPr>
              <a:lnSpc>
                <a:spcPct val="120000"/>
              </a:lnSpc>
            </a:pPr>
            <a:r>
              <a:rPr lang="en-US" altLang="zh-CN" sz="3200" dirty="0">
                <a:latin typeface="黑体" panose="02010609060101010101" pitchFamily="49" charset="-122"/>
                <a:ea typeface="黑体" panose="02010609060101010101" pitchFamily="49" charset="-122"/>
              </a:rPr>
              <a:t>QA</a:t>
            </a:r>
            <a:r>
              <a:rPr lang="zh-CN" altLang="en-US" sz="3200" dirty="0">
                <a:latin typeface="黑体" panose="02010609060101010101" pitchFamily="49" charset="-122"/>
                <a:ea typeface="黑体" panose="02010609060101010101" pitchFamily="49" charset="-122"/>
              </a:rPr>
              <a:t>对企业外部来说是</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对所有的有关方面提供证据的活动</a:t>
            </a:r>
            <a:endParaRPr lang="en-US" altLang="zh-CN" sz="3200" dirty="0">
              <a:latin typeface="黑体" panose="02010609060101010101" pitchFamily="49" charset="-122"/>
              <a:ea typeface="黑体" panose="02010609060101010101" pitchFamily="49" charset="-122"/>
            </a:endParaRPr>
          </a:p>
          <a:p>
            <a:pPr>
              <a:lnSpc>
                <a:spcPct val="120000"/>
              </a:lnSpc>
            </a:pPr>
            <a:endParaRPr lang="en-US" altLang="zh-CN" sz="3200" dirty="0">
              <a:latin typeface="黑体" panose="02010609060101010101" pitchFamily="49" charset="-122"/>
              <a:ea typeface="黑体" panose="02010609060101010101" pitchFamily="49" charset="-122"/>
            </a:endParaRPr>
          </a:p>
          <a:p>
            <a:pPr>
              <a:lnSpc>
                <a:spcPct val="120000"/>
              </a:lnSpc>
            </a:pPr>
            <a:r>
              <a:rPr lang="zh-CN" altLang="en-US" sz="3200" dirty="0">
                <a:latin typeface="黑体" panose="02010609060101010101" pitchFamily="49" charset="-122"/>
                <a:ea typeface="黑体" panose="02010609060101010101" pitchFamily="49" charset="-122"/>
              </a:rPr>
              <a:t>关键点：获得信任，一种对质量的担保</a:t>
            </a:r>
            <a:endParaRPr lang="zh-CN" altLang="en-US" sz="32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QC</a:t>
            </a:r>
            <a:r>
              <a:rPr lang="zh-CN" altLang="en-US" dirty="0"/>
              <a:t>是什么</a:t>
            </a:r>
            <a:endParaRPr lang="zh-CN" altLang="en-US" dirty="0"/>
          </a:p>
        </p:txBody>
      </p:sp>
      <p:sp>
        <p:nvSpPr>
          <p:cNvPr id="3" name="内容占位符 2"/>
          <p:cNvSpPr>
            <a:spLocks noGrp="1"/>
          </p:cNvSpPr>
          <p:nvPr>
            <p:ph idx="1"/>
          </p:nvPr>
        </p:nvSpPr>
        <p:spPr>
          <a:xfrm>
            <a:off x="609600" y="1935480"/>
            <a:ext cx="10972800" cy="4389120"/>
          </a:xfrm>
        </p:spPr>
        <p:txBody>
          <a:bodyPr>
            <a:normAutofit fontScale="92500" lnSpcReduction="10000"/>
          </a:bodyPr>
          <a:lstStyle/>
          <a:p>
            <a:pPr>
              <a:lnSpc>
                <a:spcPct val="120000"/>
              </a:lnSpc>
            </a:pPr>
            <a:r>
              <a:rPr lang="en-US" altLang="zh-CN" sz="3200" dirty="0">
                <a:latin typeface="黑体" panose="02010609060101010101" pitchFamily="49" charset="-122"/>
                <a:ea typeface="黑体" panose="02010609060101010101" pitchFamily="49" charset="-122"/>
              </a:rPr>
              <a:t>QC</a:t>
            </a:r>
            <a:r>
              <a:rPr lang="zh-CN" altLang="en-US" sz="3200" dirty="0">
                <a:latin typeface="黑体" panose="02010609060101010101" pitchFamily="49" charset="-122"/>
                <a:ea typeface="黑体" panose="02010609060101010101" pitchFamily="49" charset="-122"/>
              </a:rPr>
              <a:t>即</a:t>
            </a:r>
            <a:r>
              <a:rPr lang="en-GB" altLang="zh-CN" sz="3200" dirty="0">
                <a:latin typeface="黑体" panose="02010609060101010101" pitchFamily="49" charset="-122"/>
                <a:ea typeface="黑体" panose="02010609060101010101" pitchFamily="49" charset="-122"/>
              </a:rPr>
              <a:t>Quality Control </a:t>
            </a:r>
            <a:r>
              <a:rPr lang="zh-CN" altLang="en-US" sz="3200" dirty="0">
                <a:latin typeface="黑体" panose="02010609060101010101" pitchFamily="49" charset="-122"/>
                <a:ea typeface="黑体" panose="02010609060101010101" pitchFamily="49" charset="-122"/>
              </a:rPr>
              <a:t>（质量控制）</a:t>
            </a:r>
            <a:endParaRPr lang="en-US" altLang="zh-CN" sz="3200" dirty="0">
              <a:latin typeface="黑体" panose="02010609060101010101" pitchFamily="49" charset="-122"/>
              <a:ea typeface="黑体" panose="02010609060101010101" pitchFamily="49" charset="-122"/>
            </a:endParaRPr>
          </a:p>
          <a:p>
            <a:pPr>
              <a:lnSpc>
                <a:spcPct val="120000"/>
              </a:lnSpc>
            </a:pPr>
            <a:r>
              <a:rPr lang="en-US" altLang="zh-CN" sz="3200" dirty="0">
                <a:latin typeface="黑体" panose="02010609060101010101" pitchFamily="49" charset="-122"/>
                <a:ea typeface="黑体" panose="02010609060101010101" pitchFamily="49" charset="-122"/>
              </a:rPr>
              <a:t>ISO9000:</a:t>
            </a:r>
            <a:endParaRPr lang="en-US" altLang="zh-CN" sz="3200" dirty="0">
              <a:latin typeface="黑体" panose="02010609060101010101" pitchFamily="49" charset="-122"/>
              <a:ea typeface="黑体" panose="02010609060101010101" pitchFamily="49" charset="-122"/>
            </a:endParaRPr>
          </a:p>
          <a:p>
            <a:pPr lvl="1">
              <a:lnSpc>
                <a:spcPct val="120000"/>
              </a:lnSpc>
            </a:pPr>
            <a:r>
              <a:rPr lang="zh-CN" altLang="en-US" sz="2800" dirty="0">
                <a:latin typeface="黑体" panose="02010609060101010101" pitchFamily="49" charset="-122"/>
                <a:ea typeface="黑体" panose="02010609060101010101" pitchFamily="49" charset="-122"/>
              </a:rPr>
              <a:t>质量管理的一部分，致力于满足质量要求</a:t>
            </a:r>
            <a:endParaRPr lang="en-US" altLang="zh-CN" sz="2800" dirty="0">
              <a:latin typeface="黑体" panose="02010609060101010101" pitchFamily="49" charset="-122"/>
              <a:ea typeface="黑体" panose="02010609060101010101" pitchFamily="49" charset="-122"/>
            </a:endParaRPr>
          </a:p>
          <a:p>
            <a:pPr>
              <a:lnSpc>
                <a:spcPct val="120000"/>
              </a:lnSpc>
            </a:pPr>
            <a:r>
              <a:rPr lang="zh-CN" altLang="en-US" sz="3000" dirty="0">
                <a:latin typeface="黑体" panose="02010609060101010101" pitchFamily="49" charset="-122"/>
                <a:ea typeface="黑体" panose="02010609060101010101" pitchFamily="49" charset="-122"/>
              </a:rPr>
              <a:t>组成部分</a:t>
            </a:r>
            <a:r>
              <a:rPr lang="en-US" altLang="zh-CN" sz="3000" dirty="0">
                <a:latin typeface="黑体" panose="02010609060101010101" pitchFamily="49" charset="-122"/>
                <a:ea typeface="黑体" panose="02010609060101010101" pitchFamily="49" charset="-122"/>
              </a:rPr>
              <a:t>:</a:t>
            </a:r>
            <a:endParaRPr lang="en-US" altLang="zh-CN" sz="2600" dirty="0">
              <a:latin typeface="黑体" panose="02010609060101010101" pitchFamily="49" charset="-122"/>
              <a:ea typeface="黑体" panose="02010609060101010101" pitchFamily="49" charset="-122"/>
            </a:endParaRPr>
          </a:p>
          <a:p>
            <a:pPr marL="907415" lvl="1" indent="-514350">
              <a:buFont typeface="+mj-lt"/>
              <a:buAutoNum type="alphaLcPeriod"/>
            </a:pPr>
            <a:r>
              <a:rPr lang="zh-CN" altLang="en-US" dirty="0">
                <a:latin typeface="黑体" panose="02010609060101010101" pitchFamily="49" charset="-122"/>
                <a:ea typeface="黑体" panose="02010609060101010101" pitchFamily="49" charset="-122"/>
              </a:rPr>
              <a:t>进料控制</a:t>
            </a:r>
            <a:endParaRPr lang="en-US" altLang="zh-CN" dirty="0">
              <a:latin typeface="黑体" panose="02010609060101010101" pitchFamily="49" charset="-122"/>
              <a:ea typeface="黑体" panose="02010609060101010101" pitchFamily="49" charset="-122"/>
            </a:endParaRPr>
          </a:p>
          <a:p>
            <a:pPr marL="907415" lvl="1" indent="-514350">
              <a:buFont typeface="+mj-lt"/>
              <a:buAutoNum type="alphaLcPeriod"/>
            </a:pPr>
            <a:r>
              <a:rPr lang="zh-CN" altLang="en-US" dirty="0">
                <a:latin typeface="黑体" panose="02010609060101010101" pitchFamily="49" charset="-122"/>
                <a:ea typeface="黑体" panose="02010609060101010101" pitchFamily="49" charset="-122"/>
              </a:rPr>
              <a:t>过程质量控制</a:t>
            </a:r>
            <a:endParaRPr lang="en-US" altLang="zh-CN" dirty="0">
              <a:latin typeface="黑体" panose="02010609060101010101" pitchFamily="49" charset="-122"/>
              <a:ea typeface="黑体" panose="02010609060101010101" pitchFamily="49" charset="-122"/>
            </a:endParaRPr>
          </a:p>
          <a:p>
            <a:pPr marL="907415" lvl="1" indent="-514350">
              <a:buFont typeface="+mj-lt"/>
              <a:buAutoNum type="alphaLcPeriod"/>
            </a:pPr>
            <a:r>
              <a:rPr lang="zh-CN" altLang="en-US" dirty="0">
                <a:latin typeface="黑体" panose="02010609060101010101" pitchFamily="49" charset="-122"/>
                <a:ea typeface="黑体" panose="02010609060101010101" pitchFamily="49" charset="-122"/>
              </a:rPr>
              <a:t>最终检查验证</a:t>
            </a:r>
            <a:endParaRPr lang="en-US" altLang="zh-CN" dirty="0">
              <a:latin typeface="黑体" panose="02010609060101010101" pitchFamily="49" charset="-122"/>
              <a:ea typeface="黑体" panose="02010609060101010101" pitchFamily="49" charset="-122"/>
            </a:endParaRPr>
          </a:p>
          <a:p>
            <a:pPr marL="907415" lvl="1" indent="-514350">
              <a:buFont typeface="+mj-lt"/>
              <a:buAutoNum type="alphaLcPeriod"/>
            </a:pPr>
            <a:r>
              <a:rPr lang="zh-CN" altLang="en-US" dirty="0">
                <a:latin typeface="黑体" panose="02010609060101010101" pitchFamily="49" charset="-122"/>
                <a:ea typeface="黑体" panose="02010609060101010101" pitchFamily="49" charset="-122"/>
              </a:rPr>
              <a:t>出货质量控制</a:t>
            </a:r>
            <a:endParaRPr lang="en-US" altLang="zh-CN" dirty="0">
              <a:latin typeface="黑体" panose="02010609060101010101" pitchFamily="49" charset="-122"/>
              <a:ea typeface="黑体" panose="02010609060101010101" pitchFamily="49" charset="-122"/>
            </a:endParaRPr>
          </a:p>
          <a:p>
            <a:pPr marL="0" indent="0">
              <a:buNone/>
            </a:pPr>
            <a:r>
              <a:rPr lang="zh-CN" altLang="en-US" sz="3000" dirty="0">
                <a:latin typeface="黑体" panose="02010609060101010101" pitchFamily="49" charset="-122"/>
                <a:ea typeface="黑体" panose="02010609060101010101" pitchFamily="49" charset="-122"/>
              </a:rPr>
              <a:t>关键点：满足质量要求</a:t>
            </a:r>
            <a:endParaRPr lang="zh-CN" altLang="en-US" sz="3000" dirty="0">
              <a:latin typeface="黑体" panose="02010609060101010101" pitchFamily="49" charset="-122"/>
              <a:ea typeface="黑体" panose="02010609060101010101" pitchFamily="49" charset="-122"/>
            </a:endParaRPr>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QA</a:t>
            </a:r>
            <a:r>
              <a:rPr lang="zh-CN" altLang="en-US" dirty="0"/>
              <a:t>都做些什么</a:t>
            </a:r>
            <a:endParaRPr lang="zh-CN" altLang="en-US" dirty="0"/>
          </a:p>
        </p:txBody>
      </p:sp>
      <p:sp>
        <p:nvSpPr>
          <p:cNvPr id="3" name="内容占位符 2"/>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制定品质计划，制定产品质量检验标准，组织质量控制方案</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检查</a:t>
            </a:r>
            <a:r>
              <a:rPr lang="zh-CN" altLang="en-US" b="1" dirty="0">
                <a:solidFill>
                  <a:srgbClr val="FF0000"/>
                </a:solidFill>
                <a:latin typeface="黑体" panose="02010609060101010101" pitchFamily="49" charset="-122"/>
                <a:ea typeface="黑体" panose="02010609060101010101" pitchFamily="49" charset="-122"/>
              </a:rPr>
              <a:t>生产前</a:t>
            </a:r>
            <a:r>
              <a:rPr lang="zh-CN" altLang="en-US" dirty="0">
                <a:latin typeface="黑体" panose="02010609060101010101" pitchFamily="49" charset="-122"/>
                <a:ea typeface="黑体" panose="02010609060101010101" pitchFamily="49" charset="-122"/>
              </a:rPr>
              <a:t>的准备工作</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检查生产环境</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检查生产设备</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检查生产物料</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负责</a:t>
            </a:r>
            <a:r>
              <a:rPr lang="zh-CN" altLang="en-US" b="1" dirty="0">
                <a:solidFill>
                  <a:srgbClr val="FF0000"/>
                </a:solidFill>
                <a:latin typeface="黑体" panose="02010609060101010101" pitchFamily="49" charset="-122"/>
                <a:ea typeface="黑体" panose="02010609060101010101" pitchFamily="49" charset="-122"/>
              </a:rPr>
              <a:t>生产过程中</a:t>
            </a:r>
            <a:r>
              <a:rPr lang="zh-CN" altLang="en-US" dirty="0">
                <a:latin typeface="黑体" panose="02010609060101010101" pitchFamily="49" charset="-122"/>
                <a:ea typeface="黑体" panose="02010609060101010101" pitchFamily="49" charset="-122"/>
              </a:rPr>
              <a:t>的质量</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询问相关人员工作状况</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查看生产现场生产状况</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查阅文件和记录情况</a:t>
            </a:r>
            <a:endParaRPr lang="en-US" altLang="zh-CN"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QA</a:t>
            </a:r>
            <a:r>
              <a:rPr lang="zh-CN" altLang="en-US" dirty="0"/>
              <a:t>都做些什么</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latin typeface="黑体" panose="02010609060101010101" pitchFamily="49" charset="-122"/>
                <a:ea typeface="黑体" panose="02010609060101010101" pitchFamily="49" charset="-122"/>
              </a:rPr>
              <a:t>做好</a:t>
            </a:r>
            <a:r>
              <a:rPr lang="zh-CN" altLang="en-US" b="1" dirty="0">
                <a:solidFill>
                  <a:srgbClr val="FF0000"/>
                </a:solidFill>
                <a:latin typeface="黑体" panose="02010609060101010101" pitchFamily="49" charset="-122"/>
                <a:ea typeface="黑体" panose="02010609060101010101" pitchFamily="49" charset="-122"/>
              </a:rPr>
              <a:t>生产结束</a:t>
            </a:r>
            <a:r>
              <a:rPr lang="zh-CN" altLang="en-US" dirty="0">
                <a:latin typeface="黑体" panose="02010609060101010101" pitchFamily="49" charset="-122"/>
                <a:ea typeface="黑体" panose="02010609060101010101" pitchFamily="49" charset="-122"/>
              </a:rPr>
              <a:t>的后续工作</a:t>
            </a:r>
            <a:endParaRPr lang="en-US" altLang="zh-CN" dirty="0">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检查产品质量是否符合产品质量标准</a:t>
            </a:r>
            <a:endParaRPr lang="en-US" altLang="zh-CN" dirty="0">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对不合格产品的处理作出判定</a:t>
            </a:r>
            <a:endParaRPr lang="en-US" altLang="zh-CN" dirty="0">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主持品质会议，参与质量总结分析，生成质量总结报告</a:t>
            </a:r>
            <a:endParaRPr lang="en-US" altLang="zh-CN" dirty="0">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处理客户反馈，改善质量控制</a:t>
            </a:r>
            <a:endParaRPr lang="en-US" altLang="zh-CN" dirty="0">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分析产品失效原因，提出改进方案</a:t>
            </a:r>
            <a:endParaRPr lang="en-US" altLang="zh-CN"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QC</a:t>
            </a:r>
            <a:r>
              <a:rPr lang="zh-CN" altLang="en-US"/>
              <a:t>都</a:t>
            </a:r>
            <a:r>
              <a:rPr lang="zh-CN" altLang="en-US" dirty="0"/>
              <a:t>做些什么</a:t>
            </a:r>
            <a:endParaRPr lang="zh-CN" altLang="en-US" dirty="0"/>
          </a:p>
        </p:txBody>
      </p:sp>
      <p:sp>
        <p:nvSpPr>
          <p:cNvPr id="3" name="内容占位符 2"/>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按照指定的品质文件进行品质控制，致力于满足质量要求</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进料控制：</a:t>
            </a:r>
            <a:r>
              <a:rPr lang="en-US" altLang="zh-CN" dirty="0">
                <a:latin typeface="黑体" panose="02010609060101010101" pitchFamily="49" charset="-122"/>
                <a:ea typeface="黑体" panose="02010609060101010101" pitchFamily="49" charset="-122"/>
              </a:rPr>
              <a:t>IQC</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对采购的素材或产品做品质确认，减少质量成本</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过程质量控制：</a:t>
            </a:r>
            <a:r>
              <a:rPr lang="en-US" altLang="zh-CN" dirty="0">
                <a:latin typeface="黑体" panose="02010609060101010101" pitchFamily="49" charset="-122"/>
                <a:ea typeface="黑体" panose="02010609060101010101" pitchFamily="49" charset="-122"/>
              </a:rPr>
              <a:t>IPQC</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在产品从生产到包装过程中进行品质管控</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最终检查验证：</a:t>
            </a:r>
            <a:r>
              <a:rPr lang="en-US" altLang="zh-CN" dirty="0">
                <a:latin typeface="黑体" panose="02010609060101010101" pitchFamily="49" charset="-122"/>
                <a:ea typeface="黑体" panose="02010609060101010101" pitchFamily="49" charset="-122"/>
              </a:rPr>
              <a:t>FQC</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在产品完成所有工序后，对产品的品质状况进行检验</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出货质量控制：</a:t>
            </a:r>
            <a:r>
              <a:rPr lang="en-US" altLang="zh-CN" dirty="0">
                <a:latin typeface="黑体" panose="02010609060101010101" pitchFamily="49" charset="-122"/>
                <a:ea typeface="黑体" panose="02010609060101010101" pitchFamily="49" charset="-122"/>
              </a:rPr>
              <a:t>OQC</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对产品进行全面性的查核确认，确保客户收货内容与约定内容一致</a:t>
            </a:r>
            <a:endParaRPr lang="en-US" altLang="zh-CN"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en-US" altLang="zh-CN" dirty="0"/>
              <a:t>QA</a:t>
            </a:r>
            <a:r>
              <a:rPr lang="zh-CN" altLang="en-US" dirty="0"/>
              <a:t>与</a:t>
            </a:r>
            <a:r>
              <a:rPr lang="en-US" altLang="zh-CN" dirty="0"/>
              <a:t>QC</a:t>
            </a:r>
            <a:r>
              <a:rPr lang="zh-CN" altLang="en-US" dirty="0"/>
              <a:t>的异同</a:t>
            </a:r>
            <a:endParaRPr lang="zh-CN" altLang="en-US" dirty="0"/>
          </a:p>
        </p:txBody>
      </p:sp>
      <p:sp>
        <p:nvSpPr>
          <p:cNvPr id="2" name="内容占位符 1"/>
          <p:cNvSpPr>
            <a:spLocks noGrp="1"/>
          </p:cNvSpPr>
          <p:nvPr>
            <p:ph idx="1"/>
          </p:nvPr>
        </p:nvSpPr>
        <p:spPr/>
        <p:txBody>
          <a:bodyPr rtlCol="0">
            <a:normAutofit fontScale="92500"/>
          </a:bodyPr>
          <a:lstStyle/>
          <a:p>
            <a:pPr rtl="0">
              <a:lnSpc>
                <a:spcPct val="150000"/>
              </a:lnSpc>
            </a:pPr>
            <a:r>
              <a:rPr lang="zh-CN" altLang="en-US" sz="3000" dirty="0">
                <a:latin typeface="黑体" panose="02010609060101010101" pitchFamily="49" charset="-122"/>
                <a:ea typeface="黑体" panose="02010609060101010101" pitchFamily="49" charset="-122"/>
              </a:rPr>
              <a:t>相同点：根本任务相同，都是检验产品质量</a:t>
            </a:r>
            <a:endParaRPr lang="en-US" altLang="zh-CN" sz="3000" dirty="0">
              <a:latin typeface="黑体" panose="02010609060101010101" pitchFamily="49" charset="-122"/>
              <a:ea typeface="黑体" panose="02010609060101010101" pitchFamily="49" charset="-122"/>
            </a:endParaRPr>
          </a:p>
          <a:p>
            <a:pPr>
              <a:lnSpc>
                <a:spcPct val="150000"/>
              </a:lnSpc>
            </a:pPr>
            <a:r>
              <a:rPr lang="zh-CN" altLang="en-US" sz="2800" dirty="0">
                <a:latin typeface="黑体" panose="02010609060101010101" pitchFamily="49" charset="-122"/>
                <a:ea typeface="黑体" panose="02010609060101010101" pitchFamily="49" charset="-122"/>
              </a:rPr>
              <a:t>不同点：</a:t>
            </a:r>
            <a:endParaRPr lang="en-US" altLang="zh-CN" sz="2800" dirty="0">
              <a:latin typeface="黑体" panose="02010609060101010101" pitchFamily="49" charset="-122"/>
              <a:ea typeface="黑体" panose="02010609060101010101" pitchFamily="49" charset="-122"/>
            </a:endParaRPr>
          </a:p>
          <a:p>
            <a:pPr lvl="1">
              <a:lnSpc>
                <a:spcPct val="150000"/>
              </a:lnSpc>
            </a:pPr>
            <a:r>
              <a:rPr lang="en-US" altLang="zh-CN" sz="2800" dirty="0">
                <a:latin typeface="黑体" panose="02010609060101010101" pitchFamily="49" charset="-122"/>
                <a:ea typeface="黑体" panose="02010609060101010101" pitchFamily="49" charset="-122"/>
              </a:rPr>
              <a:t>QA</a:t>
            </a:r>
            <a:r>
              <a:rPr lang="zh-CN" altLang="en-US" sz="2800" dirty="0">
                <a:latin typeface="黑体" panose="02010609060101010101" pitchFamily="49" charset="-122"/>
                <a:ea typeface="黑体" panose="02010609060101010101" pitchFamily="49" charset="-122"/>
              </a:rPr>
              <a:t>的目的不是为了保证产品质量，保证产品质量是</a:t>
            </a:r>
            <a:r>
              <a:rPr lang="en-US" altLang="zh-CN" sz="2800" dirty="0">
                <a:latin typeface="黑体" panose="02010609060101010101" pitchFamily="49" charset="-122"/>
                <a:ea typeface="黑体" panose="02010609060101010101" pitchFamily="49" charset="-122"/>
              </a:rPr>
              <a:t>QC</a:t>
            </a:r>
            <a:r>
              <a:rPr lang="zh-CN" altLang="en-US" sz="2800" dirty="0">
                <a:latin typeface="黑体" panose="02010609060101010101" pitchFamily="49" charset="-122"/>
                <a:ea typeface="黑体" panose="02010609060101010101" pitchFamily="49" charset="-122"/>
              </a:rPr>
              <a:t>的任务。</a:t>
            </a:r>
            <a:r>
              <a:rPr lang="en-US" altLang="zh-CN" sz="2800" dirty="0">
                <a:latin typeface="黑体" panose="02010609060101010101" pitchFamily="49" charset="-122"/>
                <a:ea typeface="黑体" panose="02010609060101010101" pitchFamily="49" charset="-122"/>
              </a:rPr>
              <a:t>	</a:t>
            </a:r>
            <a:endParaRPr lang="en-US" altLang="zh-CN" sz="2800" dirty="0">
              <a:latin typeface="黑体" panose="02010609060101010101" pitchFamily="49" charset="-122"/>
              <a:ea typeface="黑体" panose="02010609060101010101" pitchFamily="49" charset="-122"/>
            </a:endParaRPr>
          </a:p>
          <a:p>
            <a:pPr lvl="1">
              <a:lnSpc>
                <a:spcPct val="150000"/>
              </a:lnSpc>
            </a:pPr>
            <a:r>
              <a:rPr lang="en-US" altLang="zh-CN" sz="2800" dirty="0">
                <a:latin typeface="黑体" panose="02010609060101010101" pitchFamily="49" charset="-122"/>
                <a:ea typeface="黑体" panose="02010609060101010101" pitchFamily="49" charset="-122"/>
              </a:rPr>
              <a:t>QA</a:t>
            </a:r>
            <a:r>
              <a:rPr lang="zh-CN" altLang="en-US" sz="2800" dirty="0">
                <a:latin typeface="黑体" panose="02010609060101010101" pitchFamily="49" charset="-122"/>
                <a:ea typeface="黑体" panose="02010609060101010101" pitchFamily="49" charset="-122"/>
              </a:rPr>
              <a:t>主要是提供确信</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让用户和公司内部信任没有问题。</a:t>
            </a:r>
            <a:endParaRPr lang="en-US" altLang="zh-CN" sz="2800" dirty="0">
              <a:latin typeface="黑体" panose="02010609060101010101" pitchFamily="49" charset="-122"/>
              <a:ea typeface="黑体" panose="02010609060101010101" pitchFamily="49" charset="-122"/>
            </a:endParaRPr>
          </a:p>
          <a:p>
            <a:pPr lvl="1">
              <a:lnSpc>
                <a:spcPct val="150000"/>
              </a:lnSpc>
            </a:pPr>
            <a:r>
              <a:rPr lang="en-US" altLang="zh-CN" sz="2800" dirty="0">
                <a:latin typeface="黑体" panose="02010609060101010101" pitchFamily="49" charset="-122"/>
                <a:ea typeface="黑体" panose="02010609060101010101" pitchFamily="49" charset="-122"/>
              </a:rPr>
              <a:t>QA</a:t>
            </a:r>
            <a:r>
              <a:rPr lang="zh-CN" altLang="en-US" sz="2800" dirty="0">
                <a:latin typeface="黑体" panose="02010609060101010101" pitchFamily="49" charset="-122"/>
                <a:ea typeface="黑体" panose="02010609060101010101" pitchFamily="49" charset="-122"/>
              </a:rPr>
              <a:t>是一套体系，属于管理层，目的是“预防问题”</a:t>
            </a:r>
            <a:endParaRPr lang="en-US" altLang="zh-CN" sz="2800" dirty="0">
              <a:latin typeface="黑体" panose="02010609060101010101" pitchFamily="49" charset="-122"/>
              <a:ea typeface="黑体" panose="02010609060101010101" pitchFamily="49" charset="-122"/>
            </a:endParaRPr>
          </a:p>
          <a:p>
            <a:pPr lvl="1">
              <a:lnSpc>
                <a:spcPct val="150000"/>
              </a:lnSpc>
            </a:pPr>
            <a:r>
              <a:rPr lang="en-US" altLang="zh-CN" sz="2800" dirty="0">
                <a:latin typeface="黑体" panose="02010609060101010101" pitchFamily="49" charset="-122"/>
                <a:ea typeface="黑体" panose="02010609060101010101" pitchFamily="49" charset="-122"/>
              </a:rPr>
              <a:t>QC</a:t>
            </a:r>
            <a:r>
              <a:rPr lang="zh-CN" altLang="en-US" sz="2800" dirty="0">
                <a:latin typeface="黑体" panose="02010609060101010101" pitchFamily="49" charset="-122"/>
                <a:ea typeface="黑体" panose="02010609060101010101" pitchFamily="49" charset="-122"/>
              </a:rPr>
              <a:t>是具体手段，属于操作层，目的是“解决问题”</a:t>
            </a:r>
            <a:endParaRPr lang="en-US" altLang="zh-CN" sz="2800" dirty="0">
              <a:latin typeface="黑体" panose="02010609060101010101" pitchFamily="49" charset="-122"/>
              <a:ea typeface="黑体" panose="02010609060101010101" pitchFamily="49" charset="-122"/>
            </a:endParaRPr>
          </a:p>
          <a:p>
            <a:pPr lvl="1"/>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r>
              <a:rPr lang="zh-CN" altLang="en-US" sz="5400" dirty="0"/>
              <a:t>软件工程中的</a:t>
            </a:r>
            <a:r>
              <a:rPr lang="en-US" altLang="zh-CN" sz="5400" dirty="0"/>
              <a:t>QA&amp;QC</a:t>
            </a:r>
            <a:endParaRPr lang="en-US" altLang="zh-CN" sz="5400" dirty="0"/>
          </a:p>
        </p:txBody>
      </p:sp>
      <p:sp>
        <p:nvSpPr>
          <p:cNvPr id="2" name="内容占位符 1"/>
          <p:cNvSpPr>
            <a:spLocks noGrp="1"/>
          </p:cNvSpPr>
          <p:nvPr>
            <p:ph idx="1"/>
          </p:nvPr>
        </p:nvSpPr>
        <p:spPr/>
        <p:txBody>
          <a:bodyPr rtlCol="0">
            <a:normAutofit/>
          </a:bodyPr>
          <a:lstStyle/>
          <a:p>
            <a:pPr rtl="0">
              <a:lnSpc>
                <a:spcPct val="200000"/>
              </a:lnSpc>
            </a:pPr>
            <a:r>
              <a:rPr lang="zh-CN" altLang="en-US" sz="2800" dirty="0">
                <a:latin typeface="黑体" panose="02010609060101010101" pitchFamily="49" charset="-122"/>
                <a:ea typeface="黑体" panose="02010609060101010101" pitchFamily="49" charset="-122"/>
              </a:rPr>
              <a:t>软件质量控制的概念</a:t>
            </a:r>
            <a:endParaRPr lang="en-US" altLang="zh-CN" sz="2800" dirty="0">
              <a:latin typeface="黑体" panose="02010609060101010101" pitchFamily="49" charset="-122"/>
              <a:ea typeface="黑体" panose="02010609060101010101" pitchFamily="49" charset="-122"/>
            </a:endParaRPr>
          </a:p>
          <a:p>
            <a:pPr>
              <a:lnSpc>
                <a:spcPct val="200000"/>
              </a:lnSpc>
            </a:pPr>
            <a:r>
              <a:rPr lang="zh-CN" altLang="en-US" sz="2800" dirty="0">
                <a:latin typeface="黑体" panose="02010609060101010101" pitchFamily="49" charset="-122"/>
                <a:ea typeface="黑体" panose="02010609060101010101" pitchFamily="49" charset="-122"/>
              </a:rPr>
              <a:t>软件质量控制的方法</a:t>
            </a:r>
            <a:endParaRPr lang="en-US" altLang="zh-CN" sz="2800" dirty="0">
              <a:latin typeface="黑体" panose="02010609060101010101" pitchFamily="49" charset="-122"/>
              <a:ea typeface="黑体" panose="02010609060101010101" pitchFamily="49" charset="-122"/>
            </a:endParaRPr>
          </a:p>
          <a:p>
            <a:pPr rtl="0">
              <a:lnSpc>
                <a:spcPct val="200000"/>
              </a:lnSpc>
            </a:pPr>
            <a:r>
              <a:rPr lang="zh-CN" altLang="en-US" sz="2800" dirty="0">
                <a:latin typeface="黑体" panose="02010609060101010101" pitchFamily="49" charset="-122"/>
                <a:ea typeface="黑体" panose="02010609060101010101" pitchFamily="49" charset="-122"/>
              </a:rPr>
              <a:t>软件质量保证体系</a:t>
            </a:r>
            <a:endParaRPr lang="en-US" altLang="zh-CN" sz="28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软件质量控制的概念</a:t>
            </a:r>
            <a:endParaRPr lang="en-US" altLang="zh-CN" dirty="0"/>
          </a:p>
        </p:txBody>
      </p:sp>
      <p:sp>
        <p:nvSpPr>
          <p:cNvPr id="3" name="内容占位符 2"/>
          <p:cNvSpPr>
            <a:spLocks noGrp="1"/>
          </p:cNvSpPr>
          <p:nvPr>
            <p:ph idx="1"/>
          </p:nvPr>
        </p:nvSpPr>
        <p:spPr/>
        <p:txBody>
          <a:bodyPr>
            <a:normAutofit fontScale="85000" lnSpcReduction="20000"/>
          </a:bodyPr>
          <a:lstStyle/>
          <a:p>
            <a:pPr>
              <a:lnSpc>
                <a:spcPct val="150000"/>
              </a:lnSpc>
            </a:pPr>
            <a:r>
              <a:rPr lang="zh-CN" altLang="en-US" dirty="0">
                <a:latin typeface="黑体" panose="02010609060101010101" pitchFamily="49" charset="-122"/>
                <a:ea typeface="黑体" panose="02010609060101010101" pitchFamily="49" charset="-122"/>
              </a:rPr>
              <a:t>从软件质量控制本身的技术意义上来说：</a:t>
            </a:r>
            <a:endParaRPr lang="en-US" altLang="zh-CN" dirty="0">
              <a:latin typeface="黑体" panose="02010609060101010101" pitchFamily="49" charset="-122"/>
              <a:ea typeface="黑体" panose="02010609060101010101" pitchFamily="49" charset="-122"/>
            </a:endParaRPr>
          </a:p>
          <a:p>
            <a:pPr marL="393065" lvl="1" indent="0">
              <a:lnSpc>
                <a:spcPct val="150000"/>
              </a:lnSpc>
              <a:buNone/>
            </a:pPr>
            <a:r>
              <a:rPr lang="zh-CN" altLang="en-US" dirty="0">
                <a:latin typeface="黑体" panose="02010609060101010101" pitchFamily="49" charset="-122"/>
                <a:ea typeface="黑体" panose="02010609060101010101" pitchFamily="49" charset="-122"/>
              </a:rPr>
              <a:t>软件质量控制是一组由开发组织使用的程序和方法，使用它可以在规定的资金投入和时间限制的条件下，提供满足客户质量要求的软件产品并持续不断地该生开发过程和开发组织本身，以提高将来生产高质量软件产品的能力。</a:t>
            </a:r>
            <a:endParaRPr lang="zh-CN" altLang="en-US"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软件质量控制是</a:t>
            </a:r>
            <a:r>
              <a:rPr lang="zh-CN" altLang="en-US" dirty="0">
                <a:solidFill>
                  <a:srgbClr val="FF0000"/>
                </a:solidFill>
                <a:latin typeface="黑体" panose="02010609060101010101" pitchFamily="49" charset="-122"/>
                <a:ea typeface="黑体" panose="02010609060101010101" pitchFamily="49" charset="-122"/>
              </a:rPr>
              <a:t>开发组织</a:t>
            </a:r>
            <a:r>
              <a:rPr lang="zh-CN" altLang="en-US" dirty="0">
                <a:latin typeface="黑体" panose="02010609060101010101" pitchFamily="49" charset="-122"/>
                <a:ea typeface="黑体" panose="02010609060101010101" pitchFamily="49" charset="-122"/>
              </a:rPr>
              <a:t>执行的一系列过程</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软件质量控制的目标是以</a:t>
            </a:r>
            <a:r>
              <a:rPr lang="zh-CN" altLang="en-US" dirty="0">
                <a:solidFill>
                  <a:srgbClr val="FF0000"/>
                </a:solidFill>
                <a:latin typeface="黑体" panose="02010609060101010101" pitchFamily="49" charset="-122"/>
                <a:ea typeface="黑体" panose="02010609060101010101" pitchFamily="49" charset="-122"/>
              </a:rPr>
              <a:t>最低的代价</a:t>
            </a:r>
            <a:r>
              <a:rPr lang="zh-CN" altLang="en-US" dirty="0">
                <a:latin typeface="黑体" panose="02010609060101010101" pitchFamily="49" charset="-122"/>
                <a:ea typeface="黑体" panose="02010609060101010101" pitchFamily="49" charset="-122"/>
              </a:rPr>
              <a:t>获得使</a:t>
            </a:r>
            <a:r>
              <a:rPr lang="zh-CN" altLang="en-US" dirty="0">
                <a:solidFill>
                  <a:srgbClr val="FF0000"/>
                </a:solidFill>
                <a:latin typeface="黑体" panose="02010609060101010101" pitchFamily="49" charset="-122"/>
                <a:ea typeface="黑体" panose="02010609060101010101" pitchFamily="49" charset="-122"/>
              </a:rPr>
              <a:t>客户满意</a:t>
            </a:r>
            <a:r>
              <a:rPr lang="zh-CN" altLang="en-US" dirty="0">
                <a:latin typeface="黑体" panose="02010609060101010101" pitchFamily="49" charset="-122"/>
                <a:ea typeface="黑体" panose="02010609060101010101" pitchFamily="49" charset="-122"/>
              </a:rPr>
              <a:t>的软件产品</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对开发组织来说，软件质量控制的另一个目标是从每一次开发过程中学习以便使软件质量控制</a:t>
            </a:r>
            <a:r>
              <a:rPr lang="zh-CN" altLang="en-US" dirty="0">
                <a:solidFill>
                  <a:srgbClr val="FF0000"/>
                </a:solidFill>
                <a:latin typeface="黑体" panose="02010609060101010101" pitchFamily="49" charset="-122"/>
                <a:ea typeface="黑体" panose="02010609060101010101" pitchFamily="49" charset="-122"/>
              </a:rPr>
              <a:t>一次比一次好</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50000"/>
              </a:lnSpc>
            </a:pPr>
            <a:r>
              <a:rPr lang="zh-CN" altLang="en-US" dirty="0">
                <a:latin typeface="黑体" panose="02010609060101010101" pitchFamily="49" charset="-122"/>
                <a:ea typeface="黑体" panose="02010609060101010101" pitchFamily="49" charset="-122"/>
              </a:rPr>
              <a:t>软件质量控制的方法</a:t>
            </a:r>
            <a:endParaRPr lang="en-US" altLang="zh-CN"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a:lnSpc>
                <a:spcPct val="200000"/>
              </a:lnSpc>
            </a:pPr>
            <a:r>
              <a:rPr lang="zh-CN" altLang="en-US" sz="3200" dirty="0">
                <a:latin typeface="黑体" panose="02010609060101010101" pitchFamily="49" charset="-122"/>
                <a:ea typeface="黑体" panose="02010609060101010101" pitchFamily="49" charset="-122"/>
              </a:rPr>
              <a:t>目标问题度量法</a:t>
            </a:r>
            <a:endParaRPr lang="en-US" altLang="zh-CN" sz="3200" dirty="0">
              <a:latin typeface="黑体" panose="02010609060101010101" pitchFamily="49" charset="-122"/>
              <a:ea typeface="黑体" panose="02010609060101010101" pitchFamily="49" charset="-122"/>
            </a:endParaRPr>
          </a:p>
          <a:p>
            <a:pPr>
              <a:lnSpc>
                <a:spcPct val="200000"/>
              </a:lnSpc>
            </a:pPr>
            <a:r>
              <a:rPr lang="zh-CN" altLang="en-US" sz="3200" dirty="0">
                <a:latin typeface="黑体" panose="02010609060101010101" pitchFamily="49" charset="-122"/>
                <a:ea typeface="黑体" panose="02010609060101010101" pitchFamily="49" charset="-122"/>
              </a:rPr>
              <a:t>风险管理法</a:t>
            </a:r>
            <a:endParaRPr lang="en-US" altLang="zh-CN" sz="3200" dirty="0">
              <a:latin typeface="黑体" panose="02010609060101010101" pitchFamily="49" charset="-122"/>
              <a:ea typeface="黑体" panose="02010609060101010101" pitchFamily="49" charset="-122"/>
            </a:endParaRPr>
          </a:p>
          <a:p>
            <a:pPr>
              <a:lnSpc>
                <a:spcPct val="200000"/>
              </a:lnSpc>
            </a:pPr>
            <a:r>
              <a:rPr lang="en-US" altLang="zh-CN" sz="3200" dirty="0">
                <a:latin typeface="黑体" panose="02010609060101010101" pitchFamily="49" charset="-122"/>
                <a:ea typeface="黑体" panose="02010609060101010101" pitchFamily="49" charset="-122"/>
              </a:rPr>
              <a:t>TSQC</a:t>
            </a:r>
            <a:r>
              <a:rPr lang="zh-CN" altLang="en-US" sz="3200" dirty="0">
                <a:latin typeface="黑体" panose="02010609060101010101" pitchFamily="49" charset="-122"/>
                <a:ea typeface="黑体" panose="02010609060101010101" pitchFamily="49" charset="-122"/>
              </a:rPr>
              <a:t>模型</a:t>
            </a:r>
            <a:endParaRPr lang="en-US" altLang="zh-CN" sz="3200" dirty="0">
              <a:latin typeface="黑体" panose="02010609060101010101" pitchFamily="49" charset="-122"/>
              <a:ea typeface="黑体" panose="02010609060101010101" pitchFamily="49" charset="-122"/>
            </a:endParaRPr>
          </a:p>
          <a:p>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目标问题度量法</a:t>
            </a:r>
            <a:endParaRPr lang="en-US" altLang="zh-CN" dirty="0"/>
          </a:p>
        </p:txBody>
      </p:sp>
      <p:sp>
        <p:nvSpPr>
          <p:cNvPr id="3" name="内容占位符 2"/>
          <p:cNvSpPr>
            <a:spLocks noGrp="1"/>
          </p:cNvSpPr>
          <p:nvPr>
            <p:ph idx="1"/>
          </p:nvPr>
        </p:nvSpPr>
        <p:spPr/>
        <p:txBody>
          <a:bodyPr/>
          <a:lstStyle/>
          <a:p>
            <a:pPr>
              <a:lnSpc>
                <a:spcPct val="150000"/>
              </a:lnSpc>
            </a:pPr>
            <a:r>
              <a:rPr lang="zh-CN" altLang="en-US" dirty="0">
                <a:latin typeface="黑体" panose="02010609060101010101" pitchFamily="49" charset="-122"/>
                <a:ea typeface="黑体" panose="02010609060101010101" pitchFamily="49" charset="-122"/>
              </a:rPr>
              <a:t>通过确定软件质量目标并且连续监视这些目标是否达到来实现控制软件质量的一种方法</a:t>
            </a:r>
            <a:endParaRPr lang="en-US" altLang="zh-CN" dirty="0">
              <a:latin typeface="黑体" panose="02010609060101010101" pitchFamily="49" charset="-122"/>
              <a:ea typeface="黑体" panose="02010609060101010101" pitchFamily="49" charset="-122"/>
            </a:endParaRPr>
          </a:p>
          <a:p>
            <a:pPr>
              <a:lnSpc>
                <a:spcPct val="150000"/>
              </a:lnSpc>
            </a:pP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目标的定义：客户所希望的质量需求的定量说明</a:t>
            </a:r>
            <a:endParaRPr lang="zh-CN" altLang="en-US"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目标问题度量法流程</a:t>
            </a:r>
            <a:endParaRPr lang="en-US" altLang="zh-CN" dirty="0"/>
          </a:p>
        </p:txBody>
      </p:sp>
      <p:sp>
        <p:nvSpPr>
          <p:cNvPr id="3" name="内容占位符 2"/>
          <p:cNvSpPr>
            <a:spLocks noGrp="1"/>
          </p:cNvSpPr>
          <p:nvPr>
            <p:ph idx="1"/>
          </p:nvPr>
        </p:nvSpPr>
        <p:spPr/>
        <p:txBody>
          <a:bodyPr>
            <a:normAutofit fontScale="92500" lnSpcReduction="20000"/>
          </a:bodyPr>
          <a:lstStyle/>
          <a:p>
            <a:pPr lvl="1">
              <a:lnSpc>
                <a:spcPct val="150000"/>
              </a:lnSpc>
            </a:pPr>
            <a:r>
              <a:rPr lang="zh-CN" altLang="en-US" sz="3000" dirty="0">
                <a:latin typeface="黑体" panose="02010609060101010101" pitchFamily="49" charset="-122"/>
                <a:ea typeface="黑体" panose="02010609060101010101" pitchFamily="49" charset="-122"/>
              </a:rPr>
              <a:t>对一个项目的各个方面（产品，过程，资源）规定具体的目标</a:t>
            </a:r>
            <a:endParaRPr lang="en-US" altLang="zh-CN" sz="3000" dirty="0">
              <a:latin typeface="黑体" panose="02010609060101010101" pitchFamily="49" charset="-122"/>
              <a:ea typeface="黑体" panose="02010609060101010101" pitchFamily="49" charset="-122"/>
            </a:endParaRPr>
          </a:p>
          <a:p>
            <a:pPr lvl="2">
              <a:lnSpc>
                <a:spcPct val="150000"/>
              </a:lnSpc>
            </a:pPr>
            <a:r>
              <a:rPr lang="zh-CN" altLang="en-US" sz="3000" dirty="0">
                <a:latin typeface="黑体" panose="02010609060101010101" pitchFamily="49" charset="-122"/>
                <a:ea typeface="黑体" panose="02010609060101010101" pitchFamily="49" charset="-122"/>
              </a:rPr>
              <a:t>有助于理解在开发期间发生了什么</a:t>
            </a:r>
            <a:endParaRPr lang="en-US" altLang="zh-CN" sz="3000" dirty="0">
              <a:latin typeface="黑体" panose="02010609060101010101" pitchFamily="49" charset="-122"/>
              <a:ea typeface="黑体" panose="02010609060101010101" pitchFamily="49" charset="-122"/>
            </a:endParaRPr>
          </a:p>
          <a:p>
            <a:pPr lvl="2">
              <a:lnSpc>
                <a:spcPct val="150000"/>
              </a:lnSpc>
            </a:pPr>
            <a:r>
              <a:rPr lang="zh-CN" altLang="en-US" sz="3000" dirty="0">
                <a:latin typeface="黑体" panose="02010609060101010101" pitchFamily="49" charset="-122"/>
                <a:ea typeface="黑体" panose="02010609060101010101" pitchFamily="49" charset="-122"/>
              </a:rPr>
              <a:t>更容易评估哪些方面做的好，哪些方面需要改进</a:t>
            </a:r>
            <a:endParaRPr lang="en-US" altLang="zh-CN" sz="3000" dirty="0">
              <a:latin typeface="黑体" panose="02010609060101010101" pitchFamily="49" charset="-122"/>
              <a:ea typeface="黑体" panose="02010609060101010101" pitchFamily="49" charset="-122"/>
            </a:endParaRPr>
          </a:p>
          <a:p>
            <a:pPr lvl="2">
              <a:lnSpc>
                <a:spcPct val="150000"/>
              </a:lnSpc>
            </a:pPr>
            <a:endParaRPr lang="en-US" altLang="zh-CN" sz="3000" dirty="0">
              <a:latin typeface="黑体" panose="02010609060101010101" pitchFamily="49" charset="-122"/>
              <a:ea typeface="黑体" panose="02010609060101010101" pitchFamily="49" charset="-122"/>
            </a:endParaRPr>
          </a:p>
          <a:p>
            <a:pPr lvl="1">
              <a:lnSpc>
                <a:spcPct val="150000"/>
              </a:lnSpc>
            </a:pPr>
            <a:r>
              <a:rPr lang="zh-CN" altLang="en-US" sz="3000" dirty="0">
                <a:latin typeface="黑体" panose="02010609060101010101" pitchFamily="49" charset="-122"/>
                <a:ea typeface="黑体" panose="02010609060101010101" pitchFamily="49" charset="-122"/>
              </a:rPr>
              <a:t>对每个目标引出一系列反映目标是否达到要求的问题，并要求回答这些问题</a:t>
            </a:r>
            <a:endParaRPr lang="en-US" altLang="zh-CN" sz="3000" dirty="0">
              <a:latin typeface="黑体" panose="02010609060101010101" pitchFamily="49" charset="-122"/>
              <a:ea typeface="黑体" panose="02010609060101010101" pitchFamily="49" charset="-122"/>
            </a:endParaRPr>
          </a:p>
          <a:p>
            <a:pPr lvl="2">
              <a:lnSpc>
                <a:spcPct val="150000"/>
              </a:lnSpc>
            </a:pPr>
            <a:r>
              <a:rPr lang="zh-CN" altLang="en-US" sz="3000" dirty="0">
                <a:latin typeface="黑体" panose="02010609060101010101" pitchFamily="49" charset="-122"/>
                <a:ea typeface="黑体" panose="02010609060101010101" pitchFamily="49" charset="-122"/>
              </a:rPr>
              <a:t>有助于定量化目标</a:t>
            </a:r>
            <a:endParaRPr lang="en-US" altLang="zh-CN" sz="3000" dirty="0">
              <a:latin typeface="黑体" panose="02010609060101010101" pitchFamily="49" charset="-122"/>
              <a:ea typeface="黑体" panose="02010609060101010101" pitchFamily="49" charset="-122"/>
            </a:endParaRPr>
          </a:p>
          <a:p>
            <a:pPr lvl="1"/>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目标问题度量法流程</a:t>
            </a:r>
            <a:endParaRPr lang="zh-CN" altLang="en-US" dirty="0"/>
          </a:p>
        </p:txBody>
      </p:sp>
      <p:sp>
        <p:nvSpPr>
          <p:cNvPr id="3" name="内容占位符 2"/>
          <p:cNvSpPr>
            <a:spLocks noGrp="1"/>
          </p:cNvSpPr>
          <p:nvPr>
            <p:ph idx="1"/>
          </p:nvPr>
        </p:nvSpPr>
        <p:spPr/>
        <p:txBody>
          <a:bodyPr>
            <a:normAutofit/>
          </a:bodyPr>
          <a:lstStyle/>
          <a:p>
            <a:pPr lvl="1">
              <a:lnSpc>
                <a:spcPct val="150000"/>
              </a:lnSpc>
            </a:pPr>
            <a:r>
              <a:rPr lang="zh-CN" altLang="en-US" sz="2600" dirty="0">
                <a:latin typeface="黑体" panose="02010609060101010101" pitchFamily="49" charset="-122"/>
                <a:ea typeface="黑体" panose="02010609060101010101" pitchFamily="49" charset="-122"/>
              </a:rPr>
              <a:t>将问题的答案映射到对软件质量等级的度量上</a:t>
            </a:r>
            <a:endParaRPr lang="en-US" altLang="zh-CN" sz="2600" dirty="0">
              <a:latin typeface="黑体" panose="02010609060101010101" pitchFamily="49" charset="-122"/>
              <a:ea typeface="黑体" panose="02010609060101010101" pitchFamily="49" charset="-122"/>
            </a:endParaRPr>
          </a:p>
          <a:p>
            <a:pPr lvl="2">
              <a:lnSpc>
                <a:spcPct val="150000"/>
              </a:lnSpc>
            </a:pPr>
            <a:r>
              <a:rPr lang="zh-CN" altLang="en-US" sz="2600" dirty="0">
                <a:latin typeface="黑体" panose="02010609060101010101" pitchFamily="49" charset="-122"/>
                <a:ea typeface="黑体" panose="02010609060101010101" pitchFamily="49" charset="-122"/>
              </a:rPr>
              <a:t>根据答案，判断哪些方面做的好，哪些方面需要改进</a:t>
            </a:r>
            <a:endParaRPr lang="en-US" altLang="zh-CN" sz="2600" dirty="0">
              <a:latin typeface="黑体" panose="02010609060101010101" pitchFamily="49" charset="-122"/>
              <a:ea typeface="黑体" panose="02010609060101010101" pitchFamily="49" charset="-122"/>
            </a:endParaRPr>
          </a:p>
          <a:p>
            <a:pPr marL="667385" lvl="2" indent="0">
              <a:lnSpc>
                <a:spcPct val="150000"/>
              </a:lnSpc>
              <a:buNone/>
            </a:pPr>
            <a:endParaRPr lang="en-US" altLang="zh-CN" sz="2600" dirty="0">
              <a:latin typeface="黑体" panose="02010609060101010101" pitchFamily="49" charset="-122"/>
              <a:ea typeface="黑体" panose="02010609060101010101" pitchFamily="49" charset="-122"/>
            </a:endParaRPr>
          </a:p>
          <a:p>
            <a:pPr lvl="1">
              <a:lnSpc>
                <a:spcPct val="150000"/>
              </a:lnSpc>
            </a:pPr>
            <a:r>
              <a:rPr lang="zh-CN" altLang="en-US" sz="2600" dirty="0">
                <a:latin typeface="黑体" panose="02010609060101010101" pitchFamily="49" charset="-122"/>
                <a:ea typeface="黑体" panose="02010609060101010101" pitchFamily="49" charset="-122"/>
              </a:rPr>
              <a:t>收集数据，为收集和分析数据做出计划</a:t>
            </a:r>
            <a:endParaRPr lang="en-US" altLang="zh-CN" sz="2600" dirty="0">
              <a:latin typeface="黑体" panose="02010609060101010101" pitchFamily="49" charset="-122"/>
              <a:ea typeface="黑体" panose="02010609060101010101" pitchFamily="49" charset="-122"/>
            </a:endParaRPr>
          </a:p>
          <a:p>
            <a:pPr lvl="2">
              <a:lnSpc>
                <a:spcPct val="150000"/>
              </a:lnSpc>
            </a:pPr>
            <a:r>
              <a:rPr lang="zh-CN" altLang="en-US" sz="2600" dirty="0">
                <a:latin typeface="黑体" panose="02010609060101010101" pitchFamily="49" charset="-122"/>
                <a:ea typeface="黑体" panose="02010609060101010101" pitchFamily="49" charset="-122"/>
              </a:rPr>
              <a:t>分析，度量质量目标</a:t>
            </a:r>
            <a:endParaRPr lang="en-US" altLang="zh-CN" sz="2600" dirty="0">
              <a:latin typeface="黑体" panose="02010609060101010101" pitchFamily="49" charset="-122"/>
              <a:ea typeface="黑体" panose="02010609060101010101" pitchFamily="49" charset="-122"/>
            </a:endParaRPr>
          </a:p>
          <a:p>
            <a:pPr lvl="2">
              <a:lnSpc>
                <a:spcPct val="150000"/>
              </a:lnSpc>
            </a:pPr>
            <a:r>
              <a:rPr lang="zh-CN" altLang="en-US" sz="2600" dirty="0">
                <a:latin typeface="黑体" panose="02010609060101010101" pitchFamily="49" charset="-122"/>
                <a:ea typeface="黑体" panose="02010609060101010101" pitchFamily="49" charset="-122"/>
              </a:rPr>
              <a:t>保存起来，长期使用，使目标得到长期持续的改善</a:t>
            </a:r>
            <a:endParaRPr lang="en-US" altLang="zh-CN" sz="26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风险管理法</a:t>
            </a:r>
            <a:endParaRPr lang="en-US" altLang="zh-CN" dirty="0"/>
          </a:p>
        </p:txBody>
      </p:sp>
      <p:sp>
        <p:nvSpPr>
          <p:cNvPr id="3" name="内容占位符 2"/>
          <p:cNvSpPr>
            <a:spLocks noGrp="1"/>
          </p:cNvSpPr>
          <p:nvPr>
            <p:ph idx="1"/>
          </p:nvPr>
        </p:nvSpPr>
        <p:spPr/>
        <p:txBody>
          <a:bodyPr/>
          <a:lstStyle/>
          <a:p>
            <a:pPr>
              <a:lnSpc>
                <a:spcPct val="150000"/>
              </a:lnSpc>
            </a:pPr>
            <a:r>
              <a:rPr lang="zh-CN" altLang="en-US" sz="2800" dirty="0">
                <a:latin typeface="黑体" panose="02010609060101010101" pitchFamily="49" charset="-122"/>
                <a:ea typeface="黑体" panose="02010609060101010101" pitchFamily="49" charset="-122"/>
              </a:rPr>
              <a:t>识别和控制软件开发过程中对成功地达到目标危害最大的那些因素的一个系统性方法</a:t>
            </a:r>
            <a:endParaRPr lang="en-US" altLang="zh-CN" sz="2800" dirty="0">
              <a:latin typeface="黑体" panose="02010609060101010101" pitchFamily="49" charset="-122"/>
              <a:ea typeface="黑体" panose="02010609060101010101" pitchFamily="49" charset="-122"/>
            </a:endParaRPr>
          </a:p>
          <a:p>
            <a:pPr>
              <a:lnSpc>
                <a:spcPct val="150000"/>
              </a:lnSpc>
            </a:pPr>
            <a:endParaRPr lang="en-US" altLang="zh-CN" sz="2800" dirty="0">
              <a:latin typeface="黑体" panose="02010609060101010101" pitchFamily="49" charset="-122"/>
              <a:ea typeface="黑体" panose="02010609060101010101" pitchFamily="49" charset="-122"/>
            </a:endParaRPr>
          </a:p>
          <a:p>
            <a:pPr>
              <a:lnSpc>
                <a:spcPct val="150000"/>
              </a:lnSpc>
            </a:pPr>
            <a:r>
              <a:rPr lang="zh-CN" altLang="en-US" sz="2800" dirty="0">
                <a:latin typeface="黑体" panose="02010609060101010101" pitchFamily="49" charset="-122"/>
                <a:ea typeface="黑体" panose="02010609060101010101" pitchFamily="49" charset="-122"/>
              </a:rPr>
              <a:t>风险管理法一般包含两个部分：</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风险估计和风险控制</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选择用来进行风险估计和风险控制的技术</a:t>
            </a:r>
            <a:endParaRPr lang="en-US" altLang="zh-CN"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风险管理法的实施步骤</a:t>
            </a:r>
            <a:endParaRPr lang="en-US" altLang="zh-CN"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latin typeface="黑体" panose="02010609060101010101" pitchFamily="49" charset="-122"/>
                <a:ea typeface="黑体" panose="02010609060101010101" pitchFamily="49" charset="-122"/>
              </a:rPr>
              <a:t>根据经验</a:t>
            </a:r>
            <a:r>
              <a:rPr lang="zh-CN" altLang="en-US" b="1" dirty="0">
                <a:solidFill>
                  <a:srgbClr val="FF0000"/>
                </a:solidFill>
                <a:latin typeface="黑体" panose="02010609060101010101" pitchFamily="49" charset="-122"/>
                <a:ea typeface="黑体" panose="02010609060101010101" pitchFamily="49" charset="-122"/>
              </a:rPr>
              <a:t>识别</a:t>
            </a:r>
            <a:r>
              <a:rPr lang="zh-CN" altLang="en-US" dirty="0">
                <a:latin typeface="黑体" panose="02010609060101010101" pitchFamily="49" charset="-122"/>
                <a:ea typeface="黑体" panose="02010609060101010101" pitchFamily="49" charset="-122"/>
              </a:rPr>
              <a:t>项目要素的有关风险</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b="1" dirty="0">
                <a:solidFill>
                  <a:srgbClr val="FF0000"/>
                </a:solidFill>
                <a:latin typeface="黑体" panose="02010609060101010101" pitchFamily="49" charset="-122"/>
                <a:ea typeface="黑体" panose="02010609060101010101" pitchFamily="49" charset="-122"/>
              </a:rPr>
              <a:t>评估</a:t>
            </a:r>
            <a:r>
              <a:rPr lang="zh-CN" altLang="en-US" dirty="0">
                <a:latin typeface="黑体" panose="02010609060101010101" pitchFamily="49" charset="-122"/>
                <a:ea typeface="黑体" panose="02010609060101010101" pitchFamily="49" charset="-122"/>
              </a:rPr>
              <a:t>风险发生的概率和发生的代价</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按发生概率和代价</a:t>
            </a:r>
            <a:r>
              <a:rPr lang="zh-CN" altLang="en-US" b="1" dirty="0">
                <a:solidFill>
                  <a:srgbClr val="FF0000"/>
                </a:solidFill>
                <a:latin typeface="黑体" panose="02010609060101010101" pitchFamily="49" charset="-122"/>
                <a:ea typeface="黑体" panose="02010609060101010101" pitchFamily="49" charset="-122"/>
              </a:rPr>
              <a:t>划分风险等级</a:t>
            </a:r>
            <a:r>
              <a:rPr lang="zh-CN" altLang="en-US" dirty="0">
                <a:latin typeface="黑体" panose="02010609060101010101" pitchFamily="49" charset="-122"/>
                <a:ea typeface="黑体" panose="02010609060101010101" pitchFamily="49" charset="-122"/>
              </a:rPr>
              <a:t>并且排序</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在项目限定条件下</a:t>
            </a:r>
            <a:r>
              <a:rPr lang="zh-CN" altLang="en-US" b="1" dirty="0">
                <a:solidFill>
                  <a:srgbClr val="FF0000"/>
                </a:solidFill>
                <a:latin typeface="黑体" panose="02010609060101010101" pitchFamily="49" charset="-122"/>
                <a:ea typeface="黑体" panose="02010609060101010101" pitchFamily="49" charset="-122"/>
              </a:rPr>
              <a:t>选择</a:t>
            </a:r>
            <a:r>
              <a:rPr lang="zh-CN" altLang="en-US" dirty="0">
                <a:latin typeface="黑体" panose="02010609060101010101" pitchFamily="49" charset="-122"/>
                <a:ea typeface="黑体" panose="02010609060101010101" pitchFamily="49" charset="-122"/>
              </a:rPr>
              <a:t>控制风险的技术</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b="1" dirty="0">
                <a:solidFill>
                  <a:srgbClr val="FF0000"/>
                </a:solidFill>
                <a:latin typeface="黑体" panose="02010609060101010101" pitchFamily="49" charset="-122"/>
                <a:ea typeface="黑体" panose="02010609060101010101" pitchFamily="49" charset="-122"/>
              </a:rPr>
              <a:t>执行计划</a:t>
            </a:r>
            <a:r>
              <a:rPr lang="zh-CN" altLang="en-US" dirty="0">
                <a:latin typeface="黑体" panose="02010609060101010101" pitchFamily="49" charset="-122"/>
                <a:ea typeface="黑体" panose="02010609060101010101" pitchFamily="49" charset="-122"/>
              </a:rPr>
              <a:t>并且监视进程</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b="1" dirty="0">
                <a:solidFill>
                  <a:srgbClr val="FF0000"/>
                </a:solidFill>
                <a:latin typeface="黑体" panose="02010609060101010101" pitchFamily="49" charset="-122"/>
                <a:ea typeface="黑体" panose="02010609060101010101" pitchFamily="49" charset="-122"/>
              </a:rPr>
              <a:t>持续评估</a:t>
            </a:r>
            <a:r>
              <a:rPr lang="zh-CN" altLang="en-US" dirty="0">
                <a:latin typeface="黑体" panose="02010609060101010101" pitchFamily="49" charset="-122"/>
                <a:ea typeface="黑体" panose="02010609060101010101" pitchFamily="49" charset="-122"/>
              </a:rPr>
              <a:t>风险状态，采取正确措施</a:t>
            </a:r>
            <a:endParaRPr lang="zh-CN" altLang="en-US"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风险管理控制模型</a:t>
            </a:r>
            <a:endParaRPr lang="zh-CN" altLang="en-US" dirty="0"/>
          </a:p>
        </p:txBody>
      </p:sp>
      <p:graphicFrame>
        <p:nvGraphicFramePr>
          <p:cNvPr id="10" name="内容占位符 9"/>
          <p:cNvGraphicFramePr>
            <a:graphicFrameLocks noGrp="1"/>
          </p:cNvGraphicFramePr>
          <p:nvPr>
            <p:ph idx="1"/>
          </p:nvPr>
        </p:nvGraphicFramePr>
        <p:xfrm>
          <a:off x="609600" y="1935163"/>
          <a:ext cx="10972800" cy="43894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软件各阶段的风险</a:t>
            </a:r>
            <a:endParaRPr lang="zh-CN" altLang="en-US" dirty="0"/>
          </a:p>
        </p:txBody>
      </p:sp>
      <p:graphicFrame>
        <p:nvGraphicFramePr>
          <p:cNvPr id="4" name="内容占位符 3"/>
          <p:cNvGraphicFramePr>
            <a:graphicFrameLocks noGrp="1"/>
          </p:cNvGraphicFramePr>
          <p:nvPr>
            <p:ph idx="1"/>
          </p:nvPr>
        </p:nvGraphicFramePr>
        <p:xfrm>
          <a:off x="609600" y="2052320"/>
          <a:ext cx="10972800" cy="4907280"/>
        </p:xfrm>
        <a:graphic>
          <a:graphicData uri="http://schemas.openxmlformats.org/drawingml/2006/table">
            <a:tbl>
              <a:tblPr>
                <a:tableStyleId>{5DA37D80-6434-44D0-A028-1B22A696006F}</a:tableStyleId>
              </a:tblPr>
              <a:tblGrid>
                <a:gridCol w="2621280"/>
                <a:gridCol w="4008120"/>
                <a:gridCol w="4343400"/>
              </a:tblGrid>
              <a:tr h="370840">
                <a:tc>
                  <a:txBody>
                    <a:bodyPr/>
                    <a:lstStyle/>
                    <a:p>
                      <a:pPr algn="ctr"/>
                      <a:r>
                        <a:rPr lang="zh-CN" altLang="en-US" sz="2400" dirty="0"/>
                        <a:t>阶段</a:t>
                      </a:r>
                      <a:endParaRPr lang="zh-CN" altLang="en-US" sz="2400" dirty="0"/>
                    </a:p>
                  </a:txBody>
                  <a:tcPr/>
                </a:tc>
                <a:tc gridSpan="2">
                  <a:txBody>
                    <a:bodyPr/>
                    <a:lstStyle/>
                    <a:p>
                      <a:pPr algn="ctr"/>
                      <a:r>
                        <a:rPr lang="zh-CN" altLang="en-US" sz="2400" dirty="0"/>
                        <a:t>可能面临的风险问题</a:t>
                      </a:r>
                      <a:endParaRPr lang="zh-CN" altLang="en-US" sz="2400" dirty="0"/>
                    </a:p>
                  </a:txBody>
                  <a:tcPr/>
                </a:tc>
                <a:tc hMerge="1">
                  <a:tcPr/>
                </a:tc>
              </a:tr>
              <a:tr h="370840">
                <a:tc rowSpan="3">
                  <a:txBody>
                    <a:bodyPr/>
                    <a:lstStyle/>
                    <a:p>
                      <a:pPr algn="ctr"/>
                      <a:r>
                        <a:rPr lang="zh-CN" altLang="en-US" sz="2400" dirty="0"/>
                        <a:t>计划</a:t>
                      </a:r>
                      <a:endParaRPr lang="zh-CN" altLang="en-US" sz="2400" dirty="0"/>
                    </a:p>
                  </a:txBody>
                  <a:tcPr anchor="ctr"/>
                </a:tc>
                <a:tc>
                  <a:txBody>
                    <a:bodyPr/>
                    <a:lstStyle/>
                    <a:p>
                      <a:pPr algn="ctr"/>
                      <a:r>
                        <a:rPr lang="zh-CN" altLang="en-US" dirty="0"/>
                        <a:t>目标不清</a:t>
                      </a:r>
                      <a:endParaRPr lang="zh-CN" altLang="en-US" dirty="0"/>
                    </a:p>
                  </a:txBody>
                  <a:tcPr/>
                </a:tc>
                <a:tc>
                  <a:txBody>
                    <a:bodyPr/>
                    <a:lstStyle/>
                    <a:p>
                      <a:pPr algn="ctr"/>
                      <a:r>
                        <a:rPr lang="zh-CN" altLang="en-US" dirty="0"/>
                        <a:t>业务不请</a:t>
                      </a:r>
                      <a:endParaRPr lang="zh-CN" altLang="en-US" dirty="0"/>
                    </a:p>
                  </a:txBody>
                  <a:tcPr/>
                </a:tc>
              </a:tr>
              <a:tr h="370840">
                <a:tc vMerge="1">
                  <a:tcPr/>
                </a:tc>
                <a:tc>
                  <a:txBody>
                    <a:bodyPr/>
                    <a:lstStyle/>
                    <a:p>
                      <a:pPr algn="ctr"/>
                      <a:r>
                        <a:rPr lang="zh-CN" altLang="en-US" dirty="0"/>
                        <a:t>范围不清</a:t>
                      </a:r>
                      <a:endParaRPr lang="zh-CN" altLang="en-US" dirty="0"/>
                    </a:p>
                  </a:txBody>
                  <a:tcPr/>
                </a:tc>
                <a:tc>
                  <a:txBody>
                    <a:bodyPr/>
                    <a:lstStyle/>
                    <a:p>
                      <a:pPr algn="ctr"/>
                      <a:r>
                        <a:rPr lang="zh-CN" altLang="en-US" dirty="0"/>
                        <a:t>缺乏可行性分析</a:t>
                      </a:r>
                      <a:endParaRPr lang="zh-CN" altLang="en-US" dirty="0"/>
                    </a:p>
                  </a:txBody>
                  <a:tcPr/>
                </a:tc>
              </a:tr>
              <a:tr h="370840">
                <a:tc vMerge="1">
                  <a:tcPr/>
                </a:tc>
                <a:tc>
                  <a:txBody>
                    <a:bodyPr/>
                    <a:lstStyle/>
                    <a:p>
                      <a:pPr algn="ctr"/>
                      <a:r>
                        <a:rPr lang="zh-CN" altLang="en-US" dirty="0"/>
                        <a:t>缺少沟通</a:t>
                      </a:r>
                      <a:endParaRPr lang="zh-CN" altLang="en-US" dirty="0"/>
                    </a:p>
                  </a:txBody>
                  <a:tcPr/>
                </a:tc>
                <a:tc>
                  <a:txBody>
                    <a:bodyPr/>
                    <a:lstStyle/>
                    <a:p>
                      <a:pPr algn="ctr"/>
                      <a:endParaRPr lang="zh-CN" altLang="en-US"/>
                    </a:p>
                  </a:txBody>
                  <a:tcPr/>
                </a:tc>
              </a:tr>
              <a:tr h="370840">
                <a:tc rowSpan="2">
                  <a:txBody>
                    <a:bodyPr/>
                    <a:lstStyle/>
                    <a:p>
                      <a:pPr algn="ctr"/>
                      <a:r>
                        <a:rPr lang="zh-CN" altLang="en-US" sz="2400" dirty="0"/>
                        <a:t>设计</a:t>
                      </a:r>
                      <a:endParaRPr lang="zh-CN" altLang="en-US" sz="2400" dirty="0"/>
                    </a:p>
                  </a:txBody>
                  <a:tcPr anchor="ctr"/>
                </a:tc>
                <a:tc>
                  <a:txBody>
                    <a:bodyPr/>
                    <a:lstStyle/>
                    <a:p>
                      <a:pPr algn="ctr"/>
                      <a:r>
                        <a:rPr lang="zh-CN" altLang="en-US" dirty="0"/>
                        <a:t>缺乏经验</a:t>
                      </a:r>
                      <a:endParaRPr lang="zh-CN" altLang="en-US" dirty="0"/>
                    </a:p>
                  </a:txBody>
                  <a:tcPr/>
                </a:tc>
                <a:tc>
                  <a:txBody>
                    <a:bodyPr/>
                    <a:lstStyle/>
                    <a:p>
                      <a:pPr algn="ctr"/>
                      <a:r>
                        <a:rPr lang="zh-CN" altLang="en-US" dirty="0"/>
                        <a:t>项目计划仓促</a:t>
                      </a:r>
                      <a:endParaRPr lang="zh-CN" altLang="en-US" dirty="0"/>
                    </a:p>
                  </a:txBody>
                  <a:tcPr/>
                </a:tc>
              </a:tr>
              <a:tr h="370840">
                <a:tc vMerge="1">
                  <a:tcPr/>
                </a:tc>
                <a:tc>
                  <a:txBody>
                    <a:bodyPr/>
                    <a:lstStyle/>
                    <a:p>
                      <a:pPr algn="ctr"/>
                      <a:r>
                        <a:rPr lang="zh-CN" altLang="en-US" dirty="0"/>
                        <a:t>没有变更控制计划</a:t>
                      </a:r>
                      <a:endParaRPr lang="zh-CN" altLang="en-US" dirty="0"/>
                    </a:p>
                  </a:txBody>
                  <a:tcPr/>
                </a:tc>
                <a:tc>
                  <a:txBody>
                    <a:bodyPr/>
                    <a:lstStyle/>
                    <a:p>
                      <a:pPr algn="ctr"/>
                      <a:r>
                        <a:rPr lang="zh-CN" altLang="en-US" dirty="0"/>
                        <a:t>设计缺漏</a:t>
                      </a:r>
                      <a:endParaRPr lang="zh-CN" altLang="en-US" dirty="0"/>
                    </a:p>
                  </a:txBody>
                  <a:tcPr/>
                </a:tc>
              </a:tr>
              <a:tr h="370840">
                <a:tc rowSpan="5">
                  <a:txBody>
                    <a:bodyPr/>
                    <a:lstStyle/>
                    <a:p>
                      <a:pPr algn="ctr"/>
                      <a:r>
                        <a:rPr lang="zh-CN" altLang="en-US" sz="2400" dirty="0"/>
                        <a:t>实施</a:t>
                      </a:r>
                      <a:endParaRPr lang="zh-CN" altLang="en-US" sz="2400" dirty="0"/>
                    </a:p>
                  </a:txBody>
                  <a:tcPr anchor="ctr"/>
                </a:tc>
                <a:tc>
                  <a:txBody>
                    <a:bodyPr/>
                    <a:lstStyle/>
                    <a:p>
                      <a:pPr algn="ctr"/>
                      <a:r>
                        <a:rPr lang="zh-CN" altLang="en-US" dirty="0"/>
                        <a:t>缺乏环境</a:t>
                      </a:r>
                      <a:endParaRPr lang="zh-CN" altLang="en-US" dirty="0"/>
                    </a:p>
                  </a:txBody>
                  <a:tcPr/>
                </a:tc>
                <a:tc>
                  <a:txBody>
                    <a:bodyPr/>
                    <a:lstStyle/>
                    <a:p>
                      <a:pPr algn="ctr"/>
                      <a:r>
                        <a:rPr lang="zh-CN" altLang="en-US" dirty="0"/>
                        <a:t>人员变更</a:t>
                      </a:r>
                      <a:endParaRPr lang="zh-CN" altLang="en-US" dirty="0"/>
                    </a:p>
                  </a:txBody>
                  <a:tcPr/>
                </a:tc>
              </a:tr>
              <a:tr h="370840">
                <a:tc vMerge="1">
                  <a:tcPr/>
                </a:tc>
                <a:tc>
                  <a:txBody>
                    <a:bodyPr/>
                    <a:lstStyle/>
                    <a:p>
                      <a:pPr algn="ctr"/>
                      <a:r>
                        <a:rPr lang="zh-CN" altLang="en-US" dirty="0"/>
                        <a:t>设计错误</a:t>
                      </a:r>
                      <a:endParaRPr lang="zh-CN" altLang="en-US" dirty="0"/>
                    </a:p>
                  </a:txBody>
                  <a:tcPr/>
                </a:tc>
                <a:tc>
                  <a:txBody>
                    <a:bodyPr/>
                    <a:lstStyle/>
                    <a:p>
                      <a:pPr algn="ctr"/>
                      <a:r>
                        <a:rPr lang="zh-CN" altLang="en-US" dirty="0"/>
                        <a:t>内部沟通不畅</a:t>
                      </a:r>
                      <a:endParaRPr lang="zh-CN" altLang="en-US" dirty="0"/>
                    </a:p>
                  </a:txBody>
                  <a:tcPr/>
                </a:tc>
              </a:tr>
              <a:tr h="370840">
                <a:tc vMerge="1">
                  <a:tcPr/>
                </a:tc>
                <a:tc>
                  <a:txBody>
                    <a:bodyPr/>
                    <a:lstStyle/>
                    <a:p>
                      <a:pPr algn="ctr"/>
                      <a:r>
                        <a:rPr lang="zh-CN" altLang="en-US" dirty="0"/>
                        <a:t>开发能力</a:t>
                      </a:r>
                      <a:endParaRPr lang="zh-CN" altLang="en-US" dirty="0"/>
                    </a:p>
                  </a:txBody>
                  <a:tcPr/>
                </a:tc>
                <a:tc>
                  <a:txBody>
                    <a:bodyPr/>
                    <a:lstStyle/>
                    <a:p>
                      <a:pPr algn="ctr"/>
                      <a:r>
                        <a:rPr lang="zh-CN" altLang="en-US" dirty="0"/>
                        <a:t>备选方案无效</a:t>
                      </a:r>
                      <a:endParaRPr lang="zh-CN" altLang="en-US" dirty="0"/>
                    </a:p>
                  </a:txBody>
                  <a:tcPr/>
                </a:tc>
              </a:tr>
              <a:tr h="370840">
                <a:tc vMerge="1">
                  <a:tcPr/>
                </a:tc>
                <a:tc>
                  <a:txBody>
                    <a:bodyPr/>
                    <a:lstStyle/>
                    <a:p>
                      <a:pPr algn="ctr"/>
                      <a:r>
                        <a:rPr lang="zh-CN" altLang="en-US" dirty="0"/>
                        <a:t>项目范围变更</a:t>
                      </a:r>
                      <a:endParaRPr lang="zh-CN" altLang="en-US" dirty="0"/>
                    </a:p>
                  </a:txBody>
                  <a:tcPr/>
                </a:tc>
                <a:tc>
                  <a:txBody>
                    <a:bodyPr/>
                    <a:lstStyle/>
                    <a:p>
                      <a:pPr algn="ctr"/>
                      <a:r>
                        <a:rPr lang="zh-CN" altLang="en-US" dirty="0"/>
                        <a:t>测试计划不充分或缺少</a:t>
                      </a:r>
                      <a:endParaRPr lang="zh-CN" altLang="en-US" dirty="0"/>
                    </a:p>
                  </a:txBody>
                  <a:tcPr/>
                </a:tc>
              </a:tr>
              <a:tr h="370840">
                <a:tc vMerge="1">
                  <a:tcPr/>
                </a:tc>
                <a:tc>
                  <a:txBody>
                    <a:bodyPr/>
                    <a:lstStyle/>
                    <a:p>
                      <a:pPr algn="ctr"/>
                      <a:r>
                        <a:rPr lang="zh-CN" altLang="en-US" dirty="0"/>
                        <a:t>进度变更</a:t>
                      </a:r>
                      <a:endParaRPr lang="zh-CN" altLang="en-US" dirty="0"/>
                    </a:p>
                  </a:txBody>
                  <a:tcPr/>
                </a:tc>
                <a:tc>
                  <a:txBody>
                    <a:bodyPr/>
                    <a:lstStyle/>
                    <a:p>
                      <a:pPr algn="ctr"/>
                      <a:r>
                        <a:rPr lang="zh-CN" altLang="en-US" dirty="0"/>
                        <a:t>经验欠缺</a:t>
                      </a:r>
                      <a:endParaRPr lang="zh-CN" altLang="en-US" dirty="0"/>
                    </a:p>
                  </a:txBody>
                  <a:tcPr/>
                </a:tc>
              </a:tr>
              <a:tr h="370840">
                <a:tc rowSpan="2">
                  <a:txBody>
                    <a:bodyPr/>
                    <a:lstStyle/>
                    <a:p>
                      <a:pPr algn="ctr"/>
                      <a:r>
                        <a:rPr lang="zh-CN" altLang="en-US" sz="2400" dirty="0"/>
                        <a:t>发布</a:t>
                      </a:r>
                      <a:endParaRPr lang="zh-CN" altLang="en-US" sz="2400" dirty="0"/>
                    </a:p>
                  </a:txBody>
                  <a:tcPr anchor="ctr"/>
                </a:tc>
                <a:tc>
                  <a:txBody>
                    <a:bodyPr/>
                    <a:lstStyle/>
                    <a:p>
                      <a:pPr algn="ctr"/>
                      <a:r>
                        <a:rPr lang="zh-CN" altLang="en-US" dirty="0"/>
                        <a:t>质量差</a:t>
                      </a:r>
                      <a:endParaRPr lang="zh-CN" altLang="en-US" dirty="0"/>
                    </a:p>
                  </a:txBody>
                  <a:tcPr/>
                </a:tc>
                <a:tc>
                  <a:txBody>
                    <a:bodyPr/>
                    <a:lstStyle/>
                    <a:p>
                      <a:pPr algn="ctr"/>
                      <a:r>
                        <a:rPr lang="zh-CN" altLang="en-US" dirty="0"/>
                        <a:t>设备未按时到货</a:t>
                      </a:r>
                      <a:endParaRPr lang="zh-CN" altLang="en-US" dirty="0"/>
                    </a:p>
                  </a:txBody>
                  <a:tcPr/>
                </a:tc>
              </a:tr>
              <a:tr h="370840">
                <a:tc vMerge="1">
                  <a:tcPr/>
                </a:tc>
                <a:tc>
                  <a:txBody>
                    <a:bodyPr/>
                    <a:lstStyle/>
                    <a:p>
                      <a:pPr algn="ctr"/>
                      <a:r>
                        <a:rPr lang="zh-CN" altLang="en-US" dirty="0"/>
                        <a:t>客户不满意</a:t>
                      </a:r>
                      <a:endParaRPr lang="zh-CN" altLang="en-US" dirty="0"/>
                    </a:p>
                  </a:txBody>
                  <a:tcPr/>
                </a:tc>
                <a:tc>
                  <a:txBody>
                    <a:bodyPr/>
                    <a:lstStyle/>
                    <a:p>
                      <a:pPr algn="ctr"/>
                      <a:r>
                        <a:rPr lang="zh-CN" altLang="en-US" dirty="0"/>
                        <a:t>资金不能及时回收</a:t>
                      </a:r>
                      <a:endParaRPr lang="zh-CN" altLang="en-US"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风险严重程度的等级标准</a:t>
            </a:r>
            <a:endParaRPr lang="zh-CN" altLang="en-US" dirty="0"/>
          </a:p>
        </p:txBody>
      </p:sp>
      <p:graphicFrame>
        <p:nvGraphicFramePr>
          <p:cNvPr id="4" name="内容占位符 3"/>
          <p:cNvGraphicFramePr>
            <a:graphicFrameLocks noGrp="1"/>
          </p:cNvGraphicFramePr>
          <p:nvPr>
            <p:ph idx="1"/>
          </p:nvPr>
        </p:nvGraphicFramePr>
        <p:xfrm>
          <a:off x="609600" y="1935162"/>
          <a:ext cx="10972800" cy="4663758"/>
        </p:xfrm>
        <a:graphic>
          <a:graphicData uri="http://schemas.openxmlformats.org/drawingml/2006/table">
            <a:tbl>
              <a:tblPr firstRow="1" bandRow="1">
                <a:tableStyleId>{8799B23B-EC83-4686-B30A-512413B5E67A}</a:tableStyleId>
              </a:tblPr>
              <a:tblGrid>
                <a:gridCol w="2011680"/>
                <a:gridCol w="7040880"/>
                <a:gridCol w="1920240"/>
              </a:tblGrid>
              <a:tr h="777293">
                <a:tc>
                  <a:txBody>
                    <a:bodyPr/>
                    <a:lstStyle/>
                    <a:p>
                      <a:pPr algn="ctr"/>
                      <a:r>
                        <a:rPr lang="zh-CN" altLang="en-US" sz="2400" dirty="0"/>
                        <a:t>影响程度</a:t>
                      </a:r>
                      <a:endParaRPr lang="zh-CN" altLang="en-US" sz="2400" dirty="0"/>
                    </a:p>
                  </a:txBody>
                  <a:tcPr anchor="ctr"/>
                </a:tc>
                <a:tc>
                  <a:txBody>
                    <a:bodyPr/>
                    <a:lstStyle/>
                    <a:p>
                      <a:pPr algn="ctr"/>
                      <a:r>
                        <a:rPr lang="zh-CN" altLang="en-US" sz="2400" dirty="0"/>
                        <a:t>标准</a:t>
                      </a:r>
                      <a:endParaRPr lang="zh-CN" altLang="en-US" sz="2400" dirty="0"/>
                    </a:p>
                  </a:txBody>
                  <a:tcPr anchor="ctr"/>
                </a:tc>
                <a:tc>
                  <a:txBody>
                    <a:bodyPr/>
                    <a:lstStyle/>
                    <a:p>
                      <a:pPr algn="ctr"/>
                      <a:r>
                        <a:rPr lang="zh-CN" altLang="en-US" sz="2400" dirty="0"/>
                        <a:t>等级</a:t>
                      </a:r>
                      <a:endParaRPr lang="zh-CN" altLang="en-US" sz="2400" dirty="0"/>
                    </a:p>
                  </a:txBody>
                  <a:tcPr anchor="ctr"/>
                </a:tc>
              </a:tr>
              <a:tr h="777293">
                <a:tc>
                  <a:txBody>
                    <a:bodyPr/>
                    <a:lstStyle/>
                    <a:p>
                      <a:pPr algn="ctr"/>
                      <a:r>
                        <a:rPr lang="zh-CN" altLang="en-US" sz="2400" dirty="0"/>
                        <a:t>危险</a:t>
                      </a:r>
                      <a:endParaRPr lang="zh-CN" altLang="en-US" sz="2400" dirty="0"/>
                    </a:p>
                  </a:txBody>
                  <a:tcPr anchor="ctr"/>
                </a:tc>
                <a:tc>
                  <a:txBody>
                    <a:bodyPr/>
                    <a:lstStyle/>
                    <a:p>
                      <a:pPr algn="ctr"/>
                      <a:r>
                        <a:rPr lang="zh-CN" altLang="en-US" sz="2400" dirty="0"/>
                        <a:t>严重影响项目，可能导致项目取消或失败</a:t>
                      </a:r>
                      <a:endParaRPr lang="zh-CN" altLang="en-US" sz="2400" dirty="0"/>
                    </a:p>
                  </a:txBody>
                  <a:tcPr anchor="ctr"/>
                </a:tc>
                <a:tc>
                  <a:txBody>
                    <a:bodyPr/>
                    <a:lstStyle/>
                    <a:p>
                      <a:pPr algn="ctr"/>
                      <a:r>
                        <a:rPr lang="en-US" altLang="zh-CN" sz="2400" dirty="0"/>
                        <a:t>10</a:t>
                      </a:r>
                      <a:endParaRPr lang="zh-CN" altLang="en-US" sz="2400" dirty="0"/>
                    </a:p>
                  </a:txBody>
                  <a:tcPr anchor="ctr"/>
                </a:tc>
              </a:tr>
              <a:tr h="777293">
                <a:tc>
                  <a:txBody>
                    <a:bodyPr/>
                    <a:lstStyle/>
                    <a:p>
                      <a:pPr algn="ctr"/>
                      <a:r>
                        <a:rPr lang="zh-CN" altLang="en-US" sz="2400" dirty="0"/>
                        <a:t>高</a:t>
                      </a:r>
                      <a:endParaRPr lang="zh-CN" altLang="en-US" sz="2400" dirty="0"/>
                    </a:p>
                  </a:txBody>
                  <a:tcPr anchor="ctr"/>
                </a:tc>
                <a:tc>
                  <a:txBody>
                    <a:bodyPr/>
                    <a:lstStyle/>
                    <a:p>
                      <a:pPr algn="ctr"/>
                      <a:r>
                        <a:rPr lang="zh-CN" altLang="en-US" sz="2400" dirty="0"/>
                        <a:t>影响进度，导致延期，客户抱怨严重</a:t>
                      </a:r>
                      <a:endParaRPr lang="zh-CN" altLang="en-US" sz="2400" dirty="0"/>
                    </a:p>
                  </a:txBody>
                  <a:tcPr anchor="ctr"/>
                </a:tc>
                <a:tc>
                  <a:txBody>
                    <a:bodyPr/>
                    <a:lstStyle/>
                    <a:p>
                      <a:pPr algn="ctr"/>
                      <a:r>
                        <a:rPr lang="en-US" altLang="zh-CN" sz="2400" dirty="0"/>
                        <a:t>7-9</a:t>
                      </a:r>
                      <a:endParaRPr lang="zh-CN" altLang="en-US" sz="2400" dirty="0"/>
                    </a:p>
                  </a:txBody>
                  <a:tcPr anchor="ctr"/>
                </a:tc>
              </a:tr>
              <a:tr h="777293">
                <a:tc>
                  <a:txBody>
                    <a:bodyPr/>
                    <a:lstStyle/>
                    <a:p>
                      <a:pPr algn="ctr"/>
                      <a:r>
                        <a:rPr lang="zh-CN" altLang="en-US" sz="2400" dirty="0"/>
                        <a:t>中</a:t>
                      </a:r>
                      <a:endParaRPr lang="zh-CN" altLang="en-US" sz="2400" dirty="0"/>
                    </a:p>
                  </a:txBody>
                  <a:tcPr anchor="ctr"/>
                </a:tc>
                <a:tc>
                  <a:txBody>
                    <a:bodyPr/>
                    <a:lstStyle/>
                    <a:p>
                      <a:pPr algn="ctr"/>
                      <a:r>
                        <a:rPr lang="zh-CN" altLang="en-US" sz="2400" dirty="0"/>
                        <a:t>影响预算或软件性能差，客户不满意</a:t>
                      </a:r>
                      <a:endParaRPr lang="zh-CN" altLang="en-US" sz="2400" dirty="0"/>
                    </a:p>
                  </a:txBody>
                  <a:tcPr anchor="ctr"/>
                </a:tc>
                <a:tc>
                  <a:txBody>
                    <a:bodyPr/>
                    <a:lstStyle/>
                    <a:p>
                      <a:pPr algn="ctr"/>
                      <a:r>
                        <a:rPr lang="en-US" altLang="zh-CN" sz="2400" dirty="0"/>
                        <a:t>5-6</a:t>
                      </a:r>
                      <a:endParaRPr lang="zh-CN" altLang="en-US" sz="2400" dirty="0"/>
                    </a:p>
                  </a:txBody>
                  <a:tcPr anchor="ctr"/>
                </a:tc>
              </a:tr>
              <a:tr h="777293">
                <a:tc>
                  <a:txBody>
                    <a:bodyPr/>
                    <a:lstStyle/>
                    <a:p>
                      <a:pPr algn="ctr"/>
                      <a:r>
                        <a:rPr lang="zh-CN" altLang="en-US" sz="2400" dirty="0"/>
                        <a:t>低</a:t>
                      </a:r>
                      <a:endParaRPr lang="zh-CN" altLang="en-US" sz="2400" dirty="0"/>
                    </a:p>
                  </a:txBody>
                  <a:tcPr anchor="ctr"/>
                </a:tc>
                <a:tc>
                  <a:txBody>
                    <a:bodyPr/>
                    <a:lstStyle/>
                    <a:p>
                      <a:pPr algn="ctr"/>
                      <a:r>
                        <a:rPr lang="zh-CN" altLang="en-US" sz="2400" dirty="0"/>
                        <a:t>影响进程但很快解决，客户有些不满</a:t>
                      </a:r>
                      <a:endParaRPr lang="zh-CN" altLang="en-US" sz="2400" dirty="0"/>
                    </a:p>
                  </a:txBody>
                  <a:tcPr anchor="ctr"/>
                </a:tc>
                <a:tc>
                  <a:txBody>
                    <a:bodyPr/>
                    <a:lstStyle/>
                    <a:p>
                      <a:pPr algn="ctr"/>
                      <a:r>
                        <a:rPr lang="en-US" altLang="zh-CN" sz="2400" dirty="0"/>
                        <a:t>3-4</a:t>
                      </a:r>
                      <a:endParaRPr lang="zh-CN" altLang="en-US" sz="2400" dirty="0"/>
                    </a:p>
                  </a:txBody>
                  <a:tcPr anchor="ctr"/>
                </a:tc>
              </a:tr>
              <a:tr h="777293">
                <a:tc>
                  <a:txBody>
                    <a:bodyPr/>
                    <a:lstStyle/>
                    <a:p>
                      <a:pPr algn="ctr"/>
                      <a:r>
                        <a:rPr lang="zh-CN" altLang="en-US" sz="2400" dirty="0"/>
                        <a:t>小</a:t>
                      </a:r>
                      <a:endParaRPr lang="zh-CN" altLang="en-US" sz="2400" dirty="0"/>
                    </a:p>
                  </a:txBody>
                  <a:tcPr anchor="ctr"/>
                </a:tc>
                <a:tc>
                  <a:txBody>
                    <a:bodyPr/>
                    <a:lstStyle/>
                    <a:p>
                      <a:pPr algn="ctr"/>
                      <a:r>
                        <a:rPr lang="zh-CN" altLang="en-US" sz="2400" dirty="0"/>
                        <a:t>影响较小，客户未察觉或认可</a:t>
                      </a:r>
                      <a:endParaRPr lang="zh-CN" altLang="en-US" sz="2400" dirty="0"/>
                    </a:p>
                  </a:txBody>
                  <a:tcPr anchor="ctr"/>
                </a:tc>
                <a:tc>
                  <a:txBody>
                    <a:bodyPr/>
                    <a:lstStyle/>
                    <a:p>
                      <a:pPr algn="ctr"/>
                      <a:r>
                        <a:rPr lang="en-US" altLang="zh-CN" sz="2400" dirty="0"/>
                        <a:t>0-2</a:t>
                      </a:r>
                      <a:endParaRPr lang="zh-CN" altLang="en-US" sz="2400" dirty="0"/>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软件质量控制模型及技术</a:t>
            </a:r>
            <a:endParaRPr lang="en-US" altLang="zh-CN" dirty="0"/>
          </a:p>
        </p:txBody>
      </p:sp>
      <p:sp>
        <p:nvSpPr>
          <p:cNvPr id="3" name="内容占位符 2"/>
          <p:cNvSpPr>
            <a:spLocks noGrp="1"/>
          </p:cNvSpPr>
          <p:nvPr>
            <p:ph idx="1"/>
          </p:nvPr>
        </p:nvSpPr>
        <p:spPr>
          <a:xfrm>
            <a:off x="609600" y="1935480"/>
            <a:ext cx="10972800" cy="4389120"/>
          </a:xfrm>
        </p:spPr>
        <p:txBody>
          <a:bodyPr/>
          <a:lstStyle/>
          <a:p>
            <a:r>
              <a:rPr lang="en-US" altLang="zh-CN" dirty="0">
                <a:latin typeface="黑体" panose="02010609060101010101" pitchFamily="49" charset="-122"/>
                <a:ea typeface="黑体" panose="02010609060101010101" pitchFamily="49" charset="-122"/>
              </a:rPr>
              <a:t>PDCA</a:t>
            </a:r>
            <a:r>
              <a:rPr lang="zh-CN" altLang="en-US" dirty="0">
                <a:latin typeface="黑体" panose="02010609060101010101" pitchFamily="49" charset="-122"/>
                <a:ea typeface="黑体" panose="02010609060101010101" pitchFamily="49" charset="-122"/>
              </a:rPr>
              <a:t>循环</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质量管理的基本方法</a:t>
            </a:r>
            <a:endParaRPr lang="en-US" altLang="zh-CN" dirty="0">
              <a:latin typeface="黑体" panose="02010609060101010101" pitchFamily="49" charset="-122"/>
              <a:ea typeface="黑体" panose="02010609060101010101" pitchFamily="49" charset="-122"/>
            </a:endParaRPr>
          </a:p>
          <a:p>
            <a:pPr marL="0" inden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将质量管理分为四个阶段：</a:t>
            </a:r>
            <a:r>
              <a:rPr lang="en-US" altLang="zh-CN" dirty="0">
                <a:latin typeface="黑体" panose="02010609060101010101" pitchFamily="49" charset="-122"/>
                <a:ea typeface="黑体" panose="02010609060101010101" pitchFamily="49" charset="-122"/>
              </a:rPr>
              <a:t>P:plan D:do C:check A:act</a:t>
            </a:r>
            <a:endParaRPr lang="en-US" altLang="zh-CN" dirty="0">
              <a:latin typeface="黑体" panose="02010609060101010101" pitchFamily="49" charset="-122"/>
              <a:ea typeface="黑体" panose="02010609060101010101" pitchFamily="49" charset="-122"/>
            </a:endParaRPr>
          </a:p>
          <a:p>
            <a:pPr marL="0" indent="0">
              <a:buNone/>
            </a:pPr>
            <a:endParaRPr lang="en-US" altLang="zh-CN" dirty="0"/>
          </a:p>
          <a:p>
            <a:pPr marL="0" indent="0">
              <a:buNone/>
            </a:pPr>
            <a:endParaRPr lang="en-US" altLang="zh-CN" dirty="0"/>
          </a:p>
          <a:p>
            <a:pPr marL="0" indent="0">
              <a:buNone/>
            </a:pPr>
            <a:endParaRPr lang="zh-CN" altLang="en-US" dirty="0"/>
          </a:p>
        </p:txBody>
      </p:sp>
      <p:pic>
        <p:nvPicPr>
          <p:cNvPr id="7" name="图片 6"/>
          <p:cNvPicPr>
            <a:picLocks noChangeAspect="1"/>
          </p:cNvPicPr>
          <p:nvPr/>
        </p:nvPicPr>
        <p:blipFill>
          <a:blip r:embed="rId1"/>
          <a:stretch>
            <a:fillRect/>
          </a:stretch>
        </p:blipFill>
        <p:spPr>
          <a:xfrm>
            <a:off x="3429000" y="3124198"/>
            <a:ext cx="4267200" cy="36271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软件质量控制模型及技术</a:t>
            </a:r>
            <a:endParaRPr lang="zh-CN" altLang="en-US" dirty="0"/>
          </a:p>
        </p:txBody>
      </p:sp>
      <p:sp>
        <p:nvSpPr>
          <p:cNvPr id="3" name="内容占位符 2"/>
          <p:cNvSpPr>
            <a:spLocks noGrp="1"/>
          </p:cNvSpPr>
          <p:nvPr>
            <p:ph idx="1"/>
          </p:nvPr>
        </p:nvSpPr>
        <p:spPr/>
        <p:txBody>
          <a:bodyPr/>
          <a:lstStyle/>
          <a:p>
            <a:r>
              <a:rPr lang="en-US" altLang="zh-CN" dirty="0">
                <a:latin typeface="黑体" panose="02010609060101010101" pitchFamily="49" charset="-122"/>
                <a:ea typeface="黑体" panose="02010609060101010101" pitchFamily="49" charset="-122"/>
              </a:rPr>
              <a:t>TSQC</a:t>
            </a:r>
            <a:r>
              <a:rPr lang="zh-CN" altLang="en-US" dirty="0">
                <a:latin typeface="黑体" panose="02010609060101010101" pitchFamily="49" charset="-122"/>
                <a:ea typeface="黑体" panose="02010609060101010101" pitchFamily="49" charset="-122"/>
              </a:rPr>
              <a:t>模型：全面统计质量控制模型</a:t>
            </a:r>
            <a:endParaRPr lang="en-US" altLang="zh-CN" dirty="0">
              <a:latin typeface="黑体" panose="02010609060101010101" pitchFamily="49" charset="-122"/>
              <a:ea typeface="黑体" panose="02010609060101010101" pitchFamily="49" charset="-122"/>
            </a:endParaRPr>
          </a:p>
          <a:p>
            <a:endParaRPr lang="en-US" altLang="zh-CN" dirty="0"/>
          </a:p>
          <a:p>
            <a:endParaRPr lang="en-US" altLang="zh-CN" dirty="0"/>
          </a:p>
        </p:txBody>
      </p:sp>
      <p:pic>
        <p:nvPicPr>
          <p:cNvPr id="6" name="图片 5"/>
          <p:cNvPicPr>
            <a:picLocks noChangeAspect="1"/>
          </p:cNvPicPr>
          <p:nvPr/>
        </p:nvPicPr>
        <p:blipFill>
          <a:blip r:embed="rId1">
            <a:duotone>
              <a:prstClr val="black"/>
              <a:schemeClr val="bg1">
                <a:tint val="45000"/>
                <a:satMod val="400000"/>
              </a:schemeClr>
            </a:duotone>
            <a:extLst>
              <a:ext uri="{BEBA8EAE-BF5A-486C-A8C5-ECC9F3942E4B}">
                <a14:imgProps xmlns:a14="http://schemas.microsoft.com/office/drawing/2010/main">
                  <a14:imgLayer r:embed="rId2">
                    <a14:imgEffect>
                      <a14:colorTemperature colorTemp="6427"/>
                    </a14:imgEffect>
                    <a14:imgEffect>
                      <a14:saturation sat="0"/>
                    </a14:imgEffect>
                  </a14:imgLayer>
                </a14:imgProps>
              </a:ext>
              <a:ext uri="{28A0092B-C50C-407E-A947-70E740481C1C}">
                <a14:useLocalDpi xmlns:a14="http://schemas.microsoft.com/office/drawing/2010/main" val="0"/>
              </a:ext>
            </a:extLst>
          </a:blip>
          <a:stretch>
            <a:fillRect/>
          </a:stretch>
        </p:blipFill>
        <p:spPr>
          <a:xfrm>
            <a:off x="1589313" y="2636520"/>
            <a:ext cx="7903029" cy="36880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50000"/>
              </a:lnSpc>
            </a:pPr>
            <a:r>
              <a:rPr lang="zh-CN" altLang="en-US" dirty="0"/>
              <a:t>质量控制参数</a:t>
            </a:r>
            <a:endParaRPr lang="en-US" altLang="zh-CN" dirty="0"/>
          </a:p>
        </p:txBody>
      </p:sp>
      <p:sp>
        <p:nvSpPr>
          <p:cNvPr id="3" name="内容占位符 2"/>
          <p:cNvSpPr>
            <a:spLocks noGrp="1"/>
          </p:cNvSpPr>
          <p:nvPr>
            <p:ph idx="1"/>
          </p:nvPr>
        </p:nvSpPr>
        <p:spPr/>
        <p:txBody>
          <a:bodyPr>
            <a:normAutofit lnSpcReduction="10000"/>
          </a:bodyPr>
          <a:lstStyle/>
          <a:p>
            <a:pPr lvl="1">
              <a:lnSpc>
                <a:spcPct val="150000"/>
              </a:lnSpc>
            </a:pPr>
            <a:r>
              <a:rPr lang="zh-CN" altLang="en-US" sz="2800" dirty="0">
                <a:latin typeface="黑体" panose="02010609060101010101" pitchFamily="49" charset="-122"/>
                <a:ea typeface="黑体" panose="02010609060101010101" pitchFamily="49" charset="-122"/>
              </a:rPr>
              <a:t>产品：所有可交付物</a:t>
            </a:r>
            <a:endParaRPr lang="en-US" altLang="zh-CN" sz="2800" dirty="0">
              <a:latin typeface="黑体" panose="02010609060101010101" pitchFamily="49" charset="-122"/>
              <a:ea typeface="黑体" panose="02010609060101010101" pitchFamily="49" charset="-122"/>
            </a:endParaRPr>
          </a:p>
          <a:p>
            <a:pPr lvl="2">
              <a:lnSpc>
                <a:spcPct val="150000"/>
              </a:lnSpc>
            </a:pPr>
            <a:r>
              <a:rPr lang="zh-CN" altLang="en-US" sz="2400" dirty="0">
                <a:latin typeface="黑体" panose="02010609060101010101" pitchFamily="49" charset="-122"/>
                <a:ea typeface="黑体" panose="02010609060101010101" pitchFamily="49" charset="-122"/>
              </a:rPr>
              <a:t>产品是软件生命期中某个过程的输入和输出</a:t>
            </a:r>
            <a:endParaRPr lang="en-US" altLang="zh-CN" sz="2400" dirty="0">
              <a:latin typeface="黑体" panose="02010609060101010101" pitchFamily="49" charset="-122"/>
              <a:ea typeface="黑体" panose="02010609060101010101" pitchFamily="49" charset="-122"/>
            </a:endParaRPr>
          </a:p>
          <a:p>
            <a:pPr lvl="2">
              <a:lnSpc>
                <a:spcPct val="150000"/>
              </a:lnSpc>
            </a:pPr>
            <a:r>
              <a:rPr lang="zh-CN" altLang="en-US" sz="2400" dirty="0">
                <a:latin typeface="黑体" panose="02010609060101010101" pitchFamily="49" charset="-122"/>
                <a:ea typeface="黑体" panose="02010609060101010101" pitchFamily="49" charset="-122"/>
              </a:rPr>
              <a:t>需求，报告，编码，数据等都是一种产品</a:t>
            </a:r>
            <a:endParaRPr lang="en-US" altLang="zh-CN" sz="24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过程：所有活动的集合</a:t>
            </a:r>
            <a:endParaRPr lang="en-US" altLang="zh-CN" sz="2800" dirty="0">
              <a:latin typeface="黑体" panose="02010609060101010101" pitchFamily="49" charset="-122"/>
              <a:ea typeface="黑体" panose="02010609060101010101" pitchFamily="49" charset="-122"/>
            </a:endParaRPr>
          </a:p>
          <a:p>
            <a:pPr lvl="2">
              <a:lnSpc>
                <a:spcPct val="150000"/>
              </a:lnSpc>
            </a:pPr>
            <a:r>
              <a:rPr lang="zh-CN" altLang="en-US" sz="2400" dirty="0">
                <a:latin typeface="黑体" panose="02010609060101010101" pitchFamily="49" charset="-122"/>
                <a:ea typeface="黑体" panose="02010609060101010101" pitchFamily="49" charset="-122"/>
              </a:rPr>
              <a:t>质量设计和构造过程</a:t>
            </a:r>
            <a:endParaRPr lang="en-US" altLang="zh-CN" sz="2400" dirty="0">
              <a:latin typeface="黑体" panose="02010609060101010101" pitchFamily="49" charset="-122"/>
              <a:ea typeface="黑体" panose="02010609060101010101" pitchFamily="49" charset="-122"/>
            </a:endParaRPr>
          </a:p>
          <a:p>
            <a:pPr lvl="2">
              <a:lnSpc>
                <a:spcPct val="150000"/>
              </a:lnSpc>
            </a:pPr>
            <a:r>
              <a:rPr lang="zh-CN" altLang="en-US" sz="2400" dirty="0">
                <a:latin typeface="黑体" panose="02010609060101010101" pitchFamily="49" charset="-122"/>
                <a:ea typeface="黑体" panose="02010609060101010101" pitchFamily="49" charset="-122"/>
              </a:rPr>
              <a:t>质量检测过程</a:t>
            </a:r>
            <a:endParaRPr lang="en-US" altLang="zh-CN" sz="24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资源：活动的物质基础（人力，技术，时间，资金等）</a:t>
            </a:r>
            <a:endParaRPr lang="en-US" altLang="zh-CN" sz="2800" dirty="0">
              <a:latin typeface="黑体" panose="02010609060101010101" pitchFamily="49" charset="-122"/>
              <a:ea typeface="黑体" panose="02010609060101010101" pitchFamily="49" charset="-122"/>
            </a:endParaRPr>
          </a:p>
          <a:p>
            <a:pPr lvl="1">
              <a:lnSpc>
                <a:spcPct val="150000"/>
              </a:lnSpc>
            </a:pP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软件质量控制模型及技术</a:t>
            </a:r>
            <a:endParaRPr lang="en-US" altLang="zh-CN" dirty="0"/>
          </a:p>
        </p:txBody>
      </p:sp>
      <p:sp>
        <p:nvSpPr>
          <p:cNvPr id="3" name="内容占位符 2"/>
          <p:cNvSpPr>
            <a:spLocks noGrp="1"/>
          </p:cNvSpPr>
          <p:nvPr>
            <p:ph idx="1"/>
          </p:nvPr>
        </p:nvSpPr>
        <p:spPr/>
        <p:txBody>
          <a:bodyPr/>
          <a:lstStyle/>
          <a:p>
            <a:pPr>
              <a:lnSpc>
                <a:spcPct val="150000"/>
              </a:lnSpc>
            </a:pPr>
            <a:r>
              <a:rPr lang="en-US" altLang="zh-CN" sz="2800" dirty="0">
                <a:latin typeface="黑体" panose="02010609060101010101" pitchFamily="49" charset="-122"/>
                <a:ea typeface="黑体" panose="02010609060101010101" pitchFamily="49" charset="-122"/>
              </a:rPr>
              <a:t>TSQC</a:t>
            </a:r>
            <a:r>
              <a:rPr lang="zh-CN" altLang="en-US" sz="2800" dirty="0">
                <a:latin typeface="黑体" panose="02010609060101010101" pitchFamily="49" charset="-122"/>
                <a:ea typeface="黑体" panose="02010609060101010101" pitchFamily="49" charset="-122"/>
              </a:rPr>
              <a:t>过程是</a:t>
            </a:r>
            <a:r>
              <a:rPr lang="en-US" altLang="zh-CN" sz="2800" dirty="0">
                <a:latin typeface="黑体" panose="02010609060101010101" pitchFamily="49" charset="-122"/>
                <a:ea typeface="黑体" panose="02010609060101010101" pitchFamily="49" charset="-122"/>
              </a:rPr>
              <a:t>PDCA</a:t>
            </a:r>
            <a:r>
              <a:rPr lang="zh-CN" altLang="en-US" sz="2800" dirty="0">
                <a:latin typeface="黑体" panose="02010609060101010101" pitchFamily="49" charset="-122"/>
                <a:ea typeface="黑体" panose="02010609060101010101" pitchFamily="49" charset="-122"/>
              </a:rPr>
              <a:t>几个活动的循环</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计划</a:t>
            </a:r>
            <a:r>
              <a:rPr lang="en-US" altLang="zh-CN" sz="2800" dirty="0">
                <a:latin typeface="黑体" panose="02010609060101010101" pitchFamily="49" charset="-122"/>
                <a:ea typeface="黑体" panose="02010609060101010101" pitchFamily="49" charset="-122"/>
              </a:rPr>
              <a:t>Plan:</a:t>
            </a:r>
            <a:r>
              <a:rPr lang="zh-CN" altLang="en-US" sz="2800" dirty="0">
                <a:latin typeface="黑体" panose="02010609060101010101" pitchFamily="49" charset="-122"/>
                <a:ea typeface="黑体" panose="02010609060101010101" pitchFamily="49" charset="-122"/>
              </a:rPr>
              <a:t>确定参数要求</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实施</a:t>
            </a:r>
            <a:r>
              <a:rPr lang="en-US" altLang="zh-CN" sz="2800" dirty="0">
                <a:latin typeface="黑体" panose="02010609060101010101" pitchFamily="49" charset="-122"/>
                <a:ea typeface="黑体" panose="02010609060101010101" pitchFamily="49" charset="-122"/>
              </a:rPr>
              <a:t>Do:</a:t>
            </a:r>
            <a:r>
              <a:rPr lang="zh-CN" altLang="en-US" sz="2800" dirty="0">
                <a:latin typeface="黑体" panose="02010609060101010101" pitchFamily="49" charset="-122"/>
                <a:ea typeface="黑体" panose="02010609060101010101" pitchFamily="49" charset="-122"/>
              </a:rPr>
              <a:t>根据要求开展活动</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检查</a:t>
            </a:r>
            <a:r>
              <a:rPr lang="en-US" altLang="zh-CN" sz="2800" dirty="0">
                <a:latin typeface="黑体" panose="02010609060101010101" pitchFamily="49" charset="-122"/>
                <a:ea typeface="黑体" panose="02010609060101010101" pitchFamily="49" charset="-122"/>
              </a:rPr>
              <a:t>Check:</a:t>
            </a:r>
            <a:r>
              <a:rPr lang="zh-CN" altLang="en-US" sz="2800" dirty="0">
                <a:latin typeface="黑体" panose="02010609060101010101" pitchFamily="49" charset="-122"/>
                <a:ea typeface="黑体" panose="02010609060101010101" pitchFamily="49" charset="-122"/>
              </a:rPr>
              <a:t>通过评审，度量，测试确认满足要求</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改进</a:t>
            </a:r>
            <a:r>
              <a:rPr lang="en-US" altLang="zh-CN" sz="2800" dirty="0">
                <a:latin typeface="黑体" panose="02010609060101010101" pitchFamily="49" charset="-122"/>
                <a:ea typeface="黑体" panose="02010609060101010101" pitchFamily="49" charset="-122"/>
              </a:rPr>
              <a:t>Action:</a:t>
            </a:r>
            <a:r>
              <a:rPr lang="zh-CN" altLang="en-US" sz="2800" dirty="0">
                <a:latin typeface="黑体" panose="02010609060101010101" pitchFamily="49" charset="-122"/>
                <a:ea typeface="黑体" panose="02010609060101010101" pitchFamily="49" charset="-122"/>
              </a:rPr>
              <a:t>纠正参数要求再开发</a:t>
            </a:r>
            <a:endParaRPr lang="en-US" altLang="zh-CN" sz="2800" dirty="0">
              <a:latin typeface="黑体" panose="02010609060101010101" pitchFamily="49" charset="-122"/>
              <a:ea typeface="黑体" panose="02010609060101010101" pitchFamily="49" charset="-122"/>
            </a:endParaRPr>
          </a:p>
          <a:p>
            <a:pPr lvl="1"/>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软件质量控制的实施过程</a:t>
            </a:r>
            <a:endParaRPr lang="zh-CN" altLang="en-US" dirty="0"/>
          </a:p>
        </p:txBody>
      </p:sp>
      <p:sp>
        <p:nvSpPr>
          <p:cNvPr id="3" name="内容占位符 2"/>
          <p:cNvSpPr>
            <a:spLocks noGrp="1"/>
          </p:cNvSpPr>
          <p:nvPr>
            <p:ph idx="1"/>
          </p:nvPr>
        </p:nvSpPr>
        <p:spPr>
          <a:xfrm>
            <a:off x="609600" y="1935480"/>
            <a:ext cx="10972800" cy="4389120"/>
          </a:xfrm>
        </p:spPr>
        <p:txBody>
          <a:bodyPr>
            <a:normAutofit fontScale="92500"/>
          </a:bodyPr>
          <a:lstStyle/>
          <a:p>
            <a:pPr>
              <a:lnSpc>
                <a:spcPct val="150000"/>
              </a:lnSpc>
            </a:pPr>
            <a:r>
              <a:rPr lang="en-US" altLang="zh-CN" sz="2400" dirty="0">
                <a:latin typeface="黑体" panose="02010609060101010101" pitchFamily="49" charset="-122"/>
                <a:ea typeface="黑体" panose="02010609060101010101" pitchFamily="49" charset="-122"/>
              </a:rPr>
              <a:t>SQC</a:t>
            </a:r>
            <a:r>
              <a:rPr lang="zh-CN" altLang="en-US" sz="2400" dirty="0">
                <a:latin typeface="黑体" panose="02010609060101010101" pitchFamily="49" charset="-122"/>
                <a:ea typeface="黑体" panose="02010609060101010101" pitchFamily="49" charset="-122"/>
              </a:rPr>
              <a:t>过程是在软件生命期的各个阶段应用</a:t>
            </a:r>
            <a:r>
              <a:rPr lang="en-US" altLang="zh-CN" sz="2400" dirty="0">
                <a:latin typeface="黑体" panose="02010609060101010101" pitchFamily="49" charset="-122"/>
                <a:ea typeface="黑体" panose="02010609060101010101" pitchFamily="49" charset="-122"/>
              </a:rPr>
              <a:t>TSQC</a:t>
            </a:r>
            <a:r>
              <a:rPr lang="zh-CN" altLang="en-US" sz="2400" dirty="0">
                <a:latin typeface="黑体" panose="02010609060101010101" pitchFamily="49" charset="-122"/>
                <a:ea typeface="黑体" panose="02010609060101010101" pitchFamily="49" charset="-122"/>
              </a:rPr>
              <a:t>模型对产品，过程，资源的控制过程。</a:t>
            </a:r>
            <a:endParaRPr lang="en-US" altLang="zh-CN" sz="2400" dirty="0">
              <a:latin typeface="黑体" panose="02010609060101010101" pitchFamily="49" charset="-122"/>
              <a:ea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rPr>
              <a:t>预开发阶段</a:t>
            </a:r>
            <a:endParaRPr lang="en-US" altLang="zh-CN" sz="2400" dirty="0">
              <a:latin typeface="黑体" panose="02010609060101010101" pitchFamily="49" charset="-122"/>
              <a:ea typeface="黑体" panose="02010609060101010101" pitchFamily="49" charset="-122"/>
            </a:endParaRPr>
          </a:p>
          <a:p>
            <a:pPr marL="393065" lvl="1" indent="0">
              <a:lnSpc>
                <a:spcPct val="150000"/>
              </a:lnSpc>
              <a:buNone/>
            </a:pPr>
            <a:r>
              <a:rPr lang="zh-CN" altLang="en-US" dirty="0">
                <a:latin typeface="黑体" panose="02010609060101010101" pitchFamily="49" charset="-122"/>
                <a:ea typeface="黑体" panose="02010609060101010101" pitchFamily="49" charset="-122"/>
              </a:rPr>
              <a:t>买主与客户研究建立需求，发布招标请求，选择资源，与开发者签订合同等</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rPr>
              <a:t>开发阶段</a:t>
            </a:r>
            <a:endParaRPr lang="en-US" altLang="zh-CN" sz="2400" dirty="0">
              <a:latin typeface="黑体" panose="02010609060101010101" pitchFamily="49" charset="-122"/>
              <a:ea typeface="黑体" panose="02010609060101010101" pitchFamily="49" charset="-122"/>
            </a:endParaRPr>
          </a:p>
          <a:p>
            <a:pPr marL="393065" lvl="1" indent="0">
              <a:lnSpc>
                <a:spcPct val="150000"/>
              </a:lnSpc>
              <a:buNone/>
            </a:pPr>
            <a:r>
              <a:rPr lang="zh-CN" altLang="en-US" dirty="0">
                <a:latin typeface="黑体" panose="02010609060101010101" pitchFamily="49" charset="-122"/>
                <a:ea typeface="黑体" panose="02010609060101010101" pitchFamily="49" charset="-122"/>
              </a:rPr>
              <a:t>涵盖从产品开发到移交产品并获得客户的满意度结束的全过程</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rPr>
              <a:t>维护阶段</a:t>
            </a:r>
            <a:endParaRPr lang="en-US" altLang="zh-CN" sz="2400" dirty="0">
              <a:latin typeface="黑体" panose="02010609060101010101" pitchFamily="49" charset="-122"/>
              <a:ea typeface="黑体" panose="02010609060101010101" pitchFamily="49" charset="-122"/>
            </a:endParaRPr>
          </a:p>
          <a:p>
            <a:pPr marL="393065" lvl="1" indent="0">
              <a:lnSpc>
                <a:spcPct val="150000"/>
              </a:lnSpc>
              <a:buNone/>
            </a:pPr>
            <a:r>
              <a:rPr lang="zh-CN" altLang="en-US" dirty="0">
                <a:latin typeface="黑体" panose="02010609060101010101" pitchFamily="49" charset="-122"/>
                <a:ea typeface="黑体" panose="02010609060101010101" pitchFamily="49" charset="-122"/>
              </a:rPr>
              <a:t>对产品的更新，目的是修复缺陷，适应需求变更或提高性能</a:t>
            </a:r>
            <a:endParaRPr lang="zh-CN" altLang="en-US" sz="20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软件质量控制技术</a:t>
            </a:r>
            <a:endParaRPr lang="zh-CN" altLang="en-US" dirty="0"/>
          </a:p>
        </p:txBody>
      </p:sp>
      <p:graphicFrame>
        <p:nvGraphicFramePr>
          <p:cNvPr id="6" name="内容占位符 5"/>
          <p:cNvGraphicFramePr>
            <a:graphicFrameLocks noGrp="1"/>
          </p:cNvGraphicFramePr>
          <p:nvPr>
            <p:ph idx="1"/>
          </p:nvPr>
        </p:nvGraphicFramePr>
        <p:xfrm>
          <a:off x="609600" y="1935163"/>
          <a:ext cx="10972800" cy="4572000"/>
        </p:xfrm>
        <a:graphic>
          <a:graphicData uri="http://schemas.openxmlformats.org/drawingml/2006/table">
            <a:tbl>
              <a:tblPr firstRow="1" bandRow="1">
                <a:tableStyleId>{8799B23B-EC83-4686-B30A-512413B5E67A}</a:tableStyleId>
              </a:tblPr>
              <a:tblGrid>
                <a:gridCol w="2743200"/>
                <a:gridCol w="2743200"/>
                <a:gridCol w="2743200"/>
                <a:gridCol w="2743200"/>
              </a:tblGrid>
              <a:tr h="370840">
                <a:tc>
                  <a:txBody>
                    <a:bodyPr/>
                    <a:lstStyle/>
                    <a:p>
                      <a:pPr algn="ctr"/>
                      <a:r>
                        <a:rPr lang="zh-CN" altLang="en-US" sz="2400" dirty="0"/>
                        <a:t>质量控制技术</a:t>
                      </a:r>
                      <a:endParaRPr lang="zh-CN" altLang="en-US" sz="2400" dirty="0"/>
                    </a:p>
                  </a:txBody>
                  <a:tcPr anchor="ctr"/>
                </a:tc>
                <a:tc>
                  <a:txBody>
                    <a:bodyPr/>
                    <a:lstStyle/>
                    <a:p>
                      <a:pPr algn="ctr"/>
                      <a:r>
                        <a:rPr lang="zh-CN" altLang="en-US" sz="2400" dirty="0"/>
                        <a:t>预开发</a:t>
                      </a:r>
                      <a:endParaRPr lang="zh-CN" altLang="en-US" sz="2400" dirty="0"/>
                    </a:p>
                  </a:txBody>
                  <a:tcPr anchor="ctr"/>
                </a:tc>
                <a:tc>
                  <a:txBody>
                    <a:bodyPr/>
                    <a:lstStyle/>
                    <a:p>
                      <a:pPr algn="ctr"/>
                      <a:r>
                        <a:rPr lang="zh-CN" altLang="en-US" sz="2400" dirty="0"/>
                        <a:t>开发</a:t>
                      </a:r>
                      <a:endParaRPr lang="zh-CN" altLang="en-US" sz="2400" dirty="0"/>
                    </a:p>
                  </a:txBody>
                  <a:tcPr anchor="ctr"/>
                </a:tc>
                <a:tc>
                  <a:txBody>
                    <a:bodyPr/>
                    <a:lstStyle/>
                    <a:p>
                      <a:pPr algn="ctr"/>
                      <a:r>
                        <a:rPr lang="zh-CN" altLang="en-US" sz="2400" dirty="0"/>
                        <a:t>维护</a:t>
                      </a:r>
                      <a:endParaRPr lang="zh-CN" altLang="en-US" sz="2400" dirty="0"/>
                    </a:p>
                  </a:txBody>
                  <a:tcPr anchor="ctr"/>
                </a:tc>
              </a:tr>
              <a:tr h="370840">
                <a:tc>
                  <a:txBody>
                    <a:bodyPr/>
                    <a:lstStyle/>
                    <a:p>
                      <a:pPr algn="ctr"/>
                      <a:r>
                        <a:rPr lang="zh-CN" altLang="en-US" sz="2400" dirty="0"/>
                        <a:t>因果分析</a:t>
                      </a:r>
                      <a:endParaRPr lang="zh-CN" altLang="en-US" sz="2400" dirty="0"/>
                    </a:p>
                  </a:txBody>
                  <a:tcPr anchor="ctr"/>
                </a:tc>
                <a:tc>
                  <a:txBody>
                    <a:bodyPr/>
                    <a:lstStyle/>
                    <a:p>
                      <a:pPr algn="ct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r>
              <a:tr h="370840">
                <a:tc>
                  <a:txBody>
                    <a:bodyPr/>
                    <a:lstStyle/>
                    <a:p>
                      <a:pPr algn="ctr"/>
                      <a:r>
                        <a:rPr lang="zh-CN" altLang="en-US" sz="2400" dirty="0"/>
                        <a:t>配置管理</a:t>
                      </a:r>
                      <a:endParaRPr lang="zh-CN" altLang="en-US" sz="2400" dirty="0"/>
                    </a:p>
                  </a:txBody>
                  <a:tcPr anchor="ctr"/>
                </a:tc>
                <a:tc>
                  <a:txBody>
                    <a:bodyPr/>
                    <a:lstStyle/>
                    <a:p>
                      <a:pPr algn="ctr"/>
                      <a:endParaRPr lang="zh-CN"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r>
              <a:tr h="370840">
                <a:tc>
                  <a:txBody>
                    <a:bodyPr/>
                    <a:lstStyle/>
                    <a:p>
                      <a:pPr algn="ctr"/>
                      <a:r>
                        <a:rPr lang="zh-CN" altLang="en-US" sz="2400" dirty="0"/>
                        <a:t>管理度量</a:t>
                      </a:r>
                      <a:endParaRPr lang="zh-CN" altLang="en-US" sz="2400" dirty="0"/>
                    </a:p>
                  </a:txBody>
                  <a:tcPr anchor="ctr"/>
                </a:tc>
                <a:tc>
                  <a:txBody>
                    <a:bodyPr/>
                    <a:lstStyle/>
                    <a:p>
                      <a:pPr algn="ctr"/>
                      <a:endParaRPr lang="zh-CN"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400" dirty="0"/>
                    </a:p>
                  </a:txBody>
                  <a:tcPr anchor="ctr"/>
                </a:tc>
              </a:tr>
              <a:tr h="370840">
                <a:tc>
                  <a:txBody>
                    <a:bodyPr/>
                    <a:lstStyle/>
                    <a:p>
                      <a:pPr algn="ctr"/>
                      <a:r>
                        <a:rPr lang="zh-CN" altLang="en-US" sz="2400" dirty="0"/>
                        <a:t>性能工程</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algn="ctr"/>
                      <a:endParaRPr lang="zh-CN" altLang="en-US" sz="2400"/>
                    </a:p>
                  </a:txBody>
                  <a:tcPr anchor="ctr"/>
                </a:tc>
              </a:tr>
              <a:tr h="370840">
                <a:tc>
                  <a:txBody>
                    <a:bodyPr/>
                    <a:lstStyle/>
                    <a:p>
                      <a:pPr algn="ctr"/>
                      <a:r>
                        <a:rPr lang="zh-CN" altLang="en-US" sz="2400" dirty="0"/>
                        <a:t>初样</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algn="ctr"/>
                      <a:endParaRPr lang="zh-CN" altLang="en-US" sz="2400"/>
                    </a:p>
                  </a:txBody>
                  <a:tcPr anchor="ctr"/>
                </a:tc>
              </a:tr>
              <a:tr h="370840">
                <a:tc>
                  <a:txBody>
                    <a:bodyPr/>
                    <a:lstStyle/>
                    <a:p>
                      <a:pPr algn="ctr"/>
                      <a:r>
                        <a:rPr lang="zh-CN" altLang="en-US" sz="2400" dirty="0"/>
                        <a:t>可靠性建模</a:t>
                      </a:r>
                      <a:endParaRPr lang="zh-CN" altLang="en-US" sz="2400" dirty="0"/>
                    </a:p>
                  </a:txBody>
                  <a:tcPr anchor="ctr"/>
                </a:tc>
                <a:tc>
                  <a:txBody>
                    <a:bodyPr/>
                    <a:lstStyle/>
                    <a:p>
                      <a:pPr algn="ctr"/>
                      <a:endParaRPr lang="zh-CN"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r>
              <a:tr h="370840">
                <a:tc>
                  <a:txBody>
                    <a:bodyPr/>
                    <a:lstStyle/>
                    <a:p>
                      <a:pPr algn="ctr"/>
                      <a:r>
                        <a:rPr lang="zh-CN" altLang="en-US" sz="2400" dirty="0"/>
                        <a:t>软件审计</a:t>
                      </a:r>
                      <a:endParaRPr lang="zh-CN" altLang="en-US" sz="2400" dirty="0"/>
                    </a:p>
                  </a:txBody>
                  <a:tcPr anchor="ctr"/>
                </a:tc>
                <a:tc>
                  <a:txBody>
                    <a:bodyPr/>
                    <a:lstStyle/>
                    <a:p>
                      <a:pPr algn="ctr"/>
                      <a:endParaRPr lang="zh-CN"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400" dirty="0"/>
                    </a:p>
                  </a:txBody>
                  <a:tcPr anchor="ctr"/>
                </a:tc>
              </a:tr>
              <a:tr h="370840">
                <a:tc>
                  <a:txBody>
                    <a:bodyPr/>
                    <a:lstStyle/>
                    <a:p>
                      <a:pPr algn="ctr"/>
                      <a:r>
                        <a:rPr lang="zh-CN" altLang="en-US" sz="2400" dirty="0"/>
                        <a:t>软件设计度量</a:t>
                      </a:r>
                      <a:endParaRPr lang="zh-CN" altLang="en-US" sz="2400" dirty="0"/>
                    </a:p>
                  </a:txBody>
                  <a:tcPr anchor="ctr"/>
                </a:tc>
                <a:tc>
                  <a:txBody>
                    <a:bodyPr/>
                    <a:lstStyle/>
                    <a:p>
                      <a:pPr algn="ct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400" dirty="0"/>
                    </a:p>
                  </a:txBody>
                  <a:tcPr anchor="ctr"/>
                </a:tc>
              </a:tr>
              <a:tr h="370840">
                <a:tc>
                  <a:txBody>
                    <a:bodyPr/>
                    <a:lstStyle/>
                    <a:p>
                      <a:pPr algn="ctr"/>
                      <a:r>
                        <a:rPr lang="zh-CN" altLang="en-US" sz="2400" dirty="0"/>
                        <a:t>软件问题报告分析</a:t>
                      </a:r>
                      <a:endParaRPr lang="zh-CN" altLang="en-US" sz="2400" dirty="0"/>
                    </a:p>
                  </a:txBody>
                  <a:tcPr anchor="ctr"/>
                </a:tc>
                <a:tc>
                  <a:txBody>
                    <a:bodyPr/>
                    <a:lstStyle/>
                    <a:p>
                      <a:pPr algn="ctr"/>
                      <a:endParaRPr lang="zh-CN"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t>√</a:t>
                      </a:r>
                      <a:endParaRPr lang="zh-CN" altLang="en-US" sz="2400" dirty="0"/>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软件质量保证体系</a:t>
            </a:r>
            <a:endParaRPr lang="zh-CN" altLang="en-US" dirty="0"/>
          </a:p>
        </p:txBody>
      </p:sp>
      <p:sp>
        <p:nvSpPr>
          <p:cNvPr id="3" name="内容占位符 2"/>
          <p:cNvSpPr>
            <a:spLocks noGrp="1"/>
          </p:cNvSpPr>
          <p:nvPr>
            <p:ph idx="1"/>
          </p:nvPr>
        </p:nvSpPr>
        <p:spPr/>
        <p:txBody>
          <a:bodyPr/>
          <a:lstStyle/>
          <a:p>
            <a:pPr>
              <a:lnSpc>
                <a:spcPct val="200000"/>
              </a:lnSpc>
            </a:pPr>
            <a:r>
              <a:rPr lang="zh-CN" altLang="en-US" dirty="0">
                <a:latin typeface="黑体" panose="02010609060101010101" pitchFamily="49" charset="-122"/>
                <a:ea typeface="黑体" panose="02010609060101010101" pitchFamily="49" charset="-122"/>
              </a:rPr>
              <a:t>软件质量保证指建立一套有计划，有系统的方法向管理层保证拟定出的标准，步骤，实践，方法能够正确地被所有项目采用</a:t>
            </a:r>
            <a:endParaRPr lang="en-US" altLang="zh-CN" dirty="0">
              <a:latin typeface="黑体" panose="02010609060101010101" pitchFamily="49" charset="-122"/>
              <a:ea typeface="黑体" panose="02010609060101010101" pitchFamily="49" charset="-122"/>
            </a:endParaRPr>
          </a:p>
          <a:p>
            <a:pPr>
              <a:lnSpc>
                <a:spcPct val="200000"/>
              </a:lnSpc>
            </a:pPr>
            <a:endParaRPr lang="en-US" altLang="zh-CN" dirty="0">
              <a:latin typeface="黑体" panose="02010609060101010101" pitchFamily="49" charset="-122"/>
              <a:ea typeface="黑体" panose="02010609060101010101" pitchFamily="49" charset="-122"/>
            </a:endParaRPr>
          </a:p>
          <a:p>
            <a:pPr>
              <a:lnSpc>
                <a:spcPct val="200000"/>
              </a:lnSpc>
            </a:pPr>
            <a:r>
              <a:rPr lang="zh-CN" altLang="en-US" dirty="0">
                <a:latin typeface="黑体" panose="02010609060101010101" pitchFamily="49" charset="-122"/>
                <a:ea typeface="黑体" panose="02010609060101010101" pitchFamily="49" charset="-122"/>
              </a:rPr>
              <a:t>软件质量保证的目的是使软件过程对于管理人员来说是可见的</a:t>
            </a:r>
            <a:endParaRPr lang="en-US" altLang="zh-CN" dirty="0">
              <a:latin typeface="黑体" panose="02010609060101010101" pitchFamily="49" charset="-122"/>
              <a:ea typeface="黑体" panose="02010609060101010101" pitchFamily="49" charset="-122"/>
            </a:endParaRPr>
          </a:p>
          <a:p>
            <a:pPr lvl="1"/>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SQA</a:t>
            </a:r>
            <a:r>
              <a:rPr lang="zh-CN" altLang="en-US" dirty="0"/>
              <a:t>组织职责</a:t>
            </a:r>
            <a:endParaRPr lang="zh-CN" altLang="en-US" dirty="0"/>
          </a:p>
        </p:txBody>
      </p:sp>
      <p:sp>
        <p:nvSpPr>
          <p:cNvPr id="3" name="内容占位符 2"/>
          <p:cNvSpPr>
            <a:spLocks noGrp="1"/>
          </p:cNvSpPr>
          <p:nvPr>
            <p:ph idx="1"/>
          </p:nvPr>
        </p:nvSpPr>
        <p:spPr/>
        <p:txBody>
          <a:bodyPr>
            <a:normAutofit/>
          </a:bodyPr>
          <a:lstStyle/>
          <a:p>
            <a:pPr>
              <a:lnSpc>
                <a:spcPct val="200000"/>
              </a:lnSpc>
            </a:pPr>
            <a:r>
              <a:rPr lang="en-US" altLang="zh-CN" sz="2800" dirty="0">
                <a:latin typeface="黑体" panose="02010609060101010101" pitchFamily="49" charset="-122"/>
                <a:ea typeface="黑体" panose="02010609060101010101" pitchFamily="49" charset="-122"/>
              </a:rPr>
              <a:t>SQA</a:t>
            </a:r>
            <a:r>
              <a:rPr lang="zh-CN" altLang="en-US" sz="2800" dirty="0">
                <a:latin typeface="黑体" panose="02010609060101010101" pitchFamily="49" charset="-122"/>
                <a:ea typeface="黑体" panose="02010609060101010101" pitchFamily="49" charset="-122"/>
              </a:rPr>
              <a:t>组织不是负责生产高质量的软件产品和指定质量计划，这些应该是软件开发人员的工作。</a:t>
            </a:r>
            <a:r>
              <a:rPr lang="en-US" altLang="zh-CN" sz="2800" dirty="0">
                <a:latin typeface="黑体" panose="02010609060101010101" pitchFamily="49" charset="-122"/>
                <a:ea typeface="黑体" panose="02010609060101010101" pitchFamily="49" charset="-122"/>
              </a:rPr>
              <a:t>SQA</a:t>
            </a:r>
            <a:r>
              <a:rPr lang="zh-CN" altLang="en-US" sz="2800" dirty="0">
                <a:latin typeface="黑体" panose="02010609060101010101" pitchFamily="49" charset="-122"/>
                <a:ea typeface="黑体" panose="02010609060101010101" pitchFamily="49" charset="-122"/>
              </a:rPr>
              <a:t>组织的责任是升级软件经理和软件工程组的质量活动，并且鉴别活动中出现的偏差。</a:t>
            </a:r>
            <a:endParaRPr lang="en-US" altLang="zh-CN" sz="28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SQA</a:t>
            </a:r>
            <a:r>
              <a:rPr lang="zh-CN" altLang="en-US" dirty="0"/>
              <a:t>目标</a:t>
            </a:r>
            <a:endParaRPr lang="zh-CN" altLang="en-US" dirty="0"/>
          </a:p>
        </p:txBody>
      </p:sp>
      <p:sp>
        <p:nvSpPr>
          <p:cNvPr id="3" name="内容占位符 2"/>
          <p:cNvSpPr>
            <a:spLocks noGrp="1"/>
          </p:cNvSpPr>
          <p:nvPr>
            <p:ph idx="1"/>
          </p:nvPr>
        </p:nvSpPr>
        <p:spPr/>
        <p:txBody>
          <a:bodyPr/>
          <a:lstStyle/>
          <a:p>
            <a:pPr>
              <a:lnSpc>
                <a:spcPct val="150000"/>
              </a:lnSpc>
            </a:pPr>
            <a:r>
              <a:rPr lang="zh-CN" altLang="en-US" sz="2800" dirty="0">
                <a:latin typeface="黑体" panose="02010609060101010101" pitchFamily="49" charset="-122"/>
                <a:ea typeface="黑体" panose="02010609060101010101" pitchFamily="49" charset="-122"/>
              </a:rPr>
              <a:t>软件质量保证的目标是以独立审查的方式监控软件生产任务的执行，给开发人员和管理层提供反映产品质量的信息和数据，辅助软件工程组得到高质量的软件产品，其主要工作包括以下方面：</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通过监控软件的开发过程来保证产品的质量</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保证生产出的软件和软件开发过程符合相应的标准和规程</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800" dirty="0">
                <a:latin typeface="黑体" panose="02010609060101010101" pitchFamily="49" charset="-122"/>
                <a:ea typeface="黑体" panose="02010609060101010101" pitchFamily="49" charset="-122"/>
              </a:rPr>
              <a:t>保证软件产品，软件过程中存在的不符合问题得到处理</a:t>
            </a:r>
            <a:endParaRPr lang="zh-CN" altLang="en-US" sz="2800" dirty="0">
              <a:latin typeface="黑体" panose="02010609060101010101" pitchFamily="49" charset="-122"/>
              <a:ea typeface="黑体" panose="02010609060101010101" pitchFamily="49" charset="-122"/>
            </a:endParaRPr>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SQA</a:t>
            </a:r>
            <a:r>
              <a:rPr lang="zh-CN" altLang="en-US" dirty="0"/>
              <a:t>任务</a:t>
            </a:r>
            <a:endParaRPr lang="zh-CN" altLang="en-US" dirty="0"/>
          </a:p>
        </p:txBody>
      </p:sp>
      <p:sp>
        <p:nvSpPr>
          <p:cNvPr id="3" name="内容占位符 2"/>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给管理者提供实现软件过程的保证，保证以下内容：</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选定的开发方法被采用</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选定的标准和规程得到采用和遵循</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进行独立的审查</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偏离标准和规程的问题得到及时的反映和处理</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项目定义的每个软件任务得到实际执行</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审计与评审</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报告</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处理不符合问题</a:t>
            </a:r>
            <a:endParaRPr lang="zh-CN" altLang="en-US"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SQA</a:t>
            </a:r>
            <a:r>
              <a:rPr lang="zh-CN" altLang="en-US" dirty="0"/>
              <a:t>活动</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latin typeface="黑体" panose="02010609060101010101" pitchFamily="49" charset="-122"/>
                <a:ea typeface="黑体" panose="02010609060101010101" pitchFamily="49" charset="-122"/>
              </a:rPr>
              <a:t>识别质量需求</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参与项目计划制订</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制订</a:t>
            </a:r>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计划</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小组评审工作产品</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小组实施审核工作</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小组报告</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处理不合格项</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监控软件产品质量</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收集项目各个阶段的数据</a:t>
            </a:r>
            <a:endParaRPr lang="en-US" altLang="zh-CN"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SQA</a:t>
            </a:r>
            <a:r>
              <a:rPr lang="zh-CN" altLang="en-US" dirty="0"/>
              <a:t>的实施注意点</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latin typeface="黑体" panose="02010609060101010101" pitchFamily="49" charset="-122"/>
                <a:ea typeface="黑体" panose="02010609060101010101" pitchFamily="49" charset="-122"/>
              </a:rPr>
              <a:t>考虑</a:t>
            </a:r>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人员的素质：应掌握专业的技术 </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考虑</a:t>
            </a:r>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人员的经验：应经过专业的培训</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为</a:t>
            </a:r>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工作建立文档化的标准与规程</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高级管理者需重视</a:t>
            </a:r>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工作</a:t>
            </a:r>
            <a:endParaRPr lang="en-US" altLang="zh-CN" dirty="0">
              <a:latin typeface="黑体" panose="02010609060101010101" pitchFamily="49" charset="-122"/>
              <a:ea typeface="黑体" panose="02010609060101010101" pitchFamily="49" charset="-122"/>
            </a:endParaRPr>
          </a:p>
          <a:p>
            <a:pPr>
              <a:lnSpc>
                <a:spcPct val="150000"/>
              </a:lnSpc>
            </a:pPr>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工作应抓住问题的重点</a:t>
            </a:r>
            <a:endParaRPr lang="en-US" altLang="zh-CN" dirty="0">
              <a:latin typeface="黑体" panose="02010609060101010101" pitchFamily="49" charset="-122"/>
              <a:ea typeface="黑体" panose="02010609060101010101" pitchFamily="49" charset="-122"/>
            </a:endParaRPr>
          </a:p>
          <a:p>
            <a:pPr>
              <a:lnSpc>
                <a:spcPct val="150000"/>
              </a:lnSpc>
            </a:pPr>
            <a:r>
              <a:rPr lang="en-US" altLang="zh-CN" dirty="0">
                <a:latin typeface="黑体" panose="02010609060101010101" pitchFamily="49" charset="-122"/>
                <a:ea typeface="黑体" panose="02010609060101010101" pitchFamily="49" charset="-122"/>
              </a:rPr>
              <a:t>SQA</a:t>
            </a:r>
            <a:r>
              <a:rPr lang="zh-CN" altLang="en-US" dirty="0">
                <a:latin typeface="黑体" panose="02010609060101010101" pitchFamily="49" charset="-122"/>
                <a:ea typeface="黑体" panose="02010609060101010101" pitchFamily="49" charset="-122"/>
              </a:rPr>
              <a:t>工作应该做好工作计划</a:t>
            </a:r>
            <a:endParaRPr lang="zh-CN" altLang="en-US"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小结</a:t>
            </a:r>
            <a:r>
              <a:rPr lang="en-US" altLang="zh-CN" dirty="0" smtClean="0"/>
              <a:t>2</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dirty="0">
                <a:latin typeface="黑体" panose="02010609060101010101" pitchFamily="49" charset="-122"/>
                <a:ea typeface="黑体" panose="02010609060101010101" pitchFamily="49" charset="-122"/>
              </a:rPr>
              <a:t>软件质量控制是对开发进程中的软件产品的质量信息进行连续的收集，反馈。软件质量控制是一组由开发组织使用的程序和方法，可在规定的资金投入和时间限制的条件下提供满足客户质量要求的软件产品，并持续不断地改善开发过程和开发组织本身，以提高将来生产高质量软件产品的能力。</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软件质量保证是建立一套有计划，有系统的方法向管理层保证拟定出的标准，步骤，实践，方法能够正确地被所有项目采用。软件质量保证的目的是使软件过程对于管理人员来说是可见的。</a:t>
            </a:r>
            <a:endParaRPr lang="en-US" altLang="zh-CN"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600200" y="710883"/>
            <a:ext cx="9144000" cy="2387600"/>
          </a:xfrm>
        </p:spPr>
        <p:txBody>
          <a:bodyPr/>
          <a:lstStyle/>
          <a:p>
            <a:r>
              <a:rPr lang="en-US" altLang="zh-CN" dirty="0"/>
              <a:t>QA</a:t>
            </a:r>
            <a:r>
              <a:rPr lang="zh-CN" altLang="en-US" dirty="0"/>
              <a:t>与</a:t>
            </a:r>
            <a:r>
              <a:rPr lang="en-US" altLang="zh-CN" dirty="0" smtClean="0"/>
              <a:t>QC-3-</a:t>
            </a:r>
            <a:r>
              <a:rPr lang="zh-CN" altLang="en-US" dirty="0"/>
              <a:t>目</a:t>
            </a:r>
            <a:r>
              <a:rPr lang="zh-CN" altLang="en-US" dirty="0" smtClean="0"/>
              <a:t>录</a:t>
            </a:r>
            <a:r>
              <a:rPr lang="en-US" altLang="zh-CN" dirty="0" smtClean="0"/>
              <a:t>-QA&amp;QC</a:t>
            </a:r>
            <a:endParaRPr lang="en-US" altLang="zh-CN" dirty="0"/>
          </a:p>
        </p:txBody>
      </p:sp>
      <p:sp>
        <p:nvSpPr>
          <p:cNvPr id="3" name="副标题 2"/>
          <p:cNvSpPr>
            <a:spLocks noGrp="1"/>
          </p:cNvSpPr>
          <p:nvPr>
            <p:ph type="subTitle" idx="1"/>
          </p:nvPr>
        </p:nvSpPr>
        <p:spPr>
          <a:xfrm>
            <a:off x="1600200" y="3464878"/>
            <a:ext cx="9144000" cy="1655762"/>
          </a:xfrm>
        </p:spPr>
        <p:txBody>
          <a:bodyPr/>
          <a:lstStyle/>
          <a:p>
            <a:pPr algn="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3600" dirty="0"/>
              <a:t>QA: </a:t>
            </a:r>
            <a:endParaRPr lang="zh-CN" altLang="en-US" sz="3600" dirty="0"/>
          </a:p>
          <a:p>
            <a:pPr marL="0" indent="0" fontAlgn="auto">
              <a:lnSpc>
                <a:spcPts val="3840"/>
              </a:lnSpc>
              <a:buNone/>
            </a:pPr>
            <a:r>
              <a:rPr lang="en-US" altLang="zh-CN" dirty="0"/>
              <a:t>	</a:t>
            </a:r>
            <a:r>
              <a:rPr lang="zh-CN" altLang="en-US" sz="3200" dirty="0">
                <a:latin typeface="华文仿宋" charset="0"/>
                <a:ea typeface="华文仿宋" charset="0"/>
              </a:rPr>
              <a:t>Quality Assurance, 即质量保证，是过程质量审计者；其在ISO8402：1994中的定义是“为了提供足够的信任表明实体能够满足品质要求，而在品质管理体系中实施并根据需要进行证实的全部有计划和有系统的活动”。有些推行ISO9000的组织会设置这样的部门或岗位，负责ISO9000标准所要求的有关品质保证的职能，担任这类工作的人员就叫做QA人员。</a:t>
            </a:r>
            <a:r>
              <a:rPr lang="zh-CN" altLang="en-US" sz="3600" dirty="0"/>
              <a:t>  </a:t>
            </a:r>
            <a:endParaRPr lang="zh-CN" alt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r>
              <a:rPr lang="en-US" altLang="zh-CN" sz="4800"/>
              <a:t>QC</a:t>
            </a:r>
            <a:r>
              <a:rPr lang="zh-CN" altLang="en-US" sz="4800"/>
              <a:t>：</a:t>
            </a:r>
            <a:endParaRPr lang="zh-CN" altLang="en-US" sz="4800"/>
          </a:p>
          <a:p>
            <a:pPr marL="0" indent="0" fontAlgn="auto">
              <a:lnSpc>
                <a:spcPts val="3840"/>
              </a:lnSpc>
              <a:buNone/>
            </a:pPr>
            <a:r>
              <a:rPr lang="zh-CN" altLang="en-US"/>
              <a:t>     </a:t>
            </a:r>
            <a:r>
              <a:rPr lang="zh-CN" altLang="en-US">
                <a:latin typeface="华文仿宋" charset="0"/>
                <a:ea typeface="华文仿宋" charset="0"/>
              </a:rPr>
              <a:t> </a:t>
            </a:r>
            <a:r>
              <a:rPr lang="zh-CN" altLang="en-US" sz="3600">
                <a:latin typeface="华文仿宋" charset="0"/>
                <a:ea typeface="华文仿宋" charset="0"/>
              </a:rPr>
              <a:t>Quality Control, 即质量控制，是产品质量检查者。其在ISO8402：1994的定义是“为达到品质要求所采取的作业技术和活动”。有些推行ISO9000的组织会设置这样一个部门或岗位，负责ISO9000标准所要求的有关品质控制的职能，担任这类工作的人员就叫做QC人员，相当于一般企业中的产品检验员，包括进货检验员（IQC）、制程检验员（IPQC）、最终检验员（FQC）和出货检验员（OQC）。</a:t>
            </a:r>
            <a:endParaRPr lang="zh-CN" altLang="en-US" sz="3600">
              <a:latin typeface="华文仿宋" charset="0"/>
              <a:ea typeface="华文仿宋"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sz="5400">
                <a:gradFill>
                  <a:gsLst>
                    <a:gs pos="21000">
                      <a:srgbClr val="53575C"/>
                    </a:gs>
                    <a:gs pos="88000">
                      <a:srgbClr val="C5C7CA"/>
                    </a:gs>
                  </a:gsLst>
                  <a:lin ang="5400000"/>
                </a:gradFill>
                <a:effectLst/>
              </a:rPr>
              <a:t>	QA</a:t>
            </a:r>
            <a:r>
              <a:rPr lang="zh-CN" altLang="en-US" sz="5400">
                <a:gradFill>
                  <a:gsLst>
                    <a:gs pos="21000">
                      <a:srgbClr val="53575C"/>
                    </a:gs>
                    <a:gs pos="88000">
                      <a:srgbClr val="C5C7CA"/>
                    </a:gs>
                  </a:gsLst>
                  <a:lin ang="5400000"/>
                </a:gradFill>
                <a:effectLst/>
              </a:rPr>
              <a:t>和</a:t>
            </a:r>
            <a:r>
              <a:rPr lang="en-US" altLang="zh-CN" sz="5400">
                <a:gradFill>
                  <a:gsLst>
                    <a:gs pos="21000">
                      <a:srgbClr val="53575C"/>
                    </a:gs>
                    <a:gs pos="88000">
                      <a:srgbClr val="C5C7CA"/>
                    </a:gs>
                  </a:gsLst>
                  <a:lin ang="5400000"/>
                </a:gradFill>
                <a:effectLst/>
              </a:rPr>
              <a:t>QC</a:t>
            </a:r>
            <a:r>
              <a:rPr lang="zh-CN" altLang="en-US" sz="5400">
                <a:gradFill>
                  <a:gsLst>
                    <a:gs pos="21000">
                      <a:srgbClr val="53575C"/>
                    </a:gs>
                    <a:gs pos="88000">
                      <a:srgbClr val="C5C7CA"/>
                    </a:gs>
                  </a:gsLst>
                  <a:lin ang="5400000"/>
                </a:gradFill>
                <a:effectLst/>
              </a:rPr>
              <a:t>是否可以合并？？</a:t>
            </a:r>
            <a:endParaRPr lang="zh-CN" altLang="en-US" sz="5400">
              <a:gradFill>
                <a:gsLst>
                  <a:gs pos="21000">
                    <a:srgbClr val="53575C"/>
                  </a:gs>
                  <a:gs pos="88000">
                    <a:srgbClr val="C5C7CA"/>
                  </a:gs>
                </a:gsLst>
                <a:lin ang="5400000"/>
              </a:gradFill>
              <a:effectLs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QA</a:t>
            </a:r>
            <a:r>
              <a:rPr lang="zh-CN" altLang="en-US"/>
              <a:t>的职责</a:t>
            </a:r>
            <a:endParaRPr lang="zh-CN" altLang="en-US"/>
          </a:p>
        </p:txBody>
      </p:sp>
      <p:sp>
        <p:nvSpPr>
          <p:cNvPr id="3" name="内容占位符 2"/>
          <p:cNvSpPr>
            <a:spLocks noGrp="1"/>
          </p:cNvSpPr>
          <p:nvPr>
            <p:ph idx="1"/>
          </p:nvPr>
        </p:nvSpPr>
        <p:spPr>
          <a:xfrm>
            <a:off x="914400" y="1444625"/>
            <a:ext cx="10515600" cy="4351338"/>
          </a:xfrm>
        </p:spPr>
        <p:txBody>
          <a:bodyPr>
            <a:normAutofit fontScale="87500" lnSpcReduction="10000"/>
          </a:bodyPr>
          <a:lstStyle/>
          <a:p>
            <a:pPr marL="0" indent="0">
              <a:buNone/>
            </a:pPr>
            <a:r>
              <a:rPr lang="zh-CN" altLang="en-US" dirty="0"/>
              <a:t>1.保障软件组织流程体系得到遵守；</a:t>
            </a:r>
            <a:endParaRPr lang="zh-CN" altLang="en-US" dirty="0"/>
          </a:p>
          <a:p>
            <a:pPr marL="0" indent="0">
              <a:buNone/>
            </a:pPr>
            <a:r>
              <a:rPr lang="zh-CN" altLang="en-US" dirty="0"/>
              <a:t>2.促使软件组织过程改进；</a:t>
            </a:r>
            <a:endParaRPr lang="zh-CN" altLang="en-US" dirty="0"/>
          </a:p>
          <a:p>
            <a:pPr marL="0" indent="0">
              <a:buNone/>
            </a:pPr>
            <a:r>
              <a:rPr lang="zh-CN" altLang="en-US" dirty="0"/>
              <a:t>3. 指导项目实施流程；</a:t>
            </a:r>
            <a:endParaRPr lang="zh-CN" altLang="en-US" dirty="0"/>
          </a:p>
          <a:p>
            <a:pPr marL="0" indent="0">
              <a:buNone/>
            </a:pPr>
            <a:r>
              <a:rPr lang="zh-CN" altLang="en-US" dirty="0"/>
              <a:t>4.增加开发活动透明度；</a:t>
            </a:r>
            <a:endParaRPr lang="zh-CN" altLang="en-US" dirty="0"/>
          </a:p>
          <a:p>
            <a:pPr marL="0" indent="0">
              <a:buNone/>
            </a:pPr>
            <a:r>
              <a:rPr lang="zh-CN" altLang="en-US" dirty="0"/>
              <a:t>5.评审项目活动；</a:t>
            </a:r>
            <a:endParaRPr lang="zh-CN" altLang="en-US" dirty="0"/>
          </a:p>
          <a:p>
            <a:pPr marL="0" indent="0">
              <a:buNone/>
            </a:pPr>
            <a:r>
              <a:rPr lang="zh-CN" altLang="en-US" dirty="0"/>
              <a:t>6.审核工作产品；</a:t>
            </a:r>
            <a:endParaRPr lang="zh-CN" altLang="en-US" dirty="0"/>
          </a:p>
          <a:p>
            <a:pPr marL="0" indent="0">
              <a:buNone/>
            </a:pPr>
            <a:r>
              <a:rPr lang="zh-CN" altLang="en-US" dirty="0"/>
              <a:t>7.协助工作产品问题解决；</a:t>
            </a:r>
            <a:endParaRPr lang="zh-CN" altLang="en-US" dirty="0"/>
          </a:p>
          <a:p>
            <a:pPr marL="0" indent="0">
              <a:buNone/>
            </a:pPr>
            <a:r>
              <a:rPr lang="zh-CN" altLang="en-US" dirty="0"/>
              <a:t>8.度量数据采集分析，提供决策参考；</a:t>
            </a:r>
            <a:endParaRPr lang="zh-CN" altLang="en-US" dirty="0"/>
          </a:p>
          <a:p>
            <a:pPr marL="0" indent="0">
              <a:buNone/>
            </a:pPr>
            <a:r>
              <a:rPr lang="zh-CN" altLang="en-US" dirty="0"/>
              <a:t>9.进行缺陷预防；</a:t>
            </a:r>
            <a:endParaRPr lang="zh-CN" altLang="en-US" dirty="0"/>
          </a:p>
          <a:p>
            <a:pPr marL="0" indent="0">
              <a:buNone/>
            </a:pPr>
            <a:r>
              <a:rPr lang="zh-CN" altLang="en-US" dirty="0"/>
              <a:t>10.实现质量目标。</a:t>
            </a:r>
            <a:r>
              <a:rPr lang="en-US" altLang="zh-CN" dirty="0"/>
              <a:t>	</a:t>
            </a:r>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1480" y="167005"/>
            <a:ext cx="10515600" cy="1325563"/>
          </a:xfrm>
        </p:spPr>
        <p:txBody>
          <a:bodyPr/>
          <a:lstStyle/>
          <a:p>
            <a:r>
              <a:rPr lang="en-US" altLang="zh-CN"/>
              <a:t>QC</a:t>
            </a:r>
            <a:r>
              <a:rPr lang="zh-CN" altLang="en-US"/>
              <a:t>的职责</a:t>
            </a:r>
            <a:endParaRPr lang="zh-CN" altLang="en-US"/>
          </a:p>
        </p:txBody>
      </p:sp>
      <p:sp>
        <p:nvSpPr>
          <p:cNvPr id="3" name="内容占位符 2"/>
          <p:cNvSpPr>
            <a:spLocks noGrp="1"/>
          </p:cNvSpPr>
          <p:nvPr>
            <p:ph idx="1"/>
          </p:nvPr>
        </p:nvSpPr>
        <p:spPr>
          <a:xfrm>
            <a:off x="579120" y="1414145"/>
            <a:ext cx="10515600" cy="5737860"/>
          </a:xfrm>
        </p:spPr>
        <p:txBody>
          <a:bodyPr>
            <a:normAutofit/>
          </a:bodyPr>
          <a:lstStyle/>
          <a:p>
            <a:pPr marL="0" indent="0">
              <a:buNone/>
            </a:pPr>
            <a:r>
              <a:rPr lang="en-US" altLang="zh-CN" sz="2400" dirty="0">
                <a:latin typeface="+mn-ea"/>
              </a:rPr>
              <a:t>1.</a:t>
            </a:r>
            <a:r>
              <a:rPr lang="zh-CN" altLang="en-US" sz="2400" dirty="0">
                <a:latin typeface="+mn-ea"/>
              </a:rPr>
              <a:t>参与维护、监督质量体系的运行、组织和管理内部质量审核工作</a:t>
            </a:r>
            <a:endParaRPr lang="zh-CN" altLang="en-US" sz="2400" dirty="0">
              <a:latin typeface="+mn-ea"/>
            </a:endParaRPr>
          </a:p>
          <a:p>
            <a:pPr marL="0" indent="0">
              <a:buNone/>
            </a:pPr>
            <a:r>
              <a:rPr lang="en-US" altLang="zh-CN" sz="2400" dirty="0">
                <a:latin typeface="+mn-ea"/>
              </a:rPr>
              <a:t>2.</a:t>
            </a:r>
            <a:r>
              <a:rPr lang="zh-CN" altLang="en-US" sz="2400" dirty="0">
                <a:latin typeface="+mn-ea"/>
              </a:rPr>
              <a:t>监控项目现场检验工作的具体实施情况，包括人员组织、技术实施、质量、进度、安全、成品保护等</a:t>
            </a:r>
            <a:endParaRPr lang="zh-CN" altLang="en-US" sz="2400" dirty="0">
              <a:latin typeface="+mn-ea"/>
            </a:endParaRPr>
          </a:p>
          <a:p>
            <a:pPr marL="0" indent="0">
              <a:buNone/>
            </a:pPr>
            <a:r>
              <a:rPr lang="en-US" altLang="zh-CN" sz="2400" dirty="0">
                <a:latin typeface="+mn-ea"/>
              </a:rPr>
              <a:t>3.</a:t>
            </a:r>
            <a:r>
              <a:rPr lang="zh-CN" altLang="en-US" sz="2400" dirty="0">
                <a:latin typeface="+mn-ea"/>
              </a:rPr>
              <a:t>及时上报批量质量问题，不合格信息的及时传递；</a:t>
            </a:r>
            <a:endParaRPr lang="zh-CN" altLang="en-US" sz="2400" dirty="0">
              <a:latin typeface="+mn-ea"/>
            </a:endParaRPr>
          </a:p>
          <a:p>
            <a:pPr marL="0" indent="0">
              <a:buNone/>
            </a:pPr>
            <a:r>
              <a:rPr lang="en-US" altLang="zh-CN" sz="2400" dirty="0">
                <a:latin typeface="+mn-ea"/>
              </a:rPr>
              <a:t>4.</a:t>
            </a:r>
            <a:r>
              <a:rPr lang="zh-CN" altLang="en-US" sz="2400" dirty="0">
                <a:latin typeface="+mn-ea"/>
              </a:rPr>
              <a:t>为纠正质量问题，有权停止现场的生产；</a:t>
            </a:r>
            <a:endParaRPr lang="zh-CN" altLang="en-US" sz="2400" dirty="0">
              <a:latin typeface="+mn-ea"/>
            </a:endParaRPr>
          </a:p>
          <a:p>
            <a:pPr marL="0" indent="0">
              <a:buNone/>
            </a:pPr>
            <a:r>
              <a:rPr lang="en-US" altLang="zh-CN" sz="2400" dirty="0">
                <a:latin typeface="+mn-ea"/>
              </a:rPr>
              <a:t>5.</a:t>
            </a:r>
            <a:r>
              <a:rPr lang="zh-CN" altLang="en-US" sz="2400" dirty="0">
                <a:latin typeface="+mn-ea"/>
              </a:rPr>
              <a:t>检验工具的管理，清单的维护；</a:t>
            </a:r>
            <a:endParaRPr lang="zh-CN" altLang="en-US" sz="2400" dirty="0">
              <a:latin typeface="+mn-ea"/>
            </a:endParaRPr>
          </a:p>
          <a:p>
            <a:pPr marL="0" indent="0">
              <a:buNone/>
            </a:pPr>
            <a:r>
              <a:rPr lang="en-US" altLang="zh-CN" sz="2400" dirty="0">
                <a:latin typeface="+mn-ea"/>
              </a:rPr>
              <a:t>6.</a:t>
            </a:r>
            <a:r>
              <a:rPr lang="zh-CN" altLang="en-US" sz="2400" dirty="0">
                <a:latin typeface="+mn-ea"/>
              </a:rPr>
              <a:t>QC或生产部门反映品质不良时﹐到现场进行确认﹐并做出初步的指导工作；</a:t>
            </a:r>
            <a:endParaRPr lang="zh-CN" altLang="en-US" sz="2400" dirty="0">
              <a:latin typeface="+mn-ea"/>
            </a:endParaRPr>
          </a:p>
          <a:p>
            <a:pPr marL="0" indent="0">
              <a:buNone/>
            </a:pPr>
            <a:r>
              <a:rPr lang="en-US" altLang="zh-CN" sz="2400" dirty="0">
                <a:latin typeface="+mn-ea"/>
              </a:rPr>
              <a:t>7.</a:t>
            </a:r>
            <a:r>
              <a:rPr lang="zh-CN" altLang="en-US" sz="2400" dirty="0">
                <a:latin typeface="+mn-ea"/>
              </a:rPr>
              <a:t>如有新产品生产﹐跟踪其品质情况﹐并汇总给QE；</a:t>
            </a:r>
            <a:endParaRPr lang="zh-CN" altLang="en-US" sz="2400" dirty="0">
              <a:latin typeface="+mn-ea"/>
            </a:endParaRPr>
          </a:p>
          <a:p>
            <a:pPr marL="0" indent="0">
              <a:buNone/>
            </a:pPr>
            <a:r>
              <a:rPr lang="en-US" altLang="zh-CN" sz="2400" dirty="0">
                <a:latin typeface="+mn-ea"/>
              </a:rPr>
              <a:t>8.</a:t>
            </a:r>
            <a:r>
              <a:rPr lang="zh-CN" altLang="en-US" sz="2400" dirty="0">
                <a:latin typeface="+mn-ea"/>
              </a:rPr>
              <a:t>协助质量主管完成其它质量管理体系方面的工作。</a:t>
            </a:r>
            <a:endParaRPr lang="zh-CN" altLang="en-US" sz="2400" dirty="0">
              <a:latin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scene3d>
              <a:camera prst="orthographicFront"/>
              <a:lightRig rig="threePt" dir="t"/>
            </a:scene3d>
          </a:bodyPr>
          <a:lstStyle/>
          <a:p>
            <a:pPr marL="0" indent="0">
              <a:buNone/>
            </a:pPr>
            <a:r>
              <a:rPr lang="zh-CN" altLang="en-US" sz="5400">
                <a:gradFill>
                  <a:gsLst>
                    <a:gs pos="21000">
                      <a:srgbClr val="53575C"/>
                    </a:gs>
                    <a:gs pos="88000">
                      <a:srgbClr val="C5C7CA"/>
                    </a:gs>
                  </a:gsLst>
                  <a:lin ang="5400000"/>
                </a:gradFill>
                <a:effectLst/>
              </a:rPr>
              <a:t>现在觉得能否合并呢？</a:t>
            </a:r>
            <a:endParaRPr lang="zh-CN" altLang="en-US" sz="5400">
              <a:gradFill>
                <a:gsLst>
                  <a:gs pos="21000">
                    <a:srgbClr val="53575C"/>
                  </a:gs>
                  <a:gs pos="88000">
                    <a:srgbClr val="C5C7CA"/>
                  </a:gs>
                </a:gsLst>
                <a:lin ang="5400000"/>
              </a:gradFill>
              <a:effectLs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Light" panose="020B0502040204020203" charset="-122"/>
                <a:ea typeface="微软雅黑 Light" panose="020B0502040204020203" charset="-122"/>
              </a:rPr>
              <a:t>两者区别</a:t>
            </a:r>
            <a:endParaRPr lang="zh-CN" altLang="en-US">
              <a:latin typeface="微软雅黑 Light" panose="020B0502040204020203" charset="-122"/>
              <a:ea typeface="微软雅黑 Light" panose="020B0502040204020203" charset="-122"/>
            </a:endParaRPr>
          </a:p>
        </p:txBody>
      </p:sp>
      <p:sp>
        <p:nvSpPr>
          <p:cNvPr id="3" name="内容占位符 2"/>
          <p:cNvSpPr>
            <a:spLocks noGrp="1"/>
          </p:cNvSpPr>
          <p:nvPr>
            <p:ph idx="1"/>
          </p:nvPr>
        </p:nvSpPr>
        <p:spPr/>
        <p:txBody>
          <a:bodyPr/>
          <a:lstStyle/>
          <a:p>
            <a:r>
              <a:rPr lang="zh-CN" altLang="en-US" dirty="0"/>
              <a:t>QA = Verification: do the thing right</a:t>
            </a:r>
            <a:endParaRPr lang="zh-CN" altLang="en-US" dirty="0"/>
          </a:p>
          <a:p>
            <a:endParaRPr lang="zh-CN" altLang="en-US" dirty="0"/>
          </a:p>
          <a:p>
            <a:r>
              <a:rPr lang="zh-CN" altLang="en-US" dirty="0"/>
              <a:t>QC = Validation: do the right thing</a:t>
            </a:r>
            <a:endParaRPr lang="zh-CN" altLang="en-US" dirty="0"/>
          </a:p>
          <a:p>
            <a:endParaRPr lang="zh-CN" altLang="en-US" dirty="0"/>
          </a:p>
          <a:p>
            <a:r>
              <a:rPr lang="en-US" altLang="zh-CN" dirty="0"/>
              <a:t>QA</a:t>
            </a:r>
            <a:r>
              <a:rPr lang="zh-CN" altLang="en-US" dirty="0"/>
              <a:t>侧重于项目的过程要素，例如，需求在适当的细节水平上定义。 相比之下，QC活动侧重于发现特定交付品中的缺陷 - 例如，需求是否是正确的要求</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侧重点</a:t>
            </a:r>
            <a:endParaRPr lang="zh-CN" altLang="en-US"/>
          </a:p>
        </p:txBody>
      </p:sp>
      <p:graphicFrame>
        <p:nvGraphicFramePr>
          <p:cNvPr id="4" name="内容占位符 3"/>
          <p:cNvGraphicFramePr>
            <a:graphicFrameLocks noGrp="1"/>
          </p:cNvGraphicFramePr>
          <p:nvPr>
            <p:ph idx="1"/>
            <p:custDataLst>
              <p:tags r:id="rId1"/>
            </p:custDataLst>
          </p:nvPr>
        </p:nvGraphicFramePr>
        <p:xfrm>
          <a:off x="838200" y="1825625"/>
          <a:ext cx="10530840" cy="3840480"/>
        </p:xfrm>
        <a:graphic>
          <a:graphicData uri="http://schemas.openxmlformats.org/drawingml/2006/table">
            <a:tbl>
              <a:tblPr firstRow="1" bandRow="1">
                <a:tableStyleId>{5C22544A-7EE6-4342-B048-85BDC9FD1C3A}</a:tableStyleId>
              </a:tblPr>
              <a:tblGrid>
                <a:gridCol w="3510280"/>
                <a:gridCol w="3510280"/>
                <a:gridCol w="3510280"/>
              </a:tblGrid>
              <a:tr h="520700">
                <a:tc>
                  <a:txBody>
                    <a:bodyPr/>
                    <a:lstStyle/>
                    <a:p>
                      <a:pPr algn="ctr">
                        <a:buNone/>
                      </a:pPr>
                      <a:r>
                        <a:rPr lang="zh-CN" altLang="en-US" dirty="0"/>
                        <a:t>角色</a:t>
                      </a:r>
                      <a:endParaRPr lang="zh-CN" altLang="en-US" dirty="0"/>
                    </a:p>
                  </a:txBody>
                  <a:tcPr/>
                </a:tc>
                <a:tc>
                  <a:txBody>
                    <a:bodyPr/>
                    <a:lstStyle/>
                    <a:p>
                      <a:pPr algn="ctr">
                        <a:buNone/>
                      </a:pPr>
                      <a:r>
                        <a:rPr lang="en-US" altLang="zh-CN" sz="1800" dirty="0">
                          <a:sym typeface="+mn-ea"/>
                        </a:rPr>
                        <a:t>QA</a:t>
                      </a:r>
                      <a:endParaRPr lang="en-US" altLang="zh-CN" sz="1800" dirty="0">
                        <a:sym typeface="+mn-ea"/>
                      </a:endParaRPr>
                    </a:p>
                  </a:txBody>
                  <a:tcPr/>
                </a:tc>
                <a:tc>
                  <a:txBody>
                    <a:bodyPr/>
                    <a:lstStyle/>
                    <a:p>
                      <a:pPr algn="ctr">
                        <a:buNone/>
                      </a:pPr>
                      <a:r>
                        <a:rPr lang="en-US" altLang="zh-CN" sz="1800">
                          <a:sym typeface="+mn-ea"/>
                        </a:rPr>
                        <a:t>QC</a:t>
                      </a:r>
                      <a:endParaRPr lang="en-US" altLang="zh-CN" sz="1800">
                        <a:sym typeface="+mn-ea"/>
                      </a:endParaRPr>
                    </a:p>
                    <a:p>
                      <a:pPr algn="ctr">
                        <a:buNone/>
                      </a:pPr>
                      <a:endParaRPr lang="en-US" altLang="zh-CN" sz="1800">
                        <a:sym typeface="+mn-ea"/>
                      </a:endParaRPr>
                    </a:p>
                  </a:txBody>
                  <a:tcPr/>
                </a:tc>
              </a:tr>
              <a:tr h="520700">
                <a:tc>
                  <a:txBody>
                    <a:bodyPr/>
                    <a:lstStyle/>
                    <a:p>
                      <a:pPr algn="ctr">
                        <a:buNone/>
                      </a:pPr>
                      <a:r>
                        <a:rPr lang="zh-CN" altLang="en-US"/>
                        <a:t>工作对象</a:t>
                      </a:r>
                      <a:endParaRPr lang="zh-CN" altLang="en-US"/>
                    </a:p>
                  </a:txBody>
                  <a:tcPr/>
                </a:tc>
                <a:tc>
                  <a:txBody>
                    <a:bodyPr/>
                    <a:lstStyle/>
                    <a:p>
                      <a:pPr algn="ctr">
                        <a:buNone/>
                      </a:pPr>
                      <a:r>
                        <a:rPr lang="zh-CN" altLang="en-US" sz="1800">
                          <a:sym typeface="+mn-ea"/>
                        </a:rPr>
                        <a:t>过程</a:t>
                      </a:r>
                      <a:endParaRPr lang="zh-CN" altLang="en-US" sz="1800">
                        <a:sym typeface="+mn-ea"/>
                      </a:endParaRPr>
                    </a:p>
                  </a:txBody>
                  <a:tcPr/>
                </a:tc>
                <a:tc>
                  <a:txBody>
                    <a:bodyPr/>
                    <a:lstStyle/>
                    <a:p>
                      <a:pPr algn="ctr">
                        <a:buNone/>
                      </a:pPr>
                      <a:r>
                        <a:rPr lang="zh-CN" altLang="en-US" sz="1800">
                          <a:sym typeface="+mn-ea"/>
                        </a:rPr>
                        <a:t>产品</a:t>
                      </a:r>
                      <a:endParaRPr lang="zh-CN" altLang="en-US" sz="1800">
                        <a:sym typeface="+mn-ea"/>
                      </a:endParaRPr>
                    </a:p>
                    <a:p>
                      <a:pPr algn="ctr">
                        <a:buNone/>
                      </a:pPr>
                      <a:endParaRPr lang="zh-CN" altLang="en-US" sz="1800">
                        <a:sym typeface="+mn-ea"/>
                      </a:endParaRPr>
                    </a:p>
                  </a:txBody>
                  <a:tcPr/>
                </a:tc>
              </a:tr>
              <a:tr h="520700">
                <a:tc>
                  <a:txBody>
                    <a:bodyPr/>
                    <a:lstStyle/>
                    <a:p>
                      <a:pPr algn="ctr">
                        <a:buNone/>
                      </a:pPr>
                      <a:r>
                        <a:rPr lang="zh-CN" altLang="en-US"/>
                        <a:t>工作方式</a:t>
                      </a:r>
                      <a:endParaRPr lang="zh-CN" altLang="en-US"/>
                    </a:p>
                  </a:txBody>
                  <a:tcPr/>
                </a:tc>
                <a:tc>
                  <a:txBody>
                    <a:bodyPr/>
                    <a:lstStyle/>
                    <a:p>
                      <a:pPr algn="ctr">
                        <a:buNone/>
                      </a:pPr>
                      <a:r>
                        <a:rPr lang="zh-CN" altLang="en-US" sz="1800">
                          <a:sym typeface="+mn-ea"/>
                        </a:rPr>
                        <a:t>事先预防</a:t>
                      </a:r>
                      <a:endParaRPr lang="zh-CN" altLang="en-US" sz="1800">
                        <a:sym typeface="+mn-ea"/>
                      </a:endParaRPr>
                    </a:p>
                  </a:txBody>
                  <a:tcPr/>
                </a:tc>
                <a:tc>
                  <a:txBody>
                    <a:bodyPr/>
                    <a:lstStyle/>
                    <a:p>
                      <a:pPr algn="ctr">
                        <a:buNone/>
                      </a:pPr>
                      <a:r>
                        <a:rPr lang="zh-CN" altLang="en-US" sz="1800">
                          <a:sym typeface="+mn-ea"/>
                        </a:rPr>
                        <a:t>事后反应</a:t>
                      </a:r>
                      <a:endParaRPr lang="zh-CN" altLang="en-US" sz="1800">
                        <a:sym typeface="+mn-ea"/>
                      </a:endParaRPr>
                    </a:p>
                    <a:p>
                      <a:pPr algn="ctr">
                        <a:buNone/>
                      </a:pPr>
                      <a:endParaRPr lang="zh-CN" altLang="en-US" sz="1800">
                        <a:sym typeface="+mn-ea"/>
                      </a:endParaRPr>
                    </a:p>
                  </a:txBody>
                  <a:tcPr/>
                </a:tc>
              </a:tr>
              <a:tr h="520700">
                <a:tc>
                  <a:txBody>
                    <a:bodyPr/>
                    <a:lstStyle/>
                    <a:p>
                      <a:pPr algn="ctr">
                        <a:buNone/>
                      </a:pPr>
                      <a:r>
                        <a:rPr lang="zh-CN" altLang="en-US" dirty="0"/>
                        <a:t>功能类型</a:t>
                      </a:r>
                      <a:endParaRPr lang="zh-CN" altLang="en-US" dirty="0"/>
                    </a:p>
                  </a:txBody>
                  <a:tcPr/>
                </a:tc>
                <a:tc>
                  <a:txBody>
                    <a:bodyPr/>
                    <a:lstStyle/>
                    <a:p>
                      <a:pPr algn="ctr">
                        <a:buNone/>
                      </a:pPr>
                      <a:r>
                        <a:rPr lang="zh-CN" altLang="en-US" sz="1800">
                          <a:sym typeface="+mn-ea"/>
                        </a:rPr>
                        <a:t>人员功能</a:t>
                      </a:r>
                      <a:endParaRPr lang="zh-CN" altLang="en-US" sz="1800">
                        <a:sym typeface="+mn-ea"/>
                      </a:endParaRPr>
                    </a:p>
                  </a:txBody>
                  <a:tcPr/>
                </a:tc>
                <a:tc>
                  <a:txBody>
                    <a:bodyPr/>
                    <a:lstStyle/>
                    <a:p>
                      <a:pPr algn="ctr">
                        <a:buNone/>
                      </a:pPr>
                      <a:r>
                        <a:rPr lang="zh-CN" altLang="en-US" sz="1800">
                          <a:sym typeface="+mn-ea"/>
                        </a:rPr>
                        <a:t>生成功能</a:t>
                      </a:r>
                      <a:endParaRPr lang="zh-CN" altLang="en-US" sz="1800">
                        <a:sym typeface="+mn-ea"/>
                      </a:endParaRPr>
                    </a:p>
                    <a:p>
                      <a:pPr algn="ctr">
                        <a:buNone/>
                      </a:pPr>
                      <a:endParaRPr lang="zh-CN" altLang="en-US" sz="1800">
                        <a:sym typeface="+mn-ea"/>
                      </a:endParaRPr>
                    </a:p>
                  </a:txBody>
                  <a:tcPr/>
                </a:tc>
              </a:tr>
              <a:tr h="520700">
                <a:tc>
                  <a:txBody>
                    <a:bodyPr/>
                    <a:lstStyle/>
                    <a:p>
                      <a:pPr algn="ctr">
                        <a:buNone/>
                      </a:pPr>
                      <a:r>
                        <a:rPr lang="zh-CN" altLang="en-US" dirty="0"/>
                        <a:t>缺陷应对</a:t>
                      </a:r>
                      <a:endParaRPr lang="zh-CN" altLang="en-US" dirty="0"/>
                    </a:p>
                  </a:txBody>
                  <a:tcPr/>
                </a:tc>
                <a:tc>
                  <a:txBody>
                    <a:bodyPr/>
                    <a:lstStyle/>
                    <a:p>
                      <a:pPr algn="ctr">
                        <a:buNone/>
                      </a:pPr>
                      <a:r>
                        <a:rPr lang="zh-CN" altLang="en-US" sz="1800">
                          <a:sym typeface="+mn-ea"/>
                        </a:rPr>
                        <a:t>预防缺陷</a:t>
                      </a:r>
                      <a:endParaRPr lang="zh-CN" altLang="en-US" sz="1800">
                        <a:sym typeface="+mn-ea"/>
                      </a:endParaRPr>
                    </a:p>
                  </a:txBody>
                  <a:tcPr/>
                </a:tc>
                <a:tc>
                  <a:txBody>
                    <a:bodyPr/>
                    <a:lstStyle/>
                    <a:p>
                      <a:pPr algn="ctr">
                        <a:buNone/>
                      </a:pPr>
                      <a:r>
                        <a:rPr lang="zh-CN" altLang="en-US" sz="1800">
                          <a:sym typeface="+mn-ea"/>
                        </a:rPr>
                        <a:t>发现缺陷</a:t>
                      </a:r>
                      <a:endParaRPr lang="zh-CN" altLang="en-US" sz="1800">
                        <a:sym typeface="+mn-ea"/>
                      </a:endParaRPr>
                    </a:p>
                    <a:p>
                      <a:pPr algn="ctr">
                        <a:buNone/>
                      </a:pPr>
                      <a:endParaRPr lang="zh-CN" altLang="en-US" sz="1800">
                        <a:sym typeface="+mn-ea"/>
                      </a:endParaRPr>
                    </a:p>
                  </a:txBody>
                  <a:tcPr/>
                </a:tc>
              </a:tr>
              <a:tr h="520700">
                <a:tc>
                  <a:txBody>
                    <a:bodyPr/>
                    <a:lstStyle/>
                    <a:p>
                      <a:pPr algn="ctr">
                        <a:buNone/>
                      </a:pPr>
                      <a:r>
                        <a:rPr lang="zh-CN" altLang="en-US" dirty="0"/>
                        <a:t>工作风格</a:t>
                      </a:r>
                      <a:endParaRPr lang="zh-CN" altLang="en-US" dirty="0"/>
                    </a:p>
                  </a:txBody>
                  <a:tcPr/>
                </a:tc>
                <a:tc>
                  <a:txBody>
                    <a:bodyPr/>
                    <a:lstStyle/>
                    <a:p>
                      <a:pPr algn="ctr">
                        <a:buNone/>
                      </a:pPr>
                      <a:r>
                        <a:rPr lang="zh-CN" altLang="en-US" sz="1800" dirty="0">
                          <a:sym typeface="+mn-ea"/>
                        </a:rPr>
                        <a:t>主动务虚</a:t>
                      </a:r>
                      <a:endParaRPr lang="zh-CN" altLang="en-US" sz="1800" dirty="0">
                        <a:sym typeface="+mn-ea"/>
                      </a:endParaRPr>
                    </a:p>
                  </a:txBody>
                  <a:tcPr/>
                </a:tc>
                <a:tc>
                  <a:txBody>
                    <a:bodyPr/>
                    <a:lstStyle/>
                    <a:p>
                      <a:pPr algn="ctr">
                        <a:buNone/>
                      </a:pPr>
                      <a:r>
                        <a:rPr lang="zh-CN" altLang="en-US" sz="1800" dirty="0">
                          <a:sym typeface="+mn-ea"/>
                        </a:rPr>
                        <a:t>被动务实</a:t>
                      </a:r>
                      <a:endParaRPr lang="zh-CN" altLang="en-US" sz="1800" dirty="0">
                        <a:sym typeface="+mn-ea"/>
                      </a:endParaRPr>
                    </a:p>
                    <a:p>
                      <a:pPr algn="ctr">
                        <a:buNone/>
                      </a:pPr>
                      <a:endParaRPr lang="zh-CN" altLang="en-US" sz="1800" dirty="0">
                        <a:sym typeface="+mn-ea"/>
                      </a:endParaRPr>
                    </a:p>
                  </a:txBody>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Light" panose="020B0502040204020203" charset="-122"/>
                <a:ea typeface="微软雅黑 Light" panose="020B0502040204020203" charset="-122"/>
              </a:rPr>
              <a:t>其他区别</a:t>
            </a:r>
            <a:endParaRPr lang="zh-CN" altLang="en-US">
              <a:latin typeface="微软雅黑 Light" panose="020B0502040204020203" charset="-122"/>
              <a:ea typeface="微软雅黑 Light" panose="020B0502040204020203" charset="-122"/>
            </a:endParaRPr>
          </a:p>
        </p:txBody>
      </p:sp>
      <p:sp>
        <p:nvSpPr>
          <p:cNvPr id="3" name="内容占位符 2"/>
          <p:cNvSpPr>
            <a:spLocks noGrp="1"/>
          </p:cNvSpPr>
          <p:nvPr>
            <p:ph idx="1"/>
          </p:nvPr>
        </p:nvSpPr>
        <p:spPr/>
        <p:txBody>
          <a:bodyPr>
            <a:normAutofit fontScale="80000" lnSpcReduction="10000"/>
          </a:bodyPr>
          <a:lstStyle/>
          <a:p>
            <a:pPr fontAlgn="auto">
              <a:lnSpc>
                <a:spcPts val="3840"/>
              </a:lnSpc>
            </a:pPr>
            <a:r>
              <a:rPr lang="zh-CN" altLang="en-US" dirty="0">
                <a:latin typeface="华文仿宋" charset="0"/>
                <a:ea typeface="华文仿宋" charset="0"/>
              </a:rPr>
              <a:t>具备必要资质的QA是组织中的高级人才，需要全面掌握组织的过程定义，熟悉所参与项目所用的工程技术；QC则既包括软件测试设计员等高级人才，也包括一般的测试员等中、初级人才。国外有软件企业要求QA应具备两年以上的软件开发经验，半年以上的分析员、设计员经验；不仅要接受QA方面的培训，还要接受履行项目经理职责方面的培训。 </a:t>
            </a:r>
            <a:endParaRPr lang="zh-CN" altLang="en-US" dirty="0">
              <a:latin typeface="华文仿宋" charset="0"/>
              <a:ea typeface="华文仿宋" charset="0"/>
            </a:endParaRPr>
          </a:p>
          <a:p>
            <a:pPr fontAlgn="auto">
              <a:lnSpc>
                <a:spcPts val="3840"/>
              </a:lnSpc>
            </a:pPr>
            <a:endParaRPr lang="zh-CN" altLang="en-US" dirty="0">
              <a:latin typeface="华文仿宋" charset="0"/>
              <a:ea typeface="华文仿宋" charset="0"/>
            </a:endParaRPr>
          </a:p>
          <a:p>
            <a:pPr fontAlgn="auto">
              <a:lnSpc>
                <a:spcPts val="3840"/>
              </a:lnSpc>
            </a:pPr>
            <a:r>
              <a:rPr lang="zh-CN" altLang="en-US" dirty="0">
                <a:latin typeface="华文仿宋" charset="0"/>
                <a:ea typeface="华文仿宋" charset="0"/>
              </a:rPr>
              <a:t>在项目组中，QA独立于项目经理，不由项目经理进行绩效考核；QC受项目经理领导，通常在项目运行周期内QC的绩效大部分由项目经理考核决定。 </a:t>
            </a:r>
            <a:endParaRPr lang="zh-CN" altLang="en-US" dirty="0">
              <a:latin typeface="华文仿宋" charset="0"/>
              <a:ea typeface="华文仿宋" charset="0"/>
            </a:endParaRPr>
          </a:p>
          <a:p>
            <a:endParaRPr lang="zh-CN" altLang="en-US" dirty="0"/>
          </a:p>
          <a:p>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fontAlgn="auto">
              <a:lnSpc>
                <a:spcPts val="3840"/>
              </a:lnSpc>
            </a:pPr>
            <a:r>
              <a:rPr lang="zh-CN" altLang="en-US" sz="2400" dirty="0">
                <a:latin typeface="华文仿宋" charset="0"/>
                <a:ea typeface="华文仿宋" charset="0"/>
                <a:sym typeface="+mn-ea"/>
              </a:rPr>
              <a:t>QA活动贯穿项目运行的全过程；QC活动一般设置在项目运行的特定阶段，在不同的控制点可能由不同的角色完成。 </a:t>
            </a:r>
            <a:endParaRPr lang="zh-CN" altLang="en-US" sz="2400" dirty="0">
              <a:latin typeface="华文仿宋" charset="0"/>
              <a:ea typeface="华文仿宋" charset="0"/>
              <a:sym typeface="+mn-ea"/>
            </a:endParaRPr>
          </a:p>
          <a:p>
            <a:pPr fontAlgn="auto">
              <a:lnSpc>
                <a:spcPts val="3840"/>
              </a:lnSpc>
            </a:pPr>
            <a:endParaRPr lang="zh-CN" altLang="en-US" sz="2400" dirty="0">
              <a:latin typeface="华文仿宋" charset="0"/>
              <a:ea typeface="华文仿宋" charset="0"/>
            </a:endParaRPr>
          </a:p>
          <a:p>
            <a:pPr fontAlgn="auto">
              <a:lnSpc>
                <a:spcPts val="3840"/>
              </a:lnSpc>
            </a:pPr>
            <a:r>
              <a:rPr lang="zh-CN" altLang="en-US" sz="2400" dirty="0">
                <a:latin typeface="华文仿宋" charset="0"/>
                <a:ea typeface="华文仿宋" charset="0"/>
                <a:sym typeface="+mn-ea"/>
              </a:rPr>
              <a:t>对称职的QA，跟踪和报告项目运行中的发现(findings)只是其工作职责的基础部分，更富有价值的工作包括为项目组提供过程支持，例如为项目经理提供以往类似项目的案例和参考数据，为项目组成员介绍和解释适用的过程定义文件等；QC的活动则主要是发现和报告产品的缺陷。</a:t>
            </a:r>
            <a:endParaRPr lang="zh-CN" altLang="en-US" sz="2400" dirty="0">
              <a:latin typeface="华文仿宋" charset="0"/>
              <a:ea typeface="华文仿宋" charset="0"/>
              <a:sym typeface="+mn-ea"/>
            </a:endParaRPr>
          </a:p>
          <a:p>
            <a:pPr fontAlgn="auto">
              <a:lnSpc>
                <a:spcPts val="3840"/>
              </a:lnSpc>
            </a:pPr>
            <a:endParaRPr lang="zh-CN" altLang="en-US" dirty="0">
              <a:latin typeface="华文仿宋" charset="0"/>
              <a:ea typeface="华文仿宋"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charset="-122"/>
                <a:ea typeface="微软雅黑" panose="020B0503020204020204" charset="-122"/>
              </a:rPr>
              <a:t>怎么确定</a:t>
            </a:r>
            <a:r>
              <a:rPr lang="en-US" altLang="zh-CN">
                <a:latin typeface="微软雅黑" panose="020B0503020204020204" charset="-122"/>
                <a:ea typeface="微软雅黑" panose="020B0503020204020204" charset="-122"/>
              </a:rPr>
              <a:t>QA</a:t>
            </a:r>
            <a:r>
              <a:rPr lang="zh-CN" altLang="en-US">
                <a:latin typeface="微软雅黑" panose="020B0503020204020204" charset="-122"/>
                <a:ea typeface="微软雅黑" panose="020B0503020204020204" charset="-122"/>
              </a:rPr>
              <a:t>工作的正确性</a:t>
            </a:r>
            <a:endParaRPr lang="zh-CN" altLang="en-US">
              <a:latin typeface="微软雅黑" panose="020B0503020204020204" charset="-122"/>
              <a:ea typeface="微软雅黑" panose="020B0503020204020204" charset="-122"/>
            </a:endParaRPr>
          </a:p>
        </p:txBody>
      </p:sp>
      <p:sp>
        <p:nvSpPr>
          <p:cNvPr id="3" name="内容占位符 2"/>
          <p:cNvSpPr>
            <a:spLocks noGrp="1"/>
          </p:cNvSpPr>
          <p:nvPr>
            <p:ph idx="1"/>
          </p:nvPr>
        </p:nvSpPr>
        <p:spPr/>
        <p:txBody>
          <a:bodyPr/>
          <a:lstStyle/>
          <a:p>
            <a:pPr marL="0" indent="0">
              <a:buNone/>
            </a:pPr>
            <a:r>
              <a:rPr lang="en-US" altLang="zh-CN">
                <a:latin typeface="华文仿宋" charset="0"/>
                <a:ea typeface="华文仿宋" charset="0"/>
              </a:rPr>
              <a:t>	</a:t>
            </a:r>
            <a:endParaRPr lang="en-US" altLang="zh-CN">
              <a:latin typeface="华文仿宋" charset="0"/>
              <a:ea typeface="华文仿宋" charset="0"/>
            </a:endParaRPr>
          </a:p>
          <a:p>
            <a:pPr marL="0" indent="0">
              <a:buNone/>
            </a:pPr>
            <a:endParaRPr lang="en-US" altLang="zh-CN">
              <a:latin typeface="华文仿宋" charset="0"/>
              <a:ea typeface="华文仿宋" charset="0"/>
            </a:endParaRPr>
          </a:p>
          <a:p>
            <a:pPr marL="0" indent="0">
              <a:buNone/>
            </a:pPr>
            <a:r>
              <a:rPr lang="en-US" altLang="zh-CN">
                <a:latin typeface="华文仿宋" charset="0"/>
                <a:ea typeface="华文仿宋" charset="0"/>
              </a:rPr>
              <a:t>	</a:t>
            </a:r>
            <a:r>
              <a:rPr lang="zh-CN" altLang="en-US">
                <a:latin typeface="华文仿宋" charset="0"/>
                <a:ea typeface="华文仿宋" charset="0"/>
              </a:rPr>
              <a:t>它是结果导向的:通过不断改进组织过程,更快、更低成本地制造出用户需要的产品.</a:t>
            </a:r>
            <a:endParaRPr lang="zh-CN" altLang="en-US">
              <a:latin typeface="华文仿宋" charset="0"/>
              <a:ea typeface="华文仿宋"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微软雅黑" panose="020B0503020204020204" charset="-122"/>
                <a:ea typeface="微软雅黑" panose="020B0503020204020204" charset="-122"/>
              </a:rPr>
              <a:t>QA</a:t>
            </a:r>
            <a:r>
              <a:rPr lang="zh-CN" altLang="en-US" dirty="0" smtClean="0">
                <a:latin typeface="微软雅黑" panose="020B0503020204020204" charset="-122"/>
                <a:ea typeface="微软雅黑" panose="020B0503020204020204" charset="-122"/>
              </a:rPr>
              <a:t>对</a:t>
            </a:r>
            <a:r>
              <a:rPr lang="zh-CN" altLang="en-US" dirty="0">
                <a:latin typeface="微软雅黑" panose="020B0503020204020204" charset="-122"/>
                <a:ea typeface="微软雅黑" panose="020B0503020204020204" charset="-122"/>
              </a:rPr>
              <a:t>工作人员的要求</a:t>
            </a:r>
            <a:endParaRPr lang="zh-CN" altLang="en-US" dirty="0">
              <a:latin typeface="微软雅黑" panose="020B0503020204020204" charset="-122"/>
              <a:ea typeface="微软雅黑" panose="020B0503020204020204" charset="-122"/>
            </a:endParaRPr>
          </a:p>
        </p:txBody>
      </p:sp>
      <p:sp>
        <p:nvSpPr>
          <p:cNvPr id="3" name="内容占位符 2"/>
          <p:cNvSpPr>
            <a:spLocks noGrp="1"/>
          </p:cNvSpPr>
          <p:nvPr>
            <p:ph idx="1"/>
          </p:nvPr>
        </p:nvSpPr>
        <p:spPr/>
        <p:txBody>
          <a:bodyPr/>
          <a:lstStyle/>
          <a:p>
            <a:r>
              <a:rPr lang="zh-CN" altLang="en-US"/>
              <a:t>创造力、想象力</a:t>
            </a:r>
            <a:endParaRPr lang="zh-CN" altLang="en-US"/>
          </a:p>
          <a:p>
            <a:r>
              <a:rPr lang="zh-CN" altLang="en-US"/>
              <a:t>有更强的跨行业学习的能力</a:t>
            </a:r>
            <a:endParaRPr lang="zh-CN" altLang="en-US"/>
          </a:p>
          <a:p>
            <a:r>
              <a:rPr lang="zh-CN" altLang="en-US"/>
              <a:t>并发思维</a:t>
            </a: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MH_Entry_1"/>
          <p:cNvSpPr/>
          <p:nvPr>
            <p:custDataLst>
              <p:tags r:id="rId1"/>
            </p:custDataLst>
          </p:nvPr>
        </p:nvSpPr>
        <p:spPr>
          <a:xfrm>
            <a:off x="5858495" y="1453718"/>
            <a:ext cx="3799855" cy="500606"/>
          </a:xfrm>
          <a:custGeom>
            <a:avLst/>
            <a:gdLst>
              <a:gd name="connsiteX0" fmla="*/ 3322894 w 3376894"/>
              <a:gd name="connsiteY0" fmla="*/ 336884 h 444884"/>
              <a:gd name="connsiteX1" fmla="*/ 3376894 w 3376894"/>
              <a:gd name="connsiteY1" fmla="*/ 390884 h 444884"/>
              <a:gd name="connsiteX2" fmla="*/ 3322894 w 3376894"/>
              <a:gd name="connsiteY2" fmla="*/ 444884 h 444884"/>
              <a:gd name="connsiteX3" fmla="*/ 3284711 w 3376894"/>
              <a:gd name="connsiteY3" fmla="*/ 429068 h 444884"/>
              <a:gd name="connsiteX4" fmla="*/ 3277511 w 3376894"/>
              <a:gd name="connsiteY4" fmla="*/ 411686 h 444884"/>
              <a:gd name="connsiteX5" fmla="*/ 423171 w 3376894"/>
              <a:gd name="connsiteY5" fmla="*/ 411686 h 444884"/>
              <a:gd name="connsiteX6" fmla="*/ 423171 w 3376894"/>
              <a:gd name="connsiteY6" fmla="*/ 382886 h 444884"/>
              <a:gd name="connsiteX7" fmla="*/ 3272207 w 3376894"/>
              <a:gd name="connsiteY7" fmla="*/ 382886 h 444884"/>
              <a:gd name="connsiteX8" fmla="*/ 3284711 w 3376894"/>
              <a:gd name="connsiteY8" fmla="*/ 352700 h 444884"/>
              <a:gd name="connsiteX9" fmla="*/ 3322894 w 3376894"/>
              <a:gd name="connsiteY9" fmla="*/ 336884 h 444884"/>
              <a:gd name="connsiteX10" fmla="*/ 220963 w 3376894"/>
              <a:gd name="connsiteY10" fmla="*/ 0 h 444884"/>
              <a:gd name="connsiteX11" fmla="*/ 441926 w 3376894"/>
              <a:gd name="connsiteY11" fmla="*/ 220963 h 444884"/>
              <a:gd name="connsiteX12" fmla="*/ 220963 w 3376894"/>
              <a:gd name="connsiteY12" fmla="*/ 441926 h 444884"/>
              <a:gd name="connsiteX13" fmla="*/ 0 w 3376894"/>
              <a:gd name="connsiteY13" fmla="*/ 220963 h 444884"/>
              <a:gd name="connsiteX14" fmla="*/ 220963 w 3376894"/>
              <a:gd name="connsiteY14" fmla="*/ 0 h 4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76894" h="444884">
                <a:moveTo>
                  <a:pt x="3322894" y="336884"/>
                </a:moveTo>
                <a:cubicBezTo>
                  <a:pt x="3352717" y="336884"/>
                  <a:pt x="3376894" y="361061"/>
                  <a:pt x="3376894" y="390884"/>
                </a:cubicBezTo>
                <a:cubicBezTo>
                  <a:pt x="3376894" y="420707"/>
                  <a:pt x="3352717" y="444884"/>
                  <a:pt x="3322894" y="444884"/>
                </a:cubicBezTo>
                <a:cubicBezTo>
                  <a:pt x="3307983" y="444884"/>
                  <a:pt x="3294483" y="438840"/>
                  <a:pt x="3284711" y="429068"/>
                </a:cubicBezTo>
                <a:lnTo>
                  <a:pt x="3277511" y="411686"/>
                </a:lnTo>
                <a:lnTo>
                  <a:pt x="423171" y="411686"/>
                </a:lnTo>
                <a:lnTo>
                  <a:pt x="423171" y="382886"/>
                </a:lnTo>
                <a:lnTo>
                  <a:pt x="3272207" y="382886"/>
                </a:lnTo>
                <a:lnTo>
                  <a:pt x="3284711" y="352700"/>
                </a:lnTo>
                <a:cubicBezTo>
                  <a:pt x="3294483" y="342928"/>
                  <a:pt x="3307983" y="336884"/>
                  <a:pt x="3322894" y="336884"/>
                </a:cubicBezTo>
                <a:close/>
                <a:moveTo>
                  <a:pt x="220963" y="0"/>
                </a:moveTo>
                <a:cubicBezTo>
                  <a:pt x="342997" y="0"/>
                  <a:pt x="441926" y="98929"/>
                  <a:pt x="441926" y="220963"/>
                </a:cubicBezTo>
                <a:cubicBezTo>
                  <a:pt x="441926" y="342997"/>
                  <a:pt x="342997" y="441926"/>
                  <a:pt x="220963" y="441926"/>
                </a:cubicBezTo>
                <a:cubicBezTo>
                  <a:pt x="98929" y="441926"/>
                  <a:pt x="0" y="342997"/>
                  <a:pt x="0" y="220963"/>
                </a:cubicBezTo>
                <a:cubicBezTo>
                  <a:pt x="0" y="98929"/>
                  <a:pt x="98929" y="0"/>
                  <a:pt x="22096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72000" rtlCol="0" anchor="ctr">
            <a:normAutofit/>
          </a:bodyPr>
          <a:lstStyle/>
          <a:p>
            <a:pPr lvl="0" algn="ctr"/>
            <a:r>
              <a:rPr lang="zh-CN" altLang="en-US" sz="2000" smtClean="0">
                <a:solidFill>
                  <a:schemeClr val="tx1"/>
                </a:solidFill>
              </a:rPr>
              <a:t>定义</a:t>
            </a:r>
            <a:endParaRPr lang="zh-CN" altLang="en-US" sz="2000" dirty="0">
              <a:solidFill>
                <a:schemeClr val="tx1"/>
              </a:solidFill>
            </a:endParaRPr>
          </a:p>
        </p:txBody>
      </p:sp>
      <p:sp>
        <p:nvSpPr>
          <p:cNvPr id="75" name="MH_Entry_2"/>
          <p:cNvSpPr/>
          <p:nvPr>
            <p:custDataLst>
              <p:tags r:id="rId2"/>
            </p:custDataLst>
          </p:nvPr>
        </p:nvSpPr>
        <p:spPr>
          <a:xfrm flipH="1">
            <a:off x="2575720" y="2205391"/>
            <a:ext cx="3799855" cy="500606"/>
          </a:xfrm>
          <a:custGeom>
            <a:avLst/>
            <a:gdLst>
              <a:gd name="connsiteX0" fmla="*/ 3322894 w 3376894"/>
              <a:gd name="connsiteY0" fmla="*/ 336884 h 444884"/>
              <a:gd name="connsiteX1" fmla="*/ 3376894 w 3376894"/>
              <a:gd name="connsiteY1" fmla="*/ 390884 h 444884"/>
              <a:gd name="connsiteX2" fmla="*/ 3322894 w 3376894"/>
              <a:gd name="connsiteY2" fmla="*/ 444884 h 444884"/>
              <a:gd name="connsiteX3" fmla="*/ 3284711 w 3376894"/>
              <a:gd name="connsiteY3" fmla="*/ 429068 h 444884"/>
              <a:gd name="connsiteX4" fmla="*/ 3277511 w 3376894"/>
              <a:gd name="connsiteY4" fmla="*/ 411686 h 444884"/>
              <a:gd name="connsiteX5" fmla="*/ 423171 w 3376894"/>
              <a:gd name="connsiteY5" fmla="*/ 411686 h 444884"/>
              <a:gd name="connsiteX6" fmla="*/ 423171 w 3376894"/>
              <a:gd name="connsiteY6" fmla="*/ 382886 h 444884"/>
              <a:gd name="connsiteX7" fmla="*/ 3272207 w 3376894"/>
              <a:gd name="connsiteY7" fmla="*/ 382886 h 444884"/>
              <a:gd name="connsiteX8" fmla="*/ 3284711 w 3376894"/>
              <a:gd name="connsiteY8" fmla="*/ 352700 h 444884"/>
              <a:gd name="connsiteX9" fmla="*/ 3322894 w 3376894"/>
              <a:gd name="connsiteY9" fmla="*/ 336884 h 444884"/>
              <a:gd name="connsiteX10" fmla="*/ 220963 w 3376894"/>
              <a:gd name="connsiteY10" fmla="*/ 0 h 444884"/>
              <a:gd name="connsiteX11" fmla="*/ 441926 w 3376894"/>
              <a:gd name="connsiteY11" fmla="*/ 220963 h 444884"/>
              <a:gd name="connsiteX12" fmla="*/ 220963 w 3376894"/>
              <a:gd name="connsiteY12" fmla="*/ 441926 h 444884"/>
              <a:gd name="connsiteX13" fmla="*/ 0 w 3376894"/>
              <a:gd name="connsiteY13" fmla="*/ 220963 h 444884"/>
              <a:gd name="connsiteX14" fmla="*/ 220963 w 3376894"/>
              <a:gd name="connsiteY14" fmla="*/ 0 h 4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76894" h="444884">
                <a:moveTo>
                  <a:pt x="3322894" y="336884"/>
                </a:moveTo>
                <a:cubicBezTo>
                  <a:pt x="3352717" y="336884"/>
                  <a:pt x="3376894" y="361061"/>
                  <a:pt x="3376894" y="390884"/>
                </a:cubicBezTo>
                <a:cubicBezTo>
                  <a:pt x="3376894" y="420707"/>
                  <a:pt x="3352717" y="444884"/>
                  <a:pt x="3322894" y="444884"/>
                </a:cubicBezTo>
                <a:cubicBezTo>
                  <a:pt x="3307983" y="444884"/>
                  <a:pt x="3294483" y="438840"/>
                  <a:pt x="3284711" y="429068"/>
                </a:cubicBezTo>
                <a:lnTo>
                  <a:pt x="3277511" y="411686"/>
                </a:lnTo>
                <a:lnTo>
                  <a:pt x="423171" y="411686"/>
                </a:lnTo>
                <a:lnTo>
                  <a:pt x="423171" y="382886"/>
                </a:lnTo>
                <a:lnTo>
                  <a:pt x="3272207" y="382886"/>
                </a:lnTo>
                <a:lnTo>
                  <a:pt x="3284711" y="352700"/>
                </a:lnTo>
                <a:cubicBezTo>
                  <a:pt x="3294483" y="342928"/>
                  <a:pt x="3307983" y="336884"/>
                  <a:pt x="3322894" y="336884"/>
                </a:cubicBezTo>
                <a:close/>
                <a:moveTo>
                  <a:pt x="220963" y="0"/>
                </a:moveTo>
                <a:cubicBezTo>
                  <a:pt x="342997" y="0"/>
                  <a:pt x="441926" y="98929"/>
                  <a:pt x="441926" y="220963"/>
                </a:cubicBezTo>
                <a:cubicBezTo>
                  <a:pt x="441926" y="342997"/>
                  <a:pt x="342997" y="441926"/>
                  <a:pt x="220963" y="441926"/>
                </a:cubicBezTo>
                <a:cubicBezTo>
                  <a:pt x="98929" y="441926"/>
                  <a:pt x="0" y="342997"/>
                  <a:pt x="0" y="220963"/>
                </a:cubicBezTo>
                <a:cubicBezTo>
                  <a:pt x="0" y="98929"/>
                  <a:pt x="98929" y="0"/>
                  <a:pt x="220963"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08000" bIns="72000" rtlCol="0" anchor="ctr">
            <a:normAutofit/>
          </a:bodyPr>
          <a:lstStyle/>
          <a:p>
            <a:pPr lvl="0" algn="ctr"/>
            <a:r>
              <a:rPr lang="zh-CN" altLang="en-US" sz="2000" smtClean="0">
                <a:solidFill>
                  <a:schemeClr val="tx1"/>
                </a:solidFill>
              </a:rPr>
              <a:t>联系</a:t>
            </a:r>
            <a:endParaRPr lang="zh-CN" altLang="en-US" sz="2000" dirty="0">
              <a:solidFill>
                <a:schemeClr val="tx1"/>
              </a:solidFill>
            </a:endParaRPr>
          </a:p>
        </p:txBody>
      </p:sp>
      <p:sp>
        <p:nvSpPr>
          <p:cNvPr id="78" name="MH_Entry_3"/>
          <p:cNvSpPr/>
          <p:nvPr>
            <p:custDataLst>
              <p:tags r:id="rId3"/>
            </p:custDataLst>
          </p:nvPr>
        </p:nvSpPr>
        <p:spPr>
          <a:xfrm>
            <a:off x="5858495" y="2957064"/>
            <a:ext cx="3799855" cy="500606"/>
          </a:xfrm>
          <a:custGeom>
            <a:avLst/>
            <a:gdLst>
              <a:gd name="connsiteX0" fmla="*/ 3322894 w 3376894"/>
              <a:gd name="connsiteY0" fmla="*/ 336884 h 444884"/>
              <a:gd name="connsiteX1" fmla="*/ 3376894 w 3376894"/>
              <a:gd name="connsiteY1" fmla="*/ 390884 h 444884"/>
              <a:gd name="connsiteX2" fmla="*/ 3322894 w 3376894"/>
              <a:gd name="connsiteY2" fmla="*/ 444884 h 444884"/>
              <a:gd name="connsiteX3" fmla="*/ 3284711 w 3376894"/>
              <a:gd name="connsiteY3" fmla="*/ 429068 h 444884"/>
              <a:gd name="connsiteX4" fmla="*/ 3277511 w 3376894"/>
              <a:gd name="connsiteY4" fmla="*/ 411686 h 444884"/>
              <a:gd name="connsiteX5" fmla="*/ 423171 w 3376894"/>
              <a:gd name="connsiteY5" fmla="*/ 411686 h 444884"/>
              <a:gd name="connsiteX6" fmla="*/ 423171 w 3376894"/>
              <a:gd name="connsiteY6" fmla="*/ 382886 h 444884"/>
              <a:gd name="connsiteX7" fmla="*/ 3272207 w 3376894"/>
              <a:gd name="connsiteY7" fmla="*/ 382886 h 444884"/>
              <a:gd name="connsiteX8" fmla="*/ 3284711 w 3376894"/>
              <a:gd name="connsiteY8" fmla="*/ 352700 h 444884"/>
              <a:gd name="connsiteX9" fmla="*/ 3322894 w 3376894"/>
              <a:gd name="connsiteY9" fmla="*/ 336884 h 444884"/>
              <a:gd name="connsiteX10" fmla="*/ 220963 w 3376894"/>
              <a:gd name="connsiteY10" fmla="*/ 0 h 444884"/>
              <a:gd name="connsiteX11" fmla="*/ 441926 w 3376894"/>
              <a:gd name="connsiteY11" fmla="*/ 220963 h 444884"/>
              <a:gd name="connsiteX12" fmla="*/ 220963 w 3376894"/>
              <a:gd name="connsiteY12" fmla="*/ 441926 h 444884"/>
              <a:gd name="connsiteX13" fmla="*/ 0 w 3376894"/>
              <a:gd name="connsiteY13" fmla="*/ 220963 h 444884"/>
              <a:gd name="connsiteX14" fmla="*/ 220963 w 3376894"/>
              <a:gd name="connsiteY14" fmla="*/ 0 h 4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76894" h="444884">
                <a:moveTo>
                  <a:pt x="3322894" y="336884"/>
                </a:moveTo>
                <a:cubicBezTo>
                  <a:pt x="3352717" y="336884"/>
                  <a:pt x="3376894" y="361061"/>
                  <a:pt x="3376894" y="390884"/>
                </a:cubicBezTo>
                <a:cubicBezTo>
                  <a:pt x="3376894" y="420707"/>
                  <a:pt x="3352717" y="444884"/>
                  <a:pt x="3322894" y="444884"/>
                </a:cubicBezTo>
                <a:cubicBezTo>
                  <a:pt x="3307983" y="444884"/>
                  <a:pt x="3294483" y="438840"/>
                  <a:pt x="3284711" y="429068"/>
                </a:cubicBezTo>
                <a:lnTo>
                  <a:pt x="3277511" y="411686"/>
                </a:lnTo>
                <a:lnTo>
                  <a:pt x="423171" y="411686"/>
                </a:lnTo>
                <a:lnTo>
                  <a:pt x="423171" y="382886"/>
                </a:lnTo>
                <a:lnTo>
                  <a:pt x="3272207" y="382886"/>
                </a:lnTo>
                <a:lnTo>
                  <a:pt x="3284711" y="352700"/>
                </a:lnTo>
                <a:cubicBezTo>
                  <a:pt x="3294483" y="342928"/>
                  <a:pt x="3307983" y="336884"/>
                  <a:pt x="3322894" y="336884"/>
                </a:cubicBezTo>
                <a:close/>
                <a:moveTo>
                  <a:pt x="220963" y="0"/>
                </a:moveTo>
                <a:cubicBezTo>
                  <a:pt x="342997" y="0"/>
                  <a:pt x="441926" y="98929"/>
                  <a:pt x="441926" y="220963"/>
                </a:cubicBezTo>
                <a:cubicBezTo>
                  <a:pt x="441926" y="342997"/>
                  <a:pt x="342997" y="441926"/>
                  <a:pt x="220963" y="441926"/>
                </a:cubicBezTo>
                <a:cubicBezTo>
                  <a:pt x="98929" y="441926"/>
                  <a:pt x="0" y="342997"/>
                  <a:pt x="0" y="220963"/>
                </a:cubicBezTo>
                <a:cubicBezTo>
                  <a:pt x="0" y="98929"/>
                  <a:pt x="98929" y="0"/>
                  <a:pt x="22096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72000" rtlCol="0" anchor="ctr">
            <a:normAutofit/>
          </a:bodyPr>
          <a:lstStyle/>
          <a:p>
            <a:pPr lvl="0" algn="ctr"/>
            <a:r>
              <a:rPr lang="zh-CN" altLang="en-US" sz="2000" smtClean="0">
                <a:solidFill>
                  <a:schemeClr val="tx1"/>
                </a:solidFill>
              </a:rPr>
              <a:t>区别</a:t>
            </a:r>
            <a:endParaRPr lang="zh-CN" altLang="en-US" sz="2000" dirty="0">
              <a:solidFill>
                <a:schemeClr val="tx1"/>
              </a:solidFill>
            </a:endParaRPr>
          </a:p>
        </p:txBody>
      </p:sp>
      <p:sp>
        <p:nvSpPr>
          <p:cNvPr id="81" name="MH_Entry_4"/>
          <p:cNvSpPr/>
          <p:nvPr>
            <p:custDataLst>
              <p:tags r:id="rId4"/>
            </p:custDataLst>
          </p:nvPr>
        </p:nvSpPr>
        <p:spPr>
          <a:xfrm flipH="1">
            <a:off x="2575720" y="3708737"/>
            <a:ext cx="3799855" cy="500606"/>
          </a:xfrm>
          <a:custGeom>
            <a:avLst/>
            <a:gdLst>
              <a:gd name="connsiteX0" fmla="*/ 3322894 w 3376894"/>
              <a:gd name="connsiteY0" fmla="*/ 336884 h 444884"/>
              <a:gd name="connsiteX1" fmla="*/ 3376894 w 3376894"/>
              <a:gd name="connsiteY1" fmla="*/ 390884 h 444884"/>
              <a:gd name="connsiteX2" fmla="*/ 3322894 w 3376894"/>
              <a:gd name="connsiteY2" fmla="*/ 444884 h 444884"/>
              <a:gd name="connsiteX3" fmla="*/ 3284711 w 3376894"/>
              <a:gd name="connsiteY3" fmla="*/ 429068 h 444884"/>
              <a:gd name="connsiteX4" fmla="*/ 3277511 w 3376894"/>
              <a:gd name="connsiteY4" fmla="*/ 411686 h 444884"/>
              <a:gd name="connsiteX5" fmla="*/ 423171 w 3376894"/>
              <a:gd name="connsiteY5" fmla="*/ 411686 h 444884"/>
              <a:gd name="connsiteX6" fmla="*/ 423171 w 3376894"/>
              <a:gd name="connsiteY6" fmla="*/ 382886 h 444884"/>
              <a:gd name="connsiteX7" fmla="*/ 3272207 w 3376894"/>
              <a:gd name="connsiteY7" fmla="*/ 382886 h 444884"/>
              <a:gd name="connsiteX8" fmla="*/ 3284711 w 3376894"/>
              <a:gd name="connsiteY8" fmla="*/ 352700 h 444884"/>
              <a:gd name="connsiteX9" fmla="*/ 3322894 w 3376894"/>
              <a:gd name="connsiteY9" fmla="*/ 336884 h 444884"/>
              <a:gd name="connsiteX10" fmla="*/ 220963 w 3376894"/>
              <a:gd name="connsiteY10" fmla="*/ 0 h 444884"/>
              <a:gd name="connsiteX11" fmla="*/ 441926 w 3376894"/>
              <a:gd name="connsiteY11" fmla="*/ 220963 h 444884"/>
              <a:gd name="connsiteX12" fmla="*/ 220963 w 3376894"/>
              <a:gd name="connsiteY12" fmla="*/ 441926 h 444884"/>
              <a:gd name="connsiteX13" fmla="*/ 0 w 3376894"/>
              <a:gd name="connsiteY13" fmla="*/ 220963 h 444884"/>
              <a:gd name="connsiteX14" fmla="*/ 220963 w 3376894"/>
              <a:gd name="connsiteY14" fmla="*/ 0 h 4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76894" h="444884">
                <a:moveTo>
                  <a:pt x="3322894" y="336884"/>
                </a:moveTo>
                <a:cubicBezTo>
                  <a:pt x="3352717" y="336884"/>
                  <a:pt x="3376894" y="361061"/>
                  <a:pt x="3376894" y="390884"/>
                </a:cubicBezTo>
                <a:cubicBezTo>
                  <a:pt x="3376894" y="420707"/>
                  <a:pt x="3352717" y="444884"/>
                  <a:pt x="3322894" y="444884"/>
                </a:cubicBezTo>
                <a:cubicBezTo>
                  <a:pt x="3307983" y="444884"/>
                  <a:pt x="3294483" y="438840"/>
                  <a:pt x="3284711" y="429068"/>
                </a:cubicBezTo>
                <a:lnTo>
                  <a:pt x="3277511" y="411686"/>
                </a:lnTo>
                <a:lnTo>
                  <a:pt x="423171" y="411686"/>
                </a:lnTo>
                <a:lnTo>
                  <a:pt x="423171" y="382886"/>
                </a:lnTo>
                <a:lnTo>
                  <a:pt x="3272207" y="382886"/>
                </a:lnTo>
                <a:lnTo>
                  <a:pt x="3284711" y="352700"/>
                </a:lnTo>
                <a:cubicBezTo>
                  <a:pt x="3294483" y="342928"/>
                  <a:pt x="3307983" y="336884"/>
                  <a:pt x="3322894" y="336884"/>
                </a:cubicBezTo>
                <a:close/>
                <a:moveTo>
                  <a:pt x="220963" y="0"/>
                </a:moveTo>
                <a:cubicBezTo>
                  <a:pt x="342997" y="0"/>
                  <a:pt x="441926" y="98929"/>
                  <a:pt x="441926" y="220963"/>
                </a:cubicBezTo>
                <a:cubicBezTo>
                  <a:pt x="441926" y="342997"/>
                  <a:pt x="342997" y="441926"/>
                  <a:pt x="220963" y="441926"/>
                </a:cubicBezTo>
                <a:cubicBezTo>
                  <a:pt x="98929" y="441926"/>
                  <a:pt x="0" y="342997"/>
                  <a:pt x="0" y="220963"/>
                </a:cubicBezTo>
                <a:cubicBezTo>
                  <a:pt x="0" y="98929"/>
                  <a:pt x="98929" y="0"/>
                  <a:pt x="220963"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08000" bIns="72000" rtlCol="0" anchor="ctr">
            <a:normAutofit/>
          </a:bodyPr>
          <a:lstStyle/>
          <a:p>
            <a:pPr lvl="0" algn="ctr"/>
            <a:r>
              <a:rPr lang="zh-CN" altLang="en-US" sz="2000" smtClean="0">
                <a:solidFill>
                  <a:schemeClr val="tx1"/>
                </a:solidFill>
              </a:rPr>
              <a:t>职责划分</a:t>
            </a:r>
            <a:endParaRPr lang="zh-CN" altLang="en-US" sz="2000" dirty="0">
              <a:solidFill>
                <a:schemeClr val="tx1"/>
              </a:solidFill>
            </a:endParaRPr>
          </a:p>
        </p:txBody>
      </p:sp>
      <p:sp>
        <p:nvSpPr>
          <p:cNvPr id="84" name="MH_Entry_5"/>
          <p:cNvSpPr/>
          <p:nvPr>
            <p:custDataLst>
              <p:tags r:id="rId5"/>
            </p:custDataLst>
          </p:nvPr>
        </p:nvSpPr>
        <p:spPr>
          <a:xfrm>
            <a:off x="5858495" y="4460410"/>
            <a:ext cx="3799855" cy="500606"/>
          </a:xfrm>
          <a:custGeom>
            <a:avLst/>
            <a:gdLst>
              <a:gd name="connsiteX0" fmla="*/ 3322894 w 3376894"/>
              <a:gd name="connsiteY0" fmla="*/ 336884 h 444884"/>
              <a:gd name="connsiteX1" fmla="*/ 3376894 w 3376894"/>
              <a:gd name="connsiteY1" fmla="*/ 390884 h 444884"/>
              <a:gd name="connsiteX2" fmla="*/ 3322894 w 3376894"/>
              <a:gd name="connsiteY2" fmla="*/ 444884 h 444884"/>
              <a:gd name="connsiteX3" fmla="*/ 3284711 w 3376894"/>
              <a:gd name="connsiteY3" fmla="*/ 429068 h 444884"/>
              <a:gd name="connsiteX4" fmla="*/ 3277511 w 3376894"/>
              <a:gd name="connsiteY4" fmla="*/ 411686 h 444884"/>
              <a:gd name="connsiteX5" fmla="*/ 423171 w 3376894"/>
              <a:gd name="connsiteY5" fmla="*/ 411686 h 444884"/>
              <a:gd name="connsiteX6" fmla="*/ 423171 w 3376894"/>
              <a:gd name="connsiteY6" fmla="*/ 382886 h 444884"/>
              <a:gd name="connsiteX7" fmla="*/ 3272207 w 3376894"/>
              <a:gd name="connsiteY7" fmla="*/ 382886 h 444884"/>
              <a:gd name="connsiteX8" fmla="*/ 3284711 w 3376894"/>
              <a:gd name="connsiteY8" fmla="*/ 352700 h 444884"/>
              <a:gd name="connsiteX9" fmla="*/ 3322894 w 3376894"/>
              <a:gd name="connsiteY9" fmla="*/ 336884 h 444884"/>
              <a:gd name="connsiteX10" fmla="*/ 220963 w 3376894"/>
              <a:gd name="connsiteY10" fmla="*/ 0 h 444884"/>
              <a:gd name="connsiteX11" fmla="*/ 441926 w 3376894"/>
              <a:gd name="connsiteY11" fmla="*/ 220963 h 444884"/>
              <a:gd name="connsiteX12" fmla="*/ 220963 w 3376894"/>
              <a:gd name="connsiteY12" fmla="*/ 441926 h 444884"/>
              <a:gd name="connsiteX13" fmla="*/ 0 w 3376894"/>
              <a:gd name="connsiteY13" fmla="*/ 220963 h 444884"/>
              <a:gd name="connsiteX14" fmla="*/ 220963 w 3376894"/>
              <a:gd name="connsiteY14" fmla="*/ 0 h 4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76894" h="444884">
                <a:moveTo>
                  <a:pt x="3322894" y="336884"/>
                </a:moveTo>
                <a:cubicBezTo>
                  <a:pt x="3352717" y="336884"/>
                  <a:pt x="3376894" y="361061"/>
                  <a:pt x="3376894" y="390884"/>
                </a:cubicBezTo>
                <a:cubicBezTo>
                  <a:pt x="3376894" y="420707"/>
                  <a:pt x="3352717" y="444884"/>
                  <a:pt x="3322894" y="444884"/>
                </a:cubicBezTo>
                <a:cubicBezTo>
                  <a:pt x="3307983" y="444884"/>
                  <a:pt x="3294483" y="438840"/>
                  <a:pt x="3284711" y="429068"/>
                </a:cubicBezTo>
                <a:lnTo>
                  <a:pt x="3277511" y="411686"/>
                </a:lnTo>
                <a:lnTo>
                  <a:pt x="423171" y="411686"/>
                </a:lnTo>
                <a:lnTo>
                  <a:pt x="423171" y="382886"/>
                </a:lnTo>
                <a:lnTo>
                  <a:pt x="3272207" y="382886"/>
                </a:lnTo>
                <a:lnTo>
                  <a:pt x="3284711" y="352700"/>
                </a:lnTo>
                <a:cubicBezTo>
                  <a:pt x="3294483" y="342928"/>
                  <a:pt x="3307983" y="336884"/>
                  <a:pt x="3322894" y="336884"/>
                </a:cubicBezTo>
                <a:close/>
                <a:moveTo>
                  <a:pt x="220963" y="0"/>
                </a:moveTo>
                <a:cubicBezTo>
                  <a:pt x="342997" y="0"/>
                  <a:pt x="441926" y="98929"/>
                  <a:pt x="441926" y="220963"/>
                </a:cubicBezTo>
                <a:cubicBezTo>
                  <a:pt x="441926" y="342997"/>
                  <a:pt x="342997" y="441926"/>
                  <a:pt x="220963" y="441926"/>
                </a:cubicBezTo>
                <a:cubicBezTo>
                  <a:pt x="98929" y="441926"/>
                  <a:pt x="0" y="342997"/>
                  <a:pt x="0" y="220963"/>
                </a:cubicBezTo>
                <a:cubicBezTo>
                  <a:pt x="0" y="98929"/>
                  <a:pt x="98929" y="0"/>
                  <a:pt x="22096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72000" rtlCol="0" anchor="ctr">
            <a:normAutofit/>
          </a:bodyPr>
          <a:lstStyle/>
          <a:p>
            <a:pPr lvl="0" algn="ctr"/>
            <a:r>
              <a:rPr lang="zh-CN" altLang="en-US" sz="2000" smtClean="0">
                <a:solidFill>
                  <a:schemeClr val="tx1"/>
                </a:solidFill>
              </a:rPr>
              <a:t>典型</a:t>
            </a:r>
            <a:r>
              <a:rPr lang="en-US" altLang="zh-CN" sz="2000" smtClean="0">
                <a:solidFill>
                  <a:schemeClr val="tx1"/>
                </a:solidFill>
              </a:rPr>
              <a:t>QA</a:t>
            </a:r>
            <a:r>
              <a:rPr lang="zh-CN" altLang="en-US" sz="2000" smtClean="0">
                <a:solidFill>
                  <a:schemeClr val="tx1"/>
                </a:solidFill>
              </a:rPr>
              <a:t>的职责</a:t>
            </a:r>
            <a:endParaRPr lang="zh-CN" altLang="en-US" sz="2000" dirty="0">
              <a:solidFill>
                <a:schemeClr val="tx1"/>
              </a:solidFill>
            </a:endParaRPr>
          </a:p>
        </p:txBody>
      </p:sp>
      <p:sp>
        <p:nvSpPr>
          <p:cNvPr id="87" name="MH_Entry_6"/>
          <p:cNvSpPr/>
          <p:nvPr>
            <p:custDataLst>
              <p:tags r:id="rId6"/>
            </p:custDataLst>
          </p:nvPr>
        </p:nvSpPr>
        <p:spPr>
          <a:xfrm flipH="1">
            <a:off x="2575720" y="5212081"/>
            <a:ext cx="3799855" cy="500606"/>
          </a:xfrm>
          <a:custGeom>
            <a:avLst/>
            <a:gdLst>
              <a:gd name="connsiteX0" fmla="*/ 3322894 w 3376894"/>
              <a:gd name="connsiteY0" fmla="*/ 336884 h 444884"/>
              <a:gd name="connsiteX1" fmla="*/ 3376894 w 3376894"/>
              <a:gd name="connsiteY1" fmla="*/ 390884 h 444884"/>
              <a:gd name="connsiteX2" fmla="*/ 3322894 w 3376894"/>
              <a:gd name="connsiteY2" fmla="*/ 444884 h 444884"/>
              <a:gd name="connsiteX3" fmla="*/ 3284711 w 3376894"/>
              <a:gd name="connsiteY3" fmla="*/ 429068 h 444884"/>
              <a:gd name="connsiteX4" fmla="*/ 3277511 w 3376894"/>
              <a:gd name="connsiteY4" fmla="*/ 411686 h 444884"/>
              <a:gd name="connsiteX5" fmla="*/ 423171 w 3376894"/>
              <a:gd name="connsiteY5" fmla="*/ 411686 h 444884"/>
              <a:gd name="connsiteX6" fmla="*/ 423171 w 3376894"/>
              <a:gd name="connsiteY6" fmla="*/ 382886 h 444884"/>
              <a:gd name="connsiteX7" fmla="*/ 3272207 w 3376894"/>
              <a:gd name="connsiteY7" fmla="*/ 382886 h 444884"/>
              <a:gd name="connsiteX8" fmla="*/ 3284711 w 3376894"/>
              <a:gd name="connsiteY8" fmla="*/ 352700 h 444884"/>
              <a:gd name="connsiteX9" fmla="*/ 3322894 w 3376894"/>
              <a:gd name="connsiteY9" fmla="*/ 336884 h 444884"/>
              <a:gd name="connsiteX10" fmla="*/ 220963 w 3376894"/>
              <a:gd name="connsiteY10" fmla="*/ 0 h 444884"/>
              <a:gd name="connsiteX11" fmla="*/ 441926 w 3376894"/>
              <a:gd name="connsiteY11" fmla="*/ 220963 h 444884"/>
              <a:gd name="connsiteX12" fmla="*/ 220963 w 3376894"/>
              <a:gd name="connsiteY12" fmla="*/ 441926 h 444884"/>
              <a:gd name="connsiteX13" fmla="*/ 0 w 3376894"/>
              <a:gd name="connsiteY13" fmla="*/ 220963 h 444884"/>
              <a:gd name="connsiteX14" fmla="*/ 220963 w 3376894"/>
              <a:gd name="connsiteY14" fmla="*/ 0 h 4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76894" h="444884">
                <a:moveTo>
                  <a:pt x="3322894" y="336884"/>
                </a:moveTo>
                <a:cubicBezTo>
                  <a:pt x="3352717" y="336884"/>
                  <a:pt x="3376894" y="361061"/>
                  <a:pt x="3376894" y="390884"/>
                </a:cubicBezTo>
                <a:cubicBezTo>
                  <a:pt x="3376894" y="420707"/>
                  <a:pt x="3352717" y="444884"/>
                  <a:pt x="3322894" y="444884"/>
                </a:cubicBezTo>
                <a:cubicBezTo>
                  <a:pt x="3307983" y="444884"/>
                  <a:pt x="3294483" y="438840"/>
                  <a:pt x="3284711" y="429068"/>
                </a:cubicBezTo>
                <a:lnTo>
                  <a:pt x="3277511" y="411686"/>
                </a:lnTo>
                <a:lnTo>
                  <a:pt x="423171" y="411686"/>
                </a:lnTo>
                <a:lnTo>
                  <a:pt x="423171" y="382886"/>
                </a:lnTo>
                <a:lnTo>
                  <a:pt x="3272207" y="382886"/>
                </a:lnTo>
                <a:lnTo>
                  <a:pt x="3284711" y="352700"/>
                </a:lnTo>
                <a:cubicBezTo>
                  <a:pt x="3294483" y="342928"/>
                  <a:pt x="3307983" y="336884"/>
                  <a:pt x="3322894" y="336884"/>
                </a:cubicBezTo>
                <a:close/>
                <a:moveTo>
                  <a:pt x="220963" y="0"/>
                </a:moveTo>
                <a:cubicBezTo>
                  <a:pt x="342997" y="0"/>
                  <a:pt x="441926" y="98929"/>
                  <a:pt x="441926" y="220963"/>
                </a:cubicBezTo>
                <a:cubicBezTo>
                  <a:pt x="441926" y="342997"/>
                  <a:pt x="342997" y="441926"/>
                  <a:pt x="220963" y="441926"/>
                </a:cubicBezTo>
                <a:cubicBezTo>
                  <a:pt x="98929" y="441926"/>
                  <a:pt x="0" y="342997"/>
                  <a:pt x="0" y="220963"/>
                </a:cubicBezTo>
                <a:cubicBezTo>
                  <a:pt x="0" y="98929"/>
                  <a:pt x="98929" y="0"/>
                  <a:pt x="220963"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08000" bIns="72000" rtlCol="0" anchor="ctr">
            <a:normAutofit/>
          </a:bodyPr>
          <a:lstStyle/>
          <a:p>
            <a:pPr lvl="0" algn="ctr"/>
            <a:r>
              <a:rPr lang="zh-CN" altLang="en-US" sz="2000" smtClean="0">
                <a:solidFill>
                  <a:schemeClr val="tx1"/>
                </a:solidFill>
              </a:rPr>
              <a:t>如何实施质量控制</a:t>
            </a:r>
            <a:endParaRPr lang="zh-CN" altLang="en-US" sz="2000" dirty="0">
              <a:solidFill>
                <a:schemeClr val="tx1"/>
              </a:solidFill>
            </a:endParaRPr>
          </a:p>
        </p:txBody>
      </p:sp>
      <p:sp>
        <p:nvSpPr>
          <p:cNvPr id="106" name="MH_Number_1"/>
          <p:cNvSpPr txBox="1"/>
          <p:nvPr>
            <p:custDataLst>
              <p:tags r:id="rId7"/>
            </p:custDataLst>
          </p:nvPr>
        </p:nvSpPr>
        <p:spPr>
          <a:xfrm>
            <a:off x="5845736" y="1470050"/>
            <a:ext cx="517081" cy="455648"/>
          </a:xfrm>
          <a:prstGeom prst="rect">
            <a:avLst/>
          </a:prstGeom>
          <a:noFill/>
        </p:spPr>
        <p:txBody>
          <a:bodyPr wrap="square" lIns="0" tIns="0" rIns="0" bIns="0" rtlCol="0" anchor="ctr" anchorCtr="0">
            <a:normAutofit/>
          </a:bodyPr>
          <a:lstStyle/>
          <a:p>
            <a:pPr algn="ctr"/>
            <a:r>
              <a:rPr lang="en-US" altLang="zh-CN">
                <a:solidFill>
                  <a:srgbClr val="FFFFFF"/>
                </a:solidFill>
              </a:rPr>
              <a:t>01</a:t>
            </a:r>
            <a:endParaRPr lang="zh-CN" altLang="en-US">
              <a:solidFill>
                <a:srgbClr val="FFFFFF"/>
              </a:solidFill>
            </a:endParaRPr>
          </a:p>
        </p:txBody>
      </p:sp>
      <p:sp>
        <p:nvSpPr>
          <p:cNvPr id="107" name="MH_Number_2"/>
          <p:cNvSpPr txBox="1"/>
          <p:nvPr>
            <p:custDataLst>
              <p:tags r:id="rId8"/>
            </p:custDataLst>
          </p:nvPr>
        </p:nvSpPr>
        <p:spPr>
          <a:xfrm>
            <a:off x="5845736" y="2222509"/>
            <a:ext cx="517081" cy="455648"/>
          </a:xfrm>
          <a:prstGeom prst="rect">
            <a:avLst/>
          </a:prstGeom>
          <a:noFill/>
        </p:spPr>
        <p:txBody>
          <a:bodyPr wrap="square" lIns="0" tIns="0" rIns="0" bIns="0" rtlCol="0" anchor="ctr" anchorCtr="0">
            <a:normAutofit/>
          </a:bodyPr>
          <a:lstStyle/>
          <a:p>
            <a:pPr algn="ctr"/>
            <a:r>
              <a:rPr lang="en-US" altLang="zh-CN">
                <a:solidFill>
                  <a:srgbClr val="FFFFFF"/>
                </a:solidFill>
              </a:rPr>
              <a:t>02</a:t>
            </a:r>
            <a:endParaRPr lang="zh-CN" altLang="en-US">
              <a:solidFill>
                <a:srgbClr val="FFFFFF"/>
              </a:solidFill>
            </a:endParaRPr>
          </a:p>
        </p:txBody>
      </p:sp>
      <p:sp>
        <p:nvSpPr>
          <p:cNvPr id="108" name="MH_Number_3"/>
          <p:cNvSpPr txBox="1"/>
          <p:nvPr>
            <p:custDataLst>
              <p:tags r:id="rId9"/>
            </p:custDataLst>
          </p:nvPr>
        </p:nvSpPr>
        <p:spPr>
          <a:xfrm>
            <a:off x="5845736" y="2974968"/>
            <a:ext cx="517081" cy="455648"/>
          </a:xfrm>
          <a:prstGeom prst="rect">
            <a:avLst/>
          </a:prstGeom>
          <a:noFill/>
        </p:spPr>
        <p:txBody>
          <a:bodyPr wrap="square" lIns="0" tIns="0" rIns="0" bIns="0" rtlCol="0" anchor="ctr" anchorCtr="0">
            <a:normAutofit/>
          </a:bodyPr>
          <a:lstStyle/>
          <a:p>
            <a:pPr algn="ctr"/>
            <a:r>
              <a:rPr lang="en-US" altLang="zh-CN">
                <a:solidFill>
                  <a:srgbClr val="FFFFFF"/>
                </a:solidFill>
              </a:rPr>
              <a:t>03</a:t>
            </a:r>
            <a:endParaRPr lang="zh-CN" altLang="en-US">
              <a:solidFill>
                <a:srgbClr val="FFFFFF"/>
              </a:solidFill>
            </a:endParaRPr>
          </a:p>
        </p:txBody>
      </p:sp>
      <p:sp>
        <p:nvSpPr>
          <p:cNvPr id="109" name="MH_Number_4"/>
          <p:cNvSpPr txBox="1"/>
          <p:nvPr>
            <p:custDataLst>
              <p:tags r:id="rId10"/>
            </p:custDataLst>
          </p:nvPr>
        </p:nvSpPr>
        <p:spPr>
          <a:xfrm>
            <a:off x="5845736" y="3727427"/>
            <a:ext cx="517081" cy="455648"/>
          </a:xfrm>
          <a:prstGeom prst="rect">
            <a:avLst/>
          </a:prstGeom>
          <a:noFill/>
        </p:spPr>
        <p:txBody>
          <a:bodyPr wrap="square" lIns="0" tIns="0" rIns="0" bIns="0" rtlCol="0" anchor="ctr" anchorCtr="0">
            <a:normAutofit/>
          </a:bodyPr>
          <a:lstStyle/>
          <a:p>
            <a:pPr algn="ctr"/>
            <a:r>
              <a:rPr lang="en-US" altLang="zh-CN">
                <a:solidFill>
                  <a:srgbClr val="FFFFFF"/>
                </a:solidFill>
              </a:rPr>
              <a:t>04</a:t>
            </a:r>
            <a:endParaRPr lang="zh-CN" altLang="en-US">
              <a:solidFill>
                <a:srgbClr val="FFFFFF"/>
              </a:solidFill>
            </a:endParaRPr>
          </a:p>
        </p:txBody>
      </p:sp>
      <p:sp>
        <p:nvSpPr>
          <p:cNvPr id="110" name="MH_Number_5"/>
          <p:cNvSpPr txBox="1"/>
          <p:nvPr>
            <p:custDataLst>
              <p:tags r:id="rId11"/>
            </p:custDataLst>
          </p:nvPr>
        </p:nvSpPr>
        <p:spPr>
          <a:xfrm>
            <a:off x="5845736" y="4479886"/>
            <a:ext cx="517081" cy="455648"/>
          </a:xfrm>
          <a:prstGeom prst="rect">
            <a:avLst/>
          </a:prstGeom>
          <a:noFill/>
        </p:spPr>
        <p:txBody>
          <a:bodyPr wrap="square" lIns="0" tIns="0" rIns="0" bIns="0" rtlCol="0" anchor="ctr" anchorCtr="0">
            <a:normAutofit/>
          </a:bodyPr>
          <a:lstStyle/>
          <a:p>
            <a:pPr algn="ctr"/>
            <a:r>
              <a:rPr lang="en-US" altLang="zh-CN">
                <a:solidFill>
                  <a:srgbClr val="FFFFFF"/>
                </a:solidFill>
              </a:rPr>
              <a:t>05</a:t>
            </a:r>
            <a:endParaRPr lang="zh-CN" altLang="en-US">
              <a:solidFill>
                <a:srgbClr val="FFFFFF"/>
              </a:solidFill>
            </a:endParaRPr>
          </a:p>
        </p:txBody>
      </p:sp>
      <p:sp>
        <p:nvSpPr>
          <p:cNvPr id="111" name="MH_Number_6"/>
          <p:cNvSpPr txBox="1"/>
          <p:nvPr>
            <p:custDataLst>
              <p:tags r:id="rId12"/>
            </p:custDataLst>
          </p:nvPr>
        </p:nvSpPr>
        <p:spPr>
          <a:xfrm>
            <a:off x="5845736" y="5232346"/>
            <a:ext cx="517081" cy="455648"/>
          </a:xfrm>
          <a:prstGeom prst="rect">
            <a:avLst/>
          </a:prstGeom>
          <a:noFill/>
        </p:spPr>
        <p:txBody>
          <a:bodyPr wrap="square" lIns="0" tIns="0" rIns="0" bIns="0" rtlCol="0" anchor="ctr" anchorCtr="0">
            <a:normAutofit/>
          </a:bodyPr>
          <a:lstStyle/>
          <a:p>
            <a:pPr algn="ctr"/>
            <a:r>
              <a:rPr lang="en-US" altLang="zh-CN">
                <a:solidFill>
                  <a:srgbClr val="FFFFFF"/>
                </a:solidFill>
              </a:rPr>
              <a:t>06</a:t>
            </a:r>
            <a:endParaRPr lang="zh-CN" altLang="en-US">
              <a:solidFill>
                <a:srgbClr val="FFFFFF"/>
              </a:solidFill>
            </a:endParaRPr>
          </a:p>
        </p:txBody>
      </p:sp>
      <p:sp>
        <p:nvSpPr>
          <p:cNvPr id="21" name="MH_Others_1"/>
          <p:cNvSpPr/>
          <p:nvPr>
            <p:custDataLst>
              <p:tags r:id="rId13"/>
            </p:custDataLst>
          </p:nvPr>
        </p:nvSpPr>
        <p:spPr>
          <a:xfrm>
            <a:off x="122691" y="374886"/>
            <a:ext cx="579614" cy="1097117"/>
          </a:xfrm>
          <a:custGeom>
            <a:avLst/>
            <a:gdLst>
              <a:gd name="connsiteX0" fmla="*/ 1 w 776515"/>
              <a:gd name="connsiteY0" fmla="*/ 0 h 1553028"/>
              <a:gd name="connsiteX1" fmla="*/ 776515 w 776515"/>
              <a:gd name="connsiteY1" fmla="*/ 776514 h 1553028"/>
              <a:gd name="connsiteX2" fmla="*/ 1 w 776515"/>
              <a:gd name="connsiteY2" fmla="*/ 1553028 h 1553028"/>
              <a:gd name="connsiteX3" fmla="*/ 0 w 776515"/>
              <a:gd name="connsiteY3" fmla="*/ 1553028 h 1553028"/>
              <a:gd name="connsiteX4" fmla="*/ 0 w 776515"/>
              <a:gd name="connsiteY4" fmla="*/ 0 h 1553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6515" h="1553028">
                <a:moveTo>
                  <a:pt x="1" y="0"/>
                </a:moveTo>
                <a:cubicBezTo>
                  <a:pt x="428858" y="0"/>
                  <a:pt x="776515" y="347657"/>
                  <a:pt x="776515" y="776514"/>
                </a:cubicBezTo>
                <a:cubicBezTo>
                  <a:pt x="776515" y="1205371"/>
                  <a:pt x="428858" y="1553028"/>
                  <a:pt x="1" y="1553028"/>
                </a:cubicBezTo>
                <a:lnTo>
                  <a:pt x="0" y="155302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MH_Others_2"/>
          <p:cNvSpPr txBox="1"/>
          <p:nvPr>
            <p:custDataLst>
              <p:tags r:id="rId14"/>
            </p:custDataLst>
          </p:nvPr>
        </p:nvSpPr>
        <p:spPr>
          <a:xfrm>
            <a:off x="637435" y="374886"/>
            <a:ext cx="5418591" cy="1098805"/>
          </a:xfrm>
          <a:prstGeom prst="rect">
            <a:avLst/>
          </a:prstGeom>
          <a:noFill/>
        </p:spPr>
        <p:txBody>
          <a:bodyPr wrap="square" lIns="0" tIns="0" rIns="0" bIns="0" rtlCol="0" anchor="ctr" anchorCtr="0">
            <a:normAutofit/>
          </a:bodyPr>
          <a:lstStyle/>
          <a:p>
            <a:pPr algn="ctr"/>
            <a:r>
              <a:rPr lang="en-US" altLang="zh-CN" sz="4800" b="1" dirty="0" smtClean="0">
                <a:solidFill>
                  <a:schemeClr val="accent1"/>
                </a:solidFill>
                <a:latin typeface="微软雅黑" panose="020B0503020204020204" charset="-122"/>
                <a:ea typeface="微软雅黑" panose="020B0503020204020204" charset="-122"/>
              </a:rPr>
              <a:t>QA&amp;QC-4</a:t>
            </a:r>
            <a:r>
              <a:rPr lang="zh-CN" altLang="en-US" sz="4800" b="1" dirty="0" smtClean="0">
                <a:solidFill>
                  <a:schemeClr val="accent1"/>
                </a:solidFill>
                <a:latin typeface="微软雅黑" panose="020B0503020204020204" charset="-122"/>
                <a:ea typeface="微软雅黑" panose="020B0503020204020204" charset="-122"/>
              </a:rPr>
              <a:t>目</a:t>
            </a:r>
            <a:r>
              <a:rPr lang="zh-CN" altLang="en-US" sz="4800" b="1" dirty="0">
                <a:solidFill>
                  <a:schemeClr val="accent1"/>
                </a:solidFill>
                <a:latin typeface="微软雅黑" panose="020B0503020204020204" charset="-122"/>
                <a:ea typeface="微软雅黑" panose="020B0503020204020204" charset="-122"/>
              </a:rPr>
              <a:t>录</a:t>
            </a:r>
            <a:endParaRPr lang="en-US" altLang="zh-CN" sz="4800" b="1" dirty="0">
              <a:solidFill>
                <a:schemeClr val="accent1"/>
              </a:solidFill>
              <a:latin typeface="微软雅黑" panose="020B0503020204020204" charset="-122"/>
              <a:ea typeface="微软雅黑" panose="020B0503020204020204" charset="-122"/>
            </a:endParaRPr>
          </a:p>
          <a:p>
            <a:pPr algn="ctr"/>
            <a:r>
              <a:rPr lang="en-US" altLang="zh-CN" dirty="0">
                <a:solidFill>
                  <a:schemeClr val="accent1">
                    <a:lumMod val="40000"/>
                    <a:lumOff val="60000"/>
                  </a:schemeClr>
                </a:solidFill>
                <a:latin typeface="微软雅黑" panose="020B0503020204020204" charset="-122"/>
                <a:ea typeface="微软雅黑" panose="020B0503020204020204" charset="-122"/>
              </a:rPr>
              <a:t>CONTENTS</a:t>
            </a:r>
            <a:endParaRPr lang="zh-CN" altLang="en-US" sz="800" dirty="0">
              <a:solidFill>
                <a:schemeClr val="accent1">
                  <a:lumMod val="40000"/>
                  <a:lumOff val="60000"/>
                </a:schemeClr>
              </a:solidFill>
              <a:latin typeface="微软雅黑" panose="020B0503020204020204" charset="-122"/>
              <a:ea typeface="微软雅黑" panose="020B0503020204020204" charset="-122"/>
            </a:endParaRPr>
          </a:p>
        </p:txBody>
      </p:sp>
      <p:sp>
        <p:nvSpPr>
          <p:cNvPr id="23" name="MH_Others_3"/>
          <p:cNvSpPr/>
          <p:nvPr>
            <p:custDataLst>
              <p:tags r:id="rId15"/>
            </p:custDataLst>
          </p:nvPr>
        </p:nvSpPr>
        <p:spPr>
          <a:xfrm>
            <a:off x="-1" y="374886"/>
            <a:ext cx="85405" cy="1097117"/>
          </a:xfrm>
          <a:custGeom>
            <a:avLst/>
            <a:gdLst>
              <a:gd name="connsiteX0" fmla="*/ 0 w 63524"/>
              <a:gd name="connsiteY0" fmla="*/ 0 h 816033"/>
              <a:gd name="connsiteX1" fmla="*/ 1 w 63524"/>
              <a:gd name="connsiteY1" fmla="*/ 0 h 816033"/>
              <a:gd name="connsiteX2" fmla="*/ 63524 w 63524"/>
              <a:gd name="connsiteY2" fmla="*/ 6061 h 816033"/>
              <a:gd name="connsiteX3" fmla="*/ 63524 w 63524"/>
              <a:gd name="connsiteY3" fmla="*/ 809972 h 816033"/>
              <a:gd name="connsiteX4" fmla="*/ 1 w 63524"/>
              <a:gd name="connsiteY4" fmla="*/ 816033 h 816033"/>
              <a:gd name="connsiteX5" fmla="*/ 0 w 63524"/>
              <a:gd name="connsiteY5" fmla="*/ 816033 h 81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24" h="816033">
                <a:moveTo>
                  <a:pt x="0" y="0"/>
                </a:moveTo>
                <a:lnTo>
                  <a:pt x="1" y="0"/>
                </a:lnTo>
                <a:lnTo>
                  <a:pt x="63524" y="6061"/>
                </a:lnTo>
                <a:lnTo>
                  <a:pt x="63524" y="809972"/>
                </a:lnTo>
                <a:lnTo>
                  <a:pt x="1" y="816033"/>
                </a:lnTo>
                <a:lnTo>
                  <a:pt x="0" y="8160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Tree>
    <p:custDataLst>
      <p:tags r:id="rId16"/>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smtClean="0"/>
              <a:t>软件质量</a:t>
            </a:r>
            <a:r>
              <a:rPr lang="zh-CN" altLang="en-US" dirty="0"/>
              <a:t>保障（</a:t>
            </a:r>
            <a:r>
              <a:rPr lang="en-US" altLang="zh-CN" dirty="0"/>
              <a:t>SQA</a:t>
            </a:r>
            <a:r>
              <a:rPr lang="zh-CN" altLang="en-US" dirty="0"/>
              <a:t>）：建立一套有计划，有系统的方法，来向管理层保证拟定出的标准、步骤、实践和方法能够正确地被所有项目所采用。</a:t>
            </a:r>
            <a:r>
              <a:rPr lang="en-US" altLang="zh-CN" dirty="0"/>
              <a:t>	</a:t>
            </a:r>
            <a:endParaRPr lang="en-US" altLang="zh-CN" dirty="0"/>
          </a:p>
          <a:p>
            <a:pPr marL="88900" indent="0">
              <a:buNone/>
            </a:pPr>
            <a:r>
              <a:rPr lang="en-US" altLang="zh-CN" dirty="0" smtClean="0"/>
              <a:t>	</a:t>
            </a:r>
            <a:r>
              <a:rPr lang="zh-CN" altLang="en-US" dirty="0" smtClean="0"/>
              <a:t>关键词</a:t>
            </a:r>
            <a:r>
              <a:rPr lang="zh-CN" altLang="en-US" dirty="0"/>
              <a:t>：</a:t>
            </a:r>
            <a:r>
              <a:rPr lang="en-US" altLang="zh-CN" dirty="0"/>
              <a:t>assure</a:t>
            </a:r>
            <a:endParaRPr lang="en-US" altLang="zh-CN" dirty="0"/>
          </a:p>
          <a:p>
            <a:r>
              <a:rPr lang="zh-CN" altLang="en-US" dirty="0" smtClean="0"/>
              <a:t>软件质量</a:t>
            </a:r>
            <a:r>
              <a:rPr lang="zh-CN" altLang="en-US" dirty="0"/>
              <a:t>控制（</a:t>
            </a:r>
            <a:r>
              <a:rPr lang="en-US" altLang="zh-CN" dirty="0"/>
              <a:t>SQC</a:t>
            </a:r>
            <a:r>
              <a:rPr lang="zh-CN" altLang="en-US" dirty="0"/>
              <a:t>）：一系列验证活动，在软件开发过程中的任何一点进行评估开发的产品是否在技术上符合该阶段的规约。</a:t>
            </a:r>
            <a:endParaRPr lang="en-US" altLang="zh-CN" dirty="0"/>
          </a:p>
          <a:p>
            <a:pPr marL="88900" indent="0">
              <a:buNone/>
            </a:pPr>
            <a:r>
              <a:rPr lang="en-US" altLang="zh-CN" dirty="0"/>
              <a:t>	</a:t>
            </a:r>
            <a:r>
              <a:rPr lang="zh-CN" altLang="en-US" dirty="0"/>
              <a:t>关键词：</a:t>
            </a:r>
            <a:r>
              <a:rPr lang="en-US" altLang="zh-CN" dirty="0"/>
              <a:t>check</a:t>
            </a:r>
            <a:endParaRPr lang="en-US" altLang="zh-CN" dirty="0"/>
          </a:p>
          <a:p>
            <a:endParaRPr lang="zh-CN" altLang="en-US" sz="2400" dirty="0"/>
          </a:p>
        </p:txBody>
      </p:sp>
      <p:sp>
        <p:nvSpPr>
          <p:cNvPr id="2" name="标题 1"/>
          <p:cNvSpPr>
            <a:spLocks noGrp="1"/>
          </p:cNvSpPr>
          <p:nvPr>
            <p:ph type="title"/>
          </p:nvPr>
        </p:nvSpPr>
        <p:spPr/>
        <p:txBody>
          <a:bodyPr/>
          <a:lstStyle/>
          <a:p>
            <a:r>
              <a:rPr lang="zh-CN" altLang="en-US" dirty="0" smtClean="0"/>
              <a:t>定义</a:t>
            </a:r>
            <a:endParaRPr lang="zh-CN"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质量计划是质量控制和质量保证的共同依据。</a:t>
            </a:r>
            <a:endParaRPr lang="zh-CN" altLang="en-US" dirty="0"/>
          </a:p>
          <a:p>
            <a:r>
              <a:rPr lang="zh-CN" altLang="en-US" dirty="0" smtClean="0"/>
              <a:t>达到</a:t>
            </a:r>
            <a:r>
              <a:rPr lang="zh-CN" altLang="en-US" dirty="0"/>
              <a:t>质量要求是质量控制和质量保证的共同目的。</a:t>
            </a:r>
            <a:endParaRPr lang="zh-CN" altLang="en-US" dirty="0"/>
          </a:p>
          <a:p>
            <a:r>
              <a:rPr lang="zh-CN" altLang="en-US" dirty="0" smtClean="0"/>
              <a:t>质量保证</a:t>
            </a:r>
            <a:r>
              <a:rPr lang="zh-CN" altLang="en-US" dirty="0"/>
              <a:t>的输出是下一阶段质量控制的输入</a:t>
            </a:r>
            <a:endParaRPr lang="zh-CN" altLang="en-US" dirty="0"/>
          </a:p>
          <a:p>
            <a:r>
              <a:rPr lang="zh-CN" altLang="en-US" dirty="0" smtClean="0"/>
              <a:t>一定</a:t>
            </a:r>
            <a:r>
              <a:rPr lang="zh-CN" altLang="en-US" dirty="0"/>
              <a:t>时间内质量控制的结果也是质量保证的质量审计对象，质量保证的成果又可以指导下一阶段的质量工作，包括质量控制和质量</a:t>
            </a:r>
            <a:r>
              <a:rPr lang="zh-CN" altLang="en-US" dirty="0" smtClean="0"/>
              <a:t>改进</a:t>
            </a:r>
            <a:endParaRPr lang="zh-CN" altLang="en-US" dirty="0"/>
          </a:p>
        </p:txBody>
      </p:sp>
      <p:sp>
        <p:nvSpPr>
          <p:cNvPr id="3" name="标题 2"/>
          <p:cNvSpPr>
            <a:spLocks noGrp="1"/>
          </p:cNvSpPr>
          <p:nvPr>
            <p:ph type="title"/>
          </p:nvPr>
        </p:nvSpPr>
        <p:spPr/>
        <p:txBody>
          <a:bodyPr/>
          <a:lstStyle/>
          <a:p>
            <a:r>
              <a:rPr lang="zh-CN" altLang="en-US" dirty="0" smtClean="0"/>
              <a:t>联系</a:t>
            </a:r>
            <a:endParaRPr lang="zh-CN" alt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质量保证一般是每隔一定时间进行（如阶段末期），主要通过系统的质量审计来保证项目的质量（或质量保证是按质量管理计划正确的去做）</a:t>
            </a:r>
            <a:endParaRPr lang="zh-CN" altLang="en-US" dirty="0"/>
          </a:p>
          <a:p>
            <a:r>
              <a:rPr lang="zh-CN" altLang="en-US" dirty="0"/>
              <a:t>质量控制是实时监控项目的具体结果，以判断他们是否符合项目的相关标准，制定有效方案，以消除产生质量问题的原因（或质量控制检查是否做的正确并进行纠正）</a:t>
            </a:r>
            <a:endParaRPr lang="zh-CN" altLang="en-US" dirty="0"/>
          </a:p>
          <a:p>
            <a:pPr marL="88900" indent="0">
              <a:buNone/>
            </a:pPr>
            <a:endParaRPr lang="zh-CN" altLang="en-US" dirty="0"/>
          </a:p>
        </p:txBody>
      </p:sp>
      <p:sp>
        <p:nvSpPr>
          <p:cNvPr id="3" name="标题 2"/>
          <p:cNvSpPr>
            <a:spLocks noGrp="1"/>
          </p:cNvSpPr>
          <p:nvPr>
            <p:ph type="title"/>
          </p:nvPr>
        </p:nvSpPr>
        <p:spPr/>
        <p:txBody>
          <a:bodyPr/>
          <a:lstStyle/>
          <a:p>
            <a:r>
              <a:rPr lang="zh-CN" altLang="en-US" dirty="0" smtClean="0"/>
              <a:t>区别</a:t>
            </a:r>
            <a:endParaRPr lang="zh-CN" alt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atinLnBrk="1"/>
            <a:r>
              <a:rPr lang="en-US" altLang="zh-CN" dirty="0"/>
              <a:t>QA</a:t>
            </a:r>
            <a:r>
              <a:rPr lang="zh-CN" altLang="zh-CN" dirty="0"/>
              <a:t>：监控公司质量保证体系的运行状况，审计项目的实际执行情况和公司规范之间的差异，并出具改进建议和统计分析报告，对公司的质量保证体系的质量负责。</a:t>
            </a:r>
            <a:endParaRPr lang="zh-CN" altLang="zh-CN" dirty="0"/>
          </a:p>
          <a:p>
            <a:pPr latinLnBrk="1"/>
            <a:r>
              <a:rPr lang="en-US" altLang="zh-CN" dirty="0"/>
              <a:t>SQA</a:t>
            </a:r>
            <a:r>
              <a:rPr lang="zh-CN" altLang="zh-CN" dirty="0"/>
              <a:t>：只负责软件开发过程的质量</a:t>
            </a:r>
            <a:r>
              <a:rPr lang="zh-CN" altLang="zh-CN" dirty="0" smtClean="0"/>
              <a:t>。</a:t>
            </a:r>
            <a:endParaRPr lang="en-US" altLang="zh-CN" dirty="0" smtClean="0"/>
          </a:p>
          <a:p>
            <a:pPr latinLnBrk="1"/>
            <a:r>
              <a:rPr lang="en-US" altLang="zh-CN" dirty="0"/>
              <a:t>QC</a:t>
            </a:r>
            <a:r>
              <a:rPr lang="zh-CN" altLang="zh-CN" dirty="0"/>
              <a:t>：对每一个阶段或者关键点的产出物（工件）进行检测，评估产出物是否符合预计的质量要求，对产出物的质量负责。</a:t>
            </a:r>
            <a:endParaRPr lang="zh-CN" altLang="zh-CN" dirty="0"/>
          </a:p>
          <a:p>
            <a:pPr latinLnBrk="1"/>
            <a:r>
              <a:rPr lang="en-US" altLang="zh-CN" dirty="0"/>
              <a:t>SQC</a:t>
            </a:r>
            <a:r>
              <a:rPr lang="zh-CN" altLang="zh-CN" dirty="0"/>
              <a:t>：只负责软件开发过程中各个阶段产出的工件的质量，产出的工件可能是相关的文档或者代码等。</a:t>
            </a:r>
            <a:endParaRPr lang="zh-CN" altLang="zh-CN" dirty="0"/>
          </a:p>
          <a:p>
            <a:pPr marL="88900" indent="0" latinLnBrk="1">
              <a:buNone/>
            </a:pPr>
            <a:endParaRPr lang="zh-CN" altLang="zh-CN" dirty="0"/>
          </a:p>
          <a:p>
            <a:endParaRPr lang="zh-CN" altLang="en-US" dirty="0"/>
          </a:p>
        </p:txBody>
      </p:sp>
      <p:sp>
        <p:nvSpPr>
          <p:cNvPr id="3" name="标题 2"/>
          <p:cNvSpPr>
            <a:spLocks noGrp="1"/>
          </p:cNvSpPr>
          <p:nvPr>
            <p:ph type="title"/>
          </p:nvPr>
        </p:nvSpPr>
        <p:spPr/>
        <p:txBody>
          <a:bodyPr/>
          <a:lstStyle/>
          <a:p>
            <a:r>
              <a:rPr lang="zh-CN" altLang="en-US" dirty="0" smtClean="0"/>
              <a:t>职责划分</a:t>
            </a:r>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软件生产</a:t>
            </a:r>
            <a:r>
              <a:rPr lang="en-US" altLang="zh-CN" dirty="0" smtClean="0"/>
              <a:t>——</a:t>
            </a:r>
            <a:r>
              <a:rPr lang="zh-CN" altLang="en-US" dirty="0" smtClean="0"/>
              <a:t>产品加工生产线</a:t>
            </a:r>
            <a:endParaRPr lang="en-US" altLang="zh-CN" dirty="0" smtClean="0"/>
          </a:p>
          <a:p>
            <a:r>
              <a:rPr lang="en-US" altLang="zh-CN" dirty="0" smtClean="0"/>
              <a:t>QA——</a:t>
            </a:r>
            <a:r>
              <a:rPr lang="zh-CN" altLang="en-US" dirty="0" smtClean="0"/>
              <a:t>只</a:t>
            </a:r>
            <a:r>
              <a:rPr lang="zh-CN" altLang="en-US" dirty="0"/>
              <a:t>负责生产线本身的质量保证，而不管生产线中单个产品的实际质量情况</a:t>
            </a:r>
            <a:r>
              <a:rPr lang="zh-CN" altLang="en-US" dirty="0" smtClean="0"/>
              <a:t>。</a:t>
            </a:r>
            <a:endParaRPr lang="en-US" altLang="zh-CN" dirty="0" smtClean="0"/>
          </a:p>
          <a:p>
            <a:pPr marL="88900" indent="0">
              <a:buNone/>
            </a:pPr>
            <a:r>
              <a:rPr lang="en-US" altLang="zh-CN" dirty="0" smtClean="0"/>
              <a:t>	</a:t>
            </a:r>
            <a:r>
              <a:rPr lang="zh-CN" altLang="zh-CN" dirty="0" smtClean="0"/>
              <a:t>通过</a:t>
            </a:r>
            <a:r>
              <a:rPr lang="zh-CN" altLang="zh-CN" dirty="0"/>
              <a:t>保证生产线的质量来间接保证软件产品的质量</a:t>
            </a:r>
            <a:r>
              <a:rPr lang="zh-CN" altLang="zh-CN" dirty="0" smtClean="0"/>
              <a:t>。</a:t>
            </a:r>
            <a:endParaRPr lang="en-US" altLang="zh-CN" dirty="0"/>
          </a:p>
          <a:p>
            <a:r>
              <a:rPr lang="en-US" altLang="zh-CN" dirty="0" smtClean="0"/>
              <a:t>QC——</a:t>
            </a:r>
            <a:r>
              <a:rPr lang="zh-CN" altLang="en-US" dirty="0"/>
              <a:t>不管生产线本身的质量，而只关注生产线中生产的产品在每一个阶段的质量是否符合预期的</a:t>
            </a:r>
            <a:r>
              <a:rPr lang="zh-CN" altLang="en-US" dirty="0" smtClean="0"/>
              <a:t>要求。</a:t>
            </a:r>
            <a:endParaRPr lang="en-US" altLang="zh-CN" dirty="0" smtClean="0"/>
          </a:p>
        </p:txBody>
      </p:sp>
      <p:sp>
        <p:nvSpPr>
          <p:cNvPr id="3" name="标题 2"/>
          <p:cNvSpPr>
            <a:spLocks noGrp="1"/>
          </p:cNvSpPr>
          <p:nvPr>
            <p:ph type="title"/>
          </p:nvPr>
        </p:nvSpPr>
        <p:spPr/>
        <p:txBody>
          <a:bodyPr/>
          <a:lstStyle/>
          <a:p>
            <a:r>
              <a:rPr lang="zh-CN" altLang="en-US" dirty="0" smtClean="0"/>
              <a:t>打个比方</a:t>
            </a: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1" dirty="0" smtClean="0"/>
              <a:t>导师的角色</a:t>
            </a:r>
            <a:r>
              <a:rPr lang="zh-CN" altLang="zh-CN" dirty="0"/>
              <a:t>－在项目前期，</a:t>
            </a:r>
            <a:r>
              <a:rPr lang="en-US" altLang="zh-CN" dirty="0"/>
              <a:t>QA</a:t>
            </a:r>
            <a:r>
              <a:rPr lang="zh-CN" altLang="zh-CN" dirty="0"/>
              <a:t>辅导项目经理制定项目计划，根据质量标准过程裁剪得到项目过程，帮助项目进行估算，设定质量目标，对项目成员进行过程和规范的培训以及在过程中进行指导；</a:t>
            </a:r>
            <a:endParaRPr lang="en-US" altLang="zh-CN" dirty="0" smtClean="0"/>
          </a:p>
          <a:p>
            <a:r>
              <a:rPr lang="zh-CN" altLang="en-US" b="1" dirty="0" smtClean="0"/>
              <a:t>警察的角色</a:t>
            </a:r>
            <a:r>
              <a:rPr lang="zh-CN" altLang="zh-CN" dirty="0"/>
              <a:t>－在项目过程中，</a:t>
            </a:r>
            <a:r>
              <a:rPr lang="en-US" altLang="zh-CN" dirty="0"/>
              <a:t>QA</a:t>
            </a:r>
            <a:r>
              <a:rPr lang="zh-CN" altLang="zh-CN" dirty="0"/>
              <a:t>有选择地参加项目的技术评审，定期对项目的工作产品和过程进行评审和审计；</a:t>
            </a:r>
            <a:endParaRPr lang="en-US" altLang="zh-CN" dirty="0" smtClean="0"/>
          </a:p>
          <a:p>
            <a:r>
              <a:rPr lang="zh-CN" altLang="en-US" b="1" dirty="0" smtClean="0"/>
              <a:t>医生的角色</a:t>
            </a:r>
            <a:r>
              <a:rPr lang="zh-CN" altLang="zh-CN" dirty="0"/>
              <a:t>－在项目过程中，</a:t>
            </a:r>
            <a:r>
              <a:rPr lang="en-US" altLang="zh-CN" dirty="0"/>
              <a:t>QA</a:t>
            </a:r>
            <a:r>
              <a:rPr lang="zh-CN" altLang="zh-CN" dirty="0"/>
              <a:t>可以承担收集、统计、分析度量数据的工作，用于支持管理决策；</a:t>
            </a:r>
            <a:endParaRPr lang="zh-CN" altLang="zh-CN" dirty="0"/>
          </a:p>
          <a:p>
            <a:pPr marL="88900" indent="0">
              <a:buNone/>
            </a:pPr>
            <a:endParaRPr lang="zh-CN" altLang="en-US" dirty="0"/>
          </a:p>
        </p:txBody>
      </p:sp>
      <p:sp>
        <p:nvSpPr>
          <p:cNvPr id="3" name="标题 2"/>
          <p:cNvSpPr>
            <a:spLocks noGrp="1"/>
          </p:cNvSpPr>
          <p:nvPr>
            <p:ph type="title"/>
          </p:nvPr>
        </p:nvSpPr>
        <p:spPr/>
        <p:txBody>
          <a:bodyPr/>
          <a:lstStyle/>
          <a:p>
            <a:r>
              <a:rPr lang="zh-CN" altLang="en-US" dirty="0" smtClean="0"/>
              <a:t>典型</a:t>
            </a:r>
            <a:r>
              <a:rPr lang="en-US" altLang="zh-CN" dirty="0" smtClean="0"/>
              <a:t>QA</a:t>
            </a:r>
            <a:r>
              <a:rPr lang="zh-CN" altLang="en-US" dirty="0" smtClean="0"/>
              <a:t>的职责</a:t>
            </a:r>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文档评审</a:t>
            </a:r>
            <a:endParaRPr lang="en-US" altLang="zh-CN" dirty="0" smtClean="0"/>
          </a:p>
          <a:p>
            <a:r>
              <a:rPr lang="zh-CN" altLang="en-US" dirty="0" smtClean="0"/>
              <a:t>技术实现评审</a:t>
            </a:r>
            <a:endParaRPr lang="en-US" altLang="zh-CN" dirty="0" smtClean="0"/>
          </a:p>
          <a:p>
            <a:r>
              <a:rPr lang="zh-CN" altLang="en-US" dirty="0" smtClean="0"/>
              <a:t>代码走查</a:t>
            </a:r>
            <a:endParaRPr lang="en-US" altLang="zh-CN" dirty="0" smtClean="0"/>
          </a:p>
          <a:p>
            <a:r>
              <a:rPr lang="zh-CN" altLang="en-US" dirty="0" smtClean="0"/>
              <a:t>测试检查</a:t>
            </a:r>
            <a:endParaRPr lang="zh-CN" altLang="en-US" dirty="0"/>
          </a:p>
        </p:txBody>
      </p:sp>
      <p:sp>
        <p:nvSpPr>
          <p:cNvPr id="3" name="标题 2"/>
          <p:cNvSpPr>
            <a:spLocks noGrp="1"/>
          </p:cNvSpPr>
          <p:nvPr>
            <p:ph type="title"/>
          </p:nvPr>
        </p:nvSpPr>
        <p:spPr/>
        <p:txBody>
          <a:bodyPr/>
          <a:lstStyle/>
          <a:p>
            <a:r>
              <a:rPr lang="zh-CN" altLang="en-US" dirty="0" smtClean="0"/>
              <a:t>如何实施质量控制</a:t>
            </a:r>
            <a:endParaRPr lang="zh-CN"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4872" y="1825625"/>
            <a:ext cx="11158928" cy="4351338"/>
          </a:xfrm>
        </p:spPr>
        <p:txBody>
          <a:bodyPr/>
          <a:lstStyle/>
          <a:p>
            <a:r>
              <a:rPr lang="zh-CN" altLang="en-US" dirty="0"/>
              <a:t>目的：在交付给下游开发或测试时及早发现问题，修正错误，以免问题和错误在系统中的蔓延</a:t>
            </a:r>
            <a:r>
              <a:rPr lang="zh-CN" altLang="en-US" dirty="0" smtClean="0"/>
              <a:t>。</a:t>
            </a:r>
            <a:endParaRPr lang="en-US" altLang="zh-CN" dirty="0" smtClean="0"/>
          </a:p>
          <a:p>
            <a:r>
              <a:rPr lang="zh-CN" altLang="en-US" dirty="0" smtClean="0"/>
              <a:t>方式：同行评审会议，由项目经理组织</a:t>
            </a:r>
            <a:endParaRPr lang="en-US" altLang="zh-CN" dirty="0" smtClean="0"/>
          </a:p>
          <a:p>
            <a:r>
              <a:rPr lang="zh-CN" altLang="en-US" dirty="0" smtClean="0"/>
              <a:t>参加人员：</a:t>
            </a:r>
            <a:endParaRPr lang="en-US" altLang="zh-CN" dirty="0" smtClean="0"/>
          </a:p>
          <a:p>
            <a:pPr marL="88900" indent="0">
              <a:buNone/>
            </a:pPr>
            <a:r>
              <a:rPr lang="en-US" altLang="zh-CN" dirty="0"/>
              <a:t>	</a:t>
            </a:r>
            <a:r>
              <a:rPr lang="zh-CN" altLang="en-US" dirty="0"/>
              <a:t>开发文档：其他子系统的系统分析员、质量控制部</a:t>
            </a:r>
            <a:r>
              <a:rPr lang="zh-CN" altLang="en-US" dirty="0" smtClean="0"/>
              <a:t>相关人员等</a:t>
            </a:r>
            <a:endParaRPr lang="en-US" altLang="zh-CN" dirty="0" smtClean="0"/>
          </a:p>
          <a:p>
            <a:pPr marL="88900" indent="0">
              <a:buNone/>
            </a:pPr>
            <a:r>
              <a:rPr lang="en-US" altLang="zh-CN" dirty="0"/>
              <a:t>	</a:t>
            </a:r>
            <a:r>
              <a:rPr lang="zh-CN" altLang="en-US" dirty="0"/>
              <a:t>测试文档：项目经理、测试经理、系统分析员和其他测试人员</a:t>
            </a:r>
            <a:endParaRPr lang="zh-CN" altLang="en-US" dirty="0"/>
          </a:p>
        </p:txBody>
      </p:sp>
      <p:sp>
        <p:nvSpPr>
          <p:cNvPr id="3" name="标题 2"/>
          <p:cNvSpPr>
            <a:spLocks noGrp="1"/>
          </p:cNvSpPr>
          <p:nvPr>
            <p:ph type="title"/>
          </p:nvPr>
        </p:nvSpPr>
        <p:spPr/>
        <p:txBody>
          <a:bodyPr/>
          <a:lstStyle/>
          <a:p>
            <a:r>
              <a:rPr lang="zh-CN" altLang="en-US" dirty="0" smtClean="0"/>
              <a:t>文档评审</a:t>
            </a:r>
            <a:endParaRPr lang="zh-CN" alt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从以下几个方面考察文档质量：</a:t>
            </a:r>
            <a:endParaRPr lang="en-US" altLang="zh-CN" dirty="0" smtClean="0"/>
          </a:p>
          <a:p>
            <a:r>
              <a:rPr lang="zh-CN" altLang="en-US" dirty="0"/>
              <a:t>可读性。主要从文档是否符合公司模板规范、逻辑结构层次是否清晰明确、文字表达是否无歧义等方面判断</a:t>
            </a:r>
            <a:r>
              <a:rPr lang="en-US" altLang="zh-CN" dirty="0"/>
              <a:t>;</a:t>
            </a:r>
            <a:endParaRPr lang="en-US" altLang="zh-CN" dirty="0"/>
          </a:p>
          <a:p>
            <a:r>
              <a:rPr lang="zh-CN" altLang="en-US" dirty="0" smtClean="0"/>
              <a:t>完整性</a:t>
            </a:r>
            <a:r>
              <a:rPr lang="zh-CN" altLang="en-US" dirty="0"/>
              <a:t>。主要从文档是否完全满足要求，是否已覆盖所有的功能点等方面判断</a:t>
            </a:r>
            <a:r>
              <a:rPr lang="en-US" altLang="zh-CN" dirty="0"/>
              <a:t>; </a:t>
            </a:r>
            <a:endParaRPr lang="en-US" altLang="zh-CN" dirty="0"/>
          </a:p>
          <a:p>
            <a:r>
              <a:rPr lang="zh-CN" altLang="en-US" dirty="0" smtClean="0"/>
              <a:t>一致性</a:t>
            </a:r>
            <a:r>
              <a:rPr lang="zh-CN" altLang="en-US" dirty="0"/>
              <a:t>。主要判断文档表述是否前后不一、是否有矛盾等</a:t>
            </a:r>
            <a:r>
              <a:rPr lang="en-US" altLang="zh-CN" dirty="0"/>
              <a:t>; </a:t>
            </a:r>
            <a:endParaRPr lang="en-US" altLang="zh-CN" dirty="0"/>
          </a:p>
          <a:p>
            <a:r>
              <a:rPr lang="zh-CN" altLang="en-US" dirty="0" smtClean="0"/>
              <a:t>技术可行性</a:t>
            </a:r>
            <a:r>
              <a:rPr lang="zh-CN" altLang="en-US" dirty="0"/>
              <a:t>。主要判断目前的技术框架是否支持，是否有类似的经验，是否有技术风险等</a:t>
            </a:r>
            <a:r>
              <a:rPr lang="zh-CN" altLang="en-US" dirty="0" smtClean="0"/>
              <a:t>。</a:t>
            </a:r>
            <a:endParaRPr lang="zh-CN" altLang="en-US" dirty="0"/>
          </a:p>
        </p:txBody>
      </p:sp>
      <p:sp>
        <p:nvSpPr>
          <p:cNvPr id="3" name="标题 2"/>
          <p:cNvSpPr>
            <a:spLocks noGrp="1"/>
          </p:cNvSpPr>
          <p:nvPr>
            <p:ph type="title"/>
          </p:nvPr>
        </p:nvSpPr>
        <p:spPr/>
        <p:txBody>
          <a:bodyPr/>
          <a:lstStyle/>
          <a:p>
            <a:r>
              <a:rPr lang="zh-CN" altLang="en-US" dirty="0" smtClean="0"/>
              <a:t>文档评审</a:t>
            </a:r>
            <a:endParaRPr lang="zh-CN" alt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项目技术框架评审、具体某个模块的技术实现方法</a:t>
            </a:r>
            <a:r>
              <a:rPr lang="zh-CN" altLang="zh-CN" dirty="0" smtClean="0"/>
              <a:t>评审</a:t>
            </a:r>
            <a:endParaRPr lang="en-US" altLang="zh-CN" dirty="0" smtClean="0"/>
          </a:p>
          <a:p>
            <a:r>
              <a:rPr lang="zh-CN" altLang="en-US" dirty="0"/>
              <a:t>技术框架的评审</a:t>
            </a:r>
            <a:r>
              <a:rPr lang="zh-CN" altLang="en-US" dirty="0" smtClean="0"/>
              <a:t>目的：为了</a:t>
            </a:r>
            <a:r>
              <a:rPr lang="zh-CN" altLang="en-US" dirty="0"/>
              <a:t>在进入大规模编码开发前确认选择何种技术框架、判断现有的技术框架是否满足项目功能和性能需求、框架是否足够稳定以及可能存在的风险等</a:t>
            </a:r>
            <a:r>
              <a:rPr lang="en-US" altLang="zh-CN" dirty="0" smtClean="0"/>
              <a:t>;</a:t>
            </a:r>
            <a:endParaRPr lang="en-US" altLang="zh-CN" dirty="0" smtClean="0"/>
          </a:p>
          <a:p>
            <a:r>
              <a:rPr lang="zh-CN" altLang="en-US" dirty="0"/>
              <a:t>具体某个模块的技术实现方式评审</a:t>
            </a:r>
            <a:r>
              <a:rPr lang="zh-CN" altLang="en-US" dirty="0" smtClean="0"/>
              <a:t>目的：为了</a:t>
            </a:r>
            <a:r>
              <a:rPr lang="zh-CN" altLang="en-US" dirty="0"/>
              <a:t>保证选择的实现方式目前来说是最优的、可以推广到其他模块使用</a:t>
            </a:r>
            <a:r>
              <a:rPr lang="zh-CN" altLang="en-US" dirty="0" smtClean="0"/>
              <a:t>的。</a:t>
            </a:r>
            <a:endParaRPr lang="en-US" altLang="zh-CN" dirty="0"/>
          </a:p>
          <a:p>
            <a:r>
              <a:rPr lang="zh-CN" altLang="en-US" dirty="0" smtClean="0"/>
              <a:t>方式：评审会议</a:t>
            </a:r>
            <a:endParaRPr lang="en-US" altLang="zh-CN" dirty="0" smtClean="0"/>
          </a:p>
          <a:p>
            <a:r>
              <a:rPr lang="zh-CN" altLang="en-US" dirty="0" smtClean="0"/>
              <a:t>参与</a:t>
            </a:r>
            <a:r>
              <a:rPr lang="zh-CN" altLang="en-US" dirty="0"/>
              <a:t>人员：项目经理、系统分析员、开发人员、公司内部相关技术的专家、有同类项目经验的实施人员、质量控制人员等。</a:t>
            </a:r>
            <a:endParaRPr lang="en-US" altLang="zh-CN" dirty="0" smtClean="0"/>
          </a:p>
          <a:p>
            <a:endParaRPr lang="zh-CN" altLang="en-US" dirty="0"/>
          </a:p>
        </p:txBody>
      </p:sp>
      <p:sp>
        <p:nvSpPr>
          <p:cNvPr id="3" name="标题 2"/>
          <p:cNvSpPr>
            <a:spLocks noGrp="1"/>
          </p:cNvSpPr>
          <p:nvPr>
            <p:ph type="title"/>
          </p:nvPr>
        </p:nvSpPr>
        <p:spPr/>
        <p:txBody>
          <a:bodyPr/>
          <a:lstStyle/>
          <a:p>
            <a:r>
              <a:rPr lang="zh-CN" altLang="en-US" dirty="0" smtClean="0"/>
              <a:t>技术实现评审</a:t>
            </a:r>
            <a:endParaRPr lang="zh-CN"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主要是对软件代码进行复审，主要以高级程序员复审代码或同级别的程序员交叉检查的形式进行</a:t>
            </a:r>
            <a:r>
              <a:rPr lang="zh-CN" altLang="zh-CN" dirty="0" smtClean="0"/>
              <a:t>。</a:t>
            </a:r>
            <a:endParaRPr lang="en-US" altLang="zh-CN" dirty="0" smtClean="0"/>
          </a:p>
          <a:p>
            <a:r>
              <a:rPr lang="zh-CN" altLang="zh-CN" dirty="0" smtClean="0"/>
              <a:t>目的</a:t>
            </a:r>
            <a:r>
              <a:rPr lang="zh-CN" altLang="en-US" dirty="0" smtClean="0"/>
              <a:t>：</a:t>
            </a:r>
            <a:r>
              <a:rPr lang="zh-CN" altLang="zh-CN" dirty="0" smtClean="0"/>
              <a:t>通过</a:t>
            </a:r>
            <a:r>
              <a:rPr lang="zh-CN" altLang="zh-CN" dirty="0"/>
              <a:t>抽查，保证代码的编写和注释符合编码规范，编码逻辑符合系统设计要求，减少测试返工以及因测试返工引起的来回沟通、回归测试等问题，降低管理成本，提高开发效率。</a:t>
            </a:r>
            <a:endParaRPr lang="zh-CN" altLang="zh-CN" dirty="0"/>
          </a:p>
          <a:p>
            <a:endParaRPr lang="zh-CN" altLang="en-US" dirty="0"/>
          </a:p>
        </p:txBody>
      </p:sp>
      <p:sp>
        <p:nvSpPr>
          <p:cNvPr id="3" name="标题 2"/>
          <p:cNvSpPr>
            <a:spLocks noGrp="1"/>
          </p:cNvSpPr>
          <p:nvPr>
            <p:ph type="title"/>
          </p:nvPr>
        </p:nvSpPr>
        <p:spPr/>
        <p:txBody>
          <a:bodyPr/>
          <a:lstStyle/>
          <a:p>
            <a:r>
              <a:rPr lang="zh-CN" altLang="en-US" dirty="0" smtClean="0"/>
              <a:t>代码走查</a:t>
            </a:r>
            <a:endParaRPr lang="zh-CN" alt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如何进行？</a:t>
            </a:r>
            <a:endParaRPr lang="en-US" altLang="zh-CN" dirty="0" smtClean="0"/>
          </a:p>
          <a:p>
            <a:r>
              <a:rPr lang="zh-CN" altLang="en-US" dirty="0" smtClean="0"/>
              <a:t>参加人员：项目的整体参与者</a:t>
            </a:r>
            <a:endParaRPr lang="en-US" altLang="zh-CN" dirty="0" smtClean="0"/>
          </a:p>
          <a:p>
            <a:r>
              <a:rPr lang="zh-CN" altLang="en-US" dirty="0" smtClean="0"/>
              <a:t>走查内容：代码的命名规范、组织结构</a:t>
            </a:r>
            <a:endParaRPr lang="en-US" altLang="zh-CN" dirty="0" smtClean="0"/>
          </a:p>
          <a:p>
            <a:r>
              <a:rPr lang="zh-CN" altLang="en-US" dirty="0" smtClean="0"/>
              <a:t>走查时间：每个模块开发完成之后</a:t>
            </a:r>
            <a:endParaRPr lang="en-US" altLang="zh-CN" dirty="0" smtClean="0"/>
          </a:p>
          <a:p>
            <a:r>
              <a:rPr lang="zh-CN" altLang="en-US" dirty="0" smtClean="0"/>
              <a:t>走查结果：代码被大部分人认同</a:t>
            </a:r>
            <a:endParaRPr lang="zh-CN" altLang="en-US" dirty="0"/>
          </a:p>
        </p:txBody>
      </p:sp>
      <p:sp>
        <p:nvSpPr>
          <p:cNvPr id="3" name="标题 2"/>
          <p:cNvSpPr>
            <a:spLocks noGrp="1"/>
          </p:cNvSpPr>
          <p:nvPr>
            <p:ph type="title"/>
          </p:nvPr>
        </p:nvSpPr>
        <p:spPr/>
        <p:txBody>
          <a:bodyPr/>
          <a:lstStyle/>
          <a:p>
            <a:r>
              <a:rPr lang="zh-CN" altLang="en-US" dirty="0" smtClean="0"/>
              <a:t>代码走查</a:t>
            </a:r>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QA</a:t>
            </a:r>
            <a:r>
              <a:rPr lang="zh-CN" altLang="en-US" dirty="0"/>
              <a:t>与</a:t>
            </a:r>
            <a:r>
              <a:rPr lang="en-US" altLang="zh-CN" dirty="0"/>
              <a:t>QC</a:t>
            </a:r>
            <a:r>
              <a:rPr lang="zh-CN" altLang="en-US" dirty="0"/>
              <a:t>的区别在哪里？</a:t>
            </a:r>
            <a:endParaRPr lang="zh-CN" altLang="en-US" dirty="0"/>
          </a:p>
        </p:txBody>
      </p:sp>
      <p:sp>
        <p:nvSpPr>
          <p:cNvPr id="3" name="标题 2"/>
          <p:cNvSpPr>
            <a:spLocks noGrp="1"/>
          </p:cNvSpPr>
          <p:nvPr>
            <p:ph type="title"/>
          </p:nvPr>
        </p:nvSpPr>
        <p:spPr/>
        <p:txBody>
          <a:bodyPr/>
          <a:lstStyle/>
          <a:p>
            <a:r>
              <a:rPr lang="zh-CN" altLang="en-US"/>
              <a:t>思考题</a:t>
            </a:r>
            <a:endParaRPr lang="zh-CN" altLang="en-US"/>
          </a:p>
        </p:txBody>
      </p:sp>
      <p:sp>
        <p:nvSpPr>
          <p:cNvPr id="4" name="矩形 3"/>
          <p:cNvSpPr/>
          <p:nvPr/>
        </p:nvSpPr>
        <p:spPr>
          <a:xfrm>
            <a:off x="4271945" y="5043150"/>
            <a:ext cx="3877986" cy="923330"/>
          </a:xfrm>
          <a:prstGeom prst="rect">
            <a:avLst/>
          </a:prstGeom>
          <a:noFill/>
        </p:spPr>
        <p:txBody>
          <a:bodyPr wrap="none" lIns="91440" tIns="45720" rIns="91440" bIns="45720">
            <a:spAutoFit/>
          </a:bodyPr>
          <a:lstStyle/>
          <a:p>
            <a:pPr algn="ctr"/>
            <a:r>
              <a:rPr lang="en-US" altLang="zh-CN" sz="5400" b="1" cap="none" spc="0"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you!</a:t>
            </a:r>
            <a:endParaRPr lang="zh-CN" alt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TABLE_BEAUTIFY" val="smartTable{d2a4669d-df7c-4006-8614-ede91602deef}"/>
</p:tagLst>
</file>

<file path=ppt/tags/tag2.xml><?xml version="1.0" encoding="utf-8"?>
<p:tagLst xmlns:p="http://schemas.openxmlformats.org/presentationml/2006/main">
  <p:tag name="MH" val="20151029082645"/>
  <p:tag name="MH_LIBRARY" val="CONTENTS"/>
  <p:tag name="MH_TYPE" val="ENTRY"/>
  <p:tag name="ID" val="626771"/>
  <p:tag name="MH_ORDER" val="1"/>
</p:tagLst>
</file>

<file path=ppt/tags/tag3.xml><?xml version="1.0" encoding="utf-8"?>
<p:tagLst xmlns:p="http://schemas.openxmlformats.org/presentationml/2006/main">
  <p:tag name="MH" val="20151029082645"/>
  <p:tag name="MH_LIBRARY" val="CONTENTS"/>
  <p:tag name="MH_TYPE" val="ENTRY"/>
  <p:tag name="ID" val="626771"/>
  <p:tag name="MH_ORDER" val="2"/>
</p:tagLst>
</file>

<file path=ppt/tags/tag4.xml><?xml version="1.0" encoding="utf-8"?>
<p:tagLst xmlns:p="http://schemas.openxmlformats.org/presentationml/2006/main">
  <p:tag name="MH" val="20151029082645"/>
  <p:tag name="MH_LIBRARY" val="CONTENTS"/>
  <p:tag name="MH_TYPE" val="ENTRY"/>
  <p:tag name="ID" val="626771"/>
  <p:tag name="MH_ORDER" val="3"/>
</p:tagLst>
</file>

<file path=ppt/tags/tag5.xml><?xml version="1.0" encoding="utf-8"?>
<p:tagLst xmlns:p="http://schemas.openxmlformats.org/presentationml/2006/main">
  <p:tag name="MH" val="20151029082645"/>
  <p:tag name="MH_LIBRARY" val="CONTENTS"/>
  <p:tag name="MH_TYPE" val="ENTRY"/>
  <p:tag name="ID" val="626771"/>
  <p:tag name="MH_ORDER" val="4"/>
</p:tagLst>
</file>

<file path=ppt/tags/tag6.xml><?xml version="1.0" encoding="utf-8"?>
<p:tagLst xmlns:p="http://schemas.openxmlformats.org/presentationml/2006/main">
  <p:tag name="MH" val="20151029082645"/>
  <p:tag name="MH_LIBRARY" val="CONTENTS"/>
  <p:tag name="MH_TYPE" val="ENTRY"/>
  <p:tag name="ID" val="626771"/>
  <p:tag name="MH_ORDER" val="5"/>
</p:tagLst>
</file>

<file path=ppt/tags/tag7.xml><?xml version="1.0" encoding="utf-8"?>
<p:tagLst xmlns:p="http://schemas.openxmlformats.org/presentationml/2006/main">
  <p:tag name="MH" val="20151029082645"/>
  <p:tag name="MH_LIBRARY" val="CONTENTS"/>
  <p:tag name="MH_TYPE" val="ENTRY"/>
  <p:tag name="ID" val="626771"/>
  <p:tag name="MH_ORDER" val="6"/>
</p:tagLst>
</file>

<file path=ppt/tags/tag8.xml><?xml version="1.0" encoding="utf-8"?>
<p:tagLst xmlns:p="http://schemas.openxmlformats.org/presentationml/2006/main">
  <p:tag name="MH" val="20151029082645"/>
  <p:tag name="MH_LIBRARY" val="CONTENTS"/>
  <p:tag name="MH_TYPE" val="NUMBER"/>
  <p:tag name="ID" val="626771"/>
  <p:tag name="MH_ORDER" val="1"/>
</p:tagLst>
</file>

<file path=ppt/tags/tag9.xml><?xml version="1.0" encoding="utf-8"?>
<p:tagLst xmlns:p="http://schemas.openxmlformats.org/presentationml/2006/main">
  <p:tag name="MH" val="20151029082645"/>
  <p:tag name="MH_LIBRARY" val="CONTENTS"/>
  <p:tag name="MH_TYPE" val="NUMBER"/>
  <p:tag name="ID" val="626771"/>
  <p:tag name="MH_ORDER" val="2"/>
</p:tagLst>
</file>

<file path=ppt/tags/tag10.xml><?xml version="1.0" encoding="utf-8"?>
<p:tagLst xmlns:p="http://schemas.openxmlformats.org/presentationml/2006/main">
  <p:tag name="MH" val="20151029082645"/>
  <p:tag name="MH_LIBRARY" val="CONTENTS"/>
  <p:tag name="MH_TYPE" val="NUMBER"/>
  <p:tag name="ID" val="626771"/>
  <p:tag name="MH_ORDER" val="3"/>
</p:tagLst>
</file>

<file path=ppt/tags/tag11.xml><?xml version="1.0" encoding="utf-8"?>
<p:tagLst xmlns:p="http://schemas.openxmlformats.org/presentationml/2006/main">
  <p:tag name="MH" val="20151029082645"/>
  <p:tag name="MH_LIBRARY" val="CONTENTS"/>
  <p:tag name="MH_TYPE" val="NUMBER"/>
  <p:tag name="ID" val="626771"/>
  <p:tag name="MH_ORDER" val="4"/>
</p:tagLst>
</file>

<file path=ppt/tags/tag12.xml><?xml version="1.0" encoding="utf-8"?>
<p:tagLst xmlns:p="http://schemas.openxmlformats.org/presentationml/2006/main">
  <p:tag name="MH" val="20151029082645"/>
  <p:tag name="MH_LIBRARY" val="CONTENTS"/>
  <p:tag name="MH_TYPE" val="NUMBER"/>
  <p:tag name="ID" val="626771"/>
  <p:tag name="MH_ORDER" val="5"/>
</p:tagLst>
</file>

<file path=ppt/tags/tag13.xml><?xml version="1.0" encoding="utf-8"?>
<p:tagLst xmlns:p="http://schemas.openxmlformats.org/presentationml/2006/main">
  <p:tag name="MH" val="20151029082645"/>
  <p:tag name="MH_LIBRARY" val="CONTENTS"/>
  <p:tag name="MH_TYPE" val="NUMBER"/>
  <p:tag name="ID" val="626771"/>
  <p:tag name="MH_ORDER" val="6"/>
</p:tagLst>
</file>

<file path=ppt/tags/tag14.xml><?xml version="1.0" encoding="utf-8"?>
<p:tagLst xmlns:p="http://schemas.openxmlformats.org/presentationml/2006/main">
  <p:tag name="MH" val="20151029082645"/>
  <p:tag name="MH_LIBRARY" val="CONTENTS"/>
  <p:tag name="MH_TYPE" val="OTHERS"/>
  <p:tag name="ID" val="626771"/>
</p:tagLst>
</file>

<file path=ppt/tags/tag15.xml><?xml version="1.0" encoding="utf-8"?>
<p:tagLst xmlns:p="http://schemas.openxmlformats.org/presentationml/2006/main">
  <p:tag name="MH" val="20151029082645"/>
  <p:tag name="MH_LIBRARY" val="CONTENTS"/>
  <p:tag name="MH_TYPE" val="OTHERS"/>
  <p:tag name="ID" val="626771"/>
</p:tagLst>
</file>

<file path=ppt/tags/tag16.xml><?xml version="1.0" encoding="utf-8"?>
<p:tagLst xmlns:p="http://schemas.openxmlformats.org/presentationml/2006/main">
  <p:tag name="MH" val="20151029082645"/>
  <p:tag name="MH_LIBRARY" val="CONTENTS"/>
  <p:tag name="MH_TYPE" val="OTHERS"/>
  <p:tag name="ID" val="626771"/>
</p:tagLst>
</file>

<file path=ppt/tags/tag17.xml><?xml version="1.0" encoding="utf-8"?>
<p:tagLst xmlns:p="http://schemas.openxmlformats.org/presentationml/2006/main">
  <p:tag name="MH" val="20151029082645"/>
  <p:tag name="MH_LIBRARY" val="CONTENTS"/>
  <p:tag name="MH_AUTOCOLOR" val="TRUE"/>
  <p:tag name="MH_TYPE" val="CONTENTS"/>
  <p:tag name="ID" val="62677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7612</Words>
  <Application>WPS 演示</Application>
  <PresentationFormat>宽屏</PresentationFormat>
  <Paragraphs>687</Paragraphs>
  <Slides>65</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65</vt:i4>
      </vt:variant>
    </vt:vector>
  </HeadingPairs>
  <TitlesOfParts>
    <vt:vector size="79" baseType="lpstr">
      <vt:lpstr>Arial</vt:lpstr>
      <vt:lpstr>宋体</vt:lpstr>
      <vt:lpstr>Wingdings</vt:lpstr>
      <vt:lpstr>黑体</vt:lpstr>
      <vt:lpstr>Calibri Light</vt:lpstr>
      <vt:lpstr>微软雅黑</vt:lpstr>
      <vt:lpstr>Arial Unicode MS</vt:lpstr>
      <vt:lpstr>Calibri</vt:lpstr>
      <vt:lpstr>等线</vt:lpstr>
      <vt:lpstr>Palatino Linotype</vt:lpstr>
      <vt:lpstr>华文仿宋</vt:lpstr>
      <vt:lpstr>仿宋</vt:lpstr>
      <vt:lpstr>微软雅黑 Light</vt:lpstr>
      <vt:lpstr>Office 主题</vt:lpstr>
      <vt:lpstr>软件质量保障与控制 Qa&amp;Qc</vt:lpstr>
      <vt:lpstr>什么是Qa和Qc</vt:lpstr>
      <vt:lpstr>Qa细说</vt:lpstr>
      <vt:lpstr>Qa细说</vt:lpstr>
      <vt:lpstr>Qc细说</vt:lpstr>
      <vt:lpstr>Qc细说</vt:lpstr>
      <vt:lpstr>小结1</vt:lpstr>
      <vt:lpstr>QA与QC-2-目录</vt:lpstr>
      <vt:lpstr>QA是什么</vt:lpstr>
      <vt:lpstr>QC是什么</vt:lpstr>
      <vt:lpstr>QA都做些什么</vt:lpstr>
      <vt:lpstr>QA都做些什么</vt:lpstr>
      <vt:lpstr>QC都做些什么</vt:lpstr>
      <vt:lpstr>QA与QC的异同</vt:lpstr>
      <vt:lpstr>软件工程中的QA&amp;QC</vt:lpstr>
      <vt:lpstr>软件质量控制的概念</vt:lpstr>
      <vt:lpstr>软件质量控制的方法</vt:lpstr>
      <vt:lpstr>目标问题度量法</vt:lpstr>
      <vt:lpstr>目标问题度量法流程</vt:lpstr>
      <vt:lpstr>目标问题度量法流程</vt:lpstr>
      <vt:lpstr>风险管理法</vt:lpstr>
      <vt:lpstr>风险管理法的实施步骤</vt:lpstr>
      <vt:lpstr>风险管理控制模型</vt:lpstr>
      <vt:lpstr>软件各阶段的风险</vt:lpstr>
      <vt:lpstr>风险严重程度的等级标准</vt:lpstr>
      <vt:lpstr>软件质量控制模型及技术</vt:lpstr>
      <vt:lpstr>软件质量控制模型及技术</vt:lpstr>
      <vt:lpstr>质量控制参数</vt:lpstr>
      <vt:lpstr>软件质量控制模型及技术</vt:lpstr>
      <vt:lpstr>软件质量控制的实施过程</vt:lpstr>
      <vt:lpstr>软件质量控制技术</vt:lpstr>
      <vt:lpstr>软件质量保证体系</vt:lpstr>
      <vt:lpstr>SQA组织职责</vt:lpstr>
      <vt:lpstr>SQA目标</vt:lpstr>
      <vt:lpstr>SQA任务</vt:lpstr>
      <vt:lpstr>SQA活动</vt:lpstr>
      <vt:lpstr>SQA的实施注意点</vt:lpstr>
      <vt:lpstr>小结2</vt:lpstr>
      <vt:lpstr>QA与QC-3-目录-QA&amp;QC</vt:lpstr>
      <vt:lpstr>PowerPoint 演示文稿</vt:lpstr>
      <vt:lpstr>PowerPoint 演示文稿</vt:lpstr>
      <vt:lpstr>PowerPoint 演示文稿</vt:lpstr>
      <vt:lpstr>QA的职责</vt:lpstr>
      <vt:lpstr>QC的职责</vt:lpstr>
      <vt:lpstr>PowerPoint 演示文稿</vt:lpstr>
      <vt:lpstr>两者区别</vt:lpstr>
      <vt:lpstr>侧重点</vt:lpstr>
      <vt:lpstr>其他区别</vt:lpstr>
      <vt:lpstr>PowerPoint 演示文稿</vt:lpstr>
      <vt:lpstr>怎么确定QA工作的正确性</vt:lpstr>
      <vt:lpstr>QA对工作人员的要求</vt:lpstr>
      <vt:lpstr>PowerPoint 演示文稿</vt:lpstr>
      <vt:lpstr>定义</vt:lpstr>
      <vt:lpstr>联系</vt:lpstr>
      <vt:lpstr>区别</vt:lpstr>
      <vt:lpstr>职责划分</vt:lpstr>
      <vt:lpstr>打个比方……</vt:lpstr>
      <vt:lpstr>典型QA的职责</vt:lpstr>
      <vt:lpstr>如何实施质量控制</vt:lpstr>
      <vt:lpstr>文档评审</vt:lpstr>
      <vt:lpstr>文档评审</vt:lpstr>
      <vt:lpstr>技术实现评审</vt:lpstr>
      <vt:lpstr>代码走查</vt:lpstr>
      <vt:lpstr>代码走查</vt:lpstr>
      <vt:lpstr>思考题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软件质量保障 Qa&amp;Qc</dc:title>
  <dc:creator>钟晗</dc:creator>
  <cp:lastModifiedBy>Mr Nie</cp:lastModifiedBy>
  <cp:revision>25</cp:revision>
  <dcterms:created xsi:type="dcterms:W3CDTF">2017-12-19T12:58:00Z</dcterms:created>
  <dcterms:modified xsi:type="dcterms:W3CDTF">2022-09-18T02:38:31Z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3A0F0177FE6D464C8163E4EEA466F584</vt:lpwstr>
  </property>
  <property fmtid="{D5CDD505-2E9C-101B-9397-08002B2CF9AE}" pid="3" name="KSOProductBuildVer">
    <vt:lpwstr>2052-11.1.0.11411</vt:lpwstr>
  </property>
</Properties>
</file>