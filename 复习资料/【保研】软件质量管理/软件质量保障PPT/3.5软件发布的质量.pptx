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4" r:id="rId4"/>
  </p:sldMasterIdLst>
  <p:notesMasterIdLst>
    <p:notesMasterId r:id="rId6"/>
  </p:notesMasterIdLst>
  <p:sldIdLst>
    <p:sldId id="257" r:id="rId5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256" r:id="rId5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702" autoAdjust="0"/>
  </p:normalViewPr>
  <p:slideViewPr>
    <p:cSldViewPr>
      <p:cViewPr varScale="1">
        <p:scale>
          <a:sx n="64" d="100"/>
          <a:sy n="64" d="100"/>
        </p:scale>
        <p:origin x="696" y="6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539C6-D785-495E-A989-AE36F63BFC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金丝雀发布一般先发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台，或者一个小比例，例如 </a:t>
            </a:r>
            <a:r>
              <a:rPr lang="en-US" altLang="zh-CN" dirty="0" smtClean="0"/>
              <a:t>2% </a:t>
            </a:r>
            <a:r>
              <a:rPr lang="zh-CN" altLang="en-US" dirty="0" smtClean="0"/>
              <a:t>的服务器，主要做流量验证用，也称为金丝雀 </a:t>
            </a:r>
            <a:r>
              <a:rPr lang="en-US" altLang="zh-CN" dirty="0" smtClean="0"/>
              <a:t>(Canary) </a:t>
            </a:r>
            <a:r>
              <a:rPr lang="zh-CN" altLang="en-US" dirty="0" smtClean="0"/>
              <a:t>测试（国内常称灰度测试）。以前旷工开矿下矿洞前，先会放一只金丝雀进去探是否有有毒气体，看金丝雀能否活下来，金丝雀发布由此得名。简单的金丝雀测试一般通过手工测试验证，复杂的金丝雀测试需要比较完善的监控基础设施配合，通过监控指标反馈，观察金丝雀的健康状况，作为后续发布或回退的依据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如果金丝测试通过，则把剩余的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版本全部升级为 </a:t>
            </a:r>
            <a:r>
              <a:rPr lang="en-US" altLang="zh-CN" dirty="0" smtClean="0"/>
              <a:t>V2 </a:t>
            </a:r>
            <a:r>
              <a:rPr lang="zh-CN" altLang="en-US" dirty="0" smtClean="0"/>
              <a:t>版本。如果金丝雀测试失败，则直接回退金丝雀，发布失败。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滚动式发布一般先发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台，或者一个小比例，如 </a:t>
            </a:r>
            <a:r>
              <a:rPr lang="en-US" altLang="zh-CN" dirty="0" smtClean="0"/>
              <a:t>2% </a:t>
            </a:r>
            <a:r>
              <a:rPr lang="zh-CN" altLang="en-US" dirty="0" smtClean="0"/>
              <a:t>服务器，主要做流量验证用，类似金丝雀 </a:t>
            </a:r>
            <a:r>
              <a:rPr lang="en-US" altLang="zh-CN" dirty="0" smtClean="0"/>
              <a:t>(Canary) </a:t>
            </a:r>
            <a:r>
              <a:rPr lang="zh-CN" altLang="en-US" dirty="0" smtClean="0"/>
              <a:t>测试。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滚动式发布需要比较复杂的发布工具和智能 </a:t>
            </a:r>
            <a:r>
              <a:rPr lang="en-US" altLang="zh-CN" dirty="0" smtClean="0"/>
              <a:t>LB</a:t>
            </a:r>
            <a:r>
              <a:rPr lang="zh-CN" altLang="en-US" dirty="0" smtClean="0"/>
              <a:t>（负载均衡器），支持平滑的版本替换和流量拉入拉出。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每次发布时，先将老版本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流量从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上摘除，然后清除老版本，发新版本 </a:t>
            </a:r>
            <a:r>
              <a:rPr lang="en-US" altLang="zh-CN" dirty="0" smtClean="0"/>
              <a:t>V2</a:t>
            </a:r>
            <a:r>
              <a:rPr lang="zh-CN" altLang="en-US" dirty="0" smtClean="0"/>
              <a:t>，再将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流量接入新版本。这样可以尽量保证用户体验不受影响。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一次滚动式发布一般由若干个发布批次组成，每批的数量一般是可以配置的（可以通过发布模板定义）。例如第一批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台（金丝雀），第二批 </a:t>
            </a:r>
            <a:r>
              <a:rPr lang="en-US" altLang="zh-CN" dirty="0" smtClean="0"/>
              <a:t>10%</a:t>
            </a:r>
            <a:r>
              <a:rPr lang="zh-CN" altLang="en-US" dirty="0" smtClean="0"/>
              <a:t>，第三批 </a:t>
            </a:r>
            <a:r>
              <a:rPr lang="en-US" altLang="zh-CN" dirty="0" smtClean="0"/>
              <a:t>50%</a:t>
            </a:r>
            <a:r>
              <a:rPr lang="zh-CN" altLang="en-US" dirty="0" smtClean="0"/>
              <a:t>，第四批 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。每个批次之间留观察间隔，通过手工验证或监控反馈确保没有问题再发下一批次，所以总体上滚动式发布过程是比较缓慢的 </a:t>
            </a:r>
            <a:r>
              <a:rPr lang="en-US" altLang="zh-CN" dirty="0" smtClean="0"/>
              <a:t>(</a:t>
            </a:r>
            <a:r>
              <a:rPr lang="zh-CN" altLang="en-US" dirty="0" smtClean="0"/>
              <a:t>其中金丝雀的时间一般会比后续批次更长，比如金丝雀 </a:t>
            </a:r>
            <a:r>
              <a:rPr lang="en-US" altLang="zh-CN" dirty="0" smtClean="0"/>
              <a:t>10 </a:t>
            </a:r>
            <a:r>
              <a:rPr lang="zh-CN" altLang="en-US" dirty="0" smtClean="0"/>
              <a:t>分钟，后续间隔 </a:t>
            </a:r>
            <a:r>
              <a:rPr lang="en-US" altLang="zh-CN" dirty="0" smtClean="0"/>
              <a:t>2 </a:t>
            </a:r>
            <a:r>
              <a:rPr lang="zh-CN" altLang="en-US" dirty="0" smtClean="0"/>
              <a:t>分钟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回退是发布的逆过程，将新版本流量从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上摘除，清除新版本，发老版本，再将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流量接入老版本。和发布过程一样，回退过程一般也比较慢的。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滚动式发布国外术语通常叫 </a:t>
            </a:r>
            <a:r>
              <a:rPr lang="en-US" altLang="zh-CN" dirty="0" smtClean="0"/>
              <a:t>Rolling Update Deployment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V1 </a:t>
            </a:r>
            <a:r>
              <a:rPr lang="zh-CN" altLang="en-US" dirty="0" smtClean="0"/>
              <a:t>版本称为蓝组，</a:t>
            </a:r>
            <a:r>
              <a:rPr lang="en-US" altLang="zh-CN" dirty="0" smtClean="0"/>
              <a:t>V2 </a:t>
            </a:r>
            <a:r>
              <a:rPr lang="zh-CN" altLang="en-US" dirty="0" smtClean="0"/>
              <a:t>版本称为绿组，发布时通过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一次性将流量从蓝组直接切换到绿组，不经过金丝雀和滚动发布，蓝绿发布由此得名；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出现问题回退也很直接，通过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直接将流量切回蓝组。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发布初步成功后，蓝组机器一般不直接回收，而是留一个待观察期，视具体情况观察期的时间可长可短，观察期过后确认发布无问题，则可以回收蓝组机器。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发布前先申请一批新服务器，数量一般和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版本相同，将 </a:t>
            </a:r>
            <a:r>
              <a:rPr lang="en-US" altLang="zh-CN" dirty="0" smtClean="0"/>
              <a:t>V2 </a:t>
            </a:r>
            <a:r>
              <a:rPr lang="zh-CN" altLang="en-US" dirty="0" smtClean="0"/>
              <a:t>版本应用发布到新服务器上。例如如果在 </a:t>
            </a:r>
            <a:r>
              <a:rPr lang="en-US" altLang="zh-CN" dirty="0" smtClean="0"/>
              <a:t>AWS </a:t>
            </a:r>
            <a:r>
              <a:rPr lang="zh-CN" altLang="en-US" dirty="0" smtClean="0"/>
              <a:t>云上，则可以直接调用 </a:t>
            </a:r>
            <a:r>
              <a:rPr lang="en-US" altLang="zh-CN" dirty="0" smtClean="0"/>
              <a:t>API </a:t>
            </a:r>
            <a:r>
              <a:rPr lang="zh-CN" altLang="en-US" dirty="0" smtClean="0"/>
              <a:t>申请一批新 </a:t>
            </a:r>
            <a:r>
              <a:rPr lang="en-US" altLang="zh-CN" dirty="0" smtClean="0"/>
              <a:t>VM</a:t>
            </a:r>
            <a:r>
              <a:rPr lang="zh-CN" altLang="en-US" dirty="0" smtClean="0"/>
              <a:t>，如果用容器云 </a:t>
            </a:r>
            <a:r>
              <a:rPr lang="en-US" altLang="zh-CN" dirty="0" smtClean="0"/>
              <a:t>Kubernetes</a:t>
            </a:r>
            <a:r>
              <a:rPr lang="zh-CN" altLang="en-US" dirty="0" smtClean="0"/>
              <a:t>，则可以直接启动一批新容器（使用 </a:t>
            </a:r>
            <a:r>
              <a:rPr lang="en-US" altLang="zh-CN" dirty="0" smtClean="0"/>
              <a:t>V2 </a:t>
            </a:r>
            <a:r>
              <a:rPr lang="zh-CN" altLang="en-US" dirty="0" smtClean="0"/>
              <a:t>版本容器镜像）。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一般会先通过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拉入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台 </a:t>
            </a:r>
            <a:r>
              <a:rPr lang="en-US" altLang="zh-CN" dirty="0" smtClean="0"/>
              <a:t>V2 </a:t>
            </a:r>
            <a:r>
              <a:rPr lang="zh-CN" altLang="en-US" dirty="0" smtClean="0"/>
              <a:t>版本的机器，这台机器也相当于金丝雀，用于流量验证。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逐步按批次完成发布，每批只需要通过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拉入 </a:t>
            </a:r>
            <a:r>
              <a:rPr lang="en-US" altLang="zh-CN" dirty="0" smtClean="0"/>
              <a:t>V2 </a:t>
            </a:r>
            <a:r>
              <a:rPr lang="zh-CN" altLang="en-US" dirty="0" smtClean="0"/>
              <a:t>版本，再拉出对应数量的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版本。批次之间留有观察间隔，通过手工或监控反馈确保没有问题再继续发布。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发布有问题回退很快，直接通过 </a:t>
            </a:r>
            <a:r>
              <a:rPr lang="en-US" altLang="zh-CN" dirty="0" smtClean="0"/>
              <a:t>LB </a:t>
            </a:r>
            <a:r>
              <a:rPr lang="zh-CN" altLang="en-US" dirty="0" smtClean="0"/>
              <a:t>将流量切回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即可。</a:t>
            </a:r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完成发布后，一般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版本要保留观察以备万一，比如留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天，</a:t>
            </a:r>
            <a:r>
              <a:rPr lang="en-US" altLang="zh-CN" dirty="0" smtClean="0"/>
              <a:t>1 </a:t>
            </a:r>
            <a:r>
              <a:rPr lang="zh-CN" altLang="en-US" dirty="0" smtClean="0"/>
              <a:t>天后没有问题则回收 </a:t>
            </a:r>
            <a:r>
              <a:rPr lang="en-US" altLang="zh-CN" dirty="0" smtClean="0"/>
              <a:t>V1 </a:t>
            </a:r>
            <a:r>
              <a:rPr lang="zh-CN" altLang="en-US" dirty="0" smtClean="0"/>
              <a:t>机器资源。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9BCE47F-1BFC-440A-A389-054C44D8021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功能开关发布需要一个配置中心或者开关中心这样的服务支持，例如携程的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Apollo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配置中心附录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6.3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，或者开源的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FF4J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附录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6.4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，这些都支持开关发布，业界还有专门的功能开关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SaaS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服务，例如 </a:t>
            </a:r>
            <a:r>
              <a:rPr lang="en-US" altLang="zh-CN" b="0" i="0" dirty="0" err="1" smtClean="0">
                <a:solidFill>
                  <a:srgbClr val="4A4A4A"/>
                </a:solidFill>
                <a:effectLst/>
                <a:latin typeface="Avenir"/>
              </a:rPr>
              <a:t>LaunchDarkly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附录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6.5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。通过配置中心，运维或研发人员可以在运行期动态配置功能开关的值。当然，功能开关发布只是配置中心的一种使用场景，配置中心还能支持其它很多动态配置场景。 </a:t>
            </a:r>
            <a:endParaRPr lang="zh-CN" altLang="en-US" b="0" i="0" dirty="0" smtClean="0">
              <a:solidFill>
                <a:srgbClr val="4A4A4A"/>
              </a:solidFill>
              <a:effectLst/>
              <a:latin typeface="Avenir"/>
            </a:endParaRPr>
          </a:p>
          <a:p>
            <a:pPr algn="just">
              <a:buFont typeface="+mj-lt"/>
              <a:buAutoNum type="arabicPeriod"/>
            </a:pP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功能开关服务一般提供客户端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SDK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，方便开发人员集成。在运行期，客户端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SDK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会同步最新的开关值，技术实现有推方式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(push)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，也有拉方式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(pull)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，或者推拉结合方式。 </a:t>
            </a:r>
            <a:endParaRPr lang="zh-CN" altLang="en-US" b="0" i="0" dirty="0" smtClean="0">
              <a:solidFill>
                <a:srgbClr val="4A4A4A"/>
              </a:solidFill>
              <a:effectLst/>
              <a:latin typeface="Avenir"/>
            </a:endParaRPr>
          </a:p>
          <a:p>
            <a:pPr algn="just">
              <a:buFont typeface="+mj-lt"/>
              <a:buAutoNum type="arabicPeriod"/>
            </a:pPr>
            <a:r>
              <a:rPr lang="zh-CN" altLang="en-US" b="1" i="0" dirty="0" smtClean="0">
                <a:solidFill>
                  <a:srgbClr val="FF0000"/>
                </a:solidFill>
                <a:effectLst/>
                <a:latin typeface="Avenir"/>
              </a:rPr>
              <a:t>新功能（</a:t>
            </a:r>
            <a:r>
              <a:rPr lang="en-US" altLang="zh-CN" b="1" i="0" dirty="0" smtClean="0">
                <a:solidFill>
                  <a:srgbClr val="FF0000"/>
                </a:solidFill>
                <a:effectLst/>
                <a:latin typeface="Avenir"/>
              </a:rPr>
              <a:t>V2 new feature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Avenir"/>
              </a:rPr>
              <a:t>）和老功能（</a:t>
            </a:r>
            <a:r>
              <a:rPr lang="en-US" altLang="zh-CN" b="1" i="0" dirty="0" smtClean="0">
                <a:solidFill>
                  <a:srgbClr val="FF0000"/>
                </a:solidFill>
                <a:effectLst/>
                <a:latin typeface="Avenir"/>
              </a:rPr>
              <a:t>V1 old feature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Avenir"/>
              </a:rPr>
              <a:t>）住在同一套代码中，新功能隐藏在开关后面，如果开关没有打开，则走老代码逻辑，如果开关打开，则走新代码逻辑。技术实现上可以理解为一个简单的 </a:t>
            </a:r>
            <a:r>
              <a:rPr lang="en-US" altLang="zh-CN" b="1" i="0" dirty="0" smtClean="0">
                <a:solidFill>
                  <a:srgbClr val="FF0000"/>
                </a:solidFill>
                <a:effectLst/>
                <a:latin typeface="Avenir"/>
              </a:rPr>
              <a:t>if/else </a:t>
            </a:r>
            <a:r>
              <a:rPr lang="zh-CN" altLang="en-US" b="1" i="0" dirty="0" smtClean="0">
                <a:solidFill>
                  <a:srgbClr val="FF0000"/>
                </a:solidFill>
                <a:effectLst/>
                <a:latin typeface="Avenir"/>
              </a:rPr>
              <a:t>逻辑。 </a:t>
            </a:r>
            <a:endParaRPr lang="zh-CN" altLang="en-US" b="1" i="0" dirty="0" smtClean="0">
              <a:solidFill>
                <a:srgbClr val="FF0000"/>
              </a:solidFill>
              <a:effectLst/>
              <a:latin typeface="Avenir"/>
            </a:endParaRPr>
          </a:p>
          <a:p>
            <a:pPr algn="just">
              <a:buFont typeface="+mj-lt"/>
              <a:buAutoNum type="arabicPeriod"/>
            </a:pPr>
            <a:r>
              <a:rPr lang="zh-CN" altLang="en-US" b="1" i="0" dirty="0" smtClean="0">
                <a:solidFill>
                  <a:srgbClr val="FF0000"/>
                </a:solidFill>
                <a:effectLst/>
                <a:latin typeface="Avenir"/>
              </a:rPr>
              <a:t>应用上线后，开关先不打开，然后运维或研发人员通过开关中心打开新功能，经过流量验证新功能没有问题，则发布完成；如果有问题，则随时可以通过开关中心切回老功能逻辑。</a:t>
            </a:r>
            <a:endParaRPr lang="zh-CN" altLang="en-US" b="1" i="0" dirty="0" smtClean="0">
              <a:solidFill>
                <a:srgbClr val="FF0000"/>
              </a:solidFill>
              <a:effectLst/>
              <a:latin typeface="Avenir"/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9BCE47F-1BFC-440A-A389-054C44D8021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上图中，原来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PC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端和手机端都访问老版本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V1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服务（也称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组或控制组），当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V2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新版本（也称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组或实验组）发布以后，为了验证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V2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的功能正确性，同时也为了避免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V2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有问题时影响所有用户，先通过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LB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将手机端的流量切换到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V2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版本，经过一段时间的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比对测试和观察（主要通过用户和监控反馈），确保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V2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正常，则通过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LB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将全部流量切换到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V2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。 </a:t>
            </a:r>
            <a:endParaRPr lang="zh-CN" altLang="en-US" b="0" i="0" dirty="0" smtClean="0">
              <a:solidFill>
                <a:srgbClr val="4A4A4A"/>
              </a:solidFill>
              <a:effectLst/>
              <a:latin typeface="Avenir"/>
            </a:endParaRPr>
          </a:p>
          <a:p>
            <a:pPr algn="just">
              <a:buFont typeface="+mj-lt"/>
              <a:buAutoNum type="arabicPeriod"/>
            </a:pP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基于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LB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方式实现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测试，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LB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需要能够通过某种条件做流量路由，例如通过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client </a:t>
            </a:r>
            <a:r>
              <a:rPr lang="en-US" altLang="zh-CN" b="0" i="0" dirty="0" err="1" smtClean="0">
                <a:solidFill>
                  <a:srgbClr val="4A4A4A"/>
                </a:solidFill>
                <a:effectLst/>
                <a:latin typeface="Avenir"/>
              </a:rPr>
              <a:t>ip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，设备类型，浏览器类型，甚至是定制的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HTTP Header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或查询字符串。 </a:t>
            </a:r>
            <a:endParaRPr lang="zh-CN" altLang="en-US" b="0" i="0" dirty="0" smtClean="0">
              <a:solidFill>
                <a:srgbClr val="4A4A4A"/>
              </a:solidFill>
              <a:effectLst/>
              <a:latin typeface="Avenir"/>
            </a:endParaRPr>
          </a:p>
          <a:p>
            <a:pPr algn="just">
              <a:buFont typeface="+mj-lt"/>
              <a:buAutoNum type="arabicPeriod"/>
            </a:pP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高级的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测试需要专门的平台支撑，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wasabi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附录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6.6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就是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intuit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开源的一个支持高级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测试的平台，这类平台可以细粒度到针对某类用户做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测试，例如针对某个地区的用户，某个年龄段的用户，公司内部用户等等。举了例子，假设一个关键业务的新功能上线，为了降低风险采用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测试，可以做到先只让公司内部员工能访问到新功能，待新功能验证过，再全量放开给外部用户使用。 </a:t>
            </a:r>
            <a:endParaRPr lang="zh-CN" altLang="en-US" b="0" i="0" dirty="0" smtClean="0">
              <a:solidFill>
                <a:srgbClr val="4A4A4A"/>
              </a:solidFill>
              <a:effectLst/>
              <a:latin typeface="Avenir"/>
            </a:endParaRPr>
          </a:p>
          <a:p>
            <a:pPr algn="just">
              <a:buFont typeface="+mj-lt"/>
              <a:buAutoNum type="arabicPeriod"/>
            </a:pP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功能开关和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测试有点相似，但功能开关一般是无状态和全量的，无法做到针对某类特定用户进行测试，而 </a:t>
            </a:r>
            <a:r>
              <a:rPr lang="en-US" altLang="zh-CN" b="0" i="0" dirty="0" smtClean="0">
                <a:solidFill>
                  <a:srgbClr val="4A4A4A"/>
                </a:solidFill>
                <a:effectLst/>
                <a:latin typeface="Avenir"/>
              </a:rPr>
              <a:t>A/B </a:t>
            </a:r>
            <a:r>
              <a:rPr lang="zh-CN" altLang="en-US" b="0" i="0" dirty="0" smtClean="0">
                <a:solidFill>
                  <a:srgbClr val="4A4A4A"/>
                </a:solidFill>
                <a:effectLst/>
                <a:latin typeface="Avenir"/>
              </a:rPr>
              <a:t>测试一般是有状态的，能够跟踪事务和用户级别的状态，可以实现针对某类特定用户进行测试。</a:t>
            </a:r>
            <a:endParaRPr lang="zh-CN" altLang="en-US" b="0" i="0" dirty="0" smtClean="0">
              <a:solidFill>
                <a:srgbClr val="4A4A4A"/>
              </a:solidFill>
              <a:effectLst/>
              <a:latin typeface="Avenir"/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9BCE47F-1BFC-440A-A389-054C44D8021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A/B</a:t>
            </a:r>
            <a:r>
              <a:rPr lang="zh-CN" altLang="en-US" dirty="0" smtClean="0"/>
              <a:t>测试的应用举例</a:t>
            </a:r>
            <a:endParaRPr lang="zh-CN" altLang="en-US" dirty="0" smtClean="0"/>
          </a:p>
          <a:p>
            <a:r>
              <a:rPr lang="zh-CN" altLang="en-US" dirty="0" smtClean="0"/>
              <a:t>用一个电商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的场景作为例子。电商</a:t>
            </a:r>
            <a:r>
              <a:rPr lang="en-US" altLang="zh-CN" dirty="0" smtClean="0"/>
              <a:t>App</a:t>
            </a:r>
            <a:r>
              <a:rPr lang="zh-CN" altLang="en-US" dirty="0" smtClean="0"/>
              <a:t>集成了我们的</a:t>
            </a:r>
            <a:r>
              <a:rPr lang="en-US" altLang="zh-CN" dirty="0" smtClean="0"/>
              <a:t>SDK</a:t>
            </a:r>
            <a:r>
              <a:rPr lang="zh-CN" altLang="en-US" dirty="0" smtClean="0"/>
              <a:t>之后，就可以在</a:t>
            </a:r>
            <a:r>
              <a:rPr lang="en-US" altLang="zh-CN" dirty="0" smtClean="0"/>
              <a:t>AB</a:t>
            </a:r>
            <a:r>
              <a:rPr lang="zh-CN" altLang="en-US" dirty="0" smtClean="0"/>
              <a:t>测试控制台创建很多“测试版本”，每个测试版本可以尝试不同的</a:t>
            </a:r>
            <a:r>
              <a:rPr lang="en-US" altLang="zh-CN" dirty="0" smtClean="0"/>
              <a:t>UI</a:t>
            </a:r>
            <a:r>
              <a:rPr lang="zh-CN" altLang="en-US" dirty="0" smtClean="0"/>
              <a:t>设计和文案。客户可以在控制台管理不同测试版本的试验运行状态、流量分配以及查看详细的数据报告，并选择发布效果更好的测试版本。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60B142-1220-4428-9B9D-C94BA9DCE6D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E2243A-53A7-4020-991D-1D5F7A24B88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A8ECA6-5097-4756-9C08-9374EC20193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F542AF2-4232-4E93-9337-61A15D11385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D6242A9-1569-4137-8A36-B9515AF7B90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8989352-058E-4283-856B-E9681685E4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C5CDA4-1D13-4BCF-9794-32CBF688E66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0AFD8B9-3724-49AA-9F5D-7FD2A2CA976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86202D-DFBC-42E6-8298-57BB5CE85DE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64CBAF-4685-44A1-BA36-666878FBCA8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AFAB02-646D-4A51-A1CA-AF379B16F6B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2234A3B-5AF3-4981-9A95-C2E36520072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2C5ECA5-39A9-4E9D-ABC6-FB0F6391869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25CC00-5F4E-404A-BC44-B48B0C8FE1F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29BAB4A-20C1-4650-AC80-BFE514AE8CB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AA494DB-FB19-4256-B23E-D74260C9AFB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5D7A1F8-9AF0-484A-BC7B-52B6B530D45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054EDFD-93E9-48ED-BDE1-0470D89D4FE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B9F85E-8394-4FD5-BBAE-005301BAC3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DE194C8-6013-4C25-9FA6-D2D2462AB0E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20486-C3F2-4DED-ADE8-18B7D0B17F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22A0BD-DF64-4957-B156-BA3FC54DB5A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8FEED38-2261-4A78-97F6-7EE114EF56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0A271D-8287-443F-8857-0D1FDAA8168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F1A20D-9C28-44D7-B166-AC15471C48B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CE47F-1BFC-440A-A389-054C44D802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 flipH="1">
            <a:off x="1725289" y="1702246"/>
            <a:ext cx="1481986" cy="368109"/>
          </a:xfrm>
          <a:prstGeom prst="triangle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5" name="等腰三角形 4"/>
          <p:cNvSpPr/>
          <p:nvPr userDrawn="1"/>
        </p:nvSpPr>
        <p:spPr>
          <a:xfrm flipV="1">
            <a:off x="5938920" y="3652284"/>
            <a:ext cx="1481986" cy="368109"/>
          </a:xfrm>
          <a:prstGeom prst="triangle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266" t="12948" r="2266" b="10678"/>
          <a:stretch>
            <a:fillRect/>
          </a:stretch>
        </p:blipFill>
        <p:spPr>
          <a:xfrm>
            <a:off x="2227608" y="328084"/>
            <a:ext cx="4552950" cy="5058833"/>
          </a:xfrm>
          <a:prstGeom prst="ellipse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723094" y="2070354"/>
            <a:ext cx="5697812" cy="15999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227660" y="2313781"/>
            <a:ext cx="4502944" cy="10940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/>
            </a:lvl1pPr>
          </a:lstStyle>
          <a:p>
            <a:pPr algn="ctr"/>
            <a:endParaRPr lang="en-US" altLang="zh-CN" sz="3600" b="1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/>
          </p:nvPr>
        </p:nvSpPr>
        <p:spPr>
          <a:xfrm>
            <a:off x="2778225" y="3731640"/>
            <a:ext cx="3587551" cy="254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2"/>
          </p:nvPr>
        </p:nvSpPr>
        <p:spPr>
          <a:xfrm>
            <a:off x="2778225" y="3991266"/>
            <a:ext cx="3587551" cy="254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endParaRPr lang="en-US" altLang="zh-C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100722" y="733778"/>
            <a:ext cx="3384584" cy="4021543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1724135" y="1715225"/>
            <a:ext cx="2061035" cy="22900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174082" y="2330980"/>
            <a:ext cx="1150144" cy="1120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5057290" y="2213012"/>
            <a:ext cx="158816" cy="1764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5057290" y="2790656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5057290" y="3368300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52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5460532" y="2152985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53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5460532" y="2717101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54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5460532" y="3304339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100722" y="733778"/>
            <a:ext cx="3384584" cy="4021543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1724135" y="1715225"/>
            <a:ext cx="2061035" cy="22900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174082" y="2330980"/>
            <a:ext cx="1150144" cy="1120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5057290" y="1917377"/>
            <a:ext cx="158816" cy="1764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5057290" y="2495022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5057290" y="3072666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9" name="椭圆 248"/>
          <p:cNvSpPr/>
          <p:nvPr userDrawn="1"/>
        </p:nvSpPr>
        <p:spPr>
          <a:xfrm>
            <a:off x="5057290" y="3650310"/>
            <a:ext cx="158816" cy="1764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65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5460532" y="1865762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6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5460532" y="2429879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7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5460532" y="3017116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8" name="文本占位符 251"/>
          <p:cNvSpPr>
            <a:spLocks noGrp="1"/>
          </p:cNvSpPr>
          <p:nvPr>
            <p:ph type="body" sz="quarter" idx="14"/>
          </p:nvPr>
        </p:nvSpPr>
        <p:spPr>
          <a:xfrm>
            <a:off x="5460532" y="3577449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100722" y="733778"/>
            <a:ext cx="3384584" cy="4021543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1724135" y="1715225"/>
            <a:ext cx="2061035" cy="22900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174082" y="2330980"/>
            <a:ext cx="1150144" cy="1120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5057290" y="1674717"/>
            <a:ext cx="158816" cy="1764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5057290" y="2252362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5057290" y="2830006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9" name="椭圆 248"/>
          <p:cNvSpPr/>
          <p:nvPr userDrawn="1"/>
        </p:nvSpPr>
        <p:spPr>
          <a:xfrm>
            <a:off x="5057290" y="3407650"/>
            <a:ext cx="158816" cy="1764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50" name="椭圆 249"/>
          <p:cNvSpPr/>
          <p:nvPr userDrawn="1"/>
        </p:nvSpPr>
        <p:spPr>
          <a:xfrm>
            <a:off x="5057290" y="3985294"/>
            <a:ext cx="158816" cy="17646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58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5460532" y="1635819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59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5460532" y="2199935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0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5460532" y="2787173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1" name="文本占位符 251"/>
          <p:cNvSpPr>
            <a:spLocks noGrp="1"/>
          </p:cNvSpPr>
          <p:nvPr>
            <p:ph type="body" sz="quarter" idx="14"/>
          </p:nvPr>
        </p:nvSpPr>
        <p:spPr>
          <a:xfrm>
            <a:off x="5460532" y="3347505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2" name="文本占位符 251"/>
          <p:cNvSpPr>
            <a:spLocks noGrp="1"/>
          </p:cNvSpPr>
          <p:nvPr>
            <p:ph type="body" sz="quarter" idx="15"/>
          </p:nvPr>
        </p:nvSpPr>
        <p:spPr>
          <a:xfrm>
            <a:off x="5460532" y="3896504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项目录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100722" y="733778"/>
            <a:ext cx="3384584" cy="4021543"/>
            <a:chOff x="896472" y="1429908"/>
            <a:chExt cx="3381368" cy="3615952"/>
          </a:xfrm>
        </p:grpSpPr>
        <p:grpSp>
          <p:nvGrpSpPr>
            <p:cNvPr id="3" name="组合 2"/>
            <p:cNvGrpSpPr/>
            <p:nvPr/>
          </p:nvGrpSpPr>
          <p:grpSpPr>
            <a:xfrm>
              <a:off x="896472" y="2699908"/>
              <a:ext cx="841368" cy="1075952"/>
              <a:chOff x="1706250" y="910167"/>
              <a:chExt cx="1435732" cy="1836033"/>
            </a:xfrm>
          </p:grpSpPr>
          <p:sp>
            <p:nvSpPr>
              <p:cNvPr id="239" name="等腰三角形 2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0" name="椭圆 2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1" name="椭圆 2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42" name="椭圆 2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907337" y="2534140"/>
              <a:ext cx="841368" cy="1075952"/>
              <a:chOff x="1706250" y="910167"/>
              <a:chExt cx="1435732" cy="1836033"/>
            </a:xfrm>
          </p:grpSpPr>
          <p:sp>
            <p:nvSpPr>
              <p:cNvPr id="235" name="等腰三角形 2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6" name="椭圆 2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7" name="椭圆 2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8" name="椭圆 2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939746" y="2371208"/>
              <a:ext cx="841368" cy="1075952"/>
              <a:chOff x="1706250" y="910167"/>
              <a:chExt cx="1435732" cy="1836033"/>
            </a:xfrm>
          </p:grpSpPr>
          <p:sp>
            <p:nvSpPr>
              <p:cNvPr id="231" name="等腰三角形 2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2" name="椭圆 2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3" name="椭圆 2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4" name="椭圆 2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993145" y="2213900"/>
              <a:ext cx="841368" cy="1075952"/>
              <a:chOff x="1706250" y="910167"/>
              <a:chExt cx="1435732" cy="1836033"/>
            </a:xfrm>
          </p:grpSpPr>
          <p:sp>
            <p:nvSpPr>
              <p:cNvPr id="227" name="等腰三角形 2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8" name="椭圆 2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9" name="椭圆 2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0" name="椭圆 2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066620" y="2064908"/>
              <a:ext cx="841368" cy="1075952"/>
              <a:chOff x="1706250" y="910167"/>
              <a:chExt cx="1435732" cy="1836033"/>
            </a:xfrm>
          </p:grpSpPr>
          <p:sp>
            <p:nvSpPr>
              <p:cNvPr id="223" name="等腰三角形 2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4" name="椭圆 2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5" name="椭圆 2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6" name="椭圆 2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158913" y="1926781"/>
              <a:ext cx="841368" cy="1075952"/>
              <a:chOff x="1706250" y="910167"/>
              <a:chExt cx="1435732" cy="1836033"/>
            </a:xfrm>
          </p:grpSpPr>
          <p:sp>
            <p:nvSpPr>
              <p:cNvPr id="219" name="等腰三角形 2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0" name="椭圆 2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1" name="椭圆 2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22" name="椭圆 2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268446" y="1801882"/>
              <a:ext cx="841368" cy="1075952"/>
              <a:chOff x="1706250" y="910167"/>
              <a:chExt cx="1435732" cy="1836033"/>
            </a:xfrm>
          </p:grpSpPr>
          <p:sp>
            <p:nvSpPr>
              <p:cNvPr id="215" name="等腰三角形 2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6" name="椭圆 2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7" name="椭圆 2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8" name="椭圆 2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93345" y="1692349"/>
              <a:ext cx="841368" cy="1075952"/>
              <a:chOff x="1706250" y="910167"/>
              <a:chExt cx="1435732" cy="1836033"/>
            </a:xfrm>
          </p:grpSpPr>
          <p:sp>
            <p:nvSpPr>
              <p:cNvPr id="211" name="等腰三角形 2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2" name="椭圆 2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3" name="椭圆 2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4" name="椭圆 2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531472" y="1600056"/>
              <a:ext cx="841368" cy="1075952"/>
              <a:chOff x="1706250" y="910167"/>
              <a:chExt cx="1435732" cy="1836033"/>
            </a:xfrm>
          </p:grpSpPr>
          <p:sp>
            <p:nvSpPr>
              <p:cNvPr id="207" name="等腰三角形 2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8" name="椭圆 2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9" name="椭圆 2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0" name="椭圆 2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680464" y="1526581"/>
              <a:ext cx="841368" cy="1075952"/>
              <a:chOff x="1706250" y="910167"/>
              <a:chExt cx="1435732" cy="1836033"/>
            </a:xfrm>
          </p:grpSpPr>
          <p:sp>
            <p:nvSpPr>
              <p:cNvPr id="203" name="等腰三角形 2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4" name="椭圆 2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5" name="椭圆 2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6" name="椭圆 2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837772" y="1473182"/>
              <a:ext cx="841368" cy="1075952"/>
              <a:chOff x="1706250" y="910167"/>
              <a:chExt cx="1435732" cy="1836033"/>
            </a:xfrm>
          </p:grpSpPr>
          <p:sp>
            <p:nvSpPr>
              <p:cNvPr id="199" name="等腰三角形 1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0" name="椭圆 1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1" name="椭圆 2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2" name="椭圆 2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000704" y="1440773"/>
              <a:ext cx="841368" cy="1075952"/>
              <a:chOff x="1706250" y="910167"/>
              <a:chExt cx="1435732" cy="1836033"/>
            </a:xfrm>
          </p:grpSpPr>
          <p:sp>
            <p:nvSpPr>
              <p:cNvPr id="195" name="等腰三角形 1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6" name="椭圆 1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7" name="椭圆 1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8" name="椭圆 1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166472" y="1429908"/>
              <a:ext cx="841368" cy="1075952"/>
              <a:chOff x="1706250" y="910167"/>
              <a:chExt cx="1435732" cy="1836033"/>
            </a:xfrm>
          </p:grpSpPr>
          <p:sp>
            <p:nvSpPr>
              <p:cNvPr id="191" name="等腰三角形 1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2" name="椭圆 1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3" name="椭圆 1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4" name="椭圆 1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2332240" y="1440773"/>
              <a:ext cx="841368" cy="1075952"/>
              <a:chOff x="1706250" y="910167"/>
              <a:chExt cx="1435732" cy="1836033"/>
            </a:xfrm>
          </p:grpSpPr>
          <p:sp>
            <p:nvSpPr>
              <p:cNvPr id="187" name="等腰三角形 1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8" name="椭圆 1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9" name="椭圆 1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90" name="椭圆 1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2495172" y="1473182"/>
              <a:ext cx="841368" cy="1075952"/>
              <a:chOff x="1706250" y="910167"/>
              <a:chExt cx="1435732" cy="1836033"/>
            </a:xfrm>
          </p:grpSpPr>
          <p:sp>
            <p:nvSpPr>
              <p:cNvPr id="183" name="等腰三角形 1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4" name="椭圆 1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5" name="椭圆 1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6" name="椭圆 1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52480" y="1526581"/>
              <a:ext cx="841368" cy="1075952"/>
              <a:chOff x="1706250" y="910167"/>
              <a:chExt cx="1435732" cy="1836033"/>
            </a:xfrm>
          </p:grpSpPr>
          <p:sp>
            <p:nvSpPr>
              <p:cNvPr id="179" name="等腰三角形 1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0" name="椭圆 1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1" name="椭圆 1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82" name="椭圆 1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801472" y="1600056"/>
              <a:ext cx="841368" cy="1075952"/>
              <a:chOff x="1706250" y="910167"/>
              <a:chExt cx="1435732" cy="1836033"/>
            </a:xfrm>
          </p:grpSpPr>
          <p:sp>
            <p:nvSpPr>
              <p:cNvPr id="175" name="等腰三角形 1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6" name="椭圆 1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7" name="椭圆 1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8" name="椭圆 1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2939599" y="1692349"/>
              <a:ext cx="841368" cy="1075952"/>
              <a:chOff x="1706250" y="910167"/>
              <a:chExt cx="1435732" cy="1836033"/>
            </a:xfrm>
          </p:grpSpPr>
          <p:sp>
            <p:nvSpPr>
              <p:cNvPr id="171" name="等腰三角形 1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2" name="椭圆 1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3" name="椭圆 1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4" name="椭圆 1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064498" y="1801882"/>
              <a:ext cx="841368" cy="1075952"/>
              <a:chOff x="1706250" y="910167"/>
              <a:chExt cx="1435732" cy="1836033"/>
            </a:xfrm>
          </p:grpSpPr>
          <p:sp>
            <p:nvSpPr>
              <p:cNvPr id="167" name="等腰三角形 1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8" name="椭圆 1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9" name="椭圆 1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70" name="椭圆 1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3174031" y="1926781"/>
              <a:ext cx="841368" cy="1075952"/>
              <a:chOff x="1706250" y="910167"/>
              <a:chExt cx="1435732" cy="1836033"/>
            </a:xfrm>
          </p:grpSpPr>
          <p:sp>
            <p:nvSpPr>
              <p:cNvPr id="163" name="等腰三角形 1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4" name="椭圆 1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5" name="椭圆 1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6" name="椭圆 1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266324" y="2064908"/>
              <a:ext cx="841368" cy="1075952"/>
              <a:chOff x="1706250" y="910167"/>
              <a:chExt cx="1435732" cy="1836033"/>
            </a:xfrm>
          </p:grpSpPr>
          <p:sp>
            <p:nvSpPr>
              <p:cNvPr id="159" name="等腰三角形 1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0" name="椭圆 1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1" name="椭圆 1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62" name="椭圆 1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339799" y="2213900"/>
              <a:ext cx="841368" cy="1075952"/>
              <a:chOff x="1706250" y="910167"/>
              <a:chExt cx="1435732" cy="1836033"/>
            </a:xfrm>
          </p:grpSpPr>
          <p:sp>
            <p:nvSpPr>
              <p:cNvPr id="155" name="等腰三角形 1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6" name="椭圆 1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7" name="椭圆 1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8" name="椭圆 1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3393198" y="2371208"/>
              <a:ext cx="841368" cy="1075952"/>
              <a:chOff x="1706250" y="910167"/>
              <a:chExt cx="1435732" cy="1836033"/>
            </a:xfrm>
          </p:grpSpPr>
          <p:sp>
            <p:nvSpPr>
              <p:cNvPr id="151" name="等腰三角形 1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2" name="椭圆 1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3" name="椭圆 1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4" name="椭圆 1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3425607" y="2534140"/>
              <a:ext cx="841368" cy="1075952"/>
              <a:chOff x="1706250" y="910167"/>
              <a:chExt cx="1435732" cy="1836033"/>
            </a:xfrm>
          </p:grpSpPr>
          <p:sp>
            <p:nvSpPr>
              <p:cNvPr id="147" name="等腰三角形 14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8" name="椭圆 14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9" name="椭圆 14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0" name="椭圆 14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436472" y="2699908"/>
              <a:ext cx="841368" cy="1075952"/>
              <a:chOff x="1706250" y="910167"/>
              <a:chExt cx="1435732" cy="1836033"/>
            </a:xfrm>
          </p:grpSpPr>
          <p:sp>
            <p:nvSpPr>
              <p:cNvPr id="143" name="等腰三角形 14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4" name="椭圆 14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5" name="椭圆 14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6" name="椭圆 14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425607" y="2865676"/>
              <a:ext cx="841368" cy="1075952"/>
              <a:chOff x="1706250" y="910167"/>
              <a:chExt cx="1435732" cy="1836033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0" name="椭圆 13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1" name="椭圆 14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2" name="椭圆 14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393198" y="3028609"/>
              <a:ext cx="841368" cy="1075952"/>
              <a:chOff x="1706250" y="910167"/>
              <a:chExt cx="1435732" cy="1836033"/>
            </a:xfrm>
          </p:grpSpPr>
          <p:sp>
            <p:nvSpPr>
              <p:cNvPr id="135" name="等腰三角形 13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6" name="椭圆 13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7" name="椭圆 13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8" name="椭圆 13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339799" y="3185916"/>
              <a:ext cx="841368" cy="1075952"/>
              <a:chOff x="1706250" y="910167"/>
              <a:chExt cx="1435732" cy="1836033"/>
            </a:xfrm>
          </p:grpSpPr>
          <p:sp>
            <p:nvSpPr>
              <p:cNvPr id="131" name="等腰三角形 13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2" name="椭圆 13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3" name="椭圆 13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4" name="椭圆 13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266324" y="3334908"/>
              <a:ext cx="841368" cy="1075952"/>
              <a:chOff x="1706250" y="910167"/>
              <a:chExt cx="1435732" cy="1836033"/>
            </a:xfrm>
          </p:grpSpPr>
          <p:sp>
            <p:nvSpPr>
              <p:cNvPr id="127" name="等腰三角形 12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8" name="椭圆 12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9" name="椭圆 12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0" name="椭圆 12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174031" y="3473035"/>
              <a:ext cx="841368" cy="1075952"/>
              <a:chOff x="1706250" y="910167"/>
              <a:chExt cx="1435732" cy="1836033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4" name="椭圆 12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5" name="椭圆 12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6" name="椭圆 12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64498" y="3597934"/>
              <a:ext cx="841368" cy="1075952"/>
              <a:chOff x="1706250" y="910167"/>
              <a:chExt cx="1435732" cy="1836033"/>
            </a:xfrm>
          </p:grpSpPr>
          <p:sp>
            <p:nvSpPr>
              <p:cNvPr id="119" name="等腰三角形 11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0" name="椭圆 11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1" name="椭圆 12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2" name="椭圆 12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39599" y="3707467"/>
              <a:ext cx="841368" cy="1075952"/>
              <a:chOff x="1706250" y="910167"/>
              <a:chExt cx="1435732" cy="1836033"/>
            </a:xfrm>
          </p:grpSpPr>
          <p:sp>
            <p:nvSpPr>
              <p:cNvPr id="115" name="等腰三角形 11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6" name="椭圆 11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7" name="椭圆 11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8" name="椭圆 11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2801472" y="3799760"/>
              <a:ext cx="841368" cy="1075952"/>
              <a:chOff x="1706250" y="910167"/>
              <a:chExt cx="1435732" cy="1836033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2" name="椭圆 11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3" name="椭圆 11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4" name="椭圆 11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652480" y="3873235"/>
              <a:ext cx="841368" cy="1075952"/>
              <a:chOff x="1706250" y="910167"/>
              <a:chExt cx="1435732" cy="1836033"/>
            </a:xfrm>
          </p:grpSpPr>
          <p:sp>
            <p:nvSpPr>
              <p:cNvPr id="107" name="等腰三角形 10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8" name="椭圆 10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9" name="椭圆 10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0" name="椭圆 10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495172" y="3926634"/>
              <a:ext cx="841368" cy="1075952"/>
              <a:chOff x="1706250" y="910167"/>
              <a:chExt cx="1435732" cy="1836033"/>
            </a:xfrm>
          </p:grpSpPr>
          <p:sp>
            <p:nvSpPr>
              <p:cNvPr id="103" name="等腰三角形 10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4" name="椭圆 10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5" name="椭圆 10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6" name="椭圆 10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2332240" y="3959043"/>
              <a:ext cx="841368" cy="1075952"/>
              <a:chOff x="1706250" y="910167"/>
              <a:chExt cx="1435732" cy="1836033"/>
            </a:xfrm>
          </p:grpSpPr>
          <p:sp>
            <p:nvSpPr>
              <p:cNvPr id="99" name="等腰三角形 9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0" name="椭圆 9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1" name="椭圆 10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2" name="椭圆 10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166472" y="3969908"/>
              <a:ext cx="841368" cy="1075952"/>
              <a:chOff x="1706250" y="910167"/>
              <a:chExt cx="1435732" cy="1836033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6" name="椭圆 9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7" name="椭圆 9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8" name="椭圆 9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000704" y="3959043"/>
              <a:ext cx="841368" cy="1075952"/>
              <a:chOff x="1706250" y="910167"/>
              <a:chExt cx="1435732" cy="1836033"/>
            </a:xfrm>
          </p:grpSpPr>
          <p:sp>
            <p:nvSpPr>
              <p:cNvPr id="91" name="等腰三角形 9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2" name="椭圆 9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3" name="椭圆 9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4" name="椭圆 9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837772" y="3926634"/>
              <a:ext cx="841368" cy="1075952"/>
              <a:chOff x="1706250" y="910167"/>
              <a:chExt cx="1435732" cy="1836033"/>
            </a:xfrm>
          </p:grpSpPr>
          <p:sp>
            <p:nvSpPr>
              <p:cNvPr id="87" name="等腰三角形 8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8" name="椭圆 8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9" name="椭圆 8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0" name="椭圆 8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0464" y="3873235"/>
              <a:ext cx="841368" cy="1075952"/>
              <a:chOff x="1706250" y="910167"/>
              <a:chExt cx="1435732" cy="1836033"/>
            </a:xfrm>
          </p:grpSpPr>
          <p:sp>
            <p:nvSpPr>
              <p:cNvPr id="83" name="等腰三角形 8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4" name="椭圆 8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5" name="椭圆 8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6" name="椭圆 8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531472" y="3799760"/>
              <a:ext cx="841368" cy="1075952"/>
              <a:chOff x="1706250" y="910167"/>
              <a:chExt cx="1435732" cy="1836033"/>
            </a:xfrm>
          </p:grpSpPr>
          <p:sp>
            <p:nvSpPr>
              <p:cNvPr id="79" name="等腰三角形 7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0" name="椭圆 7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1" name="椭圆 8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2" name="椭圆 8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393345" y="3707467"/>
              <a:ext cx="841368" cy="1075952"/>
              <a:chOff x="1706250" y="910167"/>
              <a:chExt cx="1435732" cy="1836033"/>
            </a:xfrm>
          </p:grpSpPr>
          <p:sp>
            <p:nvSpPr>
              <p:cNvPr id="75" name="等腰三角形 7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6" name="椭圆 7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7" name="椭圆 7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8" name="椭圆 7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268446" y="3597934"/>
              <a:ext cx="841368" cy="1075952"/>
              <a:chOff x="1706250" y="910167"/>
              <a:chExt cx="1435732" cy="1836033"/>
            </a:xfrm>
          </p:grpSpPr>
          <p:sp>
            <p:nvSpPr>
              <p:cNvPr id="71" name="等腰三角形 7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2" name="椭圆 7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3" name="椭圆 7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4" name="椭圆 7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58913" y="3473035"/>
              <a:ext cx="841368" cy="1075952"/>
              <a:chOff x="1706250" y="910167"/>
              <a:chExt cx="1435732" cy="1836033"/>
            </a:xfrm>
          </p:grpSpPr>
          <p:sp>
            <p:nvSpPr>
              <p:cNvPr id="67" name="等腰三角形 66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8" name="椭圆 67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9" name="椭圆 68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0" name="椭圆 69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1066620" y="3334908"/>
              <a:ext cx="841368" cy="1075952"/>
              <a:chOff x="1706250" y="910167"/>
              <a:chExt cx="1435732" cy="1836033"/>
            </a:xfrm>
          </p:grpSpPr>
          <p:sp>
            <p:nvSpPr>
              <p:cNvPr id="63" name="等腰三角形 62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4" name="椭圆 63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5" name="椭圆 64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6" name="椭圆 65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93145" y="3185916"/>
              <a:ext cx="841368" cy="1075952"/>
              <a:chOff x="1706250" y="910167"/>
              <a:chExt cx="1435732" cy="1836033"/>
            </a:xfrm>
          </p:grpSpPr>
          <p:sp>
            <p:nvSpPr>
              <p:cNvPr id="59" name="等腰三角形 58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0" name="椭圆 59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1" name="椭圆 60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62" name="椭圆 61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939746" y="3028609"/>
              <a:ext cx="841368" cy="1075952"/>
              <a:chOff x="1706250" y="910167"/>
              <a:chExt cx="1435732" cy="1836033"/>
            </a:xfrm>
          </p:grpSpPr>
          <p:sp>
            <p:nvSpPr>
              <p:cNvPr id="55" name="等腰三角形 54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6" name="椭圆 55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7" name="椭圆 56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8" name="椭圆 57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907337" y="2865676"/>
              <a:ext cx="841368" cy="1075952"/>
              <a:chOff x="1706250" y="910167"/>
              <a:chExt cx="1435732" cy="1836033"/>
            </a:xfrm>
          </p:grpSpPr>
          <p:sp>
            <p:nvSpPr>
              <p:cNvPr id="51" name="等腰三角形 50"/>
              <p:cNvSpPr/>
              <p:nvPr/>
            </p:nvSpPr>
            <p:spPr>
              <a:xfrm>
                <a:off x="1785450" y="956733"/>
                <a:ext cx="1334833" cy="1710267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2" name="椭圆 51"/>
              <p:cNvSpPr/>
              <p:nvPr/>
            </p:nvSpPr>
            <p:spPr>
              <a:xfrm flipH="1" flipV="1">
                <a:off x="2406300" y="910167"/>
                <a:ext cx="93132" cy="9313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3" name="椭圆 52"/>
              <p:cNvSpPr/>
              <p:nvPr/>
            </p:nvSpPr>
            <p:spPr>
              <a:xfrm flipH="1" flipV="1">
                <a:off x="1706250" y="2587800"/>
                <a:ext cx="158400" cy="1584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54" name="椭圆 53"/>
              <p:cNvSpPr/>
              <p:nvPr/>
            </p:nvSpPr>
            <p:spPr>
              <a:xfrm flipV="1">
                <a:off x="3088424" y="2649848"/>
                <a:ext cx="53558" cy="5355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sp>
        <p:nvSpPr>
          <p:cNvPr id="243" name="椭圆 242"/>
          <p:cNvSpPr/>
          <p:nvPr userDrawn="1"/>
        </p:nvSpPr>
        <p:spPr>
          <a:xfrm>
            <a:off x="1724135" y="1715225"/>
            <a:ext cx="2061035" cy="22900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5" name="文本占位符 244"/>
          <p:cNvSpPr>
            <a:spLocks noGrp="1"/>
          </p:cNvSpPr>
          <p:nvPr>
            <p:ph type="body" sz="quarter" idx="10"/>
          </p:nvPr>
        </p:nvSpPr>
        <p:spPr>
          <a:xfrm>
            <a:off x="2174082" y="2330980"/>
            <a:ext cx="1150144" cy="1120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246" name="椭圆 245"/>
          <p:cNvSpPr/>
          <p:nvPr userDrawn="1"/>
        </p:nvSpPr>
        <p:spPr>
          <a:xfrm>
            <a:off x="5057290" y="1380357"/>
            <a:ext cx="158816" cy="17646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7" name="椭圆 246"/>
          <p:cNvSpPr/>
          <p:nvPr userDrawn="1"/>
        </p:nvSpPr>
        <p:spPr>
          <a:xfrm>
            <a:off x="5057290" y="1958002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n>
                <a:solidFill>
                  <a:schemeClr val="bg1">
                    <a:lumMod val="7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248" name="椭圆 247"/>
          <p:cNvSpPr/>
          <p:nvPr userDrawn="1"/>
        </p:nvSpPr>
        <p:spPr>
          <a:xfrm>
            <a:off x="5057290" y="2535646"/>
            <a:ext cx="158816" cy="1764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49" name="椭圆 248"/>
          <p:cNvSpPr/>
          <p:nvPr userDrawn="1"/>
        </p:nvSpPr>
        <p:spPr>
          <a:xfrm>
            <a:off x="5057290" y="3113290"/>
            <a:ext cx="158816" cy="17646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50" name="椭圆 249"/>
          <p:cNvSpPr/>
          <p:nvPr userDrawn="1"/>
        </p:nvSpPr>
        <p:spPr>
          <a:xfrm>
            <a:off x="5057290" y="3690934"/>
            <a:ext cx="158816" cy="17646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51" name="椭圆 250"/>
          <p:cNvSpPr/>
          <p:nvPr userDrawn="1"/>
        </p:nvSpPr>
        <p:spPr>
          <a:xfrm>
            <a:off x="5057290" y="4268577"/>
            <a:ext cx="158816" cy="176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58" name="文本占位符 251"/>
          <p:cNvSpPr>
            <a:spLocks noGrp="1"/>
          </p:cNvSpPr>
          <p:nvPr>
            <p:ph type="body" sz="quarter" idx="11"/>
          </p:nvPr>
        </p:nvSpPr>
        <p:spPr>
          <a:xfrm>
            <a:off x="5460532" y="1341750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59" name="文本占位符 251"/>
          <p:cNvSpPr>
            <a:spLocks noGrp="1"/>
          </p:cNvSpPr>
          <p:nvPr>
            <p:ph type="body" sz="quarter" idx="12"/>
          </p:nvPr>
        </p:nvSpPr>
        <p:spPr>
          <a:xfrm>
            <a:off x="5460532" y="1916293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0" name="文本占位符 251"/>
          <p:cNvSpPr>
            <a:spLocks noGrp="1"/>
          </p:cNvSpPr>
          <p:nvPr>
            <p:ph type="body" sz="quarter" idx="13"/>
          </p:nvPr>
        </p:nvSpPr>
        <p:spPr>
          <a:xfrm>
            <a:off x="5460532" y="2490835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1" name="文本占位符 251"/>
          <p:cNvSpPr>
            <a:spLocks noGrp="1"/>
          </p:cNvSpPr>
          <p:nvPr>
            <p:ph type="body" sz="quarter" idx="14"/>
          </p:nvPr>
        </p:nvSpPr>
        <p:spPr>
          <a:xfrm>
            <a:off x="5460532" y="3065378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2" name="文本占位符 251"/>
          <p:cNvSpPr>
            <a:spLocks noGrp="1"/>
          </p:cNvSpPr>
          <p:nvPr>
            <p:ph type="body" sz="quarter" idx="15"/>
          </p:nvPr>
        </p:nvSpPr>
        <p:spPr>
          <a:xfrm>
            <a:off x="5460532" y="4214462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  <p:sp>
        <p:nvSpPr>
          <p:cNvPr id="263" name="文本占位符 251"/>
          <p:cNvSpPr>
            <a:spLocks noGrp="1"/>
          </p:cNvSpPr>
          <p:nvPr>
            <p:ph type="body" sz="quarter" idx="16"/>
          </p:nvPr>
        </p:nvSpPr>
        <p:spPr>
          <a:xfrm>
            <a:off x="5460532" y="3639920"/>
            <a:ext cx="1512570" cy="2793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zh-CN" altLang="en-US" sz="1350" smtClean="0">
                <a:cs typeface="+mn-ea"/>
              </a:defRPr>
            </a:lvl1pPr>
            <a:lvl2pPr>
              <a:defRPr lang="zh-CN" altLang="en-US" sz="1350" smtClean="0"/>
            </a:lvl2pPr>
            <a:lvl3pPr>
              <a:defRPr lang="zh-CN" altLang="en-US" sz="135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 defTabSz="685800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868" b="92817"/>
          <a:stretch>
            <a:fillRect/>
          </a:stretch>
        </p:blipFill>
        <p:spPr>
          <a:xfrm>
            <a:off x="2406650" y="451557"/>
            <a:ext cx="4330701" cy="4811887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289399" y="2483556"/>
            <a:ext cx="2565202" cy="74788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buNone/>
              <a:defRPr sz="4500" b="1"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571501" y="0"/>
            <a:ext cx="3809999" cy="4515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25475" y="43099"/>
            <a:ext cx="2568575" cy="38452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2100" b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­_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266" t="29452" r="25122" b="10679"/>
          <a:stretch>
            <a:fillRect/>
          </a:stretch>
        </p:blipFill>
        <p:spPr>
          <a:xfrm>
            <a:off x="6864351" y="-1"/>
            <a:ext cx="2279650" cy="261055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571501" y="0"/>
            <a:ext cx="3809999" cy="4515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4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25475" y="33514"/>
            <a:ext cx="2568575" cy="38452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2100" b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868" r="50000" b="92817"/>
          <a:stretch>
            <a:fillRect/>
          </a:stretch>
        </p:blipFill>
        <p:spPr>
          <a:xfrm>
            <a:off x="6727824" y="172862"/>
            <a:ext cx="2416176" cy="5369277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571501" y="0"/>
            <a:ext cx="3809999" cy="4515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25475" y="33514"/>
            <a:ext cx="2568575" cy="38452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2100" b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50000" t="12948" r="2266" b="10678"/>
          <a:stretch>
            <a:fillRect/>
          </a:stretch>
        </p:blipFill>
        <p:spPr>
          <a:xfrm>
            <a:off x="0" y="1157111"/>
            <a:ext cx="1701800" cy="378177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571501" y="0"/>
            <a:ext cx="3809999" cy="4515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25475" y="33514"/>
            <a:ext cx="2568575" cy="38452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2100" b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868" r="31950" b="94516"/>
          <a:stretch>
            <a:fillRect/>
          </a:stretch>
        </p:blipFill>
        <p:spPr>
          <a:xfrm>
            <a:off x="6750051" y="2857500"/>
            <a:ext cx="2393950" cy="28575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571501" y="0"/>
            <a:ext cx="3809999" cy="4515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25475" y="33514"/>
            <a:ext cx="2568575" cy="38452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2100" b="1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5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1501" y="0"/>
            <a:ext cx="3809999" cy="4515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25475" y="33514"/>
            <a:ext cx="2568575" cy="384528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sz="2100" b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1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5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7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5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5">
                <a:solidFill>
                  <a:schemeClr val="tx1">
                    <a:tint val="75000"/>
                  </a:schemeClr>
                </a:solidFill>
              </a:defRPr>
            </a:lvl1pPr>
            <a:lvl2pPr marL="3810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2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3pPr>
            <a:lvl4pPr marL="114300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4pPr>
            <a:lvl5pPr marL="152400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5pPr>
            <a:lvl6pPr marL="190500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6pPr>
            <a:lvl7pPr marL="228600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7pPr>
            <a:lvl8pPr marL="266700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8pPr>
            <a:lvl9pPr marL="304800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5"/>
            </a:lvl1pPr>
            <a:lvl2pPr>
              <a:defRPr sz="2000"/>
            </a:lvl2pPr>
            <a:lvl3pPr>
              <a:defRPr sz="166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5"/>
            </a:lvl1pPr>
            <a:lvl2pPr>
              <a:defRPr sz="2000"/>
            </a:lvl2pPr>
            <a:lvl3pPr>
              <a:defRPr sz="166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665" b="1"/>
            </a:lvl2pPr>
            <a:lvl3pPr marL="762000" indent="0">
              <a:buNone/>
              <a:defRPr sz="1500" b="1"/>
            </a:lvl3pPr>
            <a:lvl4pPr marL="1143000" indent="0">
              <a:buNone/>
              <a:defRPr sz="1335" b="1"/>
            </a:lvl4pPr>
            <a:lvl5pPr marL="1524000" indent="0">
              <a:buNone/>
              <a:defRPr sz="1335" b="1"/>
            </a:lvl5pPr>
            <a:lvl6pPr marL="1905000" indent="0">
              <a:buNone/>
              <a:defRPr sz="1335" b="1"/>
            </a:lvl6pPr>
            <a:lvl7pPr marL="2286000" indent="0">
              <a:buNone/>
              <a:defRPr sz="1335" b="1"/>
            </a:lvl7pPr>
            <a:lvl8pPr marL="2667000" indent="0">
              <a:buNone/>
              <a:defRPr sz="1335" b="1"/>
            </a:lvl8pPr>
            <a:lvl9pPr marL="3048000" indent="0">
              <a:buNone/>
              <a:defRPr sz="13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5"/>
            </a:lvl2pPr>
            <a:lvl3pPr>
              <a:defRPr sz="15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665" b="1"/>
            </a:lvl2pPr>
            <a:lvl3pPr marL="762000" indent="0">
              <a:buNone/>
              <a:defRPr sz="1500" b="1"/>
            </a:lvl3pPr>
            <a:lvl4pPr marL="1143000" indent="0">
              <a:buNone/>
              <a:defRPr sz="1335" b="1"/>
            </a:lvl4pPr>
            <a:lvl5pPr marL="1524000" indent="0">
              <a:buNone/>
              <a:defRPr sz="1335" b="1"/>
            </a:lvl5pPr>
            <a:lvl6pPr marL="1905000" indent="0">
              <a:buNone/>
              <a:defRPr sz="1335" b="1"/>
            </a:lvl6pPr>
            <a:lvl7pPr marL="2286000" indent="0">
              <a:buNone/>
              <a:defRPr sz="1335" b="1"/>
            </a:lvl7pPr>
            <a:lvl8pPr marL="2667000" indent="0">
              <a:buNone/>
              <a:defRPr sz="1335" b="1"/>
            </a:lvl8pPr>
            <a:lvl9pPr marL="3048000" indent="0">
              <a:buNone/>
              <a:defRPr sz="13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5"/>
            </a:lvl2pPr>
            <a:lvl3pPr>
              <a:defRPr sz="15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5"/>
            </a:lvl1pPr>
            <a:lvl2pPr>
              <a:defRPr sz="2335"/>
            </a:lvl2pPr>
            <a:lvl3pPr>
              <a:defRPr sz="2000"/>
            </a:lvl3pPr>
            <a:lvl4pPr>
              <a:defRPr sz="1665"/>
            </a:lvl4pPr>
            <a:lvl5pPr>
              <a:defRPr sz="1665"/>
            </a:lvl5pPr>
            <a:lvl6pPr>
              <a:defRPr sz="1665"/>
            </a:lvl6pPr>
            <a:lvl7pPr>
              <a:defRPr sz="1665"/>
            </a:lvl7pPr>
            <a:lvl8pPr>
              <a:defRPr sz="1665"/>
            </a:lvl8pPr>
            <a:lvl9pPr>
              <a:defRPr sz="16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5"/>
            </a:lvl1pPr>
            <a:lvl2pPr marL="381000" indent="0">
              <a:buNone/>
              <a:defRPr sz="1000"/>
            </a:lvl2pPr>
            <a:lvl3pPr marL="762000" indent="0">
              <a:buNone/>
              <a:defRPr sz="835"/>
            </a:lvl3pPr>
            <a:lvl4pPr marL="1143000" indent="0">
              <a:buNone/>
              <a:defRPr sz="750"/>
            </a:lvl4pPr>
            <a:lvl5pPr marL="1524000" indent="0">
              <a:buNone/>
              <a:defRPr sz="750"/>
            </a:lvl5pPr>
            <a:lvl6pPr marL="1905000" indent="0">
              <a:buNone/>
              <a:defRPr sz="750"/>
            </a:lvl6pPr>
            <a:lvl7pPr marL="2286000" indent="0">
              <a:buNone/>
              <a:defRPr sz="750"/>
            </a:lvl7pPr>
            <a:lvl8pPr marL="2667000" indent="0">
              <a:buNone/>
              <a:defRPr sz="750"/>
            </a:lvl8pPr>
            <a:lvl9pPr marL="30480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5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5"/>
            </a:lvl1pPr>
            <a:lvl2pPr marL="381000" indent="0">
              <a:buNone/>
              <a:defRPr sz="2335"/>
            </a:lvl2pPr>
            <a:lvl3pPr marL="762000" indent="0">
              <a:buNone/>
              <a:defRPr sz="2000"/>
            </a:lvl3pPr>
            <a:lvl4pPr marL="1143000" indent="0">
              <a:buNone/>
              <a:defRPr sz="1665"/>
            </a:lvl4pPr>
            <a:lvl5pPr marL="1524000" indent="0">
              <a:buNone/>
              <a:defRPr sz="1665"/>
            </a:lvl5pPr>
            <a:lvl6pPr marL="1905000" indent="0">
              <a:buNone/>
              <a:defRPr sz="1665"/>
            </a:lvl6pPr>
            <a:lvl7pPr marL="2286000" indent="0">
              <a:buNone/>
              <a:defRPr sz="1665"/>
            </a:lvl7pPr>
            <a:lvl8pPr marL="2667000" indent="0">
              <a:buNone/>
              <a:defRPr sz="1665"/>
            </a:lvl8pPr>
            <a:lvl9pPr marL="3048000" indent="0">
              <a:buNone/>
              <a:defRPr sz="1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5"/>
            </a:lvl1pPr>
            <a:lvl2pPr marL="381000" indent="0">
              <a:buNone/>
              <a:defRPr sz="1000"/>
            </a:lvl2pPr>
            <a:lvl3pPr marL="762000" indent="0">
              <a:buNone/>
              <a:defRPr sz="835"/>
            </a:lvl3pPr>
            <a:lvl4pPr marL="1143000" indent="0">
              <a:buNone/>
              <a:defRPr sz="750"/>
            </a:lvl4pPr>
            <a:lvl5pPr marL="1524000" indent="0">
              <a:buNone/>
              <a:defRPr sz="750"/>
            </a:lvl5pPr>
            <a:lvl6pPr marL="1905000" indent="0">
              <a:buNone/>
              <a:defRPr sz="750"/>
            </a:lvl6pPr>
            <a:lvl7pPr marL="2286000" indent="0">
              <a:buNone/>
              <a:defRPr sz="750"/>
            </a:lvl7pPr>
            <a:lvl8pPr marL="2667000" indent="0">
              <a:buNone/>
              <a:defRPr sz="750"/>
            </a:lvl8pPr>
            <a:lvl9pPr marL="30480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31511"/>
            <a:ext cx="7772400" cy="9525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333501"/>
            <a:ext cx="7772400" cy="377560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5209646"/>
            <a:ext cx="1981200" cy="3810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5207000"/>
            <a:ext cx="2971800" cy="3810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81800" y="520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393A93C3-EEDA-4048-95FC-7732EAD84F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31511"/>
            <a:ext cx="7772400" cy="9525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914400" y="1333501"/>
            <a:ext cx="3810000" cy="377560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4876800" y="1333501"/>
            <a:ext cx="3810000" cy="377560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5209646"/>
            <a:ext cx="1981200" cy="3810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5207000"/>
            <a:ext cx="2971800" cy="3810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781800" y="520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8856E53E-BC24-4D6F-880C-8D73A40B5E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87364-380A-41FE-BB48-1FC1A5687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2BEBC-482A-4280-9789-2DA40BC881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F59C3-E956-41A1-AB56-F64CFAC31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2245A-6BA9-4D33-A1ED-6A96EC9B39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defTabSz="762000" rtl="0" eaLnBrk="1" latinLnBrk="0" hangingPunct="1">
        <a:spcBef>
          <a:spcPct val="0"/>
        </a:spcBef>
        <a:buNone/>
        <a:defRPr sz="36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762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1pPr>
      <a:lvl2pPr marL="619125" indent="-238125" algn="l" defTabSz="7620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095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476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238500" indent="-190500" algn="l" defTabSz="762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microsoft.com/office/2007/relationships/hdphoto" Target="../media/image21.wdp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microsoft.com/office/2007/relationships/hdphoto" Target="../media/image21.wdp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5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7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1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6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6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223" cy="571500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3419872" y="2713484"/>
            <a:ext cx="4500594" cy="139404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161220122  </a:t>
            </a:r>
            <a:r>
              <a:rPr kumimoji="0" lang="zh-CN" altLang="en-US" sz="2400" b="1" i="0" u="none" strike="noStrike" kern="1200" cap="none" spc="0" normalizeH="0" baseline="0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万泽钰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r">
              <a:defRPr/>
            </a:pPr>
            <a:r>
              <a:rPr lang="en-US" altLang="zh-CN" sz="2400" dirty="0">
                <a:cs typeface="+mn-ea"/>
                <a:sym typeface="+mn-lt"/>
              </a:rPr>
              <a:t>151220018 </a:t>
            </a:r>
            <a:r>
              <a:rPr lang="zh-CN" altLang="en-US" sz="2400" dirty="0">
                <a:cs typeface="+mn-ea"/>
                <a:sym typeface="+mn-lt"/>
              </a:rPr>
              <a:t>储宏程</a:t>
            </a:r>
            <a:endParaRPr lang="en-US" altLang="zh-CN" sz="2400" dirty="0"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476267" y="1705372"/>
            <a:ext cx="6192688" cy="69678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软件发布的质量</a:t>
            </a:r>
            <a:endParaRPr kumimoji="0" lang="en-US" altLang="zh-CN" sz="40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" y="4904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sz="2400" b="1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发布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576" y="1633364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 </a:t>
            </a:r>
            <a:r>
              <a:rPr lang="en-US" altLang="zh-CN" dirty="0"/>
              <a:t>2017 </a:t>
            </a:r>
            <a:r>
              <a:rPr lang="zh-CN" altLang="en-US" dirty="0"/>
              <a:t>年的 </a:t>
            </a:r>
            <a:r>
              <a:rPr lang="en-US" altLang="zh-CN" dirty="0"/>
              <a:t>DevOps </a:t>
            </a:r>
            <a:r>
              <a:rPr lang="zh-CN" altLang="en-US" dirty="0"/>
              <a:t>发展报告，高效能组织和低效能组织在软件交付的效率上有</a:t>
            </a:r>
            <a:r>
              <a:rPr lang="zh-CN" altLang="en-US" dirty="0" smtClean="0"/>
              <a:t>数量级的差距。</a:t>
            </a:r>
            <a:r>
              <a:rPr lang="zh-CN" altLang="en-US" dirty="0"/>
              <a:t>技术组织的软件交付能力是一种综合能力，涉及众多环节，其中发布是尤为重要的环节。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5576" y="2556694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单服务器组发布：机器资源紧张，应用机器是</a:t>
            </a:r>
            <a:r>
              <a:rPr lang="zh-CN" altLang="en-US" dirty="0"/>
              <a:t>预先静态分配</a:t>
            </a:r>
            <a:r>
              <a:rPr lang="zh-CN" altLang="en-US" dirty="0" smtClean="0"/>
              <a:t>好的（一般由</a:t>
            </a:r>
            <a:r>
              <a:rPr lang="zh-CN" altLang="en-US" dirty="0"/>
              <a:t>运维负责分配），原来应用 </a:t>
            </a:r>
            <a:r>
              <a:rPr lang="en-US" altLang="zh-CN" dirty="0"/>
              <a:t>A </a:t>
            </a:r>
            <a:r>
              <a:rPr lang="zh-CN" altLang="en-US" dirty="0"/>
              <a:t>安装</a:t>
            </a:r>
            <a:r>
              <a:rPr lang="zh-CN" altLang="en-US" dirty="0" smtClean="0"/>
              <a:t>在 </a:t>
            </a:r>
            <a:r>
              <a:rPr lang="en-US" altLang="zh-CN" dirty="0"/>
              <a:t>n </a:t>
            </a:r>
            <a:r>
              <a:rPr lang="zh-CN" altLang="en-US" dirty="0"/>
              <a:t>台机器上，那么下次升级发布的应用 </a:t>
            </a:r>
            <a:r>
              <a:rPr lang="en-US" altLang="zh-CN" dirty="0"/>
              <a:t>A </a:t>
            </a:r>
            <a:r>
              <a:rPr lang="en-US" altLang="zh-CN" dirty="0" smtClean="0"/>
              <a:t>+</a:t>
            </a:r>
            <a:r>
              <a:rPr lang="zh-CN" altLang="en-US" dirty="0" smtClean="0"/>
              <a:t>也</a:t>
            </a:r>
            <a:r>
              <a:rPr lang="zh-CN" altLang="en-US" dirty="0"/>
              <a:t>安装</a:t>
            </a:r>
            <a:r>
              <a:rPr lang="zh-CN" altLang="en-US" dirty="0" smtClean="0"/>
              <a:t>在</a:t>
            </a:r>
            <a:r>
              <a:rPr lang="zh-CN" altLang="en-US" dirty="0"/>
              <a:t>这 </a:t>
            </a:r>
            <a:r>
              <a:rPr lang="en-US" altLang="zh-CN" dirty="0"/>
              <a:t>n </a:t>
            </a:r>
            <a:r>
              <a:rPr lang="zh-CN" altLang="en-US" dirty="0"/>
              <a:t>台机器</a:t>
            </a:r>
            <a:r>
              <a:rPr lang="zh-CN" altLang="en-US" dirty="0" smtClean="0"/>
              <a:t>上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37683" y="3450610"/>
            <a:ext cx="7087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双服务器组发布：随着</a:t>
            </a:r>
            <a:r>
              <a:rPr lang="zh-CN" altLang="en-US" dirty="0"/>
              <a:t>云计算和虚拟化技术的成熟，特别是容器等轻量级虚拟化技术的引入，计算资源受限和申请缓慢问题已经逐步解决，可以做到弹性按需分配。为一次发布分配两组服务器，一组运行现有的 </a:t>
            </a:r>
            <a:r>
              <a:rPr lang="en-US" altLang="zh-CN" dirty="0"/>
              <a:t>V1 </a:t>
            </a:r>
            <a:r>
              <a:rPr lang="zh-CN" altLang="en-US" dirty="0"/>
              <a:t>老版本，一组运行待上线的 </a:t>
            </a:r>
            <a:r>
              <a:rPr lang="en-US" altLang="zh-CN" dirty="0"/>
              <a:t>V2 </a:t>
            </a:r>
            <a:r>
              <a:rPr lang="zh-CN" altLang="en-US" dirty="0"/>
              <a:t>新版本，</a:t>
            </a:r>
            <a:r>
              <a:rPr lang="zh-CN" altLang="en-US" dirty="0" smtClean="0"/>
              <a:t>再通</a:t>
            </a:r>
            <a:r>
              <a:rPr lang="zh-CN" altLang="en-US" dirty="0"/>
              <a:t>过</a:t>
            </a:r>
            <a:r>
              <a:rPr lang="zh-CN" altLang="en-US" dirty="0" smtClean="0"/>
              <a:t>切换</a:t>
            </a:r>
            <a:r>
              <a:rPr lang="zh-CN" altLang="en-US" dirty="0"/>
              <a:t>流量方式完成</a:t>
            </a:r>
            <a:r>
              <a:rPr lang="zh-CN" altLang="en-US" dirty="0" smtClean="0"/>
              <a:t>发布。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8227" y="4952137"/>
            <a:ext cx="714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其他发布方式：针对关键新功能上线发布或者一些特定场景，存在一些特殊的发布方式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单服务器组发布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蛮力发布：类似传统软件升级，手工完成，停用所有老版本</a:t>
            </a:r>
            <a:r>
              <a:rPr lang="en-US" altLang="zh-CN" dirty="0" smtClean="0"/>
              <a:t>V1</a:t>
            </a:r>
            <a:r>
              <a:rPr lang="zh-CN" altLang="en-US" dirty="0" smtClean="0"/>
              <a:t>，再发布新版本</a:t>
            </a:r>
            <a:r>
              <a:rPr lang="en-US" altLang="zh-CN" dirty="0" smtClean="0"/>
              <a:t>V2</a:t>
            </a:r>
            <a:r>
              <a:rPr lang="zh-CN" altLang="en-US" dirty="0" smtClean="0"/>
              <a:t>到机器上。引入服务中断，会直接影响用户的使用体验，一般不建议。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58" y="2614242"/>
            <a:ext cx="3711020" cy="28780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66" y="2425452"/>
            <a:ext cx="3946264" cy="24418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单服务器组发布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灰度（金丝雀）发布：是</a:t>
            </a:r>
            <a:r>
              <a:rPr lang="zh-CN" altLang="en-US" dirty="0"/>
              <a:t>增量发布的一种类型</a:t>
            </a:r>
            <a:r>
              <a:rPr lang="zh-CN" altLang="en-US" dirty="0" smtClean="0"/>
              <a:t>，是</a:t>
            </a:r>
            <a:r>
              <a:rPr lang="zh-CN" altLang="en-US" dirty="0"/>
              <a:t>在原有版本可用的情况下，同时部署一个新版本应用作为</a:t>
            </a:r>
            <a:r>
              <a:rPr lang="zh-CN" altLang="en-US" dirty="0" smtClean="0"/>
              <a:t>“金丝雀”， 测试</a:t>
            </a:r>
            <a:r>
              <a:rPr lang="zh-CN" altLang="en-US" dirty="0"/>
              <a:t>新版本的性能和表现，以保障整体系统稳定的情况下，尽早发现、调整</a:t>
            </a:r>
            <a:r>
              <a:rPr lang="zh-CN" altLang="en-US" dirty="0" smtClean="0"/>
              <a:t>问题。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86" y="2748237"/>
            <a:ext cx="3856797" cy="261005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3616"/>
          <a:stretch>
            <a:fillRect/>
          </a:stretch>
        </p:blipFill>
        <p:spPr>
          <a:xfrm>
            <a:off x="4300205" y="2929508"/>
            <a:ext cx="3668575" cy="1909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单服务器组发布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3.</a:t>
            </a:r>
            <a:r>
              <a:rPr lang="zh-CN" altLang="en-US" dirty="0" smtClean="0"/>
              <a:t>滚动发布：</a:t>
            </a:r>
            <a:r>
              <a:rPr lang="zh-CN" altLang="en-US" dirty="0"/>
              <a:t>在金丝雀发布基础上的进一步优化改进</a:t>
            </a:r>
            <a:r>
              <a:rPr lang="zh-CN" altLang="en-US" dirty="0" smtClean="0"/>
              <a:t>，用户</a:t>
            </a:r>
            <a:r>
              <a:rPr lang="zh-CN" altLang="en-US" dirty="0"/>
              <a:t>体验比较平滑，是目前成熟型技术组织所采用的主流发布</a:t>
            </a:r>
            <a:r>
              <a:rPr lang="zh-CN" altLang="en-US" dirty="0" smtClean="0"/>
              <a:t>方式。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464658"/>
            <a:ext cx="2692524" cy="29462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358263"/>
            <a:ext cx="3394360" cy="28360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t="440" r="30585"/>
          <a:stretch>
            <a:fillRect/>
          </a:stretch>
        </p:blipFill>
        <p:spPr>
          <a:xfrm>
            <a:off x="5957876" y="2425452"/>
            <a:ext cx="2574564" cy="27136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双</a:t>
            </a:r>
            <a:r>
              <a:rPr lang="zh-CN" altLang="en-US" sz="2400" b="1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服务器组发布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蓝绿发布：仅</a:t>
            </a:r>
            <a:r>
              <a:rPr lang="zh-CN" altLang="en-US" dirty="0"/>
              <a:t>适用于双服务器组发布，可以认为是对蛮力发布的一种简单优化发布方式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9729" t="8080" r="12442" b="14208"/>
          <a:stretch>
            <a:fillRect/>
          </a:stretch>
        </p:blipFill>
        <p:spPr>
          <a:xfrm>
            <a:off x="832665" y="2785492"/>
            <a:ext cx="3773431" cy="15121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3680" t="8189" r="14627" b="1"/>
          <a:stretch>
            <a:fillRect/>
          </a:stretch>
        </p:blipFill>
        <p:spPr>
          <a:xfrm>
            <a:off x="4562488" y="2984908"/>
            <a:ext cx="3672409" cy="136062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00545" y="443443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发布前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6037054" y="442479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发布后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双</a:t>
            </a:r>
            <a:r>
              <a:rPr kumimoji="0" lang="zh-CN" altLang="en-US" sz="2400" b="1" i="0" u="none" strike="noStrike" kern="1200" cap="none" spc="0" normalizeH="0" baseline="0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服务器组发布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灰度（金丝雀</a:t>
            </a:r>
            <a:r>
              <a:rPr lang="zh-CN" altLang="en-US" dirty="0">
                <a:solidFill>
                  <a:prstClr val="black"/>
                </a:solidFill>
              </a:rPr>
              <a:t>）</a:t>
            </a:r>
            <a:r>
              <a:rPr lang="zh-CN" altLang="en-US" dirty="0" smtClean="0">
                <a:solidFill>
                  <a:prstClr val="black"/>
                </a:solidFill>
              </a:rPr>
              <a:t>发布</a:t>
            </a:r>
            <a:endParaRPr lang="en-US" altLang="zh-CN" dirty="0" smtClean="0">
              <a:solidFill>
                <a:prstClr val="black"/>
              </a:solidFill>
            </a:endParaRPr>
          </a:p>
          <a:p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滚动发布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3839" r="13755"/>
          <a:stretch>
            <a:fillRect/>
          </a:stretch>
        </p:blipFill>
        <p:spPr>
          <a:xfrm>
            <a:off x="796619" y="2569468"/>
            <a:ext cx="4063413" cy="185934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610513"/>
            <a:ext cx="3952279" cy="1777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kumimoji="0" lang="zh-CN" altLang="en-US" sz="2400" b="1" i="0" u="none" strike="noStrike" kern="1200" cap="none" spc="0" normalizeH="0" baseline="0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发布：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prstClr val="black"/>
                </a:solidFill>
              </a:rPr>
              <a:t>1.</a:t>
            </a:r>
            <a:r>
              <a:rPr lang="zh-CN" altLang="en-US" dirty="0" smtClean="0">
                <a:solidFill>
                  <a:prstClr val="black"/>
                </a:solidFill>
              </a:rPr>
              <a:t>功能开关发布：利用</a:t>
            </a:r>
            <a:r>
              <a:rPr lang="zh-CN" altLang="en-US" dirty="0">
                <a:solidFill>
                  <a:prstClr val="black"/>
                </a:solidFill>
              </a:rPr>
              <a:t>代码中的功能开关</a:t>
            </a:r>
            <a:r>
              <a:rPr lang="zh-CN" altLang="en-US" dirty="0" smtClean="0">
                <a:solidFill>
                  <a:prstClr val="black"/>
                </a:solidFill>
              </a:rPr>
              <a:t>（</a:t>
            </a:r>
            <a:r>
              <a:rPr lang="en-US" altLang="zh-CN" dirty="0" smtClean="0">
                <a:solidFill>
                  <a:prstClr val="black"/>
                </a:solidFill>
              </a:rPr>
              <a:t>Flag/Toggle/Switch</a:t>
            </a:r>
            <a:r>
              <a:rPr lang="zh-CN" altLang="en-US" dirty="0">
                <a:solidFill>
                  <a:prstClr val="black"/>
                </a:solidFill>
              </a:rPr>
              <a:t>）来控制发布逻辑，一般不需要复杂的发布工具和智能 </a:t>
            </a:r>
            <a:r>
              <a:rPr lang="en-US" altLang="zh-CN" dirty="0">
                <a:solidFill>
                  <a:prstClr val="black"/>
                </a:solidFill>
              </a:rPr>
              <a:t>LB </a:t>
            </a:r>
            <a:r>
              <a:rPr lang="zh-CN" altLang="en-US" dirty="0">
                <a:solidFill>
                  <a:prstClr val="black"/>
                </a:solidFill>
              </a:rPr>
              <a:t>配合，是一种相对比较低成本和简单的发布方式。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36" y="2825272"/>
            <a:ext cx="5347320" cy="20768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808312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kumimoji="0" lang="zh-CN" altLang="en-US" sz="2400" b="1" i="0" u="none" strike="noStrike" kern="1200" cap="none" spc="0" normalizeH="0" baseline="0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发布：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565359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2.A/B</a:t>
            </a:r>
            <a:r>
              <a:rPr lang="zh-CN" altLang="en-US" dirty="0" smtClean="0"/>
              <a:t>测试：原来</a:t>
            </a:r>
            <a:r>
              <a:rPr lang="zh-CN" altLang="en-US" dirty="0"/>
              <a:t>主要用于产品功能的比对测试，收集用户反馈和对比数据做产品功能设计的决策。实际上，</a:t>
            </a:r>
            <a:r>
              <a:rPr lang="en-US" altLang="zh-CN" dirty="0"/>
              <a:t>A/B </a:t>
            </a:r>
            <a:r>
              <a:rPr lang="zh-CN" altLang="en-US" dirty="0"/>
              <a:t>测试也可以作为一种新功能发布</a:t>
            </a:r>
            <a:r>
              <a:rPr lang="zh-CN" altLang="en-US" dirty="0" smtClean="0"/>
              <a:t>技术：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737" y="2857892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6619" y="4065106"/>
            <a:ext cx="70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488689"/>
            <a:ext cx="4614703" cy="289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9" y="784"/>
            <a:ext cx="9145255" cy="5714216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27584" y="193204"/>
            <a:ext cx="2016224" cy="43204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endParaRPr kumimoji="0" lang="en-US" altLang="zh-CN" sz="24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22448" y="844343"/>
          <a:ext cx="8082543" cy="4673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70"/>
                <a:gridCol w="701335"/>
                <a:gridCol w="1332537"/>
                <a:gridCol w="981869"/>
                <a:gridCol w="911736"/>
                <a:gridCol w="981869"/>
                <a:gridCol w="1052003"/>
                <a:gridCol w="928924"/>
              </a:tblGrid>
              <a:tr h="68051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发布策略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零停机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生产流量测试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针对特定目标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机器资源成本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回退间隔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用户负面体验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搭建复杂度</a:t>
                      </a:r>
                      <a:endParaRPr lang="zh-CN" altLang="en-US" dirty="0"/>
                    </a:p>
                  </a:txBody>
                  <a:tcPr/>
                </a:tc>
              </a:tr>
              <a:tr h="34299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蛮力发布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慢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</a:tr>
              <a:tr h="54308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灰度发布（单）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慢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</a:tr>
              <a:tr h="54308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滚动发布（单）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慢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</a:tr>
              <a:tr h="34299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蓝绿发布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</a:tr>
              <a:tr h="54308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灰度发布（双）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</a:tr>
              <a:tr h="54308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滚动发布（双）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</a:tr>
              <a:tr h="54308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功能开关发布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</a:tr>
              <a:tr h="34299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A/B</a:t>
                      </a:r>
                      <a:r>
                        <a:rPr lang="zh-CN" altLang="en-US" sz="1600" dirty="0" smtClean="0"/>
                        <a:t>测试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椭圆 1023"/>
          <p:cNvSpPr/>
          <p:nvPr/>
        </p:nvSpPr>
        <p:spPr>
          <a:xfrm>
            <a:off x="5057290" y="1528072"/>
            <a:ext cx="158816" cy="1588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45" name="椭圆 644"/>
          <p:cNvSpPr/>
          <p:nvPr/>
        </p:nvSpPr>
        <p:spPr>
          <a:xfrm>
            <a:off x="5057290" y="2047951"/>
            <a:ext cx="158816" cy="15881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ln>
                <a:solidFill>
                  <a:srgbClr val="FFFFFF">
                    <a:lumMod val="75000"/>
                  </a:srgbClr>
                </a:solidFill>
              </a:ln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46" name="椭圆 645"/>
          <p:cNvSpPr/>
          <p:nvPr/>
        </p:nvSpPr>
        <p:spPr>
          <a:xfrm>
            <a:off x="5057290" y="2567831"/>
            <a:ext cx="158816" cy="15881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47" name="椭圆 646"/>
          <p:cNvSpPr/>
          <p:nvPr/>
        </p:nvSpPr>
        <p:spPr>
          <a:xfrm>
            <a:off x="5057290" y="3087711"/>
            <a:ext cx="158816" cy="1588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48" name="椭圆 647"/>
          <p:cNvSpPr/>
          <p:nvPr/>
        </p:nvSpPr>
        <p:spPr>
          <a:xfrm>
            <a:off x="5057290" y="3607591"/>
            <a:ext cx="158816" cy="15881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25" name="矩形 1024"/>
          <p:cNvSpPr/>
          <p:nvPr/>
        </p:nvSpPr>
        <p:spPr>
          <a:xfrm>
            <a:off x="5435534" y="1468980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zh-CN" altLang="en-US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软件发布</a:t>
            </a:r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55" name="矩形 654"/>
          <p:cNvSpPr/>
          <p:nvPr/>
        </p:nvSpPr>
        <p:spPr>
          <a:xfrm>
            <a:off x="5435534" y="1989395"/>
            <a:ext cx="193777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zh-CN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Part 1  </a:t>
            </a:r>
            <a:r>
              <a:rPr lang="zh-CN" altLang="en-US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软件发布的历史</a:t>
            </a:r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56" name="矩形 655"/>
          <p:cNvSpPr/>
          <p:nvPr/>
        </p:nvSpPr>
        <p:spPr>
          <a:xfrm>
            <a:off x="5435534" y="2509810"/>
            <a:ext cx="245714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zh-CN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Part 2  </a:t>
            </a:r>
            <a:r>
              <a:rPr lang="zh-CN" altLang="en-US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软件开发后的生命周期</a:t>
            </a:r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57" name="矩形 656"/>
          <p:cNvSpPr/>
          <p:nvPr/>
        </p:nvSpPr>
        <p:spPr>
          <a:xfrm>
            <a:off x="5435534" y="3030226"/>
            <a:ext cx="245714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zh-CN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Part 3  </a:t>
            </a:r>
            <a:r>
              <a:rPr lang="zh-CN" altLang="en-US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软件发布机制体系结构</a:t>
            </a:r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59" name="矩形 658"/>
          <p:cNvSpPr/>
          <p:nvPr/>
        </p:nvSpPr>
        <p:spPr>
          <a:xfrm>
            <a:off x="5435534" y="3550641"/>
            <a:ext cx="228402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zh-CN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Part 4  </a:t>
            </a:r>
            <a:r>
              <a:rPr lang="zh-CN" altLang="en-US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软件发布中的安全性</a:t>
            </a:r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29" name="文本占位符 102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 defTabSz="685800">
              <a:lnSpc>
                <a:spcPct val="100000"/>
              </a:lnSpc>
              <a:spcBef>
                <a:spcPts val="0"/>
              </a:spcBef>
            </a:pPr>
            <a:r>
              <a:rPr lang="zh-CN" altLang="en-US" sz="3600" b="1" dirty="0">
                <a:ln w="3175">
                  <a:solidFill>
                    <a:srgbClr val="000000">
                      <a:lumMod val="50000"/>
                      <a:lumOff val="50000"/>
                    </a:srgbClr>
                  </a:solidFill>
                </a:ln>
                <a:solidFill>
                  <a:srgbClr val="FFFFFF"/>
                </a:solidFill>
                <a:cs typeface="+mn-ea"/>
                <a:sym typeface="+mn-lt"/>
              </a:rPr>
              <a:t>目录</a:t>
            </a:r>
            <a:endParaRPr lang="en-US" altLang="zh-CN" sz="3600" b="1" dirty="0">
              <a:ln w="3175">
                <a:solidFill>
                  <a:srgbClr val="000000">
                    <a:lumMod val="50000"/>
                    <a:lumOff val="50000"/>
                  </a:srgbClr>
                </a:solidFill>
              </a:ln>
              <a:solidFill>
                <a:srgbClr val="FFFFFF"/>
              </a:solidFill>
              <a:cs typeface="+mn-ea"/>
              <a:sym typeface="+mn-lt"/>
            </a:endParaRPr>
          </a:p>
          <a:p>
            <a:pPr algn="ctr" defTabSz="685800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dirty="0">
                <a:ln>
                  <a:solidFill>
                    <a:srgbClr val="000000">
                      <a:lumMod val="50000"/>
                      <a:lumOff val="50000"/>
                    </a:srgbClr>
                  </a:solidFill>
                </a:ln>
                <a:solidFill>
                  <a:srgbClr val="FFFFFF"/>
                </a:solidFill>
                <a:cs typeface="+mn-ea"/>
                <a:sym typeface="+mn-lt"/>
              </a:rPr>
              <a:t>Content</a:t>
            </a:r>
            <a:endParaRPr lang="zh-CN" altLang="en-US" sz="1800" b="1" dirty="0">
              <a:ln>
                <a:solidFill>
                  <a:srgbClr val="000000">
                    <a:lumMod val="50000"/>
                    <a:lumOff val="50000"/>
                  </a:srgbClr>
                </a:solidFill>
              </a:ln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435533" y="4071056"/>
            <a:ext cx="107215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zh-CN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Part 5  </a:t>
            </a:r>
            <a:r>
              <a:rPr lang="zh-CN" altLang="en-US" sz="13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总结</a:t>
            </a:r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29702" y="1166652"/>
            <a:ext cx="1672253" cy="3404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altLang="zh-CN" sz="21525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zh-CN" altLang="en-US" sz="21525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>
                <a:cs typeface="+mn-ea"/>
                <a:sym typeface="+mn-lt"/>
              </a:rPr>
              <a:t>软件发布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  <a:cs typeface="+mn-ea"/>
                <a:sym typeface="+mn-lt"/>
              </a:rPr>
              <a:t>软件发布的历史</a:t>
            </a:r>
            <a:endParaRPr lang="zh-CN" altLang="en-US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58785" y="479260"/>
            <a:ext cx="7830449" cy="2456960"/>
            <a:chOff x="611714" y="258014"/>
            <a:chExt cx="5252710" cy="3170986"/>
          </a:xfrm>
        </p:grpSpPr>
        <p:grpSp>
          <p:nvGrpSpPr>
            <p:cNvPr id="15" name="组合 14"/>
            <p:cNvGrpSpPr/>
            <p:nvPr/>
          </p:nvGrpSpPr>
          <p:grpSpPr>
            <a:xfrm>
              <a:off x="611714" y="258014"/>
              <a:ext cx="5252710" cy="3170986"/>
              <a:chOff x="1291167" y="1160058"/>
              <a:chExt cx="5252710" cy="3170986"/>
            </a:xfrm>
          </p:grpSpPr>
          <p:sp>
            <p:nvSpPr>
              <p:cNvPr id="7" name="等腰三角形 6"/>
              <p:cNvSpPr/>
              <p:nvPr/>
            </p:nvSpPr>
            <p:spPr>
              <a:xfrm>
                <a:off x="1291167" y="3811036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1443567" y="2045044"/>
                <a:ext cx="5100310" cy="2286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" name="梯形 4"/>
              <p:cNvSpPr/>
              <p:nvPr/>
            </p:nvSpPr>
            <p:spPr>
              <a:xfrm rot="18877615">
                <a:off x="569134" y="2256802"/>
                <a:ext cx="2990172" cy="796684"/>
              </a:xfrm>
              <a:prstGeom prst="trapezoid">
                <a:avLst>
                  <a:gd name="adj" fmla="val 100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" name="等腰三角形 5"/>
              <p:cNvSpPr/>
              <p:nvPr/>
            </p:nvSpPr>
            <p:spPr>
              <a:xfrm>
                <a:off x="3222023" y="1862138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345448" y="1396833"/>
              <a:ext cx="221728" cy="536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altLang="zh-CN" sz="21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21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185533" y="1478574"/>
              <a:ext cx="123919" cy="38729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457200"/>
              <a:endPara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231830" y="1818796"/>
              <a:ext cx="3429412" cy="3515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457200">
                <a:lnSpc>
                  <a:spcPct val="130000"/>
                </a:lnSpc>
              </a:pPr>
              <a:endParaRPr lang="zh-CN" altLang="en-US" sz="9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58785" y="2409661"/>
            <a:ext cx="7830449" cy="2320132"/>
            <a:chOff x="611714" y="258014"/>
            <a:chExt cx="5252710" cy="3170986"/>
          </a:xfrm>
        </p:grpSpPr>
        <p:grpSp>
          <p:nvGrpSpPr>
            <p:cNvPr id="57" name="组合 56"/>
            <p:cNvGrpSpPr/>
            <p:nvPr/>
          </p:nvGrpSpPr>
          <p:grpSpPr>
            <a:xfrm>
              <a:off x="611714" y="258014"/>
              <a:ext cx="5252710" cy="3170986"/>
              <a:chOff x="1291167" y="1160058"/>
              <a:chExt cx="5252710" cy="3170986"/>
            </a:xfrm>
          </p:grpSpPr>
          <p:sp>
            <p:nvSpPr>
              <p:cNvPr id="61" name="等腰三角形 60"/>
              <p:cNvSpPr/>
              <p:nvPr/>
            </p:nvSpPr>
            <p:spPr>
              <a:xfrm>
                <a:off x="1291167" y="3811036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443567" y="2045044"/>
                <a:ext cx="5100310" cy="2286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3" name="梯形 62"/>
              <p:cNvSpPr/>
              <p:nvPr/>
            </p:nvSpPr>
            <p:spPr>
              <a:xfrm rot="18877615">
                <a:off x="569134" y="2256802"/>
                <a:ext cx="2990172" cy="796684"/>
              </a:xfrm>
              <a:prstGeom prst="trapezoid">
                <a:avLst>
                  <a:gd name="adj" fmla="val 100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4" name="等腰三角形 63"/>
              <p:cNvSpPr/>
              <p:nvPr/>
            </p:nvSpPr>
            <p:spPr>
              <a:xfrm>
                <a:off x="3222023" y="1862138"/>
                <a:ext cx="181055" cy="182906"/>
              </a:xfrm>
              <a:prstGeom prst="triangle">
                <a:avLst>
                  <a:gd name="adj" fmla="val 10000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zh-CN" alt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1345448" y="1396833"/>
              <a:ext cx="221728" cy="5678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altLang="zh-CN" sz="21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21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2231830" y="1818797"/>
              <a:ext cx="3429412" cy="757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/>
              <a:r>
                <a:rPr lang="zh-CN" altLang="en-US" sz="150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随后出现了基于网络的软件发布工具</a:t>
              </a:r>
              <a:r>
                <a:rPr lang="en-US" altLang="zh-CN" sz="150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,</a:t>
              </a:r>
              <a:r>
                <a:rPr lang="zh-CN" altLang="en-US" sz="150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主要用于局域网内操作系统和应用软件的安装</a:t>
              </a:r>
              <a:r>
                <a:rPr lang="en-US" altLang="zh-CN" sz="150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,</a:t>
              </a:r>
              <a:r>
                <a:rPr lang="zh-CN" altLang="en-US" sz="150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特别是无人值守下软件的安装</a:t>
              </a:r>
              <a:r>
                <a:rPr lang="zh-CN" altLang="en-US" sz="900" dirty="0">
                  <a:solidFill>
                    <a:srgbClr val="000000"/>
                  </a:solidFill>
                  <a:latin typeface="Century Gothic"/>
                  <a:ea typeface="微软雅黑" panose="020B0503020204020204" pitchFamily="34" charset="-122"/>
                </a:rPr>
                <a:t>。 </a:t>
              </a:r>
              <a:endParaRPr lang="zh-CN" altLang="en-US" sz="90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005593" y="1496336"/>
            <a:ext cx="47051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早期的软件发布以光盘等物理媒介作为介质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它发布周期长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速度慢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而且费用高。</a:t>
            </a:r>
            <a:endParaRPr lang="zh-CN" altLang="en-US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25475" y="315912"/>
            <a:ext cx="2928758" cy="346076"/>
          </a:xfrm>
        </p:spPr>
        <p:txBody>
          <a:bodyPr/>
          <a:lstStyle/>
          <a:p>
            <a:r>
              <a:rPr lang="zh-CN" altLang="en-US" b="1" dirty="0" smtClean="0"/>
              <a:t>基于网络的软件发布工具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554603" y="1114673"/>
            <a:ext cx="6052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*远程引导技术包括早期的由 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Microsoft 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开发的 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RPL 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技术以及后来更先进的由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Intel 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开发的 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PXE 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技术 </a:t>
            </a:r>
            <a:endParaRPr lang="en-US" altLang="zh-CN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*网络克隆软件有 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Symantec Ghost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和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Windows Server 2003 RIS</a:t>
            </a:r>
            <a:endParaRPr lang="zh-CN" altLang="en-US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基于脚本的网络安装工具 有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Kickstart</a:t>
            </a:r>
            <a:endParaRPr lang="en-US" altLang="zh-CN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endParaRPr lang="zh-CN" altLang="en-US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*映像安装工具有</a:t>
            </a:r>
            <a:r>
              <a:rPr lang="en-US" altLang="zh-CN" sz="1500" dirty="0" err="1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SystemImager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suite </a:t>
            </a:r>
            <a:endParaRPr lang="en-US" altLang="zh-CN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en-US" altLang="zh-CN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*基于包的部署工具一般用在开源系统中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典型产品有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Red </a:t>
            </a:r>
            <a:r>
              <a:rPr lang="en-US" altLang="zh-CN" sz="1500" dirty="0" err="1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Carpet,APT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 Loki-</a:t>
            </a:r>
            <a:r>
              <a:rPr lang="en-US" altLang="zh-CN" sz="1500" dirty="0" err="1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Update,RPM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-</a:t>
            </a:r>
            <a:r>
              <a:rPr lang="en-US" altLang="zh-CN" sz="1500" dirty="0" err="1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Update,Nix,SWUP,Portage</a:t>
            </a:r>
            <a:r>
              <a:rPr lang="en-US" altLang="zh-CN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等 </a:t>
            </a:r>
            <a:endParaRPr lang="en-US" altLang="zh-CN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5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这些包部署工具一般都提供了一定程度的软件更新功能 </a:t>
            </a:r>
            <a:endParaRPr lang="zh-CN" altLang="en-US" sz="15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/>
              <a:t>软件开发后的生命周期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2" y="974759"/>
            <a:ext cx="4433288" cy="33780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11148" y="1037149"/>
            <a:ext cx="4037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图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是 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Software Dock </a:t>
            </a:r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定义的软件开发后生命周期体系结构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里面涉及到的活动如下：</a:t>
            </a:r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发布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(release)</a:t>
            </a:r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	</a:t>
            </a:r>
            <a:r>
              <a:rPr lang="zh-CN" altLang="is-I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安装</a:t>
            </a:r>
            <a:r>
              <a:rPr lang="is-I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(install) </a:t>
            </a:r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is-IS" altLang="zh-CN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激活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(activation) </a:t>
            </a:r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	</a:t>
            </a:r>
            <a:r>
              <a:rPr lang="zh-CN" altLang="ro-RO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反激活</a:t>
            </a:r>
            <a:r>
              <a:rPr lang="ro-RO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(de-activation)</a:t>
            </a:r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ro-RO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endParaRPr lang="ro-RO" altLang="zh-CN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ro-RO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更新</a:t>
            </a:r>
            <a:r>
              <a:rPr lang="ro-RO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(update </a:t>
            </a:r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）	适配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(adapt) </a:t>
            </a:r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fr-FR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反安装</a:t>
            </a:r>
            <a:r>
              <a:rPr lang="fr-FR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(de-installation) </a:t>
            </a:r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反发布</a:t>
            </a:r>
            <a:r>
              <a:rPr lang="en-US" altLang="zh-CN" sz="135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(de-release) </a:t>
            </a:r>
            <a:endParaRPr lang="en-US" altLang="zh-CN" sz="1350" b="1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/>
              <a:t>软件开发后的生命周期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2093181" y="1066966"/>
            <a:ext cx="639284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发布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(release):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软件发布过程是软件开发过程和软件部署过程之间的接口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它包括了为了在终端站点上进行安装的所有准备措施和宣传活动。 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安装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(install):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安装活动需要搜集所有必要的信息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所以它通常是部署过程中最复杂的。安装活动使用发布过程所创建的软件包。对于一个特定的软件包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安装过程需要解释包中包含的所有知识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检查目标站点的配置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以决定如何将软件系 统正确地配置到目标站点上。 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激活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(activation):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激活过程指的是以一定的次序启动软件 系统的各个组件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使得软件系统能够正确地运行。 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反激活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(de-activation):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反激活是激活的逆过程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指的是关闭一个已安装系统的任何正在执行的组件。反激活过程可能需要以一定的次序执行其它的部署活动。例如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在执行更新前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系统可能需要反激活。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/>
              <a:t>软件开发后的生命周期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057400" y="1174308"/>
            <a:ext cx="6339178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更新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(update):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更新指的是修改在某一终端站点上已安装 的软件系统。从抽象的观点来看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软件安装是一个特殊的更 新过程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此时消费站点不存在组件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所有的组件必须被更新。 软件的更新包括静态更新和动态更新。 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适配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(adapt):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适配过程指的是修改消费站点上已安装的软 件系统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它与更新过程的区别在于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更新由远程事件激发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而 适配由本地事件激发。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反安装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(de-installation):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在某个时候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某软件系统在给定消 费站点上不再需要时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它将被卸载。反安装不是一个简单的 过程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特别要注意防止对共享资源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如数据文件、运行库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的引 用悬空。反安装需要检查系统的当前状态、依赖和约束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删除 特定的软件包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并且不违反这些软件包的依赖和约束关系。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反发布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(de-release):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最终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软件系统会过时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并且被软件生产商撤销支持。反发布与反安装是不同的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反安装使得软件 不再被用于安装到消费站点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但它并不已安装在用户站点上 的软件。软件消费者可以继续使用该软件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而不需知道该软 件已经过时。但是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反发布至少应该试图通知正在使用该软 件的用户</a:t>
            </a:r>
            <a:r>
              <a:rPr lang="en-US" altLang="zh-CN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</a:t>
            </a:r>
            <a:r>
              <a: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软件的支持已经被撤销了。 </a:t>
            </a:r>
            <a:endParaRPr lang="zh-CN" altLang="en-US" sz="13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/>
              <a:t>软件发布机制体系结构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69" y="1017395"/>
            <a:ext cx="4366842" cy="342548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33176" y="1017395"/>
            <a:ext cx="3774882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软件开发者：</a:t>
            </a:r>
            <a:endParaRPr kumimoji="1"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负责软件的开发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向软件注册服务器提交软件逻辑结构描述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向软件分发服务器提交软件的部署格式以及部署描述。 </a:t>
            </a:r>
            <a:endParaRPr lang="en-US" altLang="zh-CN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软件分发服务器与镜像软件分发服务器 ：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主要用于保存软件的各种部署包和对应的部署描述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并提供软件的分发服务。 </a:t>
            </a:r>
            <a:endParaRPr lang="en-US" altLang="zh-CN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软件注册服务器 ：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保存软件的逻辑描述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向用户提供软件查询服务。软件的查询服务可以以 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Web 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的形式提供给终端用户</a:t>
            </a:r>
            <a:endParaRPr lang="en-US" altLang="zh-CN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安全验证服务器 ：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向终端用户提供软件的安全性验证、使用许可验证等服务</a:t>
            </a:r>
            <a:endParaRPr lang="en-US" altLang="zh-CN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软件使用者 ：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软件使用者是软件的最终消费者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可以是普通用户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也可以是分布式系统下的计算节点 </a:t>
            </a:r>
            <a:endParaRPr lang="en-US" altLang="zh-CN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kumimoji="1"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用户配置管理服务器 ：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用于保存如下信息</a:t>
            </a:r>
            <a:r>
              <a: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</a:t>
            </a:r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用户在部署软件时所提交的部署参数、软件运行时所改变的配置信息、运行时产生的文档。</a:t>
            </a:r>
            <a:endParaRPr lang="en-US" altLang="zh-CN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 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分布式系统部署者 </a:t>
            </a:r>
            <a:endParaRPr lang="zh-CN" altLang="en-US" sz="105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3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69491" y="285750"/>
            <a:ext cx="3342368" cy="346076"/>
          </a:xfrm>
        </p:spPr>
        <p:txBody>
          <a:bodyPr/>
          <a:lstStyle/>
          <a:p>
            <a:r>
              <a:rPr lang="zh-CN" altLang="en-US" sz="1350" b="1" dirty="0"/>
              <a:t>软件发布机制体系结构对生命周期的支持</a:t>
            </a:r>
            <a:endParaRPr lang="zh-CN" altLang="en-US" sz="1350" b="1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75862" y="999541"/>
            <a:ext cx="51365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发布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软件发布活动由软件开发者发起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主要工作有 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3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部分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向软件注册服务器提交软件逻辑结构描述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;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向软件分发服务器提交软件部署包及其对应的部署描述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;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向安全验证服务器提交验证密码等。 </a:t>
            </a:r>
            <a:endParaRPr lang="en-US" altLang="zh-CN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反发布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软件开发者向注册服务器提交声明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表明不再开发该软件的后续版本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不再为现有软件提供支持。 </a:t>
            </a:r>
            <a:endParaRPr lang="en-US" altLang="zh-CN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安装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客户端安装软件前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一般要在注册服务器上进行查询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然后根据软件的描述信息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从软件分发服务器上下载软件部署包和部署描述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然后根据部署描述进行安装。如果所需的依赖条件未能满足，系统将根据具体情况进行处理。比如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如果安装需要第三方软件支持而该软件还未安装时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则系统递归执行安装活动。 </a:t>
            </a:r>
            <a:endParaRPr lang="en-US" altLang="zh-CN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激活与反激活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在客户端部署软件时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可能需要激活或反激活相应的软件和组件。软件和组件之间的激活或反激活存在一定的依赖关系。 </a:t>
            </a:r>
            <a:endParaRPr lang="en-US" altLang="zh-CN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更新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更新包括静态更新和动态更新。软件的动态更新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根据更新粒度的不同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其实现的复杂性也有不同。 </a:t>
            </a:r>
            <a:endParaRPr lang="en-US" altLang="zh-CN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endParaRPr lang="zh-CN" altLang="en-US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反安装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在软件的安装过程中</a:t>
            </a:r>
            <a:r>
              <a:rPr lang="en-US" altLang="zh-CN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rPr>
              <a:t>系统保留了软件逻辑结构描述以及安装时的配置信息。这些信息可用于软件的反安装。 </a:t>
            </a:r>
            <a:endParaRPr lang="zh-CN" altLang="en-US" sz="1200" dirty="0">
              <a:solidFill>
                <a:srgbClr val="FFFFFF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6794" y="285751"/>
            <a:ext cx="3417206" cy="24632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795" y="2749033"/>
            <a:ext cx="3459453" cy="2636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>
                <a:cs typeface="+mn-ea"/>
                <a:sym typeface="+mn-lt"/>
              </a:rPr>
              <a:t>软件发布中的安全性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8292" y="1173262"/>
            <a:ext cx="2603675" cy="3614639"/>
            <a:chOff x="664390" y="1183348"/>
            <a:chExt cx="3471566" cy="4819519"/>
          </a:xfrm>
        </p:grpSpPr>
        <p:sp>
          <p:nvSpPr>
            <p:cNvPr id="6" name="矩形 5"/>
            <p:cNvSpPr/>
            <p:nvPr/>
          </p:nvSpPr>
          <p:spPr>
            <a:xfrm>
              <a:off x="869420" y="1366253"/>
              <a:ext cx="3266536" cy="46366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2209800" y="1183348"/>
              <a:ext cx="184076" cy="185958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>
              <a:off x="667561" y="2703934"/>
              <a:ext cx="201859" cy="203923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pic>
          <p:nvPicPr>
            <p:cNvPr id="1030" name="Picture 6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66"/>
            <a:stretch>
              <a:fillRect/>
            </a:stretch>
          </p:blipFill>
          <p:spPr bwMode="auto">
            <a:xfrm>
              <a:off x="986657" y="1494046"/>
              <a:ext cx="3026544" cy="30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直角三角形 6"/>
            <p:cNvSpPr/>
            <p:nvPr/>
          </p:nvSpPr>
          <p:spPr>
            <a:xfrm rot="5400000">
              <a:off x="666878" y="1180860"/>
              <a:ext cx="1724510" cy="172948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986657" y="4722548"/>
              <a:ext cx="3026543" cy="3631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7200">
                <a:lnSpc>
                  <a:spcPct val="130000"/>
                </a:lnSpc>
              </a:pPr>
              <a:r>
                <a:rPr lang="zh-CN" altLang="en-US" sz="90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rPr>
                <a:t>。</a:t>
              </a:r>
              <a:endParaRPr lang="zh-CN" altLang="en-US" sz="9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381193" y="1173262"/>
            <a:ext cx="2603675" cy="3614639"/>
            <a:chOff x="4508257" y="1183348"/>
            <a:chExt cx="3471566" cy="4819519"/>
          </a:xfrm>
        </p:grpSpPr>
        <p:sp>
          <p:nvSpPr>
            <p:cNvPr id="22" name="矩形 21"/>
            <p:cNvSpPr/>
            <p:nvPr/>
          </p:nvSpPr>
          <p:spPr>
            <a:xfrm>
              <a:off x="4713287" y="1366253"/>
              <a:ext cx="3266536" cy="46366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6053667" y="1183348"/>
              <a:ext cx="184076" cy="185958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4511428" y="2703934"/>
              <a:ext cx="201859" cy="203923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pic>
          <p:nvPicPr>
            <p:cNvPr id="25" name="Picture 6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66"/>
            <a:stretch>
              <a:fillRect/>
            </a:stretch>
          </p:blipFill>
          <p:spPr bwMode="auto">
            <a:xfrm>
              <a:off x="4830524" y="1494046"/>
              <a:ext cx="3026544" cy="30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直角三角形 25"/>
            <p:cNvSpPr/>
            <p:nvPr/>
          </p:nvSpPr>
          <p:spPr>
            <a:xfrm rot="5400000">
              <a:off x="4510745" y="1180860"/>
              <a:ext cx="1724510" cy="172948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278345" y="1173262"/>
            <a:ext cx="2603675" cy="3614639"/>
            <a:chOff x="8352124" y="1183348"/>
            <a:chExt cx="3471566" cy="4819519"/>
          </a:xfrm>
        </p:grpSpPr>
        <p:sp>
          <p:nvSpPr>
            <p:cNvPr id="27" name="矩形 26"/>
            <p:cNvSpPr/>
            <p:nvPr/>
          </p:nvSpPr>
          <p:spPr>
            <a:xfrm>
              <a:off x="8557154" y="1366253"/>
              <a:ext cx="3266536" cy="463661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8" name="等腰三角形 27"/>
            <p:cNvSpPr/>
            <p:nvPr/>
          </p:nvSpPr>
          <p:spPr>
            <a:xfrm>
              <a:off x="9897534" y="1183348"/>
              <a:ext cx="184076" cy="185958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8355295" y="2703934"/>
              <a:ext cx="201859" cy="203923"/>
            </a:xfrm>
            <a:prstGeom prst="triangle">
              <a:avLst>
                <a:gd name="adj" fmla="val 10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pic>
          <p:nvPicPr>
            <p:cNvPr id="30" name="Picture 6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66"/>
            <a:stretch>
              <a:fillRect/>
            </a:stretch>
          </p:blipFill>
          <p:spPr bwMode="auto">
            <a:xfrm>
              <a:off x="8674391" y="1494046"/>
              <a:ext cx="3026544" cy="302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直角三角形 30"/>
            <p:cNvSpPr/>
            <p:nvPr/>
          </p:nvSpPr>
          <p:spPr>
            <a:xfrm rot="5400000">
              <a:off x="8354612" y="1180860"/>
              <a:ext cx="1724510" cy="1729486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52065" y="1312730"/>
            <a:ext cx="467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2400" b="1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41919" y="1312730"/>
            <a:ext cx="411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2400" b="1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2</a:t>
            </a:r>
            <a:endParaRPr lang="zh-CN" altLang="en-US" sz="2400" b="1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45392" y="1327359"/>
            <a:ext cx="385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2400" b="1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3</a:t>
            </a:r>
            <a:endParaRPr lang="zh-CN" altLang="en-US" sz="2400" b="1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32315" y="3800624"/>
            <a:ext cx="2215992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zh-CN" altLang="en-US" sz="405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身份验证</a:t>
            </a:r>
            <a:endParaRPr lang="zh-CN" altLang="en-US" sz="405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28444" y="3776896"/>
            <a:ext cx="1699727" cy="69249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685800"/>
            <a:r>
              <a:rPr lang="zh-CN" altLang="en-US" sz="405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ea typeface="微软雅黑" panose="020B0503020204020204" pitchFamily="34" charset="-122"/>
              </a:rPr>
              <a:t>完整性</a:t>
            </a:r>
            <a:endParaRPr lang="zh-CN" altLang="en-US" sz="405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82993" y="3755119"/>
            <a:ext cx="1696618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r>
              <a:rPr lang="zh-CN" altLang="en-US" sz="405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Gothic"/>
                <a:ea typeface="微软雅黑" panose="020B0503020204020204" pitchFamily="34" charset="-122"/>
              </a:rPr>
              <a:t>机密性</a:t>
            </a:r>
            <a:endParaRPr lang="zh-CN" altLang="en-US" sz="405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Gothic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>
                <a:cs typeface="+mn-ea"/>
                <a:sym typeface="+mn-lt"/>
              </a:rPr>
              <a:t>软件发布中的安全性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2933700"/>
            <a:ext cx="9144000" cy="1879405"/>
            <a:chOff x="0" y="3530600"/>
            <a:chExt cx="12192000" cy="2505873"/>
          </a:xfrm>
        </p:grpSpPr>
        <p:pic>
          <p:nvPicPr>
            <p:cNvPr id="2050" name="Picture 2" descr="http://dc.office.msn.com.cn/t/22/C815E52C30F35F2CDC85619412EDF15E.jpg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617" b="31834"/>
            <a:stretch>
              <a:fillRect/>
            </a:stretch>
          </p:blipFill>
          <p:spPr bwMode="auto">
            <a:xfrm>
              <a:off x="0" y="3530600"/>
              <a:ext cx="12192000" cy="2505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/>
            <p:cNvSpPr/>
            <p:nvPr/>
          </p:nvSpPr>
          <p:spPr>
            <a:xfrm>
              <a:off x="0" y="3530600"/>
              <a:ext cx="12192000" cy="2505873"/>
            </a:xfrm>
            <a:prstGeom prst="rect">
              <a:avLst/>
            </a:prstGeom>
            <a:solidFill>
              <a:schemeClr val="tx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178243" y="4043823"/>
              <a:ext cx="24630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endParaRPr lang="zh-CN" altLang="en-US" sz="660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793067" y="4372533"/>
              <a:ext cx="0" cy="851400"/>
            </a:xfrm>
            <a:prstGeom prst="line">
              <a:avLst/>
            </a:prstGeom>
            <a:ln>
              <a:solidFill>
                <a:schemeClr val="bg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3983855" y="3828737"/>
              <a:ext cx="7640877" cy="1846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/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保护数据的机密性</a:t>
              </a:r>
              <a:r>
                <a:rPr lang="en-US" altLang="zh-CN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,</a:t>
              </a:r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这也是软件更新的安全需求中最重要的一点。</a:t>
              </a:r>
              <a:endPara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endParaRPr>
            </a:p>
            <a:p>
              <a:pPr defTabSz="685800"/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软件更新中有两类机密性目标：</a:t>
              </a:r>
              <a:endPara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endParaRPr>
            </a:p>
            <a:p>
              <a:pPr defTabSz="685800"/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分发内容的机密性：</a:t>
              </a:r>
              <a:endPara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endParaRPr>
            </a:p>
            <a:p>
              <a:pPr defTabSz="685800"/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软件供应商向用户分发具有知识产权的软件产品及其描述信息，其中某些具有商业机密。因此，需要保证这些分发内容的机密性。</a:t>
              </a:r>
              <a:endPara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endParaRPr>
            </a:p>
            <a:p>
              <a:pPr defTabSz="685800"/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用户配置的机密性 ：</a:t>
              </a:r>
              <a:endParaRPr lang="en-US" altLang="zh-CN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endParaRPr>
            </a:p>
            <a:p>
              <a:pPr defTabSz="685800"/>
              <a:r>
                <a:rPr lang="zh-CN" altLang="en-US" sz="10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</a:rPr>
                <a:t>用户在请求更新时要提供它们的身份信息还有节点配置的详细信息。通常，用户不希望透露这些配置信息，这样会暴露他们的安全薄弱点。因此，必须保证这些配置信息的机密性。</a:t>
              </a:r>
              <a:endParaRPr lang="zh-CN" altLang="en-US" sz="1050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4572000" y="1343466"/>
            <a:ext cx="0" cy="1145734"/>
          </a:xfrm>
          <a:prstGeom prst="line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83683" y="1193425"/>
            <a:ext cx="118754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/>
            <a:r>
              <a:rPr lang="zh-CN" altLang="en-US" sz="1500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身份验证</a:t>
            </a:r>
            <a:endParaRPr lang="zh-CN" altLang="en-US" sz="1500" b="1" dirty="0">
              <a:solidFill>
                <a:srgbClr val="000000">
                  <a:lumMod val="85000"/>
                  <a:lumOff val="15000"/>
                </a:srgbClr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80015" y="1448591"/>
            <a:ext cx="3442444" cy="1433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需要建立消息和数据的验证机制来保证消息是来自正确的源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即对消息的发起者进行身份验证。</a:t>
            </a:r>
            <a:endParaRPr lang="en-US" altLang="zh-CN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包括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: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验证软件供应商。检验软件的来源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用户需要验证软件供应商的身份。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验证软件用户，当用户向供应商发出请求时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供应商需要确定请求者是否是许可用户。  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algn="just" defTabSz="457200">
              <a:lnSpc>
                <a:spcPct val="130000"/>
              </a:lnSpc>
            </a:pPr>
            <a:endParaRPr lang="zh-CN" altLang="en-US" sz="1050" dirty="0">
              <a:solidFill>
                <a:srgbClr val="000000">
                  <a:lumMod val="85000"/>
                  <a:lumOff val="15000"/>
                </a:srgbClr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19751" y="1264058"/>
            <a:ext cx="158816" cy="15881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150499" y="1193425"/>
            <a:ext cx="112634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/>
            <a:r>
              <a:rPr lang="zh-CN" altLang="en-US" sz="1500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完整性</a:t>
            </a:r>
            <a:endParaRPr lang="zh-CN" altLang="en-US" sz="1500" b="1" dirty="0">
              <a:solidFill>
                <a:srgbClr val="000000">
                  <a:lumMod val="85000"/>
                  <a:lumOff val="15000"/>
                </a:srgbClr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081806" y="1448591"/>
            <a:ext cx="34424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数据必须是完整的、未被篡改的。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在软件更新中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,</a:t>
            </a:r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完整性需求体现在 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3 </a:t>
            </a:r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个方面</a:t>
            </a:r>
            <a:r>
              <a:rPr lang="en-US" altLang="zh-CN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: 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软件完整性。从供应商分发的软件必须完整地到达用户 节点。 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软件描述的完整性。软件的描述信息必须完整地到达用 户节点。 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050" dirty="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</a:rPr>
              <a:t>配置信息完整性。用户的配置信息在传输给供应商时不 能被未授权的用户篡改。</a:t>
            </a:r>
            <a:endParaRPr lang="zh-CN" altLang="en-US" sz="1050" dirty="0">
              <a:solidFill>
                <a:srgbClr val="000000"/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921543" y="1264058"/>
            <a:ext cx="158816" cy="15881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5476" y="3565150"/>
            <a:ext cx="1984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3600" dirty="0">
                <a:solidFill>
                  <a:srgbClr val="FFFFFF">
                    <a:lumMod val="85000"/>
                  </a:srgbClr>
                </a:solidFill>
                <a:latin typeface="Century Gothic"/>
                <a:ea typeface="微软雅黑" panose="020B0503020204020204" pitchFamily="34" charset="-122"/>
              </a:rPr>
              <a:t>机密性</a:t>
            </a:r>
            <a:endParaRPr lang="zh-CN" altLang="en-US" sz="3600" dirty="0">
              <a:solidFill>
                <a:srgbClr val="FFFFFF">
                  <a:lumMod val="85000"/>
                </a:srgbClr>
              </a:solidFill>
              <a:latin typeface="Century Gothic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418744" y="3781665"/>
            <a:ext cx="158816" cy="15881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srgbClr val="FFFFFF"/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 smtClean="0">
                <a:cs typeface="+mn-ea"/>
                <a:sym typeface="+mn-lt"/>
              </a:rPr>
              <a:t>总结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92974" y="3242913"/>
            <a:ext cx="4160639" cy="443546"/>
            <a:chOff x="3323965" y="3942883"/>
            <a:chExt cx="5547518" cy="591395"/>
          </a:xfrm>
        </p:grpSpPr>
        <p:cxnSp>
          <p:nvCxnSpPr>
            <p:cNvPr id="103" name="Elbow Connector 72"/>
            <p:cNvCxnSpPr/>
            <p:nvPr/>
          </p:nvCxnSpPr>
          <p:spPr>
            <a:xfrm rot="5400000" flipH="1" flipV="1">
              <a:off x="6091374" y="1754169"/>
              <a:ext cx="12700" cy="5547518"/>
            </a:xfrm>
            <a:prstGeom prst="bentConnector3">
              <a:avLst>
                <a:gd name="adj1" fmla="val 1800000"/>
              </a:avLst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Straight Connector 73"/>
            <p:cNvCxnSpPr>
              <a:stCxn id="89" idx="4"/>
            </p:cNvCxnSpPr>
            <p:nvPr/>
          </p:nvCxnSpPr>
          <p:spPr>
            <a:xfrm>
              <a:off x="6096000" y="3942883"/>
              <a:ext cx="0" cy="352892"/>
            </a:xfrm>
            <a:prstGeom prst="lin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3572517" y="1243946"/>
            <a:ext cx="1998966" cy="1998966"/>
            <a:chOff x="4763356" y="1277595"/>
            <a:chExt cx="2665288" cy="2665288"/>
          </a:xfrm>
        </p:grpSpPr>
        <p:sp>
          <p:nvSpPr>
            <p:cNvPr id="89" name="Oval 50"/>
            <p:cNvSpPr/>
            <p:nvPr/>
          </p:nvSpPr>
          <p:spPr>
            <a:xfrm>
              <a:off x="4763356" y="1277595"/>
              <a:ext cx="2665288" cy="266528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90" name="Group 51"/>
            <p:cNvGrpSpPr/>
            <p:nvPr/>
          </p:nvGrpSpPr>
          <p:grpSpPr>
            <a:xfrm>
              <a:off x="5152704" y="1384249"/>
              <a:ext cx="1876783" cy="2512804"/>
              <a:chOff x="3578894" y="932283"/>
              <a:chExt cx="2041163" cy="2732892"/>
            </a:xfrm>
          </p:grpSpPr>
          <p:sp>
            <p:nvSpPr>
              <p:cNvPr id="91" name="Arc 52"/>
              <p:cNvSpPr/>
              <p:nvPr/>
            </p:nvSpPr>
            <p:spPr>
              <a:xfrm rot="7200000">
                <a:off x="3578894" y="1251916"/>
                <a:ext cx="2041163" cy="2041163"/>
              </a:xfrm>
              <a:prstGeom prst="arc">
                <a:avLst>
                  <a:gd name="adj1" fmla="val 8709740"/>
                  <a:gd name="adj2" fmla="val 20385626"/>
                </a:avLst>
              </a:prstGeom>
              <a:ln w="307975">
                <a:solidFill>
                  <a:schemeClr val="accent1">
                    <a:lumMod val="20000"/>
                    <a:lumOff val="80000"/>
                  </a:schemeClr>
                </a:solidFill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92" name="Arc 53"/>
              <p:cNvSpPr/>
              <p:nvPr/>
            </p:nvSpPr>
            <p:spPr>
              <a:xfrm>
                <a:off x="3578894" y="1251915"/>
                <a:ext cx="2041163" cy="2041163"/>
              </a:xfrm>
              <a:prstGeom prst="arc">
                <a:avLst>
                  <a:gd name="adj1" fmla="val 5589548"/>
                  <a:gd name="adj2" fmla="val 15840859"/>
                </a:avLst>
              </a:prstGeom>
              <a:ln w="307975">
                <a:gradFill flip="none" rotWithShape="1">
                  <a:gsLst>
                    <a:gs pos="6500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200000" scaled="0"/>
                  <a:tileRect/>
                </a:gradFill>
                <a:tailEnd type="non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93" name="Isosceles Triangle 61"/>
              <p:cNvSpPr/>
              <p:nvPr/>
            </p:nvSpPr>
            <p:spPr>
              <a:xfrm rot="5400000">
                <a:off x="4227698" y="1061378"/>
                <a:ext cx="754226" cy="49603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94" name="Isosceles Triangle 62"/>
              <p:cNvSpPr/>
              <p:nvPr/>
            </p:nvSpPr>
            <p:spPr>
              <a:xfrm rot="16200000">
                <a:off x="4086009" y="3040044"/>
                <a:ext cx="754226" cy="496035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8" name="矩形 117"/>
            <p:cNvSpPr/>
            <p:nvPr/>
          </p:nvSpPr>
          <p:spPr>
            <a:xfrm>
              <a:off x="5578489" y="2339950"/>
              <a:ext cx="1066959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/>
              <a:r>
                <a:rPr lang="zh-CN" altLang="en-US" sz="2400" b="1" dirty="0">
                  <a:solidFill>
                    <a:srgbClr val="FFFFFF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rPr>
                <a:t>总结</a:t>
              </a:r>
              <a:endParaRPr lang="zh-CN" altLang="en-US" sz="2400" b="1" dirty="0">
                <a:solidFill>
                  <a:srgbClr val="FFFFFF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529722" y="1801408"/>
            <a:ext cx="3589673" cy="864563"/>
            <a:chOff x="7405768" y="2020877"/>
            <a:chExt cx="4786231" cy="1152751"/>
          </a:xfrm>
        </p:grpSpPr>
        <p:sp>
          <p:nvSpPr>
            <p:cNvPr id="114" name="Oval 62"/>
            <p:cNvSpPr>
              <a:spLocks noChangeArrowheads="1"/>
            </p:cNvSpPr>
            <p:nvPr/>
          </p:nvSpPr>
          <p:spPr bwMode="auto">
            <a:xfrm>
              <a:off x="7472043" y="2437248"/>
              <a:ext cx="738739" cy="7363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/>
              <a:endParaRPr lang="en-US" sz="135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15" name="组合 46"/>
            <p:cNvGrpSpPr/>
            <p:nvPr/>
          </p:nvGrpSpPr>
          <p:grpSpPr>
            <a:xfrm>
              <a:off x="7659095" y="2606966"/>
              <a:ext cx="364633" cy="280902"/>
              <a:chOff x="2021013" y="4165991"/>
              <a:chExt cx="1500188" cy="11557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16" name="Freeform 26"/>
              <p:cNvSpPr>
                <a:spLocks noEditPoints="1"/>
              </p:cNvSpPr>
              <p:nvPr/>
            </p:nvSpPr>
            <p:spPr bwMode="auto">
              <a:xfrm>
                <a:off x="2021013" y="4165991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pPr defTabSz="685800"/>
                <a:endParaRPr lang="zh-CN" altLang="en-US" sz="1350">
                  <a:solidFill>
                    <a:srgbClr val="000000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7" name="Freeform 27"/>
              <p:cNvSpPr/>
              <p:nvPr/>
            </p:nvSpPr>
            <p:spPr bwMode="auto">
              <a:xfrm>
                <a:off x="2490909" y="4492622"/>
                <a:ext cx="560388" cy="565149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pPr defTabSz="685800"/>
                <a:endParaRPr lang="zh-CN" altLang="en-US" sz="1350">
                  <a:solidFill>
                    <a:srgbClr val="000000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9" name="矩形 118"/>
            <p:cNvSpPr/>
            <p:nvPr/>
          </p:nvSpPr>
          <p:spPr>
            <a:xfrm>
              <a:off x="7405768" y="2020877"/>
              <a:ext cx="4786231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457200"/>
              <a:r>
                <a:rPr lang="zh-CN" altLang="en-US" sz="15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rPr>
                <a:t>创建了一个新的软件发布机制体系结构</a:t>
              </a:r>
              <a:endParaRPr lang="zh-CN" altLang="en-US" sz="1500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19212" y="1801408"/>
            <a:ext cx="2983161" cy="858047"/>
            <a:chOff x="645901" y="2020877"/>
            <a:chExt cx="3977547" cy="1144063"/>
          </a:xfrm>
        </p:grpSpPr>
        <p:sp>
          <p:nvSpPr>
            <p:cNvPr id="73" name="Oval 62"/>
            <p:cNvSpPr>
              <a:spLocks noChangeArrowheads="1"/>
            </p:cNvSpPr>
            <p:nvPr/>
          </p:nvSpPr>
          <p:spPr bwMode="auto">
            <a:xfrm>
              <a:off x="3884709" y="2428560"/>
              <a:ext cx="738739" cy="7363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defTabSz="685800"/>
              <a:endParaRPr lang="en-US" sz="1350">
                <a:solidFill>
                  <a:srgbClr val="000000"/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11" name="组合 46"/>
            <p:cNvGrpSpPr/>
            <p:nvPr/>
          </p:nvGrpSpPr>
          <p:grpSpPr>
            <a:xfrm>
              <a:off x="4075822" y="2606966"/>
              <a:ext cx="343524" cy="280902"/>
              <a:chOff x="2570671" y="4165991"/>
              <a:chExt cx="1413340" cy="11557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12" name="Freeform 26"/>
              <p:cNvSpPr>
                <a:spLocks noEditPoints="1"/>
              </p:cNvSpPr>
              <p:nvPr/>
            </p:nvSpPr>
            <p:spPr bwMode="auto">
              <a:xfrm>
                <a:off x="2570671" y="4165991"/>
                <a:ext cx="1413340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pPr defTabSz="685800"/>
                <a:endParaRPr lang="zh-CN" altLang="en-US" sz="1350">
                  <a:solidFill>
                    <a:srgbClr val="000000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13" name="Freeform 27"/>
              <p:cNvSpPr/>
              <p:nvPr/>
            </p:nvSpPr>
            <p:spPr bwMode="auto">
              <a:xfrm>
                <a:off x="2994067" y="4507943"/>
                <a:ext cx="560388" cy="565149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pPr defTabSz="685800"/>
                <a:endParaRPr lang="zh-CN" altLang="en-US" sz="1350">
                  <a:solidFill>
                    <a:srgbClr val="000000"/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21" name="矩形 120"/>
            <p:cNvSpPr/>
            <p:nvPr/>
          </p:nvSpPr>
          <p:spPr>
            <a:xfrm>
              <a:off x="645901" y="2020877"/>
              <a:ext cx="3836947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457200"/>
              <a:r>
                <a:rPr lang="zh-CN" altLang="en-US" sz="15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/>
                  <a:ea typeface="微软雅黑" panose="020B0503020204020204" pitchFamily="34" charset="-122"/>
                  <a:cs typeface="+mn-ea"/>
                  <a:sym typeface="+mn-lt"/>
                </a:rPr>
                <a:t>典型的传统软件发布方式和工具</a:t>
              </a:r>
              <a:endParaRPr lang="zh-CN" altLang="en-US" sz="1500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3" name="矩形 122"/>
          <p:cNvSpPr/>
          <p:nvPr/>
        </p:nvSpPr>
        <p:spPr>
          <a:xfrm>
            <a:off x="1226043" y="3676934"/>
            <a:ext cx="2533861" cy="317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zh-CN" altLang="en-US" sz="135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软件开发后的生命周期</a:t>
            </a:r>
            <a:endParaRPr lang="zh-CN" altLang="en-US" sz="1350" dirty="0">
              <a:solidFill>
                <a:srgbClr val="000000">
                  <a:lumMod val="85000"/>
                  <a:lumOff val="15000"/>
                </a:srgbClr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5386682" y="3671218"/>
            <a:ext cx="2533861" cy="317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zh-CN" altLang="en-US" sz="1350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/>
                <a:ea typeface="微软雅黑" panose="020B0503020204020204" pitchFamily="34" charset="-122"/>
                <a:cs typeface="+mn-ea"/>
                <a:sym typeface="+mn-lt"/>
              </a:rPr>
              <a:t>软件发布机制体系</a:t>
            </a:r>
            <a:endParaRPr lang="zh-CN" altLang="en-US" sz="1350" dirty="0">
              <a:solidFill>
                <a:srgbClr val="000000">
                  <a:lumMod val="85000"/>
                  <a:lumOff val="15000"/>
                </a:srgbClr>
              </a:solidFill>
              <a:latin typeface="Century Gothic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软件发布和维护的质量管理</a:t>
            </a:r>
            <a:endParaRPr lang="zh-CN" altLang="en-US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750" y="1717146"/>
            <a:ext cx="6477000" cy="2030678"/>
          </a:xfrm>
        </p:spPr>
        <p:txBody>
          <a:bodyPr/>
          <a:lstStyle/>
          <a:p>
            <a:pPr marL="0" indent="599440"/>
            <a:r>
              <a:rPr lang="zh-CN" altLang="en-US" dirty="0">
                <a:solidFill>
                  <a:srgbClr val="0066FF"/>
                </a:solidFill>
              </a:rPr>
              <a:t>软件发布模式</a:t>
            </a:r>
            <a:endParaRPr lang="zh-CN" altLang="en-US" dirty="0">
              <a:solidFill>
                <a:srgbClr val="0066FF"/>
              </a:solidFill>
            </a:endParaRPr>
          </a:p>
          <a:p>
            <a:pPr marL="0" indent="599440"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accent1"/>
                </a:solidFill>
              </a:rPr>
              <a:t>通过软件公司或专卖店，直接发布软件产品</a:t>
            </a:r>
            <a:endParaRPr lang="zh-CN" altLang="en-US" sz="2000" dirty="0">
              <a:solidFill>
                <a:schemeClr val="accent1"/>
              </a:solidFill>
            </a:endParaRPr>
          </a:p>
          <a:p>
            <a:pPr marL="0" indent="599440"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accent1"/>
                </a:solidFill>
              </a:rPr>
              <a:t>在网络上发布软件产品 </a:t>
            </a:r>
            <a:r>
              <a:rPr lang="en-US" altLang="zh-CN" sz="2000" dirty="0">
                <a:solidFill>
                  <a:schemeClr val="accent1"/>
                </a:solidFill>
              </a:rPr>
              <a:t>(</a:t>
            </a:r>
            <a:r>
              <a:rPr lang="zh-CN" altLang="en-US" sz="2000" dirty="0">
                <a:solidFill>
                  <a:schemeClr val="accent1"/>
                </a:solidFill>
              </a:rPr>
              <a:t>纯电子内容</a:t>
            </a:r>
            <a:r>
              <a:rPr lang="en-US" altLang="zh-CN" sz="2000" dirty="0">
                <a:solidFill>
                  <a:schemeClr val="accent1"/>
                </a:solidFill>
              </a:rPr>
              <a:t>)</a:t>
            </a:r>
            <a:endParaRPr lang="en-US" altLang="zh-CN" sz="2000" dirty="0">
              <a:solidFill>
                <a:schemeClr val="accent1"/>
              </a:solidFill>
            </a:endParaRPr>
          </a:p>
          <a:p>
            <a:pPr marL="0" indent="599440"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accent1"/>
                </a:solidFill>
              </a:rPr>
              <a:t>在网络服务器上部署软件已提供将来的软件服务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pic>
        <p:nvPicPr>
          <p:cNvPr id="133124" name="Picture 4" descr="MCj01494780000[1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261" y="3487208"/>
            <a:ext cx="2201333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2178" y="216958"/>
            <a:ext cx="6477000" cy="9525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软</a:t>
            </a:r>
            <a:r>
              <a:rPr lang="zh-CN" altLang="en-US" dirty="0"/>
              <a:t>件发布和维护的质量管理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1625" y="1867959"/>
            <a:ext cx="3840428" cy="1680104"/>
          </a:xfrm>
        </p:spPr>
        <p:txBody>
          <a:bodyPr>
            <a:normAutofit lnSpcReduction="10000"/>
          </a:bodyPr>
          <a:lstStyle/>
          <a:p>
            <a:pPr>
              <a:spcBef>
                <a:spcPct val="60000"/>
              </a:spcBef>
            </a:pPr>
            <a:r>
              <a:rPr lang="zh-CN" altLang="en-US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软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件发布程序管理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60000"/>
              </a:spcBef>
            </a:pPr>
            <a:r>
              <a:rPr lang="zh-CN" altLang="en-US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软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件部署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60000"/>
              </a:spcBef>
            </a:pPr>
            <a:r>
              <a:rPr lang="zh-CN" altLang="en-US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软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件维护</a:t>
            </a:r>
            <a:endParaRPr lang="zh-CN" altLang="en-US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220" name="Picture 4" descr="BD04972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220" y="3037417"/>
            <a:ext cx="2340239" cy="175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软件发布程序管理</a:t>
            </a:r>
            <a:endParaRPr lang="zh-CN" alt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12094" y="1627188"/>
            <a:ext cx="6477000" cy="2401094"/>
          </a:xfrm>
        </p:spPr>
        <p:txBody>
          <a:bodyPr/>
          <a:lstStyle/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软件产品发布程序</a:t>
            </a:r>
            <a:endParaRPr lang="zh-CN" altLang="en-US"/>
          </a:p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软件服务模式的产品发布程序</a:t>
            </a:r>
            <a:endParaRPr lang="zh-CN" altLang="en-US"/>
          </a:p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软件产品发布类型和版本</a:t>
            </a:r>
            <a:endParaRPr lang="zh-CN" altLang="en-US"/>
          </a:p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程序经理</a:t>
            </a:r>
            <a:endParaRPr lang="zh-CN" altLang="en-US"/>
          </a:p>
        </p:txBody>
      </p:sp>
      <p:pic>
        <p:nvPicPr>
          <p:cNvPr id="167941" name="Picture 5" descr="BS00975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88" y="3368146"/>
            <a:ext cx="2733146" cy="113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软件产品发布程序</a:t>
            </a:r>
            <a:endParaRPr lang="zh-CN" altLang="en-US"/>
          </a:p>
        </p:txBody>
      </p:sp>
      <p:sp>
        <p:nvSpPr>
          <p:cNvPr id="174084" name="AutoShape 4"/>
          <p:cNvSpPr>
            <a:spLocks noChangeArrowheads="1"/>
          </p:cNvSpPr>
          <p:nvPr/>
        </p:nvSpPr>
        <p:spPr bwMode="auto">
          <a:xfrm>
            <a:off x="1452563" y="1807105"/>
            <a:ext cx="101996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构建产品包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程序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文档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其他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85" name="AutoShape 5"/>
          <p:cNvSpPr>
            <a:spLocks noChangeArrowheads="1"/>
          </p:cNvSpPr>
          <p:nvPr/>
        </p:nvSpPr>
        <p:spPr bwMode="auto">
          <a:xfrm>
            <a:off x="4152636" y="1836209"/>
            <a:ext cx="1019968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拷贝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软件拷贝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文档印刷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检测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86" name="Line 6"/>
          <p:cNvSpPr>
            <a:spLocks noChangeShapeType="1"/>
          </p:cNvSpPr>
          <p:nvPr/>
        </p:nvSpPr>
        <p:spPr bwMode="auto">
          <a:xfrm>
            <a:off x="1452563" y="2227792"/>
            <a:ext cx="101996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2803261" y="2106084"/>
            <a:ext cx="1019968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88" name="Freeform 8"/>
          <p:cNvSpPr/>
          <p:nvPr/>
        </p:nvSpPr>
        <p:spPr bwMode="auto">
          <a:xfrm>
            <a:off x="2472532" y="2227792"/>
            <a:ext cx="329406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89" name="AutoShape 9"/>
          <p:cNvSpPr>
            <a:spLocks noChangeArrowheads="1"/>
          </p:cNvSpPr>
          <p:nvPr/>
        </p:nvSpPr>
        <p:spPr bwMode="auto">
          <a:xfrm>
            <a:off x="6852709" y="1837532"/>
            <a:ext cx="101996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销售和安装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宣传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售前服务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售后服务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852709" y="2258219"/>
            <a:ext cx="101996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1" name="Freeform 11"/>
          <p:cNvSpPr/>
          <p:nvPr/>
        </p:nvSpPr>
        <p:spPr bwMode="auto">
          <a:xfrm>
            <a:off x="6523303" y="2258219"/>
            <a:ext cx="329406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2" name="AutoShape 12"/>
          <p:cNvSpPr>
            <a:spLocks noChangeArrowheads="1"/>
          </p:cNvSpPr>
          <p:nvPr/>
        </p:nvSpPr>
        <p:spPr bwMode="auto">
          <a:xfrm>
            <a:off x="2803261" y="1805782"/>
            <a:ext cx="1019968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母盘制造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补充内容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en-US" altLang="zh-CN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CD</a:t>
            </a:r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刻录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病毒扫描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再测试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4152636" y="2227792"/>
            <a:ext cx="1019968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4" name="Freeform 14"/>
          <p:cNvSpPr/>
          <p:nvPr/>
        </p:nvSpPr>
        <p:spPr bwMode="auto">
          <a:xfrm>
            <a:off x="3823229" y="2227792"/>
            <a:ext cx="329407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5" name="AutoShape 15"/>
          <p:cNvSpPr>
            <a:spLocks noChangeArrowheads="1"/>
          </p:cNvSpPr>
          <p:nvPr/>
        </p:nvSpPr>
        <p:spPr bwMode="auto">
          <a:xfrm>
            <a:off x="5503334" y="1836209"/>
            <a:ext cx="101996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运输和存储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装卸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验收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存储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6" name="Line 16"/>
          <p:cNvSpPr>
            <a:spLocks noChangeShapeType="1"/>
          </p:cNvSpPr>
          <p:nvPr/>
        </p:nvSpPr>
        <p:spPr bwMode="auto">
          <a:xfrm>
            <a:off x="5503334" y="2256896"/>
            <a:ext cx="101996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4097" name="Freeform 17"/>
          <p:cNvSpPr/>
          <p:nvPr/>
        </p:nvSpPr>
        <p:spPr bwMode="auto">
          <a:xfrm>
            <a:off x="5173928" y="2256896"/>
            <a:ext cx="329406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74098" name="Group 18"/>
          <p:cNvGrpSpPr/>
          <p:nvPr/>
        </p:nvGrpSpPr>
        <p:grpSpPr bwMode="auto">
          <a:xfrm>
            <a:off x="3311261" y="3067844"/>
            <a:ext cx="2221177" cy="2189427"/>
            <a:chOff x="978" y="431"/>
            <a:chExt cx="3627" cy="3627"/>
          </a:xfrm>
        </p:grpSpPr>
        <p:grpSp>
          <p:nvGrpSpPr>
            <p:cNvPr id="174099" name="Group 19"/>
            <p:cNvGrpSpPr/>
            <p:nvPr/>
          </p:nvGrpSpPr>
          <p:grpSpPr bwMode="auto">
            <a:xfrm>
              <a:off x="978" y="431"/>
              <a:ext cx="3627" cy="3627"/>
              <a:chOff x="1042" y="511"/>
              <a:chExt cx="3627" cy="3627"/>
            </a:xfrm>
          </p:grpSpPr>
          <p:grpSp>
            <p:nvGrpSpPr>
              <p:cNvPr id="174100" name="Group 20"/>
              <p:cNvGrpSpPr/>
              <p:nvPr/>
            </p:nvGrpSpPr>
            <p:grpSpPr bwMode="auto">
              <a:xfrm>
                <a:off x="1135" y="602"/>
                <a:ext cx="3441" cy="3445"/>
                <a:chOff x="1159" y="279"/>
                <a:chExt cx="3441" cy="3445"/>
              </a:xfrm>
            </p:grpSpPr>
            <p:grpSp>
              <p:nvGrpSpPr>
                <p:cNvPr id="174101" name="Group 21"/>
                <p:cNvGrpSpPr/>
                <p:nvPr/>
              </p:nvGrpSpPr>
              <p:grpSpPr bwMode="auto">
                <a:xfrm>
                  <a:off x="2880" y="279"/>
                  <a:ext cx="1720" cy="1722"/>
                  <a:chOff x="2880" y="279"/>
                  <a:chExt cx="1720" cy="1722"/>
                </a:xfrm>
              </p:grpSpPr>
              <p:sp>
                <p:nvSpPr>
                  <p:cNvPr id="174102" name="Line 22"/>
                  <p:cNvSpPr>
                    <a:spLocks noChangeShapeType="1"/>
                  </p:cNvSpPr>
                  <p:nvPr/>
                </p:nvSpPr>
                <p:spPr bwMode="auto">
                  <a:xfrm rot="4680000">
                    <a:off x="4482" y="157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3" name="Line 23"/>
                  <p:cNvSpPr>
                    <a:spLocks noChangeShapeType="1"/>
                  </p:cNvSpPr>
                  <p:nvPr/>
                </p:nvSpPr>
                <p:spPr bwMode="auto">
                  <a:xfrm rot="4320000">
                    <a:off x="4436" y="141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4" name="Line 24"/>
                  <p:cNvSpPr>
                    <a:spLocks noChangeShapeType="1"/>
                  </p:cNvSpPr>
                  <p:nvPr/>
                </p:nvSpPr>
                <p:spPr bwMode="auto">
                  <a:xfrm rot="3960000">
                    <a:off x="4375" y="125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5" name="Line 25"/>
                  <p:cNvSpPr>
                    <a:spLocks noChangeAspect="1" noChangeShapeType="1"/>
                  </p:cNvSpPr>
                  <p:nvPr/>
                </p:nvSpPr>
                <p:spPr bwMode="auto">
                  <a:xfrm rot="3600000">
                    <a:off x="4247" y="1069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6" name="Line 26"/>
                  <p:cNvSpPr>
                    <a:spLocks noChangeShapeType="1"/>
                  </p:cNvSpPr>
                  <p:nvPr/>
                </p:nvSpPr>
                <p:spPr bwMode="auto">
                  <a:xfrm rot="3240000">
                    <a:off x="4204" y="955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7" name="Line 27"/>
                  <p:cNvSpPr>
                    <a:spLocks noChangeShapeType="1"/>
                  </p:cNvSpPr>
                  <p:nvPr/>
                </p:nvSpPr>
                <p:spPr bwMode="auto">
                  <a:xfrm rot="2880000">
                    <a:off x="4097" y="82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8" name="Line 28"/>
                  <p:cNvSpPr>
                    <a:spLocks noChangeShapeType="1"/>
                  </p:cNvSpPr>
                  <p:nvPr/>
                </p:nvSpPr>
                <p:spPr bwMode="auto">
                  <a:xfrm rot="2520000">
                    <a:off x="3975" y="70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09" name="Line 29"/>
                  <p:cNvSpPr>
                    <a:spLocks noChangeShapeType="1"/>
                  </p:cNvSpPr>
                  <p:nvPr/>
                </p:nvSpPr>
                <p:spPr bwMode="auto">
                  <a:xfrm rot="2160000">
                    <a:off x="3842" y="59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0" name="Line 30"/>
                  <p:cNvSpPr>
                    <a:spLocks noChangeAspect="1" noChangeShapeType="1"/>
                  </p:cNvSpPr>
                  <p:nvPr/>
                </p:nvSpPr>
                <p:spPr bwMode="auto">
                  <a:xfrm rot="1800000">
                    <a:off x="3667" y="491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1" name="Line 31"/>
                  <p:cNvSpPr>
                    <a:spLocks noChangeShapeType="1"/>
                  </p:cNvSpPr>
                  <p:nvPr/>
                </p:nvSpPr>
                <p:spPr bwMode="auto">
                  <a:xfrm rot="1440000">
                    <a:off x="3546" y="42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2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279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3" name="Line 33"/>
                  <p:cNvSpPr>
                    <a:spLocks noChangeShapeType="1"/>
                  </p:cNvSpPr>
                  <p:nvPr/>
                </p:nvSpPr>
                <p:spPr bwMode="auto">
                  <a:xfrm rot="360000">
                    <a:off x="3052" y="289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4" name="Line 34"/>
                  <p:cNvSpPr>
                    <a:spLocks noChangeShapeType="1"/>
                  </p:cNvSpPr>
                  <p:nvPr/>
                </p:nvSpPr>
                <p:spPr bwMode="auto">
                  <a:xfrm rot="720000">
                    <a:off x="3220" y="31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5" name="Line 35"/>
                  <p:cNvSpPr>
                    <a:spLocks noChangeShapeType="1"/>
                  </p:cNvSpPr>
                  <p:nvPr/>
                </p:nvSpPr>
                <p:spPr bwMode="auto">
                  <a:xfrm rot="1080000">
                    <a:off x="3386" y="36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6" name="Line 36"/>
                  <p:cNvSpPr>
                    <a:spLocks noChangeShapeType="1"/>
                  </p:cNvSpPr>
                  <p:nvPr/>
                </p:nvSpPr>
                <p:spPr bwMode="auto">
                  <a:xfrm rot="5040000">
                    <a:off x="4508" y="1745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17" name="Line 37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459" y="1859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74118" name="Group 38"/>
                <p:cNvGrpSpPr/>
                <p:nvPr/>
              </p:nvGrpSpPr>
              <p:grpSpPr bwMode="auto">
                <a:xfrm>
                  <a:off x="2879" y="2173"/>
                  <a:ext cx="1713" cy="1551"/>
                  <a:chOff x="2879" y="2173"/>
                  <a:chExt cx="1713" cy="1551"/>
                </a:xfrm>
              </p:grpSpPr>
              <p:sp>
                <p:nvSpPr>
                  <p:cNvPr id="174119" name="Line 39"/>
                  <p:cNvSpPr>
                    <a:spLocks noChangeShapeType="1"/>
                  </p:cNvSpPr>
                  <p:nvPr/>
                </p:nvSpPr>
                <p:spPr bwMode="auto">
                  <a:xfrm rot="16920000" flipV="1">
                    <a:off x="4481" y="225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0" name="Line 40"/>
                  <p:cNvSpPr>
                    <a:spLocks noChangeShapeType="1"/>
                  </p:cNvSpPr>
                  <p:nvPr/>
                </p:nvSpPr>
                <p:spPr bwMode="auto">
                  <a:xfrm rot="17280000" flipV="1">
                    <a:off x="4435" y="242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1" name="Line 41"/>
                  <p:cNvSpPr>
                    <a:spLocks noChangeShapeType="1"/>
                  </p:cNvSpPr>
                  <p:nvPr/>
                </p:nvSpPr>
                <p:spPr bwMode="auto">
                  <a:xfrm rot="17640000" flipV="1">
                    <a:off x="4374" y="258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2" name="Line 42"/>
                  <p:cNvSpPr>
                    <a:spLocks noChangeAspect="1" noChangeShapeType="1"/>
                  </p:cNvSpPr>
                  <p:nvPr/>
                </p:nvSpPr>
                <p:spPr bwMode="auto">
                  <a:xfrm rot="18000000" flipV="1">
                    <a:off x="4246" y="2650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3" name="Line 43"/>
                  <p:cNvSpPr>
                    <a:spLocks noChangeShapeType="1"/>
                  </p:cNvSpPr>
                  <p:nvPr/>
                </p:nvSpPr>
                <p:spPr bwMode="auto">
                  <a:xfrm rot="18360000" flipV="1">
                    <a:off x="4203" y="287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4" name="Line 44"/>
                  <p:cNvSpPr>
                    <a:spLocks noChangeShapeType="1"/>
                  </p:cNvSpPr>
                  <p:nvPr/>
                </p:nvSpPr>
                <p:spPr bwMode="auto">
                  <a:xfrm rot="18720000" flipV="1">
                    <a:off x="4096" y="301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5" name="Line 45"/>
                  <p:cNvSpPr>
                    <a:spLocks noChangeShapeType="1"/>
                  </p:cNvSpPr>
                  <p:nvPr/>
                </p:nvSpPr>
                <p:spPr bwMode="auto">
                  <a:xfrm rot="19080000" flipV="1">
                    <a:off x="3974" y="313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6" name="Line 46"/>
                  <p:cNvSpPr>
                    <a:spLocks noChangeShapeType="1"/>
                  </p:cNvSpPr>
                  <p:nvPr/>
                </p:nvSpPr>
                <p:spPr bwMode="auto">
                  <a:xfrm rot="19440000" flipV="1">
                    <a:off x="3841" y="324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7" name="Line 47"/>
                  <p:cNvSpPr>
                    <a:spLocks noChangeAspect="1" noChangeShapeType="1"/>
                  </p:cNvSpPr>
                  <p:nvPr/>
                </p:nvSpPr>
                <p:spPr bwMode="auto">
                  <a:xfrm rot="19800000" flipV="1">
                    <a:off x="3666" y="3229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8" name="Line 48"/>
                  <p:cNvSpPr>
                    <a:spLocks noChangeShapeType="1"/>
                  </p:cNvSpPr>
                  <p:nvPr/>
                </p:nvSpPr>
                <p:spPr bwMode="auto">
                  <a:xfrm rot="20160000" flipV="1">
                    <a:off x="3545" y="341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29" name="Line 4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79" y="3441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0" name="Line 50"/>
                  <p:cNvSpPr>
                    <a:spLocks noChangeShapeType="1"/>
                  </p:cNvSpPr>
                  <p:nvPr/>
                </p:nvSpPr>
                <p:spPr bwMode="auto">
                  <a:xfrm rot="21240000" flipV="1">
                    <a:off x="3051" y="3544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1" name="Line 51"/>
                  <p:cNvSpPr>
                    <a:spLocks noChangeShapeType="1"/>
                  </p:cNvSpPr>
                  <p:nvPr/>
                </p:nvSpPr>
                <p:spPr bwMode="auto">
                  <a:xfrm rot="20880000" flipV="1">
                    <a:off x="3219" y="351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2" name="Line 52"/>
                  <p:cNvSpPr>
                    <a:spLocks noChangeShapeType="1"/>
                  </p:cNvSpPr>
                  <p:nvPr/>
                </p:nvSpPr>
                <p:spPr bwMode="auto">
                  <a:xfrm rot="20520000" flipV="1">
                    <a:off x="3385" y="347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3" name="Line 53"/>
                  <p:cNvSpPr>
                    <a:spLocks noChangeShapeType="1"/>
                  </p:cNvSpPr>
                  <p:nvPr/>
                </p:nvSpPr>
                <p:spPr bwMode="auto">
                  <a:xfrm rot="16560000" flipV="1">
                    <a:off x="4507" y="208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74134" name="Group 54"/>
                <p:cNvGrpSpPr/>
                <p:nvPr/>
              </p:nvGrpSpPr>
              <p:grpSpPr bwMode="auto">
                <a:xfrm>
                  <a:off x="1159" y="290"/>
                  <a:ext cx="1548" cy="1712"/>
                  <a:chOff x="1159" y="290"/>
                  <a:chExt cx="1548" cy="1712"/>
                </a:xfrm>
              </p:grpSpPr>
              <p:sp>
                <p:nvSpPr>
                  <p:cNvPr id="174135" name="Line 55"/>
                  <p:cNvSpPr>
                    <a:spLocks noChangeShapeType="1"/>
                  </p:cNvSpPr>
                  <p:nvPr/>
                </p:nvSpPr>
                <p:spPr bwMode="auto">
                  <a:xfrm rot="16920000" flipH="1">
                    <a:off x="1277" y="157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6" name="Line 56"/>
                  <p:cNvSpPr>
                    <a:spLocks noChangeShapeType="1"/>
                  </p:cNvSpPr>
                  <p:nvPr/>
                </p:nvSpPr>
                <p:spPr bwMode="auto">
                  <a:xfrm rot="17280000" flipH="1">
                    <a:off x="1323" y="141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7" name="Line 57"/>
                  <p:cNvSpPr>
                    <a:spLocks noChangeShapeType="1"/>
                  </p:cNvSpPr>
                  <p:nvPr/>
                </p:nvSpPr>
                <p:spPr bwMode="auto">
                  <a:xfrm rot="17640000" flipH="1">
                    <a:off x="1384" y="125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8" name="Line 58"/>
                  <p:cNvSpPr>
                    <a:spLocks noChangeAspect="1" noChangeShapeType="1"/>
                  </p:cNvSpPr>
                  <p:nvPr/>
                </p:nvSpPr>
                <p:spPr bwMode="auto">
                  <a:xfrm rot="18000000" flipH="1">
                    <a:off x="1511" y="1070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39" name="Line 59"/>
                  <p:cNvSpPr>
                    <a:spLocks noChangeShapeType="1"/>
                  </p:cNvSpPr>
                  <p:nvPr/>
                </p:nvSpPr>
                <p:spPr bwMode="auto">
                  <a:xfrm rot="18360000" flipH="1">
                    <a:off x="1555" y="95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0" name="Line 60"/>
                  <p:cNvSpPr>
                    <a:spLocks noChangeShapeType="1"/>
                  </p:cNvSpPr>
                  <p:nvPr/>
                </p:nvSpPr>
                <p:spPr bwMode="auto">
                  <a:xfrm rot="18720000" flipH="1">
                    <a:off x="1662" y="82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1" name="Line 61"/>
                  <p:cNvSpPr>
                    <a:spLocks noChangeShapeType="1"/>
                  </p:cNvSpPr>
                  <p:nvPr/>
                </p:nvSpPr>
                <p:spPr bwMode="auto">
                  <a:xfrm rot="19080000" flipH="1">
                    <a:off x="1784" y="70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2" name="Line 62"/>
                  <p:cNvSpPr>
                    <a:spLocks noChangeShapeType="1"/>
                  </p:cNvSpPr>
                  <p:nvPr/>
                </p:nvSpPr>
                <p:spPr bwMode="auto">
                  <a:xfrm rot="19440000" flipH="1">
                    <a:off x="1917" y="594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3" name="Line 63"/>
                  <p:cNvSpPr>
                    <a:spLocks noChangeAspect="1" noChangeShapeType="1"/>
                  </p:cNvSpPr>
                  <p:nvPr/>
                </p:nvSpPr>
                <p:spPr bwMode="auto">
                  <a:xfrm rot="19800000" flipH="1">
                    <a:off x="2090" y="492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4" name="Line 64"/>
                  <p:cNvSpPr>
                    <a:spLocks noChangeShapeType="1"/>
                  </p:cNvSpPr>
                  <p:nvPr/>
                </p:nvSpPr>
                <p:spPr bwMode="auto">
                  <a:xfrm rot="20160000" flipH="1">
                    <a:off x="2213" y="42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5" name="Line 65"/>
                  <p:cNvSpPr>
                    <a:spLocks noChangeShapeType="1"/>
                  </p:cNvSpPr>
                  <p:nvPr/>
                </p:nvSpPr>
                <p:spPr bwMode="auto">
                  <a:xfrm rot="21240000" flipH="1">
                    <a:off x="2707" y="29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6" name="Line 66"/>
                  <p:cNvSpPr>
                    <a:spLocks noChangeShapeType="1"/>
                  </p:cNvSpPr>
                  <p:nvPr/>
                </p:nvSpPr>
                <p:spPr bwMode="auto">
                  <a:xfrm rot="20880000" flipH="1">
                    <a:off x="2539" y="31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7" name="Line 67"/>
                  <p:cNvSpPr>
                    <a:spLocks noChangeShapeType="1"/>
                  </p:cNvSpPr>
                  <p:nvPr/>
                </p:nvSpPr>
                <p:spPr bwMode="auto">
                  <a:xfrm rot="20520000" flipH="1">
                    <a:off x="2373" y="36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8" name="Line 68"/>
                  <p:cNvSpPr>
                    <a:spLocks noChangeShapeType="1"/>
                  </p:cNvSpPr>
                  <p:nvPr/>
                </p:nvSpPr>
                <p:spPr bwMode="auto">
                  <a:xfrm rot="16560000" flipH="1">
                    <a:off x="1251" y="174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49" name="Line 69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1301" y="1860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74150" name="Group 70"/>
                <p:cNvGrpSpPr/>
                <p:nvPr/>
              </p:nvGrpSpPr>
              <p:grpSpPr bwMode="auto">
                <a:xfrm>
                  <a:off x="1166" y="2173"/>
                  <a:ext cx="1541" cy="1541"/>
                  <a:chOff x="1166" y="2173"/>
                  <a:chExt cx="1541" cy="1541"/>
                </a:xfrm>
              </p:grpSpPr>
              <p:sp>
                <p:nvSpPr>
                  <p:cNvPr id="174151" name="Line 71"/>
                  <p:cNvSpPr>
                    <a:spLocks noChangeShapeType="1"/>
                  </p:cNvSpPr>
                  <p:nvPr/>
                </p:nvSpPr>
                <p:spPr bwMode="auto">
                  <a:xfrm rot="4680000" flipH="1" flipV="1">
                    <a:off x="1277" y="225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2" name="Line 72"/>
                  <p:cNvSpPr>
                    <a:spLocks noChangeShapeType="1"/>
                  </p:cNvSpPr>
                  <p:nvPr/>
                </p:nvSpPr>
                <p:spPr bwMode="auto">
                  <a:xfrm rot="4320000" flipH="1" flipV="1">
                    <a:off x="1323" y="242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3" name="Line 73"/>
                  <p:cNvSpPr>
                    <a:spLocks noChangeShapeType="1"/>
                  </p:cNvSpPr>
                  <p:nvPr/>
                </p:nvSpPr>
                <p:spPr bwMode="auto">
                  <a:xfrm rot="3960000" flipH="1" flipV="1">
                    <a:off x="1384" y="258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4" name="Line 74"/>
                  <p:cNvSpPr>
                    <a:spLocks noChangeAspect="1" noChangeShapeType="1"/>
                  </p:cNvSpPr>
                  <p:nvPr/>
                </p:nvSpPr>
                <p:spPr bwMode="auto">
                  <a:xfrm rot="3600000" flipH="1" flipV="1">
                    <a:off x="1511" y="2650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5" name="Line 75"/>
                  <p:cNvSpPr>
                    <a:spLocks noChangeShapeType="1"/>
                  </p:cNvSpPr>
                  <p:nvPr/>
                </p:nvSpPr>
                <p:spPr bwMode="auto">
                  <a:xfrm rot="3240000" flipH="1" flipV="1">
                    <a:off x="1555" y="287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6" name="Line 76"/>
                  <p:cNvSpPr>
                    <a:spLocks noChangeShapeType="1"/>
                  </p:cNvSpPr>
                  <p:nvPr/>
                </p:nvSpPr>
                <p:spPr bwMode="auto">
                  <a:xfrm rot="2880000" flipH="1" flipV="1">
                    <a:off x="1662" y="301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7" name="Line 77"/>
                  <p:cNvSpPr>
                    <a:spLocks noChangeShapeType="1"/>
                  </p:cNvSpPr>
                  <p:nvPr/>
                </p:nvSpPr>
                <p:spPr bwMode="auto">
                  <a:xfrm rot="2520000" flipH="1" flipV="1">
                    <a:off x="1784" y="313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8" name="Line 78"/>
                  <p:cNvSpPr>
                    <a:spLocks noChangeShapeType="1"/>
                  </p:cNvSpPr>
                  <p:nvPr/>
                </p:nvSpPr>
                <p:spPr bwMode="auto">
                  <a:xfrm rot="2160000" flipH="1" flipV="1">
                    <a:off x="1917" y="324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59" name="Line 79"/>
                  <p:cNvSpPr>
                    <a:spLocks noChangeAspect="1" noChangeShapeType="1"/>
                  </p:cNvSpPr>
                  <p:nvPr/>
                </p:nvSpPr>
                <p:spPr bwMode="auto">
                  <a:xfrm rot="1800000" flipH="1" flipV="1">
                    <a:off x="2090" y="3229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60" name="Line 80"/>
                  <p:cNvSpPr>
                    <a:spLocks noChangeShapeType="1"/>
                  </p:cNvSpPr>
                  <p:nvPr/>
                </p:nvSpPr>
                <p:spPr bwMode="auto">
                  <a:xfrm rot="1440000" flipH="1" flipV="1">
                    <a:off x="2213" y="341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61" name="Line 81"/>
                  <p:cNvSpPr>
                    <a:spLocks noChangeShapeType="1"/>
                  </p:cNvSpPr>
                  <p:nvPr/>
                </p:nvSpPr>
                <p:spPr bwMode="auto">
                  <a:xfrm rot="360000" flipH="1" flipV="1">
                    <a:off x="2707" y="3544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62" name="Line 82"/>
                  <p:cNvSpPr>
                    <a:spLocks noChangeShapeType="1"/>
                  </p:cNvSpPr>
                  <p:nvPr/>
                </p:nvSpPr>
                <p:spPr bwMode="auto">
                  <a:xfrm rot="720000" flipH="1" flipV="1">
                    <a:off x="2539" y="351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63" name="Line 83"/>
                  <p:cNvSpPr>
                    <a:spLocks noChangeShapeType="1"/>
                  </p:cNvSpPr>
                  <p:nvPr/>
                </p:nvSpPr>
                <p:spPr bwMode="auto">
                  <a:xfrm rot="1080000" flipH="1" flipV="1">
                    <a:off x="2373" y="347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4164" name="Line 84"/>
                  <p:cNvSpPr>
                    <a:spLocks noChangeShapeType="1"/>
                  </p:cNvSpPr>
                  <p:nvPr/>
                </p:nvSpPr>
                <p:spPr bwMode="auto">
                  <a:xfrm rot="5040000" flipH="1" flipV="1">
                    <a:off x="1251" y="208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74165" name="Text Box 85"/>
              <p:cNvSpPr txBox="1">
                <a:spLocks noChangeArrowheads="1"/>
              </p:cNvSpPr>
              <p:nvPr/>
            </p:nvSpPr>
            <p:spPr bwMode="auto">
              <a:xfrm>
                <a:off x="2624" y="958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5000" rIns="15000"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12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66" name="Oval 86"/>
              <p:cNvSpPr>
                <a:spLocks noChangeAspect="1" noChangeArrowheads="1"/>
              </p:cNvSpPr>
              <p:nvPr/>
            </p:nvSpPr>
            <p:spPr bwMode="auto">
              <a:xfrm>
                <a:off x="1042" y="511"/>
                <a:ext cx="3627" cy="3627"/>
              </a:xfrm>
              <a:prstGeom prst="ellipse">
                <a:avLst/>
              </a:prstGeom>
              <a:solidFill>
                <a:srgbClr val="CCFFFF">
                  <a:alpha val="28000"/>
                </a:srgbClr>
              </a:solidFill>
              <a:ln w="9525">
                <a:solidFill>
                  <a:schemeClr val="accent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762000"/>
                <a:endParaRPr lang="zh-CN" altLang="en-US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4167" name="Text Box 87"/>
              <p:cNvSpPr txBox="1">
                <a:spLocks noChangeArrowheads="1"/>
              </p:cNvSpPr>
              <p:nvPr/>
            </p:nvSpPr>
            <p:spPr bwMode="auto">
              <a:xfrm>
                <a:off x="3265" y="1122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68" name="Text Box 88"/>
              <p:cNvSpPr txBox="1">
                <a:spLocks noChangeArrowheads="1"/>
              </p:cNvSpPr>
              <p:nvPr/>
            </p:nvSpPr>
            <p:spPr bwMode="auto">
              <a:xfrm>
                <a:off x="3731" y="1570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2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69" name="Text Box 89"/>
              <p:cNvSpPr txBox="1">
                <a:spLocks noChangeArrowheads="1"/>
              </p:cNvSpPr>
              <p:nvPr/>
            </p:nvSpPr>
            <p:spPr bwMode="auto">
              <a:xfrm>
                <a:off x="3889" y="220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3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0" name="Text Box 90"/>
              <p:cNvSpPr txBox="1">
                <a:spLocks noChangeArrowheads="1"/>
              </p:cNvSpPr>
              <p:nvPr/>
            </p:nvSpPr>
            <p:spPr bwMode="auto">
              <a:xfrm>
                <a:off x="3727" y="2836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4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1" name="Text Box 91"/>
              <p:cNvSpPr txBox="1">
                <a:spLocks noChangeArrowheads="1"/>
              </p:cNvSpPr>
              <p:nvPr/>
            </p:nvSpPr>
            <p:spPr bwMode="auto">
              <a:xfrm>
                <a:off x="3289" y="3283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5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2" name="Text Box 92"/>
              <p:cNvSpPr txBox="1">
                <a:spLocks noChangeArrowheads="1"/>
              </p:cNvSpPr>
              <p:nvPr/>
            </p:nvSpPr>
            <p:spPr bwMode="auto">
              <a:xfrm>
                <a:off x="2624" y="345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6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3" name="Text Box 93"/>
              <p:cNvSpPr txBox="1">
                <a:spLocks noChangeArrowheads="1"/>
              </p:cNvSpPr>
              <p:nvPr/>
            </p:nvSpPr>
            <p:spPr bwMode="auto">
              <a:xfrm>
                <a:off x="2018" y="328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7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4" name="Text Box 94"/>
              <p:cNvSpPr txBox="1">
                <a:spLocks noChangeArrowheads="1"/>
              </p:cNvSpPr>
              <p:nvPr/>
            </p:nvSpPr>
            <p:spPr bwMode="auto">
              <a:xfrm>
                <a:off x="1595" y="2848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8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5" name="Text Box 95"/>
              <p:cNvSpPr txBox="1">
                <a:spLocks noChangeArrowheads="1"/>
              </p:cNvSpPr>
              <p:nvPr/>
            </p:nvSpPr>
            <p:spPr bwMode="auto">
              <a:xfrm>
                <a:off x="1433" y="220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9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6" name="Text Box 96"/>
              <p:cNvSpPr txBox="1">
                <a:spLocks noChangeArrowheads="1"/>
              </p:cNvSpPr>
              <p:nvPr/>
            </p:nvSpPr>
            <p:spPr bwMode="auto">
              <a:xfrm>
                <a:off x="1513" y="1594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5000" rIns="15000"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10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4177" name="Text Box 97"/>
              <p:cNvSpPr txBox="1">
                <a:spLocks noChangeArrowheads="1"/>
              </p:cNvSpPr>
              <p:nvPr/>
            </p:nvSpPr>
            <p:spPr bwMode="auto">
              <a:xfrm>
                <a:off x="2018" y="1078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5000" rIns="15000" anchor="ctr" anchorCtr="1"/>
              <a:lstStyle/>
              <a:p>
                <a:pPr defTabSz="762000"/>
                <a:r>
                  <a:rPr lang="en-GB" altLang="zh-CN" sz="150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11</a:t>
                </a:r>
                <a:endParaRPr lang="en-US" altLang="zh-CN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178" name="Oval 98"/>
            <p:cNvSpPr>
              <a:spLocks noChangeArrowheads="1"/>
            </p:cNvSpPr>
            <p:nvPr/>
          </p:nvSpPr>
          <p:spPr bwMode="auto">
            <a:xfrm>
              <a:off x="2663" y="2117"/>
              <a:ext cx="256" cy="256"/>
            </a:xfrm>
            <a:prstGeom prst="ellipse">
              <a:avLst/>
            </a:prstGeom>
            <a:solidFill>
              <a:srgbClr val="CCFFFF">
                <a:alpha val="28000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762000"/>
              <a:endParaRPr lang="zh-CN" altLang="en-US" sz="15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5" grpId="0" animBg="1"/>
      <p:bldP spid="174089" grpId="0" animBg="1"/>
      <p:bldP spid="174092" grpId="0" animBg="1"/>
      <p:bldP spid="1740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软件服务模式的产品发布程序</a:t>
            </a:r>
            <a:endParaRPr lang="zh-CN" altLang="en-US"/>
          </a:p>
        </p:txBody>
      </p:sp>
      <p:sp>
        <p:nvSpPr>
          <p:cNvPr id="176132" name="AutoShape 4"/>
          <p:cNvSpPr>
            <a:spLocks noChangeArrowheads="1"/>
          </p:cNvSpPr>
          <p:nvPr/>
        </p:nvSpPr>
        <p:spPr bwMode="auto">
          <a:xfrm>
            <a:off x="3791480" y="1657616"/>
            <a:ext cx="87047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设计验证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性能测试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容量测试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安全认证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3" name="AutoShape 5"/>
          <p:cNvSpPr>
            <a:spLocks noChangeArrowheads="1"/>
          </p:cNvSpPr>
          <p:nvPr/>
        </p:nvSpPr>
        <p:spPr bwMode="auto">
          <a:xfrm>
            <a:off x="4990042" y="1657616"/>
            <a:ext cx="931333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硬件实施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硬件配备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网络设置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服务器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4" name="Line 6"/>
          <p:cNvSpPr>
            <a:spLocks noChangeShapeType="1"/>
          </p:cNvSpPr>
          <p:nvPr/>
        </p:nvSpPr>
        <p:spPr bwMode="auto">
          <a:xfrm>
            <a:off x="3791480" y="2078303"/>
            <a:ext cx="87047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5" name="Line 7"/>
          <p:cNvSpPr>
            <a:spLocks noChangeShapeType="1"/>
          </p:cNvSpPr>
          <p:nvPr/>
        </p:nvSpPr>
        <p:spPr bwMode="auto">
          <a:xfrm>
            <a:off x="4990042" y="2107407"/>
            <a:ext cx="9313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6" name="Freeform 8"/>
          <p:cNvSpPr/>
          <p:nvPr/>
        </p:nvSpPr>
        <p:spPr bwMode="auto">
          <a:xfrm>
            <a:off x="4660636" y="2078302"/>
            <a:ext cx="329406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7" name="AutoShape 9"/>
          <p:cNvSpPr>
            <a:spLocks noChangeArrowheads="1"/>
          </p:cNvSpPr>
          <p:nvPr/>
        </p:nvSpPr>
        <p:spPr bwMode="auto">
          <a:xfrm>
            <a:off x="5890949" y="3037417"/>
            <a:ext cx="1019968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软件实施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数据备份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安装</a:t>
            </a:r>
            <a:r>
              <a:rPr lang="en-US" altLang="zh-CN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</a:t>
            </a:r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迁移软件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配置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验证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8" name="Line 10"/>
          <p:cNvSpPr>
            <a:spLocks noChangeShapeType="1"/>
          </p:cNvSpPr>
          <p:nvPr/>
        </p:nvSpPr>
        <p:spPr bwMode="auto">
          <a:xfrm>
            <a:off x="5890949" y="3368146"/>
            <a:ext cx="1019968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39" name="AutoShape 11"/>
          <p:cNvSpPr>
            <a:spLocks noChangeArrowheads="1"/>
          </p:cNvSpPr>
          <p:nvPr/>
        </p:nvSpPr>
        <p:spPr bwMode="auto">
          <a:xfrm>
            <a:off x="7241646" y="3066521"/>
            <a:ext cx="87047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运行监控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监视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控制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调整优化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0" name="Line 12"/>
          <p:cNvSpPr>
            <a:spLocks noChangeShapeType="1"/>
          </p:cNvSpPr>
          <p:nvPr/>
        </p:nvSpPr>
        <p:spPr bwMode="auto">
          <a:xfrm>
            <a:off x="7241646" y="3487209"/>
            <a:ext cx="870479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1" name="Freeform 13"/>
          <p:cNvSpPr/>
          <p:nvPr/>
        </p:nvSpPr>
        <p:spPr bwMode="auto">
          <a:xfrm>
            <a:off x="6912240" y="3487208"/>
            <a:ext cx="329406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2" name="Freeform 14"/>
          <p:cNvSpPr/>
          <p:nvPr/>
        </p:nvSpPr>
        <p:spPr bwMode="auto">
          <a:xfrm>
            <a:off x="3489854" y="2047875"/>
            <a:ext cx="300303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3" name="AutoShape 15"/>
          <p:cNvSpPr>
            <a:spLocks noChangeArrowheads="1"/>
          </p:cNvSpPr>
          <p:nvPr/>
        </p:nvSpPr>
        <p:spPr bwMode="auto">
          <a:xfrm>
            <a:off x="1357313" y="1658938"/>
            <a:ext cx="90222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部署规划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业务分析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技术要求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逻辑设计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4" name="Line 16"/>
          <p:cNvSpPr>
            <a:spLocks noChangeShapeType="1"/>
          </p:cNvSpPr>
          <p:nvPr/>
        </p:nvSpPr>
        <p:spPr bwMode="auto">
          <a:xfrm>
            <a:off x="1357313" y="2079625"/>
            <a:ext cx="9022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5" name="AutoShape 17"/>
          <p:cNvSpPr>
            <a:spLocks noChangeArrowheads="1"/>
          </p:cNvSpPr>
          <p:nvPr/>
        </p:nvSpPr>
        <p:spPr bwMode="auto">
          <a:xfrm>
            <a:off x="2588949" y="1628511"/>
            <a:ext cx="902229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部署设计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体系结构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网络</a:t>
            </a:r>
            <a:r>
              <a:rPr lang="en-US" altLang="zh-CN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</a:t>
            </a:r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硬件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实施步骤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6" name="Line 18"/>
          <p:cNvSpPr>
            <a:spLocks noChangeShapeType="1"/>
          </p:cNvSpPr>
          <p:nvPr/>
        </p:nvSpPr>
        <p:spPr bwMode="auto">
          <a:xfrm>
            <a:off x="2588948" y="2049198"/>
            <a:ext cx="87180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7" name="Freeform 19"/>
          <p:cNvSpPr/>
          <p:nvPr/>
        </p:nvSpPr>
        <p:spPr bwMode="auto">
          <a:xfrm>
            <a:off x="2259542" y="2049198"/>
            <a:ext cx="329407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8" name="AutoShape 20"/>
          <p:cNvSpPr>
            <a:spLocks noChangeArrowheads="1"/>
          </p:cNvSpPr>
          <p:nvPr/>
        </p:nvSpPr>
        <p:spPr bwMode="auto">
          <a:xfrm>
            <a:off x="2829719" y="3037417"/>
            <a:ext cx="961760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构建产品包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程序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文档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其他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49" name="AutoShape 21"/>
          <p:cNvSpPr>
            <a:spLocks noChangeArrowheads="1"/>
          </p:cNvSpPr>
          <p:nvPr/>
        </p:nvSpPr>
        <p:spPr bwMode="auto">
          <a:xfrm>
            <a:off x="4120886" y="3037417"/>
            <a:ext cx="1019968" cy="1140354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zh-CN" altLang="en-US" sz="1165" b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复审和格式化</a:t>
            </a:r>
            <a:endParaRPr lang="zh-CN" altLang="en-US" sz="1165" b="1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目录结构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补充内容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algn="ctr" defTabSz="762000"/>
            <a:r>
              <a:rPr lang="zh-CN" altLang="en-US" sz="1165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病毒扫描</a:t>
            </a:r>
            <a:endParaRPr lang="zh-CN" altLang="en-US" sz="1165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50" name="Line 22"/>
          <p:cNvSpPr>
            <a:spLocks noChangeShapeType="1"/>
          </p:cNvSpPr>
          <p:nvPr/>
        </p:nvSpPr>
        <p:spPr bwMode="auto">
          <a:xfrm>
            <a:off x="2829719" y="3458104"/>
            <a:ext cx="961760" cy="1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51" name="Line 23"/>
          <p:cNvSpPr>
            <a:spLocks noChangeShapeType="1"/>
          </p:cNvSpPr>
          <p:nvPr/>
        </p:nvSpPr>
        <p:spPr bwMode="auto">
          <a:xfrm>
            <a:off x="4120886" y="3458104"/>
            <a:ext cx="10199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52" name="Freeform 24"/>
          <p:cNvSpPr/>
          <p:nvPr/>
        </p:nvSpPr>
        <p:spPr bwMode="auto">
          <a:xfrm>
            <a:off x="3791479" y="3458104"/>
            <a:ext cx="329407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53" name="Freeform 25"/>
          <p:cNvSpPr/>
          <p:nvPr/>
        </p:nvSpPr>
        <p:spPr bwMode="auto">
          <a:xfrm>
            <a:off x="5142178" y="3458104"/>
            <a:ext cx="748771" cy="179917"/>
          </a:xfrm>
          <a:custGeom>
            <a:avLst/>
            <a:gdLst>
              <a:gd name="T0" fmla="*/ 411 w 411"/>
              <a:gd name="T1" fmla="*/ 149 h 299"/>
              <a:gd name="T2" fmla="*/ 274 w 411"/>
              <a:gd name="T3" fmla="*/ 0 h 299"/>
              <a:gd name="T4" fmla="*/ 274 w 411"/>
              <a:gd name="T5" fmla="*/ 97 h 299"/>
              <a:gd name="T6" fmla="*/ 0 w 411"/>
              <a:gd name="T7" fmla="*/ 97 h 299"/>
              <a:gd name="T8" fmla="*/ 0 w 411"/>
              <a:gd name="T9" fmla="*/ 199 h 299"/>
              <a:gd name="T10" fmla="*/ 274 w 411"/>
              <a:gd name="T11" fmla="*/ 199 h 299"/>
              <a:gd name="T12" fmla="*/ 274 w 411"/>
              <a:gd name="T13" fmla="*/ 299 h 299"/>
              <a:gd name="T14" fmla="*/ 411 w 411"/>
              <a:gd name="T15" fmla="*/ 149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1" h="299">
                <a:moveTo>
                  <a:pt x="411" y="149"/>
                </a:moveTo>
                <a:lnTo>
                  <a:pt x="274" y="0"/>
                </a:lnTo>
                <a:lnTo>
                  <a:pt x="274" y="97"/>
                </a:lnTo>
                <a:lnTo>
                  <a:pt x="0" y="97"/>
                </a:lnTo>
                <a:lnTo>
                  <a:pt x="0" y="199"/>
                </a:lnTo>
                <a:lnTo>
                  <a:pt x="274" y="199"/>
                </a:lnTo>
                <a:lnTo>
                  <a:pt x="274" y="299"/>
                </a:lnTo>
                <a:lnTo>
                  <a:pt x="411" y="149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6154" name="AutoShape 26"/>
          <p:cNvSpPr>
            <a:spLocks noChangeArrowheads="1"/>
          </p:cNvSpPr>
          <p:nvPr/>
        </p:nvSpPr>
        <p:spPr bwMode="auto">
          <a:xfrm>
            <a:off x="5380303" y="2797969"/>
            <a:ext cx="120385" cy="719667"/>
          </a:xfrm>
          <a:prstGeom prst="downArrow">
            <a:avLst>
              <a:gd name="adj1" fmla="val 50000"/>
              <a:gd name="adj2" fmla="val 149451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76155" name="Group 27"/>
          <p:cNvGrpSpPr/>
          <p:nvPr/>
        </p:nvGrpSpPr>
        <p:grpSpPr bwMode="auto">
          <a:xfrm>
            <a:off x="1181365" y="3638021"/>
            <a:ext cx="1771385" cy="1740958"/>
            <a:chOff x="978" y="431"/>
            <a:chExt cx="3627" cy="3627"/>
          </a:xfrm>
        </p:grpSpPr>
        <p:grpSp>
          <p:nvGrpSpPr>
            <p:cNvPr id="176156" name="Group 28"/>
            <p:cNvGrpSpPr/>
            <p:nvPr/>
          </p:nvGrpSpPr>
          <p:grpSpPr bwMode="auto">
            <a:xfrm>
              <a:off x="978" y="431"/>
              <a:ext cx="3627" cy="3627"/>
              <a:chOff x="1042" y="511"/>
              <a:chExt cx="3627" cy="3627"/>
            </a:xfrm>
          </p:grpSpPr>
          <p:grpSp>
            <p:nvGrpSpPr>
              <p:cNvPr id="176157" name="Group 29"/>
              <p:cNvGrpSpPr/>
              <p:nvPr/>
            </p:nvGrpSpPr>
            <p:grpSpPr bwMode="auto">
              <a:xfrm>
                <a:off x="1135" y="602"/>
                <a:ext cx="3441" cy="3445"/>
                <a:chOff x="1159" y="279"/>
                <a:chExt cx="3441" cy="3445"/>
              </a:xfrm>
            </p:grpSpPr>
            <p:grpSp>
              <p:nvGrpSpPr>
                <p:cNvPr id="176158" name="Group 30"/>
                <p:cNvGrpSpPr/>
                <p:nvPr/>
              </p:nvGrpSpPr>
              <p:grpSpPr bwMode="auto">
                <a:xfrm>
                  <a:off x="2880" y="279"/>
                  <a:ext cx="1720" cy="1722"/>
                  <a:chOff x="2880" y="279"/>
                  <a:chExt cx="1720" cy="1722"/>
                </a:xfrm>
              </p:grpSpPr>
              <p:sp>
                <p:nvSpPr>
                  <p:cNvPr id="176159" name="Line 31"/>
                  <p:cNvSpPr>
                    <a:spLocks noChangeShapeType="1"/>
                  </p:cNvSpPr>
                  <p:nvPr/>
                </p:nvSpPr>
                <p:spPr bwMode="auto">
                  <a:xfrm rot="4680000">
                    <a:off x="4482" y="157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0" name="Line 32"/>
                  <p:cNvSpPr>
                    <a:spLocks noChangeShapeType="1"/>
                  </p:cNvSpPr>
                  <p:nvPr/>
                </p:nvSpPr>
                <p:spPr bwMode="auto">
                  <a:xfrm rot="4320000">
                    <a:off x="4436" y="141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1" name="Line 33"/>
                  <p:cNvSpPr>
                    <a:spLocks noChangeShapeType="1"/>
                  </p:cNvSpPr>
                  <p:nvPr/>
                </p:nvSpPr>
                <p:spPr bwMode="auto">
                  <a:xfrm rot="3960000">
                    <a:off x="4375" y="125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2" name="Line 34"/>
                  <p:cNvSpPr>
                    <a:spLocks noChangeAspect="1" noChangeShapeType="1"/>
                  </p:cNvSpPr>
                  <p:nvPr/>
                </p:nvSpPr>
                <p:spPr bwMode="auto">
                  <a:xfrm rot="3600000">
                    <a:off x="4247" y="1069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3" name="Line 35"/>
                  <p:cNvSpPr>
                    <a:spLocks noChangeShapeType="1"/>
                  </p:cNvSpPr>
                  <p:nvPr/>
                </p:nvSpPr>
                <p:spPr bwMode="auto">
                  <a:xfrm rot="3240000">
                    <a:off x="4204" y="955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4" name="Line 36"/>
                  <p:cNvSpPr>
                    <a:spLocks noChangeShapeType="1"/>
                  </p:cNvSpPr>
                  <p:nvPr/>
                </p:nvSpPr>
                <p:spPr bwMode="auto">
                  <a:xfrm rot="2880000">
                    <a:off x="4097" y="82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5" name="Line 37"/>
                  <p:cNvSpPr>
                    <a:spLocks noChangeShapeType="1"/>
                  </p:cNvSpPr>
                  <p:nvPr/>
                </p:nvSpPr>
                <p:spPr bwMode="auto">
                  <a:xfrm rot="2520000">
                    <a:off x="3975" y="70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6" name="Line 38"/>
                  <p:cNvSpPr>
                    <a:spLocks noChangeShapeType="1"/>
                  </p:cNvSpPr>
                  <p:nvPr/>
                </p:nvSpPr>
                <p:spPr bwMode="auto">
                  <a:xfrm rot="2160000">
                    <a:off x="3842" y="59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7" name="Line 39"/>
                  <p:cNvSpPr>
                    <a:spLocks noChangeAspect="1" noChangeShapeType="1"/>
                  </p:cNvSpPr>
                  <p:nvPr/>
                </p:nvSpPr>
                <p:spPr bwMode="auto">
                  <a:xfrm rot="1800000">
                    <a:off x="3667" y="491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8" name="Line 40"/>
                  <p:cNvSpPr>
                    <a:spLocks noChangeShapeType="1"/>
                  </p:cNvSpPr>
                  <p:nvPr/>
                </p:nvSpPr>
                <p:spPr bwMode="auto">
                  <a:xfrm rot="1440000">
                    <a:off x="3546" y="42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69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880" y="279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0" name="Line 42"/>
                  <p:cNvSpPr>
                    <a:spLocks noChangeShapeType="1"/>
                  </p:cNvSpPr>
                  <p:nvPr/>
                </p:nvSpPr>
                <p:spPr bwMode="auto">
                  <a:xfrm rot="360000">
                    <a:off x="3052" y="289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1" name="Line 43"/>
                  <p:cNvSpPr>
                    <a:spLocks noChangeShapeType="1"/>
                  </p:cNvSpPr>
                  <p:nvPr/>
                </p:nvSpPr>
                <p:spPr bwMode="auto">
                  <a:xfrm rot="720000">
                    <a:off x="3220" y="31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2" name="Line 44"/>
                  <p:cNvSpPr>
                    <a:spLocks noChangeShapeType="1"/>
                  </p:cNvSpPr>
                  <p:nvPr/>
                </p:nvSpPr>
                <p:spPr bwMode="auto">
                  <a:xfrm rot="1080000">
                    <a:off x="3386" y="36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3" name="Line 45"/>
                  <p:cNvSpPr>
                    <a:spLocks noChangeShapeType="1"/>
                  </p:cNvSpPr>
                  <p:nvPr/>
                </p:nvSpPr>
                <p:spPr bwMode="auto">
                  <a:xfrm rot="5040000">
                    <a:off x="4508" y="1745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4" name="Line 46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459" y="1859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76175" name="Group 47"/>
                <p:cNvGrpSpPr/>
                <p:nvPr/>
              </p:nvGrpSpPr>
              <p:grpSpPr bwMode="auto">
                <a:xfrm>
                  <a:off x="2879" y="2173"/>
                  <a:ext cx="1713" cy="1551"/>
                  <a:chOff x="2879" y="2173"/>
                  <a:chExt cx="1713" cy="1551"/>
                </a:xfrm>
              </p:grpSpPr>
              <p:sp>
                <p:nvSpPr>
                  <p:cNvPr id="176176" name="Line 48"/>
                  <p:cNvSpPr>
                    <a:spLocks noChangeShapeType="1"/>
                  </p:cNvSpPr>
                  <p:nvPr/>
                </p:nvSpPr>
                <p:spPr bwMode="auto">
                  <a:xfrm rot="16920000" flipV="1">
                    <a:off x="4481" y="225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7" name="Line 49"/>
                  <p:cNvSpPr>
                    <a:spLocks noChangeShapeType="1"/>
                  </p:cNvSpPr>
                  <p:nvPr/>
                </p:nvSpPr>
                <p:spPr bwMode="auto">
                  <a:xfrm rot="17280000" flipV="1">
                    <a:off x="4435" y="242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8" name="Line 50"/>
                  <p:cNvSpPr>
                    <a:spLocks noChangeShapeType="1"/>
                  </p:cNvSpPr>
                  <p:nvPr/>
                </p:nvSpPr>
                <p:spPr bwMode="auto">
                  <a:xfrm rot="17640000" flipV="1">
                    <a:off x="4374" y="258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79" name="Line 51"/>
                  <p:cNvSpPr>
                    <a:spLocks noChangeAspect="1" noChangeShapeType="1"/>
                  </p:cNvSpPr>
                  <p:nvPr/>
                </p:nvSpPr>
                <p:spPr bwMode="auto">
                  <a:xfrm rot="18000000" flipV="1">
                    <a:off x="4246" y="2650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0" name="Line 52"/>
                  <p:cNvSpPr>
                    <a:spLocks noChangeShapeType="1"/>
                  </p:cNvSpPr>
                  <p:nvPr/>
                </p:nvSpPr>
                <p:spPr bwMode="auto">
                  <a:xfrm rot="18360000" flipV="1">
                    <a:off x="4203" y="287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1" name="Line 53"/>
                  <p:cNvSpPr>
                    <a:spLocks noChangeShapeType="1"/>
                  </p:cNvSpPr>
                  <p:nvPr/>
                </p:nvSpPr>
                <p:spPr bwMode="auto">
                  <a:xfrm rot="18720000" flipV="1">
                    <a:off x="4096" y="301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2" name="Line 54"/>
                  <p:cNvSpPr>
                    <a:spLocks noChangeShapeType="1"/>
                  </p:cNvSpPr>
                  <p:nvPr/>
                </p:nvSpPr>
                <p:spPr bwMode="auto">
                  <a:xfrm rot="19080000" flipV="1">
                    <a:off x="3974" y="313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3" name="Line 55"/>
                  <p:cNvSpPr>
                    <a:spLocks noChangeShapeType="1"/>
                  </p:cNvSpPr>
                  <p:nvPr/>
                </p:nvSpPr>
                <p:spPr bwMode="auto">
                  <a:xfrm rot="19440000" flipV="1">
                    <a:off x="3841" y="324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4" name="Line 56"/>
                  <p:cNvSpPr>
                    <a:spLocks noChangeAspect="1" noChangeShapeType="1"/>
                  </p:cNvSpPr>
                  <p:nvPr/>
                </p:nvSpPr>
                <p:spPr bwMode="auto">
                  <a:xfrm rot="19800000" flipV="1">
                    <a:off x="3666" y="3229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5" name="Line 57"/>
                  <p:cNvSpPr>
                    <a:spLocks noChangeShapeType="1"/>
                  </p:cNvSpPr>
                  <p:nvPr/>
                </p:nvSpPr>
                <p:spPr bwMode="auto">
                  <a:xfrm rot="20160000" flipV="1">
                    <a:off x="3545" y="341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6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79" y="3441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7" name="Line 59"/>
                  <p:cNvSpPr>
                    <a:spLocks noChangeShapeType="1"/>
                  </p:cNvSpPr>
                  <p:nvPr/>
                </p:nvSpPr>
                <p:spPr bwMode="auto">
                  <a:xfrm rot="21240000" flipV="1">
                    <a:off x="3051" y="3544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8" name="Line 60"/>
                  <p:cNvSpPr>
                    <a:spLocks noChangeShapeType="1"/>
                  </p:cNvSpPr>
                  <p:nvPr/>
                </p:nvSpPr>
                <p:spPr bwMode="auto">
                  <a:xfrm rot="20880000" flipV="1">
                    <a:off x="3219" y="351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89" name="Line 61"/>
                  <p:cNvSpPr>
                    <a:spLocks noChangeShapeType="1"/>
                  </p:cNvSpPr>
                  <p:nvPr/>
                </p:nvSpPr>
                <p:spPr bwMode="auto">
                  <a:xfrm rot="20520000" flipV="1">
                    <a:off x="3385" y="347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0" name="Line 62"/>
                  <p:cNvSpPr>
                    <a:spLocks noChangeShapeType="1"/>
                  </p:cNvSpPr>
                  <p:nvPr/>
                </p:nvSpPr>
                <p:spPr bwMode="auto">
                  <a:xfrm rot="16560000" flipV="1">
                    <a:off x="4507" y="208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76191" name="Group 63"/>
                <p:cNvGrpSpPr/>
                <p:nvPr/>
              </p:nvGrpSpPr>
              <p:grpSpPr bwMode="auto">
                <a:xfrm>
                  <a:off x="1159" y="290"/>
                  <a:ext cx="1548" cy="1712"/>
                  <a:chOff x="1159" y="290"/>
                  <a:chExt cx="1548" cy="1712"/>
                </a:xfrm>
              </p:grpSpPr>
              <p:sp>
                <p:nvSpPr>
                  <p:cNvPr id="176192" name="Line 64"/>
                  <p:cNvSpPr>
                    <a:spLocks noChangeShapeType="1"/>
                  </p:cNvSpPr>
                  <p:nvPr/>
                </p:nvSpPr>
                <p:spPr bwMode="auto">
                  <a:xfrm rot="16920000" flipH="1">
                    <a:off x="1277" y="157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3" name="Line 65"/>
                  <p:cNvSpPr>
                    <a:spLocks noChangeShapeType="1"/>
                  </p:cNvSpPr>
                  <p:nvPr/>
                </p:nvSpPr>
                <p:spPr bwMode="auto">
                  <a:xfrm rot="17280000" flipH="1">
                    <a:off x="1323" y="141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4" name="Line 66"/>
                  <p:cNvSpPr>
                    <a:spLocks noChangeShapeType="1"/>
                  </p:cNvSpPr>
                  <p:nvPr/>
                </p:nvSpPr>
                <p:spPr bwMode="auto">
                  <a:xfrm rot="17640000" flipH="1">
                    <a:off x="1384" y="125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5" name="Line 67"/>
                  <p:cNvSpPr>
                    <a:spLocks noChangeAspect="1" noChangeShapeType="1"/>
                  </p:cNvSpPr>
                  <p:nvPr/>
                </p:nvSpPr>
                <p:spPr bwMode="auto">
                  <a:xfrm rot="18000000" flipH="1">
                    <a:off x="1511" y="1070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6" name="Line 68"/>
                  <p:cNvSpPr>
                    <a:spLocks noChangeShapeType="1"/>
                  </p:cNvSpPr>
                  <p:nvPr/>
                </p:nvSpPr>
                <p:spPr bwMode="auto">
                  <a:xfrm rot="18360000" flipH="1">
                    <a:off x="1555" y="95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7" name="Line 69"/>
                  <p:cNvSpPr>
                    <a:spLocks noChangeShapeType="1"/>
                  </p:cNvSpPr>
                  <p:nvPr/>
                </p:nvSpPr>
                <p:spPr bwMode="auto">
                  <a:xfrm rot="18720000" flipH="1">
                    <a:off x="1662" y="82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8" name="Line 70"/>
                  <p:cNvSpPr>
                    <a:spLocks noChangeShapeType="1"/>
                  </p:cNvSpPr>
                  <p:nvPr/>
                </p:nvSpPr>
                <p:spPr bwMode="auto">
                  <a:xfrm rot="19080000" flipH="1">
                    <a:off x="1784" y="70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199" name="Line 71"/>
                  <p:cNvSpPr>
                    <a:spLocks noChangeShapeType="1"/>
                  </p:cNvSpPr>
                  <p:nvPr/>
                </p:nvSpPr>
                <p:spPr bwMode="auto">
                  <a:xfrm rot="19440000" flipH="1">
                    <a:off x="1917" y="594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0" name="Line 72"/>
                  <p:cNvSpPr>
                    <a:spLocks noChangeAspect="1" noChangeShapeType="1"/>
                  </p:cNvSpPr>
                  <p:nvPr/>
                </p:nvSpPr>
                <p:spPr bwMode="auto">
                  <a:xfrm rot="19800000" flipH="1">
                    <a:off x="2090" y="492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1" name="Line 73"/>
                  <p:cNvSpPr>
                    <a:spLocks noChangeShapeType="1"/>
                  </p:cNvSpPr>
                  <p:nvPr/>
                </p:nvSpPr>
                <p:spPr bwMode="auto">
                  <a:xfrm rot="20160000" flipH="1">
                    <a:off x="2213" y="42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2" name="Line 74"/>
                  <p:cNvSpPr>
                    <a:spLocks noChangeShapeType="1"/>
                  </p:cNvSpPr>
                  <p:nvPr/>
                </p:nvSpPr>
                <p:spPr bwMode="auto">
                  <a:xfrm rot="21240000" flipH="1">
                    <a:off x="2707" y="29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3" name="Line 75"/>
                  <p:cNvSpPr>
                    <a:spLocks noChangeShapeType="1"/>
                  </p:cNvSpPr>
                  <p:nvPr/>
                </p:nvSpPr>
                <p:spPr bwMode="auto">
                  <a:xfrm rot="20880000" flipH="1">
                    <a:off x="2539" y="31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4" name="Line 76"/>
                  <p:cNvSpPr>
                    <a:spLocks noChangeShapeType="1"/>
                  </p:cNvSpPr>
                  <p:nvPr/>
                </p:nvSpPr>
                <p:spPr bwMode="auto">
                  <a:xfrm rot="20520000" flipH="1">
                    <a:off x="2373" y="36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5" name="Line 77"/>
                  <p:cNvSpPr>
                    <a:spLocks noChangeShapeType="1"/>
                  </p:cNvSpPr>
                  <p:nvPr/>
                </p:nvSpPr>
                <p:spPr bwMode="auto">
                  <a:xfrm rot="16560000" flipH="1">
                    <a:off x="1251" y="174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6" name="Line 78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1301" y="1860"/>
                    <a:ext cx="0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76207" name="Group 79"/>
                <p:cNvGrpSpPr/>
                <p:nvPr/>
              </p:nvGrpSpPr>
              <p:grpSpPr bwMode="auto">
                <a:xfrm>
                  <a:off x="1166" y="2173"/>
                  <a:ext cx="1541" cy="1541"/>
                  <a:chOff x="1166" y="2173"/>
                  <a:chExt cx="1541" cy="1541"/>
                </a:xfrm>
              </p:grpSpPr>
              <p:sp>
                <p:nvSpPr>
                  <p:cNvPr id="176208" name="Line 80"/>
                  <p:cNvSpPr>
                    <a:spLocks noChangeShapeType="1"/>
                  </p:cNvSpPr>
                  <p:nvPr/>
                </p:nvSpPr>
                <p:spPr bwMode="auto">
                  <a:xfrm rot="4680000" flipH="1" flipV="1">
                    <a:off x="1277" y="2257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09" name="Line 81"/>
                  <p:cNvSpPr>
                    <a:spLocks noChangeShapeType="1"/>
                  </p:cNvSpPr>
                  <p:nvPr/>
                </p:nvSpPr>
                <p:spPr bwMode="auto">
                  <a:xfrm rot="4320000" flipH="1" flipV="1">
                    <a:off x="1323" y="242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0" name="Line 82"/>
                  <p:cNvSpPr>
                    <a:spLocks noChangeShapeType="1"/>
                  </p:cNvSpPr>
                  <p:nvPr/>
                </p:nvSpPr>
                <p:spPr bwMode="auto">
                  <a:xfrm rot="3960000" flipH="1" flipV="1">
                    <a:off x="1384" y="258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1" name="Line 83"/>
                  <p:cNvSpPr>
                    <a:spLocks noChangeAspect="1" noChangeShapeType="1"/>
                  </p:cNvSpPr>
                  <p:nvPr/>
                </p:nvSpPr>
                <p:spPr bwMode="auto">
                  <a:xfrm rot="3600000" flipH="1" flipV="1">
                    <a:off x="1511" y="2650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2" name="Line 84"/>
                  <p:cNvSpPr>
                    <a:spLocks noChangeShapeType="1"/>
                  </p:cNvSpPr>
                  <p:nvPr/>
                </p:nvSpPr>
                <p:spPr bwMode="auto">
                  <a:xfrm rot="3240000" flipH="1" flipV="1">
                    <a:off x="1555" y="287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3" name="Line 85"/>
                  <p:cNvSpPr>
                    <a:spLocks noChangeShapeType="1"/>
                  </p:cNvSpPr>
                  <p:nvPr/>
                </p:nvSpPr>
                <p:spPr bwMode="auto">
                  <a:xfrm rot="2880000" flipH="1" flipV="1">
                    <a:off x="1662" y="3012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4" name="Line 86"/>
                  <p:cNvSpPr>
                    <a:spLocks noChangeShapeType="1"/>
                  </p:cNvSpPr>
                  <p:nvPr/>
                </p:nvSpPr>
                <p:spPr bwMode="auto">
                  <a:xfrm rot="2520000" flipH="1" flipV="1">
                    <a:off x="1784" y="3131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5" name="Line 87"/>
                  <p:cNvSpPr>
                    <a:spLocks noChangeShapeType="1"/>
                  </p:cNvSpPr>
                  <p:nvPr/>
                </p:nvSpPr>
                <p:spPr bwMode="auto">
                  <a:xfrm rot="2160000" flipH="1" flipV="1">
                    <a:off x="1917" y="3240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6" name="Line 88"/>
                  <p:cNvSpPr>
                    <a:spLocks noChangeAspect="1" noChangeShapeType="1"/>
                  </p:cNvSpPr>
                  <p:nvPr/>
                </p:nvSpPr>
                <p:spPr bwMode="auto">
                  <a:xfrm rot="1800000" flipH="1" flipV="1">
                    <a:off x="2090" y="3229"/>
                    <a:ext cx="2" cy="28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7" name="Line 89"/>
                  <p:cNvSpPr>
                    <a:spLocks noChangeShapeType="1"/>
                  </p:cNvSpPr>
                  <p:nvPr/>
                </p:nvSpPr>
                <p:spPr bwMode="auto">
                  <a:xfrm rot="1440000" flipH="1" flipV="1">
                    <a:off x="2213" y="341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8" name="Line 90"/>
                  <p:cNvSpPr>
                    <a:spLocks noChangeShapeType="1"/>
                  </p:cNvSpPr>
                  <p:nvPr/>
                </p:nvSpPr>
                <p:spPr bwMode="auto">
                  <a:xfrm rot="360000" flipH="1" flipV="1">
                    <a:off x="2707" y="3544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19" name="Line 91"/>
                  <p:cNvSpPr>
                    <a:spLocks noChangeShapeType="1"/>
                  </p:cNvSpPr>
                  <p:nvPr/>
                </p:nvSpPr>
                <p:spPr bwMode="auto">
                  <a:xfrm rot="720000" flipH="1" flipV="1">
                    <a:off x="2539" y="3516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20" name="Line 92"/>
                  <p:cNvSpPr>
                    <a:spLocks noChangeShapeType="1"/>
                  </p:cNvSpPr>
                  <p:nvPr/>
                </p:nvSpPr>
                <p:spPr bwMode="auto">
                  <a:xfrm rot="1080000" flipH="1" flipV="1">
                    <a:off x="2373" y="3473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76221" name="Line 93"/>
                  <p:cNvSpPr>
                    <a:spLocks noChangeShapeType="1"/>
                  </p:cNvSpPr>
                  <p:nvPr/>
                </p:nvSpPr>
                <p:spPr bwMode="auto">
                  <a:xfrm rot="5040000" flipH="1" flipV="1">
                    <a:off x="1251" y="2088"/>
                    <a:ext cx="0" cy="17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defTabSz="762000"/>
                    <a:endParaRPr lang="zh-CN" altLang="en-US" sz="1500">
                      <a:solidFill>
                        <a:prstClr val="black"/>
                      </a:solidFill>
                      <a:latin typeface="Calibri" panose="020F0502020204030204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76222" name="Text Box 94"/>
              <p:cNvSpPr txBox="1">
                <a:spLocks noChangeArrowheads="1"/>
              </p:cNvSpPr>
              <p:nvPr/>
            </p:nvSpPr>
            <p:spPr bwMode="auto">
              <a:xfrm>
                <a:off x="2624" y="958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5000" rIns="15000"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12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23" name="Oval 95"/>
              <p:cNvSpPr>
                <a:spLocks noChangeAspect="1" noChangeArrowheads="1"/>
              </p:cNvSpPr>
              <p:nvPr/>
            </p:nvSpPr>
            <p:spPr bwMode="auto">
              <a:xfrm>
                <a:off x="1042" y="511"/>
                <a:ext cx="3627" cy="3627"/>
              </a:xfrm>
              <a:prstGeom prst="ellipse">
                <a:avLst/>
              </a:prstGeom>
              <a:solidFill>
                <a:srgbClr val="CCFFFF">
                  <a:alpha val="28000"/>
                </a:srgbClr>
              </a:solidFill>
              <a:ln w="9525">
                <a:solidFill>
                  <a:schemeClr val="accent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762000"/>
                <a:endParaRPr lang="zh-CN" altLang="en-US" sz="150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76224" name="Text Box 96"/>
              <p:cNvSpPr txBox="1">
                <a:spLocks noChangeArrowheads="1"/>
              </p:cNvSpPr>
              <p:nvPr/>
            </p:nvSpPr>
            <p:spPr bwMode="auto">
              <a:xfrm>
                <a:off x="3265" y="1122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25" name="Text Box 97"/>
              <p:cNvSpPr txBox="1">
                <a:spLocks noChangeArrowheads="1"/>
              </p:cNvSpPr>
              <p:nvPr/>
            </p:nvSpPr>
            <p:spPr bwMode="auto">
              <a:xfrm>
                <a:off x="3731" y="1570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2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26" name="Text Box 98"/>
              <p:cNvSpPr txBox="1">
                <a:spLocks noChangeArrowheads="1"/>
              </p:cNvSpPr>
              <p:nvPr/>
            </p:nvSpPr>
            <p:spPr bwMode="auto">
              <a:xfrm>
                <a:off x="3889" y="220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3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27" name="Text Box 99"/>
              <p:cNvSpPr txBox="1">
                <a:spLocks noChangeArrowheads="1"/>
              </p:cNvSpPr>
              <p:nvPr/>
            </p:nvSpPr>
            <p:spPr bwMode="auto">
              <a:xfrm>
                <a:off x="3727" y="2836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4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28" name="Text Box 100"/>
              <p:cNvSpPr txBox="1">
                <a:spLocks noChangeArrowheads="1"/>
              </p:cNvSpPr>
              <p:nvPr/>
            </p:nvSpPr>
            <p:spPr bwMode="auto">
              <a:xfrm>
                <a:off x="3289" y="3283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5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29" name="Text Box 101"/>
              <p:cNvSpPr txBox="1">
                <a:spLocks noChangeArrowheads="1"/>
              </p:cNvSpPr>
              <p:nvPr/>
            </p:nvSpPr>
            <p:spPr bwMode="auto">
              <a:xfrm>
                <a:off x="2624" y="345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6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30" name="Text Box 102"/>
              <p:cNvSpPr txBox="1">
                <a:spLocks noChangeArrowheads="1"/>
              </p:cNvSpPr>
              <p:nvPr/>
            </p:nvSpPr>
            <p:spPr bwMode="auto">
              <a:xfrm>
                <a:off x="2018" y="328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7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31" name="Text Box 103"/>
              <p:cNvSpPr txBox="1">
                <a:spLocks noChangeArrowheads="1"/>
              </p:cNvSpPr>
              <p:nvPr/>
            </p:nvSpPr>
            <p:spPr bwMode="auto">
              <a:xfrm>
                <a:off x="1595" y="2848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8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32" name="Text Box 104"/>
              <p:cNvSpPr txBox="1">
                <a:spLocks noChangeArrowheads="1"/>
              </p:cNvSpPr>
              <p:nvPr/>
            </p:nvSpPr>
            <p:spPr bwMode="auto">
              <a:xfrm>
                <a:off x="1433" y="2209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9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33" name="Text Box 105"/>
              <p:cNvSpPr txBox="1">
                <a:spLocks noChangeArrowheads="1"/>
              </p:cNvSpPr>
              <p:nvPr/>
            </p:nvSpPr>
            <p:spPr bwMode="auto">
              <a:xfrm>
                <a:off x="1513" y="1594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5000" rIns="15000"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10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76234" name="Text Box 106"/>
              <p:cNvSpPr txBox="1">
                <a:spLocks noChangeArrowheads="1"/>
              </p:cNvSpPr>
              <p:nvPr/>
            </p:nvSpPr>
            <p:spPr bwMode="auto">
              <a:xfrm>
                <a:off x="2018" y="1078"/>
                <a:ext cx="467" cy="231"/>
              </a:xfrm>
              <a:prstGeom prst="rect">
                <a:avLst/>
              </a:prstGeom>
              <a:solidFill>
                <a:srgbClr val="CCFFFF">
                  <a:alpha val="28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5000" rIns="15000" anchor="ctr" anchorCtr="1"/>
              <a:lstStyle/>
              <a:p>
                <a:pPr defTabSz="762000"/>
                <a:r>
                  <a:rPr lang="en-GB" altLang="zh-CN" sz="1165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  <a:cs typeface="Arial" panose="020B0604020202020204" pitchFamily="34" charset="0"/>
                  </a:rPr>
                  <a:t>11</a:t>
                </a:r>
                <a:endParaRPr lang="en-US" altLang="zh-CN" sz="1165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6235" name="Oval 107"/>
            <p:cNvSpPr>
              <a:spLocks noChangeArrowheads="1"/>
            </p:cNvSpPr>
            <p:nvPr/>
          </p:nvSpPr>
          <p:spPr bwMode="auto">
            <a:xfrm>
              <a:off x="2663" y="2117"/>
              <a:ext cx="256" cy="256"/>
            </a:xfrm>
            <a:prstGeom prst="ellipse">
              <a:avLst/>
            </a:prstGeom>
            <a:solidFill>
              <a:srgbClr val="CCFFFF">
                <a:alpha val="28000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762000"/>
              <a:endParaRPr lang="zh-CN" altLang="en-US" sz="15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/>
      <p:bldP spid="176133" grpId="0" animBg="1"/>
      <p:bldP spid="176137" grpId="0" animBg="1"/>
      <p:bldP spid="176139" grpId="0" animBg="1"/>
      <p:bldP spid="176145" grpId="0" animBg="1"/>
      <p:bldP spid="176148" grpId="0" animBg="1"/>
      <p:bldP spid="17614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软件产品发布类型和版本</a:t>
            </a:r>
            <a:endParaRPr lang="zh-CN" altLang="en-US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750" y="1627188"/>
            <a:ext cx="6477000" cy="3241146"/>
          </a:xfrm>
        </p:spPr>
        <p:txBody>
          <a:bodyPr/>
          <a:lstStyle/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主发布  </a:t>
            </a:r>
            <a:r>
              <a:rPr lang="en-US" altLang="zh-CN" sz="1665"/>
              <a:t>(Major Release)</a:t>
            </a:r>
            <a:endParaRPr lang="en-US" altLang="zh-CN" sz="1665"/>
          </a:p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服务包发布 </a:t>
            </a:r>
            <a:r>
              <a:rPr lang="en-US" altLang="zh-CN" sz="1665"/>
              <a:t>(Service Pack Release) </a:t>
            </a:r>
            <a:endParaRPr lang="en-US" altLang="zh-CN" sz="1665"/>
          </a:p>
          <a:p>
            <a:pPr marL="521335" indent="-444500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紧急补丁包发布 </a:t>
            </a:r>
            <a:r>
              <a:rPr lang="en-US" altLang="zh-CN" sz="1665"/>
              <a:t>(Emergency Patch Release ) </a:t>
            </a:r>
            <a:endParaRPr lang="en-US" altLang="zh-CN" sz="1665"/>
          </a:p>
          <a:p>
            <a:pPr marL="521335" indent="-444500">
              <a:spcBef>
                <a:spcPct val="50000"/>
              </a:spcBef>
            </a:pPr>
            <a:endParaRPr lang="en-US" altLang="zh-CN" sz="1665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521335" indent="-444500">
              <a:spcBef>
                <a:spcPct val="50000"/>
              </a:spcBef>
            </a:pPr>
            <a:r>
              <a:rPr lang="zh-CN" altLang="en-US" sz="2000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外部版本号  </a:t>
            </a:r>
            <a:r>
              <a:rPr lang="en-US" altLang="zh-CN" sz="2000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a.b.c</a:t>
            </a:r>
            <a:endParaRPr lang="en-US" altLang="zh-CN" sz="2000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521335" indent="-444500">
              <a:spcBef>
                <a:spcPct val="50000"/>
              </a:spcBef>
            </a:pPr>
            <a:r>
              <a:rPr lang="zh-CN" altLang="en-US" sz="2000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内部版本号  </a:t>
            </a:r>
            <a:r>
              <a:rPr lang="en-US" altLang="zh-CN" sz="2000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a.b.c.d</a:t>
            </a:r>
            <a:endParaRPr lang="en-US" altLang="zh-CN" sz="2000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4091782" y="3359031"/>
            <a:ext cx="4020343" cy="160043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defTabSz="762000">
              <a:spcBef>
                <a:spcPct val="40000"/>
              </a:spcBef>
              <a:buFontTx/>
              <a:buChar char="•"/>
            </a:pPr>
            <a:r>
              <a:rPr lang="en-US" altLang="zh-CN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a — </a:t>
            </a:r>
            <a:r>
              <a:rPr lang="zh-CN" altLang="en-US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产品主要版本号</a:t>
            </a:r>
            <a:endParaRPr lang="zh-CN" altLang="en-US" sz="2000" b="1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285750" indent="-285750" defTabSz="762000">
              <a:spcBef>
                <a:spcPct val="40000"/>
              </a:spcBef>
              <a:buFontTx/>
              <a:buChar char="•"/>
            </a:pPr>
            <a:r>
              <a:rPr lang="en-US" altLang="zh-CN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b — </a:t>
            </a:r>
            <a:r>
              <a:rPr lang="zh-CN" altLang="en-US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产品次要版本号</a:t>
            </a:r>
            <a:endParaRPr lang="zh-CN" altLang="en-US" sz="2000" b="1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285750" indent="-285750" defTabSz="762000">
              <a:spcBef>
                <a:spcPct val="40000"/>
              </a:spcBef>
              <a:buFontTx/>
              <a:buChar char="•"/>
            </a:pPr>
            <a:r>
              <a:rPr lang="en-US" altLang="zh-CN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c — </a:t>
            </a:r>
            <a:r>
              <a:rPr lang="zh-CN" altLang="en-US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产品小版本号</a:t>
            </a:r>
            <a:endParaRPr lang="zh-CN" altLang="en-US" sz="2000" b="1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marL="285750" indent="-285750" defTabSz="762000">
              <a:spcBef>
                <a:spcPct val="40000"/>
              </a:spcBef>
              <a:buFontTx/>
              <a:buChar char="•"/>
            </a:pPr>
            <a:r>
              <a:rPr lang="en-US" altLang="zh-CN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d — </a:t>
            </a:r>
            <a:r>
              <a:rPr lang="zh-CN" altLang="en-US" sz="2000" b="1">
                <a:solidFill>
                  <a:srgbClr val="0066FF"/>
                </a:solidFill>
                <a:latin typeface="Tahoma" panose="020B0604030504040204" pitchFamily="34" charset="0"/>
                <a:ea typeface="楷体_GB2312" pitchFamily="49" charset="-122"/>
              </a:rPr>
              <a:t>每日或常规构建包的版本号</a:t>
            </a:r>
            <a:endParaRPr lang="zh-CN" altLang="en-US" sz="2000" b="1">
              <a:solidFill>
                <a:srgbClr val="0066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8181" name="AutoShape 5"/>
          <p:cNvSpPr/>
          <p:nvPr/>
        </p:nvSpPr>
        <p:spPr bwMode="auto">
          <a:xfrm>
            <a:off x="3821907" y="3307292"/>
            <a:ext cx="300302" cy="1770063"/>
          </a:xfrm>
          <a:prstGeom prst="leftBrace">
            <a:avLst>
              <a:gd name="adj1" fmla="val 4911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版本定义可能存在的冲突</a:t>
            </a:r>
            <a:endParaRPr lang="zh-CN" altLang="en-US"/>
          </a:p>
        </p:txBody>
      </p:sp>
      <p:sp>
        <p:nvSpPr>
          <p:cNvPr id="210949" name="Rectangle 5"/>
          <p:cNvSpPr>
            <a:spLocks noChangeArrowheads="1"/>
          </p:cNvSpPr>
          <p:nvPr/>
        </p:nvSpPr>
        <p:spPr bwMode="auto">
          <a:xfrm>
            <a:off x="762001" y="1642741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1094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094" y="1567657"/>
            <a:ext cx="6570927" cy="332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程序经理</a:t>
            </a:r>
            <a:endParaRPr lang="zh-CN" altLang="en-US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136" y="1387740"/>
            <a:ext cx="6477000" cy="4050771"/>
          </a:xfrm>
        </p:spPr>
        <p:txBody>
          <a:bodyPr/>
          <a:lstStyle/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创建产品前景。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制定产品发行的衡量标准，创建主进度表。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创建产品规格书。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管理功能小组工作状况，管理产品规格书，推进工作进度。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对产品各方面进行权衡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时间计划和控制。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对整个项目的进程进行追踪、并向整个团队通报、对出现的问题及时协调并解决。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spcBef>
                <a:spcPct val="40000"/>
              </a:spcBef>
              <a:buFont typeface="Wingdings" panose="05000000000000000000" pitchFamily="2" charset="2"/>
              <a:buChar char="n"/>
            </a:pP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提高团队生产力。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0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0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软件部署</a:t>
            </a:r>
            <a:endParaRPr lang="zh-CN" altLang="en-US"/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762001" y="1376834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69989" name="Picture 5" descr="17-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1416844"/>
            <a:ext cx="4320646" cy="411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软件系统运行的基础架构平台</a:t>
            </a:r>
            <a:endParaRPr lang="zh-CN" altLang="en-US" sz="3335"/>
          </a:p>
        </p:txBody>
      </p:sp>
      <p:sp>
        <p:nvSpPr>
          <p:cNvPr id="182277" name="Rectangle 5"/>
          <p:cNvSpPr>
            <a:spLocks noChangeArrowheads="1"/>
          </p:cNvSpPr>
          <p:nvPr/>
        </p:nvSpPr>
        <p:spPr bwMode="auto">
          <a:xfrm>
            <a:off x="762001" y="1825303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82276" name="Picture 4" descr="17-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240" y="1627188"/>
            <a:ext cx="6240198" cy="299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从不同视图审视系统运行的基础平台</a:t>
            </a:r>
            <a:endParaRPr lang="zh-CN" altLang="en-US"/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762001" y="1694334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12996" name="Picture 4" descr="17-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1537230"/>
            <a:ext cx="6779948" cy="303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软件运行的服务质量</a:t>
            </a:r>
            <a:endParaRPr lang="zh-CN" altLang="en-US"/>
          </a:p>
        </p:txBody>
      </p:sp>
      <p:graphicFrame>
        <p:nvGraphicFramePr>
          <p:cNvPr id="184417" name="Group 97"/>
          <p:cNvGraphicFramePr>
            <a:graphicFrameLocks noGrp="1"/>
          </p:cNvGraphicFramePr>
          <p:nvPr>
            <p:ph idx="1"/>
          </p:nvPr>
        </p:nvGraphicFramePr>
        <p:xfrm>
          <a:off x="1524000" y="1333500"/>
          <a:ext cx="6477000" cy="3756025"/>
        </p:xfrm>
        <a:graphic>
          <a:graphicData uri="http://schemas.openxmlformats.org/drawingml/2006/table">
            <a:tbl>
              <a:tblPr/>
              <a:tblGrid>
                <a:gridCol w="1037167"/>
                <a:gridCol w="5439833"/>
              </a:tblGrid>
              <a:tr h="3148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Helvetica" panose="020B0604020202020204" pitchFamily="34" charset="0"/>
                          <a:cs typeface="宋体" panose="02010600030101010101" pitchFamily="2" charset="-122"/>
                        </a:rPr>
                        <a:t>系统质量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Helvetica" panose="020B0604020202020204" pitchFamily="34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CE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Helvetica" panose="020B0604020202020204" pitchFamily="34" charset="0"/>
                          <a:cs typeface="宋体" panose="02010600030101010101" pitchFamily="2" charset="-122"/>
                        </a:rPr>
                        <a:t>说明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Helvetica" panose="020B0604020202020204" pitchFamily="34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CEE">
                        <a:alpha val="50000"/>
                      </a:srgbClr>
                    </a:solidFill>
                  </a:tcPr>
                </a:tc>
              </a:tr>
              <a:tr h="3148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性能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按用户负载条件对响应时间和吞吐量所作的度量。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11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可用性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对系统资源和服务可供最终用户使用的程度度量。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97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可伸缩性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9207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3058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3825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46555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随时间推移为部署系统增加容量（和用户）的能力。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97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安全性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9207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08355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16025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2433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对系统及其用户的完整性进行说明的复杂因素组合。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3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潜在容量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9207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tabLst>
                          <a:tab pos="92075" algn="l"/>
                        </a:tabLst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3058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tabLst>
                          <a:tab pos="92075" algn="l"/>
                        </a:tabLst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3825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92075" algn="l"/>
                        </a:tabLst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46555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9207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9207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9207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9207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9207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9207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2075" algn="l"/>
                        </a:tabLst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在不增加资源的情况下，系统处理异常峰值负载的能力。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可维护性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9207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3058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3825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46555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9207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对已部署系统进行维护的容易度，其中包括监视系统、修复出现的故障以及升级硬件和软件组件等任务。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软件部署规划</a:t>
            </a:r>
            <a:endParaRPr lang="zh-CN" altLang="en-US"/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136" y="1416844"/>
            <a:ext cx="6389688" cy="3120760"/>
          </a:xfrm>
        </p:spPr>
        <p:txBody>
          <a:bodyPr/>
          <a:lstStyle/>
          <a:p>
            <a:pPr marL="444500" indent="-444500"/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明确软件系统自身要实现的一组质量目标、产品</a:t>
            </a:r>
            <a:r>
              <a:rPr lang="en-US" altLang="zh-CN" sz="2000"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000">
                <a:latin typeface="楷体_GB2312" pitchFamily="49" charset="-122"/>
                <a:ea typeface="楷体_GB2312" pitchFamily="49" charset="-122"/>
              </a:rPr>
              <a:t>服务特性要求以及它们的优先级。</a:t>
            </a:r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444500" indent="-444500"/>
            <a:endParaRPr lang="zh-CN" altLang="en-US" sz="2000">
              <a:latin typeface="楷体_GB2312" pitchFamily="49" charset="-122"/>
              <a:ea typeface="楷体_GB2312" pitchFamily="49" charset="-122"/>
            </a:endParaRPr>
          </a:p>
          <a:p>
            <a:pPr marL="444500" indent="-444500"/>
            <a:r>
              <a:rPr lang="en-US" altLang="zh-CN"/>
              <a:t>1</a:t>
            </a:r>
            <a:r>
              <a:rPr lang="zh-CN" altLang="en-US"/>
              <a:t>．用量分析和性能规划</a:t>
            </a:r>
            <a:endParaRPr lang="zh-CN" altLang="en-US"/>
          </a:p>
          <a:p>
            <a:pPr marL="444500" indent="-444500"/>
            <a:r>
              <a:rPr lang="en-US" altLang="zh-CN"/>
              <a:t>2</a:t>
            </a:r>
            <a:r>
              <a:rPr lang="zh-CN" altLang="en-US"/>
              <a:t>．可用性的规划</a:t>
            </a:r>
            <a:endParaRPr lang="zh-CN" altLang="en-US"/>
          </a:p>
          <a:p>
            <a:pPr marL="444500" indent="-444500"/>
            <a:r>
              <a:rPr lang="en-US" altLang="zh-CN"/>
              <a:t>3</a:t>
            </a:r>
            <a:r>
              <a:rPr lang="zh-CN" altLang="en-US"/>
              <a:t>．可伸缩系统的规划</a:t>
            </a:r>
            <a:endParaRPr lang="zh-CN" altLang="en-US"/>
          </a:p>
          <a:p>
            <a:pPr marL="444500" indent="-444500"/>
            <a:r>
              <a:rPr lang="en-US" altLang="zh-CN"/>
              <a:t>4</a:t>
            </a:r>
            <a:r>
              <a:rPr lang="zh-CN" altLang="en-US"/>
              <a:t>．安全性的规划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用量分析和性能规划</a:t>
            </a:r>
            <a:endParaRPr lang="zh-CN" altLang="en-US" sz="3335"/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1928" y="1447271"/>
            <a:ext cx="3528218" cy="3743854"/>
          </a:xfrm>
        </p:spPr>
        <p:txBody>
          <a:bodyPr>
            <a:normAutofit fontScale="92500" lnSpcReduction="10000"/>
          </a:bodyPr>
          <a:lstStyle/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用户数量及类型 </a:t>
            </a:r>
            <a:endParaRPr lang="zh-CN" altLang="en-US"/>
          </a:p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活动和非活动用户 </a:t>
            </a:r>
            <a:endParaRPr lang="zh-CN" altLang="en-US"/>
          </a:p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管理用户 </a:t>
            </a:r>
            <a:endParaRPr lang="zh-CN" altLang="en-US"/>
          </a:p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使用模式 </a:t>
            </a:r>
            <a:endParaRPr lang="zh-CN" altLang="en-US"/>
          </a:p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用户增长 </a:t>
            </a:r>
            <a:endParaRPr lang="zh-CN" altLang="en-US"/>
          </a:p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用户事务 </a:t>
            </a:r>
            <a:endParaRPr lang="zh-CN" altLang="en-US"/>
          </a:p>
          <a:p>
            <a:pPr marL="523875" indent="-523875">
              <a:spcBef>
                <a:spcPct val="50000"/>
              </a:spcBef>
              <a:buFont typeface="Wingdings" panose="05000000000000000000" pitchFamily="2" charset="2"/>
              <a:buChar char="n"/>
            </a:pPr>
            <a:r>
              <a:rPr lang="zh-CN" altLang="en-US"/>
              <a:t>用户</a:t>
            </a:r>
            <a:r>
              <a:rPr lang="en-US" altLang="zh-CN"/>
              <a:t>/</a:t>
            </a:r>
            <a:r>
              <a:rPr lang="zh-CN" altLang="en-US"/>
              <a:t>历史数据 </a:t>
            </a:r>
            <a:endParaRPr lang="zh-CN" altLang="en-US"/>
          </a:p>
        </p:txBody>
      </p:sp>
      <p:graphicFrame>
        <p:nvGraphicFramePr>
          <p:cNvPr id="218116" name="Object 4"/>
          <p:cNvGraphicFramePr>
            <a:graphicFrameLocks noGrp="1"/>
          </p:cNvGraphicFramePr>
          <p:nvPr>
            <p:ph sz="half" idx="2"/>
          </p:nvPr>
        </p:nvGraphicFramePr>
        <p:xfrm>
          <a:off x="5561542" y="2047875"/>
          <a:ext cx="1373188" cy="2668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Clip" r:id="rId1" imgW="2046605" imgH="3657600" progId="MS_ClipArt_Gallery.2">
                  <p:embed/>
                </p:oleObj>
              </mc:Choice>
              <mc:Fallback>
                <p:oleObj name="Clip" r:id="rId1" imgW="2046605" imgH="3657600" progId="MS_ClipArt_Gallery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542" y="2047875"/>
                        <a:ext cx="1373188" cy="2668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可用性的规划</a:t>
            </a:r>
            <a:endParaRPr lang="zh-CN" altLang="en-US" sz="3335"/>
          </a:p>
        </p:txBody>
      </p:sp>
      <p:graphicFrame>
        <p:nvGraphicFramePr>
          <p:cNvPr id="220266" name="Group 106"/>
          <p:cNvGraphicFramePr>
            <a:graphicFrameLocks noGrp="1"/>
          </p:cNvGraphicFramePr>
          <p:nvPr>
            <p:ph idx="1"/>
          </p:nvPr>
        </p:nvGraphicFramePr>
        <p:xfrm>
          <a:off x="1571625" y="1686719"/>
          <a:ext cx="6348678" cy="2903804"/>
        </p:xfrm>
        <a:graphic>
          <a:graphicData uri="http://schemas.openxmlformats.org/drawingml/2006/table">
            <a:tbl>
              <a:tblPr/>
              <a:tblGrid>
                <a:gridCol w="812271"/>
                <a:gridCol w="1087438"/>
                <a:gridCol w="4448969"/>
              </a:tblGrid>
              <a:tr h="32279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Helvetica" panose="020B0604020202020204" pitchFamily="34" charset="0"/>
                          <a:cs typeface="宋体" panose="02010600030101010101" pitchFamily="2" charset="-122"/>
                        </a:rPr>
                        <a:t>优先级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Helvetica" panose="020B0604020202020204" pitchFamily="34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CE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Helvetica" panose="020B0604020202020204" pitchFamily="34" charset="0"/>
                          <a:cs typeface="宋体" panose="02010600030101010101" pitchFamily="2" charset="-122"/>
                        </a:rPr>
                        <a:t>服务类型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Helvetica" panose="020B0604020202020204" pitchFamily="34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CE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Helvetica" panose="020B0604020202020204" pitchFamily="34" charset="0"/>
                          <a:cs typeface="宋体" panose="02010600030101010101" pitchFamily="2" charset="-122"/>
                        </a:rPr>
                        <a:t>说明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Helvetica" panose="020B0604020202020204" pitchFamily="34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b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CEE">
                        <a:alpha val="50000"/>
                      </a:srgbClr>
                    </a:solidFill>
                  </a:tcPr>
                </a:tc>
              </a:tr>
              <a:tr h="64426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1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关键任务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8605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08355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16025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2433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1860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任何时候必须可用的服务。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690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2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必须可用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8605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22325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3063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383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18605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必须可用，但可以较低性能获得的服务。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426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3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可延迟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8605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08355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16025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2433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1860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在特定时间段内必须可用的服务。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558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4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可选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86055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 b="1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808355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216025" indent="-228600"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2433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1860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宋体" panose="02010600030101010101" pitchFamily="2" charset="-122"/>
                        </a:rPr>
                        <a:t>可无限期延迟的服务。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可伸缩系统的规划</a:t>
            </a:r>
            <a:endParaRPr lang="zh-CN" altLang="en-US" sz="3335"/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12094" y="1416844"/>
            <a:ext cx="6477000" cy="3810000"/>
          </a:xfrm>
        </p:spPr>
        <p:txBody>
          <a:bodyPr/>
          <a:lstStyle/>
          <a:p>
            <a:pPr marL="444500" indent="-444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/>
              <a:t>高性能设计策略，</a:t>
            </a:r>
            <a:r>
              <a:rPr lang="zh-CN" altLang="en-US" sz="1665"/>
              <a:t>在性能要求的确定阶段加入潜在容量，以处理可能会随时间推移而增长的负载。</a:t>
            </a:r>
            <a:endParaRPr lang="zh-CN" altLang="en-US" sz="1665"/>
          </a:p>
          <a:p>
            <a:pPr marL="444500" indent="-4445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000"/>
              <a:t>渐增式部署，</a:t>
            </a:r>
            <a:r>
              <a:rPr lang="zh-CN" altLang="en-US" sz="1665"/>
              <a:t>基于负载的要求以及评估，对每一个重大的系统扩展特定日期</a:t>
            </a:r>
            <a:r>
              <a:rPr lang="en-US" altLang="zh-CN" sz="1665"/>
              <a:t>/</a:t>
            </a:r>
            <a:r>
              <a:rPr lang="zh-CN" altLang="en-US" sz="1665"/>
              <a:t>时间有一个估计和安排。</a:t>
            </a:r>
            <a:endParaRPr lang="zh-CN" altLang="en-US" sz="1665"/>
          </a:p>
          <a:p>
            <a:pPr marL="444500" indent="-4445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大范围性能监视。</a:t>
            </a:r>
            <a:endParaRPr lang="zh-CN" altLang="en-US" sz="2000"/>
          </a:p>
          <a:p>
            <a:pPr marL="444500" indent="-444500">
              <a:lnSpc>
                <a:spcPct val="90000"/>
              </a:lnSpc>
              <a:spcBef>
                <a:spcPct val="50000"/>
              </a:spcBef>
            </a:pPr>
            <a:endParaRPr lang="zh-CN" altLang="en-US" sz="2000"/>
          </a:p>
          <a:p>
            <a:pPr marL="444500" indent="-4445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分析使用模式 </a:t>
            </a:r>
            <a:endParaRPr lang="zh-CN" altLang="en-US" sz="2000">
              <a:solidFill>
                <a:srgbClr val="0066FF"/>
              </a:solidFill>
            </a:endParaRPr>
          </a:p>
          <a:p>
            <a:pPr marL="444500" indent="-4445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设定合理的且最高的目标 </a:t>
            </a:r>
            <a:endParaRPr lang="zh-CN" altLang="en-US" sz="2000">
              <a:solidFill>
                <a:srgbClr val="0066FF"/>
              </a:solidFill>
            </a:endParaRPr>
          </a:p>
          <a:p>
            <a:pPr marL="444500" indent="-4445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设置合适的重大事件点 </a:t>
            </a:r>
            <a:endParaRPr lang="zh-CN" altLang="en-US" sz="2000">
              <a:solidFill>
                <a:srgbClr val="0066FF"/>
              </a:solidFill>
            </a:endParaRPr>
          </a:p>
          <a:p>
            <a:pPr marL="444500" indent="-444500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融入新兴技术</a:t>
            </a:r>
            <a:r>
              <a:rPr lang="zh-CN" altLang="en-US" sz="2000"/>
              <a:t> </a:t>
            </a:r>
            <a:endParaRPr lang="zh-CN" altLang="en-US" sz="2000"/>
          </a:p>
        </p:txBody>
      </p:sp>
      <p:sp>
        <p:nvSpPr>
          <p:cNvPr id="222212" name="Line 4"/>
          <p:cNvSpPr>
            <a:spLocks noChangeShapeType="1"/>
          </p:cNvSpPr>
          <p:nvPr/>
        </p:nvSpPr>
        <p:spPr bwMode="auto">
          <a:xfrm>
            <a:off x="1571625" y="3278188"/>
            <a:ext cx="6060282" cy="0"/>
          </a:xfrm>
          <a:prstGeom prst="line">
            <a:avLst/>
          </a:prstGeom>
          <a:noFill/>
          <a:ln w="38100" cmpd="dbl">
            <a:solidFill>
              <a:srgbClr val="0066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安全性的规划</a:t>
            </a:r>
            <a:endParaRPr lang="zh-CN" altLang="en-US" sz="3335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136" y="1717146"/>
            <a:ext cx="4770438" cy="2513542"/>
          </a:xfrm>
        </p:spPr>
        <p:txBody>
          <a:bodyPr>
            <a:normAutofit fontScale="92500"/>
          </a:bodyPr>
          <a:lstStyle/>
          <a:p>
            <a:pPr marL="444500" indent="-444500">
              <a:spcBef>
                <a:spcPct val="60000"/>
              </a:spcBef>
              <a:buFont typeface="Wingdings" panose="05000000000000000000" pitchFamily="2" charset="2"/>
              <a:buAutoNum type="arabicPeriod"/>
            </a:pPr>
            <a:r>
              <a:rPr lang="zh-CN" altLang="en-US"/>
              <a:t>物理安全。 </a:t>
            </a:r>
            <a:endParaRPr lang="zh-CN" altLang="en-US"/>
          </a:p>
          <a:p>
            <a:pPr marL="444500" indent="-444500">
              <a:spcBef>
                <a:spcPct val="60000"/>
              </a:spcBef>
              <a:buFont typeface="Wingdings" panose="05000000000000000000" pitchFamily="2" charset="2"/>
              <a:buAutoNum type="arabicPeriod"/>
            </a:pPr>
            <a:r>
              <a:rPr lang="zh-CN" altLang="en-US"/>
              <a:t>网络安全。</a:t>
            </a:r>
            <a:endParaRPr lang="zh-CN" altLang="en-US"/>
          </a:p>
          <a:p>
            <a:pPr marL="444500" indent="-444500">
              <a:spcBef>
                <a:spcPct val="60000"/>
              </a:spcBef>
              <a:buFont typeface="Wingdings" panose="05000000000000000000" pitchFamily="2" charset="2"/>
              <a:buAutoNum type="arabicPeriod"/>
            </a:pPr>
            <a:r>
              <a:rPr lang="zh-CN" altLang="en-US"/>
              <a:t>应用程序和应用程序数据安全。</a:t>
            </a:r>
            <a:endParaRPr lang="zh-CN" altLang="en-US"/>
          </a:p>
          <a:p>
            <a:pPr marL="444500" indent="-444500">
              <a:spcBef>
                <a:spcPct val="60000"/>
              </a:spcBef>
              <a:buFont typeface="Wingdings" panose="05000000000000000000" pitchFamily="2" charset="2"/>
              <a:buAutoNum type="arabicPeriod"/>
            </a:pPr>
            <a:r>
              <a:rPr lang="zh-CN" altLang="en-US"/>
              <a:t>个人安全惯例。  </a:t>
            </a:r>
            <a:endParaRPr lang="zh-CN" altLang="en-US"/>
          </a:p>
        </p:txBody>
      </p:sp>
      <p:pic>
        <p:nvPicPr>
          <p:cNvPr id="224272" name="Picture 16" descr="BD07281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928" y="3247761"/>
            <a:ext cx="2131218" cy="185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软件部署的逻辑设计 </a:t>
            </a:r>
            <a:endParaRPr lang="zh-CN" altLang="en-US" sz="3335"/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136" y="1416845"/>
            <a:ext cx="6420114" cy="3241146"/>
          </a:xfrm>
        </p:spPr>
        <p:txBody>
          <a:bodyPr/>
          <a:lstStyle/>
          <a:p>
            <a:pPr marL="444500" indent="-444500"/>
            <a:r>
              <a:rPr lang="zh-CN" altLang="en-US"/>
              <a:t>逻辑设计就是将系统的使用案例作为输入，确定实现解决方案所需的软件体系结构、组件及其之间的相互关系。 </a:t>
            </a:r>
            <a:endParaRPr lang="zh-CN" altLang="en-US"/>
          </a:p>
          <a:p>
            <a:pPr marL="444500" indent="-444500"/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ea typeface="楷体_GB2312" pitchFamily="49" charset="-122"/>
              </a:rPr>
              <a:t>系统服务质量；</a:t>
            </a:r>
            <a:endParaRPr lang="zh-CN" altLang="en-US" sz="2000">
              <a:ea typeface="楷体_GB2312" pitchFamily="49" charset="-122"/>
            </a:endParaRPr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ea typeface="楷体_GB2312" pitchFamily="49" charset="-122"/>
              </a:rPr>
              <a:t>逻辑层， 基于软件服务的特性，表示软件组件组成的逻辑层次关系及其层次之间的关系；</a:t>
            </a:r>
            <a:endParaRPr lang="zh-CN" altLang="en-US" sz="2000">
              <a:ea typeface="楷体_GB2312" pitchFamily="49" charset="-122"/>
            </a:endParaRPr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ea typeface="楷体_GB2312" pitchFamily="49" charset="-122"/>
              </a:rPr>
              <a:t>基础结构服务依赖性。</a:t>
            </a:r>
            <a:endParaRPr lang="zh-CN" altLang="en-US" sz="200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i="0">
                <a:solidFill>
                  <a:schemeClr val="tx1"/>
                </a:solidFill>
              </a:rPr>
              <a:t>J2EE</a:t>
            </a:r>
            <a:r>
              <a:rPr lang="zh-CN" altLang="en-US" b="0" i="0">
                <a:solidFill>
                  <a:schemeClr val="tx1"/>
                </a:solidFill>
              </a:rPr>
              <a:t>体系结构逻辑层次和关键组件</a:t>
            </a:r>
            <a:endParaRPr lang="zh-CN" altLang="en-US" b="0" i="0">
              <a:solidFill>
                <a:schemeClr val="tx1"/>
              </a:solidFill>
            </a:endParaRPr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762001" y="1726084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27332" name="Picture 4" descr="17-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709" y="1567657"/>
            <a:ext cx="6510073" cy="316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多层体系结构模型示意图</a:t>
            </a:r>
            <a:endParaRPr lang="zh-CN" altLang="en-US"/>
          </a:p>
        </p:txBody>
      </p:sp>
      <p:sp>
        <p:nvSpPr>
          <p:cNvPr id="229381" name="Rectangle 5"/>
          <p:cNvSpPr>
            <a:spLocks noChangeArrowheads="1"/>
          </p:cNvSpPr>
          <p:nvPr/>
        </p:nvSpPr>
        <p:spPr bwMode="auto">
          <a:xfrm>
            <a:off x="762001" y="1571303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29380" name="Picture 4" descr="17-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292" y="1477698"/>
            <a:ext cx="4441032" cy="357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384" name="Rectangle 8"/>
          <p:cNvSpPr>
            <a:spLocks noChangeArrowheads="1"/>
          </p:cNvSpPr>
          <p:nvPr/>
        </p:nvSpPr>
        <p:spPr bwMode="auto">
          <a:xfrm>
            <a:off x="762001" y="1480022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29383" name="Picture 7" descr="17-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240" y="1477699"/>
            <a:ext cx="6480968" cy="369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387" name="Rectangle 11"/>
          <p:cNvSpPr>
            <a:spLocks noChangeArrowheads="1"/>
          </p:cNvSpPr>
          <p:nvPr/>
        </p:nvSpPr>
        <p:spPr bwMode="auto">
          <a:xfrm>
            <a:off x="762001" y="1499866"/>
            <a:ext cx="6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229386" name="Picture 10" descr="17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78" y="1416844"/>
            <a:ext cx="6869906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10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软件部署的物理设计	</a:t>
            </a:r>
            <a:endParaRPr lang="zh-CN" altLang="en-US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2354" y="1477699"/>
            <a:ext cx="3599657" cy="3541448"/>
          </a:xfrm>
        </p:spPr>
        <p:txBody>
          <a:bodyPr>
            <a:normAutofit fontScale="92500" lnSpcReduction="10000"/>
          </a:bodyPr>
          <a:lstStyle/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迁移计划 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安装计划 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用户管理计划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测试计划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展开计划 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灾难恢复计划 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操作计划（运行手册）</a:t>
            </a:r>
            <a:endParaRPr lang="zh-CN" altLang="en-US"/>
          </a:p>
          <a:p>
            <a:pPr marL="444500" indent="-444500">
              <a:buFont typeface="Wingdings" panose="05000000000000000000" pitchFamily="2" charset="2"/>
              <a:buAutoNum type="arabicPeriod"/>
            </a:pPr>
            <a:r>
              <a:rPr lang="zh-CN" altLang="en-US"/>
              <a:t>培训计划</a:t>
            </a:r>
            <a:endParaRPr lang="zh-CN" altLang="en-US"/>
          </a:p>
        </p:txBody>
      </p:sp>
      <p:pic>
        <p:nvPicPr>
          <p:cNvPr id="190468" name="Picture 4" descr="HM00361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542" y="2256896"/>
            <a:ext cx="2401094" cy="160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物理设计质量</a:t>
            </a:r>
            <a:endParaRPr lang="zh-CN" altLang="en-US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1282" y="2047875"/>
            <a:ext cx="3120760" cy="3180292"/>
          </a:xfrm>
        </p:spPr>
        <p:txBody>
          <a:bodyPr>
            <a:normAutofit fontScale="85000" lnSpcReduction="10000"/>
          </a:bodyPr>
          <a:lstStyle/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逻辑体系结构。</a:t>
            </a:r>
            <a:endParaRPr lang="zh-CN" altLang="en-US"/>
          </a:p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服务质量要求。 </a:t>
            </a:r>
            <a:endParaRPr lang="zh-CN" altLang="en-US"/>
          </a:p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用量分析。 </a:t>
            </a:r>
            <a:endParaRPr lang="zh-CN" altLang="en-US"/>
          </a:p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使用案例。 </a:t>
            </a:r>
            <a:endParaRPr lang="zh-CN" altLang="en-US"/>
          </a:p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服务级别协议。 </a:t>
            </a:r>
            <a:endParaRPr lang="zh-CN" altLang="en-US"/>
          </a:p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成本。 </a:t>
            </a:r>
            <a:endParaRPr lang="zh-CN" altLang="en-US"/>
          </a:p>
          <a:p>
            <a:pPr marL="673100" indent="-673100">
              <a:buFont typeface="Wingdings" panose="05000000000000000000" pitchFamily="2" charset="2"/>
              <a:buAutoNum type="arabicPeriod"/>
            </a:pPr>
            <a:r>
              <a:rPr lang="zh-CN" altLang="en-US"/>
              <a:t>业务目标。  </a:t>
            </a:r>
            <a:endParaRPr lang="zh-CN" altLang="en-US"/>
          </a:p>
        </p:txBody>
      </p:sp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4841875" y="2155621"/>
            <a:ext cx="2969948" cy="2872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342900" indent="-342900" algn="l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defTabSz="762000">
              <a:spcBef>
                <a:spcPct val="50000"/>
              </a:spcBef>
              <a:buFontTx/>
              <a:buAutoNum type="arabicPeriod"/>
              <a:tabLst>
                <a:tab pos="475615" algn="l"/>
              </a:tabLst>
            </a:pPr>
            <a:r>
              <a:rPr lang="zh-CN" altLang="en-US" sz="2335" b="1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估计资源需求</a:t>
            </a:r>
            <a:r>
              <a:rPr lang="zh-CN" altLang="en-US" sz="2335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335" i="1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5750" indent="-285750" defTabSz="762000">
              <a:spcBef>
                <a:spcPct val="50000"/>
              </a:spcBef>
              <a:buFontTx/>
              <a:buAutoNum type="arabicPeriod"/>
              <a:tabLst>
                <a:tab pos="475615" algn="l"/>
              </a:tabLst>
            </a:pPr>
            <a:r>
              <a:rPr lang="zh-CN" altLang="en-US" sz="2335" b="1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服务备份以实现可用性和可伸缩性</a:t>
            </a:r>
            <a:r>
              <a:rPr lang="zh-CN" altLang="en-US" sz="2335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335" i="1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5750" indent="-285750" defTabSz="762000">
              <a:spcBef>
                <a:spcPct val="50000"/>
              </a:spcBef>
              <a:buFontTx/>
              <a:buAutoNum type="arabicPeriod"/>
              <a:tabLst>
                <a:tab pos="475615" algn="l"/>
              </a:tabLst>
            </a:pPr>
            <a:r>
              <a:rPr lang="zh-CN" altLang="en-US" sz="2335" b="1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确定瓶颈</a:t>
            </a:r>
            <a:r>
              <a:rPr lang="zh-CN" altLang="en-US" sz="2335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335" i="1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5750" indent="-285750" defTabSz="762000">
              <a:spcBef>
                <a:spcPct val="50000"/>
              </a:spcBef>
              <a:buFontTx/>
              <a:buAutoNum type="arabicPeriod"/>
              <a:tabLst>
                <a:tab pos="475615" algn="l"/>
              </a:tabLst>
            </a:pPr>
            <a:r>
              <a:rPr lang="zh-CN" altLang="en-US" sz="2335" b="1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优化资源</a:t>
            </a:r>
            <a:r>
              <a:rPr lang="zh-CN" altLang="en-US" sz="2335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335" i="1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5750" indent="-285750" defTabSz="762000">
              <a:spcBef>
                <a:spcPct val="50000"/>
              </a:spcBef>
              <a:buFontTx/>
              <a:buAutoNum type="arabicPeriod"/>
              <a:tabLst>
                <a:tab pos="475615" algn="l"/>
              </a:tabLst>
            </a:pPr>
            <a:r>
              <a:rPr lang="zh-CN" altLang="en-US" sz="2335" b="1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管理风险</a:t>
            </a:r>
            <a:r>
              <a:rPr lang="zh-CN" altLang="en-US" sz="2335" i="1">
                <a:solidFill>
                  <a:srgbClr val="0066FF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335" i="1">
              <a:solidFill>
                <a:srgbClr val="0066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1429" name="Rectangle 5"/>
          <p:cNvSpPr>
            <a:spLocks noChangeArrowheads="1"/>
          </p:cNvSpPr>
          <p:nvPr/>
        </p:nvSpPr>
        <p:spPr bwMode="auto">
          <a:xfrm>
            <a:off x="1451240" y="1537230"/>
            <a:ext cx="1273968" cy="359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defTabSz="762000"/>
            <a:r>
              <a:rPr lang="zh-CN" altLang="en-US" sz="2335" b="1" i="1">
                <a:solidFill>
                  <a:srgbClr val="0000FF"/>
                </a:solidFill>
                <a:latin typeface="Calibri" panose="020F0502020204030204"/>
                <a:ea typeface="宋体" panose="02010600030101010101" pitchFamily="2" charset="-122"/>
              </a:rPr>
              <a:t>影响因素</a:t>
            </a:r>
            <a:endParaRPr lang="zh-CN" altLang="en-US" sz="2335" b="1" i="1">
              <a:solidFill>
                <a:srgbClr val="0000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31430" name="Rectangle 6"/>
          <p:cNvSpPr>
            <a:spLocks noChangeArrowheads="1"/>
          </p:cNvSpPr>
          <p:nvPr/>
        </p:nvSpPr>
        <p:spPr bwMode="auto">
          <a:xfrm>
            <a:off x="4782344" y="1627188"/>
            <a:ext cx="1273968" cy="359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defTabSz="762000"/>
            <a:r>
              <a:rPr lang="zh-CN" altLang="en-US" sz="2335" b="1" i="1">
                <a:solidFill>
                  <a:srgbClr val="0000FF"/>
                </a:solidFill>
                <a:latin typeface="Calibri" panose="020F0502020204030204"/>
                <a:ea typeface="宋体" panose="02010600030101010101" pitchFamily="2" charset="-122"/>
              </a:rPr>
              <a:t>方法</a:t>
            </a:r>
            <a:endParaRPr lang="zh-CN" altLang="en-US" sz="2335" b="1" i="1">
              <a:solidFill>
                <a:srgbClr val="0000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8" grpId="0"/>
      <p:bldP spid="2314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335"/>
              <a:t>可用性和可伸缩性策略</a:t>
            </a:r>
            <a:endParaRPr lang="zh-CN" altLang="en-US" sz="3335"/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1282" y="1867959"/>
            <a:ext cx="2700073" cy="2491053"/>
          </a:xfrm>
        </p:spPr>
        <p:txBody>
          <a:bodyPr>
            <a:normAutofit fontScale="92500" lnSpcReduction="10000"/>
          </a:bodyPr>
          <a:lstStyle/>
          <a:p>
            <a:pPr marL="444500" indent="-444500"/>
            <a:r>
              <a:rPr lang="zh-CN" altLang="en-US">
                <a:solidFill>
                  <a:srgbClr val="0066FF"/>
                </a:solidFill>
              </a:rPr>
              <a:t>负载平衡。 </a:t>
            </a:r>
            <a:endParaRPr lang="zh-CN" altLang="en-US">
              <a:solidFill>
                <a:srgbClr val="0066FF"/>
              </a:solidFill>
            </a:endParaRPr>
          </a:p>
          <a:p>
            <a:pPr marL="444500" indent="-444500"/>
            <a:endParaRPr lang="zh-CN" altLang="en-US">
              <a:solidFill>
                <a:srgbClr val="0066FF"/>
              </a:solidFill>
            </a:endParaRPr>
          </a:p>
          <a:p>
            <a:pPr marL="444500" indent="-444500"/>
            <a:r>
              <a:rPr lang="zh-CN" altLang="en-US">
                <a:solidFill>
                  <a:srgbClr val="0066FF"/>
                </a:solidFill>
              </a:rPr>
              <a:t>故障转移。  </a:t>
            </a:r>
            <a:endParaRPr lang="zh-CN" altLang="en-US">
              <a:solidFill>
                <a:srgbClr val="0066FF"/>
              </a:solidFill>
            </a:endParaRPr>
          </a:p>
          <a:p>
            <a:pPr marL="444500" indent="-444500"/>
            <a:endParaRPr lang="zh-CN" altLang="en-US">
              <a:solidFill>
                <a:srgbClr val="0066FF"/>
              </a:solidFill>
            </a:endParaRPr>
          </a:p>
          <a:p>
            <a:pPr marL="444500" indent="-444500"/>
            <a:r>
              <a:rPr lang="zh-CN" altLang="en-US">
                <a:solidFill>
                  <a:srgbClr val="0066FF"/>
                </a:solidFill>
              </a:rPr>
              <a:t>复制或备份服务。</a:t>
            </a:r>
            <a:endParaRPr lang="zh-CN" altLang="en-US">
              <a:solidFill>
                <a:srgbClr val="0066FF"/>
              </a:solidFill>
            </a:endParaRPr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4541574" y="1737580"/>
            <a:ext cx="3360208" cy="2656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defTabSz="762000">
              <a:spcBef>
                <a:spcPct val="60000"/>
              </a:spcBef>
            </a:pPr>
            <a:r>
              <a:rPr lang="zh-CN" altLang="en-US" sz="2335" b="1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水平冗余系统 </a:t>
            </a:r>
            <a:endParaRPr lang="zh-CN" altLang="en-US" sz="2335" b="1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defTabSz="762000">
              <a:spcBef>
                <a:spcPct val="60000"/>
              </a:spcBef>
            </a:pPr>
            <a:r>
              <a:rPr lang="zh-CN" altLang="en-US" sz="2335" b="1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可用性设计示例 </a:t>
            </a:r>
            <a:endParaRPr lang="zh-CN" altLang="en-US" sz="2335" b="1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defTabSz="762000">
              <a:spcBef>
                <a:spcPct val="60000"/>
              </a:spcBef>
            </a:pPr>
            <a:r>
              <a:rPr lang="zh-CN" altLang="en-US" sz="2335" b="1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可伸缩性策略 </a:t>
            </a:r>
            <a:endParaRPr lang="zh-CN" altLang="en-US" sz="2335" b="1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defTabSz="762000">
              <a:spcBef>
                <a:spcPct val="60000"/>
              </a:spcBef>
            </a:pPr>
            <a:r>
              <a:rPr lang="zh-CN" altLang="en-US" sz="2335" b="1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系统性能改善 </a:t>
            </a:r>
            <a:endParaRPr lang="zh-CN" altLang="en-US" sz="2335" b="1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defTabSz="762000">
              <a:spcBef>
                <a:spcPct val="60000"/>
              </a:spcBef>
            </a:pPr>
            <a:r>
              <a:rPr lang="zh-CN" altLang="en-US" sz="2335" b="1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设计最佳资源使用方案 </a:t>
            </a:r>
            <a:endParaRPr lang="zh-CN" altLang="en-US" sz="2335" b="1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17" name="Line 5"/>
          <p:cNvSpPr>
            <a:spLocks noChangeShapeType="1"/>
          </p:cNvSpPr>
          <p:nvPr/>
        </p:nvSpPr>
        <p:spPr bwMode="auto">
          <a:xfrm flipV="1">
            <a:off x="2801937" y="2467240"/>
            <a:ext cx="1710532" cy="480218"/>
          </a:xfrm>
          <a:prstGeom prst="line">
            <a:avLst/>
          </a:prstGeom>
          <a:noFill/>
          <a:ln w="38100" cmpd="dbl">
            <a:solidFill>
              <a:schemeClr val="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2518" name="Line 6"/>
          <p:cNvSpPr>
            <a:spLocks noChangeShapeType="1"/>
          </p:cNvSpPr>
          <p:nvPr/>
        </p:nvSpPr>
        <p:spPr bwMode="auto">
          <a:xfrm flipV="1">
            <a:off x="2742407" y="1897063"/>
            <a:ext cx="1739635" cy="181240"/>
          </a:xfrm>
          <a:prstGeom prst="line">
            <a:avLst/>
          </a:prstGeom>
          <a:noFill/>
          <a:ln w="38100" cmpd="dbl">
            <a:solidFill>
              <a:schemeClr val="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2521" name="AutoShape 9"/>
          <p:cNvSpPr>
            <a:spLocks noChangeArrowheads="1"/>
          </p:cNvSpPr>
          <p:nvPr/>
        </p:nvSpPr>
        <p:spPr bwMode="auto">
          <a:xfrm rot="14016082">
            <a:off x="6612599" y="2736454"/>
            <a:ext cx="1799167" cy="1019968"/>
          </a:xfrm>
          <a:prstGeom prst="curvedUpArrow">
            <a:avLst>
              <a:gd name="adj1" fmla="val 18897"/>
              <a:gd name="adj2" fmla="val 62702"/>
              <a:gd name="adj3" fmla="val 3975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2522" name="Line 10"/>
          <p:cNvSpPr>
            <a:spLocks noChangeShapeType="1"/>
          </p:cNvSpPr>
          <p:nvPr/>
        </p:nvSpPr>
        <p:spPr bwMode="auto">
          <a:xfrm flipV="1">
            <a:off x="3582458" y="2587625"/>
            <a:ext cx="959115" cy="1169458"/>
          </a:xfrm>
          <a:prstGeom prst="line">
            <a:avLst/>
          </a:prstGeom>
          <a:noFill/>
          <a:ln w="38100" cmpd="dbl">
            <a:solidFill>
              <a:schemeClr val="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2523" name="Line 11"/>
          <p:cNvSpPr>
            <a:spLocks noChangeShapeType="1"/>
          </p:cNvSpPr>
          <p:nvPr/>
        </p:nvSpPr>
        <p:spPr bwMode="auto">
          <a:xfrm flipV="1">
            <a:off x="2832365" y="1987021"/>
            <a:ext cx="1649677" cy="930011"/>
          </a:xfrm>
          <a:prstGeom prst="line">
            <a:avLst/>
          </a:prstGeom>
          <a:noFill/>
          <a:ln w="38100" cmpd="dbl">
            <a:solidFill>
              <a:schemeClr val="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2524" name="Line 12"/>
          <p:cNvSpPr>
            <a:spLocks noChangeShapeType="1"/>
          </p:cNvSpPr>
          <p:nvPr/>
        </p:nvSpPr>
        <p:spPr bwMode="auto">
          <a:xfrm>
            <a:off x="2771511" y="2137833"/>
            <a:ext cx="1830917" cy="959115"/>
          </a:xfrm>
          <a:prstGeom prst="line">
            <a:avLst/>
          </a:prstGeom>
          <a:noFill/>
          <a:ln w="38100" cmpd="dbl">
            <a:solidFill>
              <a:schemeClr val="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2525" name="Line 13"/>
          <p:cNvSpPr>
            <a:spLocks noChangeShapeType="1"/>
          </p:cNvSpPr>
          <p:nvPr/>
        </p:nvSpPr>
        <p:spPr bwMode="auto">
          <a:xfrm>
            <a:off x="2801937" y="2166938"/>
            <a:ext cx="1710532" cy="1500188"/>
          </a:xfrm>
          <a:prstGeom prst="line">
            <a:avLst/>
          </a:prstGeom>
          <a:noFill/>
          <a:ln w="38100" cmpd="dbl">
            <a:solidFill>
              <a:schemeClr val="hlink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762000"/>
            <a:endParaRPr lang="zh-CN" altLang="en-US" sz="15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软件部署的安全性设计和验证</a:t>
            </a:r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136" y="1416845"/>
            <a:ext cx="6540500" cy="3331104"/>
          </a:xfrm>
        </p:spPr>
        <p:txBody>
          <a:bodyPr>
            <a:normAutofit lnSpcReduction="10000"/>
          </a:bodyPr>
          <a:lstStyle/>
          <a:p>
            <a:pPr marL="521335" indent="-444500"/>
            <a:r>
              <a:rPr lang="zh-CN" altLang="en-US" i="0">
                <a:latin typeface="楷体_GB2312" pitchFamily="49" charset="-122"/>
                <a:ea typeface="楷体_GB2312" pitchFamily="49" charset="-122"/>
              </a:rPr>
              <a:t>制定安全政策和目标、安全计划的设计和实施 。</a:t>
            </a:r>
            <a:endParaRPr lang="zh-CN" altLang="en-US" i="0">
              <a:latin typeface="楷体_GB2312" pitchFamily="49" charset="-122"/>
              <a:ea typeface="楷体_GB2312" pitchFamily="49" charset="-122"/>
            </a:endParaRPr>
          </a:p>
          <a:p>
            <a:pPr marL="521335" indent="-444500"/>
            <a:endParaRPr lang="zh-CN" altLang="en-US" i="0">
              <a:latin typeface="楷体_GB2312" pitchFamily="49" charset="-122"/>
              <a:ea typeface="楷体_GB2312" pitchFamily="49" charset="-122"/>
            </a:endParaRPr>
          </a:p>
          <a:p>
            <a:pPr marL="521335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确保所有用户了解安全控制政策</a:t>
            </a:r>
            <a:endParaRPr lang="zh-CN" altLang="en-US" sz="2000">
              <a:solidFill>
                <a:srgbClr val="0066FF"/>
              </a:solidFill>
            </a:endParaRPr>
          </a:p>
          <a:p>
            <a:pPr marL="521335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让用户了解任何安全侵害的规范细则</a:t>
            </a:r>
            <a:endParaRPr lang="zh-CN" altLang="en-US" sz="2000">
              <a:solidFill>
                <a:srgbClr val="0066FF"/>
              </a:solidFill>
            </a:endParaRPr>
          </a:p>
          <a:p>
            <a:pPr marL="521335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定期给政策做评估，以确保其仍然合乎业务目标</a:t>
            </a:r>
            <a:endParaRPr lang="zh-CN" altLang="en-US" sz="2000">
              <a:solidFill>
                <a:srgbClr val="0066FF"/>
              </a:solidFill>
            </a:endParaRPr>
          </a:p>
          <a:p>
            <a:pPr marL="521335" indent="-444500">
              <a:buFont typeface="Wingdings" panose="05000000000000000000" pitchFamily="2" charset="2"/>
              <a:buAutoNum type="arabicPeriod"/>
            </a:pPr>
            <a:r>
              <a:rPr lang="zh-CN" altLang="en-US" sz="2000">
                <a:solidFill>
                  <a:srgbClr val="0066FF"/>
                </a:solidFill>
              </a:rPr>
              <a:t>执行双层审计控制方法：实时监控严重的安全侵害和事后审计报告</a:t>
            </a:r>
            <a:endParaRPr lang="zh-CN" altLang="en-US" sz="2000">
              <a:solidFill>
                <a:srgbClr val="0066FF"/>
              </a:solidFill>
            </a:endParaRPr>
          </a:p>
          <a:p>
            <a:pPr marL="521335" indent="-444500">
              <a:buFont typeface="Wingdings" panose="05000000000000000000" pitchFamily="2" charset="2"/>
              <a:buAutoNum type="arabicPeriod"/>
            </a:pPr>
            <a:r>
              <a:rPr lang="en-US" altLang="zh-CN" sz="2000">
                <a:solidFill>
                  <a:srgbClr val="0066FF"/>
                </a:solidFill>
              </a:rPr>
              <a:t>……</a:t>
            </a:r>
            <a:endParaRPr lang="en-US" altLang="zh-CN" sz="200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软件部署验证和实施</a:t>
            </a:r>
            <a:endParaRPr lang="zh-CN" altLang="en-US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2136" y="1357313"/>
            <a:ext cx="6420114" cy="4050771"/>
          </a:xfrm>
        </p:spPr>
        <p:txBody>
          <a:bodyPr>
            <a:normAutofit lnSpcReduction="10000"/>
          </a:bodyPr>
          <a:lstStyle/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开发试验性系统 </a:t>
            </a:r>
            <a:r>
              <a:rPr lang="en-US" altLang="zh-CN" sz="2000"/>
              <a:t>(</a:t>
            </a:r>
            <a:r>
              <a:rPr lang="zh-CN" altLang="en-US" sz="2000"/>
              <a:t>构建网络和硬件基础结构、安装和配置相关的软件</a:t>
            </a:r>
            <a:r>
              <a:rPr lang="en-US" altLang="zh-CN" sz="2000"/>
              <a:t>)</a:t>
            </a:r>
            <a:endParaRPr lang="en-US" altLang="zh-CN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根据测试计划</a:t>
            </a:r>
            <a:r>
              <a:rPr lang="en-US" altLang="zh-CN" sz="2000"/>
              <a:t>/</a:t>
            </a:r>
            <a:r>
              <a:rPr lang="zh-CN" altLang="en-US" sz="2000"/>
              <a:t>设计执行安装测试、功能测试、性能测试和负载测试</a:t>
            </a:r>
            <a:endParaRPr lang="zh-CN" altLang="en-US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测试通过，开始规划原型系统</a:t>
            </a:r>
            <a:endParaRPr lang="zh-CN" altLang="en-US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完成原型系统的网络构建、软硬件的安装和配置</a:t>
            </a:r>
            <a:endParaRPr lang="zh-CN" altLang="en-US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数据备份或做好可以恢复</a:t>
            </a:r>
            <a:r>
              <a:rPr lang="en-US" altLang="zh-CN" sz="2000"/>
              <a:t>(Roll-back)</a:t>
            </a:r>
            <a:r>
              <a:rPr lang="zh-CN" altLang="en-US" sz="2000"/>
              <a:t>的准备</a:t>
            </a:r>
            <a:endParaRPr lang="zh-CN" altLang="en-US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将数据从现有应用程序迁移到当前解决方案</a:t>
            </a:r>
            <a:endParaRPr lang="zh-CN" altLang="en-US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根据培训规划培训部署的管理员和用户</a:t>
            </a:r>
            <a:endParaRPr lang="zh-CN" altLang="en-US" sz="2000"/>
          </a:p>
          <a:p>
            <a:pPr marL="444500" indent="-444500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000"/>
              <a:t>完成所有的部署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715772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251520" y="4225652"/>
            <a:ext cx="3786214" cy="69678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 smtClean="0">
                <a:ln w="12700">
                  <a:solidFill>
                    <a:srgbClr val="1F497D">
                      <a:tint val="1000"/>
                    </a:srgbClr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kumimoji="0" lang="en-US" altLang="zh-CN" sz="4000" b="1" i="0" u="none" strike="noStrike" kern="1200" cap="none" spc="0" normalizeH="0" baseline="0" noProof="0" dirty="0" smtClean="0">
              <a:ln w="12700">
                <a:solidFill>
                  <a:srgbClr val="1F497D">
                    <a:tint val="1000"/>
                  </a:srgbClr>
                </a:solidFill>
                <a:prstDash val="solid"/>
              </a:ln>
              <a:solidFill>
                <a:sysClr val="windowText" lastClr="00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模板页面">
  <a:themeElements>
    <a:clrScheme name="自定义 2">
      <a:dk1>
        <a:srgbClr val="000000"/>
      </a:dk1>
      <a:lt1>
        <a:srgbClr val="FFFFFF"/>
      </a:lt1>
      <a:dk2>
        <a:srgbClr val="010101"/>
      </a:dk2>
      <a:lt2>
        <a:srgbClr val="FFFFFF"/>
      </a:lt2>
      <a:accent1>
        <a:srgbClr val="FFC000"/>
      </a:accent1>
      <a:accent2>
        <a:srgbClr val="B2A32B"/>
      </a:accent2>
      <a:accent3>
        <a:srgbClr val="6EA8CC"/>
      </a:accent3>
      <a:accent4>
        <a:srgbClr val="BDE6FF"/>
      </a:accent4>
      <a:accent5>
        <a:srgbClr val="000000"/>
      </a:accent5>
      <a:accent6>
        <a:srgbClr val="FFE93D"/>
      </a:accent6>
      <a:hlink>
        <a:srgbClr val="0563C1"/>
      </a:hlink>
      <a:folHlink>
        <a:srgbClr val="954F72"/>
      </a:folHlink>
    </a:clrScheme>
    <a:fontScheme name="Temp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5855</Words>
  <Application>WPS 演示</Application>
  <PresentationFormat>全屏显示(16:10)</PresentationFormat>
  <Paragraphs>729</Paragraphs>
  <Slides>48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Calibri</vt:lpstr>
      <vt:lpstr>等线</vt:lpstr>
      <vt:lpstr>Avenir</vt:lpstr>
      <vt:lpstr>Segoe Print</vt:lpstr>
      <vt:lpstr>Arial Unicode MS</vt:lpstr>
      <vt:lpstr>Century Gothic</vt:lpstr>
      <vt:lpstr>Times New Roman</vt:lpstr>
      <vt:lpstr>Tahoma</vt:lpstr>
      <vt:lpstr>楷体_GB2312</vt:lpstr>
      <vt:lpstr>新宋体</vt:lpstr>
      <vt:lpstr>Helvetica</vt:lpstr>
      <vt:lpstr>Office 主题​​</vt:lpstr>
      <vt:lpstr>模板页面</vt:lpstr>
      <vt:lpstr>Office 主题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软件发布和维护的质量管理</vt:lpstr>
      <vt:lpstr>软件发布和维护的质量管理</vt:lpstr>
      <vt:lpstr>软件发布程序管理</vt:lpstr>
      <vt:lpstr>软件产品发布程序</vt:lpstr>
      <vt:lpstr>软件服务模式的产品发布程序</vt:lpstr>
      <vt:lpstr>软件产品发布类型和版本</vt:lpstr>
      <vt:lpstr>版本定义可能存在的冲突</vt:lpstr>
      <vt:lpstr>程序经理</vt:lpstr>
      <vt:lpstr>软件部署</vt:lpstr>
      <vt:lpstr>软件系统运行的基础架构平台</vt:lpstr>
      <vt:lpstr>从不同视图审视系统运行的基础平台</vt:lpstr>
      <vt:lpstr>软件运行的服务质量</vt:lpstr>
      <vt:lpstr>软件部署规划</vt:lpstr>
      <vt:lpstr>用量分析和性能规划</vt:lpstr>
      <vt:lpstr>可用性的规划</vt:lpstr>
      <vt:lpstr>可伸缩系统的规划</vt:lpstr>
      <vt:lpstr>安全性的规划</vt:lpstr>
      <vt:lpstr>软件部署的逻辑设计 </vt:lpstr>
      <vt:lpstr>J2EE体系结构逻辑层次和关键组件</vt:lpstr>
      <vt:lpstr>多层体系结构模型示意图</vt:lpstr>
      <vt:lpstr>软件部署的物理设计	</vt:lpstr>
      <vt:lpstr>物理设计质量</vt:lpstr>
      <vt:lpstr>可用性和可伸缩性策略</vt:lpstr>
      <vt:lpstr>软件部署的安全性设计和验证</vt:lpstr>
      <vt:lpstr>软件部署验证和实施</vt:lpstr>
      <vt:lpstr>PowerPoint 演示文稿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Mr Nie</cp:lastModifiedBy>
  <cp:revision>34</cp:revision>
  <dcterms:created xsi:type="dcterms:W3CDTF">2011-09-12T00:59:00Z</dcterms:created>
  <dcterms:modified xsi:type="dcterms:W3CDTF">2022-10-13T02:34:19Z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B030C29CDBF147628AD898BB77C363A8</vt:lpwstr>
  </property>
  <property fmtid="{D5CDD505-2E9C-101B-9397-08002B2CF9AE}" pid="3" name="KSOProductBuildVer">
    <vt:lpwstr>2052-11.1.0.11411</vt:lpwstr>
  </property>
</Properties>
</file>