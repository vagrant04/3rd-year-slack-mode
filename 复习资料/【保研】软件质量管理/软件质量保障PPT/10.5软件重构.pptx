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9" r:id="rId24"/>
    <p:sldId id="307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 descr="a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1657" y="-6350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26"/>
          <p:cNvSpPr>
            <a:spLocks noChangeShapeType="1"/>
          </p:cNvSpPr>
          <p:nvPr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8" name="Line 27"/>
          <p:cNvSpPr>
            <a:spLocks noChangeShapeType="1"/>
          </p:cNvSpPr>
          <p:nvPr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gray">
          <a:xfrm>
            <a:off x="1" y="0"/>
            <a:ext cx="9142413" cy="2148484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11" name="Line 34"/>
          <p:cNvSpPr>
            <a:spLocks noChangeShapeType="1"/>
          </p:cNvSpPr>
          <p:nvPr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>
              <a:latin typeface="Arial" panose="020B0604020202020204" pitchFamily="34" charset="0"/>
            </a:endParaRPr>
          </a:p>
        </p:txBody>
      </p:sp>
      <p:pic>
        <p:nvPicPr>
          <p:cNvPr id="14" name="图片 33" descr="北大楼 拷贝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6" y="5857877"/>
            <a:ext cx="1166813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34" descr="南大礼堂 拷贝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5857875"/>
            <a:ext cx="1238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35" descr="雨中南大 拷贝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1" y="5842002"/>
            <a:ext cx="1236663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36" descr="南大仙林 拷贝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6" y="4929188"/>
            <a:ext cx="1168400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37" descr="南大浦口 拷贝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4929188"/>
            <a:ext cx="1239837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38" descr="音乐台 拷贝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5" y="4000502"/>
            <a:ext cx="11430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006" y="1988840"/>
            <a:ext cx="7772400" cy="1152128"/>
          </a:xfrm>
        </p:spPr>
        <p:txBody>
          <a:bodyPr/>
          <a:lstStyle>
            <a:lvl1pPr algn="ctr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0806" y="3429000"/>
            <a:ext cx="6400800" cy="533400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72225"/>
            <a:ext cx="8003772" cy="509587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23529" y="908720"/>
            <a:ext cx="8568952" cy="554461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408432"/>
            <a:ext cx="7772400" cy="1498283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990600" y="911696"/>
            <a:ext cx="3924300" cy="5181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67300" y="911696"/>
            <a:ext cx="3924300" cy="5181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0405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57200" y="1047947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4040188" cy="482453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047947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5026" y="1700808"/>
            <a:ext cx="4041775" cy="482453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91350" y="152400"/>
            <a:ext cx="200025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0" y="152400"/>
            <a:ext cx="5848350" cy="5867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gray">
          <a:xfrm flipV="1">
            <a:off x="0" y="6309320"/>
            <a:ext cx="9137022" cy="576064"/>
          </a:xfrm>
          <a:prstGeom prst="rect">
            <a:avLst/>
          </a:prstGeom>
          <a:gradFill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7" y="909348"/>
            <a:ext cx="8581824" cy="561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gray">
          <a:xfrm>
            <a:off x="-8808" y="0"/>
            <a:ext cx="9152808" cy="685800"/>
          </a:xfrm>
          <a:prstGeom prst="rect">
            <a:avLst/>
          </a:prstGeom>
          <a:gradFill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F6DCF7"/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85477"/>
            <a:ext cx="8003772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4" name="Group 31"/>
          <p:cNvGrpSpPr/>
          <p:nvPr/>
        </p:nvGrpSpPr>
        <p:grpSpPr bwMode="auto">
          <a:xfrm rot="10800000">
            <a:off x="8382000" y="-12631"/>
            <a:ext cx="762000" cy="698430"/>
            <a:chOff x="5216" y="628"/>
            <a:chExt cx="546" cy="553"/>
          </a:xfrm>
        </p:grpSpPr>
        <p:sp>
          <p:nvSpPr>
            <p:cNvPr id="1038" name="Rectangle 14"/>
            <p:cNvSpPr>
              <a:spLocks noChangeArrowheads="1"/>
            </p:cNvSpPr>
            <p:nvPr/>
          </p:nvSpPr>
          <p:spPr bwMode="gray">
            <a:xfrm rot="16200000">
              <a:off x="5221" y="630"/>
              <a:ext cx="166" cy="166"/>
            </a:xfrm>
            <a:prstGeom prst="rect">
              <a:avLst/>
            </a:prstGeom>
            <a:solidFill>
              <a:schemeClr val="accent2">
                <a:lumMod val="75000"/>
                <a:alpha val="90000"/>
              </a:schemeClr>
            </a:solidFill>
            <a:ln w="19050" algn="ctr">
              <a:solidFill>
                <a:schemeClr val="bg1">
                  <a:alpha val="7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1039" name="Rectangle 15"/>
            <p:cNvSpPr>
              <a:spLocks noChangeArrowheads="1"/>
            </p:cNvSpPr>
            <p:nvPr/>
          </p:nvSpPr>
          <p:spPr bwMode="gray">
            <a:xfrm rot="-5400000">
              <a:off x="5411" y="630"/>
              <a:ext cx="166" cy="166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60000"/>
              </a:schemeClr>
            </a:solidFill>
            <a:ln w="19050" algn="ctr">
              <a:solidFill>
                <a:schemeClr val="bg1">
                  <a:alpha val="7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3" name="Rectangle 16"/>
            <p:cNvSpPr>
              <a:spLocks noChangeArrowheads="1"/>
            </p:cNvSpPr>
            <p:nvPr/>
          </p:nvSpPr>
          <p:spPr bwMode="gray">
            <a:xfrm rot="-5400000">
              <a:off x="5595" y="627"/>
              <a:ext cx="165" cy="168"/>
            </a:xfrm>
            <a:prstGeom prst="rect">
              <a:avLst/>
            </a:prstGeom>
            <a:solidFill>
              <a:schemeClr val="accent2">
                <a:lumMod val="75000"/>
                <a:alpha val="85000"/>
              </a:schemeClr>
            </a:solidFill>
            <a:ln w="19050" algn="ctr">
              <a:solidFill>
                <a:schemeClr val="bg1">
                  <a:alpha val="7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1041" name="Rectangle 17"/>
            <p:cNvSpPr>
              <a:spLocks noChangeArrowheads="1"/>
            </p:cNvSpPr>
            <p:nvPr/>
          </p:nvSpPr>
          <p:spPr bwMode="gray">
            <a:xfrm rot="-5400000">
              <a:off x="5406" y="815"/>
              <a:ext cx="166" cy="16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algn="ctr">
              <a:solidFill>
                <a:schemeClr val="bg1">
                  <a:alpha val="7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gray">
            <a:xfrm rot="-5400000">
              <a:off x="5217" y="825"/>
              <a:ext cx="166" cy="16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60000"/>
              </a:schemeClr>
            </a:solidFill>
            <a:ln w="19050" algn="ctr">
              <a:solidFill>
                <a:schemeClr val="bg1">
                  <a:alpha val="7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1043" name="Rectangle 19"/>
            <p:cNvSpPr>
              <a:spLocks noChangeArrowheads="1"/>
            </p:cNvSpPr>
            <p:nvPr/>
          </p:nvSpPr>
          <p:spPr bwMode="gray">
            <a:xfrm rot="-5400000">
              <a:off x="5218" y="1014"/>
              <a:ext cx="166" cy="168"/>
            </a:xfrm>
            <a:prstGeom prst="rect">
              <a:avLst/>
            </a:prstGeom>
            <a:solidFill>
              <a:schemeClr val="accent2">
                <a:lumMod val="75000"/>
                <a:alpha val="90000"/>
              </a:schemeClr>
            </a:solidFill>
            <a:ln w="19050" algn="ctr">
              <a:solidFill>
                <a:schemeClr val="bg1">
                  <a:alpha val="7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  <a:ea typeface="华文中宋" pitchFamily="2" charset="-122"/>
        </a:defRPr>
      </a:lvl9pPr>
    </p:titleStyle>
    <p:bodyStyle>
      <a:lvl1pPr marL="257175" indent="-257175" algn="just" rtl="0" eaLnBrk="1" fontAlgn="base" hangingPunct="1">
        <a:spcBef>
          <a:spcPts val="450"/>
        </a:spcBef>
        <a:spcAft>
          <a:spcPct val="0"/>
        </a:spcAft>
        <a:buSzPct val="100000"/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just" rtl="0" eaLnBrk="1" fontAlgn="base" hangingPunct="1">
        <a:spcBef>
          <a:spcPts val="450"/>
        </a:spcBef>
        <a:spcAft>
          <a:spcPct val="0"/>
        </a:spcAft>
        <a:buSzPct val="60000"/>
        <a:buFont typeface="Wingdings" panose="05000000000000000000" pitchFamily="2" charset="2"/>
        <a:buChar char="Ø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just" rtl="0" eaLnBrk="1" fontAlgn="base" hangingPunct="1">
        <a:spcBef>
          <a:spcPts val="450"/>
        </a:spcBef>
        <a:spcAft>
          <a:spcPct val="0"/>
        </a:spcAft>
        <a:buSzPct val="60000"/>
        <a:buFont typeface="Wingdings" panose="05000000000000000000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just" rtl="0" eaLnBrk="1" fontAlgn="base" hangingPunct="1">
        <a:spcBef>
          <a:spcPts val="450"/>
        </a:spcBef>
        <a:spcAft>
          <a:spcPct val="0"/>
        </a:spcAft>
        <a:buSzPct val="60000"/>
        <a:buFont typeface="Wingdings" panose="05000000000000000000" pitchFamily="2" charset="2"/>
        <a:buChar char="u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just" rtl="0" eaLnBrk="1" fontAlgn="base" hangingPunct="1">
        <a:spcBef>
          <a:spcPts val="45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3600" dirty="0"/>
              <a:t>软件重构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987"/>
    </mc:Choice>
    <mc:Fallback>
      <p:transition spd="slow" advTm="1398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概要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随着软件的演化，软件会偏离之前的设计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可理解性降低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可靠性下降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维护成本增加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软件难以理解的原因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在维护阶段使代码更加复杂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过时的文档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不符合规范的编码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有必要通过提高软件的内部质量来降低软件的复杂度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软件重组是提高软件内部质量的重要方法之一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传统上，重构是对面向对象软件的重组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在维护活动中开发人员持续对软件进行重组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更容易理解软件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更容易往系统中添加新的功能和特征，更容易修改错误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概要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一般来说，软件重组就是对软件进行修改，使之更容易理解、变更、更新其内部和外部文档，在未来发生改变时，不易发生故障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软件重组的高层目标是提高软件的价值</a:t>
            </a:r>
            <a:endParaRPr lang="en-US" altLang="zh-CN" dirty="0"/>
          </a:p>
          <a:p>
            <a:pPr lvl="1"/>
            <a:r>
              <a:rPr lang="zh-CN" altLang="en-US" dirty="0"/>
              <a:t>软件的外部价值。客户能感知的软件价值，如故障</a:t>
            </a:r>
            <a:endParaRPr lang="en-US" altLang="zh-CN" dirty="0"/>
          </a:p>
          <a:p>
            <a:pPr lvl="1"/>
            <a:r>
              <a:rPr lang="zh-CN" altLang="en-US" dirty="0"/>
              <a:t>软件的内部价值。表示节省的成本，包括</a:t>
            </a:r>
            <a:endParaRPr lang="en-US" altLang="zh-CN" dirty="0"/>
          </a:p>
          <a:p>
            <a:pPr lvl="2"/>
            <a:r>
              <a:rPr lang="zh-CN" altLang="en-US" dirty="0"/>
              <a:t>因良好的软件结构而节省的维护成本</a:t>
            </a:r>
            <a:endParaRPr lang="en-US" altLang="zh-CN" dirty="0"/>
          </a:p>
          <a:p>
            <a:pPr lvl="2"/>
            <a:r>
              <a:rPr lang="zh-CN" altLang="en-US" dirty="0"/>
              <a:t>因使用具有良好结构的软件组件而节省的成本</a:t>
            </a:r>
            <a:endParaRPr lang="en-US" altLang="zh-CN" dirty="0"/>
          </a:p>
          <a:p>
            <a:pPr lvl="2"/>
            <a:r>
              <a:rPr lang="zh-CN" altLang="en-US" dirty="0"/>
              <a:t>因软件的扩展使用而节省的成本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概要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软件重组的价值</a:t>
            </a:r>
            <a:endParaRPr lang="en-US" altLang="zh-CN" dirty="0"/>
          </a:p>
          <a:p>
            <a:pPr lvl="1"/>
            <a:r>
              <a:rPr lang="zh-CN" altLang="en-US" dirty="0"/>
              <a:t>更好地理解</a:t>
            </a:r>
            <a:endParaRPr lang="en-US" altLang="zh-CN" dirty="0"/>
          </a:p>
          <a:p>
            <a:pPr lvl="1"/>
            <a:r>
              <a:rPr lang="zh-CN" altLang="en-US" dirty="0"/>
              <a:t>跟上新结构的步伐</a:t>
            </a:r>
            <a:endParaRPr lang="en-US" altLang="zh-CN" dirty="0"/>
          </a:p>
          <a:p>
            <a:pPr lvl="1"/>
            <a:r>
              <a:rPr lang="zh-CN" altLang="en-US" dirty="0"/>
              <a:t>更高的可靠性</a:t>
            </a:r>
            <a:endParaRPr lang="en-US" altLang="zh-CN" dirty="0"/>
          </a:p>
          <a:p>
            <a:pPr lvl="1"/>
            <a:r>
              <a:rPr lang="zh-CN" altLang="en-US" dirty="0"/>
              <a:t>更长的使用寿命</a:t>
            </a:r>
            <a:endParaRPr lang="en-US" altLang="zh-CN" dirty="0"/>
          </a:p>
          <a:p>
            <a:pPr lvl="1"/>
            <a:r>
              <a:rPr lang="zh-CN" altLang="en-US" dirty="0"/>
              <a:t>自动化分析</a:t>
            </a:r>
            <a:endParaRPr lang="en-US" altLang="zh-CN" dirty="0"/>
          </a:p>
          <a:p>
            <a:r>
              <a:rPr lang="zh-CN" altLang="en-US" dirty="0"/>
              <a:t>软件重组（重构）的一些基本特点</a:t>
            </a:r>
            <a:endParaRPr lang="en-US" altLang="zh-CN" dirty="0"/>
          </a:p>
          <a:p>
            <a:pPr lvl="1"/>
            <a:r>
              <a:rPr lang="zh-CN" altLang="en-US" dirty="0"/>
              <a:t>目的是为了提高软件的内部价值和外部价值</a:t>
            </a:r>
            <a:endParaRPr lang="en-US" altLang="zh-CN" dirty="0"/>
          </a:p>
          <a:p>
            <a:pPr lvl="1"/>
            <a:r>
              <a:rPr lang="zh-CN" altLang="en-US" dirty="0"/>
              <a:t>新程序要保留原始程序的外部行为</a:t>
            </a:r>
            <a:endParaRPr lang="en-US" altLang="zh-CN" dirty="0"/>
          </a:p>
          <a:p>
            <a:pPr lvl="1"/>
            <a:r>
              <a:rPr lang="zh-CN" altLang="en-US" dirty="0"/>
              <a:t>通常不涉及实现新需求的代码转换</a:t>
            </a:r>
            <a:endParaRPr lang="en-US" altLang="zh-CN" dirty="0"/>
          </a:p>
          <a:p>
            <a:pPr lvl="1"/>
            <a:r>
              <a:rPr lang="zh-CN" altLang="en-US" dirty="0"/>
              <a:t>将一个目标程序转换成新程序时，抽象层次保持不变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重构的一般过程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重构时，开发人员一般需要遵循相应的过程</a:t>
            </a:r>
            <a:endParaRPr lang="en-US" altLang="zh-CN" dirty="0"/>
          </a:p>
          <a:p>
            <a:pPr lvl="1"/>
            <a:r>
              <a:rPr lang="zh-CN" altLang="en-US" dirty="0"/>
              <a:t>确定重构对象</a:t>
            </a:r>
            <a:endParaRPr lang="en-US" altLang="zh-CN" dirty="0"/>
          </a:p>
          <a:p>
            <a:pPr lvl="1"/>
            <a:r>
              <a:rPr lang="zh-CN" altLang="en-US" dirty="0"/>
              <a:t>确定重构方法</a:t>
            </a:r>
            <a:endParaRPr lang="en-US" altLang="zh-CN" dirty="0"/>
          </a:p>
          <a:p>
            <a:pPr lvl="1"/>
            <a:r>
              <a:rPr lang="zh-CN" altLang="en-US" dirty="0"/>
              <a:t>确保重构保持软件的行为</a:t>
            </a:r>
            <a:endParaRPr lang="en-US" altLang="zh-CN" dirty="0"/>
          </a:p>
          <a:p>
            <a:pPr lvl="1"/>
            <a:r>
              <a:rPr lang="zh-CN" altLang="en-US" dirty="0"/>
              <a:t>实施重构</a:t>
            </a:r>
            <a:endParaRPr lang="en-US" altLang="zh-CN" dirty="0"/>
          </a:p>
          <a:p>
            <a:pPr lvl="1"/>
            <a:r>
              <a:rPr lang="zh-CN" altLang="en-US" dirty="0"/>
              <a:t>评估重构对软件质量的影响</a:t>
            </a:r>
            <a:endParaRPr lang="en-US" altLang="zh-CN" dirty="0"/>
          </a:p>
          <a:p>
            <a:pPr lvl="1"/>
            <a:r>
              <a:rPr lang="zh-CN" altLang="en-US" dirty="0"/>
              <a:t>软件制品的一致性维护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确定重构对象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开发人员可以考虑的重构对象包括源代码、设计文档、需求文档等</a:t>
            </a:r>
            <a:endParaRPr lang="en-US" altLang="zh-CN" dirty="0"/>
          </a:p>
          <a:p>
            <a:r>
              <a:rPr lang="zh-CN" altLang="en-US" dirty="0"/>
              <a:t>为了在源代码中检测可重构的对象，可以使用</a:t>
            </a:r>
            <a:r>
              <a:rPr lang="en-US" altLang="zh-CN" dirty="0"/>
              <a:t>Code Smell</a:t>
            </a:r>
            <a:r>
              <a:rPr lang="zh-CN" altLang="en-US" dirty="0"/>
              <a:t>的概念</a:t>
            </a:r>
            <a:endParaRPr lang="en-US" altLang="zh-CN" dirty="0"/>
          </a:p>
          <a:p>
            <a:pPr lvl="1"/>
            <a:r>
              <a:rPr lang="zh-CN" altLang="en-US" dirty="0"/>
              <a:t>重复代码</a:t>
            </a:r>
            <a:endParaRPr lang="en-US" altLang="zh-CN" dirty="0"/>
          </a:p>
          <a:p>
            <a:pPr lvl="1"/>
            <a:r>
              <a:rPr lang="zh-CN" altLang="en-US" dirty="0"/>
              <a:t>长参数列表</a:t>
            </a:r>
            <a:endParaRPr lang="en-US" altLang="zh-CN" dirty="0"/>
          </a:p>
          <a:p>
            <a:pPr lvl="1"/>
            <a:r>
              <a:rPr lang="zh-CN" altLang="en-US" dirty="0"/>
              <a:t>长方法</a:t>
            </a:r>
            <a:endParaRPr lang="en-US" altLang="zh-CN" dirty="0"/>
          </a:p>
          <a:p>
            <a:pPr lvl="1"/>
            <a:r>
              <a:rPr lang="zh-CN" altLang="en-US" dirty="0"/>
              <a:t>大类</a:t>
            </a:r>
            <a:endParaRPr lang="en-US" altLang="zh-CN" dirty="0"/>
          </a:p>
          <a:p>
            <a:pPr lvl="1"/>
            <a:r>
              <a:rPr lang="zh-CN" altLang="en-US" dirty="0"/>
              <a:t>消息链</a:t>
            </a:r>
            <a:endParaRPr lang="en-US" altLang="zh-CN" dirty="0"/>
          </a:p>
          <a:p>
            <a:r>
              <a:rPr lang="zh-CN" altLang="en-US" dirty="0"/>
              <a:t>在设计层面，可重构实体是软件体系结构、全局控制流和数据库模式等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确定重构方法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重构实例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632176"/>
            <a:ext cx="8490386" cy="4445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确定重构方法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91" y="718955"/>
            <a:ext cx="9067218" cy="361571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R1</a:t>
            </a:r>
            <a:r>
              <a:rPr lang="zh-CN" altLang="en-US" dirty="0"/>
              <a:t>：将</a:t>
            </a:r>
            <a:r>
              <a:rPr lang="en-US" altLang="zh-CN" dirty="0" err="1"/>
              <a:t>PrintServer</a:t>
            </a:r>
            <a:r>
              <a:rPr lang="zh-CN" altLang="en-US" dirty="0"/>
              <a:t>类中的</a:t>
            </a:r>
            <a:r>
              <a:rPr lang="en-US" altLang="zh-CN" dirty="0"/>
              <a:t>print</a:t>
            </a:r>
            <a:r>
              <a:rPr lang="zh-CN" altLang="en-US" dirty="0"/>
              <a:t>方法重命名为</a:t>
            </a:r>
            <a:r>
              <a:rPr lang="en-US" altLang="zh-CN" dirty="0"/>
              <a:t>process</a:t>
            </a:r>
            <a:r>
              <a:rPr lang="zh-CN" altLang="en-US" dirty="0"/>
              <a:t>，与</a:t>
            </a:r>
            <a:r>
              <a:rPr lang="en-US" altLang="zh-CN" dirty="0"/>
              <a:t>R2</a:t>
            </a:r>
            <a:r>
              <a:rPr lang="zh-CN" altLang="en-US" dirty="0"/>
              <a:t>一起执行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R2</a:t>
            </a:r>
            <a:r>
              <a:rPr lang="zh-CN" altLang="en-US" dirty="0"/>
              <a:t>：将</a:t>
            </a:r>
            <a:r>
              <a:rPr lang="en-US" altLang="zh-CN" dirty="0" err="1"/>
              <a:t>FileServer</a:t>
            </a:r>
            <a:r>
              <a:rPr lang="zh-CN" altLang="en-US" dirty="0"/>
              <a:t>类中的</a:t>
            </a:r>
            <a:r>
              <a:rPr lang="en-US" altLang="zh-CN" dirty="0"/>
              <a:t>save</a:t>
            </a:r>
            <a:r>
              <a:rPr lang="zh-CN" altLang="en-US" dirty="0"/>
              <a:t>方法重命名为</a:t>
            </a:r>
            <a:r>
              <a:rPr lang="en-US" altLang="zh-CN" dirty="0"/>
              <a:t>process</a:t>
            </a:r>
            <a:r>
              <a:rPr lang="zh-CN" altLang="en-US" dirty="0"/>
              <a:t>，与</a:t>
            </a:r>
            <a:r>
              <a:rPr lang="en-US" altLang="zh-CN" dirty="0"/>
              <a:t>R1</a:t>
            </a:r>
            <a:r>
              <a:rPr lang="zh-CN" altLang="en-US" dirty="0"/>
              <a:t>一起执行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R3</a:t>
            </a:r>
            <a:r>
              <a:rPr lang="zh-CN" altLang="en-US" dirty="0"/>
              <a:t>：为</a:t>
            </a:r>
            <a:r>
              <a:rPr lang="en-US" altLang="zh-CN" dirty="0" err="1"/>
              <a:t>PrintServer</a:t>
            </a:r>
            <a:r>
              <a:rPr lang="zh-CN" altLang="en-US" dirty="0"/>
              <a:t>和</a:t>
            </a:r>
            <a:r>
              <a:rPr lang="en-US" altLang="zh-CN" dirty="0" err="1"/>
              <a:t>FileServer</a:t>
            </a:r>
            <a:r>
              <a:rPr lang="zh-CN" altLang="en-US" dirty="0"/>
              <a:t>创造一个父类</a:t>
            </a:r>
            <a:r>
              <a:rPr lang="en-US" altLang="zh-CN" dirty="0"/>
              <a:t>Server</a:t>
            </a:r>
            <a:r>
              <a:rPr lang="zh-CN" altLang="en-US" dirty="0"/>
              <a:t>，因为它们的行为非常相似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R4</a:t>
            </a:r>
            <a:r>
              <a:rPr lang="zh-CN" altLang="en-US" dirty="0"/>
              <a:t>：将</a:t>
            </a:r>
            <a:r>
              <a:rPr lang="en-US" altLang="zh-CN" dirty="0" err="1"/>
              <a:t>PrintServer</a:t>
            </a:r>
            <a:r>
              <a:rPr lang="zh-CN" altLang="en-US" dirty="0"/>
              <a:t>和</a:t>
            </a:r>
            <a:r>
              <a:rPr lang="en-US" altLang="zh-CN" dirty="0" err="1"/>
              <a:t>FileServer</a:t>
            </a:r>
            <a:r>
              <a:rPr lang="zh-CN" altLang="en-US" dirty="0"/>
              <a:t>类中的方法</a:t>
            </a:r>
            <a:r>
              <a:rPr lang="en-US" altLang="zh-CN" dirty="0"/>
              <a:t>accept</a:t>
            </a:r>
            <a:r>
              <a:rPr lang="zh-CN" altLang="en-US" dirty="0"/>
              <a:t>提升到</a:t>
            </a:r>
            <a:r>
              <a:rPr lang="en-US" altLang="zh-CN" dirty="0"/>
              <a:t>R3</a:t>
            </a:r>
            <a:r>
              <a:rPr lang="zh-CN" altLang="en-US" dirty="0"/>
              <a:t>创建的父类</a:t>
            </a:r>
            <a:r>
              <a:rPr lang="en-US" altLang="zh-CN" dirty="0"/>
              <a:t>Server</a:t>
            </a:r>
            <a:r>
              <a:rPr lang="zh-CN" altLang="en-US" dirty="0"/>
              <a:t>中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R5</a:t>
            </a:r>
            <a:r>
              <a:rPr lang="zh-CN" altLang="en-US" dirty="0"/>
              <a:t>：将</a:t>
            </a:r>
            <a:r>
              <a:rPr lang="en-US" altLang="zh-CN" dirty="0" err="1"/>
              <a:t>PrintServer</a:t>
            </a:r>
            <a:r>
              <a:rPr lang="zh-CN" altLang="en-US" dirty="0"/>
              <a:t>类中的</a:t>
            </a:r>
            <a:r>
              <a:rPr lang="en-US" altLang="zh-CN" dirty="0"/>
              <a:t>accept</a:t>
            </a:r>
            <a:r>
              <a:rPr lang="zh-CN" altLang="en-US" dirty="0"/>
              <a:t>方法移到</a:t>
            </a:r>
            <a:r>
              <a:rPr lang="en-US" altLang="zh-CN" dirty="0"/>
              <a:t>Packet</a:t>
            </a:r>
            <a:r>
              <a:rPr lang="zh-CN" altLang="en-US" dirty="0"/>
              <a:t>类中，用</a:t>
            </a:r>
            <a:r>
              <a:rPr lang="en-US" altLang="zh-CN" dirty="0"/>
              <a:t>Packet</a:t>
            </a:r>
            <a:r>
              <a:rPr lang="zh-CN" altLang="en-US" dirty="0"/>
              <a:t>类中的</a:t>
            </a:r>
            <a:r>
              <a:rPr lang="en-US" altLang="zh-CN" dirty="0"/>
              <a:t>accept</a:t>
            </a:r>
            <a:r>
              <a:rPr lang="zh-CN" altLang="en-US" dirty="0"/>
              <a:t>方法直接访问</a:t>
            </a:r>
            <a:r>
              <a:rPr lang="en-US" altLang="zh-CN" dirty="0"/>
              <a:t>Packet</a:t>
            </a:r>
            <a:r>
              <a:rPr lang="zh-CN" altLang="en-US" dirty="0"/>
              <a:t>类中的</a:t>
            </a:r>
            <a:r>
              <a:rPr lang="en-US" altLang="zh-CN" dirty="0"/>
              <a:t>receiver</a:t>
            </a:r>
            <a:r>
              <a:rPr lang="zh-CN" altLang="en-US" dirty="0"/>
              <a:t>成员，使数据包本身能决定采取怎样的行动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R6</a:t>
            </a:r>
            <a:r>
              <a:rPr lang="zh-CN" altLang="en-US" dirty="0"/>
              <a:t>：将</a:t>
            </a:r>
            <a:r>
              <a:rPr lang="en-US" altLang="zh-CN" dirty="0"/>
              <a:t>accept</a:t>
            </a:r>
            <a:r>
              <a:rPr lang="zh-CN" altLang="en-US" dirty="0"/>
              <a:t>方法从</a:t>
            </a:r>
            <a:r>
              <a:rPr lang="en-US" altLang="zh-CN" dirty="0" err="1"/>
              <a:t>FileServer</a:t>
            </a:r>
            <a:r>
              <a:rPr lang="zh-CN" altLang="en-US" dirty="0"/>
              <a:t>类中移到</a:t>
            </a:r>
            <a:r>
              <a:rPr lang="en-US" altLang="zh-CN" dirty="0"/>
              <a:t>Packet</a:t>
            </a:r>
            <a:r>
              <a:rPr lang="zh-CN" altLang="en-US" dirty="0"/>
              <a:t>类中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R7</a:t>
            </a:r>
            <a:r>
              <a:rPr lang="zh-CN" altLang="en-US" dirty="0"/>
              <a:t>：在</a:t>
            </a:r>
            <a:r>
              <a:rPr lang="en-US" altLang="zh-CN" dirty="0"/>
              <a:t>Packet</a:t>
            </a:r>
            <a:r>
              <a:rPr lang="zh-CN" altLang="en-US" dirty="0"/>
              <a:t>类中封装</a:t>
            </a:r>
            <a:r>
              <a:rPr lang="en-US" altLang="zh-CN" dirty="0"/>
              <a:t>receiver</a:t>
            </a:r>
            <a:r>
              <a:rPr lang="zh-CN" altLang="en-US" dirty="0"/>
              <a:t>成员，使其他类不能直接访问，增加模块化程度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R8</a:t>
            </a:r>
            <a:r>
              <a:rPr lang="zh-CN" altLang="en-US" dirty="0"/>
              <a:t>：在</a:t>
            </a:r>
            <a:r>
              <a:rPr lang="en-US" altLang="zh-CN" dirty="0" err="1"/>
              <a:t>PrintServer</a:t>
            </a:r>
            <a:r>
              <a:rPr lang="zh-CN" altLang="en-US" dirty="0"/>
              <a:t>类的</a:t>
            </a:r>
            <a:r>
              <a:rPr lang="en-US" altLang="zh-CN" dirty="0"/>
              <a:t>print</a:t>
            </a:r>
            <a:r>
              <a:rPr lang="zh-CN" altLang="en-US" dirty="0"/>
              <a:t>方法中添加类型为</a:t>
            </a:r>
            <a:r>
              <a:rPr lang="en-US" altLang="zh-CN" dirty="0"/>
              <a:t>Packet</a:t>
            </a:r>
            <a:r>
              <a:rPr lang="zh-CN" altLang="en-US" dirty="0"/>
              <a:t>的参数</a:t>
            </a:r>
            <a:r>
              <a:rPr lang="en-US" altLang="zh-CN" dirty="0"/>
              <a:t>p</a:t>
            </a:r>
            <a:r>
              <a:rPr lang="zh-CN" altLang="en-US" dirty="0"/>
              <a:t>，以打印数据包的内容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R9</a:t>
            </a:r>
            <a:r>
              <a:rPr lang="zh-CN" altLang="en-US" dirty="0"/>
              <a:t>：在</a:t>
            </a:r>
            <a:r>
              <a:rPr lang="en-US" altLang="zh-CN" dirty="0" err="1"/>
              <a:t>FileServer</a:t>
            </a:r>
            <a:r>
              <a:rPr lang="zh-CN" altLang="en-US" dirty="0"/>
              <a:t>类的</a:t>
            </a:r>
            <a:r>
              <a:rPr lang="en-US" altLang="zh-CN" dirty="0"/>
              <a:t>save</a:t>
            </a:r>
            <a:r>
              <a:rPr lang="zh-CN" altLang="en-US" dirty="0"/>
              <a:t>方法中添加类型为</a:t>
            </a:r>
            <a:r>
              <a:rPr lang="en-US" altLang="zh-CN" dirty="0"/>
              <a:t>Packet</a:t>
            </a:r>
            <a:r>
              <a:rPr lang="zh-CN" altLang="en-US" dirty="0"/>
              <a:t>的参数</a:t>
            </a:r>
            <a:r>
              <a:rPr lang="en-US" altLang="zh-CN" dirty="0"/>
              <a:t>p</a:t>
            </a:r>
            <a:r>
              <a:rPr lang="zh-CN" altLang="en-US" dirty="0"/>
              <a:t>，以保存数据包的内容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349" y="3643640"/>
            <a:ext cx="6139428" cy="321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确定重构方法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重构序列</a:t>
            </a:r>
            <a:endParaRPr lang="en-US" altLang="zh-CN" dirty="0"/>
          </a:p>
          <a:p>
            <a:pPr lvl="1"/>
            <a:r>
              <a:rPr lang="zh-CN" altLang="en-US" dirty="0"/>
              <a:t>有一些重构方法必须一起使用，如</a:t>
            </a:r>
            <a:r>
              <a:rPr lang="en-US" altLang="zh-CN" dirty="0"/>
              <a:t>R1</a:t>
            </a:r>
            <a:r>
              <a:rPr lang="zh-CN" altLang="en-US" dirty="0"/>
              <a:t>和</a:t>
            </a:r>
            <a:r>
              <a:rPr lang="en-US" altLang="zh-CN" dirty="0"/>
              <a:t>R2</a:t>
            </a:r>
            <a:endParaRPr lang="en-US" altLang="zh-CN" dirty="0"/>
          </a:p>
          <a:p>
            <a:pPr lvl="1"/>
            <a:r>
              <a:rPr lang="zh-CN" altLang="en-US" dirty="0"/>
              <a:t>有一些重构方法必须按一定的顺序使用，如</a:t>
            </a:r>
            <a:r>
              <a:rPr lang="en-US" altLang="zh-CN" dirty="0"/>
              <a:t>R1</a:t>
            </a:r>
            <a:r>
              <a:rPr lang="zh-CN" altLang="en-US" dirty="0"/>
              <a:t>和</a:t>
            </a:r>
            <a:r>
              <a:rPr lang="en-US" altLang="zh-CN" dirty="0"/>
              <a:t>R2</a:t>
            </a:r>
            <a:r>
              <a:rPr lang="zh-CN" altLang="en-US" dirty="0"/>
              <a:t>必须先于</a:t>
            </a:r>
            <a:r>
              <a:rPr lang="en-US" altLang="zh-CN" dirty="0"/>
              <a:t>R3</a:t>
            </a:r>
            <a:endParaRPr lang="en-US" altLang="zh-CN" dirty="0"/>
          </a:p>
          <a:p>
            <a:pPr lvl="1"/>
            <a:r>
              <a:rPr lang="zh-CN" altLang="en-US" dirty="0"/>
              <a:t>有一些重构方法可以单独使用，如果一起使用，必须要遵守一定的顺序，如可以单独使用</a:t>
            </a:r>
            <a:r>
              <a:rPr lang="en-US" altLang="zh-CN" dirty="0"/>
              <a:t>R1</a:t>
            </a:r>
            <a:r>
              <a:rPr lang="zh-CN" altLang="en-US" dirty="0"/>
              <a:t>和</a:t>
            </a:r>
            <a:r>
              <a:rPr lang="en-US" altLang="zh-CN" dirty="0"/>
              <a:t>R8</a:t>
            </a:r>
            <a:r>
              <a:rPr lang="zh-CN" altLang="en-US" dirty="0"/>
              <a:t>，但一起实施</a:t>
            </a:r>
            <a:r>
              <a:rPr lang="en-US" altLang="zh-CN" dirty="0"/>
              <a:t>R1</a:t>
            </a:r>
            <a:r>
              <a:rPr lang="zh-CN" altLang="en-US" dirty="0"/>
              <a:t>和</a:t>
            </a:r>
            <a:r>
              <a:rPr lang="en-US" altLang="zh-CN" dirty="0"/>
              <a:t>R8</a:t>
            </a:r>
            <a:r>
              <a:rPr lang="zh-CN" altLang="en-US" dirty="0"/>
              <a:t>时必须</a:t>
            </a:r>
            <a:r>
              <a:rPr lang="en-US" altLang="zh-CN" dirty="0"/>
              <a:t>R1</a:t>
            </a:r>
            <a:r>
              <a:rPr lang="zh-CN" altLang="en-US" dirty="0"/>
              <a:t>先于</a:t>
            </a:r>
            <a:r>
              <a:rPr lang="en-US" altLang="zh-CN" dirty="0"/>
              <a:t>R8</a:t>
            </a:r>
            <a:endParaRPr lang="en-US" altLang="zh-CN" dirty="0"/>
          </a:p>
          <a:p>
            <a:pPr lvl="1"/>
            <a:r>
              <a:rPr lang="zh-CN" altLang="en-US" dirty="0"/>
              <a:t>有一些重构方法使互斥的，如</a:t>
            </a:r>
            <a:r>
              <a:rPr lang="en-US" altLang="zh-CN" dirty="0"/>
              <a:t>R4</a:t>
            </a:r>
            <a:r>
              <a:rPr lang="zh-CN" altLang="en-US" dirty="0"/>
              <a:t>和</a:t>
            </a:r>
            <a:r>
              <a:rPr lang="en-US" altLang="zh-CN" dirty="0"/>
              <a:t>R6</a:t>
            </a:r>
            <a:r>
              <a:rPr lang="zh-CN" altLang="en-US" dirty="0"/>
              <a:t>是互斥的</a:t>
            </a:r>
            <a:endParaRPr lang="en-US" altLang="zh-CN" dirty="0"/>
          </a:p>
          <a:p>
            <a:r>
              <a:rPr lang="zh-CN" altLang="en-US" dirty="0"/>
              <a:t>重构的选择与优先级排序</a:t>
            </a:r>
            <a:endParaRPr lang="en-US" altLang="zh-CN" dirty="0"/>
          </a:p>
          <a:p>
            <a:pPr lvl="1"/>
            <a:r>
              <a:rPr lang="zh-CN" altLang="en-US" dirty="0"/>
              <a:t>关键分析，识别互斥的重构</a:t>
            </a:r>
            <a:endParaRPr lang="en-US" altLang="zh-CN" dirty="0"/>
          </a:p>
          <a:p>
            <a:pPr lvl="1"/>
            <a:r>
              <a:rPr lang="zh-CN" altLang="en-US" dirty="0"/>
              <a:t>顺序依赖分析，为重构排序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确保重构保持软件的行为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通常需要保证两类可观测行为：输出值（状态）；非功能需求（时间约束、资源约束、安全约束等）</a:t>
            </a:r>
            <a:endParaRPr lang="en-US" altLang="zh-CN" dirty="0"/>
          </a:p>
          <a:p>
            <a:r>
              <a:rPr lang="zh-CN" altLang="en-US" dirty="0"/>
              <a:t>保证重构保持软件行为的常用方法</a:t>
            </a:r>
            <a:endParaRPr lang="en-US" altLang="zh-CN" dirty="0"/>
          </a:p>
          <a:p>
            <a:pPr lvl="1"/>
            <a:r>
              <a:rPr lang="zh-CN" altLang="en-US" dirty="0"/>
              <a:t>测试</a:t>
            </a:r>
            <a:endParaRPr lang="en-US" altLang="zh-CN" dirty="0"/>
          </a:p>
          <a:p>
            <a:pPr lvl="1"/>
            <a:r>
              <a:rPr lang="zh-CN" altLang="en-US" dirty="0"/>
              <a:t>严重是否保持调用序列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实施重构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880" y="775771"/>
            <a:ext cx="7060240" cy="60822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271" y="2770146"/>
            <a:ext cx="5396769" cy="40100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评估重构对软件质量的影响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重构会影响软件的内部质量和外部质量</a:t>
            </a:r>
            <a:endParaRPr lang="en-US" altLang="zh-CN" dirty="0"/>
          </a:p>
          <a:p>
            <a:pPr lvl="1"/>
            <a:r>
              <a:rPr lang="zh-CN" altLang="en-US" dirty="0"/>
              <a:t>规模、复杂性、耦合性、内聚性、可测试性</a:t>
            </a:r>
            <a:r>
              <a:rPr lang="en-US" altLang="zh-CN" dirty="0"/>
              <a:t>……</a:t>
            </a:r>
            <a:endParaRPr lang="en-US" altLang="zh-CN" dirty="0"/>
          </a:p>
          <a:p>
            <a:pPr lvl="1"/>
            <a:r>
              <a:rPr lang="zh-CN" altLang="en-US" dirty="0"/>
              <a:t>性能、可复用性、可维护性、可扩展性、健壮性</a:t>
            </a:r>
            <a:r>
              <a:rPr lang="en-US" altLang="zh-CN" dirty="0"/>
              <a:t>……</a:t>
            </a:r>
            <a:endParaRPr lang="en-US" altLang="zh-CN" dirty="0"/>
          </a:p>
          <a:p>
            <a:r>
              <a:rPr lang="zh-CN" altLang="en-US" dirty="0"/>
              <a:t>常见的，可以通过评估重构前后的软件度量指标对软件质量进行评估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</a:t>
            </a:r>
            <a:r>
              <a:rPr lang="zh-CN" altLang="en-US" dirty="0"/>
              <a:t>软件制品的一致性维护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软件系统可以由不同抽象层次的多个制品来描述</a:t>
            </a:r>
            <a:endParaRPr lang="en-US" altLang="zh-CN" dirty="0"/>
          </a:p>
          <a:p>
            <a:pPr lvl="1"/>
            <a:r>
              <a:rPr lang="zh-CN" altLang="en-US" dirty="0"/>
              <a:t>需求文档</a:t>
            </a:r>
            <a:endParaRPr lang="en-US" altLang="zh-CN" dirty="0"/>
          </a:p>
          <a:p>
            <a:pPr lvl="1"/>
            <a:r>
              <a:rPr lang="zh-CN" altLang="en-US" dirty="0"/>
              <a:t>设计文档</a:t>
            </a:r>
            <a:endParaRPr lang="en-US" altLang="zh-CN" dirty="0"/>
          </a:p>
          <a:p>
            <a:pPr lvl="1"/>
            <a:r>
              <a:rPr lang="zh-CN" altLang="en-US" dirty="0"/>
              <a:t>源代码</a:t>
            </a:r>
            <a:endParaRPr lang="en-US" altLang="zh-CN" dirty="0"/>
          </a:p>
          <a:p>
            <a:pPr lvl="1"/>
            <a:r>
              <a:rPr lang="zh-CN" altLang="en-US" dirty="0"/>
              <a:t>测试用例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  <a:endParaRPr lang="en-US" altLang="zh-CN" dirty="0"/>
          </a:p>
          <a:p>
            <a:r>
              <a:rPr lang="zh-CN" altLang="en-US" dirty="0"/>
              <a:t>通过变更传播、变更影响分析等，维护软件制品的一致性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重构的形式化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常见的三种技术</a:t>
            </a:r>
            <a:endParaRPr lang="en-US" altLang="zh-CN" dirty="0"/>
          </a:p>
          <a:p>
            <a:pPr lvl="1"/>
            <a:r>
              <a:rPr lang="zh-CN" altLang="en-US" dirty="0"/>
              <a:t>断言：不变式、前置条件和后置条件</a:t>
            </a:r>
            <a:endParaRPr lang="en-US" altLang="zh-CN" dirty="0"/>
          </a:p>
          <a:p>
            <a:pPr lvl="1"/>
            <a:r>
              <a:rPr lang="zh-CN" altLang="en-US" dirty="0"/>
              <a:t>图变换：将重构看作图的生成规则</a:t>
            </a:r>
            <a:endParaRPr lang="en-US" altLang="zh-CN" dirty="0"/>
          </a:p>
          <a:p>
            <a:pPr lvl="1"/>
            <a:r>
              <a:rPr lang="zh-CN" altLang="en-US" dirty="0"/>
              <a:t>度量：定量表示软件的内部质量和外部质量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重构的形式化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Push down method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3" y="826689"/>
            <a:ext cx="5061210" cy="3403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405" y="2715667"/>
            <a:ext cx="4362595" cy="41242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重构的形式化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常见的度量</a:t>
            </a:r>
            <a:endParaRPr lang="en-US" altLang="zh-CN" dirty="0"/>
          </a:p>
          <a:p>
            <a:pPr lvl="1"/>
            <a:r>
              <a:rPr lang="zh-CN" altLang="en-US" dirty="0"/>
              <a:t>内聚性</a:t>
            </a:r>
            <a:endParaRPr lang="en-US" altLang="zh-CN" dirty="0"/>
          </a:p>
          <a:p>
            <a:pPr lvl="1"/>
            <a:r>
              <a:rPr lang="zh-CN" altLang="en-US" dirty="0"/>
              <a:t>耦合性</a:t>
            </a:r>
            <a:endParaRPr lang="en-US" altLang="zh-CN" dirty="0"/>
          </a:p>
          <a:p>
            <a:r>
              <a:rPr lang="zh-CN" altLang="en-US" dirty="0"/>
              <a:t>一般情况下，一个模块由多个组件组成，每一个组件具有明确定义的功能。因此，衡量一个模块内组件之间的紧密关系的强度很有用，这便于决定某些组件是否应留在同一个模块中。</a:t>
            </a:r>
            <a:endParaRPr lang="en-US" altLang="zh-CN" dirty="0"/>
          </a:p>
          <a:p>
            <a:r>
              <a:rPr lang="zh-CN" altLang="en-US" dirty="0"/>
              <a:t>内聚性：模块内组件之间紧密关系的强度</a:t>
            </a:r>
            <a:endParaRPr lang="en-US" altLang="zh-CN" dirty="0"/>
          </a:p>
          <a:p>
            <a:r>
              <a:rPr lang="zh-CN" altLang="en-US" dirty="0"/>
              <a:t>耦合性：模块之间的依赖关系强度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648" y="2247609"/>
            <a:ext cx="5779265" cy="44777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软件重组的早期工作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软件结构是开发人员用以深入理解软件的一组软件属性，任何能影响软件状态或开发人员理解的因素都可能影响软件结构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软件重组的早期工作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软件重组的一般分类</a:t>
            </a:r>
            <a:endParaRPr lang="en-US" altLang="zh-CN" dirty="0"/>
          </a:p>
          <a:p>
            <a:pPr lvl="1"/>
            <a:r>
              <a:rPr lang="zh-CN" altLang="en-US" dirty="0"/>
              <a:t>不涉及代码变更的方法：培训开发人员、升级文档</a:t>
            </a:r>
            <a:r>
              <a:rPr lang="en-US" altLang="zh-CN" dirty="0"/>
              <a:t>……</a:t>
            </a:r>
            <a:endParaRPr lang="en-US" altLang="zh-CN" dirty="0"/>
          </a:p>
          <a:p>
            <a:pPr lvl="1"/>
            <a:r>
              <a:rPr lang="zh-CN" altLang="en-US" dirty="0"/>
              <a:t>涉及代码变更的方法：实践、技术、工具</a:t>
            </a:r>
            <a:r>
              <a:rPr lang="en-US" altLang="zh-CN" dirty="0"/>
              <a:t>……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17" y="2549458"/>
            <a:ext cx="8686164" cy="38373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软件重组的早期工作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消除</a:t>
            </a:r>
            <a:r>
              <a:rPr lang="en-US" altLang="zh-CN" dirty="0" err="1"/>
              <a:t>goto</a:t>
            </a:r>
            <a:endParaRPr lang="en-US" altLang="zh-CN" dirty="0"/>
          </a:p>
          <a:p>
            <a:r>
              <a:rPr lang="zh-CN" altLang="en-US" dirty="0"/>
              <a:t>局部化与信息隐藏</a:t>
            </a:r>
            <a:endParaRPr lang="en-US" altLang="zh-CN" dirty="0"/>
          </a:p>
          <a:p>
            <a:r>
              <a:rPr lang="zh-CN" altLang="en-US" dirty="0"/>
              <a:t>系统三明治方法</a:t>
            </a:r>
            <a:endParaRPr lang="en-US" altLang="zh-CN" dirty="0"/>
          </a:p>
          <a:p>
            <a:r>
              <a:rPr lang="zh-CN" altLang="en-US" dirty="0"/>
              <a:t>聚类方法</a:t>
            </a:r>
            <a:endParaRPr lang="en-US" altLang="zh-CN" dirty="0"/>
          </a:p>
          <a:p>
            <a:r>
              <a:rPr lang="zh-CN" altLang="en-US" dirty="0"/>
              <a:t>程序切片方法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软件重组的早期工作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系统三明治方法</a:t>
            </a:r>
            <a:endParaRPr lang="en-US" altLang="zh-CN" dirty="0"/>
          </a:p>
          <a:p>
            <a:pPr lvl="1"/>
            <a:r>
              <a:rPr lang="zh-CN" altLang="en-US" dirty="0"/>
              <a:t>场景：对于需要保留其输出又无法进行重组的结构化较差的程序</a:t>
            </a:r>
            <a:endParaRPr lang="en-US" altLang="zh-CN" dirty="0"/>
          </a:p>
          <a:p>
            <a:pPr lvl="1"/>
            <a:r>
              <a:rPr lang="zh-CN" altLang="en-US" dirty="0"/>
              <a:t>基本思想：编写</a:t>
            </a:r>
            <a:r>
              <a:rPr lang="zh-CN" altLang="en-US"/>
              <a:t>新的前端接口</a:t>
            </a:r>
            <a:r>
              <a:rPr lang="zh-CN" altLang="en-US" dirty="0"/>
              <a:t>和后端数据库，既容易与程序交互，且以更结构化方式记录输出</a:t>
            </a:r>
            <a:endParaRPr lang="en-US" altLang="zh-CN" dirty="0"/>
          </a:p>
          <a:p>
            <a:pPr lvl="2"/>
            <a:r>
              <a:rPr lang="zh-CN" altLang="en-US" dirty="0"/>
              <a:t>前端和后端之间互相通信，产生报告</a:t>
            </a:r>
            <a:endParaRPr lang="en-US" altLang="zh-CN" dirty="0"/>
          </a:p>
          <a:p>
            <a:pPr lvl="2"/>
            <a:r>
              <a:rPr lang="zh-CN" altLang="en-US" dirty="0"/>
              <a:t>旧系统只用于产生输出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967" y="3800033"/>
            <a:ext cx="8028075" cy="27857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039" y="1930794"/>
            <a:ext cx="6829961" cy="45225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软件重组的早期工作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聚类方法：软件模块化</a:t>
            </a:r>
            <a:endParaRPr lang="en-US" altLang="zh-CN" dirty="0"/>
          </a:p>
          <a:p>
            <a:pPr lvl="1"/>
            <a:r>
              <a:rPr lang="zh-CN" altLang="en-US" b="1" dirty="0"/>
              <a:t>系统级再模块化</a:t>
            </a:r>
            <a:endParaRPr lang="en-US" altLang="zh-CN" b="1" dirty="0"/>
          </a:p>
          <a:p>
            <a:pPr lvl="1"/>
            <a:r>
              <a:rPr lang="zh-CN" altLang="en-US" dirty="0"/>
              <a:t>实体级再模块化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软件重组的早期工作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聚类方法：软件模块化</a:t>
            </a:r>
            <a:endParaRPr lang="en-US" altLang="zh-CN" dirty="0"/>
          </a:p>
          <a:p>
            <a:pPr lvl="1"/>
            <a:r>
              <a:rPr lang="zh-CN" altLang="en-US" dirty="0"/>
              <a:t>系统级再模块化</a:t>
            </a:r>
            <a:endParaRPr lang="en-US" altLang="zh-CN" dirty="0"/>
          </a:p>
          <a:p>
            <a:pPr lvl="1"/>
            <a:r>
              <a:rPr lang="zh-CN" altLang="en-US" b="1" dirty="0"/>
              <a:t>实体级再模块化</a:t>
            </a:r>
            <a:endParaRPr lang="en-US" altLang="zh-CN" b="1" dirty="0"/>
          </a:p>
          <a:p>
            <a:pPr lvl="2"/>
            <a:r>
              <a:rPr lang="zh-CN" altLang="en-US" dirty="0"/>
              <a:t>相似性聚类</a:t>
            </a:r>
            <a:endParaRPr lang="en-US" altLang="zh-CN" dirty="0"/>
          </a:p>
          <a:p>
            <a:pPr lvl="3"/>
            <a:r>
              <a:rPr lang="zh-CN" altLang="en-US" dirty="0"/>
              <a:t>距离度量</a:t>
            </a:r>
            <a:endParaRPr lang="en-US" altLang="zh-CN" dirty="0"/>
          </a:p>
          <a:p>
            <a:pPr lvl="3"/>
            <a:r>
              <a:rPr lang="zh-CN" altLang="en-US" dirty="0"/>
              <a:t>关联系数</a:t>
            </a:r>
            <a:endParaRPr lang="en-US" altLang="zh-CN" dirty="0"/>
          </a:p>
          <a:p>
            <a:pPr lvl="2"/>
            <a:r>
              <a:rPr lang="zh-CN" altLang="en-US" dirty="0"/>
              <a:t>聚类算法的选择</a:t>
            </a:r>
            <a:endParaRPr lang="en-US" altLang="zh-CN" dirty="0"/>
          </a:p>
          <a:p>
            <a:pPr lvl="3"/>
            <a:r>
              <a:rPr lang="zh-CN" altLang="en-US" dirty="0"/>
              <a:t>图论算法</a:t>
            </a:r>
            <a:endParaRPr lang="en-US" altLang="zh-CN" dirty="0"/>
          </a:p>
          <a:p>
            <a:pPr lvl="3"/>
            <a:r>
              <a:rPr lang="zh-CN" altLang="en-US" dirty="0"/>
              <a:t>构造算法</a:t>
            </a:r>
            <a:endParaRPr lang="en-US" altLang="zh-CN" dirty="0"/>
          </a:p>
          <a:p>
            <a:pPr lvl="3"/>
            <a:r>
              <a:rPr lang="zh-CN" altLang="en-US" dirty="0"/>
              <a:t>优化算法</a:t>
            </a:r>
            <a:endParaRPr lang="en-US" altLang="zh-CN" dirty="0"/>
          </a:p>
          <a:p>
            <a:pPr lvl="3"/>
            <a:r>
              <a:rPr lang="zh-CN" altLang="en-US" dirty="0"/>
              <a:t>分层算法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9136" y="1458210"/>
            <a:ext cx="5584122" cy="48922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软件重组和重构是几十年来业内持续研究的课题</a:t>
            </a:r>
            <a:endParaRPr lang="en-US" altLang="zh-CN" dirty="0"/>
          </a:p>
          <a:p>
            <a:r>
              <a:rPr lang="zh-CN" altLang="en-US" dirty="0"/>
              <a:t>软件维护与演化的负面影响（技术债）</a:t>
            </a:r>
            <a:endParaRPr lang="en-US" altLang="zh-CN" dirty="0"/>
          </a:p>
          <a:p>
            <a:pPr lvl="1"/>
            <a:r>
              <a:rPr lang="zh-CN" altLang="en-US" dirty="0"/>
              <a:t>可理解性降低</a:t>
            </a:r>
            <a:endParaRPr lang="en-US" altLang="zh-CN" dirty="0"/>
          </a:p>
          <a:p>
            <a:pPr lvl="1"/>
            <a:r>
              <a:rPr lang="zh-CN" altLang="en-US" dirty="0"/>
              <a:t>可靠性下降</a:t>
            </a:r>
            <a:endParaRPr lang="en-US" altLang="zh-CN" dirty="0"/>
          </a:p>
          <a:p>
            <a:pPr lvl="1"/>
            <a:r>
              <a:rPr lang="zh-CN" altLang="en-US" dirty="0"/>
              <a:t>维护成本增加</a:t>
            </a:r>
            <a:endParaRPr lang="en-US" altLang="zh-CN" dirty="0"/>
          </a:p>
          <a:p>
            <a:r>
              <a:rPr lang="zh-CN" altLang="en-US" dirty="0"/>
              <a:t>软件重构的目标：提高软件的内部价值和外部价值</a:t>
            </a:r>
            <a:endParaRPr lang="en-US" altLang="zh-CN" dirty="0"/>
          </a:p>
          <a:p>
            <a:r>
              <a:rPr lang="zh-CN" altLang="en-US" dirty="0"/>
              <a:t>重构过程</a:t>
            </a:r>
            <a:endParaRPr lang="en-US" altLang="zh-CN" dirty="0"/>
          </a:p>
          <a:p>
            <a:pPr lvl="1"/>
            <a:r>
              <a:rPr lang="zh-CN" altLang="en-US" dirty="0"/>
              <a:t>识别重构对象</a:t>
            </a:r>
            <a:endParaRPr lang="en-US" altLang="zh-CN" dirty="0"/>
          </a:p>
          <a:p>
            <a:pPr lvl="1"/>
            <a:r>
              <a:rPr lang="zh-CN" altLang="en-US" dirty="0"/>
              <a:t>确定重构方法</a:t>
            </a:r>
            <a:endParaRPr lang="en-US" altLang="zh-CN" dirty="0"/>
          </a:p>
          <a:p>
            <a:pPr lvl="1"/>
            <a:r>
              <a:rPr lang="zh-CN" altLang="en-US" dirty="0"/>
              <a:t>确保重构保留软件行为</a:t>
            </a:r>
            <a:endParaRPr lang="en-US" altLang="zh-CN" dirty="0"/>
          </a:p>
          <a:p>
            <a:pPr lvl="1"/>
            <a:r>
              <a:rPr lang="zh-CN" altLang="en-US" dirty="0"/>
              <a:t>实施重构</a:t>
            </a:r>
            <a:endParaRPr lang="en-US" altLang="zh-CN"/>
          </a:p>
          <a:p>
            <a:pPr lvl="1"/>
            <a:r>
              <a:rPr lang="zh-CN" altLang="en-US"/>
              <a:t>评估</a:t>
            </a:r>
            <a:r>
              <a:rPr lang="zh-CN" altLang="en-US" dirty="0"/>
              <a:t>重构影响及一致性维护</a:t>
            </a:r>
            <a:endParaRPr lang="en-US" altLang="zh-CN" dirty="0"/>
          </a:p>
          <a:p>
            <a:r>
              <a:rPr lang="zh-CN" altLang="en-US" dirty="0"/>
              <a:t>重构的常见技术</a:t>
            </a:r>
            <a:endParaRPr lang="en-US" altLang="zh-CN" dirty="0"/>
          </a:p>
          <a:p>
            <a:r>
              <a:rPr lang="zh-CN" altLang="en-US" dirty="0"/>
              <a:t>重构的早期工作：软件重组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704"/>
    </mc:Choice>
    <mc:Fallback>
      <p:transition spd="slow" advTm="79704"/>
    </mc:Fallback>
  </mc:AlternateContent>
</p:sld>
</file>

<file path=ppt/theme/theme1.xml><?xml version="1.0" encoding="utf-8"?>
<a:theme xmlns:a="http://schemas.openxmlformats.org/drawingml/2006/main" name="南大紫-课程简易版">
  <a:themeElements>
    <a:clrScheme name="紫红色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默认设计模板">
      <a:majorFont>
        <a:latin typeface="Arial"/>
        <a:ea typeface="华文中宋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南大紫-课程简易版</Template>
  <TotalTime>0</TotalTime>
  <Words>2379</Words>
  <Application>WPS 演示</Application>
  <PresentationFormat>全屏显示(4:3)</PresentationFormat>
  <Paragraphs>211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华文中宋</vt:lpstr>
      <vt:lpstr>南大紫-课程简易版</vt:lpstr>
      <vt:lpstr>软件维护与演化导论 重构</vt:lpstr>
      <vt:lpstr>1 概要</vt:lpstr>
      <vt:lpstr>1 概要</vt:lpstr>
      <vt:lpstr>1 概要</vt:lpstr>
      <vt:lpstr>2 重构的一般过程</vt:lpstr>
      <vt:lpstr>2.1 确定重构对象</vt:lpstr>
      <vt:lpstr>2.2 确定重构方法</vt:lpstr>
      <vt:lpstr>2.2 确定重构方法</vt:lpstr>
      <vt:lpstr>2.2 确定重构方法</vt:lpstr>
      <vt:lpstr>2.3 确保重构保持软件的行为</vt:lpstr>
      <vt:lpstr>2.4 实施重构</vt:lpstr>
      <vt:lpstr>2.5 评估重构对软件质量的影响</vt:lpstr>
      <vt:lpstr>2.6 软件制品的一致性维护</vt:lpstr>
      <vt:lpstr>3 重构的形式化</vt:lpstr>
      <vt:lpstr>3 重构的形式化</vt:lpstr>
      <vt:lpstr>3 重构的形式化</vt:lpstr>
      <vt:lpstr>4 软件重组的早期工作</vt:lpstr>
      <vt:lpstr>4 软件重组的早期工作</vt:lpstr>
      <vt:lpstr>4 软件重组的早期工作</vt:lpstr>
      <vt:lpstr>4 软件重组的早期工作</vt:lpstr>
      <vt:lpstr>4 软件重组的早期工作</vt:lpstr>
      <vt:lpstr>4 软件重组的早期工作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lchen</dc:creator>
  <cp:lastModifiedBy>Mr Nie</cp:lastModifiedBy>
  <cp:revision>265</cp:revision>
  <dcterms:created xsi:type="dcterms:W3CDTF">2020-02-15T15:19:00Z</dcterms:created>
  <dcterms:modified xsi:type="dcterms:W3CDTF">2020-07-01T08:07:03Z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