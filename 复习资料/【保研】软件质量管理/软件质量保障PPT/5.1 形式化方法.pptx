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423" r:id="rId5"/>
    <p:sldId id="369" r:id="rId6"/>
    <p:sldId id="371" r:id="rId7"/>
    <p:sldId id="372" r:id="rId8"/>
    <p:sldId id="373" r:id="rId9"/>
    <p:sldId id="374" r:id="rId10"/>
    <p:sldId id="375" r:id="rId11"/>
    <p:sldId id="378" r:id="rId12"/>
    <p:sldId id="403" r:id="rId13"/>
    <p:sldId id="400" r:id="rId14"/>
    <p:sldId id="401" r:id="rId15"/>
    <p:sldId id="404" r:id="rId16"/>
    <p:sldId id="377" r:id="rId17"/>
    <p:sldId id="380" r:id="rId18"/>
    <p:sldId id="379" r:id="rId19"/>
    <p:sldId id="381" r:id="rId20"/>
    <p:sldId id="383" r:id="rId21"/>
    <p:sldId id="384" r:id="rId22"/>
    <p:sldId id="385" r:id="rId23"/>
    <p:sldId id="392" r:id="rId24"/>
    <p:sldId id="405" r:id="rId25"/>
    <p:sldId id="406" r:id="rId26"/>
    <p:sldId id="394" r:id="rId27"/>
    <p:sldId id="407" r:id="rId28"/>
    <p:sldId id="408" r:id="rId29"/>
    <p:sldId id="402" r:id="rId30"/>
  </p:sldIdLst>
  <p:sldSz cx="9144000" cy="6858000" type="screen4x3"/>
  <p:notesSz cx="6797675" cy="9874250"/>
  <p:defaultTextStyle>
    <a:defPPr>
      <a:defRPr lang="zh-CN"/>
    </a:defPPr>
    <a:lvl1pPr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4572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2pPr>
    <a:lvl3pPr marL="9144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3pPr>
    <a:lvl4pPr marL="13716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4pPr>
    <a:lvl5pPr marL="1828800" algn="ctr" rtl="0" fontAlgn="base">
      <a:spcBef>
        <a:spcPct val="0"/>
      </a:spcBef>
      <a:spcAft>
        <a:spcPct val="0"/>
      </a:spcAft>
      <a:defRPr kern="1200">
        <a:solidFill>
          <a:schemeClr val="tx1"/>
        </a:solidFill>
        <a:latin typeface="Times New Roman" panose="02020603050405020304" charset="0"/>
        <a:ea typeface="宋体" panose="02010600030101010101" pitchFamily="2" charset="-122"/>
        <a:cs typeface="宋体" panose="02010600030101010101" pitchFamily="2" charset="-122"/>
      </a:defRPr>
    </a:lvl5pPr>
    <a:lvl6pPr marL="22860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6pPr>
    <a:lvl7pPr marL="27432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7pPr>
    <a:lvl8pPr marL="32004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8pPr>
    <a:lvl9pPr marL="3657600" algn="l" defTabSz="457200" rtl="0" eaLnBrk="1" latinLnBrk="0" hangingPunct="1">
      <a:defRPr kern="1200">
        <a:solidFill>
          <a:schemeClr val="tx1"/>
        </a:solidFill>
        <a:latin typeface="Times New Roman" panose="02020603050405020304" charset="0"/>
        <a:ea typeface="宋体" panose="02010600030101010101" pitchFamily="2" charset="-122"/>
        <a:cs typeface="宋体" panose="02010600030101010101" pitchFamily="2"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233"/>
    <a:srgbClr val="BFBC3E"/>
    <a:srgbClr val="CCFFCC"/>
    <a:srgbClr val="FFFFCC"/>
    <a:srgbClr val="3366FF"/>
    <a:srgbClr val="FF0000"/>
    <a:srgbClr val="00FF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510"/>
    <p:restoredTop sz="78101"/>
  </p:normalViewPr>
  <p:slideViewPr>
    <p:cSldViewPr>
      <p:cViewPr varScale="1">
        <p:scale>
          <a:sx n="66" d="100"/>
          <a:sy n="66" d="100"/>
        </p:scale>
        <p:origin x="51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922" name="Rectangle 2"/>
          <p:cNvSpPr>
            <a:spLocks noGrp="1" noChangeArrowheads="1"/>
          </p:cNvSpPr>
          <p:nvPr>
            <p:ph type="hdr" sz="quarter"/>
          </p:nvPr>
        </p:nvSpPr>
        <p:spPr bwMode="auto">
          <a:xfrm>
            <a:off x="0" y="0"/>
            <a:ext cx="2946400" cy="493713"/>
          </a:xfrm>
          <a:prstGeom prst="rect">
            <a:avLst/>
          </a:prstGeom>
          <a:noFill/>
          <a:ln w="9525">
            <a:noFill/>
            <a:miter lim="800000"/>
          </a:ln>
          <a:effectLst/>
        </p:spPr>
        <p:txBody>
          <a:bodyPr vert="horz" wrap="square" lIns="91440" tIns="45720" rIns="91440" bIns="45720" numCol="1" anchor="t" anchorCtr="0" compatLnSpc="1"/>
          <a:lstStyle>
            <a:lvl1pPr algn="l">
              <a:defRPr sz="1200" smtClean="0">
                <a:latin typeface="Arial" panose="020B0604020202020204" pitchFamily="34" charset="0"/>
              </a:defRPr>
            </a:lvl1pPr>
          </a:lstStyle>
          <a:p>
            <a:pPr>
              <a:defRPr/>
            </a:pPr>
            <a:endParaRPr lang="en-US" altLang="zh-CN"/>
          </a:p>
        </p:txBody>
      </p:sp>
      <p:sp>
        <p:nvSpPr>
          <p:cNvPr id="209923" name="Rectangle 3"/>
          <p:cNvSpPr>
            <a:spLocks noGrp="1" noChangeArrowheads="1"/>
          </p:cNvSpPr>
          <p:nvPr>
            <p:ph type="dt" idx="1"/>
          </p:nvPr>
        </p:nvSpPr>
        <p:spPr bwMode="auto">
          <a:xfrm>
            <a:off x="3849688" y="0"/>
            <a:ext cx="2946400" cy="493713"/>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Arial" panose="020B0604020202020204" pitchFamily="34" charset="0"/>
              </a:defRPr>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931863" y="741363"/>
            <a:ext cx="4935537" cy="3702050"/>
          </a:xfrm>
          <a:prstGeom prst="rect">
            <a:avLst/>
          </a:prstGeom>
          <a:noFill/>
          <a:ln w="9525">
            <a:solidFill>
              <a:srgbClr val="000000"/>
            </a:solidFill>
            <a:miter lim="800000"/>
          </a:ln>
        </p:spPr>
      </p:sp>
      <p:sp>
        <p:nvSpPr>
          <p:cNvPr id="209925" name="Rectangle 5"/>
          <p:cNvSpPr>
            <a:spLocks noGrp="1" noChangeArrowheads="1"/>
          </p:cNvSpPr>
          <p:nvPr>
            <p:ph type="body" sz="quarter" idx="3"/>
          </p:nvPr>
        </p:nvSpPr>
        <p:spPr bwMode="auto">
          <a:xfrm>
            <a:off x="679450" y="4691063"/>
            <a:ext cx="5438775" cy="4443412"/>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209926" name="Rectangle 6"/>
          <p:cNvSpPr>
            <a:spLocks noGrp="1" noChangeArrowheads="1"/>
          </p:cNvSpPr>
          <p:nvPr>
            <p:ph type="ftr" sz="quarter" idx="4"/>
          </p:nvPr>
        </p:nvSpPr>
        <p:spPr bwMode="auto">
          <a:xfrm>
            <a:off x="0" y="9378950"/>
            <a:ext cx="2946400" cy="493713"/>
          </a:xfrm>
          <a:prstGeom prst="rect">
            <a:avLst/>
          </a:prstGeom>
          <a:noFill/>
          <a:ln w="9525">
            <a:noFill/>
            <a:miter lim="800000"/>
          </a:ln>
          <a:effectLst/>
        </p:spPr>
        <p:txBody>
          <a:bodyPr vert="horz" wrap="square" lIns="91440" tIns="45720" rIns="91440" bIns="45720" numCol="1" anchor="b" anchorCtr="0" compatLnSpc="1"/>
          <a:lstStyle>
            <a:lvl1pPr algn="l">
              <a:defRPr sz="1200" smtClean="0">
                <a:latin typeface="Arial" panose="020B0604020202020204" pitchFamily="34" charset="0"/>
              </a:defRPr>
            </a:lvl1pPr>
          </a:lstStyle>
          <a:p>
            <a:pPr>
              <a:defRPr/>
            </a:pPr>
            <a:endParaRPr lang="en-US" altLang="zh-CN"/>
          </a:p>
        </p:txBody>
      </p:sp>
      <p:sp>
        <p:nvSpPr>
          <p:cNvPr id="209927" name="Rectangle 7"/>
          <p:cNvSpPr>
            <a:spLocks noGrp="1" noChangeArrowheads="1"/>
          </p:cNvSpPr>
          <p:nvPr>
            <p:ph type="sldNum" sz="quarter" idx="5"/>
          </p:nvPr>
        </p:nvSpPr>
        <p:spPr bwMode="auto">
          <a:xfrm>
            <a:off x="3849688" y="9378950"/>
            <a:ext cx="2946400" cy="493713"/>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defRPr>
            </a:lvl1pPr>
          </a:lstStyle>
          <a:p>
            <a:pPr>
              <a:defRPr/>
            </a:pPr>
            <a:fld id="{5B0C0944-B132-EC49-AFA3-CE6EAA48DD42}"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1pPr>
    <a:lvl2pPr marL="4572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marL="9144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marL="13716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marL="1828800" algn="l" rtl="0" eaLnBrk="0" fontAlgn="base" hangingPunct="0">
      <a:spcBef>
        <a:spcPct val="30000"/>
      </a:spcBef>
      <a:spcAft>
        <a:spcPct val="0"/>
      </a:spcAft>
      <a:defRPr kumimoji="1" sz="1200" kern="1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a:spLocks noGrp="1" noChangeArrowheads="1"/>
          </p:cNvSpPr>
          <p:nvPr>
            <p:ph type="sldNum" sz="quarter" idx="5"/>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040C8C5-FF60-0940-9A32-6676D8855FE2}" type="slidenum">
              <a:rPr kumimoji="0" lang="en-US" altLang="zh-CN" sz="1200">
                <a:latin typeface="Arial" panose="020B0604020202020204" pitchFamily="34" charset="0"/>
              </a:rPr>
            </a:fld>
            <a:endParaRPr kumimoji="0" lang="en-US" altLang="zh-CN" sz="1200">
              <a:latin typeface="Arial" panose="020B0604020202020204" pitchFamily="34" charset="0"/>
            </a:endParaRPr>
          </a:p>
        </p:txBody>
      </p:sp>
      <p:sp>
        <p:nvSpPr>
          <p:cNvPr id="15362" name="Rectangle 2"/>
          <p:cNvSpPr>
            <a:spLocks noGrp="1" noRot="1" noChangeAspect="1" noChangeArrowheads="1" noTextEdit="1"/>
          </p:cNvSpPr>
          <p:nvPr>
            <p:ph type="sldImg"/>
          </p:nvPr>
        </p:nvSpPr>
        <p:spPr/>
      </p:sp>
      <p:sp>
        <p:nvSpPr>
          <p:cNvPr id="15363" name="Rectangle 3"/>
          <p:cNvSpPr>
            <a:spLocks noGrp="1" noChangeArrowheads="1"/>
          </p:cNvSpPr>
          <p:nvPr>
            <p:ph type="body" idx="1"/>
          </p:nvPr>
        </p:nvSpPr>
        <p:spPr>
          <a:noFill/>
        </p:spPr>
        <p:txBody>
          <a:bodyPr/>
          <a:lstStyle/>
          <a:p>
            <a:pPr eaLnBrk="1" hangingPunct="1"/>
            <a:endParaRPr kumimoji="0" lang="zh-CN" altLang="en-US">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F4A715F5-9532-4023-8409-0693AFB5150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E6FE4F49-4C4C-4094-B578-6FFBF965BFD5}" type="slidenum">
              <a:rPr lang="en-US" altLang="zh-CN"/>
            </a:fld>
            <a:endParaRPr lang="en-US" altLang="zh-CN"/>
          </a:p>
        </p:txBody>
      </p:sp>
      <p:sp>
        <p:nvSpPr>
          <p:cNvPr id="250882" name="Rectangle 1026"/>
          <p:cNvSpPr>
            <a:spLocks noGrp="1" noRot="1" noChangeAspect="1" noChangeArrowheads="1" noTextEdit="1"/>
          </p:cNvSpPr>
          <p:nvPr>
            <p:ph type="sldImg"/>
          </p:nvPr>
        </p:nvSpPr>
        <p:spPr>
          <a:xfrm>
            <a:off x="1150938" y="682625"/>
            <a:ext cx="4554537" cy="3416300"/>
          </a:xfrm>
        </p:spPr>
      </p:sp>
      <p:sp>
        <p:nvSpPr>
          <p:cNvPr id="250883" name="Rectangle 1027"/>
          <p:cNvSpPr>
            <a:spLocks noGrp="1" noChangeArrowheads="1"/>
          </p:cNvSpPr>
          <p:nvPr>
            <p:ph type="body" idx="1"/>
          </p:nvPr>
        </p:nvSpPr>
        <p:spPr/>
        <p:txBody>
          <a:bodyPr/>
          <a:lstStyle/>
          <a:p>
            <a:endParaRPr lang="en-US"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DC6F59B1-EF01-4802-B9C0-C225A503082F}" type="slidenum">
              <a:rPr lang="en-US" altLang="zh-CN"/>
            </a:fld>
            <a:endParaRPr lang="en-US" altLang="zh-CN"/>
          </a:p>
        </p:txBody>
      </p:sp>
      <p:sp>
        <p:nvSpPr>
          <p:cNvPr id="252930" name="Rectangle 1026"/>
          <p:cNvSpPr>
            <a:spLocks noGrp="1" noRot="1" noChangeAspect="1" noChangeArrowheads="1" noTextEdit="1"/>
          </p:cNvSpPr>
          <p:nvPr>
            <p:ph type="sldImg"/>
          </p:nvPr>
        </p:nvSpPr>
        <p:spPr>
          <a:xfrm>
            <a:off x="1150938" y="682625"/>
            <a:ext cx="4554537" cy="3416300"/>
          </a:xfrm>
        </p:spPr>
      </p:sp>
      <p:sp>
        <p:nvSpPr>
          <p:cNvPr id="252931" name="Rectangle 1027"/>
          <p:cNvSpPr>
            <a:spLocks noGrp="1" noChangeArrowheads="1"/>
          </p:cNvSpPr>
          <p:nvPr>
            <p:ph type="body" idx="1"/>
          </p:nvPr>
        </p:nvSpPr>
        <p:spPr/>
        <p:txBody>
          <a:bodyPr/>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algn="just">
              <a:buFont typeface="Wingdings" panose="05000000000000000000" pitchFamily="2" charset="2"/>
              <a:buNone/>
            </a:pPr>
            <a:endParaRPr lang="zh-CN" altLang="en-US" sz="1200" dirty="0" smtClean="0"/>
          </a:p>
        </p:txBody>
      </p:sp>
      <p:sp>
        <p:nvSpPr>
          <p:cNvPr id="4" name="灯片编号占位符 3"/>
          <p:cNvSpPr>
            <a:spLocks noGrp="1"/>
          </p:cNvSpPr>
          <p:nvPr>
            <p:ph type="sldNum" sz="quarter" idx="10"/>
          </p:nvPr>
        </p:nvSpPr>
        <p:spPr/>
        <p:txBody>
          <a:bodyPr/>
          <a:lstStyle/>
          <a:p>
            <a:fld id="{F4A715F5-9532-4023-8409-0693AFB5150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Oval 6"/>
          <p:cNvSpPr>
            <a:spLocks noChangeArrowheads="1"/>
          </p:cNvSpPr>
          <p:nvPr/>
        </p:nvSpPr>
        <p:spPr bwMode="auto">
          <a:xfrm>
            <a:off x="228600" y="1635125"/>
            <a:ext cx="2514600" cy="2514600"/>
          </a:xfrm>
          <a:prstGeom prst="ellipse">
            <a:avLst/>
          </a:prstGeom>
          <a:noFill/>
          <a:ln w="12700">
            <a:solidFill>
              <a:schemeClr val="accent1"/>
            </a:solidFill>
            <a:round/>
          </a:ln>
        </p:spPr>
        <p:txBody>
          <a:bodyPr wrap="none" anchor="ctr"/>
          <a:lstStyle/>
          <a:p>
            <a:endParaRPr lang="zh-CN" altLang="en-US">
              <a:latin typeface="Arial" panose="020B0604020202020204" pitchFamily="34" charset="0"/>
            </a:endParaRPr>
          </a:p>
        </p:txBody>
      </p:sp>
      <p:sp>
        <p:nvSpPr>
          <p:cNvPr id="5" name="Rectangle 7"/>
          <p:cNvSpPr>
            <a:spLocks noChangeArrowheads="1"/>
          </p:cNvSpPr>
          <p:nvPr/>
        </p:nvSpPr>
        <p:spPr bwMode="hidden">
          <a:xfrm>
            <a:off x="0" y="2397125"/>
            <a:ext cx="4724400" cy="1143000"/>
          </a:xfrm>
          <a:prstGeom prst="rect">
            <a:avLst/>
          </a:prstGeom>
          <a:solidFill>
            <a:schemeClr val="accent2"/>
          </a:solidFill>
          <a:ln>
            <a:noFill/>
          </a:ln>
        </p:spPr>
        <p:txBody>
          <a:bodyPr wrap="none" anchor="ctr"/>
          <a:lstStyle/>
          <a:p>
            <a:endParaRPr lang="zh-CN" altLang="en-US" sz="2400"/>
          </a:p>
        </p:txBody>
      </p:sp>
      <p:sp>
        <p:nvSpPr>
          <p:cNvPr id="6" name="Rectangle 8"/>
          <p:cNvSpPr>
            <a:spLocks noChangeArrowheads="1"/>
          </p:cNvSpPr>
          <p:nvPr/>
        </p:nvSpPr>
        <p:spPr bwMode="hidden">
          <a:xfrm>
            <a:off x="3962400" y="2397125"/>
            <a:ext cx="4724400" cy="11430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pic>
        <p:nvPicPr>
          <p:cNvPr id="7" name="Picture 10" descr="to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p:spPr>
      </p:pic>
      <p:pic>
        <p:nvPicPr>
          <p:cNvPr id="8" name="Picture 11" descr="NJU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52413" y="260350"/>
            <a:ext cx="2303462" cy="904875"/>
          </a:xfrm>
          <a:prstGeom prst="rect">
            <a:avLst/>
          </a:prstGeom>
          <a:noFill/>
          <a:ln>
            <a:noFill/>
          </a:ln>
        </p:spPr>
      </p:pic>
      <p:pic>
        <p:nvPicPr>
          <p:cNvPr id="9"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p:spPr>
      </p:pic>
      <p:pic>
        <p:nvPicPr>
          <p:cNvPr id="1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268413"/>
            <a:ext cx="9117013" cy="28575"/>
          </a:xfrm>
          <a:prstGeom prst="rect">
            <a:avLst/>
          </a:prstGeom>
          <a:noFill/>
          <a:ln>
            <a:noFill/>
          </a:ln>
        </p:spPr>
      </p:pic>
      <p:sp>
        <p:nvSpPr>
          <p:cNvPr id="189442" name="Rectangle 2"/>
          <p:cNvSpPr>
            <a:spLocks noGrp="1" noChangeArrowheads="1"/>
          </p:cNvSpPr>
          <p:nvPr>
            <p:ph type="subTitle" idx="1"/>
          </p:nvPr>
        </p:nvSpPr>
        <p:spPr>
          <a:xfrm>
            <a:off x="3059113" y="4149725"/>
            <a:ext cx="5184775" cy="1336675"/>
          </a:xfrm>
        </p:spPr>
        <p:txBody>
          <a:bodyPr/>
          <a:lstStyle>
            <a:lvl1pPr marL="0" indent="0">
              <a:buFont typeface="Wingdings" panose="05000000000000000000" pitchFamily="2" charset="2"/>
              <a:buNone/>
              <a:defRPr/>
            </a:lvl1pPr>
          </a:lstStyle>
          <a:p>
            <a:r>
              <a:rPr lang="zh-CN" altLang="en-US"/>
              <a:t>单击此处编辑母版副标题样式</a:t>
            </a:r>
            <a:endParaRPr lang="zh-CN" altLang="en-US"/>
          </a:p>
        </p:txBody>
      </p:sp>
      <p:sp>
        <p:nvSpPr>
          <p:cNvPr id="189449" name="Rectangle 9"/>
          <p:cNvSpPr>
            <a:spLocks noGrp="1" noChangeArrowheads="1"/>
          </p:cNvSpPr>
          <p:nvPr>
            <p:ph type="ctrTitle"/>
          </p:nvPr>
        </p:nvSpPr>
        <p:spPr>
          <a:xfrm>
            <a:off x="838200" y="2163763"/>
            <a:ext cx="7405688" cy="1600200"/>
          </a:xfrm>
        </p:spPr>
        <p:txBody>
          <a:bodyPr anchor="ctr"/>
          <a:lstStyle>
            <a:lvl1pPr>
              <a:defRPr/>
            </a:lvl1pPr>
          </a:lstStyle>
          <a:p>
            <a:r>
              <a:rPr lang="zh-CN" altLang="en-US"/>
              <a:t>单击此处编辑母版标题样式</a:t>
            </a:r>
            <a:endParaRPr lang="zh-CN" altLang="en-US"/>
          </a:p>
        </p:txBody>
      </p:sp>
      <p:sp>
        <p:nvSpPr>
          <p:cNvPr id="11" name="Rectangle 3"/>
          <p:cNvSpPr>
            <a:spLocks noGrp="1" noChangeArrowheads="1"/>
          </p:cNvSpPr>
          <p:nvPr>
            <p:ph type="dt" sz="half" idx="10"/>
          </p:nvPr>
        </p:nvSpPr>
        <p:spPr>
          <a:xfrm>
            <a:off x="685800" y="6284913"/>
            <a:ext cx="1293813" cy="457200"/>
          </a:xfrm>
        </p:spPr>
        <p:txBody>
          <a:bodyPr/>
          <a:lstStyle>
            <a:lvl1pPr>
              <a:defRPr/>
            </a:lvl1pPr>
          </a:lstStyle>
          <a:p>
            <a:pPr>
              <a:defRPr/>
            </a:pPr>
            <a:fld id="{0D6A5A5D-C0AB-9240-955F-F620E950634B}" type="datetime1">
              <a:rPr lang="zh-CN" altLang="en-US"/>
            </a:fld>
            <a:endParaRPr lang="en-US" altLang="zh-CN"/>
          </a:p>
        </p:txBody>
      </p:sp>
      <p:sp>
        <p:nvSpPr>
          <p:cNvPr id="12" name="Rectangle 4"/>
          <p:cNvSpPr>
            <a:spLocks noGrp="1" noChangeArrowheads="1"/>
          </p:cNvSpPr>
          <p:nvPr>
            <p:ph type="ftr" sz="quarter" idx="11"/>
          </p:nvPr>
        </p:nvSpPr>
        <p:spPr>
          <a:xfrm>
            <a:off x="2195513" y="6202363"/>
            <a:ext cx="5113337" cy="539750"/>
          </a:xfrm>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3" name="Rectangle 5"/>
          <p:cNvSpPr>
            <a:spLocks noGrp="1" noChangeArrowheads="1"/>
          </p:cNvSpPr>
          <p:nvPr>
            <p:ph type="sldNum" sz="quarter" idx="12"/>
          </p:nvPr>
        </p:nvSpPr>
        <p:spPr/>
        <p:txBody>
          <a:bodyPr/>
          <a:lstStyle>
            <a:lvl1pPr>
              <a:defRPr/>
            </a:lvl1pPr>
          </a:lstStyle>
          <a:p>
            <a:pPr>
              <a:defRPr/>
            </a:pPr>
            <a:fld id="{FF2D067A-F845-9D47-B75C-B79758830B91}" type="slidenum">
              <a:rPr lang="en-US" altLang="zh-CN"/>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077F30FB-1D90-1E40-92FD-7816B07D6DDC}"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50AC0454-A414-F04C-824A-79602E160F30}" type="slidenum">
              <a:rPr lang="en-US" altLang="zh-CN"/>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7"/>
          <p:cNvSpPr>
            <a:spLocks noGrp="1" noChangeArrowheads="1"/>
          </p:cNvSpPr>
          <p:nvPr>
            <p:ph type="dt" sz="half" idx="10"/>
          </p:nvPr>
        </p:nvSpPr>
        <p:spPr/>
        <p:txBody>
          <a:bodyPr/>
          <a:lstStyle>
            <a:lvl1pPr>
              <a:defRPr/>
            </a:lvl1pPr>
          </a:lstStyle>
          <a:p>
            <a:pPr>
              <a:defRPr/>
            </a:pPr>
            <a:fld id="{4C4D4937-3AAC-2F43-8620-ACFE49DEF568}"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66269295-C29F-3149-9360-87688FDF403F}" type="slidenum">
              <a:rPr lang="en-US" altLang="zh-CN"/>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8313" y="1484313"/>
            <a:ext cx="3994150"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14863" y="1484313"/>
            <a:ext cx="3995737" cy="4392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7"/>
          <p:cNvSpPr>
            <a:spLocks noGrp="1" noChangeArrowheads="1"/>
          </p:cNvSpPr>
          <p:nvPr>
            <p:ph type="dt" sz="half" idx="10"/>
          </p:nvPr>
        </p:nvSpPr>
        <p:spPr/>
        <p:txBody>
          <a:bodyPr/>
          <a:lstStyle>
            <a:lvl1pPr>
              <a:defRPr/>
            </a:lvl1pPr>
          </a:lstStyle>
          <a:p>
            <a:pPr>
              <a:defRPr/>
            </a:pPr>
            <a:fld id="{283EEF00-B08F-3B4D-A7CE-56D6CC17061A}"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E63DF638-F973-D149-899D-B82E6CEBC740}" type="slidenum">
              <a:rPr lang="en-US" altLang="zh-CN"/>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7"/>
          <p:cNvSpPr>
            <a:spLocks noGrp="1" noChangeArrowheads="1"/>
          </p:cNvSpPr>
          <p:nvPr>
            <p:ph type="dt" sz="half" idx="10"/>
          </p:nvPr>
        </p:nvSpPr>
        <p:spPr/>
        <p:txBody>
          <a:bodyPr/>
          <a:lstStyle>
            <a:lvl1pPr>
              <a:defRPr/>
            </a:lvl1pPr>
          </a:lstStyle>
          <a:p>
            <a:pPr>
              <a:defRPr/>
            </a:pPr>
            <a:fld id="{695508D3-CDD3-E542-BE08-6C1FCC6D6164}" type="datetime1">
              <a:rPr lang="zh-CN" altLang="en-US"/>
            </a:fld>
            <a:endParaRPr lang="en-US" altLang="zh-CN"/>
          </a:p>
        </p:txBody>
      </p:sp>
      <p:sp>
        <p:nvSpPr>
          <p:cNvPr id="8"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9" name="Rectangle 9"/>
          <p:cNvSpPr>
            <a:spLocks noGrp="1" noChangeArrowheads="1"/>
          </p:cNvSpPr>
          <p:nvPr>
            <p:ph type="sldNum" sz="quarter" idx="12"/>
          </p:nvPr>
        </p:nvSpPr>
        <p:spPr/>
        <p:txBody>
          <a:bodyPr/>
          <a:lstStyle>
            <a:lvl1pPr>
              <a:defRPr/>
            </a:lvl1pPr>
          </a:lstStyle>
          <a:p>
            <a:pPr>
              <a:defRPr/>
            </a:pPr>
            <a:fld id="{2C9172C2-BDF7-0E44-B517-1E11CE0887B6}" type="slidenum">
              <a:rPr lang="en-US" altLang="zh-CN"/>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7"/>
          <p:cNvSpPr>
            <a:spLocks noGrp="1" noChangeArrowheads="1"/>
          </p:cNvSpPr>
          <p:nvPr>
            <p:ph type="dt" sz="half" idx="10"/>
          </p:nvPr>
        </p:nvSpPr>
        <p:spPr/>
        <p:txBody>
          <a:bodyPr/>
          <a:lstStyle>
            <a:lvl1pPr>
              <a:defRPr/>
            </a:lvl1pPr>
          </a:lstStyle>
          <a:p>
            <a:pPr>
              <a:defRPr/>
            </a:pPr>
            <a:fld id="{6A3C62C2-65F9-4A4E-ACC0-2EE28D40ECC3}" type="datetime1">
              <a:rPr lang="zh-CN" altLang="en-US"/>
            </a:fld>
            <a:endParaRPr lang="en-US" altLang="zh-CN"/>
          </a:p>
        </p:txBody>
      </p:sp>
      <p:sp>
        <p:nvSpPr>
          <p:cNvPr id="4"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5" name="Rectangle 9"/>
          <p:cNvSpPr>
            <a:spLocks noGrp="1" noChangeArrowheads="1"/>
          </p:cNvSpPr>
          <p:nvPr>
            <p:ph type="sldNum" sz="quarter" idx="12"/>
          </p:nvPr>
        </p:nvSpPr>
        <p:spPr/>
        <p:txBody>
          <a:bodyPr/>
          <a:lstStyle>
            <a:lvl1pPr>
              <a:defRPr/>
            </a:lvl1pPr>
          </a:lstStyle>
          <a:p>
            <a:pPr>
              <a:defRPr/>
            </a:pPr>
            <a:fld id="{3E440166-6CE3-F044-BBAE-2F06EF89DFF3}" type="slidenum">
              <a:rPr lang="en-US" altLang="zh-CN"/>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7"/>
          <p:cNvSpPr>
            <a:spLocks noGrp="1" noChangeArrowheads="1"/>
          </p:cNvSpPr>
          <p:nvPr>
            <p:ph type="dt" sz="half" idx="10"/>
          </p:nvPr>
        </p:nvSpPr>
        <p:spPr/>
        <p:txBody>
          <a:bodyPr/>
          <a:lstStyle>
            <a:lvl1pPr>
              <a:defRPr/>
            </a:lvl1pPr>
          </a:lstStyle>
          <a:p>
            <a:pPr>
              <a:defRPr/>
            </a:pPr>
            <a:fld id="{E0C7EA1E-2C4C-2645-A209-C97C0E2EC17C}" type="datetime1">
              <a:rPr lang="zh-CN" altLang="en-US"/>
            </a:fld>
            <a:endParaRPr lang="en-US" altLang="zh-CN"/>
          </a:p>
        </p:txBody>
      </p:sp>
      <p:sp>
        <p:nvSpPr>
          <p:cNvPr id="3"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4" name="Rectangle 9"/>
          <p:cNvSpPr>
            <a:spLocks noGrp="1" noChangeArrowheads="1"/>
          </p:cNvSpPr>
          <p:nvPr>
            <p:ph type="sldNum" sz="quarter" idx="12"/>
          </p:nvPr>
        </p:nvSpPr>
        <p:spPr/>
        <p:txBody>
          <a:bodyPr/>
          <a:lstStyle>
            <a:lvl1pPr>
              <a:defRPr/>
            </a:lvl1pPr>
          </a:lstStyle>
          <a:p>
            <a:pPr>
              <a:defRPr/>
            </a:pPr>
            <a:fld id="{CDB26990-C4F0-764F-9A2D-023468D73A56}" type="slidenum">
              <a:rPr lang="en-US" altLang="zh-CN"/>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A5AC86A3-CDD1-2747-AC1B-4C53F4BBAEEB}"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1563E623-5935-2245-A7E5-583BD36AF976}" type="slidenum">
              <a:rPr lang="en-US" altLang="zh-CN"/>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7"/>
          <p:cNvSpPr>
            <a:spLocks noGrp="1" noChangeArrowheads="1"/>
          </p:cNvSpPr>
          <p:nvPr>
            <p:ph type="dt" sz="half" idx="10"/>
          </p:nvPr>
        </p:nvSpPr>
        <p:spPr/>
        <p:txBody>
          <a:bodyPr/>
          <a:lstStyle>
            <a:lvl1pPr>
              <a:defRPr/>
            </a:lvl1pPr>
          </a:lstStyle>
          <a:p>
            <a:pPr>
              <a:defRPr/>
            </a:pPr>
            <a:fld id="{7912DB9A-73EB-2948-9683-158113B6707A}" type="datetime1">
              <a:rPr lang="zh-CN" altLang="en-US"/>
            </a:fld>
            <a:endParaRPr lang="en-US" altLang="zh-CN"/>
          </a:p>
        </p:txBody>
      </p:sp>
      <p:sp>
        <p:nvSpPr>
          <p:cNvPr id="6"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7" name="Rectangle 9"/>
          <p:cNvSpPr>
            <a:spLocks noGrp="1" noChangeArrowheads="1"/>
          </p:cNvSpPr>
          <p:nvPr>
            <p:ph type="sldNum" sz="quarter" idx="12"/>
          </p:nvPr>
        </p:nvSpPr>
        <p:spPr/>
        <p:txBody>
          <a:bodyPr/>
          <a:lstStyle>
            <a:lvl1pPr>
              <a:defRPr/>
            </a:lvl1pPr>
          </a:lstStyle>
          <a:p>
            <a:pPr>
              <a:defRPr/>
            </a:pPr>
            <a:fld id="{28D912F3-F979-3D4B-8A3A-5A312B3AEED3}" type="slidenum">
              <a:rPr lang="en-US" altLang="zh-CN"/>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DE212855-A84D-8640-AF7F-74B205D91AAA}"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1DBA8F70-1237-3346-A9ED-CCB248B552AD}" type="slidenum">
              <a:rPr lang="en-US" altLang="zh-CN"/>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5425" y="404813"/>
            <a:ext cx="2035175" cy="5472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8313" y="404813"/>
            <a:ext cx="5954712" cy="547211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7"/>
          <p:cNvSpPr>
            <a:spLocks noGrp="1" noChangeArrowheads="1"/>
          </p:cNvSpPr>
          <p:nvPr>
            <p:ph type="dt" sz="half" idx="10"/>
          </p:nvPr>
        </p:nvSpPr>
        <p:spPr/>
        <p:txBody>
          <a:bodyPr/>
          <a:lstStyle>
            <a:lvl1pPr>
              <a:defRPr/>
            </a:lvl1pPr>
          </a:lstStyle>
          <a:p>
            <a:pPr>
              <a:defRPr/>
            </a:pPr>
            <a:fld id="{EC215E04-8BE3-CD41-8C4D-B3B1467F6703}" type="datetime1">
              <a:rPr lang="zh-CN" altLang="en-US"/>
            </a:fld>
            <a:endParaRPr lang="en-US" altLang="zh-CN"/>
          </a:p>
        </p:txBody>
      </p:sp>
      <p:sp>
        <p:nvSpPr>
          <p:cNvPr id="5" name="Rectangle 8"/>
          <p:cNvSpPr>
            <a:spLocks noGrp="1" noChangeArrowheads="1"/>
          </p:cNvSpPr>
          <p:nvPr>
            <p:ph type="ftr" sz="quarter" idx="11"/>
          </p:nvPr>
        </p:nvSpPr>
        <p:spPr/>
        <p:txBody>
          <a:bodyPr/>
          <a:lstStyle>
            <a:lvl1pPr>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6" name="Rectangle 9"/>
          <p:cNvSpPr>
            <a:spLocks noGrp="1" noChangeArrowheads="1"/>
          </p:cNvSpPr>
          <p:nvPr>
            <p:ph type="sldNum" sz="quarter" idx="12"/>
          </p:nvPr>
        </p:nvSpPr>
        <p:spPr/>
        <p:txBody>
          <a:bodyPr/>
          <a:lstStyle>
            <a:lvl1pPr>
              <a:defRPr/>
            </a:lvl1pPr>
          </a:lstStyle>
          <a:p>
            <a:pPr>
              <a:defRPr/>
            </a:pPr>
            <a:fld id="{2C0DC5BE-D905-9B4A-A5F8-C3A933EEDA72}" type="slidenum">
              <a:rPr lang="en-US" altLang="zh-CN"/>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4.png"/><Relationship Id="rId13" Type="http://schemas.openxmlformats.org/officeDocument/2006/relationships/image" Target="../media/image3.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ChangeArrowheads="1"/>
          </p:cNvSpPr>
          <p:nvPr/>
        </p:nvSpPr>
        <p:spPr bwMode="auto">
          <a:xfrm>
            <a:off x="0" y="1125538"/>
            <a:ext cx="2133600" cy="101600"/>
          </a:xfrm>
          <a:prstGeom prst="rect">
            <a:avLst/>
          </a:prstGeom>
          <a:solidFill>
            <a:schemeClr val="accent2"/>
          </a:solidFill>
          <a:ln>
            <a:noFill/>
          </a:ln>
        </p:spPr>
        <p:txBody>
          <a:bodyPr wrap="none" anchor="ctr"/>
          <a:lstStyle/>
          <a:p>
            <a:endParaRPr lang="zh-CN" altLang="en-US" sz="2400"/>
          </a:p>
        </p:txBody>
      </p:sp>
      <p:sp>
        <p:nvSpPr>
          <p:cNvPr id="1027" name="Rectangle 3"/>
          <p:cNvSpPr>
            <a:spLocks noChangeArrowheads="1"/>
          </p:cNvSpPr>
          <p:nvPr/>
        </p:nvSpPr>
        <p:spPr bwMode="auto">
          <a:xfrm>
            <a:off x="1447800" y="1125538"/>
            <a:ext cx="7239000" cy="101600"/>
          </a:xfrm>
          <a:prstGeom prst="rect">
            <a:avLst/>
          </a:prstGeom>
          <a:gradFill rotWithShape="0">
            <a:gsLst>
              <a:gs pos="0">
                <a:schemeClr val="accent2"/>
              </a:gs>
              <a:gs pos="100000">
                <a:schemeClr val="bg1"/>
              </a:gs>
            </a:gsLst>
            <a:lin ang="0" scaled="1"/>
          </a:gradFill>
          <a:ln>
            <a:noFill/>
          </a:ln>
        </p:spPr>
        <p:txBody>
          <a:bodyPr wrap="none" anchor="ctr"/>
          <a:lstStyle/>
          <a:p>
            <a:endParaRPr lang="zh-CN" altLang="en-US" sz="2400"/>
          </a:p>
        </p:txBody>
      </p:sp>
      <p:sp>
        <p:nvSpPr>
          <p:cNvPr id="1028" name="Rectangle 4"/>
          <p:cNvSpPr>
            <a:spLocks noGrp="1" noChangeArrowheads="1"/>
          </p:cNvSpPr>
          <p:nvPr>
            <p:ph type="title"/>
          </p:nvPr>
        </p:nvSpPr>
        <p:spPr bwMode="auto">
          <a:xfrm>
            <a:off x="1042988" y="404813"/>
            <a:ext cx="5616575" cy="576262"/>
          </a:xfrm>
          <a:prstGeom prst="rect">
            <a:avLst/>
          </a:prstGeom>
          <a:noFill/>
          <a:ln>
            <a:noFill/>
          </a:ln>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9" name="Rectangle 5"/>
          <p:cNvSpPr>
            <a:spLocks noGrp="1" noChangeArrowheads="1"/>
          </p:cNvSpPr>
          <p:nvPr>
            <p:ph type="body" idx="1"/>
          </p:nvPr>
        </p:nvSpPr>
        <p:spPr bwMode="auto">
          <a:xfrm>
            <a:off x="468313" y="1484313"/>
            <a:ext cx="8142287" cy="4392612"/>
          </a:xfrm>
          <a:prstGeom prst="rect">
            <a:avLst/>
          </a:prstGeom>
          <a:noFill/>
          <a:ln>
            <a:noFill/>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pic>
        <p:nvPicPr>
          <p:cNvPr id="1030" name="Picture 6" descr="towe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542088" y="188913"/>
            <a:ext cx="1990725" cy="1095375"/>
          </a:xfrm>
          <a:prstGeom prst="rect">
            <a:avLst/>
          </a:prstGeom>
          <a:noFill/>
          <a:ln>
            <a:noFill/>
          </a:ln>
        </p:spPr>
      </p:pic>
      <p:sp>
        <p:nvSpPr>
          <p:cNvPr id="188423" name="Rectangle 7"/>
          <p:cNvSpPr>
            <a:spLocks noGrp="1" noChangeArrowheads="1"/>
          </p:cNvSpPr>
          <p:nvPr>
            <p:ph type="dt" sz="half" idx="2"/>
          </p:nvPr>
        </p:nvSpPr>
        <p:spPr bwMode="auto">
          <a:xfrm>
            <a:off x="611188" y="6284913"/>
            <a:ext cx="1293812" cy="457200"/>
          </a:xfrm>
          <a:prstGeom prst="rect">
            <a:avLst/>
          </a:prstGeom>
          <a:noFill/>
          <a:ln w="9525">
            <a:noFill/>
            <a:miter lim="800000"/>
          </a:ln>
          <a:effectLst/>
        </p:spPr>
        <p:txBody>
          <a:bodyPr vert="horz" wrap="square" lIns="91440" tIns="45720" rIns="91440" bIns="45720" numCol="1" anchor="t" anchorCtr="0" compatLnSpc="1"/>
          <a:lstStyle>
            <a:lvl1pPr algn="l">
              <a:defRPr sz="1600">
                <a:latin typeface="Arial" panose="020B0604020202020204" pitchFamily="34" charset="0"/>
              </a:defRPr>
            </a:lvl1pPr>
          </a:lstStyle>
          <a:p>
            <a:pPr>
              <a:defRPr/>
            </a:pPr>
            <a:fld id="{96A7C1D7-DA4D-0D47-8A9D-20C501704407}" type="datetime1">
              <a:rPr lang="zh-CN" altLang="en-US"/>
            </a:fld>
            <a:endParaRPr lang="en-US" altLang="zh-CN"/>
          </a:p>
        </p:txBody>
      </p:sp>
      <p:sp>
        <p:nvSpPr>
          <p:cNvPr id="188424" name="Rectangle 8"/>
          <p:cNvSpPr>
            <a:spLocks noGrp="1" noChangeArrowheads="1"/>
          </p:cNvSpPr>
          <p:nvPr>
            <p:ph type="ftr" sz="quarter" idx="3"/>
          </p:nvPr>
        </p:nvSpPr>
        <p:spPr bwMode="auto">
          <a:xfrm>
            <a:off x="2051050" y="6202363"/>
            <a:ext cx="5257800" cy="539750"/>
          </a:xfrm>
          <a:prstGeom prst="rect">
            <a:avLst/>
          </a:prstGeom>
          <a:noFill/>
          <a:ln w="9525">
            <a:noFill/>
            <a:miter lim="800000"/>
          </a:ln>
          <a:effectLst/>
        </p:spPr>
        <p:txBody>
          <a:bodyPr vert="horz" wrap="square" lIns="91440" tIns="45720" rIns="91440" bIns="45720" numCol="1" anchor="t" anchorCtr="0" compatLnSpc="1"/>
          <a:lstStyle>
            <a:lvl1pPr>
              <a:defRPr sz="1600">
                <a:latin typeface="+mn-lt"/>
                <a:ea typeface="宋体" panose="02010600030101010101" pitchFamily="2" charset="-122"/>
                <a:cs typeface="+mn-cs"/>
              </a:defRPr>
            </a:lvl1pPr>
          </a:lstStyle>
          <a:p>
            <a:pPr>
              <a:defRPr/>
            </a:pPr>
            <a:r>
              <a:rPr lang="en-US" altLang="zh-CN"/>
              <a:t> Institute of Computer Software</a:t>
            </a:r>
            <a:endParaRPr lang="en-US" altLang="zh-CN"/>
          </a:p>
          <a:p>
            <a:pPr>
              <a:defRPr/>
            </a:pPr>
            <a:r>
              <a:rPr lang="en-US" altLang="zh-CN"/>
              <a:t>Nanjing University</a:t>
            </a:r>
            <a:endParaRPr lang="en-US" altLang="zh-CN"/>
          </a:p>
        </p:txBody>
      </p:sp>
      <p:sp>
        <p:nvSpPr>
          <p:cNvPr id="188425" name="Rectangle 9"/>
          <p:cNvSpPr>
            <a:spLocks noGrp="1" noChangeArrowheads="1"/>
          </p:cNvSpPr>
          <p:nvPr>
            <p:ph type="sldNum" sz="quarter" idx="4"/>
          </p:nvPr>
        </p:nvSpPr>
        <p:spPr bwMode="auto">
          <a:xfrm>
            <a:off x="7524750" y="6284913"/>
            <a:ext cx="933450" cy="457200"/>
          </a:xfrm>
          <a:prstGeom prst="rect">
            <a:avLst/>
          </a:prstGeom>
          <a:noFill/>
          <a:ln w="9525">
            <a:noFill/>
            <a:miter lim="800000"/>
          </a:ln>
          <a:effectLst/>
        </p:spPr>
        <p:txBody>
          <a:bodyPr vert="horz" wrap="square" lIns="91440" tIns="45720" rIns="91440" bIns="45720" numCol="1" anchor="t" anchorCtr="0" compatLnSpc="1"/>
          <a:lstStyle>
            <a:lvl1pPr algn="r">
              <a:defRPr sz="1600">
                <a:latin typeface="Arial" panose="020B0604020202020204" pitchFamily="34" charset="0"/>
              </a:defRPr>
            </a:lvl1pPr>
          </a:lstStyle>
          <a:p>
            <a:pPr>
              <a:defRPr/>
            </a:pPr>
            <a:fld id="{7A159C6A-D517-464E-A11D-5E3698E05D4A}" type="slidenum">
              <a:rPr lang="en-US" altLang="zh-CN"/>
            </a:fld>
            <a:endParaRPr lang="en-US" altLang="zh-CN"/>
          </a:p>
        </p:txBody>
      </p:sp>
      <p:pic>
        <p:nvPicPr>
          <p:cNvPr id="1034" name="Picture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288" y="6092825"/>
            <a:ext cx="9117012" cy="28575"/>
          </a:xfrm>
          <a:prstGeom prst="rect">
            <a:avLst/>
          </a:prstGeom>
          <a:noFill/>
          <a:ln>
            <a:noFill/>
          </a:ln>
        </p:spPr>
      </p:pic>
      <p:pic>
        <p:nvPicPr>
          <p:cNvPr id="1035" name="Picture 11" descr="校徽"/>
          <p:cNvPicPr>
            <a:picLocks noChangeAspect="1" noChangeArrowheads="1"/>
          </p:cNvPicPr>
          <p:nvPr/>
        </p:nvPicPr>
        <p:blipFill>
          <a:blip r:embed="rId14" cstate="email">
            <a:extLst>
              <a:ext uri="{28A0092B-C50C-407E-A947-70E740481C1C}">
                <a14:useLocalDpi xmlns:a14="http://schemas.microsoft.com/office/drawing/2010/main" val="0"/>
              </a:ext>
            </a:extLst>
          </a:blip>
          <a:srcRect/>
          <a:stretch>
            <a:fillRect/>
          </a:stretch>
        </p:blipFill>
        <p:spPr bwMode="auto">
          <a:xfrm>
            <a:off x="306388" y="261938"/>
            <a:ext cx="665162" cy="790575"/>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p:titleStyle>
    <p:body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hyperlink" Target="http://www.google.cn/imgres?imgurl=http://64.202.120.86/upload/image/articles/2007/phoenix/mars-pathfinder.jpg&amp;imgrefurl=http://knitinr.blogspot.com/2008_06_01_archive.html&amp;h=532&amp;w=672&amp;sz=90&amp;tbnid=FwOM-QvxoVEwWM:&amp;tbnh=109&amp;tbnw=138&amp;prev=/images?q%3Dmars%2Bpathfinder&amp;hl=zh-CN&amp;usg=__T5zUvhqFAPSJrw3AGrmV9-n91TQ=&amp;ei=ViOGS67EJoH66QOe9Ln3CQ&amp;sa=X&amp;oi=image_result&amp;resnum=6&amp;ct=image&amp;ved=0CCkQ9QEwBQ" TargetMode="Externa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1.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dt" sz="quarter" idx="10"/>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54C71EA6-E9F2-1D41-A2FD-D604B6FAC840}" type="datetime1">
              <a:rPr kumimoji="0" lang="zh-CN" altLang="en-US" sz="1600">
                <a:latin typeface="Arial" panose="020B0604020202020204" pitchFamily="34" charset="0"/>
              </a:rPr>
            </a:fld>
            <a:endParaRPr kumimoji="0" lang="en-US" altLang="zh-CN" sz="1600">
              <a:latin typeface="Arial" panose="020B0604020202020204" pitchFamily="34" charset="0"/>
            </a:endParaRPr>
          </a:p>
        </p:txBody>
      </p:sp>
      <p:sp>
        <p:nvSpPr>
          <p:cNvPr id="14339" name="Rectangle 5"/>
          <p:cNvSpPr>
            <a:spLocks noGrp="1" noChangeArrowheads="1"/>
          </p:cNvSpPr>
          <p:nvPr>
            <p:ph type="sldNum" sz="quarter" idx="12"/>
          </p:nvPr>
        </p:nvSpPr>
        <p:spPr>
          <a:noFill/>
        </p:spPr>
        <p:txBody>
          <a:bodyPr/>
          <a:lstStyle>
            <a:lvl1pPr>
              <a:defRPr kumimoji="1" sz="2400">
                <a:solidFill>
                  <a:schemeClr val="tx1"/>
                </a:solidFill>
                <a:latin typeface="Times New Roman" panose="02020603050405020304" charset="0"/>
                <a:ea typeface="宋体" panose="02010600030101010101" pitchFamily="2" charset="-122"/>
                <a:cs typeface="宋体" panose="02010600030101010101" pitchFamily="2" charset="-122"/>
              </a:defRPr>
            </a:lvl1pPr>
            <a:lvl2pPr marL="742950" indent="-285750">
              <a:defRPr kumimoji="1" sz="2400">
                <a:solidFill>
                  <a:schemeClr val="tx1"/>
                </a:solidFill>
                <a:latin typeface="Times New Roman" panose="02020603050405020304" charset="0"/>
                <a:ea typeface="宋体" panose="02010600030101010101" pitchFamily="2" charset="-122"/>
              </a:defRPr>
            </a:lvl2pPr>
            <a:lvl3pPr marL="1143000" indent="-228600">
              <a:defRPr kumimoji="1" sz="2400">
                <a:solidFill>
                  <a:schemeClr val="tx1"/>
                </a:solidFill>
                <a:latin typeface="Times New Roman" panose="02020603050405020304" charset="0"/>
                <a:ea typeface="宋体" panose="02010600030101010101" pitchFamily="2" charset="-122"/>
              </a:defRPr>
            </a:lvl3pPr>
            <a:lvl4pPr marL="1600200" indent="-228600">
              <a:defRPr kumimoji="1" sz="2400">
                <a:solidFill>
                  <a:schemeClr val="tx1"/>
                </a:solidFill>
                <a:latin typeface="Times New Roman" panose="02020603050405020304" charset="0"/>
                <a:ea typeface="宋体" panose="02010600030101010101" pitchFamily="2" charset="-122"/>
              </a:defRPr>
            </a:lvl4pPr>
            <a:lvl5pPr marL="2057400" indent="-228600">
              <a:defRPr kumimoji="1" sz="2400">
                <a:solidFill>
                  <a:schemeClr val="tx1"/>
                </a:solidFill>
                <a:latin typeface="Times New Roman" panose="02020603050405020304" charset="0"/>
                <a:ea typeface="宋体" panose="02010600030101010101" pitchFamily="2" charset="-122"/>
              </a:defRPr>
            </a:lvl5pPr>
            <a:lvl6pPr marL="25146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6pPr>
            <a:lvl7pPr marL="29718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7pPr>
            <a:lvl8pPr marL="34290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8pPr>
            <a:lvl9pPr marL="3886200" indent="-228600" algn="ctr" fontAlgn="base">
              <a:spcBef>
                <a:spcPct val="0"/>
              </a:spcBef>
              <a:spcAft>
                <a:spcPct val="0"/>
              </a:spcAft>
              <a:defRPr kumimoji="1" sz="2400">
                <a:solidFill>
                  <a:schemeClr val="tx1"/>
                </a:solidFill>
                <a:latin typeface="Times New Roman" panose="02020603050405020304" charset="0"/>
                <a:ea typeface="宋体" panose="02010600030101010101" pitchFamily="2" charset="-122"/>
              </a:defRPr>
            </a:lvl9pPr>
          </a:lstStyle>
          <a:p>
            <a:fld id="{D14039F7-4B0A-D240-B261-7F859EA311EB}" type="slidenum">
              <a:rPr kumimoji="0" lang="en-US" altLang="zh-CN" sz="1600">
                <a:latin typeface="Arial" panose="020B0604020202020204" pitchFamily="34" charset="0"/>
              </a:rPr>
            </a:fld>
            <a:endParaRPr kumimoji="0" lang="en-US" altLang="zh-CN" sz="1600">
              <a:latin typeface="Arial" panose="020B0604020202020204" pitchFamily="34" charset="0"/>
            </a:endParaRPr>
          </a:p>
        </p:txBody>
      </p:sp>
      <p:sp>
        <p:nvSpPr>
          <p:cNvPr id="14340" name="Rectangle 2"/>
          <p:cNvSpPr>
            <a:spLocks noGrp="1" noChangeArrowheads="1"/>
          </p:cNvSpPr>
          <p:nvPr>
            <p:ph type="ctrTitle"/>
          </p:nvPr>
        </p:nvSpPr>
        <p:spPr>
          <a:xfrm>
            <a:off x="0" y="2132856"/>
            <a:ext cx="9009860" cy="1600200"/>
          </a:xfrm>
        </p:spPr>
        <p:txBody>
          <a:bodyPr/>
          <a:lstStyle/>
          <a:p>
            <a:pPr eaLnBrk="1" hangingPunct="1"/>
            <a:r>
              <a:rPr kumimoji="0" lang="zh-CN" altLang="en-US" sz="4800" b="1" dirty="0" smtClean="0">
                <a:latin typeface="Arial" panose="020B0604020202020204" pitchFamily="34" charset="0"/>
                <a:ea typeface="宋体" panose="02010600030101010101" pitchFamily="2" charset="-122"/>
              </a:rPr>
              <a:t>形式化方法</a:t>
            </a:r>
            <a:endParaRPr kumimoji="0" lang="en-US" altLang="zh-CN" sz="4800" b="1"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descr="形式化方法教材"/>
          <p:cNvPicPr>
            <a:picLocks noChangeAspect="1"/>
          </p:cNvPicPr>
          <p:nvPr/>
        </p:nvPicPr>
        <p:blipFill>
          <a:blip r:embed="rId1"/>
          <a:stretch>
            <a:fillRect/>
          </a:stretch>
        </p:blipFill>
        <p:spPr>
          <a:xfrm>
            <a:off x="1331595" y="1052195"/>
            <a:ext cx="3634740" cy="5092065"/>
          </a:xfrm>
          <a:prstGeom prst="rect">
            <a:avLst/>
          </a:prstGeom>
        </p:spPr>
      </p:pic>
      <p:sp>
        <p:nvSpPr>
          <p:cNvPr id="2" name="标题 1"/>
          <p:cNvSpPr>
            <a:spLocks noGrp="1"/>
          </p:cNvSpPr>
          <p:nvPr>
            <p:ph type="title"/>
          </p:nvPr>
        </p:nvSpPr>
        <p:spPr/>
        <p:txBody>
          <a:bodyPr/>
          <a:p>
            <a:r>
              <a:rPr lang="zh-CN" altLang="en-US"/>
              <a:t>软件形式化课程及</a:t>
            </a:r>
            <a:r>
              <a:rPr lang="zh-CN" altLang="en-US">
                <a:sym typeface="+mn-ea"/>
              </a:rPr>
              <a:t>专业</a:t>
            </a:r>
            <a:r>
              <a:rPr lang="zh-CN" altLang="en-US"/>
              <a:t>专委会</a:t>
            </a:r>
            <a:endParaRPr lang="zh-CN" altLang="en-US"/>
          </a:p>
        </p:txBody>
      </p:sp>
      <p:sp>
        <p:nvSpPr>
          <p:cNvPr id="3" name="内容占位符 2"/>
          <p:cNvSpPr>
            <a:spLocks noGrp="1"/>
          </p:cNvSpPr>
          <p:nvPr>
            <p:ph idx="1"/>
          </p:nvPr>
        </p:nvSpPr>
        <p:spPr>
          <a:xfrm>
            <a:off x="-33655" y="1242695"/>
            <a:ext cx="1938020" cy="4887595"/>
          </a:xfrm>
        </p:spPr>
        <p:txBody>
          <a:bodyPr/>
          <a:p>
            <a:r>
              <a:rPr lang="zh-CN" altLang="en-US"/>
              <a:t>一门大学里开设的课程</a:t>
            </a:r>
            <a:endParaRPr lang="zh-CN" altLang="en-US"/>
          </a:p>
          <a:p>
            <a:r>
              <a:rPr lang="zh-CN" altLang="en-US"/>
              <a:t>一个</a:t>
            </a:r>
            <a:r>
              <a:rPr lang="en-US" altLang="zh-CN"/>
              <a:t>CCF</a:t>
            </a:r>
            <a:r>
              <a:rPr lang="zh-CN" altLang="en-US"/>
              <a:t>专业委员会</a:t>
            </a:r>
            <a:endParaRPr lang="zh-CN" altLang="en-US"/>
          </a:p>
          <a:p>
            <a:endParaRPr lang="zh-CN" altLang="en-US"/>
          </a:p>
        </p:txBody>
      </p:sp>
      <p:sp>
        <p:nvSpPr>
          <p:cNvPr id="4" name="日期占位符 3"/>
          <p:cNvSpPr>
            <a:spLocks noGrp="1"/>
          </p:cNvSpPr>
          <p:nvPr>
            <p:ph type="dt" sz="half" idx="10"/>
          </p:nvPr>
        </p:nvSpPr>
        <p:spPr/>
        <p:txBody>
          <a:bodyPr/>
          <a:p>
            <a:pPr>
              <a:defRPr/>
            </a:pPr>
            <a:fld id="{9FD41CD5-89FF-4815-9A8E-C21C31C05EB7}" type="datetime1">
              <a:rPr lang="zh-CN" altLang="en-US"/>
            </a:fld>
            <a:endParaRPr lang="en-US" altLang="zh-CN"/>
          </a:p>
        </p:txBody>
      </p:sp>
      <p:sp>
        <p:nvSpPr>
          <p:cNvPr id="5" name="灯片编号占位符 4"/>
          <p:cNvSpPr>
            <a:spLocks noGrp="1"/>
          </p:cNvSpPr>
          <p:nvPr>
            <p:ph type="sldNum" sz="quarter" idx="12"/>
          </p:nvPr>
        </p:nvSpPr>
        <p:spPr/>
        <p:txBody>
          <a:bodyPr/>
          <a:p>
            <a:pPr>
              <a:defRPr/>
            </a:pPr>
            <a:fld id="{B9108D6E-A297-4ADF-9676-E7DF0EB00A91}" type="slidenum">
              <a:rPr lang="en-US" altLang="zh-CN"/>
            </a:fld>
            <a:endParaRPr lang="en-US" altLang="zh-CN"/>
          </a:p>
        </p:txBody>
      </p:sp>
      <p:pic>
        <p:nvPicPr>
          <p:cNvPr id="7" name="图片 6"/>
          <p:cNvPicPr>
            <a:picLocks noChangeAspect="1"/>
          </p:cNvPicPr>
          <p:nvPr/>
        </p:nvPicPr>
        <p:blipFill>
          <a:blip r:embed="rId2"/>
          <a:stretch>
            <a:fillRect/>
          </a:stretch>
        </p:blipFill>
        <p:spPr>
          <a:xfrm>
            <a:off x="4427855" y="908685"/>
            <a:ext cx="4638675" cy="51257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r>
              <a:rPr lang="zh-CN" altLang="en-US" sz="4200" dirty="0"/>
              <a:t>软件开发过程</a:t>
            </a:r>
            <a:endParaRPr lang="zh-CN" altLang="en-US" sz="4200" dirty="0"/>
          </a:p>
        </p:txBody>
      </p:sp>
      <p:sp>
        <p:nvSpPr>
          <p:cNvPr id="10243" name="Rectangle 3"/>
          <p:cNvSpPr>
            <a:spLocks noGrp="1" noChangeArrowheads="1"/>
          </p:cNvSpPr>
          <p:nvPr>
            <p:ph type="body" idx="1"/>
          </p:nvPr>
        </p:nvSpPr>
        <p:spPr>
          <a:xfrm>
            <a:off x="440227" y="1268760"/>
            <a:ext cx="8142287" cy="2448743"/>
          </a:xfrm>
        </p:spPr>
        <p:txBody>
          <a:bodyPr/>
          <a:lstStyle/>
          <a:p>
            <a:r>
              <a:rPr lang="zh-CN" altLang="en-US" sz="2400" dirty="0" smtClean="0"/>
              <a:t>目前常用的软件开发模型，大致步骤如下</a:t>
            </a:r>
            <a:r>
              <a:rPr lang="zh-CN" altLang="en-US" sz="2400" dirty="0"/>
              <a:t>：</a:t>
            </a:r>
            <a:endParaRPr lang="zh-CN" altLang="en-US" sz="2400" dirty="0"/>
          </a:p>
          <a:p>
            <a:pPr lvl="1"/>
            <a:r>
              <a:rPr lang="zh-CN" altLang="en-US" sz="2000" dirty="0" smtClean="0"/>
              <a:t>需求分析</a:t>
            </a:r>
            <a:endParaRPr lang="en-US" altLang="zh-CN" sz="2000" dirty="0" smtClean="0"/>
          </a:p>
          <a:p>
            <a:pPr lvl="1"/>
            <a:r>
              <a:rPr lang="zh-CN" altLang="en-US" sz="2000" dirty="0" smtClean="0"/>
              <a:t>设计</a:t>
            </a:r>
            <a:endParaRPr lang="en-US" altLang="zh-CN" sz="2000" dirty="0"/>
          </a:p>
          <a:p>
            <a:pPr lvl="1"/>
            <a:r>
              <a:rPr lang="zh-CN" altLang="en-US" sz="2000" dirty="0" smtClean="0"/>
              <a:t>编码</a:t>
            </a:r>
            <a:endParaRPr lang="en-US" altLang="zh-CN" sz="2000" dirty="0"/>
          </a:p>
          <a:p>
            <a:pPr lvl="1"/>
            <a:r>
              <a:rPr lang="zh-CN" altLang="en-US" sz="2000" dirty="0" smtClean="0"/>
              <a:t>集成</a:t>
            </a:r>
            <a:endParaRPr lang="en-US" altLang="zh-CN" sz="2000" dirty="0"/>
          </a:p>
          <a:p>
            <a:pPr lvl="1"/>
            <a:r>
              <a:rPr lang="zh-CN" altLang="en-US" sz="2000" dirty="0" smtClean="0"/>
              <a:t>测试</a:t>
            </a:r>
            <a:endParaRPr lang="en-US" altLang="zh-CN" sz="2000" dirty="0"/>
          </a:p>
          <a:p>
            <a:pPr lvl="1"/>
            <a:r>
              <a:rPr lang="zh-CN" altLang="en-US" sz="2000" dirty="0" smtClean="0"/>
              <a:t>维护</a:t>
            </a:r>
            <a:endParaRPr lang="zh-CN" altLang="en-US" sz="2000" dirty="0"/>
          </a:p>
        </p:txBody>
      </p:sp>
      <p:sp>
        <p:nvSpPr>
          <p:cNvPr id="4" name="Rectangle 3"/>
          <p:cNvSpPr txBox="1">
            <a:spLocks noChangeArrowheads="1"/>
          </p:cNvSpPr>
          <p:nvPr/>
        </p:nvSpPr>
        <p:spPr bwMode="auto">
          <a:xfrm>
            <a:off x="440227" y="4015783"/>
            <a:ext cx="8142287" cy="1539139"/>
          </a:xfrm>
          <a:prstGeom prst="rect">
            <a:avLst/>
          </a:prstGeom>
          <a:noFill/>
          <a:ln>
            <a:noFill/>
          </a:ln>
        </p:spPr>
        <p:txBody>
          <a:bodyPr vert="horz" wrap="square" lIns="91440" tIns="45720" rIns="91440" bIns="45720" numCol="1" anchor="t" anchorCtr="0" compatLnSpc="1"/>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r>
              <a:rPr lang="zh-CN" altLang="en-US" sz="2400" kern="0" dirty="0" smtClean="0"/>
              <a:t>希望开发出来的软件有如下特性：</a:t>
            </a:r>
            <a:endParaRPr lang="en-US" altLang="zh-CN" sz="2400" kern="0" dirty="0" smtClean="0"/>
          </a:p>
          <a:p>
            <a:pPr lvl="1"/>
            <a:r>
              <a:rPr lang="zh-CN" altLang="en-US" sz="2000" kern="0" dirty="0" smtClean="0"/>
              <a:t>高开发效率</a:t>
            </a:r>
            <a:endParaRPr lang="en-US" altLang="zh-CN" sz="2000" kern="0" dirty="0" smtClean="0"/>
          </a:p>
          <a:p>
            <a:pPr lvl="1"/>
            <a:r>
              <a:rPr lang="zh-CN" altLang="en-US" sz="2000" kern="0" dirty="0" smtClean="0"/>
              <a:t>低开发成本</a:t>
            </a:r>
            <a:endParaRPr lang="en-US" altLang="zh-CN" sz="2000" kern="0" dirty="0" smtClean="0"/>
          </a:p>
          <a:p>
            <a:pPr lvl="1"/>
            <a:r>
              <a:rPr lang="zh-CN" altLang="en-US" sz="2000" kern="0" dirty="0"/>
              <a:t>高</a:t>
            </a:r>
            <a:r>
              <a:rPr lang="zh-CN" altLang="en-US" sz="2000" kern="0" dirty="0" smtClean="0"/>
              <a:t>可靠性</a:t>
            </a:r>
            <a:endParaRPr lang="zh-CN" altLang="en-US" sz="2000" kern="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fade">
                                      <p:cBhvr>
                                        <p:cTn id="7" dur="1000"/>
                                        <p:tgtEl>
                                          <p:spTgt spid="10243">
                                            <p:txEl>
                                              <p:pRg st="0" end="0"/>
                                            </p:txEl>
                                          </p:spTgt>
                                        </p:tgtEl>
                                      </p:cBhvr>
                                    </p:animEffect>
                                    <p:anim calcmode="lin" valueType="num">
                                      <p:cBhvr>
                                        <p:cTn id="8" dur="1000" fill="hold"/>
                                        <p:tgtEl>
                                          <p:spTgt spid="1024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24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0243">
                                            <p:txEl>
                                              <p:pRg st="1" end="1"/>
                                            </p:txEl>
                                          </p:spTgt>
                                        </p:tgtEl>
                                        <p:attrNameLst>
                                          <p:attrName>style.visibility</p:attrName>
                                        </p:attrNameLst>
                                      </p:cBhvr>
                                      <p:to>
                                        <p:strVal val="visible"/>
                                      </p:to>
                                    </p:set>
                                    <p:animEffect transition="in" filter="fade">
                                      <p:cBhvr>
                                        <p:cTn id="12" dur="1000"/>
                                        <p:tgtEl>
                                          <p:spTgt spid="10243">
                                            <p:txEl>
                                              <p:pRg st="1" end="1"/>
                                            </p:txEl>
                                          </p:spTgt>
                                        </p:tgtEl>
                                      </p:cBhvr>
                                    </p:animEffect>
                                    <p:anim calcmode="lin" valueType="num">
                                      <p:cBhvr>
                                        <p:cTn id="13" dur="1000" fill="hold"/>
                                        <p:tgtEl>
                                          <p:spTgt spid="1024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024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0243">
                                            <p:txEl>
                                              <p:pRg st="2" end="2"/>
                                            </p:txEl>
                                          </p:spTgt>
                                        </p:tgtEl>
                                        <p:attrNameLst>
                                          <p:attrName>style.visibility</p:attrName>
                                        </p:attrNameLst>
                                      </p:cBhvr>
                                      <p:to>
                                        <p:strVal val="visible"/>
                                      </p:to>
                                    </p:set>
                                    <p:animEffect transition="in" filter="fade">
                                      <p:cBhvr>
                                        <p:cTn id="17" dur="1000"/>
                                        <p:tgtEl>
                                          <p:spTgt spid="10243">
                                            <p:txEl>
                                              <p:pRg st="2" end="2"/>
                                            </p:txEl>
                                          </p:spTgt>
                                        </p:tgtEl>
                                      </p:cBhvr>
                                    </p:animEffect>
                                    <p:anim calcmode="lin" valueType="num">
                                      <p:cBhvr>
                                        <p:cTn id="18" dur="1000" fill="hold"/>
                                        <p:tgtEl>
                                          <p:spTgt spid="1024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0243">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243">
                                            <p:txEl>
                                              <p:pRg st="3" end="3"/>
                                            </p:txEl>
                                          </p:spTgt>
                                        </p:tgtEl>
                                        <p:attrNameLst>
                                          <p:attrName>style.visibility</p:attrName>
                                        </p:attrNameLst>
                                      </p:cBhvr>
                                      <p:to>
                                        <p:strVal val="visible"/>
                                      </p:to>
                                    </p:set>
                                    <p:animEffect transition="in" filter="fade">
                                      <p:cBhvr>
                                        <p:cTn id="22" dur="1000"/>
                                        <p:tgtEl>
                                          <p:spTgt spid="10243">
                                            <p:txEl>
                                              <p:pRg st="3" end="3"/>
                                            </p:txEl>
                                          </p:spTgt>
                                        </p:tgtEl>
                                      </p:cBhvr>
                                    </p:animEffect>
                                    <p:anim calcmode="lin" valueType="num">
                                      <p:cBhvr>
                                        <p:cTn id="23" dur="1000" fill="hold"/>
                                        <p:tgtEl>
                                          <p:spTgt spid="10243">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0243">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10243">
                                            <p:txEl>
                                              <p:pRg st="4" end="4"/>
                                            </p:txEl>
                                          </p:spTgt>
                                        </p:tgtEl>
                                        <p:attrNameLst>
                                          <p:attrName>style.visibility</p:attrName>
                                        </p:attrNameLst>
                                      </p:cBhvr>
                                      <p:to>
                                        <p:strVal val="visible"/>
                                      </p:to>
                                    </p:set>
                                    <p:animEffect transition="in" filter="fade">
                                      <p:cBhvr>
                                        <p:cTn id="27" dur="1000"/>
                                        <p:tgtEl>
                                          <p:spTgt spid="10243">
                                            <p:txEl>
                                              <p:pRg st="4" end="4"/>
                                            </p:txEl>
                                          </p:spTgt>
                                        </p:tgtEl>
                                      </p:cBhvr>
                                    </p:animEffect>
                                    <p:anim calcmode="lin" valueType="num">
                                      <p:cBhvr>
                                        <p:cTn id="28" dur="1000" fill="hold"/>
                                        <p:tgtEl>
                                          <p:spTgt spid="10243">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0243">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0243">
                                            <p:txEl>
                                              <p:pRg st="5" end="5"/>
                                            </p:txEl>
                                          </p:spTgt>
                                        </p:tgtEl>
                                        <p:attrNameLst>
                                          <p:attrName>style.visibility</p:attrName>
                                        </p:attrNameLst>
                                      </p:cBhvr>
                                      <p:to>
                                        <p:strVal val="visible"/>
                                      </p:to>
                                    </p:set>
                                    <p:animEffect transition="in" filter="fade">
                                      <p:cBhvr>
                                        <p:cTn id="32" dur="1000"/>
                                        <p:tgtEl>
                                          <p:spTgt spid="10243">
                                            <p:txEl>
                                              <p:pRg st="5" end="5"/>
                                            </p:txEl>
                                          </p:spTgt>
                                        </p:tgtEl>
                                      </p:cBhvr>
                                    </p:animEffect>
                                    <p:anim calcmode="lin" valueType="num">
                                      <p:cBhvr>
                                        <p:cTn id="33" dur="1000" fill="hold"/>
                                        <p:tgtEl>
                                          <p:spTgt spid="10243">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10243">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0243">
                                            <p:txEl>
                                              <p:pRg st="6" end="6"/>
                                            </p:txEl>
                                          </p:spTgt>
                                        </p:tgtEl>
                                        <p:attrNameLst>
                                          <p:attrName>style.visibility</p:attrName>
                                        </p:attrNameLst>
                                      </p:cBhvr>
                                      <p:to>
                                        <p:strVal val="visible"/>
                                      </p:to>
                                    </p:set>
                                    <p:animEffect transition="in" filter="fade">
                                      <p:cBhvr>
                                        <p:cTn id="37" dur="1000"/>
                                        <p:tgtEl>
                                          <p:spTgt spid="10243">
                                            <p:txEl>
                                              <p:pRg st="6" end="6"/>
                                            </p:txEl>
                                          </p:spTgt>
                                        </p:tgtEl>
                                      </p:cBhvr>
                                    </p:animEffect>
                                    <p:anim calcmode="lin" valueType="num">
                                      <p:cBhvr>
                                        <p:cTn id="38" dur="1000" fill="hold"/>
                                        <p:tgtEl>
                                          <p:spTgt spid="10243">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1024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6" presetClass="entr" presetSubtype="21" fill="hold" grpId="0"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barn(inVertical)">
                                      <p:cBhvr>
                                        <p:cTn id="4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251520" y="1340768"/>
            <a:ext cx="4536504" cy="1800200"/>
          </a:xfrm>
        </p:spPr>
        <p:txBody>
          <a:bodyPr/>
          <a:lstStyle/>
          <a:p>
            <a:r>
              <a:rPr lang="zh-CN" altLang="en-US" sz="2400" dirty="0"/>
              <a:t>软件开发的</a:t>
            </a:r>
            <a:r>
              <a:rPr lang="zh-CN" altLang="en-US" sz="2400" dirty="0" smtClean="0"/>
              <a:t>实际情况</a:t>
            </a:r>
            <a:endParaRPr lang="en-US" altLang="zh-CN" sz="2400" dirty="0" smtClean="0"/>
          </a:p>
          <a:p>
            <a:pPr lvl="1"/>
            <a:r>
              <a:rPr lang="zh-CN" altLang="en-US" sz="2000" dirty="0" smtClean="0"/>
              <a:t>项目延误</a:t>
            </a:r>
            <a:r>
              <a:rPr lang="zh-CN" altLang="en-US" sz="2000" dirty="0"/>
              <a:t>，</a:t>
            </a:r>
            <a:r>
              <a:rPr lang="zh-CN" altLang="en-US" sz="2000" dirty="0" smtClean="0"/>
              <a:t>预算超支</a:t>
            </a:r>
            <a:endParaRPr lang="zh-CN" altLang="en-US" sz="2000" dirty="0"/>
          </a:p>
          <a:p>
            <a:pPr lvl="1"/>
            <a:r>
              <a:rPr lang="zh-CN" altLang="en-US" sz="2000" dirty="0" smtClean="0"/>
              <a:t>前期</a:t>
            </a:r>
            <a:r>
              <a:rPr lang="zh-CN" altLang="en-US" sz="2000" dirty="0"/>
              <a:t>设计</a:t>
            </a:r>
            <a:r>
              <a:rPr lang="zh-CN" altLang="en-US" sz="2000" dirty="0" smtClean="0"/>
              <a:t>错误</a:t>
            </a:r>
            <a:endParaRPr lang="zh-CN" altLang="en-US" sz="2000" dirty="0"/>
          </a:p>
          <a:p>
            <a:pPr lvl="1"/>
            <a:r>
              <a:rPr lang="zh-CN" altLang="en-US" sz="2000" dirty="0" smtClean="0"/>
              <a:t>软件中存在着大量的错误与缺陷</a:t>
            </a:r>
            <a:endParaRPr lang="en-US" altLang="zh-CN" sz="2000" dirty="0" smtClean="0"/>
          </a:p>
          <a:p>
            <a:pPr lvl="1"/>
            <a:r>
              <a:rPr lang="zh-CN" altLang="en-US" sz="2000" dirty="0" smtClean="0"/>
              <a:t>软件维护</a:t>
            </a:r>
            <a:r>
              <a:rPr lang="zh-CN" altLang="en-US" sz="2000" dirty="0"/>
              <a:t>和更新工作的代价很</a:t>
            </a:r>
            <a:r>
              <a:rPr lang="zh-CN" altLang="en-US" sz="2000" dirty="0" smtClean="0"/>
              <a:t>高</a:t>
            </a:r>
            <a:endParaRPr lang="zh-CN" altLang="en-US" sz="2000" dirty="0"/>
          </a:p>
        </p:txBody>
      </p:sp>
      <p:sp>
        <p:nvSpPr>
          <p:cNvPr id="4" name="Rectangle 2"/>
          <p:cNvSpPr txBox="1">
            <a:spLocks noChangeArrowheads="1"/>
          </p:cNvSpPr>
          <p:nvPr/>
        </p:nvSpPr>
        <p:spPr bwMode="auto">
          <a:xfrm>
            <a:off x="899592" y="404664"/>
            <a:ext cx="5616575" cy="576262"/>
          </a:xfrm>
          <a:prstGeom prst="rect">
            <a:avLst/>
          </a:prstGeom>
          <a:noFill/>
          <a:ln>
            <a:noFill/>
          </a:ln>
        </p:spPr>
        <p:txBody>
          <a:bodyPr vert="horz" wrap="square" lIns="91440" tIns="45720" rIns="91440" bIns="45720" numCol="1" anchor="b" anchorCtr="0" compatLnSpc="1"/>
          <a:lstStyle>
            <a:lvl1pPr algn="ctr" rtl="0" eaLnBrk="0" fontAlgn="base" hangingPunct="0">
              <a:spcBef>
                <a:spcPct val="0"/>
              </a:spcBef>
              <a:spcAft>
                <a:spcPct val="0"/>
              </a:spcAft>
              <a:defRPr kumimoji="1" sz="3200">
                <a:solidFill>
                  <a:schemeClr val="tx1"/>
                </a:solidFill>
                <a:latin typeface="+mj-lt"/>
                <a:ea typeface="+mj-ea"/>
                <a:cs typeface="宋体" panose="02010600030101010101" pitchFamily="2" charset="-122"/>
              </a:defRPr>
            </a:lvl1pPr>
            <a:lvl2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2pPr>
            <a:lvl3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3pPr>
            <a:lvl4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4pPr>
            <a:lvl5pPr algn="ctr" rtl="0" eaLnBrk="0" fontAlgn="base" hangingPunct="0">
              <a:spcBef>
                <a:spcPct val="0"/>
              </a:spcBef>
              <a:spcAft>
                <a:spcPct val="0"/>
              </a:spcAft>
              <a:defRPr kumimoji="1" sz="3200">
                <a:solidFill>
                  <a:schemeClr val="tx1"/>
                </a:solidFill>
                <a:latin typeface="Arial" panose="020B0604020202020204" pitchFamily="34" charset="0"/>
                <a:ea typeface="宋体" panose="02010600030101010101" pitchFamily="2" charset="-122"/>
                <a:cs typeface="宋体" panose="02010600030101010101" pitchFamily="2" charset="-122"/>
              </a:defRPr>
            </a:lvl5pPr>
            <a:lvl6pPr marL="4572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3200">
                <a:solidFill>
                  <a:schemeClr val="tx1"/>
                </a:solidFill>
                <a:latin typeface="Arial" panose="020B0604020202020204" pitchFamily="34" charset="0"/>
                <a:ea typeface="宋体" panose="02010600030101010101" pitchFamily="2" charset="-122"/>
              </a:defRPr>
            </a:lvl9pPr>
          </a:lstStyle>
          <a:p>
            <a:r>
              <a:rPr lang="zh-CN" altLang="en-US" sz="4200" kern="0" dirty="0" smtClean="0"/>
              <a:t>软件开发过程</a:t>
            </a:r>
            <a:endParaRPr lang="zh-CN" altLang="en-US" sz="4200" kern="0" dirty="0"/>
          </a:p>
        </p:txBody>
      </p:sp>
      <p:pic>
        <p:nvPicPr>
          <p:cNvPr id="5" name="图片 4"/>
          <p:cNvPicPr>
            <a:picLocks noChangeAspect="1"/>
          </p:cNvPicPr>
          <p:nvPr/>
        </p:nvPicPr>
        <p:blipFill rotWithShape="1">
          <a:blip r:embed="rId1"/>
          <a:srcRect l="47206" t="5814" r="7964" b="4437"/>
          <a:stretch>
            <a:fillRect/>
          </a:stretch>
        </p:blipFill>
        <p:spPr>
          <a:xfrm>
            <a:off x="5292080" y="1361481"/>
            <a:ext cx="3744416" cy="4608512"/>
          </a:xfrm>
          <a:prstGeom prst="snip2DiagRect">
            <a:avLst/>
          </a:prstGeom>
          <a:solidFill>
            <a:srgbClr val="FFFFFF">
              <a:shade val="85000"/>
            </a:srgbClr>
          </a:solidFill>
          <a:ln w="88900" cap="sq">
            <a:solidFill>
              <a:srgbClr val="FFFFFF"/>
            </a:solidFill>
            <a:miter lim="800000"/>
            <a:headEnd/>
            <a:tailEnd/>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pic>
        <p:nvPicPr>
          <p:cNvPr id="10" name="Picture 2"/>
          <p:cNvPicPr>
            <a:picLocks noChangeAspect="1" noChangeArrowheads="1"/>
          </p:cNvPicPr>
          <p:nvPr/>
        </p:nvPicPr>
        <p:blipFill rotWithShape="1">
          <a:blip r:embed="rId2" cstate="print"/>
          <a:srcRect t="13406" r="52608" b="41329"/>
          <a:stretch>
            <a:fillRect/>
          </a:stretch>
        </p:blipFill>
        <p:spPr bwMode="auto">
          <a:xfrm>
            <a:off x="899592" y="3861048"/>
            <a:ext cx="3744416" cy="210894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heel(1)">
                                      <p:cBhvr>
                                        <p:cTn id="7" dur="2000"/>
                                        <p:tgtEl>
                                          <p:spTgt spid="12291">
                                            <p:txEl>
                                              <p:pRg st="0" end="0"/>
                                            </p:txEl>
                                          </p:spTgt>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2291">
                                            <p:txEl>
                                              <p:pRg st="1" end="1"/>
                                            </p:txEl>
                                          </p:spTgt>
                                        </p:tgtEl>
                                        <p:attrNameLst>
                                          <p:attrName>style.visibility</p:attrName>
                                        </p:attrNameLst>
                                      </p:cBhvr>
                                      <p:to>
                                        <p:strVal val="visible"/>
                                      </p:to>
                                    </p:set>
                                    <p:animEffect transition="in" filter="wheel(1)">
                                      <p:cBhvr>
                                        <p:cTn id="10" dur="2000"/>
                                        <p:tgtEl>
                                          <p:spTgt spid="12291">
                                            <p:txEl>
                                              <p:pRg st="1" end="1"/>
                                            </p:txEl>
                                          </p:spTgt>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12291">
                                            <p:txEl>
                                              <p:pRg st="2" end="2"/>
                                            </p:txEl>
                                          </p:spTgt>
                                        </p:tgtEl>
                                        <p:attrNameLst>
                                          <p:attrName>style.visibility</p:attrName>
                                        </p:attrNameLst>
                                      </p:cBhvr>
                                      <p:to>
                                        <p:strVal val="visible"/>
                                      </p:to>
                                    </p:set>
                                    <p:animEffect transition="in" filter="wheel(1)">
                                      <p:cBhvr>
                                        <p:cTn id="13" dur="2000"/>
                                        <p:tgtEl>
                                          <p:spTgt spid="12291">
                                            <p:txEl>
                                              <p:pRg st="2" end="2"/>
                                            </p:txEl>
                                          </p:spTgt>
                                        </p:tgtEl>
                                      </p:cBhvr>
                                    </p:animEffect>
                                  </p:childTnLst>
                                </p:cTn>
                              </p:par>
                              <p:par>
                                <p:cTn id="14" presetID="21" presetClass="entr" presetSubtype="1" fill="hold" grpId="0" nodeType="withEffect">
                                  <p:stCondLst>
                                    <p:cond delay="0"/>
                                  </p:stCondLst>
                                  <p:childTnLst>
                                    <p:set>
                                      <p:cBhvr>
                                        <p:cTn id="15" dur="1" fill="hold">
                                          <p:stCondLst>
                                            <p:cond delay="0"/>
                                          </p:stCondLst>
                                        </p:cTn>
                                        <p:tgtEl>
                                          <p:spTgt spid="12291">
                                            <p:txEl>
                                              <p:pRg st="3" end="3"/>
                                            </p:txEl>
                                          </p:spTgt>
                                        </p:tgtEl>
                                        <p:attrNameLst>
                                          <p:attrName>style.visibility</p:attrName>
                                        </p:attrNameLst>
                                      </p:cBhvr>
                                      <p:to>
                                        <p:strVal val="visible"/>
                                      </p:to>
                                    </p:set>
                                    <p:animEffect transition="in" filter="wheel(1)">
                                      <p:cBhvr>
                                        <p:cTn id="16" dur="2000"/>
                                        <p:tgtEl>
                                          <p:spTgt spid="12291">
                                            <p:txEl>
                                              <p:pRg st="3" end="3"/>
                                            </p:txEl>
                                          </p:spTgt>
                                        </p:tgtEl>
                                      </p:cBhvr>
                                    </p:animEffect>
                                  </p:childTnLst>
                                </p:cTn>
                              </p:par>
                              <p:par>
                                <p:cTn id="17" presetID="21" presetClass="entr" presetSubtype="1" fill="hold" grpId="0" nodeType="withEffect">
                                  <p:stCondLst>
                                    <p:cond delay="0"/>
                                  </p:stCondLst>
                                  <p:childTnLst>
                                    <p:set>
                                      <p:cBhvr>
                                        <p:cTn id="18" dur="1" fill="hold">
                                          <p:stCondLst>
                                            <p:cond delay="0"/>
                                          </p:stCondLst>
                                        </p:cTn>
                                        <p:tgtEl>
                                          <p:spTgt spid="12291">
                                            <p:txEl>
                                              <p:pRg st="4" end="4"/>
                                            </p:txEl>
                                          </p:spTgt>
                                        </p:tgtEl>
                                        <p:attrNameLst>
                                          <p:attrName>style.visibility</p:attrName>
                                        </p:attrNameLst>
                                      </p:cBhvr>
                                      <p:to>
                                        <p:strVal val="visible"/>
                                      </p:to>
                                    </p:set>
                                    <p:animEffect transition="in" filter="wheel(1)">
                                      <p:cBhvr>
                                        <p:cTn id="19" dur="2000"/>
                                        <p:tgtEl>
                                          <p:spTgt spid="12291">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1000"/>
                                        <p:tgtEl>
                                          <p:spTgt spid="10"/>
                                        </p:tgtEl>
                                      </p:cBhvr>
                                    </p:animEffect>
                                    <p:anim calcmode="lin" valueType="num">
                                      <p:cBhvr>
                                        <p:cTn id="30" dur="1000" fill="hold"/>
                                        <p:tgtEl>
                                          <p:spTgt spid="10"/>
                                        </p:tgtEl>
                                        <p:attrNameLst>
                                          <p:attrName>ppt_x</p:attrName>
                                        </p:attrNameLst>
                                      </p:cBhvr>
                                      <p:tavLst>
                                        <p:tav tm="0">
                                          <p:val>
                                            <p:strVal val="#ppt_x"/>
                                          </p:val>
                                        </p:tav>
                                        <p:tav tm="100000">
                                          <p:val>
                                            <p:strVal val="#ppt_x"/>
                                          </p:val>
                                        </p:tav>
                                      </p:tavLst>
                                    </p:anim>
                                    <p:anim calcmode="lin" valueType="num">
                                      <p:cBhvr>
                                        <p:cTn id="3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zh-CN" altLang="en-US"/>
              <a:t>软件缺陷造成的损失</a:t>
            </a:r>
            <a:endParaRPr lang="zh-CN" altLang="en-US"/>
          </a:p>
        </p:txBody>
      </p:sp>
      <p:sp>
        <p:nvSpPr>
          <p:cNvPr id="13317" name="AutoShape 5" descr="Z">
            <a:hlinkClick r:id="rId1"/>
          </p:cNvPr>
          <p:cNvSpPr>
            <a:spLocks noChangeAspect="1" noChangeArrowheads="1"/>
          </p:cNvSpPr>
          <p:nvPr/>
        </p:nvSpPr>
        <p:spPr bwMode="auto">
          <a:xfrm>
            <a:off x="4105275" y="3057525"/>
            <a:ext cx="933450" cy="74295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319" name="AutoShape 7" descr="Z">
            <a:hlinkClick r:id="rId1"/>
          </p:cNvPr>
          <p:cNvSpPr>
            <a:spLocks noChangeAspect="1" noChangeArrowheads="1"/>
          </p:cNvSpPr>
          <p:nvPr/>
        </p:nvSpPr>
        <p:spPr bwMode="auto">
          <a:xfrm>
            <a:off x="4105275" y="3057525"/>
            <a:ext cx="933450" cy="74295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3321" name="AutoShape 9" descr="Z">
            <a:hlinkClick r:id="rId1"/>
          </p:cNvPr>
          <p:cNvSpPr>
            <a:spLocks noChangeAspect="1" noChangeArrowheads="1"/>
          </p:cNvSpPr>
          <p:nvPr/>
        </p:nvSpPr>
        <p:spPr bwMode="auto">
          <a:xfrm>
            <a:off x="155575" y="46038"/>
            <a:ext cx="933450" cy="742950"/>
          </a:xfrm>
          <a:prstGeom prst="rect">
            <a:avLst/>
          </a:prstGeom>
          <a:noFill/>
          <a:extLst>
            <a:ext uri="{909E8E84-426E-40DD-AFC4-6F175D3DCCD1}">
              <a14:hiddenFill xmlns:a14="http://schemas.microsoft.com/office/drawing/2010/main">
                <a:solidFill>
                  <a:srgbClr val="FFFFFF"/>
                </a:solidFill>
              </a14:hiddenFill>
            </a:ext>
          </a:extLst>
        </p:spPr>
        <p:txBody>
          <a:bodyPr/>
          <a:lstStyle/>
          <a:p>
            <a:endParaRPr lang="zh-CN" altLang="en-US"/>
          </a:p>
        </p:txBody>
      </p:sp>
      <p:pic>
        <p:nvPicPr>
          <p:cNvPr id="13323" name="Picture 1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5560" y="1147763"/>
            <a:ext cx="9179559" cy="49455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zh-CN" altLang="en-US"/>
              <a:t>软件缺陷造成的损失（</a:t>
            </a:r>
            <a:r>
              <a:rPr lang="en-US" altLang="zh-CN"/>
              <a:t>2</a:t>
            </a:r>
            <a:r>
              <a:rPr lang="zh-CN" altLang="en-US"/>
              <a:t>）</a:t>
            </a:r>
            <a:endParaRPr lang="zh-CN" altLang="en-US"/>
          </a:p>
        </p:txBody>
      </p:sp>
      <p:sp>
        <p:nvSpPr>
          <p:cNvPr id="14339" name="Rectangle 3"/>
          <p:cNvSpPr>
            <a:spLocks noGrp="1" noChangeArrowheads="1"/>
          </p:cNvSpPr>
          <p:nvPr>
            <p:ph type="body" idx="1"/>
          </p:nvPr>
        </p:nvSpPr>
        <p:spPr/>
        <p:txBody>
          <a:bodyPr/>
          <a:lstStyle/>
          <a:p>
            <a:endParaRPr lang="zh-CN" altLang="zh-CN"/>
          </a:p>
        </p:txBody>
      </p:sp>
      <p:pic>
        <p:nvPicPr>
          <p:cNvPr id="14340" name="Picture 4"/>
          <p:cNvPicPr>
            <a:picLocks noChangeAspect="1" noChangeArrowheads="1"/>
          </p:cNvPicPr>
          <p:nvPr/>
        </p:nvPicPr>
        <p:blipFill>
          <a:blip r:embed="rId1" cstate="email">
            <a:extLst>
              <a:ext uri="{28A0092B-C50C-407E-A947-70E740481C1C}">
                <a14:useLocalDpi xmlns:a14="http://schemas.microsoft.com/office/drawing/2010/main" val="0"/>
              </a:ext>
            </a:extLst>
          </a:blip>
          <a:srcRect/>
          <a:stretch>
            <a:fillRect/>
          </a:stretch>
        </p:blipFill>
        <p:spPr bwMode="auto">
          <a:xfrm>
            <a:off x="0" y="1196752"/>
            <a:ext cx="9144000" cy="48965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332656"/>
            <a:ext cx="5412159" cy="691009"/>
          </a:xfrm>
        </p:spPr>
        <p:txBody>
          <a:bodyPr/>
          <a:lstStyle/>
          <a:p>
            <a:pPr>
              <a:defRPr/>
            </a:pPr>
            <a:r>
              <a:rPr lang="zh-CN" altLang="en-US" dirty="0" smtClean="0"/>
              <a:t>软件质量的重要方面</a:t>
            </a:r>
            <a:endParaRPr lang="zh-CN" altLang="en-US" dirty="0"/>
          </a:p>
        </p:txBody>
      </p:sp>
      <p:sp>
        <p:nvSpPr>
          <p:cNvPr id="4" name="灯片编号占位符 3"/>
          <p:cNvSpPr>
            <a:spLocks noGrp="1"/>
          </p:cNvSpPr>
          <p:nvPr>
            <p:ph type="sldNum" sz="quarter" idx="12"/>
          </p:nvPr>
        </p:nvSpPr>
        <p:spPr/>
        <p:txBody>
          <a:bodyPr/>
          <a:lstStyle/>
          <a:p>
            <a:pPr>
              <a:defRPr/>
            </a:pPr>
            <a:fld id="{E31D1400-E261-479B-88AF-81668FD39AC2}" type="slidenum">
              <a:rPr lang="zh-CN" altLang="en-US" smtClean="0"/>
            </a:fld>
            <a:endParaRPr lang="zh-CN" altLang="en-US" dirty="0"/>
          </a:p>
        </p:txBody>
      </p:sp>
      <p:pic>
        <p:nvPicPr>
          <p:cNvPr id="27652" name="Picture 5"/>
          <p:cNvPicPr>
            <a:picLocks noChangeAspect="1" noChangeArrowheads="1"/>
          </p:cNvPicPr>
          <p:nvPr/>
        </p:nvPicPr>
        <p:blipFill>
          <a:blip r:embed="rId1" cstate="print"/>
          <a:srcRect/>
          <a:stretch>
            <a:fillRect/>
          </a:stretch>
        </p:blipFill>
        <p:spPr bwMode="auto">
          <a:xfrm>
            <a:off x="899592" y="1412776"/>
            <a:ext cx="6877606" cy="417259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r>
              <a:rPr lang="zh-CN" altLang="en-US" dirty="0" smtClean="0"/>
              <a:t>现有软件的特征</a:t>
            </a:r>
            <a:endParaRPr lang="zh-CN" altLang="en-US" dirty="0"/>
          </a:p>
        </p:txBody>
      </p:sp>
      <p:sp>
        <p:nvSpPr>
          <p:cNvPr id="15363" name="Rectangle 3"/>
          <p:cNvSpPr>
            <a:spLocks noGrp="1" noChangeArrowheads="1"/>
          </p:cNvSpPr>
          <p:nvPr>
            <p:ph type="body" idx="1"/>
          </p:nvPr>
        </p:nvSpPr>
        <p:spPr>
          <a:xfrm>
            <a:off x="395536" y="1268760"/>
            <a:ext cx="8142287" cy="4248472"/>
          </a:xfrm>
        </p:spPr>
        <p:txBody>
          <a:bodyPr/>
          <a:lstStyle/>
          <a:p>
            <a:r>
              <a:rPr lang="zh-CN" altLang="en-US" sz="2800" dirty="0"/>
              <a:t>极端复杂</a:t>
            </a:r>
            <a:endParaRPr lang="zh-CN" altLang="en-US" sz="2800" dirty="0"/>
          </a:p>
          <a:p>
            <a:pPr lvl="1"/>
            <a:r>
              <a:rPr lang="zh-CN" altLang="en-US" sz="2400" dirty="0"/>
              <a:t>规模：成万、成百万、甚至成千万行代码</a:t>
            </a:r>
            <a:endParaRPr lang="zh-CN" altLang="en-US" sz="2400" dirty="0"/>
          </a:p>
          <a:p>
            <a:pPr lvl="1"/>
            <a:r>
              <a:rPr lang="zh-CN" altLang="en-US" sz="2400" dirty="0"/>
              <a:t>系统组成部分之间异常复杂的直接与间接相互作用</a:t>
            </a:r>
            <a:endParaRPr lang="zh-CN" altLang="en-US" sz="2400" dirty="0"/>
          </a:p>
          <a:p>
            <a:pPr lvl="1"/>
            <a:r>
              <a:rPr lang="zh-CN" altLang="en-US" sz="2400" dirty="0"/>
              <a:t>静态结构与动态性质之间难以把握的复杂关系</a:t>
            </a:r>
            <a:endParaRPr lang="zh-CN" altLang="en-US" sz="2400" dirty="0"/>
          </a:p>
          <a:p>
            <a:r>
              <a:rPr lang="zh-CN" altLang="en-US" sz="2800" dirty="0"/>
              <a:t>多变性</a:t>
            </a:r>
            <a:endParaRPr lang="zh-CN" altLang="en-US" sz="2800" dirty="0"/>
          </a:p>
          <a:p>
            <a:pPr lvl="1"/>
            <a:r>
              <a:rPr lang="zh-CN" altLang="en-US" sz="2400" dirty="0"/>
              <a:t>异常丰富多彩的应用需求</a:t>
            </a:r>
            <a:endParaRPr lang="zh-CN" altLang="en-US" sz="2400" dirty="0"/>
          </a:p>
          <a:p>
            <a:pPr lvl="1"/>
            <a:r>
              <a:rPr lang="zh-CN" altLang="en-US" sz="2400" dirty="0"/>
              <a:t>需求的不断提升和变化</a:t>
            </a:r>
            <a:endParaRPr lang="zh-CN" altLang="en-US" sz="2400" dirty="0"/>
          </a:p>
          <a:p>
            <a:r>
              <a:rPr lang="zh-CN" altLang="en-US" sz="2800" dirty="0"/>
              <a:t>要求较低的开发成本和较短的开发周期</a:t>
            </a:r>
            <a:endParaRPr lang="zh-CN" altLang="en-US" sz="2800" dirty="0"/>
          </a:p>
          <a:p>
            <a:r>
              <a:rPr lang="zh-CN" altLang="en-US" sz="2800" dirty="0"/>
              <a:t>不可能长期集中一大批最优秀的</a:t>
            </a:r>
            <a:r>
              <a:rPr lang="zh-CN" altLang="en-US" sz="2800" dirty="0" smtClean="0"/>
              <a:t>技术人员</a:t>
            </a:r>
            <a:endParaRPr lang="en-US" altLang="zh-CN" sz="2800" dirty="0" smtClean="0"/>
          </a:p>
          <a:p>
            <a:r>
              <a:rPr lang="zh-CN" altLang="en-US" dirty="0" smtClean="0">
                <a:solidFill>
                  <a:srgbClr val="FF0000"/>
                </a:solidFill>
              </a:rPr>
              <a:t>可靠性、正确性难以保证</a:t>
            </a:r>
            <a:endParaRPr lang="zh-CN" altLang="en-US" sz="2800"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anim calcmode="lin" valueType="num">
                                      <p:cBhvr additive="base">
                                        <p:cTn id="7" dur="500" fill="hold"/>
                                        <p:tgtEl>
                                          <p:spTgt spid="1536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5363">
                                            <p:txEl>
                                              <p:pRg st="1" end="1"/>
                                            </p:txEl>
                                          </p:spTgt>
                                        </p:tgtEl>
                                        <p:attrNameLst>
                                          <p:attrName>style.visibility</p:attrName>
                                        </p:attrNameLst>
                                      </p:cBhvr>
                                      <p:to>
                                        <p:strVal val="visible"/>
                                      </p:to>
                                    </p:set>
                                    <p:animEffect transition="in" filter="fade">
                                      <p:cBhvr>
                                        <p:cTn id="13" dur="1000"/>
                                        <p:tgtEl>
                                          <p:spTgt spid="15363">
                                            <p:txEl>
                                              <p:pRg st="1" end="1"/>
                                            </p:txEl>
                                          </p:spTgt>
                                        </p:tgtEl>
                                      </p:cBhvr>
                                    </p:animEffect>
                                    <p:anim calcmode="lin" valueType="num">
                                      <p:cBhvr>
                                        <p:cTn id="14" dur="1000" fill="hold"/>
                                        <p:tgtEl>
                                          <p:spTgt spid="1536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536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5363">
                                            <p:txEl>
                                              <p:pRg st="2" end="2"/>
                                            </p:txEl>
                                          </p:spTgt>
                                        </p:tgtEl>
                                        <p:attrNameLst>
                                          <p:attrName>style.visibility</p:attrName>
                                        </p:attrNameLst>
                                      </p:cBhvr>
                                      <p:to>
                                        <p:strVal val="visible"/>
                                      </p:to>
                                    </p:set>
                                    <p:animEffect transition="in" filter="fade">
                                      <p:cBhvr>
                                        <p:cTn id="20" dur="1000"/>
                                        <p:tgtEl>
                                          <p:spTgt spid="15363">
                                            <p:txEl>
                                              <p:pRg st="2" end="2"/>
                                            </p:txEl>
                                          </p:spTgt>
                                        </p:tgtEl>
                                      </p:cBhvr>
                                    </p:animEffect>
                                    <p:anim calcmode="lin" valueType="num">
                                      <p:cBhvr>
                                        <p:cTn id="21" dur="1000" fill="hold"/>
                                        <p:tgtEl>
                                          <p:spTgt spid="1536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536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15363">
                                            <p:txEl>
                                              <p:pRg st="3" end="3"/>
                                            </p:txEl>
                                          </p:spTgt>
                                        </p:tgtEl>
                                        <p:attrNameLst>
                                          <p:attrName>style.visibility</p:attrName>
                                        </p:attrNameLst>
                                      </p:cBhvr>
                                      <p:to>
                                        <p:strVal val="visible"/>
                                      </p:to>
                                    </p:set>
                                    <p:animEffect transition="in" filter="fade">
                                      <p:cBhvr>
                                        <p:cTn id="27" dur="1000"/>
                                        <p:tgtEl>
                                          <p:spTgt spid="15363">
                                            <p:txEl>
                                              <p:pRg st="3" end="3"/>
                                            </p:txEl>
                                          </p:spTgt>
                                        </p:tgtEl>
                                      </p:cBhvr>
                                    </p:animEffect>
                                    <p:anim calcmode="lin" valueType="num">
                                      <p:cBhvr>
                                        <p:cTn id="28" dur="1000" fill="hold"/>
                                        <p:tgtEl>
                                          <p:spTgt spid="15363">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1536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15363">
                                            <p:txEl>
                                              <p:pRg st="4" end="4"/>
                                            </p:txEl>
                                          </p:spTgt>
                                        </p:tgtEl>
                                        <p:attrNameLst>
                                          <p:attrName>style.visibility</p:attrName>
                                        </p:attrNameLst>
                                      </p:cBhvr>
                                      <p:to>
                                        <p:strVal val="visible"/>
                                      </p:to>
                                    </p:set>
                                    <p:anim calcmode="lin" valueType="num">
                                      <p:cBhvr additive="base">
                                        <p:cTn id="34" dur="500" fill="hold"/>
                                        <p:tgtEl>
                                          <p:spTgt spid="15363">
                                            <p:txEl>
                                              <p:pRg st="4" end="4"/>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153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5363">
                                            <p:txEl>
                                              <p:pRg st="5" end="5"/>
                                            </p:txEl>
                                          </p:spTgt>
                                        </p:tgtEl>
                                        <p:attrNameLst>
                                          <p:attrName>style.visibility</p:attrName>
                                        </p:attrNameLst>
                                      </p:cBhvr>
                                      <p:to>
                                        <p:strVal val="visible"/>
                                      </p:to>
                                    </p:set>
                                    <p:animEffect transition="in" filter="fade">
                                      <p:cBhvr>
                                        <p:cTn id="40" dur="1000"/>
                                        <p:tgtEl>
                                          <p:spTgt spid="15363">
                                            <p:txEl>
                                              <p:pRg st="5" end="5"/>
                                            </p:txEl>
                                          </p:spTgt>
                                        </p:tgtEl>
                                      </p:cBhvr>
                                    </p:animEffect>
                                    <p:anim calcmode="lin" valueType="num">
                                      <p:cBhvr>
                                        <p:cTn id="41" dur="1000" fill="hold"/>
                                        <p:tgtEl>
                                          <p:spTgt spid="1536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1536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5363">
                                            <p:txEl>
                                              <p:pRg st="6" end="6"/>
                                            </p:txEl>
                                          </p:spTgt>
                                        </p:tgtEl>
                                        <p:attrNameLst>
                                          <p:attrName>style.visibility</p:attrName>
                                        </p:attrNameLst>
                                      </p:cBhvr>
                                      <p:to>
                                        <p:strVal val="visible"/>
                                      </p:to>
                                    </p:set>
                                    <p:animEffect transition="in" filter="fade">
                                      <p:cBhvr>
                                        <p:cTn id="47" dur="1000"/>
                                        <p:tgtEl>
                                          <p:spTgt spid="15363">
                                            <p:txEl>
                                              <p:pRg st="6" end="6"/>
                                            </p:txEl>
                                          </p:spTgt>
                                        </p:tgtEl>
                                      </p:cBhvr>
                                    </p:animEffect>
                                    <p:anim calcmode="lin" valueType="num">
                                      <p:cBhvr>
                                        <p:cTn id="48" dur="1000" fill="hold"/>
                                        <p:tgtEl>
                                          <p:spTgt spid="1536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1536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5363">
                                            <p:txEl>
                                              <p:pRg st="7" end="7"/>
                                            </p:txEl>
                                          </p:spTgt>
                                        </p:tgtEl>
                                        <p:attrNameLst>
                                          <p:attrName>style.visibility</p:attrName>
                                        </p:attrNameLst>
                                      </p:cBhvr>
                                      <p:to>
                                        <p:strVal val="visible"/>
                                      </p:to>
                                    </p:set>
                                    <p:anim calcmode="lin" valueType="num">
                                      <p:cBhvr additive="base">
                                        <p:cTn id="54" dur="500" fill="hold"/>
                                        <p:tgtEl>
                                          <p:spTgt spid="15363">
                                            <p:txEl>
                                              <p:pRg st="7" end="7"/>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536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15363">
                                            <p:txEl>
                                              <p:pRg st="8" end="8"/>
                                            </p:txEl>
                                          </p:spTgt>
                                        </p:tgtEl>
                                        <p:attrNameLst>
                                          <p:attrName>style.visibility</p:attrName>
                                        </p:attrNameLst>
                                      </p:cBhvr>
                                      <p:to>
                                        <p:strVal val="visible"/>
                                      </p:to>
                                    </p:set>
                                    <p:anim calcmode="lin" valueType="num">
                                      <p:cBhvr additive="base">
                                        <p:cTn id="60" dur="500" fill="hold"/>
                                        <p:tgtEl>
                                          <p:spTgt spid="15363">
                                            <p:txEl>
                                              <p:pRg st="8" end="8"/>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536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5363">
                                            <p:txEl>
                                              <p:pRg st="9" end="9"/>
                                            </p:txEl>
                                          </p:spTgt>
                                        </p:tgtEl>
                                        <p:attrNameLst>
                                          <p:attrName>style.visibility</p:attrName>
                                        </p:attrNameLst>
                                      </p:cBhvr>
                                      <p:to>
                                        <p:strVal val="visible"/>
                                      </p:to>
                                    </p:set>
                                    <p:anim calcmode="lin" valueType="num">
                                      <p:cBhvr additive="base">
                                        <p:cTn id="66" dur="500" fill="hold"/>
                                        <p:tgtEl>
                                          <p:spTgt spid="15363">
                                            <p:txEl>
                                              <p:pRg st="9" end="9"/>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1536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zh-CN" altLang="en-US"/>
              <a:t>原因在于</a:t>
            </a:r>
            <a:endParaRPr lang="zh-CN" altLang="en-US"/>
          </a:p>
        </p:txBody>
      </p:sp>
      <p:sp>
        <p:nvSpPr>
          <p:cNvPr id="18435" name="Rectangle 3"/>
          <p:cNvSpPr>
            <a:spLocks noGrp="1" noChangeArrowheads="1"/>
          </p:cNvSpPr>
          <p:nvPr>
            <p:ph type="body" idx="1"/>
          </p:nvPr>
        </p:nvSpPr>
        <p:spPr>
          <a:xfrm>
            <a:off x="539552" y="1412776"/>
            <a:ext cx="7780462" cy="4392612"/>
          </a:xfrm>
        </p:spPr>
        <p:txBody>
          <a:bodyPr/>
          <a:lstStyle/>
          <a:p>
            <a:r>
              <a:rPr lang="zh-CN" altLang="en-US" sz="2400" dirty="0" smtClean="0"/>
              <a:t>前期需求和文档是</a:t>
            </a:r>
            <a:r>
              <a:rPr lang="zh-CN" altLang="en-US" sz="2400" dirty="0"/>
              <a:t>自然语言编写</a:t>
            </a:r>
            <a:r>
              <a:rPr lang="zh-CN" altLang="en-US" sz="2400" dirty="0" smtClean="0"/>
              <a:t>的，最后程序是</a:t>
            </a:r>
            <a:r>
              <a:rPr lang="zh-CN" altLang="en-US" sz="2400" dirty="0"/>
              <a:t>形式化的程序；</a:t>
            </a:r>
            <a:endParaRPr lang="zh-CN" altLang="en-US" sz="2400" dirty="0"/>
          </a:p>
          <a:p>
            <a:r>
              <a:rPr lang="zh-CN" altLang="en-US" sz="2400" dirty="0"/>
              <a:t>文档是非形式化的，只能由人阅读和理解，难以严格分析和推理；</a:t>
            </a:r>
            <a:endParaRPr lang="zh-CN" altLang="en-US" sz="2400" dirty="0"/>
          </a:p>
          <a:p>
            <a:r>
              <a:rPr lang="zh-CN" altLang="en-US" sz="2400" dirty="0"/>
              <a:t>形式化的程序有严格的形式和语义</a:t>
            </a:r>
            <a:r>
              <a:rPr lang="zh-CN" altLang="en-US" sz="2400" dirty="0" smtClean="0"/>
              <a:t>。程序</a:t>
            </a:r>
            <a:r>
              <a:rPr lang="zh-CN" altLang="en-US" sz="2400" dirty="0"/>
              <a:t>包含过多语言细节和实现细节，进行验证的成本极高；</a:t>
            </a:r>
            <a:endParaRPr lang="zh-CN" altLang="en-US" sz="2400" dirty="0"/>
          </a:p>
          <a:p>
            <a:r>
              <a:rPr lang="zh-CN" altLang="en-US" sz="2400" dirty="0"/>
              <a:t>需求和设计以及最终实现的程序的一致性难以判定；</a:t>
            </a:r>
            <a:endParaRPr lang="zh-CN" altLang="en-US" sz="2400" dirty="0"/>
          </a:p>
          <a:p>
            <a:r>
              <a:rPr lang="zh-CN" altLang="en-US" sz="2400" dirty="0"/>
              <a:t>测试不可能完全，发现问题的能力很有限，不能成为评判标准</a:t>
            </a:r>
            <a:r>
              <a:rPr lang="zh-CN" altLang="en-US" sz="2400" dirty="0" smtClean="0"/>
              <a:t>。</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435">
                                            <p:txEl>
                                              <p:pRg st="3" end="3"/>
                                            </p:txEl>
                                          </p:spTgt>
                                        </p:tgtEl>
                                        <p:attrNameLst>
                                          <p:attrName>style.visibility</p:attrName>
                                        </p:attrNameLst>
                                      </p:cBhvr>
                                      <p:to>
                                        <p:strVal val="visible"/>
                                      </p:to>
                                    </p:set>
                                    <p:anim calcmode="lin" valueType="num">
                                      <p:cBhvr additive="base">
                                        <p:cTn id="25" dur="5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435">
                                            <p:txEl>
                                              <p:pRg st="4" end="4"/>
                                            </p:txEl>
                                          </p:spTgt>
                                        </p:tgtEl>
                                        <p:attrNameLst>
                                          <p:attrName>style.visibility</p:attrName>
                                        </p:attrNameLst>
                                      </p:cBhvr>
                                      <p:to>
                                        <p:strVal val="visible"/>
                                      </p:to>
                                    </p:set>
                                    <p:anim calcmode="lin" valueType="num">
                                      <p:cBhvr additive="base">
                                        <p:cTn id="31" dur="500" fill="hold"/>
                                        <p:tgtEl>
                                          <p:spTgt spid="18435">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843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什么是形式化验证</a:t>
            </a:r>
            <a:endParaRPr lang="zh-CN" altLang="en-US" dirty="0"/>
          </a:p>
        </p:txBody>
      </p:sp>
      <p:sp>
        <p:nvSpPr>
          <p:cNvPr id="3" name="内容占位符 2"/>
          <p:cNvSpPr>
            <a:spLocks noGrp="1"/>
          </p:cNvSpPr>
          <p:nvPr>
            <p:ph idx="1"/>
          </p:nvPr>
        </p:nvSpPr>
        <p:spPr>
          <a:xfrm>
            <a:off x="468313" y="1484313"/>
            <a:ext cx="8142287" cy="4392612"/>
          </a:xfrm>
        </p:spPr>
        <p:txBody>
          <a:bodyPr/>
          <a:lstStyle/>
          <a:p>
            <a:r>
              <a:rPr lang="zh-CN" altLang="zh-CN" dirty="0"/>
              <a:t>形式化方法主要研究如何把具有清晰数学基础的模型、规范、分析以及验证融入软硬件设计开发的各个阶段</a:t>
            </a:r>
            <a:r>
              <a:rPr lang="en-US" altLang="zh-CN" dirty="0"/>
              <a:t>,</a:t>
            </a:r>
            <a:r>
              <a:rPr lang="zh-CN" altLang="zh-CN" dirty="0"/>
              <a:t>是改善和确保计算机系统正确性和可靠性的重要途径</a:t>
            </a:r>
            <a:r>
              <a:rPr lang="en-US" altLang="zh-CN" baseline="30000" dirty="0"/>
              <a:t>[</a:t>
            </a:r>
            <a:r>
              <a:rPr lang="en-US" altLang="zh-CN" baseline="30000" dirty="0" smtClean="0"/>
              <a:t>1]</a:t>
            </a:r>
            <a:r>
              <a:rPr lang="zh-CN" altLang="zh-CN" dirty="0" smtClean="0"/>
              <a:t>。</a:t>
            </a:r>
            <a:endParaRPr lang="en-US" altLang="zh-CN" dirty="0" smtClean="0"/>
          </a:p>
          <a:p>
            <a:r>
              <a:rPr lang="zh-CN" altLang="zh-CN" dirty="0"/>
              <a:t>形式化验证的含义是根据某个或某些形式规范或属性，使用数学的方法</a:t>
            </a:r>
            <a:r>
              <a:rPr lang="zh-CN" altLang="zh-CN" dirty="0" smtClean="0"/>
              <a:t>证明</a:t>
            </a:r>
            <a:r>
              <a:rPr lang="zh-CN" altLang="en-US" dirty="0" smtClean="0"/>
              <a:t>软硬件系统的</a:t>
            </a:r>
            <a:r>
              <a:rPr lang="zh-CN" altLang="zh-CN" dirty="0" smtClean="0"/>
              <a:t>正确性</a:t>
            </a:r>
            <a:r>
              <a:rPr lang="zh-CN" altLang="zh-CN" dirty="0"/>
              <a:t>或非正确性。</a:t>
            </a:r>
            <a:endParaRPr lang="zh-CN" altLang="zh-CN" dirty="0"/>
          </a:p>
          <a:p>
            <a:endParaRPr lang="zh-CN" altLang="en-US" dirty="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
        <p:nvSpPr>
          <p:cNvPr id="6" name="矩形 5"/>
          <p:cNvSpPr/>
          <p:nvPr/>
        </p:nvSpPr>
        <p:spPr>
          <a:xfrm>
            <a:off x="1905000" y="6251903"/>
            <a:ext cx="6336704" cy="523220"/>
          </a:xfrm>
          <a:prstGeom prst="rect">
            <a:avLst/>
          </a:prstGeom>
        </p:spPr>
        <p:txBody>
          <a:bodyPr wrap="square">
            <a:spAutoFit/>
          </a:bodyPr>
          <a:lstStyle/>
          <a:p>
            <a:pPr marL="342900" lvl="0" indent="-342900" algn="just">
              <a:spcAft>
                <a:spcPts val="0"/>
              </a:spcAft>
              <a:buFont typeface="+mj-lt"/>
              <a:buAutoNum type="arabicPeriod"/>
            </a:pPr>
            <a:r>
              <a:rPr lang="zh-CN" altLang="zh-CN" sz="1400" kern="0" dirty="0">
                <a:solidFill>
                  <a:srgbClr val="000000"/>
                </a:solidFill>
                <a:latin typeface="等线" panose="02010600030101010101" pitchFamily="2" charset="-122"/>
                <a:ea typeface="等线" panose="02010600030101010101" pitchFamily="2" charset="-122"/>
                <a:cs typeface="宋体" panose="02010600030101010101" pitchFamily="2" charset="-122"/>
              </a:rPr>
              <a:t>傅育熙</a:t>
            </a:r>
            <a:r>
              <a:rPr lang="en-US" altLang="zh-CN" sz="1400" kern="0" dirty="0">
                <a:solidFill>
                  <a:srgbClr val="000000"/>
                </a:solidFill>
                <a:latin typeface="等线" panose="02010600030101010101" pitchFamily="2" charset="-122"/>
                <a:ea typeface="等线" panose="02010600030101010101" pitchFamily="2" charset="-122"/>
                <a:cs typeface="宋体" panose="02010600030101010101" pitchFamily="2" charset="-122"/>
              </a:rPr>
              <a:t>,</a:t>
            </a:r>
            <a:r>
              <a:rPr lang="zh-CN" altLang="zh-CN" sz="1400" kern="0" dirty="0">
                <a:solidFill>
                  <a:srgbClr val="000000"/>
                </a:solidFill>
                <a:latin typeface="等线" panose="02010600030101010101" pitchFamily="2" charset="-122"/>
                <a:ea typeface="等线" panose="02010600030101010101" pitchFamily="2" charset="-122"/>
                <a:cs typeface="宋体" panose="02010600030101010101" pitchFamily="2" charset="-122"/>
              </a:rPr>
              <a:t>李国强</a:t>
            </a:r>
            <a:r>
              <a:rPr lang="en-US" altLang="zh-CN" sz="1400" kern="0" dirty="0">
                <a:solidFill>
                  <a:srgbClr val="000000"/>
                </a:solidFill>
                <a:latin typeface="等线" panose="02010600030101010101" pitchFamily="2" charset="-122"/>
                <a:ea typeface="等线" panose="02010600030101010101" pitchFamily="2" charset="-122"/>
                <a:cs typeface="宋体" panose="02010600030101010101" pitchFamily="2" charset="-122"/>
              </a:rPr>
              <a:t>,</a:t>
            </a:r>
            <a:r>
              <a:rPr lang="zh-CN" altLang="zh-CN" sz="1400" kern="0" dirty="0">
                <a:solidFill>
                  <a:srgbClr val="000000"/>
                </a:solidFill>
                <a:latin typeface="等线" panose="02010600030101010101" pitchFamily="2" charset="-122"/>
                <a:ea typeface="等线" panose="02010600030101010101" pitchFamily="2" charset="-122"/>
                <a:cs typeface="宋体" panose="02010600030101010101" pitchFamily="2" charset="-122"/>
              </a:rPr>
              <a:t>田聪</a:t>
            </a:r>
            <a:r>
              <a:rPr lang="en-US" altLang="zh-CN" sz="1400" kern="0" dirty="0">
                <a:solidFill>
                  <a:srgbClr val="000000"/>
                </a:solidFill>
                <a:latin typeface="等线" panose="02010600030101010101" pitchFamily="2" charset="-122"/>
                <a:ea typeface="等线" panose="02010600030101010101" pitchFamily="2" charset="-122"/>
                <a:cs typeface="宋体" panose="02010600030101010101" pitchFamily="2" charset="-122"/>
              </a:rPr>
              <a:t>.</a:t>
            </a:r>
            <a:r>
              <a:rPr lang="zh-CN" altLang="zh-CN" sz="1400" kern="0" dirty="0">
                <a:solidFill>
                  <a:srgbClr val="000000"/>
                </a:solidFill>
                <a:latin typeface="等线" panose="02010600030101010101" pitchFamily="2" charset="-122"/>
                <a:ea typeface="等线" panose="02010600030101010101" pitchFamily="2" charset="-122"/>
                <a:cs typeface="宋体" panose="02010600030101010101" pitchFamily="2" charset="-122"/>
              </a:rPr>
              <a:t>形式化方法的理论基础专题前言</a:t>
            </a:r>
            <a:r>
              <a:rPr lang="en-US" altLang="zh-CN" sz="1400" kern="0" dirty="0">
                <a:solidFill>
                  <a:srgbClr val="000000"/>
                </a:solidFill>
                <a:latin typeface="等线" panose="02010600030101010101" pitchFamily="2" charset="-122"/>
                <a:ea typeface="等线" panose="02010600030101010101" pitchFamily="2" charset="-122"/>
                <a:cs typeface="宋体" panose="02010600030101010101" pitchFamily="2" charset="-122"/>
              </a:rPr>
              <a:t>[J].</a:t>
            </a:r>
            <a:r>
              <a:rPr lang="zh-CN" altLang="zh-CN" sz="1400" kern="0" dirty="0">
                <a:solidFill>
                  <a:srgbClr val="000000"/>
                </a:solidFill>
                <a:latin typeface="等线" panose="02010600030101010101" pitchFamily="2" charset="-122"/>
                <a:ea typeface="等线" panose="02010600030101010101" pitchFamily="2" charset="-122"/>
                <a:cs typeface="宋体" panose="02010600030101010101" pitchFamily="2" charset="-122"/>
              </a:rPr>
              <a:t>软件学报</a:t>
            </a:r>
            <a:r>
              <a:rPr lang="en-US" altLang="zh-CN" sz="1400" kern="0" dirty="0">
                <a:solidFill>
                  <a:srgbClr val="000000"/>
                </a:solidFill>
                <a:latin typeface="等线" panose="02010600030101010101" pitchFamily="2" charset="-122"/>
                <a:ea typeface="等线" panose="02010600030101010101" pitchFamily="2" charset="-122"/>
                <a:cs typeface="宋体" panose="02010600030101010101" pitchFamily="2" charset="-122"/>
              </a:rPr>
              <a:t>,2018,29(06):1515-1516.</a:t>
            </a:r>
            <a:endParaRPr lang="zh-CN" altLang="zh-CN" sz="1400" kern="100" dirty="0">
              <a:effectLst/>
              <a:latin typeface="等线" panose="02010600030101010101" pitchFamily="2" charset="-122"/>
              <a:ea typeface="等线" panose="02010600030101010101" pitchFamily="2" charset="-122"/>
              <a:cs typeface="Times New Roman" panose="020206030504050203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a:xfrm>
            <a:off x="1042988" y="404813"/>
            <a:ext cx="6769372" cy="576262"/>
          </a:xfrm>
        </p:spPr>
        <p:txBody>
          <a:bodyPr/>
          <a:lstStyle/>
          <a:p>
            <a:r>
              <a:rPr lang="zh-CN" altLang="en-US" dirty="0"/>
              <a:t>软件开发中为什么使用形式化方法</a:t>
            </a:r>
            <a:endParaRPr lang="zh-CN" altLang="en-US" dirty="0"/>
          </a:p>
        </p:txBody>
      </p:sp>
      <p:sp>
        <p:nvSpPr>
          <p:cNvPr id="249859" name="Rectangle 3"/>
          <p:cNvSpPr>
            <a:spLocks noChangeArrowheads="1"/>
          </p:cNvSpPr>
          <p:nvPr/>
        </p:nvSpPr>
        <p:spPr bwMode="auto">
          <a:xfrm>
            <a:off x="381000" y="1752600"/>
            <a:ext cx="7772400" cy="1981200"/>
          </a:xfrm>
          <a:prstGeom prst="rect">
            <a:avLst/>
          </a:prstGeom>
          <a:noFill/>
          <a:ln w="9525">
            <a:noFill/>
            <a:miter lim="800000"/>
          </a:ln>
          <a:effectLst/>
        </p:spPr>
        <p:txBody>
          <a:bodyPr lIns="92075" tIns="46038" rIns="92075" bIns="46038"/>
          <a:lstStyle/>
          <a:p>
            <a:pPr marL="342900" indent="-342900">
              <a:spcBef>
                <a:spcPct val="20000"/>
              </a:spcBef>
              <a:buFontTx/>
              <a:buChar char="•"/>
            </a:pPr>
            <a:endParaRPr lang="zh-CN" altLang="zh-CN" sz="2800" b="1"/>
          </a:p>
        </p:txBody>
      </p:sp>
      <p:sp>
        <p:nvSpPr>
          <p:cNvPr id="249860" name="Rectangle 4"/>
          <p:cNvSpPr>
            <a:spLocks noChangeArrowheads="1"/>
          </p:cNvSpPr>
          <p:nvPr/>
        </p:nvSpPr>
        <p:spPr bwMode="auto">
          <a:xfrm>
            <a:off x="611560" y="1988840"/>
            <a:ext cx="8763000" cy="3096344"/>
          </a:xfrm>
          <a:prstGeom prst="rect">
            <a:avLst/>
          </a:prstGeom>
          <a:noFill/>
          <a:ln w="9525">
            <a:noFill/>
            <a:miter lim="800000"/>
          </a:ln>
          <a:effectLst/>
        </p:spPr>
        <p:txBody>
          <a:bodyPr lIns="92075" tIns="46038" rIns="92075" bIns="46038"/>
          <a:lstStyle/>
          <a:p>
            <a:pPr algn="l">
              <a:spcBef>
                <a:spcPct val="20000"/>
              </a:spcBef>
            </a:pPr>
            <a:endParaRPr lang="en-US" altLang="zh-CN" sz="2400" dirty="0" smtClean="0"/>
          </a:p>
          <a:p>
            <a:pPr marL="342900" indent="-342900" algn="l">
              <a:spcBef>
                <a:spcPct val="20000"/>
              </a:spcBef>
              <a:buFontTx/>
              <a:buChar char="•"/>
            </a:pPr>
            <a:r>
              <a:rPr lang="zh-CN" altLang="en-US" sz="2400" dirty="0" smtClean="0"/>
              <a:t>测试（</a:t>
            </a:r>
            <a:r>
              <a:rPr lang="en-US" altLang="zh-CN" sz="2400" dirty="0" smtClean="0"/>
              <a:t>testing</a:t>
            </a:r>
            <a:r>
              <a:rPr lang="zh-CN" altLang="en-US" sz="2400" dirty="0" smtClean="0"/>
              <a:t>）或 仿真（</a:t>
            </a:r>
            <a:r>
              <a:rPr lang="en-US" altLang="zh-CN" sz="2400" dirty="0" smtClean="0"/>
              <a:t>simulation</a:t>
            </a:r>
            <a:r>
              <a:rPr lang="zh-CN" altLang="en-US" sz="2400" dirty="0" smtClean="0"/>
              <a:t>）</a:t>
            </a:r>
            <a:endParaRPr lang="zh-CN" altLang="en-US" sz="2400" dirty="0" smtClean="0"/>
          </a:p>
          <a:p>
            <a:pPr marL="342900" indent="-342900" algn="l">
              <a:spcBef>
                <a:spcPct val="20000"/>
              </a:spcBef>
            </a:pPr>
            <a:r>
              <a:rPr lang="zh-CN" altLang="en-US" sz="2400" dirty="0" smtClean="0"/>
              <a:t>    以运行系统为主要手段发现系统错误。</a:t>
            </a:r>
            <a:endParaRPr lang="zh-CN" altLang="en-US" sz="2400" dirty="0" smtClean="0"/>
          </a:p>
          <a:p>
            <a:pPr marL="342900" indent="-342900" algn="l">
              <a:spcBef>
                <a:spcPct val="20000"/>
              </a:spcBef>
            </a:pPr>
            <a:endParaRPr lang="zh-CN" altLang="en-US" sz="2400" dirty="0"/>
          </a:p>
          <a:p>
            <a:pPr marL="342900" indent="-342900" algn="l">
              <a:spcBef>
                <a:spcPct val="20000"/>
              </a:spcBef>
              <a:buFontTx/>
              <a:buChar char="•"/>
            </a:pPr>
            <a:r>
              <a:rPr lang="zh-CN" altLang="en-US" sz="2400" dirty="0"/>
              <a:t>验证（</a:t>
            </a:r>
            <a:r>
              <a:rPr lang="en-US" altLang="zh-CN" sz="2400" dirty="0"/>
              <a:t>Verification</a:t>
            </a:r>
            <a:r>
              <a:rPr lang="zh-CN" altLang="en-US" sz="2400" dirty="0"/>
              <a:t>）</a:t>
            </a:r>
            <a:endParaRPr lang="zh-CN" altLang="en-US" sz="2400" dirty="0"/>
          </a:p>
          <a:p>
            <a:pPr marL="342900" indent="-342900" algn="l">
              <a:spcBef>
                <a:spcPct val="20000"/>
              </a:spcBef>
            </a:pPr>
            <a:r>
              <a:rPr lang="zh-CN" altLang="en-US" sz="2400" dirty="0"/>
              <a:t>    建立系统模型，确认系统模型是否存在错误。</a:t>
            </a:r>
            <a:endParaRPr lang="zh-CN" altLang="en-US" sz="2400" dirty="0"/>
          </a:p>
          <a:p>
            <a:pPr marL="342900" indent="-342900" algn="l">
              <a:spcBef>
                <a:spcPct val="20000"/>
              </a:spcBef>
            </a:pP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49860">
                                            <p:txEl>
                                              <p:pRg st="1" end="1"/>
                                            </p:txEl>
                                          </p:spTgt>
                                        </p:tgtEl>
                                        <p:attrNameLst>
                                          <p:attrName>style.visibility</p:attrName>
                                        </p:attrNameLst>
                                      </p:cBhvr>
                                      <p:to>
                                        <p:strVal val="visible"/>
                                      </p:to>
                                    </p:set>
                                    <p:animEffect transition="in" filter="barn(inVertical)">
                                      <p:cBhvr>
                                        <p:cTn id="7" dur="500"/>
                                        <p:tgtEl>
                                          <p:spTgt spid="249860">
                                            <p:txEl>
                                              <p:pRg st="1" end="1"/>
                                            </p:txEl>
                                          </p:spTgt>
                                        </p:tgtEl>
                                      </p:cBhvr>
                                    </p:animEffect>
                                  </p:childTnLst>
                                </p:cTn>
                              </p:par>
                              <p:par>
                                <p:cTn id="8" presetID="16" presetClass="entr" presetSubtype="21" fill="hold" nodeType="withEffect">
                                  <p:stCondLst>
                                    <p:cond delay="0"/>
                                  </p:stCondLst>
                                  <p:childTnLst>
                                    <p:set>
                                      <p:cBhvr>
                                        <p:cTn id="9" dur="1" fill="hold">
                                          <p:stCondLst>
                                            <p:cond delay="0"/>
                                          </p:stCondLst>
                                        </p:cTn>
                                        <p:tgtEl>
                                          <p:spTgt spid="249860">
                                            <p:txEl>
                                              <p:pRg st="2" end="2"/>
                                            </p:txEl>
                                          </p:spTgt>
                                        </p:tgtEl>
                                        <p:attrNameLst>
                                          <p:attrName>style.visibility</p:attrName>
                                        </p:attrNameLst>
                                      </p:cBhvr>
                                      <p:to>
                                        <p:strVal val="visible"/>
                                      </p:to>
                                    </p:set>
                                    <p:animEffect transition="in" filter="barn(inVertical)">
                                      <p:cBhvr>
                                        <p:cTn id="10" dur="500"/>
                                        <p:tgtEl>
                                          <p:spTgt spid="249860">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249860">
                                            <p:txEl>
                                              <p:pRg st="4" end="4"/>
                                            </p:txEl>
                                          </p:spTgt>
                                        </p:tgtEl>
                                        <p:attrNameLst>
                                          <p:attrName>style.visibility</p:attrName>
                                        </p:attrNameLst>
                                      </p:cBhvr>
                                      <p:to>
                                        <p:strVal val="visible"/>
                                      </p:to>
                                    </p:set>
                                    <p:animEffect transition="in" filter="barn(inVertical)">
                                      <p:cBhvr>
                                        <p:cTn id="15" dur="500"/>
                                        <p:tgtEl>
                                          <p:spTgt spid="249860">
                                            <p:txEl>
                                              <p:pRg st="4" end="4"/>
                                            </p:txEl>
                                          </p:spTgt>
                                        </p:tgtEl>
                                      </p:cBhvr>
                                    </p:animEffect>
                                  </p:childTnLst>
                                </p:cTn>
                              </p:par>
                              <p:par>
                                <p:cTn id="16" presetID="16" presetClass="entr" presetSubtype="21" fill="hold" nodeType="withEffect">
                                  <p:stCondLst>
                                    <p:cond delay="0"/>
                                  </p:stCondLst>
                                  <p:childTnLst>
                                    <p:set>
                                      <p:cBhvr>
                                        <p:cTn id="17" dur="1" fill="hold">
                                          <p:stCondLst>
                                            <p:cond delay="0"/>
                                          </p:stCondLst>
                                        </p:cTn>
                                        <p:tgtEl>
                                          <p:spTgt spid="249860">
                                            <p:txEl>
                                              <p:pRg st="5" end="5"/>
                                            </p:txEl>
                                          </p:spTgt>
                                        </p:tgtEl>
                                        <p:attrNameLst>
                                          <p:attrName>style.visibility</p:attrName>
                                        </p:attrNameLst>
                                      </p:cBhvr>
                                      <p:to>
                                        <p:strVal val="visible"/>
                                      </p:to>
                                    </p:set>
                                    <p:animEffect transition="in" filter="barn(inVertical)">
                                      <p:cBhvr>
                                        <p:cTn id="18" dur="500"/>
                                        <p:tgtEl>
                                          <p:spTgt spid="24986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1026"/>
          <p:cNvSpPr>
            <a:spLocks noGrp="1" noChangeArrowheads="1"/>
          </p:cNvSpPr>
          <p:nvPr>
            <p:ph type="title"/>
          </p:nvPr>
        </p:nvSpPr>
        <p:spPr>
          <a:xfrm>
            <a:off x="971600" y="404664"/>
            <a:ext cx="6840760" cy="576262"/>
          </a:xfrm>
        </p:spPr>
        <p:txBody>
          <a:bodyPr/>
          <a:lstStyle/>
          <a:p>
            <a:r>
              <a:rPr lang="zh-CN" altLang="en-US" dirty="0"/>
              <a:t>软件开发中为什么使用形式化方法</a:t>
            </a:r>
            <a:endParaRPr lang="zh-CN" altLang="en-US" dirty="0"/>
          </a:p>
        </p:txBody>
      </p:sp>
      <p:sp>
        <p:nvSpPr>
          <p:cNvPr id="257027" name="Rectangle 1027"/>
          <p:cNvSpPr>
            <a:spLocks noGrp="1" noChangeArrowheads="1"/>
          </p:cNvSpPr>
          <p:nvPr>
            <p:ph type="body" idx="1"/>
          </p:nvPr>
        </p:nvSpPr>
        <p:spPr>
          <a:xfrm>
            <a:off x="539552" y="1484784"/>
            <a:ext cx="8280920" cy="4392612"/>
          </a:xfrm>
        </p:spPr>
        <p:txBody>
          <a:bodyPr/>
          <a:lstStyle/>
          <a:p>
            <a:r>
              <a:rPr lang="zh-CN" altLang="en-US" dirty="0"/>
              <a:t>测试（</a:t>
            </a:r>
            <a:r>
              <a:rPr lang="en-US" altLang="zh-CN" dirty="0"/>
              <a:t>testing</a:t>
            </a:r>
            <a:r>
              <a:rPr lang="zh-CN" altLang="en-US" dirty="0"/>
              <a:t>）或 仿真（</a:t>
            </a:r>
            <a:r>
              <a:rPr lang="en-US" altLang="zh-CN" dirty="0"/>
              <a:t>simulation</a:t>
            </a:r>
            <a:r>
              <a:rPr lang="zh-CN" altLang="en-US" dirty="0"/>
              <a:t>）</a:t>
            </a:r>
            <a:endParaRPr lang="zh-CN" altLang="en-US" dirty="0"/>
          </a:p>
          <a:p>
            <a:pPr>
              <a:buFontTx/>
              <a:buNone/>
            </a:pPr>
            <a:r>
              <a:rPr lang="zh-CN" altLang="en-US" sz="2800" dirty="0"/>
              <a:t>    </a:t>
            </a:r>
            <a:endParaRPr lang="zh-CN" altLang="en-US" sz="2800" dirty="0"/>
          </a:p>
          <a:p>
            <a:pPr>
              <a:buFontTx/>
              <a:buNone/>
            </a:pPr>
            <a:r>
              <a:rPr lang="zh-CN" altLang="en-US" sz="2800" dirty="0"/>
              <a:t>    </a:t>
            </a:r>
            <a:r>
              <a:rPr lang="zh-CN" altLang="en-US" sz="2400" dirty="0"/>
              <a:t>无法回答系统一定没有错误这样一类问题</a:t>
            </a:r>
            <a:endParaRPr lang="zh-CN" altLang="en-US" sz="2400" dirty="0"/>
          </a:p>
          <a:p>
            <a:endParaRPr lang="zh-CN" altLang="en-US" dirty="0"/>
          </a:p>
          <a:p>
            <a:r>
              <a:rPr lang="zh-CN" altLang="en-US" dirty="0" smtClean="0"/>
              <a:t>形式化验证（</a:t>
            </a:r>
            <a:r>
              <a:rPr lang="en-US" altLang="zh-CN" dirty="0" smtClean="0"/>
              <a:t>Formal Verification</a:t>
            </a:r>
            <a:r>
              <a:rPr lang="zh-CN" altLang="en-US" dirty="0"/>
              <a:t>）</a:t>
            </a:r>
            <a:endParaRPr lang="zh-CN" altLang="en-US" dirty="0"/>
          </a:p>
          <a:p>
            <a:pPr>
              <a:buFontTx/>
              <a:buNone/>
            </a:pPr>
            <a:r>
              <a:rPr lang="zh-CN" altLang="en-US" sz="2800" dirty="0"/>
              <a:t>    </a:t>
            </a:r>
            <a:endParaRPr lang="zh-CN" altLang="en-US" sz="2800" dirty="0"/>
          </a:p>
          <a:p>
            <a:pPr>
              <a:buFontTx/>
              <a:buNone/>
            </a:pPr>
            <a:r>
              <a:rPr lang="zh-CN" altLang="en-US" sz="2800" dirty="0"/>
              <a:t>    </a:t>
            </a:r>
            <a:r>
              <a:rPr lang="zh-CN" altLang="en-US" sz="2400" dirty="0"/>
              <a:t>可以从某一个角度回答系统一定没有错误这样一类问题，从而进一步提高我们对系统可靠性的可信度</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57027">
                                            <p:txEl>
                                              <p:pRg st="0" end="0"/>
                                            </p:txEl>
                                          </p:spTgt>
                                        </p:tgtEl>
                                        <p:attrNameLst>
                                          <p:attrName>style.visibility</p:attrName>
                                        </p:attrNameLst>
                                      </p:cBhvr>
                                      <p:to>
                                        <p:strVal val="visible"/>
                                      </p:to>
                                    </p:set>
                                    <p:anim calcmode="lin" valueType="num">
                                      <p:cBhvr additive="base">
                                        <p:cTn id="7" dur="500" fill="hold"/>
                                        <p:tgtEl>
                                          <p:spTgt spid="2570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7027">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57027">
                                            <p:txEl>
                                              <p:pRg st="1" end="1"/>
                                            </p:txEl>
                                          </p:spTgt>
                                        </p:tgtEl>
                                        <p:attrNameLst>
                                          <p:attrName>style.visibility</p:attrName>
                                        </p:attrNameLst>
                                      </p:cBhvr>
                                      <p:to>
                                        <p:strVal val="visible"/>
                                      </p:to>
                                    </p:set>
                                    <p:anim calcmode="lin" valueType="num">
                                      <p:cBhvr additive="base">
                                        <p:cTn id="11" dur="500" fill="hold"/>
                                        <p:tgtEl>
                                          <p:spTgt spid="257027">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57027">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57027">
                                            <p:txEl>
                                              <p:pRg st="2" end="2"/>
                                            </p:txEl>
                                          </p:spTgt>
                                        </p:tgtEl>
                                        <p:attrNameLst>
                                          <p:attrName>style.visibility</p:attrName>
                                        </p:attrNameLst>
                                      </p:cBhvr>
                                      <p:to>
                                        <p:strVal val="visible"/>
                                      </p:to>
                                    </p:set>
                                    <p:anim calcmode="lin" valueType="num">
                                      <p:cBhvr additive="base">
                                        <p:cTn id="15" dur="500" fill="hold"/>
                                        <p:tgtEl>
                                          <p:spTgt spid="257027">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570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57027">
                                            <p:txEl>
                                              <p:pRg st="4" end="4"/>
                                            </p:txEl>
                                          </p:spTgt>
                                        </p:tgtEl>
                                        <p:attrNameLst>
                                          <p:attrName>style.visibility</p:attrName>
                                        </p:attrNameLst>
                                      </p:cBhvr>
                                      <p:to>
                                        <p:strVal val="visible"/>
                                      </p:to>
                                    </p:set>
                                    <p:anim calcmode="lin" valueType="num">
                                      <p:cBhvr additive="base">
                                        <p:cTn id="21" dur="500" fill="hold"/>
                                        <p:tgtEl>
                                          <p:spTgt spid="257027">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57027">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57027">
                                            <p:txEl>
                                              <p:pRg st="5" end="5"/>
                                            </p:txEl>
                                          </p:spTgt>
                                        </p:tgtEl>
                                        <p:attrNameLst>
                                          <p:attrName>style.visibility</p:attrName>
                                        </p:attrNameLst>
                                      </p:cBhvr>
                                      <p:to>
                                        <p:strVal val="visible"/>
                                      </p:to>
                                    </p:set>
                                    <p:anim calcmode="lin" valueType="num">
                                      <p:cBhvr additive="base">
                                        <p:cTn id="25" dur="500" fill="hold"/>
                                        <p:tgtEl>
                                          <p:spTgt spid="257027">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57027">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257027">
                                            <p:txEl>
                                              <p:pRg st="6" end="6"/>
                                            </p:txEl>
                                          </p:spTgt>
                                        </p:tgtEl>
                                        <p:attrNameLst>
                                          <p:attrName>style.visibility</p:attrName>
                                        </p:attrNameLst>
                                      </p:cBhvr>
                                      <p:to>
                                        <p:strVal val="visible"/>
                                      </p:to>
                                    </p:set>
                                    <p:anim calcmode="lin" valueType="num">
                                      <p:cBhvr additive="base">
                                        <p:cTn id="29" dur="500" fill="hold"/>
                                        <p:tgtEl>
                                          <p:spTgt spid="257027">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25702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196752"/>
            <a:ext cx="8640960" cy="4392612"/>
          </a:xfrm>
        </p:spPr>
        <p:txBody>
          <a:bodyPr/>
          <a:lstStyle/>
          <a:p>
            <a:r>
              <a:rPr lang="zh-CN" altLang="en-US" dirty="0"/>
              <a:t>形式化方法是基于严格数学基础</a:t>
            </a:r>
            <a:r>
              <a:rPr lang="zh-CN" altLang="en-US" dirty="0" smtClean="0"/>
              <a:t>，证明</a:t>
            </a:r>
            <a:r>
              <a:rPr lang="zh-CN" altLang="en-US" dirty="0"/>
              <a:t>不同形式规约之间的逻辑关系，这些逻辑关系反映了在软件开发不同</a:t>
            </a:r>
            <a:r>
              <a:rPr lang="zh-CN" altLang="en-US" dirty="0" smtClean="0"/>
              <a:t>阶段</a:t>
            </a:r>
            <a:r>
              <a:rPr lang="zh-CN" altLang="en-US" dirty="0"/>
              <a:t>，软硬件制品之间的需要满足的各类正确性需求。例如，形式验证给出“系统设计模型应该满足的一些特定性质”的证明</a:t>
            </a:r>
            <a:r>
              <a:rPr lang="en-US" altLang="zh-CN" dirty="0"/>
              <a:t>[2]</a:t>
            </a:r>
            <a:r>
              <a:rPr lang="zh-CN" altLang="en-US" dirty="0"/>
              <a:t>。</a:t>
            </a:r>
            <a:endParaRPr lang="zh-CN" altLang="en-US" dirty="0"/>
          </a:p>
          <a:p>
            <a:r>
              <a:rPr lang="zh-CN" altLang="en-US" dirty="0" smtClean="0"/>
              <a:t>使用</a:t>
            </a:r>
            <a:r>
              <a:rPr lang="zh-CN" altLang="en-US" dirty="0"/>
              <a:t>形式化方法与使用其他一些软硬件开发方法的最大差别在于：形式化方法所描述的系统和性质的语言是没有二义性的，在此基础之上，进行验证的方法是系统的、严格的。形式化方法可以有效地保障并提高系统的可信度。</a:t>
            </a:r>
            <a:endParaRPr lang="zh-CN" altLang="en-US" dirty="0"/>
          </a:p>
          <a:p>
            <a:endParaRPr lang="zh-CN" altLang="en-US" dirty="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
        <p:nvSpPr>
          <p:cNvPr id="6" name="矩形 5"/>
          <p:cNvSpPr/>
          <p:nvPr/>
        </p:nvSpPr>
        <p:spPr>
          <a:xfrm>
            <a:off x="1927850" y="6165304"/>
            <a:ext cx="6028526" cy="584775"/>
          </a:xfrm>
          <a:prstGeom prst="rect">
            <a:avLst/>
          </a:prstGeom>
        </p:spPr>
        <p:txBody>
          <a:bodyPr wrap="square">
            <a:spAutoFit/>
          </a:bodyPr>
          <a:lstStyle/>
          <a:p>
            <a:pPr algn="l"/>
            <a:r>
              <a:rPr lang="en-US" altLang="zh-CN" sz="1600" dirty="0"/>
              <a:t>[2</a:t>
            </a:r>
            <a:r>
              <a:rPr lang="en-US" altLang="zh-CN" sz="1600" dirty="0" smtClean="0"/>
              <a:t>]</a:t>
            </a:r>
            <a:r>
              <a:rPr lang="zh-CN" altLang="en-US" sz="1600" dirty="0" smtClean="0"/>
              <a:t>王</a:t>
            </a:r>
            <a:r>
              <a:rPr lang="zh-CN" altLang="en-US" sz="1600" dirty="0"/>
              <a:t>戟</a:t>
            </a:r>
            <a:r>
              <a:rPr lang="en-US" altLang="zh-CN" sz="1600" dirty="0"/>
              <a:t>,</a:t>
            </a:r>
            <a:r>
              <a:rPr lang="zh-CN" altLang="en-US" sz="1600" dirty="0"/>
              <a:t>詹乃军</a:t>
            </a:r>
            <a:r>
              <a:rPr lang="en-US" altLang="zh-CN" sz="1600" dirty="0"/>
              <a:t>,</a:t>
            </a:r>
            <a:r>
              <a:rPr lang="zh-CN" altLang="en-US" sz="1600" dirty="0"/>
              <a:t>冯新宇</a:t>
            </a:r>
            <a:r>
              <a:rPr lang="en-US" altLang="zh-CN" sz="1600" dirty="0"/>
              <a:t>,</a:t>
            </a:r>
            <a:r>
              <a:rPr lang="zh-CN" altLang="en-US" sz="1600" dirty="0"/>
              <a:t>刘志明</a:t>
            </a:r>
            <a:r>
              <a:rPr lang="en-US" altLang="zh-CN" sz="1600" dirty="0"/>
              <a:t>.</a:t>
            </a:r>
            <a:r>
              <a:rPr lang="zh-CN" altLang="en-US" sz="1600" dirty="0"/>
              <a:t>形式化方法概貌</a:t>
            </a:r>
            <a:r>
              <a:rPr lang="en-US" altLang="zh-CN" sz="1600" dirty="0"/>
              <a:t>[J].</a:t>
            </a:r>
            <a:r>
              <a:rPr lang="zh-CN" altLang="en-US" sz="1600" dirty="0"/>
              <a:t>软件学报</a:t>
            </a:r>
            <a:r>
              <a:rPr lang="en-US" altLang="zh-CN" sz="1600" dirty="0"/>
              <a:t>,2019,30(01):33-61.	</a:t>
            </a:r>
            <a:endParaRPr lang="zh-CN" altLang="en-US" sz="1600" dirty="0"/>
          </a:p>
        </p:txBody>
      </p:sp>
      <p:sp>
        <p:nvSpPr>
          <p:cNvPr id="7" name="Rectangle 1026"/>
          <p:cNvSpPr>
            <a:spLocks noGrp="1" noChangeArrowheads="1"/>
          </p:cNvSpPr>
          <p:nvPr>
            <p:ph type="title"/>
          </p:nvPr>
        </p:nvSpPr>
        <p:spPr>
          <a:xfrm>
            <a:off x="827584" y="332520"/>
            <a:ext cx="7415212" cy="576262"/>
          </a:xfrm>
        </p:spPr>
        <p:txBody>
          <a:bodyPr/>
          <a:lstStyle/>
          <a:p>
            <a:r>
              <a:rPr lang="zh-CN" altLang="en-US" dirty="0"/>
              <a:t>软件开发中为什么使用形式化方法</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115616" y="404664"/>
            <a:ext cx="6337324" cy="576262"/>
          </a:xfrm>
        </p:spPr>
        <p:txBody>
          <a:bodyPr/>
          <a:lstStyle/>
          <a:p>
            <a:pPr>
              <a:defRPr/>
            </a:pPr>
            <a:r>
              <a:rPr lang="zh-CN" altLang="en-US" dirty="0"/>
              <a:t>软件开发中为什么使用形式化方法</a:t>
            </a:r>
            <a:endParaRPr lang="zh-CN" altLang="en-US" dirty="0"/>
          </a:p>
        </p:txBody>
      </p:sp>
      <p:sp>
        <p:nvSpPr>
          <p:cNvPr id="58371" name="Rectangle 3"/>
          <p:cNvSpPr>
            <a:spLocks noGrp="1" noChangeArrowheads="1"/>
          </p:cNvSpPr>
          <p:nvPr>
            <p:ph type="body" idx="1"/>
          </p:nvPr>
        </p:nvSpPr>
        <p:spPr>
          <a:xfrm>
            <a:off x="323528" y="1484784"/>
            <a:ext cx="8142287" cy="4392612"/>
          </a:xfrm>
        </p:spPr>
        <p:txBody>
          <a:bodyPr>
            <a:normAutofit/>
          </a:bodyPr>
          <a:lstStyle/>
          <a:p>
            <a:r>
              <a:rPr lang="zh-CN" altLang="en-US" dirty="0" smtClean="0"/>
              <a:t>保证</a:t>
            </a:r>
            <a:r>
              <a:rPr lang="zh-CN" altLang="en-US" dirty="0"/>
              <a:t>质量的</a:t>
            </a:r>
            <a:r>
              <a:rPr lang="zh-CN" altLang="en-US" dirty="0" smtClean="0"/>
              <a:t>需要</a:t>
            </a:r>
            <a:endParaRPr lang="en-US" altLang="zh-CN" dirty="0" smtClean="0"/>
          </a:p>
          <a:p>
            <a:pPr lvl="1"/>
            <a:r>
              <a:rPr lang="zh-CN" altLang="en-US" dirty="0" smtClean="0"/>
              <a:t>形式化方法是一种前沿技术，研究表明，这种技术非常有助于那些希望把软件产品的缺陷出现率减到最小的公司。</a:t>
            </a:r>
            <a:endParaRPr lang="zh-CN" altLang="en-US" dirty="0"/>
          </a:p>
          <a:p>
            <a:r>
              <a:rPr lang="zh-CN" altLang="en-US" dirty="0" smtClean="0"/>
              <a:t>节约</a:t>
            </a:r>
            <a:r>
              <a:rPr lang="zh-CN" altLang="en-US" dirty="0"/>
              <a:t>成本的</a:t>
            </a:r>
            <a:r>
              <a:rPr lang="zh-CN" altLang="en-US" dirty="0" smtClean="0"/>
              <a:t>需要</a:t>
            </a:r>
            <a:endParaRPr lang="en-US" altLang="zh-CN" dirty="0" smtClean="0"/>
          </a:p>
          <a:p>
            <a:pPr lvl="1"/>
            <a:r>
              <a:rPr lang="zh-CN" altLang="en-US" dirty="0" smtClean="0"/>
              <a:t>有证据显示，形式方法的使用减少了项目成本。例如，</a:t>
            </a:r>
            <a:r>
              <a:rPr lang="en-US" altLang="zh-CN" dirty="0" smtClean="0"/>
              <a:t>IBM</a:t>
            </a:r>
            <a:r>
              <a:rPr lang="zh-CN" altLang="en-US" dirty="0" smtClean="0"/>
              <a:t>的大型</a:t>
            </a:r>
            <a:r>
              <a:rPr lang="en-US" altLang="zh-CN" dirty="0" smtClean="0"/>
              <a:t>CICS</a:t>
            </a:r>
            <a:r>
              <a:rPr lang="zh-CN" altLang="en-US" dirty="0" smtClean="0"/>
              <a:t>事务处理项目的独立审核表明，</a:t>
            </a:r>
            <a:r>
              <a:rPr lang="en-US" altLang="zh-CN" dirty="0" smtClean="0"/>
              <a:t>9</a:t>
            </a:r>
            <a:r>
              <a:rPr lang="zh-CN" altLang="en-US" dirty="0" smtClean="0"/>
              <a:t>％的成本节约要归功于形式方法的使用。对</a:t>
            </a:r>
            <a:r>
              <a:rPr lang="en-US" altLang="zh-CN" dirty="0" smtClean="0"/>
              <a:t>T800</a:t>
            </a:r>
            <a:r>
              <a:rPr lang="zh-CN" altLang="en-US" dirty="0" smtClean="0"/>
              <a:t>型变换计算机的</a:t>
            </a:r>
            <a:r>
              <a:rPr lang="en-US" altLang="zh-CN" dirty="0" err="1" smtClean="0"/>
              <a:t>Inmos</a:t>
            </a:r>
            <a:r>
              <a:rPr lang="zh-CN" altLang="en-US" dirty="0" smtClean="0"/>
              <a:t>浮点单元的独立审核也证明，形式化方法的使用估计可以减少</a:t>
            </a:r>
            <a:r>
              <a:rPr lang="en-US" altLang="zh-CN" dirty="0" smtClean="0"/>
              <a:t>12</a:t>
            </a:r>
            <a:r>
              <a:rPr lang="zh-CN" altLang="en-US" dirty="0" smtClean="0"/>
              <a:t>个月的测试时间。</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anim calcmode="lin" valueType="num">
                                      <p:cBhvr additive="base">
                                        <p:cTn id="7" dur="500" fill="hold"/>
                                        <p:tgtEl>
                                          <p:spTgt spid="583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83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58371">
                                            <p:txEl>
                                              <p:pRg st="1" end="1"/>
                                            </p:txEl>
                                          </p:spTgt>
                                        </p:tgtEl>
                                        <p:attrNameLst>
                                          <p:attrName>style.visibility</p:attrName>
                                        </p:attrNameLst>
                                      </p:cBhvr>
                                      <p:to>
                                        <p:strVal val="visible"/>
                                      </p:to>
                                    </p:set>
                                    <p:animEffect transition="in" filter="fade">
                                      <p:cBhvr>
                                        <p:cTn id="13" dur="1000"/>
                                        <p:tgtEl>
                                          <p:spTgt spid="58371">
                                            <p:txEl>
                                              <p:pRg st="1" end="1"/>
                                            </p:txEl>
                                          </p:spTgt>
                                        </p:tgtEl>
                                      </p:cBhvr>
                                    </p:animEffect>
                                    <p:anim calcmode="lin" valueType="num">
                                      <p:cBhvr>
                                        <p:cTn id="14" dur="1000" fill="hold"/>
                                        <p:tgtEl>
                                          <p:spTgt spid="58371">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5837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58371">
                                            <p:txEl>
                                              <p:pRg st="2" end="2"/>
                                            </p:txEl>
                                          </p:spTgt>
                                        </p:tgtEl>
                                        <p:attrNameLst>
                                          <p:attrName>style.visibility</p:attrName>
                                        </p:attrNameLst>
                                      </p:cBhvr>
                                      <p:to>
                                        <p:strVal val="visible"/>
                                      </p:to>
                                    </p:set>
                                    <p:anim calcmode="lin" valueType="num">
                                      <p:cBhvr additive="base">
                                        <p:cTn id="20" dur="500" fill="hold"/>
                                        <p:tgtEl>
                                          <p:spTgt spid="58371">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583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8371">
                                            <p:txEl>
                                              <p:pRg st="3" end="3"/>
                                            </p:txEl>
                                          </p:spTgt>
                                        </p:tgtEl>
                                        <p:attrNameLst>
                                          <p:attrName>style.visibility</p:attrName>
                                        </p:attrNameLst>
                                      </p:cBhvr>
                                      <p:to>
                                        <p:strVal val="visible"/>
                                      </p:to>
                                    </p:set>
                                    <p:animEffect transition="in" filter="fade">
                                      <p:cBhvr>
                                        <p:cTn id="26" dur="1000"/>
                                        <p:tgtEl>
                                          <p:spTgt spid="58371">
                                            <p:txEl>
                                              <p:pRg st="3" end="3"/>
                                            </p:txEl>
                                          </p:spTgt>
                                        </p:tgtEl>
                                      </p:cBhvr>
                                    </p:animEffect>
                                    <p:anim calcmode="lin" valueType="num">
                                      <p:cBhvr>
                                        <p:cTn id="27" dur="1000" fill="hold"/>
                                        <p:tgtEl>
                                          <p:spTgt spid="58371">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58371">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内容占位符 2"/>
          <p:cNvSpPr>
            <a:spLocks noGrp="1"/>
          </p:cNvSpPr>
          <p:nvPr>
            <p:ph idx="1"/>
          </p:nvPr>
        </p:nvSpPr>
        <p:spPr>
          <a:xfrm>
            <a:off x="611560" y="2060848"/>
            <a:ext cx="8183562" cy="2592189"/>
          </a:xfrm>
        </p:spPr>
        <p:txBody>
          <a:bodyPr>
            <a:normAutofit/>
          </a:bodyPr>
          <a:lstStyle/>
          <a:p>
            <a:pPr>
              <a:buClr>
                <a:srgbClr val="FF9900"/>
              </a:buClr>
              <a:defRPr/>
            </a:pPr>
            <a:r>
              <a:rPr lang="zh-CN" altLang="en-US" dirty="0"/>
              <a:t>形式化</a:t>
            </a:r>
            <a:r>
              <a:rPr lang="zh-CN" altLang="en-US" dirty="0" smtClean="0"/>
              <a:t>方法渗透</a:t>
            </a:r>
            <a:r>
              <a:rPr lang="zh-CN" altLang="en-US" dirty="0"/>
              <a:t>在软件生命期中各个环节（需求分析、设计、实现、测试等）的数学方法或者具有严格数学基础的软件开发方法。</a:t>
            </a:r>
            <a:endParaRPr lang="en-US" altLang="zh-CN" dirty="0"/>
          </a:p>
          <a:p>
            <a:pPr marL="342900" indent="-342900">
              <a:spcBef>
                <a:spcPct val="20000"/>
              </a:spcBef>
              <a:buClr>
                <a:srgbClr val="FF9900"/>
              </a:buClr>
              <a:buFont typeface="Wingdings" panose="05000000000000000000" pitchFamily="2" charset="2"/>
              <a:buChar char="n"/>
              <a:defRPr/>
            </a:pPr>
            <a:endParaRPr lang="zh-CN" altLang="en-US" sz="1000" dirty="0" smtClean="0"/>
          </a:p>
          <a:p>
            <a:pPr marL="342900" indent="-342900">
              <a:spcBef>
                <a:spcPct val="20000"/>
              </a:spcBef>
              <a:buClr>
                <a:srgbClr val="FF9900"/>
              </a:buClr>
              <a:buFont typeface="Wingdings" panose="05000000000000000000" pitchFamily="2" charset="2"/>
              <a:buChar char="n"/>
              <a:defRPr/>
            </a:pPr>
            <a:r>
              <a:rPr lang="zh-CN" altLang="en-US" dirty="0" smtClean="0"/>
              <a:t>形式化方法的基本含义是借助数学的方法来研究计算机科学中的有关问题。</a:t>
            </a:r>
            <a:endParaRPr lang="en-US" altLang="zh-CN" dirty="0" smtClean="0"/>
          </a:p>
        </p:txBody>
      </p:sp>
      <p:sp>
        <p:nvSpPr>
          <p:cNvPr id="4" name="灯片编号占位符 3"/>
          <p:cNvSpPr>
            <a:spLocks noGrp="1"/>
          </p:cNvSpPr>
          <p:nvPr>
            <p:ph type="sldNum" sz="quarter" idx="12"/>
          </p:nvPr>
        </p:nvSpPr>
        <p:spPr/>
        <p:txBody>
          <a:bodyPr/>
          <a:lstStyle/>
          <a:p>
            <a:pPr>
              <a:defRPr/>
            </a:pPr>
            <a:fld id="{4C742F4E-E013-42CF-8710-1794CB17141A}" type="slidenum">
              <a:rPr lang="zh-CN" altLang="en-US" smtClean="0"/>
            </a:fld>
            <a:endParaRPr lang="zh-CN" altLang="en-US" dirty="0"/>
          </a:p>
        </p:txBody>
      </p:sp>
      <p:sp>
        <p:nvSpPr>
          <p:cNvPr id="6" name="Rectangle 2"/>
          <p:cNvSpPr>
            <a:spLocks noGrp="1" noChangeArrowheads="1"/>
          </p:cNvSpPr>
          <p:nvPr>
            <p:ph type="title"/>
          </p:nvPr>
        </p:nvSpPr>
        <p:spPr>
          <a:xfrm>
            <a:off x="1042988" y="404813"/>
            <a:ext cx="5616575" cy="576262"/>
          </a:xfrm>
        </p:spPr>
        <p:txBody>
          <a:bodyPr/>
          <a:lstStyle/>
          <a:p>
            <a:r>
              <a:rPr lang="zh-CN" altLang="en-US" dirty="0"/>
              <a:t>形式化方法简介</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animEffect transition="in" filter="slide(fromBottom)">
                                      <p:cBhvr>
                                        <p:cTn id="7" dur="500"/>
                                        <p:tgtEl>
                                          <p:spTgt spid="29699">
                                            <p:txEl>
                                              <p:pRg st="0" end="0"/>
                                            </p:txEl>
                                          </p:spTgt>
                                        </p:tgtEl>
                                      </p:cBhvr>
                                    </p:animEffect>
                                  </p:childTnLst>
                                </p:cTn>
                              </p:par>
                              <p:par>
                                <p:cTn id="8" presetID="12" presetClass="entr" presetSubtype="4" fill="hold" nodeType="withEffect">
                                  <p:stCondLst>
                                    <p:cond delay="0"/>
                                  </p:stCondLst>
                                  <p:childTnLst>
                                    <p:set>
                                      <p:cBhvr>
                                        <p:cTn id="9" dur="1" fill="hold">
                                          <p:stCondLst>
                                            <p:cond delay="0"/>
                                          </p:stCondLst>
                                        </p:cTn>
                                        <p:tgtEl>
                                          <p:spTgt spid="29699">
                                            <p:txEl>
                                              <p:pRg st="2" end="2"/>
                                            </p:txEl>
                                          </p:spTgt>
                                        </p:tgtEl>
                                        <p:attrNameLst>
                                          <p:attrName>style.visibility</p:attrName>
                                        </p:attrNameLst>
                                      </p:cBhvr>
                                      <p:to>
                                        <p:strVal val="visible"/>
                                      </p:to>
                                    </p:set>
                                    <p:animEffect transition="in" filter="slide(fromBottom)">
                                      <p:cBhvr>
                                        <p:cTn id="10" dur="500"/>
                                        <p:tgtEl>
                                          <p:spTgt spid="2969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zh-CN" altLang="en-US" dirty="0"/>
              <a:t>形式化方法简介</a:t>
            </a:r>
            <a:endParaRPr lang="zh-CN" altLang="en-US" dirty="0"/>
          </a:p>
        </p:txBody>
      </p:sp>
      <p:sp>
        <p:nvSpPr>
          <p:cNvPr id="20483" name="Rectangle 3"/>
          <p:cNvSpPr>
            <a:spLocks noGrp="1" noChangeArrowheads="1"/>
          </p:cNvSpPr>
          <p:nvPr>
            <p:ph type="body" idx="1"/>
          </p:nvPr>
        </p:nvSpPr>
        <p:spPr>
          <a:xfrm>
            <a:off x="251520" y="1340768"/>
            <a:ext cx="8784976" cy="4680520"/>
          </a:xfrm>
        </p:spPr>
        <p:txBody>
          <a:bodyPr/>
          <a:lstStyle/>
          <a:p>
            <a:pPr>
              <a:buFont typeface="Wingdings" panose="05000000000000000000" pitchFamily="2" charset="2"/>
              <a:buNone/>
            </a:pPr>
            <a:r>
              <a:rPr lang="zh-CN" altLang="en-US" sz="2400" dirty="0"/>
              <a:t>形式化方法研究如何把（具有清晰数学基础的）严格性（描述形式、技术和过程等）引入软件开发的各阶段：</a:t>
            </a:r>
            <a:endParaRPr lang="zh-CN" altLang="en-US" sz="2400" dirty="0"/>
          </a:p>
          <a:p>
            <a:r>
              <a:rPr lang="en-US" altLang="zh-CN" sz="2400" b="1" dirty="0"/>
              <a:t>Formal Specification</a:t>
            </a:r>
            <a:r>
              <a:rPr lang="zh-CN" altLang="en-US" sz="2400" dirty="0"/>
              <a:t>（形式化规格）：采用具有严格数学定义的形式和语义的记法形式，描述软件设计和实现</a:t>
            </a:r>
            <a:r>
              <a:rPr lang="en-US" altLang="zh-CN" sz="2400" dirty="0"/>
              <a:t>;</a:t>
            </a:r>
            <a:endParaRPr lang="en-US" altLang="zh-CN" sz="2400" dirty="0"/>
          </a:p>
          <a:p>
            <a:r>
              <a:rPr lang="en-US" altLang="zh-CN" sz="2400" b="1" dirty="0"/>
              <a:t>Formal verification</a:t>
            </a:r>
            <a:r>
              <a:rPr lang="zh-CN" altLang="en-US" sz="2400" dirty="0"/>
              <a:t>（形式化验证）：对形式化规范进行分析和推理，研究它的各种静态和动态性质</a:t>
            </a:r>
            <a:endParaRPr lang="zh-CN" altLang="en-US" sz="2400" dirty="0"/>
          </a:p>
          <a:p>
            <a:pPr lvl="1"/>
            <a:r>
              <a:rPr lang="zh-CN" altLang="en-US" sz="2000" dirty="0"/>
              <a:t>是否一致并完整，有无矛盾或遗漏？找出并更正其中的错误和缺陷；</a:t>
            </a:r>
            <a:endParaRPr lang="zh-CN" altLang="en-US" sz="2000" dirty="0"/>
          </a:p>
          <a:p>
            <a:pPr lvl="1"/>
            <a:r>
              <a:rPr lang="zh-CN" altLang="en-US" sz="2000" dirty="0"/>
              <a:t>运行中是否会出现不能容忍的状态（死锁、活锁等）。</a:t>
            </a:r>
            <a:endParaRPr lang="zh-CN" altLang="en-US" sz="2000" dirty="0"/>
          </a:p>
          <a:p>
            <a:r>
              <a:rPr lang="en-US" altLang="zh-CN" sz="2400" b="1" dirty="0"/>
              <a:t>Formal Refinement</a:t>
            </a:r>
            <a:r>
              <a:rPr lang="zh-CN" altLang="en-US" sz="2400" dirty="0"/>
              <a:t>（精化）：从抽象的高层描述出发，严格地保语义地推导更接近实现的包含更多细节的规范；通过反复精化，最终得到正确的可运行程序。</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483">
                                            <p:txEl>
                                              <p:pRg st="1" end="1"/>
                                            </p:txEl>
                                          </p:spTgt>
                                        </p:tgtEl>
                                        <p:attrNameLst>
                                          <p:attrName>style.visibility</p:attrName>
                                        </p:attrNameLst>
                                      </p:cBhvr>
                                      <p:to>
                                        <p:strVal val="visible"/>
                                      </p:to>
                                    </p:set>
                                    <p:anim calcmode="lin" valueType="num">
                                      <p:cBhvr additive="base">
                                        <p:cTn id="7" dur="500" fill="hold"/>
                                        <p:tgtEl>
                                          <p:spTgt spid="204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04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20483">
                                            <p:txEl>
                                              <p:pRg st="2" end="2"/>
                                            </p:txEl>
                                          </p:spTgt>
                                        </p:tgtEl>
                                        <p:attrNameLst>
                                          <p:attrName>style.visibility</p:attrName>
                                        </p:attrNameLst>
                                      </p:cBhvr>
                                      <p:to>
                                        <p:strVal val="visible"/>
                                      </p:to>
                                    </p:set>
                                    <p:animEffect transition="in" filter="fade">
                                      <p:cBhvr>
                                        <p:cTn id="13" dur="1000"/>
                                        <p:tgtEl>
                                          <p:spTgt spid="20483">
                                            <p:txEl>
                                              <p:pRg st="2" end="2"/>
                                            </p:txEl>
                                          </p:spTgt>
                                        </p:tgtEl>
                                      </p:cBhvr>
                                    </p:animEffect>
                                    <p:anim calcmode="lin" valueType="num">
                                      <p:cBhvr>
                                        <p:cTn id="14" dur="1000" fill="hold"/>
                                        <p:tgtEl>
                                          <p:spTgt spid="20483">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20483">
                                            <p:txEl>
                                              <p:pRg st="2" end="2"/>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20483">
                                            <p:txEl>
                                              <p:pRg st="3" end="3"/>
                                            </p:txEl>
                                          </p:spTgt>
                                        </p:tgtEl>
                                        <p:attrNameLst>
                                          <p:attrName>style.visibility</p:attrName>
                                        </p:attrNameLst>
                                      </p:cBhvr>
                                      <p:to>
                                        <p:strVal val="visible"/>
                                      </p:to>
                                    </p:set>
                                    <p:animEffect transition="in" filter="fade">
                                      <p:cBhvr>
                                        <p:cTn id="18" dur="1000"/>
                                        <p:tgtEl>
                                          <p:spTgt spid="20483">
                                            <p:txEl>
                                              <p:pRg st="3" end="3"/>
                                            </p:txEl>
                                          </p:spTgt>
                                        </p:tgtEl>
                                      </p:cBhvr>
                                    </p:animEffect>
                                    <p:anim calcmode="lin" valueType="num">
                                      <p:cBhvr>
                                        <p:cTn id="19" dur="1000" fill="hold"/>
                                        <p:tgtEl>
                                          <p:spTgt spid="20483">
                                            <p:txEl>
                                              <p:pRg st="3" end="3"/>
                                            </p:txEl>
                                          </p:spTgt>
                                        </p:tgtEl>
                                        <p:attrNameLst>
                                          <p:attrName>ppt_x</p:attrName>
                                        </p:attrNameLst>
                                      </p:cBhvr>
                                      <p:tavLst>
                                        <p:tav tm="0">
                                          <p:val>
                                            <p:strVal val="#ppt_x"/>
                                          </p:val>
                                        </p:tav>
                                        <p:tav tm="100000">
                                          <p:val>
                                            <p:strVal val="#ppt_x"/>
                                          </p:val>
                                        </p:tav>
                                      </p:tavLst>
                                    </p:anim>
                                    <p:anim calcmode="lin" valueType="num">
                                      <p:cBhvr>
                                        <p:cTn id="20" dur="1000" fill="hold"/>
                                        <p:tgtEl>
                                          <p:spTgt spid="20483">
                                            <p:txEl>
                                              <p:pRg st="3" end="3"/>
                                            </p:txEl>
                                          </p:spTgt>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20483">
                                            <p:txEl>
                                              <p:pRg st="4" end="4"/>
                                            </p:txEl>
                                          </p:spTgt>
                                        </p:tgtEl>
                                        <p:attrNameLst>
                                          <p:attrName>style.visibility</p:attrName>
                                        </p:attrNameLst>
                                      </p:cBhvr>
                                      <p:to>
                                        <p:strVal val="visible"/>
                                      </p:to>
                                    </p:set>
                                    <p:animEffect transition="in" filter="fade">
                                      <p:cBhvr>
                                        <p:cTn id="23" dur="1000"/>
                                        <p:tgtEl>
                                          <p:spTgt spid="20483">
                                            <p:txEl>
                                              <p:pRg st="4" end="4"/>
                                            </p:txEl>
                                          </p:spTgt>
                                        </p:tgtEl>
                                      </p:cBhvr>
                                    </p:animEffect>
                                    <p:anim calcmode="lin" valueType="num">
                                      <p:cBhvr>
                                        <p:cTn id="24" dur="1000" fill="hold"/>
                                        <p:tgtEl>
                                          <p:spTgt spid="20483">
                                            <p:txEl>
                                              <p:pRg st="4" end="4"/>
                                            </p:txEl>
                                          </p:spTgt>
                                        </p:tgtEl>
                                        <p:attrNameLst>
                                          <p:attrName>ppt_x</p:attrName>
                                        </p:attrNameLst>
                                      </p:cBhvr>
                                      <p:tavLst>
                                        <p:tav tm="0">
                                          <p:val>
                                            <p:strVal val="#ppt_x"/>
                                          </p:val>
                                        </p:tav>
                                        <p:tav tm="100000">
                                          <p:val>
                                            <p:strVal val="#ppt_x"/>
                                          </p:val>
                                        </p:tav>
                                      </p:tavLst>
                                    </p:anim>
                                    <p:anim calcmode="lin" valueType="num">
                                      <p:cBhvr>
                                        <p:cTn id="25" dur="1000" fill="hold"/>
                                        <p:tgtEl>
                                          <p:spTgt spid="2048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20483">
                                            <p:txEl>
                                              <p:pRg st="5" end="5"/>
                                            </p:txEl>
                                          </p:spTgt>
                                        </p:tgtEl>
                                        <p:attrNameLst>
                                          <p:attrName>style.visibility</p:attrName>
                                        </p:attrNameLst>
                                      </p:cBhvr>
                                      <p:to>
                                        <p:strVal val="visible"/>
                                      </p:to>
                                    </p:set>
                                    <p:animEffect transition="in" filter="fade">
                                      <p:cBhvr>
                                        <p:cTn id="30" dur="1000"/>
                                        <p:tgtEl>
                                          <p:spTgt spid="20483">
                                            <p:txEl>
                                              <p:pRg st="5" end="5"/>
                                            </p:txEl>
                                          </p:spTgt>
                                        </p:tgtEl>
                                      </p:cBhvr>
                                    </p:animEffect>
                                    <p:anim calcmode="lin" valueType="num">
                                      <p:cBhvr>
                                        <p:cTn id="31" dur="1000" fill="hold"/>
                                        <p:tgtEl>
                                          <p:spTgt spid="20483">
                                            <p:txEl>
                                              <p:pRg st="5" end="5"/>
                                            </p:txEl>
                                          </p:spTgt>
                                        </p:tgtEl>
                                        <p:attrNameLst>
                                          <p:attrName>ppt_x</p:attrName>
                                        </p:attrNameLst>
                                      </p:cBhvr>
                                      <p:tavLst>
                                        <p:tav tm="0">
                                          <p:val>
                                            <p:strVal val="#ppt_x"/>
                                          </p:val>
                                        </p:tav>
                                        <p:tav tm="100000">
                                          <p:val>
                                            <p:strVal val="#ppt_x"/>
                                          </p:val>
                                        </p:tav>
                                      </p:tavLst>
                                    </p:anim>
                                    <p:anim calcmode="lin" valueType="num">
                                      <p:cBhvr>
                                        <p:cTn id="32" dur="1000" fill="hold"/>
                                        <p:tgtEl>
                                          <p:spTgt spid="2048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232" y="404664"/>
            <a:ext cx="8183562" cy="653443"/>
          </a:xfrm>
        </p:spPr>
        <p:txBody>
          <a:bodyPr/>
          <a:lstStyle/>
          <a:p>
            <a:pPr>
              <a:defRPr/>
            </a:pPr>
            <a:r>
              <a:rPr lang="zh-CN" altLang="en-US" dirty="0" smtClean="0"/>
              <a:t>形式化方法的发展</a:t>
            </a:r>
            <a:endParaRPr lang="zh-CN" altLang="en-US" dirty="0"/>
          </a:p>
        </p:txBody>
      </p:sp>
      <p:sp>
        <p:nvSpPr>
          <p:cNvPr id="51203" name="内容占位符 2"/>
          <p:cNvSpPr>
            <a:spLocks noGrp="1"/>
          </p:cNvSpPr>
          <p:nvPr>
            <p:ph idx="1"/>
          </p:nvPr>
        </p:nvSpPr>
        <p:spPr>
          <a:xfrm>
            <a:off x="323528" y="1484784"/>
            <a:ext cx="8568952" cy="4392612"/>
          </a:xfrm>
        </p:spPr>
        <p:txBody>
          <a:bodyPr>
            <a:normAutofit fontScale="92500" lnSpcReduction="10000"/>
          </a:bodyPr>
          <a:lstStyle/>
          <a:p>
            <a:pPr>
              <a:lnSpc>
                <a:spcPct val="150000"/>
              </a:lnSpc>
            </a:pPr>
            <a:r>
              <a:rPr lang="en-US" altLang="zh-CN" dirty="0" smtClean="0"/>
              <a:t>20</a:t>
            </a:r>
            <a:r>
              <a:rPr lang="zh-CN" altLang="en-US" dirty="0" smtClean="0"/>
              <a:t>世纪</a:t>
            </a:r>
            <a:r>
              <a:rPr lang="en-US" altLang="zh-CN" dirty="0" smtClean="0"/>
              <a:t>60</a:t>
            </a:r>
            <a:r>
              <a:rPr lang="zh-CN" altLang="en-US" dirty="0" smtClean="0"/>
              <a:t>年代：</a:t>
            </a:r>
            <a:r>
              <a:rPr lang="en-US" altLang="zh-CN" dirty="0"/>
              <a:t>Floyd</a:t>
            </a:r>
            <a:r>
              <a:rPr lang="zh-CN" altLang="en-US" dirty="0"/>
              <a:t>、</a:t>
            </a:r>
            <a:r>
              <a:rPr lang="en-US" altLang="zh-CN" dirty="0"/>
              <a:t>Hoare</a:t>
            </a:r>
            <a:r>
              <a:rPr lang="zh-CN" altLang="en-US" dirty="0"/>
              <a:t>和</a:t>
            </a:r>
            <a:r>
              <a:rPr lang="en-US" altLang="zh-CN" dirty="0"/>
              <a:t>Manna</a:t>
            </a:r>
            <a:r>
              <a:rPr lang="zh-CN" altLang="en-US" dirty="0" smtClean="0"/>
              <a:t>等试图</a:t>
            </a:r>
            <a:r>
              <a:rPr lang="zh-CN" altLang="en-US" dirty="0"/>
              <a:t>用数学方法来证明程序的</a:t>
            </a:r>
            <a:r>
              <a:rPr lang="zh-CN" altLang="en-US" dirty="0" smtClean="0"/>
              <a:t>正确性</a:t>
            </a:r>
            <a:endParaRPr lang="en-US" altLang="zh-CN" dirty="0" smtClean="0"/>
          </a:p>
          <a:p>
            <a:pPr>
              <a:lnSpc>
                <a:spcPct val="150000"/>
              </a:lnSpc>
            </a:pPr>
            <a:r>
              <a:rPr lang="en-US" altLang="zh-CN" dirty="0" smtClean="0"/>
              <a:t>20</a:t>
            </a:r>
            <a:r>
              <a:rPr lang="zh-CN" altLang="en-US" dirty="0" smtClean="0"/>
              <a:t>世纪</a:t>
            </a:r>
            <a:r>
              <a:rPr lang="en-US" altLang="zh-CN" dirty="0" smtClean="0"/>
              <a:t>80</a:t>
            </a:r>
            <a:r>
              <a:rPr lang="zh-CN" altLang="en-US" dirty="0" smtClean="0"/>
              <a:t>年代：硬件电路设计的形式化方法应用（时序逻辑和模型检验的诞生）</a:t>
            </a:r>
            <a:endParaRPr lang="en-US" altLang="zh-CN" dirty="0" smtClean="0"/>
          </a:p>
          <a:p>
            <a:pPr>
              <a:lnSpc>
                <a:spcPct val="150000"/>
              </a:lnSpc>
            </a:pPr>
            <a:r>
              <a:rPr lang="en-US" altLang="zh-CN" dirty="0" smtClean="0"/>
              <a:t>20</a:t>
            </a:r>
            <a:r>
              <a:rPr lang="zh-CN" altLang="en-US" dirty="0" smtClean="0"/>
              <a:t>世纪</a:t>
            </a:r>
            <a:r>
              <a:rPr lang="en-US" altLang="zh-CN" dirty="0" smtClean="0"/>
              <a:t>90</a:t>
            </a:r>
            <a:r>
              <a:rPr lang="zh-CN" altLang="en-US" dirty="0" smtClean="0"/>
              <a:t>年代：通信协议和智能控制系统中的形式化方法应用（工业界应用高速发展）</a:t>
            </a:r>
            <a:endParaRPr lang="en-US" altLang="zh-CN" dirty="0" smtClean="0"/>
          </a:p>
          <a:p>
            <a:pPr>
              <a:lnSpc>
                <a:spcPct val="150000"/>
              </a:lnSpc>
            </a:pPr>
            <a:r>
              <a:rPr lang="zh-CN" altLang="en-US" dirty="0" smtClean="0"/>
              <a:t>本世纪：交互式并发软件系统的形式化方法应用</a:t>
            </a:r>
            <a:endParaRPr lang="en-US" altLang="zh-CN" dirty="0" smtClean="0"/>
          </a:p>
        </p:txBody>
      </p:sp>
      <p:sp>
        <p:nvSpPr>
          <p:cNvPr id="4" name="灯片编号占位符 3"/>
          <p:cNvSpPr>
            <a:spLocks noGrp="1"/>
          </p:cNvSpPr>
          <p:nvPr>
            <p:ph type="sldNum" sz="quarter" idx="12"/>
          </p:nvPr>
        </p:nvSpPr>
        <p:spPr/>
        <p:txBody>
          <a:bodyPr/>
          <a:lstStyle/>
          <a:p>
            <a:pPr>
              <a:defRPr/>
            </a:pPr>
            <a:fld id="{D725A261-DD61-4034-9029-68B4FB07DAA3}" type="slidenum">
              <a:rPr lang="zh-CN" altLang="en-US" smtClean="0"/>
            </a:fld>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additive="base">
                                        <p:cTn id="7" dur="500" fill="hold"/>
                                        <p:tgtEl>
                                          <p:spTgt spid="512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03">
                                            <p:txEl>
                                              <p:pRg st="1" end="1"/>
                                            </p:txEl>
                                          </p:spTgt>
                                        </p:tgtEl>
                                        <p:attrNameLst>
                                          <p:attrName>style.visibility</p:attrName>
                                        </p:attrNameLst>
                                      </p:cBhvr>
                                      <p:to>
                                        <p:strVal val="visible"/>
                                      </p:to>
                                    </p:set>
                                    <p:anim calcmode="lin" valueType="num">
                                      <p:cBhvr additive="base">
                                        <p:cTn id="13" dur="500" fill="hold"/>
                                        <p:tgtEl>
                                          <p:spTgt spid="512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1203">
                                            <p:txEl>
                                              <p:pRg st="2" end="2"/>
                                            </p:txEl>
                                          </p:spTgt>
                                        </p:tgtEl>
                                        <p:attrNameLst>
                                          <p:attrName>style.visibility</p:attrName>
                                        </p:attrNameLst>
                                      </p:cBhvr>
                                      <p:to>
                                        <p:strVal val="visible"/>
                                      </p:to>
                                    </p:set>
                                    <p:anim calcmode="lin" valueType="num">
                                      <p:cBhvr additive="base">
                                        <p:cTn id="19" dur="500" fill="hold"/>
                                        <p:tgtEl>
                                          <p:spTgt spid="512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1203">
                                            <p:txEl>
                                              <p:pRg st="3" end="3"/>
                                            </p:txEl>
                                          </p:spTgt>
                                        </p:tgtEl>
                                        <p:attrNameLst>
                                          <p:attrName>style.visibility</p:attrName>
                                        </p:attrNameLst>
                                      </p:cBhvr>
                                      <p:to>
                                        <p:strVal val="visible"/>
                                      </p:to>
                                    </p:set>
                                    <p:animEffect transition="in" filter="fade">
                                      <p:cBhvr>
                                        <p:cTn id="25" dur="1000"/>
                                        <p:tgtEl>
                                          <p:spTgt spid="51203">
                                            <p:txEl>
                                              <p:pRg st="3" end="3"/>
                                            </p:txEl>
                                          </p:spTgt>
                                        </p:tgtEl>
                                      </p:cBhvr>
                                    </p:animEffect>
                                    <p:anim calcmode="lin" valueType="num">
                                      <p:cBhvr>
                                        <p:cTn id="26" dur="1000" fill="hold"/>
                                        <p:tgtEl>
                                          <p:spTgt spid="51203">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5120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2"/>
          <p:cNvSpPr>
            <a:spLocks noGrp="1" noChangeArrowheads="1"/>
          </p:cNvSpPr>
          <p:nvPr>
            <p:ph type="title"/>
          </p:nvPr>
        </p:nvSpPr>
        <p:spPr/>
        <p:txBody>
          <a:bodyPr/>
          <a:lstStyle/>
          <a:p>
            <a:r>
              <a:rPr lang="zh-CN" altLang="en-US" dirty="0" smtClean="0"/>
              <a:t>经典</a:t>
            </a:r>
            <a:r>
              <a:rPr lang="zh-CN" altLang="en-US" dirty="0"/>
              <a:t>案例及应用</a:t>
            </a:r>
            <a:endParaRPr lang="zh-CN" altLang="en-US" dirty="0"/>
          </a:p>
        </p:txBody>
      </p:sp>
      <p:sp>
        <p:nvSpPr>
          <p:cNvPr id="166915" name="Rectangle 3"/>
          <p:cNvSpPr>
            <a:spLocks noGrp="1" noChangeArrowheads="1"/>
          </p:cNvSpPr>
          <p:nvPr>
            <p:ph type="body" idx="1"/>
          </p:nvPr>
        </p:nvSpPr>
        <p:spPr>
          <a:xfrm>
            <a:off x="179512" y="1268760"/>
            <a:ext cx="8568952" cy="4032448"/>
          </a:xfrm>
        </p:spPr>
        <p:txBody>
          <a:bodyPr/>
          <a:lstStyle/>
          <a:p>
            <a:pPr>
              <a:lnSpc>
                <a:spcPct val="90000"/>
              </a:lnSpc>
            </a:pPr>
            <a:r>
              <a:rPr lang="en-US" altLang="zh-CN" sz="2800" dirty="0"/>
              <a:t>Praxis</a:t>
            </a:r>
            <a:r>
              <a:rPr lang="zh-CN" altLang="en-US" sz="2800" dirty="0"/>
              <a:t>公司于</a:t>
            </a:r>
            <a:r>
              <a:rPr lang="en-US" altLang="zh-CN" sz="2800" dirty="0"/>
              <a:t>1992</a:t>
            </a:r>
            <a:r>
              <a:rPr lang="zh-CN" altLang="en-US" sz="2800" dirty="0"/>
              <a:t>年交付给英国民航局的信息显示系统是伦敦机场新空中交通管理系统的一部分。在该系统的需求分析阶段，形式化描述和非形式结构化的需求概念相结合；在系统规格阶段，采用了抽象的</a:t>
            </a:r>
            <a:r>
              <a:rPr lang="en-US" altLang="zh-CN" sz="2800" dirty="0"/>
              <a:t>VDM</a:t>
            </a:r>
            <a:r>
              <a:rPr lang="zh-CN" altLang="en-US" sz="2800" dirty="0"/>
              <a:t>模型；在设计阶段，抽象</a:t>
            </a:r>
            <a:r>
              <a:rPr lang="en-US" altLang="zh-CN" sz="2800" dirty="0"/>
              <a:t>VDM</a:t>
            </a:r>
            <a:r>
              <a:rPr lang="zh-CN" altLang="en-US" sz="2800" dirty="0"/>
              <a:t>细化为更为具体的规格。项目开发的生产效率和采用非形式化技术相当，甚至更好。同时，软件质量得到了很大的提高，软件的故障率仅为</a:t>
            </a:r>
            <a:r>
              <a:rPr lang="en-US" altLang="zh-CN" sz="2800" dirty="0"/>
              <a:t>0.75</a:t>
            </a:r>
            <a:r>
              <a:rPr lang="zh-CN" altLang="en-US" sz="2800" dirty="0"/>
              <a:t>每千行代码，大大低于采用非形式化技术所提供的软件的故障率（约为</a:t>
            </a:r>
            <a:r>
              <a:rPr lang="en-US" altLang="zh-CN" sz="2800" dirty="0"/>
              <a:t>2~20</a:t>
            </a:r>
            <a:r>
              <a:rPr lang="zh-CN" altLang="en-US" sz="2800" dirty="0"/>
              <a:t>每千行代码）。</a:t>
            </a:r>
            <a:endParaRPr lang="zh-CN" altLang="en-US" sz="28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r>
              <a:rPr lang="zh-CN" altLang="en-US" dirty="0" smtClean="0"/>
              <a:t>经典</a:t>
            </a:r>
            <a:r>
              <a:rPr lang="zh-CN" altLang="en-US" dirty="0"/>
              <a:t>案例及应用</a:t>
            </a:r>
            <a:endParaRPr lang="zh-CN" altLang="en-US" dirty="0"/>
          </a:p>
        </p:txBody>
      </p:sp>
      <p:sp>
        <p:nvSpPr>
          <p:cNvPr id="165891" name="Rectangle 3"/>
          <p:cNvSpPr>
            <a:spLocks noGrp="1" noChangeArrowheads="1"/>
          </p:cNvSpPr>
          <p:nvPr>
            <p:ph type="body" idx="1"/>
          </p:nvPr>
        </p:nvSpPr>
        <p:spPr>
          <a:xfrm>
            <a:off x="468313" y="1484313"/>
            <a:ext cx="8142287" cy="3096815"/>
          </a:xfrm>
        </p:spPr>
        <p:txBody>
          <a:bodyPr/>
          <a:lstStyle/>
          <a:p>
            <a:r>
              <a:rPr lang="zh-CN" altLang="en-US" dirty="0"/>
              <a:t>加州大学的安全关键系统研究组所开发的空中交通防碰撞系统的形式化需求规格</a:t>
            </a:r>
            <a:r>
              <a:rPr lang="en-US" altLang="zh-CN" dirty="0"/>
              <a:t>TCASII</a:t>
            </a:r>
            <a:r>
              <a:rPr lang="zh-CN" altLang="en-US" dirty="0"/>
              <a:t>，采用了基于</a:t>
            </a:r>
            <a:r>
              <a:rPr lang="en-US" altLang="zh-CN" dirty="0" err="1"/>
              <a:t>Statecharts</a:t>
            </a:r>
            <a:r>
              <a:rPr lang="zh-CN" altLang="en-US" dirty="0"/>
              <a:t>的需求状态机语言</a:t>
            </a:r>
            <a:r>
              <a:rPr lang="en-US" altLang="zh-CN" dirty="0"/>
              <a:t>RSML</a:t>
            </a:r>
            <a:r>
              <a:rPr lang="zh-CN" altLang="en-US" dirty="0"/>
              <a:t>，解决了开发过程中遇到的许多问题。</a:t>
            </a:r>
            <a:r>
              <a:rPr lang="en-US" altLang="zh-CN" dirty="0"/>
              <a:t>TCASII</a:t>
            </a:r>
            <a:r>
              <a:rPr lang="zh-CN" altLang="en-US" dirty="0"/>
              <a:t>项目表明了复杂过程控制系统列写形式化需求规格的可能性以及应用工程师们不经任何专门培训建立易读且易评判的形式化规格的可行性。</a:t>
            </a:r>
            <a:endParaRPr lang="zh-CN" alt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ChangeArrowheads="1"/>
          </p:cNvSpPr>
          <p:nvPr>
            <p:ph type="title"/>
          </p:nvPr>
        </p:nvSpPr>
        <p:spPr>
          <a:xfrm>
            <a:off x="1403648" y="332656"/>
            <a:ext cx="5616575" cy="576262"/>
          </a:xfrm>
        </p:spPr>
        <p:txBody>
          <a:bodyPr/>
          <a:lstStyle/>
          <a:p>
            <a:r>
              <a:rPr lang="zh-CN" altLang="en-US" dirty="0" smtClean="0"/>
              <a:t>经典</a:t>
            </a:r>
            <a:r>
              <a:rPr lang="zh-CN" altLang="en-US" dirty="0"/>
              <a:t>案例及应用</a:t>
            </a:r>
            <a:endParaRPr lang="zh-CN" altLang="en-US" dirty="0"/>
          </a:p>
        </p:txBody>
      </p:sp>
      <p:sp>
        <p:nvSpPr>
          <p:cNvPr id="168963" name="Rectangle 3"/>
          <p:cNvSpPr>
            <a:spLocks noGrp="1" noChangeArrowheads="1"/>
          </p:cNvSpPr>
          <p:nvPr>
            <p:ph type="body" idx="1"/>
          </p:nvPr>
        </p:nvSpPr>
        <p:spPr>
          <a:xfrm>
            <a:off x="395536" y="1556792"/>
            <a:ext cx="8136904" cy="4104456"/>
          </a:xfrm>
        </p:spPr>
        <p:txBody>
          <a:bodyPr>
            <a:noAutofit/>
          </a:bodyPr>
          <a:lstStyle/>
          <a:p>
            <a:pPr>
              <a:lnSpc>
                <a:spcPct val="90000"/>
              </a:lnSpc>
            </a:pPr>
            <a:r>
              <a:rPr kumimoji="1" lang="zh-CN" altLang="en-US" sz="2000" dirty="0">
                <a:effectLst/>
              </a:rPr>
              <a:t>除此之外还有</a:t>
            </a:r>
            <a:r>
              <a:rPr kumimoji="1" lang="zh-CN" altLang="en-US" sz="2000" dirty="0" smtClean="0">
                <a:effectLst/>
              </a:rPr>
              <a:t>：</a:t>
            </a:r>
            <a:endParaRPr kumimoji="1" lang="zh-CN" altLang="en-US" sz="2000" dirty="0">
              <a:effectLst/>
            </a:endParaRPr>
          </a:p>
          <a:p>
            <a:pPr>
              <a:lnSpc>
                <a:spcPct val="90000"/>
              </a:lnSpc>
              <a:buFont typeface="Wingdings" panose="05000000000000000000" pitchFamily="2" charset="2"/>
              <a:buNone/>
            </a:pPr>
            <a:r>
              <a:rPr kumimoji="1" lang="zh-CN" altLang="en-US" sz="2000" dirty="0">
                <a:effectLst/>
              </a:rPr>
              <a:t> （</a:t>
            </a:r>
            <a:r>
              <a:rPr kumimoji="1" lang="en-US" altLang="zh-CN" sz="2000" dirty="0">
                <a:effectLst/>
              </a:rPr>
              <a:t>1</a:t>
            </a:r>
            <a:r>
              <a:rPr kumimoji="1" lang="zh-CN" altLang="en-US" sz="2000" dirty="0">
                <a:effectLst/>
              </a:rPr>
              <a:t>）数据库：用于存储病人监护信息的</a:t>
            </a:r>
            <a:r>
              <a:rPr kumimoji="1" lang="en-US" altLang="zh-CN" sz="2000" dirty="0" smtClean="0">
                <a:effectLst/>
              </a:rPr>
              <a:t>HP</a:t>
            </a:r>
            <a:r>
              <a:rPr kumimoji="1" lang="zh-CN" altLang="en-US" sz="2000" dirty="0" smtClean="0">
                <a:effectLst/>
              </a:rPr>
              <a:t>医用</a:t>
            </a:r>
            <a:r>
              <a:rPr kumimoji="1" lang="zh-CN" altLang="en-US" sz="2000" dirty="0">
                <a:effectLst/>
              </a:rPr>
              <a:t>仪器实时数据库系统。</a:t>
            </a:r>
            <a:endParaRPr kumimoji="1" lang="zh-CN" altLang="en-US" sz="2000" dirty="0">
              <a:effectLst/>
            </a:endParaRPr>
          </a:p>
          <a:p>
            <a:pPr>
              <a:lnSpc>
                <a:spcPct val="90000"/>
              </a:lnSpc>
              <a:buFont typeface="Wingdings" panose="05000000000000000000" pitchFamily="2" charset="2"/>
              <a:buNone/>
            </a:pPr>
            <a:r>
              <a:rPr kumimoji="1" lang="zh-CN" altLang="en-US" sz="2000" dirty="0">
                <a:effectLst/>
              </a:rPr>
              <a:t> （</a:t>
            </a:r>
            <a:r>
              <a:rPr kumimoji="1" lang="en-US" altLang="zh-CN" sz="2000" dirty="0">
                <a:effectLst/>
              </a:rPr>
              <a:t>2</a:t>
            </a:r>
            <a:r>
              <a:rPr kumimoji="1" lang="zh-CN" altLang="en-US" sz="2000" dirty="0">
                <a:effectLst/>
              </a:rPr>
              <a:t>）核反应堆系统：核反应器安全系统</a:t>
            </a:r>
            <a:r>
              <a:rPr kumimoji="1" lang="zh-CN" altLang="en-US" sz="2000" dirty="0" smtClean="0">
                <a:effectLst/>
              </a:rPr>
              <a:t>、核发</a:t>
            </a:r>
            <a:r>
              <a:rPr kumimoji="1" lang="zh-CN" altLang="en-US" sz="2000" dirty="0">
                <a:effectLst/>
              </a:rPr>
              <a:t>电系统的切换装置。</a:t>
            </a:r>
            <a:endParaRPr kumimoji="1" lang="zh-CN" altLang="en-US" sz="2000" dirty="0">
              <a:effectLst/>
            </a:endParaRPr>
          </a:p>
          <a:p>
            <a:pPr>
              <a:lnSpc>
                <a:spcPct val="90000"/>
              </a:lnSpc>
              <a:buFont typeface="Wingdings" panose="05000000000000000000" pitchFamily="2" charset="2"/>
              <a:buNone/>
            </a:pPr>
            <a:r>
              <a:rPr kumimoji="1" lang="zh-CN" altLang="en-US" sz="2000" dirty="0">
                <a:effectLst/>
              </a:rPr>
              <a:t> （</a:t>
            </a:r>
            <a:r>
              <a:rPr kumimoji="1" lang="en-US" altLang="zh-CN" sz="2000" dirty="0">
                <a:effectLst/>
              </a:rPr>
              <a:t>3</a:t>
            </a:r>
            <a:r>
              <a:rPr kumimoji="1" lang="zh-CN" altLang="en-US" sz="2000" dirty="0">
                <a:effectLst/>
              </a:rPr>
              <a:t>）电信系统：</a:t>
            </a:r>
            <a:r>
              <a:rPr kumimoji="1" lang="en-US" altLang="zh-CN" sz="2000" dirty="0">
                <a:effectLst/>
              </a:rPr>
              <a:t>AT&amp;T</a:t>
            </a:r>
            <a:r>
              <a:rPr kumimoji="1" lang="zh-CN" altLang="en-US" sz="2000" dirty="0">
                <a:effectLst/>
              </a:rPr>
              <a:t>的</a:t>
            </a:r>
            <a:r>
              <a:rPr kumimoji="1" lang="en-US" altLang="zh-CN" sz="2000" dirty="0">
                <a:effectLst/>
              </a:rPr>
              <a:t>5ESS</a:t>
            </a:r>
            <a:r>
              <a:rPr kumimoji="1" lang="zh-CN" altLang="en-US" sz="2000" dirty="0">
                <a:effectLst/>
              </a:rPr>
              <a:t>电话</a:t>
            </a:r>
            <a:r>
              <a:rPr kumimoji="1" lang="zh-CN" altLang="en-US" sz="2000" dirty="0" smtClean="0">
                <a:effectLst/>
              </a:rPr>
              <a:t>交换系统</a:t>
            </a:r>
            <a:r>
              <a:rPr kumimoji="1" lang="zh-CN" altLang="en-US" sz="2000" dirty="0">
                <a:effectLst/>
              </a:rPr>
              <a:t>、德国电信的电话业务系统</a:t>
            </a:r>
            <a:r>
              <a:rPr kumimoji="1" lang="zh-CN" altLang="en-US" sz="2000" dirty="0" smtClean="0">
                <a:effectLst/>
              </a:rPr>
              <a:t>。</a:t>
            </a:r>
            <a:endParaRPr kumimoji="1" lang="en-US" altLang="zh-CN" sz="2000" dirty="0" smtClean="0">
              <a:effectLst/>
            </a:endParaRPr>
          </a:p>
          <a:p>
            <a:pPr>
              <a:buFont typeface="Wingdings" panose="05000000000000000000" pitchFamily="2" charset="2"/>
              <a:buNone/>
            </a:pPr>
            <a:r>
              <a:rPr lang="zh-CN" altLang="en-US" sz="2000" dirty="0" smtClean="0"/>
              <a:t>（</a:t>
            </a:r>
            <a:r>
              <a:rPr lang="en-US" altLang="zh-CN" sz="2000" dirty="0" smtClean="0"/>
              <a:t>4</a:t>
            </a:r>
            <a:r>
              <a:rPr lang="zh-CN" altLang="en-US" sz="2000" dirty="0" smtClean="0"/>
              <a:t>）保密系统：</a:t>
            </a:r>
            <a:r>
              <a:rPr lang="en-US" altLang="zh-CN" sz="2000" dirty="0" smtClean="0"/>
              <a:t>NATO</a:t>
            </a:r>
            <a:r>
              <a:rPr lang="zh-CN" altLang="en-US" sz="2000" dirty="0" smtClean="0"/>
              <a:t>控制指挥和控制系统中的保密策略模型、</a:t>
            </a:r>
            <a:r>
              <a:rPr lang="en-US" altLang="zh-CN" sz="2000" dirty="0" err="1" smtClean="0"/>
              <a:t>Multinet</a:t>
            </a:r>
            <a:r>
              <a:rPr lang="zh-CN" altLang="en-US" sz="2000" dirty="0" smtClean="0"/>
              <a:t>网关系统的数据安全传输、美国国家标准和技术院的令牌访问控制系统。</a:t>
            </a:r>
            <a:endParaRPr lang="zh-CN" altLang="en-US" sz="2000" dirty="0" smtClean="0"/>
          </a:p>
          <a:p>
            <a:pPr>
              <a:buFont typeface="Wingdings" panose="05000000000000000000" pitchFamily="2" charset="2"/>
              <a:buNone/>
            </a:pPr>
            <a:r>
              <a:rPr lang="zh-CN" altLang="en-US" sz="2000" dirty="0" smtClean="0"/>
              <a:t>（</a:t>
            </a:r>
            <a:r>
              <a:rPr lang="en-US" altLang="zh-CN" sz="2000" dirty="0" smtClean="0"/>
              <a:t>5</a:t>
            </a:r>
            <a:r>
              <a:rPr lang="zh-CN" altLang="en-US" sz="2000" dirty="0" smtClean="0"/>
              <a:t>）通信协议：协议规格、测试集的生成、协议转换。</a:t>
            </a:r>
            <a:endParaRPr lang="en-US" altLang="zh-CN" sz="2000" dirty="0" smtClean="0"/>
          </a:p>
          <a:p>
            <a:pPr>
              <a:buFont typeface="Wingdings" panose="05000000000000000000" pitchFamily="2" charset="2"/>
              <a:buNone/>
            </a:pPr>
            <a:r>
              <a:rPr lang="zh-CN" altLang="en-US" sz="2000" dirty="0" smtClean="0"/>
              <a:t>（</a:t>
            </a:r>
            <a:r>
              <a:rPr lang="en-US" altLang="zh-CN" sz="2000" dirty="0" smtClean="0"/>
              <a:t>6</a:t>
            </a:r>
            <a:r>
              <a:rPr lang="zh-CN" altLang="en-US" sz="2000" dirty="0" smtClean="0"/>
              <a:t>）运输系统：巴黎地铁的自动火车保护系统、英国铁路信号控制、以色列机载航空电子软件。</a:t>
            </a:r>
            <a:endParaRPr lang="zh-CN" altLang="en-US" sz="2000" dirty="0" smtClean="0"/>
          </a:p>
          <a:p>
            <a:pPr>
              <a:buFont typeface="Wingdings" panose="05000000000000000000" pitchFamily="2" charset="2"/>
              <a:buNone/>
            </a:pPr>
            <a:endParaRPr lang="zh-CN" altLang="en-US" sz="2000" dirty="0" smtClean="0"/>
          </a:p>
          <a:p>
            <a:pPr>
              <a:lnSpc>
                <a:spcPct val="90000"/>
              </a:lnSpc>
              <a:buFont typeface="Wingdings" panose="05000000000000000000" pitchFamily="2" charset="2"/>
              <a:buNone/>
            </a:pPr>
            <a:endParaRPr kumimoji="1" lang="zh-CN" altLang="en-US" sz="2000" dirty="0">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8963">
                                            <p:txEl>
                                              <p:pRg st="1" end="1"/>
                                            </p:txEl>
                                          </p:spTgt>
                                        </p:tgtEl>
                                        <p:attrNameLst>
                                          <p:attrName>style.visibility</p:attrName>
                                        </p:attrNameLst>
                                      </p:cBhvr>
                                      <p:to>
                                        <p:strVal val="visible"/>
                                      </p:to>
                                    </p:set>
                                    <p:anim calcmode="lin" valueType="num">
                                      <p:cBhvr additive="base">
                                        <p:cTn id="7" dur="500" fill="hold"/>
                                        <p:tgtEl>
                                          <p:spTgt spid="16896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896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68963">
                                            <p:txEl>
                                              <p:pRg st="2" end="2"/>
                                            </p:txEl>
                                          </p:spTgt>
                                        </p:tgtEl>
                                        <p:attrNameLst>
                                          <p:attrName>style.visibility</p:attrName>
                                        </p:attrNameLst>
                                      </p:cBhvr>
                                      <p:to>
                                        <p:strVal val="visible"/>
                                      </p:to>
                                    </p:set>
                                    <p:anim calcmode="lin" valueType="num">
                                      <p:cBhvr additive="base">
                                        <p:cTn id="13" dur="500" fill="hold"/>
                                        <p:tgtEl>
                                          <p:spTgt spid="16896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896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68963">
                                            <p:txEl>
                                              <p:pRg st="3" end="3"/>
                                            </p:txEl>
                                          </p:spTgt>
                                        </p:tgtEl>
                                        <p:attrNameLst>
                                          <p:attrName>style.visibility</p:attrName>
                                        </p:attrNameLst>
                                      </p:cBhvr>
                                      <p:to>
                                        <p:strVal val="visible"/>
                                      </p:to>
                                    </p:set>
                                    <p:anim calcmode="lin" valueType="num">
                                      <p:cBhvr additive="base">
                                        <p:cTn id="19" dur="500" fill="hold"/>
                                        <p:tgtEl>
                                          <p:spTgt spid="16896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896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8963">
                                            <p:txEl>
                                              <p:pRg st="4" end="4"/>
                                            </p:txEl>
                                          </p:spTgt>
                                        </p:tgtEl>
                                        <p:attrNameLst>
                                          <p:attrName>style.visibility</p:attrName>
                                        </p:attrNameLst>
                                      </p:cBhvr>
                                      <p:to>
                                        <p:strVal val="visible"/>
                                      </p:to>
                                    </p:set>
                                    <p:anim calcmode="lin" valueType="num">
                                      <p:cBhvr additive="base">
                                        <p:cTn id="25" dur="500" fill="hold"/>
                                        <p:tgtEl>
                                          <p:spTgt spid="16896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896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68963">
                                            <p:txEl>
                                              <p:pRg st="5" end="5"/>
                                            </p:txEl>
                                          </p:spTgt>
                                        </p:tgtEl>
                                        <p:attrNameLst>
                                          <p:attrName>style.visibility</p:attrName>
                                        </p:attrNameLst>
                                      </p:cBhvr>
                                      <p:to>
                                        <p:strVal val="visible"/>
                                      </p:to>
                                    </p:set>
                                    <p:anim calcmode="lin" valueType="num">
                                      <p:cBhvr additive="base">
                                        <p:cTn id="31" dur="500" fill="hold"/>
                                        <p:tgtEl>
                                          <p:spTgt spid="16896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896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8963">
                                            <p:txEl>
                                              <p:pRg st="6" end="6"/>
                                            </p:txEl>
                                          </p:spTgt>
                                        </p:tgtEl>
                                        <p:attrNameLst>
                                          <p:attrName>style.visibility</p:attrName>
                                        </p:attrNameLst>
                                      </p:cBhvr>
                                      <p:to>
                                        <p:strVal val="visible"/>
                                      </p:to>
                                    </p:set>
                                    <p:anim calcmode="lin" valueType="num">
                                      <p:cBhvr additive="base">
                                        <p:cTn id="37" dur="500" fill="hold"/>
                                        <p:tgtEl>
                                          <p:spTgt spid="16896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6896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99592" y="2564904"/>
            <a:ext cx="5328592" cy="1152599"/>
          </a:xfrm>
        </p:spPr>
        <p:txBody>
          <a:bodyPr/>
          <a:lstStyle/>
          <a:p>
            <a:r>
              <a:rPr lang="zh-CN" altLang="en-US" dirty="0" smtClean="0"/>
              <a:t>定理证明</a:t>
            </a:r>
            <a:endParaRPr lang="en-US" altLang="zh-CN" dirty="0" smtClean="0"/>
          </a:p>
          <a:p>
            <a:r>
              <a:rPr lang="zh-CN" altLang="en-US" dirty="0" smtClean="0"/>
              <a:t>模型</a:t>
            </a:r>
            <a:r>
              <a:rPr lang="zh-CN" altLang="en-US" dirty="0"/>
              <a:t>检测</a:t>
            </a:r>
            <a:endParaRPr lang="zh-CN" altLang="en-US" dirty="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
        <p:nvSpPr>
          <p:cNvPr id="6" name="Rectangle 2"/>
          <p:cNvSpPr>
            <a:spLocks noGrp="1" noChangeArrowheads="1"/>
          </p:cNvSpPr>
          <p:nvPr>
            <p:ph type="title"/>
          </p:nvPr>
        </p:nvSpPr>
        <p:spPr>
          <a:xfrm>
            <a:off x="1043608" y="415926"/>
            <a:ext cx="5616575" cy="576262"/>
          </a:xfrm>
        </p:spPr>
        <p:txBody>
          <a:bodyPr/>
          <a:lstStyle/>
          <a:p>
            <a:r>
              <a:rPr lang="zh-CN" altLang="en-US" dirty="0"/>
              <a:t>程序验证</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定理证明</a:t>
            </a:r>
            <a:endParaRPr lang="zh-CN" altLang="en-US" dirty="0"/>
          </a:p>
        </p:txBody>
      </p:sp>
      <p:sp>
        <p:nvSpPr>
          <p:cNvPr id="3" name="内容占位符 2"/>
          <p:cNvSpPr>
            <a:spLocks noGrp="1"/>
          </p:cNvSpPr>
          <p:nvPr>
            <p:ph idx="1"/>
          </p:nvPr>
        </p:nvSpPr>
        <p:spPr>
          <a:xfrm>
            <a:off x="468313" y="1484313"/>
            <a:ext cx="8142287" cy="3600871"/>
          </a:xfrm>
        </p:spPr>
        <p:txBody>
          <a:bodyPr/>
          <a:lstStyle/>
          <a:p>
            <a:r>
              <a:rPr lang="zh-CN" altLang="en-US" dirty="0"/>
              <a:t>将系统满足其规约这一论断作为逻辑命题，通过一组推理规则 ，以演绎推理的方式对该命题开展证明。基于定理证明的验证大部分是以程序逻辑为理论基础的</a:t>
            </a:r>
            <a:r>
              <a:rPr lang="en-US" altLang="zh-CN" dirty="0"/>
              <a:t>[2]</a:t>
            </a:r>
            <a:r>
              <a:rPr lang="zh-CN" altLang="en-US" dirty="0"/>
              <a:t>。</a:t>
            </a:r>
            <a:endParaRPr lang="zh-CN" altLang="en-US" dirty="0"/>
          </a:p>
          <a:p>
            <a:r>
              <a:rPr lang="zh-CN" altLang="en-US" dirty="0"/>
              <a:t>霍尔逻辑（</a:t>
            </a:r>
            <a:r>
              <a:rPr lang="en-US" altLang="zh-CN" dirty="0"/>
              <a:t>Hoare</a:t>
            </a:r>
            <a:r>
              <a:rPr lang="zh-CN" altLang="en-US" dirty="0"/>
              <a:t>）是一种典型的定理证明方法，将程序的初始状态进行形式化表述，然后使用一套公理系统对程序进行推导，验证程序是否最终满足结束断言</a:t>
            </a:r>
            <a:r>
              <a:rPr lang="zh-CN" altLang="en-US" dirty="0" smtClean="0"/>
              <a:t>。</a:t>
            </a:r>
            <a:endParaRPr lang="zh-CN" altLang="en-US" dirty="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
        <p:nvSpPr>
          <p:cNvPr id="6" name="矩形 5"/>
          <p:cNvSpPr/>
          <p:nvPr/>
        </p:nvSpPr>
        <p:spPr>
          <a:xfrm>
            <a:off x="1927850" y="6165304"/>
            <a:ext cx="6028526" cy="584775"/>
          </a:xfrm>
          <a:prstGeom prst="rect">
            <a:avLst/>
          </a:prstGeom>
        </p:spPr>
        <p:txBody>
          <a:bodyPr wrap="square">
            <a:spAutoFit/>
          </a:bodyPr>
          <a:lstStyle/>
          <a:p>
            <a:pPr algn="l"/>
            <a:r>
              <a:rPr lang="en-US" altLang="zh-CN" sz="1600" dirty="0"/>
              <a:t>[2</a:t>
            </a:r>
            <a:r>
              <a:rPr lang="en-US" altLang="zh-CN" sz="1600" dirty="0" smtClean="0"/>
              <a:t>]</a:t>
            </a:r>
            <a:r>
              <a:rPr lang="zh-CN" altLang="en-US" sz="1600" dirty="0" smtClean="0"/>
              <a:t>王</a:t>
            </a:r>
            <a:r>
              <a:rPr lang="zh-CN" altLang="en-US" sz="1600" dirty="0"/>
              <a:t>戟</a:t>
            </a:r>
            <a:r>
              <a:rPr lang="en-US" altLang="zh-CN" sz="1600" dirty="0"/>
              <a:t>,</a:t>
            </a:r>
            <a:r>
              <a:rPr lang="zh-CN" altLang="en-US" sz="1600" dirty="0"/>
              <a:t>詹乃军</a:t>
            </a:r>
            <a:r>
              <a:rPr lang="en-US" altLang="zh-CN" sz="1600" dirty="0"/>
              <a:t>,</a:t>
            </a:r>
            <a:r>
              <a:rPr lang="zh-CN" altLang="en-US" sz="1600" dirty="0"/>
              <a:t>冯新宇</a:t>
            </a:r>
            <a:r>
              <a:rPr lang="en-US" altLang="zh-CN" sz="1600" dirty="0"/>
              <a:t>,</a:t>
            </a:r>
            <a:r>
              <a:rPr lang="zh-CN" altLang="en-US" sz="1600" dirty="0"/>
              <a:t>刘志明</a:t>
            </a:r>
            <a:r>
              <a:rPr lang="en-US" altLang="zh-CN" sz="1600" dirty="0"/>
              <a:t>.</a:t>
            </a:r>
            <a:r>
              <a:rPr lang="zh-CN" altLang="en-US" sz="1600" dirty="0"/>
              <a:t>形式化方法概貌</a:t>
            </a:r>
            <a:r>
              <a:rPr lang="en-US" altLang="zh-CN" sz="1600" dirty="0"/>
              <a:t>[J].</a:t>
            </a:r>
            <a:r>
              <a:rPr lang="zh-CN" altLang="en-US" sz="1600" dirty="0"/>
              <a:t>软件学报</a:t>
            </a:r>
            <a:r>
              <a:rPr lang="en-US" altLang="zh-CN" sz="1600" dirty="0"/>
              <a:t>,2019,30(01):33-61.	</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模型检测</a:t>
            </a:r>
            <a:endParaRPr lang="zh-CN" altLang="en-US" dirty="0"/>
          </a:p>
        </p:txBody>
      </p:sp>
      <p:sp>
        <p:nvSpPr>
          <p:cNvPr id="3" name="内容占位符 2"/>
          <p:cNvSpPr>
            <a:spLocks noGrp="1"/>
          </p:cNvSpPr>
          <p:nvPr>
            <p:ph idx="1"/>
          </p:nvPr>
        </p:nvSpPr>
        <p:spPr/>
        <p:txBody>
          <a:bodyPr/>
          <a:lstStyle/>
          <a:p>
            <a:r>
              <a:rPr lang="zh-CN" altLang="zh-CN" dirty="0"/>
              <a:t>模型检测的方法通过将系统进行建模，然后遍历这个模型的所有状态，从而对模型所代表的每个状态进行检测，这样就可以从一定程度来证明该模型没有某种类型的错误</a:t>
            </a:r>
            <a:r>
              <a:rPr lang="zh-CN" altLang="zh-CN" dirty="0" smtClean="0"/>
              <a:t>。</a:t>
            </a:r>
            <a:endParaRPr lang="en-US" altLang="zh-CN" dirty="0" smtClean="0"/>
          </a:p>
          <a:p>
            <a:r>
              <a:rPr lang="zh-CN" altLang="zh-CN" dirty="0" smtClean="0"/>
              <a:t>同时</a:t>
            </a:r>
            <a:r>
              <a:rPr lang="zh-CN" altLang="zh-CN" dirty="0"/>
              <a:t>，这个遍历状态的技术是自动的，为在工业界的实际使用带来了可能。目前，模型检测已经运用到软硬件系统验证领域。</a:t>
            </a:r>
            <a:endParaRPr lang="zh-CN" altLang="en-US" dirty="0"/>
          </a:p>
        </p:txBody>
      </p:sp>
      <p:sp>
        <p:nvSpPr>
          <p:cNvPr id="4" name="日期占位符 3"/>
          <p:cNvSpPr>
            <a:spLocks noGrp="1"/>
          </p:cNvSpPr>
          <p:nvPr>
            <p:ph type="dt" sz="half" idx="10"/>
          </p:nvPr>
        </p:nvSpPr>
        <p:spPr/>
        <p:txBody>
          <a:bodyPr/>
          <a:lstStyle/>
          <a:p>
            <a:pPr>
              <a:defRPr/>
            </a:pPr>
            <a:fld id="{077F30FB-1D90-1E40-92FD-7816B07D6DDC}" type="datetime1">
              <a:rPr lang="zh-CN" altLang="en-US" smtClean="0"/>
            </a:fld>
            <a:endParaRPr lang="en-US" altLang="zh-CN"/>
          </a:p>
        </p:txBody>
      </p:sp>
      <p:sp>
        <p:nvSpPr>
          <p:cNvPr id="5" name="灯片编号占位符 4"/>
          <p:cNvSpPr>
            <a:spLocks noGrp="1"/>
          </p:cNvSpPr>
          <p:nvPr>
            <p:ph type="sldNum" sz="quarter" idx="12"/>
          </p:nvPr>
        </p:nvSpPr>
        <p:spPr/>
        <p:txBody>
          <a:bodyPr/>
          <a:lstStyle/>
          <a:p>
            <a:pPr>
              <a:defRPr/>
            </a:pPr>
            <a:fld id="{50AC0454-A414-F04C-824A-79602E160F30}" type="slidenum">
              <a:rPr lang="en-US" altLang="zh-CN" smtClean="0"/>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xfrm>
            <a:off x="1163240" y="406128"/>
            <a:ext cx="5616575" cy="576262"/>
          </a:xfrm>
        </p:spPr>
        <p:txBody>
          <a:bodyPr/>
          <a:lstStyle/>
          <a:p>
            <a:r>
              <a:rPr lang="zh-CN" altLang="en-US" dirty="0"/>
              <a:t>模型检验</a:t>
            </a:r>
            <a:endParaRPr lang="zh-CN" altLang="en-US" dirty="0"/>
          </a:p>
        </p:txBody>
      </p:sp>
      <p:sp>
        <p:nvSpPr>
          <p:cNvPr id="251907" name="Oval 3"/>
          <p:cNvSpPr>
            <a:spLocks noChangeArrowheads="1"/>
          </p:cNvSpPr>
          <p:nvPr/>
        </p:nvSpPr>
        <p:spPr bwMode="auto">
          <a:xfrm>
            <a:off x="3895328" y="2873896"/>
            <a:ext cx="1905000" cy="990600"/>
          </a:xfrm>
          <a:prstGeom prst="ellipse">
            <a:avLst/>
          </a:prstGeom>
          <a:solidFill>
            <a:schemeClr val="hlink"/>
          </a:solidFill>
          <a:ln w="9525">
            <a:solidFill>
              <a:schemeClr val="tx1"/>
            </a:solidFill>
            <a:round/>
          </a:ln>
          <a:effectLst/>
        </p:spPr>
        <p:txBody>
          <a:bodyPr wrap="none" anchor="ctr"/>
          <a:lstStyle/>
          <a:p>
            <a:endParaRPr lang="zh-CN" altLang="en-US"/>
          </a:p>
        </p:txBody>
      </p:sp>
      <p:sp>
        <p:nvSpPr>
          <p:cNvPr id="251908" name="Line 4"/>
          <p:cNvSpPr>
            <a:spLocks noChangeShapeType="1"/>
          </p:cNvSpPr>
          <p:nvPr/>
        </p:nvSpPr>
        <p:spPr bwMode="auto">
          <a:xfrm>
            <a:off x="2676128" y="2416696"/>
            <a:ext cx="1295400" cy="685800"/>
          </a:xfrm>
          <a:prstGeom prst="line">
            <a:avLst/>
          </a:prstGeom>
          <a:noFill/>
          <a:ln w="38100">
            <a:solidFill>
              <a:schemeClr val="accent2"/>
            </a:solidFill>
            <a:round/>
            <a:tailEnd type="triangle" w="med" len="med"/>
          </a:ln>
          <a:effectLst/>
        </p:spPr>
        <p:txBody>
          <a:bodyPr/>
          <a:lstStyle/>
          <a:p>
            <a:endParaRPr lang="zh-CN" altLang="en-US"/>
          </a:p>
        </p:txBody>
      </p:sp>
      <p:sp>
        <p:nvSpPr>
          <p:cNvPr id="251909" name="Line 5"/>
          <p:cNvSpPr>
            <a:spLocks noChangeShapeType="1"/>
          </p:cNvSpPr>
          <p:nvPr/>
        </p:nvSpPr>
        <p:spPr bwMode="auto">
          <a:xfrm flipV="1">
            <a:off x="2752328" y="3635896"/>
            <a:ext cx="1219200" cy="914400"/>
          </a:xfrm>
          <a:prstGeom prst="line">
            <a:avLst/>
          </a:prstGeom>
          <a:noFill/>
          <a:ln w="38100">
            <a:solidFill>
              <a:schemeClr val="accent2"/>
            </a:solidFill>
            <a:round/>
            <a:tailEnd type="triangle" w="med" len="med"/>
          </a:ln>
          <a:effectLst/>
        </p:spPr>
        <p:txBody>
          <a:bodyPr/>
          <a:lstStyle/>
          <a:p>
            <a:endParaRPr lang="zh-CN" altLang="en-US"/>
          </a:p>
        </p:txBody>
      </p:sp>
      <p:sp>
        <p:nvSpPr>
          <p:cNvPr id="251910" name="Text Box 6"/>
          <p:cNvSpPr txBox="1">
            <a:spLocks noChangeArrowheads="1"/>
          </p:cNvSpPr>
          <p:nvPr/>
        </p:nvSpPr>
        <p:spPr bwMode="auto">
          <a:xfrm>
            <a:off x="694928" y="2873896"/>
            <a:ext cx="2608263" cy="457200"/>
          </a:xfrm>
          <a:prstGeom prst="rect">
            <a:avLst/>
          </a:prstGeom>
          <a:noFill/>
          <a:ln w="9525">
            <a:noFill/>
            <a:miter lim="800000"/>
          </a:ln>
          <a:effectLst/>
        </p:spPr>
        <p:txBody>
          <a:bodyPr wrap="none">
            <a:spAutoFit/>
          </a:bodyPr>
          <a:lstStyle/>
          <a:p>
            <a:r>
              <a:rPr lang="en-US" altLang="zh-CN" sz="2400">
                <a:latin typeface="Arial" panose="020B0604020202020204" pitchFamily="34" charset="0"/>
              </a:rPr>
              <a:t>Finite-state model</a:t>
            </a:r>
            <a:endParaRPr lang="en-US" altLang="zh-CN" sz="2400">
              <a:latin typeface="Arial" panose="020B0604020202020204" pitchFamily="34" charset="0"/>
            </a:endParaRPr>
          </a:p>
        </p:txBody>
      </p:sp>
      <p:sp>
        <p:nvSpPr>
          <p:cNvPr id="251911" name="AutoShape 7"/>
          <p:cNvSpPr>
            <a:spLocks noChangeArrowheads="1"/>
          </p:cNvSpPr>
          <p:nvPr/>
        </p:nvSpPr>
        <p:spPr bwMode="auto">
          <a:xfrm>
            <a:off x="1876028" y="128639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2" name="AutoShape 8"/>
          <p:cNvSpPr>
            <a:spLocks noChangeArrowheads="1"/>
          </p:cNvSpPr>
          <p:nvPr/>
        </p:nvSpPr>
        <p:spPr bwMode="auto">
          <a:xfrm>
            <a:off x="1529953" y="142609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3" name="AutoShape 9"/>
          <p:cNvSpPr>
            <a:spLocks noChangeArrowheads="1"/>
          </p:cNvSpPr>
          <p:nvPr/>
        </p:nvSpPr>
        <p:spPr bwMode="auto">
          <a:xfrm>
            <a:off x="1955403" y="15848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4" name="AutoShape 10"/>
          <p:cNvSpPr>
            <a:spLocks noChangeArrowheads="1"/>
          </p:cNvSpPr>
          <p:nvPr/>
        </p:nvSpPr>
        <p:spPr bwMode="auto">
          <a:xfrm>
            <a:off x="1460103" y="181979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5" name="AutoShape 11"/>
          <p:cNvSpPr>
            <a:spLocks noChangeArrowheads="1"/>
          </p:cNvSpPr>
          <p:nvPr/>
        </p:nvSpPr>
        <p:spPr bwMode="auto">
          <a:xfrm>
            <a:off x="1733153" y="181979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6" name="AutoShape 12"/>
          <p:cNvSpPr>
            <a:spLocks noChangeArrowheads="1"/>
          </p:cNvSpPr>
          <p:nvPr/>
        </p:nvSpPr>
        <p:spPr bwMode="auto">
          <a:xfrm>
            <a:off x="1993503" y="181979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7" name="AutoShape 13"/>
          <p:cNvSpPr>
            <a:spLocks noChangeArrowheads="1"/>
          </p:cNvSpPr>
          <p:nvPr/>
        </p:nvSpPr>
        <p:spPr bwMode="auto">
          <a:xfrm>
            <a:off x="2187178" y="181979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8" name="AutoShape 14"/>
          <p:cNvSpPr>
            <a:spLocks noChangeArrowheads="1"/>
          </p:cNvSpPr>
          <p:nvPr/>
        </p:nvSpPr>
        <p:spPr bwMode="auto">
          <a:xfrm>
            <a:off x="1612503" y="20420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19" name="AutoShape 15"/>
          <p:cNvSpPr>
            <a:spLocks noChangeArrowheads="1"/>
          </p:cNvSpPr>
          <p:nvPr/>
        </p:nvSpPr>
        <p:spPr bwMode="auto">
          <a:xfrm>
            <a:off x="2069703" y="20420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0" name="AutoShape 16"/>
          <p:cNvSpPr>
            <a:spLocks noChangeArrowheads="1"/>
          </p:cNvSpPr>
          <p:nvPr/>
        </p:nvSpPr>
        <p:spPr bwMode="auto">
          <a:xfrm>
            <a:off x="1809353" y="20420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1" name="AutoShape 17"/>
          <p:cNvSpPr>
            <a:spLocks noChangeArrowheads="1"/>
          </p:cNvSpPr>
          <p:nvPr/>
        </p:nvSpPr>
        <p:spPr bwMode="auto">
          <a:xfrm>
            <a:off x="1993503" y="22579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2" name="AutoShape 18"/>
          <p:cNvSpPr>
            <a:spLocks noChangeArrowheads="1"/>
          </p:cNvSpPr>
          <p:nvPr/>
        </p:nvSpPr>
        <p:spPr bwMode="auto">
          <a:xfrm>
            <a:off x="1688703" y="22579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3" name="AutoShape 19"/>
          <p:cNvSpPr>
            <a:spLocks noChangeArrowheads="1"/>
          </p:cNvSpPr>
          <p:nvPr/>
        </p:nvSpPr>
        <p:spPr bwMode="auto">
          <a:xfrm>
            <a:off x="1809353" y="245479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4" name="AutoShape 20"/>
          <p:cNvSpPr>
            <a:spLocks noChangeArrowheads="1"/>
          </p:cNvSpPr>
          <p:nvPr/>
        </p:nvSpPr>
        <p:spPr bwMode="auto">
          <a:xfrm>
            <a:off x="1418828" y="22579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5" name="AutoShape 21"/>
          <p:cNvSpPr>
            <a:spLocks noChangeArrowheads="1"/>
          </p:cNvSpPr>
          <p:nvPr/>
        </p:nvSpPr>
        <p:spPr bwMode="auto">
          <a:xfrm>
            <a:off x="2187178" y="22579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26" name="Line 22"/>
          <p:cNvSpPr>
            <a:spLocks noChangeShapeType="1"/>
          </p:cNvSpPr>
          <p:nvPr/>
        </p:nvSpPr>
        <p:spPr bwMode="auto">
          <a:xfrm flipH="1">
            <a:off x="1485503" y="1508646"/>
            <a:ext cx="50800" cy="32385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27" name="Line 23"/>
          <p:cNvSpPr>
            <a:spLocks noChangeShapeType="1"/>
          </p:cNvSpPr>
          <p:nvPr/>
        </p:nvSpPr>
        <p:spPr bwMode="auto">
          <a:xfrm>
            <a:off x="1536303" y="1895996"/>
            <a:ext cx="76200" cy="14605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28" name="Line 24"/>
          <p:cNvSpPr>
            <a:spLocks noChangeShapeType="1"/>
          </p:cNvSpPr>
          <p:nvPr/>
        </p:nvSpPr>
        <p:spPr bwMode="auto">
          <a:xfrm flipH="1">
            <a:off x="1460103" y="1895996"/>
            <a:ext cx="34925" cy="36195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29" name="Line 25"/>
          <p:cNvSpPr>
            <a:spLocks noChangeShapeType="1"/>
          </p:cNvSpPr>
          <p:nvPr/>
        </p:nvSpPr>
        <p:spPr bwMode="auto">
          <a:xfrm>
            <a:off x="1733153" y="2334146"/>
            <a:ext cx="76200" cy="120650"/>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30" name="Line 26"/>
          <p:cNvSpPr>
            <a:spLocks noChangeShapeType="1"/>
          </p:cNvSpPr>
          <p:nvPr/>
        </p:nvSpPr>
        <p:spPr bwMode="auto">
          <a:xfrm>
            <a:off x="1587103" y="1508646"/>
            <a:ext cx="177800" cy="31115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31" name="Line 27"/>
          <p:cNvSpPr>
            <a:spLocks noChangeShapeType="1"/>
          </p:cNvSpPr>
          <p:nvPr/>
        </p:nvSpPr>
        <p:spPr bwMode="auto">
          <a:xfrm>
            <a:off x="1783953" y="1902346"/>
            <a:ext cx="50800" cy="13970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32" name="Line 28"/>
          <p:cNvSpPr>
            <a:spLocks noChangeShapeType="1"/>
          </p:cNvSpPr>
          <p:nvPr/>
        </p:nvSpPr>
        <p:spPr bwMode="auto">
          <a:xfrm>
            <a:off x="1660128" y="2127771"/>
            <a:ext cx="47625" cy="123825"/>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33" name="Line 29"/>
          <p:cNvSpPr>
            <a:spLocks noChangeShapeType="1"/>
          </p:cNvSpPr>
          <p:nvPr/>
        </p:nvSpPr>
        <p:spPr bwMode="auto">
          <a:xfrm>
            <a:off x="1850628" y="2127771"/>
            <a:ext cx="0" cy="31115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34" name="Line 30"/>
          <p:cNvSpPr>
            <a:spLocks noChangeShapeType="1"/>
          </p:cNvSpPr>
          <p:nvPr/>
        </p:nvSpPr>
        <p:spPr bwMode="auto">
          <a:xfrm>
            <a:off x="2457053" y="1854721"/>
            <a:ext cx="12700" cy="24130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35" name="Line 31"/>
          <p:cNvSpPr>
            <a:spLocks noChangeShapeType="1"/>
          </p:cNvSpPr>
          <p:nvPr/>
        </p:nvSpPr>
        <p:spPr bwMode="auto">
          <a:xfrm>
            <a:off x="1990328" y="1667396"/>
            <a:ext cx="47625" cy="155575"/>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36" name="Line 32"/>
          <p:cNvSpPr>
            <a:spLocks noChangeShapeType="1"/>
          </p:cNvSpPr>
          <p:nvPr/>
        </p:nvSpPr>
        <p:spPr bwMode="auto">
          <a:xfrm>
            <a:off x="2034778" y="1645171"/>
            <a:ext cx="174625" cy="18415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37" name="Line 33"/>
          <p:cNvSpPr>
            <a:spLocks noChangeShapeType="1"/>
          </p:cNvSpPr>
          <p:nvPr/>
        </p:nvSpPr>
        <p:spPr bwMode="auto">
          <a:xfrm flipH="1">
            <a:off x="2123678" y="1902346"/>
            <a:ext cx="79375" cy="139700"/>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38" name="Line 34"/>
          <p:cNvSpPr>
            <a:spLocks noChangeShapeType="1"/>
          </p:cNvSpPr>
          <p:nvPr/>
        </p:nvSpPr>
        <p:spPr bwMode="auto">
          <a:xfrm>
            <a:off x="2117328" y="2130946"/>
            <a:ext cx="92075" cy="13335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39" name="Line 35"/>
          <p:cNvSpPr>
            <a:spLocks noChangeShapeType="1"/>
          </p:cNvSpPr>
          <p:nvPr/>
        </p:nvSpPr>
        <p:spPr bwMode="auto">
          <a:xfrm flipH="1">
            <a:off x="2041128" y="2127771"/>
            <a:ext cx="47625" cy="120650"/>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40" name="Line 36"/>
          <p:cNvSpPr>
            <a:spLocks noChangeShapeType="1"/>
          </p:cNvSpPr>
          <p:nvPr/>
        </p:nvSpPr>
        <p:spPr bwMode="auto">
          <a:xfrm flipH="1">
            <a:off x="1879203" y="2337321"/>
            <a:ext cx="130175" cy="123825"/>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41" name="Line 37"/>
          <p:cNvSpPr>
            <a:spLocks noChangeShapeType="1"/>
          </p:cNvSpPr>
          <p:nvPr/>
        </p:nvSpPr>
        <p:spPr bwMode="auto">
          <a:xfrm flipH="1">
            <a:off x="1596628" y="1365771"/>
            <a:ext cx="285750" cy="79375"/>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42" name="Line 38"/>
          <p:cNvSpPr>
            <a:spLocks noChangeShapeType="1"/>
          </p:cNvSpPr>
          <p:nvPr/>
        </p:nvSpPr>
        <p:spPr bwMode="auto">
          <a:xfrm>
            <a:off x="1945878" y="1362596"/>
            <a:ext cx="44450" cy="212725"/>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43" name="AutoShape 39"/>
          <p:cNvSpPr>
            <a:spLocks noChangeArrowheads="1"/>
          </p:cNvSpPr>
          <p:nvPr/>
        </p:nvSpPr>
        <p:spPr bwMode="auto">
          <a:xfrm>
            <a:off x="1529953" y="26135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44" name="AutoShape 40"/>
          <p:cNvSpPr>
            <a:spLocks noChangeArrowheads="1"/>
          </p:cNvSpPr>
          <p:nvPr/>
        </p:nvSpPr>
        <p:spPr bwMode="auto">
          <a:xfrm>
            <a:off x="2057003" y="2661171"/>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45" name="AutoShape 41"/>
          <p:cNvSpPr>
            <a:spLocks noChangeArrowheads="1"/>
          </p:cNvSpPr>
          <p:nvPr/>
        </p:nvSpPr>
        <p:spPr bwMode="auto">
          <a:xfrm>
            <a:off x="1958578" y="284849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46" name="AutoShape 42"/>
          <p:cNvSpPr>
            <a:spLocks noChangeArrowheads="1"/>
          </p:cNvSpPr>
          <p:nvPr/>
        </p:nvSpPr>
        <p:spPr bwMode="auto">
          <a:xfrm>
            <a:off x="1783953" y="26516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47" name="AutoShape 43"/>
          <p:cNvSpPr>
            <a:spLocks noChangeArrowheads="1"/>
          </p:cNvSpPr>
          <p:nvPr/>
        </p:nvSpPr>
        <p:spPr bwMode="auto">
          <a:xfrm>
            <a:off x="2428478" y="208649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48" name="Line 44"/>
          <p:cNvSpPr>
            <a:spLocks noChangeShapeType="1"/>
          </p:cNvSpPr>
          <p:nvPr/>
        </p:nvSpPr>
        <p:spPr bwMode="auto">
          <a:xfrm>
            <a:off x="1463278" y="2337321"/>
            <a:ext cx="79375" cy="276225"/>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49" name="Line 45"/>
          <p:cNvSpPr>
            <a:spLocks noChangeShapeType="1"/>
          </p:cNvSpPr>
          <p:nvPr/>
        </p:nvSpPr>
        <p:spPr bwMode="auto">
          <a:xfrm flipH="1">
            <a:off x="2288778" y="2524646"/>
            <a:ext cx="85725" cy="10160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50" name="Line 46"/>
          <p:cNvSpPr>
            <a:spLocks noChangeShapeType="1"/>
          </p:cNvSpPr>
          <p:nvPr/>
        </p:nvSpPr>
        <p:spPr bwMode="auto">
          <a:xfrm>
            <a:off x="1593453" y="2696096"/>
            <a:ext cx="349250" cy="187325"/>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51" name="Line 47"/>
          <p:cNvSpPr>
            <a:spLocks noChangeShapeType="1"/>
          </p:cNvSpPr>
          <p:nvPr/>
        </p:nvSpPr>
        <p:spPr bwMode="auto">
          <a:xfrm flipH="1">
            <a:off x="1831578" y="2534171"/>
            <a:ext cx="9525" cy="123825"/>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52" name="Line 48"/>
          <p:cNvSpPr>
            <a:spLocks noChangeShapeType="1"/>
          </p:cNvSpPr>
          <p:nvPr/>
        </p:nvSpPr>
        <p:spPr bwMode="auto">
          <a:xfrm flipH="1">
            <a:off x="2101453" y="2350021"/>
            <a:ext cx="123825" cy="301625"/>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53" name="Line 49"/>
          <p:cNvSpPr>
            <a:spLocks noChangeShapeType="1"/>
          </p:cNvSpPr>
          <p:nvPr/>
        </p:nvSpPr>
        <p:spPr bwMode="auto">
          <a:xfrm flipH="1">
            <a:off x="2018903" y="2740546"/>
            <a:ext cx="44450" cy="111125"/>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54" name="Line 50"/>
          <p:cNvSpPr>
            <a:spLocks noChangeShapeType="1"/>
          </p:cNvSpPr>
          <p:nvPr/>
        </p:nvSpPr>
        <p:spPr bwMode="auto">
          <a:xfrm>
            <a:off x="1822053" y="2734196"/>
            <a:ext cx="158750" cy="136525"/>
          </a:xfrm>
          <a:prstGeom prst="line">
            <a:avLst/>
          </a:prstGeom>
          <a:noFill/>
          <a:ln w="12700" cap="sq">
            <a:solidFill>
              <a:schemeClr val="tx1"/>
            </a:solidFill>
            <a:round/>
            <a:headEnd type="none" w="sm" len="sm"/>
            <a:tailEnd type="none" w="sm" len="sm"/>
          </a:ln>
          <a:effectLst/>
        </p:spPr>
        <p:txBody>
          <a:bodyPr wrap="none" anchor="ctr"/>
          <a:lstStyle/>
          <a:p>
            <a:endParaRPr lang="zh-CN" altLang="en-US"/>
          </a:p>
        </p:txBody>
      </p:sp>
      <p:sp>
        <p:nvSpPr>
          <p:cNvPr id="251955" name="Line 51"/>
          <p:cNvSpPr>
            <a:spLocks noChangeShapeType="1"/>
          </p:cNvSpPr>
          <p:nvPr/>
        </p:nvSpPr>
        <p:spPr bwMode="auto">
          <a:xfrm>
            <a:off x="2304653" y="1505471"/>
            <a:ext cx="149225" cy="27305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56" name="AutoShape 52"/>
          <p:cNvSpPr>
            <a:spLocks noChangeArrowheads="1"/>
          </p:cNvSpPr>
          <p:nvPr/>
        </p:nvSpPr>
        <p:spPr bwMode="auto">
          <a:xfrm flipV="1">
            <a:off x="2422128" y="176899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57" name="AutoShape 53"/>
          <p:cNvSpPr>
            <a:spLocks noChangeArrowheads="1"/>
          </p:cNvSpPr>
          <p:nvPr/>
        </p:nvSpPr>
        <p:spPr bwMode="auto">
          <a:xfrm>
            <a:off x="2257028" y="143879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58" name="Line 54"/>
          <p:cNvSpPr>
            <a:spLocks noChangeShapeType="1"/>
          </p:cNvSpPr>
          <p:nvPr/>
        </p:nvSpPr>
        <p:spPr bwMode="auto">
          <a:xfrm>
            <a:off x="1961753" y="1330846"/>
            <a:ext cx="288925" cy="12065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59" name="Line 55"/>
          <p:cNvSpPr>
            <a:spLocks noChangeShapeType="1"/>
          </p:cNvSpPr>
          <p:nvPr/>
        </p:nvSpPr>
        <p:spPr bwMode="auto">
          <a:xfrm>
            <a:off x="2025253" y="1899171"/>
            <a:ext cx="63500" cy="15240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60" name="AutoShape 56"/>
          <p:cNvSpPr>
            <a:spLocks noChangeArrowheads="1"/>
          </p:cNvSpPr>
          <p:nvPr/>
        </p:nvSpPr>
        <p:spPr bwMode="auto">
          <a:xfrm>
            <a:off x="2361803" y="24484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61" name="Line 57"/>
          <p:cNvSpPr>
            <a:spLocks noChangeShapeType="1"/>
          </p:cNvSpPr>
          <p:nvPr/>
        </p:nvSpPr>
        <p:spPr bwMode="auto">
          <a:xfrm flipH="1">
            <a:off x="2406253" y="2165871"/>
            <a:ext cx="50800" cy="273050"/>
          </a:xfrm>
          <a:prstGeom prst="line">
            <a:avLst/>
          </a:prstGeom>
          <a:noFill/>
          <a:ln w="12700" cap="sq">
            <a:solidFill>
              <a:schemeClr val="tx1"/>
            </a:solidFill>
            <a:round/>
            <a:headEnd type="none" w="sm" len="sm"/>
          </a:ln>
          <a:effectLst/>
        </p:spPr>
        <p:txBody>
          <a:bodyPr wrap="none" anchor="ctr"/>
          <a:lstStyle/>
          <a:p>
            <a:endParaRPr lang="zh-CN" altLang="en-US"/>
          </a:p>
        </p:txBody>
      </p:sp>
      <p:sp>
        <p:nvSpPr>
          <p:cNvPr id="251962" name="AutoShape 58"/>
          <p:cNvSpPr>
            <a:spLocks noChangeArrowheads="1"/>
          </p:cNvSpPr>
          <p:nvPr/>
        </p:nvSpPr>
        <p:spPr bwMode="auto">
          <a:xfrm>
            <a:off x="2222103" y="2626246"/>
            <a:ext cx="76200" cy="76200"/>
          </a:xfrm>
          <a:prstGeom prst="flowChartConnector">
            <a:avLst/>
          </a:prstGeom>
          <a:solidFill>
            <a:srgbClr val="969696">
              <a:alpha val="50000"/>
            </a:srgbClr>
          </a:solidFill>
          <a:ln w="12700" cap="sq">
            <a:solidFill>
              <a:schemeClr val="tx1"/>
            </a:solidFill>
            <a:round/>
            <a:headEnd type="none" w="sm" len="sm"/>
            <a:tailEnd type="none" w="sm" len="sm"/>
          </a:ln>
          <a:effectLst/>
        </p:spPr>
        <p:txBody>
          <a:bodyPr wrap="none" anchor="ctr"/>
          <a:lstStyle/>
          <a:p>
            <a:endParaRPr lang="zh-CN" altLang="en-US"/>
          </a:p>
        </p:txBody>
      </p:sp>
      <p:sp>
        <p:nvSpPr>
          <p:cNvPr id="251963" name="Line 59"/>
          <p:cNvSpPr>
            <a:spLocks noChangeShapeType="1"/>
          </p:cNvSpPr>
          <p:nvPr/>
        </p:nvSpPr>
        <p:spPr bwMode="auto">
          <a:xfrm flipV="1">
            <a:off x="2037953" y="2692921"/>
            <a:ext cx="203200" cy="187325"/>
          </a:xfrm>
          <a:prstGeom prst="line">
            <a:avLst/>
          </a:prstGeom>
          <a:noFill/>
          <a:ln w="12700" cap="sq">
            <a:solidFill>
              <a:schemeClr val="tx1"/>
            </a:solidFill>
            <a:round/>
          </a:ln>
          <a:effectLst/>
        </p:spPr>
        <p:txBody>
          <a:bodyPr wrap="none" anchor="ctr"/>
          <a:lstStyle/>
          <a:p>
            <a:endParaRPr lang="zh-CN" altLang="en-US"/>
          </a:p>
        </p:txBody>
      </p:sp>
      <p:sp>
        <p:nvSpPr>
          <p:cNvPr id="251964" name="Freeform 60"/>
          <p:cNvSpPr/>
          <p:nvPr/>
        </p:nvSpPr>
        <p:spPr bwMode="auto">
          <a:xfrm>
            <a:off x="1326753" y="1864246"/>
            <a:ext cx="200025" cy="817563"/>
          </a:xfrm>
          <a:custGeom>
            <a:avLst/>
            <a:gdLst/>
            <a:ahLst/>
            <a:cxnLst>
              <a:cxn ang="0">
                <a:pos x="126" y="504"/>
              </a:cxn>
              <a:cxn ang="0">
                <a:pos x="34" y="460"/>
              </a:cxn>
              <a:cxn ang="0">
                <a:pos x="18" y="424"/>
              </a:cxn>
              <a:cxn ang="0">
                <a:pos x="10" y="400"/>
              </a:cxn>
              <a:cxn ang="0">
                <a:pos x="6" y="88"/>
              </a:cxn>
              <a:cxn ang="0">
                <a:pos x="42" y="24"/>
              </a:cxn>
              <a:cxn ang="0">
                <a:pos x="78" y="0"/>
              </a:cxn>
            </a:cxnLst>
            <a:rect l="0" t="0" r="r" b="b"/>
            <a:pathLst>
              <a:path w="126" h="515">
                <a:moveTo>
                  <a:pt x="126" y="504"/>
                </a:moveTo>
                <a:cubicBezTo>
                  <a:pt x="93" y="515"/>
                  <a:pt x="48" y="493"/>
                  <a:pt x="34" y="460"/>
                </a:cubicBezTo>
                <a:cubicBezTo>
                  <a:pt x="30" y="451"/>
                  <a:pt x="22" y="434"/>
                  <a:pt x="18" y="424"/>
                </a:cubicBezTo>
                <a:cubicBezTo>
                  <a:pt x="15" y="416"/>
                  <a:pt x="10" y="400"/>
                  <a:pt x="10" y="400"/>
                </a:cubicBezTo>
                <a:cubicBezTo>
                  <a:pt x="0" y="295"/>
                  <a:pt x="0" y="195"/>
                  <a:pt x="6" y="88"/>
                </a:cubicBezTo>
                <a:cubicBezTo>
                  <a:pt x="7" y="69"/>
                  <a:pt x="24" y="30"/>
                  <a:pt x="42" y="24"/>
                </a:cubicBezTo>
                <a:cubicBezTo>
                  <a:pt x="54" y="6"/>
                  <a:pt x="65" y="13"/>
                  <a:pt x="78" y="0"/>
                </a:cubicBezTo>
              </a:path>
            </a:pathLst>
          </a:custGeom>
          <a:noFill/>
          <a:ln w="12700" cap="sq" cmpd="sng">
            <a:solidFill>
              <a:schemeClr val="tx1"/>
            </a:solidFill>
            <a:prstDash val="solid"/>
            <a:round/>
            <a:headEnd type="none" w="sm" len="sm"/>
            <a:tailEnd type="none" w="sm" len="sm"/>
          </a:ln>
          <a:effectLst/>
        </p:spPr>
        <p:txBody>
          <a:bodyPr wrap="none" anchor="ctr"/>
          <a:lstStyle/>
          <a:p>
            <a:endParaRPr lang="zh-CN" altLang="en-US"/>
          </a:p>
        </p:txBody>
      </p:sp>
      <p:sp>
        <p:nvSpPr>
          <p:cNvPr id="251965" name="Freeform 61"/>
          <p:cNvSpPr/>
          <p:nvPr/>
        </p:nvSpPr>
        <p:spPr bwMode="auto">
          <a:xfrm>
            <a:off x="2428478" y="1813446"/>
            <a:ext cx="180975" cy="666750"/>
          </a:xfrm>
          <a:custGeom>
            <a:avLst/>
            <a:gdLst/>
            <a:ahLst/>
            <a:cxnLst>
              <a:cxn ang="0">
                <a:pos x="0" y="420"/>
              </a:cxn>
              <a:cxn ang="0">
                <a:pos x="76" y="360"/>
              </a:cxn>
              <a:cxn ang="0">
                <a:pos x="108" y="68"/>
              </a:cxn>
              <a:cxn ang="0">
                <a:pos x="40" y="0"/>
              </a:cxn>
            </a:cxnLst>
            <a:rect l="0" t="0" r="r" b="b"/>
            <a:pathLst>
              <a:path w="114" h="420">
                <a:moveTo>
                  <a:pt x="0" y="420"/>
                </a:moveTo>
                <a:cubicBezTo>
                  <a:pt x="29" y="419"/>
                  <a:pt x="58" y="419"/>
                  <a:pt x="76" y="360"/>
                </a:cubicBezTo>
                <a:cubicBezTo>
                  <a:pt x="94" y="301"/>
                  <a:pt x="114" y="128"/>
                  <a:pt x="108" y="68"/>
                </a:cubicBezTo>
                <a:cubicBezTo>
                  <a:pt x="102" y="8"/>
                  <a:pt x="71" y="4"/>
                  <a:pt x="40" y="0"/>
                </a:cubicBezTo>
              </a:path>
            </a:pathLst>
          </a:custGeom>
          <a:noFill/>
          <a:ln w="12700" cap="sq" cmpd="sng">
            <a:solidFill>
              <a:schemeClr val="tx1"/>
            </a:solidFill>
            <a:prstDash val="solid"/>
            <a:round/>
            <a:headEnd type="none" w="sm" len="sm"/>
            <a:tailEnd type="none" w="sm" len="sm"/>
          </a:ln>
          <a:effectLst/>
        </p:spPr>
        <p:txBody>
          <a:bodyPr wrap="none" anchor="ctr"/>
          <a:lstStyle/>
          <a:p>
            <a:endParaRPr lang="zh-CN" altLang="en-US"/>
          </a:p>
        </p:txBody>
      </p:sp>
      <p:sp>
        <p:nvSpPr>
          <p:cNvPr id="251966" name="Text Box 62"/>
          <p:cNvSpPr txBox="1">
            <a:spLocks noChangeArrowheads="1"/>
          </p:cNvSpPr>
          <p:nvPr/>
        </p:nvSpPr>
        <p:spPr bwMode="auto">
          <a:xfrm>
            <a:off x="339328" y="4880496"/>
            <a:ext cx="3287713" cy="457200"/>
          </a:xfrm>
          <a:prstGeom prst="rect">
            <a:avLst/>
          </a:prstGeom>
          <a:noFill/>
          <a:ln w="9525">
            <a:noFill/>
            <a:miter lim="800000"/>
          </a:ln>
          <a:effectLst/>
        </p:spPr>
        <p:txBody>
          <a:bodyPr wrap="none">
            <a:spAutoFit/>
          </a:bodyPr>
          <a:lstStyle/>
          <a:p>
            <a:r>
              <a:rPr lang="en-US" altLang="zh-CN" sz="2400">
                <a:latin typeface="Arial" panose="020B0604020202020204" pitchFamily="34" charset="0"/>
              </a:rPr>
              <a:t>Temporal logic formula</a:t>
            </a:r>
            <a:endParaRPr lang="en-US" altLang="zh-CN" sz="2400">
              <a:latin typeface="Arial" panose="020B0604020202020204" pitchFamily="34" charset="0"/>
            </a:endParaRPr>
          </a:p>
        </p:txBody>
      </p:sp>
      <p:sp>
        <p:nvSpPr>
          <p:cNvPr id="251967" name="Rectangle 63"/>
          <p:cNvSpPr>
            <a:spLocks noChangeArrowheads="1"/>
          </p:cNvSpPr>
          <p:nvPr/>
        </p:nvSpPr>
        <p:spPr bwMode="auto">
          <a:xfrm>
            <a:off x="809228" y="4245496"/>
            <a:ext cx="1790700" cy="546100"/>
          </a:xfrm>
          <a:prstGeom prst="rect">
            <a:avLst/>
          </a:prstGeom>
          <a:noFill/>
          <a:ln w="28575">
            <a:solidFill>
              <a:schemeClr val="tx1"/>
            </a:solidFill>
            <a:miter lim="800000"/>
          </a:ln>
          <a:effectLst/>
        </p:spPr>
        <p:txBody>
          <a:bodyPr wrap="none" anchor="ctr"/>
          <a:lstStyle/>
          <a:p>
            <a:endParaRPr lang="zh-CN" altLang="en-US"/>
          </a:p>
        </p:txBody>
      </p:sp>
      <p:sp>
        <p:nvSpPr>
          <p:cNvPr id="251968" name="Text Box 64"/>
          <p:cNvSpPr txBox="1">
            <a:spLocks noChangeArrowheads="1"/>
          </p:cNvSpPr>
          <p:nvPr/>
        </p:nvSpPr>
        <p:spPr bwMode="auto">
          <a:xfrm>
            <a:off x="3895328" y="3940696"/>
            <a:ext cx="2236788" cy="457200"/>
          </a:xfrm>
          <a:prstGeom prst="rect">
            <a:avLst/>
          </a:prstGeom>
          <a:noFill/>
          <a:ln w="9525">
            <a:noFill/>
            <a:miter lim="800000"/>
          </a:ln>
          <a:effectLst/>
        </p:spPr>
        <p:txBody>
          <a:bodyPr wrap="none">
            <a:spAutoFit/>
          </a:bodyPr>
          <a:lstStyle/>
          <a:p>
            <a:r>
              <a:rPr lang="en-US" altLang="zh-CN" sz="2400">
                <a:latin typeface="Arial" panose="020B0604020202020204" pitchFamily="34" charset="0"/>
              </a:rPr>
              <a:t>Model Checker</a:t>
            </a:r>
            <a:endParaRPr lang="en-US" altLang="zh-CN" sz="2400">
              <a:latin typeface="Arial" panose="020B0604020202020204" pitchFamily="34" charset="0"/>
            </a:endParaRPr>
          </a:p>
        </p:txBody>
      </p:sp>
      <p:sp>
        <p:nvSpPr>
          <p:cNvPr id="251969" name="Text Box 65"/>
          <p:cNvSpPr txBox="1">
            <a:spLocks noChangeArrowheads="1"/>
          </p:cNvSpPr>
          <p:nvPr/>
        </p:nvSpPr>
        <p:spPr bwMode="auto">
          <a:xfrm>
            <a:off x="923528" y="4343921"/>
            <a:ext cx="1455738" cy="366713"/>
          </a:xfrm>
          <a:prstGeom prst="rect">
            <a:avLst/>
          </a:prstGeom>
          <a:solidFill>
            <a:srgbClr val="292929">
              <a:alpha val="50000"/>
            </a:srgbClr>
          </a:solidFill>
          <a:ln w="12700" cap="sq">
            <a:noFill/>
            <a:miter lim="800000"/>
            <a:headEnd type="none" w="sm" len="sm"/>
            <a:tailEnd type="none" w="sm" len="sm"/>
          </a:ln>
          <a:effectLst/>
        </p:spPr>
        <p:txBody>
          <a:bodyPr>
            <a:spAutoFit/>
          </a:bodyPr>
          <a:lstStyle/>
          <a:p>
            <a:r>
              <a:rPr lang="en-US" altLang="zh-CN" sz="1800">
                <a:latin typeface="Symbol" panose="05050102010706020507" pitchFamily="18" charset="2"/>
              </a:rPr>
              <a:t>  (F         W)</a:t>
            </a:r>
            <a:endParaRPr lang="en-US" altLang="zh-CN" sz="1800">
              <a:latin typeface="Symbol" panose="05050102010706020507" pitchFamily="18" charset="2"/>
            </a:endParaRPr>
          </a:p>
        </p:txBody>
      </p:sp>
      <p:sp>
        <p:nvSpPr>
          <p:cNvPr id="251970" name="Rectangle 66"/>
          <p:cNvSpPr>
            <a:spLocks noChangeArrowheads="1"/>
          </p:cNvSpPr>
          <p:nvPr/>
        </p:nvSpPr>
        <p:spPr bwMode="auto">
          <a:xfrm>
            <a:off x="948928" y="4448696"/>
            <a:ext cx="114300" cy="152400"/>
          </a:xfrm>
          <a:prstGeom prst="rect">
            <a:avLst/>
          </a:prstGeom>
          <a:noFill/>
          <a:ln w="12700" cap="sq">
            <a:solidFill>
              <a:schemeClr val="tx1"/>
            </a:solidFill>
            <a:miter lim="800000"/>
            <a:headEnd type="none" w="sm" len="sm"/>
            <a:tailEnd type="none" w="sm" len="sm"/>
          </a:ln>
          <a:effectLst/>
        </p:spPr>
        <p:txBody>
          <a:bodyPr wrap="none" anchor="ctr"/>
          <a:lstStyle/>
          <a:p>
            <a:endParaRPr lang="zh-CN" altLang="en-US"/>
          </a:p>
        </p:txBody>
      </p:sp>
      <p:sp>
        <p:nvSpPr>
          <p:cNvPr id="251971" name="Line 67"/>
          <p:cNvSpPr>
            <a:spLocks noChangeShapeType="1"/>
          </p:cNvSpPr>
          <p:nvPr/>
        </p:nvSpPr>
        <p:spPr bwMode="auto">
          <a:xfrm>
            <a:off x="1444228" y="4537596"/>
            <a:ext cx="152400" cy="0"/>
          </a:xfrm>
          <a:prstGeom prst="line">
            <a:avLst/>
          </a:prstGeom>
          <a:noFill/>
          <a:ln w="12700" cap="sq">
            <a:solidFill>
              <a:schemeClr val="tx1"/>
            </a:solidFill>
            <a:round/>
            <a:headEnd type="none" w="sm" len="sm"/>
            <a:tailEnd type="triangle" w="sm" len="sm"/>
          </a:ln>
          <a:effectLst/>
        </p:spPr>
        <p:txBody>
          <a:bodyPr wrap="none" anchor="ctr"/>
          <a:lstStyle/>
          <a:p>
            <a:endParaRPr lang="zh-CN" altLang="en-US"/>
          </a:p>
        </p:txBody>
      </p:sp>
      <p:sp>
        <p:nvSpPr>
          <p:cNvPr id="251972" name="AutoShape 68"/>
          <p:cNvSpPr>
            <a:spLocks noChangeArrowheads="1"/>
          </p:cNvSpPr>
          <p:nvPr/>
        </p:nvSpPr>
        <p:spPr bwMode="auto">
          <a:xfrm>
            <a:off x="1622028" y="4435996"/>
            <a:ext cx="198438" cy="223838"/>
          </a:xfrm>
          <a:prstGeom prst="diamond">
            <a:avLst/>
          </a:prstGeom>
          <a:noFill/>
          <a:ln w="12700" cap="sq">
            <a:solidFill>
              <a:schemeClr val="tx1"/>
            </a:solidFill>
            <a:miter lim="800000"/>
            <a:headEnd type="none" w="sm" len="sm"/>
            <a:tailEnd type="none" w="sm" len="sm"/>
          </a:ln>
          <a:effectLst/>
        </p:spPr>
        <p:txBody>
          <a:bodyPr wrap="none" anchor="ctr"/>
          <a:lstStyle/>
          <a:p>
            <a:endParaRPr lang="zh-CN" altLang="en-US"/>
          </a:p>
        </p:txBody>
      </p:sp>
      <p:grpSp>
        <p:nvGrpSpPr>
          <p:cNvPr id="2" name="Group 69"/>
          <p:cNvGrpSpPr/>
          <p:nvPr/>
        </p:nvGrpSpPr>
        <p:grpSpPr bwMode="auto">
          <a:xfrm>
            <a:off x="5724128" y="2492896"/>
            <a:ext cx="2514600" cy="3527425"/>
            <a:chOff x="3648" y="1872"/>
            <a:chExt cx="1584" cy="2222"/>
          </a:xfrm>
        </p:grpSpPr>
        <p:sp>
          <p:nvSpPr>
            <p:cNvPr id="251974" name="Text Box 70"/>
            <p:cNvSpPr txBox="1">
              <a:spLocks noChangeArrowheads="1"/>
            </p:cNvSpPr>
            <p:nvPr/>
          </p:nvSpPr>
          <p:spPr bwMode="auto">
            <a:xfrm>
              <a:off x="4176" y="1872"/>
              <a:ext cx="399" cy="294"/>
            </a:xfrm>
            <a:prstGeom prst="rect">
              <a:avLst/>
            </a:prstGeom>
            <a:noFill/>
            <a:ln w="9525">
              <a:solidFill>
                <a:schemeClr val="accent2"/>
              </a:solidFill>
              <a:miter lim="800000"/>
            </a:ln>
            <a:effectLst/>
          </p:spPr>
          <p:txBody>
            <a:bodyPr wrap="none">
              <a:spAutoFit/>
            </a:bodyPr>
            <a:lstStyle/>
            <a:p>
              <a:r>
                <a:rPr lang="en-US" altLang="zh-CN" sz="2400">
                  <a:latin typeface="Arial" panose="020B0604020202020204" pitchFamily="34" charset="0"/>
                </a:rPr>
                <a:t>OK</a:t>
              </a:r>
              <a:endParaRPr lang="en-US" altLang="zh-CN" sz="2400">
                <a:latin typeface="Arial" panose="020B0604020202020204" pitchFamily="34" charset="0"/>
              </a:endParaRPr>
            </a:p>
          </p:txBody>
        </p:sp>
        <p:sp>
          <p:nvSpPr>
            <p:cNvPr id="251975" name="Text Box 71"/>
            <p:cNvSpPr txBox="1">
              <a:spLocks noChangeArrowheads="1"/>
            </p:cNvSpPr>
            <p:nvPr/>
          </p:nvSpPr>
          <p:spPr bwMode="auto">
            <a:xfrm>
              <a:off x="4128" y="2736"/>
              <a:ext cx="1029" cy="294"/>
            </a:xfrm>
            <a:prstGeom prst="rect">
              <a:avLst/>
            </a:prstGeom>
            <a:noFill/>
            <a:ln w="9525">
              <a:solidFill>
                <a:schemeClr val="accent2"/>
              </a:solidFill>
              <a:miter lim="800000"/>
            </a:ln>
            <a:effectLst/>
          </p:spPr>
          <p:txBody>
            <a:bodyPr wrap="none">
              <a:spAutoFit/>
            </a:bodyPr>
            <a:lstStyle/>
            <a:p>
              <a:r>
                <a:rPr lang="en-US" altLang="zh-CN" sz="2400">
                  <a:latin typeface="Arial" panose="020B0604020202020204" pitchFamily="34" charset="0"/>
                </a:rPr>
                <a:t>Error trace</a:t>
              </a:r>
              <a:endParaRPr lang="en-US" altLang="zh-CN" sz="2400">
                <a:latin typeface="Arial" panose="020B0604020202020204" pitchFamily="34" charset="0"/>
              </a:endParaRPr>
            </a:p>
          </p:txBody>
        </p:sp>
        <p:sp>
          <p:nvSpPr>
            <p:cNvPr id="251976" name="Line 72"/>
            <p:cNvSpPr>
              <a:spLocks noChangeShapeType="1"/>
            </p:cNvSpPr>
            <p:nvPr/>
          </p:nvSpPr>
          <p:spPr bwMode="auto">
            <a:xfrm flipV="1">
              <a:off x="3648" y="2064"/>
              <a:ext cx="480" cy="240"/>
            </a:xfrm>
            <a:prstGeom prst="line">
              <a:avLst/>
            </a:prstGeom>
            <a:noFill/>
            <a:ln w="38100">
              <a:solidFill>
                <a:schemeClr val="accent2"/>
              </a:solidFill>
              <a:round/>
              <a:tailEnd type="triangle" w="med" len="med"/>
            </a:ln>
            <a:effectLst/>
          </p:spPr>
          <p:txBody>
            <a:bodyPr/>
            <a:lstStyle/>
            <a:p>
              <a:endParaRPr lang="zh-CN" altLang="en-US"/>
            </a:p>
          </p:txBody>
        </p:sp>
        <p:sp>
          <p:nvSpPr>
            <p:cNvPr id="251977" name="Line 73"/>
            <p:cNvSpPr>
              <a:spLocks noChangeShapeType="1"/>
            </p:cNvSpPr>
            <p:nvPr/>
          </p:nvSpPr>
          <p:spPr bwMode="auto">
            <a:xfrm>
              <a:off x="3696" y="2544"/>
              <a:ext cx="432" cy="240"/>
            </a:xfrm>
            <a:prstGeom prst="line">
              <a:avLst/>
            </a:prstGeom>
            <a:noFill/>
            <a:ln w="38100">
              <a:solidFill>
                <a:schemeClr val="accent2"/>
              </a:solidFill>
              <a:round/>
              <a:tailEnd type="triangle" w="med" len="med"/>
            </a:ln>
            <a:effectLst/>
          </p:spPr>
          <p:txBody>
            <a:bodyPr/>
            <a:lstStyle/>
            <a:p>
              <a:endParaRPr lang="zh-CN" altLang="en-US"/>
            </a:p>
          </p:txBody>
        </p:sp>
        <p:sp>
          <p:nvSpPr>
            <p:cNvPr id="251978" name="Text Box 74"/>
            <p:cNvSpPr txBox="1">
              <a:spLocks noChangeArrowheads="1"/>
            </p:cNvSpPr>
            <p:nvPr/>
          </p:nvSpPr>
          <p:spPr bwMode="auto">
            <a:xfrm>
              <a:off x="3830" y="2233"/>
              <a:ext cx="293" cy="294"/>
            </a:xfrm>
            <a:prstGeom prst="rect">
              <a:avLst/>
            </a:prstGeom>
            <a:noFill/>
            <a:ln w="9525">
              <a:solidFill>
                <a:schemeClr val="accent2"/>
              </a:solidFill>
              <a:miter lim="800000"/>
            </a:ln>
            <a:effectLst/>
          </p:spPr>
          <p:txBody>
            <a:bodyPr wrap="none">
              <a:spAutoFit/>
            </a:bodyPr>
            <a:lstStyle/>
            <a:p>
              <a:r>
                <a:rPr lang="en-US" altLang="zh-CN" sz="2400">
                  <a:latin typeface="Arial" panose="020B0604020202020204" pitchFamily="34" charset="0"/>
                </a:rPr>
                <a:t>or</a:t>
              </a:r>
              <a:endParaRPr lang="en-US" altLang="zh-CN" sz="2400">
                <a:latin typeface="Arial" panose="020B0604020202020204" pitchFamily="34" charset="0"/>
              </a:endParaRPr>
            </a:p>
          </p:txBody>
        </p:sp>
        <p:sp>
          <p:nvSpPr>
            <p:cNvPr id="251979" name="AutoShape 75"/>
            <p:cNvSpPr>
              <a:spLocks noChangeArrowheads="1"/>
            </p:cNvSpPr>
            <p:nvPr/>
          </p:nvSpPr>
          <p:spPr bwMode="auto">
            <a:xfrm>
              <a:off x="4176" y="2976"/>
              <a:ext cx="1056" cy="96"/>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0000"/>
            </a:solidFill>
            <a:ln w="12700" cap="sq">
              <a:solidFill>
                <a:schemeClr val="accent2"/>
              </a:solidFill>
              <a:miter lim="800000"/>
              <a:headEnd type="none" w="sm" len="sm"/>
              <a:tailEnd type="none" w="sm" len="sm"/>
            </a:ln>
            <a:effectLst/>
          </p:spPr>
          <p:txBody>
            <a:bodyPr wrap="none" anchor="ctr"/>
            <a:lstStyle/>
            <a:p>
              <a:endParaRPr lang="zh-CN" altLang="en-US"/>
            </a:p>
          </p:txBody>
        </p:sp>
        <p:sp>
          <p:nvSpPr>
            <p:cNvPr id="251980" name="Rectangle 76"/>
            <p:cNvSpPr>
              <a:spLocks noChangeArrowheads="1"/>
            </p:cNvSpPr>
            <p:nvPr/>
          </p:nvSpPr>
          <p:spPr bwMode="auto">
            <a:xfrm>
              <a:off x="4272" y="3120"/>
              <a:ext cx="614" cy="960"/>
            </a:xfrm>
            <a:prstGeom prst="rect">
              <a:avLst/>
            </a:prstGeom>
            <a:noFill/>
            <a:ln w="28575">
              <a:solidFill>
                <a:schemeClr val="accent2"/>
              </a:solidFill>
              <a:miter lim="800000"/>
            </a:ln>
            <a:effectLst/>
          </p:spPr>
          <p:txBody>
            <a:bodyPr wrap="none" anchor="ctr"/>
            <a:lstStyle/>
            <a:p>
              <a:endParaRPr lang="zh-CN" altLang="en-US"/>
            </a:p>
          </p:txBody>
        </p:sp>
        <p:sp>
          <p:nvSpPr>
            <p:cNvPr id="251981" name="Text Box 77"/>
            <p:cNvSpPr txBox="1">
              <a:spLocks noChangeArrowheads="1"/>
            </p:cNvSpPr>
            <p:nvPr/>
          </p:nvSpPr>
          <p:spPr bwMode="auto">
            <a:xfrm>
              <a:off x="4272" y="3168"/>
              <a:ext cx="554" cy="926"/>
            </a:xfrm>
            <a:prstGeom prst="rect">
              <a:avLst/>
            </a:prstGeom>
            <a:solidFill>
              <a:srgbClr val="292929">
                <a:alpha val="50000"/>
              </a:srgbClr>
            </a:solidFill>
            <a:ln w="12700" cap="sq">
              <a:solidFill>
                <a:schemeClr val="accent2"/>
              </a:solidFill>
              <a:miter lim="800000"/>
              <a:headEnd type="none" w="sm" len="sm"/>
              <a:tailEnd type="none" w="sm" len="sm"/>
            </a:ln>
            <a:effectLst/>
          </p:spPr>
          <p:txBody>
            <a:bodyPr wrap="none">
              <a:spAutoFit/>
            </a:bodyPr>
            <a:lstStyle/>
            <a:p>
              <a:r>
                <a:rPr lang="en-US" altLang="zh-CN" sz="900">
                  <a:latin typeface="Lucida Console" panose="020B0609040504020204" pitchFamily="49" charset="0"/>
                </a:rPr>
                <a:t>Line 5: …</a:t>
              </a:r>
              <a:endParaRPr lang="en-US" altLang="zh-CN" sz="900">
                <a:latin typeface="Lucida Console" panose="020B0609040504020204" pitchFamily="49" charset="0"/>
              </a:endParaRPr>
            </a:p>
            <a:p>
              <a:r>
                <a:rPr lang="en-US" altLang="zh-CN" sz="900">
                  <a:latin typeface="Lucida Console" panose="020B0609040504020204" pitchFamily="49" charset="0"/>
                </a:rPr>
                <a:t>Line 12: …</a:t>
              </a:r>
              <a:endParaRPr lang="en-US" altLang="zh-CN" sz="900">
                <a:latin typeface="Lucida Console" panose="020B0609040504020204" pitchFamily="49" charset="0"/>
              </a:endParaRPr>
            </a:p>
            <a:p>
              <a:r>
                <a:rPr lang="en-US" altLang="zh-CN" sz="900">
                  <a:latin typeface="Lucida Console" panose="020B0609040504020204" pitchFamily="49" charset="0"/>
                </a:rPr>
                <a:t>Line 15:…</a:t>
              </a:r>
              <a:endParaRPr lang="en-US" altLang="zh-CN" sz="900">
                <a:latin typeface="Lucida Console" panose="020B0609040504020204" pitchFamily="49" charset="0"/>
              </a:endParaRPr>
            </a:p>
            <a:p>
              <a:r>
                <a:rPr lang="en-US" altLang="zh-CN" sz="900">
                  <a:latin typeface="Lucida Console" panose="020B0609040504020204" pitchFamily="49" charset="0"/>
                </a:rPr>
                <a:t>Line 21:…</a:t>
              </a:r>
              <a:endParaRPr lang="en-US" altLang="zh-CN" sz="900">
                <a:latin typeface="Lucida Console" panose="020B0609040504020204" pitchFamily="49" charset="0"/>
              </a:endParaRPr>
            </a:p>
            <a:p>
              <a:r>
                <a:rPr lang="en-US" altLang="zh-CN" sz="900">
                  <a:latin typeface="Lucida Console" panose="020B0609040504020204" pitchFamily="49" charset="0"/>
                </a:rPr>
                <a:t>Line 25:…</a:t>
              </a:r>
              <a:endParaRPr lang="en-US" altLang="zh-CN" sz="900">
                <a:latin typeface="Lucida Console" panose="020B0609040504020204" pitchFamily="49" charset="0"/>
              </a:endParaRPr>
            </a:p>
            <a:p>
              <a:r>
                <a:rPr lang="en-US" altLang="zh-CN" sz="900">
                  <a:latin typeface="Lucida Console" panose="020B0609040504020204" pitchFamily="49" charset="0"/>
                </a:rPr>
                <a:t>Line 27:…</a:t>
              </a:r>
              <a:endParaRPr lang="en-US" altLang="zh-CN" sz="900">
                <a:latin typeface="Lucida Console" panose="020B0609040504020204" pitchFamily="49" charset="0"/>
              </a:endParaRPr>
            </a:p>
            <a:p>
              <a:r>
                <a:rPr lang="en-US" altLang="zh-CN" sz="900">
                  <a:latin typeface="Lucida Console" panose="020B0609040504020204" pitchFamily="49" charset="0"/>
                </a:rPr>
                <a:t>   …</a:t>
              </a:r>
              <a:endParaRPr lang="en-US" altLang="zh-CN" sz="900">
                <a:latin typeface="Lucida Console" panose="020B0609040504020204" pitchFamily="49" charset="0"/>
              </a:endParaRPr>
            </a:p>
            <a:p>
              <a:r>
                <a:rPr lang="en-US" altLang="zh-CN" sz="900">
                  <a:latin typeface="Lucida Console" panose="020B0609040504020204" pitchFamily="49" charset="0"/>
                </a:rPr>
                <a:t>Line 41:…</a:t>
              </a:r>
              <a:endParaRPr lang="en-US" altLang="zh-CN" sz="900">
                <a:latin typeface="Lucida Console" panose="020B0609040504020204" pitchFamily="49" charset="0"/>
              </a:endParaRPr>
            </a:p>
            <a:p>
              <a:r>
                <a:rPr lang="en-US" altLang="zh-CN" sz="900">
                  <a:latin typeface="Lucida Console" panose="020B0609040504020204" pitchFamily="49" charset="0"/>
                </a:rPr>
                <a:t>Line 47:…</a:t>
              </a:r>
              <a:endParaRPr lang="en-US" altLang="zh-CN" sz="900">
                <a:latin typeface="Lucida Console" panose="020B0609040504020204" pitchFamily="49" charset="0"/>
              </a:endParaRPr>
            </a:p>
            <a:p>
              <a:endParaRPr lang="en-US" altLang="zh-CN" sz="900">
                <a:latin typeface="Lucida Console" panose="020B0609040504020204" pitchFamily="49"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51908"/>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25190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4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1908" grpId="0" animBg="1"/>
      <p:bldP spid="25190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总结</a:t>
            </a:r>
            <a:endParaRPr lang="zh-CN" altLang="en-US" dirty="0"/>
          </a:p>
        </p:txBody>
      </p:sp>
      <p:sp>
        <p:nvSpPr>
          <p:cNvPr id="3" name="日期占位符 2"/>
          <p:cNvSpPr>
            <a:spLocks noGrp="1"/>
          </p:cNvSpPr>
          <p:nvPr>
            <p:ph type="dt" sz="half" idx="10"/>
          </p:nvPr>
        </p:nvSpPr>
        <p:spPr/>
        <p:txBody>
          <a:bodyPr/>
          <a:lstStyle/>
          <a:p>
            <a:pPr>
              <a:defRPr/>
            </a:pPr>
            <a:fld id="{6A3C62C2-65F9-4A4E-ACC0-2EE28D40ECC3}" type="datetime1">
              <a:rPr lang="zh-CN" altLang="en-US" smtClean="0"/>
            </a:fld>
            <a:endParaRPr lang="en-US" altLang="zh-CN"/>
          </a:p>
        </p:txBody>
      </p:sp>
      <p:sp>
        <p:nvSpPr>
          <p:cNvPr id="4" name="灯片编号占位符 3"/>
          <p:cNvSpPr>
            <a:spLocks noGrp="1"/>
          </p:cNvSpPr>
          <p:nvPr>
            <p:ph type="sldNum" sz="quarter" idx="12"/>
          </p:nvPr>
        </p:nvSpPr>
        <p:spPr/>
        <p:txBody>
          <a:bodyPr/>
          <a:lstStyle/>
          <a:p>
            <a:pPr>
              <a:defRPr/>
            </a:pPr>
            <a:fld id="{3E440166-6CE3-F044-BBAE-2F06EF89DFF3}" type="slidenum">
              <a:rPr lang="en-US" altLang="zh-CN" smtClean="0"/>
            </a:fld>
            <a:endParaRPr lang="en-US" altLang="zh-CN"/>
          </a:p>
        </p:txBody>
      </p:sp>
      <p:sp>
        <p:nvSpPr>
          <p:cNvPr id="5" name="文本框 4"/>
          <p:cNvSpPr txBox="1"/>
          <p:nvPr/>
        </p:nvSpPr>
        <p:spPr>
          <a:xfrm>
            <a:off x="-469180" y="1916832"/>
            <a:ext cx="3024336" cy="523220"/>
          </a:xfrm>
          <a:prstGeom prst="rect">
            <a:avLst/>
          </a:prstGeom>
          <a:noFill/>
        </p:spPr>
        <p:txBody>
          <a:bodyPr wrap="square" rtlCol="0">
            <a:spAutoFit/>
          </a:bodyPr>
          <a:lstStyle/>
          <a:p>
            <a:r>
              <a:rPr lang="zh-CN" altLang="en-US" sz="2800" dirty="0"/>
              <a:t>优点</a:t>
            </a:r>
            <a:endParaRPr lang="zh-CN" altLang="en-US" sz="2800" dirty="0"/>
          </a:p>
        </p:txBody>
      </p:sp>
      <p:sp>
        <p:nvSpPr>
          <p:cNvPr id="6" name="内容占位符 2"/>
          <p:cNvSpPr txBox="1"/>
          <p:nvPr/>
        </p:nvSpPr>
        <p:spPr>
          <a:xfrm>
            <a:off x="606624" y="2690233"/>
            <a:ext cx="7709792" cy="3600400"/>
          </a:xfrm>
          <a:prstGeom prst="rect">
            <a:avLst/>
          </a:prstGeom>
        </p:spPr>
        <p:txBody>
          <a:bodyPr/>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lvl="0"/>
            <a:r>
              <a:rPr lang="zh-CN" altLang="zh-CN" sz="2400" dirty="0"/>
              <a:t>形式验证是对指定描述的所有可能的情况进行验证，覆盖率达到了</a:t>
            </a:r>
            <a:r>
              <a:rPr lang="en-US" altLang="zh-CN" sz="2400" dirty="0"/>
              <a:t>100%</a:t>
            </a:r>
            <a:r>
              <a:rPr lang="zh-CN" altLang="zh-CN" sz="2400" dirty="0"/>
              <a:t>。</a:t>
            </a:r>
            <a:endParaRPr lang="zh-CN" altLang="zh-CN" sz="2400" dirty="0"/>
          </a:p>
          <a:p>
            <a:pPr lvl="0"/>
            <a:r>
              <a:rPr lang="zh-CN" altLang="zh-CN" sz="2400" dirty="0"/>
              <a:t>采用形式化方法可以极大地减少了系统设计开发阶段的错误，避免了后期错误修改所带来的高额开销。</a:t>
            </a:r>
            <a:endParaRPr lang="zh-CN" altLang="zh-CN" sz="2400" dirty="0"/>
          </a:p>
          <a:p>
            <a:pPr marL="0" indent="0">
              <a:buNone/>
            </a:pPr>
            <a:endParaRPr lang="zh-CN" altLang="en-US" sz="2400" kern="0" dirty="0" smtClean="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总结</a:t>
            </a:r>
            <a:endParaRPr lang="zh-CN" altLang="en-US" dirty="0"/>
          </a:p>
        </p:txBody>
      </p:sp>
      <p:sp>
        <p:nvSpPr>
          <p:cNvPr id="3" name="日期占位符 2"/>
          <p:cNvSpPr>
            <a:spLocks noGrp="1"/>
          </p:cNvSpPr>
          <p:nvPr>
            <p:ph type="dt" sz="half" idx="10"/>
          </p:nvPr>
        </p:nvSpPr>
        <p:spPr/>
        <p:txBody>
          <a:bodyPr/>
          <a:lstStyle/>
          <a:p>
            <a:pPr>
              <a:defRPr/>
            </a:pPr>
            <a:fld id="{6A3C62C2-65F9-4A4E-ACC0-2EE28D40ECC3}" type="datetime1">
              <a:rPr lang="zh-CN" altLang="en-US" smtClean="0"/>
            </a:fld>
            <a:endParaRPr lang="en-US" altLang="zh-CN"/>
          </a:p>
        </p:txBody>
      </p:sp>
      <p:sp>
        <p:nvSpPr>
          <p:cNvPr id="4" name="灯片编号占位符 3"/>
          <p:cNvSpPr>
            <a:spLocks noGrp="1"/>
          </p:cNvSpPr>
          <p:nvPr>
            <p:ph type="sldNum" sz="quarter" idx="12"/>
          </p:nvPr>
        </p:nvSpPr>
        <p:spPr/>
        <p:txBody>
          <a:bodyPr/>
          <a:lstStyle/>
          <a:p>
            <a:pPr>
              <a:defRPr/>
            </a:pPr>
            <a:fld id="{3E440166-6CE3-F044-BBAE-2F06EF89DFF3}" type="slidenum">
              <a:rPr lang="en-US" altLang="zh-CN" smtClean="0"/>
            </a:fld>
            <a:endParaRPr lang="en-US" altLang="zh-CN"/>
          </a:p>
        </p:txBody>
      </p:sp>
      <p:sp>
        <p:nvSpPr>
          <p:cNvPr id="5" name="文本框 4"/>
          <p:cNvSpPr txBox="1"/>
          <p:nvPr/>
        </p:nvSpPr>
        <p:spPr>
          <a:xfrm>
            <a:off x="-684584" y="1506257"/>
            <a:ext cx="3024336" cy="523220"/>
          </a:xfrm>
          <a:prstGeom prst="rect">
            <a:avLst/>
          </a:prstGeom>
          <a:noFill/>
        </p:spPr>
        <p:txBody>
          <a:bodyPr wrap="square" rtlCol="0">
            <a:spAutoFit/>
          </a:bodyPr>
          <a:lstStyle/>
          <a:p>
            <a:r>
              <a:rPr lang="zh-CN" altLang="en-US" sz="2800" dirty="0" smtClean="0"/>
              <a:t>不足</a:t>
            </a:r>
            <a:endParaRPr lang="zh-CN" altLang="en-US" sz="2800" dirty="0"/>
          </a:p>
        </p:txBody>
      </p:sp>
      <p:sp>
        <p:nvSpPr>
          <p:cNvPr id="6" name="内容占位符 2"/>
          <p:cNvSpPr txBox="1"/>
          <p:nvPr/>
        </p:nvSpPr>
        <p:spPr>
          <a:xfrm>
            <a:off x="359024" y="2492896"/>
            <a:ext cx="8029400" cy="3600400"/>
          </a:xfrm>
          <a:prstGeom prst="rect">
            <a:avLst/>
          </a:prstGeom>
        </p:spPr>
        <p:txBody>
          <a:bodyPr/>
          <a:lstStyle>
            <a:lvl1pPr marL="447675" indent="-447675" algn="l" rtl="0" eaLnBrk="0" fontAlgn="base" hangingPunct="0">
              <a:spcBef>
                <a:spcPct val="20000"/>
              </a:spcBef>
              <a:spcAft>
                <a:spcPct val="0"/>
              </a:spcAft>
              <a:buClr>
                <a:schemeClr val="accent1"/>
              </a:buClr>
              <a:buSzPct val="70000"/>
              <a:buFont typeface="Wingdings" panose="05000000000000000000" charset="0"/>
              <a:buChar char="n"/>
              <a:defRPr kumimoji="1" sz="2800">
                <a:solidFill>
                  <a:schemeClr val="tx1"/>
                </a:solidFill>
                <a:latin typeface="+mn-lt"/>
                <a:ea typeface="+mn-ea"/>
                <a:cs typeface="宋体" panose="02010600030101010101" pitchFamily="2" charset="-122"/>
              </a:defRPr>
            </a:lvl1pPr>
            <a:lvl2pPr marL="889000" indent="-440055" algn="l" rtl="0" eaLnBrk="0" fontAlgn="base" hangingPunct="0">
              <a:spcBef>
                <a:spcPct val="20000"/>
              </a:spcBef>
              <a:spcAft>
                <a:spcPct val="0"/>
              </a:spcAft>
              <a:buClr>
                <a:schemeClr val="hlink"/>
              </a:buClr>
              <a:buSzPct val="65000"/>
              <a:buFont typeface="Wingdings" panose="05000000000000000000" charset="0"/>
              <a:buChar char="¡"/>
              <a:defRPr kumimoji="1" sz="2400">
                <a:solidFill>
                  <a:schemeClr val="tx1"/>
                </a:solidFill>
                <a:latin typeface="+mn-lt"/>
                <a:ea typeface="+mn-ea"/>
                <a:cs typeface="宋体" panose="02010600030101010101" pitchFamily="2" charset="-122"/>
              </a:defRPr>
            </a:lvl2pPr>
            <a:lvl3pPr marL="1294130" indent="-403225" algn="l" rtl="0" eaLnBrk="0" fontAlgn="base" hangingPunct="0">
              <a:spcBef>
                <a:spcPct val="20000"/>
              </a:spcBef>
              <a:spcAft>
                <a:spcPct val="0"/>
              </a:spcAft>
              <a:buClr>
                <a:schemeClr val="accent1"/>
              </a:buClr>
              <a:buSzPct val="70000"/>
              <a:buFont typeface="Wingdings" panose="05000000000000000000" charset="0"/>
              <a:buChar char="n"/>
              <a:defRPr kumimoji="1" sz="2000">
                <a:solidFill>
                  <a:schemeClr val="tx1"/>
                </a:solidFill>
                <a:latin typeface="+mn-lt"/>
                <a:ea typeface="+mn-ea"/>
                <a:cs typeface="宋体" panose="02010600030101010101" pitchFamily="2" charset="-122"/>
              </a:defRPr>
            </a:lvl3pPr>
            <a:lvl4pPr marL="1681480" indent="-386080" algn="l" rtl="0" eaLnBrk="0" fontAlgn="base" hangingPunct="0">
              <a:spcBef>
                <a:spcPct val="20000"/>
              </a:spcBef>
              <a:spcAft>
                <a:spcPct val="0"/>
              </a:spcAft>
              <a:buClr>
                <a:schemeClr val="hlink"/>
              </a:buClr>
              <a:buSzPct val="75000"/>
              <a:buFont typeface="Wingdings" panose="05000000000000000000" charset="0"/>
              <a:buChar char="¡"/>
              <a:defRPr kumimoji="1">
                <a:solidFill>
                  <a:schemeClr val="tx1"/>
                </a:solidFill>
                <a:latin typeface="+mn-lt"/>
                <a:ea typeface="+mn-ea"/>
                <a:cs typeface="宋体" panose="02010600030101010101" pitchFamily="2" charset="-122"/>
              </a:defRPr>
            </a:lvl4pPr>
            <a:lvl5pPr marL="2070100" indent="-387350" algn="l" rtl="0" eaLnBrk="0" fontAlgn="base" hangingPunct="0">
              <a:spcBef>
                <a:spcPct val="20000"/>
              </a:spcBef>
              <a:spcAft>
                <a:spcPct val="0"/>
              </a:spcAft>
              <a:buClr>
                <a:schemeClr val="accent1"/>
              </a:buClr>
              <a:buSzPct val="70000"/>
              <a:buFont typeface="Wingdings" panose="05000000000000000000" charset="0"/>
              <a:buChar char="n"/>
              <a:defRPr kumimoji="1" sz="1600">
                <a:solidFill>
                  <a:schemeClr val="tx1"/>
                </a:solidFill>
                <a:latin typeface="+mn-lt"/>
                <a:ea typeface="+mn-ea"/>
                <a:cs typeface="宋体" panose="02010600030101010101" pitchFamily="2" charset="-122"/>
              </a:defRPr>
            </a:lvl5pPr>
            <a:lvl6pPr marL="25273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6pPr>
            <a:lvl7pPr marL="29845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7pPr>
            <a:lvl8pPr marL="34417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8pPr>
            <a:lvl9pPr marL="3898900" indent="-387350" algn="l" rtl="0" fontAlgn="base">
              <a:spcBef>
                <a:spcPct val="20000"/>
              </a:spcBef>
              <a:spcAft>
                <a:spcPct val="0"/>
              </a:spcAft>
              <a:buClr>
                <a:schemeClr val="accent1"/>
              </a:buClr>
              <a:buSzPct val="70000"/>
              <a:buFont typeface="Wingdings" panose="05000000000000000000" pitchFamily="2" charset="2"/>
              <a:buChar char="n"/>
              <a:defRPr sz="1600">
                <a:solidFill>
                  <a:schemeClr val="tx1"/>
                </a:solidFill>
                <a:latin typeface="+mn-lt"/>
                <a:ea typeface="+mn-ea"/>
              </a:defRPr>
            </a:lvl9pPr>
          </a:lstStyle>
          <a:p>
            <a:pPr lvl="0"/>
            <a:r>
              <a:rPr lang="zh-CN" altLang="zh-CN" sz="2400" dirty="0"/>
              <a:t>运用在大规模的软件系统中，会出现状态空间爆炸的问题，从而导致实用性不高。</a:t>
            </a:r>
            <a:endParaRPr lang="zh-CN" altLang="zh-CN" sz="2400" dirty="0"/>
          </a:p>
          <a:p>
            <a:pPr lvl="0"/>
            <a:r>
              <a:rPr lang="zh-CN" altLang="zh-CN" sz="2400" dirty="0"/>
              <a:t>运用形式化验证的成本很高。</a:t>
            </a:r>
            <a:endParaRPr lang="zh-CN" altLang="zh-CN" sz="2400" dirty="0"/>
          </a:p>
          <a:p>
            <a:pPr lvl="0"/>
            <a:r>
              <a:rPr lang="zh-CN" altLang="zh-CN" sz="2400" dirty="0"/>
              <a:t>形式化方法中的抽象数学符号及理论对软件工程师的使用带来不便，人们要花时间和精力去</a:t>
            </a:r>
            <a:r>
              <a:rPr lang="zh-CN" altLang="zh-CN" sz="2400" dirty="0" smtClean="0"/>
              <a:t>学习</a:t>
            </a:r>
            <a:r>
              <a:rPr lang="zh-CN" altLang="en-US" sz="2400" dirty="0"/>
              <a:t>。</a:t>
            </a:r>
            <a:endParaRPr lang="zh-CN" altLang="zh-CN" sz="2400" dirty="0"/>
          </a:p>
          <a:p>
            <a:pPr marL="0" indent="0">
              <a:buNone/>
            </a:pPr>
            <a:endParaRPr lang="zh-CN" altLang="en-US" sz="2400" kern="0" dirty="0" smtClean="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1"/>
          </p:nvPr>
        </p:nvSpPr>
        <p:spPr/>
        <p:txBody>
          <a:bodyPr/>
          <a:lstStyle/>
          <a:p>
            <a:pPr>
              <a:defRPr/>
            </a:pPr>
            <a:r>
              <a:rPr lang="en-US" altLang="zh-CN" smtClean="0"/>
              <a:t>-</a:t>
            </a:r>
            <a:fld id="{D54FED89-5871-484A-8309-BEF4D73D9556}" type="slidenum">
              <a:rPr lang="en-US" altLang="zh-CN" smtClean="0"/>
            </a:fld>
            <a:r>
              <a:rPr lang="en-US" altLang="zh-CN" smtClean="0"/>
              <a:t>-</a:t>
            </a:r>
            <a:endParaRPr lang="en-US" altLang="zh-CN"/>
          </a:p>
        </p:txBody>
      </p:sp>
      <p:sp>
        <p:nvSpPr>
          <p:cNvPr id="3" name="内容占位符 2"/>
          <p:cNvSpPr>
            <a:spLocks noGrp="1"/>
          </p:cNvSpPr>
          <p:nvPr>
            <p:ph idx="1"/>
          </p:nvPr>
        </p:nvSpPr>
        <p:spPr>
          <a:xfrm>
            <a:off x="3059832" y="2780928"/>
            <a:ext cx="3168352" cy="1080120"/>
          </a:xfrm>
        </p:spPr>
        <p:txBody>
          <a:bodyPr/>
          <a:lstStyle/>
          <a:p>
            <a:pPr marL="0" indent="0">
              <a:buNone/>
            </a:pPr>
            <a:r>
              <a:rPr lang="en-US" altLang="zh-CN" sz="6000" dirty="0" smtClean="0">
                <a:latin typeface="Buxton Sketch" panose="03080500000500000004" pitchFamily="66" charset="0"/>
              </a:rPr>
              <a:t>Thank </a:t>
            </a:r>
            <a:r>
              <a:rPr lang="en-US" altLang="zh-CN" sz="6000" dirty="0">
                <a:latin typeface="Buxton Sketch" panose="03080500000500000004" pitchFamily="66" charset="0"/>
              </a:rPr>
              <a:t>you</a:t>
            </a:r>
            <a:endParaRPr lang="zh-CN" altLang="en-US" sz="6000" dirty="0">
              <a:latin typeface="Buxton Sketch" panose="03080500000500000004" pitchFamily="66"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Axis">
  <a:themeElements>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fontScheme name="Axis">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Times New Roman" panose="02020603050405020304" charset="0"/>
            <a:ea typeface="宋体" panose="02010600030101010101" pitchFamily="2" charset="-122"/>
          </a:defRPr>
        </a:defPPr>
      </a:lstStyle>
    </a:lnDef>
  </a:objectDefaults>
  <a:extraClrSchemeLst>
    <a:extraClrScheme>
      <a:clrScheme name="Axis 1">
        <a:dk1>
          <a:srgbClr val="080808"/>
        </a:dk1>
        <a:lt1>
          <a:srgbClr val="F8F8F8"/>
        </a:lt1>
        <a:dk2>
          <a:srgbClr val="330000"/>
        </a:dk2>
        <a:lt2>
          <a:srgbClr val="FFFFFF"/>
        </a:lt2>
        <a:accent1>
          <a:srgbClr val="FF9900"/>
        </a:accent1>
        <a:accent2>
          <a:srgbClr val="CC3300"/>
        </a:accent2>
        <a:accent3>
          <a:srgbClr val="ADAAAA"/>
        </a:accent3>
        <a:accent4>
          <a:srgbClr val="D4D4D4"/>
        </a:accent4>
        <a:accent5>
          <a:srgbClr val="FFCAAA"/>
        </a:accent5>
        <a:accent6>
          <a:srgbClr val="B92D00"/>
        </a:accent6>
        <a:hlink>
          <a:srgbClr val="CC6600"/>
        </a:hlink>
        <a:folHlink>
          <a:srgbClr val="B2B282"/>
        </a:folHlink>
      </a:clrScheme>
      <a:clrMap bg1="dk2" tx1="lt1" bg2="dk1" tx2="lt2" accent1="accent1" accent2="accent2" accent3="accent3" accent4="accent4" accent5="accent5" accent6="accent6" hlink="hlink" folHlink="folHlink"/>
    </a:extraClrScheme>
    <a:extraClrScheme>
      <a:clrScheme name="Axis 2">
        <a:dk1>
          <a:srgbClr val="333333"/>
        </a:dk1>
        <a:lt1>
          <a:srgbClr val="F8F8F8"/>
        </a:lt1>
        <a:dk2>
          <a:srgbClr val="800000"/>
        </a:dk2>
        <a:lt2>
          <a:srgbClr val="FFFFFF"/>
        </a:lt2>
        <a:accent1>
          <a:srgbClr val="CC9900"/>
        </a:accent1>
        <a:accent2>
          <a:srgbClr val="666666"/>
        </a:accent2>
        <a:accent3>
          <a:srgbClr val="C0AAAA"/>
        </a:accent3>
        <a:accent4>
          <a:srgbClr val="D4D4D4"/>
        </a:accent4>
        <a:accent5>
          <a:srgbClr val="E2CAAA"/>
        </a:accent5>
        <a:accent6>
          <a:srgbClr val="5C5C5C"/>
        </a:accent6>
        <a:hlink>
          <a:srgbClr val="CC6600"/>
        </a:hlink>
        <a:folHlink>
          <a:srgbClr val="95A587"/>
        </a:folHlink>
      </a:clrScheme>
      <a:clrMap bg1="dk2" tx1="lt1" bg2="dk1" tx2="lt2" accent1="accent1" accent2="accent2" accent3="accent3" accent4="accent4" accent5="accent5" accent6="accent6" hlink="hlink" folHlink="folHlink"/>
    </a:extraClrScheme>
    <a:extraClrScheme>
      <a:clrScheme name="Axis 3">
        <a:dk1>
          <a:srgbClr val="5F5F5F"/>
        </a:dk1>
        <a:lt1>
          <a:srgbClr val="A4BEE0"/>
        </a:lt1>
        <a:dk2>
          <a:srgbClr val="013253"/>
        </a:dk2>
        <a:lt2>
          <a:srgbClr val="FFFFFF"/>
        </a:lt2>
        <a:accent1>
          <a:srgbClr val="588480"/>
        </a:accent1>
        <a:accent2>
          <a:srgbClr val="6600FF"/>
        </a:accent2>
        <a:accent3>
          <a:srgbClr val="AAADB3"/>
        </a:accent3>
        <a:accent4>
          <a:srgbClr val="8BA2BF"/>
        </a:accent4>
        <a:accent5>
          <a:srgbClr val="B4C2C0"/>
        </a:accent5>
        <a:accent6>
          <a:srgbClr val="5C00E7"/>
        </a:accent6>
        <a:hlink>
          <a:srgbClr val="CCCC00"/>
        </a:hlink>
        <a:folHlink>
          <a:srgbClr val="5F5F5F"/>
        </a:folHlink>
      </a:clrScheme>
      <a:clrMap bg1="dk2" tx1="lt1" bg2="dk1" tx2="lt2" accent1="accent1" accent2="accent2" accent3="accent3" accent4="accent4" accent5="accent5" accent6="accent6" hlink="hlink" folHlink="folHlink"/>
    </a:extraClrScheme>
    <a:extraClrScheme>
      <a:clrScheme name="Axis 4">
        <a:dk1>
          <a:srgbClr val="003300"/>
        </a:dk1>
        <a:lt1>
          <a:srgbClr val="F8F8F8"/>
        </a:lt1>
        <a:dk2>
          <a:srgbClr val="3D4A1C"/>
        </a:dk2>
        <a:lt2>
          <a:srgbClr val="FFFFFF"/>
        </a:lt2>
        <a:accent1>
          <a:srgbClr val="99CC00"/>
        </a:accent1>
        <a:accent2>
          <a:srgbClr val="669900"/>
        </a:accent2>
        <a:accent3>
          <a:srgbClr val="AFB1AB"/>
        </a:accent3>
        <a:accent4>
          <a:srgbClr val="D4D4D4"/>
        </a:accent4>
        <a:accent5>
          <a:srgbClr val="CAE2AA"/>
        </a:accent5>
        <a:accent6>
          <a:srgbClr val="5C8A00"/>
        </a:accent6>
        <a:hlink>
          <a:srgbClr val="CC9900"/>
        </a:hlink>
        <a:folHlink>
          <a:srgbClr val="B2B282"/>
        </a:folHlink>
      </a:clrScheme>
      <a:clrMap bg1="dk2" tx1="lt1" bg2="dk1" tx2="lt2" accent1="accent1" accent2="accent2" accent3="accent3" accent4="accent4" accent5="accent5" accent6="accent6" hlink="hlink" folHlink="folHlink"/>
    </a:extraClrScheme>
    <a:extraClrScheme>
      <a:clrScheme name="Axis 5">
        <a:dk1>
          <a:srgbClr val="333333"/>
        </a:dk1>
        <a:lt1>
          <a:srgbClr val="F8F8F8"/>
        </a:lt1>
        <a:dk2>
          <a:srgbClr val="005D8C"/>
        </a:dk2>
        <a:lt2>
          <a:srgbClr val="FFFFFF"/>
        </a:lt2>
        <a:accent1>
          <a:srgbClr val="00CC99"/>
        </a:accent1>
        <a:accent2>
          <a:srgbClr val="0099CC"/>
        </a:accent2>
        <a:accent3>
          <a:srgbClr val="AAB6C5"/>
        </a:accent3>
        <a:accent4>
          <a:srgbClr val="D4D4D4"/>
        </a:accent4>
        <a:accent5>
          <a:srgbClr val="AAE2CA"/>
        </a:accent5>
        <a:accent6>
          <a:srgbClr val="008AB9"/>
        </a:accent6>
        <a:hlink>
          <a:srgbClr val="FFCC00"/>
        </a:hlink>
        <a:folHlink>
          <a:srgbClr val="D8D48C"/>
        </a:folHlink>
      </a:clrScheme>
      <a:clrMap bg1="dk2" tx1="lt1" bg2="dk1" tx2="lt2" accent1="accent1" accent2="accent2" accent3="accent3" accent4="accent4" accent5="accent5" accent6="accent6" hlink="hlink" folHlink="folHlink"/>
    </a:extraClrScheme>
    <a:extraClrScheme>
      <a:clrScheme name="Axis 6">
        <a:dk1>
          <a:srgbClr val="000000"/>
        </a:dk1>
        <a:lt1>
          <a:srgbClr val="ECAE00"/>
        </a:lt1>
        <a:dk2>
          <a:srgbClr val="FFFFFF"/>
        </a:dk2>
        <a:lt2>
          <a:srgbClr val="333333"/>
        </a:lt2>
        <a:accent1>
          <a:srgbClr val="CC6600"/>
        </a:accent1>
        <a:accent2>
          <a:srgbClr val="BA6D10"/>
        </a:accent2>
        <a:accent3>
          <a:srgbClr val="F4D3AA"/>
        </a:accent3>
        <a:accent4>
          <a:srgbClr val="000000"/>
        </a:accent4>
        <a:accent5>
          <a:srgbClr val="E2B8AA"/>
        </a:accent5>
        <a:accent6>
          <a:srgbClr val="A8620D"/>
        </a:accent6>
        <a:hlink>
          <a:srgbClr val="666633"/>
        </a:hlink>
        <a:folHlink>
          <a:srgbClr val="8D996D"/>
        </a:folHlink>
      </a:clrScheme>
      <a:clrMap bg1="lt1" tx1="dk1" bg2="lt2" tx2="dk2" accent1="accent1" accent2="accent2" accent3="accent3" accent4="accent4" accent5="accent5" accent6="accent6" hlink="hlink" folHlink="folHlink"/>
    </a:extraClrScheme>
    <a:extraClrScheme>
      <a:clrScheme name="Axis 7">
        <a:dk1>
          <a:srgbClr val="000000"/>
        </a:dk1>
        <a:lt1>
          <a:srgbClr val="FFFFFF"/>
        </a:lt1>
        <a:dk2>
          <a:srgbClr val="372221"/>
        </a:dk2>
        <a:lt2>
          <a:srgbClr val="808080"/>
        </a:lt2>
        <a:accent1>
          <a:srgbClr val="009999"/>
        </a:accent1>
        <a:accent2>
          <a:srgbClr val="9AAC98"/>
        </a:accent2>
        <a:accent3>
          <a:srgbClr val="FFFFFF"/>
        </a:accent3>
        <a:accent4>
          <a:srgbClr val="000000"/>
        </a:accent4>
        <a:accent5>
          <a:srgbClr val="AACACA"/>
        </a:accent5>
        <a:accent6>
          <a:srgbClr val="8B9B89"/>
        </a:accent6>
        <a:hlink>
          <a:srgbClr val="666699"/>
        </a:hlink>
        <a:folHlink>
          <a:srgbClr val="B2B2B2"/>
        </a:folHlink>
      </a:clrScheme>
      <a:clrMap bg1="lt1" tx1="dk1" bg2="lt2" tx2="dk2" accent1="accent1" accent2="accent2" accent3="accent3" accent4="accent4" accent5="accent5" accent6="accent6" hlink="hlink" folHlink="folHlink"/>
    </a:extraClrScheme>
    <a:extraClrScheme>
      <a:clrScheme name="Axis 8">
        <a:dk1>
          <a:srgbClr val="292929"/>
        </a:dk1>
        <a:lt1>
          <a:srgbClr val="FFFFFF"/>
        </a:lt1>
        <a:dk2>
          <a:srgbClr val="000000"/>
        </a:dk2>
        <a:lt2>
          <a:srgbClr val="808080"/>
        </a:lt2>
        <a:accent1>
          <a:srgbClr val="CC9900"/>
        </a:accent1>
        <a:accent2>
          <a:srgbClr val="CCCC99"/>
        </a:accent2>
        <a:accent3>
          <a:srgbClr val="FFFFFF"/>
        </a:accent3>
        <a:accent4>
          <a:srgbClr val="212121"/>
        </a:accent4>
        <a:accent5>
          <a:srgbClr val="E2CAAA"/>
        </a:accent5>
        <a:accent6>
          <a:srgbClr val="B9B98A"/>
        </a:accent6>
        <a:hlink>
          <a:srgbClr val="999933"/>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3312</Words>
  <Application>WPS 演示</Application>
  <PresentationFormat>全屏显示(4:3)</PresentationFormat>
  <Paragraphs>249</Paragraphs>
  <Slides>27</Slides>
  <Notes>5</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27</vt:i4>
      </vt:variant>
    </vt:vector>
  </HeadingPairs>
  <TitlesOfParts>
    <vt:vector size="40" baseType="lpstr">
      <vt:lpstr>Arial</vt:lpstr>
      <vt:lpstr>宋体</vt:lpstr>
      <vt:lpstr>Wingdings</vt:lpstr>
      <vt:lpstr>Times New Roman</vt:lpstr>
      <vt:lpstr>Wingdings</vt:lpstr>
      <vt:lpstr>等线</vt:lpstr>
      <vt:lpstr>微软雅黑</vt:lpstr>
      <vt:lpstr>Arial Unicode MS</vt:lpstr>
      <vt:lpstr>Symbol</vt:lpstr>
      <vt:lpstr>Lucida Console</vt:lpstr>
      <vt:lpstr>Buxton Sketch</vt:lpstr>
      <vt:lpstr>Mongolian Baiti</vt:lpstr>
      <vt:lpstr>Axis</vt:lpstr>
      <vt:lpstr>形式化方法</vt:lpstr>
      <vt:lpstr>软件形式化专业及专委会</vt:lpstr>
      <vt:lpstr>软件开发过程</vt:lpstr>
      <vt:lpstr>PowerPoint 演示文稿</vt:lpstr>
      <vt:lpstr>软件缺陷造成的损失</vt:lpstr>
      <vt:lpstr>软件缺陷造成的损失（2）</vt:lpstr>
      <vt:lpstr>软件质量的重要方面</vt:lpstr>
      <vt:lpstr>现有软件的特征</vt:lpstr>
      <vt:lpstr>原因在于</vt:lpstr>
      <vt:lpstr>什么是形式化验证</vt:lpstr>
      <vt:lpstr>软件开发中为什么使用形式化方法</vt:lpstr>
      <vt:lpstr>软件开发中为什么使用形式化方法</vt:lpstr>
      <vt:lpstr>软件开发中为什么使用形式化方法</vt:lpstr>
      <vt:lpstr>软件开发中为什么使用形式化方法</vt:lpstr>
      <vt:lpstr>形式化方法简介</vt:lpstr>
      <vt:lpstr>形式化方法简介</vt:lpstr>
      <vt:lpstr>形式化方法的发展</vt:lpstr>
      <vt:lpstr>经典案例及应用</vt:lpstr>
      <vt:lpstr>经典案例及应用</vt:lpstr>
      <vt:lpstr>经典案例及应用</vt:lpstr>
      <vt:lpstr>程序验证</vt:lpstr>
      <vt:lpstr>定理证明</vt:lpstr>
      <vt:lpstr>模型检测</vt:lpstr>
      <vt:lpstr>模型检验</vt:lpstr>
      <vt:lpstr>总结</vt:lpstr>
      <vt:lpstr>总结</vt:lpstr>
      <vt:lpstr>PowerPoint 演示文稿</vt:lpstr>
    </vt:vector>
  </TitlesOfParts>
  <Company>ics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HMM词性标注</dc:title>
  <dc:creator>HuangShujian</dc:creator>
  <cp:lastModifiedBy>Mr Nie</cp:lastModifiedBy>
  <cp:revision>1079</cp:revision>
  <dcterms:created xsi:type="dcterms:W3CDTF">2005-03-03T04:54:00Z</dcterms:created>
  <dcterms:modified xsi:type="dcterms:W3CDTF">2021-10-26T10:55:34Z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7182F6C34A4F4ABC8F3342C97379F27E</vt:lpwstr>
  </property>
  <property fmtid="{D5CDD505-2E9C-101B-9397-08002B2CF9AE}" pid="3" name="KSOProductBuildVer">
    <vt:lpwstr>2052-11.1.0.10495</vt:lpwstr>
  </property>
</Properties>
</file>