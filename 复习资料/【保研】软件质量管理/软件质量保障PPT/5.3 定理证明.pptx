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92" r:id="rId5"/>
    <p:sldId id="402" r:id="rId6"/>
    <p:sldId id="403" r:id="rId7"/>
    <p:sldId id="391" r:id="rId8"/>
    <p:sldId id="387" r:id="rId9"/>
    <p:sldId id="395" r:id="rId10"/>
    <p:sldId id="396" r:id="rId11"/>
    <p:sldId id="397" r:id="rId12"/>
    <p:sldId id="404" r:id="rId13"/>
    <p:sldId id="406" r:id="rId14"/>
  </p:sldIdLst>
  <p:sldSz cx="9144000" cy="6858000" type="screen4x3"/>
  <p:notesSz cx="6797675" cy="9874250"/>
  <p:defaultTextStyle>
    <a:defPPr>
      <a:defRPr lang="zh-CN"/>
    </a:defPPr>
    <a:lvl1pPr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4572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2pPr>
    <a:lvl3pPr marL="9144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3pPr>
    <a:lvl4pPr marL="13716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4pPr>
    <a:lvl5pPr marL="18288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ED7233"/>
    <a:srgbClr val="BFBC3E"/>
    <a:srgbClr val="CCFFCC"/>
    <a:srgbClr val="FFFFCC"/>
    <a:srgbClr val="3366FF"/>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10"/>
    <p:restoredTop sz="78101"/>
  </p:normalViewPr>
  <p:slideViewPr>
    <p:cSldViewPr>
      <p:cViewPr varScale="1">
        <p:scale>
          <a:sx n="66" d="100"/>
          <a:sy n="66" d="100"/>
        </p:scale>
        <p:origin x="51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bwMode="auto">
          <a:xfrm>
            <a:off x="0" y="0"/>
            <a:ext cx="2946400" cy="493713"/>
          </a:xfrm>
          <a:prstGeom prst="rect">
            <a:avLst/>
          </a:prstGeom>
          <a:noFill/>
          <a:ln w="9525">
            <a:noFill/>
            <a:miter lim="800000"/>
          </a:ln>
          <a:effectLst/>
        </p:spPr>
        <p:txBody>
          <a:bodyPr vert="horz" wrap="square" lIns="91440" tIns="45720" rIns="91440" bIns="45720" numCol="1" anchor="t" anchorCtr="0" compatLnSpc="1"/>
          <a:lstStyle>
            <a:lvl1pPr algn="l">
              <a:defRPr sz="1200" smtClean="0">
                <a:latin typeface="Arial" panose="020B0604020202020204" pitchFamily="34" charset="0"/>
              </a:defRPr>
            </a:lvl1pPr>
          </a:lstStyle>
          <a:p>
            <a:pPr>
              <a:defRPr/>
            </a:pPr>
            <a:endParaRPr lang="en-US" altLang="zh-CN"/>
          </a:p>
        </p:txBody>
      </p:sp>
      <p:sp>
        <p:nvSpPr>
          <p:cNvPr id="209923" name="Rectangle 3"/>
          <p:cNvSpPr>
            <a:spLocks noGrp="1" noChangeArrowheads="1"/>
          </p:cNvSpPr>
          <p:nvPr>
            <p:ph type="dt" idx="1"/>
          </p:nvPr>
        </p:nvSpPr>
        <p:spPr bwMode="auto">
          <a:xfrm>
            <a:off x="3849688" y="0"/>
            <a:ext cx="2946400" cy="493713"/>
          </a:xfrm>
          <a:prstGeom prst="rect">
            <a:avLst/>
          </a:prstGeom>
          <a:noFill/>
          <a:ln w="9525">
            <a:noFill/>
            <a:miter lim="800000"/>
          </a:ln>
          <a:effectLst/>
        </p:spPr>
        <p:txBody>
          <a:bodyPr vert="horz" wrap="square" lIns="91440" tIns="45720" rIns="91440" bIns="45720" numCol="1" anchor="t" anchorCtr="0" compatLnSpc="1"/>
          <a:lstStyle>
            <a:lvl1pPr algn="r">
              <a:defRPr sz="1200" smtClean="0">
                <a:latin typeface="Arial" panose="020B0604020202020204" pitchFamily="34" charset="0"/>
              </a:defRPr>
            </a:lvl1pPr>
          </a:lstStyle>
          <a:p>
            <a:pPr>
              <a:defRPr/>
            </a:pPr>
            <a:endParaRPr lang="en-US" altLang="zh-CN"/>
          </a:p>
        </p:txBody>
      </p:sp>
      <p:sp>
        <p:nvSpPr>
          <p:cNvPr id="13316"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ln>
        </p:spPr>
      </p:sp>
      <p:sp>
        <p:nvSpPr>
          <p:cNvPr id="209925" name="Rectangle 5"/>
          <p:cNvSpPr>
            <a:spLocks noGrp="1" noChangeArrowheads="1"/>
          </p:cNvSpPr>
          <p:nvPr>
            <p:ph type="body" sz="quarter" idx="3"/>
          </p:nvPr>
        </p:nvSpPr>
        <p:spPr bwMode="auto">
          <a:xfrm>
            <a:off x="679450" y="4691063"/>
            <a:ext cx="5438775" cy="4443412"/>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9926" name="Rectangle 6"/>
          <p:cNvSpPr>
            <a:spLocks noGrp="1" noChangeArrowheads="1"/>
          </p:cNvSpPr>
          <p:nvPr>
            <p:ph type="ftr" sz="quarter" idx="4"/>
          </p:nvPr>
        </p:nvSpPr>
        <p:spPr bwMode="auto">
          <a:xfrm>
            <a:off x="0" y="9378950"/>
            <a:ext cx="2946400" cy="493713"/>
          </a:xfrm>
          <a:prstGeom prst="rect">
            <a:avLst/>
          </a:prstGeom>
          <a:noFill/>
          <a:ln w="9525">
            <a:noFill/>
            <a:miter lim="800000"/>
          </a:ln>
          <a:effectLst/>
        </p:spPr>
        <p:txBody>
          <a:bodyPr vert="horz" wrap="square" lIns="91440" tIns="45720" rIns="91440" bIns="45720" numCol="1" anchor="b" anchorCtr="0" compatLnSpc="1"/>
          <a:lstStyle>
            <a:lvl1pPr algn="l">
              <a:defRPr sz="1200" smtClean="0">
                <a:latin typeface="Arial" panose="020B0604020202020204" pitchFamily="34" charset="0"/>
              </a:defRPr>
            </a:lvl1pPr>
          </a:lstStyle>
          <a:p>
            <a:pPr>
              <a:defRPr/>
            </a:pPr>
            <a:endParaRPr lang="en-US" altLang="zh-CN"/>
          </a:p>
        </p:txBody>
      </p:sp>
      <p:sp>
        <p:nvSpPr>
          <p:cNvPr id="209927" name="Rectangle 7"/>
          <p:cNvSpPr>
            <a:spLocks noGrp="1" noChangeArrowheads="1"/>
          </p:cNvSpPr>
          <p:nvPr>
            <p:ph type="sldNum" sz="quarter" idx="5"/>
          </p:nvPr>
        </p:nvSpPr>
        <p:spPr bwMode="auto">
          <a:xfrm>
            <a:off x="3849688" y="9378950"/>
            <a:ext cx="2946400" cy="493713"/>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panose="020B0604020202020204" pitchFamily="34" charset="0"/>
              </a:defRPr>
            </a:lvl1pPr>
          </a:lstStyle>
          <a:p>
            <a:pPr>
              <a:defRPr/>
            </a:pPr>
            <a:fld id="{5B0C0944-B132-EC49-AFA3-CE6EAA48DD42}"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040C8C5-FF60-0940-9A32-6676D8855FE2}" type="slidenum">
              <a:rPr kumimoji="0" lang="en-US" altLang="zh-CN" sz="1200">
                <a:latin typeface="Arial" panose="020B0604020202020204" pitchFamily="34" charset="0"/>
              </a:rPr>
            </a:fld>
            <a:endParaRPr kumimoji="0" lang="en-US" altLang="zh-CN" sz="1200">
              <a:latin typeface="Arial" panose="020B0604020202020204" pitchFamily="34" charset="0"/>
            </a:endParaRPr>
          </a:p>
        </p:txBody>
      </p:sp>
      <p:sp>
        <p:nvSpPr>
          <p:cNvPr id="15362" name="Rectangle 2"/>
          <p:cNvSpPr>
            <a:spLocks noGrp="1" noRot="1" noChangeAspect="1" noChangeArrowheads="1" noTextEdit="1"/>
          </p:cNvSpPr>
          <p:nvPr>
            <p:ph type="sldImg"/>
          </p:nvPr>
        </p:nvSpPr>
        <p:spPr/>
      </p:sp>
      <p:sp>
        <p:nvSpPr>
          <p:cNvPr id="15363" name="Rectangle 3"/>
          <p:cNvSpPr>
            <a:spLocks noGrp="1" noChangeArrowheads="1"/>
          </p:cNvSpPr>
          <p:nvPr>
            <p:ph type="body" idx="1"/>
          </p:nvPr>
        </p:nvSpPr>
        <p:spPr>
          <a:noFill/>
        </p:spPr>
        <p:txBody>
          <a:bodyPr/>
          <a:lstStyle/>
          <a:p>
            <a:pPr eaLnBrk="1" hangingPunct="1"/>
            <a:endParaRPr kumimoji="0"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B0C0944-B132-EC49-AFA3-CE6EAA48DD42}"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B0C0944-B132-EC49-AFA3-CE6EAA48DD42}"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B0C0944-B132-EC49-AFA3-CE6EAA48DD42}"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lgn="just">
              <a:buFont typeface="Wingdings" panose="05000000000000000000" pitchFamily="2" charset="2"/>
              <a:buNone/>
            </a:pPr>
            <a:endParaRPr lang="zh-CN" altLang="en-US" sz="1200" dirty="0" smtClean="0"/>
          </a:p>
        </p:txBody>
      </p:sp>
      <p:sp>
        <p:nvSpPr>
          <p:cNvPr id="4" name="灯片编号占位符 3"/>
          <p:cNvSpPr>
            <a:spLocks noGrp="1"/>
          </p:cNvSpPr>
          <p:nvPr>
            <p:ph type="sldNum" sz="quarter" idx="10"/>
          </p:nvPr>
        </p:nvSpPr>
        <p:spPr/>
        <p:txBody>
          <a:bodyPr/>
          <a:lstStyle/>
          <a:p>
            <a:fld id="{F4A715F5-9532-4023-8409-0693AFB5150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ln>
        </p:spPr>
        <p:txBody>
          <a:bodyPr wrap="none" anchor="ctr"/>
          <a:lstStyle/>
          <a:p>
            <a:endParaRPr lang="zh-CN" altLang="en-US">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p:spPr>
        <p:txBody>
          <a:bodyPr wrap="none" anchor="ctr"/>
          <a:lstStyle/>
          <a:p>
            <a:endParaRPr lang="zh-CN" altLang="en-US" sz="240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p:spPr>
        <p:txBody>
          <a:bodyPr wrap="none" anchor="ctr"/>
          <a:lstStyle/>
          <a:p>
            <a:endParaRPr lang="zh-CN" altLang="en-US" sz="2400"/>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p:spPr>
      </p:pic>
      <p:pic>
        <p:nvPicPr>
          <p:cNvPr id="8" name="Picture 11" descr="NJU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2413" y="260350"/>
            <a:ext cx="2303462" cy="904875"/>
          </a:xfrm>
          <a:prstGeom prst="rect">
            <a:avLst/>
          </a:prstGeom>
          <a:noFill/>
          <a:ln>
            <a:noFill/>
          </a:ln>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9117013" cy="28575"/>
          </a:xfrm>
          <a:prstGeom prst="rect">
            <a:avLst/>
          </a:prstGeom>
          <a:noFill/>
          <a:ln>
            <a:noFill/>
          </a:ln>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a:t>单击此处编辑母版标题样式</a:t>
            </a:r>
            <a:endParaRPr lang="zh-CN" altLang="en-US"/>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pPr>
              <a:defRPr/>
            </a:pPr>
            <a:fld id="{0D6A5A5D-C0AB-9240-955F-F620E950634B}" type="datetime1">
              <a:rPr lang="zh-CN" altLang="en-US"/>
            </a:fld>
            <a:endParaRPr lang="en-US" altLang="zh-CN"/>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13" name="Rectangle 5"/>
          <p:cNvSpPr>
            <a:spLocks noGrp="1" noChangeArrowheads="1"/>
          </p:cNvSpPr>
          <p:nvPr>
            <p:ph type="sldNum" sz="quarter" idx="12"/>
          </p:nvPr>
        </p:nvSpPr>
        <p:spPr/>
        <p:txBody>
          <a:bodyPr/>
          <a:lstStyle>
            <a:lvl1pPr>
              <a:defRPr/>
            </a:lvl1pPr>
          </a:lstStyle>
          <a:p>
            <a:pPr>
              <a:defRPr/>
            </a:pPr>
            <a:fld id="{FF2D067A-F845-9D47-B75C-B79758830B91}"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077F30FB-1D90-1E40-92FD-7816B07D6DDC}"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50AC0454-A414-F04C-824A-79602E160F30}"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7"/>
          <p:cNvSpPr>
            <a:spLocks noGrp="1" noChangeArrowheads="1"/>
          </p:cNvSpPr>
          <p:nvPr>
            <p:ph type="dt" sz="half" idx="10"/>
          </p:nvPr>
        </p:nvSpPr>
        <p:spPr/>
        <p:txBody>
          <a:bodyPr/>
          <a:lstStyle>
            <a:lvl1pPr>
              <a:defRPr/>
            </a:lvl1pPr>
          </a:lstStyle>
          <a:p>
            <a:pPr>
              <a:defRPr/>
            </a:pPr>
            <a:fld id="{4C4D4937-3AAC-2F43-8620-ACFE49DEF568}"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66269295-C29F-3149-9360-87688FDF403F}"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283EEF00-B08F-3B4D-A7CE-56D6CC17061A}"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E63DF638-F973-D149-899D-B82E6CEBC740}"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fld id="{695508D3-CDD3-E542-BE08-6C1FCC6D6164}" type="datetime1">
              <a:rPr lang="zh-CN" altLang="en-US"/>
            </a:fld>
            <a:endParaRPr lang="en-US" altLang="zh-CN"/>
          </a:p>
        </p:txBody>
      </p:sp>
      <p:sp>
        <p:nvSpPr>
          <p:cNvPr id="8"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9" name="Rectangle 9"/>
          <p:cNvSpPr>
            <a:spLocks noGrp="1" noChangeArrowheads="1"/>
          </p:cNvSpPr>
          <p:nvPr>
            <p:ph type="sldNum" sz="quarter" idx="12"/>
          </p:nvPr>
        </p:nvSpPr>
        <p:spPr/>
        <p:txBody>
          <a:bodyPr/>
          <a:lstStyle>
            <a:lvl1pPr>
              <a:defRPr/>
            </a:lvl1pPr>
          </a:lstStyle>
          <a:p>
            <a:pPr>
              <a:defRPr/>
            </a:pPr>
            <a:fld id="{2C9172C2-BDF7-0E44-B517-1E11CE0887B6}"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p:txBody>
          <a:bodyPr/>
          <a:lstStyle>
            <a:lvl1pPr>
              <a:defRPr/>
            </a:lvl1pPr>
          </a:lstStyle>
          <a:p>
            <a:pPr>
              <a:defRPr/>
            </a:pPr>
            <a:fld id="{6A3C62C2-65F9-4A4E-ACC0-2EE28D40ECC3}" type="datetime1">
              <a:rPr lang="zh-CN" altLang="en-US"/>
            </a:fld>
            <a:endParaRPr lang="en-US" altLang="zh-CN"/>
          </a:p>
        </p:txBody>
      </p:sp>
      <p:sp>
        <p:nvSpPr>
          <p:cNvPr id="4"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5" name="Rectangle 9"/>
          <p:cNvSpPr>
            <a:spLocks noGrp="1" noChangeArrowheads="1"/>
          </p:cNvSpPr>
          <p:nvPr>
            <p:ph type="sldNum" sz="quarter" idx="12"/>
          </p:nvPr>
        </p:nvSpPr>
        <p:spPr/>
        <p:txBody>
          <a:bodyPr/>
          <a:lstStyle>
            <a:lvl1pPr>
              <a:defRPr/>
            </a:lvl1pPr>
          </a:lstStyle>
          <a:p>
            <a:pPr>
              <a:defRPr/>
            </a:pPr>
            <a:fld id="{3E440166-6CE3-F044-BBAE-2F06EF89DFF3}"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pPr>
              <a:defRPr/>
            </a:pPr>
            <a:fld id="{E0C7EA1E-2C4C-2645-A209-C97C0E2EC17C}" type="datetime1">
              <a:rPr lang="zh-CN" altLang="en-US"/>
            </a:fld>
            <a:endParaRPr lang="en-US" altLang="zh-CN"/>
          </a:p>
        </p:txBody>
      </p:sp>
      <p:sp>
        <p:nvSpPr>
          <p:cNvPr id="3"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4" name="Rectangle 9"/>
          <p:cNvSpPr>
            <a:spLocks noGrp="1" noChangeArrowheads="1"/>
          </p:cNvSpPr>
          <p:nvPr>
            <p:ph type="sldNum" sz="quarter" idx="12"/>
          </p:nvPr>
        </p:nvSpPr>
        <p:spPr/>
        <p:txBody>
          <a:bodyPr/>
          <a:lstStyle>
            <a:lvl1pPr>
              <a:defRPr/>
            </a:lvl1pPr>
          </a:lstStyle>
          <a:p>
            <a:pPr>
              <a:defRPr/>
            </a:pPr>
            <a:fld id="{CDB26990-C4F0-764F-9A2D-023468D73A56}"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fld id="{A5AC86A3-CDD1-2747-AC1B-4C53F4BBAEEB}"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1563E623-5935-2245-A7E5-583BD36AF976}"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fld id="{7912DB9A-73EB-2948-9683-158113B6707A}"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28D912F3-F979-3D4B-8A3A-5A312B3AEED3}"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DE212855-A84D-8640-AF7F-74B205D91AAA}"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1DBA8F70-1237-3346-A9ED-CCB248B552AD}"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EC215E04-8BE3-CD41-8C4D-B3B1467F6703}"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2C0DC5BE-D905-9B4A-A5F8-C3A933EEDA72}"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a:noFill/>
          </a:ln>
        </p:spPr>
        <p:txBody>
          <a:bodyPr wrap="none" anchor="ctr"/>
          <a:lstStyle/>
          <a:p>
            <a:endParaRPr lang="zh-CN" altLang="en-US" sz="240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a:noFill/>
          </a:ln>
        </p:spPr>
        <p:txBody>
          <a:bodyPr wrap="none" anchor="ctr"/>
          <a:lstStyle/>
          <a:p>
            <a:endParaRPr lang="zh-CN" altLang="en-US" sz="2400"/>
          </a:p>
        </p:txBody>
      </p:sp>
      <p:sp>
        <p:nvSpPr>
          <p:cNvPr id="1028" name="Rectangle 4"/>
          <p:cNvSpPr>
            <a:spLocks noGrp="1" noChangeArrowheads="1"/>
          </p:cNvSpPr>
          <p:nvPr>
            <p:ph type="title"/>
          </p:nvPr>
        </p:nvSpPr>
        <p:spPr bwMode="auto">
          <a:xfrm>
            <a:off x="1042988" y="404813"/>
            <a:ext cx="5616575" cy="576262"/>
          </a:xfrm>
          <a:prstGeom prst="rect">
            <a:avLst/>
          </a:prstGeom>
          <a:noFill/>
          <a:ln>
            <a:noFill/>
          </a:ln>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9" name="Rectangle 5"/>
          <p:cNvSpPr>
            <a:spLocks noGrp="1" noChangeArrowheads="1"/>
          </p:cNvSpPr>
          <p:nvPr>
            <p:ph type="body" idx="1"/>
          </p:nvPr>
        </p:nvSpPr>
        <p:spPr bwMode="auto">
          <a:xfrm>
            <a:off x="468313" y="1484313"/>
            <a:ext cx="8142287" cy="4392612"/>
          </a:xfrm>
          <a:prstGeom prst="rect">
            <a:avLst/>
          </a:prstGeom>
          <a:noFill/>
          <a:ln>
            <a:noFill/>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1030" name="Picture 6" descr="towe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ln>
          <a:effectLst/>
        </p:spPr>
        <p:txBody>
          <a:bodyPr vert="horz" wrap="square" lIns="91440" tIns="45720" rIns="91440" bIns="45720" numCol="1" anchor="t" anchorCtr="0" compatLnSpc="1"/>
          <a:lstStyle>
            <a:lvl1pPr algn="l">
              <a:defRPr sz="1600">
                <a:latin typeface="Arial" panose="020B0604020202020204" pitchFamily="34" charset="0"/>
              </a:defRPr>
            </a:lvl1pPr>
          </a:lstStyle>
          <a:p>
            <a:pPr>
              <a:defRPr/>
            </a:pPr>
            <a:fld id="{96A7C1D7-DA4D-0D47-8A9D-20C501704407}" type="datetime1">
              <a:rPr lang="zh-CN" altLang="en-US"/>
            </a:fld>
            <a:endParaRPr lang="en-US" altLang="zh-CN"/>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ln>
          <a:effectLst/>
        </p:spPr>
        <p:txBody>
          <a:bodyPr vert="horz" wrap="square" lIns="91440" tIns="45720" rIns="91440" bIns="45720" numCol="1" anchor="t" anchorCtr="0" compatLnSpc="1"/>
          <a:lstStyle>
            <a:lvl1pPr>
              <a:defRPr sz="1600">
                <a:latin typeface="+mn-lt"/>
                <a:ea typeface="宋体" panose="02010600030101010101" pitchFamily="2" charset="-122"/>
                <a:cs typeface="+mn-cs"/>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ln>
          <a:effectLst/>
        </p:spPr>
        <p:txBody>
          <a:bodyPr vert="horz" wrap="square" lIns="91440" tIns="45720" rIns="91440" bIns="45720" numCol="1" anchor="t" anchorCtr="0" compatLnSpc="1"/>
          <a:lstStyle>
            <a:lvl1pPr algn="r">
              <a:defRPr sz="1600">
                <a:latin typeface="Arial" panose="020B0604020202020204" pitchFamily="34" charset="0"/>
              </a:defRPr>
            </a:lvl1pPr>
          </a:lstStyle>
          <a:p>
            <a:pPr>
              <a:defRPr/>
            </a:pPr>
            <a:fld id="{7A159C6A-D517-464E-A11D-5E3698E05D4A}" type="slidenum">
              <a:rPr lang="en-US" altLang="zh-CN"/>
            </a:fld>
            <a:endParaRPr lang="en-US" altLang="zh-CN"/>
          </a:p>
        </p:txBody>
      </p:sp>
      <p:pic>
        <p:nvPicPr>
          <p:cNvPr id="1034"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p:spPr>
      </p:pic>
      <p:pic>
        <p:nvPicPr>
          <p:cNvPr id="1035" name="Picture 11" descr="校徽"/>
          <p:cNvPicPr>
            <a:picLocks noChangeAspect="1" noChangeArrowheads="1"/>
          </p:cNvPicPr>
          <p:nvPr/>
        </p:nvPicPr>
        <p:blipFill>
          <a:blip r:embed="rId14" cstate="email">
            <a:extLst>
              <a:ext uri="{28A0092B-C50C-407E-A947-70E740481C1C}">
                <a14:useLocalDpi xmlns:a14="http://schemas.microsoft.com/office/drawing/2010/main" val="0"/>
              </a:ext>
            </a:extLst>
          </a:blip>
          <a:srcRect/>
          <a:stretch>
            <a:fillRect/>
          </a:stretch>
        </p:blipFill>
        <p:spPr bwMode="auto">
          <a:xfrm>
            <a:off x="306388" y="261938"/>
            <a:ext cx="665162" cy="790575"/>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p:titleStyle>
    <p:body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4C71EA6-E9F2-1D41-A2FD-D604B6FAC840}"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4339" name="Rectangle 5"/>
          <p:cNvSpPr>
            <a:spLocks noGrp="1" noChangeArrowheads="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14039F7-4B0A-D240-B261-7F859EA311EB}"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14340" name="Rectangle 2"/>
          <p:cNvSpPr>
            <a:spLocks noGrp="1" noChangeArrowheads="1"/>
          </p:cNvSpPr>
          <p:nvPr>
            <p:ph type="ctrTitle"/>
          </p:nvPr>
        </p:nvSpPr>
        <p:spPr>
          <a:xfrm>
            <a:off x="0" y="2132856"/>
            <a:ext cx="9009860" cy="1600200"/>
          </a:xfrm>
        </p:spPr>
        <p:txBody>
          <a:bodyPr/>
          <a:lstStyle/>
          <a:p>
            <a:pPr eaLnBrk="1" hangingPunct="1"/>
            <a:r>
              <a:rPr kumimoji="0" lang="zh-CN" altLang="en-US" sz="4800" b="1" dirty="0" smtClean="0">
                <a:latin typeface="Arial" panose="020B0604020202020204" pitchFamily="34" charset="0"/>
                <a:ea typeface="宋体" panose="02010600030101010101" pitchFamily="2" charset="-122"/>
              </a:rPr>
              <a:t>定理证明</a:t>
            </a:r>
            <a:endParaRPr kumimoji="0" lang="en-US" altLang="zh-CN" sz="4800" b="1"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3304" y="1556792"/>
            <a:ext cx="8064896" cy="1152599"/>
          </a:xfrm>
        </p:spPr>
        <p:txBody>
          <a:bodyPr/>
          <a:lstStyle/>
          <a:p>
            <a:r>
              <a:rPr lang="zh-CN" altLang="en-US" dirty="0" smtClean="0"/>
              <a:t>定理证明就是形式化验证中重要的一个组成部分</a:t>
            </a:r>
            <a:endParaRPr lang="en-US" altLang="zh-CN" dirty="0" smtClean="0"/>
          </a:p>
        </p:txBody>
      </p:sp>
      <p:sp>
        <p:nvSpPr>
          <p:cNvPr id="4" name="日期占位符 3"/>
          <p:cNvSpPr>
            <a:spLocks noGrp="1"/>
          </p:cNvSpPr>
          <p:nvPr>
            <p:ph type="dt" sz="half" idx="10"/>
          </p:nvPr>
        </p:nvSpPr>
        <p:spPr/>
        <p:txBody>
          <a:bodyPr/>
          <a:lstStyle/>
          <a:p>
            <a:pPr>
              <a:defRPr/>
            </a:pPr>
            <a:fld id="{077F30FB-1D90-1E40-92FD-7816B07D6DDC}"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50AC0454-A414-F04C-824A-79602E160F30}" type="slidenum">
              <a:rPr lang="en-US" altLang="zh-CN" smtClean="0"/>
            </a:fld>
            <a:endParaRPr lang="en-US" altLang="zh-CN"/>
          </a:p>
        </p:txBody>
      </p:sp>
      <p:sp>
        <p:nvSpPr>
          <p:cNvPr id="6" name="Rectangle 2"/>
          <p:cNvSpPr>
            <a:spLocks noGrp="1" noChangeArrowheads="1"/>
          </p:cNvSpPr>
          <p:nvPr>
            <p:ph type="title"/>
          </p:nvPr>
        </p:nvSpPr>
        <p:spPr>
          <a:xfrm>
            <a:off x="1043608" y="415926"/>
            <a:ext cx="5616575" cy="576262"/>
          </a:xfrm>
        </p:spPr>
        <p:txBody>
          <a:bodyPr/>
          <a:lstStyle/>
          <a:p>
            <a:r>
              <a:rPr lang="zh-CN" altLang="en-US" dirty="0" smtClean="0"/>
              <a:t>定理证明</a:t>
            </a:r>
            <a:endParaRPr lang="zh-CN" altLang="en-US" dirty="0"/>
          </a:p>
        </p:txBody>
      </p:sp>
      <p:sp>
        <p:nvSpPr>
          <p:cNvPr id="2" name="矩形 1"/>
          <p:cNvSpPr/>
          <p:nvPr/>
        </p:nvSpPr>
        <p:spPr>
          <a:xfrm>
            <a:off x="539552" y="2709391"/>
            <a:ext cx="8406680" cy="1754326"/>
          </a:xfrm>
          <a:prstGeom prst="rect">
            <a:avLst/>
          </a:prstGeom>
        </p:spPr>
        <p:txBody>
          <a:bodyPr wrap="square">
            <a:spAutoFit/>
          </a:bodyPr>
          <a:lstStyle/>
          <a:p>
            <a:pPr marL="285750" indent="-285750" algn="l">
              <a:buFont typeface="Wingdings" panose="05000000000000000000" pitchFamily="2" charset="2"/>
              <a:buChar char="Ø"/>
            </a:pPr>
            <a:r>
              <a:rPr lang="zh-CN" altLang="en-US" dirty="0"/>
              <a:t>将系统满足其规约这一论断作为逻辑命题，通过一组推理规则 ，以演绎推理的方式对该命题开展证明。基于定理证明的验证大部分是以程序逻辑为理论基础的</a:t>
            </a:r>
            <a:r>
              <a:rPr lang="en-US" altLang="zh-CN" dirty="0"/>
              <a:t>[1]</a:t>
            </a:r>
            <a:r>
              <a:rPr lang="zh-CN" altLang="en-US" dirty="0"/>
              <a:t>。</a:t>
            </a:r>
            <a:endParaRPr lang="zh-CN" altLang="en-US" dirty="0"/>
          </a:p>
          <a:p>
            <a:pPr marL="285750" indent="-285750" algn="l">
              <a:buFont typeface="Wingdings" panose="05000000000000000000" pitchFamily="2" charset="2"/>
              <a:buChar char="Ø"/>
            </a:pPr>
            <a:endParaRPr lang="zh-CN" altLang="en-US" dirty="0"/>
          </a:p>
          <a:p>
            <a:pPr marL="285750" indent="-285750" algn="l">
              <a:buFont typeface="Wingdings" panose="05000000000000000000" pitchFamily="2" charset="2"/>
              <a:buChar char="Ø"/>
            </a:pPr>
            <a:r>
              <a:rPr lang="zh-CN" altLang="en-US" dirty="0"/>
              <a:t>定理证明是指使用公理和证明规则来证明系统的正确性，在早期的研究中心，该方法的焦点在于证明重大系统的正确性上</a:t>
            </a:r>
            <a:r>
              <a:rPr lang="en-US" altLang="zh-CN" dirty="0"/>
              <a:t>[2]</a:t>
            </a:r>
            <a:r>
              <a:rPr lang="zh-CN" altLang="en-US" dirty="0"/>
              <a:t>。</a:t>
            </a:r>
            <a:endParaRPr lang="zh-CN" altLang="en-US" dirty="0"/>
          </a:p>
        </p:txBody>
      </p:sp>
      <p:sp>
        <p:nvSpPr>
          <p:cNvPr id="7" name="矩形 6"/>
          <p:cNvSpPr/>
          <p:nvPr/>
        </p:nvSpPr>
        <p:spPr>
          <a:xfrm>
            <a:off x="1979712" y="6218893"/>
            <a:ext cx="9507760" cy="523220"/>
          </a:xfrm>
          <a:prstGeom prst="rect">
            <a:avLst/>
          </a:prstGeom>
        </p:spPr>
        <p:txBody>
          <a:bodyPr wrap="square">
            <a:spAutoFit/>
          </a:bodyPr>
          <a:lstStyle/>
          <a:p>
            <a:pPr algn="l"/>
            <a:r>
              <a:rPr lang="en-US" altLang="zh-CN" sz="1400" dirty="0"/>
              <a:t>[1</a:t>
            </a:r>
            <a:r>
              <a:rPr lang="en-US" altLang="zh-CN" sz="1400" dirty="0" smtClean="0"/>
              <a:t>]</a:t>
            </a:r>
            <a:r>
              <a:rPr lang="zh-CN" altLang="en-US" sz="1400" dirty="0" smtClean="0"/>
              <a:t>王</a:t>
            </a:r>
            <a:r>
              <a:rPr lang="zh-CN" altLang="en-US" sz="1400" dirty="0"/>
              <a:t>戟</a:t>
            </a:r>
            <a:r>
              <a:rPr lang="en-US" altLang="zh-CN" sz="1400" dirty="0"/>
              <a:t>,</a:t>
            </a:r>
            <a:r>
              <a:rPr lang="zh-CN" altLang="en-US" sz="1400" dirty="0"/>
              <a:t>詹乃军</a:t>
            </a:r>
            <a:r>
              <a:rPr lang="en-US" altLang="zh-CN" sz="1400" dirty="0"/>
              <a:t>,</a:t>
            </a:r>
            <a:r>
              <a:rPr lang="zh-CN" altLang="en-US" sz="1400" dirty="0"/>
              <a:t>冯新宇</a:t>
            </a:r>
            <a:r>
              <a:rPr lang="en-US" altLang="zh-CN" sz="1400" dirty="0"/>
              <a:t>,</a:t>
            </a:r>
            <a:r>
              <a:rPr lang="zh-CN" altLang="en-US" sz="1400" dirty="0"/>
              <a:t>刘志明</a:t>
            </a:r>
            <a:r>
              <a:rPr lang="en-US" altLang="zh-CN" sz="1400" dirty="0"/>
              <a:t>.</a:t>
            </a:r>
            <a:r>
              <a:rPr lang="zh-CN" altLang="en-US" sz="1400" dirty="0"/>
              <a:t>形式化方法概貌</a:t>
            </a:r>
            <a:r>
              <a:rPr lang="en-US" altLang="zh-CN" sz="1400" dirty="0"/>
              <a:t>[J].</a:t>
            </a:r>
            <a:r>
              <a:rPr lang="zh-CN" altLang="en-US" sz="1400" dirty="0"/>
              <a:t>软件学报</a:t>
            </a:r>
            <a:r>
              <a:rPr lang="en-US" altLang="zh-CN" sz="1400" dirty="0"/>
              <a:t>,2019,30(01):33-61.	</a:t>
            </a:r>
            <a:endParaRPr lang="en-US" altLang="zh-CN" sz="1400" dirty="0"/>
          </a:p>
          <a:p>
            <a:pPr algn="l"/>
            <a:r>
              <a:rPr lang="en-US" altLang="zh-CN" sz="1400" dirty="0"/>
              <a:t>[2</a:t>
            </a:r>
            <a:r>
              <a:rPr lang="en-US" altLang="zh-CN" sz="1400" dirty="0" smtClean="0"/>
              <a:t>]</a:t>
            </a:r>
            <a:r>
              <a:rPr lang="zh-CN" altLang="en-US" sz="1400" dirty="0" smtClean="0"/>
              <a:t>吴</a:t>
            </a:r>
            <a:r>
              <a:rPr lang="zh-CN" altLang="en-US" sz="1400" dirty="0"/>
              <a:t>尽昭 等</a:t>
            </a:r>
            <a:r>
              <a:rPr lang="en-US" altLang="zh-CN" sz="1400" dirty="0"/>
              <a:t>.</a:t>
            </a:r>
            <a:r>
              <a:rPr lang="zh-CN" altLang="en-US" sz="1400" dirty="0"/>
              <a:t>模型检测</a:t>
            </a:r>
            <a:r>
              <a:rPr lang="en-US" altLang="zh-CN" sz="1400" dirty="0"/>
              <a:t>[M]. </a:t>
            </a:r>
            <a:r>
              <a:rPr lang="zh-CN" altLang="en-US" sz="1400" dirty="0"/>
              <a:t>北京：电子工业出版社</a:t>
            </a:r>
            <a:r>
              <a:rPr lang="en-US" altLang="zh-CN" sz="1400" dirty="0"/>
              <a:t>,2018,2-2. </a:t>
            </a:r>
            <a:endParaRPr lang="en-US" altLang="zh-CN"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628800"/>
            <a:ext cx="8568952" cy="1152599"/>
          </a:xfrm>
        </p:spPr>
        <p:txBody>
          <a:bodyPr/>
          <a:lstStyle/>
          <a:p>
            <a:r>
              <a:rPr lang="zh-CN" altLang="zh-CN" sz="2400" dirty="0"/>
              <a:t>程序的正确性验证应该具有严密的推量过程，以保证程序每步执行结果都是希望的结果，而与程序执行的某个初始状态无关。</a:t>
            </a:r>
            <a:endParaRPr lang="zh-CN" altLang="zh-CN" sz="2400" dirty="0"/>
          </a:p>
          <a:p>
            <a:r>
              <a:rPr lang="zh-CN" altLang="zh-CN" sz="2400" dirty="0"/>
              <a:t>公理语义是根据数学中的公理化方法形式化程序设计语言相关语法的语义。赋以公理语义的程序设计语言，可推理出该程序设计语言的程序语义，也可用逻辑推理的方法证明该程序是否具有某种性质。</a:t>
            </a:r>
            <a:endParaRPr lang="zh-CN" altLang="zh-CN" sz="2400" dirty="0"/>
          </a:p>
          <a:p>
            <a:r>
              <a:rPr lang="zh-CN" altLang="zh-CN" sz="2400" dirty="0" smtClean="0"/>
              <a:t>这样</a:t>
            </a:r>
            <a:r>
              <a:rPr lang="zh-CN" altLang="zh-CN" sz="2400" dirty="0"/>
              <a:t>使用定理证明就可以在逻辑和理论上证明得出，一个程序的正确性是否满足。同时，弥补了软件测试只能说明在</a:t>
            </a:r>
            <a:r>
              <a:rPr lang="en-US" altLang="zh-CN" sz="2400" dirty="0"/>
              <a:t>bug</a:t>
            </a:r>
            <a:r>
              <a:rPr lang="zh-CN" altLang="zh-CN" sz="2400" dirty="0"/>
              <a:t>或者错误未出现。</a:t>
            </a:r>
            <a:endParaRPr lang="zh-CN" altLang="zh-CN" sz="2400" dirty="0"/>
          </a:p>
        </p:txBody>
      </p:sp>
      <p:sp>
        <p:nvSpPr>
          <p:cNvPr id="4" name="日期占位符 3"/>
          <p:cNvSpPr>
            <a:spLocks noGrp="1"/>
          </p:cNvSpPr>
          <p:nvPr>
            <p:ph type="dt" sz="half" idx="10"/>
          </p:nvPr>
        </p:nvSpPr>
        <p:spPr/>
        <p:txBody>
          <a:bodyPr/>
          <a:lstStyle/>
          <a:p>
            <a:pPr>
              <a:defRPr/>
            </a:pPr>
            <a:fld id="{077F30FB-1D90-1E40-92FD-7816B07D6DDC}"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50AC0454-A414-F04C-824A-79602E160F30}" type="slidenum">
              <a:rPr lang="en-US" altLang="zh-CN" smtClean="0"/>
            </a:fld>
            <a:endParaRPr lang="en-US" altLang="zh-CN"/>
          </a:p>
        </p:txBody>
      </p:sp>
      <p:sp>
        <p:nvSpPr>
          <p:cNvPr id="6" name="Rectangle 2"/>
          <p:cNvSpPr>
            <a:spLocks noGrp="1" noChangeArrowheads="1"/>
          </p:cNvSpPr>
          <p:nvPr>
            <p:ph type="title"/>
          </p:nvPr>
        </p:nvSpPr>
        <p:spPr>
          <a:xfrm>
            <a:off x="1043608" y="415926"/>
            <a:ext cx="5616575" cy="576262"/>
          </a:xfrm>
        </p:spPr>
        <p:txBody>
          <a:bodyPr/>
          <a:lstStyle/>
          <a:p>
            <a:r>
              <a:rPr lang="zh-CN" altLang="en-US" dirty="0" smtClean="0"/>
              <a:t>定理证明</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556792"/>
            <a:ext cx="8568952" cy="1152599"/>
          </a:xfrm>
        </p:spPr>
        <p:txBody>
          <a:bodyPr/>
          <a:lstStyle/>
          <a:p>
            <a:r>
              <a:rPr lang="zh-CN" altLang="zh-CN" sz="2400" dirty="0"/>
              <a:t>定理证明一般采用交互式的定理辅助证明器来对系统问题进行抽象描述</a:t>
            </a:r>
            <a:r>
              <a:rPr lang="en-US" altLang="zh-CN" sz="2400" dirty="0"/>
              <a:t>, </a:t>
            </a:r>
            <a:r>
              <a:rPr lang="zh-CN" altLang="zh-CN" sz="2400" dirty="0"/>
              <a:t>并以数学公式定理的方式表达系统的功能和性质</a:t>
            </a:r>
            <a:r>
              <a:rPr lang="en-US" altLang="zh-CN" sz="2400" dirty="0"/>
              <a:t>, </a:t>
            </a:r>
            <a:r>
              <a:rPr lang="zh-CN" altLang="zh-CN" sz="2400" dirty="0"/>
              <a:t>采用数学定理推导演算的方法进行验证。</a:t>
            </a:r>
            <a:endParaRPr lang="zh-CN" altLang="zh-CN" sz="2400" dirty="0"/>
          </a:p>
          <a:p>
            <a:r>
              <a:rPr lang="zh-CN" altLang="zh-CN" sz="2400" dirty="0"/>
              <a:t>公理语义是最流行的程序证明方法。该方法由霍尔于</a:t>
            </a:r>
            <a:r>
              <a:rPr lang="en-US" altLang="zh-CN" sz="2400" dirty="0"/>
              <a:t>1967</a:t>
            </a:r>
            <a:r>
              <a:rPr lang="zh-CN" altLang="zh-CN" sz="2400" dirty="0"/>
              <a:t>年在其论文</a:t>
            </a:r>
            <a:r>
              <a:rPr lang="en-US" altLang="zh-CN" sz="2400" dirty="0"/>
              <a:t>Assigning meaning to programs</a:t>
            </a:r>
            <a:r>
              <a:rPr lang="zh-CN" altLang="zh-CN" sz="2400" dirty="0"/>
              <a:t>中提出，又被称为</a:t>
            </a:r>
            <a:r>
              <a:rPr lang="zh-CN" altLang="zh-CN" sz="2400" b="1" dirty="0">
                <a:solidFill>
                  <a:srgbClr val="FF0000"/>
                </a:solidFill>
              </a:rPr>
              <a:t>霍尔逻辑</a:t>
            </a:r>
            <a:r>
              <a:rPr lang="zh-CN" altLang="zh-CN" sz="2400" dirty="0" smtClean="0"/>
              <a:t>。</a:t>
            </a:r>
            <a:endParaRPr lang="en-US" altLang="zh-CN" sz="2400" dirty="0"/>
          </a:p>
          <a:p>
            <a:r>
              <a:rPr lang="zh-CN" altLang="zh-CN" sz="2400" dirty="0"/>
              <a:t>目前常使用的定理证明工具是</a:t>
            </a:r>
            <a:r>
              <a:rPr lang="en-US" altLang="zh-CN" sz="2400" dirty="0">
                <a:solidFill>
                  <a:srgbClr val="FF0000"/>
                </a:solidFill>
              </a:rPr>
              <a:t>Coq</a:t>
            </a:r>
            <a:r>
              <a:rPr lang="zh-CN" altLang="zh-CN" sz="2400" dirty="0"/>
              <a:t>，</a:t>
            </a:r>
            <a:r>
              <a:rPr lang="en-US" altLang="zh-CN" sz="2400" dirty="0"/>
              <a:t>Coq</a:t>
            </a:r>
            <a:r>
              <a:rPr lang="zh-CN" altLang="zh-CN" sz="2400" dirty="0"/>
              <a:t>是目前国际上交互式定理证明领域的主流工具，有着强大的数学模型基础和很好的拓展性。</a:t>
            </a:r>
            <a:endParaRPr lang="zh-CN" altLang="zh-CN" sz="2400" dirty="0"/>
          </a:p>
          <a:p>
            <a:pPr marL="0" indent="0">
              <a:buNone/>
            </a:pPr>
            <a:endParaRPr lang="zh-CN" altLang="zh-CN" sz="2400" dirty="0"/>
          </a:p>
        </p:txBody>
      </p:sp>
      <p:sp>
        <p:nvSpPr>
          <p:cNvPr id="4" name="日期占位符 3"/>
          <p:cNvSpPr>
            <a:spLocks noGrp="1"/>
          </p:cNvSpPr>
          <p:nvPr>
            <p:ph type="dt" sz="half" idx="10"/>
          </p:nvPr>
        </p:nvSpPr>
        <p:spPr/>
        <p:txBody>
          <a:bodyPr/>
          <a:lstStyle/>
          <a:p>
            <a:pPr>
              <a:defRPr/>
            </a:pPr>
            <a:fld id="{077F30FB-1D90-1E40-92FD-7816B07D6DDC}"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50AC0454-A414-F04C-824A-79602E160F30}" type="slidenum">
              <a:rPr lang="en-US" altLang="zh-CN" smtClean="0"/>
            </a:fld>
            <a:endParaRPr lang="en-US" altLang="zh-CN"/>
          </a:p>
        </p:txBody>
      </p:sp>
      <p:sp>
        <p:nvSpPr>
          <p:cNvPr id="6" name="Rectangle 2"/>
          <p:cNvSpPr>
            <a:spLocks noGrp="1" noChangeArrowheads="1"/>
          </p:cNvSpPr>
          <p:nvPr>
            <p:ph type="title"/>
          </p:nvPr>
        </p:nvSpPr>
        <p:spPr>
          <a:xfrm>
            <a:off x="1043608" y="415926"/>
            <a:ext cx="5616575" cy="576262"/>
          </a:xfrm>
        </p:spPr>
        <p:txBody>
          <a:bodyPr/>
          <a:lstStyle/>
          <a:p>
            <a:r>
              <a:rPr lang="zh-CN" altLang="en-US" dirty="0" smtClean="0"/>
              <a:t>定理证明</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zh-CN" altLang="en-US" dirty="0"/>
              <a:t>霍尔逻辑</a:t>
            </a:r>
            <a:endParaRPr lang="zh-CN" altLang="en-US" dirty="0"/>
          </a:p>
        </p:txBody>
      </p:sp>
      <p:sp>
        <p:nvSpPr>
          <p:cNvPr id="62467" name="Rectangle 3"/>
          <p:cNvSpPr>
            <a:spLocks noGrp="1" noChangeArrowheads="1"/>
          </p:cNvSpPr>
          <p:nvPr>
            <p:ph type="body" idx="1"/>
          </p:nvPr>
        </p:nvSpPr>
        <p:spPr>
          <a:xfrm>
            <a:off x="179512" y="1556792"/>
            <a:ext cx="8784976" cy="3600400"/>
          </a:xfrm>
        </p:spPr>
        <p:txBody>
          <a:bodyPr/>
          <a:lstStyle/>
          <a:p>
            <a:r>
              <a:rPr lang="zh-CN" altLang="en-US" sz="2800" dirty="0"/>
              <a:t>验证程序正确性的重要方法是霍尔逻辑。</a:t>
            </a:r>
            <a:endParaRPr lang="zh-CN" altLang="en-US" sz="2800" dirty="0"/>
          </a:p>
          <a:p>
            <a:r>
              <a:rPr lang="zh-CN" altLang="en-US" sz="2800" dirty="0"/>
              <a:t>霍尔是一位伟大的英国计算机科学家。</a:t>
            </a:r>
            <a:r>
              <a:rPr lang="en-US" altLang="zh-CN" sz="2800" dirty="0"/>
              <a:t>1980</a:t>
            </a:r>
            <a:r>
              <a:rPr lang="zh-CN" altLang="en-US" sz="2800" dirty="0"/>
              <a:t>年获得美国计算机学会</a:t>
            </a:r>
            <a:r>
              <a:rPr lang="en-US" altLang="zh-CN" sz="2800" dirty="0"/>
              <a:t>(ACM)</a:t>
            </a:r>
            <a:r>
              <a:rPr lang="zh-CN" altLang="en-US" sz="2800" dirty="0"/>
              <a:t>设立的计算机界最高奖</a:t>
            </a:r>
            <a:r>
              <a:rPr lang="en-US" altLang="zh-CN" sz="2800" dirty="0"/>
              <a:t>——</a:t>
            </a:r>
            <a:r>
              <a:rPr lang="zh-CN" altLang="en-US" sz="2800" dirty="0"/>
              <a:t>图灵奖，</a:t>
            </a:r>
            <a:r>
              <a:rPr lang="en-US" altLang="zh-CN" sz="2800" dirty="0"/>
              <a:t>2000</a:t>
            </a:r>
            <a:r>
              <a:rPr lang="zh-CN" altLang="en-US" sz="2800" dirty="0"/>
              <a:t>年获得日本稻盛财团设立的国际大奖 </a:t>
            </a:r>
            <a:r>
              <a:rPr lang="en-US" altLang="zh-CN" sz="2800" dirty="0"/>
              <a:t>——</a:t>
            </a:r>
            <a:r>
              <a:rPr lang="zh-CN" altLang="en-US" sz="2800" dirty="0"/>
              <a:t>京都奖</a:t>
            </a:r>
            <a:r>
              <a:rPr lang="en-US" altLang="zh-CN" sz="2800" dirty="0"/>
              <a:t>(</a:t>
            </a:r>
            <a:r>
              <a:rPr lang="zh-CN" altLang="en-US" sz="2800" dirty="0"/>
              <a:t>尖端技术领域</a:t>
            </a:r>
            <a:r>
              <a:rPr lang="en-US" altLang="zh-CN" sz="2800" dirty="0"/>
              <a:t>)</a:t>
            </a:r>
            <a:r>
              <a:rPr lang="zh-CN" altLang="en-US" sz="2800" dirty="0"/>
              <a:t>，同年，英国女王伊丽莎白二世授予</a:t>
            </a:r>
            <a:r>
              <a:rPr lang="en-US" altLang="zh-CN" sz="2800" dirty="0"/>
              <a:t>Tony Hoare</a:t>
            </a:r>
            <a:r>
              <a:rPr lang="zh-CN" altLang="en-US" sz="2800" dirty="0"/>
              <a:t>爵士爵位，以表彰他对计算机科学所做出的巨大贡献。目前受聘于微软公司。</a:t>
            </a:r>
            <a:br>
              <a:rPr lang="zh-CN" altLang="en-US" sz="2800" dirty="0"/>
            </a:br>
            <a:endParaRPr lang="zh-CN" alt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zh-CN" altLang="en-US" dirty="0"/>
              <a:t>霍尔逻辑</a:t>
            </a:r>
            <a:endParaRPr lang="zh-CN" altLang="en-US" dirty="0"/>
          </a:p>
        </p:txBody>
      </p:sp>
      <p:sp>
        <p:nvSpPr>
          <p:cNvPr id="63491" name="Rectangle 3"/>
          <p:cNvSpPr>
            <a:spLocks noGrp="1" noChangeArrowheads="1"/>
          </p:cNvSpPr>
          <p:nvPr>
            <p:ph type="body" idx="1"/>
          </p:nvPr>
        </p:nvSpPr>
        <p:spPr>
          <a:xfrm>
            <a:off x="171321" y="1268760"/>
            <a:ext cx="8972679" cy="4896544"/>
          </a:xfrm>
        </p:spPr>
        <p:txBody>
          <a:bodyPr/>
          <a:lstStyle/>
          <a:p>
            <a:pPr>
              <a:lnSpc>
                <a:spcPct val="90000"/>
              </a:lnSpc>
            </a:pPr>
            <a:r>
              <a:rPr lang="en-US" altLang="zh-CN" sz="2800" dirty="0"/>
              <a:t>Hoare </a:t>
            </a:r>
            <a:r>
              <a:rPr lang="zh-CN" altLang="en-US" sz="2800" dirty="0"/>
              <a:t>逻辑的中心特征是</a:t>
            </a:r>
            <a:r>
              <a:rPr lang="en-US" altLang="zh-CN" sz="2800" dirty="0"/>
              <a:t>Hoare </a:t>
            </a:r>
            <a:r>
              <a:rPr lang="zh-CN" altLang="en-US" sz="2800" dirty="0"/>
              <a:t>三元组。这种三元组描述一段代码的执行如何改变计算的状态。</a:t>
            </a:r>
            <a:endParaRPr lang="zh-CN" altLang="en-US" sz="2800" dirty="0"/>
          </a:p>
          <a:p>
            <a:pPr>
              <a:lnSpc>
                <a:spcPct val="90000"/>
              </a:lnSpc>
            </a:pPr>
            <a:r>
              <a:rPr lang="en-US" altLang="zh-CN" sz="2800" dirty="0"/>
              <a:t>Hoare </a:t>
            </a:r>
            <a:r>
              <a:rPr lang="zh-CN" altLang="en-US" sz="2800" dirty="0"/>
              <a:t>三元组有如下</a:t>
            </a:r>
            <a:r>
              <a:rPr lang="zh-CN" altLang="en-US" sz="2800" dirty="0" smtClean="0"/>
              <a:t>形式</a:t>
            </a:r>
            <a:r>
              <a:rPr lang="en-US" altLang="zh-CN" b="1" dirty="0">
                <a:solidFill>
                  <a:srgbClr val="FF0000"/>
                </a:solidFill>
              </a:rPr>
              <a:t>{</a:t>
            </a:r>
            <a:r>
              <a:rPr lang="zh-CN" altLang="zh-CN" b="1" dirty="0">
                <a:solidFill>
                  <a:srgbClr val="FF0000"/>
                </a:solidFill>
              </a:rPr>
              <a:t>Φ</a:t>
            </a:r>
            <a:r>
              <a:rPr lang="en-US" altLang="zh-CN" b="1" dirty="0">
                <a:solidFill>
                  <a:srgbClr val="FF0000"/>
                </a:solidFill>
              </a:rPr>
              <a:t>}P{</a:t>
            </a:r>
            <a:r>
              <a:rPr lang="zh-CN" altLang="zh-CN" b="1" dirty="0">
                <a:solidFill>
                  <a:srgbClr val="FF0000"/>
                </a:solidFill>
              </a:rPr>
              <a:t>Ψ</a:t>
            </a:r>
            <a:r>
              <a:rPr lang="en-US" altLang="zh-CN" b="1" dirty="0">
                <a:solidFill>
                  <a:srgbClr val="FF0000"/>
                </a:solidFill>
              </a:rPr>
              <a:t>}</a:t>
            </a:r>
            <a:r>
              <a:rPr lang="en-US" altLang="zh-CN" dirty="0"/>
              <a:t> </a:t>
            </a:r>
            <a:endParaRPr lang="en-US" altLang="zh-CN" sz="2800" dirty="0" smtClean="0"/>
          </a:p>
          <a:p>
            <a:pPr>
              <a:lnSpc>
                <a:spcPct val="90000"/>
              </a:lnSpc>
            </a:pPr>
            <a:r>
              <a:rPr lang="en-US" altLang="zh-CN" dirty="0"/>
              <a:t>Φ</a:t>
            </a:r>
            <a:r>
              <a:rPr lang="zh-CN" altLang="en-US" dirty="0"/>
              <a:t>和</a:t>
            </a:r>
            <a:r>
              <a:rPr lang="en-US" altLang="zh-CN" dirty="0"/>
              <a:t>Ψ</a:t>
            </a:r>
            <a:r>
              <a:rPr lang="zh-CN" altLang="en-US" dirty="0"/>
              <a:t>分别表示初始和结束断言条件，其含义是</a:t>
            </a:r>
            <a:r>
              <a:rPr lang="zh-CN" altLang="en-US" dirty="0" smtClean="0"/>
              <a:t>：假如</a:t>
            </a:r>
            <a:r>
              <a:rPr lang="zh-CN" altLang="en-US" dirty="0"/>
              <a:t>初始状态</a:t>
            </a:r>
            <a:r>
              <a:rPr lang="en-US" altLang="zh-CN" dirty="0" smtClean="0"/>
              <a:t>di</a:t>
            </a:r>
            <a:r>
              <a:rPr lang="zh-CN" altLang="en-US" dirty="0" smtClean="0"/>
              <a:t>满足</a:t>
            </a:r>
            <a:r>
              <a:rPr lang="zh-CN" altLang="en-US" dirty="0"/>
              <a:t>条件</a:t>
            </a:r>
            <a:r>
              <a:rPr lang="en-US" altLang="zh-CN" dirty="0"/>
              <a:t>Φ</a:t>
            </a:r>
            <a:r>
              <a:rPr lang="zh-CN" altLang="en-US" dirty="0"/>
              <a:t>，那么程序结束并且终结状态</a:t>
            </a:r>
            <a:r>
              <a:rPr lang="en-US" altLang="zh-CN" dirty="0" err="1"/>
              <a:t>df</a:t>
            </a:r>
            <a:r>
              <a:rPr lang="zh-CN" altLang="en-US" dirty="0"/>
              <a:t>必须满足</a:t>
            </a:r>
            <a:r>
              <a:rPr lang="en-US" altLang="zh-CN" dirty="0" smtClean="0"/>
              <a:t>Ψ</a:t>
            </a:r>
            <a:r>
              <a:rPr lang="zh-CN" altLang="en-US" dirty="0" smtClean="0"/>
              <a:t>。</a:t>
            </a:r>
            <a:endParaRPr lang="en-US" altLang="zh-CN" dirty="0" smtClean="0"/>
          </a:p>
          <a:p>
            <a:pPr>
              <a:lnSpc>
                <a:spcPct val="90000"/>
              </a:lnSpc>
            </a:pPr>
            <a:r>
              <a:rPr kumimoji="0" lang="zh-CN" altLang="en-US" dirty="0">
                <a:latin typeface="Times New Roman" panose="02020603050405020304" charset="0"/>
                <a:ea typeface="宋体" panose="02010600030101010101" pitchFamily="2" charset="-122"/>
                <a:cs typeface="Times New Roman" panose="02020603050405020304" charset="0"/>
              </a:rPr>
              <a:t>执行函数</a:t>
            </a:r>
            <a:r>
              <a:rPr kumimoji="0" lang="en-US" altLang="zh-CN" dirty="0">
                <a:latin typeface="Times New Roman" panose="02020603050405020304" charset="0"/>
                <a:ea typeface="宋体" panose="02010600030101010101" pitchFamily="2" charset="-122"/>
                <a:cs typeface="Times New Roman" panose="02020603050405020304" charset="0"/>
              </a:rPr>
              <a:t>E</a:t>
            </a:r>
            <a:r>
              <a:rPr kumimoji="0" lang="zh-CN" altLang="en-US" dirty="0">
                <a:latin typeface="Times New Roman" panose="02020603050405020304" charset="0"/>
                <a:ea typeface="宋体" panose="02010600030101010101" pitchFamily="2" charset="-122"/>
                <a:cs typeface="Times New Roman" panose="02020603050405020304" charset="0"/>
              </a:rPr>
              <a:t>：</a:t>
            </a:r>
            <a:r>
              <a:rPr kumimoji="0" lang="en-US" altLang="zh-CN" dirty="0">
                <a:latin typeface="Times New Roman" panose="02020603050405020304" charset="0"/>
                <a:ea typeface="宋体" panose="02010600030101010101" pitchFamily="2" charset="-122"/>
                <a:cs typeface="Times New Roman" panose="02020603050405020304" charset="0"/>
              </a:rPr>
              <a:t>Φ×P→Ψ</a:t>
            </a:r>
            <a:r>
              <a:rPr kumimoji="0" lang="zh-CN" altLang="en-US" dirty="0">
                <a:latin typeface="Times New Roman" panose="02020603050405020304" charset="0"/>
                <a:ea typeface="宋体" panose="02010600030101010101" pitchFamily="2" charset="-122"/>
                <a:cs typeface="Times New Roman" panose="02020603050405020304" charset="0"/>
              </a:rPr>
              <a:t>定义如下：</a:t>
            </a:r>
            <a:endParaRPr kumimoji="0" lang="zh-CN" altLang="en-US" sz="800" dirty="0"/>
          </a:p>
          <a:p>
            <a:pPr marL="0" lvl="0" indent="266700">
              <a:spcBef>
                <a:spcPct val="0"/>
              </a:spcBef>
              <a:buClrTx/>
              <a:buSzTx/>
              <a:buNone/>
            </a:pPr>
            <a:r>
              <a:rPr kumimoji="0" lang="en-US" altLang="zh-CN" sz="1800" dirty="0">
                <a:latin typeface="Times New Roman" panose="02020603050405020304" charset="0"/>
                <a:ea typeface="宋体" panose="02010600030101010101" pitchFamily="2" charset="-122"/>
                <a:cs typeface="Times New Roman" panose="02020603050405020304" charset="0"/>
              </a:rPr>
              <a:t> </a:t>
            </a:r>
            <a:r>
              <a:rPr kumimoji="0" lang="en-US" altLang="zh-CN" sz="1800" dirty="0" smtClean="0">
                <a:latin typeface="Times New Roman" panose="02020603050405020304" charset="0"/>
                <a:ea typeface="宋体" panose="02010600030101010101" pitchFamily="2" charset="-122"/>
                <a:cs typeface="Times New Roman" panose="02020603050405020304" charset="0"/>
              </a:rPr>
              <a:t>                                 </a:t>
            </a:r>
            <a:r>
              <a:rPr kumimoji="0" lang="zh-CN" altLang="en-US" sz="1800" dirty="0" smtClean="0">
                <a:latin typeface="Times New Roman" panose="02020603050405020304" charset="0"/>
                <a:ea typeface="宋体" panose="02010600030101010101" pitchFamily="2" charset="-122"/>
                <a:cs typeface="Times New Roman" panose="02020603050405020304" charset="0"/>
              </a:rPr>
              <a:t>无</a:t>
            </a:r>
            <a:r>
              <a:rPr kumimoji="0" lang="zh-CN" altLang="en-US" sz="1800" dirty="0">
                <a:latin typeface="Times New Roman" panose="02020603050405020304" charset="0"/>
                <a:ea typeface="宋体" panose="02010600030101010101" pitchFamily="2" charset="-122"/>
                <a:cs typeface="Times New Roman" panose="02020603050405020304" charset="0"/>
              </a:rPr>
              <a:t>定义        对合法的初始状态</a:t>
            </a:r>
            <a:r>
              <a:rPr kumimoji="0" lang="en-US" altLang="zh-CN" sz="1800" dirty="0">
                <a:latin typeface="Times New Roman" panose="02020603050405020304" charset="0"/>
                <a:ea typeface="宋体" panose="02010600030101010101" pitchFamily="2" charset="-122"/>
                <a:cs typeface="Times New Roman" panose="02020603050405020304" charset="0"/>
              </a:rPr>
              <a:t>d</a:t>
            </a:r>
            <a:r>
              <a:rPr kumimoji="0" lang="en-US" altLang="zh-CN" sz="1800" baseline="-30000" dirty="0">
                <a:latin typeface="Times New Roman" panose="02020603050405020304" charset="0"/>
                <a:ea typeface="宋体" panose="02010600030101010101" pitchFamily="2" charset="-122"/>
                <a:cs typeface="Times New Roman" panose="02020603050405020304" charset="0"/>
              </a:rPr>
              <a:t>i</a:t>
            </a:r>
            <a:r>
              <a:rPr kumimoji="0" lang="zh-CN" altLang="en-US" sz="1800" dirty="0">
                <a:latin typeface="Times New Roman" panose="02020603050405020304" charset="0"/>
                <a:ea typeface="宋体" panose="02010600030101010101" pitchFamily="2" charset="-122"/>
                <a:cs typeface="Times New Roman" panose="02020603050405020304" charset="0"/>
              </a:rPr>
              <a:t>，程序</a:t>
            </a:r>
            <a:r>
              <a:rPr kumimoji="0" lang="en-US" altLang="zh-CN" sz="1800" dirty="0">
                <a:latin typeface="Times New Roman" panose="02020603050405020304" charset="0"/>
                <a:ea typeface="宋体" panose="02010600030101010101" pitchFamily="2" charset="-122"/>
                <a:cs typeface="Times New Roman" panose="02020603050405020304" charset="0"/>
              </a:rPr>
              <a:t>P</a:t>
            </a:r>
            <a:r>
              <a:rPr kumimoji="0" lang="zh-CN" altLang="en-US" sz="1800" dirty="0">
                <a:latin typeface="Times New Roman" panose="02020603050405020304" charset="0"/>
                <a:ea typeface="宋体" panose="02010600030101010101" pitchFamily="2" charset="-122"/>
                <a:cs typeface="Times New Roman" panose="02020603050405020304" charset="0"/>
              </a:rPr>
              <a:t>不结束</a:t>
            </a:r>
            <a:endParaRPr kumimoji="0" lang="zh-CN" altLang="en-US" sz="500" dirty="0"/>
          </a:p>
          <a:p>
            <a:pPr marL="0" lvl="0" indent="266700">
              <a:spcBef>
                <a:spcPct val="0"/>
              </a:spcBef>
              <a:buClrTx/>
              <a:buSzTx/>
              <a:buNone/>
            </a:pPr>
            <a:r>
              <a:rPr kumimoji="0" lang="en-US" altLang="zh-CN" sz="1800" dirty="0" smtClean="0">
                <a:latin typeface="Times New Roman" panose="02020603050405020304" charset="0"/>
                <a:ea typeface="宋体" panose="02010600030101010101" pitchFamily="2" charset="-122"/>
                <a:cs typeface="Times New Roman" panose="02020603050405020304" charset="0"/>
              </a:rPr>
              <a:t>              E(</a:t>
            </a:r>
            <a:r>
              <a:rPr kumimoji="0" lang="en-US" altLang="zh-CN" sz="1800" dirty="0" err="1" smtClean="0">
                <a:latin typeface="Times New Roman" panose="02020603050405020304" charset="0"/>
                <a:ea typeface="宋体" panose="02010600030101010101" pitchFamily="2" charset="-122"/>
                <a:cs typeface="Times New Roman" panose="02020603050405020304" charset="0"/>
              </a:rPr>
              <a:t>P,di</a:t>
            </a:r>
            <a:r>
              <a:rPr kumimoji="0" lang="en-US" altLang="zh-CN" sz="1800" dirty="0">
                <a:latin typeface="Times New Roman" panose="02020603050405020304" charset="0"/>
                <a:ea typeface="宋体" panose="02010600030101010101" pitchFamily="2" charset="-122"/>
                <a:cs typeface="Times New Roman" panose="02020603050405020304" charset="0"/>
              </a:rPr>
              <a:t>)</a:t>
            </a:r>
            <a:r>
              <a:rPr kumimoji="0" lang="en-US" altLang="zh-CN" sz="1800" dirty="0" smtClean="0">
                <a:latin typeface="Times New Roman" panose="02020603050405020304" charset="0"/>
                <a:ea typeface="宋体" panose="02010600030101010101" pitchFamily="2" charset="-122"/>
                <a:cs typeface="Times New Roman" panose="02020603050405020304" charset="0"/>
              </a:rPr>
              <a:t>=   </a:t>
            </a:r>
            <a:endParaRPr kumimoji="0" lang="en-US" altLang="zh-CN" sz="500" dirty="0"/>
          </a:p>
          <a:p>
            <a:pPr marL="0" lvl="0" indent="266700">
              <a:spcBef>
                <a:spcPct val="0"/>
              </a:spcBef>
              <a:buClrTx/>
              <a:buSzTx/>
              <a:buNone/>
            </a:pPr>
            <a:r>
              <a:rPr kumimoji="0" lang="en-US" altLang="zh-CN" sz="1800" dirty="0">
                <a:latin typeface="Times New Roman" panose="02020603050405020304" charset="0"/>
                <a:ea typeface="宋体" panose="02010600030101010101" pitchFamily="2" charset="-122"/>
                <a:cs typeface="Times New Roman" panose="02020603050405020304" charset="0"/>
              </a:rPr>
              <a:t>            </a:t>
            </a:r>
            <a:r>
              <a:rPr kumimoji="0" lang="en-US" altLang="zh-CN" sz="1800" dirty="0" smtClean="0">
                <a:latin typeface="Times New Roman" panose="02020603050405020304" charset="0"/>
                <a:ea typeface="宋体" panose="02010600030101010101" pitchFamily="2" charset="-122"/>
                <a:cs typeface="Times New Roman" panose="02020603050405020304" charset="0"/>
              </a:rPr>
              <a:t>                      </a:t>
            </a:r>
            <a:r>
              <a:rPr kumimoji="0" lang="zh-CN" altLang="en-US" sz="1800" dirty="0" smtClean="0">
                <a:latin typeface="Times New Roman" panose="02020603050405020304" charset="0"/>
                <a:ea typeface="宋体" panose="02010600030101010101" pitchFamily="2" charset="-122"/>
                <a:cs typeface="Times New Roman" panose="02020603050405020304" charset="0"/>
              </a:rPr>
              <a:t>终结</a:t>
            </a:r>
            <a:r>
              <a:rPr kumimoji="0" lang="zh-CN" altLang="en-US" sz="1800" dirty="0">
                <a:latin typeface="Times New Roman" panose="02020603050405020304" charset="0"/>
                <a:ea typeface="宋体" panose="02010600030101010101" pitchFamily="2" charset="-122"/>
                <a:cs typeface="Times New Roman" panose="02020603050405020304" charset="0"/>
              </a:rPr>
              <a:t>状态</a:t>
            </a:r>
            <a:r>
              <a:rPr kumimoji="0" lang="en-US" altLang="zh-CN" sz="1800" dirty="0" err="1">
                <a:latin typeface="Times New Roman" panose="02020603050405020304" charset="0"/>
                <a:ea typeface="宋体" panose="02010600030101010101" pitchFamily="2" charset="-122"/>
                <a:cs typeface="Times New Roman" panose="02020603050405020304" charset="0"/>
              </a:rPr>
              <a:t>d</a:t>
            </a:r>
            <a:r>
              <a:rPr kumimoji="0" lang="en-US" altLang="zh-CN" sz="1800" baseline="-30000" dirty="0" err="1">
                <a:latin typeface="Times New Roman" panose="02020603050405020304" charset="0"/>
                <a:ea typeface="宋体" panose="02010600030101010101" pitchFamily="2" charset="-122"/>
                <a:cs typeface="Times New Roman" panose="02020603050405020304" charset="0"/>
              </a:rPr>
              <a:t>f</a:t>
            </a:r>
            <a:r>
              <a:rPr kumimoji="0" lang="en-US" altLang="zh-CN" sz="1800" dirty="0">
                <a:latin typeface="Times New Roman" panose="02020603050405020304" charset="0"/>
                <a:ea typeface="宋体" panose="02010600030101010101" pitchFamily="2" charset="-122"/>
                <a:cs typeface="Times New Roman" panose="02020603050405020304" charset="0"/>
              </a:rPr>
              <a:t>    </a:t>
            </a:r>
            <a:r>
              <a:rPr kumimoji="0" lang="zh-CN" altLang="en-US" sz="1800" dirty="0">
                <a:latin typeface="Times New Roman" panose="02020603050405020304" charset="0"/>
                <a:ea typeface="宋体" panose="02010600030101010101" pitchFamily="2" charset="-122"/>
                <a:cs typeface="Times New Roman" panose="02020603050405020304" charset="0"/>
              </a:rPr>
              <a:t>对合法的初始状态</a:t>
            </a:r>
            <a:r>
              <a:rPr kumimoji="0" lang="en-US" altLang="zh-CN" sz="1800" dirty="0">
                <a:latin typeface="Times New Roman" panose="02020603050405020304" charset="0"/>
                <a:ea typeface="宋体" panose="02010600030101010101" pitchFamily="2" charset="-122"/>
                <a:cs typeface="Times New Roman" panose="02020603050405020304" charset="0"/>
              </a:rPr>
              <a:t>d</a:t>
            </a:r>
            <a:r>
              <a:rPr kumimoji="0" lang="en-US" altLang="zh-CN" sz="1800" baseline="-30000" dirty="0">
                <a:latin typeface="Times New Roman" panose="02020603050405020304" charset="0"/>
                <a:ea typeface="宋体" panose="02010600030101010101" pitchFamily="2" charset="-122"/>
                <a:cs typeface="Times New Roman" panose="02020603050405020304" charset="0"/>
              </a:rPr>
              <a:t>i</a:t>
            </a:r>
            <a:r>
              <a:rPr kumimoji="0" lang="zh-CN" altLang="en-US" sz="1800" dirty="0">
                <a:latin typeface="Times New Roman" panose="02020603050405020304" charset="0"/>
                <a:ea typeface="宋体" panose="02010600030101010101" pitchFamily="2" charset="-122"/>
                <a:cs typeface="Times New Roman" panose="02020603050405020304" charset="0"/>
              </a:rPr>
              <a:t>，程序</a:t>
            </a:r>
            <a:r>
              <a:rPr kumimoji="0" lang="en-US" altLang="zh-CN" sz="1800" dirty="0">
                <a:latin typeface="Times New Roman" panose="02020603050405020304" charset="0"/>
                <a:ea typeface="宋体" panose="02010600030101010101" pitchFamily="2" charset="-122"/>
                <a:cs typeface="Times New Roman" panose="02020603050405020304" charset="0"/>
              </a:rPr>
              <a:t>P</a:t>
            </a:r>
            <a:r>
              <a:rPr kumimoji="0" lang="zh-CN" altLang="en-US" sz="1800" dirty="0" smtClean="0">
                <a:latin typeface="Times New Roman" panose="02020603050405020304" charset="0"/>
                <a:ea typeface="宋体" panose="02010600030101010101" pitchFamily="2" charset="-122"/>
                <a:cs typeface="Times New Roman" panose="02020603050405020304" charset="0"/>
              </a:rPr>
              <a:t>结束</a:t>
            </a:r>
            <a:endParaRPr lang="en-US" altLang="zh-CN" sz="1800" dirty="0" smtClean="0"/>
          </a:p>
          <a:p>
            <a:pPr>
              <a:lnSpc>
                <a:spcPct val="90000"/>
              </a:lnSpc>
            </a:pPr>
            <a:r>
              <a:rPr lang="zh-CN" altLang="en-US" dirty="0">
                <a:sym typeface="Symbol" panose="05050102010706020507" pitchFamily="18" charset="2"/>
              </a:rPr>
              <a:t>一</a:t>
            </a:r>
            <a:r>
              <a:rPr lang="zh-CN" altLang="en-US" dirty="0" smtClean="0">
                <a:sym typeface="Symbol" panose="05050102010706020507" pitchFamily="18" charset="2"/>
              </a:rPr>
              <a:t>个程序正确，那么对于任何满足</a:t>
            </a:r>
            <a:r>
              <a:rPr lang="en-US" altLang="zh-CN" dirty="0" smtClean="0"/>
              <a:t>Φ</a:t>
            </a:r>
            <a:r>
              <a:rPr lang="zh-CN" altLang="en-US" dirty="0" smtClean="0"/>
              <a:t>的初始状态，程序都会结束，并且终止状态满足</a:t>
            </a:r>
            <a:r>
              <a:rPr lang="en-US" altLang="zh-CN" dirty="0" smtClean="0"/>
              <a:t>Ψ</a:t>
            </a:r>
            <a:r>
              <a:rPr lang="zh-CN" altLang="en-US" dirty="0" smtClean="0"/>
              <a:t>。</a:t>
            </a:r>
            <a:endParaRPr lang="zh-CN" altLang="zh-CN" dirty="0"/>
          </a:p>
          <a:p>
            <a:pPr>
              <a:lnSpc>
                <a:spcPct val="90000"/>
              </a:lnSpc>
            </a:pPr>
            <a:endParaRPr lang="en-US" altLang="zh-CN" dirty="0" smtClean="0"/>
          </a:p>
        </p:txBody>
      </p:sp>
      <p:sp>
        <p:nvSpPr>
          <p:cNvPr id="5" name="Rectangle 5"/>
          <p:cNvSpPr>
            <a:spLocks noChangeArrowheads="1"/>
          </p:cNvSpPr>
          <p:nvPr/>
        </p:nvSpPr>
        <p:spPr bwMode="auto">
          <a:xfrm>
            <a:off x="-282649" y="529699"/>
            <a:ext cx="31290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    </a:t>
            </a:r>
            <a:endParaRPr kumimoji="0" lang="zh-CN"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AutoShape 4"/>
          <p:cNvSpPr/>
          <p:nvPr/>
        </p:nvSpPr>
        <p:spPr bwMode="auto">
          <a:xfrm>
            <a:off x="2195736" y="4365104"/>
            <a:ext cx="144016" cy="576064"/>
          </a:xfrm>
          <a:prstGeom prst="leftBrace">
            <a:avLst>
              <a:gd name="adj1" fmla="val 28935"/>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zh-CN" altLang="en-US" dirty="0"/>
              <a:t>霍尔逻辑</a:t>
            </a:r>
            <a:endParaRPr lang="zh-CN" altLang="en-US" dirty="0"/>
          </a:p>
        </p:txBody>
      </p:sp>
      <p:sp>
        <p:nvSpPr>
          <p:cNvPr id="5" name="Rectangle 5"/>
          <p:cNvSpPr>
            <a:spLocks noChangeArrowheads="1"/>
          </p:cNvSpPr>
          <p:nvPr/>
        </p:nvSpPr>
        <p:spPr bwMode="auto">
          <a:xfrm>
            <a:off x="-282649" y="529699"/>
            <a:ext cx="31290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    </a:t>
            </a:r>
            <a:endParaRPr kumimoji="0" lang="zh-CN"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l="8590" r="35811"/>
          <a:stretch>
            <a:fillRect/>
          </a:stretch>
        </p:blipFill>
        <p:spPr>
          <a:xfrm>
            <a:off x="4932040" y="1412776"/>
            <a:ext cx="4104456" cy="4429743"/>
          </a:xfrm>
          <a:prstGeom prst="rect">
            <a:avLst/>
          </a:prstGeom>
        </p:spPr>
      </p:pic>
      <p:sp>
        <p:nvSpPr>
          <p:cNvPr id="9" name="内容占位符 2"/>
          <p:cNvSpPr>
            <a:spLocks noGrp="1"/>
          </p:cNvSpPr>
          <p:nvPr>
            <p:ph idx="1"/>
          </p:nvPr>
        </p:nvSpPr>
        <p:spPr>
          <a:xfrm>
            <a:off x="395536" y="1556792"/>
            <a:ext cx="3893671" cy="648072"/>
          </a:xfrm>
        </p:spPr>
        <p:txBody>
          <a:bodyPr/>
          <a:lstStyle/>
          <a:p>
            <a:r>
              <a:rPr lang="zh-CN" altLang="en-US" dirty="0" smtClean="0"/>
              <a:t>霍尔逻辑的公理系统</a:t>
            </a:r>
            <a:endParaRPr lang="en-US" altLang="zh-CN"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zh-CN" altLang="en-US" dirty="0"/>
              <a:t>霍尔逻辑</a:t>
            </a:r>
            <a:endParaRPr lang="zh-CN" altLang="en-US" dirty="0"/>
          </a:p>
        </p:txBody>
      </p:sp>
      <p:sp>
        <p:nvSpPr>
          <p:cNvPr id="5" name="Rectangle 5"/>
          <p:cNvSpPr>
            <a:spLocks noChangeArrowheads="1"/>
          </p:cNvSpPr>
          <p:nvPr/>
        </p:nvSpPr>
        <p:spPr bwMode="auto">
          <a:xfrm>
            <a:off x="-282649" y="529699"/>
            <a:ext cx="31290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    </a:t>
            </a:r>
            <a:endParaRPr kumimoji="0" lang="zh-CN"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 name="内容占位符 1"/>
          <p:cNvSpPr>
            <a:spLocks noGrp="1"/>
          </p:cNvSpPr>
          <p:nvPr>
            <p:ph idx="1"/>
          </p:nvPr>
        </p:nvSpPr>
        <p:spPr>
          <a:xfrm>
            <a:off x="468313" y="1484313"/>
            <a:ext cx="8142287" cy="864567"/>
          </a:xfrm>
        </p:spPr>
        <p:txBody>
          <a:bodyPr/>
          <a:lstStyle/>
          <a:p>
            <a:pPr marL="0" indent="0">
              <a:buNone/>
            </a:pPr>
            <a:r>
              <a:rPr lang="zh-CN" altLang="en-US" dirty="0" smtClean="0"/>
              <a:t>程序</a:t>
            </a:r>
            <a:r>
              <a:rPr lang="en-US" altLang="zh-CN" dirty="0" smtClean="0"/>
              <a:t>P</a:t>
            </a:r>
            <a:r>
              <a:rPr lang="zh-CN" altLang="en-US" dirty="0" smtClean="0"/>
              <a:t>：</a:t>
            </a:r>
            <a:endParaRPr lang="en-US" altLang="zh-CN" dirty="0" smtClean="0"/>
          </a:p>
        </p:txBody>
      </p:sp>
      <p:pic>
        <p:nvPicPr>
          <p:cNvPr id="6" name="图片 5"/>
          <p:cNvPicPr>
            <a:picLocks noChangeAspect="1"/>
          </p:cNvPicPr>
          <p:nvPr/>
        </p:nvPicPr>
        <p:blipFill>
          <a:blip r:embed="rId1"/>
          <a:stretch>
            <a:fillRect/>
          </a:stretch>
        </p:blipFill>
        <p:spPr>
          <a:xfrm>
            <a:off x="2483768" y="1478483"/>
            <a:ext cx="3960440" cy="3316500"/>
          </a:xfrm>
          <a:prstGeom prst="rect">
            <a:avLst/>
          </a:prstGeom>
        </p:spPr>
      </p:pic>
      <p:sp>
        <p:nvSpPr>
          <p:cNvPr id="7" name="矩形 6"/>
          <p:cNvSpPr/>
          <p:nvPr/>
        </p:nvSpPr>
        <p:spPr>
          <a:xfrm>
            <a:off x="395536" y="4941168"/>
            <a:ext cx="8136904" cy="954107"/>
          </a:xfrm>
          <a:prstGeom prst="rect">
            <a:avLst/>
          </a:prstGeom>
        </p:spPr>
        <p:txBody>
          <a:bodyPr wrap="square">
            <a:spAutoFit/>
          </a:bodyPr>
          <a:lstStyle/>
          <a:p>
            <a:pPr indent="266700" algn="just">
              <a:spcAft>
                <a:spcPts val="0"/>
              </a:spcAft>
            </a:pPr>
            <a:r>
              <a:rPr kumimoji="1" lang="zh-CN" altLang="zh-CN" sz="2800" dirty="0">
                <a:latin typeface="+mn-lt"/>
                <a:ea typeface="+mn-ea"/>
              </a:rPr>
              <a:t>下面是应用</a:t>
            </a:r>
            <a:r>
              <a:rPr kumimoji="1" lang="en-US" altLang="zh-CN" sz="2800" dirty="0">
                <a:latin typeface="+mn-lt"/>
                <a:ea typeface="+mn-ea"/>
              </a:rPr>
              <a:t>Hoare</a:t>
            </a:r>
            <a:r>
              <a:rPr kumimoji="1" lang="zh-CN" altLang="zh-CN" sz="2800" dirty="0">
                <a:latin typeface="+mn-lt"/>
                <a:ea typeface="+mn-ea"/>
              </a:rPr>
              <a:t>逻辑，对归纳命题</a:t>
            </a:r>
            <a:r>
              <a:rPr kumimoji="1" lang="en-US" altLang="zh-CN" sz="2800" dirty="0">
                <a:latin typeface="+mn-lt"/>
                <a:ea typeface="+mn-ea"/>
              </a:rPr>
              <a:t>{n</a:t>
            </a:r>
            <a:r>
              <a:rPr kumimoji="1" lang="zh-CN" altLang="zh-CN" sz="2800" dirty="0">
                <a:latin typeface="+mn-lt"/>
                <a:ea typeface="+mn-ea"/>
              </a:rPr>
              <a:t>∈</a:t>
            </a:r>
            <a:r>
              <a:rPr kumimoji="1" lang="en-US" altLang="zh-CN" sz="2800" dirty="0" smtClean="0">
                <a:latin typeface="+mn-lt"/>
                <a:ea typeface="+mn-ea"/>
              </a:rPr>
              <a:t>N}P{x=n</a:t>
            </a:r>
            <a:r>
              <a:rPr kumimoji="1" lang="en-US" altLang="zh-CN" sz="2800" dirty="0">
                <a:latin typeface="+mn-lt"/>
                <a:ea typeface="+mn-ea"/>
              </a:rPr>
              <a:t>!}</a:t>
            </a:r>
            <a:r>
              <a:rPr kumimoji="1" lang="zh-CN" altLang="zh-CN" sz="2800" dirty="0">
                <a:latin typeface="+mn-lt"/>
                <a:ea typeface="+mn-ea"/>
              </a:rPr>
              <a:t>的证明过程</a:t>
            </a:r>
            <a:r>
              <a:rPr lang="zh-CN" altLang="zh-CN" kern="100" dirty="0">
                <a:latin typeface="Times New Roman" panose="02020603050405020304" charset="0"/>
                <a:ea typeface="宋体" panose="02010600030101010101" pitchFamily="2" charset="-122"/>
              </a:rPr>
              <a:t>：</a:t>
            </a:r>
            <a:endParaRPr lang="zh-CN" altLang="zh-CN" kern="100" dirty="0">
              <a:effectLst/>
              <a:latin typeface="Times New Roman" panose="02020603050405020304"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zh-CN" altLang="en-US" dirty="0"/>
              <a:t>霍尔逻辑</a:t>
            </a:r>
            <a:endParaRPr lang="zh-CN" altLang="en-US" dirty="0"/>
          </a:p>
        </p:txBody>
      </p:sp>
      <p:sp>
        <p:nvSpPr>
          <p:cNvPr id="5" name="Rectangle 5"/>
          <p:cNvSpPr>
            <a:spLocks noChangeArrowheads="1"/>
          </p:cNvSpPr>
          <p:nvPr/>
        </p:nvSpPr>
        <p:spPr bwMode="auto">
          <a:xfrm>
            <a:off x="-282649" y="529699"/>
            <a:ext cx="31290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    </a:t>
            </a:r>
            <a:endParaRPr kumimoji="0" lang="zh-CN"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9" name="图片 8"/>
          <p:cNvPicPr>
            <a:picLocks noChangeAspect="1"/>
          </p:cNvPicPr>
          <p:nvPr/>
        </p:nvPicPr>
        <p:blipFill rotWithShape="1">
          <a:blip r:embed="rId1" cstate="email">
            <a:extLst>
              <a:ext uri="{28A0092B-C50C-407E-A947-70E740481C1C}">
                <a14:useLocalDpi xmlns:a14="http://schemas.microsoft.com/office/drawing/2010/main" val="0"/>
              </a:ext>
            </a:extLst>
          </a:blip>
          <a:srcRect l="8590" r="35811"/>
          <a:stretch>
            <a:fillRect/>
          </a:stretch>
        </p:blipFill>
        <p:spPr>
          <a:xfrm>
            <a:off x="5580112" y="1484784"/>
            <a:ext cx="3240360" cy="4429743"/>
          </a:xfrm>
          <a:prstGeom prst="rect">
            <a:avLst/>
          </a:prstGeom>
        </p:spPr>
      </p:pic>
      <p:pic>
        <p:nvPicPr>
          <p:cNvPr id="10" name="图片 9"/>
          <p:cNvPicPr>
            <a:picLocks noChangeAspect="1"/>
          </p:cNvPicPr>
          <p:nvPr/>
        </p:nvPicPr>
        <p:blipFill>
          <a:blip r:embed="rId2"/>
          <a:stretch>
            <a:fillRect/>
          </a:stretch>
        </p:blipFill>
        <p:spPr>
          <a:xfrm>
            <a:off x="107504" y="1196752"/>
            <a:ext cx="5256584" cy="5400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总结</a:t>
            </a:r>
            <a:endParaRPr lang="zh-CN" altLang="en-US" dirty="0"/>
          </a:p>
        </p:txBody>
      </p:sp>
      <p:sp>
        <p:nvSpPr>
          <p:cNvPr id="3" name="日期占位符 2"/>
          <p:cNvSpPr>
            <a:spLocks noGrp="1"/>
          </p:cNvSpPr>
          <p:nvPr>
            <p:ph type="dt" sz="half" idx="10"/>
          </p:nvPr>
        </p:nvSpPr>
        <p:spPr/>
        <p:txBody>
          <a:bodyPr/>
          <a:lstStyle/>
          <a:p>
            <a:pPr>
              <a:defRPr/>
            </a:pPr>
            <a:fld id="{6A3C62C2-65F9-4A4E-ACC0-2EE28D40ECC3}" type="datetime1">
              <a:rPr lang="zh-CN" altLang="en-US" smtClean="0"/>
            </a:fld>
            <a:endParaRPr lang="en-US" altLang="zh-CN"/>
          </a:p>
        </p:txBody>
      </p:sp>
      <p:sp>
        <p:nvSpPr>
          <p:cNvPr id="4" name="灯片编号占位符 3"/>
          <p:cNvSpPr>
            <a:spLocks noGrp="1"/>
          </p:cNvSpPr>
          <p:nvPr>
            <p:ph type="sldNum" sz="quarter" idx="12"/>
          </p:nvPr>
        </p:nvSpPr>
        <p:spPr/>
        <p:txBody>
          <a:bodyPr/>
          <a:lstStyle/>
          <a:p>
            <a:pPr>
              <a:defRPr/>
            </a:pPr>
            <a:fld id="{3E440166-6CE3-F044-BBAE-2F06EF89DFF3}" type="slidenum">
              <a:rPr lang="en-US" altLang="zh-CN" smtClean="0"/>
            </a:fld>
            <a:endParaRPr lang="en-US" altLang="zh-CN"/>
          </a:p>
        </p:txBody>
      </p:sp>
      <p:sp>
        <p:nvSpPr>
          <p:cNvPr id="5" name="文本框 4"/>
          <p:cNvSpPr txBox="1"/>
          <p:nvPr/>
        </p:nvSpPr>
        <p:spPr>
          <a:xfrm>
            <a:off x="-601836" y="1533268"/>
            <a:ext cx="3024336" cy="523220"/>
          </a:xfrm>
          <a:prstGeom prst="rect">
            <a:avLst/>
          </a:prstGeom>
          <a:noFill/>
        </p:spPr>
        <p:txBody>
          <a:bodyPr wrap="square" rtlCol="0">
            <a:spAutoFit/>
          </a:bodyPr>
          <a:lstStyle/>
          <a:p>
            <a:r>
              <a:rPr lang="zh-CN" altLang="en-US" sz="2800" dirty="0"/>
              <a:t>优点</a:t>
            </a:r>
            <a:endParaRPr lang="zh-CN" altLang="en-US" sz="2800" dirty="0"/>
          </a:p>
        </p:txBody>
      </p:sp>
      <p:sp>
        <p:nvSpPr>
          <p:cNvPr id="6" name="内容占位符 2"/>
          <p:cNvSpPr txBox="1"/>
          <p:nvPr/>
        </p:nvSpPr>
        <p:spPr>
          <a:xfrm>
            <a:off x="611188" y="2132856"/>
            <a:ext cx="7709792" cy="882783"/>
          </a:xfrm>
          <a:prstGeom prst="rect">
            <a:avLst/>
          </a:prstGeom>
        </p:spPr>
        <p:txBody>
          <a:bodyPr/>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lvl="0"/>
            <a:r>
              <a:rPr lang="zh-CN" altLang="zh-CN" sz="2400" dirty="0"/>
              <a:t>采用定理证明可以极大地减少了系统设计开发阶段的错误，避免了后期错误修改所带来的高额开销。</a:t>
            </a:r>
            <a:endParaRPr lang="zh-CN" altLang="zh-CN" sz="2400" dirty="0"/>
          </a:p>
          <a:p>
            <a:pPr marL="0" indent="0">
              <a:buNone/>
            </a:pPr>
            <a:endParaRPr lang="zh-CN" altLang="en-US" sz="2400" kern="0" dirty="0" smtClean="0">
              <a:solidFill>
                <a:schemeClr val="tx2"/>
              </a:solidFill>
            </a:endParaRPr>
          </a:p>
        </p:txBody>
      </p:sp>
      <p:sp>
        <p:nvSpPr>
          <p:cNvPr id="7" name="文本框 6"/>
          <p:cNvSpPr txBox="1"/>
          <p:nvPr/>
        </p:nvSpPr>
        <p:spPr>
          <a:xfrm>
            <a:off x="-601836" y="3260531"/>
            <a:ext cx="3024336" cy="523220"/>
          </a:xfrm>
          <a:prstGeom prst="rect">
            <a:avLst/>
          </a:prstGeom>
          <a:noFill/>
        </p:spPr>
        <p:txBody>
          <a:bodyPr wrap="square" rtlCol="0">
            <a:spAutoFit/>
          </a:bodyPr>
          <a:lstStyle/>
          <a:p>
            <a:r>
              <a:rPr lang="zh-CN" altLang="en-US" sz="2800" dirty="0" smtClean="0"/>
              <a:t>不足</a:t>
            </a:r>
            <a:endParaRPr lang="zh-CN" altLang="en-US" sz="2800" dirty="0"/>
          </a:p>
        </p:txBody>
      </p:sp>
      <p:sp>
        <p:nvSpPr>
          <p:cNvPr id="8" name="内容占位符 2"/>
          <p:cNvSpPr txBox="1"/>
          <p:nvPr/>
        </p:nvSpPr>
        <p:spPr>
          <a:xfrm>
            <a:off x="615772" y="3957610"/>
            <a:ext cx="8029400" cy="1368152"/>
          </a:xfrm>
          <a:prstGeom prst="rect">
            <a:avLst/>
          </a:prstGeom>
        </p:spPr>
        <p:txBody>
          <a:bodyPr/>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lvl="0"/>
            <a:r>
              <a:rPr lang="zh-CN" altLang="zh-CN" sz="2400" dirty="0" smtClean="0"/>
              <a:t>运用</a:t>
            </a:r>
            <a:r>
              <a:rPr lang="zh-CN" altLang="en-US" sz="2400" dirty="0"/>
              <a:t>定理证明</a:t>
            </a:r>
            <a:r>
              <a:rPr lang="zh-CN" altLang="zh-CN" sz="2400" dirty="0" smtClean="0"/>
              <a:t>的</a:t>
            </a:r>
            <a:r>
              <a:rPr lang="zh-CN" altLang="zh-CN" sz="2400" dirty="0"/>
              <a:t>成本很高。</a:t>
            </a:r>
            <a:endParaRPr lang="zh-CN" altLang="zh-CN" sz="2400" dirty="0"/>
          </a:p>
          <a:p>
            <a:pPr lvl="0"/>
            <a:r>
              <a:rPr lang="zh-CN" altLang="zh-CN" sz="2400" smtClean="0"/>
              <a:t>人们</a:t>
            </a:r>
            <a:r>
              <a:rPr lang="zh-CN" altLang="zh-CN" sz="2400" dirty="0"/>
              <a:t>要花时间和精力</a:t>
            </a:r>
            <a:r>
              <a:rPr lang="zh-CN" altLang="zh-CN" sz="2400"/>
              <a:t>去</a:t>
            </a:r>
            <a:r>
              <a:rPr lang="zh-CN" altLang="zh-CN" sz="2400" smtClean="0"/>
              <a:t>学习</a:t>
            </a:r>
            <a:r>
              <a:rPr lang="zh-CN" altLang="en-US" sz="2400" smtClean="0"/>
              <a:t>，入门难度大。</a:t>
            </a:r>
            <a:endParaRPr lang="zh-CN" altLang="zh-CN" sz="2400" dirty="0"/>
          </a:p>
          <a:p>
            <a:pPr marL="0" indent="0">
              <a:buNone/>
            </a:pPr>
            <a:endParaRPr lang="zh-CN" altLang="en-US" sz="2400" kern="0" dirty="0" smtClean="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r>
              <a:rPr lang="en-US" altLang="zh-CN" smtClean="0"/>
              <a:t>-</a:t>
            </a:r>
            <a:fld id="{D54FED89-5871-484A-8309-BEF4D73D9556}" type="slidenum">
              <a:rPr lang="en-US" altLang="zh-CN" smtClean="0"/>
            </a:fld>
            <a:r>
              <a:rPr lang="en-US" altLang="zh-CN" smtClean="0"/>
              <a:t>-</a:t>
            </a:r>
            <a:endParaRPr lang="en-US" altLang="zh-CN"/>
          </a:p>
        </p:txBody>
      </p:sp>
      <p:sp>
        <p:nvSpPr>
          <p:cNvPr id="3" name="内容占位符 2"/>
          <p:cNvSpPr>
            <a:spLocks noGrp="1"/>
          </p:cNvSpPr>
          <p:nvPr>
            <p:ph idx="1"/>
          </p:nvPr>
        </p:nvSpPr>
        <p:spPr>
          <a:xfrm>
            <a:off x="3059832" y="2780928"/>
            <a:ext cx="3168352" cy="1080120"/>
          </a:xfrm>
        </p:spPr>
        <p:txBody>
          <a:bodyPr/>
          <a:lstStyle/>
          <a:p>
            <a:pPr marL="0" indent="0">
              <a:buNone/>
            </a:pPr>
            <a:r>
              <a:rPr lang="en-US" altLang="zh-CN" sz="6000" dirty="0" smtClean="0">
                <a:latin typeface="Buxton Sketch" panose="03080500000500000004" pitchFamily="66" charset="0"/>
              </a:rPr>
              <a:t>Thank </a:t>
            </a:r>
            <a:r>
              <a:rPr lang="en-US" altLang="zh-CN" sz="6000" dirty="0">
                <a:latin typeface="Buxton Sketch" panose="03080500000500000004" pitchFamily="66" charset="0"/>
              </a:rPr>
              <a:t>you</a:t>
            </a:r>
            <a:endParaRPr lang="zh-CN" altLang="en-US" sz="6000" dirty="0">
              <a:latin typeface="Buxton Sketch" panose="03080500000500000004" pitchFamily="66"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1354</Words>
  <Application>WPS 演示</Application>
  <PresentationFormat>全屏显示(4:3)</PresentationFormat>
  <Paragraphs>100</Paragraphs>
  <Slides>11</Slides>
  <Notes>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宋体</vt:lpstr>
      <vt:lpstr>Wingdings</vt:lpstr>
      <vt:lpstr>Times New Roman</vt:lpstr>
      <vt:lpstr>Wingdings</vt:lpstr>
      <vt:lpstr>Symbol</vt:lpstr>
      <vt:lpstr>Buxton Sketch</vt:lpstr>
      <vt:lpstr>Mongolian Baiti</vt:lpstr>
      <vt:lpstr>微软雅黑</vt:lpstr>
      <vt:lpstr>Arial Unicode MS</vt:lpstr>
      <vt:lpstr>Axis</vt:lpstr>
      <vt:lpstr>定理证明</vt:lpstr>
      <vt:lpstr>定理证明</vt:lpstr>
      <vt:lpstr>定理证明</vt:lpstr>
      <vt:lpstr>定理证明</vt:lpstr>
      <vt:lpstr>霍尔逻辑</vt:lpstr>
      <vt:lpstr>霍尔逻辑</vt:lpstr>
      <vt:lpstr>霍尔逻辑</vt:lpstr>
      <vt:lpstr>霍尔逻辑</vt:lpstr>
      <vt:lpstr>霍尔逻辑</vt:lpstr>
      <vt:lpstr>总结</vt:lpstr>
      <vt:lpstr>PowerPoint 演示文稿</vt:lpstr>
    </vt:vector>
  </TitlesOfParts>
  <Company>ics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HMM词性标注</dc:title>
  <dc:creator>HuangShujian</dc:creator>
  <cp:lastModifiedBy>Mr Nie</cp:lastModifiedBy>
  <cp:revision>1071</cp:revision>
  <dcterms:created xsi:type="dcterms:W3CDTF">2005-03-03T04:54:00Z</dcterms:created>
  <dcterms:modified xsi:type="dcterms:W3CDTF">2021-10-26T10:51:49Z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089349AE4F5B4B36A12619AFF9DD1F27</vt:lpwstr>
  </property>
  <property fmtid="{D5CDD505-2E9C-101B-9397-08002B2CF9AE}" pid="3" name="KSOProductBuildVer">
    <vt:lpwstr>2052-11.1.0.10495</vt:lpwstr>
  </property>
</Properties>
</file>