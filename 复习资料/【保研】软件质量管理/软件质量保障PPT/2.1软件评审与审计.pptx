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65" r:id="rId6"/>
    <p:sldId id="258" r:id="rId7"/>
    <p:sldId id="259" r:id="rId8"/>
    <p:sldId id="269" r:id="rId9"/>
    <p:sldId id="270" r:id="rId10"/>
    <p:sldId id="267" r:id="rId11"/>
    <p:sldId id="271" r:id="rId12"/>
    <p:sldId id="261" r:id="rId13"/>
    <p:sldId id="277" r:id="rId14"/>
    <p:sldId id="268" r:id="rId15"/>
    <p:sldId id="274" r:id="rId16"/>
    <p:sldId id="278" r:id="rId17"/>
    <p:sldId id="279" r:id="rId18"/>
    <p:sldId id="280" r:id="rId19"/>
    <p:sldId id="281" r:id="rId20"/>
    <p:sldId id="282" r:id="rId21"/>
    <p:sldId id="283" r:id="rId22"/>
    <p:sldId id="284" r:id="rId23"/>
    <p:sldId id="286" r:id="rId24"/>
    <p:sldId id="287" r:id="rId25"/>
    <p:sldId id="288" r:id="rId26"/>
    <p:sldId id="289" r:id="rId27"/>
    <p:sldId id="290" r:id="rId28"/>
    <p:sldId id="291" r:id="rId29"/>
    <p:sldId id="292" r:id="rId30"/>
    <p:sldId id="294" r:id="rId31"/>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ctr"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92929"/>
        </a:solidFill>
        <a:effectLst/>
        <a:uFillTx/>
        <a:latin typeface="+mn-lt"/>
        <a:ea typeface="+mn-ea"/>
        <a:cs typeface="+mn-cs"/>
        <a:sym typeface="Arial" panose="020B0604020202020204"/>
      </a:defRPr>
    </a:lvl1pPr>
    <a:lvl2pPr marL="0" marR="0" indent="457200" algn="ctr"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92929"/>
        </a:solidFill>
        <a:effectLst/>
        <a:uFillTx/>
        <a:latin typeface="+mn-lt"/>
        <a:ea typeface="+mn-ea"/>
        <a:cs typeface="+mn-cs"/>
        <a:sym typeface="Arial" panose="020B0604020202020204"/>
      </a:defRPr>
    </a:lvl2pPr>
    <a:lvl3pPr marL="0" marR="0" indent="914400" algn="ctr"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92929"/>
        </a:solidFill>
        <a:effectLst/>
        <a:uFillTx/>
        <a:latin typeface="+mn-lt"/>
        <a:ea typeface="+mn-ea"/>
        <a:cs typeface="+mn-cs"/>
        <a:sym typeface="Arial" panose="020B0604020202020204"/>
      </a:defRPr>
    </a:lvl3pPr>
    <a:lvl4pPr marL="0" marR="0" indent="1371600" algn="ctr"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92929"/>
        </a:solidFill>
        <a:effectLst/>
        <a:uFillTx/>
        <a:latin typeface="+mn-lt"/>
        <a:ea typeface="+mn-ea"/>
        <a:cs typeface="+mn-cs"/>
        <a:sym typeface="Arial" panose="020B0604020202020204"/>
      </a:defRPr>
    </a:lvl4pPr>
    <a:lvl5pPr marL="0" marR="0" indent="1828800" algn="ctr"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92929"/>
        </a:solidFill>
        <a:effectLst/>
        <a:uFillTx/>
        <a:latin typeface="+mn-lt"/>
        <a:ea typeface="+mn-ea"/>
        <a:cs typeface="+mn-cs"/>
        <a:sym typeface="Arial" panose="020B0604020202020204"/>
      </a:defRPr>
    </a:lvl5pPr>
    <a:lvl6pPr marL="0" marR="0" indent="2286000" algn="ctr"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92929"/>
        </a:solidFill>
        <a:effectLst/>
        <a:uFillTx/>
        <a:latin typeface="+mn-lt"/>
        <a:ea typeface="+mn-ea"/>
        <a:cs typeface="+mn-cs"/>
        <a:sym typeface="Arial" panose="020B0604020202020204"/>
      </a:defRPr>
    </a:lvl6pPr>
    <a:lvl7pPr marL="0" marR="0" indent="2743200" algn="ctr"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92929"/>
        </a:solidFill>
        <a:effectLst/>
        <a:uFillTx/>
        <a:latin typeface="+mn-lt"/>
        <a:ea typeface="+mn-ea"/>
        <a:cs typeface="+mn-cs"/>
        <a:sym typeface="Arial" panose="020B0604020202020204"/>
      </a:defRPr>
    </a:lvl7pPr>
    <a:lvl8pPr marL="0" marR="0" indent="3200400" algn="ctr"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92929"/>
        </a:solidFill>
        <a:effectLst/>
        <a:uFillTx/>
        <a:latin typeface="+mn-lt"/>
        <a:ea typeface="+mn-ea"/>
        <a:cs typeface="+mn-cs"/>
        <a:sym typeface="Arial" panose="020B0604020202020204"/>
      </a:defRPr>
    </a:lvl8pPr>
    <a:lvl9pPr marL="0" marR="0" indent="3657600" algn="ctr"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92929"/>
        </a:solidFill>
        <a:effectLst/>
        <a:uFillTx/>
        <a:latin typeface="+mn-lt"/>
        <a:ea typeface="+mn-ea"/>
        <a:cs typeface="+mn-cs"/>
        <a:sym typeface="Arial" panose="020B0604020202020204"/>
      </a:defRPr>
    </a:lvl9pPr>
  </p:defaultTextStyle>
  <p:extLst>
    <p:ext uri="{521415D9-36F7-43E2-AB2F-B90AF26B5E84}">
      <p14:sectionLst xmlns:p14="http://schemas.microsoft.com/office/powerpoint/2010/main">
        <p14:section name="默认节" id="{E0CBD907-3C0F-AF49-9846-694DF425CE75}">
          <p14:sldIdLst>
            <p14:sldId id="256"/>
            <p14:sldId id="257"/>
            <p14:sldId id="265"/>
            <p14:sldId id="258"/>
            <p14:sldId id="259"/>
            <p14:sldId id="269"/>
            <p14:sldId id="270"/>
            <p14:sldId id="267"/>
            <p14:sldId id="271"/>
            <p14:sldId id="261"/>
            <p14:sldId id="277"/>
            <p14:sldId id="268"/>
            <p14:sldId id="274"/>
            <p14:sldId id="278"/>
            <p14:sldId id="279"/>
            <p14:sldId id="280"/>
            <p14:sldId id="281"/>
            <p14:sldId id="282"/>
            <p14:sldId id="283"/>
            <p14:sldId id="284"/>
            <p14:sldId id="286"/>
            <p14:sldId id="287"/>
            <p14:sldId id="288"/>
            <p14:sldId id="289"/>
            <p14:sldId id="290"/>
            <p14:sldId id="291"/>
            <p14:sldId id="292"/>
            <p14:sldId id="29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314"/>
    <p:restoredTop sz="78186"/>
  </p:normalViewPr>
  <p:slideViewPr>
    <p:cSldViewPr snapToGrid="0" snapToObjects="1">
      <p:cViewPr varScale="1">
        <p:scale>
          <a:sx n="66" d="100"/>
          <a:sy n="66" d="100"/>
        </p:scale>
        <p:origin x="49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9" name="Shape 39"/>
          <p:cNvSpPr>
            <a:spLocks noGrp="1" noRot="1" noChangeAspect="1"/>
          </p:cNvSpPr>
          <p:nvPr>
            <p:ph type="sldImg"/>
          </p:nvPr>
        </p:nvSpPr>
        <p:spPr>
          <a:xfrm>
            <a:off x="1143000" y="685800"/>
            <a:ext cx="4572000" cy="3429000"/>
          </a:xfrm>
          <a:prstGeom prst="rect">
            <a:avLst/>
          </a:prstGeom>
        </p:spPr>
        <p:txBody>
          <a:bodyPr/>
          <a:lstStyle/>
          <a:p/>
        </p:txBody>
      </p:sp>
      <p:sp>
        <p:nvSpPr>
          <p:cNvPr id="40" name="Shape 40"/>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Arial" panose="020B0604020202020204"/>
      </a:defRPr>
    </a:lvl1pPr>
    <a:lvl2pPr indent="228600" latinLnBrk="0">
      <a:spcBef>
        <a:spcPts val="400"/>
      </a:spcBef>
      <a:defRPr sz="1200">
        <a:latin typeface="+mn-lt"/>
        <a:ea typeface="+mn-ea"/>
        <a:cs typeface="+mn-cs"/>
        <a:sym typeface="Arial" panose="020B0604020202020204"/>
      </a:defRPr>
    </a:lvl2pPr>
    <a:lvl3pPr indent="457200" latinLnBrk="0">
      <a:spcBef>
        <a:spcPts val="400"/>
      </a:spcBef>
      <a:defRPr sz="1200">
        <a:latin typeface="+mn-lt"/>
        <a:ea typeface="+mn-ea"/>
        <a:cs typeface="+mn-cs"/>
        <a:sym typeface="Arial" panose="020B0604020202020204"/>
      </a:defRPr>
    </a:lvl3pPr>
    <a:lvl4pPr indent="685800" latinLnBrk="0">
      <a:spcBef>
        <a:spcPts val="400"/>
      </a:spcBef>
      <a:defRPr sz="1200">
        <a:latin typeface="+mn-lt"/>
        <a:ea typeface="+mn-ea"/>
        <a:cs typeface="+mn-cs"/>
        <a:sym typeface="Arial" panose="020B0604020202020204"/>
      </a:defRPr>
    </a:lvl4pPr>
    <a:lvl5pPr indent="914400" latinLnBrk="0">
      <a:spcBef>
        <a:spcPts val="400"/>
      </a:spcBef>
      <a:defRPr sz="1200">
        <a:latin typeface="+mn-lt"/>
        <a:ea typeface="+mn-ea"/>
        <a:cs typeface="+mn-cs"/>
        <a:sym typeface="Arial" panose="020B0604020202020204"/>
      </a:defRPr>
    </a:lvl5pPr>
    <a:lvl6pPr indent="1143000" latinLnBrk="0">
      <a:spcBef>
        <a:spcPts val="400"/>
      </a:spcBef>
      <a:defRPr sz="1200">
        <a:latin typeface="+mn-lt"/>
        <a:ea typeface="+mn-ea"/>
        <a:cs typeface="+mn-cs"/>
        <a:sym typeface="Arial" panose="020B0604020202020204"/>
      </a:defRPr>
    </a:lvl6pPr>
    <a:lvl7pPr indent="1371600" latinLnBrk="0">
      <a:spcBef>
        <a:spcPts val="400"/>
      </a:spcBef>
      <a:defRPr sz="1200">
        <a:latin typeface="+mn-lt"/>
        <a:ea typeface="+mn-ea"/>
        <a:cs typeface="+mn-cs"/>
        <a:sym typeface="Arial" panose="020B0604020202020204"/>
      </a:defRPr>
    </a:lvl7pPr>
    <a:lvl8pPr indent="1600200" latinLnBrk="0">
      <a:spcBef>
        <a:spcPts val="400"/>
      </a:spcBef>
      <a:defRPr sz="1200">
        <a:latin typeface="+mn-lt"/>
        <a:ea typeface="+mn-ea"/>
        <a:cs typeface="+mn-cs"/>
        <a:sym typeface="Arial" panose="020B0604020202020204"/>
      </a:defRPr>
    </a:lvl8pPr>
    <a:lvl9pPr indent="1828800" latinLnBrk="0">
      <a:spcBef>
        <a:spcPts val="400"/>
      </a:spcBef>
      <a:defRPr sz="1200">
        <a:latin typeface="+mn-lt"/>
        <a:ea typeface="+mn-ea"/>
        <a:cs typeface="+mn-cs"/>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defRPr/>
            </a:pPr>
            <a:r>
              <a:rPr lang="zh-CN" altLang="en-US" sz="1200" dirty="0">
                <a:effectLst/>
                <a:latin typeface="+mn-lt"/>
                <a:ea typeface="+mn-ea"/>
                <a:cs typeface="+mn-cs"/>
                <a:sym typeface="Arial" panose="020B0604020202020204"/>
              </a:rPr>
              <a:t>随着开发不断开展，缺陷不断放大，最终形成的产品是一个距离用户真正需求很远的一个东西。这就需要开发过程中不断评审，减少泄漏到下一阶段的缺陷。</a:t>
            </a:r>
            <a:endParaRPr lang="en-US" altLang="zh-CN" sz="1200" dirty="0">
              <a:effectLst/>
              <a:latin typeface="+mn-lt"/>
              <a:ea typeface="+mn-ea"/>
              <a:cs typeface="+mn-cs"/>
              <a:sym typeface="Arial" panose="020B06040202020202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defRPr/>
            </a:pPr>
            <a:r>
              <a:rPr lang="en-US" altLang="zh-CN" sz="1200" dirty="0">
                <a:effectLst/>
                <a:latin typeface="+mn-lt"/>
                <a:ea typeface="+mn-ea"/>
                <a:cs typeface="+mn-cs"/>
                <a:sym typeface="Arial" panose="020B0604020202020204"/>
              </a:rPr>
              <a:t>1.</a:t>
            </a:r>
            <a:r>
              <a:rPr lang="zh-CN" altLang="en-US" sz="1200" dirty="0"/>
              <a:t>这是由于早期发现了错误，因而减少了返工时间，还可能减少测试时间。</a:t>
            </a:r>
            <a:endParaRPr lang="zh-CN" altLang="en-US" sz="1200" dirty="0"/>
          </a:p>
          <a:p>
            <a:pPr marL="0" marR="0" lvl="0" indent="0" defTabSz="914400" eaLnBrk="1" fontAlgn="auto" latinLnBrk="0" hangingPunct="1">
              <a:lnSpc>
                <a:spcPct val="100000"/>
              </a:lnSpc>
              <a:spcBef>
                <a:spcPts val="400"/>
              </a:spcBef>
              <a:spcAft>
                <a:spcPts val="0"/>
              </a:spcAft>
              <a:buClrTx/>
              <a:buSzTx/>
              <a:buFontTx/>
              <a:buNone/>
              <a:defRPr/>
            </a:pPr>
            <a:r>
              <a:rPr lang="en-US" altLang="zh-CN" sz="1200" b="0" dirty="0">
                <a:latin typeface="宋体" panose="02010600030101010101" pitchFamily="2" charset="-122"/>
                <a:ea typeface="宋体" panose="02010600030101010101" pitchFamily="2" charset="-122"/>
              </a:rPr>
              <a:t>3.</a:t>
            </a:r>
            <a:r>
              <a:rPr lang="zh-CN" altLang="en-US" sz="1200" b="0" dirty="0">
                <a:latin typeface="宋体" panose="02010600030101010101" pitchFamily="2" charset="-122"/>
                <a:ea typeface="宋体" panose="02010600030101010101" pitchFamily="2" charset="-122"/>
              </a:rPr>
              <a:t>生成的文档，对项目的说明，和修改记录</a:t>
            </a:r>
            <a:endParaRPr lang="en-US" altLang="zh-CN" sz="1200" b="0" dirty="0">
              <a:latin typeface="宋体" panose="02010600030101010101" pitchFamily="2" charset="-122"/>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sz="1200" b="0" i="0" u="none" strike="noStrike" dirty="0">
              <a:effectLst/>
              <a:latin typeface="+mn-lt"/>
              <a:ea typeface="+mn-ea"/>
              <a:cs typeface="+mn-cs"/>
              <a:sym typeface="Arial" panose="020B06040202020202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sz="1200" b="0" i="0" u="none" strike="noStrike" dirty="0">
              <a:effectLst/>
              <a:latin typeface="+mn-lt"/>
              <a:ea typeface="+mn-ea"/>
              <a:cs typeface="+mn-cs"/>
              <a:sym typeface="Arial" panose="020B06040202020202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sz="1200" b="0" i="0" u="none" strike="noStrike" dirty="0">
              <a:effectLst/>
              <a:latin typeface="+mn-lt"/>
              <a:ea typeface="+mn-ea"/>
              <a:cs typeface="+mn-cs"/>
              <a:sym typeface="Arial" panose="020B06040202020202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产品刚刚勾画、起草时候采用走茶</a:t>
            </a:r>
            <a:endParaRPr kumimoji="1" lang="en-US" altLang="zh-CN" dirty="0"/>
          </a:p>
          <a:p>
            <a:r>
              <a:rPr kumimoji="1" lang="zh-CN" altLang="en-US" dirty="0"/>
              <a:t>完成了某一单独章节，可以采用技术审查方式。</a:t>
            </a:r>
            <a:endParaRPr kumimoji="1" lang="en-US" altLang="zh-CN" dirty="0"/>
          </a:p>
          <a:p>
            <a:r>
              <a:rPr kumimoji="1" lang="zh-CN" altLang="en-US" dirty="0"/>
              <a:t>整个产品完成，使用正式评审全面考察。</a:t>
            </a:r>
            <a:endParaRPr kumimoji="1"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主持人例子，原本讨论的是找到并确定哪些是问题，而转到了如何解决问题。把控时间，效率</a:t>
            </a:r>
            <a:endParaRPr kumimoji="1"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defTabSz="914400" eaLnBrk="1" fontAlgn="auto" latinLnBrk="0" hangingPunct="1">
              <a:lnSpc>
                <a:spcPct val="100000"/>
              </a:lnSpc>
              <a:spcBef>
                <a:spcPts val="400"/>
              </a:spcBef>
              <a:spcAft>
                <a:spcPts val="0"/>
              </a:spcAft>
              <a:buClrTx/>
              <a:buSzTx/>
              <a:buFontTx/>
              <a:buNone/>
              <a:defRPr/>
            </a:pPr>
            <a:r>
              <a:rPr kumimoji="1" lang="zh-CN" altLang="en-US" dirty="0"/>
              <a:t>三种形式的流程和成果物的使用力度不尽相同，但主要的步骤和内容大体一致。</a:t>
            </a:r>
            <a:endParaRPr kumimoji="1" lang="en-US" altLang="zh-CN" dirty="0"/>
          </a:p>
          <a:p>
            <a:pPr marL="0" marR="0" lvl="0" indent="0" defTabSz="914400" eaLnBrk="1" fontAlgn="auto" latinLnBrk="0" hangingPunct="1">
              <a:lnSpc>
                <a:spcPct val="100000"/>
              </a:lnSpc>
              <a:spcBef>
                <a:spcPts val="400"/>
              </a:spcBef>
              <a:spcAft>
                <a:spcPts val="0"/>
              </a:spcAft>
              <a:buClrTx/>
              <a:buSzTx/>
              <a:buFontTx/>
              <a:buNone/>
              <a:defRPr/>
            </a:pPr>
            <a:r>
              <a:rPr kumimoji="1" lang="zh-CN" altLang="en-US" dirty="0"/>
              <a:t>正式评审举例</a:t>
            </a:r>
            <a:endParaRPr kumimoji="1" lang="en-US" altLang="zh-CN" dirty="0"/>
          </a:p>
          <a:p>
            <a:r>
              <a:rPr lang="en-US" altLang="zh-CN" sz="1200" b="0" dirty="0"/>
              <a:t>2</a:t>
            </a:r>
            <a:r>
              <a:rPr lang="zh-CN" altLang="zh-CN" sz="1200" b="0" dirty="0"/>
              <a:t>评审主持人负责根据具体情况定什么时间开始评审会议。</a:t>
            </a:r>
            <a:endParaRPr lang="zh-CN" altLang="zh-CN" sz="1200" b="0" dirty="0"/>
          </a:p>
          <a:p>
            <a:pPr lvl="0"/>
            <a:r>
              <a:rPr lang="zh-CN" altLang="zh-CN" sz="1200" b="0" dirty="0">
                <a:solidFill>
                  <a:srgbClr val="FF0000"/>
                </a:solidFill>
              </a:rPr>
              <a:t>预备</a:t>
            </a:r>
            <a:r>
              <a:rPr lang="zh-CN" altLang="zh-CN" sz="1200" b="0" dirty="0"/>
              <a:t>：为保证评审的质量，可以先进行一个预备会议。</a:t>
            </a:r>
            <a:endParaRPr lang="zh-CN" altLang="zh-CN" sz="1200" b="0" dirty="0"/>
          </a:p>
          <a:p>
            <a:r>
              <a:rPr lang="zh-CN" altLang="zh-CN" sz="1200" b="0" dirty="0"/>
              <a:t>会议上，由作者花几分钟的时间向评审组概要介绍评审材料，例如讲解一下本工作产品的目标是什么，其他相关的实现细节、开发标准等。</a:t>
            </a:r>
            <a:r>
              <a:rPr lang="zh-CN" altLang="en-US" sz="1200" b="0" dirty="0"/>
              <a:t>（</a:t>
            </a:r>
            <a:r>
              <a:rPr lang="zh-CN" altLang="zh-CN" sz="1200" b="0" dirty="0"/>
              <a:t>这个讲解的过程从某种角度上来说，也保证了作者提交工作产品的质量</a:t>
            </a:r>
            <a:r>
              <a:rPr lang="zh-CN" altLang="en-US" sz="1200" b="0" dirty="0"/>
              <a:t>。）</a:t>
            </a:r>
            <a:r>
              <a:rPr lang="zh-CN" altLang="zh-CN" sz="1200" b="0" dirty="0"/>
              <a:t>。</a:t>
            </a:r>
            <a:endParaRPr lang="en-US" altLang="zh-CN" sz="1200" b="0" dirty="0"/>
          </a:p>
          <a:p>
            <a:r>
              <a:rPr lang="zh-CN" altLang="en-US" sz="1200" b="0" dirty="0">
                <a:solidFill>
                  <a:srgbClr val="FF0000"/>
                </a:solidFill>
              </a:rPr>
              <a:t>审查</a:t>
            </a:r>
            <a:r>
              <a:rPr lang="zh-CN" altLang="en-US" sz="1200" b="0" dirty="0"/>
              <a:t>：在预备会和正式评审会之间，评审小组成员会对工作产品进行彻底检查，记录发现的缺陷、问题种类与严重程度。</a:t>
            </a:r>
            <a:endParaRPr lang="zh-CN" altLang="en-US" sz="1200" b="0" dirty="0"/>
          </a:p>
          <a:p>
            <a:r>
              <a:rPr lang="zh-CN" altLang="en-US" sz="1200" b="0" dirty="0">
                <a:solidFill>
                  <a:srgbClr val="FF0000"/>
                </a:solidFill>
              </a:rPr>
              <a:t>评审</a:t>
            </a:r>
            <a:r>
              <a:rPr lang="zh-CN" altLang="en-US" sz="1200" b="0" dirty="0"/>
              <a:t>：在预定的正式评审时间内，评审小组成员以会议形式聚在一起，依次对产品进行检查。每个评审员花一定的时间 </a:t>
            </a:r>
            <a:r>
              <a:rPr lang="en-US" altLang="zh-CN" sz="1200" b="0" dirty="0"/>
              <a:t>(</a:t>
            </a:r>
            <a:r>
              <a:rPr lang="zh-CN" altLang="en-US" sz="1200" b="0" dirty="0"/>
              <a:t>一般为十几分钟）指出问题，并和作者确定问题和定义问题的严重程度。（注意，评审过程中是发现错误，而不是现场改正它们。）</a:t>
            </a:r>
            <a:endParaRPr lang="en-US" altLang="zh-CN" sz="1200" b="0" dirty="0"/>
          </a:p>
          <a:p>
            <a:r>
              <a:rPr lang="zh-CN" altLang="zh-CN" sz="1200" b="0" dirty="0"/>
              <a:t>会议中，记录员详细记录每一个己达成共识的缺陷，包括缺陷的位置、简短 描述缺陷、缺陷类别、该缺陷的发现者等。</a:t>
            </a:r>
            <a:endParaRPr lang="en-US" altLang="zh-CN" sz="1200" b="0" dirty="0"/>
          </a:p>
          <a:p>
            <a:r>
              <a:rPr lang="zh-CN" altLang="zh-CN" sz="1200" b="0" dirty="0"/>
              <a:t>评审主持人根据记录员的记录和自己的总结</a:t>
            </a:r>
            <a:r>
              <a:rPr lang="zh-CN" altLang="en-US" sz="1200" b="0" dirty="0"/>
              <a:t>。</a:t>
            </a:r>
            <a:endParaRPr lang="en-US" altLang="zh-CN" sz="1200" b="0" dirty="0"/>
          </a:p>
          <a:p>
            <a:pPr lvl="0"/>
            <a:r>
              <a:rPr lang="zh-CN" altLang="zh-CN" sz="1200" b="0" dirty="0"/>
              <a:t>返工：作者根据评审报告的决议，负责解决确定的所有缺陷和问题。</a:t>
            </a:r>
            <a:endParaRPr lang="en-US" altLang="zh-CN" sz="1200" b="0" dirty="0"/>
          </a:p>
          <a:p>
            <a:pPr lvl="0"/>
            <a:r>
              <a:rPr lang="zh-CN" altLang="zh-CN" sz="1200" b="0" dirty="0"/>
              <a:t>跟踪：评审组长必须确保所提出的每个问题都得到了圆满解决。必须仔细检查对文档的每个修正，以确保没有注入新的错误。</a:t>
            </a:r>
            <a:endParaRPr lang="zh-CN" altLang="zh-CN" sz="1200" b="0" dirty="0"/>
          </a:p>
          <a:p>
            <a:endParaRPr lang="zh-CN" altLang="en-US" sz="1200" b="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smtClean="0"/>
              <a:t>在这里，“软件软件开发活动交付的任何技术文档或部分文档，且可能包括各种文件，如合同、项目计划、预算、文档要求、规范，设计，源代码，用户文档，支持和维护文档，测试计划，测试规范、标准，和任何其他类型的工作产品。</a:t>
            </a:r>
            <a:endParaRPr lang="zh-CN" altLang="en-US" dirty="0" smtClean="0"/>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dirty="0" smtClean="0"/>
              <a:t>静态测试技术的重要组成部分</a:t>
            </a:r>
            <a:r>
              <a:rPr lang="zh-CN" altLang="en-US" sz="1200" dirty="0" smtClean="0"/>
              <a:t>，</a:t>
            </a:r>
            <a:r>
              <a:rPr lang="zh-CN" altLang="zh-CN" sz="1200" dirty="0" smtClean="0"/>
              <a:t>通过深入阅读和理解被检查文档来完成的</a:t>
            </a:r>
            <a:endParaRPr lang="zh-CN" altLang="zh-CN" sz="1200" dirty="0" smtClean="0"/>
          </a:p>
          <a:p>
            <a:endParaRPr lang="zh-CN" altLang="en-US" dirty="0"/>
          </a:p>
        </p:txBody>
      </p:sp>
      <p:sp>
        <p:nvSpPr>
          <p:cNvPr id="4" name="灯片编号占位符 3"/>
          <p:cNvSpPr>
            <a:spLocks noGrp="1"/>
          </p:cNvSpPr>
          <p:nvPr>
            <p:ph type="sldNum" sz="quarter" idx="10"/>
          </p:nvPr>
        </p:nvSpPr>
        <p:spPr/>
        <p:txBody>
          <a:bodyPr/>
          <a:lstStyle/>
          <a:p>
            <a:fld id="{1C8DC233-E0D4-4F5C-85DC-70F20F1B079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dirty="0" smtClean="0"/>
              <a:t>《</a:t>
            </a:r>
            <a:r>
              <a:rPr lang="en-US" altLang="zh-CN" dirty="0" smtClean="0"/>
              <a:t>NASA</a:t>
            </a:r>
            <a:r>
              <a:rPr lang="zh-CN" altLang="zh-CN" dirty="0" smtClean="0"/>
              <a:t>软件项目管理指南》</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smtClean="0"/>
              <a:t>软件评审是软件质量控制的一个重要手段，软件评审不是在软件开发完毕后再进行评审，在软件开发的各个阶段都可能产生错误。</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1C8DC233-E0D4-4F5C-85DC-70F20F1B079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dirty="0" smtClean="0"/>
              <a:t>基于大量软件项目的数据，</a:t>
            </a:r>
            <a:r>
              <a:rPr lang="en-US" altLang="zh-CN" sz="1200" dirty="0" smtClean="0"/>
              <a:t>Capers Jones</a:t>
            </a:r>
            <a:r>
              <a:rPr lang="zh-CN" altLang="zh-CN" sz="1200" dirty="0" smtClean="0"/>
              <a:t>总结出与软件测试和软件评审有关的两条经验法则：</a:t>
            </a:r>
            <a:endParaRPr lang="en-US" altLang="zh-CN" sz="1200" dirty="0" smtClean="0"/>
          </a:p>
          <a:p>
            <a:endParaRPr lang="zh-CN" altLang="en-US" dirty="0"/>
          </a:p>
        </p:txBody>
      </p:sp>
      <p:sp>
        <p:nvSpPr>
          <p:cNvPr id="4" name="灯片编号占位符 3"/>
          <p:cNvSpPr>
            <a:spLocks noGrp="1"/>
          </p:cNvSpPr>
          <p:nvPr>
            <p:ph type="sldNum" sz="quarter" idx="10"/>
          </p:nvPr>
        </p:nvSpPr>
        <p:spPr/>
        <p:txBody>
          <a:bodyPr/>
          <a:lstStyle/>
          <a:p>
            <a:fld id="{1C8DC233-E0D4-4F5C-85DC-70F20F1B079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dirty="0" smtClean="0"/>
              <a:t>从图</a:t>
            </a:r>
            <a:r>
              <a:rPr lang="en-US" altLang="zh-CN" sz="1200" dirty="0" smtClean="0"/>
              <a:t>1</a:t>
            </a:r>
            <a:r>
              <a:rPr lang="zh-CN" altLang="zh-CN" sz="1200" dirty="0" smtClean="0"/>
              <a:t>很容易可以看出，没有进行正式审查的软件项目从测试阶段开始进入混乱区。这是因为需求和规格说明中的深层次问题会突然之间暴露出来，需要进行大量的、代价高昂的修改和返工。评审的最大贡献之一就是比测试在更早期发现错误，从而可以在早期以最低的成本消除错误。而在图</a:t>
            </a:r>
            <a:r>
              <a:rPr lang="en-US" altLang="zh-CN" sz="1200" dirty="0" smtClean="0"/>
              <a:t>2</a:t>
            </a:r>
            <a:r>
              <a:rPr lang="zh-CN" altLang="zh-CN" sz="1200" dirty="0" smtClean="0"/>
              <a:t>中缺陷是在其引入阶段即被清除，而没有进入后续阶段的软件活动。</a:t>
            </a:r>
            <a:endParaRPr lang="zh-CN" altLang="zh-CN" sz="1200" dirty="0" smtClean="0"/>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评审不仅成本非常高，也非常耗时</a:t>
            </a:r>
            <a:endParaRPr lang="en-US" altLang="zh-CN" sz="1200" kern="1200" dirty="0" smtClean="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zh-CN" sz="1200" kern="1200" dirty="0" smtClean="0">
                <a:solidFill>
                  <a:schemeClr val="tx1"/>
                </a:solidFill>
                <a:effectLst/>
                <a:latin typeface="+mn-lt"/>
                <a:ea typeface="+mn-ea"/>
                <a:cs typeface="+mn-cs"/>
              </a:rPr>
              <a:t>进行审查的项目在前期进度会比较慢，成本也比较高，但当测试开始时，情况就会发生变化：与未经过审查的部分相比，审查过的部分通常在测试进行到</a:t>
            </a:r>
            <a:r>
              <a:rPr lang="en-US" altLang="zh-CN" sz="1200" kern="1200" dirty="0" smtClean="0">
                <a:solidFill>
                  <a:schemeClr val="tx1"/>
                </a:solidFill>
                <a:effectLst/>
                <a:latin typeface="+mn-lt"/>
                <a:ea typeface="+mn-ea"/>
                <a:cs typeface="+mn-cs"/>
              </a:rPr>
              <a:t>1/3</a:t>
            </a:r>
            <a:r>
              <a:rPr lang="zh-CN" altLang="zh-CN" sz="1200" kern="1200" dirty="0" smtClean="0">
                <a:solidFill>
                  <a:schemeClr val="tx1"/>
                </a:solidFill>
                <a:effectLst/>
                <a:latin typeface="+mn-lt"/>
                <a:ea typeface="+mn-ea"/>
                <a:cs typeface="+mn-cs"/>
              </a:rPr>
              <a:t>或</a:t>
            </a:r>
            <a:r>
              <a:rPr lang="en-US" altLang="zh-CN" sz="1200" kern="1200" dirty="0" smtClean="0">
                <a:solidFill>
                  <a:schemeClr val="tx1"/>
                </a:solidFill>
                <a:effectLst/>
                <a:latin typeface="+mn-lt"/>
                <a:ea typeface="+mn-ea"/>
                <a:cs typeface="+mn-cs"/>
              </a:rPr>
              <a:t>1/4</a:t>
            </a:r>
            <a:r>
              <a:rPr lang="zh-CN" altLang="zh-CN" sz="1200" kern="1200" dirty="0" smtClean="0">
                <a:solidFill>
                  <a:schemeClr val="tx1"/>
                </a:solidFill>
                <a:effectLst/>
                <a:latin typeface="+mn-lt"/>
                <a:ea typeface="+mn-ea"/>
                <a:cs typeface="+mn-cs"/>
              </a:rPr>
              <a:t>时就完成了测试。而且和未经审查时的缺陷修复的工作量相比，经过审查后的缺陷修复的工作量也只有不到</a:t>
            </a:r>
            <a:r>
              <a:rPr lang="en-US" altLang="zh-CN" sz="1200" kern="1200" dirty="0" smtClean="0">
                <a:solidFill>
                  <a:schemeClr val="tx1"/>
                </a:solidFill>
                <a:effectLst/>
                <a:latin typeface="+mn-lt"/>
                <a:ea typeface="+mn-ea"/>
                <a:cs typeface="+mn-cs"/>
              </a:rPr>
              <a:t>1/3</a:t>
            </a:r>
            <a:r>
              <a:rPr lang="zh-CN"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1C8DC233-E0D4-4F5C-85DC-70F20F1B079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showMasterSp="0">
  <p:cSld name="标题幻灯片">
    <p:spTree>
      <p:nvGrpSpPr>
        <p:cNvPr id="1" name=""/>
        <p:cNvGrpSpPr/>
        <p:nvPr/>
      </p:nvGrpSpPr>
      <p:grpSpPr>
        <a:xfrm>
          <a:off x="0" y="0"/>
          <a:ext cx="0" cy="0"/>
          <a:chOff x="0" y="0"/>
          <a:chExt cx="0" cy="0"/>
        </a:xfrm>
      </p:grpSpPr>
      <p:sp>
        <p:nvSpPr>
          <p:cNvPr id="16" name="Shape 16"/>
          <p:cNvSpPr/>
          <p:nvPr/>
        </p:nvSpPr>
        <p:spPr>
          <a:xfrm>
            <a:off x="228600" y="1628799"/>
            <a:ext cx="2514600" cy="2514601"/>
          </a:xfrm>
          <a:prstGeom prst="ellipse">
            <a:avLst/>
          </a:prstGeom>
          <a:ln w="12700">
            <a:solidFill>
              <a:schemeClr val="accent1"/>
            </a:solidFill>
          </a:ln>
        </p:spPr>
        <p:txBody>
          <a:bodyPr lIns="45719" rIns="45719" anchor="ctr"/>
          <a:lstStyle/>
          <a:p>
            <a:pPr>
              <a:defRPr>
                <a:latin typeface="Times New Roman" panose="02020603050405020304"/>
                <a:ea typeface="Times New Roman" panose="02020603050405020304"/>
                <a:cs typeface="Times New Roman" panose="02020603050405020304"/>
                <a:sym typeface="Times New Roman" panose="02020603050405020304"/>
              </a:defRPr>
            </a:pPr>
          </a:p>
        </p:txBody>
      </p:sp>
      <p:sp>
        <p:nvSpPr>
          <p:cNvPr id="17" name="Shape 17"/>
          <p:cNvSpPr/>
          <p:nvPr/>
        </p:nvSpPr>
        <p:spPr>
          <a:xfrm>
            <a:off x="0" y="2204864"/>
            <a:ext cx="4724400" cy="1512169"/>
          </a:xfrm>
          <a:prstGeom prst="rect">
            <a:avLst/>
          </a:prstGeom>
          <a:solidFill>
            <a:schemeClr val="accent2"/>
          </a:solidFill>
          <a:ln w="12700">
            <a:miter lim="400000"/>
          </a:ln>
        </p:spPr>
        <p:txBody>
          <a:bodyPr lIns="45719" rIns="45719" anchor="ctr"/>
          <a:lstStyle/>
          <a:p>
            <a:pPr>
              <a:defRPr sz="2400">
                <a:latin typeface="Times New Roman" panose="02020603050405020304"/>
                <a:ea typeface="Times New Roman" panose="02020603050405020304"/>
                <a:cs typeface="Times New Roman" panose="02020603050405020304"/>
                <a:sym typeface="Times New Roman" panose="02020603050405020304"/>
              </a:defRPr>
            </a:pPr>
          </a:p>
        </p:txBody>
      </p:sp>
      <p:sp>
        <p:nvSpPr>
          <p:cNvPr id="18" name="Shape 18"/>
          <p:cNvSpPr/>
          <p:nvPr/>
        </p:nvSpPr>
        <p:spPr>
          <a:xfrm>
            <a:off x="3962400" y="2204864"/>
            <a:ext cx="4724400" cy="1512169"/>
          </a:xfrm>
          <a:prstGeom prst="rect">
            <a:avLst/>
          </a:prstGeom>
          <a:gradFill>
            <a:gsLst>
              <a:gs pos="0">
                <a:schemeClr val="accent2"/>
              </a:gs>
              <a:gs pos="100000">
                <a:schemeClr val="accent3">
                  <a:lumOff val="44000"/>
                </a:schemeClr>
              </a:gs>
            </a:gsLst>
          </a:gradFill>
          <a:ln w="12700">
            <a:miter lim="400000"/>
          </a:ln>
        </p:spPr>
        <p:txBody>
          <a:bodyPr lIns="45719" rIns="45719" anchor="ctr"/>
          <a:lstStyle/>
          <a:p>
            <a:pPr>
              <a:defRPr sz="2400">
                <a:latin typeface="Times New Roman" panose="02020603050405020304"/>
                <a:ea typeface="Times New Roman" panose="02020603050405020304"/>
                <a:cs typeface="Times New Roman" panose="02020603050405020304"/>
                <a:sym typeface="Times New Roman" panose="02020603050405020304"/>
              </a:defRPr>
            </a:pPr>
          </a:p>
        </p:txBody>
      </p:sp>
      <p:pic>
        <p:nvPicPr>
          <p:cNvPr id="19" name="image1.jpg" descr="tower"/>
          <p:cNvPicPr>
            <a:picLocks noChangeAspect="1"/>
          </p:cNvPicPr>
          <p:nvPr/>
        </p:nvPicPr>
        <p:blipFill>
          <a:blip r:embed="rId2"/>
          <a:stretch>
            <a:fillRect/>
          </a:stretch>
        </p:blipFill>
        <p:spPr>
          <a:xfrm>
            <a:off x="6542088" y="188912"/>
            <a:ext cx="1990726" cy="1095376"/>
          </a:xfrm>
          <a:prstGeom prst="rect">
            <a:avLst/>
          </a:prstGeom>
          <a:ln w="12700">
            <a:miter lim="400000"/>
            <a:headEnd/>
            <a:tailEnd/>
          </a:ln>
        </p:spPr>
      </p:pic>
      <p:pic>
        <p:nvPicPr>
          <p:cNvPr id="20" name="image4.png" descr="NJU2"/>
          <p:cNvPicPr>
            <a:picLocks noChangeAspect="1"/>
          </p:cNvPicPr>
          <p:nvPr/>
        </p:nvPicPr>
        <p:blipFill>
          <a:blip r:embed="rId3"/>
          <a:stretch>
            <a:fillRect/>
          </a:stretch>
        </p:blipFill>
        <p:spPr>
          <a:xfrm>
            <a:off x="252413" y="260350"/>
            <a:ext cx="2303462" cy="904875"/>
          </a:xfrm>
          <a:prstGeom prst="rect">
            <a:avLst/>
          </a:prstGeom>
          <a:ln w="12700">
            <a:miter lim="400000"/>
            <a:headEnd/>
            <a:tailEnd/>
          </a:ln>
        </p:spPr>
      </p:pic>
      <p:pic>
        <p:nvPicPr>
          <p:cNvPr id="21" name="image2.png"/>
          <p:cNvPicPr>
            <a:picLocks noChangeAspect="1"/>
          </p:cNvPicPr>
          <p:nvPr/>
        </p:nvPicPr>
        <p:blipFill>
          <a:blip r:embed="rId4"/>
          <a:stretch>
            <a:fillRect/>
          </a:stretch>
        </p:blipFill>
        <p:spPr>
          <a:xfrm>
            <a:off x="0" y="1268412"/>
            <a:ext cx="9117014" cy="28576"/>
          </a:xfrm>
          <a:prstGeom prst="rect">
            <a:avLst/>
          </a:prstGeom>
          <a:ln w="12700">
            <a:miter lim="400000"/>
            <a:headEnd/>
            <a:tailEnd/>
          </a:ln>
        </p:spPr>
      </p:pic>
      <p:sp>
        <p:nvSpPr>
          <p:cNvPr id="22" name="Shape 22"/>
          <p:cNvSpPr>
            <a:spLocks noGrp="1"/>
          </p:cNvSpPr>
          <p:nvPr>
            <p:ph type="body" sz="quarter" idx="1" hasCustomPrompt="1"/>
          </p:nvPr>
        </p:nvSpPr>
        <p:spPr>
          <a:xfrm>
            <a:off x="2915816" y="4725144"/>
            <a:ext cx="5184776" cy="1336676"/>
          </a:xfrm>
          <a:prstGeom prst="rect">
            <a:avLst/>
          </a:prstGeom>
        </p:spPr>
        <p:txBody>
          <a:bodyPr/>
          <a:lstStyle>
            <a:lvl1pPr marL="0" indent="0">
              <a:buClrTx/>
              <a:buSzTx/>
              <a:buFontTx/>
              <a:buNone/>
              <a:defRPr>
                <a:effectLst>
                  <a:outerShdw blurRad="38100" dist="38100" dir="2700000" rotWithShape="0">
                    <a:srgbClr val="000000">
                      <a:alpha val="43137"/>
                    </a:srgbClr>
                  </a:outerShdw>
                </a:effectLst>
              </a:defRPr>
            </a:lvl1pPr>
            <a:lvl2pPr>
              <a:buClrTx/>
              <a:buFontTx/>
              <a:defRPr>
                <a:effectLst>
                  <a:outerShdw blurRad="38100" dist="38100" dir="2700000" rotWithShape="0">
                    <a:srgbClr val="000000">
                      <a:alpha val="43137"/>
                    </a:srgbClr>
                  </a:outerShdw>
                </a:effectLst>
              </a:defRPr>
            </a:lvl2pPr>
            <a:lvl3pPr>
              <a:buClrTx/>
              <a:buFontTx/>
              <a:defRPr>
                <a:effectLst>
                  <a:outerShdw blurRad="38100" dist="38100" dir="2700000" rotWithShape="0">
                    <a:srgbClr val="000000">
                      <a:alpha val="43137"/>
                    </a:srgbClr>
                  </a:outerShdw>
                </a:effectLst>
              </a:defRPr>
            </a:lvl3pPr>
            <a:lvl4pPr>
              <a:buClrTx/>
              <a:buFontTx/>
              <a:defRPr>
                <a:effectLst>
                  <a:outerShdw blurRad="38100" dist="38100" dir="2700000" rotWithShape="0">
                    <a:srgbClr val="000000">
                      <a:alpha val="43137"/>
                    </a:srgbClr>
                  </a:outerShdw>
                </a:effectLst>
              </a:defRPr>
            </a:lvl4pPr>
            <a:lvl5pPr>
              <a:buClrTx/>
              <a:buFontTx/>
              <a:defRPr>
                <a:effectLst>
                  <a:outerShdw blurRad="38100" dist="38100" dir="2700000" rotWithShape="0">
                    <a:srgbClr val="000000">
                      <a:alpha val="43137"/>
                    </a:srgbClr>
                  </a:outerShdw>
                </a:effectLst>
              </a:defRPr>
            </a:lvl5pPr>
          </a:lstStyle>
          <a:p>
            <a:r>
              <a:t>正文级别 1</a:t>
            </a:r>
          </a:p>
          <a:p>
            <a:pPr lvl="1"/>
            <a:r>
              <a:t>正文级别 2</a:t>
            </a:r>
          </a:p>
          <a:p>
            <a:pPr lvl="2"/>
            <a:r>
              <a:t>正文级别 3</a:t>
            </a:r>
          </a:p>
          <a:p>
            <a:pPr lvl="3"/>
            <a:r>
              <a:t>正文级别 4</a:t>
            </a:r>
          </a:p>
          <a:p>
            <a:pPr lvl="4"/>
            <a:r>
              <a:t>正文级别 5</a:t>
            </a:r>
          </a:p>
        </p:txBody>
      </p:sp>
      <p:sp>
        <p:nvSpPr>
          <p:cNvPr id="23" name="Shape 23"/>
          <p:cNvSpPr>
            <a:spLocks noGrp="1"/>
          </p:cNvSpPr>
          <p:nvPr>
            <p:ph type="title" hasCustomPrompt="1"/>
          </p:nvPr>
        </p:nvSpPr>
        <p:spPr>
          <a:xfrm>
            <a:off x="1021555" y="2208945"/>
            <a:ext cx="7405690" cy="1600201"/>
          </a:xfrm>
          <a:prstGeom prst="rect">
            <a:avLst/>
          </a:prstGeom>
        </p:spPr>
        <p:txBody>
          <a:bodyPr anchor="ctr"/>
          <a:lstStyle>
            <a:lvl1pPr>
              <a:defRPr sz="3600" b="1">
                <a:latin typeface="Times New Roman" panose="02020603050405020304"/>
                <a:ea typeface="Times New Roman" panose="02020603050405020304"/>
                <a:cs typeface="Times New Roman" panose="02020603050405020304"/>
                <a:sym typeface="Times New Roman" panose="02020603050405020304"/>
              </a:defRPr>
            </a:lvl1pPr>
          </a:lstStyle>
          <a:p>
            <a:r>
              <a:t>标题文本</a:t>
            </a:r>
          </a:p>
        </p:txBody>
      </p:sp>
      <p:sp>
        <p:nvSpPr>
          <p:cNvPr id="24" name="Shape 24"/>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和内容">
    <p:spTree>
      <p:nvGrpSpPr>
        <p:cNvPr id="1" name=""/>
        <p:cNvGrpSpPr/>
        <p:nvPr/>
      </p:nvGrpSpPr>
      <p:grpSpPr>
        <a:xfrm>
          <a:off x="0" y="0"/>
          <a:ext cx="0" cy="0"/>
          <a:chOff x="0" y="0"/>
          <a:chExt cx="0" cy="0"/>
        </a:xfrm>
      </p:grpSpPr>
      <p:sp>
        <p:nvSpPr>
          <p:cNvPr id="31" name="Shape 31"/>
          <p:cNvSpPr>
            <a:spLocks noGrp="1"/>
          </p:cNvSpPr>
          <p:nvPr>
            <p:ph type="title" hasCustomPrompt="1"/>
          </p:nvPr>
        </p:nvSpPr>
        <p:spPr>
          <a:prstGeom prst="rect">
            <a:avLst/>
          </a:prstGeom>
        </p:spPr>
        <p:txBody>
          <a:bodyPr/>
          <a:lstStyle/>
          <a:p>
            <a:r>
              <a:t>标题文本</a:t>
            </a:r>
          </a:p>
        </p:txBody>
      </p:sp>
      <p:sp>
        <p:nvSpPr>
          <p:cNvPr id="32" name="Shape 32"/>
          <p:cNvSpPr>
            <a:spLocks noGrp="1"/>
          </p:cNvSpPr>
          <p:nvPr>
            <p:ph type="body" idx="1" hasCustomPrompt="1"/>
          </p:nvPr>
        </p:nvSpPr>
        <p:spPr>
          <a:prstGeom prst="rect">
            <a:avLst/>
          </a:prstGeom>
        </p:spPr>
        <p:txBody>
          <a:bodyPr/>
          <a:lstStyle/>
          <a:p>
            <a:r>
              <a:t>正文级别 1</a:t>
            </a:r>
          </a:p>
          <a:p>
            <a:pPr lvl="1"/>
            <a:r>
              <a:t>正文级别 2</a:t>
            </a:r>
          </a:p>
          <a:p>
            <a:pPr lvl="2"/>
            <a:r>
              <a:t>正文级别 3</a:t>
            </a:r>
          </a:p>
          <a:p>
            <a:pPr lvl="3"/>
            <a:r>
              <a:t>正文级别 4</a:t>
            </a:r>
          </a:p>
          <a:p>
            <a:pPr lvl="4"/>
            <a:r>
              <a:t>正文级别 5</a:t>
            </a:r>
          </a:p>
        </p:txBody>
      </p:sp>
      <p:sp>
        <p:nvSpPr>
          <p:cNvPr id="33" name="Shape 33"/>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0D9D33C-B327-4894-89B8-72FB1DF1925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6281333" y="6217851"/>
            <a:ext cx="271867" cy="276999"/>
          </a:xfrm>
        </p:spPr>
        <p:txBody>
          <a:bodyPr/>
          <a:lstStyle/>
          <a:p>
            <a:fld id="{5DB8C4E1-1101-49FE-8445-4AC8B662CE33}" type="slidenum">
              <a:rPr lang="zh-CN" altLang="en-US" smtClean="0"/>
            </a:fld>
            <a:endParaRPr lang="zh-CN" altLang="en-US"/>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Off val="44000"/>
          </a:schemeClr>
        </a:solidFill>
        <a:effectLst/>
      </p:bgPr>
    </p:bg>
    <p:spTree>
      <p:nvGrpSpPr>
        <p:cNvPr id="1" name=""/>
        <p:cNvGrpSpPr/>
        <p:nvPr/>
      </p:nvGrpSpPr>
      <p:grpSpPr>
        <a:xfrm>
          <a:off x="0" y="0"/>
          <a:ext cx="0" cy="0"/>
          <a:chOff x="0" y="0"/>
          <a:chExt cx="0" cy="0"/>
        </a:xfrm>
      </p:grpSpPr>
      <p:sp>
        <p:nvSpPr>
          <p:cNvPr id="2" name="Shape 2"/>
          <p:cNvSpPr/>
          <p:nvPr/>
        </p:nvSpPr>
        <p:spPr>
          <a:xfrm>
            <a:off x="0" y="1125537"/>
            <a:ext cx="2133600" cy="101601"/>
          </a:xfrm>
          <a:prstGeom prst="rect">
            <a:avLst/>
          </a:prstGeom>
          <a:solidFill>
            <a:schemeClr val="accent2"/>
          </a:solidFill>
          <a:ln w="12700">
            <a:miter lim="400000"/>
          </a:ln>
        </p:spPr>
        <p:txBody>
          <a:bodyPr lIns="45719" rIns="45719" anchor="ctr"/>
          <a:lstStyle/>
          <a:p>
            <a:pPr>
              <a:defRPr sz="2400">
                <a:latin typeface="Times New Roman" panose="02020603050405020304"/>
                <a:ea typeface="Times New Roman" panose="02020603050405020304"/>
                <a:cs typeface="Times New Roman" panose="02020603050405020304"/>
                <a:sym typeface="Times New Roman" panose="02020603050405020304"/>
              </a:defRPr>
            </a:pPr>
          </a:p>
        </p:txBody>
      </p:sp>
      <p:sp>
        <p:nvSpPr>
          <p:cNvPr id="3" name="Shape 3"/>
          <p:cNvSpPr/>
          <p:nvPr/>
        </p:nvSpPr>
        <p:spPr>
          <a:xfrm>
            <a:off x="1447800" y="1125537"/>
            <a:ext cx="7239000" cy="101601"/>
          </a:xfrm>
          <a:prstGeom prst="rect">
            <a:avLst/>
          </a:prstGeom>
          <a:gradFill>
            <a:gsLst>
              <a:gs pos="0">
                <a:schemeClr val="accent2"/>
              </a:gs>
              <a:gs pos="100000">
                <a:schemeClr val="accent3">
                  <a:lumOff val="44000"/>
                </a:schemeClr>
              </a:gs>
            </a:gsLst>
          </a:gradFill>
          <a:ln w="12700">
            <a:miter lim="400000"/>
          </a:ln>
        </p:spPr>
        <p:txBody>
          <a:bodyPr lIns="45719" rIns="45719" anchor="ctr"/>
          <a:lstStyle/>
          <a:p>
            <a:pPr>
              <a:defRPr sz="2400">
                <a:latin typeface="Times New Roman" panose="02020603050405020304"/>
                <a:ea typeface="Times New Roman" panose="02020603050405020304"/>
                <a:cs typeface="Times New Roman" panose="02020603050405020304"/>
                <a:sym typeface="Times New Roman" panose="02020603050405020304"/>
              </a:defRPr>
            </a:pPr>
          </a:p>
        </p:txBody>
      </p:sp>
      <p:pic>
        <p:nvPicPr>
          <p:cNvPr id="4" name="image1.jpg" descr="tower"/>
          <p:cNvPicPr>
            <a:picLocks noChangeAspect="1"/>
          </p:cNvPicPr>
          <p:nvPr/>
        </p:nvPicPr>
        <p:blipFill>
          <a:blip r:embed="rId4"/>
          <a:stretch>
            <a:fillRect/>
          </a:stretch>
        </p:blipFill>
        <p:spPr>
          <a:xfrm>
            <a:off x="7117778" y="101377"/>
            <a:ext cx="1990726" cy="1095376"/>
          </a:xfrm>
          <a:prstGeom prst="rect">
            <a:avLst/>
          </a:prstGeom>
          <a:ln w="12700">
            <a:miter lim="400000"/>
            <a:headEnd/>
            <a:tailEnd/>
          </a:ln>
        </p:spPr>
      </p:pic>
      <p:pic>
        <p:nvPicPr>
          <p:cNvPr id="5" name="image2.png"/>
          <p:cNvPicPr>
            <a:picLocks noChangeAspect="1"/>
          </p:cNvPicPr>
          <p:nvPr/>
        </p:nvPicPr>
        <p:blipFill>
          <a:blip r:embed="rId5"/>
          <a:stretch>
            <a:fillRect/>
          </a:stretch>
        </p:blipFill>
        <p:spPr>
          <a:xfrm>
            <a:off x="-5500" y="6424760"/>
            <a:ext cx="9117013" cy="28576"/>
          </a:xfrm>
          <a:prstGeom prst="rect">
            <a:avLst/>
          </a:prstGeom>
          <a:ln w="12700">
            <a:miter lim="400000"/>
            <a:headEnd/>
            <a:tailEnd/>
          </a:ln>
        </p:spPr>
      </p:pic>
      <p:pic>
        <p:nvPicPr>
          <p:cNvPr id="6" name="image3.png" descr="校徽"/>
          <p:cNvPicPr>
            <a:picLocks noChangeAspect="1"/>
          </p:cNvPicPr>
          <p:nvPr/>
        </p:nvPicPr>
        <p:blipFill>
          <a:blip r:embed="rId6"/>
          <a:stretch>
            <a:fillRect/>
          </a:stretch>
        </p:blipFill>
        <p:spPr>
          <a:xfrm>
            <a:off x="90414" y="261938"/>
            <a:ext cx="665163" cy="790576"/>
          </a:xfrm>
          <a:prstGeom prst="rect">
            <a:avLst/>
          </a:prstGeom>
          <a:ln w="12700">
            <a:miter lim="400000"/>
            <a:headEnd/>
            <a:tailEnd/>
          </a:ln>
        </p:spPr>
      </p:pic>
      <p:sp>
        <p:nvSpPr>
          <p:cNvPr id="7" name="Shape 7"/>
          <p:cNvSpPr>
            <a:spLocks noGrp="1"/>
          </p:cNvSpPr>
          <p:nvPr>
            <p:ph type="title"/>
          </p:nvPr>
        </p:nvSpPr>
        <p:spPr>
          <a:xfrm>
            <a:off x="755576" y="404664"/>
            <a:ext cx="7357565" cy="576263"/>
          </a:xfrm>
          <a:prstGeom prst="rect">
            <a:avLst/>
          </a:prstGeom>
          <a:ln w="12700">
            <a:miter lim="400000"/>
          </a:ln>
        </p:spPr>
        <p:txBody>
          <a:bodyPr lIns="45719" rIns="45719" anchor="b">
            <a:normAutofit/>
          </a:bodyPr>
          <a:lstStyle/>
          <a:p>
            <a:r>
              <a:t>标题文本</a:t>
            </a:r>
          </a:p>
        </p:txBody>
      </p:sp>
      <p:sp>
        <p:nvSpPr>
          <p:cNvPr id="8" name="Shape 8"/>
          <p:cNvSpPr>
            <a:spLocks noGrp="1"/>
          </p:cNvSpPr>
          <p:nvPr>
            <p:ph type="body" idx="1"/>
          </p:nvPr>
        </p:nvSpPr>
        <p:spPr>
          <a:xfrm>
            <a:off x="179511" y="1340767"/>
            <a:ext cx="8856986" cy="4968554"/>
          </a:xfrm>
          <a:prstGeom prst="rect">
            <a:avLst/>
          </a:prstGeom>
          <a:ln w="12700">
            <a:miter lim="400000"/>
          </a:ln>
        </p:spPr>
        <p:txBody>
          <a:bodyPr lIns="45719" rIns="45719">
            <a:normAutofit/>
          </a:bodyPr>
          <a:lstStyle/>
          <a:p>
            <a:r>
              <a:t>正文级别 1</a:t>
            </a:r>
          </a:p>
          <a:p>
            <a:pPr lvl="1"/>
            <a:r>
              <a:t>正文级别 2</a:t>
            </a:r>
          </a:p>
          <a:p>
            <a:pPr lvl="2"/>
            <a:r>
              <a:t>正文级别 3</a:t>
            </a:r>
          </a:p>
          <a:p>
            <a:pPr lvl="3"/>
            <a:r>
              <a:t>正文级别 4</a:t>
            </a:r>
          </a:p>
          <a:p>
            <a:pPr lvl="4"/>
            <a:r>
              <a:t>正文级别 5</a:t>
            </a:r>
          </a:p>
        </p:txBody>
      </p:sp>
      <p:sp>
        <p:nvSpPr>
          <p:cNvPr id="9" name="Shape 9"/>
          <p:cNvSpPr>
            <a:spLocks noGrp="1"/>
          </p:cNvSpPr>
          <p:nvPr>
            <p:ph type="sldNum" sz="quarter" idx="2"/>
          </p:nvPr>
        </p:nvSpPr>
        <p:spPr>
          <a:xfrm>
            <a:off x="4419600" y="6172200"/>
            <a:ext cx="2133600" cy="368301"/>
          </a:xfrm>
          <a:prstGeom prst="rect">
            <a:avLst/>
          </a:prstGeom>
          <a:ln w="12700">
            <a:miter lim="400000"/>
          </a:ln>
        </p:spPr>
        <p:txBody>
          <a:bodyPr wrap="none" lIns="45719" rIns="45719" anchor="ctr">
            <a:spAutoFit/>
          </a:bodyPr>
          <a:lstStyle>
            <a:lvl1pPr algn="r">
              <a:defRPr sz="1200">
                <a:latin typeface="Times New Roman" panose="02020603050405020304"/>
                <a:ea typeface="Times New Roman" panose="02020603050405020304"/>
                <a:cs typeface="Times New Roman" panose="02020603050405020304"/>
                <a:sym typeface="Times New Roman" panose="02020603050405020304"/>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p:txStyles>
    <p:titleStyle>
      <a:lvl1pPr marL="0" marR="0" indent="0" algn="ctr" defTabSz="914400" rtl="0" latinLnBrk="0">
        <a:lnSpc>
          <a:spcPct val="100000"/>
        </a:lnSpc>
        <a:spcBef>
          <a:spcPts val="0"/>
        </a:spcBef>
        <a:spcAft>
          <a:spcPts val="0"/>
        </a:spcAft>
        <a:buClrTx/>
        <a:buSzTx/>
        <a:buFontTx/>
        <a:buNone/>
        <a:defRPr sz="3200" b="0" i="0" u="none" strike="noStrike" cap="none" spc="0" baseline="0">
          <a:ln>
            <a:noFill/>
          </a:ln>
          <a:solidFill>
            <a:srgbClr val="0000CC"/>
          </a:solidFill>
          <a:effectLst>
            <a:outerShdw blurRad="38100" dist="38100" dir="2700000" rotWithShape="0">
              <a:srgbClr val="000000">
                <a:alpha val="43137"/>
              </a:srgbClr>
            </a:outerShdw>
          </a:effectLst>
          <a:uFillTx/>
          <a:latin typeface="STXinwei"/>
          <a:ea typeface="STXinwei"/>
          <a:cs typeface="STXinwei"/>
          <a:sym typeface="STXinwei"/>
        </a:defRPr>
      </a:lvl1pPr>
      <a:lvl2pPr marL="0" marR="0" indent="0" algn="ctr" defTabSz="914400" rtl="0" latinLnBrk="0">
        <a:lnSpc>
          <a:spcPct val="100000"/>
        </a:lnSpc>
        <a:spcBef>
          <a:spcPts val="0"/>
        </a:spcBef>
        <a:spcAft>
          <a:spcPts val="0"/>
        </a:spcAft>
        <a:buClrTx/>
        <a:buSzTx/>
        <a:buFontTx/>
        <a:buNone/>
        <a:defRPr sz="3200" b="0" i="0" u="none" strike="noStrike" cap="none" spc="0" baseline="0">
          <a:ln>
            <a:noFill/>
          </a:ln>
          <a:solidFill>
            <a:srgbClr val="0000CC"/>
          </a:solidFill>
          <a:effectLst>
            <a:outerShdw blurRad="38100" dist="38100" dir="2700000" rotWithShape="0">
              <a:srgbClr val="000000">
                <a:alpha val="43137"/>
              </a:srgbClr>
            </a:outerShdw>
          </a:effectLst>
          <a:uFillTx/>
          <a:latin typeface="STXinwei"/>
          <a:ea typeface="STXinwei"/>
          <a:cs typeface="STXinwei"/>
          <a:sym typeface="STXinwei"/>
        </a:defRPr>
      </a:lvl2pPr>
      <a:lvl3pPr marL="0" marR="0" indent="0" algn="ctr" defTabSz="914400" rtl="0" latinLnBrk="0">
        <a:lnSpc>
          <a:spcPct val="100000"/>
        </a:lnSpc>
        <a:spcBef>
          <a:spcPts val="0"/>
        </a:spcBef>
        <a:spcAft>
          <a:spcPts val="0"/>
        </a:spcAft>
        <a:buClrTx/>
        <a:buSzTx/>
        <a:buFontTx/>
        <a:buNone/>
        <a:defRPr sz="3200" b="0" i="0" u="none" strike="noStrike" cap="none" spc="0" baseline="0">
          <a:ln>
            <a:noFill/>
          </a:ln>
          <a:solidFill>
            <a:srgbClr val="0000CC"/>
          </a:solidFill>
          <a:effectLst>
            <a:outerShdw blurRad="38100" dist="38100" dir="2700000" rotWithShape="0">
              <a:srgbClr val="000000">
                <a:alpha val="43137"/>
              </a:srgbClr>
            </a:outerShdw>
          </a:effectLst>
          <a:uFillTx/>
          <a:latin typeface="STXinwei"/>
          <a:ea typeface="STXinwei"/>
          <a:cs typeface="STXinwei"/>
          <a:sym typeface="STXinwei"/>
        </a:defRPr>
      </a:lvl3pPr>
      <a:lvl4pPr marL="0" marR="0" indent="0" algn="ctr" defTabSz="914400" rtl="0" latinLnBrk="0">
        <a:lnSpc>
          <a:spcPct val="100000"/>
        </a:lnSpc>
        <a:spcBef>
          <a:spcPts val="0"/>
        </a:spcBef>
        <a:spcAft>
          <a:spcPts val="0"/>
        </a:spcAft>
        <a:buClrTx/>
        <a:buSzTx/>
        <a:buFontTx/>
        <a:buNone/>
        <a:defRPr sz="3200" b="0" i="0" u="none" strike="noStrike" cap="none" spc="0" baseline="0">
          <a:ln>
            <a:noFill/>
          </a:ln>
          <a:solidFill>
            <a:srgbClr val="0000CC"/>
          </a:solidFill>
          <a:effectLst>
            <a:outerShdw blurRad="38100" dist="38100" dir="2700000" rotWithShape="0">
              <a:srgbClr val="000000">
                <a:alpha val="43137"/>
              </a:srgbClr>
            </a:outerShdw>
          </a:effectLst>
          <a:uFillTx/>
          <a:latin typeface="STXinwei"/>
          <a:ea typeface="STXinwei"/>
          <a:cs typeface="STXinwei"/>
          <a:sym typeface="STXinwei"/>
        </a:defRPr>
      </a:lvl4pPr>
      <a:lvl5pPr marL="0" marR="0" indent="0" algn="ctr" defTabSz="914400" rtl="0" latinLnBrk="0">
        <a:lnSpc>
          <a:spcPct val="100000"/>
        </a:lnSpc>
        <a:spcBef>
          <a:spcPts val="0"/>
        </a:spcBef>
        <a:spcAft>
          <a:spcPts val="0"/>
        </a:spcAft>
        <a:buClrTx/>
        <a:buSzTx/>
        <a:buFontTx/>
        <a:buNone/>
        <a:defRPr sz="3200" b="0" i="0" u="none" strike="noStrike" cap="none" spc="0" baseline="0">
          <a:ln>
            <a:noFill/>
          </a:ln>
          <a:solidFill>
            <a:srgbClr val="0000CC"/>
          </a:solidFill>
          <a:effectLst>
            <a:outerShdw blurRad="38100" dist="38100" dir="2700000" rotWithShape="0">
              <a:srgbClr val="000000">
                <a:alpha val="43137"/>
              </a:srgbClr>
            </a:outerShdw>
          </a:effectLst>
          <a:uFillTx/>
          <a:latin typeface="STXinwei"/>
          <a:ea typeface="STXinwei"/>
          <a:cs typeface="STXinwei"/>
          <a:sym typeface="STXinwei"/>
        </a:defRPr>
      </a:lvl5pPr>
      <a:lvl6pPr marL="0" marR="0" indent="457200" algn="ctr" defTabSz="914400" rtl="0" latinLnBrk="0">
        <a:lnSpc>
          <a:spcPct val="100000"/>
        </a:lnSpc>
        <a:spcBef>
          <a:spcPts val="0"/>
        </a:spcBef>
        <a:spcAft>
          <a:spcPts val="0"/>
        </a:spcAft>
        <a:buClrTx/>
        <a:buSzTx/>
        <a:buFontTx/>
        <a:buNone/>
        <a:defRPr sz="3200" b="0" i="0" u="none" strike="noStrike" cap="none" spc="0" baseline="0">
          <a:ln>
            <a:noFill/>
          </a:ln>
          <a:solidFill>
            <a:srgbClr val="0000CC"/>
          </a:solidFill>
          <a:effectLst>
            <a:outerShdw blurRad="38100" dist="38100" dir="2700000" rotWithShape="0">
              <a:srgbClr val="000000">
                <a:alpha val="43137"/>
              </a:srgbClr>
            </a:outerShdw>
          </a:effectLst>
          <a:uFillTx/>
          <a:latin typeface="STXinwei"/>
          <a:ea typeface="STXinwei"/>
          <a:cs typeface="STXinwei"/>
          <a:sym typeface="STXinwei"/>
        </a:defRPr>
      </a:lvl6pPr>
      <a:lvl7pPr marL="0" marR="0" indent="914400" algn="ctr" defTabSz="914400" rtl="0" latinLnBrk="0">
        <a:lnSpc>
          <a:spcPct val="100000"/>
        </a:lnSpc>
        <a:spcBef>
          <a:spcPts val="0"/>
        </a:spcBef>
        <a:spcAft>
          <a:spcPts val="0"/>
        </a:spcAft>
        <a:buClrTx/>
        <a:buSzTx/>
        <a:buFontTx/>
        <a:buNone/>
        <a:defRPr sz="3200" b="0" i="0" u="none" strike="noStrike" cap="none" spc="0" baseline="0">
          <a:ln>
            <a:noFill/>
          </a:ln>
          <a:solidFill>
            <a:srgbClr val="0000CC"/>
          </a:solidFill>
          <a:effectLst>
            <a:outerShdw blurRad="38100" dist="38100" dir="2700000" rotWithShape="0">
              <a:srgbClr val="000000">
                <a:alpha val="43137"/>
              </a:srgbClr>
            </a:outerShdw>
          </a:effectLst>
          <a:uFillTx/>
          <a:latin typeface="STXinwei"/>
          <a:ea typeface="STXinwei"/>
          <a:cs typeface="STXinwei"/>
          <a:sym typeface="STXinwei"/>
        </a:defRPr>
      </a:lvl7pPr>
      <a:lvl8pPr marL="0" marR="0" indent="1371600" algn="ctr" defTabSz="914400" rtl="0" latinLnBrk="0">
        <a:lnSpc>
          <a:spcPct val="100000"/>
        </a:lnSpc>
        <a:spcBef>
          <a:spcPts val="0"/>
        </a:spcBef>
        <a:spcAft>
          <a:spcPts val="0"/>
        </a:spcAft>
        <a:buClrTx/>
        <a:buSzTx/>
        <a:buFontTx/>
        <a:buNone/>
        <a:defRPr sz="3200" b="0" i="0" u="none" strike="noStrike" cap="none" spc="0" baseline="0">
          <a:ln>
            <a:noFill/>
          </a:ln>
          <a:solidFill>
            <a:srgbClr val="0000CC"/>
          </a:solidFill>
          <a:effectLst>
            <a:outerShdw blurRad="38100" dist="38100" dir="2700000" rotWithShape="0">
              <a:srgbClr val="000000">
                <a:alpha val="43137"/>
              </a:srgbClr>
            </a:outerShdw>
          </a:effectLst>
          <a:uFillTx/>
          <a:latin typeface="STXinwei"/>
          <a:ea typeface="STXinwei"/>
          <a:cs typeface="STXinwei"/>
          <a:sym typeface="STXinwei"/>
        </a:defRPr>
      </a:lvl8pPr>
      <a:lvl9pPr marL="0" marR="0" indent="1828800" algn="ctr" defTabSz="914400" rtl="0" latinLnBrk="0">
        <a:lnSpc>
          <a:spcPct val="100000"/>
        </a:lnSpc>
        <a:spcBef>
          <a:spcPts val="0"/>
        </a:spcBef>
        <a:spcAft>
          <a:spcPts val="0"/>
        </a:spcAft>
        <a:buClrTx/>
        <a:buSzTx/>
        <a:buFontTx/>
        <a:buNone/>
        <a:defRPr sz="3200" b="0" i="0" u="none" strike="noStrike" cap="none" spc="0" baseline="0">
          <a:ln>
            <a:noFill/>
          </a:ln>
          <a:solidFill>
            <a:srgbClr val="0000CC"/>
          </a:solidFill>
          <a:effectLst>
            <a:outerShdw blurRad="38100" dist="38100" dir="2700000" rotWithShape="0">
              <a:srgbClr val="000000">
                <a:alpha val="43137"/>
              </a:srgbClr>
            </a:outerShdw>
          </a:effectLst>
          <a:uFillTx/>
          <a:latin typeface="STXinwei"/>
          <a:ea typeface="STXinwei"/>
          <a:cs typeface="STXinwei"/>
          <a:sym typeface="STXinwei"/>
        </a:defRPr>
      </a:lvl9pPr>
    </p:titleStyle>
    <p:bodyStyle>
      <a:lvl1pPr marL="447675" marR="0" indent="-447675" algn="l" defTabSz="914400" rtl="0" latinLnBrk="0">
        <a:lnSpc>
          <a:spcPct val="100000"/>
        </a:lnSpc>
        <a:spcBef>
          <a:spcPts val="300"/>
        </a:spcBef>
        <a:spcAft>
          <a:spcPts val="0"/>
        </a:spcAft>
        <a:buClr>
          <a:srgbClr val="CC6600"/>
        </a:buClr>
        <a:buSzPct val="70000"/>
        <a:buFont typeface="Wingdings" panose="05000000000000000000"/>
        <a:buChar char="■"/>
        <a:defRPr sz="2800" b="1" i="0" u="none" strike="noStrike" cap="none" spc="0" baseline="0">
          <a:ln>
            <a:noFill/>
          </a:ln>
          <a:solidFill>
            <a:srgbClr val="292929"/>
          </a:solidFill>
          <a:uFillTx/>
          <a:latin typeface="Times New Roman" panose="02020603050405020304"/>
          <a:ea typeface="Times New Roman" panose="02020603050405020304"/>
          <a:cs typeface="Times New Roman" panose="02020603050405020304"/>
          <a:sym typeface="Times New Roman" panose="02020603050405020304"/>
        </a:defRPr>
      </a:lvl1pPr>
      <a:lvl2pPr marL="962025" marR="0" indent="-513080" algn="l" defTabSz="914400" rtl="0" latinLnBrk="0">
        <a:lnSpc>
          <a:spcPct val="100000"/>
        </a:lnSpc>
        <a:spcBef>
          <a:spcPts val="300"/>
        </a:spcBef>
        <a:spcAft>
          <a:spcPts val="0"/>
        </a:spcAft>
        <a:buClr>
          <a:srgbClr val="CC6600"/>
        </a:buClr>
        <a:buSzPct val="65000"/>
        <a:buFont typeface="Wingdings" panose="05000000000000000000"/>
        <a:buChar char="○"/>
        <a:defRPr sz="2800" b="1" i="0" u="none" strike="noStrike" cap="none" spc="0" baseline="0">
          <a:ln>
            <a:noFill/>
          </a:ln>
          <a:solidFill>
            <a:srgbClr val="292929"/>
          </a:solidFill>
          <a:uFillTx/>
          <a:latin typeface="Times New Roman" panose="02020603050405020304"/>
          <a:ea typeface="Times New Roman" panose="02020603050405020304"/>
          <a:cs typeface="Times New Roman" panose="02020603050405020304"/>
          <a:sym typeface="Times New Roman" panose="02020603050405020304"/>
        </a:defRPr>
      </a:lvl2pPr>
      <a:lvl3pPr marL="1455420" marR="0" indent="-564515" algn="l" defTabSz="914400" rtl="0" latinLnBrk="0">
        <a:lnSpc>
          <a:spcPct val="100000"/>
        </a:lnSpc>
        <a:spcBef>
          <a:spcPts val="300"/>
        </a:spcBef>
        <a:spcAft>
          <a:spcPts val="0"/>
        </a:spcAft>
        <a:buClr>
          <a:srgbClr val="CC6600"/>
        </a:buClr>
        <a:buSzPct val="70000"/>
        <a:buFont typeface="Wingdings" panose="05000000000000000000"/>
        <a:buChar char="■"/>
        <a:defRPr sz="2800" b="1" i="0" u="none" strike="noStrike" cap="none" spc="0" baseline="0">
          <a:ln>
            <a:noFill/>
          </a:ln>
          <a:solidFill>
            <a:srgbClr val="292929"/>
          </a:solidFill>
          <a:uFillTx/>
          <a:latin typeface="Times New Roman" panose="02020603050405020304"/>
          <a:ea typeface="Times New Roman" panose="02020603050405020304"/>
          <a:cs typeface="Times New Roman" panose="02020603050405020304"/>
          <a:sym typeface="Times New Roman" panose="02020603050405020304"/>
        </a:defRPr>
      </a:lvl3pPr>
      <a:lvl4pPr marL="1835785" marR="0" indent="-540385" algn="l" defTabSz="914400" rtl="0" latinLnBrk="0">
        <a:lnSpc>
          <a:spcPct val="100000"/>
        </a:lnSpc>
        <a:spcBef>
          <a:spcPts val="300"/>
        </a:spcBef>
        <a:spcAft>
          <a:spcPts val="0"/>
        </a:spcAft>
        <a:buClr>
          <a:srgbClr val="CC6600"/>
        </a:buClr>
        <a:buSzPct val="75000"/>
        <a:buFont typeface="Wingdings" panose="05000000000000000000"/>
        <a:buChar char="○"/>
        <a:defRPr sz="2800" b="1" i="0" u="none" strike="noStrike" cap="none" spc="0" baseline="0">
          <a:ln>
            <a:noFill/>
          </a:ln>
          <a:solidFill>
            <a:srgbClr val="292929"/>
          </a:solidFill>
          <a:uFillTx/>
          <a:latin typeface="Times New Roman" panose="02020603050405020304"/>
          <a:ea typeface="Times New Roman" panose="02020603050405020304"/>
          <a:cs typeface="Times New Roman" panose="02020603050405020304"/>
          <a:sym typeface="Times New Roman" panose="02020603050405020304"/>
        </a:defRPr>
      </a:lvl4pPr>
      <a:lvl5pPr marL="2360295" marR="0" indent="-677545" algn="l" defTabSz="914400" rtl="0" latinLnBrk="0">
        <a:lnSpc>
          <a:spcPct val="100000"/>
        </a:lnSpc>
        <a:spcBef>
          <a:spcPts val="300"/>
        </a:spcBef>
        <a:spcAft>
          <a:spcPts val="0"/>
        </a:spcAft>
        <a:buClr>
          <a:srgbClr val="CC6600"/>
        </a:buClr>
        <a:buSzPct val="70000"/>
        <a:buFont typeface="Wingdings" panose="05000000000000000000"/>
        <a:buChar char="■"/>
        <a:defRPr sz="2800" b="1" i="0" u="none" strike="noStrike" cap="none" spc="0" baseline="0">
          <a:ln>
            <a:noFill/>
          </a:ln>
          <a:solidFill>
            <a:srgbClr val="292929"/>
          </a:solidFill>
          <a:uFillTx/>
          <a:latin typeface="Times New Roman" panose="02020603050405020304"/>
          <a:ea typeface="Times New Roman" panose="02020603050405020304"/>
          <a:cs typeface="Times New Roman" panose="02020603050405020304"/>
          <a:sym typeface="Times New Roman" panose="02020603050405020304"/>
        </a:defRPr>
      </a:lvl5pPr>
      <a:lvl6pPr marL="2817495" marR="0" indent="-677545" algn="l" defTabSz="914400" rtl="0" latinLnBrk="0">
        <a:lnSpc>
          <a:spcPct val="100000"/>
        </a:lnSpc>
        <a:spcBef>
          <a:spcPts val="300"/>
        </a:spcBef>
        <a:spcAft>
          <a:spcPts val="0"/>
        </a:spcAft>
        <a:buClr>
          <a:srgbClr val="CC6600"/>
        </a:buClr>
        <a:buSzPct val="70000"/>
        <a:buFont typeface="Wingdings" panose="05000000000000000000"/>
        <a:buChar char="■"/>
        <a:defRPr sz="2800" b="1" i="0" u="none" strike="noStrike" cap="none" spc="0" baseline="0">
          <a:ln>
            <a:noFill/>
          </a:ln>
          <a:solidFill>
            <a:srgbClr val="292929"/>
          </a:solidFill>
          <a:uFillTx/>
          <a:latin typeface="Times New Roman" panose="02020603050405020304"/>
          <a:ea typeface="Times New Roman" panose="02020603050405020304"/>
          <a:cs typeface="Times New Roman" panose="02020603050405020304"/>
          <a:sym typeface="Times New Roman" panose="02020603050405020304"/>
        </a:defRPr>
      </a:lvl6pPr>
      <a:lvl7pPr marL="3274695" marR="0" indent="-677545" algn="l" defTabSz="914400" rtl="0" latinLnBrk="0">
        <a:lnSpc>
          <a:spcPct val="100000"/>
        </a:lnSpc>
        <a:spcBef>
          <a:spcPts val="300"/>
        </a:spcBef>
        <a:spcAft>
          <a:spcPts val="0"/>
        </a:spcAft>
        <a:buClr>
          <a:srgbClr val="CC6600"/>
        </a:buClr>
        <a:buSzPct val="70000"/>
        <a:buFont typeface="Wingdings" panose="05000000000000000000"/>
        <a:buChar char="■"/>
        <a:defRPr sz="2800" b="1" i="0" u="none" strike="noStrike" cap="none" spc="0" baseline="0">
          <a:ln>
            <a:noFill/>
          </a:ln>
          <a:solidFill>
            <a:srgbClr val="292929"/>
          </a:solidFill>
          <a:uFillTx/>
          <a:latin typeface="Times New Roman" panose="02020603050405020304"/>
          <a:ea typeface="Times New Roman" panose="02020603050405020304"/>
          <a:cs typeface="Times New Roman" panose="02020603050405020304"/>
          <a:sym typeface="Times New Roman" panose="02020603050405020304"/>
        </a:defRPr>
      </a:lvl7pPr>
      <a:lvl8pPr marL="3731895" marR="0" indent="-677545" algn="l" defTabSz="914400" rtl="0" latinLnBrk="0">
        <a:lnSpc>
          <a:spcPct val="100000"/>
        </a:lnSpc>
        <a:spcBef>
          <a:spcPts val="300"/>
        </a:spcBef>
        <a:spcAft>
          <a:spcPts val="0"/>
        </a:spcAft>
        <a:buClr>
          <a:srgbClr val="CC6600"/>
        </a:buClr>
        <a:buSzPct val="70000"/>
        <a:buFont typeface="Wingdings" panose="05000000000000000000"/>
        <a:buChar char="■"/>
        <a:defRPr sz="2800" b="1" i="0" u="none" strike="noStrike" cap="none" spc="0" baseline="0">
          <a:ln>
            <a:noFill/>
          </a:ln>
          <a:solidFill>
            <a:srgbClr val="292929"/>
          </a:solidFill>
          <a:uFillTx/>
          <a:latin typeface="Times New Roman" panose="02020603050405020304"/>
          <a:ea typeface="Times New Roman" panose="02020603050405020304"/>
          <a:cs typeface="Times New Roman" panose="02020603050405020304"/>
          <a:sym typeface="Times New Roman" panose="02020603050405020304"/>
        </a:defRPr>
      </a:lvl8pPr>
      <a:lvl9pPr marL="4189095" marR="0" indent="-677545" algn="l" defTabSz="914400" rtl="0" latinLnBrk="0">
        <a:lnSpc>
          <a:spcPct val="100000"/>
        </a:lnSpc>
        <a:spcBef>
          <a:spcPts val="300"/>
        </a:spcBef>
        <a:spcAft>
          <a:spcPts val="0"/>
        </a:spcAft>
        <a:buClr>
          <a:srgbClr val="CC6600"/>
        </a:buClr>
        <a:buSzPct val="70000"/>
        <a:buFont typeface="Wingdings" panose="05000000000000000000"/>
        <a:buChar char="■"/>
        <a:defRPr sz="2800" b="1" i="0" u="none" strike="noStrike" cap="none" spc="0" baseline="0">
          <a:ln>
            <a:noFill/>
          </a:ln>
          <a:solidFill>
            <a:srgbClr val="292929"/>
          </a:solidFill>
          <a:uFillTx/>
          <a:latin typeface="Times New Roman" panose="02020603050405020304"/>
          <a:ea typeface="Times New Roman" panose="02020603050405020304"/>
          <a:cs typeface="Times New Roman" panose="02020603050405020304"/>
          <a:sym typeface="Times New Roman" panose="02020603050405020304"/>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Times New Roman" panose="020206030504050203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Times New Roman" panose="020206030504050203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Times New Roman" panose="020206030504050203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Times New Roman" panose="020206030504050203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Times New Roman" panose="020206030504050203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Times New Roman" panose="020206030504050203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Times New Roman" panose="020206030504050203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Times New Roman" panose="020206030504050203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ln>
            <a:noFill/>
          </a:ln>
          <a:solidFill>
            <a:schemeClr val="tx1"/>
          </a:solidFill>
          <a:uFillTx/>
          <a:latin typeface="+mn-lt"/>
          <a:ea typeface="+mn-ea"/>
          <a:cs typeface="+mn-cs"/>
          <a:sym typeface="Times New Roman" panose="020206030504050203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jpe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Shape 42"/>
          <p:cNvSpPr>
            <a:spLocks noGrp="1"/>
          </p:cNvSpPr>
          <p:nvPr>
            <p:ph type="title"/>
          </p:nvPr>
        </p:nvSpPr>
        <p:spPr>
          <a:xfrm>
            <a:off x="395287" y="2420888"/>
            <a:ext cx="8641210" cy="1152129"/>
          </a:xfrm>
          <a:prstGeom prst="rect">
            <a:avLst/>
          </a:prstGeom>
        </p:spPr>
        <p:txBody>
          <a:bodyPr>
            <a:normAutofit fontScale="90000"/>
          </a:bodyPr>
          <a:lstStyle>
            <a:lvl1pPr>
              <a:defRPr sz="4800" b="0">
                <a:latin typeface="STXinwei"/>
                <a:ea typeface="STXinwei"/>
                <a:cs typeface="STXinwei"/>
                <a:sym typeface="STXinwei"/>
              </a:defRPr>
            </a:lvl1pPr>
          </a:lstStyle>
          <a:p>
            <a:pPr>
              <a:defRPr b="1">
                <a:latin typeface="Times New Roman" panose="02020603050405020304"/>
                <a:ea typeface="Times New Roman" panose="02020603050405020304"/>
                <a:cs typeface="Times New Roman" panose="02020603050405020304"/>
                <a:sym typeface="Times New Roman" panose="02020603050405020304"/>
              </a:defRPr>
            </a:pPr>
            <a:r>
              <a:rPr lang="zh-CN" altLang="en-US" dirty="0"/>
              <a:t>软件评审与审计</a:t>
            </a:r>
            <a:br>
              <a:rPr lang="en-US" altLang="zh-CN" dirty="0"/>
            </a:br>
            <a:r>
              <a:rPr lang="en-US" altLang="zh-CN" dirty="0"/>
              <a:t>Peer</a:t>
            </a:r>
            <a:r>
              <a:rPr lang="zh-CN" altLang="en-US" dirty="0"/>
              <a:t> </a:t>
            </a:r>
            <a:r>
              <a:rPr lang="en-US" altLang="zh-CN" dirty="0"/>
              <a:t>Review</a:t>
            </a:r>
            <a:endParaRPr dirty="0">
              <a:latin typeface="STXinwei"/>
              <a:ea typeface="STXinwei"/>
              <a:cs typeface="STXinwei"/>
              <a:sym typeface="STXinwei"/>
            </a:endParaRPr>
          </a:p>
        </p:txBody>
      </p:sp>
      <p:sp>
        <p:nvSpPr>
          <p:cNvPr id="44" name="Shape 44"/>
          <p:cNvSpPr>
            <a:spLocks noGrp="1"/>
          </p:cNvSpPr>
          <p:nvPr>
            <p:ph type="sldNum" sz="quarter" idx="4294967295"/>
          </p:nvPr>
        </p:nvSpPr>
        <p:spPr>
          <a:xfrm>
            <a:off x="8716797" y="6428183"/>
            <a:ext cx="218441" cy="348430"/>
          </a:xfrm>
          <a:prstGeom prst="rect">
            <a:avLst/>
          </a:prstGeom>
        </p:spPr>
        <p:txBody>
          <a:bodyPr anchor="t"/>
          <a:lstStyle>
            <a:lvl1pPr algn="ctr">
              <a:defRPr sz="1800"/>
            </a:lvl1pPr>
          </a:lstStyle>
          <a:p>
            <a:fld id="{86CB4B4D-7CA3-9044-876B-883B54F8677D}" type="slidenum">
              <a:rPr/>
            </a:fld>
            <a:endParaRP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hape 46"/>
          <p:cNvSpPr>
            <a:spLocks noGrp="1"/>
          </p:cNvSpPr>
          <p:nvPr>
            <p:ph type="title"/>
          </p:nvPr>
        </p:nvSpPr>
        <p:spPr>
          <a:xfrm>
            <a:off x="755574" y="404664"/>
            <a:ext cx="6820883" cy="576263"/>
          </a:xfrm>
          <a:prstGeom prst="rect">
            <a:avLst/>
          </a:prstGeom>
        </p:spPr>
        <p:txBody>
          <a:bodyPr>
            <a:normAutofit fontScale="90000"/>
          </a:bodyPr>
          <a:lstStyle/>
          <a:p>
            <a:r>
              <a:rPr lang="zh-CN" altLang="en-US" dirty="0">
                <a:effectLst/>
              </a:rPr>
              <a:t> </a:t>
            </a:r>
            <a:br>
              <a:rPr lang="zh-CN" altLang="en-US" dirty="0">
                <a:effectLst/>
              </a:rPr>
            </a:br>
            <a:r>
              <a:rPr lang="zh-CN" altLang="en-US" dirty="0" smtClean="0"/>
              <a:t>大</a:t>
            </a:r>
            <a:r>
              <a:rPr lang="zh-CN" altLang="en-US" dirty="0"/>
              <a:t>纲</a:t>
            </a:r>
            <a:endParaRPr dirty="0"/>
          </a:p>
        </p:txBody>
      </p:sp>
      <p:sp>
        <p:nvSpPr>
          <p:cNvPr id="47" name="Shape 47"/>
          <p:cNvSpPr>
            <a:spLocks noGrp="1"/>
          </p:cNvSpPr>
          <p:nvPr>
            <p:ph type="body" idx="1"/>
          </p:nvPr>
        </p:nvSpPr>
        <p:spPr>
          <a:xfrm>
            <a:off x="755574" y="1556790"/>
            <a:ext cx="6820883" cy="4968554"/>
          </a:xfrm>
          <a:prstGeom prst="rect">
            <a:avLst/>
          </a:prstGeom>
        </p:spPr>
        <p:txBody>
          <a:bodyPr>
            <a:normAutofit/>
          </a:bodyPr>
          <a:lstStyle/>
          <a:p>
            <a:pPr marL="0" indent="0">
              <a:buNone/>
            </a:pPr>
            <a:r>
              <a:rPr lang="en-US" altLang="zh-CN" dirty="0"/>
              <a:t>1.</a:t>
            </a:r>
            <a:r>
              <a:rPr lang="zh-CN" altLang="en-US" dirty="0"/>
              <a:t>为什么需要软件评审</a:t>
            </a:r>
            <a:endParaRPr lang="en-US" altLang="zh-CN" dirty="0"/>
          </a:p>
          <a:p>
            <a:pPr marL="0" indent="0">
              <a:buNone/>
            </a:pPr>
            <a:r>
              <a:rPr lang="en-US" altLang="zh-CN" dirty="0"/>
              <a:t>2.</a:t>
            </a:r>
            <a:r>
              <a:rPr lang="zh-CN" altLang="en-US" dirty="0"/>
              <a:t>评审的种类和对象</a:t>
            </a:r>
            <a:endParaRPr lang="en-US" altLang="zh-CN" dirty="0"/>
          </a:p>
          <a:p>
            <a:pPr marL="0" indent="0">
              <a:buNone/>
            </a:pPr>
            <a:r>
              <a:rPr lang="en-US" altLang="zh-CN" dirty="0"/>
              <a:t>3.</a:t>
            </a:r>
            <a:r>
              <a:rPr lang="zh-CN" altLang="en-US" dirty="0"/>
              <a:t>软件评审的角色和职能</a:t>
            </a:r>
            <a:endParaRPr lang="en-US" altLang="zh-CN" dirty="0"/>
          </a:p>
          <a:p>
            <a:pPr marL="0" indent="0">
              <a:buNone/>
            </a:pPr>
            <a:r>
              <a:rPr lang="en-US" altLang="zh-CN" dirty="0"/>
              <a:t>4.</a:t>
            </a:r>
            <a:r>
              <a:rPr lang="zh-CN" altLang="en-US" dirty="0"/>
              <a:t>评审过程</a:t>
            </a:r>
            <a:endParaRPr lang="en-US" altLang="zh-CN" dirty="0"/>
          </a:p>
          <a:p>
            <a:pPr marL="0" indent="0">
              <a:buNone/>
            </a:pPr>
            <a:r>
              <a:rPr lang="en-US" altLang="zh-CN" dirty="0"/>
              <a:t>5.</a:t>
            </a:r>
            <a:r>
              <a:rPr lang="zh-CN" altLang="en-US" dirty="0"/>
              <a:t>小结</a:t>
            </a:r>
            <a:endParaRPr lang="en-US" altLang="zh-CN" dirty="0"/>
          </a:p>
        </p:txBody>
      </p:sp>
      <p:sp>
        <p:nvSpPr>
          <p:cNvPr id="48" name="Shape 48"/>
          <p:cNvSpPr>
            <a:spLocks noGrp="1"/>
          </p:cNvSpPr>
          <p:nvPr>
            <p:ph type="sldNum" sz="quarter" idx="4294967295"/>
          </p:nvPr>
        </p:nvSpPr>
        <p:spPr>
          <a:xfrm>
            <a:off x="8638314" y="6525344"/>
            <a:ext cx="218441" cy="348430"/>
          </a:xfrm>
          <a:prstGeom prst="rect">
            <a:avLst/>
          </a:prstGeom>
        </p:spPr>
        <p:txBody>
          <a:bodyPr anchor="t"/>
          <a:lstStyle>
            <a:lvl1pPr algn="ctr">
              <a:defRPr sz="1800"/>
            </a:lvl1pPr>
          </a:lstStyle>
          <a:p>
            <a:fld id="{86CB4B4D-7CA3-9044-876B-883B54F8677D}"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1200">
        <p:wipe/>
      </p:transition>
    </mc:Choice>
    <mc:Fallback>
      <p:transition spd="slow">
        <p:wip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a:spLocks noGrp="1"/>
          </p:cNvSpPr>
          <p:nvPr>
            <p:ph type="title"/>
          </p:nvPr>
        </p:nvSpPr>
        <p:spPr>
          <a:xfrm>
            <a:off x="755575" y="404664"/>
            <a:ext cx="7357566" cy="576263"/>
          </a:xfrm>
          <a:prstGeom prst="rect">
            <a:avLst/>
          </a:prstGeom>
        </p:spPr>
        <p:txBody>
          <a:bodyPr>
            <a:normAutofit fontScale="90000"/>
          </a:bodyPr>
          <a:lstStyle/>
          <a:p>
            <a:r>
              <a:rPr lang="en-US" altLang="zh-CN" dirty="0"/>
              <a:t>1.</a:t>
            </a:r>
            <a:r>
              <a:rPr lang="zh-CN" altLang="en-US" dirty="0"/>
              <a:t>为什么需要软件评审</a:t>
            </a:r>
            <a:endParaRPr dirty="0"/>
          </a:p>
        </p:txBody>
      </p:sp>
      <p:sp>
        <p:nvSpPr>
          <p:cNvPr id="51" name="Shape 51"/>
          <p:cNvSpPr>
            <a:spLocks noGrp="1"/>
          </p:cNvSpPr>
          <p:nvPr>
            <p:ph type="body" idx="1"/>
          </p:nvPr>
        </p:nvSpPr>
        <p:spPr>
          <a:xfrm>
            <a:off x="755575" y="1388064"/>
            <a:ext cx="7357566" cy="4968554"/>
          </a:xfrm>
          <a:prstGeom prst="rect">
            <a:avLst/>
          </a:prstGeom>
        </p:spPr>
        <p:txBody>
          <a:bodyPr>
            <a:normAutofit/>
          </a:bodyPr>
          <a:lstStyle/>
          <a:p>
            <a:pPr marL="0" indent="0">
              <a:spcBef>
                <a:spcPts val="400"/>
              </a:spcBef>
              <a:buClrTx/>
              <a:buSzTx/>
              <a:buNone/>
              <a:defRPr/>
            </a:pPr>
            <a:r>
              <a:rPr lang="zh-CN" altLang="en-US" sz="2000" dirty="0"/>
              <a:t>定义：软件评审是对</a:t>
            </a:r>
            <a:r>
              <a:rPr lang="zh-CN" altLang="en-US" sz="2000" dirty="0">
                <a:solidFill>
                  <a:srgbClr val="FF0000"/>
                </a:solidFill>
              </a:rPr>
              <a:t>软件元素或者项目状态</a:t>
            </a:r>
            <a:r>
              <a:rPr lang="zh-CN" altLang="en-US" sz="2000" dirty="0"/>
              <a:t>的一种</a:t>
            </a:r>
            <a:r>
              <a:rPr lang="zh-CN" altLang="en-US" sz="2000" u="sng" dirty="0"/>
              <a:t>评估手段</a:t>
            </a:r>
            <a:r>
              <a:rPr lang="zh-CN" altLang="en-US" sz="2000" dirty="0"/>
              <a:t>，以确定其是否与计划的结果保持一致，及时识别并消除缺陷，并使其得到改进。</a:t>
            </a:r>
            <a:endParaRPr kumimoji="1" lang="en-US" altLang="zh-CN" sz="2000" dirty="0"/>
          </a:p>
          <a:p>
            <a:pPr marL="0" lvl="0" indent="0">
              <a:spcBef>
                <a:spcPts val="400"/>
              </a:spcBef>
              <a:buClrTx/>
              <a:buSzTx/>
              <a:buNone/>
              <a:defRPr/>
            </a:pPr>
            <a:endParaRPr lang="zh-CN" altLang="en-US" sz="2400" b="0" dirty="0">
              <a:latin typeface="宋体" panose="02010600030101010101" pitchFamily="2" charset="-122"/>
              <a:ea typeface="宋体" panose="02010600030101010101" pitchFamily="2" charset="-122"/>
              <a:sym typeface="Arial" panose="020B0604020202020204"/>
            </a:endParaRPr>
          </a:p>
        </p:txBody>
      </p:sp>
      <p:sp>
        <p:nvSpPr>
          <p:cNvPr id="52" name="Shape 52"/>
          <p:cNvSpPr>
            <a:spLocks noGrp="1"/>
          </p:cNvSpPr>
          <p:nvPr>
            <p:ph type="sldNum" sz="quarter" idx="4294967295"/>
          </p:nvPr>
        </p:nvSpPr>
        <p:spPr>
          <a:xfrm>
            <a:off x="8638314" y="6525344"/>
            <a:ext cx="218441" cy="348430"/>
          </a:xfrm>
          <a:prstGeom prst="rect">
            <a:avLst/>
          </a:prstGeom>
        </p:spPr>
        <p:txBody>
          <a:bodyPr anchor="t"/>
          <a:lstStyle>
            <a:lvl1pPr algn="ctr">
              <a:defRPr sz="1800"/>
            </a:lvl1pPr>
          </a:lstStyle>
          <a:p>
            <a:fld id="{86CB4B4D-7CA3-9044-876B-883B54F8677D}" type="slidenum">
              <a:rPr/>
            </a:fld>
            <a:endParaRPr/>
          </a:p>
        </p:txBody>
      </p:sp>
      <p:pic>
        <p:nvPicPr>
          <p:cNvPr id="3" name="图片 2">
            <a:hlinkClick r:id="" action="ppaction://noaction" highlightClick="1"/>
          </p:cNvPr>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55575" y="2302926"/>
            <a:ext cx="5759525" cy="4053692"/>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hape 50"/>
          <p:cNvSpPr>
            <a:spLocks noGrp="1"/>
          </p:cNvSpPr>
          <p:nvPr>
            <p:ph type="title"/>
          </p:nvPr>
        </p:nvSpPr>
        <p:spPr>
          <a:xfrm>
            <a:off x="755575" y="404664"/>
            <a:ext cx="7357566" cy="576263"/>
          </a:xfrm>
          <a:prstGeom prst="rect">
            <a:avLst/>
          </a:prstGeom>
        </p:spPr>
        <p:txBody>
          <a:bodyPr>
            <a:normAutofit fontScale="90000"/>
          </a:bodyPr>
          <a:lstStyle/>
          <a:p>
            <a:r>
              <a:rPr lang="en-US" altLang="zh-CN" dirty="0"/>
              <a:t>1.</a:t>
            </a:r>
            <a:r>
              <a:rPr lang="zh-CN" altLang="en-US" dirty="0"/>
              <a:t>为什么需要软件评审</a:t>
            </a:r>
            <a:endParaRPr dirty="0"/>
          </a:p>
        </p:txBody>
      </p:sp>
      <p:sp>
        <p:nvSpPr>
          <p:cNvPr id="51" name="Shape 51"/>
          <p:cNvSpPr>
            <a:spLocks noGrp="1"/>
          </p:cNvSpPr>
          <p:nvPr>
            <p:ph type="body" idx="1"/>
          </p:nvPr>
        </p:nvSpPr>
        <p:spPr>
          <a:xfrm>
            <a:off x="755575" y="1388064"/>
            <a:ext cx="7357566" cy="4968554"/>
          </a:xfrm>
          <a:prstGeom prst="rect">
            <a:avLst/>
          </a:prstGeom>
        </p:spPr>
        <p:txBody>
          <a:bodyPr>
            <a:normAutofit/>
          </a:bodyPr>
          <a:lstStyle/>
          <a:p>
            <a:pPr marL="0" lvl="0" indent="0">
              <a:spcBef>
                <a:spcPts val="400"/>
              </a:spcBef>
              <a:buClrTx/>
              <a:buSzTx/>
              <a:buNone/>
              <a:defRPr/>
            </a:pPr>
            <a:r>
              <a:rPr lang="zh-CN" altLang="en-US" sz="2400" b="0" dirty="0">
                <a:latin typeface="宋体" panose="02010600030101010101" pitchFamily="2" charset="-122"/>
                <a:ea typeface="宋体" panose="02010600030101010101" pitchFamily="2" charset="-122"/>
              </a:rPr>
              <a:t>在开发过程中，评审可以让我们获得以下收益：</a:t>
            </a:r>
            <a:endParaRPr lang="en-US" altLang="zh-CN" sz="2400" b="0" dirty="0">
              <a:latin typeface="宋体" panose="02010600030101010101" pitchFamily="2" charset="-122"/>
              <a:ea typeface="宋体" panose="02010600030101010101" pitchFamily="2" charset="-122"/>
            </a:endParaRPr>
          </a:p>
          <a:p>
            <a:pPr marL="0" lvl="0" indent="0">
              <a:spcBef>
                <a:spcPts val="400"/>
              </a:spcBef>
              <a:buClrTx/>
              <a:buSzTx/>
              <a:buNone/>
              <a:defRPr/>
            </a:pPr>
            <a:endParaRPr lang="zh-CN" altLang="en-US" sz="2400" b="0" dirty="0">
              <a:latin typeface="宋体" panose="02010600030101010101" pitchFamily="2" charset="-122"/>
              <a:ea typeface="宋体" panose="02010600030101010101" pitchFamily="2" charset="-122"/>
            </a:endParaRPr>
          </a:p>
          <a:p>
            <a:pPr marL="0" lvl="0" indent="0">
              <a:spcBef>
                <a:spcPts val="400"/>
              </a:spcBef>
              <a:buClrTx/>
              <a:buSzTx/>
              <a:buNone/>
              <a:defRPr/>
            </a:pPr>
            <a:r>
              <a:rPr lang="en-US" altLang="zh-CN" sz="2400" b="0" dirty="0">
                <a:latin typeface="宋体" panose="02010600030101010101" pitchFamily="2" charset="-122"/>
                <a:ea typeface="宋体" panose="02010600030101010101" pitchFamily="2" charset="-122"/>
              </a:rPr>
              <a:t>•</a:t>
            </a:r>
            <a:r>
              <a:rPr lang="zh-CN" altLang="en-US" sz="2400" b="0" dirty="0">
                <a:latin typeface="宋体" panose="02010600030101010101" pitchFamily="2" charset="-122"/>
                <a:ea typeface="宋体" panose="02010600030101010101" pitchFamily="2" charset="-122"/>
              </a:rPr>
              <a:t>提高项目的生产率、降低成本</a:t>
            </a:r>
            <a:endParaRPr lang="zh-CN" altLang="en-US" sz="2400" b="0" dirty="0">
              <a:latin typeface="宋体" panose="02010600030101010101" pitchFamily="2" charset="-122"/>
              <a:ea typeface="宋体" panose="02010600030101010101" pitchFamily="2" charset="-122"/>
            </a:endParaRPr>
          </a:p>
          <a:p>
            <a:pPr marL="0" lvl="0" indent="0">
              <a:spcBef>
                <a:spcPts val="400"/>
              </a:spcBef>
              <a:buClrTx/>
              <a:buSzTx/>
              <a:buNone/>
              <a:defRPr/>
            </a:pPr>
            <a:r>
              <a:rPr lang="en-US" altLang="zh-CN" sz="2400" b="0" dirty="0">
                <a:latin typeface="宋体" panose="02010600030101010101" pitchFamily="2" charset="-122"/>
                <a:ea typeface="宋体" panose="02010600030101010101" pitchFamily="2" charset="-122"/>
              </a:rPr>
              <a:t>•</a:t>
            </a:r>
            <a:r>
              <a:rPr lang="zh-CN" altLang="en-US" sz="2400" b="0" dirty="0">
                <a:latin typeface="宋体" panose="02010600030101010101" pitchFamily="2" charset="-122"/>
                <a:ea typeface="宋体" panose="02010600030101010101" pitchFamily="2" charset="-122"/>
              </a:rPr>
              <a:t>熟悉产品和开发过程</a:t>
            </a:r>
            <a:endParaRPr lang="zh-CN" altLang="en-US" sz="2400" b="0" dirty="0">
              <a:latin typeface="宋体" panose="02010600030101010101" pitchFamily="2" charset="-122"/>
              <a:ea typeface="宋体" panose="02010600030101010101" pitchFamily="2" charset="-122"/>
            </a:endParaRPr>
          </a:p>
          <a:p>
            <a:pPr marL="0" indent="0">
              <a:spcBef>
                <a:spcPts val="400"/>
              </a:spcBef>
              <a:buClrTx/>
              <a:buSzTx/>
              <a:buNone/>
              <a:defRPr/>
            </a:pPr>
            <a:r>
              <a:rPr lang="en-US" altLang="zh-CN" sz="2400" b="0" dirty="0">
                <a:latin typeface="宋体" panose="02010600030101010101" pitchFamily="2" charset="-122"/>
                <a:ea typeface="宋体" panose="02010600030101010101" pitchFamily="2" charset="-122"/>
              </a:rPr>
              <a:t>•</a:t>
            </a:r>
            <a:r>
              <a:rPr lang="zh-CN" altLang="en-US" sz="2400" b="0" dirty="0">
                <a:latin typeface="宋体" panose="02010600030101010101" pitchFamily="2" charset="-122"/>
                <a:ea typeface="宋体" panose="02010600030101010101" pitchFamily="2" charset="-122"/>
              </a:rPr>
              <a:t>改善软件的质量，使其易读易于维护。</a:t>
            </a:r>
            <a:endParaRPr lang="en-US" altLang="zh-CN" sz="2400" b="0" dirty="0">
              <a:latin typeface="宋体" panose="02010600030101010101" pitchFamily="2" charset="-122"/>
              <a:ea typeface="宋体" panose="02010600030101010101" pitchFamily="2" charset="-122"/>
            </a:endParaRPr>
          </a:p>
          <a:p>
            <a:pPr marL="0" indent="0">
              <a:spcBef>
                <a:spcPts val="400"/>
              </a:spcBef>
              <a:buClrTx/>
              <a:buSzTx/>
              <a:buNone/>
              <a:defRPr/>
            </a:pPr>
            <a:endParaRPr lang="en-US" altLang="zh-CN" sz="2400" b="0" dirty="0">
              <a:latin typeface="宋体" panose="02010600030101010101" pitchFamily="2" charset="-122"/>
              <a:ea typeface="宋体" panose="02010600030101010101" pitchFamily="2" charset="-122"/>
            </a:endParaRPr>
          </a:p>
          <a:p>
            <a:pPr marL="0" lvl="0" indent="0">
              <a:spcBef>
                <a:spcPts val="400"/>
              </a:spcBef>
              <a:buClrTx/>
              <a:buSzTx/>
              <a:buNone/>
              <a:defRPr/>
            </a:pPr>
            <a:r>
              <a:rPr lang="zh-CN" altLang="en-US" sz="2400" dirty="0"/>
              <a:t>最终检验软件开发、软件评测各阶段的工作是否齐全、规范，各阶段产品是否达到了规定的技术要求和质量要求，以决定是否可以转入下一阶段的工作。</a:t>
            </a:r>
            <a:endParaRPr lang="zh-CN" altLang="en-US" sz="2400" b="0" dirty="0">
              <a:latin typeface="宋体" panose="02010600030101010101" pitchFamily="2" charset="-122"/>
              <a:ea typeface="宋体" panose="02010600030101010101" pitchFamily="2" charset="-122"/>
              <a:sym typeface="Arial" panose="020B0604020202020204"/>
            </a:endParaRPr>
          </a:p>
        </p:txBody>
      </p:sp>
      <p:sp>
        <p:nvSpPr>
          <p:cNvPr id="52" name="Shape 52"/>
          <p:cNvSpPr>
            <a:spLocks noGrp="1"/>
          </p:cNvSpPr>
          <p:nvPr>
            <p:ph type="sldNum" sz="quarter" idx="4294967295"/>
          </p:nvPr>
        </p:nvSpPr>
        <p:spPr>
          <a:xfrm>
            <a:off x="8638314" y="6525344"/>
            <a:ext cx="218441" cy="348430"/>
          </a:xfrm>
          <a:prstGeom prst="rect">
            <a:avLst/>
          </a:prstGeom>
        </p:spPr>
        <p:txBody>
          <a:bodyPr anchor="t"/>
          <a:lstStyle>
            <a:lvl1pPr algn="ctr">
              <a:defRPr sz="1800"/>
            </a:lvl1pPr>
          </a:lstStyle>
          <a:p>
            <a:fld id="{86CB4B4D-7CA3-9044-876B-883B54F8677D}"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1200">
        <p:wipe/>
      </p:transition>
    </mc:Choice>
    <mc:Fallback>
      <p:transition spd="slow">
        <p:wip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121"/>
          <p:cNvSpPr>
            <a:spLocks noGrp="1"/>
          </p:cNvSpPr>
          <p:nvPr>
            <p:ph type="title"/>
          </p:nvPr>
        </p:nvSpPr>
        <p:spPr>
          <a:xfrm>
            <a:off x="755575" y="404664"/>
            <a:ext cx="7357566" cy="576263"/>
          </a:xfrm>
          <a:prstGeom prst="rect">
            <a:avLst/>
          </a:prstGeom>
        </p:spPr>
        <p:txBody>
          <a:bodyPr>
            <a:normAutofit fontScale="90000"/>
          </a:bodyPr>
          <a:lstStyle/>
          <a:p>
            <a:r>
              <a:rPr lang="en-US" altLang="zh-CN" dirty="0"/>
              <a:t>2.</a:t>
            </a:r>
            <a:r>
              <a:rPr lang="zh-CN" altLang="en-US" dirty="0"/>
              <a:t>评审的种类与对象</a:t>
            </a:r>
            <a:endParaRPr lang="en-US" altLang="zh-CN" dirty="0"/>
          </a:p>
        </p:txBody>
      </p:sp>
      <p:sp>
        <p:nvSpPr>
          <p:cNvPr id="122" name="Shape 122"/>
          <p:cNvSpPr>
            <a:spLocks noGrp="1"/>
          </p:cNvSpPr>
          <p:nvPr>
            <p:ph type="sldNum" sz="quarter" idx="4294967295"/>
          </p:nvPr>
        </p:nvSpPr>
        <p:spPr>
          <a:xfrm>
            <a:off x="8638314" y="6525344"/>
            <a:ext cx="218441" cy="348430"/>
          </a:xfrm>
          <a:prstGeom prst="rect">
            <a:avLst/>
          </a:prstGeom>
        </p:spPr>
        <p:txBody>
          <a:bodyPr anchor="t"/>
          <a:lstStyle>
            <a:lvl1pPr algn="ctr">
              <a:defRPr sz="1800"/>
            </a:lvl1pPr>
          </a:lstStyle>
          <a:p>
            <a:fld id="{86CB4B4D-7CA3-9044-876B-883B54F8677D}" type="slidenum">
              <a:rPr/>
            </a:fld>
            <a:endParaRPr/>
          </a:p>
        </p:txBody>
      </p:sp>
      <p:sp>
        <p:nvSpPr>
          <p:cNvPr id="4" name="文本框 3"/>
          <p:cNvSpPr txBox="1"/>
          <p:nvPr/>
        </p:nvSpPr>
        <p:spPr>
          <a:xfrm>
            <a:off x="755575" y="1387366"/>
            <a:ext cx="7206010" cy="22159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a:r>
              <a:rPr lang="en-US" altLang="zh-CN" sz="2400" b="1" dirty="0">
                <a:latin typeface="宋体" panose="02010600030101010101" pitchFamily="2" charset="-122"/>
                <a:ea typeface="宋体" panose="02010600030101010101" pitchFamily="2" charset="-122"/>
              </a:rPr>
              <a:t>2.1</a:t>
            </a:r>
            <a:r>
              <a:rPr lang="zh-CN" altLang="en-US" sz="2400" b="1" dirty="0">
                <a:latin typeface="宋体" panose="02010600030101010101" pitchFamily="2" charset="-122"/>
                <a:ea typeface="宋体" panose="02010600030101010101" pitchFamily="2" charset="-122"/>
              </a:rPr>
              <a:t>正式评审（</a:t>
            </a:r>
            <a:r>
              <a:rPr lang="en-US" altLang="zh-CN" sz="2400" b="1" dirty="0">
                <a:latin typeface="宋体" panose="02010600030101010101" pitchFamily="2" charset="-122"/>
                <a:ea typeface="宋体" panose="02010600030101010101" pitchFamily="2" charset="-122"/>
              </a:rPr>
              <a:t>Formal Inspection</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lvl="0" algn="l"/>
            <a:r>
              <a:rPr lang="zh-CN" altLang="en-US" sz="2400" dirty="0">
                <a:latin typeface="宋体" panose="02010600030101010101" pitchFamily="2" charset="-122"/>
                <a:ea typeface="宋体" panose="02010600030101010101" pitchFamily="2" charset="-122"/>
                <a:cs typeface="Times New Roman" panose="02020603050405020304"/>
                <a:sym typeface="Times New Roman" panose="02020603050405020304"/>
              </a:rPr>
              <a:t>    通常是由</a:t>
            </a:r>
            <a:r>
              <a:rPr lang="zh-CN" altLang="en-US" sz="2400" dirty="0">
                <a:solidFill>
                  <a:srgbClr val="FF0000"/>
                </a:solidFill>
                <a:latin typeface="宋体" panose="02010600030101010101" pitchFamily="2" charset="-122"/>
                <a:ea typeface="宋体" panose="02010600030101010101" pitchFamily="2" charset="-122"/>
                <a:cs typeface="Times New Roman" panose="02020603050405020304"/>
                <a:sym typeface="Times New Roman" panose="02020603050405020304"/>
              </a:rPr>
              <a:t>经过同行评审培训的项目经理</a:t>
            </a:r>
            <a:r>
              <a:rPr lang="zh-CN" altLang="en-US" sz="2400" dirty="0">
                <a:latin typeface="宋体" panose="02010600030101010101" pitchFamily="2" charset="-122"/>
                <a:ea typeface="宋体" panose="02010600030101010101" pitchFamily="2" charset="-122"/>
                <a:cs typeface="Times New Roman" panose="02020603050405020304"/>
                <a:sym typeface="Times New Roman" panose="02020603050405020304"/>
              </a:rPr>
              <a:t>主持，规模在</a:t>
            </a:r>
            <a:r>
              <a:rPr lang="en-US" altLang="zh-CN" sz="2400" u="sng" dirty="0">
                <a:latin typeface="宋体" panose="02010600030101010101" pitchFamily="2" charset="-122"/>
                <a:ea typeface="宋体" panose="02010600030101010101" pitchFamily="2" charset="-122"/>
                <a:cs typeface="Times New Roman" panose="02020603050405020304"/>
                <a:sym typeface="Times New Roman" panose="02020603050405020304"/>
              </a:rPr>
              <a:t>3〜7</a:t>
            </a:r>
            <a:r>
              <a:rPr lang="zh-CN" altLang="en-US" sz="2400" u="sng" dirty="0">
                <a:latin typeface="宋体" panose="02010600030101010101" pitchFamily="2" charset="-122"/>
                <a:ea typeface="宋体" panose="02010600030101010101" pitchFamily="2" charset="-122"/>
                <a:cs typeface="Times New Roman" panose="02020603050405020304"/>
                <a:sym typeface="Times New Roman" panose="02020603050405020304"/>
              </a:rPr>
              <a:t>人</a:t>
            </a:r>
            <a:r>
              <a:rPr lang="zh-CN" altLang="en-US" sz="2400" dirty="0">
                <a:latin typeface="宋体" panose="02010600030101010101" pitchFamily="2" charset="-122"/>
                <a:ea typeface="宋体" panose="02010600030101010101" pitchFamily="2" charset="-122"/>
                <a:cs typeface="Times New Roman" panose="02020603050405020304"/>
                <a:sym typeface="Times New Roman" panose="02020603050405020304"/>
              </a:rPr>
              <a:t>之间为宜，一般在完成了一个工作产品后对其进行的评审。正式评审的目的在于定位并除去工作产品中的缺陷。 </a:t>
            </a:r>
            <a:endParaRPr lang="en-US" altLang="zh-CN" sz="2400" dirty="0">
              <a:latin typeface="宋体" panose="02010600030101010101" pitchFamily="2" charset="-122"/>
              <a:ea typeface="宋体" panose="02010600030101010101" pitchFamily="2" charset="-122"/>
              <a:cs typeface="Times New Roman" panose="02020603050405020304"/>
              <a:sym typeface="Times New Roman" panose="02020603050405020304"/>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a:ln>
                <a:noFill/>
              </a:ln>
              <a:solidFill>
                <a:srgbClr val="292929"/>
              </a:solidFill>
              <a:effectLst/>
              <a:uFillTx/>
              <a:latin typeface="+mn-lt"/>
              <a:ea typeface="+mn-ea"/>
              <a:cs typeface="+mn-cs"/>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1200">
        <p:wipe/>
      </p:transition>
    </mc:Choice>
    <mc:Fallback>
      <p:transition spd="slow">
        <p:wip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121"/>
          <p:cNvSpPr>
            <a:spLocks noGrp="1"/>
          </p:cNvSpPr>
          <p:nvPr>
            <p:ph type="title"/>
          </p:nvPr>
        </p:nvSpPr>
        <p:spPr>
          <a:xfrm>
            <a:off x="755575" y="404664"/>
            <a:ext cx="7357566" cy="576263"/>
          </a:xfrm>
          <a:prstGeom prst="rect">
            <a:avLst/>
          </a:prstGeom>
        </p:spPr>
        <p:txBody>
          <a:bodyPr>
            <a:normAutofit fontScale="90000"/>
          </a:bodyPr>
          <a:lstStyle/>
          <a:p>
            <a:r>
              <a:rPr lang="en-US" altLang="zh-CN" dirty="0"/>
              <a:t>2.</a:t>
            </a:r>
            <a:r>
              <a:rPr lang="zh-CN" altLang="en-US" dirty="0"/>
              <a:t>评审的种类与对象</a:t>
            </a:r>
            <a:endParaRPr lang="en-US" altLang="zh-CN" dirty="0"/>
          </a:p>
        </p:txBody>
      </p:sp>
      <p:sp>
        <p:nvSpPr>
          <p:cNvPr id="122" name="Shape 122"/>
          <p:cNvSpPr>
            <a:spLocks noGrp="1"/>
          </p:cNvSpPr>
          <p:nvPr>
            <p:ph type="sldNum" sz="quarter" idx="4294967295"/>
          </p:nvPr>
        </p:nvSpPr>
        <p:spPr>
          <a:xfrm>
            <a:off x="8638314" y="6525344"/>
            <a:ext cx="218441" cy="348430"/>
          </a:xfrm>
          <a:prstGeom prst="rect">
            <a:avLst/>
          </a:prstGeom>
        </p:spPr>
        <p:txBody>
          <a:bodyPr anchor="t"/>
          <a:lstStyle>
            <a:lvl1pPr algn="ctr">
              <a:defRPr sz="1800"/>
            </a:lvl1pPr>
          </a:lstStyle>
          <a:p>
            <a:fld id="{86CB4B4D-7CA3-9044-876B-883B54F8677D}" type="slidenum">
              <a:rPr/>
            </a:fld>
            <a:endParaRPr/>
          </a:p>
        </p:txBody>
      </p:sp>
      <p:sp>
        <p:nvSpPr>
          <p:cNvPr id="4" name="文本框 3"/>
          <p:cNvSpPr txBox="1"/>
          <p:nvPr/>
        </p:nvSpPr>
        <p:spPr>
          <a:xfrm>
            <a:off x="755575" y="1387366"/>
            <a:ext cx="7206010" cy="37856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a:r>
              <a:rPr lang="en-US" altLang="zh-CN" sz="2400" b="1" dirty="0">
                <a:latin typeface="宋体" panose="02010600030101010101" pitchFamily="2" charset="-122"/>
                <a:ea typeface="宋体" panose="02010600030101010101" pitchFamily="2" charset="-122"/>
              </a:rPr>
              <a:t>2.2</a:t>
            </a:r>
            <a:r>
              <a:rPr lang="zh-CN" altLang="en-US" sz="2400" b="1" dirty="0">
                <a:latin typeface="宋体" panose="02010600030101010101" pitchFamily="2" charset="-122"/>
                <a:ea typeface="宋体" panose="02010600030101010101" pitchFamily="2" charset="-122"/>
              </a:rPr>
              <a:t>技术评审（</a:t>
            </a:r>
            <a:r>
              <a:rPr lang="en-US" altLang="zh-CN" sz="2400" b="1" dirty="0">
                <a:latin typeface="宋体" panose="02010600030101010101" pitchFamily="2" charset="-122"/>
                <a:ea typeface="宋体" panose="02010600030101010101" pitchFamily="2" charset="-122"/>
              </a:rPr>
              <a:t>Technical Reviews</a:t>
            </a:r>
            <a:r>
              <a:rPr lang="zh-CN" altLang="en-US" sz="2400" b="1" dirty="0">
                <a:latin typeface="宋体" panose="02010600030101010101" pitchFamily="2" charset="-122"/>
                <a:ea typeface="宋体" panose="02010600030101010101" pitchFamily="2" charset="-122"/>
              </a:rPr>
              <a:t>） </a:t>
            </a:r>
            <a:endParaRPr lang="en-US" altLang="zh-CN" sz="2400" b="1" dirty="0">
              <a:latin typeface="宋体" panose="02010600030101010101" pitchFamily="2" charset="-122"/>
              <a:ea typeface="宋体" panose="02010600030101010101" pitchFamily="2" charset="-122"/>
            </a:endParaRPr>
          </a:p>
          <a:p>
            <a:pPr algn="l"/>
            <a:r>
              <a:rPr lang="zh-CN" altLang="en-US" sz="2400" dirty="0">
                <a:latin typeface="宋体" panose="02010600030101010101" pitchFamily="2" charset="-122"/>
                <a:ea typeface="宋体" panose="02010600030101010101" pitchFamily="2" charset="-122"/>
                <a:cs typeface="Times New Roman" panose="02020603050405020304"/>
              </a:rPr>
              <a:t>    技术审査（</a:t>
            </a:r>
            <a:r>
              <a:rPr lang="en-US" altLang="zh-CN" sz="2400" dirty="0">
                <a:latin typeface="宋体" panose="02010600030101010101" pitchFamily="2" charset="-122"/>
                <a:ea typeface="宋体" panose="02010600030101010101" pitchFamily="2" charset="-122"/>
                <a:cs typeface="Times New Roman" panose="02020603050405020304"/>
              </a:rPr>
              <a:t>Technical Reviews),</a:t>
            </a:r>
            <a:r>
              <a:rPr lang="zh-CN" altLang="en-US" sz="2400" dirty="0">
                <a:latin typeface="宋体" panose="02010600030101010101" pitchFamily="2" charset="-122"/>
                <a:ea typeface="宋体" panose="02010600030101010101" pitchFamily="2" charset="-122"/>
                <a:cs typeface="Times New Roman" panose="02020603050405020304"/>
              </a:rPr>
              <a:t>或称内部评审，通常由</a:t>
            </a:r>
            <a:r>
              <a:rPr lang="zh-CN" altLang="en-US" sz="2400" dirty="0">
                <a:solidFill>
                  <a:srgbClr val="FF0000"/>
                </a:solidFill>
                <a:latin typeface="宋体" panose="02010600030101010101" pitchFamily="2" charset="-122"/>
                <a:ea typeface="宋体" panose="02010600030101010101" pitchFamily="2" charset="-122"/>
                <a:cs typeface="Times New Roman" panose="02020603050405020304"/>
              </a:rPr>
              <a:t>技术负责人或项目经理</a:t>
            </a:r>
            <a:r>
              <a:rPr lang="zh-CN" altLang="en-US" sz="2400" dirty="0">
                <a:latin typeface="宋体" panose="02010600030101010101" pitchFamily="2" charset="-122"/>
                <a:ea typeface="宋体" panose="02010600030101010101" pitchFamily="2" charset="-122"/>
                <a:cs typeface="Times New Roman" panose="02020603050405020304"/>
              </a:rPr>
              <a:t>召集，</a:t>
            </a:r>
            <a:r>
              <a:rPr lang="zh-CN" altLang="en-US" sz="2400" u="sng" dirty="0">
                <a:latin typeface="宋体" panose="02010600030101010101" pitchFamily="2" charset="-122"/>
                <a:ea typeface="宋体" panose="02010600030101010101" pitchFamily="2" charset="-122"/>
                <a:cs typeface="Times New Roman" panose="02020603050405020304"/>
              </a:rPr>
              <a:t>三人以上</a:t>
            </a:r>
            <a:r>
              <a:rPr lang="zh-CN" altLang="en-US" sz="2400" dirty="0">
                <a:latin typeface="宋体" panose="02010600030101010101" pitchFamily="2" charset="-122"/>
                <a:ea typeface="宋体" panose="02010600030101010101" pitchFamily="2" charset="-122"/>
                <a:cs typeface="Times New Roman" panose="02020603050405020304"/>
              </a:rPr>
              <a:t>参加。技术审查一般是在工作产品的中期进行或完成了 某部分独立的工作产品时进行，也可在书写草案遇到问题时就其中专门的一两项问题讨论和审查。也可以是检查工作产品与规程、模板、计划、标准的符合性或者变更是否被正确地执行。</a:t>
            </a:r>
            <a:endParaRPr lang="en-US" altLang="zh-CN" sz="2400" dirty="0">
              <a:latin typeface="宋体" panose="02010600030101010101" pitchFamily="2" charset="-122"/>
              <a:ea typeface="宋体" panose="02010600030101010101" pitchFamily="2" charset="-122"/>
              <a:cs typeface="Times New Roman" panose="02020603050405020304"/>
            </a:endParaRPr>
          </a:p>
          <a:p>
            <a:pPr algn="l"/>
            <a:r>
              <a:rPr lang="zh-CN" altLang="en-US" sz="2400" dirty="0">
                <a:latin typeface="宋体" panose="02010600030101010101" pitchFamily="2" charset="-122"/>
                <a:ea typeface="宋体" panose="02010600030101010101" pitchFamily="2" charset="-122"/>
                <a:cs typeface="Times New Roman" panose="02020603050405020304"/>
              </a:rPr>
              <a:t>    技术审查的目的在于通过对开发人员的工作产品的技术审查，提出改进意见。</a:t>
            </a:r>
            <a:endParaRPr lang="zh-CN" altLang="en-US" sz="2400" dirty="0">
              <a:latin typeface="宋体" panose="02010600030101010101" pitchFamily="2" charset="-122"/>
              <a:ea typeface="宋体" panose="02010600030101010101" pitchFamily="2" charset="-122"/>
              <a:cs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1200">
        <p:wipe/>
      </p:transition>
    </mc:Choice>
    <mc:Fallback>
      <p:transition spd="slow">
        <p:wip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121"/>
          <p:cNvSpPr>
            <a:spLocks noGrp="1"/>
          </p:cNvSpPr>
          <p:nvPr>
            <p:ph type="title"/>
          </p:nvPr>
        </p:nvSpPr>
        <p:spPr>
          <a:xfrm>
            <a:off x="755575" y="404664"/>
            <a:ext cx="7357566" cy="576263"/>
          </a:xfrm>
          <a:prstGeom prst="rect">
            <a:avLst/>
          </a:prstGeom>
        </p:spPr>
        <p:txBody>
          <a:bodyPr>
            <a:normAutofit fontScale="90000"/>
          </a:bodyPr>
          <a:lstStyle/>
          <a:p>
            <a:r>
              <a:rPr lang="en-US" altLang="zh-CN" dirty="0"/>
              <a:t>2.</a:t>
            </a:r>
            <a:r>
              <a:rPr lang="zh-CN" altLang="en-US" dirty="0"/>
              <a:t>评审的种类与对象</a:t>
            </a:r>
            <a:endParaRPr lang="en-US" altLang="zh-CN" dirty="0"/>
          </a:p>
        </p:txBody>
      </p:sp>
      <p:sp>
        <p:nvSpPr>
          <p:cNvPr id="122" name="Shape 122"/>
          <p:cNvSpPr>
            <a:spLocks noGrp="1"/>
          </p:cNvSpPr>
          <p:nvPr>
            <p:ph type="sldNum" sz="quarter" idx="4294967295"/>
          </p:nvPr>
        </p:nvSpPr>
        <p:spPr>
          <a:xfrm>
            <a:off x="8638314" y="6525344"/>
            <a:ext cx="218441" cy="348430"/>
          </a:xfrm>
          <a:prstGeom prst="rect">
            <a:avLst/>
          </a:prstGeom>
        </p:spPr>
        <p:txBody>
          <a:bodyPr anchor="t"/>
          <a:lstStyle>
            <a:lvl1pPr algn="ctr">
              <a:defRPr sz="1800"/>
            </a:lvl1pPr>
          </a:lstStyle>
          <a:p>
            <a:fld id="{86CB4B4D-7CA3-9044-876B-883B54F8677D}" type="slidenum">
              <a:rPr/>
            </a:fld>
            <a:endParaRPr/>
          </a:p>
        </p:txBody>
      </p:sp>
      <p:sp>
        <p:nvSpPr>
          <p:cNvPr id="4" name="文本框 3"/>
          <p:cNvSpPr txBox="1"/>
          <p:nvPr/>
        </p:nvSpPr>
        <p:spPr>
          <a:xfrm>
            <a:off x="755575" y="1387366"/>
            <a:ext cx="7206010" cy="51706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l"/>
            <a:r>
              <a:rPr lang="en-US" altLang="zh-CN" sz="2400" b="1" dirty="0">
                <a:latin typeface="宋体" panose="02010600030101010101" pitchFamily="2" charset="-122"/>
                <a:ea typeface="宋体" panose="02010600030101010101" pitchFamily="2" charset="-122"/>
              </a:rPr>
              <a:t>2.3</a:t>
            </a:r>
            <a:r>
              <a:rPr lang="zh-CN" altLang="en-US" sz="2400" b="1" dirty="0">
                <a:latin typeface="宋体" panose="02010600030101010101" pitchFamily="2" charset="-122"/>
                <a:ea typeface="宋体" panose="02010600030101010101" pitchFamily="2" charset="-122"/>
              </a:rPr>
              <a:t>走查（</a:t>
            </a:r>
            <a:r>
              <a:rPr lang="en-US" altLang="zh-CN" sz="2400" b="1" dirty="0">
                <a:latin typeface="宋体" panose="02010600030101010101" pitchFamily="2" charset="-122"/>
                <a:ea typeface="宋体" panose="02010600030101010101" pitchFamily="2" charset="-122"/>
              </a:rPr>
              <a:t>Walkthrough</a:t>
            </a:r>
            <a:r>
              <a:rPr lang="zh-CN" altLang="en-US" sz="2400" b="1" dirty="0">
                <a:latin typeface="宋体" panose="02010600030101010101" pitchFamily="2" charset="-122"/>
                <a:ea typeface="宋体" panose="02010600030101010101" pitchFamily="2" charset="-122"/>
              </a:rPr>
              <a:t>） </a:t>
            </a:r>
            <a:endParaRPr lang="zh-CN" altLang="en-US" sz="2400" b="1" dirty="0">
              <a:latin typeface="宋体" panose="02010600030101010101" pitchFamily="2" charset="-122"/>
              <a:ea typeface="宋体" panose="02010600030101010101" pitchFamily="2" charset="-122"/>
            </a:endParaRPr>
          </a:p>
          <a:p>
            <a:pPr algn="l"/>
            <a:r>
              <a:rPr lang="zh-CN" altLang="en-US" sz="2400" dirty="0">
                <a:latin typeface="宋体" panose="02010600030101010101" pitchFamily="2" charset="-122"/>
                <a:ea typeface="宋体" panose="02010600030101010101" pitchFamily="2" charset="-122"/>
                <a:cs typeface="Times New Roman" panose="02020603050405020304"/>
              </a:rPr>
              <a:t>    走査（</a:t>
            </a:r>
            <a:r>
              <a:rPr lang="en-US" altLang="zh-CN" sz="2400" dirty="0">
                <a:latin typeface="宋体" panose="02010600030101010101" pitchFamily="2" charset="-122"/>
                <a:ea typeface="宋体" panose="02010600030101010101" pitchFamily="2" charset="-122"/>
                <a:cs typeface="Times New Roman" panose="02020603050405020304"/>
              </a:rPr>
              <a:t>Walkthrough)</a:t>
            </a:r>
            <a:r>
              <a:rPr lang="zh-CN" altLang="en-US" sz="2400" dirty="0">
                <a:latin typeface="宋体" panose="02010600030101010101" pitchFamily="2" charset="-122"/>
                <a:ea typeface="宋体" panose="02010600030101010101" pitchFamily="2" charset="-122"/>
                <a:cs typeface="Times New Roman" panose="02020603050405020304"/>
              </a:rPr>
              <a:t>，又叫代码走查或代码走读，审查的范围根据需求的优先级通常由管理人员来确定，主要是静态质量分析和编程规则检查。通常是小型讨论会，一般是在工作产品形成的早期进行，作者有一定的想法时，希望从中获得一些帮助或补充一些想法。当然也可以在编制工作产品的任何阶段进行，</a:t>
            </a:r>
            <a:r>
              <a:rPr lang="zh-CN" altLang="en-US" sz="2400" u="sng" dirty="0">
                <a:latin typeface="宋体" panose="02010600030101010101" pitchFamily="2" charset="-122"/>
                <a:ea typeface="宋体" panose="02010600030101010101" pitchFamily="2" charset="-122"/>
                <a:cs typeface="Times New Roman" panose="02020603050405020304"/>
              </a:rPr>
              <a:t>两三个人</a:t>
            </a:r>
            <a:r>
              <a:rPr lang="zh-CN" altLang="en-US" sz="2400" dirty="0">
                <a:latin typeface="宋体" panose="02010600030101010101" pitchFamily="2" charset="-122"/>
                <a:ea typeface="宋体" panose="02010600030101010101" pitchFamily="2" charset="-122"/>
                <a:cs typeface="Times New Roman" panose="02020603050405020304"/>
              </a:rPr>
              <a:t>参加，由</a:t>
            </a:r>
            <a:r>
              <a:rPr lang="zh-CN" altLang="en-US" sz="2400" dirty="0">
                <a:solidFill>
                  <a:srgbClr val="FF0000"/>
                </a:solidFill>
                <a:latin typeface="宋体" panose="02010600030101010101" pitchFamily="2" charset="-122"/>
                <a:ea typeface="宋体" panose="02010600030101010101" pitchFamily="2" charset="-122"/>
                <a:cs typeface="Times New Roman" panose="02020603050405020304"/>
              </a:rPr>
              <a:t>作者</a:t>
            </a:r>
            <a:r>
              <a:rPr lang="zh-CN" altLang="en-US" sz="2400" dirty="0">
                <a:latin typeface="宋体" panose="02010600030101010101" pitchFamily="2" charset="-122"/>
                <a:ea typeface="宋体" panose="02010600030101010101" pitchFamily="2" charset="-122"/>
                <a:cs typeface="Times New Roman" panose="02020603050405020304"/>
              </a:rPr>
              <a:t>主持，主要是评估和提高工作产品的质量或教育参加者。</a:t>
            </a:r>
            <a:endParaRPr lang="en-US" altLang="zh-CN" sz="2400" dirty="0">
              <a:latin typeface="宋体" panose="02010600030101010101" pitchFamily="2" charset="-122"/>
              <a:ea typeface="宋体" panose="02010600030101010101" pitchFamily="2" charset="-122"/>
              <a:cs typeface="Times New Roman" panose="02020603050405020304"/>
            </a:endParaRPr>
          </a:p>
          <a:p>
            <a:pPr algn="l"/>
            <a:endParaRPr lang="zh-CN" altLang="en-US" sz="2400" dirty="0">
              <a:latin typeface="宋体" panose="02010600030101010101" pitchFamily="2" charset="-122"/>
              <a:ea typeface="宋体" panose="02010600030101010101" pitchFamily="2" charset="-122"/>
              <a:cs typeface="Times New Roman" panose="02020603050405020304"/>
            </a:endParaRPr>
          </a:p>
          <a:p>
            <a:pPr algn="l"/>
            <a:r>
              <a:rPr lang="zh-CN" altLang="en-US" sz="2400" b="1" dirty="0">
                <a:latin typeface="宋体" panose="02010600030101010101" pitchFamily="2" charset="-122"/>
                <a:ea typeface="宋体" panose="02010600030101010101" pitchFamily="2" charset="-122"/>
              </a:rPr>
              <a:t>    其中，“正式评审”是正式的，“技术审查”和“走查”是常用的非正式同行评审方法。</a:t>
            </a:r>
            <a:endParaRPr lang="zh-CN" altLang="en-US" sz="2400" b="1" dirty="0">
              <a:latin typeface="宋体" panose="02010600030101010101" pitchFamily="2" charset="-122"/>
              <a:ea typeface="宋体" panose="02010600030101010101" pitchFamily="2" charset="-122"/>
            </a:endParaRPr>
          </a:p>
          <a:p>
            <a:pPr algn="l"/>
            <a:endParaRPr lang="en-US" altLang="zh-CN" sz="2400" b="1" dirty="0">
              <a:latin typeface="宋体" panose="02010600030101010101" pitchFamily="2" charset="-122"/>
              <a:ea typeface="宋体" panose="02010600030101010101" pitchFamily="2"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a:ln>
                <a:noFill/>
              </a:ln>
              <a:solidFill>
                <a:srgbClr val="292929"/>
              </a:solidFill>
              <a:effectLst/>
              <a:uFillTx/>
              <a:latin typeface="+mn-lt"/>
              <a:ea typeface="+mn-ea"/>
              <a:cs typeface="+mn-cs"/>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1200">
        <p:wipe/>
      </p:transition>
    </mc:Choice>
    <mc:Fallback>
      <p:transition spd="slow">
        <p:wip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p:cNvSpPr>
          <p:nvPr>
            <p:ph type="title"/>
          </p:nvPr>
        </p:nvSpPr>
        <p:spPr>
          <a:xfrm>
            <a:off x="755575" y="404664"/>
            <a:ext cx="7357566" cy="576263"/>
          </a:xfrm>
          <a:prstGeom prst="rect">
            <a:avLst/>
          </a:prstGeom>
        </p:spPr>
        <p:txBody>
          <a:bodyPr>
            <a:normAutofit fontScale="90000"/>
          </a:bodyPr>
          <a:lstStyle/>
          <a:p>
            <a:r>
              <a:rPr lang="en-US" altLang="zh-CN" dirty="0"/>
              <a:t>2.</a:t>
            </a:r>
            <a:r>
              <a:rPr lang="zh-CN" altLang="en-US" dirty="0"/>
              <a:t>评审的种类与对象</a:t>
            </a:r>
            <a:endParaRPr dirty="0"/>
          </a:p>
        </p:txBody>
      </p:sp>
      <p:sp>
        <p:nvSpPr>
          <p:cNvPr id="159" name="Shape 159"/>
          <p:cNvSpPr>
            <a:spLocks noGrp="1"/>
          </p:cNvSpPr>
          <p:nvPr>
            <p:ph type="body" idx="1"/>
          </p:nvPr>
        </p:nvSpPr>
        <p:spPr>
          <a:xfrm>
            <a:off x="179511" y="1340767"/>
            <a:ext cx="8856986" cy="4968554"/>
          </a:xfrm>
          <a:prstGeom prst="rect">
            <a:avLst/>
          </a:prstGeom>
        </p:spPr>
        <p:txBody>
          <a:bodyPr>
            <a:normAutofit/>
          </a:bodyPr>
          <a:lstStyle/>
          <a:p>
            <a:pPr marL="0" indent="0">
              <a:lnSpc>
                <a:spcPct val="90000"/>
              </a:lnSpc>
              <a:buNone/>
            </a:pPr>
            <a:endParaRPr sz="2400" b="0" dirty="0">
              <a:sym typeface="STXinwei"/>
            </a:endParaRPr>
          </a:p>
        </p:txBody>
      </p:sp>
      <p:sp>
        <p:nvSpPr>
          <p:cNvPr id="160" name="Shape 160"/>
          <p:cNvSpPr>
            <a:spLocks noGrp="1"/>
          </p:cNvSpPr>
          <p:nvPr>
            <p:ph type="sldNum" sz="quarter" idx="4294967295"/>
          </p:nvPr>
        </p:nvSpPr>
        <p:spPr>
          <a:xfrm>
            <a:off x="8638314" y="6525344"/>
            <a:ext cx="218441" cy="348430"/>
          </a:xfrm>
          <a:prstGeom prst="rect">
            <a:avLst/>
          </a:prstGeom>
        </p:spPr>
        <p:txBody>
          <a:bodyPr anchor="t"/>
          <a:lstStyle>
            <a:lvl1pPr algn="ctr">
              <a:defRPr sz="1800"/>
            </a:lvl1pPr>
          </a:lstStyle>
          <a:p>
            <a:fld id="{86CB4B4D-7CA3-9044-876B-883B54F8677D}" type="slidenum">
              <a:rPr/>
            </a:fld>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511" y="1227791"/>
            <a:ext cx="7831667" cy="50815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200">
        <p:wipe/>
      </p:transition>
    </mc:Choice>
    <mc:Fallback>
      <p:transition spd="slow">
        <p:wip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p:cNvSpPr>
          <p:nvPr>
            <p:ph type="title"/>
          </p:nvPr>
        </p:nvSpPr>
        <p:spPr>
          <a:xfrm>
            <a:off x="755575" y="404664"/>
            <a:ext cx="7357566" cy="576263"/>
          </a:xfrm>
          <a:prstGeom prst="rect">
            <a:avLst/>
          </a:prstGeom>
        </p:spPr>
        <p:txBody>
          <a:bodyPr>
            <a:normAutofit fontScale="90000"/>
          </a:bodyPr>
          <a:lstStyle/>
          <a:p>
            <a:r>
              <a:rPr lang="en-US" altLang="zh-CN" dirty="0"/>
              <a:t>2.</a:t>
            </a:r>
            <a:r>
              <a:rPr lang="zh-CN" altLang="en-US" dirty="0"/>
              <a:t>评审的种类和对象</a:t>
            </a:r>
            <a:endParaRPr dirty="0"/>
          </a:p>
        </p:txBody>
      </p:sp>
      <p:sp>
        <p:nvSpPr>
          <p:cNvPr id="159" name="Shape 159"/>
          <p:cNvSpPr>
            <a:spLocks noGrp="1"/>
          </p:cNvSpPr>
          <p:nvPr>
            <p:ph type="body" idx="1"/>
          </p:nvPr>
        </p:nvSpPr>
        <p:spPr>
          <a:xfrm>
            <a:off x="179511" y="1340767"/>
            <a:ext cx="8856986" cy="4968554"/>
          </a:xfrm>
          <a:prstGeom prst="rect">
            <a:avLst/>
          </a:prstGeom>
        </p:spPr>
        <p:txBody>
          <a:bodyPr>
            <a:normAutofit/>
          </a:bodyPr>
          <a:lstStyle/>
          <a:p>
            <a:pPr marL="0" indent="0">
              <a:lnSpc>
                <a:spcPct val="90000"/>
              </a:lnSpc>
              <a:buNone/>
            </a:pPr>
            <a:r>
              <a:rPr lang="zh-CN" altLang="en-US" sz="2400" b="0" dirty="0">
                <a:sym typeface="STXinwei"/>
              </a:rPr>
              <a:t>评审的对象包括所有软件开发的中间和最终工作产品，包括：</a:t>
            </a:r>
            <a:endParaRPr lang="en-US" altLang="zh-CN" sz="2400" b="0" dirty="0">
              <a:sym typeface="STXinwei"/>
            </a:endParaRPr>
          </a:p>
          <a:p>
            <a:pPr marL="0" indent="0">
              <a:lnSpc>
                <a:spcPct val="90000"/>
              </a:lnSpc>
              <a:buNone/>
            </a:pPr>
            <a:endParaRPr lang="en-US" altLang="zh-CN" sz="2400" b="0" dirty="0">
              <a:sym typeface="STXinwei"/>
            </a:endParaRPr>
          </a:p>
          <a:p>
            <a:pPr marL="0" indent="0">
              <a:lnSpc>
                <a:spcPct val="90000"/>
              </a:lnSpc>
              <a:buNone/>
            </a:pPr>
            <a:r>
              <a:rPr lang="zh-CN" altLang="en-US" sz="2400" b="0" dirty="0">
                <a:sym typeface="STXinwei"/>
              </a:rPr>
              <a:t>（</a:t>
            </a:r>
            <a:r>
              <a:rPr lang="en-US" altLang="zh-CN" sz="2400" b="0" dirty="0">
                <a:sym typeface="STXinwei"/>
              </a:rPr>
              <a:t>1</a:t>
            </a:r>
            <a:r>
              <a:rPr lang="zh-CN" altLang="en-US" sz="2400" b="0" dirty="0">
                <a:sym typeface="STXinwei"/>
              </a:rPr>
              <a:t>）产品需求规格说明书；</a:t>
            </a:r>
            <a:endParaRPr lang="en-US" altLang="zh-CN" sz="2400" b="0" dirty="0">
              <a:sym typeface="STXinwei"/>
            </a:endParaRPr>
          </a:p>
          <a:p>
            <a:pPr marL="0" indent="0">
              <a:lnSpc>
                <a:spcPct val="90000"/>
              </a:lnSpc>
              <a:buNone/>
            </a:pPr>
            <a:r>
              <a:rPr lang="zh-CN" altLang="en-US" sz="2400" b="0" dirty="0">
                <a:sym typeface="STXinwei"/>
              </a:rPr>
              <a:t>（</a:t>
            </a:r>
            <a:r>
              <a:rPr lang="en-US" altLang="zh-CN" sz="2400" b="0" dirty="0">
                <a:sym typeface="STXinwei"/>
              </a:rPr>
              <a:t>2</a:t>
            </a:r>
            <a:r>
              <a:rPr lang="zh-CN" altLang="en-US" sz="2400" b="0" dirty="0">
                <a:sym typeface="STXinwei"/>
              </a:rPr>
              <a:t>）用户界面规范及设计；</a:t>
            </a:r>
            <a:endParaRPr lang="en-US" altLang="zh-CN" sz="2400" b="0" dirty="0">
              <a:sym typeface="STXinwei"/>
            </a:endParaRPr>
          </a:p>
          <a:p>
            <a:pPr marL="0" indent="0">
              <a:lnSpc>
                <a:spcPct val="90000"/>
              </a:lnSpc>
              <a:buNone/>
            </a:pPr>
            <a:r>
              <a:rPr lang="zh-CN" altLang="en-US" sz="2400" b="0" dirty="0">
                <a:sym typeface="STXinwei"/>
              </a:rPr>
              <a:t>（</a:t>
            </a:r>
            <a:r>
              <a:rPr lang="en-US" altLang="zh-CN" sz="2400" b="0" dirty="0">
                <a:sym typeface="STXinwei"/>
              </a:rPr>
              <a:t>3</a:t>
            </a:r>
            <a:r>
              <a:rPr lang="zh-CN" altLang="en-US" sz="2400" b="0" dirty="0">
                <a:sym typeface="STXinwei"/>
              </a:rPr>
              <a:t>）架构设计、概要设计、详细设计及模型；</a:t>
            </a:r>
            <a:endParaRPr lang="en-US" altLang="zh-CN" sz="2400" b="0" dirty="0">
              <a:sym typeface="STXinwei"/>
            </a:endParaRPr>
          </a:p>
          <a:p>
            <a:pPr marL="0" indent="0">
              <a:lnSpc>
                <a:spcPct val="90000"/>
              </a:lnSpc>
              <a:buNone/>
            </a:pPr>
            <a:r>
              <a:rPr lang="zh-CN" altLang="en-US" sz="2400" b="0" dirty="0">
                <a:sym typeface="STXinwei"/>
              </a:rPr>
              <a:t>（</a:t>
            </a:r>
            <a:r>
              <a:rPr lang="en-US" altLang="zh-CN" sz="2400" b="0" dirty="0">
                <a:sym typeface="STXinwei"/>
              </a:rPr>
              <a:t>4</a:t>
            </a:r>
            <a:r>
              <a:rPr lang="zh-CN" altLang="en-US" sz="2400" b="0" dirty="0">
                <a:sym typeface="STXinwei"/>
              </a:rPr>
              <a:t>）源代码；</a:t>
            </a:r>
            <a:endParaRPr lang="en-US" altLang="zh-CN" sz="2400" b="0" dirty="0">
              <a:sym typeface="STXinwei"/>
            </a:endParaRPr>
          </a:p>
          <a:p>
            <a:pPr marL="0" indent="0">
              <a:lnSpc>
                <a:spcPct val="90000"/>
              </a:lnSpc>
              <a:buNone/>
            </a:pPr>
            <a:r>
              <a:rPr lang="zh-CN" altLang="en-US" sz="2400" b="0" dirty="0">
                <a:sym typeface="STXinwei"/>
              </a:rPr>
              <a:t>（</a:t>
            </a:r>
            <a:r>
              <a:rPr lang="en-US" altLang="zh-CN" sz="2400" b="0" dirty="0">
                <a:sym typeface="STXinwei"/>
              </a:rPr>
              <a:t>5</a:t>
            </a:r>
            <a:r>
              <a:rPr lang="zh-CN" altLang="en-US" sz="2400" b="0" dirty="0">
                <a:sym typeface="STXinwei"/>
              </a:rPr>
              <a:t>）测试计划、设计、用例及步骤；</a:t>
            </a:r>
            <a:endParaRPr lang="en-US" altLang="zh-CN" sz="2400" b="0" dirty="0">
              <a:sym typeface="STXinwei"/>
            </a:endParaRPr>
          </a:p>
          <a:p>
            <a:pPr marL="0" indent="0">
              <a:lnSpc>
                <a:spcPct val="90000"/>
              </a:lnSpc>
              <a:buNone/>
            </a:pPr>
            <a:r>
              <a:rPr lang="zh-CN" altLang="en-US" sz="2400" b="0" dirty="0">
                <a:sym typeface="STXinwei"/>
              </a:rPr>
              <a:t>（</a:t>
            </a:r>
            <a:r>
              <a:rPr lang="en-US" altLang="zh-CN" sz="2400" b="0" dirty="0">
                <a:sym typeface="STXinwei"/>
              </a:rPr>
              <a:t>6</a:t>
            </a:r>
            <a:r>
              <a:rPr lang="zh-CN" altLang="en-US" sz="2400" b="0" dirty="0">
                <a:sym typeface="STXinwei"/>
              </a:rPr>
              <a:t>）项目计划包括开发计划、配置管理计划和质量保证计划等。</a:t>
            </a:r>
            <a:endParaRPr lang="en-US" altLang="zh-CN" sz="2400" b="0" dirty="0">
              <a:sym typeface="STXinwei"/>
            </a:endParaRPr>
          </a:p>
          <a:p>
            <a:pPr marL="0" indent="0">
              <a:lnSpc>
                <a:spcPct val="90000"/>
              </a:lnSpc>
              <a:buNone/>
            </a:pPr>
            <a:endParaRPr lang="en-US" altLang="zh-CN" sz="2400" b="0" dirty="0">
              <a:sym typeface="STXinwei"/>
            </a:endParaRPr>
          </a:p>
          <a:p>
            <a:pPr marL="0" indent="0">
              <a:lnSpc>
                <a:spcPct val="90000"/>
              </a:lnSpc>
              <a:buNone/>
            </a:pPr>
            <a:r>
              <a:rPr lang="zh-CN" altLang="en-US" sz="2400" b="0" dirty="0">
                <a:sym typeface="STXinwei"/>
              </a:rPr>
              <a:t>所有这些会涉及的评审内容，应该在编制的项目计划或者小的开发计划中体现，不应该也不能是临时性的安排。</a:t>
            </a:r>
            <a:endParaRPr lang="en-US" altLang="zh-CN" sz="2400" b="0" dirty="0">
              <a:sym typeface="STXinwei"/>
            </a:endParaRPr>
          </a:p>
        </p:txBody>
      </p:sp>
      <p:sp>
        <p:nvSpPr>
          <p:cNvPr id="160" name="Shape 160"/>
          <p:cNvSpPr>
            <a:spLocks noGrp="1"/>
          </p:cNvSpPr>
          <p:nvPr>
            <p:ph type="sldNum" sz="quarter" idx="4294967295"/>
          </p:nvPr>
        </p:nvSpPr>
        <p:spPr>
          <a:xfrm>
            <a:off x="8638314" y="6525344"/>
            <a:ext cx="218441" cy="348430"/>
          </a:xfrm>
          <a:prstGeom prst="rect">
            <a:avLst/>
          </a:prstGeom>
        </p:spPr>
        <p:txBody>
          <a:bodyPr anchor="t"/>
          <a:lstStyle>
            <a:lvl1pPr algn="ctr">
              <a:defRPr sz="1800"/>
            </a:lvl1pPr>
          </a:lstStyle>
          <a:p>
            <a:fld id="{86CB4B4D-7CA3-9044-876B-883B54F8677D}"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1200">
        <p:wipe/>
      </p:transition>
    </mc:Choice>
    <mc:Fallback>
      <p:transition spd="slow">
        <p:wip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p:cNvSpPr>
          <p:nvPr>
            <p:ph type="title"/>
          </p:nvPr>
        </p:nvSpPr>
        <p:spPr>
          <a:xfrm>
            <a:off x="755575" y="404664"/>
            <a:ext cx="7357566" cy="576263"/>
          </a:xfrm>
          <a:prstGeom prst="rect">
            <a:avLst/>
          </a:prstGeom>
        </p:spPr>
        <p:txBody>
          <a:bodyPr>
            <a:normAutofit fontScale="90000"/>
          </a:bodyPr>
          <a:lstStyle/>
          <a:p>
            <a:r>
              <a:rPr lang="en-US" altLang="zh-CN" dirty="0"/>
              <a:t>3.</a:t>
            </a:r>
            <a:r>
              <a:rPr lang="zh-CN" altLang="en-US" dirty="0"/>
              <a:t>软件评审的角色和职能</a:t>
            </a:r>
            <a:endParaRPr dirty="0"/>
          </a:p>
        </p:txBody>
      </p:sp>
      <p:sp>
        <p:nvSpPr>
          <p:cNvPr id="159" name="Shape 159"/>
          <p:cNvSpPr>
            <a:spLocks noGrp="1"/>
          </p:cNvSpPr>
          <p:nvPr>
            <p:ph type="body" idx="1"/>
          </p:nvPr>
        </p:nvSpPr>
        <p:spPr>
          <a:xfrm>
            <a:off x="179511" y="1340767"/>
            <a:ext cx="8856986" cy="4968554"/>
          </a:xfrm>
          <a:prstGeom prst="rect">
            <a:avLst/>
          </a:prstGeom>
        </p:spPr>
        <p:txBody>
          <a:bodyPr>
            <a:normAutofit/>
          </a:bodyPr>
          <a:lstStyle/>
          <a:p>
            <a:r>
              <a:rPr lang="zh-CN" altLang="en-US" sz="2200" b="0" dirty="0"/>
              <a:t>在这其中需要用到评审小组，评审小组至少由</a:t>
            </a:r>
            <a:r>
              <a:rPr lang="en-US" altLang="zh-CN" sz="2200" b="0" dirty="0"/>
              <a:t>3</a:t>
            </a:r>
            <a:r>
              <a:rPr lang="zh-CN" altLang="en-US" sz="2200" b="0" dirty="0"/>
              <a:t>人组成（包括被审材料作者），一般为</a:t>
            </a:r>
            <a:r>
              <a:rPr lang="en-US" altLang="zh-CN" sz="2200" b="0" dirty="0"/>
              <a:t>4</a:t>
            </a:r>
            <a:r>
              <a:rPr lang="zh-CN" altLang="en-US" sz="2200" b="0" dirty="0"/>
              <a:t>至</a:t>
            </a:r>
            <a:r>
              <a:rPr lang="en-US" altLang="zh-CN" sz="2200" b="0" dirty="0"/>
              <a:t>7</a:t>
            </a:r>
            <a:r>
              <a:rPr lang="zh-CN" altLang="en-US" sz="2200" b="0" dirty="0"/>
              <a:t>人。通常，概要性的设计文档需要较多评审人员，涉及详细技术的评审只需要较少的评审人员。</a:t>
            </a:r>
            <a:endParaRPr lang="en-US" altLang="zh-CN" sz="2200" b="0" dirty="0"/>
          </a:p>
          <a:p>
            <a:pPr marL="0" indent="0">
              <a:buNone/>
            </a:pPr>
            <a:r>
              <a:rPr lang="en-US" altLang="zh-CN" sz="2200" b="0" dirty="0"/>
              <a:t>      </a:t>
            </a:r>
            <a:r>
              <a:rPr lang="zh-CN" altLang="en-US" sz="2200" b="0" dirty="0"/>
              <a:t>评审小组应包括下列角色：</a:t>
            </a:r>
            <a:endParaRPr lang="en-US" altLang="zh-CN" sz="2200" b="0" dirty="0"/>
          </a:p>
          <a:p>
            <a:pPr marL="0" indent="0">
              <a:buNone/>
            </a:pPr>
            <a:endParaRPr lang="zh-CN" altLang="en-US" sz="2200" b="0" dirty="0"/>
          </a:p>
          <a:p>
            <a:r>
              <a:rPr lang="zh-CN" altLang="en-US" sz="2200" dirty="0"/>
              <a:t>评审员（</a:t>
            </a:r>
            <a:r>
              <a:rPr lang="en-US" altLang="zh-CN" sz="2200" dirty="0"/>
              <a:t>Reviewer</a:t>
            </a:r>
            <a:r>
              <a:rPr lang="zh-CN" altLang="en-US" sz="2200" dirty="0"/>
              <a:t>、</a:t>
            </a:r>
            <a:r>
              <a:rPr lang="en-US" altLang="zh-CN" sz="2200" dirty="0"/>
              <a:t>Inspector</a:t>
            </a:r>
            <a:r>
              <a:rPr lang="zh-CN" altLang="en-US" sz="2200" dirty="0"/>
              <a:t>）</a:t>
            </a:r>
            <a:endParaRPr lang="en-US" altLang="zh-CN" sz="2200" b="0" dirty="0"/>
          </a:p>
          <a:p>
            <a:r>
              <a:rPr lang="en-US" altLang="zh-CN" sz="2200" b="0" dirty="0"/>
              <a:t>     </a:t>
            </a:r>
            <a:r>
              <a:rPr lang="zh-CN" altLang="en-US" sz="2200" b="0" dirty="0"/>
              <a:t>评审小组中的</a:t>
            </a:r>
            <a:r>
              <a:rPr lang="zh-CN" altLang="en-US" sz="2200" b="0" dirty="0">
                <a:solidFill>
                  <a:srgbClr val="FF0000"/>
                </a:solidFill>
              </a:rPr>
              <a:t>每一成员</a:t>
            </a:r>
            <a:r>
              <a:rPr lang="zh-CN" altLang="en-US" sz="2200" b="0" dirty="0"/>
              <a:t>，无论他（她）是否是主持人、作者、宣读员、记录员，都是评审员。他们的职责是在会前准备阶段和会上检查被审查材料，找出其中的缺陷。合适的评审员人选包括</a:t>
            </a:r>
            <a:r>
              <a:rPr lang="zh-CN" altLang="en-US" sz="2200" b="0" u="sng" dirty="0"/>
              <a:t>被审材料在生命周期中的前一阶段、本阶段和下一阶段的相关开发人员</a:t>
            </a:r>
            <a:r>
              <a:rPr lang="zh-CN" altLang="en-US" sz="2200" b="0" dirty="0"/>
              <a:t>。例如，需求分析评审员可以包括客户和概要设计者，详细设计和代码的评审员可以包括概要设计者、相关模块开发人员、测试人员。</a:t>
            </a:r>
            <a:endParaRPr lang="zh-CN" altLang="en-US" sz="2200" b="0" dirty="0"/>
          </a:p>
          <a:p>
            <a:pPr>
              <a:lnSpc>
                <a:spcPct val="90000"/>
              </a:lnSpc>
            </a:pPr>
            <a:endParaRPr sz="2400" b="0" dirty="0">
              <a:sym typeface="STXinwei"/>
            </a:endParaRPr>
          </a:p>
        </p:txBody>
      </p:sp>
      <p:sp>
        <p:nvSpPr>
          <p:cNvPr id="160" name="Shape 160"/>
          <p:cNvSpPr>
            <a:spLocks noGrp="1"/>
          </p:cNvSpPr>
          <p:nvPr>
            <p:ph type="sldNum" sz="quarter" idx="4294967295"/>
          </p:nvPr>
        </p:nvSpPr>
        <p:spPr>
          <a:xfrm>
            <a:off x="8638314" y="6525344"/>
            <a:ext cx="218441" cy="348430"/>
          </a:xfrm>
          <a:prstGeom prst="rect">
            <a:avLst/>
          </a:prstGeom>
        </p:spPr>
        <p:txBody>
          <a:bodyPr anchor="t"/>
          <a:lstStyle>
            <a:lvl1pPr algn="ctr">
              <a:defRPr sz="1800"/>
            </a:lvl1pPr>
          </a:lstStyle>
          <a:p>
            <a:fld id="{86CB4B4D-7CA3-9044-876B-883B54F8677D}"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1200">
        <p:wipe/>
      </p:transition>
    </mc:Choice>
    <mc:Fallback>
      <p:transition spd="slow">
        <p:wip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p:cNvSpPr>
          <p:nvPr>
            <p:ph type="title"/>
          </p:nvPr>
        </p:nvSpPr>
        <p:spPr>
          <a:xfrm>
            <a:off x="755575" y="404664"/>
            <a:ext cx="7357566" cy="576263"/>
          </a:xfrm>
          <a:prstGeom prst="rect">
            <a:avLst/>
          </a:prstGeom>
        </p:spPr>
        <p:txBody>
          <a:bodyPr>
            <a:normAutofit fontScale="90000"/>
          </a:bodyPr>
          <a:lstStyle/>
          <a:p>
            <a:r>
              <a:rPr lang="en-US" altLang="zh-CN" dirty="0"/>
              <a:t>3.</a:t>
            </a:r>
            <a:r>
              <a:rPr lang="zh-CN" altLang="en-US" dirty="0"/>
              <a:t>软件评审的角色和职能</a:t>
            </a:r>
            <a:endParaRPr dirty="0"/>
          </a:p>
        </p:txBody>
      </p:sp>
      <p:sp>
        <p:nvSpPr>
          <p:cNvPr id="159" name="Shape 159"/>
          <p:cNvSpPr>
            <a:spLocks noGrp="1"/>
          </p:cNvSpPr>
          <p:nvPr>
            <p:ph type="body" idx="1"/>
          </p:nvPr>
        </p:nvSpPr>
        <p:spPr>
          <a:xfrm>
            <a:off x="179511" y="1165273"/>
            <a:ext cx="8856986" cy="5360071"/>
          </a:xfrm>
          <a:prstGeom prst="rect">
            <a:avLst/>
          </a:prstGeom>
        </p:spPr>
        <p:txBody>
          <a:bodyPr>
            <a:normAutofit fontScale="62500" lnSpcReduction="20000"/>
          </a:bodyPr>
          <a:lstStyle/>
          <a:p>
            <a:pPr>
              <a:lnSpc>
                <a:spcPct val="120000"/>
              </a:lnSpc>
            </a:pPr>
            <a:r>
              <a:rPr lang="zh-CN" altLang="en-US" sz="3200" dirty="0"/>
              <a:t>主持人（</a:t>
            </a:r>
            <a:r>
              <a:rPr lang="en-US" altLang="zh-CN" sz="3200" dirty="0"/>
              <a:t>Moderator</a:t>
            </a:r>
            <a:r>
              <a:rPr lang="zh-CN" altLang="en-US" sz="3200" dirty="0"/>
              <a:t>）</a:t>
            </a:r>
            <a:endParaRPr lang="en-US" altLang="zh-CN" sz="3200" b="0" dirty="0"/>
          </a:p>
          <a:p>
            <a:pPr>
              <a:lnSpc>
                <a:spcPct val="120000"/>
              </a:lnSpc>
            </a:pPr>
            <a:r>
              <a:rPr lang="en-US" altLang="zh-CN" sz="3200" b="0" dirty="0"/>
              <a:t>      </a:t>
            </a:r>
            <a:r>
              <a:rPr lang="zh-CN" altLang="en-US" sz="3200" b="0" dirty="0"/>
              <a:t>支持人的主要职责，在评审会前负责</a:t>
            </a:r>
            <a:r>
              <a:rPr lang="zh-CN" altLang="en-US" sz="3200" b="0" u="sng" dirty="0"/>
              <a:t>正规技术评审计划和会前准备的检查</a:t>
            </a:r>
            <a:r>
              <a:rPr lang="zh-CN" altLang="en-US" sz="3200" b="0" dirty="0"/>
              <a:t>；在评审会中负责把握评审会方向，保证评审会的工作效率；在评审会后负责对问题的分类及问题修改后的复核。</a:t>
            </a:r>
            <a:endParaRPr lang="zh-CN" altLang="en-US" sz="3200" b="0" dirty="0"/>
          </a:p>
          <a:p>
            <a:pPr>
              <a:lnSpc>
                <a:spcPct val="120000"/>
              </a:lnSpc>
            </a:pPr>
            <a:r>
              <a:rPr lang="zh-CN" altLang="en-US" sz="3200" dirty="0"/>
              <a:t>宣读员（</a:t>
            </a:r>
            <a:r>
              <a:rPr lang="en-US" altLang="zh-CN" sz="3200" dirty="0"/>
              <a:t>Reader</a:t>
            </a:r>
            <a:r>
              <a:rPr lang="zh-CN" altLang="en-US" sz="3200" dirty="0"/>
              <a:t>）</a:t>
            </a:r>
            <a:endParaRPr lang="en-US" altLang="zh-CN" sz="3200" b="0" dirty="0"/>
          </a:p>
          <a:p>
            <a:pPr>
              <a:lnSpc>
                <a:spcPct val="120000"/>
              </a:lnSpc>
            </a:pPr>
            <a:r>
              <a:rPr lang="en-US" altLang="zh-CN" sz="3200" b="0" dirty="0"/>
              <a:t>      </a:t>
            </a:r>
            <a:r>
              <a:rPr lang="zh-CN" altLang="en-US" sz="3200" b="0" dirty="0"/>
              <a:t>宣读员的任务是在评审会上</a:t>
            </a:r>
            <a:r>
              <a:rPr lang="zh-CN" altLang="en-US" sz="3200" b="0" u="sng" dirty="0"/>
              <a:t>通过朗读和分段来引导评审小组遍历被审材料</a:t>
            </a:r>
            <a:r>
              <a:rPr lang="zh-CN" altLang="en-US" sz="3200" b="0" dirty="0"/>
              <a:t>。除了代码评审可以选择作者作为宣读员外，其他评审最好选择直接参与后续开发阶段的人员作为宣读员。</a:t>
            </a:r>
            <a:endParaRPr lang="zh-CN" altLang="en-US" sz="3200" b="0" dirty="0"/>
          </a:p>
          <a:p>
            <a:pPr>
              <a:lnSpc>
                <a:spcPct val="120000"/>
              </a:lnSpc>
            </a:pPr>
            <a:r>
              <a:rPr lang="zh-CN" altLang="en-US" sz="3200" dirty="0"/>
              <a:t>记录员（</a:t>
            </a:r>
            <a:r>
              <a:rPr lang="en-US" altLang="zh-CN" sz="3200" dirty="0"/>
              <a:t>Recorder</a:t>
            </a:r>
            <a:r>
              <a:rPr lang="zh-CN" altLang="en-US" sz="3200" dirty="0"/>
              <a:t>）</a:t>
            </a:r>
            <a:endParaRPr lang="en-US" altLang="zh-CN" sz="3200" b="0" dirty="0"/>
          </a:p>
          <a:p>
            <a:pPr>
              <a:lnSpc>
                <a:spcPct val="120000"/>
              </a:lnSpc>
            </a:pPr>
            <a:r>
              <a:rPr lang="en-US" altLang="zh-CN" sz="3200" b="0" dirty="0"/>
              <a:t>      </a:t>
            </a:r>
            <a:r>
              <a:rPr lang="zh-CN" altLang="en-US" sz="3200" b="0" dirty="0"/>
              <a:t>记录员负责将评审会上发现的软件问题记录在“技术评审问题记录表”。在评审会上提出的但尚未解决的任何问题以及前序工作产品的任何错误都应加以记录。</a:t>
            </a:r>
            <a:endParaRPr lang="zh-CN" altLang="en-US" sz="3200" b="0" dirty="0"/>
          </a:p>
          <a:p>
            <a:pPr>
              <a:lnSpc>
                <a:spcPct val="120000"/>
              </a:lnSpc>
            </a:pPr>
            <a:r>
              <a:rPr lang="zh-CN" altLang="en-US" sz="3200" dirty="0"/>
              <a:t>作者（</a:t>
            </a:r>
            <a:r>
              <a:rPr lang="en-US" altLang="zh-CN" sz="3200" dirty="0"/>
              <a:t>Author</a:t>
            </a:r>
            <a:r>
              <a:rPr lang="zh-CN" altLang="en-US" sz="3200" dirty="0"/>
              <a:t>）</a:t>
            </a:r>
            <a:endParaRPr lang="en-US" altLang="zh-CN" sz="3200" b="0" dirty="0"/>
          </a:p>
          <a:p>
            <a:pPr>
              <a:lnSpc>
                <a:spcPct val="120000"/>
              </a:lnSpc>
            </a:pPr>
            <a:r>
              <a:rPr lang="en-US" altLang="zh-CN" sz="3200" b="0" dirty="0"/>
              <a:t>     </a:t>
            </a:r>
            <a:r>
              <a:rPr lang="zh-CN" altLang="en-US" sz="3200" b="0" dirty="0"/>
              <a:t>被审材料的作者负责在评审会上回答评审员提出的问题，以避免明显的误解被当作问题。此外，作者须负责修正在评审会上发现的问题。</a:t>
            </a:r>
            <a:endParaRPr lang="zh-CN" altLang="en-US" sz="3200" b="0" dirty="0"/>
          </a:p>
          <a:p>
            <a:pPr>
              <a:lnSpc>
                <a:spcPct val="90000"/>
              </a:lnSpc>
            </a:pPr>
            <a:endParaRPr sz="2400" b="0" dirty="0">
              <a:sym typeface="STXinwei"/>
            </a:endParaRPr>
          </a:p>
        </p:txBody>
      </p:sp>
      <p:sp>
        <p:nvSpPr>
          <p:cNvPr id="160" name="Shape 160"/>
          <p:cNvSpPr>
            <a:spLocks noGrp="1"/>
          </p:cNvSpPr>
          <p:nvPr>
            <p:ph type="sldNum" sz="quarter" idx="4294967295"/>
          </p:nvPr>
        </p:nvSpPr>
        <p:spPr>
          <a:xfrm>
            <a:off x="8638314" y="6525344"/>
            <a:ext cx="218441" cy="348430"/>
          </a:xfrm>
          <a:prstGeom prst="rect">
            <a:avLst/>
          </a:prstGeom>
        </p:spPr>
        <p:txBody>
          <a:bodyPr anchor="t"/>
          <a:lstStyle>
            <a:lvl1pPr algn="ctr">
              <a:defRPr sz="1800"/>
            </a:lvl1pPr>
          </a:lstStyle>
          <a:p>
            <a:fld id="{86CB4B4D-7CA3-9044-876B-883B54F8677D}"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1200">
        <p:wipe/>
      </p:transition>
    </mc:Choice>
    <mc:Fallback>
      <p:transition spd="slow">
        <p:wip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p:cNvSpPr>
          <p:nvPr>
            <p:ph type="title"/>
          </p:nvPr>
        </p:nvSpPr>
        <p:spPr>
          <a:xfrm>
            <a:off x="755575" y="404664"/>
            <a:ext cx="7357566" cy="576263"/>
          </a:xfrm>
          <a:prstGeom prst="rect">
            <a:avLst/>
          </a:prstGeom>
        </p:spPr>
        <p:txBody>
          <a:bodyPr>
            <a:normAutofit fontScale="90000"/>
          </a:bodyPr>
          <a:lstStyle/>
          <a:p>
            <a:r>
              <a:rPr lang="en-US" altLang="zh-CN" dirty="0"/>
              <a:t>4.</a:t>
            </a:r>
            <a:r>
              <a:rPr lang="zh-CN" altLang="en-US" dirty="0"/>
              <a:t>评审过程</a:t>
            </a:r>
            <a:endParaRPr dirty="0"/>
          </a:p>
        </p:txBody>
      </p:sp>
      <p:sp>
        <p:nvSpPr>
          <p:cNvPr id="159" name="Shape 159"/>
          <p:cNvSpPr>
            <a:spLocks noGrp="1"/>
          </p:cNvSpPr>
          <p:nvPr>
            <p:ph type="body" idx="1"/>
          </p:nvPr>
        </p:nvSpPr>
        <p:spPr>
          <a:xfrm>
            <a:off x="179511" y="1340767"/>
            <a:ext cx="8856986" cy="4968554"/>
          </a:xfrm>
          <a:prstGeom prst="rect">
            <a:avLst/>
          </a:prstGeom>
        </p:spPr>
        <p:txBody>
          <a:bodyPr>
            <a:normAutofit/>
          </a:bodyPr>
          <a:lstStyle/>
          <a:p>
            <a:pPr marL="0" indent="0">
              <a:lnSpc>
                <a:spcPct val="90000"/>
              </a:lnSpc>
              <a:buNone/>
            </a:pPr>
            <a:endParaRPr sz="2400" b="0" dirty="0">
              <a:sym typeface="STXinwei"/>
            </a:endParaRPr>
          </a:p>
        </p:txBody>
      </p:sp>
      <p:sp>
        <p:nvSpPr>
          <p:cNvPr id="160" name="Shape 160"/>
          <p:cNvSpPr>
            <a:spLocks noGrp="1"/>
          </p:cNvSpPr>
          <p:nvPr>
            <p:ph type="sldNum" sz="quarter" idx="4294967295"/>
          </p:nvPr>
        </p:nvSpPr>
        <p:spPr>
          <a:xfrm>
            <a:off x="8638314" y="6525344"/>
            <a:ext cx="218441" cy="348430"/>
          </a:xfrm>
          <a:prstGeom prst="rect">
            <a:avLst/>
          </a:prstGeom>
        </p:spPr>
        <p:txBody>
          <a:bodyPr anchor="t"/>
          <a:lstStyle>
            <a:lvl1pPr algn="ctr">
              <a:defRPr sz="1800"/>
            </a:lvl1pPr>
          </a:lstStyle>
          <a:p>
            <a:fld id="{86CB4B4D-7CA3-9044-876B-883B54F8677D}" type="slidenum">
              <a:rPr/>
            </a:fld>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511" y="1340767"/>
            <a:ext cx="8009247" cy="4968554"/>
          </a:xfrm>
          <a:prstGeom prst="rect">
            <a:avLst/>
          </a:prstGeom>
        </p:spPr>
      </p:pic>
      <p:sp>
        <p:nvSpPr>
          <p:cNvPr id="2" name="右箭头 1"/>
          <p:cNvSpPr/>
          <p:nvPr/>
        </p:nvSpPr>
        <p:spPr>
          <a:xfrm>
            <a:off x="979565" y="1715061"/>
            <a:ext cx="314325" cy="23797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92929"/>
              </a:solidFill>
              <a:effectLst/>
              <a:uFillTx/>
              <a:latin typeface="+mn-lt"/>
              <a:ea typeface="+mn-ea"/>
              <a:cs typeface="+mn-cs"/>
              <a:sym typeface="Arial" panose="020B0604020202020204"/>
            </a:endParaRPr>
          </a:p>
        </p:txBody>
      </p:sp>
      <p:sp>
        <p:nvSpPr>
          <p:cNvPr id="7" name="右箭头 6"/>
          <p:cNvSpPr/>
          <p:nvPr/>
        </p:nvSpPr>
        <p:spPr>
          <a:xfrm>
            <a:off x="1903373" y="2674023"/>
            <a:ext cx="314325" cy="23797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92929"/>
              </a:solidFill>
              <a:effectLst/>
              <a:uFillTx/>
              <a:latin typeface="+mn-lt"/>
              <a:ea typeface="+mn-ea"/>
              <a:cs typeface="+mn-cs"/>
              <a:sym typeface="Arial" panose="020B0604020202020204"/>
            </a:endParaRPr>
          </a:p>
        </p:txBody>
      </p:sp>
      <p:sp>
        <p:nvSpPr>
          <p:cNvPr id="8" name="右箭头 7"/>
          <p:cNvSpPr/>
          <p:nvPr/>
        </p:nvSpPr>
        <p:spPr>
          <a:xfrm>
            <a:off x="3516769" y="2648025"/>
            <a:ext cx="314325" cy="23797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92929"/>
              </a:solidFill>
              <a:effectLst/>
              <a:uFillTx/>
              <a:latin typeface="+mn-lt"/>
              <a:ea typeface="+mn-ea"/>
              <a:cs typeface="+mn-cs"/>
              <a:sym typeface="Arial" panose="020B0604020202020204"/>
            </a:endParaRPr>
          </a:p>
        </p:txBody>
      </p:sp>
      <p:sp>
        <p:nvSpPr>
          <p:cNvPr id="9" name="右箭头 8"/>
          <p:cNvSpPr/>
          <p:nvPr/>
        </p:nvSpPr>
        <p:spPr>
          <a:xfrm>
            <a:off x="4608004" y="3706055"/>
            <a:ext cx="314325" cy="23797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92929"/>
              </a:solidFill>
              <a:effectLst/>
              <a:uFillTx/>
              <a:latin typeface="+mn-lt"/>
              <a:ea typeface="+mn-ea"/>
              <a:cs typeface="+mn-cs"/>
              <a:sym typeface="Arial" panose="020B0604020202020204"/>
            </a:endParaRPr>
          </a:p>
        </p:txBody>
      </p:sp>
      <p:sp>
        <p:nvSpPr>
          <p:cNvPr id="10" name="右箭头 9"/>
          <p:cNvSpPr/>
          <p:nvPr/>
        </p:nvSpPr>
        <p:spPr>
          <a:xfrm>
            <a:off x="4580776" y="4715487"/>
            <a:ext cx="314325" cy="23797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92929"/>
              </a:solidFill>
              <a:effectLst/>
              <a:uFillTx/>
              <a:latin typeface="+mn-lt"/>
              <a:ea typeface="+mn-ea"/>
              <a:cs typeface="+mn-cs"/>
              <a:sym typeface="Arial" panose="020B0604020202020204"/>
            </a:endParaRPr>
          </a:p>
        </p:txBody>
      </p:sp>
      <p:sp>
        <p:nvSpPr>
          <p:cNvPr id="11" name="右箭头 10"/>
          <p:cNvSpPr/>
          <p:nvPr/>
        </p:nvSpPr>
        <p:spPr>
          <a:xfrm>
            <a:off x="5695600" y="2637664"/>
            <a:ext cx="314325" cy="23797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92929"/>
              </a:solidFill>
              <a:effectLst/>
              <a:uFillTx/>
              <a:latin typeface="+mn-lt"/>
              <a:ea typeface="+mn-ea"/>
              <a:cs typeface="+mn-cs"/>
              <a:sym typeface="Arial" panose="020B0604020202020204"/>
            </a:endParaRPr>
          </a:p>
        </p:txBody>
      </p:sp>
      <p:sp>
        <p:nvSpPr>
          <p:cNvPr id="12" name="右箭头 11"/>
          <p:cNvSpPr/>
          <p:nvPr/>
        </p:nvSpPr>
        <p:spPr>
          <a:xfrm>
            <a:off x="5852762" y="3709908"/>
            <a:ext cx="314325" cy="23797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92929"/>
              </a:solidFill>
              <a:effectLst/>
              <a:uFillTx/>
              <a:latin typeface="+mn-lt"/>
              <a:ea typeface="+mn-ea"/>
              <a:cs typeface="+mn-cs"/>
              <a:sym typeface="Arial" panose="020B0604020202020204"/>
            </a:endParaRPr>
          </a:p>
        </p:txBody>
      </p:sp>
      <p:sp>
        <p:nvSpPr>
          <p:cNvPr id="13" name="右箭头 12"/>
          <p:cNvSpPr/>
          <p:nvPr/>
        </p:nvSpPr>
        <p:spPr>
          <a:xfrm>
            <a:off x="6790974" y="1715061"/>
            <a:ext cx="314325" cy="23797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292929"/>
              </a:solidFill>
              <a:effectLst/>
              <a:uFillTx/>
              <a:latin typeface="+mn-lt"/>
              <a:ea typeface="+mn-ea"/>
              <a:cs typeface="+mn-cs"/>
              <a:sym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12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P spid="12"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p:cNvSpPr>
          <p:nvPr>
            <p:ph type="title"/>
          </p:nvPr>
        </p:nvSpPr>
        <p:spPr>
          <a:xfrm>
            <a:off x="755575" y="404664"/>
            <a:ext cx="7357566" cy="576263"/>
          </a:xfrm>
          <a:prstGeom prst="rect">
            <a:avLst/>
          </a:prstGeom>
        </p:spPr>
        <p:txBody>
          <a:bodyPr>
            <a:normAutofit fontScale="90000"/>
          </a:bodyPr>
          <a:lstStyle/>
          <a:p>
            <a:r>
              <a:rPr lang="en-US" altLang="zh-CN" dirty="0"/>
              <a:t>5.</a:t>
            </a:r>
            <a:r>
              <a:rPr lang="zh-CN" altLang="en-US" dirty="0"/>
              <a:t>小结</a:t>
            </a:r>
            <a:endParaRPr dirty="0"/>
          </a:p>
        </p:txBody>
      </p:sp>
      <p:sp>
        <p:nvSpPr>
          <p:cNvPr id="159" name="Shape 159"/>
          <p:cNvSpPr>
            <a:spLocks noGrp="1"/>
          </p:cNvSpPr>
          <p:nvPr>
            <p:ph type="body" idx="1"/>
          </p:nvPr>
        </p:nvSpPr>
        <p:spPr>
          <a:xfrm>
            <a:off x="179511" y="1340767"/>
            <a:ext cx="8856986" cy="4968554"/>
          </a:xfrm>
          <a:prstGeom prst="rect">
            <a:avLst/>
          </a:prstGeom>
        </p:spPr>
        <p:txBody>
          <a:bodyPr>
            <a:normAutofit/>
          </a:bodyPr>
          <a:lstStyle/>
          <a:p>
            <a:pPr marL="0" indent="0">
              <a:lnSpc>
                <a:spcPct val="90000"/>
              </a:lnSpc>
              <a:buNone/>
            </a:pPr>
            <a:r>
              <a:rPr lang="zh-CN" altLang="en-US" sz="2400" b="0" dirty="0">
                <a:sym typeface="STXinwei"/>
              </a:rPr>
              <a:t>       通过评审，开发人员能够及时得到专家的帮助指导，加深对软件产品的理解，有利于及早和高效地从软件工作产品中识别并消除缺陷。评审应当严格遵循其流程、步骤和注意事项，保证评审的有效性。</a:t>
            </a:r>
            <a:endParaRPr lang="en-US" altLang="zh-CN" sz="2400" b="0" dirty="0">
              <a:sym typeface="STXinwei"/>
            </a:endParaRPr>
          </a:p>
        </p:txBody>
      </p:sp>
      <p:sp>
        <p:nvSpPr>
          <p:cNvPr id="160" name="Shape 160"/>
          <p:cNvSpPr>
            <a:spLocks noGrp="1"/>
          </p:cNvSpPr>
          <p:nvPr>
            <p:ph type="sldNum" sz="quarter" idx="4294967295"/>
          </p:nvPr>
        </p:nvSpPr>
        <p:spPr>
          <a:xfrm>
            <a:off x="8638314" y="6525344"/>
            <a:ext cx="218441" cy="348430"/>
          </a:xfrm>
          <a:prstGeom prst="rect">
            <a:avLst/>
          </a:prstGeom>
        </p:spPr>
        <p:txBody>
          <a:bodyPr anchor="t"/>
          <a:lstStyle>
            <a:lvl1pPr algn="ctr">
              <a:defRPr sz="1800"/>
            </a:lvl1pPr>
          </a:lstStyle>
          <a:p>
            <a:fld id="{86CB4B4D-7CA3-9044-876B-883B54F8677D}" type="slidenum">
              <a:rPr/>
            </a:fld>
            <a:endParaRPr/>
          </a:p>
        </p:txBody>
      </p:sp>
    </p:spTree>
  </p:cSld>
  <p:clrMapOvr>
    <a:masterClrMapping/>
  </p:clrMapOvr>
  <mc:AlternateContent xmlns:mc="http://schemas.openxmlformats.org/markup-compatibility/2006">
    <mc:Choice xmlns:p14="http://schemas.microsoft.com/office/powerpoint/2010/main" Requires="p14">
      <p:transition spd="slow" p14:dur="1200">
        <p:wipe/>
      </p:transition>
    </mc:Choice>
    <mc:Fallback>
      <p:transition spd="slow">
        <p:wip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z="4000" b="1" dirty="0" smtClean="0">
                <a:solidFill>
                  <a:schemeClr val="accent6">
                    <a:lumMod val="75000"/>
                  </a:schemeClr>
                </a:solidFill>
              </a:rPr>
              <a:t>目录</a:t>
            </a:r>
            <a:endParaRPr lang="zh-CN" altLang="en-US" sz="4000" b="1" dirty="0">
              <a:solidFill>
                <a:schemeClr val="accent6">
                  <a:lumMod val="75000"/>
                </a:schemeClr>
              </a:solidFill>
            </a:endParaRPr>
          </a:p>
        </p:txBody>
      </p:sp>
      <p:sp>
        <p:nvSpPr>
          <p:cNvPr id="3" name="内容占位符 2"/>
          <p:cNvSpPr>
            <a:spLocks noGrp="1"/>
          </p:cNvSpPr>
          <p:nvPr>
            <p:ph idx="1"/>
          </p:nvPr>
        </p:nvSpPr>
        <p:spPr/>
        <p:txBody>
          <a:bodyPr>
            <a:normAutofit/>
          </a:bodyPr>
          <a:lstStyle/>
          <a:p>
            <a:r>
              <a:rPr lang="zh-CN" altLang="en-US" sz="3600" dirty="0" smtClean="0"/>
              <a:t>定义</a:t>
            </a:r>
            <a:endParaRPr lang="en-US" altLang="zh-CN" sz="3600" dirty="0" smtClean="0"/>
          </a:p>
          <a:p>
            <a:pPr lvl="3"/>
            <a:endParaRPr lang="en-US" altLang="zh-CN" sz="2850" dirty="0" smtClean="0"/>
          </a:p>
          <a:p>
            <a:r>
              <a:rPr lang="zh-CN" altLang="en-US" sz="3600" dirty="0" smtClean="0"/>
              <a:t>分类</a:t>
            </a:r>
            <a:endParaRPr lang="en-US" altLang="zh-CN" sz="3600" dirty="0" smtClean="0"/>
          </a:p>
          <a:p>
            <a:pPr lvl="3"/>
            <a:r>
              <a:rPr lang="en-US" altLang="zh-CN" sz="2850" dirty="0" smtClean="0"/>
              <a:t>NASA/IEEE</a:t>
            </a:r>
            <a:endParaRPr lang="en-US" altLang="zh-CN" sz="2850" dirty="0" smtClean="0"/>
          </a:p>
          <a:p>
            <a:r>
              <a:rPr lang="zh-CN" altLang="en-US" sz="3600" dirty="0" smtClean="0"/>
              <a:t>意义</a:t>
            </a:r>
            <a:endParaRPr lang="en-US" altLang="zh-CN" sz="3600" dirty="0" smtClean="0"/>
          </a:p>
          <a:p>
            <a:pPr lvl="3"/>
            <a:r>
              <a:rPr lang="zh-CN" altLang="en-US" sz="2850" dirty="0" smtClean="0"/>
              <a:t>有效</a:t>
            </a:r>
            <a:r>
              <a:rPr lang="en-US" altLang="zh-CN" sz="2850" dirty="0" smtClean="0"/>
              <a:t>/</a:t>
            </a:r>
            <a:r>
              <a:rPr lang="zh-CN" altLang="en-US" sz="2850" dirty="0" smtClean="0"/>
              <a:t>更早发现错误</a:t>
            </a:r>
            <a:endParaRPr lang="zh-CN" altLang="en-US" sz="2850" dirty="0"/>
          </a:p>
        </p:txBody>
      </p:sp>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28650" y="1825624"/>
            <a:ext cx="8515350" cy="5032375"/>
          </a:xfrm>
        </p:spPr>
        <p:txBody>
          <a:bodyPr>
            <a:normAutofit/>
          </a:bodyPr>
          <a:lstStyle/>
          <a:p>
            <a:r>
              <a:rPr lang="zh-CN" altLang="en-US" sz="3200" b="1" dirty="0" smtClean="0"/>
              <a:t>定义</a:t>
            </a:r>
            <a:r>
              <a:rPr lang="zh-CN" altLang="en-US" sz="3200" dirty="0" smtClean="0"/>
              <a:t>：向</a:t>
            </a:r>
            <a:r>
              <a:rPr lang="zh-CN" altLang="en-US" sz="3200" smtClean="0"/>
              <a:t>项目成员</a:t>
            </a:r>
            <a:r>
              <a:rPr lang="zh-CN" altLang="en-US" sz="3200" dirty="0" smtClean="0"/>
              <a:t>、管理人员、用户、顾客、用户代表或其它相关方阐述软件产品的过程或会议</a:t>
            </a:r>
            <a:r>
              <a:rPr lang="en-US" altLang="zh-CN" sz="3200" dirty="0" smtClean="0"/>
              <a:t>,</a:t>
            </a:r>
            <a:r>
              <a:rPr lang="zh-CN" altLang="en-US" sz="3200" dirty="0" smtClean="0"/>
              <a:t>以便进行评论或批准</a:t>
            </a:r>
            <a:endParaRPr lang="en-US" altLang="zh-CN" sz="3200" dirty="0" smtClean="0"/>
          </a:p>
          <a:p>
            <a:pPr marL="0" indent="0">
              <a:buNone/>
            </a:pPr>
            <a:r>
              <a:rPr lang="en-US" altLang="zh-CN" sz="3200" dirty="0" smtClean="0"/>
              <a:t>	</a:t>
            </a:r>
            <a:r>
              <a:rPr lang="en-US" altLang="zh-CN" sz="2400" dirty="0" smtClean="0"/>
              <a:t>——IEEEStd.1028-1997,IEEE Standard for Software Reviews		——</a:t>
            </a:r>
            <a:r>
              <a:rPr lang="zh-CN" altLang="en-US" sz="2400" dirty="0" smtClean="0"/>
              <a:t>国家军用标准</a:t>
            </a:r>
            <a:r>
              <a:rPr lang="en-US" altLang="zh-CN" sz="2400" dirty="0" smtClean="0"/>
              <a:t>《</a:t>
            </a:r>
            <a:r>
              <a:rPr lang="zh-CN" altLang="en-US" sz="2400" dirty="0" smtClean="0"/>
              <a:t>军用软件评审</a:t>
            </a:r>
            <a:r>
              <a:rPr lang="en-US" altLang="zh-CN" sz="2400" dirty="0" smtClean="0"/>
              <a:t>》</a:t>
            </a:r>
            <a:endParaRPr lang="en-US" altLang="zh-CN" sz="2400" dirty="0" smtClean="0"/>
          </a:p>
          <a:p>
            <a:pPr marL="0" indent="0">
              <a:buNone/>
            </a:pPr>
            <a:endParaRPr lang="en-US" altLang="zh-CN" sz="3200" dirty="0" smtClean="0"/>
          </a:p>
          <a:p>
            <a:r>
              <a:rPr lang="zh-CN" altLang="en-US" sz="3200" b="1" dirty="0"/>
              <a:t>目标</a:t>
            </a:r>
            <a:r>
              <a:rPr lang="zh-CN" altLang="zh-CN" sz="3200" dirty="0"/>
              <a:t>：发现错误</a:t>
            </a:r>
            <a:r>
              <a:rPr lang="en-US" altLang="zh-CN" sz="3200" dirty="0"/>
              <a:t>/</a:t>
            </a:r>
            <a:r>
              <a:rPr lang="zh-CN" altLang="zh-CN" sz="3200" dirty="0"/>
              <a:t>保证软件按预先定义的标准表示 </a:t>
            </a:r>
            <a:r>
              <a:rPr lang="en-US" altLang="zh-CN" sz="3200" dirty="0"/>
              <a:t>/</a:t>
            </a:r>
            <a:r>
              <a:rPr lang="zh-CN" altLang="zh-CN" sz="3200" dirty="0"/>
              <a:t>统一</a:t>
            </a:r>
            <a:r>
              <a:rPr lang="zh-CN" altLang="en-US" sz="3200" dirty="0"/>
              <a:t>开发</a:t>
            </a:r>
            <a:r>
              <a:rPr lang="zh-CN" altLang="zh-CN" sz="3200" dirty="0"/>
              <a:t>方式</a:t>
            </a:r>
            <a:r>
              <a:rPr lang="en-US" altLang="zh-CN" sz="3200" dirty="0"/>
              <a:t>/</a:t>
            </a:r>
            <a:r>
              <a:rPr lang="zh-CN" altLang="en-US" sz="3200" dirty="0"/>
              <a:t>便</a:t>
            </a:r>
            <a:r>
              <a:rPr lang="zh-CN" altLang="zh-CN" sz="3200" dirty="0"/>
              <a:t>于</a:t>
            </a:r>
            <a:r>
              <a:rPr lang="zh-CN" altLang="zh-CN" sz="3200" dirty="0" smtClean="0"/>
              <a:t>管理</a:t>
            </a:r>
            <a:endParaRPr lang="en-US" altLang="zh-CN" sz="3200" dirty="0" smtClean="0"/>
          </a:p>
        </p:txBody>
      </p:sp>
      <p:sp>
        <p:nvSpPr>
          <p:cNvPr id="10" name="云形标注 9"/>
          <p:cNvSpPr/>
          <p:nvPr/>
        </p:nvSpPr>
        <p:spPr>
          <a:xfrm>
            <a:off x="5598543" y="4934310"/>
            <a:ext cx="3640348" cy="1725283"/>
          </a:xfrm>
          <a:prstGeom prst="cloudCallout">
            <a:avLst/>
          </a:prstGeom>
          <a:gradFill>
            <a:gsLst>
              <a:gs pos="0">
                <a:schemeClr val="accent6">
                  <a:lumMod val="110000"/>
                  <a:satMod val="105000"/>
                  <a:tint val="67000"/>
                  <a:alpha val="50000"/>
                </a:schemeClr>
              </a:gs>
              <a:gs pos="50000">
                <a:schemeClr val="accent6">
                  <a:lumMod val="105000"/>
                  <a:satMod val="103000"/>
                  <a:tint val="73000"/>
                </a:schemeClr>
              </a:gs>
              <a:gs pos="100000">
                <a:schemeClr val="accent6">
                  <a:lumMod val="105000"/>
                  <a:satMod val="109000"/>
                  <a:tint val="81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zh-CN" sz="2400" b="1" dirty="0" smtClean="0"/>
              <a:t>静态测试</a:t>
            </a:r>
            <a:r>
              <a:rPr lang="zh-CN" altLang="en-US" sz="2400" b="1" dirty="0" smtClean="0"/>
              <a:t>技术</a:t>
            </a:r>
            <a:endParaRPr lang="en-US" altLang="zh-CN" sz="2400" b="1" dirty="0" smtClean="0"/>
          </a:p>
          <a:p>
            <a:pPr algn="ctr"/>
            <a:r>
              <a:rPr lang="zh-CN" altLang="zh-CN" sz="2400" b="1" dirty="0" smtClean="0"/>
              <a:t>阅读被检查文档</a:t>
            </a:r>
            <a:endParaRPr lang="zh-CN" altLang="en-US" sz="2400" b="1" dirty="0"/>
          </a:p>
        </p:txBody>
      </p:sp>
      <p:sp>
        <p:nvSpPr>
          <p:cNvPr id="2" name="标题 1"/>
          <p:cNvSpPr>
            <a:spLocks noGrp="1"/>
          </p:cNvSpPr>
          <p:nvPr>
            <p:ph type="title"/>
          </p:nvPr>
        </p:nvSpPr>
        <p:spPr/>
        <p:txBody>
          <a:bodyPr>
            <a:normAutofit fontScale="90000"/>
          </a:bodyPr>
          <a:lstStyle/>
          <a:p>
            <a:r>
              <a:rPr lang="zh-CN" altLang="en-US" sz="4000" b="1" dirty="0">
                <a:solidFill>
                  <a:schemeClr val="accent6">
                    <a:lumMod val="75000"/>
                  </a:schemeClr>
                </a:solidFill>
              </a:rPr>
              <a:t>软件评审定义</a:t>
            </a:r>
            <a:endParaRPr lang="zh-CN" altLang="en-US" sz="4000" b="1" dirty="0">
              <a:solidFill>
                <a:schemeClr val="accent6">
                  <a:lumMod val="75000"/>
                </a:schemeClr>
              </a:solidFill>
            </a:endParaRPr>
          </a:p>
        </p:txBody>
      </p:sp>
      <p:cxnSp>
        <p:nvCxnSpPr>
          <p:cNvPr id="6" name="直接连接符 5"/>
          <p:cNvCxnSpPr/>
          <p:nvPr/>
        </p:nvCxnSpPr>
        <p:spPr>
          <a:xfrm>
            <a:off x="5773401" y="2777706"/>
            <a:ext cx="1587260" cy="0"/>
          </a:xfrm>
          <a:prstGeom prst="line">
            <a:avLst/>
          </a:prstGeom>
          <a:ln w="76200"/>
        </p:spPr>
        <p:style>
          <a:lnRef idx="1">
            <a:schemeClr val="accent6"/>
          </a:lnRef>
          <a:fillRef idx="0">
            <a:schemeClr val="accent6"/>
          </a:fillRef>
          <a:effectRef idx="0">
            <a:schemeClr val="accent6"/>
          </a:effectRef>
          <a:fontRef idx="minor">
            <a:schemeClr val="tx1"/>
          </a:fontRef>
        </p:style>
      </p:cxn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500" fill="hold"/>
                                        <p:tgtEl>
                                          <p:spTgt spid="10"/>
                                        </p:tgtEl>
                                        <p:attrNameLst>
                                          <p:attrName>ppt_x</p:attrName>
                                        </p:attrNameLst>
                                      </p:cBhvr>
                                      <p:tavLst>
                                        <p:tav tm="0">
                                          <p:val>
                                            <p:strVal val="#ppt_x"/>
                                          </p:val>
                                        </p:tav>
                                        <p:tav tm="100000">
                                          <p:val>
                                            <p:strVal val="#ppt_x"/>
                                          </p:val>
                                        </p:tav>
                                      </p:tavLst>
                                    </p:anim>
                                    <p:anim calcmode="lin" valueType="num">
                                      <p:cBhvr additive="base">
                                        <p:cTn id="2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z="4000" b="1" dirty="0">
                <a:solidFill>
                  <a:schemeClr val="accent6">
                    <a:lumMod val="75000"/>
                  </a:schemeClr>
                </a:solidFill>
              </a:rPr>
              <a:t>分类：</a:t>
            </a:r>
            <a:r>
              <a:rPr lang="en-US" altLang="zh-CN" sz="4000" b="1" dirty="0">
                <a:solidFill>
                  <a:schemeClr val="accent6">
                    <a:lumMod val="75000"/>
                  </a:schemeClr>
                </a:solidFill>
              </a:rPr>
              <a:t>NASA-GB-001</a:t>
            </a:r>
            <a:endParaRPr lang="zh-CN" altLang="en-US" sz="4000" b="1" dirty="0">
              <a:solidFill>
                <a:schemeClr val="accent6">
                  <a:lumMod val="75000"/>
                </a:schemeClr>
              </a:solidFill>
            </a:endParaRPr>
          </a:p>
        </p:txBody>
      </p:sp>
      <p:sp>
        <p:nvSpPr>
          <p:cNvPr id="3" name="内容占位符 2"/>
          <p:cNvSpPr>
            <a:spLocks noGrp="1"/>
          </p:cNvSpPr>
          <p:nvPr>
            <p:ph idx="1"/>
          </p:nvPr>
        </p:nvSpPr>
        <p:spPr/>
        <p:txBody>
          <a:bodyPr>
            <a:normAutofit/>
          </a:bodyPr>
          <a:lstStyle/>
          <a:p>
            <a:pPr marL="0" indent="0">
              <a:buNone/>
            </a:pPr>
            <a:r>
              <a:rPr lang="en-US" altLang="zh-CN" sz="2400" b="1" dirty="0" smtClean="0"/>
              <a:t>NASA-GB-001</a:t>
            </a:r>
            <a:r>
              <a:rPr lang="zh-CN" altLang="zh-CN" sz="2400" b="1" dirty="0" smtClean="0"/>
              <a:t>软件</a:t>
            </a:r>
            <a:r>
              <a:rPr lang="zh-CN" altLang="zh-CN" sz="2400" b="1" dirty="0"/>
              <a:t>候选里程碑</a:t>
            </a:r>
            <a:r>
              <a:rPr lang="zh-CN" altLang="zh-CN" sz="2400" b="1" dirty="0" smtClean="0"/>
              <a:t>评审</a:t>
            </a:r>
            <a:r>
              <a:rPr lang="zh-CN" altLang="en-US" sz="2400" b="1" dirty="0"/>
              <a:t>项目分类</a:t>
            </a:r>
            <a:r>
              <a:rPr lang="en-US" altLang="zh-CN" sz="2400" b="1" dirty="0" smtClean="0"/>
              <a:t>:</a:t>
            </a:r>
            <a:endParaRPr lang="en-US" altLang="zh-CN" sz="2400" b="1" dirty="0" smtClean="0"/>
          </a:p>
          <a:p>
            <a:r>
              <a:rPr lang="zh-CN" altLang="zh-CN" sz="2400" dirty="0" smtClean="0"/>
              <a:t>软件</a:t>
            </a:r>
            <a:r>
              <a:rPr lang="zh-CN" altLang="zh-CN" sz="2400" dirty="0"/>
              <a:t>概念</a:t>
            </a:r>
            <a:r>
              <a:rPr lang="zh-CN" altLang="zh-CN" sz="2400" dirty="0" smtClean="0"/>
              <a:t>评审</a:t>
            </a:r>
            <a:endParaRPr lang="en-US" altLang="zh-CN" sz="2400" dirty="0" smtClean="0"/>
          </a:p>
          <a:p>
            <a:r>
              <a:rPr lang="zh-CN" altLang="zh-CN" sz="2400" dirty="0" smtClean="0"/>
              <a:t>需求评审</a:t>
            </a:r>
            <a:endParaRPr lang="en-US" altLang="zh-CN" sz="2400" dirty="0" smtClean="0"/>
          </a:p>
          <a:p>
            <a:r>
              <a:rPr lang="zh-CN" altLang="zh-CN" sz="2400" dirty="0" smtClean="0"/>
              <a:t>系统设计评审</a:t>
            </a:r>
            <a:endParaRPr lang="en-US" altLang="zh-CN" sz="2400" dirty="0" smtClean="0"/>
          </a:p>
          <a:p>
            <a:r>
              <a:rPr lang="zh-CN" altLang="zh-CN" sz="2400" dirty="0" smtClean="0"/>
              <a:t>需求规格</a:t>
            </a:r>
            <a:r>
              <a:rPr lang="zh-CN" altLang="zh-CN" sz="2400" dirty="0"/>
              <a:t>说明</a:t>
            </a:r>
            <a:r>
              <a:rPr lang="zh-CN" altLang="zh-CN" sz="2400" dirty="0" smtClean="0"/>
              <a:t>评审</a:t>
            </a:r>
            <a:endParaRPr lang="en-US" altLang="zh-CN" sz="2400" dirty="0" smtClean="0"/>
          </a:p>
          <a:p>
            <a:r>
              <a:rPr lang="zh-CN" altLang="zh-CN" sz="2400" dirty="0" smtClean="0"/>
              <a:t>设计评审</a:t>
            </a:r>
            <a:endParaRPr lang="en-US" altLang="zh-CN" sz="2400" dirty="0" smtClean="0"/>
          </a:p>
          <a:p>
            <a:r>
              <a:rPr lang="zh-CN" altLang="zh-CN" sz="2400" dirty="0" smtClean="0"/>
              <a:t>测试</a:t>
            </a:r>
            <a:r>
              <a:rPr lang="zh-CN" altLang="zh-CN" sz="2400" dirty="0"/>
              <a:t>准备</a:t>
            </a:r>
            <a:r>
              <a:rPr lang="zh-CN" altLang="zh-CN" sz="2400" dirty="0" smtClean="0"/>
              <a:t>评审</a:t>
            </a:r>
            <a:endParaRPr lang="en-US" altLang="zh-CN" sz="2400" dirty="0" smtClean="0"/>
          </a:p>
          <a:p>
            <a:r>
              <a:rPr lang="zh-CN" altLang="zh-CN" sz="2400" dirty="0" smtClean="0"/>
              <a:t>运行</a:t>
            </a:r>
            <a:r>
              <a:rPr lang="zh-CN" altLang="zh-CN" sz="2400" dirty="0"/>
              <a:t>准备</a:t>
            </a:r>
            <a:r>
              <a:rPr lang="zh-CN" altLang="zh-CN" sz="2400" dirty="0" smtClean="0"/>
              <a:t>评审</a:t>
            </a:r>
            <a:endParaRPr lang="zh-CN" altLang="en-US" sz="2400" dirty="0"/>
          </a:p>
        </p:txBody>
      </p:sp>
      <p:sp>
        <p:nvSpPr>
          <p:cNvPr id="4" name="云形标注 3"/>
          <p:cNvSpPr/>
          <p:nvPr/>
        </p:nvSpPr>
        <p:spPr>
          <a:xfrm>
            <a:off x="4875002" y="3729624"/>
            <a:ext cx="3640348" cy="1725283"/>
          </a:xfrm>
          <a:prstGeom prst="cloudCallout">
            <a:avLst/>
          </a:prstGeom>
          <a:gradFill>
            <a:gsLst>
              <a:gs pos="0">
                <a:schemeClr val="accent6">
                  <a:lumMod val="110000"/>
                  <a:satMod val="105000"/>
                  <a:tint val="67000"/>
                  <a:alpha val="50000"/>
                </a:schemeClr>
              </a:gs>
              <a:gs pos="50000">
                <a:schemeClr val="accent6">
                  <a:lumMod val="105000"/>
                  <a:satMod val="103000"/>
                  <a:tint val="73000"/>
                </a:schemeClr>
              </a:gs>
              <a:gs pos="100000">
                <a:schemeClr val="accent6">
                  <a:lumMod val="105000"/>
                  <a:satMod val="109000"/>
                  <a:tint val="81000"/>
                </a:schemeClr>
              </a:gs>
            </a:gsLst>
          </a:gradFill>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2400" b="1" dirty="0"/>
              <a:t>软件开发的各个阶段</a:t>
            </a:r>
            <a:endParaRPr lang="zh-CN" altLang="en-US" sz="2400" b="1" dirty="0"/>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ppt_x"/>
                                          </p:val>
                                        </p:tav>
                                        <p:tav tm="100000">
                                          <p:val>
                                            <p:strVal val="#ppt_x"/>
                                          </p:val>
                                        </p:tav>
                                      </p:tavLst>
                                    </p:anim>
                                    <p:anim calcmode="lin" valueType="num">
                                      <p:cBhvr additive="base">
                                        <p:cTn id="2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z="4000" b="1" dirty="0">
                <a:solidFill>
                  <a:schemeClr val="accent6">
                    <a:lumMod val="75000"/>
                  </a:schemeClr>
                </a:solidFill>
              </a:rPr>
              <a:t>分类：</a:t>
            </a:r>
            <a:r>
              <a:rPr lang="en-US" altLang="zh-CN" sz="4000" b="1" dirty="0">
                <a:solidFill>
                  <a:schemeClr val="accent6">
                    <a:lumMod val="75000"/>
                  </a:schemeClr>
                </a:solidFill>
              </a:rPr>
              <a:t>IEEE</a:t>
            </a:r>
            <a:r>
              <a:rPr lang="zh-CN" altLang="zh-CN" sz="4000" b="1" dirty="0">
                <a:solidFill>
                  <a:schemeClr val="accent6">
                    <a:lumMod val="75000"/>
                  </a:schemeClr>
                </a:solidFill>
              </a:rPr>
              <a:t>标准</a:t>
            </a:r>
            <a:endParaRPr lang="zh-CN" altLang="en-US" sz="4000" b="1" dirty="0">
              <a:solidFill>
                <a:schemeClr val="accent6">
                  <a:lumMod val="75000"/>
                </a:schemeClr>
              </a:solidFill>
            </a:endParaRPr>
          </a:p>
        </p:txBody>
      </p:sp>
      <p:sp>
        <p:nvSpPr>
          <p:cNvPr id="3" name="内容占位符 2"/>
          <p:cNvSpPr>
            <a:spLocks noGrp="1"/>
          </p:cNvSpPr>
          <p:nvPr>
            <p:ph idx="1"/>
          </p:nvPr>
        </p:nvSpPr>
        <p:spPr>
          <a:xfrm>
            <a:off x="628650" y="1825624"/>
            <a:ext cx="7886700" cy="4676775"/>
          </a:xfrm>
        </p:spPr>
        <p:txBody>
          <a:bodyPr>
            <a:normAutofit/>
          </a:bodyPr>
          <a:lstStyle/>
          <a:p>
            <a:pPr marL="0" indent="0">
              <a:buNone/>
            </a:pPr>
            <a:r>
              <a:rPr lang="zh-CN" altLang="zh-CN" sz="2400" b="1" dirty="0" smtClean="0"/>
              <a:t>管理</a:t>
            </a:r>
            <a:r>
              <a:rPr lang="zh-CN" altLang="zh-CN" sz="2400" b="1" dirty="0"/>
              <a:t>评审、技术评审、审查、走查和审核</a:t>
            </a:r>
            <a:r>
              <a:rPr lang="zh-CN" altLang="en-US" sz="2400" b="1" dirty="0"/>
              <a:t>：</a:t>
            </a:r>
            <a:endParaRPr lang="en-US" altLang="zh-CN" sz="2400" b="1" dirty="0"/>
          </a:p>
          <a:p>
            <a:r>
              <a:rPr lang="zh-CN" altLang="zh-CN" sz="1700" dirty="0" smtClean="0"/>
              <a:t>管理评审</a:t>
            </a:r>
            <a:r>
              <a:rPr lang="zh-CN" altLang="en-US" sz="1700" dirty="0" smtClean="0"/>
              <a:t>：</a:t>
            </a:r>
            <a:r>
              <a:rPr lang="zh-CN" altLang="zh-CN" sz="1700" dirty="0" smtClean="0"/>
              <a:t>“</a:t>
            </a:r>
            <a:r>
              <a:rPr lang="zh-CN" altLang="zh-CN" sz="1700" dirty="0"/>
              <a:t>由管理部门或代表管理部门对软件获取、供应、开发、运行或维护等过程进行的一种系统性评价</a:t>
            </a:r>
            <a:r>
              <a:rPr lang="en-US" altLang="zh-CN" sz="1700" dirty="0"/>
              <a:t>,</a:t>
            </a:r>
            <a:r>
              <a:rPr lang="zh-CN" altLang="zh-CN" sz="1700" dirty="0"/>
              <a:t>以便监督进展</a:t>
            </a:r>
            <a:r>
              <a:rPr lang="en-US" altLang="zh-CN" sz="1700" dirty="0"/>
              <a:t>,</a:t>
            </a:r>
            <a:r>
              <a:rPr lang="zh-CN" altLang="zh-CN" sz="1700" dirty="0"/>
              <a:t>确定计划和进度的状态</a:t>
            </a:r>
            <a:r>
              <a:rPr lang="en-US" altLang="zh-CN" sz="1700" dirty="0"/>
              <a:t>,</a:t>
            </a:r>
            <a:r>
              <a:rPr lang="zh-CN" altLang="zh-CN" sz="1700" dirty="0"/>
              <a:t>确认需求和需求的系统分配</a:t>
            </a:r>
            <a:r>
              <a:rPr lang="en-US" altLang="zh-CN" sz="1700" dirty="0"/>
              <a:t>,</a:t>
            </a:r>
            <a:r>
              <a:rPr lang="zh-CN" altLang="zh-CN" sz="1700" dirty="0"/>
              <a:t>或评价管理方法的有效性”。</a:t>
            </a:r>
            <a:endParaRPr lang="zh-CN" altLang="zh-CN" sz="1700" dirty="0"/>
          </a:p>
          <a:p>
            <a:r>
              <a:rPr lang="zh-CN" altLang="zh-CN" sz="1700" dirty="0"/>
              <a:t>技术</a:t>
            </a:r>
            <a:r>
              <a:rPr lang="zh-CN" altLang="zh-CN" sz="1700" dirty="0" smtClean="0"/>
              <a:t>评审</a:t>
            </a:r>
            <a:r>
              <a:rPr lang="zh-CN" altLang="en-US" sz="1700" dirty="0" smtClean="0"/>
              <a:t>：</a:t>
            </a:r>
            <a:r>
              <a:rPr lang="zh-CN" altLang="zh-CN" sz="1700" dirty="0" smtClean="0"/>
              <a:t>“</a:t>
            </a:r>
            <a:r>
              <a:rPr lang="zh-CN" altLang="zh-CN" sz="1700" dirty="0"/>
              <a:t>由一组合格人员对软件产品进行的一种系统性评价</a:t>
            </a:r>
            <a:r>
              <a:rPr lang="en-US" altLang="zh-CN" sz="1700" dirty="0"/>
              <a:t>,</a:t>
            </a:r>
            <a:r>
              <a:rPr lang="zh-CN" altLang="zh-CN" sz="1700" dirty="0"/>
              <a:t>以检查软件产品对其预期用途的适合性</a:t>
            </a:r>
            <a:r>
              <a:rPr lang="en-US" altLang="zh-CN" sz="1700" dirty="0"/>
              <a:t>,</a:t>
            </a:r>
            <a:r>
              <a:rPr lang="zh-CN" altLang="zh-CN" sz="1700" dirty="0"/>
              <a:t>并标识与规格说明和标准的差异。技术评审可提出推荐的备选方法并检查各种不同的备选方法”</a:t>
            </a:r>
            <a:endParaRPr lang="zh-CN" altLang="zh-CN" sz="1700" dirty="0"/>
          </a:p>
          <a:p>
            <a:r>
              <a:rPr lang="zh-CN" altLang="zh-CN" sz="1700" dirty="0" smtClean="0"/>
              <a:t>审查</a:t>
            </a:r>
            <a:r>
              <a:rPr lang="zh-CN" altLang="en-US" sz="1700" dirty="0" smtClean="0"/>
              <a:t>：</a:t>
            </a:r>
            <a:r>
              <a:rPr lang="zh-CN" altLang="zh-CN" sz="1700" dirty="0" smtClean="0"/>
              <a:t>“</a:t>
            </a:r>
            <a:r>
              <a:rPr lang="zh-CN" altLang="zh-CN" sz="1700" dirty="0"/>
              <a:t>对软件产品的一种可视检查</a:t>
            </a:r>
            <a:r>
              <a:rPr lang="en-US" altLang="zh-CN" sz="1700" dirty="0"/>
              <a:t>,</a:t>
            </a:r>
            <a:r>
              <a:rPr lang="zh-CN" altLang="zh-CN" sz="1700" dirty="0"/>
              <a:t>以检测和标识软件异常</a:t>
            </a:r>
            <a:r>
              <a:rPr lang="en-US" altLang="zh-CN" sz="1700" dirty="0"/>
              <a:t>,</a:t>
            </a:r>
            <a:r>
              <a:rPr lang="zh-CN" altLang="zh-CN" sz="1700" dirty="0"/>
              <a:t>其中包括错误、对标准和规格说明的偏离。审查是由受过审查技术培训的、公正的组织者领导的同行检查”</a:t>
            </a:r>
            <a:endParaRPr lang="zh-CN" altLang="zh-CN" sz="1700" dirty="0"/>
          </a:p>
          <a:p>
            <a:r>
              <a:rPr lang="zh-CN" altLang="zh-CN" sz="1700" dirty="0" smtClean="0"/>
              <a:t>走查</a:t>
            </a:r>
            <a:r>
              <a:rPr lang="zh-CN" altLang="en-US" sz="1700" dirty="0" smtClean="0"/>
              <a:t>：</a:t>
            </a:r>
            <a:r>
              <a:rPr lang="zh-CN" altLang="zh-CN" sz="1700" dirty="0" smtClean="0"/>
              <a:t>“</a:t>
            </a:r>
            <a:r>
              <a:rPr lang="zh-CN" altLang="zh-CN" sz="1700" dirty="0"/>
              <a:t>一种静态分析技术</a:t>
            </a:r>
            <a:r>
              <a:rPr lang="en-US" altLang="zh-CN" sz="1700" dirty="0"/>
              <a:t>,</a:t>
            </a:r>
            <a:r>
              <a:rPr lang="zh-CN" altLang="zh-CN" sz="1700" dirty="0"/>
              <a:t>设计者或程序员引导开发组成员和其它有关方通读软件产品</a:t>
            </a:r>
            <a:r>
              <a:rPr lang="en-US" altLang="zh-CN" sz="1700" dirty="0"/>
              <a:t>,</a:t>
            </a:r>
            <a:r>
              <a:rPr lang="zh-CN" altLang="zh-CN" sz="1700" dirty="0"/>
              <a:t>参与者提出问题并对可能的错误、违反开发标准之处和其它问题进行评论”。</a:t>
            </a:r>
            <a:endParaRPr lang="zh-CN" altLang="zh-CN" sz="1700" dirty="0"/>
          </a:p>
          <a:p>
            <a:r>
              <a:rPr lang="zh-CN" altLang="zh-CN" sz="1700" dirty="0" smtClean="0"/>
              <a:t>审核</a:t>
            </a:r>
            <a:r>
              <a:rPr lang="zh-CN" altLang="en-US" sz="1700" dirty="0" smtClean="0"/>
              <a:t>：</a:t>
            </a:r>
            <a:r>
              <a:rPr lang="zh-CN" altLang="zh-CN" sz="1700" dirty="0" smtClean="0"/>
              <a:t>“</a:t>
            </a:r>
            <a:r>
              <a:rPr lang="zh-CN" altLang="zh-CN" sz="1700" dirty="0"/>
              <a:t>为评估与规格说明、标准、合同协议或其它准则的符合性而对软件产品、软件过程或软件过程集合所作的一种独立检查</a:t>
            </a:r>
            <a:endParaRPr lang="zh-CN" altLang="zh-CN" sz="1700" dirty="0"/>
          </a:p>
          <a:p>
            <a:endParaRPr lang="zh-CN" altLang="en-US" dirty="0"/>
          </a:p>
        </p:txBody>
      </p:sp>
      <p:graphicFrame>
        <p:nvGraphicFramePr>
          <p:cNvPr id="5" name="表格 4"/>
          <p:cNvGraphicFramePr>
            <a:graphicFrameLocks noGrp="1"/>
          </p:cNvGraphicFramePr>
          <p:nvPr/>
        </p:nvGraphicFramePr>
        <p:xfrm>
          <a:off x="58058" y="1393370"/>
          <a:ext cx="9042399" cy="5388749"/>
        </p:xfrm>
        <a:graphic>
          <a:graphicData uri="http://schemas.openxmlformats.org/drawingml/2006/table">
            <a:tbl>
              <a:tblPr firstRow="1" bandRow="1">
                <a:tableStyleId>{93296810-A885-4BE3-A3E7-6D5BEEA58F35}</a:tableStyleId>
              </a:tblPr>
              <a:tblGrid>
                <a:gridCol w="720451"/>
                <a:gridCol w="2867103"/>
                <a:gridCol w="1734964"/>
                <a:gridCol w="1064947"/>
                <a:gridCol w="1696992"/>
                <a:gridCol w="957942"/>
              </a:tblGrid>
              <a:tr h="377775">
                <a:tc>
                  <a:txBody>
                    <a:bodyPr/>
                    <a:lstStyle/>
                    <a:p>
                      <a:endParaRPr lang="zh-CN" altLang="en-US" sz="20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just">
                        <a:spcAft>
                          <a:spcPts val="0"/>
                        </a:spcAft>
                      </a:pPr>
                      <a:r>
                        <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目的</a:t>
                      </a:r>
                      <a:endPar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just">
                        <a:spcAft>
                          <a:spcPts val="0"/>
                        </a:spcAft>
                      </a:pPr>
                      <a:r>
                        <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小组成员</a:t>
                      </a:r>
                      <a:endPar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just">
                        <a:spcAft>
                          <a:spcPts val="0"/>
                        </a:spcAft>
                      </a:pPr>
                      <a:r>
                        <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陈述者</a:t>
                      </a:r>
                      <a:endPar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just">
                        <a:spcAft>
                          <a:spcPts val="0"/>
                        </a:spcAft>
                      </a:pPr>
                      <a:r>
                        <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输出</a:t>
                      </a:r>
                      <a:endPar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just">
                        <a:spcAft>
                          <a:spcPts val="0"/>
                        </a:spcAft>
                      </a:pPr>
                      <a:r>
                        <a:rPr lang="zh-CN" sz="2000" b="1" kern="100" dirty="0" smtClean="0">
                          <a:solidFill>
                            <a:schemeClr val="tx1"/>
                          </a:solidFill>
                          <a:effectLst/>
                          <a:latin typeface="Calibri" panose="020F0502020204030204" charset="0"/>
                          <a:ea typeface="宋体" panose="02010600030101010101" pitchFamily="2" charset="-122"/>
                          <a:cs typeface="Times New Roman" panose="02020603050405020304" pitchFamily="18" charset="0"/>
                        </a:rPr>
                        <a:t>管理</a:t>
                      </a:r>
                      <a:r>
                        <a:rPr lang="zh-CN" altLang="en-US" sz="2000" b="1" kern="100" dirty="0" smtClean="0">
                          <a:solidFill>
                            <a:schemeClr val="tx1"/>
                          </a:solidFill>
                          <a:effectLst/>
                          <a:latin typeface="Calibri" panose="020F0502020204030204" charset="0"/>
                          <a:ea typeface="宋体" panose="02010600030101010101" pitchFamily="2" charset="-122"/>
                          <a:cs typeface="Times New Roman" panose="02020603050405020304" pitchFamily="18" charset="0"/>
                        </a:rPr>
                        <a:t>者</a:t>
                      </a:r>
                      <a:endPar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r>
              <a:tr h="1016924">
                <a:tc>
                  <a:txBody>
                    <a:bodyPr/>
                    <a:lstStyle/>
                    <a:p>
                      <a:pPr algn="just">
                        <a:spcAft>
                          <a:spcPts val="0"/>
                        </a:spcAft>
                      </a:pPr>
                      <a:r>
                        <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管理评审</a:t>
                      </a:r>
                      <a:endPar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确保进度</a:t>
                      </a:r>
                      <a:r>
                        <a:rPr lang="en-US"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a:t>
                      </a: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推荐纠正措施</a:t>
                      </a:r>
                      <a:r>
                        <a:rPr lang="en-US"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 </a:t>
                      </a: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确保适当的资源分 配</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管理人员、技术领导和同行</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项目代表</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rPr>
                        <a:t>管理评审文档</a:t>
                      </a:r>
                      <a:endPar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有</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016924">
                <a:tc>
                  <a:txBody>
                    <a:bodyPr/>
                    <a:lstStyle/>
                    <a:p>
                      <a:pPr algn="just">
                        <a:spcAft>
                          <a:spcPts val="0"/>
                        </a:spcAft>
                      </a:pPr>
                      <a:r>
                        <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技术评审</a:t>
                      </a:r>
                      <a:endPar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评价与规格说明和计 划的符合性</a:t>
                      </a:r>
                      <a:r>
                        <a:rPr lang="en-US"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 </a:t>
                      </a: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确保更改 的完整性</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技术领导和同行</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开发组代表</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技术评审文档</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可选</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762694">
                <a:tc>
                  <a:txBody>
                    <a:bodyPr/>
                    <a:lstStyle/>
                    <a:p>
                      <a:pPr algn="just">
                        <a:spcAft>
                          <a:spcPts val="0"/>
                        </a:spcAft>
                      </a:pPr>
                      <a:r>
                        <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审查</a:t>
                      </a:r>
                      <a:endPar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just">
                        <a:spcAft>
                          <a:spcPts val="0"/>
                        </a:spcAft>
                      </a:pPr>
                      <a:r>
                        <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rPr>
                        <a:t>发现异常</a:t>
                      </a:r>
                      <a:r>
                        <a:rPr lang="en-US" sz="2000" b="0" kern="100">
                          <a:solidFill>
                            <a:schemeClr val="tx1"/>
                          </a:solidFill>
                          <a:effectLst/>
                          <a:latin typeface="Calibri" panose="020F0502020204030204" charset="0"/>
                          <a:ea typeface="宋体" panose="02010600030101010101" pitchFamily="2" charset="-122"/>
                          <a:cs typeface="Times New Roman" panose="02020603050405020304" pitchFamily="18" charset="0"/>
                        </a:rPr>
                        <a:t>;</a:t>
                      </a:r>
                      <a:r>
                        <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rPr>
                        <a:t>验证解决；验证产品质量</a:t>
                      </a:r>
                      <a:endPar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同行</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领读者</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异常清单、异常概述</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rPr>
                        <a:t>无</a:t>
                      </a:r>
                      <a:endPar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016924">
                <a:tc>
                  <a:txBody>
                    <a:bodyPr/>
                    <a:lstStyle/>
                    <a:p>
                      <a:pPr algn="just">
                        <a:spcAft>
                          <a:spcPts val="0"/>
                        </a:spcAft>
                      </a:pPr>
                      <a:r>
                        <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走查</a:t>
                      </a:r>
                      <a:endPar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just">
                        <a:spcAft>
                          <a:spcPts val="0"/>
                        </a:spcAft>
                      </a:pPr>
                      <a:r>
                        <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rPr>
                        <a:t>发现异常</a:t>
                      </a:r>
                      <a:r>
                        <a:rPr lang="en-US" sz="2000" b="0" kern="100">
                          <a:solidFill>
                            <a:schemeClr val="tx1"/>
                          </a:solidFill>
                          <a:effectLst/>
                          <a:latin typeface="Calibri" panose="020F0502020204030204" charset="0"/>
                          <a:ea typeface="宋体" panose="02010600030101010101" pitchFamily="2" charset="-122"/>
                          <a:cs typeface="Times New Roman" panose="02020603050405020304" pitchFamily="18" charset="0"/>
                        </a:rPr>
                        <a:t>; </a:t>
                      </a:r>
                      <a:r>
                        <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rPr>
                        <a:t>检查备选方 法</a:t>
                      </a:r>
                      <a:r>
                        <a:rPr lang="en-US" sz="2000" b="0" kern="100">
                          <a:solidFill>
                            <a:schemeClr val="tx1"/>
                          </a:solidFill>
                          <a:effectLst/>
                          <a:latin typeface="Calibri" panose="020F0502020204030204" charset="0"/>
                          <a:ea typeface="宋体" panose="02010600030101010101" pitchFamily="2" charset="-122"/>
                          <a:cs typeface="Times New Roman" panose="02020603050405020304" pitchFamily="18" charset="0"/>
                        </a:rPr>
                        <a:t>;</a:t>
                      </a:r>
                      <a:r>
                        <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rPr>
                        <a:t>改进产品</a:t>
                      </a:r>
                      <a:r>
                        <a:rPr lang="en-US" sz="2000" b="0" kern="100">
                          <a:solidFill>
                            <a:schemeClr val="tx1"/>
                          </a:solidFill>
                          <a:effectLst/>
                          <a:latin typeface="Calibri" panose="020F0502020204030204" charset="0"/>
                          <a:ea typeface="宋体" panose="02010600030101010101" pitchFamily="2" charset="-122"/>
                          <a:cs typeface="Times New Roman" panose="02020603050405020304" pitchFamily="18" charset="0"/>
                        </a:rPr>
                        <a:t>;</a:t>
                      </a:r>
                      <a:r>
                        <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rPr>
                        <a:t>学习的 论坛</a:t>
                      </a:r>
                      <a:endPar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rPr>
                        <a:t>技术领导和同行</a:t>
                      </a:r>
                      <a:endPar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作者</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异常清单、措施项、后续工作建议</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无</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1179043">
                <a:tc>
                  <a:txBody>
                    <a:bodyPr/>
                    <a:lstStyle/>
                    <a:p>
                      <a:pPr algn="just">
                        <a:spcAft>
                          <a:spcPts val="0"/>
                        </a:spcAft>
                      </a:pPr>
                      <a:r>
                        <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审核</a:t>
                      </a:r>
                      <a:endParaRPr lang="zh-CN" sz="2000" b="1"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just">
                        <a:spcAft>
                          <a:spcPts val="0"/>
                        </a:spcAft>
                      </a:pPr>
                      <a:r>
                        <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rPr>
                        <a:t>独立评价与客观标准 和条例的符合性</a:t>
                      </a:r>
                      <a:endPar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审核员、被审核组织管理和技术人员</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审核者收集信息</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rPr>
                        <a:t>正式生和报告；观察发现和缺陷</a:t>
                      </a:r>
                      <a:endParaRPr lang="zh-CN" sz="2000" b="0" kern="10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just">
                        <a:spcAft>
                          <a:spcPts val="0"/>
                        </a:spcAft>
                      </a:pPr>
                      <a:r>
                        <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rPr>
                        <a:t>有</a:t>
                      </a:r>
                      <a:endParaRPr lang="zh-CN" sz="2000" b="0" kern="100" dirty="0">
                        <a:solidFill>
                          <a:schemeClr val="tx1"/>
                        </a:solidFill>
                        <a:effectLst/>
                        <a:latin typeface="Calibri" panose="020F0502020204030204" charset="0"/>
                        <a:ea typeface="宋体"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z="4000" b="1" dirty="0" smtClean="0">
                <a:solidFill>
                  <a:schemeClr val="accent6">
                    <a:lumMod val="75000"/>
                  </a:schemeClr>
                </a:solidFill>
              </a:rPr>
              <a:t>软件评审意义：有效</a:t>
            </a:r>
            <a:endParaRPr lang="zh-CN" altLang="en-US" sz="4000" b="1" dirty="0">
              <a:solidFill>
                <a:schemeClr val="accent6">
                  <a:lumMod val="75000"/>
                </a:schemeClr>
              </a:solidFill>
            </a:endParaRPr>
          </a:p>
        </p:txBody>
      </p:sp>
      <p:sp>
        <p:nvSpPr>
          <p:cNvPr id="3" name="内容占位符 2"/>
          <p:cNvSpPr>
            <a:spLocks noGrp="1"/>
          </p:cNvSpPr>
          <p:nvPr>
            <p:ph idx="1"/>
          </p:nvPr>
        </p:nvSpPr>
        <p:spPr/>
        <p:txBody>
          <a:bodyPr>
            <a:normAutofit/>
          </a:bodyPr>
          <a:lstStyle/>
          <a:p>
            <a:pPr marL="0" indent="0">
              <a:buNone/>
            </a:pPr>
            <a:r>
              <a:rPr lang="en-US" altLang="zh-CN" sz="3200" dirty="0" smtClean="0"/>
              <a:t>Capers Jones:</a:t>
            </a:r>
            <a:r>
              <a:rPr lang="zh-CN" altLang="zh-CN" sz="3200" dirty="0" smtClean="0"/>
              <a:t>：</a:t>
            </a:r>
            <a:endParaRPr lang="en-US" altLang="zh-CN" sz="3200" dirty="0" smtClean="0"/>
          </a:p>
          <a:p>
            <a:r>
              <a:rPr lang="zh-CN" altLang="zh-CN" sz="3200" dirty="0" smtClean="0"/>
              <a:t>每</a:t>
            </a:r>
            <a:r>
              <a:rPr lang="zh-CN" altLang="zh-CN" sz="3200" dirty="0"/>
              <a:t>一次软件测试将发现并清除目前存在的</a:t>
            </a:r>
            <a:r>
              <a:rPr lang="en-US" altLang="zh-CN" sz="4000" b="1" dirty="0">
                <a:solidFill>
                  <a:schemeClr val="accent6">
                    <a:lumMod val="50000"/>
                  </a:schemeClr>
                </a:solidFill>
              </a:rPr>
              <a:t>30%</a:t>
            </a:r>
            <a:r>
              <a:rPr lang="zh-CN" altLang="zh-CN" sz="3200" dirty="0"/>
              <a:t>的错误；</a:t>
            </a:r>
            <a:endParaRPr lang="zh-CN" altLang="zh-CN" sz="3200" dirty="0"/>
          </a:p>
          <a:p>
            <a:r>
              <a:rPr lang="zh-CN" altLang="zh-CN" sz="3200" dirty="0" smtClean="0"/>
              <a:t>每</a:t>
            </a:r>
            <a:r>
              <a:rPr lang="zh-CN" altLang="zh-CN" sz="3200" dirty="0"/>
              <a:t>一次正式设计审查将发现并清除目前存在的</a:t>
            </a:r>
            <a:r>
              <a:rPr lang="en-US" altLang="zh-CN" sz="4000" b="1" dirty="0">
                <a:solidFill>
                  <a:schemeClr val="accent6">
                    <a:lumMod val="50000"/>
                  </a:schemeClr>
                </a:solidFill>
              </a:rPr>
              <a:t>65%</a:t>
            </a:r>
            <a:r>
              <a:rPr lang="zh-CN" altLang="zh-CN" sz="3200" dirty="0"/>
              <a:t>的</a:t>
            </a:r>
            <a:r>
              <a:rPr lang="en-US" altLang="zh-CN" sz="3200" dirty="0"/>
              <a:t>bug</a:t>
            </a:r>
            <a:r>
              <a:rPr lang="zh-CN" altLang="zh-CN" sz="3200" dirty="0"/>
              <a:t>。</a:t>
            </a:r>
            <a:endParaRPr lang="zh-CN" altLang="zh-CN" sz="3200" dirty="0"/>
          </a:p>
          <a:p>
            <a:endParaRPr lang="zh-CN" altLang="en-US" sz="2850" dirty="0"/>
          </a:p>
        </p:txBody>
      </p:sp>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z="4000" b="1" dirty="0" smtClean="0">
                <a:solidFill>
                  <a:schemeClr val="accent6">
                    <a:lumMod val="75000"/>
                  </a:schemeClr>
                </a:solidFill>
              </a:rPr>
              <a:t>软件评审意义：更早</a:t>
            </a:r>
            <a:endParaRPr lang="zh-CN" altLang="en-US" sz="4000" b="1" dirty="0">
              <a:solidFill>
                <a:schemeClr val="accent6">
                  <a:lumMod val="75000"/>
                </a:schemeClr>
              </a:solidFill>
            </a:endParaRPr>
          </a:p>
        </p:txBody>
      </p:sp>
      <p:sp>
        <p:nvSpPr>
          <p:cNvPr id="3" name="内容占位符 2"/>
          <p:cNvSpPr>
            <a:spLocks noGrp="1"/>
          </p:cNvSpPr>
          <p:nvPr>
            <p:ph idx="1"/>
          </p:nvPr>
        </p:nvSpPr>
        <p:spPr/>
        <p:txBody>
          <a:bodyPr>
            <a:normAutofit/>
          </a:bodyPr>
          <a:lstStyle/>
          <a:p>
            <a:pPr marL="0" indent="0">
              <a:buNone/>
            </a:pPr>
            <a:endParaRPr lang="en-US" altLang="zh-CN" sz="2850" dirty="0" smtClean="0"/>
          </a:p>
          <a:p>
            <a:pPr marL="0" indent="0">
              <a:buNone/>
            </a:pPr>
            <a:endParaRPr lang="en-US" altLang="zh-CN" sz="2850" dirty="0"/>
          </a:p>
          <a:p>
            <a:pPr marL="0" indent="0">
              <a:buNone/>
            </a:pPr>
            <a:endParaRPr lang="en-US" altLang="zh-CN" sz="2850" dirty="0" smtClean="0"/>
          </a:p>
          <a:p>
            <a:pPr marL="0" indent="0">
              <a:buNone/>
            </a:pPr>
            <a:endParaRPr lang="en-US" altLang="zh-CN" sz="2850" dirty="0"/>
          </a:p>
          <a:p>
            <a:pPr marL="0" indent="0">
              <a:buNone/>
            </a:pPr>
            <a:endParaRPr lang="en-US" altLang="zh-CN" sz="2850" dirty="0" smtClean="0"/>
          </a:p>
          <a:p>
            <a:pPr marL="0" indent="0">
              <a:buNone/>
            </a:pPr>
            <a:endParaRPr lang="zh-CN" altLang="en-US" sz="2850" dirty="0"/>
          </a:p>
        </p:txBody>
      </p:sp>
      <p:pic>
        <p:nvPicPr>
          <p:cNvPr id="4" name="图片 3"/>
          <p:cNvPicPr/>
          <p:nvPr/>
        </p:nvPicPr>
        <p:blipFill rotWithShape="1">
          <a:blip r:embed="rId1" cstate="print">
            <a:extLst>
              <a:ext uri="{28A0092B-C50C-407E-A947-70E740481C1C}">
                <a14:useLocalDpi xmlns:a14="http://schemas.microsoft.com/office/drawing/2010/main" val="0"/>
              </a:ext>
            </a:extLst>
          </a:blip>
          <a:srcRect l="27116" t="39878" r="28992" b="14182"/>
          <a:stretch>
            <a:fillRect/>
          </a:stretch>
        </p:blipFill>
        <p:spPr bwMode="auto">
          <a:xfrm>
            <a:off x="1036501" y="1553029"/>
            <a:ext cx="5494927" cy="2452915"/>
          </a:xfrm>
          <a:prstGeom prst="rect">
            <a:avLst/>
          </a:prstGeom>
          <a:ln>
            <a:noFill/>
          </a:ln>
        </p:spPr>
      </p:pic>
      <p:pic>
        <p:nvPicPr>
          <p:cNvPr id="5" name="图片 4"/>
          <p:cNvPicPr/>
          <p:nvPr/>
        </p:nvPicPr>
        <p:blipFill rotWithShape="1">
          <a:blip r:embed="rId2" cstate="print">
            <a:extLst>
              <a:ext uri="{28A0092B-C50C-407E-A947-70E740481C1C}">
                <a14:useLocalDpi xmlns:a14="http://schemas.microsoft.com/office/drawing/2010/main" val="0"/>
              </a:ext>
            </a:extLst>
          </a:blip>
          <a:srcRect l="26746" t="45773" r="31390" b="11760"/>
          <a:stretch>
            <a:fillRect/>
          </a:stretch>
        </p:blipFill>
        <p:spPr bwMode="auto">
          <a:xfrm>
            <a:off x="1036501" y="4140880"/>
            <a:ext cx="5494927" cy="2550205"/>
          </a:xfrm>
          <a:prstGeom prst="rect">
            <a:avLst/>
          </a:prstGeom>
          <a:ln>
            <a:noFill/>
          </a:ln>
        </p:spPr>
      </p:pic>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z="4000" b="1" dirty="0">
                <a:solidFill>
                  <a:schemeClr val="accent6">
                    <a:lumMod val="75000"/>
                  </a:schemeClr>
                </a:solidFill>
              </a:rPr>
              <a:t>问题</a:t>
            </a:r>
            <a:endParaRPr lang="zh-CN" altLang="en-US" sz="4000" b="1" dirty="0">
              <a:solidFill>
                <a:schemeClr val="accent6">
                  <a:lumMod val="75000"/>
                </a:schemeClr>
              </a:solidFill>
            </a:endParaRPr>
          </a:p>
        </p:txBody>
      </p:sp>
      <p:sp>
        <p:nvSpPr>
          <p:cNvPr id="3" name="内容占位符 2"/>
          <p:cNvSpPr>
            <a:spLocks noGrp="1"/>
          </p:cNvSpPr>
          <p:nvPr>
            <p:ph idx="1"/>
          </p:nvPr>
        </p:nvSpPr>
        <p:spPr/>
        <p:txBody>
          <a:bodyPr>
            <a:normAutofit/>
          </a:bodyPr>
          <a:lstStyle/>
          <a:p>
            <a:r>
              <a:rPr lang="zh-CN" altLang="zh-CN" sz="2400" dirty="0" smtClean="0"/>
              <a:t>评审</a:t>
            </a:r>
            <a:r>
              <a:rPr lang="zh-CN" altLang="zh-CN" sz="2400" dirty="0"/>
              <a:t>过程</a:t>
            </a:r>
            <a:r>
              <a:rPr lang="zh-CN" altLang="zh-CN" sz="2400" dirty="0" smtClean="0"/>
              <a:t>流于形式</a:t>
            </a:r>
            <a:endParaRPr lang="en-US" altLang="zh-CN" sz="2400" dirty="0" smtClean="0"/>
          </a:p>
          <a:p>
            <a:r>
              <a:rPr lang="zh-CN" altLang="zh-CN" sz="2400" dirty="0" smtClean="0"/>
              <a:t>未</a:t>
            </a:r>
            <a:r>
              <a:rPr lang="zh-CN" altLang="zh-CN" sz="2400" dirty="0"/>
              <a:t>对员工进行评审流程的</a:t>
            </a:r>
            <a:r>
              <a:rPr lang="zh-CN" altLang="zh-CN" sz="2400" dirty="0" smtClean="0"/>
              <a:t>培训</a:t>
            </a:r>
            <a:endParaRPr lang="en-US" altLang="zh-CN" sz="2400" dirty="0" smtClean="0"/>
          </a:p>
          <a:p>
            <a:r>
              <a:rPr lang="zh-CN" altLang="zh-CN" sz="2400" dirty="0" smtClean="0"/>
              <a:t>评审</a:t>
            </a:r>
            <a:r>
              <a:rPr lang="zh-CN" altLang="zh-CN" sz="2400" dirty="0"/>
              <a:t>过程</a:t>
            </a:r>
            <a:r>
              <a:rPr lang="zh-CN" altLang="zh-CN" sz="2400" dirty="0" smtClean="0"/>
              <a:t>中</a:t>
            </a:r>
            <a:r>
              <a:rPr lang="zh-CN" altLang="en-US" sz="2400" dirty="0" smtClean="0"/>
              <a:t>未</a:t>
            </a:r>
            <a:r>
              <a:rPr lang="zh-CN" altLang="zh-CN" sz="2400" dirty="0" smtClean="0"/>
              <a:t>提供</a:t>
            </a:r>
            <a:r>
              <a:rPr lang="zh-CN" altLang="zh-CN" sz="2400" dirty="0"/>
              <a:t>适当的指导和</a:t>
            </a:r>
            <a:r>
              <a:rPr lang="zh-CN" altLang="zh-CN" sz="2400" dirty="0" smtClean="0"/>
              <a:t>监督</a:t>
            </a:r>
            <a:endParaRPr lang="zh-CN" altLang="zh-CN" sz="2400" dirty="0"/>
          </a:p>
          <a:p>
            <a:r>
              <a:rPr lang="zh-CN" altLang="zh-CN" sz="2400" dirty="0" smtClean="0"/>
              <a:t>评审</a:t>
            </a:r>
            <a:r>
              <a:rPr lang="zh-CN" altLang="zh-CN" sz="2400" dirty="0"/>
              <a:t>前的策划和准备也不够</a:t>
            </a:r>
            <a:r>
              <a:rPr lang="zh-CN" altLang="zh-CN" sz="2400" dirty="0" smtClean="0"/>
              <a:t>充分</a:t>
            </a:r>
            <a:endParaRPr lang="zh-CN" altLang="zh-CN" sz="2400" dirty="0"/>
          </a:p>
          <a:p>
            <a:r>
              <a:rPr lang="zh-CN" altLang="zh-CN" sz="2400" dirty="0" smtClean="0"/>
              <a:t>评审</a:t>
            </a:r>
            <a:r>
              <a:rPr lang="zh-CN" altLang="zh-CN" sz="2400" dirty="0"/>
              <a:t>人员的评审技能或专业知识技能</a:t>
            </a:r>
            <a:r>
              <a:rPr lang="zh-CN" altLang="zh-CN" sz="2400" dirty="0" smtClean="0"/>
              <a:t>不够</a:t>
            </a:r>
            <a:endParaRPr lang="en-US" altLang="zh-CN" sz="2400" dirty="0" smtClean="0"/>
          </a:p>
          <a:p>
            <a:r>
              <a:rPr lang="zh-CN" altLang="zh-CN" sz="2400" dirty="0" smtClean="0"/>
              <a:t>没有对评审发现的问题进行跟踪，使评审功亏一篑</a:t>
            </a:r>
            <a:endParaRPr lang="zh-CN" altLang="zh-CN" sz="2400" dirty="0"/>
          </a:p>
          <a:p>
            <a:r>
              <a:rPr lang="zh-CN" altLang="zh-CN" sz="2400" dirty="0" smtClean="0"/>
              <a:t>评审</a:t>
            </a:r>
            <a:r>
              <a:rPr lang="zh-CN" altLang="zh-CN" sz="2400" dirty="0"/>
              <a:t>会偏离主题，不是重在发现问题，而是讨论如何解决问题，使评审会变成技术攻关会，从而降低了评审</a:t>
            </a:r>
            <a:r>
              <a:rPr lang="zh-CN" altLang="zh-CN" sz="2400" dirty="0" smtClean="0"/>
              <a:t>效率</a:t>
            </a:r>
            <a:endParaRPr lang="zh-CN" altLang="zh-CN" sz="2400" dirty="0"/>
          </a:p>
        </p:txBody>
      </p:sp>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0" y="2423331"/>
            <a:ext cx="9144000" cy="3577420"/>
          </a:xfrm>
          <a:prstGeom prst="roundRect">
            <a:avLst>
              <a:gd name="adj" fmla="val 1196"/>
            </a:avLst>
          </a:prstGeom>
          <a:solidFill>
            <a:srgbClr val="019587"/>
          </a:solidFill>
          <a:ln>
            <a:noFill/>
          </a:ln>
          <a:effectLst>
            <a:outerShdw blurRad="254000" dist="190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 name="圆角矩形 2"/>
          <p:cNvSpPr/>
          <p:nvPr/>
        </p:nvSpPr>
        <p:spPr>
          <a:xfrm>
            <a:off x="3771900" y="1160954"/>
            <a:ext cx="4589060" cy="4452582"/>
          </a:xfrm>
          <a:prstGeom prst="roundRect">
            <a:avLst>
              <a:gd name="adj" fmla="val 1309"/>
            </a:avLst>
          </a:prstGeom>
          <a:solidFill>
            <a:srgbClr val="F5F5F5"/>
          </a:solidFill>
          <a:ln>
            <a:noFill/>
          </a:ln>
          <a:effectLst>
            <a:outerShdw blurRad="76200" dist="63500" dir="5400000" sx="101000" sy="101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lumMod val="50000"/>
                  <a:lumOff val="50000"/>
                </a:schemeClr>
              </a:solidFill>
            </a:endParaRPr>
          </a:p>
        </p:txBody>
      </p:sp>
      <p:sp>
        <p:nvSpPr>
          <p:cNvPr id="5" name="椭圆 4"/>
          <p:cNvSpPr/>
          <p:nvPr/>
        </p:nvSpPr>
        <p:spPr>
          <a:xfrm>
            <a:off x="1269242" y="1911540"/>
            <a:ext cx="992875" cy="992875"/>
          </a:xfrm>
          <a:prstGeom prst="ellipse">
            <a:avLst/>
          </a:prstGeom>
          <a:solidFill>
            <a:srgbClr val="E91D62"/>
          </a:solidFill>
          <a:ln>
            <a:noFill/>
          </a:ln>
          <a:effectLst>
            <a:outerShdw blurRad="76200" dist="76200" dir="5400000" sx="101000" sy="101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文本框 5"/>
          <p:cNvSpPr txBox="1"/>
          <p:nvPr/>
        </p:nvSpPr>
        <p:spPr>
          <a:xfrm>
            <a:off x="1269242" y="4071708"/>
            <a:ext cx="1719618" cy="715581"/>
          </a:xfrm>
          <a:prstGeom prst="rect">
            <a:avLst/>
          </a:prstGeom>
          <a:noFill/>
        </p:spPr>
        <p:txBody>
          <a:bodyPr wrap="square" rtlCol="0">
            <a:spAutoFit/>
          </a:bodyPr>
          <a:lstStyle/>
          <a:p>
            <a:r>
              <a:rPr lang="zh-CN" altLang="en-US" sz="4050" dirty="0">
                <a:solidFill>
                  <a:schemeClr val="bg1"/>
                </a:solidFill>
                <a:latin typeface="思源黑体 CN Regular" panose="020B0500000000000000" pitchFamily="34" charset="-122"/>
                <a:ea typeface="思源黑体 CN Regular" panose="020B0500000000000000" pitchFamily="34" charset="-122"/>
              </a:rPr>
              <a:t>目录</a:t>
            </a:r>
            <a:endParaRPr lang="zh-CN" altLang="en-US" sz="4050" dirty="0">
              <a:solidFill>
                <a:schemeClr val="bg1"/>
              </a:solidFill>
              <a:latin typeface="思源黑体 CN Regular" panose="020B0500000000000000" pitchFamily="34" charset="-122"/>
              <a:ea typeface="思源黑体 CN Regular" panose="020B0500000000000000" pitchFamily="34" charset="-122"/>
            </a:endParaRPr>
          </a:p>
        </p:txBody>
      </p:sp>
      <p:sp>
        <p:nvSpPr>
          <p:cNvPr id="7" name="文本框 6"/>
          <p:cNvSpPr txBox="1"/>
          <p:nvPr/>
        </p:nvSpPr>
        <p:spPr>
          <a:xfrm>
            <a:off x="4800600" y="1426792"/>
            <a:ext cx="2466833" cy="507831"/>
          </a:xfrm>
          <a:prstGeom prst="rect">
            <a:avLst/>
          </a:prstGeom>
          <a:noFill/>
        </p:spPr>
        <p:txBody>
          <a:bodyPr wrap="square" rtlCol="0">
            <a:spAutoFit/>
          </a:bodyPr>
          <a:lstStyle/>
          <a:p>
            <a:r>
              <a:rPr lang="zh-CN" altLang="en-US" sz="1350" dirty="0">
                <a:solidFill>
                  <a:schemeClr val="tx1">
                    <a:lumMod val="65000"/>
                    <a:lumOff val="35000"/>
                  </a:schemeClr>
                </a:solidFill>
                <a:latin typeface="思源黑体 CN Normal" panose="020B0400000000000000" pitchFamily="34" charset="-122"/>
                <a:ea typeface="思源黑体 CN Normal" panose="020B0400000000000000" pitchFamily="34" charset="-122"/>
              </a:rPr>
              <a:t>软件评审的定义</a:t>
            </a:r>
            <a:endParaRPr lang="en-US" altLang="zh-CN" sz="135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a:p>
            <a:r>
              <a:rPr lang="en-US" altLang="zh-CN" sz="1350" dirty="0">
                <a:solidFill>
                  <a:schemeClr val="tx1">
                    <a:lumMod val="65000"/>
                    <a:lumOff val="35000"/>
                  </a:schemeClr>
                </a:solidFill>
                <a:latin typeface="Roboto Lt" pitchFamily="2" charset="0"/>
                <a:ea typeface="Roboto Lt" pitchFamily="2" charset="0"/>
              </a:rPr>
              <a:t>Software review</a:t>
            </a:r>
            <a:endParaRPr lang="en-US" altLang="zh-CN" sz="1350" dirty="0">
              <a:solidFill>
                <a:schemeClr val="tx1">
                  <a:lumMod val="65000"/>
                  <a:lumOff val="35000"/>
                </a:schemeClr>
              </a:solidFill>
              <a:latin typeface="Roboto Lt" pitchFamily="2" charset="0"/>
              <a:ea typeface="Roboto Lt" pitchFamily="2" charset="0"/>
            </a:endParaRPr>
          </a:p>
        </p:txBody>
      </p:sp>
      <p:sp>
        <p:nvSpPr>
          <p:cNvPr id="8" name="文本框 7"/>
          <p:cNvSpPr txBox="1"/>
          <p:nvPr/>
        </p:nvSpPr>
        <p:spPr>
          <a:xfrm>
            <a:off x="4800600" y="2085389"/>
            <a:ext cx="2548720" cy="507831"/>
          </a:xfrm>
          <a:prstGeom prst="rect">
            <a:avLst/>
          </a:prstGeom>
          <a:noFill/>
        </p:spPr>
        <p:txBody>
          <a:bodyPr wrap="square" rtlCol="0">
            <a:spAutoFit/>
          </a:bodyPr>
          <a:lstStyle/>
          <a:p>
            <a:r>
              <a:rPr lang="zh-CN" altLang="en-US" sz="1350" dirty="0">
                <a:solidFill>
                  <a:schemeClr val="tx1">
                    <a:lumMod val="65000"/>
                    <a:lumOff val="35000"/>
                  </a:schemeClr>
                </a:solidFill>
                <a:latin typeface="思源黑体 CN Normal" panose="020B0400000000000000" pitchFamily="34" charset="-122"/>
                <a:ea typeface="思源黑体 CN Normal" panose="020B0400000000000000" pitchFamily="34" charset="-122"/>
              </a:rPr>
              <a:t>软件评审的种类</a:t>
            </a:r>
            <a:endParaRPr lang="en-US" altLang="zh-CN" sz="135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a:p>
            <a:r>
              <a:rPr lang="en-US" altLang="zh-CN" sz="1350" dirty="0">
                <a:solidFill>
                  <a:schemeClr val="tx1">
                    <a:lumMod val="65000"/>
                    <a:lumOff val="35000"/>
                  </a:schemeClr>
                </a:solidFill>
                <a:latin typeface="Roboto Lt" pitchFamily="2" charset="0"/>
                <a:ea typeface="Roboto Lt" pitchFamily="2" charset="0"/>
              </a:rPr>
              <a:t>Variety of software review</a:t>
            </a:r>
            <a:endParaRPr lang="zh-CN" altLang="en-US" sz="1350" dirty="0">
              <a:solidFill>
                <a:schemeClr val="tx1">
                  <a:lumMod val="65000"/>
                  <a:lumOff val="35000"/>
                </a:schemeClr>
              </a:solidFill>
              <a:latin typeface="Roboto Lt" pitchFamily="2" charset="0"/>
            </a:endParaRPr>
          </a:p>
        </p:txBody>
      </p:sp>
      <p:sp>
        <p:nvSpPr>
          <p:cNvPr id="9" name="文本框 8"/>
          <p:cNvSpPr txBox="1"/>
          <p:nvPr/>
        </p:nvSpPr>
        <p:spPr>
          <a:xfrm>
            <a:off x="4800600" y="2778393"/>
            <a:ext cx="2620370" cy="507831"/>
          </a:xfrm>
          <a:prstGeom prst="rect">
            <a:avLst/>
          </a:prstGeom>
          <a:noFill/>
        </p:spPr>
        <p:txBody>
          <a:bodyPr wrap="square" rtlCol="0">
            <a:spAutoFit/>
          </a:bodyPr>
          <a:lstStyle/>
          <a:p>
            <a:r>
              <a:rPr lang="zh-CN" altLang="en-US" sz="1350" dirty="0">
                <a:solidFill>
                  <a:schemeClr val="tx1">
                    <a:lumMod val="65000"/>
                    <a:lumOff val="35000"/>
                  </a:schemeClr>
                </a:solidFill>
                <a:latin typeface="思源黑体 CN Normal" panose="020B0400000000000000" pitchFamily="34" charset="-122"/>
                <a:ea typeface="思源黑体 CN Normal" panose="020B0400000000000000" pitchFamily="34" charset="-122"/>
              </a:rPr>
              <a:t>同行评审的不同类型</a:t>
            </a:r>
            <a:endParaRPr lang="en-US" altLang="zh-CN" sz="135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a:p>
            <a:r>
              <a:rPr lang="en-US" altLang="zh-CN" sz="1350" dirty="0">
                <a:solidFill>
                  <a:schemeClr val="tx1">
                    <a:lumMod val="65000"/>
                    <a:lumOff val="35000"/>
                  </a:schemeClr>
                </a:solidFill>
                <a:latin typeface="Roboto Lt" pitchFamily="2" charset="0"/>
                <a:ea typeface="Roboto Lt" pitchFamily="2" charset="0"/>
              </a:rPr>
              <a:t>Different types of Peer reviews</a:t>
            </a:r>
            <a:endParaRPr lang="zh-CN" altLang="en-US" sz="1350" dirty="0">
              <a:solidFill>
                <a:schemeClr val="tx1">
                  <a:lumMod val="65000"/>
                  <a:lumOff val="35000"/>
                </a:schemeClr>
              </a:solidFill>
              <a:latin typeface="Roboto Lt" pitchFamily="2" charset="0"/>
            </a:endParaRPr>
          </a:p>
        </p:txBody>
      </p:sp>
      <p:sp>
        <p:nvSpPr>
          <p:cNvPr id="2" name="文本框 1"/>
          <p:cNvSpPr txBox="1"/>
          <p:nvPr/>
        </p:nvSpPr>
        <p:spPr>
          <a:xfrm>
            <a:off x="4800599" y="3471397"/>
            <a:ext cx="2701716" cy="507831"/>
          </a:xfrm>
          <a:prstGeom prst="rect">
            <a:avLst/>
          </a:prstGeom>
          <a:noFill/>
        </p:spPr>
        <p:txBody>
          <a:bodyPr wrap="square" rtlCol="0">
            <a:spAutoFit/>
          </a:bodyPr>
          <a:lstStyle/>
          <a:p>
            <a:r>
              <a:rPr lang="zh-CN" altLang="en-US" sz="1350" dirty="0">
                <a:solidFill>
                  <a:schemeClr val="tx1">
                    <a:lumMod val="65000"/>
                    <a:lumOff val="35000"/>
                  </a:schemeClr>
                </a:solidFill>
                <a:latin typeface="思源黑体 CN Normal" panose="020B0400000000000000" pitchFamily="34" charset="-122"/>
                <a:ea typeface="思源黑体 CN Normal" panose="020B0400000000000000" pitchFamily="34" charset="-122"/>
              </a:rPr>
              <a:t>正式与非正式评审</a:t>
            </a:r>
            <a:endParaRPr lang="en-US" altLang="zh-CN" sz="135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a:p>
            <a:r>
              <a:rPr lang="en-US" altLang="zh-CN" sz="1350" dirty="0">
                <a:solidFill>
                  <a:schemeClr val="tx1">
                    <a:lumMod val="65000"/>
                    <a:lumOff val="35000"/>
                  </a:schemeClr>
                </a:solidFill>
                <a:latin typeface="Roboto Lt" pitchFamily="2" charset="0"/>
                <a:ea typeface="Roboto Lt" pitchFamily="2" charset="0"/>
              </a:rPr>
              <a:t>Formal versus informal reviews</a:t>
            </a:r>
            <a:endParaRPr lang="zh-CN" altLang="en-US" sz="1350" dirty="0">
              <a:solidFill>
                <a:schemeClr val="tx1">
                  <a:lumMod val="65000"/>
                  <a:lumOff val="35000"/>
                </a:schemeClr>
              </a:solidFill>
              <a:latin typeface="Roboto Lt" pitchFamily="2" charset="0"/>
            </a:endParaRPr>
          </a:p>
        </p:txBody>
      </p:sp>
      <p:sp>
        <p:nvSpPr>
          <p:cNvPr id="10" name="文本框 9"/>
          <p:cNvSpPr txBox="1"/>
          <p:nvPr/>
        </p:nvSpPr>
        <p:spPr>
          <a:xfrm>
            <a:off x="4800600" y="4119066"/>
            <a:ext cx="3520997" cy="715581"/>
          </a:xfrm>
          <a:prstGeom prst="rect">
            <a:avLst/>
          </a:prstGeom>
          <a:noFill/>
        </p:spPr>
        <p:txBody>
          <a:bodyPr wrap="square" rtlCol="0">
            <a:spAutoFit/>
          </a:bodyPr>
          <a:lstStyle/>
          <a:p>
            <a:r>
              <a:rPr lang="en-US" altLang="zh-CN" sz="1350" dirty="0">
                <a:solidFill>
                  <a:schemeClr val="tx1">
                    <a:lumMod val="65000"/>
                    <a:lumOff val="35000"/>
                  </a:schemeClr>
                </a:solidFill>
                <a:latin typeface="思源黑体 CN Normal" panose="020B0400000000000000" pitchFamily="34" charset="-122"/>
                <a:ea typeface="思源黑体 CN Normal" panose="020B0400000000000000" pitchFamily="34" charset="-122"/>
              </a:rPr>
              <a:t>IEEE 1028 </a:t>
            </a:r>
            <a:r>
              <a:rPr lang="zh-CN" altLang="en-US" sz="1350" dirty="0">
                <a:solidFill>
                  <a:schemeClr val="tx1">
                    <a:lumMod val="65000"/>
                    <a:lumOff val="35000"/>
                  </a:schemeClr>
                </a:solidFill>
                <a:latin typeface="思源黑体 CN Normal" panose="020B0400000000000000" pitchFamily="34" charset="-122"/>
                <a:ea typeface="思源黑体 CN Normal" panose="020B0400000000000000" pitchFamily="34" charset="-122"/>
              </a:rPr>
              <a:t>通用正式评审过程</a:t>
            </a:r>
            <a:endParaRPr lang="en-US" altLang="zh-CN" sz="135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a:p>
            <a:r>
              <a:rPr lang="en-US" altLang="zh-CN" sz="1350" dirty="0">
                <a:solidFill>
                  <a:schemeClr val="tx1">
                    <a:lumMod val="65000"/>
                    <a:lumOff val="35000"/>
                  </a:schemeClr>
                </a:solidFill>
                <a:latin typeface="Roboto Lt" pitchFamily="2" charset="0"/>
                <a:ea typeface="Roboto Lt" pitchFamily="2" charset="0"/>
              </a:rPr>
              <a:t>IEEE 1028 generic process for formal reviews</a:t>
            </a:r>
            <a:endParaRPr lang="zh-CN" altLang="en-US" sz="1350" dirty="0">
              <a:solidFill>
                <a:schemeClr val="tx1">
                  <a:lumMod val="65000"/>
                  <a:lumOff val="35000"/>
                </a:schemeClr>
              </a:solidFill>
              <a:latin typeface="Roboto Lt" pitchFamily="2" charset="0"/>
            </a:endParaRPr>
          </a:p>
        </p:txBody>
      </p:sp>
      <p:sp>
        <p:nvSpPr>
          <p:cNvPr id="11" name="文本框 10"/>
          <p:cNvSpPr txBox="1"/>
          <p:nvPr/>
        </p:nvSpPr>
        <p:spPr>
          <a:xfrm>
            <a:off x="4800600" y="4866301"/>
            <a:ext cx="3133951" cy="507831"/>
          </a:xfrm>
          <a:prstGeom prst="rect">
            <a:avLst/>
          </a:prstGeom>
          <a:noFill/>
        </p:spPr>
        <p:txBody>
          <a:bodyPr wrap="square" rtlCol="0">
            <a:spAutoFit/>
          </a:bodyPr>
          <a:lstStyle/>
          <a:p>
            <a:r>
              <a:rPr lang="zh-CN" altLang="en-US" sz="1350" dirty="0">
                <a:solidFill>
                  <a:schemeClr val="tx1">
                    <a:lumMod val="65000"/>
                    <a:lumOff val="35000"/>
                  </a:schemeClr>
                </a:solidFill>
                <a:latin typeface="思源黑体 CN Normal" panose="020B0400000000000000" pitchFamily="34" charset="-122"/>
                <a:ea typeface="思源黑体 CN Normal" panose="020B0400000000000000" pitchFamily="34" charset="-122"/>
              </a:rPr>
              <a:t>评审的价值</a:t>
            </a:r>
            <a:endParaRPr lang="en-US" altLang="zh-CN" sz="1350" dirty="0">
              <a:solidFill>
                <a:schemeClr val="tx1">
                  <a:lumMod val="65000"/>
                  <a:lumOff val="35000"/>
                </a:schemeClr>
              </a:solidFill>
              <a:latin typeface="思源黑体 CN Normal" panose="020B0400000000000000" pitchFamily="34" charset="-122"/>
              <a:ea typeface="思源黑体 CN Normal" panose="020B0400000000000000" pitchFamily="34" charset="-122"/>
            </a:endParaRPr>
          </a:p>
          <a:p>
            <a:r>
              <a:rPr lang="en-US" altLang="zh-CN" sz="1350" dirty="0">
                <a:solidFill>
                  <a:schemeClr val="tx1">
                    <a:lumMod val="65000"/>
                    <a:lumOff val="35000"/>
                  </a:schemeClr>
                </a:solidFill>
                <a:latin typeface="Roboto Lt" pitchFamily="2" charset="0"/>
                <a:ea typeface="Roboto Lt" pitchFamily="2" charset="0"/>
              </a:rPr>
              <a:t>Value of reviews</a:t>
            </a:r>
            <a:endParaRPr lang="zh-CN" altLang="en-US" sz="1350" dirty="0">
              <a:solidFill>
                <a:schemeClr val="tx1">
                  <a:lumMod val="65000"/>
                  <a:lumOff val="35000"/>
                </a:schemeClr>
              </a:solidFill>
              <a:latin typeface="Roboto Lt" pitchFamily="2" charset="0"/>
            </a:endParaRPr>
          </a:p>
        </p:txBody>
      </p:sp>
      <p:sp>
        <p:nvSpPr>
          <p:cNvPr id="12" name="圆角矩形 11"/>
          <p:cNvSpPr/>
          <p:nvPr/>
        </p:nvSpPr>
        <p:spPr>
          <a:xfrm>
            <a:off x="1557697" y="2282026"/>
            <a:ext cx="415961" cy="7388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圆角矩形 12"/>
          <p:cNvSpPr/>
          <p:nvPr/>
        </p:nvSpPr>
        <p:spPr>
          <a:xfrm>
            <a:off x="1561927" y="2407977"/>
            <a:ext cx="415961" cy="7388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圆角矩形 13"/>
          <p:cNvSpPr/>
          <p:nvPr/>
        </p:nvSpPr>
        <p:spPr>
          <a:xfrm>
            <a:off x="1557698" y="2527468"/>
            <a:ext cx="415961" cy="7388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0" y="857251"/>
            <a:ext cx="9144000" cy="752708"/>
            <a:chOff x="0" y="1"/>
            <a:chExt cx="12192000" cy="1003610"/>
          </a:xfrm>
        </p:grpSpPr>
        <p:sp>
          <p:nvSpPr>
            <p:cNvPr id="2" name="圆角矩形 1"/>
            <p:cNvSpPr/>
            <p:nvPr/>
          </p:nvSpPr>
          <p:spPr>
            <a:xfrm>
              <a:off x="0" y="1"/>
              <a:ext cx="12192000" cy="1003610"/>
            </a:xfrm>
            <a:prstGeom prst="roundRect">
              <a:avLst>
                <a:gd name="adj" fmla="val 3334"/>
              </a:avLst>
            </a:prstGeom>
            <a:solidFill>
              <a:srgbClr val="019587"/>
            </a:solidFill>
            <a:ln>
              <a:noFill/>
            </a:ln>
            <a:effectLst>
              <a:outerShdw blurRad="76200" dist="63500" dir="5400000" algn="t" rotWithShape="0">
                <a:prstClr val="black">
                  <a:alpha val="3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350" dirty="0"/>
            </a:p>
          </p:txBody>
        </p:sp>
        <p:sp>
          <p:nvSpPr>
            <p:cNvPr id="3" name="文本框 2"/>
            <p:cNvSpPr txBox="1"/>
            <p:nvPr/>
          </p:nvSpPr>
          <p:spPr>
            <a:xfrm>
              <a:off x="232229" y="209418"/>
              <a:ext cx="1814285" cy="615553"/>
            </a:xfrm>
            <a:prstGeom prst="rect">
              <a:avLst/>
            </a:prstGeom>
            <a:noFill/>
          </p:spPr>
          <p:txBody>
            <a:bodyPr wrap="square" rtlCol="0">
              <a:spAutoFit/>
            </a:bodyPr>
            <a:lstStyle/>
            <a:p>
              <a:r>
                <a:rPr lang="zh-CN" altLang="en-US" sz="2400" dirty="0">
                  <a:solidFill>
                    <a:schemeClr val="bg1"/>
                  </a:solidFill>
                  <a:latin typeface="思源黑体 CN Regular" panose="020B0500000000000000" pitchFamily="34" charset="-122"/>
                  <a:ea typeface="思源黑体 CN Regular" panose="020B0500000000000000" pitchFamily="34" charset="-122"/>
                </a:rPr>
                <a:t>定义</a:t>
              </a:r>
              <a:endParaRPr lang="zh-CN" altLang="en-US" sz="2400" dirty="0">
                <a:solidFill>
                  <a:schemeClr val="bg1"/>
                </a:solidFill>
                <a:latin typeface="思源黑体 CN Regular" panose="020B0500000000000000" pitchFamily="34" charset="-122"/>
                <a:ea typeface="思源黑体 CN Regular" panose="020B0500000000000000" pitchFamily="34" charset="-122"/>
              </a:endParaRPr>
            </a:p>
          </p:txBody>
        </p:sp>
      </p:grpSp>
      <p:grpSp>
        <p:nvGrpSpPr>
          <p:cNvPr id="6" name="组合 5"/>
          <p:cNvGrpSpPr/>
          <p:nvPr/>
        </p:nvGrpSpPr>
        <p:grpSpPr>
          <a:xfrm>
            <a:off x="1181100" y="2250623"/>
            <a:ext cx="6781800" cy="2950028"/>
            <a:chOff x="1574800" y="1857830"/>
            <a:chExt cx="9042400" cy="3933371"/>
          </a:xfrm>
        </p:grpSpPr>
        <p:sp>
          <p:nvSpPr>
            <p:cNvPr id="4" name="圆角矩形 3"/>
            <p:cNvSpPr/>
            <p:nvPr/>
          </p:nvSpPr>
          <p:spPr>
            <a:xfrm>
              <a:off x="1574800" y="1857830"/>
              <a:ext cx="9042400" cy="3933371"/>
            </a:xfrm>
            <a:prstGeom prst="roundRect">
              <a:avLst>
                <a:gd name="adj" fmla="val 5919"/>
              </a:avLst>
            </a:prstGeom>
            <a:solidFill>
              <a:schemeClr val="bg1"/>
            </a:solidFill>
            <a:ln>
              <a:noFill/>
            </a:ln>
            <a:effectLst>
              <a:outerShdw blurRad="76200" dist="508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文本框 4"/>
            <p:cNvSpPr txBox="1"/>
            <p:nvPr/>
          </p:nvSpPr>
          <p:spPr>
            <a:xfrm>
              <a:off x="2525485" y="2641599"/>
              <a:ext cx="7141029" cy="2092880"/>
            </a:xfrm>
            <a:prstGeom prst="rect">
              <a:avLst/>
            </a:prstGeom>
            <a:noFill/>
          </p:spPr>
          <p:txBody>
            <a:bodyPr wrap="square" rtlCol="0">
              <a:spAutoFit/>
            </a:bodyPr>
            <a:lstStyle/>
            <a:p>
              <a:r>
                <a:rPr lang="en-US" altLang="zh-CN"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	</a:t>
              </a:r>
              <a:r>
                <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软件评审是一个软件产品由项目检查人员、经理、用户、客户、用户代表、或其他利害关系人评价或批准的一个过程或会议。</a:t>
              </a:r>
              <a:endPar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endParaRPr>
            </a:p>
          </p:txBody>
        </p:sp>
      </p:grpSp>
      <p:sp>
        <p:nvSpPr>
          <p:cNvPr id="13" name="椭圆 12"/>
          <p:cNvSpPr/>
          <p:nvPr/>
        </p:nvSpPr>
        <p:spPr>
          <a:xfrm>
            <a:off x="6663145" y="4802332"/>
            <a:ext cx="796637" cy="796637"/>
          </a:xfrm>
          <a:prstGeom prst="ellipse">
            <a:avLst/>
          </a:prstGeom>
          <a:solidFill>
            <a:srgbClr val="FDC006"/>
          </a:solidFill>
          <a:ln>
            <a:noFill/>
          </a:ln>
          <a:effectLst>
            <a:outerShdw blurRad="762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latin typeface="Roboto" pitchFamily="2" charset="0"/>
                <a:ea typeface="Roboto" pitchFamily="2" charset="0"/>
              </a:rPr>
              <a:t>1/2</a:t>
            </a:r>
            <a:endParaRPr lang="zh-CN" altLang="en-US" sz="2100" dirty="0">
              <a:latin typeface="Roboto" pitchFamily="2" charset="0"/>
            </a:endParaRPr>
          </a:p>
        </p:txBody>
      </p:sp>
      <p:sp>
        <p:nvSpPr>
          <p:cNvPr id="11" name="圆角矩形 10"/>
          <p:cNvSpPr/>
          <p:nvPr/>
        </p:nvSpPr>
        <p:spPr>
          <a:xfrm>
            <a:off x="1181100" y="2250623"/>
            <a:ext cx="6781800" cy="2950028"/>
          </a:xfrm>
          <a:prstGeom prst="roundRect">
            <a:avLst>
              <a:gd name="adj" fmla="val 2960"/>
            </a:avLst>
          </a:prstGeom>
          <a:solidFill>
            <a:schemeClr val="bg1">
              <a:lumMod val="85000"/>
            </a:schemeClr>
          </a:solidFill>
          <a:ln>
            <a:noFill/>
          </a:ln>
          <a:effectLst>
            <a:outerShdw blurRad="76200" dist="508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15" name="组合 14"/>
          <p:cNvGrpSpPr/>
          <p:nvPr/>
        </p:nvGrpSpPr>
        <p:grpSpPr>
          <a:xfrm>
            <a:off x="1181100" y="2505751"/>
            <a:ext cx="6781800" cy="3301871"/>
            <a:chOff x="1574800" y="2198002"/>
            <a:chExt cx="9042400" cy="4402494"/>
          </a:xfrm>
        </p:grpSpPr>
        <p:grpSp>
          <p:nvGrpSpPr>
            <p:cNvPr id="7" name="组合 6"/>
            <p:cNvGrpSpPr/>
            <p:nvPr/>
          </p:nvGrpSpPr>
          <p:grpSpPr>
            <a:xfrm>
              <a:off x="1574800" y="2198002"/>
              <a:ext cx="9042400" cy="4151819"/>
              <a:chOff x="1574801" y="1959430"/>
              <a:chExt cx="9042400" cy="4151819"/>
            </a:xfrm>
          </p:grpSpPr>
          <p:sp>
            <p:nvSpPr>
              <p:cNvPr id="8" name="圆角矩形 7"/>
              <p:cNvSpPr/>
              <p:nvPr/>
            </p:nvSpPr>
            <p:spPr>
              <a:xfrm>
                <a:off x="1574801" y="1959430"/>
                <a:ext cx="9042400" cy="3933371"/>
              </a:xfrm>
              <a:prstGeom prst="roundRect">
                <a:avLst>
                  <a:gd name="adj" fmla="val 1692"/>
                </a:avLst>
              </a:prstGeom>
              <a:solidFill>
                <a:schemeClr val="bg1"/>
              </a:solidFill>
              <a:ln>
                <a:noFill/>
              </a:ln>
              <a:effectLst>
                <a:outerShdw blurRad="76200" dist="508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文本框 8"/>
              <p:cNvSpPr txBox="1"/>
              <p:nvPr/>
            </p:nvSpPr>
            <p:spPr>
              <a:xfrm>
                <a:off x="2286000" y="2541042"/>
                <a:ext cx="7620003" cy="3570207"/>
              </a:xfrm>
              <a:prstGeom prst="rect">
                <a:avLst/>
              </a:prstGeom>
              <a:noFill/>
            </p:spPr>
            <p:txBody>
              <a:bodyPr wrap="square" rtlCol="0">
                <a:spAutoFit/>
              </a:bodyPr>
              <a:lstStyle/>
              <a:p>
                <a:r>
                  <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“软件产品”是指“任何技术文档或部分文档</a:t>
                </a:r>
                <a:r>
                  <a:rPr lang="en-US" altLang="zh-CN"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a:t>
                </a:r>
                <a:r>
                  <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产生可交付的软件开发活动”</a:t>
                </a:r>
                <a:r>
                  <a:rPr lang="en-US" altLang="zh-CN"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a:t>
                </a:r>
                <a:r>
                  <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可能包括文件</a:t>
                </a:r>
                <a:r>
                  <a:rPr lang="en-US" altLang="zh-CN"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a:t>
                </a:r>
                <a:r>
                  <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如合同、项目计划和预算、需求文档、规格、设计、源代码、用户文档、支持和维护文档</a:t>
                </a:r>
                <a:r>
                  <a:rPr lang="en-US" altLang="zh-CN"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a:t>
                </a:r>
                <a:r>
                  <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测试计划</a:t>
                </a:r>
                <a:r>
                  <a:rPr lang="en-US" altLang="zh-CN"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a:t>
                </a:r>
                <a:r>
                  <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测试规范</a:t>
                </a:r>
                <a:r>
                  <a:rPr lang="en-US" altLang="zh-CN"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a:t>
                </a:r>
                <a:r>
                  <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标准</a:t>
                </a:r>
                <a:r>
                  <a:rPr lang="en-US" altLang="zh-CN"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a:t>
                </a:r>
                <a:r>
                  <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和任何其他类型的专业工作产品。</a:t>
                </a:r>
                <a:endPar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endParaRPr>
              </a:p>
            </p:txBody>
          </p:sp>
        </p:grpSp>
        <p:sp>
          <p:nvSpPr>
            <p:cNvPr id="14" name="椭圆 13"/>
            <p:cNvSpPr/>
            <p:nvPr/>
          </p:nvSpPr>
          <p:spPr>
            <a:xfrm>
              <a:off x="8914673" y="5538313"/>
              <a:ext cx="1062183" cy="1062183"/>
            </a:xfrm>
            <a:prstGeom prst="ellipse">
              <a:avLst/>
            </a:prstGeom>
            <a:solidFill>
              <a:srgbClr val="FDC006"/>
            </a:solidFill>
            <a:ln>
              <a:noFill/>
            </a:ln>
            <a:effectLst>
              <a:outerShdw blurRad="762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dirty="0">
                  <a:latin typeface="Roboto" pitchFamily="2" charset="0"/>
                  <a:ea typeface="Roboto" pitchFamily="2" charset="0"/>
                </a:rPr>
                <a:t>2/2</a:t>
              </a:r>
              <a:endParaRPr lang="zh-CN" altLang="en-US" sz="2100" dirty="0">
                <a:latin typeface="Roboto" pitchFamily="2" charset="0"/>
              </a:endParaRPr>
            </a:p>
          </p:txBody>
        </p:sp>
      </p:grpSp>
    </p:spTree>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childTnLst>
                                </p:cTn>
                              </p:par>
                              <p:par>
                                <p:cTn id="8" presetID="2" presetClass="entr" presetSubtype="4"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 calcmode="lin" valueType="num">
                                      <p:cBhvr additive="base">
                                        <p:cTn id="10" dur="250" fill="hold"/>
                                        <p:tgtEl>
                                          <p:spTgt spid="15"/>
                                        </p:tgtEl>
                                        <p:attrNameLst>
                                          <p:attrName>ppt_x</p:attrName>
                                        </p:attrNameLst>
                                      </p:cBhvr>
                                      <p:tavLst>
                                        <p:tav tm="0">
                                          <p:val>
                                            <p:strVal val="#ppt_x"/>
                                          </p:val>
                                        </p:tav>
                                        <p:tav tm="100000">
                                          <p:val>
                                            <p:strVal val="#ppt_x"/>
                                          </p:val>
                                        </p:tav>
                                      </p:tavLst>
                                    </p:anim>
                                    <p:anim calcmode="lin" valueType="num">
                                      <p:cBhvr additive="base">
                                        <p:cTn id="11" dur="25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1" cstate="print">
            <a:extLst>
              <a:ext uri="{28A0092B-C50C-407E-A947-70E740481C1C}">
                <a14:useLocalDpi xmlns:a14="http://schemas.microsoft.com/office/drawing/2010/main" val="0"/>
              </a:ext>
            </a:extLst>
          </a:blip>
          <a:srcRect l="-1" t="-8853" r="47" b="15072"/>
          <a:stretch>
            <a:fillRect/>
          </a:stretch>
        </p:blipFill>
        <p:spPr>
          <a:xfrm>
            <a:off x="2" y="321080"/>
            <a:ext cx="9139602" cy="5679671"/>
          </a:xfrm>
          <a:prstGeom prst="rect">
            <a:avLst/>
          </a:prstGeom>
        </p:spPr>
      </p:pic>
      <p:grpSp>
        <p:nvGrpSpPr>
          <p:cNvPr id="3" name="组合 2"/>
          <p:cNvGrpSpPr/>
          <p:nvPr/>
        </p:nvGrpSpPr>
        <p:grpSpPr>
          <a:xfrm>
            <a:off x="0" y="857251"/>
            <a:ext cx="9144000" cy="752708"/>
            <a:chOff x="0" y="1"/>
            <a:chExt cx="12192000" cy="1003610"/>
          </a:xfrm>
        </p:grpSpPr>
        <p:sp>
          <p:nvSpPr>
            <p:cNvPr id="4" name="圆角矩形 3"/>
            <p:cNvSpPr/>
            <p:nvPr/>
          </p:nvSpPr>
          <p:spPr>
            <a:xfrm>
              <a:off x="0" y="1"/>
              <a:ext cx="12192000" cy="1003610"/>
            </a:xfrm>
            <a:prstGeom prst="roundRect">
              <a:avLst>
                <a:gd name="adj" fmla="val 3334"/>
              </a:avLst>
            </a:prstGeom>
            <a:solidFill>
              <a:srgbClr val="019587"/>
            </a:solidFill>
            <a:ln>
              <a:noFill/>
            </a:ln>
            <a:effectLst>
              <a:outerShdw blurRad="76200" dist="63500" dir="5400000" algn="t" rotWithShape="0">
                <a:prstClr val="black">
                  <a:alpha val="3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350" dirty="0"/>
            </a:p>
          </p:txBody>
        </p:sp>
        <p:sp>
          <p:nvSpPr>
            <p:cNvPr id="5" name="文本框 4"/>
            <p:cNvSpPr txBox="1"/>
            <p:nvPr/>
          </p:nvSpPr>
          <p:spPr>
            <a:xfrm>
              <a:off x="232229" y="209418"/>
              <a:ext cx="1814285" cy="615553"/>
            </a:xfrm>
            <a:prstGeom prst="rect">
              <a:avLst/>
            </a:prstGeom>
            <a:noFill/>
          </p:spPr>
          <p:txBody>
            <a:bodyPr wrap="square" rtlCol="0">
              <a:spAutoFit/>
            </a:bodyPr>
            <a:lstStyle/>
            <a:p>
              <a:r>
                <a:rPr lang="zh-CN" altLang="en-US" sz="2400" dirty="0">
                  <a:solidFill>
                    <a:schemeClr val="bg1"/>
                  </a:solidFill>
                  <a:latin typeface="思源黑体 CN Regular" panose="020B0500000000000000" pitchFamily="34" charset="-122"/>
                  <a:ea typeface="思源黑体 CN Regular" panose="020B0500000000000000" pitchFamily="34" charset="-122"/>
                </a:rPr>
                <a:t>分类</a:t>
              </a:r>
              <a:endParaRPr lang="zh-CN" altLang="en-US" sz="2400" dirty="0">
                <a:solidFill>
                  <a:schemeClr val="bg1"/>
                </a:solidFill>
                <a:latin typeface="思源黑体 CN Regular" panose="020B0500000000000000" pitchFamily="34" charset="-122"/>
                <a:ea typeface="思源黑体 CN Regular" panose="020B0500000000000000" pitchFamily="34" charset="-122"/>
              </a:endParaRPr>
            </a:p>
          </p:txBody>
        </p:sp>
      </p:grpSp>
      <p:sp>
        <p:nvSpPr>
          <p:cNvPr id="7" name="圆角矩形 6"/>
          <p:cNvSpPr/>
          <p:nvPr/>
        </p:nvSpPr>
        <p:spPr>
          <a:xfrm>
            <a:off x="695740" y="2626416"/>
            <a:ext cx="2007704" cy="2653748"/>
          </a:xfrm>
          <a:prstGeom prst="roundRect">
            <a:avLst>
              <a:gd name="adj" fmla="val 1282"/>
            </a:avLst>
          </a:prstGeom>
          <a:solidFill>
            <a:schemeClr val="bg1"/>
          </a:solidFill>
          <a:ln>
            <a:noFill/>
          </a:ln>
          <a:effectLst>
            <a:outerShdw blurRad="101600" dist="76200" dir="5400000" sx="101000" sy="101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lumMod val="65000"/>
                  <a:lumOff val="35000"/>
                </a:schemeClr>
              </a:solidFill>
            </a:endParaRPr>
          </a:p>
        </p:txBody>
      </p:sp>
      <p:cxnSp>
        <p:nvCxnSpPr>
          <p:cNvPr id="12" name="直接连接符 11"/>
          <p:cNvCxnSpPr/>
          <p:nvPr/>
        </p:nvCxnSpPr>
        <p:spPr>
          <a:xfrm>
            <a:off x="695739" y="3454791"/>
            <a:ext cx="2007704" cy="0"/>
          </a:xfrm>
          <a:prstGeom prst="line">
            <a:avLst/>
          </a:prstGeom>
          <a:ln>
            <a:solidFill>
              <a:schemeClr val="bg2">
                <a:lumMod val="90000"/>
              </a:schemeClr>
            </a:solidFill>
          </a:ln>
        </p:spPr>
        <p:style>
          <a:lnRef idx="1">
            <a:schemeClr val="dk1"/>
          </a:lnRef>
          <a:fillRef idx="0">
            <a:schemeClr val="dk1"/>
          </a:fillRef>
          <a:effectRef idx="0">
            <a:schemeClr val="dk1"/>
          </a:effectRef>
          <a:fontRef idx="minor">
            <a:schemeClr val="tx1"/>
          </a:fontRef>
        </p:style>
      </p:cxnSp>
      <p:cxnSp>
        <p:nvCxnSpPr>
          <p:cNvPr id="13" name="直接连接符 12"/>
          <p:cNvCxnSpPr/>
          <p:nvPr/>
        </p:nvCxnSpPr>
        <p:spPr>
          <a:xfrm>
            <a:off x="695739" y="4379130"/>
            <a:ext cx="2007704" cy="0"/>
          </a:xfrm>
          <a:prstGeom prst="line">
            <a:avLst/>
          </a:prstGeom>
          <a:ln>
            <a:solidFill>
              <a:schemeClr val="bg2">
                <a:lumMod val="90000"/>
              </a:schemeClr>
            </a:solidFill>
          </a:ln>
        </p:spPr>
        <p:style>
          <a:lnRef idx="1">
            <a:schemeClr val="dk1"/>
          </a:lnRef>
          <a:fillRef idx="0">
            <a:schemeClr val="dk1"/>
          </a:fillRef>
          <a:effectRef idx="0">
            <a:schemeClr val="dk1"/>
          </a:effectRef>
          <a:fontRef idx="minor">
            <a:schemeClr val="tx1"/>
          </a:fontRef>
        </p:style>
      </p:cxnSp>
      <p:sp>
        <p:nvSpPr>
          <p:cNvPr id="29" name="圆角矩形 28"/>
          <p:cNvSpPr/>
          <p:nvPr/>
        </p:nvSpPr>
        <p:spPr>
          <a:xfrm>
            <a:off x="691747" y="2628339"/>
            <a:ext cx="2011697" cy="828375"/>
          </a:xfrm>
          <a:prstGeom prst="roundRect">
            <a:avLst>
              <a:gd name="adj" fmla="val 462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18" name="组合 17"/>
          <p:cNvGrpSpPr/>
          <p:nvPr/>
        </p:nvGrpSpPr>
        <p:grpSpPr>
          <a:xfrm>
            <a:off x="4204537" y="2626416"/>
            <a:ext cx="3826565" cy="2194915"/>
            <a:chOff x="5606049" y="2358888"/>
            <a:chExt cx="5102087" cy="2926553"/>
          </a:xfrm>
        </p:grpSpPr>
        <p:grpSp>
          <p:nvGrpSpPr>
            <p:cNvPr id="16" name="组合 15"/>
            <p:cNvGrpSpPr/>
            <p:nvPr/>
          </p:nvGrpSpPr>
          <p:grpSpPr>
            <a:xfrm>
              <a:off x="5606049" y="2358888"/>
              <a:ext cx="5102087" cy="2466161"/>
              <a:chOff x="5844589" y="2253971"/>
              <a:chExt cx="5102087" cy="2466161"/>
            </a:xfrm>
          </p:grpSpPr>
          <p:sp>
            <p:nvSpPr>
              <p:cNvPr id="14" name="圆角矩形 13"/>
              <p:cNvSpPr/>
              <p:nvPr/>
            </p:nvSpPr>
            <p:spPr>
              <a:xfrm>
                <a:off x="5844589" y="2253971"/>
                <a:ext cx="5102087" cy="2466161"/>
              </a:xfrm>
              <a:prstGeom prst="roundRect">
                <a:avLst>
                  <a:gd name="adj" fmla="val 3233"/>
                </a:avLst>
              </a:prstGeom>
              <a:solidFill>
                <a:schemeClr val="bg2"/>
              </a:solidFill>
              <a:ln>
                <a:noFill/>
              </a:ln>
              <a:effectLst>
                <a:outerShdw blurRad="101600" dist="889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文本框 14"/>
              <p:cNvSpPr txBox="1"/>
              <p:nvPr/>
            </p:nvSpPr>
            <p:spPr>
              <a:xfrm>
                <a:off x="6679861" y="2794554"/>
                <a:ext cx="3670852" cy="1415772"/>
              </a:xfrm>
              <a:prstGeom prst="rect">
                <a:avLst/>
              </a:prstGeom>
              <a:noFill/>
            </p:spPr>
            <p:txBody>
              <a:bodyPr wrap="square" rtlCol="0">
                <a:spAutoFit/>
              </a:bodyPr>
              <a:lstStyle/>
              <a:p>
                <a:r>
                  <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         软件作者的同事来评估的技术内容和</a:t>
                </a:r>
                <a:r>
                  <a:rPr lang="en-US" altLang="zh-CN"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a:t>
                </a:r>
                <a:r>
                  <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或质量工作。</a:t>
                </a:r>
                <a:endPar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endParaRPr>
              </a:p>
            </p:txBody>
          </p:sp>
        </p:grpSp>
        <p:sp>
          <p:nvSpPr>
            <p:cNvPr id="17" name="椭圆 16"/>
            <p:cNvSpPr/>
            <p:nvPr/>
          </p:nvSpPr>
          <p:spPr>
            <a:xfrm>
              <a:off x="9488557" y="4412454"/>
              <a:ext cx="872987" cy="872987"/>
            </a:xfrm>
            <a:prstGeom prst="ellipse">
              <a:avLst/>
            </a:prstGeom>
            <a:solidFill>
              <a:srgbClr val="FDC006"/>
            </a:solidFill>
            <a:ln>
              <a:noFill/>
            </a:ln>
            <a:effectLst>
              <a:outerShdw blurRad="88900" dist="76200" dir="5400000" sx="101000" sy="101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Roboto" pitchFamily="2" charset="0"/>
                  <a:ea typeface="Roboto" pitchFamily="2" charset="0"/>
                </a:rPr>
                <a:t>1/3</a:t>
              </a:r>
              <a:endParaRPr lang="zh-CN" altLang="en-US" sz="1500" dirty="0">
                <a:latin typeface="Roboto" pitchFamily="2" charset="0"/>
              </a:endParaRPr>
            </a:p>
          </p:txBody>
        </p:sp>
      </p:grpSp>
      <p:grpSp>
        <p:nvGrpSpPr>
          <p:cNvPr id="19" name="组合 18"/>
          <p:cNvGrpSpPr/>
          <p:nvPr/>
        </p:nvGrpSpPr>
        <p:grpSpPr>
          <a:xfrm>
            <a:off x="4200141" y="2923228"/>
            <a:ext cx="3826565" cy="2194915"/>
            <a:chOff x="5606049" y="2358888"/>
            <a:chExt cx="5102087" cy="2926553"/>
          </a:xfrm>
          <a:solidFill>
            <a:schemeClr val="bg1">
              <a:lumMod val="95000"/>
            </a:schemeClr>
          </a:solidFill>
        </p:grpSpPr>
        <p:grpSp>
          <p:nvGrpSpPr>
            <p:cNvPr id="20" name="组合 19"/>
            <p:cNvGrpSpPr/>
            <p:nvPr/>
          </p:nvGrpSpPr>
          <p:grpSpPr>
            <a:xfrm>
              <a:off x="5606049" y="2358888"/>
              <a:ext cx="5102087" cy="2466161"/>
              <a:chOff x="5844589" y="2253971"/>
              <a:chExt cx="5102087" cy="2466161"/>
            </a:xfrm>
            <a:grpFill/>
          </p:grpSpPr>
          <p:sp>
            <p:nvSpPr>
              <p:cNvPr id="22" name="圆角矩形 21"/>
              <p:cNvSpPr/>
              <p:nvPr/>
            </p:nvSpPr>
            <p:spPr>
              <a:xfrm>
                <a:off x="5844589" y="2253971"/>
                <a:ext cx="5102087" cy="2466161"/>
              </a:xfrm>
              <a:prstGeom prst="roundRect">
                <a:avLst>
                  <a:gd name="adj" fmla="val 3233"/>
                </a:avLst>
              </a:prstGeom>
              <a:solidFill>
                <a:schemeClr val="bg1">
                  <a:lumMod val="95000"/>
                </a:schemeClr>
              </a:solidFill>
              <a:ln>
                <a:noFill/>
              </a:ln>
              <a:effectLst>
                <a:outerShdw blurRad="101600" dist="889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文本框 22"/>
              <p:cNvSpPr txBox="1"/>
              <p:nvPr/>
            </p:nvSpPr>
            <p:spPr>
              <a:xfrm>
                <a:off x="6560206" y="2660674"/>
                <a:ext cx="3670852" cy="1415772"/>
              </a:xfrm>
              <a:prstGeom prst="rect">
                <a:avLst/>
              </a:prstGeom>
              <a:grpFill/>
            </p:spPr>
            <p:txBody>
              <a:bodyPr wrap="square" rtlCol="0">
                <a:spAutoFit/>
              </a:bodyPr>
              <a:lstStyle/>
              <a:p>
                <a:r>
                  <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         由管理代表评估工作的现状和对下游活动作出决定。</a:t>
                </a:r>
                <a:endPar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endParaRPr>
              </a:p>
            </p:txBody>
          </p:sp>
        </p:grpSp>
        <p:sp>
          <p:nvSpPr>
            <p:cNvPr id="21" name="椭圆 20"/>
            <p:cNvSpPr/>
            <p:nvPr/>
          </p:nvSpPr>
          <p:spPr>
            <a:xfrm>
              <a:off x="9488557" y="4412454"/>
              <a:ext cx="872987" cy="872987"/>
            </a:xfrm>
            <a:prstGeom prst="ellipse">
              <a:avLst/>
            </a:prstGeom>
            <a:solidFill>
              <a:srgbClr val="FDC006"/>
            </a:solidFill>
            <a:ln>
              <a:noFill/>
            </a:ln>
            <a:effectLst>
              <a:outerShdw blurRad="101600" dist="762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Roboto" pitchFamily="2" charset="0"/>
                  <a:ea typeface="Roboto" pitchFamily="2" charset="0"/>
                </a:rPr>
                <a:t>2/3</a:t>
              </a:r>
              <a:endParaRPr lang="zh-CN" altLang="en-US" sz="1500" dirty="0">
                <a:latin typeface="Roboto" pitchFamily="2" charset="0"/>
              </a:endParaRPr>
            </a:p>
          </p:txBody>
        </p:sp>
      </p:grpSp>
      <p:grpSp>
        <p:nvGrpSpPr>
          <p:cNvPr id="24" name="组合 23"/>
          <p:cNvGrpSpPr/>
          <p:nvPr/>
        </p:nvGrpSpPr>
        <p:grpSpPr>
          <a:xfrm>
            <a:off x="4204536" y="3169543"/>
            <a:ext cx="3826565" cy="2194915"/>
            <a:chOff x="5606049" y="2358888"/>
            <a:chExt cx="5102087" cy="2926553"/>
          </a:xfrm>
        </p:grpSpPr>
        <p:grpSp>
          <p:nvGrpSpPr>
            <p:cNvPr id="25" name="组合 24"/>
            <p:cNvGrpSpPr/>
            <p:nvPr/>
          </p:nvGrpSpPr>
          <p:grpSpPr>
            <a:xfrm>
              <a:off x="5606049" y="2358888"/>
              <a:ext cx="5102087" cy="2511386"/>
              <a:chOff x="5844589" y="2253971"/>
              <a:chExt cx="5102087" cy="2511386"/>
            </a:xfrm>
          </p:grpSpPr>
          <p:sp>
            <p:nvSpPr>
              <p:cNvPr id="27" name="圆角矩形 26"/>
              <p:cNvSpPr/>
              <p:nvPr/>
            </p:nvSpPr>
            <p:spPr>
              <a:xfrm>
                <a:off x="5844589" y="2253971"/>
                <a:ext cx="5102087" cy="2466161"/>
              </a:xfrm>
              <a:prstGeom prst="roundRect">
                <a:avLst>
                  <a:gd name="adj" fmla="val 3233"/>
                </a:avLst>
              </a:prstGeom>
              <a:solidFill>
                <a:schemeClr val="bg1"/>
              </a:solidFill>
              <a:ln>
                <a:noFill/>
              </a:ln>
              <a:effectLst>
                <a:outerShdw blurRad="101600" dist="889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文本框 27"/>
              <p:cNvSpPr txBox="1"/>
              <p:nvPr/>
            </p:nvSpPr>
            <p:spPr>
              <a:xfrm>
                <a:off x="6626402" y="2487811"/>
                <a:ext cx="3670852" cy="2277546"/>
              </a:xfrm>
              <a:prstGeom prst="rect">
                <a:avLst/>
              </a:prstGeom>
              <a:noFill/>
            </p:spPr>
            <p:txBody>
              <a:bodyPr wrap="square" rtlCol="0">
                <a:spAutoFit/>
              </a:bodyPr>
              <a:lstStyle/>
              <a:p>
                <a:r>
                  <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         软件项目外的工作人员根据规范、标准、合同或其他标准评估软件项目的规范。</a:t>
                </a:r>
                <a:endPar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endParaRPr>
              </a:p>
            </p:txBody>
          </p:sp>
        </p:grpSp>
        <p:sp>
          <p:nvSpPr>
            <p:cNvPr id="26" name="椭圆 25"/>
            <p:cNvSpPr/>
            <p:nvPr/>
          </p:nvSpPr>
          <p:spPr>
            <a:xfrm>
              <a:off x="9488557" y="4412454"/>
              <a:ext cx="872987" cy="872987"/>
            </a:xfrm>
            <a:prstGeom prst="ellipse">
              <a:avLst/>
            </a:prstGeom>
            <a:solidFill>
              <a:srgbClr val="FDC006"/>
            </a:solidFill>
            <a:ln>
              <a:noFill/>
            </a:ln>
            <a:effectLst>
              <a:outerShdw blurRad="88900" dist="762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500" dirty="0">
                  <a:latin typeface="Roboto" pitchFamily="2" charset="0"/>
                  <a:ea typeface="Roboto" pitchFamily="2" charset="0"/>
                </a:rPr>
                <a:t>3/3</a:t>
              </a:r>
              <a:endParaRPr lang="zh-CN" altLang="en-US" sz="1500" dirty="0">
                <a:latin typeface="Roboto" pitchFamily="2" charset="0"/>
              </a:endParaRPr>
            </a:p>
          </p:txBody>
        </p:sp>
      </p:grpSp>
      <p:sp>
        <p:nvSpPr>
          <p:cNvPr id="8" name="文本框 7"/>
          <p:cNvSpPr txBox="1"/>
          <p:nvPr/>
        </p:nvSpPr>
        <p:spPr>
          <a:xfrm>
            <a:off x="772767" y="2923228"/>
            <a:ext cx="1930676" cy="415498"/>
          </a:xfrm>
          <a:prstGeom prst="rect">
            <a:avLst/>
          </a:prstGeom>
          <a:noFill/>
        </p:spPr>
        <p:txBody>
          <a:bodyPr wrap="square" rtlCol="0">
            <a:spAutoFit/>
          </a:bodyPr>
          <a:lstStyle/>
          <a:p>
            <a:r>
              <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同 行 评 审</a:t>
            </a:r>
            <a:endPar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endParaRPr>
          </a:p>
        </p:txBody>
      </p:sp>
      <p:sp>
        <p:nvSpPr>
          <p:cNvPr id="30" name="圆角矩形 29"/>
          <p:cNvSpPr/>
          <p:nvPr/>
        </p:nvSpPr>
        <p:spPr>
          <a:xfrm>
            <a:off x="687350" y="3447577"/>
            <a:ext cx="2016092" cy="931553"/>
          </a:xfrm>
          <a:prstGeom prst="roundRect">
            <a:avLst>
              <a:gd name="adj" fmla="val 462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文本框 8"/>
          <p:cNvSpPr txBox="1"/>
          <p:nvPr/>
        </p:nvSpPr>
        <p:spPr>
          <a:xfrm>
            <a:off x="772768" y="3774175"/>
            <a:ext cx="1930676" cy="415498"/>
          </a:xfrm>
          <a:prstGeom prst="rect">
            <a:avLst/>
          </a:prstGeom>
          <a:noFill/>
        </p:spPr>
        <p:txBody>
          <a:bodyPr wrap="square" rtlCol="0">
            <a:spAutoFit/>
          </a:bodyPr>
          <a:lstStyle/>
          <a:p>
            <a:r>
              <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管 理 评 审</a:t>
            </a:r>
            <a:endPar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endParaRPr>
          </a:p>
        </p:txBody>
      </p:sp>
      <p:sp>
        <p:nvSpPr>
          <p:cNvPr id="31" name="圆角矩形 30"/>
          <p:cNvSpPr/>
          <p:nvPr/>
        </p:nvSpPr>
        <p:spPr>
          <a:xfrm>
            <a:off x="691745" y="4352780"/>
            <a:ext cx="2011697" cy="968983"/>
          </a:xfrm>
          <a:prstGeom prst="roundRect">
            <a:avLst>
              <a:gd name="adj" fmla="val 462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文本框 9"/>
          <p:cNvSpPr txBox="1"/>
          <p:nvPr/>
        </p:nvSpPr>
        <p:spPr>
          <a:xfrm>
            <a:off x="772767" y="4625123"/>
            <a:ext cx="2425148" cy="415498"/>
          </a:xfrm>
          <a:prstGeom prst="rect">
            <a:avLst/>
          </a:prstGeom>
          <a:noFill/>
        </p:spPr>
        <p:txBody>
          <a:bodyPr wrap="square" rtlCol="0">
            <a:spAutoFit/>
          </a:bodyPr>
          <a:lstStyle/>
          <a:p>
            <a:r>
              <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审计人员评审</a:t>
            </a:r>
            <a:endPar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250"/>
                                        <p:tgtEl>
                                          <p:spTgt spid="19"/>
                                        </p:tgtEl>
                                      </p:cBhvr>
                                    </p:animEffect>
                                  </p:childTnLst>
                                </p:cTn>
                              </p:par>
                              <p:par>
                                <p:cTn id="8" presetID="10" presetClass="exit" presetSubtype="0" fill="hold" grpId="0" nodeType="withEffect">
                                  <p:stCondLst>
                                    <p:cond delay="0"/>
                                  </p:stCondLst>
                                  <p:childTnLst>
                                    <p:animEffect transition="out" filter="fade">
                                      <p:cBhvr>
                                        <p:cTn id="9" dur="250"/>
                                        <p:tgtEl>
                                          <p:spTgt spid="29"/>
                                        </p:tgtEl>
                                      </p:cBhvr>
                                    </p:animEffect>
                                    <p:set>
                                      <p:cBhvr>
                                        <p:cTn id="10" dur="1" fill="hold">
                                          <p:stCondLst>
                                            <p:cond delay="249"/>
                                          </p:stCondLst>
                                        </p:cTn>
                                        <p:tgtEl>
                                          <p:spTgt spid="29"/>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25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250"/>
                                        <p:tgtEl>
                                          <p:spTgt spid="24"/>
                                        </p:tgtEl>
                                      </p:cBhvr>
                                    </p:animEffect>
                                  </p:childTnLst>
                                </p:cTn>
                              </p:par>
                              <p:par>
                                <p:cTn id="19" presetID="10" presetClass="exit" presetSubtype="0" fill="hold" grpId="1" nodeType="withEffect">
                                  <p:stCondLst>
                                    <p:cond delay="0"/>
                                  </p:stCondLst>
                                  <p:childTnLst>
                                    <p:animEffect transition="out" filter="fade">
                                      <p:cBhvr>
                                        <p:cTn id="20" dur="250"/>
                                        <p:tgtEl>
                                          <p:spTgt spid="30"/>
                                        </p:tgtEl>
                                      </p:cBhvr>
                                    </p:animEffect>
                                    <p:set>
                                      <p:cBhvr>
                                        <p:cTn id="21" dur="1" fill="hold">
                                          <p:stCondLst>
                                            <p:cond delay="249"/>
                                          </p:stCondLst>
                                        </p:cTn>
                                        <p:tgtEl>
                                          <p:spTgt spid="30"/>
                                        </p:tgtEl>
                                        <p:attrNameLst>
                                          <p:attrName>style.visibility</p:attrName>
                                        </p:attrNameLst>
                                      </p:cBhvr>
                                      <p:to>
                                        <p:strVal val="hidden"/>
                                      </p:to>
                                    </p:set>
                                  </p:childTnLst>
                                </p:cTn>
                              </p:par>
                              <p:par>
                                <p:cTn id="22" presetID="10"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25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0" grpId="1" animBg="1"/>
      <p:bldP spid="3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557812" y="1609959"/>
            <a:ext cx="6586188" cy="4390792"/>
          </a:xfrm>
          <a:prstGeom prst="rect">
            <a:avLst/>
          </a:prstGeom>
          <a:effectLst>
            <a:outerShdw blurRad="127000" dist="139700" dir="5400000" algn="t" rotWithShape="0">
              <a:prstClr val="black">
                <a:alpha val="30000"/>
              </a:prstClr>
            </a:outerShdw>
          </a:effectLst>
        </p:spPr>
      </p:pic>
      <p:grpSp>
        <p:nvGrpSpPr>
          <p:cNvPr id="2" name="组合 1"/>
          <p:cNvGrpSpPr/>
          <p:nvPr/>
        </p:nvGrpSpPr>
        <p:grpSpPr>
          <a:xfrm>
            <a:off x="0" y="857251"/>
            <a:ext cx="9144000" cy="752708"/>
            <a:chOff x="0" y="1"/>
            <a:chExt cx="12192000" cy="1003610"/>
          </a:xfrm>
        </p:grpSpPr>
        <p:sp>
          <p:nvSpPr>
            <p:cNvPr id="3" name="圆角矩形 2"/>
            <p:cNvSpPr/>
            <p:nvPr/>
          </p:nvSpPr>
          <p:spPr>
            <a:xfrm>
              <a:off x="0" y="1"/>
              <a:ext cx="12192000" cy="1003610"/>
            </a:xfrm>
            <a:prstGeom prst="roundRect">
              <a:avLst>
                <a:gd name="adj" fmla="val 3334"/>
              </a:avLst>
            </a:prstGeom>
            <a:solidFill>
              <a:srgbClr val="019587"/>
            </a:solidFill>
            <a:ln>
              <a:noFill/>
            </a:ln>
            <a:effectLst>
              <a:outerShdw blurRad="76200" dist="63500" dir="5400000" algn="t" rotWithShape="0">
                <a:prstClr val="black">
                  <a:alpha val="3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350" dirty="0"/>
            </a:p>
          </p:txBody>
        </p:sp>
        <p:sp>
          <p:nvSpPr>
            <p:cNvPr id="4" name="文本框 3"/>
            <p:cNvSpPr txBox="1"/>
            <p:nvPr/>
          </p:nvSpPr>
          <p:spPr>
            <a:xfrm>
              <a:off x="182353" y="192792"/>
              <a:ext cx="5586680" cy="615553"/>
            </a:xfrm>
            <a:prstGeom prst="rect">
              <a:avLst/>
            </a:prstGeom>
            <a:noFill/>
          </p:spPr>
          <p:txBody>
            <a:bodyPr wrap="square" rtlCol="0">
              <a:spAutoFit/>
            </a:bodyPr>
            <a:lstStyle/>
            <a:p>
              <a:r>
                <a:rPr lang="zh-CN" altLang="en-US" sz="2400" dirty="0">
                  <a:solidFill>
                    <a:schemeClr val="bg1"/>
                  </a:solidFill>
                  <a:latin typeface="思源黑体 CN Regular" panose="020B0500000000000000" pitchFamily="34" charset="-122"/>
                  <a:ea typeface="思源黑体 CN Regular" panose="020B0500000000000000" pitchFamily="34" charset="-122"/>
                </a:rPr>
                <a:t>同行评审的不同类型</a:t>
              </a:r>
              <a:endParaRPr lang="zh-CN" altLang="en-US" sz="2400" dirty="0">
                <a:solidFill>
                  <a:schemeClr val="bg1"/>
                </a:solidFill>
                <a:latin typeface="思源黑体 CN Regular" panose="020B0500000000000000" pitchFamily="34" charset="-122"/>
                <a:ea typeface="思源黑体 CN Regular" panose="020B0500000000000000" pitchFamily="34" charset="-122"/>
              </a:endParaRPr>
            </a:p>
          </p:txBody>
        </p:sp>
      </p:grpSp>
      <p:sp>
        <p:nvSpPr>
          <p:cNvPr id="20" name="圆角矩形 19"/>
          <p:cNvSpPr/>
          <p:nvPr/>
        </p:nvSpPr>
        <p:spPr>
          <a:xfrm>
            <a:off x="136765" y="2128261"/>
            <a:ext cx="4099201" cy="3354185"/>
          </a:xfrm>
          <a:prstGeom prst="roundRect">
            <a:avLst>
              <a:gd name="adj" fmla="val 1797"/>
            </a:avLst>
          </a:prstGeom>
          <a:solidFill>
            <a:schemeClr val="bg1"/>
          </a:solidFill>
          <a:ln>
            <a:noFill/>
          </a:ln>
          <a:effectLst>
            <a:outerShdw blurRad="76200" dist="889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19" name="组合 18"/>
          <p:cNvGrpSpPr/>
          <p:nvPr/>
        </p:nvGrpSpPr>
        <p:grpSpPr>
          <a:xfrm>
            <a:off x="170016" y="2128262"/>
            <a:ext cx="4099201" cy="3354185"/>
            <a:chOff x="226688" y="1694682"/>
            <a:chExt cx="5465601" cy="4472247"/>
          </a:xfrm>
        </p:grpSpPr>
        <p:sp>
          <p:nvSpPr>
            <p:cNvPr id="7" name="圆角矩形 6"/>
            <p:cNvSpPr/>
            <p:nvPr/>
          </p:nvSpPr>
          <p:spPr>
            <a:xfrm>
              <a:off x="226688" y="1694682"/>
              <a:ext cx="5465601" cy="4472247"/>
            </a:xfrm>
            <a:prstGeom prst="roundRect">
              <a:avLst>
                <a:gd name="adj" fmla="val 1797"/>
              </a:avLst>
            </a:prstGeom>
            <a:solidFill>
              <a:schemeClr val="bg1"/>
            </a:solidFill>
            <a:ln>
              <a:noFill/>
            </a:ln>
            <a:effectLst>
              <a:outerShdw blurRad="76200" dist="889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文本框 16"/>
            <p:cNvSpPr txBox="1"/>
            <p:nvPr/>
          </p:nvSpPr>
          <p:spPr>
            <a:xfrm>
              <a:off x="781396" y="2007045"/>
              <a:ext cx="4500494" cy="1477328"/>
            </a:xfrm>
            <a:prstGeom prst="rect">
              <a:avLst/>
            </a:prstGeom>
            <a:noFill/>
          </p:spPr>
          <p:txBody>
            <a:bodyPr wrap="square" rtlCol="0">
              <a:spAutoFit/>
            </a:bodyPr>
            <a:lstStyle/>
            <a:p>
              <a:r>
                <a:rPr lang="zh-CN" altLang="en-US" sz="3300" dirty="0">
                  <a:latin typeface="思源黑体 CN Regular" panose="020B0500000000000000" pitchFamily="34" charset="-122"/>
                  <a:ea typeface="思源黑体 CN Regular" panose="020B0500000000000000" pitchFamily="34" charset="-122"/>
                </a:rPr>
                <a:t>代码审查</a:t>
              </a:r>
              <a:endParaRPr lang="en-US" altLang="zh-CN" sz="3300" dirty="0">
                <a:latin typeface="思源黑体 CN Regular" panose="020B0500000000000000" pitchFamily="34" charset="-122"/>
                <a:ea typeface="思源黑体 CN Regular" panose="020B0500000000000000" pitchFamily="34" charset="-122"/>
              </a:endParaRPr>
            </a:p>
            <a:p>
              <a:r>
                <a:rPr lang="en-US" altLang="zh-CN" sz="3300" dirty="0">
                  <a:latin typeface="思源黑体 CN Regular" panose="020B0500000000000000" pitchFamily="34" charset="-122"/>
                  <a:ea typeface="思源黑体 CN Regular" panose="020B0500000000000000" pitchFamily="34" charset="-122"/>
                </a:rPr>
                <a:t>Code Review</a:t>
              </a:r>
              <a:endParaRPr lang="zh-CN" altLang="en-US" sz="3300" dirty="0">
                <a:latin typeface="思源黑体 CN Regular" panose="020B0500000000000000" pitchFamily="34" charset="-122"/>
                <a:ea typeface="思源黑体 CN Regular" panose="020B0500000000000000" pitchFamily="34" charset="-122"/>
              </a:endParaRPr>
            </a:p>
          </p:txBody>
        </p:sp>
        <p:sp>
          <p:nvSpPr>
            <p:cNvPr id="18" name="文本框 17"/>
            <p:cNvSpPr txBox="1"/>
            <p:nvPr/>
          </p:nvSpPr>
          <p:spPr>
            <a:xfrm>
              <a:off x="781396" y="3744163"/>
              <a:ext cx="3724102" cy="1107996"/>
            </a:xfrm>
            <a:prstGeom prst="rect">
              <a:avLst/>
            </a:prstGeom>
            <a:noFill/>
          </p:spPr>
          <p:txBody>
            <a:bodyPr wrap="square" rtlCol="0">
              <a:spAutoFit/>
            </a:bodyPr>
            <a:lstStyle/>
            <a:p>
              <a:r>
                <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系统性的检查的计算机源代码</a:t>
              </a:r>
              <a:endPar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endParaRPr>
            </a:p>
          </p:txBody>
        </p:sp>
      </p:grpSp>
      <p:grpSp>
        <p:nvGrpSpPr>
          <p:cNvPr id="21" name="组合 20"/>
          <p:cNvGrpSpPr/>
          <p:nvPr/>
        </p:nvGrpSpPr>
        <p:grpSpPr>
          <a:xfrm>
            <a:off x="170016" y="2142871"/>
            <a:ext cx="4099201" cy="3354185"/>
            <a:chOff x="271023" y="1737008"/>
            <a:chExt cx="5465601" cy="4472247"/>
          </a:xfrm>
        </p:grpSpPr>
        <p:sp>
          <p:nvSpPr>
            <p:cNvPr id="22" name="圆角矩形 21"/>
            <p:cNvSpPr/>
            <p:nvPr/>
          </p:nvSpPr>
          <p:spPr>
            <a:xfrm>
              <a:off x="271023" y="1737008"/>
              <a:ext cx="5465601" cy="4472247"/>
            </a:xfrm>
            <a:prstGeom prst="roundRect">
              <a:avLst>
                <a:gd name="adj" fmla="val 1797"/>
              </a:avLst>
            </a:prstGeom>
            <a:solidFill>
              <a:schemeClr val="bg1"/>
            </a:solidFill>
            <a:ln>
              <a:noFill/>
            </a:ln>
            <a:effectLst>
              <a:outerShdw blurRad="76200" dist="889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文本框 22"/>
            <p:cNvSpPr txBox="1"/>
            <p:nvPr/>
          </p:nvSpPr>
          <p:spPr>
            <a:xfrm>
              <a:off x="771034" y="2007061"/>
              <a:ext cx="4742972" cy="1415772"/>
            </a:xfrm>
            <a:prstGeom prst="rect">
              <a:avLst/>
            </a:prstGeom>
            <a:noFill/>
          </p:spPr>
          <p:txBody>
            <a:bodyPr wrap="square" rtlCol="0">
              <a:spAutoFit/>
            </a:bodyPr>
            <a:lstStyle/>
            <a:p>
              <a:r>
                <a:rPr lang="zh-CN" altLang="en-US" sz="3300" dirty="0">
                  <a:latin typeface="思源黑体 CN Regular" panose="020B0500000000000000" pitchFamily="34" charset="-122"/>
                  <a:ea typeface="思源黑体 CN Regular" panose="020B0500000000000000" pitchFamily="34" charset="-122"/>
                </a:rPr>
                <a:t>结对编程</a:t>
              </a:r>
              <a:endParaRPr lang="en-US" altLang="zh-CN" sz="3300" dirty="0">
                <a:latin typeface="思源黑体 CN Regular" panose="020B0500000000000000" pitchFamily="34" charset="-122"/>
                <a:ea typeface="思源黑体 CN Regular" panose="020B0500000000000000" pitchFamily="34" charset="-122"/>
              </a:endParaRPr>
            </a:p>
            <a:p>
              <a:r>
                <a:rPr lang="en-US" altLang="zh-CN" sz="3000" dirty="0">
                  <a:latin typeface="思源黑体 CN Regular" panose="020B0500000000000000" pitchFamily="34" charset="-122"/>
                  <a:ea typeface="思源黑体 CN Regular" panose="020B0500000000000000" pitchFamily="34" charset="-122"/>
                </a:rPr>
                <a:t>Pair Programming</a:t>
              </a:r>
              <a:endParaRPr lang="zh-CN" altLang="en-US" sz="3000" dirty="0">
                <a:latin typeface="思源黑体 CN Regular" panose="020B0500000000000000" pitchFamily="34" charset="-122"/>
                <a:ea typeface="思源黑体 CN Regular" panose="020B0500000000000000" pitchFamily="34" charset="-122"/>
              </a:endParaRPr>
            </a:p>
          </p:txBody>
        </p:sp>
        <p:sp>
          <p:nvSpPr>
            <p:cNvPr id="24" name="文本框 23"/>
            <p:cNvSpPr txBox="1"/>
            <p:nvPr/>
          </p:nvSpPr>
          <p:spPr>
            <a:xfrm>
              <a:off x="781395" y="3744164"/>
              <a:ext cx="4513234" cy="1600439"/>
            </a:xfrm>
            <a:prstGeom prst="rect">
              <a:avLst/>
            </a:prstGeom>
            <a:noFill/>
          </p:spPr>
          <p:txBody>
            <a:bodyPr wrap="square" rtlCol="0">
              <a:spAutoFit/>
            </a:bodyPr>
            <a:lstStyle/>
            <a:p>
              <a:r>
                <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一种代码评审</a:t>
              </a:r>
              <a:r>
                <a:rPr lang="en-US" altLang="zh-CN"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a:t>
              </a:r>
              <a:r>
                <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两个人一起在同一工作站开发代码。</a:t>
              </a:r>
              <a:endPar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endParaRPr>
            </a:p>
          </p:txBody>
        </p:sp>
      </p:grpSp>
      <p:grpSp>
        <p:nvGrpSpPr>
          <p:cNvPr id="26" name="组合 25"/>
          <p:cNvGrpSpPr/>
          <p:nvPr/>
        </p:nvGrpSpPr>
        <p:grpSpPr>
          <a:xfrm>
            <a:off x="153390" y="2113652"/>
            <a:ext cx="4099201" cy="3354185"/>
            <a:chOff x="271023" y="1737008"/>
            <a:chExt cx="5465601" cy="4472247"/>
          </a:xfrm>
        </p:grpSpPr>
        <p:sp>
          <p:nvSpPr>
            <p:cNvPr id="27" name="圆角矩形 26"/>
            <p:cNvSpPr/>
            <p:nvPr/>
          </p:nvSpPr>
          <p:spPr>
            <a:xfrm>
              <a:off x="271023" y="1737008"/>
              <a:ext cx="5465601" cy="4472247"/>
            </a:xfrm>
            <a:prstGeom prst="roundRect">
              <a:avLst>
                <a:gd name="adj" fmla="val 1797"/>
              </a:avLst>
            </a:prstGeom>
            <a:solidFill>
              <a:schemeClr val="bg1"/>
            </a:solidFill>
            <a:ln>
              <a:noFill/>
            </a:ln>
            <a:effectLst>
              <a:outerShdw blurRad="76200" dist="889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文本框 27"/>
            <p:cNvSpPr txBox="1"/>
            <p:nvPr/>
          </p:nvSpPr>
          <p:spPr>
            <a:xfrm>
              <a:off x="771034" y="2007061"/>
              <a:ext cx="4742972" cy="1415772"/>
            </a:xfrm>
            <a:prstGeom prst="rect">
              <a:avLst/>
            </a:prstGeom>
            <a:noFill/>
          </p:spPr>
          <p:txBody>
            <a:bodyPr wrap="square" rtlCol="0">
              <a:spAutoFit/>
            </a:bodyPr>
            <a:lstStyle/>
            <a:p>
              <a:r>
                <a:rPr lang="zh-CN" altLang="en-US" sz="3300" dirty="0">
                  <a:latin typeface="思源黑体 CN Regular" panose="020B0500000000000000" pitchFamily="34" charset="-122"/>
                  <a:ea typeface="思源黑体 CN Regular" panose="020B0500000000000000" pitchFamily="34" charset="-122"/>
                </a:rPr>
                <a:t>检验</a:t>
              </a:r>
              <a:endParaRPr lang="en-US" altLang="zh-CN" sz="3300" dirty="0">
                <a:latin typeface="思源黑体 CN Regular" panose="020B0500000000000000" pitchFamily="34" charset="-122"/>
                <a:ea typeface="思源黑体 CN Regular" panose="020B0500000000000000" pitchFamily="34" charset="-122"/>
              </a:endParaRPr>
            </a:p>
            <a:p>
              <a:r>
                <a:rPr lang="en-US" altLang="zh-CN" sz="3000" dirty="0">
                  <a:latin typeface="思源黑体 CN Regular" panose="020B0500000000000000" pitchFamily="34" charset="-122"/>
                  <a:ea typeface="思源黑体 CN Regular" panose="020B0500000000000000" pitchFamily="34" charset="-122"/>
                </a:rPr>
                <a:t>Inspection</a:t>
              </a:r>
              <a:endParaRPr lang="zh-CN" altLang="en-US" sz="3000" dirty="0">
                <a:latin typeface="思源黑体 CN Regular" panose="020B0500000000000000" pitchFamily="34" charset="-122"/>
                <a:ea typeface="思源黑体 CN Regular" panose="020B0500000000000000" pitchFamily="34" charset="-122"/>
              </a:endParaRPr>
            </a:p>
          </p:txBody>
        </p:sp>
        <p:sp>
          <p:nvSpPr>
            <p:cNvPr id="29" name="文本框 28"/>
            <p:cNvSpPr txBox="1"/>
            <p:nvPr/>
          </p:nvSpPr>
          <p:spPr>
            <a:xfrm>
              <a:off x="781395" y="3744164"/>
              <a:ext cx="4513234" cy="1600439"/>
            </a:xfrm>
            <a:prstGeom prst="rect">
              <a:avLst/>
            </a:prstGeom>
            <a:noFill/>
          </p:spPr>
          <p:txBody>
            <a:bodyPr wrap="square" rtlCol="0">
              <a:spAutoFit/>
            </a:bodyPr>
            <a:lstStyle/>
            <a:p>
              <a:r>
                <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一种非常正式的同行评议评审，跟踪一个明确的过程来发现缺陷。</a:t>
              </a:r>
              <a:endPar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endParaRPr>
            </a:p>
          </p:txBody>
        </p:sp>
      </p:grpSp>
      <p:grpSp>
        <p:nvGrpSpPr>
          <p:cNvPr id="30" name="组合 29"/>
          <p:cNvGrpSpPr/>
          <p:nvPr/>
        </p:nvGrpSpPr>
        <p:grpSpPr>
          <a:xfrm>
            <a:off x="136765" y="2157479"/>
            <a:ext cx="4099201" cy="3354185"/>
            <a:chOff x="271023" y="1737008"/>
            <a:chExt cx="5465601" cy="4472247"/>
          </a:xfrm>
        </p:grpSpPr>
        <p:sp>
          <p:nvSpPr>
            <p:cNvPr id="31" name="圆角矩形 30"/>
            <p:cNvSpPr/>
            <p:nvPr/>
          </p:nvSpPr>
          <p:spPr>
            <a:xfrm>
              <a:off x="271023" y="1737008"/>
              <a:ext cx="5465601" cy="4472247"/>
            </a:xfrm>
            <a:prstGeom prst="roundRect">
              <a:avLst>
                <a:gd name="adj" fmla="val 1797"/>
              </a:avLst>
            </a:prstGeom>
            <a:solidFill>
              <a:schemeClr val="bg1"/>
            </a:solidFill>
            <a:ln>
              <a:noFill/>
            </a:ln>
            <a:effectLst>
              <a:outerShdw blurRad="76200" dist="889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2" name="文本框 31"/>
            <p:cNvSpPr txBox="1"/>
            <p:nvPr/>
          </p:nvSpPr>
          <p:spPr>
            <a:xfrm>
              <a:off x="771034" y="2007061"/>
              <a:ext cx="4742972" cy="1415772"/>
            </a:xfrm>
            <a:prstGeom prst="rect">
              <a:avLst/>
            </a:prstGeom>
            <a:noFill/>
          </p:spPr>
          <p:txBody>
            <a:bodyPr wrap="square" rtlCol="0">
              <a:spAutoFit/>
            </a:bodyPr>
            <a:lstStyle/>
            <a:p>
              <a:r>
                <a:rPr lang="zh-CN" altLang="en-US" sz="3300" dirty="0">
                  <a:latin typeface="思源黑体 CN Regular" panose="020B0500000000000000" pitchFamily="34" charset="-122"/>
                  <a:ea typeface="思源黑体 CN Regular" panose="020B0500000000000000" pitchFamily="34" charset="-122"/>
                </a:rPr>
                <a:t>走查</a:t>
              </a:r>
              <a:endParaRPr lang="en-US" altLang="zh-CN" sz="3300" dirty="0">
                <a:latin typeface="思源黑体 CN Regular" panose="020B0500000000000000" pitchFamily="34" charset="-122"/>
                <a:ea typeface="思源黑体 CN Regular" panose="020B0500000000000000" pitchFamily="34" charset="-122"/>
              </a:endParaRPr>
            </a:p>
            <a:p>
              <a:r>
                <a:rPr lang="en-US" altLang="zh-CN" sz="3000" dirty="0">
                  <a:latin typeface="思源黑体 CN Regular" panose="020B0500000000000000" pitchFamily="34" charset="-122"/>
                  <a:ea typeface="思源黑体 CN Regular" panose="020B0500000000000000" pitchFamily="34" charset="-122"/>
                </a:rPr>
                <a:t>Walkthrough</a:t>
              </a:r>
              <a:endParaRPr lang="zh-CN" altLang="en-US" sz="3000" dirty="0">
                <a:latin typeface="思源黑体 CN Regular" panose="020B0500000000000000" pitchFamily="34" charset="-122"/>
                <a:ea typeface="思源黑体 CN Regular" panose="020B0500000000000000" pitchFamily="34" charset="-122"/>
              </a:endParaRPr>
            </a:p>
          </p:txBody>
        </p:sp>
        <p:sp>
          <p:nvSpPr>
            <p:cNvPr id="33" name="文本框 32"/>
            <p:cNvSpPr txBox="1"/>
            <p:nvPr/>
          </p:nvSpPr>
          <p:spPr>
            <a:xfrm>
              <a:off x="781394" y="3744164"/>
              <a:ext cx="4732610" cy="2092880"/>
            </a:xfrm>
            <a:prstGeom prst="rect">
              <a:avLst/>
            </a:prstGeom>
            <a:noFill/>
          </p:spPr>
          <p:txBody>
            <a:bodyPr wrap="square" rtlCol="0">
              <a:spAutoFit/>
            </a:bodyPr>
            <a:lstStyle/>
            <a:p>
              <a:r>
                <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一种同行评审</a:t>
              </a:r>
              <a:r>
                <a:rPr lang="en-US" altLang="zh-CN"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a:t>
              </a:r>
              <a:r>
                <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作者带领开发团队成员和其他关系方和参与者</a:t>
              </a:r>
              <a:r>
                <a:rPr lang="en-US" altLang="zh-CN"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a:t>
              </a:r>
              <a:r>
                <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提问和对缺陷做出评论。</a:t>
              </a:r>
              <a:endPar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endParaRPr>
            </a:p>
          </p:txBody>
        </p:sp>
      </p:grpSp>
      <p:grpSp>
        <p:nvGrpSpPr>
          <p:cNvPr id="34" name="组合 33"/>
          <p:cNvGrpSpPr/>
          <p:nvPr/>
        </p:nvGrpSpPr>
        <p:grpSpPr>
          <a:xfrm>
            <a:off x="161703" y="2128261"/>
            <a:ext cx="4099201" cy="3354185"/>
            <a:chOff x="271023" y="1737008"/>
            <a:chExt cx="5465601" cy="4472247"/>
          </a:xfrm>
        </p:grpSpPr>
        <p:sp>
          <p:nvSpPr>
            <p:cNvPr id="35" name="圆角矩形 34"/>
            <p:cNvSpPr/>
            <p:nvPr/>
          </p:nvSpPr>
          <p:spPr>
            <a:xfrm>
              <a:off x="271023" y="1737008"/>
              <a:ext cx="5465601" cy="4472247"/>
            </a:xfrm>
            <a:prstGeom prst="roundRect">
              <a:avLst>
                <a:gd name="adj" fmla="val 1797"/>
              </a:avLst>
            </a:prstGeom>
            <a:solidFill>
              <a:schemeClr val="bg1"/>
            </a:solidFill>
            <a:ln>
              <a:noFill/>
            </a:ln>
            <a:effectLst>
              <a:outerShdw blurRad="76200" dist="889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6" name="文本框 35"/>
            <p:cNvSpPr txBox="1"/>
            <p:nvPr/>
          </p:nvSpPr>
          <p:spPr>
            <a:xfrm>
              <a:off x="771034" y="2007061"/>
              <a:ext cx="4742972" cy="1415772"/>
            </a:xfrm>
            <a:prstGeom prst="rect">
              <a:avLst/>
            </a:prstGeom>
            <a:noFill/>
          </p:spPr>
          <p:txBody>
            <a:bodyPr wrap="square" rtlCol="0">
              <a:spAutoFit/>
            </a:bodyPr>
            <a:lstStyle/>
            <a:p>
              <a:r>
                <a:rPr lang="zh-CN" altLang="en-US" sz="3300" b="1" dirty="0">
                  <a:latin typeface="思源黑体 CN Regular" panose="020B0500000000000000" pitchFamily="34" charset="-122"/>
                  <a:ea typeface="思源黑体 CN Regular" panose="020B0500000000000000" pitchFamily="34" charset="-122"/>
                </a:rPr>
                <a:t>技术评审</a:t>
              </a:r>
              <a:endParaRPr lang="en-US" altLang="zh-CN" sz="3300" b="1" dirty="0">
                <a:latin typeface="思源黑体 CN Regular" panose="020B0500000000000000" pitchFamily="34" charset="-122"/>
                <a:ea typeface="思源黑体 CN Regular" panose="020B0500000000000000" pitchFamily="34" charset="-122"/>
              </a:endParaRPr>
            </a:p>
            <a:p>
              <a:r>
                <a:rPr lang="en-US" altLang="zh-CN" sz="3000" b="1" dirty="0">
                  <a:latin typeface="思源黑体 CN Regular" panose="020B0500000000000000" pitchFamily="34" charset="-122"/>
                  <a:ea typeface="思源黑体 CN Regular" panose="020B0500000000000000" pitchFamily="34" charset="-122"/>
                </a:rPr>
                <a:t>Technical review</a:t>
              </a:r>
              <a:endParaRPr lang="zh-CN" altLang="en-US" sz="3000" b="1" dirty="0">
                <a:latin typeface="思源黑体 CN Regular" panose="020B0500000000000000" pitchFamily="34" charset="-122"/>
                <a:ea typeface="思源黑体 CN Regular" panose="020B0500000000000000" pitchFamily="34" charset="-122"/>
              </a:endParaRPr>
            </a:p>
          </p:txBody>
        </p:sp>
        <p:sp>
          <p:nvSpPr>
            <p:cNvPr id="37" name="文本框 36"/>
            <p:cNvSpPr txBox="1"/>
            <p:nvPr/>
          </p:nvSpPr>
          <p:spPr>
            <a:xfrm>
              <a:off x="781394" y="3744164"/>
              <a:ext cx="4732610" cy="2092880"/>
            </a:xfrm>
            <a:prstGeom prst="rect">
              <a:avLst/>
            </a:prstGeom>
            <a:noFill/>
          </p:spPr>
          <p:txBody>
            <a:bodyPr wrap="square" rtlCol="0">
              <a:spAutoFit/>
            </a:bodyPr>
            <a:lstStyle/>
            <a:p>
              <a:r>
                <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一种同行评审形式，审查小组对软件产品的预期用途和标识规范和标准的差异进行适用性检查。</a:t>
              </a:r>
              <a:endPar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endParaRPr>
            </a:p>
          </p:txBody>
        </p:sp>
      </p:grpSp>
      <p:grpSp>
        <p:nvGrpSpPr>
          <p:cNvPr id="15" name="组合 14"/>
          <p:cNvGrpSpPr/>
          <p:nvPr/>
        </p:nvGrpSpPr>
        <p:grpSpPr>
          <a:xfrm>
            <a:off x="3875814" y="4413081"/>
            <a:ext cx="786806" cy="785553"/>
            <a:chOff x="6197301" y="4821382"/>
            <a:chExt cx="1263680" cy="1047404"/>
          </a:xfrm>
        </p:grpSpPr>
        <p:sp>
          <p:nvSpPr>
            <p:cNvPr id="8" name="椭圆 7"/>
            <p:cNvSpPr/>
            <p:nvPr/>
          </p:nvSpPr>
          <p:spPr>
            <a:xfrm>
              <a:off x="6197301" y="4821382"/>
              <a:ext cx="1263680" cy="1047404"/>
            </a:xfrm>
            <a:prstGeom prst="ellipse">
              <a:avLst/>
            </a:prstGeom>
            <a:solidFill>
              <a:srgbClr val="FDC006"/>
            </a:solidFill>
            <a:ln>
              <a:noFill/>
            </a:ln>
            <a:effectLst>
              <a:outerShdw blurRad="76200" dist="635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14" name="组合 13"/>
            <p:cNvGrpSpPr/>
            <p:nvPr/>
          </p:nvGrpSpPr>
          <p:grpSpPr>
            <a:xfrm>
              <a:off x="6662893" y="5211637"/>
              <a:ext cx="382680" cy="258630"/>
              <a:chOff x="7345263" y="4972294"/>
              <a:chExt cx="1462597" cy="988484"/>
            </a:xfrm>
          </p:grpSpPr>
          <p:sp>
            <p:nvSpPr>
              <p:cNvPr id="12" name="L 形 11"/>
              <p:cNvSpPr/>
              <p:nvPr/>
            </p:nvSpPr>
            <p:spPr>
              <a:xfrm rot="13500000">
                <a:off x="7718264" y="4871182"/>
                <a:ext cx="988484" cy="1190708"/>
              </a:xfrm>
              <a:prstGeom prst="corner">
                <a:avLst>
                  <a:gd name="adj1" fmla="val 26068"/>
                  <a:gd name="adj2" fmla="val 2659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p:cNvSpPr/>
              <p:nvPr/>
            </p:nvSpPr>
            <p:spPr>
              <a:xfrm>
                <a:off x="7345263" y="5345084"/>
                <a:ext cx="1270835" cy="2429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5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25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25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2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cstate="print">
            <a:extLst>
              <a:ext uri="{28A0092B-C50C-407E-A947-70E740481C1C}">
                <a14:useLocalDpi xmlns:a14="http://schemas.microsoft.com/office/drawing/2010/main" val="0"/>
              </a:ext>
            </a:extLst>
          </a:blip>
          <a:srcRect l="-1" r="-65" b="13894"/>
          <a:stretch>
            <a:fillRect/>
          </a:stretch>
        </p:blipFill>
        <p:spPr>
          <a:xfrm>
            <a:off x="0" y="1609958"/>
            <a:ext cx="9152792" cy="4430358"/>
          </a:xfrm>
          <a:prstGeom prst="rect">
            <a:avLst/>
          </a:prstGeom>
        </p:spPr>
      </p:pic>
      <p:grpSp>
        <p:nvGrpSpPr>
          <p:cNvPr id="2" name="组合 1"/>
          <p:cNvGrpSpPr/>
          <p:nvPr/>
        </p:nvGrpSpPr>
        <p:grpSpPr>
          <a:xfrm>
            <a:off x="0" y="857251"/>
            <a:ext cx="9144000" cy="752708"/>
            <a:chOff x="0" y="1"/>
            <a:chExt cx="12192000" cy="1003610"/>
          </a:xfrm>
        </p:grpSpPr>
        <p:sp>
          <p:nvSpPr>
            <p:cNvPr id="3" name="圆角矩形 2"/>
            <p:cNvSpPr/>
            <p:nvPr/>
          </p:nvSpPr>
          <p:spPr>
            <a:xfrm>
              <a:off x="0" y="1"/>
              <a:ext cx="12192000" cy="1003610"/>
            </a:xfrm>
            <a:prstGeom prst="roundRect">
              <a:avLst>
                <a:gd name="adj" fmla="val 3334"/>
              </a:avLst>
            </a:prstGeom>
            <a:solidFill>
              <a:srgbClr val="019587"/>
            </a:solidFill>
            <a:ln>
              <a:noFill/>
            </a:ln>
            <a:effectLst>
              <a:outerShdw blurRad="76200" dist="63500" dir="5400000" algn="t" rotWithShape="0">
                <a:prstClr val="black">
                  <a:alpha val="3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350" dirty="0"/>
            </a:p>
          </p:txBody>
        </p:sp>
        <p:sp>
          <p:nvSpPr>
            <p:cNvPr id="4" name="文本框 3"/>
            <p:cNvSpPr txBox="1"/>
            <p:nvPr/>
          </p:nvSpPr>
          <p:spPr>
            <a:xfrm>
              <a:off x="232229" y="209418"/>
              <a:ext cx="5935815" cy="615553"/>
            </a:xfrm>
            <a:prstGeom prst="rect">
              <a:avLst/>
            </a:prstGeom>
            <a:noFill/>
          </p:spPr>
          <p:txBody>
            <a:bodyPr wrap="square" rtlCol="0">
              <a:spAutoFit/>
            </a:bodyPr>
            <a:lstStyle/>
            <a:p>
              <a:r>
                <a:rPr lang="zh-CN" altLang="en-US" sz="2400" dirty="0">
                  <a:solidFill>
                    <a:schemeClr val="bg1"/>
                  </a:solidFill>
                  <a:latin typeface="思源黑体 CN Regular" panose="020B0500000000000000" pitchFamily="34" charset="-122"/>
                  <a:ea typeface="思源黑体 CN Regular" panose="020B0500000000000000" pitchFamily="34" charset="-122"/>
                </a:rPr>
                <a:t>正式审查</a:t>
              </a:r>
              <a:r>
                <a:rPr lang="en-US" altLang="zh-CN" sz="2400" dirty="0">
                  <a:solidFill>
                    <a:schemeClr val="bg1"/>
                  </a:solidFill>
                  <a:latin typeface="思源黑体 CN Regular" panose="020B0500000000000000" pitchFamily="34" charset="-122"/>
                  <a:ea typeface="思源黑体 CN Regular" panose="020B0500000000000000" pitchFamily="34" charset="-122"/>
                </a:rPr>
                <a:t>vs</a:t>
              </a:r>
              <a:r>
                <a:rPr lang="zh-CN" altLang="en-US" sz="2400" dirty="0">
                  <a:solidFill>
                    <a:schemeClr val="bg1"/>
                  </a:solidFill>
                  <a:latin typeface="思源黑体 CN Regular" panose="020B0500000000000000" pitchFamily="34" charset="-122"/>
                  <a:ea typeface="思源黑体 CN Regular" panose="020B0500000000000000" pitchFamily="34" charset="-122"/>
                </a:rPr>
                <a:t>非正式审查</a:t>
              </a:r>
              <a:endParaRPr lang="zh-CN" altLang="en-US" sz="2400" dirty="0">
                <a:solidFill>
                  <a:schemeClr val="bg1"/>
                </a:solidFill>
                <a:latin typeface="思源黑体 CN Regular" panose="020B0500000000000000" pitchFamily="34" charset="-122"/>
                <a:ea typeface="思源黑体 CN Regular" panose="020B0500000000000000" pitchFamily="34" charset="-122"/>
              </a:endParaRPr>
            </a:p>
          </p:txBody>
        </p:sp>
      </p:grpSp>
      <p:grpSp>
        <p:nvGrpSpPr>
          <p:cNvPr id="9" name="组合 8"/>
          <p:cNvGrpSpPr/>
          <p:nvPr/>
        </p:nvGrpSpPr>
        <p:grpSpPr>
          <a:xfrm>
            <a:off x="847898" y="2241780"/>
            <a:ext cx="2630978" cy="2917308"/>
            <a:chOff x="1130530" y="1928554"/>
            <a:chExt cx="3507971" cy="3807229"/>
          </a:xfrm>
          <a:effectLst>
            <a:outerShdw blurRad="76200" dist="101600" dir="5400000" sx="101000" sy="101000" algn="t" rotWithShape="0">
              <a:prstClr val="black">
                <a:alpha val="30000"/>
              </a:prstClr>
            </a:outerShdw>
          </a:effectLst>
        </p:grpSpPr>
        <p:sp>
          <p:nvSpPr>
            <p:cNvPr id="6" name="圆角矩形 5"/>
            <p:cNvSpPr/>
            <p:nvPr/>
          </p:nvSpPr>
          <p:spPr>
            <a:xfrm>
              <a:off x="1130530" y="1928554"/>
              <a:ext cx="3507971" cy="3807229"/>
            </a:xfrm>
            <a:prstGeom prst="roundRect">
              <a:avLst>
                <a:gd name="adj" fmla="val 2923"/>
              </a:avLst>
            </a:prstGeom>
            <a:solidFill>
              <a:schemeClr val="bg1"/>
            </a:solidFill>
            <a:ln>
              <a:noFill/>
            </a:ln>
            <a:effectLst>
              <a:outerShdw blurRad="114300" dist="1143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文本框 6"/>
            <p:cNvSpPr txBox="1"/>
            <p:nvPr/>
          </p:nvSpPr>
          <p:spPr>
            <a:xfrm>
              <a:off x="1446413" y="2931329"/>
              <a:ext cx="2876204" cy="2229232"/>
            </a:xfrm>
            <a:prstGeom prst="rect">
              <a:avLst/>
            </a:prstGeom>
            <a:noFill/>
          </p:spPr>
          <p:txBody>
            <a:bodyPr wrap="square" rtlCol="0">
              <a:spAutoFit/>
            </a:bodyPr>
            <a:lstStyle/>
            <a:p>
              <a:r>
                <a:rPr lang="en-US" altLang="zh-CN" sz="21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IEEE Std.1028 – 1997</a:t>
              </a:r>
              <a:r>
                <a:rPr lang="zh-CN" altLang="en-US" sz="21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定义了正式结构</a:t>
              </a:r>
              <a:r>
                <a:rPr lang="en-US" altLang="zh-CN" sz="21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a:t>
              </a:r>
              <a:r>
                <a:rPr lang="zh-CN" altLang="en-US" sz="21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 角色和流程</a:t>
              </a:r>
              <a:r>
                <a:rPr lang="en-US" altLang="zh-CN" sz="21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a:t>
              </a:r>
              <a:r>
                <a:rPr lang="zh-CN" altLang="en-US" sz="21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连同审计软件。</a:t>
              </a:r>
              <a:endParaRPr lang="zh-CN" altLang="en-US" sz="2100" dirty="0">
                <a:solidFill>
                  <a:schemeClr val="tx1">
                    <a:lumMod val="75000"/>
                    <a:lumOff val="25000"/>
                  </a:schemeClr>
                </a:solidFill>
                <a:latin typeface="思源黑体 CN Regular" panose="020B0500000000000000" pitchFamily="34" charset="-122"/>
                <a:ea typeface="思源黑体 CN Regular" panose="020B0500000000000000" pitchFamily="34" charset="-122"/>
              </a:endParaRPr>
            </a:p>
          </p:txBody>
        </p:sp>
      </p:grpSp>
      <p:grpSp>
        <p:nvGrpSpPr>
          <p:cNvPr id="10" name="组合 9"/>
          <p:cNvGrpSpPr/>
          <p:nvPr/>
        </p:nvGrpSpPr>
        <p:grpSpPr>
          <a:xfrm>
            <a:off x="3962532" y="2245633"/>
            <a:ext cx="4706603" cy="2913455"/>
            <a:chOff x="1130530" y="1928554"/>
            <a:chExt cx="3507971" cy="3807229"/>
          </a:xfrm>
          <a:effectLst>
            <a:outerShdw blurRad="76200" dist="101600" dir="5400000" sx="101000" sy="101000" algn="t" rotWithShape="0">
              <a:prstClr val="black">
                <a:alpha val="30000"/>
              </a:prstClr>
            </a:outerShdw>
          </a:effectLst>
        </p:grpSpPr>
        <p:sp>
          <p:nvSpPr>
            <p:cNvPr id="11" name="圆角矩形 10"/>
            <p:cNvSpPr/>
            <p:nvPr/>
          </p:nvSpPr>
          <p:spPr>
            <a:xfrm>
              <a:off x="1130530" y="1928554"/>
              <a:ext cx="3507971" cy="3807229"/>
            </a:xfrm>
            <a:prstGeom prst="roundRect">
              <a:avLst>
                <a:gd name="adj" fmla="val 2923"/>
              </a:avLst>
            </a:prstGeom>
            <a:solidFill>
              <a:schemeClr val="bg1"/>
            </a:solidFill>
            <a:ln>
              <a:noFill/>
            </a:ln>
            <a:effectLst>
              <a:outerShdw blurRad="114300" dist="1143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文本框 11"/>
            <p:cNvSpPr txBox="1"/>
            <p:nvPr/>
          </p:nvSpPr>
          <p:spPr>
            <a:xfrm>
              <a:off x="1446413" y="2410692"/>
              <a:ext cx="2876204" cy="603292"/>
            </a:xfrm>
            <a:prstGeom prst="rect">
              <a:avLst/>
            </a:prstGeom>
            <a:noFill/>
          </p:spPr>
          <p:txBody>
            <a:bodyPr wrap="square" rtlCol="0">
              <a:spAutoFit/>
            </a:bodyPr>
            <a:lstStyle/>
            <a:p>
              <a:endParaRPr lang="zh-CN" altLang="en-US" sz="2400" dirty="0">
                <a:solidFill>
                  <a:schemeClr val="tx1">
                    <a:lumMod val="75000"/>
                    <a:lumOff val="25000"/>
                  </a:schemeClr>
                </a:solidFill>
                <a:latin typeface="思源黑体 CN Regular" panose="020B0500000000000000" pitchFamily="34" charset="-122"/>
                <a:ea typeface="思源黑体 CN Regular" panose="020B0500000000000000" pitchFamily="34" charset="-122"/>
              </a:endParaRPr>
            </a:p>
          </p:txBody>
        </p:sp>
      </p:grpSp>
      <p:sp>
        <p:nvSpPr>
          <p:cNvPr id="13" name="圆角矩形 12"/>
          <p:cNvSpPr/>
          <p:nvPr/>
        </p:nvSpPr>
        <p:spPr>
          <a:xfrm>
            <a:off x="847894" y="2241779"/>
            <a:ext cx="2630979" cy="641894"/>
          </a:xfrm>
          <a:prstGeom prst="roundRect">
            <a:avLst>
              <a:gd name="adj" fmla="val 3069"/>
            </a:avLst>
          </a:prstGeom>
          <a:solidFill>
            <a:srgbClr val="FDC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文本框 13"/>
          <p:cNvSpPr txBox="1"/>
          <p:nvPr/>
        </p:nvSpPr>
        <p:spPr>
          <a:xfrm>
            <a:off x="1084810" y="2398926"/>
            <a:ext cx="1758142" cy="507831"/>
          </a:xfrm>
          <a:prstGeom prst="rect">
            <a:avLst/>
          </a:prstGeom>
          <a:noFill/>
        </p:spPr>
        <p:txBody>
          <a:bodyPr wrap="square" rtlCol="0">
            <a:spAutoFit/>
          </a:bodyPr>
          <a:lstStyle/>
          <a:p>
            <a:r>
              <a:rPr lang="zh-CN" altLang="en-US" sz="2700" b="1" dirty="0">
                <a:solidFill>
                  <a:schemeClr val="bg1"/>
                </a:solidFill>
              </a:rPr>
              <a:t>正式审查</a:t>
            </a:r>
            <a:endParaRPr lang="zh-CN" altLang="en-US" sz="2700" b="1" dirty="0">
              <a:solidFill>
                <a:schemeClr val="bg1"/>
              </a:solidFill>
            </a:endParaRPr>
          </a:p>
        </p:txBody>
      </p:sp>
      <p:sp>
        <p:nvSpPr>
          <p:cNvPr id="15" name="矩形 14"/>
          <p:cNvSpPr/>
          <p:nvPr/>
        </p:nvSpPr>
        <p:spPr>
          <a:xfrm>
            <a:off x="4152685" y="2954913"/>
            <a:ext cx="4257139" cy="2031325"/>
          </a:xfrm>
          <a:prstGeom prst="rect">
            <a:avLst/>
          </a:prstGeom>
        </p:spPr>
        <p:txBody>
          <a:bodyPr wrap="square">
            <a:spAutoFit/>
          </a:bodyPr>
          <a:lstStyle/>
          <a:p>
            <a:r>
              <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研究倾向于支持这样的结论</a:t>
            </a:r>
            <a:r>
              <a:rPr lang="en-US" altLang="zh-CN"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a:t>
            </a:r>
            <a:r>
              <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正式评审大大超越非正式评审的成本效益。非正式评审往往是不必要和昂贵的</a:t>
            </a:r>
            <a:r>
              <a:rPr lang="en-US" altLang="zh-CN"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a:t>
            </a:r>
            <a:r>
              <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因为浪费时间和缺乏关注</a:t>
            </a:r>
            <a:r>
              <a:rPr lang="en-US" altLang="zh-CN"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a:t>
            </a:r>
            <a:r>
              <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rPr>
              <a:t>并且经常相对较少的实际缺陷发现和修复提供的不合理的安全感。</a:t>
            </a:r>
            <a:endParaRPr lang="zh-CN" altLang="en-US" sz="2100" dirty="0">
              <a:solidFill>
                <a:schemeClr val="tx1">
                  <a:lumMod val="65000"/>
                  <a:lumOff val="35000"/>
                </a:schemeClr>
              </a:solidFill>
              <a:latin typeface="思源黑体 CN Regular" panose="020B0500000000000000" pitchFamily="34" charset="-122"/>
              <a:ea typeface="思源黑体 CN Regular" panose="020B0500000000000000" pitchFamily="34" charset="-122"/>
            </a:endParaRPr>
          </a:p>
        </p:txBody>
      </p:sp>
      <p:sp>
        <p:nvSpPr>
          <p:cNvPr id="16" name="圆角矩形 15"/>
          <p:cNvSpPr/>
          <p:nvPr/>
        </p:nvSpPr>
        <p:spPr>
          <a:xfrm>
            <a:off x="3962531" y="2241780"/>
            <a:ext cx="4706603" cy="641894"/>
          </a:xfrm>
          <a:prstGeom prst="roundRect">
            <a:avLst>
              <a:gd name="adj" fmla="val 3069"/>
            </a:avLst>
          </a:prstGeom>
          <a:solidFill>
            <a:srgbClr val="FDC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8" name="文本框 17"/>
          <p:cNvSpPr txBox="1"/>
          <p:nvPr/>
        </p:nvSpPr>
        <p:spPr>
          <a:xfrm>
            <a:off x="4152685" y="2398926"/>
            <a:ext cx="3288722" cy="507831"/>
          </a:xfrm>
          <a:prstGeom prst="rect">
            <a:avLst/>
          </a:prstGeom>
          <a:noFill/>
        </p:spPr>
        <p:txBody>
          <a:bodyPr wrap="square" rtlCol="0">
            <a:spAutoFit/>
          </a:bodyPr>
          <a:lstStyle/>
          <a:p>
            <a:r>
              <a:rPr lang="en-US" altLang="zh-CN" sz="2700" b="1" dirty="0">
                <a:solidFill>
                  <a:schemeClr val="bg1"/>
                </a:solidFill>
                <a:latin typeface="思源黑体 CN Regular" panose="020B0500000000000000" pitchFamily="34" charset="-122"/>
                <a:ea typeface="思源黑体 CN Regular" panose="020B0500000000000000" pitchFamily="34" charset="-122"/>
              </a:rPr>
              <a:t>Vs</a:t>
            </a:r>
            <a:r>
              <a:rPr lang="zh-CN" altLang="en-US" sz="2700" b="1" dirty="0">
                <a:solidFill>
                  <a:schemeClr val="bg1"/>
                </a:solidFill>
                <a:latin typeface="思源黑体 CN Regular" panose="020B0500000000000000" pitchFamily="34" charset="-122"/>
                <a:ea typeface="思源黑体 CN Regular" panose="020B0500000000000000" pitchFamily="34" charset="-122"/>
              </a:rPr>
              <a:t>非正式审查</a:t>
            </a:r>
            <a:endParaRPr lang="zh-CN" altLang="en-US" sz="2700" b="1" dirty="0">
              <a:solidFill>
                <a:schemeClr val="bg1"/>
              </a:solidFill>
              <a:latin typeface="思源黑体 CN Regular" panose="020B0500000000000000" pitchFamily="34" charset="-122"/>
              <a:ea typeface="思源黑体 CN Regular" panose="020B0500000000000000" pitchFamily="34" charset="-122"/>
            </a:endParaRPr>
          </a:p>
        </p:txBody>
      </p:sp>
    </p:spTree>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cstate="print">
            <a:extLst>
              <a:ext uri="{28A0092B-C50C-407E-A947-70E740481C1C}">
                <a14:useLocalDpi xmlns:a14="http://schemas.microsoft.com/office/drawing/2010/main" val="0"/>
              </a:ext>
            </a:extLst>
          </a:blip>
          <a:srcRect r="-170" b="15035"/>
          <a:stretch>
            <a:fillRect/>
          </a:stretch>
        </p:blipFill>
        <p:spPr>
          <a:xfrm>
            <a:off x="0" y="857250"/>
            <a:ext cx="9165981" cy="5183066"/>
          </a:xfrm>
          <a:prstGeom prst="rect">
            <a:avLst/>
          </a:prstGeom>
        </p:spPr>
      </p:pic>
      <p:grpSp>
        <p:nvGrpSpPr>
          <p:cNvPr id="2" name="组合 1"/>
          <p:cNvGrpSpPr/>
          <p:nvPr/>
        </p:nvGrpSpPr>
        <p:grpSpPr>
          <a:xfrm>
            <a:off x="0" y="857251"/>
            <a:ext cx="9144000" cy="752708"/>
            <a:chOff x="0" y="1"/>
            <a:chExt cx="12192000" cy="1003610"/>
          </a:xfrm>
          <a:effectLst>
            <a:outerShdw blurRad="127000" dist="101600" dir="5400000" algn="t" rotWithShape="0">
              <a:prstClr val="black">
                <a:alpha val="29000"/>
              </a:prstClr>
            </a:outerShdw>
          </a:effectLst>
        </p:grpSpPr>
        <p:sp>
          <p:nvSpPr>
            <p:cNvPr id="3" name="圆角矩形 2"/>
            <p:cNvSpPr/>
            <p:nvPr/>
          </p:nvSpPr>
          <p:spPr>
            <a:xfrm>
              <a:off x="0" y="1"/>
              <a:ext cx="12192000" cy="1003610"/>
            </a:xfrm>
            <a:prstGeom prst="roundRect">
              <a:avLst>
                <a:gd name="adj" fmla="val 3334"/>
              </a:avLst>
            </a:prstGeom>
            <a:solidFill>
              <a:srgbClr val="019587"/>
            </a:solidFill>
            <a:ln>
              <a:noFill/>
            </a:ln>
            <a:effectLst>
              <a:outerShdw blurRad="76200" dist="63500" dir="5400000" algn="t" rotWithShape="0">
                <a:prstClr val="black">
                  <a:alpha val="3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350" dirty="0"/>
            </a:p>
          </p:txBody>
        </p:sp>
        <p:sp>
          <p:nvSpPr>
            <p:cNvPr id="4" name="文本框 3"/>
            <p:cNvSpPr txBox="1"/>
            <p:nvPr/>
          </p:nvSpPr>
          <p:spPr>
            <a:xfrm>
              <a:off x="232229" y="209418"/>
              <a:ext cx="7448731" cy="615553"/>
            </a:xfrm>
            <a:prstGeom prst="rect">
              <a:avLst/>
            </a:prstGeom>
            <a:noFill/>
          </p:spPr>
          <p:txBody>
            <a:bodyPr wrap="square" rtlCol="0">
              <a:spAutoFit/>
            </a:bodyPr>
            <a:lstStyle/>
            <a:p>
              <a:r>
                <a:rPr lang="en-US" altLang="zh-CN" sz="2400" dirty="0">
                  <a:solidFill>
                    <a:schemeClr val="bg1"/>
                  </a:solidFill>
                  <a:latin typeface="思源黑体 CN Normal" panose="020B0400000000000000" pitchFamily="34" charset="-122"/>
                  <a:ea typeface="思源黑体 CN Normal" panose="020B0400000000000000" pitchFamily="34" charset="-122"/>
                </a:rPr>
                <a:t>IEEE 1028 </a:t>
              </a:r>
              <a:r>
                <a:rPr lang="zh-CN" altLang="en-US" sz="2400" dirty="0">
                  <a:solidFill>
                    <a:schemeClr val="bg1"/>
                  </a:solidFill>
                  <a:latin typeface="思源黑体 CN Normal" panose="020B0400000000000000" pitchFamily="34" charset="-122"/>
                  <a:ea typeface="思源黑体 CN Normal" panose="020B0400000000000000" pitchFamily="34" charset="-122"/>
                </a:rPr>
                <a:t>通用正式评审过程</a:t>
              </a:r>
              <a:endParaRPr lang="en-US" altLang="zh-CN" sz="2400" dirty="0">
                <a:solidFill>
                  <a:schemeClr val="bg1"/>
                </a:solidFill>
                <a:latin typeface="思源黑体 CN Normal" panose="020B0400000000000000" pitchFamily="34" charset="-122"/>
                <a:ea typeface="思源黑体 CN Normal" panose="020B0400000000000000" pitchFamily="34" charset="-122"/>
              </a:endParaRPr>
            </a:p>
          </p:txBody>
        </p:sp>
      </p:grpSp>
      <p:grpSp>
        <p:nvGrpSpPr>
          <p:cNvPr id="12" name="组合 11"/>
          <p:cNvGrpSpPr/>
          <p:nvPr/>
        </p:nvGrpSpPr>
        <p:grpSpPr>
          <a:xfrm>
            <a:off x="665919" y="1953002"/>
            <a:ext cx="3140767" cy="4100248"/>
            <a:chOff x="887892" y="1461003"/>
            <a:chExt cx="4187689" cy="5466997"/>
          </a:xfrm>
          <a:effectLst>
            <a:outerShdw blurRad="76200" dist="101600" dir="5400000" sx="101000" sy="101000" algn="t" rotWithShape="0">
              <a:prstClr val="black">
                <a:alpha val="30000"/>
              </a:prstClr>
            </a:outerShdw>
          </a:effectLst>
        </p:grpSpPr>
        <p:sp>
          <p:nvSpPr>
            <p:cNvPr id="6" name="圆角矩形 5"/>
            <p:cNvSpPr/>
            <p:nvPr/>
          </p:nvSpPr>
          <p:spPr>
            <a:xfrm>
              <a:off x="887894" y="1470679"/>
              <a:ext cx="4187687" cy="4973006"/>
            </a:xfrm>
            <a:prstGeom prst="roundRect">
              <a:avLst>
                <a:gd name="adj" fmla="val 2426"/>
              </a:avLst>
            </a:prstGeom>
            <a:solidFill>
              <a:schemeClr val="bg1"/>
            </a:solidFill>
            <a:ln>
              <a:noFill/>
            </a:ln>
            <a:effectLst>
              <a:outerShdw blurRad="127000" dist="1143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文本框 6"/>
            <p:cNvSpPr txBox="1"/>
            <p:nvPr/>
          </p:nvSpPr>
          <p:spPr>
            <a:xfrm>
              <a:off x="1146309" y="2496018"/>
              <a:ext cx="3770248" cy="4431982"/>
            </a:xfrm>
            <a:prstGeom prst="rect">
              <a:avLst/>
            </a:prstGeom>
            <a:noFill/>
          </p:spPr>
          <p:txBody>
            <a:bodyPr wrap="square" rtlCol="0">
              <a:spAutoFit/>
            </a:bodyPr>
            <a:lstStyle/>
            <a:p>
              <a:r>
                <a:rPr lang="en-US" altLang="zh-CN" sz="21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IEEE </a:t>
              </a:r>
              <a:r>
                <a:rPr lang="en-US" altLang="zh-CN" sz="2100" dirty="0" err="1">
                  <a:solidFill>
                    <a:schemeClr val="tx1">
                      <a:lumMod val="75000"/>
                      <a:lumOff val="25000"/>
                    </a:schemeClr>
                  </a:solidFill>
                  <a:latin typeface="思源黑体 CN Regular" panose="020B0500000000000000" pitchFamily="34" charset="-122"/>
                  <a:ea typeface="思源黑体 CN Regular" panose="020B0500000000000000" pitchFamily="34" charset="-122"/>
                </a:rPr>
                <a:t>Std</a:t>
              </a:r>
              <a:r>
                <a:rPr lang="en-US" altLang="zh-CN" sz="21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 1028</a:t>
              </a:r>
              <a:r>
                <a:rPr lang="zh-CN" altLang="en-US" sz="21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定义了一组正式评审的活动 。活动序列主要是基于最初由</a:t>
              </a:r>
              <a:r>
                <a:rPr lang="en-US" altLang="zh-CN" sz="21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Michael Fagan</a:t>
              </a:r>
              <a:r>
                <a:rPr lang="zh-CN" altLang="en-US" sz="21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在</a:t>
              </a:r>
              <a:r>
                <a:rPr lang="en-US" altLang="zh-CN" sz="21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IBM</a:t>
              </a:r>
              <a:r>
                <a:rPr lang="zh-CN" altLang="en-US" sz="21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开发的软件检验过程。不同类型的审查可以应用这个结构不同的严格程度</a:t>
              </a:r>
              <a:r>
                <a:rPr lang="en-US" altLang="zh-CN" sz="21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a:t>
              </a:r>
              <a:r>
                <a:rPr lang="zh-CN" altLang="en-US" sz="21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但强制检查所有活动</a:t>
              </a:r>
              <a:r>
                <a:rPr lang="zh-CN" altLang="en-US" sz="1500" dirty="0">
                  <a:solidFill>
                    <a:schemeClr val="tx1">
                      <a:lumMod val="75000"/>
                      <a:lumOff val="25000"/>
                    </a:schemeClr>
                  </a:solidFill>
                  <a:latin typeface="思源黑体 CN Regular" panose="020B0500000000000000" pitchFamily="34" charset="-122"/>
                  <a:ea typeface="思源黑体 CN Regular" panose="020B0500000000000000" pitchFamily="34" charset="-122"/>
                </a:rPr>
                <a:t>。</a:t>
              </a:r>
              <a:endParaRPr lang="zh-CN" altLang="en-US" sz="1500" dirty="0">
                <a:solidFill>
                  <a:schemeClr val="tx1">
                    <a:lumMod val="75000"/>
                    <a:lumOff val="25000"/>
                  </a:schemeClr>
                </a:solidFill>
                <a:latin typeface="思源黑体 CN Regular" panose="020B0500000000000000" pitchFamily="34" charset="-122"/>
                <a:ea typeface="思源黑体 CN Regular" panose="020B0500000000000000" pitchFamily="34" charset="-122"/>
              </a:endParaRPr>
            </a:p>
          </p:txBody>
        </p:sp>
        <p:grpSp>
          <p:nvGrpSpPr>
            <p:cNvPr id="11" name="组合 10"/>
            <p:cNvGrpSpPr/>
            <p:nvPr/>
          </p:nvGrpSpPr>
          <p:grpSpPr>
            <a:xfrm>
              <a:off x="887892" y="1461003"/>
              <a:ext cx="4187687" cy="1056115"/>
              <a:chOff x="887892" y="1461003"/>
              <a:chExt cx="4187687" cy="1056115"/>
            </a:xfrm>
          </p:grpSpPr>
          <p:sp>
            <p:nvSpPr>
              <p:cNvPr id="9" name="圆角矩形 8"/>
              <p:cNvSpPr/>
              <p:nvPr/>
            </p:nvSpPr>
            <p:spPr>
              <a:xfrm>
                <a:off x="887892" y="1461003"/>
                <a:ext cx="4187687" cy="1012364"/>
              </a:xfrm>
              <a:prstGeom prst="roundRect">
                <a:avLst>
                  <a:gd name="adj" fmla="val 5377"/>
                </a:avLst>
              </a:prstGeom>
              <a:solidFill>
                <a:srgbClr val="FDC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文本框 9"/>
              <p:cNvSpPr txBox="1"/>
              <p:nvPr/>
            </p:nvSpPr>
            <p:spPr>
              <a:xfrm>
                <a:off x="1146309" y="1470678"/>
                <a:ext cx="2630559" cy="1046440"/>
              </a:xfrm>
              <a:prstGeom prst="rect">
                <a:avLst/>
              </a:prstGeom>
              <a:noFill/>
            </p:spPr>
            <p:txBody>
              <a:bodyPr wrap="square" rtlCol="0">
                <a:spAutoFit/>
              </a:bodyPr>
              <a:lstStyle/>
              <a:p>
                <a:r>
                  <a:rPr lang="zh-CN" altLang="en-US" sz="4500" b="1" dirty="0">
                    <a:solidFill>
                      <a:schemeClr val="bg1"/>
                    </a:solidFill>
                    <a:latin typeface="思源黑体 CN Regular" panose="020B0500000000000000" pitchFamily="34" charset="-122"/>
                    <a:ea typeface="思源黑体 CN Regular" panose="020B0500000000000000" pitchFamily="34" charset="-122"/>
                  </a:rPr>
                  <a:t>概要</a:t>
                </a:r>
                <a:endParaRPr lang="zh-CN" altLang="en-US" sz="4500" b="1" dirty="0">
                  <a:solidFill>
                    <a:schemeClr val="bg1"/>
                  </a:solidFill>
                  <a:latin typeface="思源黑体 CN Regular" panose="020B0500000000000000" pitchFamily="34" charset="-122"/>
                  <a:ea typeface="思源黑体 CN Regular" panose="020B0500000000000000" pitchFamily="34" charset="-122"/>
                </a:endParaRPr>
              </a:p>
            </p:txBody>
          </p:sp>
        </p:grpSp>
      </p:grpSp>
      <p:sp>
        <p:nvSpPr>
          <p:cNvPr id="13" name="矩形 12"/>
          <p:cNvSpPr/>
          <p:nvPr/>
        </p:nvSpPr>
        <p:spPr>
          <a:xfrm>
            <a:off x="3806406" y="3290500"/>
            <a:ext cx="1531188" cy="300082"/>
          </a:xfrm>
          <a:prstGeom prst="rect">
            <a:avLst/>
          </a:prstGeom>
        </p:spPr>
        <p:txBody>
          <a:bodyPr wrap="none">
            <a:spAutoFit/>
          </a:bodyPr>
          <a:lstStyle/>
          <a:p>
            <a:r>
              <a:rPr lang="en-US" altLang="zh-CN" sz="1350" b="1" dirty="0">
                <a:solidFill>
                  <a:srgbClr val="252525"/>
                </a:solidFill>
                <a:latin typeface="Arial" panose="020B0604020202020204" pitchFamily="34" charset="0"/>
              </a:rPr>
              <a:t>Entry evaluation</a:t>
            </a:r>
            <a:endParaRPr lang="zh-CN" altLang="en-US" sz="1350" dirty="0"/>
          </a:p>
        </p:txBody>
      </p:sp>
      <p:grpSp>
        <p:nvGrpSpPr>
          <p:cNvPr id="14" name="组合 13"/>
          <p:cNvGrpSpPr/>
          <p:nvPr/>
        </p:nvGrpSpPr>
        <p:grpSpPr>
          <a:xfrm>
            <a:off x="5242480" y="1969990"/>
            <a:ext cx="3140767" cy="3737012"/>
            <a:chOff x="887892" y="1461003"/>
            <a:chExt cx="4187689" cy="4982682"/>
          </a:xfrm>
          <a:effectLst>
            <a:outerShdw blurRad="76200" dist="101600" dir="5400000" algn="t" rotWithShape="0">
              <a:prstClr val="black">
                <a:alpha val="30000"/>
              </a:prstClr>
            </a:outerShdw>
          </a:effectLst>
        </p:grpSpPr>
        <p:sp>
          <p:nvSpPr>
            <p:cNvPr id="15" name="圆角矩形 14"/>
            <p:cNvSpPr/>
            <p:nvPr/>
          </p:nvSpPr>
          <p:spPr>
            <a:xfrm>
              <a:off x="887894" y="1470679"/>
              <a:ext cx="4187687" cy="4973006"/>
            </a:xfrm>
            <a:prstGeom prst="roundRect">
              <a:avLst>
                <a:gd name="adj" fmla="val 2426"/>
              </a:avLst>
            </a:prstGeom>
            <a:solidFill>
              <a:schemeClr val="bg1"/>
            </a:solidFill>
            <a:ln>
              <a:noFill/>
            </a:ln>
            <a:effectLst>
              <a:outerShdw blurRad="127000" dist="1143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文本框 15"/>
            <p:cNvSpPr txBox="1"/>
            <p:nvPr/>
          </p:nvSpPr>
          <p:spPr>
            <a:xfrm>
              <a:off x="1146309" y="2496018"/>
              <a:ext cx="3770248" cy="430887"/>
            </a:xfrm>
            <a:prstGeom prst="rect">
              <a:avLst/>
            </a:prstGeom>
            <a:noFill/>
          </p:spPr>
          <p:txBody>
            <a:bodyPr wrap="square" rtlCol="0">
              <a:spAutoFit/>
            </a:bodyPr>
            <a:lstStyle/>
            <a:p>
              <a:endParaRPr lang="zh-CN" altLang="en-US" sz="1500" dirty="0">
                <a:solidFill>
                  <a:schemeClr val="tx1">
                    <a:lumMod val="75000"/>
                    <a:lumOff val="25000"/>
                  </a:schemeClr>
                </a:solidFill>
                <a:latin typeface="思源黑体 CN Regular" panose="020B0500000000000000" pitchFamily="34" charset="-122"/>
                <a:ea typeface="思源黑体 CN Regular" panose="020B0500000000000000" pitchFamily="34" charset="-122"/>
              </a:endParaRPr>
            </a:p>
          </p:txBody>
        </p:sp>
        <p:grpSp>
          <p:nvGrpSpPr>
            <p:cNvPr id="17" name="组合 16"/>
            <p:cNvGrpSpPr/>
            <p:nvPr/>
          </p:nvGrpSpPr>
          <p:grpSpPr>
            <a:xfrm>
              <a:off x="887892" y="1461003"/>
              <a:ext cx="4187687" cy="1056115"/>
              <a:chOff x="887892" y="1461003"/>
              <a:chExt cx="4187687" cy="1056115"/>
            </a:xfrm>
          </p:grpSpPr>
          <p:sp>
            <p:nvSpPr>
              <p:cNvPr id="18" name="圆角矩形 17"/>
              <p:cNvSpPr/>
              <p:nvPr/>
            </p:nvSpPr>
            <p:spPr>
              <a:xfrm>
                <a:off x="887892" y="1461003"/>
                <a:ext cx="4187687" cy="1012364"/>
              </a:xfrm>
              <a:prstGeom prst="roundRect">
                <a:avLst>
                  <a:gd name="adj" fmla="val 5377"/>
                </a:avLst>
              </a:prstGeom>
              <a:solidFill>
                <a:srgbClr val="FDC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9" name="文本框 18"/>
              <p:cNvSpPr txBox="1"/>
              <p:nvPr/>
            </p:nvSpPr>
            <p:spPr>
              <a:xfrm>
                <a:off x="1146309" y="1470678"/>
                <a:ext cx="2630559" cy="1046440"/>
              </a:xfrm>
              <a:prstGeom prst="rect">
                <a:avLst/>
              </a:prstGeom>
              <a:noFill/>
            </p:spPr>
            <p:txBody>
              <a:bodyPr wrap="square" rtlCol="0">
                <a:spAutoFit/>
              </a:bodyPr>
              <a:lstStyle/>
              <a:p>
                <a:r>
                  <a:rPr lang="zh-CN" altLang="en-US" sz="4500" b="1" dirty="0">
                    <a:solidFill>
                      <a:schemeClr val="bg1"/>
                    </a:solidFill>
                    <a:latin typeface="思源黑体 CN Regular" panose="020B0500000000000000" pitchFamily="34" charset="-122"/>
                    <a:ea typeface="思源黑体 CN Regular" panose="020B0500000000000000" pitchFamily="34" charset="-122"/>
                  </a:rPr>
                  <a:t>过程</a:t>
                </a:r>
                <a:endParaRPr lang="zh-CN" altLang="en-US" sz="4500" b="1" dirty="0">
                  <a:solidFill>
                    <a:schemeClr val="bg1"/>
                  </a:solidFill>
                  <a:latin typeface="思源黑体 CN Regular" panose="020B0500000000000000" pitchFamily="34" charset="-122"/>
                  <a:ea typeface="思源黑体 CN Regular" panose="020B0500000000000000" pitchFamily="34" charset="-122"/>
                </a:endParaRPr>
              </a:p>
            </p:txBody>
          </p:sp>
        </p:grpSp>
      </p:grpSp>
      <p:sp>
        <p:nvSpPr>
          <p:cNvPr id="20" name="文本框 19"/>
          <p:cNvSpPr txBox="1"/>
          <p:nvPr/>
        </p:nvSpPr>
        <p:spPr>
          <a:xfrm>
            <a:off x="5361750" y="2833139"/>
            <a:ext cx="3021496" cy="2862322"/>
          </a:xfrm>
          <a:prstGeom prst="rect">
            <a:avLst/>
          </a:prstGeom>
          <a:noFill/>
        </p:spPr>
        <p:txBody>
          <a:bodyPr wrap="square" rtlCol="0">
            <a:spAutoFit/>
          </a:bodyPr>
          <a:lstStyle/>
          <a:p>
            <a:r>
              <a:rPr lang="en-US" altLang="zh-CN" dirty="0">
                <a:solidFill>
                  <a:schemeClr val="tx1">
                    <a:lumMod val="75000"/>
                    <a:lumOff val="25000"/>
                  </a:schemeClr>
                </a:solidFill>
                <a:latin typeface="Roboto" pitchFamily="2" charset="0"/>
                <a:ea typeface="Roboto" pitchFamily="2" charset="0"/>
              </a:rPr>
              <a:t>0.</a:t>
            </a:r>
            <a:r>
              <a:rPr lang="en-US" altLang="zh-CN" b="1" dirty="0">
                <a:solidFill>
                  <a:schemeClr val="tx1">
                    <a:lumMod val="75000"/>
                    <a:lumOff val="25000"/>
                  </a:schemeClr>
                </a:solidFill>
                <a:latin typeface="Roboto" pitchFamily="2" charset="0"/>
                <a:ea typeface="Roboto" pitchFamily="2" charset="0"/>
              </a:rPr>
              <a:t> [Entry evaluation]</a:t>
            </a:r>
            <a:endParaRPr lang="en-US" altLang="zh-CN" b="1" dirty="0">
              <a:solidFill>
                <a:schemeClr val="tx1">
                  <a:lumMod val="75000"/>
                  <a:lumOff val="25000"/>
                </a:schemeClr>
              </a:solidFill>
              <a:latin typeface="Roboto" pitchFamily="2" charset="0"/>
              <a:ea typeface="Roboto" pitchFamily="2" charset="0"/>
            </a:endParaRPr>
          </a:p>
          <a:p>
            <a:pPr marL="257175" indent="-257175">
              <a:buAutoNum type="arabicPeriod"/>
            </a:pPr>
            <a:r>
              <a:rPr lang="en-US" altLang="zh-CN" b="1" dirty="0">
                <a:solidFill>
                  <a:schemeClr val="tx1">
                    <a:lumMod val="75000"/>
                    <a:lumOff val="25000"/>
                  </a:schemeClr>
                </a:solidFill>
                <a:latin typeface="Roboto" pitchFamily="2" charset="0"/>
                <a:ea typeface="Roboto" pitchFamily="2" charset="0"/>
              </a:rPr>
              <a:t>Management preparation</a:t>
            </a:r>
            <a:endParaRPr lang="en-US" altLang="zh-CN" b="1" dirty="0">
              <a:solidFill>
                <a:schemeClr val="tx1">
                  <a:lumMod val="75000"/>
                  <a:lumOff val="25000"/>
                </a:schemeClr>
              </a:solidFill>
              <a:latin typeface="Roboto" pitchFamily="2" charset="0"/>
              <a:ea typeface="Roboto" pitchFamily="2" charset="0"/>
            </a:endParaRPr>
          </a:p>
          <a:p>
            <a:pPr marL="257175" indent="-257175">
              <a:buAutoNum type="arabicPeriod"/>
            </a:pPr>
            <a:r>
              <a:rPr lang="en-US" altLang="zh-CN" b="1" dirty="0">
                <a:solidFill>
                  <a:schemeClr val="tx1">
                    <a:lumMod val="75000"/>
                    <a:lumOff val="25000"/>
                  </a:schemeClr>
                </a:solidFill>
                <a:latin typeface="Roboto" pitchFamily="2" charset="0"/>
                <a:ea typeface="Roboto" pitchFamily="2" charset="0"/>
              </a:rPr>
              <a:t>Planning the review</a:t>
            </a:r>
            <a:endParaRPr lang="en-US" altLang="zh-CN" b="1" dirty="0">
              <a:solidFill>
                <a:schemeClr val="tx1">
                  <a:lumMod val="75000"/>
                  <a:lumOff val="25000"/>
                </a:schemeClr>
              </a:solidFill>
              <a:latin typeface="Roboto" pitchFamily="2" charset="0"/>
              <a:ea typeface="Roboto" pitchFamily="2" charset="0"/>
            </a:endParaRPr>
          </a:p>
          <a:p>
            <a:pPr marL="257175" indent="-257175">
              <a:buAutoNum type="arabicPeriod"/>
            </a:pPr>
            <a:r>
              <a:rPr lang="en-US" altLang="zh-CN" b="1" dirty="0">
                <a:solidFill>
                  <a:schemeClr val="tx1">
                    <a:lumMod val="75000"/>
                    <a:lumOff val="25000"/>
                  </a:schemeClr>
                </a:solidFill>
                <a:latin typeface="Roboto" pitchFamily="2" charset="0"/>
                <a:ea typeface="Roboto" pitchFamily="2" charset="0"/>
              </a:rPr>
              <a:t>Overview of review procedures</a:t>
            </a:r>
            <a:endParaRPr lang="en-US" altLang="zh-CN" b="1" dirty="0">
              <a:solidFill>
                <a:schemeClr val="tx1">
                  <a:lumMod val="75000"/>
                  <a:lumOff val="25000"/>
                </a:schemeClr>
              </a:solidFill>
              <a:latin typeface="Roboto" pitchFamily="2" charset="0"/>
              <a:ea typeface="Roboto" pitchFamily="2" charset="0"/>
            </a:endParaRPr>
          </a:p>
          <a:p>
            <a:pPr marL="257175" indent="-257175">
              <a:buAutoNum type="arabicPeriod"/>
            </a:pPr>
            <a:r>
              <a:rPr lang="en-US" altLang="zh-CN" b="1" dirty="0">
                <a:solidFill>
                  <a:schemeClr val="tx1">
                    <a:lumMod val="75000"/>
                    <a:lumOff val="25000"/>
                  </a:schemeClr>
                </a:solidFill>
                <a:latin typeface="Roboto" pitchFamily="2" charset="0"/>
                <a:ea typeface="Roboto" pitchFamily="2" charset="0"/>
              </a:rPr>
              <a:t>[Individual] Preparation</a:t>
            </a:r>
            <a:endParaRPr lang="en-US" altLang="zh-CN" b="1" dirty="0">
              <a:solidFill>
                <a:schemeClr val="tx1">
                  <a:lumMod val="75000"/>
                  <a:lumOff val="25000"/>
                </a:schemeClr>
              </a:solidFill>
              <a:latin typeface="Roboto" pitchFamily="2" charset="0"/>
              <a:ea typeface="Roboto" pitchFamily="2" charset="0"/>
            </a:endParaRPr>
          </a:p>
          <a:p>
            <a:pPr marL="257175" indent="-257175">
              <a:buAutoNum type="arabicPeriod"/>
            </a:pPr>
            <a:r>
              <a:rPr lang="en-US" altLang="zh-CN" b="1" dirty="0">
                <a:solidFill>
                  <a:schemeClr val="tx1">
                    <a:lumMod val="75000"/>
                    <a:lumOff val="25000"/>
                  </a:schemeClr>
                </a:solidFill>
                <a:latin typeface="Roboto" pitchFamily="2" charset="0"/>
                <a:ea typeface="Roboto" pitchFamily="2" charset="0"/>
              </a:rPr>
              <a:t>[Group] Examination</a:t>
            </a:r>
            <a:endParaRPr lang="en-US" altLang="zh-CN" b="1" dirty="0">
              <a:solidFill>
                <a:schemeClr val="tx1">
                  <a:lumMod val="75000"/>
                  <a:lumOff val="25000"/>
                </a:schemeClr>
              </a:solidFill>
              <a:latin typeface="Roboto" pitchFamily="2" charset="0"/>
              <a:ea typeface="Roboto" pitchFamily="2" charset="0"/>
            </a:endParaRPr>
          </a:p>
          <a:p>
            <a:pPr marL="257175" indent="-257175">
              <a:buAutoNum type="arabicPeriod"/>
            </a:pPr>
            <a:r>
              <a:rPr lang="en-US" altLang="zh-CN" b="1" dirty="0">
                <a:solidFill>
                  <a:schemeClr val="tx1">
                    <a:lumMod val="75000"/>
                    <a:lumOff val="25000"/>
                  </a:schemeClr>
                </a:solidFill>
                <a:latin typeface="Roboto" pitchFamily="2" charset="0"/>
                <a:ea typeface="Roboto" pitchFamily="2" charset="0"/>
              </a:rPr>
              <a:t>Rework/follow-up</a:t>
            </a:r>
            <a:endParaRPr lang="en-US" altLang="zh-CN" b="1" dirty="0">
              <a:solidFill>
                <a:schemeClr val="tx1">
                  <a:lumMod val="75000"/>
                  <a:lumOff val="25000"/>
                </a:schemeClr>
              </a:solidFill>
              <a:latin typeface="Roboto" pitchFamily="2" charset="0"/>
              <a:ea typeface="Roboto" pitchFamily="2" charset="0"/>
            </a:endParaRPr>
          </a:p>
          <a:p>
            <a:pPr marL="257175" indent="-257175">
              <a:buAutoNum type="arabicPeriod"/>
            </a:pPr>
            <a:r>
              <a:rPr lang="en-US" altLang="zh-CN" b="1" dirty="0">
                <a:solidFill>
                  <a:schemeClr val="tx1">
                    <a:lumMod val="75000"/>
                    <a:lumOff val="25000"/>
                  </a:schemeClr>
                </a:solidFill>
                <a:latin typeface="Roboto" pitchFamily="2" charset="0"/>
                <a:ea typeface="Roboto" pitchFamily="2" charset="0"/>
              </a:rPr>
              <a:t>[Exit evaluation]</a:t>
            </a:r>
            <a:endParaRPr lang="zh-CN" altLang="en-US" dirty="0">
              <a:solidFill>
                <a:schemeClr val="tx1">
                  <a:lumMod val="75000"/>
                  <a:lumOff val="25000"/>
                </a:schemeClr>
              </a:solidFill>
              <a:latin typeface="Roboto" pitchFamily="2" charset="0"/>
            </a:endParaRPr>
          </a:p>
        </p:txBody>
      </p:sp>
    </p:spTree>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0" y="857251"/>
            <a:ext cx="9144000" cy="752708"/>
            <a:chOff x="0" y="1"/>
            <a:chExt cx="12192000" cy="1003610"/>
          </a:xfrm>
        </p:grpSpPr>
        <p:sp>
          <p:nvSpPr>
            <p:cNvPr id="10" name="圆角矩形 9"/>
            <p:cNvSpPr/>
            <p:nvPr/>
          </p:nvSpPr>
          <p:spPr>
            <a:xfrm>
              <a:off x="0" y="1"/>
              <a:ext cx="12192000" cy="1003610"/>
            </a:xfrm>
            <a:prstGeom prst="roundRect">
              <a:avLst>
                <a:gd name="adj" fmla="val 3334"/>
              </a:avLst>
            </a:prstGeom>
            <a:solidFill>
              <a:srgbClr val="019587"/>
            </a:solidFill>
            <a:ln>
              <a:noFill/>
            </a:ln>
            <a:effectLst>
              <a:outerShdw blurRad="76200" dist="63500" dir="5400000" algn="t" rotWithShape="0">
                <a:prstClr val="black">
                  <a:alpha val="3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sz="1350" dirty="0"/>
            </a:p>
          </p:txBody>
        </p:sp>
        <p:sp>
          <p:nvSpPr>
            <p:cNvPr id="11" name="文本框 10"/>
            <p:cNvSpPr txBox="1"/>
            <p:nvPr/>
          </p:nvSpPr>
          <p:spPr>
            <a:xfrm>
              <a:off x="232229" y="209418"/>
              <a:ext cx="1814285" cy="615553"/>
            </a:xfrm>
            <a:prstGeom prst="rect">
              <a:avLst/>
            </a:prstGeom>
            <a:noFill/>
          </p:spPr>
          <p:txBody>
            <a:bodyPr wrap="square" rtlCol="0">
              <a:spAutoFit/>
            </a:bodyPr>
            <a:lstStyle/>
            <a:p>
              <a:r>
                <a:rPr lang="zh-CN" altLang="en-US" sz="2400" b="1" dirty="0">
                  <a:solidFill>
                    <a:schemeClr val="bg1"/>
                  </a:solidFill>
                  <a:latin typeface="思源黑体 CN Regular" panose="020B0500000000000000" pitchFamily="34" charset="-122"/>
                  <a:ea typeface="思源黑体 CN Regular" panose="020B0500000000000000" pitchFamily="34" charset="-122"/>
                </a:rPr>
                <a:t>价值</a:t>
              </a:r>
              <a:endParaRPr lang="zh-CN" altLang="en-US" sz="2400" b="1" dirty="0">
                <a:solidFill>
                  <a:schemeClr val="bg1"/>
                </a:solidFill>
                <a:latin typeface="思源黑体 CN Regular" panose="020B0500000000000000" pitchFamily="34" charset="-122"/>
                <a:ea typeface="思源黑体 CN Regular" panose="020B0500000000000000" pitchFamily="34" charset="-122"/>
              </a:endParaRPr>
            </a:p>
          </p:txBody>
        </p:sp>
      </p:grpSp>
      <p:grpSp>
        <p:nvGrpSpPr>
          <p:cNvPr id="16" name="组合 15"/>
          <p:cNvGrpSpPr/>
          <p:nvPr/>
        </p:nvGrpSpPr>
        <p:grpSpPr>
          <a:xfrm>
            <a:off x="1083365" y="1910799"/>
            <a:ext cx="7036905" cy="4089951"/>
            <a:chOff x="1444487" y="1404732"/>
            <a:chExt cx="9382540" cy="5453268"/>
          </a:xfrm>
        </p:grpSpPr>
        <p:sp>
          <p:nvSpPr>
            <p:cNvPr id="5" name="圆角矩形 4"/>
            <p:cNvSpPr/>
            <p:nvPr/>
          </p:nvSpPr>
          <p:spPr>
            <a:xfrm>
              <a:off x="1444487" y="1404732"/>
              <a:ext cx="9382540" cy="5453268"/>
            </a:xfrm>
            <a:prstGeom prst="roundRect">
              <a:avLst>
                <a:gd name="adj" fmla="val 1597"/>
              </a:avLst>
            </a:prstGeom>
            <a:solidFill>
              <a:schemeClr val="bg1"/>
            </a:solidFill>
            <a:ln>
              <a:noFill/>
            </a:ln>
            <a:effectLst>
              <a:outerShdw blurRad="63500" dist="38100" dir="5400000" sx="101000" sy="101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文本框 11"/>
            <p:cNvSpPr txBox="1"/>
            <p:nvPr/>
          </p:nvSpPr>
          <p:spPr>
            <a:xfrm>
              <a:off x="2179983" y="3313044"/>
              <a:ext cx="7911548" cy="3077765"/>
            </a:xfrm>
            <a:prstGeom prst="rect">
              <a:avLst/>
            </a:prstGeom>
            <a:noFill/>
          </p:spPr>
          <p:txBody>
            <a:bodyPr wrap="square" rtlCol="0">
              <a:spAutoFit/>
            </a:bodyPr>
            <a:lstStyle/>
            <a:p>
              <a:r>
                <a:rPr lang="zh-CN" altLang="en-US" sz="2400" dirty="0">
                  <a:latin typeface="思源黑体 CN Regular" panose="020B0500000000000000" pitchFamily="34" charset="-122"/>
                  <a:ea typeface="思源黑体 CN Regular" panose="020B0500000000000000" pitchFamily="34" charset="-122"/>
                </a:rPr>
                <a:t>软件审查的最明显的价值</a:t>
              </a:r>
              <a:r>
                <a:rPr lang="en-US" altLang="zh-CN" sz="2400" dirty="0">
                  <a:latin typeface="思源黑体 CN Regular" panose="020B0500000000000000" pitchFamily="34" charset="-122"/>
                  <a:ea typeface="思源黑体 CN Regular" panose="020B0500000000000000" pitchFamily="34" charset="-122"/>
                </a:rPr>
                <a:t>(</a:t>
              </a:r>
              <a:r>
                <a:rPr lang="zh-CN" altLang="en-US" sz="2400" dirty="0">
                  <a:latin typeface="思源黑体 CN Regular" panose="020B0500000000000000" pitchFamily="34" charset="-122"/>
                  <a:ea typeface="思源黑体 CN Regular" panose="020B0500000000000000" pitchFamily="34" charset="-122"/>
                </a:rPr>
                <a:t>尤其是正式评审</a:t>
              </a:r>
              <a:r>
                <a:rPr lang="en-US" altLang="zh-CN" sz="2400" dirty="0">
                  <a:latin typeface="思源黑体 CN Regular" panose="020B0500000000000000" pitchFamily="34" charset="-122"/>
                  <a:ea typeface="思源黑体 CN Regular" panose="020B0500000000000000" pitchFamily="34" charset="-122"/>
                </a:rPr>
                <a:t>),</a:t>
              </a:r>
              <a:r>
                <a:rPr lang="zh-CN" altLang="en-US" sz="2400" dirty="0">
                  <a:latin typeface="思源黑体 CN Regular" panose="020B0500000000000000" pitchFamily="34" charset="-122"/>
                  <a:ea typeface="思源黑体 CN Regular" panose="020B0500000000000000" pitchFamily="34" charset="-122"/>
                </a:rPr>
                <a:t>比起确定通过测试或现场使用</a:t>
              </a:r>
              <a:r>
                <a:rPr lang="en-US" altLang="zh-CN" sz="2400" dirty="0">
                  <a:latin typeface="思源黑体 CN Regular" panose="020B0500000000000000" pitchFamily="34" charset="-122"/>
                  <a:ea typeface="思源黑体 CN Regular" panose="020B0500000000000000" pitchFamily="34" charset="-122"/>
                </a:rPr>
                <a:t>(</a:t>
              </a:r>
              <a:r>
                <a:rPr lang="zh-CN" altLang="en-US" sz="2400" dirty="0">
                  <a:latin typeface="思源黑体 CN Regular" panose="020B0500000000000000" pitchFamily="34" charset="-122"/>
                  <a:ea typeface="思源黑体 CN Regular" panose="020B0500000000000000" pitchFamily="34" charset="-122"/>
                </a:rPr>
                <a:t>缺陷检测过程</a:t>
              </a:r>
              <a:r>
                <a:rPr lang="en-US" altLang="zh-CN" sz="2400" dirty="0">
                  <a:latin typeface="思源黑体 CN Regular" panose="020B0500000000000000" pitchFamily="34" charset="-122"/>
                  <a:ea typeface="思源黑体 CN Regular" panose="020B0500000000000000" pitchFamily="34" charset="-122"/>
                </a:rPr>
                <a:t>)</a:t>
              </a:r>
              <a:r>
                <a:rPr lang="zh-CN" altLang="en-US" sz="2400" dirty="0">
                  <a:latin typeface="思源黑体 CN Regular" panose="020B0500000000000000" pitchFamily="34" charset="-122"/>
                  <a:ea typeface="思源黑体 CN Regular" panose="020B0500000000000000" pitchFamily="34" charset="-122"/>
                </a:rPr>
                <a:t>时，可以以更低的成本和早些时候识别问题。一个正确的评审找到并修复缺陷的成本比起当相同的缺陷被发现并执行测试，可能是少一个或两个数量级。</a:t>
              </a:r>
              <a:endParaRPr lang="zh-CN" altLang="en-US" sz="2400" dirty="0">
                <a:latin typeface="思源黑体 CN Regular" panose="020B0500000000000000" pitchFamily="34" charset="-122"/>
                <a:ea typeface="思源黑体 CN Regular" panose="020B0500000000000000" pitchFamily="34" charset="-122"/>
              </a:endParaRPr>
            </a:p>
          </p:txBody>
        </p:sp>
        <p:sp>
          <p:nvSpPr>
            <p:cNvPr id="13" name="文本框 12"/>
            <p:cNvSpPr txBox="1"/>
            <p:nvPr/>
          </p:nvSpPr>
          <p:spPr>
            <a:xfrm>
              <a:off x="2179983" y="2004488"/>
              <a:ext cx="3233531" cy="1138773"/>
            </a:xfrm>
            <a:prstGeom prst="rect">
              <a:avLst/>
            </a:prstGeom>
            <a:noFill/>
          </p:spPr>
          <p:txBody>
            <a:bodyPr wrap="square" rtlCol="0">
              <a:spAutoFit/>
            </a:bodyPr>
            <a:lstStyle/>
            <a:p>
              <a:r>
                <a:rPr lang="zh-CN" altLang="en-US" sz="4950" dirty="0">
                  <a:solidFill>
                    <a:srgbClr val="019587"/>
                  </a:solidFill>
                  <a:latin typeface="思源黑体 CN Regular" panose="020B0500000000000000" pitchFamily="34" charset="-122"/>
                  <a:ea typeface="思源黑体 CN Regular" panose="020B0500000000000000" pitchFamily="34" charset="-122"/>
                </a:rPr>
                <a:t>成本</a:t>
              </a:r>
              <a:endParaRPr lang="zh-CN" altLang="en-US" sz="4950" dirty="0">
                <a:solidFill>
                  <a:srgbClr val="019587"/>
                </a:solidFill>
                <a:latin typeface="思源黑体 CN Regular" panose="020B0500000000000000" pitchFamily="34" charset="-122"/>
                <a:ea typeface="思源黑体 CN Regular" panose="020B0500000000000000" pitchFamily="34" charset="-122"/>
              </a:endParaRPr>
            </a:p>
          </p:txBody>
        </p:sp>
      </p:grpSp>
      <p:grpSp>
        <p:nvGrpSpPr>
          <p:cNvPr id="17" name="组合 16"/>
          <p:cNvGrpSpPr/>
          <p:nvPr/>
        </p:nvGrpSpPr>
        <p:grpSpPr>
          <a:xfrm>
            <a:off x="1083365" y="1910799"/>
            <a:ext cx="7036905" cy="4089951"/>
            <a:chOff x="1444487" y="1404732"/>
            <a:chExt cx="9382540" cy="5453268"/>
          </a:xfrm>
        </p:grpSpPr>
        <p:sp>
          <p:nvSpPr>
            <p:cNvPr id="18" name="圆角矩形 17"/>
            <p:cNvSpPr/>
            <p:nvPr/>
          </p:nvSpPr>
          <p:spPr>
            <a:xfrm>
              <a:off x="1444487" y="1404732"/>
              <a:ext cx="9382540" cy="5453268"/>
            </a:xfrm>
            <a:prstGeom prst="roundRect">
              <a:avLst>
                <a:gd name="adj" fmla="val 1597"/>
              </a:avLst>
            </a:prstGeom>
            <a:solidFill>
              <a:schemeClr val="bg1"/>
            </a:solidFill>
            <a:ln>
              <a:noFill/>
            </a:ln>
            <a:effectLst>
              <a:outerShdw blurRad="63500" dist="38100" dir="5400000" sx="101000" sy="101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9" name="文本框 18"/>
            <p:cNvSpPr txBox="1"/>
            <p:nvPr/>
          </p:nvSpPr>
          <p:spPr>
            <a:xfrm>
              <a:off x="2179983" y="3313044"/>
              <a:ext cx="7911548" cy="2092880"/>
            </a:xfrm>
            <a:prstGeom prst="rect">
              <a:avLst/>
            </a:prstGeom>
            <a:noFill/>
          </p:spPr>
          <p:txBody>
            <a:bodyPr wrap="square" rtlCol="0">
              <a:spAutoFit/>
            </a:bodyPr>
            <a:lstStyle/>
            <a:p>
              <a:r>
                <a:rPr lang="zh-CN" altLang="en-US" sz="2400" dirty="0">
                  <a:latin typeface="思源黑体 CN Regular" panose="020B0500000000000000" pitchFamily="34" charset="-122"/>
                  <a:ea typeface="思源黑体 CN Regular" panose="020B0500000000000000" pitchFamily="34" charset="-122"/>
                </a:rPr>
                <a:t>更重要的是</a:t>
              </a:r>
              <a:r>
                <a:rPr lang="en-US" altLang="zh-CN" sz="2400" dirty="0">
                  <a:latin typeface="思源黑体 CN Regular" panose="020B0500000000000000" pitchFamily="34" charset="-122"/>
                  <a:ea typeface="思源黑体 CN Regular" panose="020B0500000000000000" pitchFamily="34" charset="-122"/>
                </a:rPr>
                <a:t>,</a:t>
              </a:r>
              <a:r>
                <a:rPr lang="zh-CN" altLang="en-US" sz="2400" dirty="0">
                  <a:latin typeface="思源黑体 CN Regular" panose="020B0500000000000000" pitchFamily="34" charset="-122"/>
                  <a:ea typeface="思源黑体 CN Regular" panose="020B0500000000000000" pitchFamily="34" charset="-122"/>
                </a:rPr>
                <a:t>软件评审的价值在于</a:t>
              </a:r>
              <a:r>
                <a:rPr lang="en-US" altLang="zh-CN" sz="2400" dirty="0">
                  <a:latin typeface="思源黑体 CN Regular" panose="020B0500000000000000" pitchFamily="34" charset="-122"/>
                  <a:ea typeface="思源黑体 CN Regular" panose="020B0500000000000000" pitchFamily="34" charset="-122"/>
                </a:rPr>
                <a:t>,</a:t>
              </a:r>
              <a:r>
                <a:rPr lang="zh-CN" altLang="en-US" sz="2400" dirty="0">
                  <a:latin typeface="思源黑体 CN Regular" panose="020B0500000000000000" pitchFamily="34" charset="-122"/>
                  <a:ea typeface="思源黑体 CN Regular" panose="020B0500000000000000" pitchFamily="34" charset="-122"/>
                </a:rPr>
                <a:t>他们可以用来让技术作者开发的极低缺陷的文档</a:t>
              </a:r>
              <a:r>
                <a:rPr lang="en-US" altLang="zh-CN" sz="2400" dirty="0">
                  <a:latin typeface="思源黑体 CN Regular" panose="020B0500000000000000" pitchFamily="34" charset="-122"/>
                  <a:ea typeface="思源黑体 CN Regular" panose="020B0500000000000000" pitchFamily="34" charset="-122"/>
                </a:rPr>
                <a:t>,</a:t>
              </a:r>
              <a:r>
                <a:rPr lang="zh-CN" altLang="en-US" sz="2400" dirty="0">
                  <a:latin typeface="思源黑体 CN Regular" panose="020B0500000000000000" pitchFamily="34" charset="-122"/>
                  <a:ea typeface="思源黑体 CN Regular" panose="020B0500000000000000" pitchFamily="34" charset="-122"/>
                </a:rPr>
                <a:t>并识别和消除过程中容易产生缺陷的不足</a:t>
              </a:r>
              <a:r>
                <a:rPr lang="en-US" altLang="zh-CN" sz="2400" dirty="0">
                  <a:latin typeface="思源黑体 CN Regular" panose="020B0500000000000000" pitchFamily="34" charset="-122"/>
                  <a:ea typeface="思源黑体 CN Regular" panose="020B0500000000000000" pitchFamily="34" charset="-122"/>
                </a:rPr>
                <a:t> (</a:t>
              </a:r>
              <a:r>
                <a:rPr lang="zh-CN" altLang="en-US" sz="2400" dirty="0">
                  <a:latin typeface="思源黑体 CN Regular" panose="020B0500000000000000" pitchFamily="34" charset="-122"/>
                  <a:ea typeface="思源黑体 CN Regular" panose="020B0500000000000000" pitchFamily="34" charset="-122"/>
                </a:rPr>
                <a:t>缺陷预防过程</a:t>
              </a:r>
              <a:r>
                <a:rPr lang="en-US" altLang="zh-CN" sz="2400" dirty="0">
                  <a:latin typeface="思源黑体 CN Regular" panose="020B0500000000000000" pitchFamily="34" charset="-122"/>
                  <a:ea typeface="思源黑体 CN Regular" panose="020B0500000000000000" pitchFamily="34" charset="-122"/>
                </a:rPr>
                <a:t>)</a:t>
              </a:r>
              <a:endParaRPr lang="zh-CN" altLang="en-US" sz="2400" dirty="0">
                <a:latin typeface="思源黑体 CN Regular" panose="020B0500000000000000" pitchFamily="34" charset="-122"/>
                <a:ea typeface="思源黑体 CN Regular" panose="020B0500000000000000" pitchFamily="34" charset="-122"/>
              </a:endParaRPr>
            </a:p>
          </p:txBody>
        </p:sp>
        <p:sp>
          <p:nvSpPr>
            <p:cNvPr id="20" name="文本框 19"/>
            <p:cNvSpPr txBox="1"/>
            <p:nvPr/>
          </p:nvSpPr>
          <p:spPr>
            <a:xfrm>
              <a:off x="2179983" y="2004488"/>
              <a:ext cx="3233531" cy="1138773"/>
            </a:xfrm>
            <a:prstGeom prst="rect">
              <a:avLst/>
            </a:prstGeom>
            <a:noFill/>
          </p:spPr>
          <p:txBody>
            <a:bodyPr wrap="square" rtlCol="0">
              <a:spAutoFit/>
            </a:bodyPr>
            <a:lstStyle/>
            <a:p>
              <a:r>
                <a:rPr lang="zh-CN" altLang="en-US" sz="4950" dirty="0">
                  <a:solidFill>
                    <a:srgbClr val="019587"/>
                  </a:solidFill>
                  <a:latin typeface="思源黑体 CN Regular" panose="020B0500000000000000" pitchFamily="34" charset="-122"/>
                  <a:ea typeface="思源黑体 CN Regular" panose="020B0500000000000000" pitchFamily="34" charset="-122"/>
                </a:rPr>
                <a:t>低缺陷</a:t>
              </a:r>
              <a:endParaRPr lang="zh-CN" altLang="en-US" sz="4950" dirty="0">
                <a:solidFill>
                  <a:srgbClr val="019587"/>
                </a:solidFill>
                <a:latin typeface="思源黑体 CN Regular" panose="020B0500000000000000" pitchFamily="34" charset="-122"/>
                <a:ea typeface="思源黑体 CN Regular" panose="020B0500000000000000" pitchFamily="34" charset="-122"/>
              </a:endParaRPr>
            </a:p>
          </p:txBody>
        </p:sp>
      </p:grpSp>
      <p:grpSp>
        <p:nvGrpSpPr>
          <p:cNvPr id="21" name="组合 20"/>
          <p:cNvGrpSpPr/>
          <p:nvPr/>
        </p:nvGrpSpPr>
        <p:grpSpPr>
          <a:xfrm>
            <a:off x="1083365" y="1910799"/>
            <a:ext cx="7036905" cy="4108890"/>
            <a:chOff x="1444487" y="1404732"/>
            <a:chExt cx="9382540" cy="5478520"/>
          </a:xfrm>
        </p:grpSpPr>
        <p:sp>
          <p:nvSpPr>
            <p:cNvPr id="22" name="圆角矩形 21"/>
            <p:cNvSpPr/>
            <p:nvPr/>
          </p:nvSpPr>
          <p:spPr>
            <a:xfrm>
              <a:off x="1444487" y="1404732"/>
              <a:ext cx="9382540" cy="5453268"/>
            </a:xfrm>
            <a:prstGeom prst="roundRect">
              <a:avLst>
                <a:gd name="adj" fmla="val 1597"/>
              </a:avLst>
            </a:prstGeom>
            <a:solidFill>
              <a:schemeClr val="bg1"/>
            </a:solidFill>
            <a:ln>
              <a:noFill/>
            </a:ln>
            <a:effectLst>
              <a:outerShdw blurRad="63500" dist="38100" dir="5400000" sx="101000" sy="101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3" name="文本框 22"/>
            <p:cNvSpPr txBox="1"/>
            <p:nvPr/>
          </p:nvSpPr>
          <p:spPr>
            <a:xfrm>
              <a:off x="2179983" y="3313044"/>
              <a:ext cx="7911548" cy="3570208"/>
            </a:xfrm>
            <a:prstGeom prst="rect">
              <a:avLst/>
            </a:prstGeom>
            <a:noFill/>
          </p:spPr>
          <p:txBody>
            <a:bodyPr wrap="square" rtlCol="0">
              <a:spAutoFit/>
            </a:bodyPr>
            <a:lstStyle/>
            <a:p>
              <a:r>
                <a:rPr lang="zh-CN" altLang="en-US" sz="2400" dirty="0">
                  <a:latin typeface="思源黑体 CN Regular" panose="020B0500000000000000" pitchFamily="34" charset="-122"/>
                  <a:ea typeface="思源黑体 CN Regular" panose="020B0500000000000000" pitchFamily="34" charset="-122"/>
                </a:rPr>
                <a:t>尽早并经常对样品的工作进行同行评审很关键</a:t>
              </a:r>
              <a:r>
                <a:rPr lang="en-US" altLang="zh-CN" sz="2400" dirty="0">
                  <a:latin typeface="思源黑体 CN Regular" panose="020B0500000000000000" pitchFamily="34" charset="-122"/>
                  <a:ea typeface="思源黑体 CN Regular" panose="020B0500000000000000" pitchFamily="34" charset="-122"/>
                </a:rPr>
                <a:t>,</a:t>
              </a:r>
              <a:r>
                <a:rPr lang="zh-CN" altLang="en-US" sz="2400" dirty="0">
                  <a:latin typeface="思源黑体 CN Regular" panose="020B0500000000000000" pitchFamily="34" charset="-122"/>
                  <a:ea typeface="思源黑体 CN Regular" panose="020B0500000000000000" pitchFamily="34" charset="-122"/>
                </a:rPr>
                <a:t>而不是等到工作已经完成。早期和频繁的小工作样本的评审可以识别作者的工作过程中的系统误差</a:t>
              </a:r>
              <a:r>
                <a:rPr lang="en-US" altLang="zh-CN" sz="2400" dirty="0">
                  <a:latin typeface="思源黑体 CN Regular" panose="020B0500000000000000" pitchFamily="34" charset="-122"/>
                  <a:ea typeface="思源黑体 CN Regular" panose="020B0500000000000000" pitchFamily="34" charset="-122"/>
                </a:rPr>
                <a:t>,</a:t>
              </a:r>
              <a:r>
                <a:rPr lang="zh-CN" altLang="en-US" sz="2400" dirty="0">
                  <a:latin typeface="思源黑体 CN Regular" panose="020B0500000000000000" pitchFamily="34" charset="-122"/>
                  <a:ea typeface="思源黑体 CN Regular" panose="020B0500000000000000" pitchFamily="34" charset="-122"/>
                </a:rPr>
                <a:t>可以进一步纠正之前的错误。这可以显著改善减少开发者开发一个高质量的技术文件所花费的时间</a:t>
              </a:r>
              <a:r>
                <a:rPr lang="en-US" altLang="zh-CN" sz="2400" dirty="0">
                  <a:latin typeface="思源黑体 CN Regular" panose="020B0500000000000000" pitchFamily="34" charset="-122"/>
                  <a:ea typeface="思源黑体 CN Regular" panose="020B0500000000000000" pitchFamily="34" charset="-122"/>
                </a:rPr>
                <a:t>,</a:t>
              </a:r>
              <a:r>
                <a:rPr lang="zh-CN" altLang="en-US" sz="2400" dirty="0">
                  <a:latin typeface="思源黑体 CN Regular" panose="020B0500000000000000" pitchFamily="34" charset="-122"/>
                  <a:ea typeface="思源黑体 CN Regular" panose="020B0500000000000000" pitchFamily="34" charset="-122"/>
                </a:rPr>
                <a:t>并大幅度降低在下游流程使用文档的错误率。</a:t>
              </a:r>
              <a:endParaRPr lang="zh-CN" altLang="en-US" sz="2400" dirty="0">
                <a:latin typeface="思源黑体 CN Regular" panose="020B0500000000000000" pitchFamily="34" charset="-122"/>
                <a:ea typeface="思源黑体 CN Regular" panose="020B0500000000000000" pitchFamily="34" charset="-122"/>
              </a:endParaRPr>
            </a:p>
          </p:txBody>
        </p:sp>
        <p:sp>
          <p:nvSpPr>
            <p:cNvPr id="24" name="文本框 23"/>
            <p:cNvSpPr txBox="1"/>
            <p:nvPr/>
          </p:nvSpPr>
          <p:spPr>
            <a:xfrm>
              <a:off x="2179983" y="2004488"/>
              <a:ext cx="3233531" cy="1138773"/>
            </a:xfrm>
            <a:prstGeom prst="rect">
              <a:avLst/>
            </a:prstGeom>
            <a:noFill/>
          </p:spPr>
          <p:txBody>
            <a:bodyPr wrap="square" rtlCol="0">
              <a:spAutoFit/>
            </a:bodyPr>
            <a:lstStyle/>
            <a:p>
              <a:r>
                <a:rPr lang="zh-CN" altLang="en-US" sz="4950" dirty="0">
                  <a:solidFill>
                    <a:srgbClr val="019587"/>
                  </a:solidFill>
                  <a:latin typeface="思源黑体 CN Regular" panose="020B0500000000000000" pitchFamily="34" charset="-122"/>
                  <a:ea typeface="思源黑体 CN Regular" panose="020B0500000000000000" pitchFamily="34" charset="-122"/>
                </a:rPr>
                <a:t>高效</a:t>
              </a:r>
              <a:endParaRPr lang="zh-CN" altLang="en-US" sz="4950" dirty="0">
                <a:solidFill>
                  <a:srgbClr val="019587"/>
                </a:solidFill>
                <a:latin typeface="思源黑体 CN Regular" panose="020B0500000000000000" pitchFamily="34" charset="-122"/>
                <a:ea typeface="思源黑体 CN Regular" panose="020B0500000000000000" pitchFamily="34" charset="-122"/>
              </a:endParaRPr>
            </a:p>
          </p:txBody>
        </p:sp>
      </p:grpSp>
      <p:grpSp>
        <p:nvGrpSpPr>
          <p:cNvPr id="25" name="组合 24"/>
          <p:cNvGrpSpPr/>
          <p:nvPr/>
        </p:nvGrpSpPr>
        <p:grpSpPr>
          <a:xfrm>
            <a:off x="1083365" y="1906655"/>
            <a:ext cx="7036905" cy="4108890"/>
            <a:chOff x="1444487" y="1404732"/>
            <a:chExt cx="9382540" cy="5478520"/>
          </a:xfrm>
        </p:grpSpPr>
        <p:sp>
          <p:nvSpPr>
            <p:cNvPr id="26" name="圆角矩形 25"/>
            <p:cNvSpPr/>
            <p:nvPr/>
          </p:nvSpPr>
          <p:spPr>
            <a:xfrm>
              <a:off x="1444487" y="1404732"/>
              <a:ext cx="9382540" cy="5453268"/>
            </a:xfrm>
            <a:prstGeom prst="roundRect">
              <a:avLst>
                <a:gd name="adj" fmla="val 1597"/>
              </a:avLst>
            </a:prstGeom>
            <a:solidFill>
              <a:schemeClr val="bg1"/>
            </a:solidFill>
            <a:ln>
              <a:noFill/>
            </a:ln>
            <a:effectLst>
              <a:outerShdw blurRad="63500" dist="38100" dir="5400000" sx="101000" sy="101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7" name="文本框 26"/>
            <p:cNvSpPr txBox="1"/>
            <p:nvPr/>
          </p:nvSpPr>
          <p:spPr>
            <a:xfrm>
              <a:off x="2179983" y="3313044"/>
              <a:ext cx="7911548" cy="3570208"/>
            </a:xfrm>
            <a:prstGeom prst="rect">
              <a:avLst/>
            </a:prstGeom>
            <a:noFill/>
          </p:spPr>
          <p:txBody>
            <a:bodyPr wrap="square" rtlCol="0">
              <a:spAutoFit/>
            </a:bodyPr>
            <a:lstStyle/>
            <a:p>
              <a:r>
                <a:rPr lang="zh-CN" altLang="en-US" sz="2400" dirty="0">
                  <a:latin typeface="思源黑体 CN Regular" panose="020B0500000000000000" pitchFamily="34" charset="-122"/>
                  <a:ea typeface="思源黑体 CN Regular" panose="020B0500000000000000" pitchFamily="34" charset="-122"/>
                </a:rPr>
                <a:t>作为一般原则</a:t>
              </a:r>
              <a:r>
                <a:rPr lang="en-US" altLang="zh-CN" sz="2400" dirty="0">
                  <a:latin typeface="思源黑体 CN Regular" panose="020B0500000000000000" pitchFamily="34" charset="-122"/>
                  <a:ea typeface="思源黑体 CN Regular" panose="020B0500000000000000" pitchFamily="34" charset="-122"/>
                </a:rPr>
                <a:t>,</a:t>
              </a:r>
              <a:r>
                <a:rPr lang="zh-CN" altLang="en-US" sz="2400" dirty="0">
                  <a:latin typeface="思源黑体 CN Regular" panose="020B0500000000000000" pitchFamily="34" charset="-122"/>
                  <a:ea typeface="思源黑体 CN Regular" panose="020B0500000000000000" pitchFamily="34" charset="-122"/>
                </a:rPr>
                <a:t>早期制作的技术文档</a:t>
              </a:r>
              <a:r>
                <a:rPr lang="en-US" altLang="zh-CN" sz="2400" dirty="0">
                  <a:latin typeface="思源黑体 CN Regular" panose="020B0500000000000000" pitchFamily="34" charset="-122"/>
                  <a:ea typeface="思源黑体 CN Regular" panose="020B0500000000000000" pitchFamily="34" charset="-122"/>
                </a:rPr>
                <a:t>,</a:t>
              </a:r>
              <a:r>
                <a:rPr lang="zh-CN" altLang="en-US" sz="2400" dirty="0">
                  <a:latin typeface="思源黑体 CN Regular" panose="020B0500000000000000" pitchFamily="34" charset="-122"/>
                  <a:ea typeface="思源黑体 CN Regular" panose="020B0500000000000000" pitchFamily="34" charset="-122"/>
                </a:rPr>
                <a:t>更会将其缺陷影响到任何下游活动和它们的工作产品。因此</a:t>
              </a:r>
              <a:r>
                <a:rPr lang="en-US" altLang="zh-CN" sz="2400" dirty="0">
                  <a:latin typeface="思源黑体 CN Regular" panose="020B0500000000000000" pitchFamily="34" charset="-122"/>
                  <a:ea typeface="思源黑体 CN Regular" panose="020B0500000000000000" pitchFamily="34" charset="-122"/>
                </a:rPr>
                <a:t>,</a:t>
              </a:r>
              <a:r>
                <a:rPr lang="zh-CN" altLang="en-US" sz="2400" dirty="0">
                  <a:latin typeface="思源黑体 CN Regular" panose="020B0500000000000000" pitchFamily="34" charset="-122"/>
                  <a:ea typeface="思源黑体 CN Regular" panose="020B0500000000000000" pitchFamily="34" charset="-122"/>
                </a:rPr>
                <a:t> 从早期的对文档如营销计划、合同、项目计划和时间表</a:t>
              </a:r>
              <a:r>
                <a:rPr lang="en-US" altLang="zh-CN" sz="2400" dirty="0">
                  <a:latin typeface="思源黑体 CN Regular" panose="020B0500000000000000" pitchFamily="34" charset="-122"/>
                  <a:ea typeface="思源黑体 CN Regular" panose="020B0500000000000000" pitchFamily="34" charset="-122"/>
                </a:rPr>
                <a:t>,</a:t>
              </a:r>
              <a:r>
                <a:rPr lang="zh-CN" altLang="en-US" sz="2400" dirty="0">
                  <a:latin typeface="思源黑体 CN Regular" panose="020B0500000000000000" pitchFamily="34" charset="-122"/>
                  <a:ea typeface="思源黑体 CN Regular" panose="020B0500000000000000" pitchFamily="34" charset="-122"/>
                </a:rPr>
                <a:t>需求规格说明书评审，软件评审的价值越大。研究者和实践者已经证明了审查过程中发现错误和安全问题的有效性。</a:t>
              </a:r>
              <a:endParaRPr lang="zh-CN" altLang="en-US" sz="2400" dirty="0">
                <a:latin typeface="思源黑体 CN Regular" panose="020B0500000000000000" pitchFamily="34" charset="-122"/>
                <a:ea typeface="思源黑体 CN Regular" panose="020B0500000000000000" pitchFamily="34" charset="-122"/>
              </a:endParaRPr>
            </a:p>
          </p:txBody>
        </p:sp>
        <p:sp>
          <p:nvSpPr>
            <p:cNvPr id="28" name="文本框 27"/>
            <p:cNvSpPr txBox="1"/>
            <p:nvPr/>
          </p:nvSpPr>
          <p:spPr>
            <a:xfrm>
              <a:off x="2179983" y="2004488"/>
              <a:ext cx="3233531" cy="1138773"/>
            </a:xfrm>
            <a:prstGeom prst="rect">
              <a:avLst/>
            </a:prstGeom>
            <a:noFill/>
          </p:spPr>
          <p:txBody>
            <a:bodyPr wrap="square" rtlCol="0">
              <a:spAutoFit/>
            </a:bodyPr>
            <a:lstStyle/>
            <a:p>
              <a:r>
                <a:rPr lang="zh-CN" altLang="en-US" sz="4950" dirty="0">
                  <a:solidFill>
                    <a:srgbClr val="019587"/>
                  </a:solidFill>
                  <a:latin typeface="思源黑体 CN Regular" panose="020B0500000000000000" pitchFamily="34" charset="-122"/>
                  <a:ea typeface="思源黑体 CN Regular" panose="020B0500000000000000" pitchFamily="34" charset="-122"/>
                </a:rPr>
                <a:t>价值</a:t>
              </a:r>
              <a:endParaRPr lang="zh-CN" altLang="en-US" sz="4950" dirty="0">
                <a:solidFill>
                  <a:srgbClr val="019587"/>
                </a:solidFill>
                <a:latin typeface="思源黑体 CN Regular" panose="020B0500000000000000" pitchFamily="34" charset="-122"/>
                <a:ea typeface="思源黑体 CN Regular" panose="020B0500000000000000"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p14:dur="250">
        <p14:reveal/>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25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25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2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思考题</a:t>
            </a:r>
            <a:endParaRPr lang="zh-CN" altLang="en-US"/>
          </a:p>
        </p:txBody>
      </p:sp>
      <p:sp>
        <p:nvSpPr>
          <p:cNvPr id="3" name="文本占位符 2"/>
          <p:cNvSpPr>
            <a:spLocks noGrp="1"/>
          </p:cNvSpPr>
          <p:nvPr>
            <p:ph type="body" idx="1"/>
          </p:nvPr>
        </p:nvSpPr>
        <p:spPr/>
        <p:txBody>
          <a:bodyPr/>
          <a:p>
            <a:r>
              <a:rPr lang="zh-CN" altLang="en-US"/>
              <a:t>软件评审的价值和意义是什么？</a:t>
            </a:r>
            <a:endParaRPr lang="zh-CN" altLang="en-US"/>
          </a:p>
          <a:p>
            <a:r>
              <a:rPr lang="zh-CN" altLang="en-US"/>
              <a:t>软件评审有哪些形式？</a:t>
            </a:r>
            <a:endParaRPr lang="zh-CN" altLang="en-US"/>
          </a:p>
          <a:p>
            <a:r>
              <a:rPr lang="zh-CN" altLang="en-US"/>
              <a:t>软件评审的对象有哪些？</a:t>
            </a:r>
            <a:endParaRPr lang="zh-CN" altLang="en-US"/>
          </a:p>
          <a:p>
            <a:r>
              <a:rPr lang="zh-CN" altLang="en-US"/>
              <a:t>软件评审能解决哪些问题？</a:t>
            </a:r>
            <a:endParaRPr lang="zh-CN" altLang="en-US"/>
          </a:p>
          <a:p>
            <a:r>
              <a:rPr lang="zh-CN" altLang="en-US"/>
              <a:t>软件评审存在哪些问题？</a:t>
            </a:r>
            <a:endParaRPr lang="zh-CN" altLang="en-US"/>
          </a:p>
        </p:txBody>
      </p:sp>
    </p:spTree>
  </p:cSld>
  <p:clrMapOvr>
    <a:masterClrMapping/>
  </p:clrMapOvr>
  <p:transition spd="med"/>
</p:sld>
</file>

<file path=ppt/theme/theme1.xml><?xml version="1.0" encoding="utf-8"?>
<a:theme xmlns:a="http://schemas.openxmlformats.org/drawingml/2006/main" name="Axis">
  <a:themeElements>
    <a:clrScheme name="Axis">
      <a:dk1>
        <a:srgbClr val="292929"/>
      </a:dk1>
      <a:lt1>
        <a:srgbClr val="FFFFFF"/>
      </a:lt1>
      <a:dk2>
        <a:srgbClr val="A7A7A7"/>
      </a:dk2>
      <a:lt2>
        <a:srgbClr val="535353"/>
      </a:lt2>
      <a:accent1>
        <a:srgbClr val="CC9900"/>
      </a:accent1>
      <a:accent2>
        <a:srgbClr val="CCCC99"/>
      </a:accent2>
      <a:accent3>
        <a:srgbClr val="8F8F8F"/>
      </a:accent3>
      <a:accent4>
        <a:srgbClr val="212121"/>
      </a:accent4>
      <a:accent5>
        <a:srgbClr val="E2CAAA"/>
      </a:accent5>
      <a:accent6>
        <a:srgbClr val="B9B98A"/>
      </a:accent6>
      <a:hlink>
        <a:srgbClr val="0000FF"/>
      </a:hlink>
      <a:folHlink>
        <a:srgbClr val="FF00FF"/>
      </a:folHlink>
    </a:clrScheme>
    <a:fontScheme name="Axis">
      <a:majorFont>
        <a:latin typeface="Helvetica"/>
        <a:ea typeface="Helvetica"/>
        <a:cs typeface="Helvetica"/>
      </a:majorFont>
      <a:minorFont>
        <a:latin typeface="Arial"/>
        <a:ea typeface="Arial"/>
        <a:cs typeface="Arial"/>
      </a:minorFont>
    </a:fontScheme>
    <a:fmtScheme name="Ax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spPr>
      <a:bodyPr rot="0" spcFirstLastPara="1" vertOverflow="overflow" horzOverflow="overflow" vert="horz" wrap="square" lIns="45719" tIns="45719" rIns="45719" bIns="45719" numCol="1" spcCol="38100" rtlCol="0" anchor="ctr">
        <a:spAutoFit/>
      </a:bodyPr>
      <a:lstStyle>
        <a:defPPr marL="0" marR="0" indent="0" algn="ctr"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92929"/>
            </a:solidFill>
            <a:effectLst/>
            <a:uFillTx/>
            <a:latin typeface="+mn-lt"/>
            <a:ea typeface="+mn-ea"/>
            <a:cs typeface="+mn-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ctr"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92929"/>
            </a:solidFill>
            <a:effectLst/>
            <a:uFillTx/>
            <a:latin typeface="+mn-lt"/>
            <a:ea typeface="+mn-ea"/>
            <a:cs typeface="+mn-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xis">
  <a:themeElements>
    <a:clrScheme name="Axis">
      <a:dk1>
        <a:srgbClr val="000000"/>
      </a:dk1>
      <a:lt1>
        <a:srgbClr val="FFFFFF"/>
      </a:lt1>
      <a:dk2>
        <a:srgbClr val="A7A7A7"/>
      </a:dk2>
      <a:lt2>
        <a:srgbClr val="535353"/>
      </a:lt2>
      <a:accent1>
        <a:srgbClr val="CC9900"/>
      </a:accent1>
      <a:accent2>
        <a:srgbClr val="CCCC99"/>
      </a:accent2>
      <a:accent3>
        <a:srgbClr val="8F8F8F"/>
      </a:accent3>
      <a:accent4>
        <a:srgbClr val="212121"/>
      </a:accent4>
      <a:accent5>
        <a:srgbClr val="E2CAAA"/>
      </a:accent5>
      <a:accent6>
        <a:srgbClr val="B9B98A"/>
      </a:accent6>
      <a:hlink>
        <a:srgbClr val="0000FF"/>
      </a:hlink>
      <a:folHlink>
        <a:srgbClr val="FF00FF"/>
      </a:folHlink>
    </a:clrScheme>
    <a:fontScheme name="Axis">
      <a:majorFont>
        <a:latin typeface="Helvetica"/>
        <a:ea typeface="Helvetica"/>
        <a:cs typeface="Helvetica"/>
      </a:majorFont>
      <a:minorFont>
        <a:latin typeface="Arial"/>
        <a:ea typeface="Arial"/>
        <a:cs typeface="Arial"/>
      </a:minorFont>
    </a:fontScheme>
    <a:fmtScheme name="Ax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Off val="44000"/>
          </a:schemeClr>
        </a:solidFill>
        <a:ln w="25400" cap="flat">
          <a:solidFill>
            <a:schemeClr val="accent1"/>
          </a:solidFill>
          <a:prstDash val="solid"/>
          <a:round/>
        </a:ln>
      </a:spPr>
      <a:bodyPr rot="0" spcFirstLastPara="1" vertOverflow="overflow" horzOverflow="overflow" vert="horz" wrap="square" lIns="45719" tIns="45719" rIns="45719" bIns="45719" numCol="1" spcCol="38100" rtlCol="0" anchor="ctr">
        <a:spAutoFit/>
      </a:bodyPr>
      <a:lstStyle>
        <a:defPPr marL="0" marR="0" indent="0" algn="ctr"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92929"/>
            </a:solidFill>
            <a:effectLst/>
            <a:uFillTx/>
            <a:latin typeface="+mn-lt"/>
            <a:ea typeface="+mn-ea"/>
            <a:cs typeface="+mn-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ctr"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292929"/>
            </a:solidFill>
            <a:effectLst/>
            <a:uFillTx/>
            <a:latin typeface="+mn-lt"/>
            <a:ea typeface="+mn-ea"/>
            <a:cs typeface="+mn-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4801</Words>
  <Application>WPS 演示</Application>
  <PresentationFormat>全屏显示(4:3)</PresentationFormat>
  <Paragraphs>383</Paragraphs>
  <Slides>28</Slides>
  <Notes>18</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28</vt:i4>
      </vt:variant>
    </vt:vector>
  </HeadingPairs>
  <TitlesOfParts>
    <vt:vector size="46" baseType="lpstr">
      <vt:lpstr>Arial</vt:lpstr>
      <vt:lpstr>宋体</vt:lpstr>
      <vt:lpstr>Wingdings</vt:lpstr>
      <vt:lpstr>Arial</vt:lpstr>
      <vt:lpstr>Times New Roman</vt:lpstr>
      <vt:lpstr>STXinwei</vt:lpstr>
      <vt:lpstr>Segoe Print</vt:lpstr>
      <vt:lpstr>Wingdings</vt:lpstr>
      <vt:lpstr>微软雅黑</vt:lpstr>
      <vt:lpstr>Arial Unicode MS</vt:lpstr>
      <vt:lpstr>Calibri</vt:lpstr>
      <vt:lpstr>Times New Roman</vt:lpstr>
      <vt:lpstr>思源黑体 CN Regular</vt:lpstr>
      <vt:lpstr>黑体</vt:lpstr>
      <vt:lpstr>思源黑体 CN Normal</vt:lpstr>
      <vt:lpstr>Roboto Lt</vt:lpstr>
      <vt:lpstr>Roboto</vt:lpstr>
      <vt:lpstr>Axis</vt:lpstr>
      <vt:lpstr>软件评审与审计 Peer Review</vt:lpstr>
      <vt:lpstr>  大纲</vt:lpstr>
      <vt:lpstr>1.为什么需要软件评审</vt:lpstr>
      <vt:lpstr>1.为什么需要软件评审</vt:lpstr>
      <vt:lpstr>2.评审的种类与对象</vt:lpstr>
      <vt:lpstr>2.评审的种类与对象</vt:lpstr>
      <vt:lpstr>2.评审的种类与对象</vt:lpstr>
      <vt:lpstr>2.评审的种类与对象</vt:lpstr>
      <vt:lpstr>2.评审的种类和对象</vt:lpstr>
      <vt:lpstr>3.软件评审的角色和职能</vt:lpstr>
      <vt:lpstr>3.软件评审的角色和职能</vt:lpstr>
      <vt:lpstr>4.评审过程</vt:lpstr>
      <vt:lpstr>5.小结</vt:lpstr>
      <vt:lpstr>目录</vt:lpstr>
      <vt:lpstr>软件评审定义</vt:lpstr>
      <vt:lpstr>分类：NASA-GB-001</vt:lpstr>
      <vt:lpstr>分类：IEEE标准</vt:lpstr>
      <vt:lpstr>软件评审意义：有效</vt:lpstr>
      <vt:lpstr>软件评审意义：更早</vt:lpstr>
      <vt:lpstr>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操作系统课程简介</dc:title>
  <dc:creator>nie</dc:creator>
  <cp:lastModifiedBy>Mr Nie</cp:lastModifiedBy>
  <cp:revision>181</cp:revision>
  <dcterms:created xsi:type="dcterms:W3CDTF">2020-09-20T11:40:00Z</dcterms:created>
  <dcterms:modified xsi:type="dcterms:W3CDTF">2021-09-18T02:11:37Z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2052-11.1.0.10495</vt:lpwstr>
  </property>
  <property fmtid="{D5CDD505-2E9C-101B-9397-08002B2CF9AE}" pid="3" name="ICV">
    <vt:lpwstr>8A9D90E3EB904BDCB2401E0CA2E24C10</vt:lpwstr>
  </property>
</Properties>
</file>