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1"/>
    <p:sldMasterId id="2147483679" r:id="rId2"/>
    <p:sldMasterId id="2147483690" r:id="rId3"/>
  </p:sldMasterIdLst>
  <p:notesMasterIdLst>
    <p:notesMasterId r:id="rId57"/>
  </p:notesMasterIdLst>
  <p:sldIdLst>
    <p:sldId id="257" r:id="rId4"/>
    <p:sldId id="281" r:id="rId5"/>
    <p:sldId id="271" r:id="rId6"/>
    <p:sldId id="291" r:id="rId7"/>
    <p:sldId id="285" r:id="rId8"/>
    <p:sldId id="292" r:id="rId9"/>
    <p:sldId id="308" r:id="rId10"/>
    <p:sldId id="309" r:id="rId11"/>
    <p:sldId id="310" r:id="rId12"/>
    <p:sldId id="311" r:id="rId13"/>
    <p:sldId id="312" r:id="rId14"/>
    <p:sldId id="313" r:id="rId15"/>
    <p:sldId id="27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274" r:id="rId29"/>
    <p:sldId id="275" r:id="rId30"/>
    <p:sldId id="276" r:id="rId31"/>
    <p:sldId id="277" r:id="rId32"/>
    <p:sldId id="278" r:id="rId33"/>
    <p:sldId id="279" r:id="rId34"/>
    <p:sldId id="280" r:id="rId35"/>
    <p:sldId id="289" r:id="rId36"/>
    <p:sldId id="290" r:id="rId37"/>
    <p:sldId id="261" r:id="rId38"/>
    <p:sldId id="282" r:id="rId39"/>
    <p:sldId id="287" r:id="rId40"/>
    <p:sldId id="288" r:id="rId41"/>
    <p:sldId id="286" r:id="rId42"/>
    <p:sldId id="305" r:id="rId43"/>
    <p:sldId id="306" r:id="rId44"/>
    <p:sldId id="307" r:id="rId45"/>
    <p:sldId id="314" r:id="rId46"/>
    <p:sldId id="315" r:id="rId47"/>
    <p:sldId id="316" r:id="rId48"/>
    <p:sldId id="317" r:id="rId49"/>
    <p:sldId id="318" r:id="rId50"/>
    <p:sldId id="319" r:id="rId51"/>
    <p:sldId id="320" r:id="rId52"/>
    <p:sldId id="321" r:id="rId53"/>
    <p:sldId id="322" r:id="rId54"/>
    <p:sldId id="323" r:id="rId55"/>
    <p:sldId id="324" r:id="rId56"/>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15"/>
    <p:restoredTop sz="78319" autoAdjust="0"/>
  </p:normalViewPr>
  <p:slideViewPr>
    <p:cSldViewPr snapToGrid="0" snapToObjects="1">
      <p:cViewPr varScale="1">
        <p:scale>
          <a:sx n="59" d="100"/>
          <a:sy n="59" d="100"/>
        </p:scale>
        <p:origin x="96" y="-348"/>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工作表1!$B$1</c:f>
              <c:strCache>
                <c:ptCount val="1"/>
                <c:pt idx="0">
                  <c:v>销售额</c:v>
                </c:pt>
              </c:strCache>
            </c:strRef>
          </c:tx>
          <c:spPr>
            <a:ln>
              <a:noFill/>
            </a:ln>
          </c:spPr>
          <c:dPt>
            <c:idx val="0"/>
            <c:bubble3D val="0"/>
            <c:spPr>
              <a:solidFill>
                <a:schemeClr val="accent1">
                  <a:shade val="58000"/>
                </a:schemeClr>
              </a:solidFill>
              <a:ln w="19050">
                <a:noFill/>
              </a:ln>
              <a:effectLst/>
            </c:spPr>
            <c:extLst>
              <c:ext xmlns:c16="http://schemas.microsoft.com/office/drawing/2014/chart" uri="{C3380CC4-5D6E-409C-BE32-E72D297353CC}">
                <c16:uniqueId val="{00000001-356B-4B27-9CFC-22D8D1FCD553}"/>
              </c:ext>
            </c:extLst>
          </c:dPt>
          <c:dPt>
            <c:idx val="1"/>
            <c:bubble3D val="0"/>
            <c:spPr>
              <a:solidFill>
                <a:schemeClr val="accent1">
                  <a:shade val="86000"/>
                </a:schemeClr>
              </a:solidFill>
              <a:ln w="19050">
                <a:noFill/>
              </a:ln>
              <a:effectLst/>
            </c:spPr>
            <c:extLst>
              <c:ext xmlns:c16="http://schemas.microsoft.com/office/drawing/2014/chart" uri="{C3380CC4-5D6E-409C-BE32-E72D297353CC}">
                <c16:uniqueId val="{00000003-356B-4B27-9CFC-22D8D1FCD553}"/>
              </c:ext>
            </c:extLst>
          </c:dPt>
          <c:dPt>
            <c:idx val="2"/>
            <c:bubble3D val="0"/>
            <c:spPr>
              <a:solidFill>
                <a:schemeClr val="accent1">
                  <a:tint val="86000"/>
                </a:schemeClr>
              </a:solidFill>
              <a:ln w="19050">
                <a:noFill/>
              </a:ln>
              <a:effectLst/>
            </c:spPr>
            <c:extLst>
              <c:ext xmlns:c16="http://schemas.microsoft.com/office/drawing/2014/chart" uri="{C3380CC4-5D6E-409C-BE32-E72D297353CC}">
                <c16:uniqueId val="{00000005-356B-4B27-9CFC-22D8D1FCD553}"/>
              </c:ext>
            </c:extLst>
          </c:dPt>
          <c:dPt>
            <c:idx val="3"/>
            <c:bubble3D val="0"/>
            <c:spPr>
              <a:solidFill>
                <a:schemeClr val="accent1">
                  <a:tint val="58000"/>
                </a:schemeClr>
              </a:solidFill>
              <a:ln w="19050">
                <a:noFill/>
              </a:ln>
              <a:effectLst/>
            </c:spPr>
            <c:extLst>
              <c:ext xmlns:c16="http://schemas.microsoft.com/office/drawing/2014/chart" uri="{C3380CC4-5D6E-409C-BE32-E72D297353CC}">
                <c16:uniqueId val="{00000007-356B-4B27-9CFC-22D8D1FCD553}"/>
              </c:ext>
            </c:extLst>
          </c:dPt>
          <c:cat>
            <c:strRef>
              <c:f>工作表1!$A$2:$A$5</c:f>
              <c:strCache>
                <c:ptCount val="4"/>
                <c:pt idx="0">
                  <c:v>第一季度</c:v>
                </c:pt>
                <c:pt idx="1">
                  <c:v>第二季度</c:v>
                </c:pt>
                <c:pt idx="2">
                  <c:v>第三季度</c:v>
                </c:pt>
                <c:pt idx="3">
                  <c:v>第四季度</c:v>
                </c:pt>
              </c:strCache>
            </c:strRef>
          </c:cat>
          <c:val>
            <c:numRef>
              <c:f>工作表1!$B$2:$B$5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356B-4B27-9CFC-22D8D1FCD553}"/>
            </c:ext>
          </c:extLst>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工作表1!$B$1</c:f>
              <c:strCache>
                <c:ptCount val="1"/>
                <c:pt idx="0">
                  <c:v>销售额</c:v>
                </c:pt>
              </c:strCache>
            </c:strRef>
          </c:tx>
          <c:spPr>
            <a:ln>
              <a:noFill/>
            </a:ln>
          </c:spPr>
          <c:dPt>
            <c:idx val="0"/>
            <c:bubble3D val="0"/>
            <c:spPr>
              <a:solidFill>
                <a:schemeClr val="accent2">
                  <a:shade val="58000"/>
                </a:schemeClr>
              </a:solidFill>
              <a:ln w="19050">
                <a:noFill/>
              </a:ln>
              <a:effectLst/>
            </c:spPr>
            <c:extLst>
              <c:ext xmlns:c16="http://schemas.microsoft.com/office/drawing/2014/chart" uri="{C3380CC4-5D6E-409C-BE32-E72D297353CC}">
                <c16:uniqueId val="{00000001-CCF3-455C-9B4F-913558BEDC29}"/>
              </c:ext>
            </c:extLst>
          </c:dPt>
          <c:dPt>
            <c:idx val="1"/>
            <c:bubble3D val="0"/>
            <c:spPr>
              <a:solidFill>
                <a:schemeClr val="accent2">
                  <a:shade val="86000"/>
                </a:schemeClr>
              </a:solidFill>
              <a:ln w="19050">
                <a:noFill/>
              </a:ln>
              <a:effectLst/>
            </c:spPr>
            <c:extLst>
              <c:ext xmlns:c16="http://schemas.microsoft.com/office/drawing/2014/chart" uri="{C3380CC4-5D6E-409C-BE32-E72D297353CC}">
                <c16:uniqueId val="{00000003-CCF3-455C-9B4F-913558BEDC29}"/>
              </c:ext>
            </c:extLst>
          </c:dPt>
          <c:dPt>
            <c:idx val="2"/>
            <c:bubble3D val="0"/>
            <c:spPr>
              <a:solidFill>
                <a:schemeClr val="accent2">
                  <a:tint val="86000"/>
                </a:schemeClr>
              </a:solidFill>
              <a:ln w="19050">
                <a:noFill/>
              </a:ln>
              <a:effectLst/>
            </c:spPr>
            <c:extLst>
              <c:ext xmlns:c16="http://schemas.microsoft.com/office/drawing/2014/chart" uri="{C3380CC4-5D6E-409C-BE32-E72D297353CC}">
                <c16:uniqueId val="{00000005-CCF3-455C-9B4F-913558BEDC29}"/>
              </c:ext>
            </c:extLst>
          </c:dPt>
          <c:dPt>
            <c:idx val="3"/>
            <c:bubble3D val="0"/>
            <c:spPr>
              <a:solidFill>
                <a:schemeClr val="accent2">
                  <a:tint val="58000"/>
                </a:schemeClr>
              </a:solidFill>
              <a:ln w="19050">
                <a:noFill/>
              </a:ln>
              <a:effectLst/>
            </c:spPr>
            <c:extLst>
              <c:ext xmlns:c16="http://schemas.microsoft.com/office/drawing/2014/chart" uri="{C3380CC4-5D6E-409C-BE32-E72D297353CC}">
                <c16:uniqueId val="{00000007-CCF3-455C-9B4F-913558BEDC29}"/>
              </c:ext>
            </c:extLst>
          </c:dPt>
          <c:cat>
            <c:strRef>
              <c:f>工作表1!$A$2:$A$5</c:f>
              <c:strCache>
                <c:ptCount val="4"/>
                <c:pt idx="0">
                  <c:v>第一季度</c:v>
                </c:pt>
                <c:pt idx="1">
                  <c:v>第二季度</c:v>
                </c:pt>
                <c:pt idx="2">
                  <c:v>第三季度</c:v>
                </c:pt>
                <c:pt idx="3">
                  <c:v>第四季度</c:v>
                </c:pt>
              </c:strCache>
            </c:strRef>
          </c:cat>
          <c:val>
            <c:numRef>
              <c:f>工作表1!$B$2:$B$5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CCF3-455C-9B4F-913558BEDC29}"/>
            </c:ext>
          </c:extLst>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工作表1!$B$1</c:f>
              <c:strCache>
                <c:ptCount val="1"/>
                <c:pt idx="0">
                  <c:v>销售额</c:v>
                </c:pt>
              </c:strCache>
            </c:strRef>
          </c:tx>
          <c:spPr>
            <a:ln>
              <a:noFill/>
            </a:ln>
          </c:spPr>
          <c:dPt>
            <c:idx val="0"/>
            <c:bubble3D val="0"/>
            <c:spPr>
              <a:solidFill>
                <a:schemeClr val="accent3">
                  <a:shade val="58000"/>
                </a:schemeClr>
              </a:solidFill>
              <a:ln w="19050">
                <a:noFill/>
              </a:ln>
              <a:effectLst/>
            </c:spPr>
            <c:extLst>
              <c:ext xmlns:c16="http://schemas.microsoft.com/office/drawing/2014/chart" uri="{C3380CC4-5D6E-409C-BE32-E72D297353CC}">
                <c16:uniqueId val="{00000001-534B-4C3E-A829-46F17088F062}"/>
              </c:ext>
            </c:extLst>
          </c:dPt>
          <c:dPt>
            <c:idx val="1"/>
            <c:bubble3D val="0"/>
            <c:spPr>
              <a:solidFill>
                <a:schemeClr val="accent3">
                  <a:shade val="86000"/>
                </a:schemeClr>
              </a:solidFill>
              <a:ln w="19050">
                <a:noFill/>
              </a:ln>
              <a:effectLst/>
            </c:spPr>
            <c:extLst>
              <c:ext xmlns:c16="http://schemas.microsoft.com/office/drawing/2014/chart" uri="{C3380CC4-5D6E-409C-BE32-E72D297353CC}">
                <c16:uniqueId val="{00000003-534B-4C3E-A829-46F17088F062}"/>
              </c:ext>
            </c:extLst>
          </c:dPt>
          <c:dPt>
            <c:idx val="2"/>
            <c:bubble3D val="0"/>
            <c:spPr>
              <a:solidFill>
                <a:schemeClr val="accent3">
                  <a:tint val="86000"/>
                </a:schemeClr>
              </a:solidFill>
              <a:ln w="19050">
                <a:noFill/>
              </a:ln>
              <a:effectLst/>
            </c:spPr>
            <c:extLst>
              <c:ext xmlns:c16="http://schemas.microsoft.com/office/drawing/2014/chart" uri="{C3380CC4-5D6E-409C-BE32-E72D297353CC}">
                <c16:uniqueId val="{00000005-534B-4C3E-A829-46F17088F062}"/>
              </c:ext>
            </c:extLst>
          </c:dPt>
          <c:dPt>
            <c:idx val="3"/>
            <c:bubble3D val="0"/>
            <c:spPr>
              <a:solidFill>
                <a:schemeClr val="accent3">
                  <a:tint val="58000"/>
                </a:schemeClr>
              </a:solidFill>
              <a:ln w="19050">
                <a:noFill/>
              </a:ln>
              <a:effectLst/>
            </c:spPr>
            <c:extLst>
              <c:ext xmlns:c16="http://schemas.microsoft.com/office/drawing/2014/chart" uri="{C3380CC4-5D6E-409C-BE32-E72D297353CC}">
                <c16:uniqueId val="{00000007-534B-4C3E-A829-46F17088F062}"/>
              </c:ext>
            </c:extLst>
          </c:dPt>
          <c:cat>
            <c:strRef>
              <c:f>工作表1!$A$2:$A$5</c:f>
              <c:strCache>
                <c:ptCount val="4"/>
                <c:pt idx="0">
                  <c:v>第一季度</c:v>
                </c:pt>
                <c:pt idx="1">
                  <c:v>第二季度</c:v>
                </c:pt>
                <c:pt idx="2">
                  <c:v>第三季度</c:v>
                </c:pt>
                <c:pt idx="3">
                  <c:v>第四季度</c:v>
                </c:pt>
              </c:strCache>
            </c:strRef>
          </c:cat>
          <c:val>
            <c:numRef>
              <c:f>工作表1!$B$2:$B$5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534B-4C3E-A829-46F17088F062}"/>
            </c:ext>
          </c:extLst>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480629-8230-4F50-8967-290A060248F6}" type="datetimeFigureOut">
              <a:rPr lang="zh-CN" altLang="en-US" smtClean="0"/>
              <a:t>2020/6/29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F5B1EC-455B-4FF3-9907-EDF8677B10B1}" type="slidenum">
              <a:rPr lang="zh-CN" altLang="en-US" smtClean="0"/>
              <a:t>‹#›</a:t>
            </a:fld>
            <a:endParaRPr lang="zh-CN" altLang="en-US"/>
          </a:p>
        </p:txBody>
      </p:sp>
    </p:spTree>
    <p:extLst>
      <p:ext uri="{BB962C8B-B14F-4D97-AF65-F5344CB8AC3E}">
        <p14:creationId xmlns:p14="http://schemas.microsoft.com/office/powerpoint/2010/main" val="3475685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不同于其他工程，软件工程的产品是程序，而不是有形的物质产品。强调规范化，开发人员必需遵守相同的约束规范，才能保证共同开发的软件系统能准确无误地工作。强调文档化，一个复杂的软件想要让其他人员读懂，除程序代码外，还应有完备的设计文档。沟通。</a:t>
            </a:r>
            <a:endParaRPr lang="en-US" altLang="zh-CN" dirty="0" smtClean="0"/>
          </a:p>
          <a:p>
            <a:r>
              <a:rPr lang="zh-CN" altLang="en-US" dirty="0" smtClean="0"/>
              <a:t>学术界，企业界在软件工程，技术和工具方面投入了大量的人力，物力和财力，希望找到一种提高软件质量的有效方法，于是就诞生了</a:t>
            </a:r>
            <a:r>
              <a:rPr lang="en-US" altLang="zh-CN" dirty="0" smtClean="0"/>
              <a:t>CMM</a:t>
            </a:r>
            <a:r>
              <a:rPr lang="zh-CN" altLang="en-US" dirty="0" smtClean="0"/>
              <a:t>。</a:t>
            </a:r>
            <a:endParaRPr lang="en-US" altLang="zh-CN" dirty="0" smtClean="0"/>
          </a:p>
          <a:p>
            <a:r>
              <a:rPr lang="en-US" altLang="zh-CN" dirty="0" smtClean="0"/>
              <a:t>SEI:</a:t>
            </a:r>
            <a:r>
              <a:rPr lang="zh-CN" altLang="en-US" sz="1200" b="0" i="0" kern="1200" dirty="0" smtClean="0">
                <a:solidFill>
                  <a:schemeClr val="tx1"/>
                </a:solidFill>
                <a:effectLst/>
                <a:latin typeface="+mn-lt"/>
                <a:ea typeface="+mn-ea"/>
                <a:cs typeface="+mn-cs"/>
              </a:rPr>
              <a:t>软件工程研究所</a:t>
            </a:r>
            <a:endParaRPr lang="en-US" altLang="zh-CN" dirty="0" smtClean="0"/>
          </a:p>
        </p:txBody>
      </p:sp>
      <p:sp>
        <p:nvSpPr>
          <p:cNvPr id="4" name="灯片编号占位符 3"/>
          <p:cNvSpPr>
            <a:spLocks noGrp="1"/>
          </p:cNvSpPr>
          <p:nvPr>
            <p:ph type="sldNum" sz="quarter" idx="10"/>
          </p:nvPr>
        </p:nvSpPr>
        <p:spPr/>
        <p:txBody>
          <a:bodyPr/>
          <a:lstStyle/>
          <a:p>
            <a:fld id="{04F5B1EC-455B-4FF3-9907-EDF8677B10B1}" type="slidenum">
              <a:rPr lang="zh-CN" altLang="en-US" smtClean="0"/>
              <a:t>3</a:t>
            </a:fld>
            <a:endParaRPr lang="zh-CN" altLang="en-US"/>
          </a:p>
        </p:txBody>
      </p:sp>
    </p:spTree>
    <p:extLst>
      <p:ext uri="{BB962C8B-B14F-4D97-AF65-F5344CB8AC3E}">
        <p14:creationId xmlns:p14="http://schemas.microsoft.com/office/powerpoint/2010/main" val="688398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4</a:t>
            </a:fld>
            <a:endParaRPr lang="zh-CN" altLang="en-US"/>
          </a:p>
        </p:txBody>
      </p:sp>
    </p:spTree>
    <p:extLst>
      <p:ext uri="{BB962C8B-B14F-4D97-AF65-F5344CB8AC3E}">
        <p14:creationId xmlns:p14="http://schemas.microsoft.com/office/powerpoint/2010/main" val="658502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6</a:t>
            </a:fld>
            <a:endParaRPr lang="zh-CN" altLang="en-US"/>
          </a:p>
        </p:txBody>
      </p:sp>
    </p:spTree>
    <p:extLst>
      <p:ext uri="{BB962C8B-B14F-4D97-AF65-F5344CB8AC3E}">
        <p14:creationId xmlns:p14="http://schemas.microsoft.com/office/powerpoint/2010/main" val="3378836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整个软件过程形状如同一团黑云，对管理人员或用户而言，只能看到项目的要求和结果，要想了解某个具体项目的进度状况或指定计划都是非常困难的。</a:t>
            </a:r>
            <a:endParaRPr lang="en-US" altLang="zh-CN" dirty="0" smtClean="0"/>
          </a:p>
          <a:p>
            <a:r>
              <a:rPr lang="zh-CN" altLang="en-US" dirty="0" smtClean="0"/>
              <a:t>初始级的软件过程是未加定义的随机过程</a:t>
            </a:r>
            <a:endParaRPr lang="zh-CN" altLang="en-US" dirty="0"/>
          </a:p>
        </p:txBody>
      </p:sp>
      <p:sp>
        <p:nvSpPr>
          <p:cNvPr id="4" name="灯片编号占位符 3"/>
          <p:cNvSpPr>
            <a:spLocks noGrp="1"/>
          </p:cNvSpPr>
          <p:nvPr>
            <p:ph type="sldNum" sz="quarter" idx="10"/>
          </p:nvPr>
        </p:nvSpPr>
        <p:spPr/>
        <p:txBody>
          <a:bodyPr/>
          <a:lstStyle/>
          <a:p>
            <a:fld id="{04F5B1EC-455B-4FF3-9907-EDF8677B10B1}" type="slidenum">
              <a:rPr lang="zh-CN" altLang="en-US" smtClean="0"/>
              <a:t>28</a:t>
            </a:fld>
            <a:endParaRPr lang="zh-CN" altLang="en-US"/>
          </a:p>
        </p:txBody>
      </p:sp>
    </p:spTree>
    <p:extLst>
      <p:ext uri="{BB962C8B-B14F-4D97-AF65-F5344CB8AC3E}">
        <p14:creationId xmlns:p14="http://schemas.microsoft.com/office/powerpoint/2010/main" val="1923041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过渡到可重复级软件过程的可视性有所好转，开发过程分阶段进行，用一系列的黑盒子表示，用户的需求和工作产品在一定程度上可以控制，管理人员在过程的关键点上对产品和过程进行检查，用户也可以通过关键点的情况了解项目的进展</a:t>
            </a:r>
            <a:endParaRPr lang="en-US" altLang="zh-CN" dirty="0" smtClean="0"/>
          </a:p>
          <a:p>
            <a:r>
              <a:rPr lang="zh-CN" altLang="en-US" dirty="0" smtClean="0"/>
              <a:t>软件过程能力可总结为：规则化的。因为计划，跟踪软件过程的活动都算平稳的，过去的成功可以再次出现。</a:t>
            </a:r>
            <a:endParaRPr lang="zh-CN" altLang="en-US" dirty="0"/>
          </a:p>
        </p:txBody>
      </p:sp>
      <p:sp>
        <p:nvSpPr>
          <p:cNvPr id="4" name="灯片编号占位符 3"/>
          <p:cNvSpPr>
            <a:spLocks noGrp="1"/>
          </p:cNvSpPr>
          <p:nvPr>
            <p:ph type="sldNum" sz="quarter" idx="10"/>
          </p:nvPr>
        </p:nvSpPr>
        <p:spPr/>
        <p:txBody>
          <a:bodyPr/>
          <a:lstStyle/>
          <a:p>
            <a:fld id="{04F5B1EC-455B-4FF3-9907-EDF8677B10B1}" type="slidenum">
              <a:rPr lang="zh-CN" altLang="en-US" smtClean="0"/>
              <a:t>29</a:t>
            </a:fld>
            <a:endParaRPr lang="zh-CN" altLang="en-US"/>
          </a:p>
        </p:txBody>
      </p:sp>
    </p:spTree>
    <p:extLst>
      <p:ext uri="{BB962C8B-B14F-4D97-AF65-F5344CB8AC3E}">
        <p14:creationId xmlns:p14="http://schemas.microsoft.com/office/powerpoint/2010/main" val="1714649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发展到已定义级后，黑盒内部的</a:t>
            </a:r>
            <a:r>
              <a:rPr lang="zh-CN" altLang="en-US" b="1" dirty="0" smtClean="0"/>
              <a:t>结构</a:t>
            </a:r>
            <a:r>
              <a:rPr lang="zh-CN" altLang="en-US" dirty="0" smtClean="0"/>
              <a:t>逐步显示出来，组织拥有标准软件过程并用于软件项目中。管理人员可以对各种软件开发进行</a:t>
            </a:r>
            <a:r>
              <a:rPr lang="zh-CN" altLang="en-US" b="1" dirty="0" smtClean="0"/>
              <a:t>交互活动</a:t>
            </a:r>
            <a:r>
              <a:rPr lang="zh-CN" altLang="en-US" dirty="0" smtClean="0"/>
              <a:t>，并能</a:t>
            </a:r>
            <a:r>
              <a:rPr lang="zh-CN" altLang="en-US" b="1" dirty="0" smtClean="0"/>
              <a:t>预见可能发生的风险</a:t>
            </a:r>
            <a:r>
              <a:rPr lang="zh-CN" altLang="en-US" dirty="0" smtClean="0"/>
              <a:t>，为此做一定准备。用户也能得到较为准确而快速的情况报告。</a:t>
            </a:r>
            <a:endParaRPr lang="en-US" altLang="zh-CN" dirty="0" smtClean="0"/>
          </a:p>
          <a:p>
            <a:r>
              <a:rPr lang="zh-CN" altLang="en-US" dirty="0" smtClean="0"/>
              <a:t>软件过程能力可总结为标准的，一致的。因为不论是软件工程，还是管理行为都是平稳的，可重复的。</a:t>
            </a:r>
            <a:endParaRPr lang="zh-CN" altLang="en-US" dirty="0"/>
          </a:p>
        </p:txBody>
      </p:sp>
      <p:sp>
        <p:nvSpPr>
          <p:cNvPr id="4" name="灯片编号占位符 3"/>
          <p:cNvSpPr>
            <a:spLocks noGrp="1"/>
          </p:cNvSpPr>
          <p:nvPr>
            <p:ph type="sldNum" sz="quarter" idx="10"/>
          </p:nvPr>
        </p:nvSpPr>
        <p:spPr/>
        <p:txBody>
          <a:bodyPr/>
          <a:lstStyle/>
          <a:p>
            <a:fld id="{04F5B1EC-455B-4FF3-9907-EDF8677B10B1}" type="slidenum">
              <a:rPr lang="zh-CN" altLang="en-US" smtClean="0"/>
              <a:t>30</a:t>
            </a:fld>
            <a:endParaRPr lang="zh-CN" altLang="en-US"/>
          </a:p>
        </p:txBody>
      </p:sp>
    </p:spTree>
    <p:extLst>
      <p:ext uri="{BB962C8B-B14F-4D97-AF65-F5344CB8AC3E}">
        <p14:creationId xmlns:p14="http://schemas.microsoft.com/office/powerpoint/2010/main" val="2789597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A.k.a. </a:t>
            </a:r>
            <a:r>
              <a:rPr lang="zh-CN" altLang="en-US" dirty="0" smtClean="0"/>
              <a:t>定量管理级</a:t>
            </a:r>
            <a:endParaRPr lang="en-US" altLang="zh-CN" dirty="0" smtClean="0"/>
          </a:p>
          <a:p>
            <a:r>
              <a:rPr lang="zh-CN" altLang="en-US" dirty="0" smtClean="0"/>
              <a:t>管理者可以根据客观的度量，预见过程中的经费支出和其他情况，定量地，有目标地做出决定，用户也能定量地理解过程的能力及存在的风险。整个软件过程可以定量地指导和控制。</a:t>
            </a:r>
            <a:endParaRPr lang="en-US" altLang="zh-CN" dirty="0" smtClean="0"/>
          </a:p>
          <a:p>
            <a:r>
              <a:rPr lang="zh-CN" altLang="en-US" dirty="0" smtClean="0"/>
              <a:t>软件过程能力可总结为可预测的，因为过程是稳定，可评价的，执行过程的活动也是在可评价的限度之内的。一旦质量经度量后超出限定的标准，就可以采取适当的措施去修正，可想而知，软件产品是高质量的。</a:t>
            </a:r>
            <a:endParaRPr lang="zh-CN" altLang="en-US" dirty="0"/>
          </a:p>
        </p:txBody>
      </p:sp>
      <p:sp>
        <p:nvSpPr>
          <p:cNvPr id="4" name="灯片编号占位符 3"/>
          <p:cNvSpPr>
            <a:spLocks noGrp="1"/>
          </p:cNvSpPr>
          <p:nvPr>
            <p:ph type="sldNum" sz="quarter" idx="10"/>
          </p:nvPr>
        </p:nvSpPr>
        <p:spPr/>
        <p:txBody>
          <a:bodyPr/>
          <a:lstStyle/>
          <a:p>
            <a:fld id="{04F5B1EC-455B-4FF3-9907-EDF8677B10B1}" type="slidenum">
              <a:rPr lang="zh-CN" altLang="en-US" smtClean="0"/>
              <a:t>31</a:t>
            </a:fld>
            <a:endParaRPr lang="zh-CN" altLang="en-US"/>
          </a:p>
        </p:txBody>
      </p:sp>
    </p:spTree>
    <p:extLst>
      <p:ext uri="{BB962C8B-B14F-4D97-AF65-F5344CB8AC3E}">
        <p14:creationId xmlns:p14="http://schemas.microsoft.com/office/powerpoint/2010/main" val="772778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优化级中，人们可以很清楚地看到软件过程的内部结构。为提高生产率和质量，组织上已经形成了有效的系统的改进方法，并且制度化。管理人员有能力来估计定量跟踪变化的影响和效果，用户和开发组织合作关系良好。</a:t>
            </a:r>
            <a:endParaRPr lang="en-US" altLang="zh-CN" dirty="0" smtClean="0"/>
          </a:p>
          <a:p>
            <a:r>
              <a:rPr lang="zh-CN" altLang="en-US" dirty="0" smtClean="0"/>
              <a:t>软件过程能力可总结为：不断地改进。因为第</a:t>
            </a:r>
            <a:r>
              <a:rPr lang="en-US" altLang="zh-CN" dirty="0" smtClean="0"/>
              <a:t>5</a:t>
            </a:r>
            <a:r>
              <a:rPr lang="zh-CN" altLang="en-US" dirty="0" smtClean="0"/>
              <a:t>级</a:t>
            </a:r>
            <a:r>
              <a:rPr lang="zh-CN" altLang="en-US" sz="1200" b="0" i="0" kern="1200" dirty="0" smtClean="0">
                <a:solidFill>
                  <a:schemeClr val="tx1"/>
                </a:solidFill>
                <a:effectLst/>
                <a:latin typeface="+mn-lt"/>
                <a:ea typeface="+mn-ea"/>
                <a:cs typeface="+mn-cs"/>
              </a:rPr>
              <a:t>整个组织集中精力进行不断的过程改进</a:t>
            </a:r>
            <a:r>
              <a:rPr lang="zh-CN" altLang="en-US" dirty="0" smtClean="0"/>
              <a:t>，从而改善其项目的过程性能。提高工作不仅要对现有的过程不断改进，还要改革，引进新技术，新方法</a:t>
            </a:r>
            <a:r>
              <a:rPr lang="zh-CN" altLang="en-US" sz="1200" b="0" i="0" kern="1200" dirty="0" smtClean="0">
                <a:solidFill>
                  <a:schemeClr val="tx1"/>
                </a:solidFill>
                <a:effectLst/>
                <a:latin typeface="+mn-lt"/>
                <a:ea typeface="+mn-ea"/>
                <a:cs typeface="+mn-cs"/>
              </a:rPr>
              <a:t>。</a:t>
            </a:r>
            <a:r>
              <a:rPr lang="zh-CN" altLang="en-US" dirty="0" smtClean="0"/>
              <a:t> </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fld id="{04F5B1EC-455B-4FF3-9907-EDF8677B10B1}" type="slidenum">
              <a:rPr lang="zh-CN" altLang="en-US" smtClean="0"/>
              <a:t>32</a:t>
            </a:fld>
            <a:endParaRPr lang="zh-CN" altLang="en-US"/>
          </a:p>
        </p:txBody>
      </p:sp>
    </p:spTree>
    <p:extLst>
      <p:ext uri="{BB962C8B-B14F-4D97-AF65-F5344CB8AC3E}">
        <p14:creationId xmlns:p14="http://schemas.microsoft.com/office/powerpoint/2010/main" val="1081652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33</a:t>
            </a:fld>
            <a:endParaRPr lang="zh-CN" altLang="en-US"/>
          </a:p>
        </p:txBody>
      </p:sp>
    </p:spTree>
    <p:extLst>
      <p:ext uri="{BB962C8B-B14F-4D97-AF65-F5344CB8AC3E}">
        <p14:creationId xmlns:p14="http://schemas.microsoft.com/office/powerpoint/2010/main" val="3311683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34</a:t>
            </a:fld>
            <a:endParaRPr lang="zh-CN" altLang="en-US"/>
          </a:p>
        </p:txBody>
      </p:sp>
    </p:spTree>
    <p:extLst>
      <p:ext uri="{BB962C8B-B14F-4D97-AF65-F5344CB8AC3E}">
        <p14:creationId xmlns:p14="http://schemas.microsoft.com/office/powerpoint/2010/main" val="4260163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不同于其他工程，软件工程的产品是程序，而不是有形的物质产品。强调规范化，开发人员必需遵守相同的约束规范，才能保证共同开发的软件系统能准确无误地工作。强调文档化，一个复杂的软件想要让其他人员读懂，除程序代码外，还应有完备的设计文档。沟通。</a:t>
            </a:r>
            <a:endParaRPr lang="en-US" altLang="zh-CN" dirty="0" smtClean="0"/>
          </a:p>
        </p:txBody>
      </p:sp>
      <p:sp>
        <p:nvSpPr>
          <p:cNvPr id="4" name="灯片编号占位符 3"/>
          <p:cNvSpPr>
            <a:spLocks noGrp="1"/>
          </p:cNvSpPr>
          <p:nvPr>
            <p:ph type="sldNum" sz="quarter" idx="10"/>
          </p:nvPr>
        </p:nvSpPr>
        <p:spPr/>
        <p:txBody>
          <a:bodyPr/>
          <a:lstStyle/>
          <a:p>
            <a:fld id="{04F5B1EC-455B-4FF3-9907-EDF8677B10B1}" type="slidenum">
              <a:rPr lang="zh-CN" altLang="en-US" smtClean="0"/>
              <a:t>35</a:t>
            </a:fld>
            <a:endParaRPr lang="zh-CN" altLang="en-US"/>
          </a:p>
        </p:txBody>
      </p:sp>
    </p:spTree>
    <p:extLst>
      <p:ext uri="{BB962C8B-B14F-4D97-AF65-F5344CB8AC3E}">
        <p14:creationId xmlns:p14="http://schemas.microsoft.com/office/powerpoint/2010/main" val="4288530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olidFill>
                  <a:srgbClr val="333333"/>
                </a:solidFill>
                <a:latin typeface="宋体" panose="02010600030101010101" pitchFamily="2" charset="-122"/>
                <a:ea typeface="宋体" panose="02010600030101010101" pitchFamily="2" charset="-122"/>
              </a:rPr>
              <a:t>根据</a:t>
            </a:r>
            <a:r>
              <a:rPr lang="en-US" altLang="zh-CN" dirty="0" smtClean="0">
                <a:solidFill>
                  <a:srgbClr val="333333"/>
                </a:solidFill>
                <a:latin typeface="宋体" panose="02010600030101010101" pitchFamily="2" charset="-122"/>
                <a:ea typeface="宋体" panose="02010600030101010101" pitchFamily="2" charset="-122"/>
              </a:rPr>
              <a:t>CMM</a:t>
            </a:r>
            <a:r>
              <a:rPr lang="zh-CN" altLang="en-US" dirty="0" smtClean="0">
                <a:solidFill>
                  <a:srgbClr val="333333"/>
                </a:solidFill>
                <a:latin typeface="宋体" panose="02010600030101010101" pitchFamily="2" charset="-122"/>
                <a:ea typeface="宋体" panose="02010600030101010101" pitchFamily="2" charset="-122"/>
              </a:rPr>
              <a:t>模型的思想，软件产品的质量是靠人才、技术、软件研发过程</a:t>
            </a:r>
            <a:r>
              <a:rPr lang="en-US" altLang="zh-CN" dirty="0" smtClean="0">
                <a:solidFill>
                  <a:srgbClr val="333333"/>
                </a:solidFill>
                <a:latin typeface="宋体" panose="02010600030101010101" pitchFamily="2" charset="-122"/>
                <a:ea typeface="宋体" panose="02010600030101010101" pitchFamily="2" charset="-122"/>
              </a:rPr>
              <a:t>3</a:t>
            </a:r>
            <a:r>
              <a:rPr lang="zh-CN" altLang="en-US" dirty="0" smtClean="0">
                <a:solidFill>
                  <a:srgbClr val="333333"/>
                </a:solidFill>
                <a:latin typeface="宋体" panose="02010600030101010101" pitchFamily="2" charset="-122"/>
                <a:ea typeface="宋体" panose="02010600030101010101" pitchFamily="2" charset="-122"/>
              </a:rPr>
              <a:t>个方面共同保障的，其中人才和技术对中国的软件企业来讲往往不是什么大问题，而短板恰恰总是出现在软件研发过程上。因此优化软件过程，提高管理能力，是每个软件企业需要认识到的。</a:t>
            </a:r>
            <a:endParaRPr lang="en-US" altLang="zh-CN" dirty="0" smtClean="0">
              <a:solidFill>
                <a:srgbClr val="333333"/>
              </a:solidFill>
              <a:latin typeface="宋体" panose="02010600030101010101" pitchFamily="2" charset="-122"/>
              <a:ea typeface="宋体" panose="02010600030101010101" pitchFamily="2" charset="-122"/>
            </a:endParaRPr>
          </a:p>
          <a:p>
            <a:r>
              <a:rPr lang="en-US" altLang="zh-CN" sz="1200" b="0" i="0" kern="1200" dirty="0" smtClean="0">
                <a:solidFill>
                  <a:schemeClr val="tx1"/>
                </a:solidFill>
                <a:effectLst/>
                <a:latin typeface="+mn-lt"/>
                <a:ea typeface="+mn-ea"/>
                <a:cs typeface="+mn-cs"/>
              </a:rPr>
              <a:t>CMM</a:t>
            </a:r>
            <a:r>
              <a:rPr lang="zh-CN" altLang="en-US" sz="1200" b="0" i="0" kern="1200" dirty="0" smtClean="0">
                <a:solidFill>
                  <a:schemeClr val="tx1"/>
                </a:solidFill>
                <a:effectLst/>
                <a:latin typeface="+mn-lt"/>
                <a:ea typeface="+mn-ea"/>
                <a:cs typeface="+mn-cs"/>
              </a:rPr>
              <a:t>对于研发人员来说，其好处在于增加了一套有效的纪律，</a:t>
            </a:r>
            <a:r>
              <a:rPr lang="en-US" altLang="zh-CN" sz="1200" b="0" i="0" kern="1200" dirty="0" smtClean="0">
                <a:solidFill>
                  <a:schemeClr val="tx1"/>
                </a:solidFill>
                <a:effectLst/>
                <a:latin typeface="+mn-lt"/>
                <a:ea typeface="+mn-ea"/>
                <a:cs typeface="+mn-cs"/>
              </a:rPr>
              <a:t>CMM</a:t>
            </a:r>
            <a:r>
              <a:rPr lang="zh-CN" altLang="en-US" sz="1200" b="0" i="0" kern="1200" dirty="0" smtClean="0">
                <a:solidFill>
                  <a:schemeClr val="tx1"/>
                </a:solidFill>
                <a:effectLst/>
                <a:latin typeface="+mn-lt"/>
                <a:ea typeface="+mn-ea"/>
                <a:cs typeface="+mn-cs"/>
              </a:rPr>
              <a:t>可以规范开发测试人员一连串的行为来保证质量。另外，在这样的体系下运行，也能把错误找出来，使其产品质量有相当的保证，从而为个人带来效率。</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过去中国消费者对质量要求确实比较低，所以中国软件企业生存还不成问题，不需要对质量那么重视，但如今不管哪一个行业，竞争都会越来越激烈，用户对质量的要求也会越来越高。</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美国与中国企业的不同之处在于企业规范上。美国是制度高于个人，企业从第一把手到员工必须遵守公司的制度。中国企业里比较容易出现人高于制度的现象。美国比较强调团队精神，而中国的企业比较偏重个人的感觉。因此在进行合作时由于文化的不同，也需要不同的沟通方式才能取得团队的更好协调。</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最关键的是，通过关键项目让开发人员了解怎么去用，让开发人员去体会采用这些步骤得到什么好处。只有真实的感受，才愿意把</a:t>
            </a:r>
            <a:r>
              <a:rPr lang="en-US" altLang="zh-CN" sz="1200" b="0" i="0" kern="1200" dirty="0" smtClean="0">
                <a:solidFill>
                  <a:schemeClr val="tx1"/>
                </a:solidFill>
                <a:effectLst/>
                <a:latin typeface="+mn-lt"/>
                <a:ea typeface="+mn-ea"/>
                <a:cs typeface="+mn-cs"/>
              </a:rPr>
              <a:t>CMM </a:t>
            </a:r>
            <a:r>
              <a:rPr lang="zh-CN" altLang="en-US" sz="1200" b="0" i="0" kern="1200" dirty="0" smtClean="0">
                <a:solidFill>
                  <a:schemeClr val="tx1"/>
                </a:solidFill>
                <a:effectLst/>
                <a:latin typeface="+mn-lt"/>
                <a:ea typeface="+mn-ea"/>
                <a:cs typeface="+mn-cs"/>
              </a:rPr>
              <a:t>变成纪律，盲目地把</a:t>
            </a:r>
            <a:r>
              <a:rPr lang="en-US" altLang="zh-CN" sz="1200" b="0" i="0" kern="1200" dirty="0" smtClean="0">
                <a:solidFill>
                  <a:schemeClr val="tx1"/>
                </a:solidFill>
                <a:effectLst/>
                <a:latin typeface="+mn-lt"/>
                <a:ea typeface="+mn-ea"/>
                <a:cs typeface="+mn-cs"/>
              </a:rPr>
              <a:t>CMM</a:t>
            </a:r>
            <a:r>
              <a:rPr lang="zh-CN" altLang="en-US" sz="1200" b="0" i="0" kern="1200" dirty="0" smtClean="0">
                <a:solidFill>
                  <a:schemeClr val="tx1"/>
                </a:solidFill>
                <a:effectLst/>
                <a:latin typeface="+mn-lt"/>
                <a:ea typeface="+mn-ea"/>
                <a:cs typeface="+mn-cs"/>
              </a:rPr>
              <a:t>抄搬过来，把它摆在那儿，有文档，却没有人去看，没有人去用，是没有意义的</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4F5B1EC-455B-4FF3-9907-EDF8677B10B1}" type="slidenum">
              <a:rPr lang="zh-CN" altLang="en-US" smtClean="0"/>
              <a:t>36</a:t>
            </a:fld>
            <a:endParaRPr lang="zh-CN" altLang="en-US"/>
          </a:p>
        </p:txBody>
      </p:sp>
    </p:spTree>
    <p:extLst>
      <p:ext uri="{BB962C8B-B14F-4D97-AF65-F5344CB8AC3E}">
        <p14:creationId xmlns:p14="http://schemas.microsoft.com/office/powerpoint/2010/main" val="2714626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37</a:t>
            </a:fld>
            <a:endParaRPr lang="zh-CN" altLang="en-US"/>
          </a:p>
        </p:txBody>
      </p:sp>
    </p:spTree>
    <p:extLst>
      <p:ext uri="{BB962C8B-B14F-4D97-AF65-F5344CB8AC3E}">
        <p14:creationId xmlns:p14="http://schemas.microsoft.com/office/powerpoint/2010/main" val="3399030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38</a:t>
            </a:fld>
            <a:endParaRPr lang="zh-CN" altLang="en-US"/>
          </a:p>
        </p:txBody>
      </p:sp>
    </p:spTree>
    <p:extLst>
      <p:ext uri="{BB962C8B-B14F-4D97-AF65-F5344CB8AC3E}">
        <p14:creationId xmlns:p14="http://schemas.microsoft.com/office/powerpoint/2010/main" val="785437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39</a:t>
            </a:fld>
            <a:endParaRPr lang="zh-CN" altLang="en-US"/>
          </a:p>
        </p:txBody>
      </p:sp>
    </p:spTree>
    <p:extLst>
      <p:ext uri="{BB962C8B-B14F-4D97-AF65-F5344CB8AC3E}">
        <p14:creationId xmlns:p14="http://schemas.microsoft.com/office/powerpoint/2010/main" val="2813276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officeplus.cn/Template/Home.shtml"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bg>
      <p:bgPr>
        <a:gradFill flip="none" rotWithShape="1">
          <a:gsLst>
            <a:gs pos="0">
              <a:schemeClr val="bg1"/>
            </a:gs>
            <a:gs pos="67000">
              <a:schemeClr val="bg1">
                <a:lumMod val="95000"/>
              </a:schemeClr>
            </a:gs>
            <a:gs pos="100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8" name="椭圆 17"/>
          <p:cNvSpPr/>
          <p:nvPr userDrawn="1"/>
        </p:nvSpPr>
        <p:spPr>
          <a:xfrm>
            <a:off x="849780" y="5172301"/>
            <a:ext cx="5150340" cy="515034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a:off x="-765628" y="4401373"/>
            <a:ext cx="3015427" cy="3015427"/>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a:off x="849780" y="3973882"/>
            <a:ext cx="1970009" cy="1970009"/>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a:off x="422289" y="3889828"/>
            <a:ext cx="854982" cy="854982"/>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a:off x="1564236" y="6339861"/>
            <a:ext cx="1076939" cy="107693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a:off x="2484890" y="6027944"/>
            <a:ext cx="334899" cy="334899"/>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a:off x="2465188" y="4744810"/>
            <a:ext cx="873483" cy="873483"/>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a:off x="7086881" y="-900967"/>
            <a:ext cx="2220844" cy="2220844"/>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a:off x="9454581" y="-549383"/>
            <a:ext cx="3407441" cy="3407441"/>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a:off x="8907429" y="-334768"/>
            <a:ext cx="1472991" cy="1472991"/>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a:off x="7061964" y="625398"/>
            <a:ext cx="1025650" cy="102565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a:off x="11418205" y="1911283"/>
            <a:ext cx="1590674" cy="159067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p:cNvSpPr/>
          <p:nvPr userDrawn="1"/>
        </p:nvSpPr>
        <p:spPr>
          <a:xfrm>
            <a:off x="6267191" y="1326869"/>
            <a:ext cx="453456" cy="45345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11664471" y="3298513"/>
            <a:ext cx="732468" cy="732468"/>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10879229" y="3134662"/>
            <a:ext cx="346604" cy="346604"/>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占位符 19"/>
          <p:cNvSpPr>
            <a:spLocks noGrp="1"/>
          </p:cNvSpPr>
          <p:nvPr>
            <p:ph type="body" sz="quarter" idx="10" hasCustomPrompt="1"/>
          </p:nvPr>
        </p:nvSpPr>
        <p:spPr>
          <a:xfrm>
            <a:off x="3132306" y="2498576"/>
            <a:ext cx="5927388" cy="1357674"/>
          </a:xfrm>
          <a:prstGeom prst="rect">
            <a:avLst/>
          </a:prstGeom>
        </p:spPr>
        <p:txBody>
          <a:bodyPr anchor="t"/>
          <a:lstStyle>
            <a:lvl1pPr marL="0" indent="0" algn="ctr">
              <a:buNone/>
              <a:defRPr sz="4800" b="1"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1" hasCustomPrompt="1"/>
          </p:nvPr>
        </p:nvSpPr>
        <p:spPr>
          <a:xfrm>
            <a:off x="3132306" y="4578972"/>
            <a:ext cx="5927388" cy="339658"/>
          </a:xfrm>
          <a:prstGeom prst="rect">
            <a:avLst/>
          </a:prstGeom>
        </p:spPr>
        <p:txBody>
          <a:bodyPr anchor="t"/>
          <a:lstStyle>
            <a:lvl1pPr marL="0" indent="0" algn="ctr">
              <a:lnSpc>
                <a:spcPct val="130000"/>
              </a:lnSpc>
              <a:buNone/>
              <a:defRPr sz="12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2" name="椭圆 21"/>
          <p:cNvSpPr/>
          <p:nvPr userDrawn="1"/>
        </p:nvSpPr>
        <p:spPr>
          <a:xfrm>
            <a:off x="901493" y="3145269"/>
            <a:ext cx="468355" cy="46835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userDrawn="1"/>
        </p:nvSpPr>
        <p:spPr>
          <a:xfrm>
            <a:off x="480939" y="2631757"/>
            <a:ext cx="724235" cy="724235"/>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a:off x="10650826" y="2926583"/>
            <a:ext cx="226929" cy="22692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83053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5427411" y="-1921057"/>
            <a:ext cx="3192086"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865697" y="-275747"/>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4190298" y="-592061"/>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3813092" y="-217323"/>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989138" y="610281"/>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5466868" y="524062"/>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2654522" y="1149241"/>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5756216" y="1275190"/>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5301220" y="1351640"/>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5142815" y="1292266"/>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6595017" y="1097850"/>
            <a:ext cx="776274"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1046955" y="1043112"/>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8687528" y="147823"/>
            <a:ext cx="454772"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8291917" y="702130"/>
            <a:ext cx="568899"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8934864" y="466000"/>
            <a:ext cx="207436"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9258979" y="326538"/>
            <a:ext cx="168156"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521068" y="3546358"/>
            <a:ext cx="3138030" cy="732453"/>
          </a:xfrm>
          <a:prstGeom prst="rect">
            <a:avLst/>
          </a:prstGeom>
        </p:spPr>
        <p:txBody>
          <a:bodyPr anchor="t"/>
          <a:lstStyle>
            <a:lvl1pPr marL="0" indent="0" algn="l">
              <a:buNone/>
              <a:defRPr sz="48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6875388" y="2701840"/>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6875388" y="3742373"/>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2" name="文本占位符 19"/>
          <p:cNvSpPr>
            <a:spLocks noGrp="1"/>
          </p:cNvSpPr>
          <p:nvPr>
            <p:ph type="body" sz="quarter" idx="13" hasCustomPrompt="1"/>
          </p:nvPr>
        </p:nvSpPr>
        <p:spPr>
          <a:xfrm>
            <a:off x="6875388" y="4782906"/>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606491" y="6429042"/>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98887" y="5682735"/>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1049383" y="6574260"/>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2264562" y="6255404"/>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410114" y="5359791"/>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989615" y="6163309"/>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101718" y="5072159"/>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534476" y="5346636"/>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726986" y="5516493"/>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4381690" y="6508239"/>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187306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5427411" y="-1921057"/>
            <a:ext cx="3192086"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865697" y="-275747"/>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4190298" y="-592061"/>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3813092" y="-217323"/>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989138" y="610281"/>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5466868" y="524062"/>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2654522" y="1149241"/>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5756216" y="1275190"/>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5301220" y="1351640"/>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5142815" y="1292266"/>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6595017" y="1097850"/>
            <a:ext cx="776274"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1046955" y="1043112"/>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8687528" y="147823"/>
            <a:ext cx="454772"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8291917" y="702130"/>
            <a:ext cx="568899"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8934864" y="466000"/>
            <a:ext cx="207436"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9258979" y="326538"/>
            <a:ext cx="168156"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521068" y="3546358"/>
            <a:ext cx="3138030" cy="732453"/>
          </a:xfrm>
          <a:prstGeom prst="rect">
            <a:avLst/>
          </a:prstGeom>
        </p:spPr>
        <p:txBody>
          <a:bodyPr anchor="t"/>
          <a:lstStyle>
            <a:lvl1pPr marL="0" indent="0" algn="l">
              <a:buNone/>
              <a:defRPr sz="48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6875388" y="2701840"/>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6875388" y="3478175"/>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606491" y="6429042"/>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98887" y="5682735"/>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1049383" y="6574260"/>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2264562" y="6255404"/>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410114" y="5359791"/>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989615" y="6163309"/>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101718" y="5072159"/>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534476" y="5346636"/>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726986" y="5516493"/>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4381690" y="6508239"/>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占位符 19"/>
          <p:cNvSpPr>
            <a:spLocks noGrp="1"/>
          </p:cNvSpPr>
          <p:nvPr>
            <p:ph type="body" sz="quarter" idx="13" hasCustomPrompt="1"/>
          </p:nvPr>
        </p:nvSpPr>
        <p:spPr>
          <a:xfrm>
            <a:off x="6875388" y="4254510"/>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4" name="文本占位符 19"/>
          <p:cNvSpPr>
            <a:spLocks noGrp="1"/>
          </p:cNvSpPr>
          <p:nvPr>
            <p:ph type="body" sz="quarter" idx="14" hasCustomPrompt="1"/>
          </p:nvPr>
        </p:nvSpPr>
        <p:spPr>
          <a:xfrm>
            <a:off x="6875388" y="5030845"/>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extLst>
      <p:ext uri="{BB962C8B-B14F-4D97-AF65-F5344CB8AC3E}">
        <p14:creationId xmlns:p14="http://schemas.microsoft.com/office/powerpoint/2010/main" val="138839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5427411" y="-1921057"/>
            <a:ext cx="3192086"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865697" y="-275747"/>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4190298" y="-592061"/>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3813092" y="-217323"/>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989138" y="610281"/>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5466868" y="524062"/>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2654522" y="1149241"/>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5756216" y="1275190"/>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5301220" y="1351640"/>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5142815" y="1292266"/>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6595017" y="1097850"/>
            <a:ext cx="776274"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1046955" y="1043112"/>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8687528" y="147823"/>
            <a:ext cx="454772"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8291917" y="702130"/>
            <a:ext cx="568899"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8934864" y="466000"/>
            <a:ext cx="207436"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9258979" y="326538"/>
            <a:ext cx="168156"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521068" y="3546358"/>
            <a:ext cx="3138030" cy="732453"/>
          </a:xfrm>
          <a:prstGeom prst="rect">
            <a:avLst/>
          </a:prstGeom>
        </p:spPr>
        <p:txBody>
          <a:bodyPr anchor="t"/>
          <a:lstStyle>
            <a:lvl1pPr marL="0" indent="0" algn="l">
              <a:buNone/>
              <a:defRPr sz="48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6875388" y="2197947"/>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6875388" y="2974282"/>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606491" y="6429042"/>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98887" y="5682735"/>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1049383" y="6574260"/>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2264562" y="6255404"/>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410114" y="5359791"/>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989615" y="6163309"/>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101718" y="5072159"/>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534476" y="5346636"/>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726986" y="5516493"/>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4381690" y="6508239"/>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占位符 19"/>
          <p:cNvSpPr>
            <a:spLocks noGrp="1"/>
          </p:cNvSpPr>
          <p:nvPr>
            <p:ph type="body" sz="quarter" idx="13" hasCustomPrompt="1"/>
          </p:nvPr>
        </p:nvSpPr>
        <p:spPr>
          <a:xfrm>
            <a:off x="6875388" y="3750617"/>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4" name="文本占位符 19"/>
          <p:cNvSpPr>
            <a:spLocks noGrp="1"/>
          </p:cNvSpPr>
          <p:nvPr>
            <p:ph type="body" sz="quarter" idx="14" hasCustomPrompt="1"/>
          </p:nvPr>
        </p:nvSpPr>
        <p:spPr>
          <a:xfrm>
            <a:off x="6875388" y="4526952"/>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5" name="文本占位符 19"/>
          <p:cNvSpPr>
            <a:spLocks noGrp="1"/>
          </p:cNvSpPr>
          <p:nvPr>
            <p:ph type="body" sz="quarter" idx="15" hasCustomPrompt="1"/>
          </p:nvPr>
        </p:nvSpPr>
        <p:spPr>
          <a:xfrm>
            <a:off x="6875388" y="5303287"/>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extLst>
      <p:ext uri="{BB962C8B-B14F-4D97-AF65-F5344CB8AC3E}">
        <p14:creationId xmlns:p14="http://schemas.microsoft.com/office/powerpoint/2010/main" val="12640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5427411" y="-1921057"/>
            <a:ext cx="3192086"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865697" y="-275747"/>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4190298" y="-592061"/>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3813092" y="-217323"/>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989138" y="610281"/>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5466868" y="524062"/>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2654522" y="1149241"/>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5756216" y="1275190"/>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5301220" y="1351640"/>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5142815" y="1292266"/>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6595017" y="1097850"/>
            <a:ext cx="776274"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1046955" y="1043112"/>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8687528" y="147823"/>
            <a:ext cx="454772"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8291917" y="702130"/>
            <a:ext cx="568899"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8934864" y="466000"/>
            <a:ext cx="207436"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9258979" y="326538"/>
            <a:ext cx="168156"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521068" y="3546358"/>
            <a:ext cx="3138030" cy="732453"/>
          </a:xfrm>
          <a:prstGeom prst="rect">
            <a:avLst/>
          </a:prstGeom>
        </p:spPr>
        <p:txBody>
          <a:bodyPr anchor="t"/>
          <a:lstStyle>
            <a:lvl1pPr marL="0" indent="0" algn="l">
              <a:buNone/>
              <a:defRPr sz="48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6875388" y="2197947"/>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6875388" y="2805556"/>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606491" y="6429042"/>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98887" y="5682735"/>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1049383" y="6574260"/>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2264562" y="6255404"/>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410114" y="5359791"/>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989615" y="6163309"/>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101718" y="5072159"/>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534476" y="5346636"/>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726986" y="5516493"/>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4381690" y="6508239"/>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占位符 19"/>
          <p:cNvSpPr>
            <a:spLocks noGrp="1"/>
          </p:cNvSpPr>
          <p:nvPr>
            <p:ph type="body" sz="quarter" idx="13" hasCustomPrompt="1"/>
          </p:nvPr>
        </p:nvSpPr>
        <p:spPr>
          <a:xfrm>
            <a:off x="6875388" y="3413165"/>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7" name="文本占位符 19"/>
          <p:cNvSpPr>
            <a:spLocks noGrp="1"/>
          </p:cNvSpPr>
          <p:nvPr>
            <p:ph type="body" sz="quarter" idx="14" hasCustomPrompt="1"/>
          </p:nvPr>
        </p:nvSpPr>
        <p:spPr>
          <a:xfrm>
            <a:off x="6875388" y="4020774"/>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8" name="文本占位符 19"/>
          <p:cNvSpPr>
            <a:spLocks noGrp="1"/>
          </p:cNvSpPr>
          <p:nvPr>
            <p:ph type="body" sz="quarter" idx="15" hasCustomPrompt="1"/>
          </p:nvPr>
        </p:nvSpPr>
        <p:spPr>
          <a:xfrm>
            <a:off x="6875388" y="4628383"/>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9" name="文本占位符 19"/>
          <p:cNvSpPr>
            <a:spLocks noGrp="1"/>
          </p:cNvSpPr>
          <p:nvPr>
            <p:ph type="body" sz="quarter" idx="16" hasCustomPrompt="1"/>
          </p:nvPr>
        </p:nvSpPr>
        <p:spPr>
          <a:xfrm>
            <a:off x="6875388" y="5235992"/>
            <a:ext cx="3138030" cy="337452"/>
          </a:xfrm>
          <a:prstGeom prst="rect">
            <a:avLst/>
          </a:prstGeom>
        </p:spPr>
        <p:txBody>
          <a:bodyPr anchor="t"/>
          <a:lstStyle>
            <a:lvl1pPr marL="0" indent="0" algn="l">
              <a:lnSpc>
                <a:spcPct val="130000"/>
              </a:lnSpc>
              <a:buNone/>
              <a:defRPr sz="18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extLst>
      <p:ext uri="{BB962C8B-B14F-4D97-AF65-F5344CB8AC3E}">
        <p14:creationId xmlns:p14="http://schemas.microsoft.com/office/powerpoint/2010/main" val="4061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副标题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椭圆 1"/>
          <p:cNvSpPr/>
          <p:nvPr userDrawn="1"/>
        </p:nvSpPr>
        <p:spPr>
          <a:xfrm>
            <a:off x="5700221" y="4382258"/>
            <a:ext cx="463298" cy="463298"/>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a:off x="2395015" y="1393932"/>
            <a:ext cx="3015427" cy="3015427"/>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a:off x="4010423" y="966441"/>
            <a:ext cx="1970009" cy="1970009"/>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a:off x="3582932" y="882387"/>
            <a:ext cx="854982" cy="854982"/>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a:off x="4724879" y="3332420"/>
            <a:ext cx="1076939" cy="107693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a:off x="5645533" y="3020503"/>
            <a:ext cx="334899" cy="334899"/>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a:off x="5625831" y="1737369"/>
            <a:ext cx="873483" cy="873483"/>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a:off x="4062136" y="137828"/>
            <a:ext cx="468355" cy="46835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a:off x="3641582" y="-375684"/>
            <a:ext cx="724235" cy="724235"/>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19"/>
          <p:cNvSpPr>
            <a:spLocks noGrp="1"/>
          </p:cNvSpPr>
          <p:nvPr>
            <p:ph type="body" sz="quarter" idx="10" hasCustomPrompt="1"/>
          </p:nvPr>
        </p:nvSpPr>
        <p:spPr>
          <a:xfrm>
            <a:off x="6714703" y="3056071"/>
            <a:ext cx="3138030" cy="732453"/>
          </a:xfrm>
          <a:prstGeom prst="rect">
            <a:avLst/>
          </a:prstGeom>
        </p:spPr>
        <p:txBody>
          <a:bodyPr anchor="t"/>
          <a:lstStyle>
            <a:lvl1pPr marL="0" indent="0" algn="l">
              <a:buNone/>
              <a:defRPr sz="48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12" name="文本占位符 19"/>
          <p:cNvSpPr>
            <a:spLocks noGrp="1"/>
          </p:cNvSpPr>
          <p:nvPr>
            <p:ph type="body" sz="quarter" idx="11" hasCustomPrompt="1"/>
          </p:nvPr>
        </p:nvSpPr>
        <p:spPr>
          <a:xfrm>
            <a:off x="6714703" y="3878563"/>
            <a:ext cx="3138030" cy="337452"/>
          </a:xfrm>
          <a:prstGeom prst="rect">
            <a:avLst/>
          </a:prstGeom>
        </p:spPr>
        <p:txBody>
          <a:bodyPr anchor="t"/>
          <a:lstStyle>
            <a:lvl1pPr marL="0" indent="0" algn="l">
              <a:lnSpc>
                <a:spcPct val="130000"/>
              </a:lnSpc>
              <a:buNone/>
              <a:defRPr sz="1200" b="0" baseline="0">
                <a:solidFill>
                  <a:schemeClr val="bg1">
                    <a:lumMod val="50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13" name="椭圆 12"/>
          <p:cNvSpPr/>
          <p:nvPr userDrawn="1"/>
        </p:nvSpPr>
        <p:spPr>
          <a:xfrm>
            <a:off x="5682548" y="4938494"/>
            <a:ext cx="188314" cy="18831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80169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2" name="组 11"/>
          <p:cNvGrpSpPr/>
          <p:nvPr userDrawn="1"/>
        </p:nvGrpSpPr>
        <p:grpSpPr>
          <a:xfrm rot="10800000">
            <a:off x="7521312" y="-553388"/>
            <a:ext cx="5191489" cy="2549820"/>
            <a:chOff x="-410114" y="5072159"/>
            <a:chExt cx="5191489" cy="2549820"/>
          </a:xfrm>
        </p:grpSpPr>
        <p:sp>
          <p:nvSpPr>
            <p:cNvPr id="2" name="椭圆 1"/>
            <p:cNvSpPr/>
            <p:nvPr userDrawn="1"/>
          </p:nvSpPr>
          <p:spPr>
            <a:xfrm rot="10664813">
              <a:off x="1606491" y="6429042"/>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10664813">
              <a:off x="-298887" y="5682735"/>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10664813">
              <a:off x="1049383" y="6574260"/>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10664813">
              <a:off x="2264562" y="6255404"/>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10664813">
              <a:off x="-410114" y="5359791"/>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10664813">
              <a:off x="2989615" y="6163309"/>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10664813">
              <a:off x="-101718" y="5072159"/>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10664813">
              <a:off x="534476" y="5346636"/>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10664813">
              <a:off x="726986" y="5516493"/>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userDrawn="1"/>
          </p:nvSpPr>
          <p:spPr>
            <a:xfrm rot="10664813">
              <a:off x="4381690" y="6508239"/>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椭圆 12"/>
          <p:cNvSpPr/>
          <p:nvPr userDrawn="1"/>
        </p:nvSpPr>
        <p:spPr>
          <a:xfrm rot="10664813">
            <a:off x="1407707" y="6689145"/>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p:cNvSpPr/>
          <p:nvPr userDrawn="1"/>
        </p:nvSpPr>
        <p:spPr>
          <a:xfrm rot="10664813">
            <a:off x="-497671" y="5942838"/>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rot="10664813">
            <a:off x="850599" y="6834363"/>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rot="10664813">
            <a:off x="2065778" y="6515507"/>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rot="10664813">
            <a:off x="-608898" y="5619894"/>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rot="10664813">
            <a:off x="2790831" y="6423412"/>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userDrawn="1"/>
        </p:nvSpPr>
        <p:spPr>
          <a:xfrm rot="10664813">
            <a:off x="-300502" y="5332262"/>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椭圆 19"/>
          <p:cNvSpPr/>
          <p:nvPr userDrawn="1"/>
        </p:nvSpPr>
        <p:spPr>
          <a:xfrm rot="10664813">
            <a:off x="335692" y="5606739"/>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userDrawn="1"/>
        </p:nvSpPr>
        <p:spPr>
          <a:xfrm rot="10664813">
            <a:off x="528202" y="5776596"/>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p:cNvSpPr/>
          <p:nvPr userDrawn="1"/>
        </p:nvSpPr>
        <p:spPr>
          <a:xfrm rot="10664813">
            <a:off x="4182906" y="6768342"/>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占位符 19"/>
          <p:cNvSpPr>
            <a:spLocks noGrp="1"/>
          </p:cNvSpPr>
          <p:nvPr>
            <p:ph type="body" sz="quarter" idx="11" hasCustomPrompt="1"/>
          </p:nvPr>
        </p:nvSpPr>
        <p:spPr>
          <a:xfrm>
            <a:off x="435160" y="251636"/>
            <a:ext cx="3401344" cy="405376"/>
          </a:xfrm>
          <a:prstGeom prst="rect">
            <a:avLst/>
          </a:prstGeom>
        </p:spPr>
        <p:txBody>
          <a:bodyPr anchor="t"/>
          <a:lstStyle>
            <a:lvl1pPr marL="0" indent="0" algn="l">
              <a:lnSpc>
                <a:spcPct val="130000"/>
              </a:lnSpc>
              <a:buNone/>
              <a:defRPr sz="1800" b="1"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extLst>
      <p:ext uri="{BB962C8B-B14F-4D97-AF65-F5344CB8AC3E}">
        <p14:creationId xmlns:p14="http://schemas.microsoft.com/office/powerpoint/2010/main" val="1632621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808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cxnSp>
        <p:nvCxnSpPr>
          <p:cNvPr id="7" name="直接连接符 6"/>
          <p:cNvCxnSpPr/>
          <p:nvPr userDrawn="1"/>
        </p:nvCxnSpPr>
        <p:spPr>
          <a:xfrm>
            <a:off x="1007435" y="833864"/>
            <a:ext cx="104651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a:grpSpLocks/>
          </p:cNvGrpSpPr>
          <p:nvPr userDrawn="1"/>
        </p:nvGrpSpPr>
        <p:grpSpPr bwMode="auto">
          <a:xfrm>
            <a:off x="431371" y="390527"/>
            <a:ext cx="520496" cy="274639"/>
            <a:chOff x="0" y="0"/>
            <a:chExt cx="1041399" cy="549275"/>
          </a:xfrm>
        </p:grpSpPr>
        <p:sp>
          <p:nvSpPr>
            <p:cNvPr id="13" name="Freeform 16"/>
            <p:cNvSpPr>
              <a:spLocks/>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4" name="Freeform 17"/>
            <p:cNvSpPr>
              <a:spLocks/>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5" name="Freeform 18"/>
            <p:cNvSpPr>
              <a:spLocks/>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grpSp>
      <p:sp>
        <p:nvSpPr>
          <p:cNvPr id="18" name="TextBox 15"/>
          <p:cNvSpPr txBox="1"/>
          <p:nvPr userDrawn="1"/>
        </p:nvSpPr>
        <p:spPr>
          <a:xfrm>
            <a:off x="10800524" y="322661"/>
            <a:ext cx="895129" cy="461665"/>
          </a:xfrm>
          <a:prstGeom prst="rect">
            <a:avLst/>
          </a:prstGeom>
          <a:noFill/>
        </p:spPr>
        <p:txBody>
          <a:bodyPr wrap="square" rtlCol="0">
            <a:spAutoFit/>
          </a:bodyPr>
          <a:lstStyle/>
          <a:p>
            <a:pPr algn="ctr"/>
            <a:fld id="{2EEF1883-7A0E-4F66-9932-E581691AD397}" type="slidenum">
              <a:rPr lang="zh-CN" altLang="en-US" sz="24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2400" b="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2031107125"/>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62361" cy="379656"/>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rPr>
              <a:t>标注</a:t>
            </a:r>
          </a:p>
        </p:txBody>
      </p:sp>
      <p:sp>
        <p:nvSpPr>
          <p:cNvPr id="11" name="矩形 10"/>
          <p:cNvSpPr/>
          <p:nvPr userDrawn="1"/>
        </p:nvSpPr>
        <p:spPr>
          <a:xfrm>
            <a:off x="2572589" y="759873"/>
            <a:ext cx="1402001" cy="3453253"/>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字体使用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行距</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背景图片出处</a:t>
            </a: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4239879"/>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英文 </a:t>
            </a:r>
            <a:r>
              <a:rPr kumimoji="0" lang="en-US" altLang="zh-CN" sz="1400" b="0" i="0" u="none" strike="noStrike" kern="0" cap="none" spc="0" normalizeH="0" baseline="0" noProof="0" dirty="0">
                <a:ln>
                  <a:noFill/>
                </a:ln>
                <a:solidFill>
                  <a:srgbClr val="FFFFFF"/>
                </a:solidFill>
                <a:effectLst/>
                <a:uLnTx/>
                <a:uFillTx/>
                <a:latin typeface="Segoe UI Light" charset="0"/>
                <a:ea typeface="Segoe UI Light" charset="0"/>
                <a:cs typeface="Segoe UI Light" charset="0"/>
              </a:rPr>
              <a:t>Segoe UI</a:t>
            </a:r>
            <a:endParaRPr kumimoji="0" lang="zh-CN" altLang="en-US" sz="1400" b="0" i="0" u="none" strike="noStrike" kern="0" cap="none" spc="0" normalizeH="0" baseline="0" noProof="0" dirty="0">
              <a:ln>
                <a:noFill/>
              </a:ln>
              <a:solidFill>
                <a:srgbClr val="FFFFFF"/>
              </a:solidFill>
              <a:effectLst/>
              <a:uLnTx/>
              <a:uFillTx/>
              <a:latin typeface="Segoe UI Light" charset="0"/>
              <a:ea typeface="Segoe UI Light" charset="0"/>
              <a:cs typeface="Segoe UI Light" charset="0"/>
            </a:endParaRPr>
          </a:p>
          <a:p>
            <a:pPr marL="0" marR="0" lvl="0" indent="0" defTabSz="91440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中文 微软雅黑</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正文 </a:t>
            </a:r>
            <a:r>
              <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rPr>
              <a:t>1.3</a:t>
            </a: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FFFFFF"/>
                </a:solidFill>
                <a:effectLst/>
                <a:uLnTx/>
                <a:uFillTx/>
                <a:latin typeface="Segoe UI Light"/>
                <a:ea typeface="微软雅黑"/>
                <a:cs typeface="Segoe UI Light"/>
              </a:rPr>
              <a:t>cn.bing.com</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本网站所提供的任何信息内容（包括但不限于 </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PPT</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模板、</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Word</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文档、</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Excel</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图表、图片素材等）均受</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中华人民共和国著作权法</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信息网络传播权保护条例</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及其他适用的法律法规的保护，未经权利人书面明确授权，信息内容的任何部分</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包括图片或图表</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不得被全部或部分的复制、传播、销售，否则将承担法律责任。</a:t>
            </a: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96174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背景图片素材">
    <p:spTree>
      <p:nvGrpSpPr>
        <p:cNvPr id="1" name=""/>
        <p:cNvGrpSpPr/>
        <p:nvPr/>
      </p:nvGrpSpPr>
      <p:grpSpPr>
        <a:xfrm>
          <a:off x="0" y="0"/>
          <a:ext cx="0" cy="0"/>
          <a:chOff x="0" y="0"/>
          <a:chExt cx="0" cy="0"/>
        </a:xfrm>
      </p:grpSpPr>
      <p:sp>
        <p:nvSpPr>
          <p:cNvPr id="4" name="矩形 3"/>
          <p:cNvSpPr/>
          <p:nvPr userDrawn="1"/>
        </p:nvSpPr>
        <p:spPr>
          <a:xfrm>
            <a:off x="440603" y="759873"/>
            <a:ext cx="1569660" cy="369332"/>
          </a:xfrm>
          <a:prstGeom prst="rect">
            <a:avLst/>
          </a:prstGeom>
        </p:spPr>
        <p:txBody>
          <a:bodyPr wrap="none">
            <a:spAutoFit/>
          </a:bodyPr>
          <a:lstStyle/>
          <a:p>
            <a:pPr defTabSz="609585"/>
            <a:r>
              <a:rPr lang="zh-CN" altLang="en-US" sz="1800" dirty="0">
                <a:solidFill>
                  <a:schemeClr val="tx1">
                    <a:lumMod val="75000"/>
                    <a:lumOff val="25000"/>
                  </a:schemeClr>
                </a:solidFill>
                <a:latin typeface="Segoe UI Light"/>
                <a:ea typeface="微软雅黑"/>
                <a:cs typeface="Segoe UI Light"/>
              </a:rPr>
              <a:t>背景图片素材</a:t>
            </a:r>
          </a:p>
        </p:txBody>
      </p:sp>
      <p:sp>
        <p:nvSpPr>
          <p:cNvPr id="5" name="矩形 4"/>
          <p:cNvSpPr/>
          <p:nvPr userDrawn="1"/>
        </p:nvSpPr>
        <p:spPr>
          <a:xfrm>
            <a:off x="440603" y="182445"/>
            <a:ext cx="777777" cy="246221"/>
          </a:xfrm>
          <a:prstGeom prst="rect">
            <a:avLst/>
          </a:prstGeom>
        </p:spPr>
        <p:txBody>
          <a:bodyPr wrap="none">
            <a:spAutoFit/>
          </a:bodyPr>
          <a:lstStyle/>
          <a:p>
            <a:pPr defTabSz="609585"/>
            <a:r>
              <a:rPr kumimoji="1" lang="en-US" altLang="zh-CN" sz="1000" dirty="0">
                <a:solidFill>
                  <a:schemeClr val="tx1">
                    <a:lumMod val="75000"/>
                    <a:lumOff val="25000"/>
                  </a:schemeClr>
                </a:solidFill>
                <a:latin typeface="Segoe UI Light"/>
                <a:ea typeface="微软雅黑" charset="0"/>
                <a:cs typeface="Segoe UI Light"/>
              </a:rPr>
              <a:t>OfficePLUS</a:t>
            </a:r>
            <a:endParaRPr lang="zh-CN" altLang="en-US" sz="1000" dirty="0">
              <a:solidFill>
                <a:schemeClr val="tx1">
                  <a:lumMod val="75000"/>
                  <a:lumOff val="25000"/>
                </a:schemeClr>
              </a:solidFill>
              <a:latin typeface="Segoe UI Light"/>
              <a:ea typeface="微软雅黑" charset="0"/>
              <a:cs typeface="Segoe UI Light"/>
            </a:endParaRPr>
          </a:p>
        </p:txBody>
      </p:sp>
    </p:spTree>
    <p:extLst>
      <p:ext uri="{BB962C8B-B14F-4D97-AF65-F5344CB8AC3E}">
        <p14:creationId xmlns:p14="http://schemas.microsoft.com/office/powerpoint/2010/main" val="491705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fficePLUS">
    <p:spTree>
      <p:nvGrpSpPr>
        <p:cNvPr id="1" name=""/>
        <p:cNvGrpSpPr/>
        <p:nvPr/>
      </p:nvGrpSpPr>
      <p:grpSpPr>
        <a:xfrm>
          <a:off x="0" y="0"/>
          <a:ext cx="0" cy="0"/>
          <a:chOff x="0" y="0"/>
          <a:chExt cx="0" cy="0"/>
        </a:xfrm>
      </p:grpSpPr>
      <p:sp>
        <p:nvSpPr>
          <p:cNvPr id="7" name="文本框 6"/>
          <p:cNvSpPr txBox="1"/>
          <p:nvPr userDrawn="1"/>
        </p:nvSpPr>
        <p:spPr>
          <a:xfrm>
            <a:off x="4447955" y="4458724"/>
            <a:ext cx="3296095" cy="297454"/>
          </a:xfrm>
          <a:prstGeom prst="rect">
            <a:avLst/>
          </a:prstGeom>
          <a:noFill/>
        </p:spPr>
        <p:txBody>
          <a:bodyPr wrap="non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1" lang="zh-CN" altLang="en-US" sz="1333" b="0" i="0" u="none" strike="noStrike" kern="0" cap="none" spc="0" normalizeH="0" baseline="0" noProof="0" dirty="0">
                <a:ln>
                  <a:noFill/>
                </a:ln>
                <a:solidFill>
                  <a:srgbClr val="000000"/>
                </a:solidFill>
                <a:effectLst/>
                <a:uLnTx/>
                <a:uFillTx/>
                <a:latin typeface="Century Gothic"/>
                <a:ea typeface="微软雅黑" charset="0"/>
              </a:rPr>
              <a:t>点击</a:t>
            </a:r>
            <a:r>
              <a:rPr kumimoji="1" lang="en-US" altLang="zh-CN" sz="1333" b="0" i="0" u="none" strike="noStrike" kern="0" cap="none" spc="0" normalizeH="0" baseline="0" noProof="0" dirty="0">
                <a:ln>
                  <a:noFill/>
                </a:ln>
                <a:solidFill>
                  <a:srgbClr val="000000"/>
                </a:solidFill>
                <a:effectLst/>
                <a:uLnTx/>
                <a:uFillTx/>
                <a:latin typeface="Segoe UI Light" charset="0"/>
                <a:ea typeface="Segoe UI Light" charset="0"/>
                <a:cs typeface="Segoe UI Light" charset="0"/>
              </a:rPr>
              <a:t>Logo</a:t>
            </a:r>
            <a:r>
              <a:rPr kumimoji="1" lang="zh-CN" altLang="en-US" sz="1333" b="0" i="0" u="none" strike="noStrike" kern="0" cap="none" spc="0" normalizeH="0" baseline="0" noProof="0" dirty="0">
                <a:ln>
                  <a:noFill/>
                </a:ln>
                <a:solidFill>
                  <a:srgbClr val="000000"/>
                </a:solidFill>
                <a:effectLst/>
                <a:uLnTx/>
                <a:uFillTx/>
                <a:latin typeface="Century Gothic"/>
                <a:ea typeface="微软雅黑" charset="0"/>
              </a:rPr>
              <a:t>获取更多优质模板（放映模式）</a:t>
            </a:r>
          </a:p>
        </p:txBody>
      </p:sp>
      <p:pic>
        <p:nvPicPr>
          <p:cNvPr id="4" name="图片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0" y="3227832"/>
            <a:ext cx="3048000" cy="402336"/>
          </a:xfrm>
          <a:prstGeom prst="rect">
            <a:avLst/>
          </a:prstGeom>
        </p:spPr>
      </p:pic>
    </p:spTree>
    <p:extLst>
      <p:ext uri="{BB962C8B-B14F-4D97-AF65-F5344CB8AC3E}">
        <p14:creationId xmlns:p14="http://schemas.microsoft.com/office/powerpoint/2010/main" val="261245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4578" name="Rectangle 2"/>
          <p:cNvSpPr>
            <a:spLocks noGrp="1" noRot="1" noChangeArrowheads="1"/>
          </p:cNvSpPr>
          <p:nvPr>
            <p:ph type="ctrTitle"/>
          </p:nvPr>
        </p:nvSpPr>
        <p:spPr>
          <a:xfrm>
            <a:off x="914400" y="1981200"/>
            <a:ext cx="10363200" cy="1600200"/>
          </a:xfrm>
        </p:spPr>
        <p:txBody>
          <a:bodyPr/>
          <a:lstStyle>
            <a:lvl1pPr>
              <a:defRPr/>
            </a:lvl1pPr>
          </a:lstStyle>
          <a:p>
            <a:pPr lvl="0"/>
            <a:r>
              <a:rPr lang="zh-CN" altLang="en-US" noProof="0" smtClean="0"/>
              <a:t>单击此处编辑母版标题样式</a:t>
            </a:r>
          </a:p>
        </p:txBody>
      </p:sp>
      <p:sp>
        <p:nvSpPr>
          <p:cNvPr id="24579" name="Rectangle 3"/>
          <p:cNvSpPr>
            <a:spLocks noGrp="1" noRot="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CE407A7-132B-41CC-BBB7-947AD6716CB0}" type="slidenum">
              <a:rPr lang="en-US" altLang="zh-CN"/>
              <a:pPr>
                <a:defRPr/>
              </a:pPr>
              <a:t>‹#›</a:t>
            </a:fld>
            <a:endParaRPr lang="en-US" altLang="zh-CN"/>
          </a:p>
        </p:txBody>
      </p:sp>
    </p:spTree>
    <p:extLst>
      <p:ext uri="{BB962C8B-B14F-4D97-AF65-F5344CB8AC3E}">
        <p14:creationId xmlns:p14="http://schemas.microsoft.com/office/powerpoint/2010/main" val="2172500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4E5751D-86CF-46E6-B52A-FF393652C627}" type="slidenum">
              <a:rPr lang="en-US" altLang="zh-CN"/>
              <a:pPr>
                <a:defRPr/>
              </a:pPr>
              <a:t>‹#›</a:t>
            </a:fld>
            <a:endParaRPr lang="en-US" altLang="zh-CN"/>
          </a:p>
        </p:txBody>
      </p:sp>
    </p:spTree>
    <p:extLst>
      <p:ext uri="{BB962C8B-B14F-4D97-AF65-F5344CB8AC3E}">
        <p14:creationId xmlns:p14="http://schemas.microsoft.com/office/powerpoint/2010/main" val="3384589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30C1D64-36B0-43A3-A6AE-A5FFDF52AB07}" type="slidenum">
              <a:rPr lang="en-US" altLang="zh-CN"/>
              <a:pPr>
                <a:defRPr/>
              </a:pPr>
              <a:t>‹#›</a:t>
            </a:fld>
            <a:endParaRPr lang="en-US" altLang="zh-CN"/>
          </a:p>
        </p:txBody>
      </p:sp>
    </p:spTree>
    <p:extLst>
      <p:ext uri="{BB962C8B-B14F-4D97-AF65-F5344CB8AC3E}">
        <p14:creationId xmlns:p14="http://schemas.microsoft.com/office/powerpoint/2010/main" val="4101518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02168" y="1676401"/>
            <a:ext cx="5592233" cy="44227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1676401"/>
            <a:ext cx="5592233" cy="44227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995C2BF-B036-4BB6-9027-7D11275F631D}" type="slidenum">
              <a:rPr lang="en-US" altLang="zh-CN"/>
              <a:pPr>
                <a:defRPr/>
              </a:pPr>
              <a:t>‹#›</a:t>
            </a:fld>
            <a:endParaRPr lang="en-US" altLang="zh-CN"/>
          </a:p>
        </p:txBody>
      </p:sp>
    </p:spTree>
    <p:extLst>
      <p:ext uri="{BB962C8B-B14F-4D97-AF65-F5344CB8AC3E}">
        <p14:creationId xmlns:p14="http://schemas.microsoft.com/office/powerpoint/2010/main" val="2798329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F09F9B8-33DD-4EC2-B0EC-9EF0195EE3E6}" type="slidenum">
              <a:rPr lang="en-US" altLang="zh-CN"/>
              <a:pPr>
                <a:defRPr/>
              </a:pPr>
              <a:t>‹#›</a:t>
            </a:fld>
            <a:endParaRPr lang="en-US" altLang="zh-CN"/>
          </a:p>
        </p:txBody>
      </p:sp>
    </p:spTree>
    <p:extLst>
      <p:ext uri="{BB962C8B-B14F-4D97-AF65-F5344CB8AC3E}">
        <p14:creationId xmlns:p14="http://schemas.microsoft.com/office/powerpoint/2010/main" val="35569315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B9000B3-8FC1-4495-8D80-6E4A55ADADBE}" type="slidenum">
              <a:rPr lang="en-US" altLang="zh-CN"/>
              <a:pPr>
                <a:defRPr/>
              </a:pPr>
              <a:t>‹#›</a:t>
            </a:fld>
            <a:endParaRPr lang="en-US" altLang="zh-CN"/>
          </a:p>
        </p:txBody>
      </p:sp>
    </p:spTree>
    <p:extLst>
      <p:ext uri="{BB962C8B-B14F-4D97-AF65-F5344CB8AC3E}">
        <p14:creationId xmlns:p14="http://schemas.microsoft.com/office/powerpoint/2010/main" val="843383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CBEA07D-A0D2-4592-9480-97323327ECD9}" type="slidenum">
              <a:rPr lang="en-US" altLang="zh-CN"/>
              <a:pPr>
                <a:defRPr/>
              </a:pPr>
              <a:t>‹#›</a:t>
            </a:fld>
            <a:endParaRPr lang="en-US" altLang="zh-CN"/>
          </a:p>
        </p:txBody>
      </p:sp>
    </p:spTree>
    <p:extLst>
      <p:ext uri="{BB962C8B-B14F-4D97-AF65-F5344CB8AC3E}">
        <p14:creationId xmlns:p14="http://schemas.microsoft.com/office/powerpoint/2010/main" val="652369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F0BA102-C629-413B-ADEC-9E131F575806}" type="slidenum">
              <a:rPr lang="en-US" altLang="zh-CN"/>
              <a:pPr>
                <a:defRPr/>
              </a:pPr>
              <a:t>‹#›</a:t>
            </a:fld>
            <a:endParaRPr lang="en-US" altLang="zh-CN"/>
          </a:p>
        </p:txBody>
      </p:sp>
    </p:spTree>
    <p:extLst>
      <p:ext uri="{BB962C8B-B14F-4D97-AF65-F5344CB8AC3E}">
        <p14:creationId xmlns:p14="http://schemas.microsoft.com/office/powerpoint/2010/main" val="3245817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B7EE10B-ABA3-4B96-A4F0-1DA36D524876}" type="slidenum">
              <a:rPr lang="en-US" altLang="zh-CN"/>
              <a:pPr>
                <a:defRPr/>
              </a:pPr>
              <a:t>‹#›</a:t>
            </a:fld>
            <a:endParaRPr lang="en-US" altLang="zh-CN"/>
          </a:p>
        </p:txBody>
      </p:sp>
    </p:spTree>
    <p:extLst>
      <p:ext uri="{BB962C8B-B14F-4D97-AF65-F5344CB8AC3E}">
        <p14:creationId xmlns:p14="http://schemas.microsoft.com/office/powerpoint/2010/main" val="4095605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A31F4B4-6994-411F-80C5-EFC6E5F779C7}" type="slidenum">
              <a:rPr lang="en-US" altLang="zh-CN"/>
              <a:pPr>
                <a:defRPr/>
              </a:pPr>
              <a:t>‹#›</a:t>
            </a:fld>
            <a:endParaRPr lang="en-US" altLang="zh-CN"/>
          </a:p>
        </p:txBody>
      </p:sp>
    </p:spTree>
    <p:extLst>
      <p:ext uri="{BB962C8B-B14F-4D97-AF65-F5344CB8AC3E}">
        <p14:creationId xmlns:p14="http://schemas.microsoft.com/office/powerpoint/2010/main" val="41070416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4A3CDAE-7911-4821-A41D-2C482DC1CF8A}" type="slidenum">
              <a:rPr lang="en-US" altLang="zh-CN"/>
              <a:pPr>
                <a:defRPr/>
              </a:pPr>
              <a:t>‹#›</a:t>
            </a:fld>
            <a:endParaRPr lang="en-US" altLang="zh-CN"/>
          </a:p>
        </p:txBody>
      </p:sp>
    </p:spTree>
    <p:extLst>
      <p:ext uri="{BB962C8B-B14F-4D97-AF65-F5344CB8AC3E}">
        <p14:creationId xmlns:p14="http://schemas.microsoft.com/office/powerpoint/2010/main" val="11617359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1"/>
            <a:ext cx="11347451" cy="1325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02167" y="1676401"/>
            <a:ext cx="11387667" cy="4422775"/>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5D94192-8B61-4795-8324-2F8B9BBB2FFF}" type="slidenum">
              <a:rPr lang="en-US" altLang="zh-CN"/>
              <a:pPr>
                <a:defRPr/>
              </a:pPr>
              <a:t>‹#›</a:t>
            </a:fld>
            <a:endParaRPr lang="en-US" altLang="zh-CN"/>
          </a:p>
        </p:txBody>
      </p:sp>
    </p:spTree>
    <p:extLst>
      <p:ext uri="{BB962C8B-B14F-4D97-AF65-F5344CB8AC3E}">
        <p14:creationId xmlns:p14="http://schemas.microsoft.com/office/powerpoint/2010/main" val="5064173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1"/>
            <a:ext cx="11347451"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02168" y="1676401"/>
            <a:ext cx="5592233" cy="44227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1676401"/>
            <a:ext cx="5592233" cy="44227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7843DD6-C0D4-4CE8-BE9C-95915A24C697}" type="slidenum">
              <a:rPr lang="en-US" altLang="zh-CN"/>
              <a:pPr>
                <a:defRPr/>
              </a:pPr>
              <a:t>‹#›</a:t>
            </a:fld>
            <a:endParaRPr lang="en-US" altLang="zh-CN"/>
          </a:p>
        </p:txBody>
      </p:sp>
    </p:spTree>
    <p:extLst>
      <p:ext uri="{BB962C8B-B14F-4D97-AF65-F5344CB8AC3E}">
        <p14:creationId xmlns:p14="http://schemas.microsoft.com/office/powerpoint/2010/main" val="3891184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00290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6" r:id="rId3"/>
    <p:sldLayoutId id="2147483687" r:id="rId4"/>
    <p:sldLayoutId id="2147483688" r:id="rId5"/>
    <p:sldLayoutId id="2147483684" r:id="rId6"/>
    <p:sldLayoutId id="2147483662" r:id="rId7"/>
    <p:sldLayoutId id="2147483685" r:id="rId8"/>
    <p:sldLayoutId id="214748368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780034"/>
      </p:ext>
    </p:extLst>
  </p:cSld>
  <p:clrMap bg1="lt1" tx1="dk1" bg2="lt2" tx2="dk2" accent1="accent1" accent2="accent2" accent3="accent3" accent4="accent4" accent5="accent5" accent6="accent6" hlink="hlink" folHlink="folHlink"/>
  <p:sldLayoutIdLst>
    <p:sldLayoutId id="2147483680" r:id="rId1"/>
    <p:sldLayoutId id="2147483664" r:id="rId2"/>
    <p:sldLayoutId id="214748368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3554" name="Rectangle 2"/>
          <p:cNvSpPr>
            <a:spLocks noGrp="1" noRot="1" noChangeArrowheads="1"/>
          </p:cNvSpPr>
          <p:nvPr>
            <p:ph type="title"/>
          </p:nvPr>
        </p:nvSpPr>
        <p:spPr bwMode="auto">
          <a:xfrm>
            <a:off x="402167" y="228601"/>
            <a:ext cx="11347451"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3555" name="Rectangle 3"/>
          <p:cNvSpPr>
            <a:spLocks noGrp="1" noRot="1" noChangeArrowheads="1"/>
          </p:cNvSpPr>
          <p:nvPr>
            <p:ph type="body" idx="1"/>
          </p:nvPr>
        </p:nvSpPr>
        <p:spPr bwMode="auto">
          <a:xfrm>
            <a:off x="402167" y="1676401"/>
            <a:ext cx="11387667" cy="442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3556" name="Rectangle 4"/>
          <p:cNvSpPr>
            <a:spLocks noGrp="1" noChangeArrowheads="1"/>
          </p:cNvSpPr>
          <p:nvPr>
            <p:ph type="dt" sz="half" idx="2"/>
          </p:nvPr>
        </p:nvSpPr>
        <p:spPr bwMode="auto">
          <a:xfrm>
            <a:off x="406400" y="6245225"/>
            <a:ext cx="3048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smtClean="0">
                <a:effectLst>
                  <a:outerShdw blurRad="38100" dist="38100" dir="2700000" algn="tl">
                    <a:srgbClr val="000000"/>
                  </a:outerShdw>
                </a:effectLst>
              </a:defRPr>
            </a:lvl1pPr>
          </a:lstStyle>
          <a:p>
            <a:pPr>
              <a:defRPr/>
            </a:pPr>
            <a:endParaRPr lang="en-US" altLang="zh-CN"/>
          </a:p>
        </p:txBody>
      </p:sp>
      <p:sp>
        <p:nvSpPr>
          <p:cNvPr id="23557"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smtClean="0">
                <a:effectLst>
                  <a:outerShdw blurRad="38100" dist="38100" dir="2700000" algn="tl">
                    <a:srgbClr val="000000"/>
                  </a:outerShdw>
                </a:effectLst>
              </a:defRPr>
            </a:lvl1pPr>
          </a:lstStyle>
          <a:p>
            <a:pPr>
              <a:defRPr/>
            </a:pPr>
            <a:endParaRPr lang="en-US" altLang="zh-CN"/>
          </a:p>
        </p:txBody>
      </p:sp>
      <p:sp>
        <p:nvSpPr>
          <p:cNvPr id="23558" name="Rectangle 6"/>
          <p:cNvSpPr>
            <a:spLocks noGrp="1" noChangeArrowheads="1"/>
          </p:cNvSpPr>
          <p:nvPr>
            <p:ph type="sldNum" sz="quarter" idx="4"/>
          </p:nvPr>
        </p:nvSpPr>
        <p:spPr bwMode="auto">
          <a:xfrm>
            <a:off x="8737600" y="6245225"/>
            <a:ext cx="3048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smtClean="0">
                <a:effectLst>
                  <a:outerShdw blurRad="38100" dist="38100" dir="2700000" algn="tl">
                    <a:srgbClr val="000000"/>
                  </a:outerShdw>
                </a:effectLst>
              </a:defRPr>
            </a:lvl1pPr>
          </a:lstStyle>
          <a:p>
            <a:pPr>
              <a:defRPr/>
            </a:pPr>
            <a:fld id="{F3D2F299-4D12-4741-A75B-4D6819057DD4}" type="slidenum">
              <a:rPr lang="en-US" altLang="zh-CN"/>
              <a:pPr>
                <a:defRPr/>
              </a:pPr>
              <a:t>‹#›</a:t>
            </a:fld>
            <a:endParaRPr lang="en-US" altLang="zh-CN"/>
          </a:p>
        </p:txBody>
      </p:sp>
    </p:spTree>
    <p:extLst>
      <p:ext uri="{BB962C8B-B14F-4D97-AF65-F5344CB8AC3E}">
        <p14:creationId xmlns:p14="http://schemas.microsoft.com/office/powerpoint/2010/main" val="4117276749"/>
      </p:ext>
    </p:extLst>
  </p:cSld>
  <p:clrMap bg1="dk2" tx1="lt1" bg2="dk1"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http://resource.51cmm.com/pubcmm/images/No088.jpg" TargetMode="External"/><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2431559" y="2364776"/>
            <a:ext cx="7446651" cy="2982947"/>
          </a:xfrm>
        </p:spPr>
        <p:txBody>
          <a:bodyPr/>
          <a:lstStyle/>
          <a:p>
            <a:r>
              <a:rPr kumimoji="1" lang="zh-CN" altLang="en-US" dirty="0"/>
              <a:t>能力成熟度</a:t>
            </a:r>
            <a:r>
              <a:rPr kumimoji="1" lang="zh-CN" altLang="en-US" dirty="0" smtClean="0"/>
              <a:t>模型</a:t>
            </a:r>
            <a:endParaRPr kumimoji="1" lang="en-US" altLang="zh-CN" dirty="0"/>
          </a:p>
          <a:p>
            <a:r>
              <a:rPr lang="en-US" altLang="zh-CN" b="0" dirty="0" smtClean="0"/>
              <a:t>Capability </a:t>
            </a:r>
            <a:r>
              <a:rPr lang="en-US" altLang="zh-CN" b="0" dirty="0"/>
              <a:t>Maturity </a:t>
            </a:r>
            <a:r>
              <a:rPr lang="en-US" altLang="zh-CN" b="0" dirty="0" smtClean="0"/>
              <a:t>Model</a:t>
            </a:r>
            <a:endParaRPr lang="en-US" altLang="zh-CN" b="0" dirty="0"/>
          </a:p>
          <a:p>
            <a:endParaRPr kumimoji="1" lang="zh-CN" altLang="en-US" dirty="0"/>
          </a:p>
          <a:p>
            <a:endParaRPr kumimoji="1" lang="zh-CN" altLang="en-US" dirty="0"/>
          </a:p>
        </p:txBody>
      </p:sp>
      <p:sp>
        <p:nvSpPr>
          <p:cNvPr id="3" name="文本占位符 2"/>
          <p:cNvSpPr>
            <a:spLocks noGrp="1"/>
          </p:cNvSpPr>
          <p:nvPr>
            <p:ph type="body" sz="quarter" idx="11"/>
          </p:nvPr>
        </p:nvSpPr>
        <p:spPr>
          <a:xfrm>
            <a:off x="3191190" y="4225127"/>
            <a:ext cx="5927388" cy="339658"/>
          </a:xfrm>
        </p:spPr>
        <p:txBody>
          <a:bodyPr/>
          <a:lstStyle/>
          <a:p>
            <a:r>
              <a:rPr kumimoji="1" lang="en-US" altLang="zh-CN" sz="1600" dirty="0" smtClean="0"/>
              <a:t>Refined  frome </a:t>
            </a:r>
            <a:r>
              <a:rPr kumimoji="1" lang="zh-CN" altLang="en-US" sz="1600" dirty="0" smtClean="0"/>
              <a:t>曹</a:t>
            </a:r>
            <a:r>
              <a:rPr kumimoji="1" lang="zh-CN" altLang="en-US" sz="1600" dirty="0"/>
              <a:t>佳</a:t>
            </a:r>
            <a:r>
              <a:rPr kumimoji="1" lang="zh-CN" altLang="en-US" sz="1600" dirty="0" smtClean="0"/>
              <a:t>涵</a:t>
            </a:r>
            <a:r>
              <a:rPr kumimoji="1" lang="en-US" altLang="zh-CN" sz="1600" dirty="0" smtClean="0"/>
              <a:t>161220003&amp;</a:t>
            </a:r>
            <a:r>
              <a:rPr kumimoji="1" lang="zh-CN" altLang="en-US" sz="1600" dirty="0" smtClean="0"/>
              <a:t>余</a:t>
            </a:r>
            <a:r>
              <a:rPr kumimoji="1" lang="zh-CN" altLang="en-US" sz="1600" dirty="0"/>
              <a:t>泽鹏  </a:t>
            </a:r>
            <a:r>
              <a:rPr kumimoji="1" lang="en-US" altLang="zh-CN" sz="1600" dirty="0"/>
              <a:t>141220136</a:t>
            </a:r>
          </a:p>
          <a:p>
            <a:endParaRPr kumimoji="1" lang="zh-CN" altLang="en-US" sz="1600" dirty="0"/>
          </a:p>
          <a:p>
            <a:endParaRPr kumimoji="1" lang="en-US" altLang="zh-CN" sz="1600" dirty="0"/>
          </a:p>
          <a:p>
            <a:endParaRPr kumimoji="1" lang="en-US" altLang="zh-CN" sz="1600" dirty="0" smtClean="0"/>
          </a:p>
        </p:txBody>
      </p:sp>
    </p:spTree>
    <p:extLst>
      <p:ext uri="{BB962C8B-B14F-4D97-AF65-F5344CB8AC3E}">
        <p14:creationId xmlns:p14="http://schemas.microsoft.com/office/powerpoint/2010/main" val="170774613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58109" y="1477818"/>
            <a:ext cx="8395854" cy="1763560"/>
          </a:xfrm>
          <a:prstGeom prst="rect">
            <a:avLst/>
          </a:prstGeom>
          <a:noFill/>
        </p:spPr>
        <p:txBody>
          <a:bodyPr wrap="square" rtlCol="0">
            <a:spAutoFit/>
          </a:bodyPr>
          <a:lstStyle/>
          <a:p>
            <a:pPr algn="ctr" defTabSz="914400"/>
            <a:r>
              <a:rPr lang="zh-CN" altLang="en-US" sz="4400" b="1" dirty="0">
                <a:solidFill>
                  <a:schemeClr val="accent1"/>
                </a:solidFill>
                <a:sym typeface="+mn-lt"/>
              </a:rPr>
              <a:t>在软件项目研发中</a:t>
            </a:r>
            <a:r>
              <a:rPr lang="zh-CN" altLang="en-US" sz="4400" b="1" dirty="0" smtClean="0">
                <a:solidFill>
                  <a:schemeClr val="accent1"/>
                </a:solidFill>
                <a:sym typeface="+mn-lt"/>
              </a:rPr>
              <a:t>，</a:t>
            </a:r>
            <a:endParaRPr lang="en-US" altLang="zh-CN" sz="4400" b="1" dirty="0" smtClean="0">
              <a:solidFill>
                <a:schemeClr val="accent1"/>
              </a:solidFill>
              <a:sym typeface="+mn-lt"/>
            </a:endParaRPr>
          </a:p>
          <a:p>
            <a:pPr algn="ctr" defTabSz="914400"/>
            <a:r>
              <a:rPr lang="zh-CN" altLang="en-US" sz="4400" b="1" dirty="0" smtClean="0">
                <a:solidFill>
                  <a:schemeClr val="accent1"/>
                </a:solidFill>
                <a:sym typeface="+mn-lt"/>
              </a:rPr>
              <a:t>哪</a:t>
            </a:r>
            <a:r>
              <a:rPr lang="zh-CN" altLang="en-US" sz="4400" b="1" dirty="0">
                <a:solidFill>
                  <a:schemeClr val="accent1"/>
                </a:solidFill>
                <a:sym typeface="+mn-lt"/>
              </a:rPr>
              <a:t>一个因素对全局的影响更大</a:t>
            </a:r>
            <a:endParaRPr lang="en-US" altLang="zh-CN" sz="4400" b="1" dirty="0">
              <a:solidFill>
                <a:schemeClr val="accent1"/>
              </a:solidFill>
              <a:sym typeface="+mn-lt"/>
            </a:endParaRPr>
          </a:p>
          <a:p>
            <a:pPr>
              <a:lnSpc>
                <a:spcPct val="130000"/>
              </a:lnSpc>
              <a:spcBef>
                <a:spcPts val="600"/>
              </a:spcBef>
            </a:pPr>
            <a:endParaRPr lang="zh-CN" altLang="en-US" sz="1200" kern="0" dirty="0">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3505310" y="3705072"/>
            <a:ext cx="5301451" cy="923330"/>
          </a:xfrm>
          <a:prstGeom prst="rect">
            <a:avLst/>
          </a:prstGeom>
          <a:noFill/>
        </p:spPr>
        <p:txBody>
          <a:bodyPr wrap="none" lIns="91440" tIns="45720" rIns="91440" bIns="45720">
            <a:spAutoFit/>
          </a:bodyPr>
          <a:lstStyle/>
          <a:p>
            <a:pPr algn="ctr"/>
            <a:r>
              <a:rPr lang="zh-CN" altLang="en-US" sz="5400" b="0" cap="none" spc="0" dirty="0" smtClean="0">
                <a:ln w="0"/>
                <a:solidFill>
                  <a:schemeClr val="accent2">
                    <a:lumMod val="75000"/>
                    <a:lumOff val="25000"/>
                  </a:schemeClr>
                </a:solidFill>
                <a:effectLst>
                  <a:outerShdw blurRad="38100" dist="19050" dir="2700000" algn="tl" rotWithShape="0">
                    <a:schemeClr val="dk1">
                      <a:alpha val="40000"/>
                    </a:schemeClr>
                  </a:outerShdw>
                </a:effectLst>
              </a:rPr>
              <a:t>管理</a:t>
            </a:r>
            <a:r>
              <a:rPr lang="zh-CN" altLang="en-US" sz="5400" b="0" cap="none" spc="0" dirty="0" smtClean="0">
                <a:ln w="0"/>
                <a:solidFill>
                  <a:schemeClr val="accent1">
                    <a:lumMod val="50000"/>
                  </a:schemeClr>
                </a:solidFill>
                <a:effectLst>
                  <a:outerShdw blurRad="38100" dist="19050" dir="2700000" algn="tl" rotWithShape="0">
                    <a:schemeClr val="dk1">
                      <a:alpha val="40000"/>
                    </a:schemeClr>
                  </a:outerShdw>
                </a:effectLst>
              </a:rPr>
              <a:t>    </a:t>
            </a:r>
            <a:r>
              <a:rPr lang="en-US" altLang="zh-CN" sz="5400" b="0" cap="none" spc="0" dirty="0" smtClean="0">
                <a:ln w="0"/>
                <a:solidFill>
                  <a:schemeClr val="accent1">
                    <a:lumMod val="50000"/>
                  </a:schemeClr>
                </a:solidFill>
                <a:effectLst>
                  <a:outerShdw blurRad="38100" dist="19050" dir="2700000" algn="tl" rotWithShape="0">
                    <a:schemeClr val="dk1">
                      <a:alpha val="40000"/>
                    </a:schemeClr>
                  </a:outerShdw>
                </a:effectLst>
              </a:rPr>
              <a:t>OR    </a:t>
            </a:r>
            <a:r>
              <a:rPr lang="zh-CN" altLang="en-US" sz="5400" b="0" cap="none" spc="0" dirty="0" smtClean="0">
                <a:ln w="0"/>
                <a:solidFill>
                  <a:srgbClr val="00B050"/>
                </a:solidFill>
                <a:effectLst>
                  <a:outerShdw blurRad="38100" dist="19050" dir="2700000" algn="tl" rotWithShape="0">
                    <a:schemeClr val="dk1">
                      <a:alpha val="40000"/>
                    </a:schemeClr>
                  </a:outerShdw>
                </a:effectLst>
              </a:rPr>
              <a:t>技术</a:t>
            </a:r>
            <a:endParaRPr lang="zh-CN" altLang="en-US" sz="5400" b="0" cap="none" spc="0" dirty="0">
              <a:ln w="0"/>
              <a:solidFill>
                <a:schemeClr val="accent1">
                  <a:lumMod val="50000"/>
                </a:schemeClr>
              </a:solidFill>
              <a:effectLst>
                <a:outerShdw blurRad="38100" dist="19050" dir="2700000" algn="tl" rotWithShape="0">
                  <a:schemeClr val="dk1">
                    <a:alpha val="40000"/>
                  </a:schemeClr>
                </a:outerShdw>
              </a:effectLst>
            </a:endParaRPr>
          </a:p>
        </p:txBody>
      </p:sp>
      <p:sp>
        <p:nvSpPr>
          <p:cNvPr id="5" name="矩形 4"/>
          <p:cNvSpPr/>
          <p:nvPr/>
        </p:nvSpPr>
        <p:spPr>
          <a:xfrm rot="1750273">
            <a:off x="5558604" y="3488683"/>
            <a:ext cx="2540511" cy="1862048"/>
          </a:xfrm>
          <a:prstGeom prst="rect">
            <a:avLst/>
          </a:prstGeom>
        </p:spPr>
        <p:txBody>
          <a:bodyPr wrap="square">
            <a:spAutoFit/>
          </a:bodyPr>
          <a:lstStyle/>
          <a:p>
            <a:r>
              <a:rPr lang="zh-CN" altLang="en-US" sz="11500" dirty="0">
                <a:ln w="0"/>
                <a:solidFill>
                  <a:srgbClr val="FF0000"/>
                </a:solidFill>
                <a:effectLst>
                  <a:outerShdw blurRad="38100" dist="19050" dir="2700000" algn="tl" rotWithShape="0">
                    <a:schemeClr val="dk1">
                      <a:alpha val="40000"/>
                    </a:schemeClr>
                  </a:outerShdw>
                </a:effectLst>
              </a:rPr>
              <a:t>？</a:t>
            </a:r>
            <a:endParaRPr lang="zh-CN" altLang="en-US" sz="11500" dirty="0">
              <a:solidFill>
                <a:srgbClr val="FF0000"/>
              </a:solidFill>
            </a:endParaRPr>
          </a:p>
        </p:txBody>
      </p:sp>
    </p:spTree>
    <p:extLst>
      <p:ext uri="{BB962C8B-B14F-4D97-AF65-F5344CB8AC3E}">
        <p14:creationId xmlns:p14="http://schemas.microsoft.com/office/powerpoint/2010/main" val="23363020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435160" y="251636"/>
            <a:ext cx="3777244" cy="405376"/>
          </a:xfrm>
        </p:spPr>
        <p:txBody>
          <a:bodyPr/>
          <a:lstStyle/>
          <a:p>
            <a:r>
              <a:rPr kumimoji="1" lang="zh-CN" altLang="en-US" sz="2400" dirty="0"/>
              <a:t>软件工程与软件过程管理</a:t>
            </a:r>
          </a:p>
        </p:txBody>
      </p:sp>
      <p:sp>
        <p:nvSpPr>
          <p:cNvPr id="5" name="燕尾形 4"/>
          <p:cNvSpPr/>
          <p:nvPr/>
        </p:nvSpPr>
        <p:spPr>
          <a:xfrm>
            <a:off x="771891" y="2395181"/>
            <a:ext cx="2661313" cy="552735"/>
          </a:xfrm>
          <a:prstGeom prst="chevr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r>
              <a:rPr lang="zh-CN" altLang="en-US" b="1" dirty="0" smtClean="0">
                <a:solidFill>
                  <a:schemeClr val="bg1"/>
                </a:solidFill>
              </a:rPr>
              <a:t>困境</a:t>
            </a:r>
            <a:endParaRPr kumimoji="1" lang="zh-CN" altLang="en-US" sz="1400" b="1" dirty="0">
              <a:solidFill>
                <a:schemeClr val="bg1"/>
              </a:solidFill>
            </a:endParaRPr>
          </a:p>
        </p:txBody>
      </p:sp>
      <p:sp>
        <p:nvSpPr>
          <p:cNvPr id="49" name="文本占位符 3"/>
          <p:cNvSpPr txBox="1">
            <a:spLocks/>
          </p:cNvSpPr>
          <p:nvPr/>
        </p:nvSpPr>
        <p:spPr>
          <a:xfrm>
            <a:off x="795745" y="3281605"/>
            <a:ext cx="2613604" cy="24497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en-US" altLang="zh-CN" sz="1600" dirty="0">
                <a:solidFill>
                  <a:schemeClr val="bg1">
                    <a:lumMod val="50000"/>
                  </a:schemeClr>
                </a:solidFill>
              </a:rPr>
              <a:t>20</a:t>
            </a:r>
            <a:r>
              <a:rPr kumimoji="1" lang="zh-CN" altLang="en-US" sz="1600" dirty="0">
                <a:solidFill>
                  <a:schemeClr val="bg1">
                    <a:lumMod val="50000"/>
                  </a:schemeClr>
                </a:solidFill>
              </a:rPr>
              <a:t>世纪</a:t>
            </a:r>
            <a:r>
              <a:rPr kumimoji="1" lang="en-US" altLang="zh-CN" sz="1600" dirty="0">
                <a:solidFill>
                  <a:schemeClr val="bg1">
                    <a:lumMod val="50000"/>
                  </a:schemeClr>
                </a:solidFill>
              </a:rPr>
              <a:t>60</a:t>
            </a:r>
            <a:r>
              <a:rPr kumimoji="1" lang="zh-CN" altLang="en-US" sz="1600" dirty="0">
                <a:solidFill>
                  <a:schemeClr val="bg1">
                    <a:lumMod val="50000"/>
                  </a:schemeClr>
                </a:solidFill>
              </a:rPr>
              <a:t>年代末期，由于计算机应用技术的发展，尤其是硬件技术的迅猛发展，使计算机应用软件的规模和复杂性不断增加。原有的软件开发适应不了形势需要。</a:t>
            </a:r>
          </a:p>
        </p:txBody>
      </p:sp>
      <p:sp>
        <p:nvSpPr>
          <p:cNvPr id="55" name="燕尾形 54"/>
          <p:cNvSpPr/>
          <p:nvPr/>
        </p:nvSpPr>
        <p:spPr>
          <a:xfrm>
            <a:off x="3434193" y="2395181"/>
            <a:ext cx="2661313" cy="552735"/>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r>
              <a:rPr lang="zh-CN" altLang="en-US" b="1" dirty="0">
                <a:solidFill>
                  <a:schemeClr val="bg1"/>
                </a:solidFill>
              </a:rPr>
              <a:t>软件工程</a:t>
            </a:r>
            <a:endParaRPr kumimoji="1" lang="zh-CN" altLang="en-US" sz="1400" b="1" dirty="0">
              <a:solidFill>
                <a:schemeClr val="bg1"/>
              </a:solidFill>
            </a:endParaRPr>
          </a:p>
        </p:txBody>
      </p:sp>
      <p:sp>
        <p:nvSpPr>
          <p:cNvPr id="57" name="文本占位符 3"/>
          <p:cNvSpPr txBox="1">
            <a:spLocks/>
          </p:cNvSpPr>
          <p:nvPr/>
        </p:nvSpPr>
        <p:spPr>
          <a:xfrm>
            <a:off x="3458047" y="3281606"/>
            <a:ext cx="2613604" cy="21558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zh-CN" altLang="en-US" sz="1600" dirty="0">
                <a:solidFill>
                  <a:schemeClr val="bg1">
                    <a:lumMod val="50000"/>
                  </a:schemeClr>
                </a:solidFill>
              </a:rPr>
              <a:t>旨在确定软件开发技术的规范，为管理软件开发过程，使其工程化，具有大规模生产的特性</a:t>
            </a:r>
            <a:r>
              <a:rPr kumimoji="1" lang="zh-CN" altLang="en-US" sz="1600" dirty="0" smtClean="0">
                <a:solidFill>
                  <a:schemeClr val="bg1">
                    <a:lumMod val="50000"/>
                  </a:schemeClr>
                </a:solidFill>
              </a:rPr>
              <a:t>。</a:t>
            </a:r>
            <a:endParaRPr kumimoji="1" lang="en-US" altLang="zh-CN" sz="1600" dirty="0" smtClean="0">
              <a:solidFill>
                <a:schemeClr val="bg1">
                  <a:lumMod val="50000"/>
                </a:schemeClr>
              </a:solidFill>
            </a:endParaRPr>
          </a:p>
          <a:p>
            <a:pPr marL="0" indent="0">
              <a:lnSpc>
                <a:spcPct val="130000"/>
              </a:lnSpc>
              <a:buNone/>
            </a:pPr>
            <a:r>
              <a:rPr kumimoji="1" lang="zh-CN" altLang="en-US" sz="1600" dirty="0" smtClean="0">
                <a:solidFill>
                  <a:schemeClr val="bg1">
                    <a:lumMod val="50000"/>
                  </a:schemeClr>
                </a:solidFill>
              </a:rPr>
              <a:t>规范化，文档化</a:t>
            </a:r>
            <a:endParaRPr kumimoji="1" lang="en-US" altLang="zh-CN" sz="1600" dirty="0">
              <a:solidFill>
                <a:schemeClr val="bg1">
                  <a:lumMod val="50000"/>
                </a:schemeClr>
              </a:solidFill>
            </a:endParaRPr>
          </a:p>
        </p:txBody>
      </p:sp>
      <p:sp>
        <p:nvSpPr>
          <p:cNvPr id="71" name="燕尾形 70"/>
          <p:cNvSpPr/>
          <p:nvPr/>
        </p:nvSpPr>
        <p:spPr>
          <a:xfrm>
            <a:off x="6096495" y="2395181"/>
            <a:ext cx="2661313" cy="552735"/>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r>
              <a:rPr lang="zh-CN" altLang="en-US" b="1" dirty="0" smtClean="0">
                <a:solidFill>
                  <a:schemeClr val="bg1"/>
                </a:solidFill>
              </a:rPr>
              <a:t>软件过程管理</a:t>
            </a:r>
            <a:endParaRPr kumimoji="1" lang="zh-CN" altLang="en-US" b="1" dirty="0">
              <a:solidFill>
                <a:schemeClr val="bg1"/>
              </a:solidFill>
            </a:endParaRPr>
          </a:p>
        </p:txBody>
      </p:sp>
      <p:sp>
        <p:nvSpPr>
          <p:cNvPr id="72" name="文本占位符 3"/>
          <p:cNvSpPr txBox="1">
            <a:spLocks/>
          </p:cNvSpPr>
          <p:nvPr/>
        </p:nvSpPr>
        <p:spPr>
          <a:xfrm>
            <a:off x="6120349" y="3281605"/>
            <a:ext cx="2613604" cy="26293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zh-CN" altLang="en-US" sz="1600" dirty="0">
                <a:solidFill>
                  <a:schemeClr val="bg1">
                    <a:lumMod val="50000"/>
                  </a:schemeClr>
                </a:solidFill>
              </a:rPr>
              <a:t>软件开发过程中</a:t>
            </a:r>
            <a:r>
              <a:rPr kumimoji="1" lang="zh-CN" altLang="en-US" sz="1600" dirty="0" smtClean="0">
                <a:solidFill>
                  <a:schemeClr val="bg1">
                    <a:lumMod val="50000"/>
                  </a:schemeClr>
                </a:solidFill>
              </a:rPr>
              <a:t>除了技术</a:t>
            </a:r>
            <a:r>
              <a:rPr kumimoji="1" lang="zh-CN" altLang="en-US" sz="1600" dirty="0">
                <a:solidFill>
                  <a:schemeClr val="bg1">
                    <a:lumMod val="50000"/>
                  </a:schemeClr>
                </a:solidFill>
              </a:rPr>
              <a:t>和开发方法，还有一整套的管理方法</a:t>
            </a:r>
            <a:r>
              <a:rPr kumimoji="1" lang="zh-CN" altLang="en-US" sz="1600" dirty="0" smtClean="0">
                <a:solidFill>
                  <a:schemeClr val="bg1">
                    <a:lumMod val="50000"/>
                  </a:schemeClr>
                </a:solidFill>
              </a:rPr>
              <a:t>。</a:t>
            </a:r>
            <a:endParaRPr kumimoji="1" lang="en-US" altLang="zh-CN" sz="1600" dirty="0" smtClean="0">
              <a:solidFill>
                <a:schemeClr val="bg1">
                  <a:lumMod val="50000"/>
                </a:schemeClr>
              </a:solidFill>
            </a:endParaRPr>
          </a:p>
          <a:p>
            <a:pPr marL="0" indent="0">
              <a:lnSpc>
                <a:spcPct val="130000"/>
              </a:lnSpc>
              <a:buNone/>
            </a:pPr>
            <a:r>
              <a:rPr kumimoji="1" lang="zh-CN" altLang="en-US" sz="1600" dirty="0" smtClean="0">
                <a:solidFill>
                  <a:schemeClr val="bg1">
                    <a:lumMod val="50000"/>
                  </a:schemeClr>
                </a:solidFill>
              </a:rPr>
              <a:t>侧重</a:t>
            </a:r>
            <a:r>
              <a:rPr kumimoji="1" lang="zh-CN" altLang="en-US" sz="1600" dirty="0">
                <a:solidFill>
                  <a:schemeClr val="bg1">
                    <a:lumMod val="50000"/>
                  </a:schemeClr>
                </a:solidFill>
              </a:rPr>
              <a:t>的是软件企业在软件开发过程中对需求管理，计划安排，质量要求等的管理方式。</a:t>
            </a:r>
          </a:p>
        </p:txBody>
      </p:sp>
      <p:sp>
        <p:nvSpPr>
          <p:cNvPr id="74" name="燕尾形 73"/>
          <p:cNvSpPr/>
          <p:nvPr/>
        </p:nvSpPr>
        <p:spPr>
          <a:xfrm>
            <a:off x="8758796" y="2395181"/>
            <a:ext cx="2661313" cy="5527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r>
              <a:rPr lang="en-US" altLang="zh-CN" sz="2000" b="1" dirty="0" smtClean="0">
                <a:solidFill>
                  <a:schemeClr val="bg1"/>
                </a:solidFill>
              </a:rPr>
              <a:t>CMM</a:t>
            </a:r>
            <a:endParaRPr kumimoji="1" lang="zh-CN" altLang="en-US" sz="2000" b="1" dirty="0">
              <a:solidFill>
                <a:schemeClr val="bg1"/>
              </a:solidFill>
            </a:endParaRPr>
          </a:p>
        </p:txBody>
      </p:sp>
      <p:sp>
        <p:nvSpPr>
          <p:cNvPr id="75" name="文本占位符 3"/>
          <p:cNvSpPr txBox="1">
            <a:spLocks/>
          </p:cNvSpPr>
          <p:nvPr/>
        </p:nvSpPr>
        <p:spPr>
          <a:xfrm>
            <a:off x="8782650" y="3281605"/>
            <a:ext cx="2613604" cy="16496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zh-CN" altLang="en-US" sz="1600" dirty="0" smtClean="0">
                <a:solidFill>
                  <a:schemeClr val="bg1">
                    <a:lumMod val="50000"/>
                  </a:schemeClr>
                </a:solidFill>
              </a:rPr>
              <a:t>从</a:t>
            </a:r>
            <a:r>
              <a:rPr kumimoji="1" lang="en-US" altLang="zh-CN" sz="1600" dirty="0" smtClean="0">
                <a:solidFill>
                  <a:schemeClr val="bg1">
                    <a:lumMod val="50000"/>
                  </a:schemeClr>
                </a:solidFill>
              </a:rPr>
              <a:t>80</a:t>
            </a:r>
            <a:r>
              <a:rPr kumimoji="1" lang="zh-CN" altLang="en-US" sz="1600" dirty="0" smtClean="0">
                <a:solidFill>
                  <a:schemeClr val="bg1">
                    <a:lumMod val="50000"/>
                  </a:schemeClr>
                </a:solidFill>
              </a:rPr>
              <a:t>年代中期开始，由美国国防部资助，</a:t>
            </a:r>
            <a:r>
              <a:rPr kumimoji="1" lang="en-US" altLang="zh-CN" sz="1600" dirty="0" smtClean="0">
                <a:solidFill>
                  <a:schemeClr val="bg1">
                    <a:lumMod val="50000"/>
                  </a:schemeClr>
                </a:solidFill>
              </a:rPr>
              <a:t>SEI</a:t>
            </a:r>
            <a:r>
              <a:rPr kumimoji="1" lang="zh-CN" altLang="en-US" sz="1600" dirty="0" smtClean="0">
                <a:solidFill>
                  <a:schemeClr val="bg1">
                    <a:lumMod val="50000"/>
                  </a:schemeClr>
                </a:solidFill>
              </a:rPr>
              <a:t>最先提出的“软件能力成熟度模型”理论及其应用在</a:t>
            </a:r>
            <a:r>
              <a:rPr kumimoji="1" lang="en-US" altLang="zh-CN" sz="1600" dirty="0" smtClean="0">
                <a:solidFill>
                  <a:schemeClr val="bg1">
                    <a:lumMod val="50000"/>
                  </a:schemeClr>
                </a:solidFill>
              </a:rPr>
              <a:t>90</a:t>
            </a:r>
            <a:r>
              <a:rPr kumimoji="1" lang="zh-CN" altLang="en-US" sz="1600" dirty="0" smtClean="0">
                <a:solidFill>
                  <a:schemeClr val="bg1">
                    <a:lumMod val="50000"/>
                  </a:schemeClr>
                </a:solidFill>
              </a:rPr>
              <a:t>年代正式发表为研究成果。</a:t>
            </a:r>
            <a:endParaRPr kumimoji="1" lang="zh-CN" altLang="en-US" sz="1600" dirty="0">
              <a:solidFill>
                <a:schemeClr val="bg1">
                  <a:lumMod val="50000"/>
                </a:schemeClr>
              </a:solidFill>
            </a:endParaRPr>
          </a:p>
        </p:txBody>
      </p:sp>
    </p:spTree>
    <p:extLst>
      <p:ext uri="{BB962C8B-B14F-4D97-AF65-F5344CB8AC3E}">
        <p14:creationId xmlns:p14="http://schemas.microsoft.com/office/powerpoint/2010/main" val="3768640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a:spLocks/>
          </p:cNvSpPr>
          <p:nvPr/>
        </p:nvSpPr>
        <p:spPr bwMode="auto">
          <a:xfrm>
            <a:off x="9702598" y="3254699"/>
            <a:ext cx="499685" cy="1039972"/>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Freeform 8"/>
          <p:cNvSpPr>
            <a:spLocks/>
          </p:cNvSpPr>
          <p:nvPr/>
        </p:nvSpPr>
        <p:spPr bwMode="auto">
          <a:xfrm>
            <a:off x="8171418" y="3254699"/>
            <a:ext cx="501471" cy="1354859"/>
          </a:xfrm>
          <a:custGeom>
            <a:avLst/>
            <a:gdLst>
              <a:gd name="T0" fmla="*/ 281 w 281"/>
              <a:gd name="T1" fmla="*/ 278 h 1123"/>
              <a:gd name="T2" fmla="*/ 281 w 281"/>
              <a:gd name="T3" fmla="*/ 1123 h 1123"/>
              <a:gd name="T4" fmla="*/ 0 w 281"/>
              <a:gd name="T5" fmla="*/ 842 h 1123"/>
              <a:gd name="T6" fmla="*/ 0 w 281"/>
              <a:gd name="T7" fmla="*/ 0 h 1123"/>
              <a:gd name="T8" fmla="*/ 279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9"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Freeform 10"/>
          <p:cNvSpPr>
            <a:spLocks/>
          </p:cNvSpPr>
          <p:nvPr/>
        </p:nvSpPr>
        <p:spPr bwMode="auto">
          <a:xfrm>
            <a:off x="6642022" y="3254699"/>
            <a:ext cx="501471" cy="1354859"/>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Freeform 12"/>
          <p:cNvSpPr>
            <a:spLocks/>
          </p:cNvSpPr>
          <p:nvPr/>
        </p:nvSpPr>
        <p:spPr bwMode="auto">
          <a:xfrm>
            <a:off x="5112626" y="3254699"/>
            <a:ext cx="499685"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Freeform 14"/>
          <p:cNvSpPr>
            <a:spLocks/>
          </p:cNvSpPr>
          <p:nvPr/>
        </p:nvSpPr>
        <p:spPr bwMode="auto">
          <a:xfrm>
            <a:off x="3583230" y="3254699"/>
            <a:ext cx="499685"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Freeform 16"/>
          <p:cNvSpPr>
            <a:spLocks/>
          </p:cNvSpPr>
          <p:nvPr/>
        </p:nvSpPr>
        <p:spPr bwMode="auto">
          <a:xfrm>
            <a:off x="2053834" y="3254699"/>
            <a:ext cx="499685"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Freeform 17"/>
          <p:cNvSpPr>
            <a:spLocks/>
          </p:cNvSpPr>
          <p:nvPr/>
        </p:nvSpPr>
        <p:spPr bwMode="auto">
          <a:xfrm>
            <a:off x="10485175" y="3365004"/>
            <a:ext cx="1101093" cy="1024288"/>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1"/>
          </a:solidFill>
          <a:ln>
            <a:noFill/>
          </a:ln>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6" name="组合 35"/>
          <p:cNvGrpSpPr/>
          <p:nvPr/>
        </p:nvGrpSpPr>
        <p:grpSpPr>
          <a:xfrm>
            <a:off x="1035295" y="3258218"/>
            <a:ext cx="2309263" cy="1350033"/>
            <a:chOff x="882491" y="2261909"/>
            <a:chExt cx="959665" cy="1012525"/>
          </a:xfrm>
        </p:grpSpPr>
        <p:sp>
          <p:nvSpPr>
            <p:cNvPr id="13" name="Freeform 15"/>
            <p:cNvSpPr>
              <a:spLocks/>
            </p:cNvSpPr>
            <p:nvPr/>
          </p:nvSpPr>
          <p:spPr bwMode="auto">
            <a:xfrm>
              <a:off x="967016" y="2261909"/>
              <a:ext cx="772282" cy="1012525"/>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ext Placeholder 59"/>
            <p:cNvSpPr txBox="1">
              <a:spLocks/>
            </p:cNvSpPr>
            <p:nvPr/>
          </p:nvSpPr>
          <p:spPr>
            <a:xfrm>
              <a:off x="882491" y="2383410"/>
              <a:ext cx="959665" cy="585289"/>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400" dirty="0">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sym typeface="微软雅黑" panose="020B0503020204020204" pitchFamily="34" charset="-122"/>
                </a:rPr>
                <a:t>世纪</a:t>
              </a:r>
              <a:endParaRPr lang="en-US" altLang="zh-CN" sz="2400" dirty="0">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sym typeface="微软雅黑" panose="020B0503020204020204" pitchFamily="34" charset="-122"/>
                </a:rPr>
                <a:t>70</a:t>
              </a:r>
              <a:r>
                <a:rPr lang="zh-CN" altLang="en-US" sz="2400" dirty="0">
                  <a:latin typeface="微软雅黑" panose="020B0503020204020204" pitchFamily="34" charset="-122"/>
                  <a:ea typeface="微软雅黑" panose="020B0503020204020204" pitchFamily="34" charset="-122"/>
                  <a:sym typeface="微软雅黑" panose="020B0503020204020204" pitchFamily="34" charset="-122"/>
                </a:rPr>
                <a:t>年代中期</a:t>
              </a:r>
              <a:endParaRPr lang="en-US" sz="2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0" name="组合 39"/>
          <p:cNvGrpSpPr/>
          <p:nvPr/>
        </p:nvGrpSpPr>
        <p:grpSpPr>
          <a:xfrm>
            <a:off x="4321588" y="3254699"/>
            <a:ext cx="2401273" cy="1354859"/>
            <a:chOff x="5468157" y="2261909"/>
            <a:chExt cx="959665" cy="1016144"/>
          </a:xfrm>
        </p:grpSpPr>
        <p:sp>
          <p:nvSpPr>
            <p:cNvPr id="5" name="Rectangle 7"/>
            <p:cNvSpPr>
              <a:spLocks noChangeArrowheads="1"/>
            </p:cNvSpPr>
            <p:nvPr/>
          </p:nvSpPr>
          <p:spPr bwMode="auto">
            <a:xfrm>
              <a:off x="5556542" y="2261909"/>
              <a:ext cx="770944"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 Placeholder 59"/>
            <p:cNvSpPr txBox="1">
              <a:spLocks/>
            </p:cNvSpPr>
            <p:nvPr/>
          </p:nvSpPr>
          <p:spPr>
            <a:xfrm>
              <a:off x="5468157"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400" dirty="0">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sym typeface="微软雅黑" panose="020B0503020204020204" pitchFamily="34" charset="-122"/>
                </a:rPr>
                <a:t>世纪</a:t>
              </a:r>
              <a:endParaRPr lang="en-US" altLang="zh-CN" sz="2400" dirty="0">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400" dirty="0" smtClean="0">
                  <a:latin typeface="微软雅黑" panose="020B0503020204020204" pitchFamily="34" charset="-122"/>
                  <a:ea typeface="微软雅黑" panose="020B0503020204020204" pitchFamily="34" charset="-122"/>
                  <a:sym typeface="微软雅黑" panose="020B0503020204020204" pitchFamily="34" charset="-122"/>
                </a:rPr>
                <a:t>90</a:t>
              </a:r>
              <a:r>
                <a:rPr lang="zh-CN" altLang="en-US" sz="2400" dirty="0">
                  <a:latin typeface="微软雅黑" panose="020B0503020204020204" pitchFamily="34" charset="-122"/>
                  <a:ea typeface="微软雅黑" panose="020B0503020204020204" pitchFamily="34" charset="-122"/>
                  <a:sym typeface="微软雅黑" panose="020B0503020204020204" pitchFamily="34" charset="-122"/>
                </a:rPr>
                <a:t>年代中期</a:t>
              </a:r>
              <a:endParaRPr lang="en-US" sz="2400" dirty="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1" name="组合 40"/>
          <p:cNvGrpSpPr/>
          <p:nvPr/>
        </p:nvGrpSpPr>
        <p:grpSpPr>
          <a:xfrm>
            <a:off x="7710548" y="3232296"/>
            <a:ext cx="2207571" cy="1377261"/>
            <a:chOff x="6653136" y="2261909"/>
            <a:chExt cx="959665" cy="1016144"/>
          </a:xfrm>
        </p:grpSpPr>
        <p:sp>
          <p:nvSpPr>
            <p:cNvPr id="4" name="Rectangle 6"/>
            <p:cNvSpPr>
              <a:spLocks noChangeArrowheads="1"/>
            </p:cNvSpPr>
            <p:nvPr/>
          </p:nvSpPr>
          <p:spPr bwMode="auto">
            <a:xfrm>
              <a:off x="6746828"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ext Placeholder 59"/>
            <p:cNvSpPr txBox="1">
              <a:spLocks/>
            </p:cNvSpPr>
            <p:nvPr/>
          </p:nvSpPr>
          <p:spPr>
            <a:xfrm>
              <a:off x="6653136" y="2399025"/>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667" dirty="0">
                  <a:latin typeface="微软雅黑" panose="020B0503020204020204" pitchFamily="34" charset="-122"/>
                  <a:ea typeface="微软雅黑" panose="020B0503020204020204" pitchFamily="34" charset="-122"/>
                  <a:sym typeface="微软雅黑" panose="020B0503020204020204" pitchFamily="34" charset="-122"/>
                </a:rPr>
                <a:t>1987</a:t>
              </a:r>
              <a:r>
                <a:rPr lang="zh-CN" altLang="en-US" sz="2667" dirty="0">
                  <a:latin typeface="微软雅黑" panose="020B0503020204020204" pitchFamily="34" charset="-122"/>
                  <a:ea typeface="微软雅黑" panose="020B0503020204020204" pitchFamily="34" charset="-122"/>
                  <a:sym typeface="微软雅黑" panose="020B0503020204020204" pitchFamily="34" charset="-122"/>
                </a:rPr>
                <a:t>年</a:t>
              </a:r>
              <a:endParaRPr lang="en-US" sz="2667" dirty="0">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Text Placeholder 59"/>
          <p:cNvSpPr txBox="1">
            <a:spLocks/>
          </p:cNvSpPr>
          <p:nvPr/>
        </p:nvSpPr>
        <p:spPr>
          <a:xfrm>
            <a:off x="6192011" y="1265922"/>
            <a:ext cx="3097117" cy="1861007"/>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美国卡内基梅隆大学软件研究所（</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SEI</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）受美国国防部的委托，率先在软件行业从软件过程能力的角度提出了软件过程成熟度模型（</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CMM</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），随后在全世界推广实施，用于评价软件承包能力并帮助其改善的方法。</a:t>
            </a:r>
            <a:endParaRPr lang="en-US" sz="1333" dirty="0">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27" name="Straight Connector 58"/>
          <p:cNvCxnSpPr/>
          <p:nvPr/>
        </p:nvCxnSpPr>
        <p:spPr>
          <a:xfrm>
            <a:off x="9552384" y="1310739"/>
            <a:ext cx="0" cy="192155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Text Placeholder 59"/>
          <p:cNvSpPr txBox="1">
            <a:spLocks/>
          </p:cNvSpPr>
          <p:nvPr/>
        </p:nvSpPr>
        <p:spPr>
          <a:xfrm>
            <a:off x="1503476" y="1310739"/>
            <a:ext cx="2559107" cy="1921557"/>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美国国防部发现</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70%</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的项目是因为管理不善而引起，而并不是因为技术实力不够，进而得出一个结论，即管理是影响软件研发项目全局的因素，而技术只影响局部。</a:t>
            </a:r>
          </a:p>
        </p:txBody>
      </p:sp>
      <p:sp>
        <p:nvSpPr>
          <p:cNvPr id="30" name="Text Placeholder 59"/>
          <p:cNvSpPr txBox="1">
            <a:spLocks/>
          </p:cNvSpPr>
          <p:nvPr/>
        </p:nvSpPr>
        <p:spPr>
          <a:xfrm>
            <a:off x="4841636" y="4711181"/>
            <a:ext cx="2130253"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软件管理工程不善的问题仍然存在，大约只有</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的项目能够在预定的费用和进度下交付。</a:t>
            </a:r>
            <a:endParaRPr lang="en-US" sz="1333" dirty="0">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31" name="Straight Connector 62"/>
          <p:cNvCxnSpPr/>
          <p:nvPr/>
        </p:nvCxnSpPr>
        <p:spPr>
          <a:xfrm flipH="1">
            <a:off x="1391477" y="1317909"/>
            <a:ext cx="1936" cy="193679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64"/>
          <p:cNvCxnSpPr/>
          <p:nvPr/>
        </p:nvCxnSpPr>
        <p:spPr>
          <a:xfrm>
            <a:off x="4751851" y="4602418"/>
            <a:ext cx="0" cy="14656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itle 1"/>
          <p:cNvSpPr txBox="1">
            <a:spLocks/>
          </p:cNvSpPr>
          <p:nvPr/>
        </p:nvSpPr>
        <p:spPr>
          <a:xfrm>
            <a:off x="1143840" y="266933"/>
            <a:ext cx="2839925" cy="50596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历 史 发 展</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81973193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5"/>
                                        </p:tgtEl>
                                        <p:attrNameLst>
                                          <p:attrName>ppt_y</p:attrName>
                                        </p:attrNameLst>
                                      </p:cBhvr>
                                      <p:tavLst>
                                        <p:tav tm="0">
                                          <p:val>
                                            <p:strVal val="#ppt_y"/>
                                          </p:val>
                                        </p:tav>
                                        <p:tav tm="100000">
                                          <p:val>
                                            <p:strVal val="#ppt_y"/>
                                          </p:val>
                                        </p:tav>
                                      </p:tavLst>
                                    </p:anim>
                                    <p:anim calcmode="lin" valueType="num">
                                      <p:cBhvr>
                                        <p:cTn id="9"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5"/>
                                        </p:tgtEl>
                                      </p:cBhvr>
                                    </p:animEffect>
                                  </p:childTnLst>
                                </p:cTn>
                              </p:par>
                            </p:childTnLst>
                          </p:cTn>
                        </p:par>
                        <p:par>
                          <p:cTn id="12" fill="hold">
                            <p:stCondLst>
                              <p:cond delay="650"/>
                            </p:stCondLst>
                            <p:childTnLst>
                              <p:par>
                                <p:cTn id="13" presetID="2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300"/>
                                        <p:tgtEl>
                                          <p:spTgt spid="36"/>
                                        </p:tgtEl>
                                      </p:cBhvr>
                                    </p:animEffect>
                                  </p:childTnLst>
                                </p:cTn>
                              </p:par>
                            </p:childTnLst>
                          </p:cTn>
                        </p:par>
                        <p:par>
                          <p:cTn id="16" fill="hold">
                            <p:stCondLst>
                              <p:cond delay="95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300"/>
                                        <p:tgtEl>
                                          <p:spTgt spid="14"/>
                                        </p:tgtEl>
                                      </p:cBhvr>
                                    </p:animEffect>
                                  </p:childTnLst>
                                </p:cTn>
                              </p:par>
                            </p:childTnLst>
                          </p:cTn>
                        </p:par>
                        <p:par>
                          <p:cTn id="20" fill="hold">
                            <p:stCondLst>
                              <p:cond delay="125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300"/>
                                        <p:tgtEl>
                                          <p:spTgt spid="12"/>
                                        </p:tgtEl>
                                      </p:cBhvr>
                                    </p:animEffect>
                                  </p:childTnLst>
                                </p:cTn>
                              </p:par>
                            </p:childTnLst>
                          </p:cTn>
                        </p:par>
                        <p:par>
                          <p:cTn id="24" fill="hold">
                            <p:stCondLst>
                              <p:cond delay="1550"/>
                            </p:stCondLst>
                            <p:childTnLst>
                              <p:par>
                                <p:cTn id="25" presetID="2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300"/>
                                        <p:tgtEl>
                                          <p:spTgt spid="10"/>
                                        </p:tgtEl>
                                      </p:cBhvr>
                                    </p:animEffect>
                                  </p:childTnLst>
                                </p:cTn>
                              </p:par>
                            </p:childTnLst>
                          </p:cTn>
                        </p:par>
                        <p:par>
                          <p:cTn id="28" fill="hold">
                            <p:stCondLst>
                              <p:cond delay="1850"/>
                            </p:stCondLst>
                            <p:childTnLst>
                              <p:par>
                                <p:cTn id="29" presetID="22" presetClass="entr" presetSubtype="8"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300"/>
                                        <p:tgtEl>
                                          <p:spTgt spid="8"/>
                                        </p:tgtEl>
                                      </p:cBhvr>
                                    </p:animEffect>
                                  </p:childTnLst>
                                </p:cTn>
                              </p:par>
                            </p:childTnLst>
                          </p:cTn>
                        </p:par>
                        <p:par>
                          <p:cTn id="32" fill="hold">
                            <p:stCondLst>
                              <p:cond delay="2150"/>
                            </p:stCondLst>
                            <p:childTnLst>
                              <p:par>
                                <p:cTn id="33" presetID="22" presetClass="entr" presetSubtype="4" fill="hold"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down)">
                                      <p:cBhvr>
                                        <p:cTn id="35" dur="300"/>
                                        <p:tgtEl>
                                          <p:spTgt spid="40"/>
                                        </p:tgtEl>
                                      </p:cBhvr>
                                    </p:animEffect>
                                  </p:childTnLst>
                                </p:cTn>
                              </p:par>
                            </p:childTnLst>
                          </p:cTn>
                        </p:par>
                        <p:par>
                          <p:cTn id="36" fill="hold">
                            <p:stCondLst>
                              <p:cond delay="2450"/>
                            </p:stCondLst>
                            <p:childTnLst>
                              <p:par>
                                <p:cTn id="37" presetID="22" presetClass="entr" presetSubtype="8"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300"/>
                                        <p:tgtEl>
                                          <p:spTgt spid="6"/>
                                        </p:tgtEl>
                                      </p:cBhvr>
                                    </p:animEffect>
                                  </p:childTnLst>
                                </p:cTn>
                              </p:par>
                            </p:childTnLst>
                          </p:cTn>
                        </p:par>
                        <p:par>
                          <p:cTn id="40" fill="hold">
                            <p:stCondLst>
                              <p:cond delay="2750"/>
                            </p:stCondLst>
                            <p:childTnLst>
                              <p:par>
                                <p:cTn id="41" presetID="22" presetClass="entr" presetSubtype="4"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down)">
                                      <p:cBhvr>
                                        <p:cTn id="43" dur="300"/>
                                        <p:tgtEl>
                                          <p:spTgt spid="41"/>
                                        </p:tgtEl>
                                      </p:cBhvr>
                                    </p:animEffect>
                                  </p:childTnLst>
                                </p:cTn>
                              </p:par>
                            </p:childTnLst>
                          </p:cTn>
                        </p:par>
                        <p:par>
                          <p:cTn id="44" fill="hold">
                            <p:stCondLst>
                              <p:cond delay="3050"/>
                            </p:stCondLst>
                            <p:childTnLst>
                              <p:par>
                                <p:cTn id="45" presetID="22" presetClass="entr" presetSubtype="8" fill="hold" grpId="0" nodeType="after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300"/>
                                        <p:tgtEl>
                                          <p:spTgt spid="3"/>
                                        </p:tgtEl>
                                      </p:cBhvr>
                                    </p:animEffect>
                                  </p:childTnLst>
                                </p:cTn>
                              </p:par>
                            </p:childTnLst>
                          </p:cTn>
                        </p:par>
                        <p:par>
                          <p:cTn id="48" fill="hold">
                            <p:stCondLst>
                              <p:cond delay="3350"/>
                            </p:stCondLst>
                            <p:childTnLst>
                              <p:par>
                                <p:cTn id="49" presetID="22" presetClass="entr" presetSubtype="8"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300"/>
                                        <p:tgtEl>
                                          <p:spTgt spid="15"/>
                                        </p:tgtEl>
                                      </p:cBhvr>
                                    </p:animEffect>
                                  </p:childTnLst>
                                </p:cTn>
                              </p:par>
                            </p:childTnLst>
                          </p:cTn>
                        </p:par>
                        <p:par>
                          <p:cTn id="52" fill="hold">
                            <p:stCondLst>
                              <p:cond delay="3650"/>
                            </p:stCondLst>
                            <p:childTnLst>
                              <p:par>
                                <p:cTn id="53" presetID="22" presetClass="entr" presetSubtype="4" fill="hold" nodeType="after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down)">
                                      <p:cBhvr>
                                        <p:cTn id="55" dur="500"/>
                                        <p:tgtEl>
                                          <p:spTgt spid="31"/>
                                        </p:tgtEl>
                                      </p:cBhvr>
                                    </p:animEffect>
                                  </p:childTnLst>
                                </p:cTn>
                              </p:par>
                            </p:childTnLst>
                          </p:cTn>
                        </p:par>
                        <p:par>
                          <p:cTn id="56" fill="hold">
                            <p:stCondLst>
                              <p:cond delay="4150"/>
                            </p:stCondLst>
                            <p:childTnLst>
                              <p:par>
                                <p:cTn id="57" presetID="22" presetClass="entr" presetSubtype="8"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wipe(left)">
                                      <p:cBhvr>
                                        <p:cTn id="59" dur="500"/>
                                        <p:tgtEl>
                                          <p:spTgt spid="28"/>
                                        </p:tgtEl>
                                      </p:cBhvr>
                                    </p:animEffect>
                                  </p:childTnLst>
                                </p:cTn>
                              </p:par>
                            </p:childTnLst>
                          </p:cTn>
                        </p:par>
                        <p:par>
                          <p:cTn id="60" fill="hold">
                            <p:stCondLst>
                              <p:cond delay="4650"/>
                            </p:stCondLst>
                            <p:childTnLst>
                              <p:par>
                                <p:cTn id="61" presetID="22" presetClass="entr" presetSubtype="4" fill="hold"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down)">
                                      <p:cBhvr>
                                        <p:cTn id="63" dur="500"/>
                                        <p:tgtEl>
                                          <p:spTgt spid="33"/>
                                        </p:tgtEl>
                                      </p:cBhvr>
                                    </p:animEffect>
                                  </p:childTnLst>
                                </p:cTn>
                              </p:par>
                            </p:childTnLst>
                          </p:cTn>
                        </p:par>
                        <p:par>
                          <p:cTn id="64" fill="hold">
                            <p:stCondLst>
                              <p:cond delay="5150"/>
                            </p:stCondLst>
                            <p:childTnLst>
                              <p:par>
                                <p:cTn id="65" presetID="22" presetClass="entr" presetSubtype="8"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childTnLst>
                          </p:cTn>
                        </p:par>
                        <p:par>
                          <p:cTn id="68" fill="hold">
                            <p:stCondLst>
                              <p:cond delay="5650"/>
                            </p:stCondLst>
                            <p:childTnLst>
                              <p:par>
                                <p:cTn id="69" presetID="22" presetClass="entr" presetSubtype="1" fill="hold" nodeType="after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wipe(up)">
                                      <p:cBhvr>
                                        <p:cTn id="71" dur="500"/>
                                        <p:tgtEl>
                                          <p:spTgt spid="27"/>
                                        </p:tgtEl>
                                      </p:cBhvr>
                                    </p:animEffect>
                                  </p:childTnLst>
                                </p:cTn>
                              </p:par>
                            </p:childTnLst>
                          </p:cTn>
                        </p:par>
                        <p:par>
                          <p:cTn id="72" fill="hold">
                            <p:stCondLst>
                              <p:cond delay="6150"/>
                            </p:stCondLst>
                            <p:childTnLst>
                              <p:par>
                                <p:cTn id="73" presetID="22" presetClass="entr" presetSubtype="8" fill="hold" grpId="0"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wipe(left)">
                                      <p:cBhvr>
                                        <p:cTn id="7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2" grpId="0" animBg="1"/>
      <p:bldP spid="14" grpId="0" animBg="1"/>
      <p:bldP spid="15" grpId="0" animBg="1"/>
      <p:bldP spid="26" grpId="0"/>
      <p:bldP spid="28" grpId="0"/>
      <p:bldP spid="30"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435159" y="251636"/>
            <a:ext cx="4064921" cy="405376"/>
          </a:xfrm>
        </p:spPr>
        <p:txBody>
          <a:bodyPr/>
          <a:lstStyle/>
          <a:p>
            <a:r>
              <a:rPr kumimoji="1" lang="zh-CN" altLang="en-US" sz="2400" dirty="0"/>
              <a:t>软件能力成熟度模型（</a:t>
            </a:r>
            <a:r>
              <a:rPr kumimoji="1" lang="en-US" altLang="zh-CN" sz="2400" dirty="0"/>
              <a:t>CMM</a:t>
            </a:r>
            <a:r>
              <a:rPr kumimoji="1" lang="zh-CN" altLang="en-US" sz="2400" dirty="0"/>
              <a:t>）</a:t>
            </a:r>
          </a:p>
        </p:txBody>
      </p:sp>
      <p:sp>
        <p:nvSpPr>
          <p:cNvPr id="3" name="矩形 2"/>
          <p:cNvSpPr/>
          <p:nvPr/>
        </p:nvSpPr>
        <p:spPr>
          <a:xfrm>
            <a:off x="1968346" y="1921353"/>
            <a:ext cx="8398525" cy="3046988"/>
          </a:xfrm>
          <a:prstGeom prst="rect">
            <a:avLst/>
          </a:prstGeom>
        </p:spPr>
        <p:txBody>
          <a:bodyPr wrap="square">
            <a:spAutoFit/>
          </a:bodyPr>
          <a:lstStyle/>
          <a:p>
            <a:r>
              <a:rPr lang="zh-CN" altLang="en-US" sz="2800" b="1" dirty="0">
                <a:solidFill>
                  <a:srgbClr val="222222"/>
                </a:solidFill>
                <a:latin typeface="Arial" panose="020B0604020202020204" pitchFamily="34" charset="0"/>
              </a:rPr>
              <a:t>能力成熟度模型（</a:t>
            </a:r>
            <a:r>
              <a:rPr lang="en-US" altLang="zh-CN" sz="2800" b="1" dirty="0">
                <a:solidFill>
                  <a:srgbClr val="222222"/>
                </a:solidFill>
                <a:latin typeface="Arial" panose="020B0604020202020204" pitchFamily="34" charset="0"/>
              </a:rPr>
              <a:t>CMM, Capability Maturity Model</a:t>
            </a:r>
            <a:r>
              <a:rPr lang="zh-CN" altLang="en-US" sz="2800" b="1" dirty="0" smtClean="0">
                <a:solidFill>
                  <a:srgbClr val="222222"/>
                </a:solidFill>
                <a:latin typeface="Arial" panose="020B0604020202020204" pitchFamily="34" charset="0"/>
              </a:rPr>
              <a:t>）</a:t>
            </a:r>
            <a:endParaRPr lang="en-US" altLang="zh-CN" sz="2800" b="1" dirty="0" smtClean="0">
              <a:solidFill>
                <a:srgbClr val="222222"/>
              </a:solidFill>
              <a:latin typeface="Arial" panose="020B0604020202020204" pitchFamily="34" charset="0"/>
            </a:endParaRPr>
          </a:p>
          <a:p>
            <a:endParaRPr lang="en-US" altLang="zh-CN" sz="2000" dirty="0" smtClean="0">
              <a:solidFill>
                <a:srgbClr val="222222"/>
              </a:solidFill>
              <a:latin typeface="Arial" panose="020B0604020202020204" pitchFamily="34" charset="0"/>
            </a:endParaRPr>
          </a:p>
          <a:p>
            <a:r>
              <a:rPr lang="zh-CN" altLang="en-US" sz="2400" dirty="0" smtClean="0">
                <a:solidFill>
                  <a:srgbClr val="222222"/>
                </a:solidFill>
                <a:latin typeface="Arial" panose="020B0604020202020204" pitchFamily="34" charset="0"/>
              </a:rPr>
              <a:t>是以软件开发专案</a:t>
            </a:r>
            <a:r>
              <a:rPr lang="zh-CN" altLang="en-US" sz="2400" dirty="0">
                <a:solidFill>
                  <a:srgbClr val="222222"/>
                </a:solidFill>
                <a:latin typeface="Arial" panose="020B0604020202020204" pitchFamily="34" charset="0"/>
              </a:rPr>
              <a:t>的自我能力改进及软件承包商的选定作为研究的目标，分析软件厂商开发能力，以及评选合格软件承包商的工具</a:t>
            </a:r>
            <a:r>
              <a:rPr lang="zh-CN" altLang="en-US" sz="2400" dirty="0" smtClean="0">
                <a:solidFill>
                  <a:srgbClr val="222222"/>
                </a:solidFill>
                <a:latin typeface="Arial" panose="020B0604020202020204" pitchFamily="34" charset="0"/>
              </a:rPr>
              <a:t>。</a:t>
            </a:r>
            <a:endParaRPr lang="en-US" altLang="zh-CN" sz="2400" dirty="0" smtClean="0">
              <a:solidFill>
                <a:srgbClr val="222222"/>
              </a:solidFill>
              <a:latin typeface="Arial" panose="020B0604020202020204" pitchFamily="34" charset="0"/>
            </a:endParaRPr>
          </a:p>
          <a:p>
            <a:endParaRPr lang="zh-CN" altLang="en-US" sz="2400" dirty="0">
              <a:solidFill>
                <a:srgbClr val="222222"/>
              </a:solidFill>
              <a:latin typeface="Arial" panose="020B0604020202020204" pitchFamily="34" charset="0"/>
            </a:endParaRPr>
          </a:p>
          <a:p>
            <a:r>
              <a:rPr lang="en-US" altLang="zh-CN" sz="2400" dirty="0">
                <a:solidFill>
                  <a:srgbClr val="222222"/>
                </a:solidFill>
                <a:latin typeface="Arial" panose="020B0604020202020204" pitchFamily="34" charset="0"/>
              </a:rPr>
              <a:t>CMM</a:t>
            </a:r>
            <a:r>
              <a:rPr lang="zh-CN" altLang="en-US" sz="2400" dirty="0">
                <a:solidFill>
                  <a:srgbClr val="222222"/>
                </a:solidFill>
                <a:latin typeface="Arial" panose="020B0604020202020204" pitchFamily="34" charset="0"/>
              </a:rPr>
              <a:t>涵盖一个成熟的软件发展组织所应具备的重要功能与项目，它描述了</a:t>
            </a:r>
            <a:r>
              <a:rPr lang="zh-CN" altLang="en-US" sz="2400" dirty="0">
                <a:solidFill>
                  <a:srgbClr val="FF0000"/>
                </a:solidFill>
                <a:latin typeface="Arial" panose="020B0604020202020204" pitchFamily="34" charset="0"/>
              </a:rPr>
              <a:t>软件发展的演进</a:t>
            </a:r>
            <a:r>
              <a:rPr lang="zh-CN" altLang="en-US" sz="2400" dirty="0" smtClean="0">
                <a:solidFill>
                  <a:srgbClr val="FF0000"/>
                </a:solidFill>
                <a:latin typeface="Arial" panose="020B0604020202020204" pitchFamily="34" charset="0"/>
              </a:rPr>
              <a:t>过程</a:t>
            </a:r>
            <a:r>
              <a:rPr lang="zh-CN" altLang="en-US" sz="2400" dirty="0" smtClean="0">
                <a:solidFill>
                  <a:srgbClr val="222222"/>
                </a:solidFill>
                <a:latin typeface="Arial" panose="020B0604020202020204" pitchFamily="34" charset="0"/>
              </a:rPr>
              <a:t>。</a:t>
            </a:r>
            <a:endParaRPr lang="zh-CN" altLang="en-US" sz="24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26626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p:cNvSpPr txBox="1">
            <a:spLocks/>
          </p:cNvSpPr>
          <p:nvPr/>
        </p:nvSpPr>
        <p:spPr>
          <a:xfrm>
            <a:off x="1156299" y="1220755"/>
            <a:ext cx="4398132" cy="67207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4267"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定义</a:t>
            </a:r>
            <a:r>
              <a:rPr lang="en-US" altLang="zh-CN" sz="4267"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4267" b="1" dirty="0">
                <a:solidFill>
                  <a:schemeClr val="accent1"/>
                </a:solidFill>
                <a:ea typeface="微软雅黑" panose="020B0503020204020204" pitchFamily="34" charset="-122"/>
                <a:sym typeface="微软雅黑" panose="020B0503020204020204" pitchFamily="34" charset="-122"/>
              </a:rPr>
              <a:t>Definition</a:t>
            </a:r>
            <a:endParaRPr lang="en-GB" sz="4267" b="1" dirty="0">
              <a:solidFill>
                <a:schemeClr val="accent1"/>
              </a:solidFill>
              <a:ea typeface="微软雅黑" panose="020B0503020204020204" pitchFamily="34" charset="-122"/>
              <a:sym typeface="微软雅黑" panose="020B0503020204020204" pitchFamily="34" charset="-122"/>
            </a:endParaRPr>
          </a:p>
        </p:txBody>
      </p:sp>
      <p:sp>
        <p:nvSpPr>
          <p:cNvPr id="5" name="TextBox 4"/>
          <p:cNvSpPr txBox="1"/>
          <p:nvPr/>
        </p:nvSpPr>
        <p:spPr>
          <a:xfrm>
            <a:off x="1305163" y="2392639"/>
            <a:ext cx="7296811" cy="3540202"/>
          </a:xfrm>
          <a:prstGeom prst="rect">
            <a:avLst/>
          </a:prstGeom>
          <a:noFill/>
        </p:spPr>
        <p:txBody>
          <a:bodyPr wrap="square" lIns="91445" tIns="45721" rIns="91445" bIns="45721" rtlCol="0">
            <a:spAutoFit/>
          </a:bodyPr>
          <a:lstStyle/>
          <a:p>
            <a:pPr marL="228594" indent="-228594" algn="just" eaLnBrk="0" hangingPunct="0">
              <a:lnSpc>
                <a:spcPct val="200000"/>
              </a:lnSpc>
              <a:buFont typeface="Arial" panose="020B0604020202020204" pitchFamily="34" charset="0"/>
              <a:buChar char="•"/>
            </a:pPr>
            <a:r>
              <a:rPr lang="en-US" altLang="zh-CN" sz="1867"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CMM(</a:t>
            </a:r>
            <a:r>
              <a:rPr lang="en-US" altLang="zh-CN" sz="1867" b="1" dirty="0">
                <a:solidFill>
                  <a:schemeClr val="tx1">
                    <a:lumMod val="85000"/>
                    <a:lumOff val="15000"/>
                  </a:schemeClr>
                </a:solidFill>
                <a:latin typeface="微软雅黑" panose="020B0503020204020204" pitchFamily="34" charset="-122"/>
                <a:ea typeface="微软雅黑" panose="020B0503020204020204" pitchFamily="34" charset="-122"/>
              </a:rPr>
              <a:t>Capability Maturity Model Integration</a:t>
            </a:r>
            <a:r>
              <a:rPr lang="en-US" altLang="zh-CN" sz="1867"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867"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是指“能力成熟度模型”，是对于软件组织在定义、实施、度量、控制和改善其软件过程的实践中各个发展阶段的描述。</a:t>
            </a:r>
            <a:endParaRPr lang="en-US" altLang="zh-CN" sz="1867"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228594" indent="-228594" algn="just" eaLnBrk="0" hangingPunct="0">
              <a:lnSpc>
                <a:spcPct val="200000"/>
              </a:lnSpc>
              <a:buFont typeface="Arial" panose="020B0604020202020204" pitchFamily="34" charset="0"/>
              <a:buChar char="•"/>
            </a:pPr>
            <a:r>
              <a:rPr lang="en-US" altLang="zh-CN" sz="1867"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CMM</a:t>
            </a:r>
            <a:r>
              <a:rPr lang="zh-CN" altLang="en-US" sz="1867"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的核心是把软件开发视为一个过程，并根据这一原则对软件开发和维护进行过程监控和研究，以使其更加科学化、标准化、使企业能够更好地实现商业目标。</a:t>
            </a:r>
          </a:p>
        </p:txBody>
      </p:sp>
      <p:sp>
        <p:nvSpPr>
          <p:cNvPr id="11" name="Parallelogram 21"/>
          <p:cNvSpPr/>
          <p:nvPr/>
        </p:nvSpPr>
        <p:spPr>
          <a:xfrm>
            <a:off x="9514760" y="-3821"/>
            <a:ext cx="2211840" cy="4808977"/>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Parallelogram 22"/>
          <p:cNvSpPr/>
          <p:nvPr/>
        </p:nvSpPr>
        <p:spPr>
          <a:xfrm>
            <a:off x="10128448" y="2049024"/>
            <a:ext cx="2211840" cy="4808977"/>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3" name="直接连接符 12"/>
          <p:cNvCxnSpPr/>
          <p:nvPr/>
        </p:nvCxnSpPr>
        <p:spPr>
          <a:xfrm>
            <a:off x="1305163" y="2058719"/>
            <a:ext cx="729681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8202919" y="1437155"/>
            <a:ext cx="454847" cy="455675"/>
            <a:chOff x="6084168" y="1274820"/>
            <a:chExt cx="432048" cy="432834"/>
          </a:xfrm>
        </p:grpSpPr>
        <p:sp>
          <p:nvSpPr>
            <p:cNvPr id="27"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45720" tIns="22860" rIns="45720" bIns="22860" anchor="ct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9" name="组合 28"/>
          <p:cNvGrpSpPr/>
          <p:nvPr/>
        </p:nvGrpSpPr>
        <p:grpSpPr>
          <a:xfrm>
            <a:off x="6889293" y="1437458"/>
            <a:ext cx="454847" cy="454847"/>
            <a:chOff x="4788024" y="1275213"/>
            <a:chExt cx="432048" cy="432048"/>
          </a:xfrm>
        </p:grpSpPr>
        <p:sp>
          <p:nvSpPr>
            <p:cNvPr id="30"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45720" tIns="22860" rIns="45720" bIns="22860" anchor="ct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2" name="组合 31"/>
          <p:cNvGrpSpPr/>
          <p:nvPr/>
        </p:nvGrpSpPr>
        <p:grpSpPr>
          <a:xfrm>
            <a:off x="7560541" y="1437155"/>
            <a:ext cx="455673" cy="455675"/>
            <a:chOff x="5436096" y="1274820"/>
            <a:chExt cx="432833" cy="432834"/>
          </a:xfrm>
        </p:grpSpPr>
        <p:sp>
          <p:nvSpPr>
            <p:cNvPr id="33"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45720" tIns="22860" rIns="45720" bIns="22860" anchor="ct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5" name="组合 34"/>
          <p:cNvGrpSpPr/>
          <p:nvPr/>
        </p:nvGrpSpPr>
        <p:grpSpPr>
          <a:xfrm>
            <a:off x="5544317" y="1437155"/>
            <a:ext cx="455673" cy="455675"/>
            <a:chOff x="3491880" y="1274820"/>
            <a:chExt cx="432833" cy="432834"/>
          </a:xfrm>
        </p:grpSpPr>
        <p:sp>
          <p:nvSpPr>
            <p:cNvPr id="36"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45720" tIns="22860" rIns="45720" bIns="22860" anchor="ct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8" name="组合 37"/>
          <p:cNvGrpSpPr/>
          <p:nvPr/>
        </p:nvGrpSpPr>
        <p:grpSpPr>
          <a:xfrm>
            <a:off x="6216392" y="1437155"/>
            <a:ext cx="455673" cy="455675"/>
            <a:chOff x="4139952" y="1274820"/>
            <a:chExt cx="432833" cy="432834"/>
          </a:xfrm>
        </p:grpSpPr>
        <p:sp>
          <p:nvSpPr>
            <p:cNvPr id="39"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45720" tIns="22860" rIns="45720" bIns="22860" anchor="ctr"/>
            <a:lstStyle/>
            <a:p>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spTree>
    <p:extLst>
      <p:ext uri="{BB962C8B-B14F-4D97-AF65-F5344CB8AC3E}">
        <p14:creationId xmlns:p14="http://schemas.microsoft.com/office/powerpoint/2010/main" val="36295117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dissolve">
                                      <p:cBhvr>
                                        <p:cTn id="16" dur="500"/>
                                        <p:tgtEl>
                                          <p:spTgt spid="4">
                                            <p:txEl>
                                              <p:pRg st="0" end="0"/>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p:cTn id="24" dur="500" fill="hold"/>
                                        <p:tgtEl>
                                          <p:spTgt spid="35"/>
                                        </p:tgtEl>
                                        <p:attrNameLst>
                                          <p:attrName>ppt_w</p:attrName>
                                        </p:attrNameLst>
                                      </p:cBhvr>
                                      <p:tavLst>
                                        <p:tav tm="0">
                                          <p:val>
                                            <p:fltVal val="0"/>
                                          </p:val>
                                        </p:tav>
                                        <p:tav tm="100000">
                                          <p:val>
                                            <p:strVal val="#ppt_w"/>
                                          </p:val>
                                        </p:tav>
                                      </p:tavLst>
                                    </p:anim>
                                    <p:anim calcmode="lin" valueType="num">
                                      <p:cBhvr>
                                        <p:cTn id="25" dur="500" fill="hold"/>
                                        <p:tgtEl>
                                          <p:spTgt spid="35"/>
                                        </p:tgtEl>
                                        <p:attrNameLst>
                                          <p:attrName>ppt_h</p:attrName>
                                        </p:attrNameLst>
                                      </p:cBhvr>
                                      <p:tavLst>
                                        <p:tav tm="0">
                                          <p:val>
                                            <p:fltVal val="0"/>
                                          </p:val>
                                        </p:tav>
                                        <p:tav tm="100000">
                                          <p:val>
                                            <p:strVal val="#ppt_h"/>
                                          </p:val>
                                        </p:tav>
                                      </p:tavLst>
                                    </p:anim>
                                    <p:animEffect transition="in" filter="fade">
                                      <p:cBhvr>
                                        <p:cTn id="26" dur="500"/>
                                        <p:tgtEl>
                                          <p:spTgt spid="35"/>
                                        </p:tgtEl>
                                      </p:cBhvr>
                                    </p:animEffect>
                                  </p:childTnLst>
                                </p:cTn>
                              </p:par>
                              <p:par>
                                <p:cTn id="27" presetID="53" presetClass="entr" presetSubtype="16" fill="hold" nodeType="withEffect">
                                  <p:stCondLst>
                                    <p:cond delay="200"/>
                                  </p:stCondLst>
                                  <p:childTnLst>
                                    <p:set>
                                      <p:cBhvr>
                                        <p:cTn id="28" dur="1" fill="hold">
                                          <p:stCondLst>
                                            <p:cond delay="0"/>
                                          </p:stCondLst>
                                        </p:cTn>
                                        <p:tgtEl>
                                          <p:spTgt spid="38"/>
                                        </p:tgtEl>
                                        <p:attrNameLst>
                                          <p:attrName>style.visibility</p:attrName>
                                        </p:attrNameLst>
                                      </p:cBhvr>
                                      <p:to>
                                        <p:strVal val="visible"/>
                                      </p:to>
                                    </p:set>
                                    <p:anim calcmode="lin" valueType="num">
                                      <p:cBhvr>
                                        <p:cTn id="29" dur="500" fill="hold"/>
                                        <p:tgtEl>
                                          <p:spTgt spid="38"/>
                                        </p:tgtEl>
                                        <p:attrNameLst>
                                          <p:attrName>ppt_w</p:attrName>
                                        </p:attrNameLst>
                                      </p:cBhvr>
                                      <p:tavLst>
                                        <p:tav tm="0">
                                          <p:val>
                                            <p:fltVal val="0"/>
                                          </p:val>
                                        </p:tav>
                                        <p:tav tm="100000">
                                          <p:val>
                                            <p:strVal val="#ppt_w"/>
                                          </p:val>
                                        </p:tav>
                                      </p:tavLst>
                                    </p:anim>
                                    <p:anim calcmode="lin" valueType="num">
                                      <p:cBhvr>
                                        <p:cTn id="30" dur="500" fill="hold"/>
                                        <p:tgtEl>
                                          <p:spTgt spid="38"/>
                                        </p:tgtEl>
                                        <p:attrNameLst>
                                          <p:attrName>ppt_h</p:attrName>
                                        </p:attrNameLst>
                                      </p:cBhvr>
                                      <p:tavLst>
                                        <p:tav tm="0">
                                          <p:val>
                                            <p:fltVal val="0"/>
                                          </p:val>
                                        </p:tav>
                                        <p:tav tm="100000">
                                          <p:val>
                                            <p:strVal val="#ppt_h"/>
                                          </p:val>
                                        </p:tav>
                                      </p:tavLst>
                                    </p:anim>
                                    <p:animEffect transition="in" filter="fade">
                                      <p:cBhvr>
                                        <p:cTn id="31" dur="500"/>
                                        <p:tgtEl>
                                          <p:spTgt spid="38"/>
                                        </p:tgtEl>
                                      </p:cBhvr>
                                    </p:animEffect>
                                  </p:childTnLst>
                                </p:cTn>
                              </p:par>
                              <p:par>
                                <p:cTn id="32" presetID="53" presetClass="entr" presetSubtype="16" fill="hold" nodeType="withEffect">
                                  <p:stCondLst>
                                    <p:cond delay="40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par>
                                <p:cTn id="37" presetID="53" presetClass="entr" presetSubtype="16" fill="hold" nodeType="withEffect">
                                  <p:stCondLst>
                                    <p:cond delay="60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80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Rot="1" noChangeArrowheads="1"/>
          </p:cNvSpPr>
          <p:nvPr>
            <p:ph type="title"/>
          </p:nvPr>
        </p:nvSpPr>
        <p:spPr/>
        <p:txBody>
          <a:bodyPr/>
          <a:lstStyle/>
          <a:p>
            <a:pPr eaLnBrk="1" hangingPunct="1">
              <a:defRPr/>
            </a:pPr>
            <a:r>
              <a:rPr lang="zh-CN" altLang="en-US" smtClean="0"/>
              <a:t>什么是</a:t>
            </a:r>
            <a:r>
              <a:rPr lang="en-US" altLang="zh-CN" smtClean="0"/>
              <a:t>CMM</a:t>
            </a:r>
          </a:p>
        </p:txBody>
      </p:sp>
      <p:sp>
        <p:nvSpPr>
          <p:cNvPr id="231427" name="Rectangle 3"/>
          <p:cNvSpPr>
            <a:spLocks noGrp="1" noRot="1" noChangeArrowheads="1"/>
          </p:cNvSpPr>
          <p:nvPr>
            <p:ph type="body" idx="1"/>
          </p:nvPr>
        </p:nvSpPr>
        <p:spPr/>
        <p:txBody>
          <a:bodyPr/>
          <a:lstStyle/>
          <a:p>
            <a:pPr eaLnBrk="1" hangingPunct="1">
              <a:defRPr/>
            </a:pPr>
            <a:r>
              <a:rPr lang="en-US" altLang="zh-CN" sz="2800" dirty="0">
                <a:effectLst/>
              </a:rPr>
              <a:t>CMM</a:t>
            </a:r>
            <a:r>
              <a:rPr lang="zh-CN" altLang="en-US" sz="2800" dirty="0">
                <a:effectLst/>
              </a:rPr>
              <a:t>（能力成熟度模型）</a:t>
            </a:r>
          </a:p>
          <a:p>
            <a:pPr lvl="1" eaLnBrk="1" hangingPunct="1">
              <a:defRPr/>
            </a:pPr>
            <a:r>
              <a:rPr lang="zh-CN" altLang="en-US" sz="2400" dirty="0">
                <a:effectLst/>
              </a:rPr>
              <a:t>是由美国卡奈基</a:t>
            </a:r>
            <a:r>
              <a:rPr lang="en-US" altLang="zh-CN" sz="2400" dirty="0">
                <a:effectLst/>
              </a:rPr>
              <a:t>-</a:t>
            </a:r>
            <a:r>
              <a:rPr lang="zh-CN" altLang="en-US" sz="2400" dirty="0">
                <a:effectLst/>
              </a:rPr>
              <a:t>梅隆大学的软件工程研究所（</a:t>
            </a:r>
            <a:r>
              <a:rPr lang="en-US" altLang="zh-CN" sz="2400" dirty="0">
                <a:effectLst/>
              </a:rPr>
              <a:t>SEI</a:t>
            </a:r>
            <a:r>
              <a:rPr lang="zh-CN" altLang="en-US" sz="2400" dirty="0">
                <a:effectLst/>
              </a:rPr>
              <a:t>）研制的一套软件生产过程成熟度的理论框架。该框架同</a:t>
            </a:r>
            <a:r>
              <a:rPr lang="en-US" altLang="zh-CN" sz="2400" dirty="0">
                <a:effectLst/>
              </a:rPr>
              <a:t>ISO9000 </a:t>
            </a:r>
            <a:r>
              <a:rPr lang="zh-CN" altLang="en-US" sz="2400" dirty="0">
                <a:effectLst/>
              </a:rPr>
              <a:t>系列已成为一套评价和改进软件生产过程、提高软件生产能力和质量的理论和实践依据</a:t>
            </a:r>
          </a:p>
          <a:p>
            <a:pPr eaLnBrk="1" hangingPunct="1">
              <a:defRPr/>
            </a:pPr>
            <a:endParaRPr lang="zh-CN" altLang="en-US" sz="2800" dirty="0"/>
          </a:p>
          <a:p>
            <a:pPr eaLnBrk="1" hangingPunct="1">
              <a:defRPr/>
            </a:pPr>
            <a:r>
              <a:rPr lang="en-US" altLang="zh-CN" sz="2800" dirty="0"/>
              <a:t>CMM</a:t>
            </a:r>
            <a:r>
              <a:rPr lang="zh-CN" altLang="en-US" sz="2800" dirty="0"/>
              <a:t>的核心是把软件开发视为一个过程，并根据这一原则对软件开发和维护进行过程监控和研究，以使其更加科学化、标准化、使企业能够更好地实现商业目标。</a:t>
            </a:r>
          </a:p>
        </p:txBody>
      </p:sp>
    </p:spTree>
    <p:extLst>
      <p:ext uri="{BB962C8B-B14F-4D97-AF65-F5344CB8AC3E}">
        <p14:creationId xmlns:p14="http://schemas.microsoft.com/office/powerpoint/2010/main" val="41029787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Rot="1" noChangeArrowheads="1"/>
          </p:cNvSpPr>
          <p:nvPr>
            <p:ph type="title"/>
          </p:nvPr>
        </p:nvSpPr>
        <p:spPr/>
        <p:txBody>
          <a:bodyPr/>
          <a:lstStyle/>
          <a:p>
            <a:pPr eaLnBrk="1" hangingPunct="1">
              <a:defRPr/>
            </a:pPr>
            <a:r>
              <a:rPr lang="zh-CN" altLang="en-US" smtClean="0"/>
              <a:t>什么是</a:t>
            </a:r>
            <a:r>
              <a:rPr lang="en-US" altLang="zh-CN" smtClean="0"/>
              <a:t>CMM</a:t>
            </a:r>
          </a:p>
        </p:txBody>
      </p:sp>
      <p:sp>
        <p:nvSpPr>
          <p:cNvPr id="235523" name="Rectangle 3"/>
          <p:cNvSpPr>
            <a:spLocks noGrp="1" noRot="1" noChangeArrowheads="1"/>
          </p:cNvSpPr>
          <p:nvPr>
            <p:ph type="body" idx="1"/>
          </p:nvPr>
        </p:nvSpPr>
        <p:spPr/>
        <p:txBody>
          <a:bodyPr/>
          <a:lstStyle/>
          <a:p>
            <a:pPr eaLnBrk="1" hangingPunct="1">
              <a:lnSpc>
                <a:spcPct val="80000"/>
              </a:lnSpc>
              <a:defRPr/>
            </a:pPr>
            <a:r>
              <a:rPr lang="zh-CN" altLang="en-US" sz="2800"/>
              <a:t>软件工程大师</a:t>
            </a:r>
            <a:r>
              <a:rPr lang="en-US" altLang="zh-CN" sz="2800"/>
              <a:t>Osterweil</a:t>
            </a:r>
            <a:r>
              <a:rPr lang="zh-CN" altLang="en-US" sz="2800"/>
              <a:t>在其论文</a:t>
            </a:r>
            <a:r>
              <a:rPr lang="en-US" altLang="zh-CN" sz="2800"/>
              <a:t>《Software Processes are Software Too》</a:t>
            </a:r>
            <a:r>
              <a:rPr lang="zh-CN" altLang="en-US" sz="2800"/>
              <a:t>中指出：</a:t>
            </a:r>
          </a:p>
          <a:p>
            <a:pPr lvl="1" eaLnBrk="1" hangingPunct="1">
              <a:lnSpc>
                <a:spcPct val="80000"/>
              </a:lnSpc>
              <a:buFontTx/>
              <a:buNone/>
              <a:defRPr/>
            </a:pPr>
            <a:r>
              <a:rPr lang="zh-CN" altLang="en-US" sz="2400"/>
              <a:t>			</a:t>
            </a:r>
            <a:r>
              <a:rPr lang="zh-CN" altLang="en-US" sz="3200"/>
              <a:t>软件过程也是软件</a:t>
            </a:r>
          </a:p>
          <a:p>
            <a:pPr lvl="1" eaLnBrk="1" hangingPunct="1">
              <a:lnSpc>
                <a:spcPct val="80000"/>
              </a:lnSpc>
              <a:defRPr/>
            </a:pPr>
            <a:r>
              <a:rPr lang="zh-CN" altLang="en-US" sz="2400"/>
              <a:t>软件有一个开发的过程，软件过程也有一个开发的过程</a:t>
            </a:r>
          </a:p>
          <a:p>
            <a:pPr lvl="1" eaLnBrk="1" hangingPunct="1">
              <a:lnSpc>
                <a:spcPct val="80000"/>
              </a:lnSpc>
              <a:defRPr/>
            </a:pPr>
            <a:r>
              <a:rPr lang="zh-CN" altLang="en-US" sz="2400"/>
              <a:t>软件开发产出软件产品，软件过程开发产出过程产品</a:t>
            </a:r>
          </a:p>
          <a:p>
            <a:pPr lvl="1" eaLnBrk="1" hangingPunct="1">
              <a:lnSpc>
                <a:spcPct val="80000"/>
              </a:lnSpc>
              <a:defRPr/>
            </a:pPr>
            <a:r>
              <a:rPr lang="zh-CN" altLang="en-US" sz="2400"/>
              <a:t>软件开发可以是一个演进过程，使软件产品不断更新升级，软件过程开发也可以是一个演进过程，使过程不断升级，过程能力成熟度不断提高。</a:t>
            </a:r>
          </a:p>
          <a:p>
            <a:pPr lvl="1" eaLnBrk="1" hangingPunct="1">
              <a:lnSpc>
                <a:spcPct val="80000"/>
              </a:lnSpc>
              <a:buFontTx/>
              <a:buNone/>
              <a:defRPr/>
            </a:pPr>
            <a:endParaRPr lang="zh-CN" altLang="en-US" sz="2400"/>
          </a:p>
          <a:p>
            <a:pPr eaLnBrk="1" hangingPunct="1">
              <a:lnSpc>
                <a:spcPct val="80000"/>
              </a:lnSpc>
              <a:defRPr/>
            </a:pPr>
            <a:r>
              <a:rPr lang="zh-CN" altLang="en-US" sz="2800"/>
              <a:t>从软件过程开发角度理解</a:t>
            </a:r>
            <a:r>
              <a:rPr lang="en-US" altLang="zh-CN" sz="2800"/>
              <a:t>CMM</a:t>
            </a:r>
            <a:r>
              <a:rPr lang="zh-CN" altLang="en-US" sz="2800"/>
              <a:t>，是非常自然的。 </a:t>
            </a:r>
          </a:p>
        </p:txBody>
      </p:sp>
    </p:spTree>
    <p:extLst>
      <p:ext uri="{BB962C8B-B14F-4D97-AF65-F5344CB8AC3E}">
        <p14:creationId xmlns:p14="http://schemas.microsoft.com/office/powerpoint/2010/main" val="3203972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rrowheads="1"/>
          </p:cNvSpPr>
          <p:nvPr>
            <p:ph type="title"/>
          </p:nvPr>
        </p:nvSpPr>
        <p:spPr/>
        <p:txBody>
          <a:bodyPr/>
          <a:lstStyle/>
          <a:p>
            <a:pPr eaLnBrk="1" hangingPunct="1">
              <a:defRPr/>
            </a:pPr>
            <a:r>
              <a:rPr lang="zh-CN" altLang="en-US" smtClean="0"/>
              <a:t>为什么需要</a:t>
            </a:r>
            <a:r>
              <a:rPr lang="en-US" altLang="zh-CN" smtClean="0"/>
              <a:t>CMM</a:t>
            </a:r>
          </a:p>
        </p:txBody>
      </p:sp>
      <p:sp>
        <p:nvSpPr>
          <p:cNvPr id="169987" name="Rectangle 3"/>
          <p:cNvSpPr>
            <a:spLocks noGrp="1" noRot="1" noChangeArrowheads="1"/>
          </p:cNvSpPr>
          <p:nvPr>
            <p:ph type="body" idx="1"/>
          </p:nvPr>
        </p:nvSpPr>
        <p:spPr/>
        <p:txBody>
          <a:bodyPr/>
          <a:lstStyle/>
          <a:p>
            <a:pPr eaLnBrk="1" hangingPunct="1">
              <a:defRPr/>
            </a:pPr>
            <a:r>
              <a:rPr lang="en-US" altLang="zh-CN" sz="2800" dirty="0"/>
              <a:t>CMM</a:t>
            </a:r>
            <a:r>
              <a:rPr lang="zh-CN" altLang="en-US" sz="2800" dirty="0"/>
              <a:t>是衡量企业软件过程能力成熟度的模型，是用来确定一个企业的软件过程的成熟程度以及指明如何提高该成熟度的参考模型</a:t>
            </a:r>
          </a:p>
          <a:p>
            <a:pPr eaLnBrk="1" hangingPunct="1">
              <a:buFont typeface="Wingdings" panose="05000000000000000000" pitchFamily="2" charset="2"/>
              <a:buNone/>
              <a:defRPr/>
            </a:pPr>
            <a:endParaRPr lang="zh-CN" altLang="en-US" sz="2800" dirty="0"/>
          </a:p>
          <a:p>
            <a:pPr eaLnBrk="1" hangingPunct="1">
              <a:defRPr/>
            </a:pPr>
            <a:r>
              <a:rPr lang="en-US" altLang="zh-CN" sz="2800" dirty="0"/>
              <a:t>CMM</a:t>
            </a:r>
            <a:r>
              <a:rPr lang="zh-CN" altLang="en-US" sz="2800" dirty="0"/>
              <a:t>用来区分成熟软件组织和不成熟软件组织</a:t>
            </a:r>
          </a:p>
          <a:p>
            <a:pPr lvl="1" eaLnBrk="1" hangingPunct="1">
              <a:defRPr/>
            </a:pPr>
            <a:r>
              <a:rPr lang="zh-CN" altLang="en-US" sz="2400" dirty="0"/>
              <a:t>在不成熟组织中，不存在判断产品质量或者解决产品过程问题的客观基础，因此，产品质量难以预测。</a:t>
            </a:r>
          </a:p>
          <a:p>
            <a:pPr lvl="1" eaLnBrk="1" hangingPunct="1">
              <a:defRPr/>
            </a:pPr>
            <a:r>
              <a:rPr lang="zh-CN" altLang="en-US" sz="2400" dirty="0"/>
              <a:t>相比之下，一个成熟软件组织具有全组织范围的管理软件开发和维护过程的能力。管理者在判断质量和分析产品及过程问题方面有可观的、定量的基础</a:t>
            </a:r>
          </a:p>
        </p:txBody>
      </p:sp>
    </p:spTree>
    <p:extLst>
      <p:ext uri="{BB962C8B-B14F-4D97-AF65-F5344CB8AC3E}">
        <p14:creationId xmlns:p14="http://schemas.microsoft.com/office/powerpoint/2010/main" val="27929069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rrowheads="1"/>
          </p:cNvSpPr>
          <p:nvPr>
            <p:ph type="title"/>
          </p:nvPr>
        </p:nvSpPr>
        <p:spPr/>
        <p:txBody>
          <a:bodyPr/>
          <a:lstStyle/>
          <a:p>
            <a:pPr eaLnBrk="1" hangingPunct="1">
              <a:defRPr/>
            </a:pPr>
            <a:r>
              <a:rPr lang="zh-CN" altLang="en-US" smtClean="0"/>
              <a:t>为什么需要</a:t>
            </a:r>
            <a:r>
              <a:rPr lang="en-US" altLang="zh-CN" smtClean="0"/>
              <a:t>CMM</a:t>
            </a:r>
          </a:p>
        </p:txBody>
      </p:sp>
      <p:sp>
        <p:nvSpPr>
          <p:cNvPr id="164867" name="Rectangle 3"/>
          <p:cNvSpPr>
            <a:spLocks noGrp="1" noRot="1" noChangeArrowheads="1"/>
          </p:cNvSpPr>
          <p:nvPr>
            <p:ph type="body" idx="1"/>
          </p:nvPr>
        </p:nvSpPr>
        <p:spPr/>
        <p:txBody>
          <a:bodyPr/>
          <a:lstStyle/>
          <a:p>
            <a:pPr eaLnBrk="1" hangingPunct="1">
              <a:defRPr/>
            </a:pPr>
            <a:r>
              <a:rPr lang="en-US" altLang="zh-CN" smtClean="0"/>
              <a:t>CMM</a:t>
            </a:r>
            <a:r>
              <a:rPr lang="zh-CN" altLang="en-US" smtClean="0"/>
              <a:t>是进行过程改进的基础</a:t>
            </a:r>
          </a:p>
          <a:p>
            <a:pPr lvl="1" eaLnBrk="1" hangingPunct="1">
              <a:defRPr/>
            </a:pPr>
            <a:r>
              <a:rPr lang="zh-CN" altLang="en-US" smtClean="0"/>
              <a:t>要对软件开发过程中存在的种种问题进行改进，从不成熟组织到成熟组织，必须要进行一系列的改进活动，而实施这些活动必须要有系统的策略和通盘的考虑，需要构造一个软件成熟度模型</a:t>
            </a:r>
          </a:p>
        </p:txBody>
      </p:sp>
    </p:spTree>
    <p:extLst>
      <p:ext uri="{BB962C8B-B14F-4D97-AF65-F5344CB8AC3E}">
        <p14:creationId xmlns:p14="http://schemas.microsoft.com/office/powerpoint/2010/main" val="14522781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rrowheads="1"/>
          </p:cNvSpPr>
          <p:nvPr>
            <p:ph type="title"/>
          </p:nvPr>
        </p:nvSpPr>
        <p:spPr/>
        <p:txBody>
          <a:bodyPr/>
          <a:lstStyle/>
          <a:p>
            <a:pPr eaLnBrk="1" hangingPunct="1">
              <a:defRPr/>
            </a:pPr>
            <a:r>
              <a:rPr lang="zh-CN" altLang="en-US" smtClean="0"/>
              <a:t>为什么需要</a:t>
            </a:r>
            <a:r>
              <a:rPr lang="en-US" altLang="zh-CN" smtClean="0"/>
              <a:t>CMM</a:t>
            </a:r>
          </a:p>
        </p:txBody>
      </p:sp>
      <p:sp>
        <p:nvSpPr>
          <p:cNvPr id="171011" name="Rectangle 3"/>
          <p:cNvSpPr>
            <a:spLocks noGrp="1" noRot="1" noChangeArrowheads="1"/>
          </p:cNvSpPr>
          <p:nvPr>
            <p:ph type="body" idx="1"/>
          </p:nvPr>
        </p:nvSpPr>
        <p:spPr/>
        <p:txBody>
          <a:bodyPr/>
          <a:lstStyle/>
          <a:p>
            <a:pPr eaLnBrk="1" hangingPunct="1">
              <a:lnSpc>
                <a:spcPct val="90000"/>
              </a:lnSpc>
              <a:defRPr/>
            </a:pPr>
            <a:r>
              <a:rPr lang="en-US" altLang="zh-CN" sz="2800"/>
              <a:t>CMM</a:t>
            </a:r>
            <a:r>
              <a:rPr lang="zh-CN" altLang="en-US" sz="2800"/>
              <a:t>为软件过程改进提供了一个有序、有纪律的框架，告诉用户软件过程改进要做什么。</a:t>
            </a:r>
            <a:r>
              <a:rPr lang="en-US" altLang="zh-CN" sz="2800"/>
              <a:t>CMM</a:t>
            </a:r>
            <a:r>
              <a:rPr lang="zh-CN" altLang="en-US" sz="2800"/>
              <a:t>有三个主要作用：</a:t>
            </a:r>
          </a:p>
          <a:p>
            <a:pPr lvl="1" eaLnBrk="1" hangingPunct="1">
              <a:lnSpc>
                <a:spcPct val="90000"/>
              </a:lnSpc>
              <a:defRPr/>
            </a:pPr>
            <a:r>
              <a:rPr lang="zh-CN" altLang="en-US" sz="2400"/>
              <a:t>用于软件过程的改进（</a:t>
            </a:r>
            <a:r>
              <a:rPr lang="en-US" altLang="zh-CN" sz="2400"/>
              <a:t>SPI</a:t>
            </a:r>
            <a:r>
              <a:rPr lang="zh-CN" altLang="en-US" sz="2400"/>
              <a:t>），帮助软件组织对其软件过程的改进进行计划、制订以及实施</a:t>
            </a:r>
          </a:p>
          <a:p>
            <a:pPr lvl="1" eaLnBrk="1" hangingPunct="1">
              <a:lnSpc>
                <a:spcPct val="90000"/>
              </a:lnSpc>
              <a:defRPr/>
            </a:pPr>
            <a:r>
              <a:rPr lang="zh-CN" altLang="en-US" sz="2400"/>
              <a:t>用于软件过程的评估（</a:t>
            </a:r>
            <a:r>
              <a:rPr lang="en-US" altLang="zh-CN" sz="2400"/>
              <a:t>SPA</a:t>
            </a:r>
            <a:r>
              <a:rPr lang="zh-CN" altLang="en-US" sz="2400"/>
              <a:t>），在评估中，经过培训的专业人员详细了解每一个软件过程的状况，找出该组织所面对的与软件过程有关的、最迫切的所有问题，以及取得组织领导层对软件过程改进的支持</a:t>
            </a:r>
          </a:p>
          <a:p>
            <a:pPr lvl="1" eaLnBrk="1" hangingPunct="1">
              <a:lnSpc>
                <a:spcPct val="90000"/>
              </a:lnSpc>
              <a:defRPr/>
            </a:pPr>
            <a:r>
              <a:rPr lang="zh-CN" altLang="en-US" sz="2400"/>
              <a:t>软件能力评估（</a:t>
            </a:r>
            <a:r>
              <a:rPr lang="en-US" altLang="zh-CN" sz="2400"/>
              <a:t>SCE</a:t>
            </a:r>
            <a:r>
              <a:rPr lang="zh-CN" altLang="en-US" sz="2400"/>
              <a:t>），在能力鉴别中，经过培训的专业人员鉴定软件承包者的能力资格，或者是监理正用于软件生产的软件过程的状况</a:t>
            </a:r>
          </a:p>
        </p:txBody>
      </p:sp>
    </p:spTree>
    <p:extLst>
      <p:ext uri="{BB962C8B-B14F-4D97-AF65-F5344CB8AC3E}">
        <p14:creationId xmlns:p14="http://schemas.microsoft.com/office/powerpoint/2010/main" val="35340769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Rot="1" noChangeArrowheads="1"/>
          </p:cNvSpPr>
          <p:nvPr>
            <p:ph type="title"/>
          </p:nvPr>
        </p:nvSpPr>
        <p:spPr/>
        <p:txBody>
          <a:bodyPr/>
          <a:lstStyle/>
          <a:p>
            <a:pPr eaLnBrk="1" hangingPunct="1">
              <a:defRPr/>
            </a:pPr>
            <a:r>
              <a:rPr lang="en-US" altLang="zh-CN" smtClean="0"/>
              <a:t>CMM</a:t>
            </a:r>
            <a:r>
              <a:rPr lang="zh-CN" altLang="en-US" smtClean="0"/>
              <a:t>的发展</a:t>
            </a:r>
          </a:p>
        </p:txBody>
      </p:sp>
      <p:sp>
        <p:nvSpPr>
          <p:cNvPr id="228355" name="Rectangle 3"/>
          <p:cNvSpPr>
            <a:spLocks noGrp="1" noRot="1" noChangeArrowheads="1"/>
          </p:cNvSpPr>
          <p:nvPr>
            <p:ph type="body" idx="1"/>
          </p:nvPr>
        </p:nvSpPr>
        <p:spPr/>
        <p:txBody>
          <a:bodyPr/>
          <a:lstStyle/>
          <a:p>
            <a:pPr eaLnBrk="1" hangingPunct="1">
              <a:lnSpc>
                <a:spcPct val="90000"/>
              </a:lnSpc>
              <a:defRPr/>
            </a:pPr>
            <a:r>
              <a:rPr lang="en-US" altLang="zh-CN" sz="2000" dirty="0"/>
              <a:t>1991</a:t>
            </a:r>
            <a:r>
              <a:rPr lang="zh-CN" altLang="en-US" sz="2000" dirty="0"/>
              <a:t>到</a:t>
            </a:r>
            <a:r>
              <a:rPr lang="en-US" altLang="zh-CN" sz="2000" dirty="0"/>
              <a:t>1992</a:t>
            </a:r>
            <a:r>
              <a:rPr lang="zh-CN" altLang="en-US" sz="2000" dirty="0"/>
              <a:t>推出了</a:t>
            </a:r>
            <a:r>
              <a:rPr lang="en-US" altLang="zh-CN" sz="2000" dirty="0"/>
              <a:t>CMM</a:t>
            </a:r>
            <a:r>
              <a:rPr lang="zh-CN" altLang="en-US" sz="2000" dirty="0"/>
              <a:t>的最早版本</a:t>
            </a:r>
            <a:r>
              <a:rPr lang="en-US" altLang="zh-CN" sz="2000" dirty="0"/>
              <a:t>CMM1.0</a:t>
            </a:r>
          </a:p>
          <a:p>
            <a:pPr eaLnBrk="1" hangingPunct="1">
              <a:lnSpc>
                <a:spcPct val="90000"/>
              </a:lnSpc>
              <a:defRPr/>
            </a:pPr>
            <a:r>
              <a:rPr lang="en-US" altLang="zh-CN" sz="2000" dirty="0"/>
              <a:t>1994</a:t>
            </a:r>
            <a:r>
              <a:rPr lang="zh-CN" altLang="en-US" sz="2000" dirty="0"/>
              <a:t>年推出了</a:t>
            </a:r>
            <a:r>
              <a:rPr lang="en-US" altLang="zh-CN" sz="2000" dirty="0"/>
              <a:t>CMM1.1</a:t>
            </a:r>
            <a:r>
              <a:rPr lang="zh-CN" altLang="en-US" sz="2000" dirty="0"/>
              <a:t>，也称其为</a:t>
            </a:r>
            <a:r>
              <a:rPr lang="en-US" altLang="zh-CN" sz="2000" dirty="0"/>
              <a:t>SW-CMM</a:t>
            </a:r>
            <a:r>
              <a:rPr lang="zh-CN" altLang="en-US" sz="2000" dirty="0"/>
              <a:t>，主要用于软件开发过程和软件开发能力的评估和改进</a:t>
            </a:r>
          </a:p>
          <a:p>
            <a:pPr eaLnBrk="1" hangingPunct="1">
              <a:lnSpc>
                <a:spcPct val="90000"/>
              </a:lnSpc>
              <a:defRPr/>
            </a:pPr>
            <a:r>
              <a:rPr lang="zh-CN" altLang="en-US" sz="2000" dirty="0"/>
              <a:t>随着</a:t>
            </a:r>
            <a:r>
              <a:rPr lang="en-US" altLang="zh-CN" sz="2000" dirty="0"/>
              <a:t>CMM</a:t>
            </a:r>
            <a:r>
              <a:rPr lang="zh-CN" altLang="en-US" sz="2000" dirty="0"/>
              <a:t>的不断发展，先后出现了多种类型的</a:t>
            </a:r>
            <a:r>
              <a:rPr lang="en-US" altLang="zh-CN" sz="2000" dirty="0"/>
              <a:t>CMM</a:t>
            </a:r>
            <a:r>
              <a:rPr lang="zh-CN" altLang="en-US" sz="2000" dirty="0"/>
              <a:t>，如：</a:t>
            </a:r>
          </a:p>
          <a:p>
            <a:pPr lvl="1" eaLnBrk="1" hangingPunct="1">
              <a:lnSpc>
                <a:spcPct val="90000"/>
              </a:lnSpc>
              <a:buFontTx/>
              <a:buChar char="•"/>
              <a:defRPr/>
            </a:pPr>
            <a:r>
              <a:rPr lang="en-US" altLang="zh-CN" sz="2000" dirty="0"/>
              <a:t>SW-CMM</a:t>
            </a:r>
            <a:r>
              <a:rPr lang="zh-CN" altLang="en-US" sz="2000" dirty="0"/>
              <a:t>：软件</a:t>
            </a:r>
            <a:r>
              <a:rPr lang="en-US" altLang="zh-CN" sz="2000" dirty="0"/>
              <a:t>CMM</a:t>
            </a:r>
          </a:p>
          <a:p>
            <a:pPr lvl="1" eaLnBrk="1" hangingPunct="1">
              <a:lnSpc>
                <a:spcPct val="90000"/>
              </a:lnSpc>
              <a:buFontTx/>
              <a:buChar char="•"/>
              <a:defRPr/>
            </a:pPr>
            <a:r>
              <a:rPr lang="en-US" altLang="zh-CN" sz="2000" dirty="0"/>
              <a:t>SE-CMM</a:t>
            </a:r>
            <a:r>
              <a:rPr lang="zh-CN" altLang="en-US" sz="2000" dirty="0"/>
              <a:t>：系统工程</a:t>
            </a:r>
            <a:r>
              <a:rPr lang="en-US" altLang="zh-CN" sz="2000" dirty="0"/>
              <a:t>CMM</a:t>
            </a:r>
          </a:p>
          <a:p>
            <a:pPr lvl="1" eaLnBrk="1" hangingPunct="1">
              <a:lnSpc>
                <a:spcPct val="90000"/>
              </a:lnSpc>
              <a:buFontTx/>
              <a:buChar char="•"/>
              <a:defRPr/>
            </a:pPr>
            <a:r>
              <a:rPr lang="en-US" altLang="zh-CN" sz="2000" dirty="0"/>
              <a:t>SSE-CMM</a:t>
            </a:r>
            <a:r>
              <a:rPr lang="zh-CN" altLang="en-US" sz="2000" dirty="0"/>
              <a:t>：安全工程</a:t>
            </a:r>
            <a:r>
              <a:rPr lang="en-US" altLang="zh-CN" sz="2000" dirty="0"/>
              <a:t>CMM</a:t>
            </a:r>
          </a:p>
          <a:p>
            <a:pPr lvl="1" eaLnBrk="1" hangingPunct="1">
              <a:lnSpc>
                <a:spcPct val="90000"/>
              </a:lnSpc>
              <a:buFontTx/>
              <a:buChar char="•"/>
              <a:defRPr/>
            </a:pPr>
            <a:r>
              <a:rPr lang="en-US" altLang="zh-CN" sz="2000" dirty="0"/>
              <a:t>SA-CMM</a:t>
            </a:r>
            <a:r>
              <a:rPr lang="zh-CN" altLang="en-US" sz="2000" dirty="0"/>
              <a:t>：采购</a:t>
            </a:r>
            <a:r>
              <a:rPr lang="en-US" altLang="zh-CN" sz="2000" dirty="0"/>
              <a:t>CMM</a:t>
            </a:r>
          </a:p>
          <a:p>
            <a:pPr lvl="1" eaLnBrk="1" hangingPunct="1">
              <a:lnSpc>
                <a:spcPct val="90000"/>
              </a:lnSpc>
              <a:buFontTx/>
              <a:buChar char="•"/>
              <a:defRPr/>
            </a:pPr>
            <a:r>
              <a:rPr lang="en-US" altLang="zh-CN" sz="2000" dirty="0"/>
              <a:t>P-CMM</a:t>
            </a:r>
            <a:r>
              <a:rPr lang="zh-CN" altLang="en-US" sz="2000" dirty="0"/>
              <a:t>：人员管理</a:t>
            </a:r>
            <a:r>
              <a:rPr lang="en-US" altLang="zh-CN" sz="2000" dirty="0"/>
              <a:t>CMM</a:t>
            </a:r>
          </a:p>
          <a:p>
            <a:pPr lvl="1" eaLnBrk="1" hangingPunct="1">
              <a:lnSpc>
                <a:spcPct val="90000"/>
              </a:lnSpc>
              <a:buFontTx/>
              <a:buChar char="•"/>
              <a:defRPr/>
            </a:pPr>
            <a:r>
              <a:rPr lang="en-US" altLang="zh-CN" sz="2000" dirty="0"/>
              <a:t>IPD-CMM</a:t>
            </a:r>
            <a:r>
              <a:rPr lang="zh-CN" altLang="en-US" sz="2000" dirty="0"/>
              <a:t>：集成化产品开发</a:t>
            </a:r>
            <a:r>
              <a:rPr lang="en-US" altLang="zh-CN" sz="2000" dirty="0"/>
              <a:t>CMM</a:t>
            </a:r>
          </a:p>
          <a:p>
            <a:pPr eaLnBrk="1" hangingPunct="1">
              <a:lnSpc>
                <a:spcPct val="90000"/>
              </a:lnSpc>
              <a:defRPr/>
            </a:pPr>
            <a:r>
              <a:rPr lang="en-US" altLang="zh-CN" sz="2000" dirty="0"/>
              <a:t>2000</a:t>
            </a:r>
            <a:r>
              <a:rPr lang="zh-CN" altLang="en-US" sz="2000" dirty="0"/>
              <a:t>年</a:t>
            </a:r>
            <a:r>
              <a:rPr lang="en-US" altLang="zh-CN" sz="2000" dirty="0"/>
              <a:t>SEI</a:t>
            </a:r>
            <a:r>
              <a:rPr lang="zh-CN" altLang="en-US" sz="2000" dirty="0"/>
              <a:t>推出了集成的</a:t>
            </a:r>
            <a:r>
              <a:rPr lang="en-US" altLang="zh-CN" sz="2000" dirty="0"/>
              <a:t>CMM</a:t>
            </a:r>
            <a:r>
              <a:rPr lang="zh-CN" altLang="en-US" sz="2000" dirty="0"/>
              <a:t>版本－</a:t>
            </a:r>
            <a:r>
              <a:rPr lang="en-US" altLang="zh-CN" sz="2000" dirty="0"/>
              <a:t>CMMI</a:t>
            </a:r>
            <a:r>
              <a:rPr lang="zh-CN" altLang="en-US" sz="2000" dirty="0"/>
              <a:t>，并宣布自</a:t>
            </a:r>
            <a:r>
              <a:rPr lang="en-US" altLang="zh-CN" sz="2000" dirty="0"/>
              <a:t>CMMI</a:t>
            </a:r>
            <a:r>
              <a:rPr lang="zh-CN" altLang="en-US" sz="2000" dirty="0"/>
              <a:t>发布三年内完成</a:t>
            </a:r>
            <a:r>
              <a:rPr lang="en-US" altLang="zh-CN" sz="2000" dirty="0"/>
              <a:t>CMM</a:t>
            </a:r>
            <a:r>
              <a:rPr lang="zh-CN" altLang="en-US" sz="2000" dirty="0"/>
              <a:t>到</a:t>
            </a:r>
            <a:r>
              <a:rPr lang="en-US" altLang="zh-CN" sz="2000" dirty="0"/>
              <a:t>CMMI</a:t>
            </a:r>
            <a:r>
              <a:rPr lang="zh-CN" altLang="en-US" sz="2000" dirty="0"/>
              <a:t>的过渡。但是目前在</a:t>
            </a:r>
            <a:r>
              <a:rPr lang="en-US" altLang="zh-CN" sz="2000" dirty="0"/>
              <a:t>CMMI</a:t>
            </a:r>
            <a:r>
              <a:rPr lang="zh-CN" altLang="en-US" sz="2000" dirty="0"/>
              <a:t>实施方面尚缺乏经验，建议软件组织先实施</a:t>
            </a:r>
            <a:r>
              <a:rPr lang="en-US" altLang="zh-CN" sz="2000" dirty="0"/>
              <a:t>CMM</a:t>
            </a:r>
            <a:r>
              <a:rPr lang="zh-CN" altLang="en-US" sz="2000" dirty="0"/>
              <a:t>到</a:t>
            </a:r>
            <a:r>
              <a:rPr lang="en-US" altLang="zh-CN" sz="2000" dirty="0"/>
              <a:t>3</a:t>
            </a:r>
            <a:r>
              <a:rPr lang="zh-CN" altLang="en-US" sz="2000" dirty="0"/>
              <a:t>级，再转换成</a:t>
            </a:r>
            <a:r>
              <a:rPr lang="en-US" altLang="zh-CN" sz="2000" dirty="0"/>
              <a:t>CMMI</a:t>
            </a:r>
          </a:p>
        </p:txBody>
      </p:sp>
    </p:spTree>
    <p:extLst>
      <p:ext uri="{BB962C8B-B14F-4D97-AF65-F5344CB8AC3E}">
        <p14:creationId xmlns:p14="http://schemas.microsoft.com/office/powerpoint/2010/main" val="8274550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435159" y="251636"/>
            <a:ext cx="4064921" cy="405376"/>
          </a:xfrm>
        </p:spPr>
        <p:txBody>
          <a:bodyPr/>
          <a:lstStyle/>
          <a:p>
            <a:r>
              <a:rPr kumimoji="1" lang="zh-CN" altLang="en-US" sz="2400" dirty="0"/>
              <a:t>软件能力成熟度模型（</a:t>
            </a:r>
            <a:r>
              <a:rPr kumimoji="1" lang="en-US" altLang="zh-CN" sz="2400" dirty="0"/>
              <a:t>CMM</a:t>
            </a:r>
            <a:r>
              <a:rPr kumimoji="1" lang="zh-CN" altLang="en-US" sz="2400" dirty="0"/>
              <a:t>）</a:t>
            </a:r>
          </a:p>
        </p:txBody>
      </p:sp>
      <p:sp>
        <p:nvSpPr>
          <p:cNvPr id="23" name="文本占位符 3"/>
          <p:cNvSpPr txBox="1">
            <a:spLocks/>
          </p:cNvSpPr>
          <p:nvPr/>
        </p:nvSpPr>
        <p:spPr>
          <a:xfrm>
            <a:off x="1168296" y="1427231"/>
            <a:ext cx="5355794" cy="630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en-US" altLang="zh-CN" sz="1400" dirty="0">
                <a:solidFill>
                  <a:schemeClr val="bg1">
                    <a:lumMod val="50000"/>
                  </a:schemeClr>
                </a:solidFill>
              </a:rPr>
              <a:t>5</a:t>
            </a:r>
            <a:r>
              <a:rPr lang="zh-CN" altLang="en-US" sz="1400" dirty="0">
                <a:solidFill>
                  <a:schemeClr val="bg1">
                    <a:lumMod val="50000"/>
                  </a:schemeClr>
                </a:solidFill>
              </a:rPr>
              <a:t>级流程成熟度连续体 </a:t>
            </a:r>
            <a:r>
              <a:rPr lang="en-US" altLang="zh-CN" sz="1400" dirty="0">
                <a:solidFill>
                  <a:schemeClr val="bg1">
                    <a:lumMod val="50000"/>
                  </a:schemeClr>
                </a:solidFill>
              </a:rPr>
              <a:t>- </a:t>
            </a:r>
            <a:r>
              <a:rPr lang="zh-CN" altLang="en-US" sz="1400" dirty="0">
                <a:solidFill>
                  <a:schemeClr val="bg1">
                    <a:lumMod val="50000"/>
                  </a:schemeClr>
                </a:solidFill>
              </a:rPr>
              <a:t>其中最高级别（第</a:t>
            </a:r>
            <a:r>
              <a:rPr lang="en-US" altLang="zh-CN" sz="1400" dirty="0">
                <a:solidFill>
                  <a:schemeClr val="bg1">
                    <a:lumMod val="50000"/>
                  </a:schemeClr>
                </a:solidFill>
              </a:rPr>
              <a:t>5</a:t>
            </a:r>
            <a:r>
              <a:rPr lang="zh-CN" altLang="en-US" sz="1400" dirty="0">
                <a:solidFill>
                  <a:schemeClr val="bg1">
                    <a:lumMod val="50000"/>
                  </a:schemeClr>
                </a:solidFill>
              </a:rPr>
              <a:t>级）是一个名义理想状态，其中流程将通过流程优化和持续流程改进的组合进行系统管理。</a:t>
            </a:r>
          </a:p>
        </p:txBody>
      </p:sp>
      <p:sp>
        <p:nvSpPr>
          <p:cNvPr id="24" name="文本占位符 3"/>
          <p:cNvSpPr txBox="1">
            <a:spLocks/>
          </p:cNvSpPr>
          <p:nvPr/>
        </p:nvSpPr>
        <p:spPr>
          <a:xfrm>
            <a:off x="1168295" y="965736"/>
            <a:ext cx="3811919" cy="4294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2000" b="1" dirty="0" smtClean="0">
                <a:solidFill>
                  <a:schemeClr val="accent1"/>
                </a:solidFill>
              </a:rPr>
              <a:t>成熟度级别 </a:t>
            </a:r>
            <a:r>
              <a:rPr lang="en-US" altLang="zh-CN" sz="2000" b="1" dirty="0" smtClean="0">
                <a:solidFill>
                  <a:schemeClr val="accent1"/>
                </a:solidFill>
              </a:rPr>
              <a:t>Maturity Levels</a:t>
            </a:r>
            <a:endParaRPr kumimoji="1" lang="zh-CN" altLang="en-US" sz="2000" b="1" dirty="0">
              <a:solidFill>
                <a:schemeClr val="accent1"/>
              </a:solidFill>
            </a:endParaRPr>
          </a:p>
        </p:txBody>
      </p:sp>
      <p:sp>
        <p:nvSpPr>
          <p:cNvPr id="31" name="文本占位符 3"/>
          <p:cNvSpPr txBox="1">
            <a:spLocks/>
          </p:cNvSpPr>
          <p:nvPr/>
        </p:nvSpPr>
        <p:spPr>
          <a:xfrm>
            <a:off x="1168296" y="2535555"/>
            <a:ext cx="5355794" cy="630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400" dirty="0">
                <a:solidFill>
                  <a:schemeClr val="bg1">
                    <a:lumMod val="50000"/>
                  </a:schemeClr>
                </a:solidFill>
              </a:rPr>
              <a:t>关键过程域识别一组相关活动，这些活动在一起执行时，实现一组被认为重要的目标。</a:t>
            </a:r>
          </a:p>
        </p:txBody>
      </p:sp>
      <p:sp>
        <p:nvSpPr>
          <p:cNvPr id="32" name="文本占位符 3"/>
          <p:cNvSpPr txBox="1">
            <a:spLocks/>
          </p:cNvSpPr>
          <p:nvPr/>
        </p:nvSpPr>
        <p:spPr>
          <a:xfrm>
            <a:off x="1168296" y="2089362"/>
            <a:ext cx="3811918" cy="4912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2000" b="1" dirty="0" smtClean="0">
                <a:solidFill>
                  <a:schemeClr val="accent2"/>
                </a:solidFill>
              </a:rPr>
              <a:t>关键过程 </a:t>
            </a:r>
            <a:r>
              <a:rPr lang="en-US" altLang="zh-CN" sz="2000" b="1" dirty="0" smtClean="0">
                <a:solidFill>
                  <a:schemeClr val="accent2"/>
                </a:solidFill>
              </a:rPr>
              <a:t>(Key Process Areas)</a:t>
            </a:r>
            <a:endParaRPr kumimoji="1" lang="zh-CN" altLang="en-US" sz="2000" b="1" dirty="0">
              <a:solidFill>
                <a:schemeClr val="accent2"/>
              </a:solidFill>
            </a:endParaRPr>
          </a:p>
        </p:txBody>
      </p:sp>
      <p:sp>
        <p:nvSpPr>
          <p:cNvPr id="34" name="文本占位符 3"/>
          <p:cNvSpPr txBox="1">
            <a:spLocks/>
          </p:cNvSpPr>
          <p:nvPr/>
        </p:nvSpPr>
        <p:spPr>
          <a:xfrm>
            <a:off x="1168296" y="3743029"/>
            <a:ext cx="5355794" cy="630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400" dirty="0">
                <a:solidFill>
                  <a:schemeClr val="bg1">
                    <a:lumMod val="50000"/>
                  </a:schemeClr>
                </a:solidFill>
              </a:rPr>
              <a:t>目标实现的程度是组织在该成熟度水平上建立了多少能力的指标。目标表示每个关键过程域的范围，边界和意图。</a:t>
            </a:r>
          </a:p>
        </p:txBody>
      </p:sp>
      <p:sp>
        <p:nvSpPr>
          <p:cNvPr id="35" name="文本占位符 3"/>
          <p:cNvSpPr txBox="1">
            <a:spLocks/>
          </p:cNvSpPr>
          <p:nvPr/>
        </p:nvSpPr>
        <p:spPr>
          <a:xfrm>
            <a:off x="1168296" y="3254881"/>
            <a:ext cx="3030217" cy="4912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2000" b="1" dirty="0" smtClean="0">
                <a:solidFill>
                  <a:schemeClr val="accent3"/>
                </a:solidFill>
              </a:rPr>
              <a:t>目标 </a:t>
            </a:r>
            <a:r>
              <a:rPr lang="en-US" altLang="zh-CN" sz="2000" b="1" dirty="0" smtClean="0">
                <a:solidFill>
                  <a:schemeClr val="accent3"/>
                </a:solidFill>
              </a:rPr>
              <a:t>(Goals)</a:t>
            </a:r>
            <a:endParaRPr kumimoji="1" lang="zh-CN" altLang="en-US" sz="2000" b="1" dirty="0">
              <a:solidFill>
                <a:schemeClr val="accent3"/>
              </a:solidFill>
            </a:endParaRPr>
          </a:p>
        </p:txBody>
      </p:sp>
      <p:sp>
        <p:nvSpPr>
          <p:cNvPr id="11" name="文本占位符 3"/>
          <p:cNvSpPr txBox="1">
            <a:spLocks/>
          </p:cNvSpPr>
          <p:nvPr/>
        </p:nvSpPr>
        <p:spPr>
          <a:xfrm>
            <a:off x="1168296" y="4922239"/>
            <a:ext cx="5479084" cy="630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400" dirty="0">
                <a:solidFill>
                  <a:schemeClr val="bg1">
                    <a:lumMod val="50000"/>
                  </a:schemeClr>
                </a:solidFill>
              </a:rPr>
              <a:t>共同特征包括实施和制度化关键过程域的实践。共有五种类型：执行承诺，执行能力，执行的活动，测量和分析以及验证实施。</a:t>
            </a:r>
          </a:p>
        </p:txBody>
      </p:sp>
      <p:sp>
        <p:nvSpPr>
          <p:cNvPr id="12" name="文本占位符 3"/>
          <p:cNvSpPr txBox="1">
            <a:spLocks/>
          </p:cNvSpPr>
          <p:nvPr/>
        </p:nvSpPr>
        <p:spPr>
          <a:xfrm>
            <a:off x="1168295" y="4434091"/>
            <a:ext cx="3811919" cy="4670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2000" b="1" dirty="0" smtClean="0">
                <a:solidFill>
                  <a:schemeClr val="accent2"/>
                </a:solidFill>
              </a:rPr>
              <a:t>共同特征 </a:t>
            </a:r>
            <a:r>
              <a:rPr lang="en-US" altLang="zh-CN" sz="2000" b="1" dirty="0" smtClean="0">
                <a:solidFill>
                  <a:schemeClr val="accent2"/>
                </a:solidFill>
              </a:rPr>
              <a:t>(Common Features)</a:t>
            </a:r>
            <a:endParaRPr kumimoji="1" lang="zh-CN" altLang="en-US" sz="2000" b="1" dirty="0">
              <a:solidFill>
                <a:schemeClr val="accent2"/>
              </a:solidFill>
            </a:endParaRPr>
          </a:p>
        </p:txBody>
      </p:sp>
      <p:sp>
        <p:nvSpPr>
          <p:cNvPr id="13" name="文本占位符 3"/>
          <p:cNvSpPr txBox="1">
            <a:spLocks/>
          </p:cNvSpPr>
          <p:nvPr/>
        </p:nvSpPr>
        <p:spPr>
          <a:xfrm>
            <a:off x="1168296" y="6080348"/>
            <a:ext cx="5355794" cy="630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400" dirty="0">
                <a:solidFill>
                  <a:schemeClr val="bg1">
                    <a:lumMod val="50000"/>
                  </a:schemeClr>
                </a:solidFill>
              </a:rPr>
              <a:t>关键实践描述了最有效地促进该地区实施和制度化的基础设施和实践要素</a:t>
            </a:r>
            <a:r>
              <a:rPr lang="zh-CN" altLang="en-US" sz="1400" dirty="0" smtClean="0">
                <a:solidFill>
                  <a:schemeClr val="bg1">
                    <a:lumMod val="50000"/>
                  </a:schemeClr>
                </a:solidFill>
              </a:rPr>
              <a:t>。</a:t>
            </a:r>
            <a:endParaRPr lang="zh-CN" altLang="en-US" sz="1400" dirty="0">
              <a:solidFill>
                <a:schemeClr val="bg1">
                  <a:lumMod val="50000"/>
                </a:schemeClr>
              </a:solidFill>
            </a:endParaRPr>
          </a:p>
        </p:txBody>
      </p:sp>
      <p:sp>
        <p:nvSpPr>
          <p:cNvPr id="14" name="文本占位符 3"/>
          <p:cNvSpPr txBox="1">
            <a:spLocks/>
          </p:cNvSpPr>
          <p:nvPr/>
        </p:nvSpPr>
        <p:spPr>
          <a:xfrm>
            <a:off x="1168294" y="5595351"/>
            <a:ext cx="3030217" cy="4912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2000" b="1" dirty="0" smtClean="0">
                <a:solidFill>
                  <a:schemeClr val="accent3"/>
                </a:solidFill>
              </a:rPr>
              <a:t>关键实践 </a:t>
            </a:r>
            <a:r>
              <a:rPr lang="en-US" altLang="zh-CN" sz="2000" b="1" dirty="0" smtClean="0">
                <a:solidFill>
                  <a:schemeClr val="accent3"/>
                </a:solidFill>
              </a:rPr>
              <a:t>(Key Practices)</a:t>
            </a:r>
            <a:endParaRPr kumimoji="1" lang="zh-CN" altLang="en-US" sz="2000" b="1" dirty="0">
              <a:solidFill>
                <a:schemeClr val="accent3"/>
              </a:solidFill>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7380" y="1395150"/>
            <a:ext cx="4696749" cy="4332414"/>
          </a:xfrm>
          <a:prstGeom prst="rect">
            <a:avLst/>
          </a:prstGeom>
        </p:spPr>
      </p:pic>
    </p:spTree>
    <p:extLst>
      <p:ext uri="{BB962C8B-B14F-4D97-AF65-F5344CB8AC3E}">
        <p14:creationId xmlns:p14="http://schemas.microsoft.com/office/powerpoint/2010/main" val="2575464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p:nvPr>
        </p:nvSpPr>
        <p:spPr/>
        <p:txBody>
          <a:bodyPr/>
          <a:lstStyle/>
          <a:p>
            <a:pPr eaLnBrk="1" hangingPunct="1">
              <a:defRPr/>
            </a:pPr>
            <a:r>
              <a:rPr lang="en-US" altLang="zh-CN" dirty="0" smtClean="0"/>
              <a:t>CMM</a:t>
            </a:r>
            <a:r>
              <a:rPr lang="zh-CN" altLang="en-US" dirty="0" smtClean="0"/>
              <a:t>内部结构</a:t>
            </a:r>
          </a:p>
        </p:txBody>
      </p:sp>
      <p:grpSp>
        <p:nvGrpSpPr>
          <p:cNvPr id="14339" name="Group 3"/>
          <p:cNvGrpSpPr>
            <a:grpSpLocks/>
          </p:cNvGrpSpPr>
          <p:nvPr/>
        </p:nvGrpSpPr>
        <p:grpSpPr bwMode="auto">
          <a:xfrm>
            <a:off x="2956719" y="1905001"/>
            <a:ext cx="6248400" cy="4079875"/>
            <a:chOff x="816" y="1200"/>
            <a:chExt cx="3936" cy="2570"/>
          </a:xfrm>
        </p:grpSpPr>
        <p:sp>
          <p:nvSpPr>
            <p:cNvPr id="14340" name="AutoShape 4"/>
            <p:cNvSpPr>
              <a:spLocks noChangeAspect="1" noChangeArrowheads="1"/>
            </p:cNvSpPr>
            <p:nvPr/>
          </p:nvSpPr>
          <p:spPr bwMode="auto">
            <a:xfrm>
              <a:off x="816" y="1200"/>
              <a:ext cx="3936" cy="257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4341" name="AutoShape 5"/>
            <p:cNvSpPr>
              <a:spLocks noChangeArrowheads="1"/>
            </p:cNvSpPr>
            <p:nvPr/>
          </p:nvSpPr>
          <p:spPr bwMode="auto">
            <a:xfrm>
              <a:off x="2222" y="1280"/>
              <a:ext cx="1051" cy="248"/>
            </a:xfrm>
            <a:prstGeom prst="flowChartAlternateProcess">
              <a:avLst/>
            </a:prstGeom>
            <a:noFill/>
            <a:ln w="28575">
              <a:solidFill>
                <a:srgbClr val="29E75B"/>
              </a:solidFill>
              <a:miter lim="800000"/>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dirty="0">
                  <a:solidFill>
                    <a:srgbClr val="FFFFFF"/>
                  </a:solidFill>
                  <a:latin typeface="Times New Roman" panose="02020603050405020304" pitchFamily="18" charset="0"/>
                </a:rPr>
                <a:t>成熟度级别</a:t>
              </a:r>
              <a:endParaRPr lang="zh-CN" altLang="en-US" dirty="0">
                <a:solidFill>
                  <a:srgbClr val="FFFFFF"/>
                </a:solidFill>
                <a:latin typeface="Tahoma" panose="020B0604030504040204" pitchFamily="34" charset="0"/>
              </a:endParaRPr>
            </a:p>
          </p:txBody>
        </p:sp>
        <p:sp>
          <p:nvSpPr>
            <p:cNvPr id="14342" name="AutoShape 6"/>
            <p:cNvSpPr>
              <a:spLocks noChangeArrowheads="1"/>
            </p:cNvSpPr>
            <p:nvPr/>
          </p:nvSpPr>
          <p:spPr bwMode="auto">
            <a:xfrm>
              <a:off x="2550" y="1869"/>
              <a:ext cx="1249" cy="247"/>
            </a:xfrm>
            <a:prstGeom prst="flowChartAlternateProcess">
              <a:avLst/>
            </a:prstGeom>
            <a:noFill/>
            <a:ln w="28575">
              <a:solidFill>
                <a:srgbClr val="29E75B"/>
              </a:solidFill>
              <a:miter lim="800000"/>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a:solidFill>
                    <a:srgbClr val="FFFFFF"/>
                  </a:solidFill>
                  <a:latin typeface="Times New Roman" panose="02020603050405020304" pitchFamily="18" charset="0"/>
                </a:rPr>
                <a:t>关键过程域</a:t>
              </a:r>
              <a:r>
                <a:rPr lang="en-US" altLang="zh-CN">
                  <a:solidFill>
                    <a:srgbClr val="FFFFFF"/>
                  </a:solidFill>
                  <a:latin typeface="Times New Roman" panose="02020603050405020304" pitchFamily="18" charset="0"/>
                </a:rPr>
                <a:t>(KPA)</a:t>
              </a:r>
              <a:endParaRPr lang="en-US" altLang="zh-CN">
                <a:solidFill>
                  <a:srgbClr val="FFFFFF"/>
                </a:solidFill>
                <a:latin typeface="Tahoma" panose="020B0604030504040204" pitchFamily="34" charset="0"/>
              </a:endParaRPr>
            </a:p>
          </p:txBody>
        </p:sp>
        <p:sp>
          <p:nvSpPr>
            <p:cNvPr id="14343" name="AutoShape 7"/>
            <p:cNvSpPr>
              <a:spLocks noChangeArrowheads="1"/>
            </p:cNvSpPr>
            <p:nvPr/>
          </p:nvSpPr>
          <p:spPr bwMode="auto">
            <a:xfrm>
              <a:off x="3075" y="2448"/>
              <a:ext cx="1052" cy="248"/>
            </a:xfrm>
            <a:prstGeom prst="flowChartAlternateProcess">
              <a:avLst/>
            </a:prstGeom>
            <a:noFill/>
            <a:ln w="28575">
              <a:solidFill>
                <a:srgbClr val="29E75B"/>
              </a:solidFill>
              <a:miter lim="800000"/>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a:solidFill>
                    <a:srgbClr val="FFFFFF"/>
                  </a:solidFill>
                </a:rPr>
                <a:t>公共特性 </a:t>
              </a:r>
              <a:r>
                <a:rPr lang="en-US" altLang="zh-CN" sz="1600">
                  <a:solidFill>
                    <a:srgbClr val="FFFFFF"/>
                  </a:solidFill>
                  <a:latin typeface="Times New Roman" panose="02020603050405020304" pitchFamily="18" charset="0"/>
                </a:rPr>
                <a:t>(CF)</a:t>
              </a:r>
            </a:p>
          </p:txBody>
        </p:sp>
        <p:sp>
          <p:nvSpPr>
            <p:cNvPr id="14344" name="AutoShape 8"/>
            <p:cNvSpPr>
              <a:spLocks noChangeArrowheads="1"/>
            </p:cNvSpPr>
            <p:nvPr/>
          </p:nvSpPr>
          <p:spPr bwMode="auto">
            <a:xfrm>
              <a:off x="3496" y="3027"/>
              <a:ext cx="1051" cy="248"/>
            </a:xfrm>
            <a:prstGeom prst="flowChartAlternateProcess">
              <a:avLst/>
            </a:prstGeom>
            <a:noFill/>
            <a:ln w="28575">
              <a:solidFill>
                <a:srgbClr val="29E75B"/>
              </a:solidFill>
              <a:miter lim="800000"/>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a:solidFill>
                    <a:srgbClr val="FFFFFF"/>
                  </a:solidFill>
                  <a:latin typeface="Times New Roman" panose="02020603050405020304" pitchFamily="18" charset="0"/>
                </a:rPr>
                <a:t>关键实践</a:t>
              </a:r>
              <a:r>
                <a:rPr lang="en-US" altLang="zh-CN">
                  <a:solidFill>
                    <a:srgbClr val="FFFFFF"/>
                  </a:solidFill>
                  <a:latin typeface="Times New Roman" panose="02020603050405020304" pitchFamily="18" charset="0"/>
                </a:rPr>
                <a:t>(KP)</a:t>
              </a:r>
              <a:endParaRPr lang="en-US" altLang="zh-CN">
                <a:solidFill>
                  <a:srgbClr val="FFFFFF"/>
                </a:solidFill>
                <a:latin typeface="Tahoma" panose="020B0604030504040204" pitchFamily="34" charset="0"/>
              </a:endParaRPr>
            </a:p>
          </p:txBody>
        </p:sp>
        <p:sp>
          <p:nvSpPr>
            <p:cNvPr id="14345" name="Line 9"/>
            <p:cNvSpPr>
              <a:spLocks noChangeShapeType="1"/>
            </p:cNvSpPr>
            <p:nvPr/>
          </p:nvSpPr>
          <p:spPr bwMode="auto">
            <a:xfrm>
              <a:off x="2760" y="1537"/>
              <a:ext cx="315" cy="332"/>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4346" name="Oval 10"/>
            <p:cNvSpPr>
              <a:spLocks noChangeArrowheads="1"/>
            </p:cNvSpPr>
            <p:nvPr/>
          </p:nvSpPr>
          <p:spPr bwMode="auto">
            <a:xfrm>
              <a:off x="1182" y="1701"/>
              <a:ext cx="945" cy="249"/>
            </a:xfrm>
            <a:prstGeom prst="ellipse">
              <a:avLst/>
            </a:prstGeom>
            <a:noFill/>
            <a:ln w="28575">
              <a:solidFill>
                <a:srgbClr val="29E75B"/>
              </a:solidFill>
              <a:round/>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600" dirty="0">
                  <a:solidFill>
                    <a:srgbClr val="FFFFFF"/>
                  </a:solidFill>
                  <a:latin typeface="Times New Roman" panose="02020603050405020304" pitchFamily="18" charset="0"/>
                </a:rPr>
                <a:t>过程能力</a:t>
              </a:r>
              <a:endParaRPr lang="zh-CN" altLang="en-US" sz="1600" dirty="0">
                <a:solidFill>
                  <a:srgbClr val="FFFFFF"/>
                </a:solidFill>
                <a:latin typeface="Tahoma" panose="020B0604030504040204" pitchFamily="34" charset="0"/>
              </a:endParaRPr>
            </a:p>
          </p:txBody>
        </p:sp>
        <p:sp>
          <p:nvSpPr>
            <p:cNvPr id="14347" name="Oval 11"/>
            <p:cNvSpPr>
              <a:spLocks noChangeArrowheads="1"/>
            </p:cNvSpPr>
            <p:nvPr/>
          </p:nvSpPr>
          <p:spPr bwMode="auto">
            <a:xfrm>
              <a:off x="1499" y="2254"/>
              <a:ext cx="945" cy="248"/>
            </a:xfrm>
            <a:prstGeom prst="ellipse">
              <a:avLst/>
            </a:prstGeom>
            <a:noFill/>
            <a:ln w="28575">
              <a:solidFill>
                <a:srgbClr val="29E75B"/>
              </a:solidFill>
              <a:round/>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600">
                  <a:solidFill>
                    <a:srgbClr val="FFFFFF"/>
                  </a:solidFill>
                  <a:latin typeface="Times New Roman" panose="02020603050405020304" pitchFamily="18" charset="0"/>
                </a:rPr>
                <a:t>目标</a:t>
              </a:r>
              <a:endParaRPr lang="zh-CN" altLang="en-US" sz="1600">
                <a:solidFill>
                  <a:srgbClr val="FFFFFF"/>
                </a:solidFill>
                <a:latin typeface="Tahoma" panose="020B0604030504040204" pitchFamily="34" charset="0"/>
              </a:endParaRPr>
            </a:p>
          </p:txBody>
        </p:sp>
        <p:sp>
          <p:nvSpPr>
            <p:cNvPr id="14348" name="Oval 12"/>
            <p:cNvSpPr>
              <a:spLocks noChangeArrowheads="1"/>
            </p:cNvSpPr>
            <p:nvPr/>
          </p:nvSpPr>
          <p:spPr bwMode="auto">
            <a:xfrm>
              <a:off x="1499" y="2750"/>
              <a:ext cx="1472" cy="248"/>
            </a:xfrm>
            <a:prstGeom prst="ellipse">
              <a:avLst/>
            </a:prstGeom>
            <a:noFill/>
            <a:ln w="28575">
              <a:solidFill>
                <a:srgbClr val="29E75B"/>
              </a:solidFill>
              <a:round/>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600">
                  <a:solidFill>
                    <a:srgbClr val="FFFFFF"/>
                  </a:solidFill>
                  <a:latin typeface="Times New Roman" panose="02020603050405020304" pitchFamily="18" charset="0"/>
                </a:rPr>
                <a:t>实施或规则建立</a:t>
              </a:r>
              <a:endParaRPr lang="zh-CN" altLang="en-US" sz="1600">
                <a:solidFill>
                  <a:srgbClr val="FFFFFF"/>
                </a:solidFill>
                <a:latin typeface="Tahoma" panose="020B0604030504040204" pitchFamily="34" charset="0"/>
              </a:endParaRPr>
            </a:p>
          </p:txBody>
        </p:sp>
        <p:sp>
          <p:nvSpPr>
            <p:cNvPr id="14349" name="Oval 13"/>
            <p:cNvSpPr>
              <a:spLocks noChangeArrowheads="1"/>
            </p:cNvSpPr>
            <p:nvPr/>
          </p:nvSpPr>
          <p:spPr bwMode="auto">
            <a:xfrm>
              <a:off x="1814" y="3276"/>
              <a:ext cx="1472" cy="247"/>
            </a:xfrm>
            <a:prstGeom prst="ellipse">
              <a:avLst/>
            </a:prstGeom>
            <a:noFill/>
            <a:ln w="28575">
              <a:solidFill>
                <a:srgbClr val="29E75B"/>
              </a:solidFill>
              <a:round/>
              <a:headEnd/>
              <a:tailEnd/>
            </a:ln>
            <a:extLst>
              <a:ext uri="{909E8E84-426E-40DD-AFC4-6F175D3DCCD1}">
                <a14:hiddenFill xmlns:a14="http://schemas.microsoft.com/office/drawing/2010/main">
                  <a:solidFill>
                    <a:schemeClr val="bg1"/>
                  </a:solidFill>
                </a14:hiddenFill>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600">
                  <a:solidFill>
                    <a:srgbClr val="FFFFFF"/>
                  </a:solidFill>
                  <a:latin typeface="Times New Roman" panose="02020603050405020304" pitchFamily="18" charset="0"/>
                </a:rPr>
                <a:t>基础结构或活动</a:t>
              </a:r>
              <a:endParaRPr lang="zh-CN" altLang="en-US" sz="1600">
                <a:solidFill>
                  <a:srgbClr val="FFFFFF"/>
                </a:solidFill>
                <a:latin typeface="Tahoma" panose="020B0604030504040204" pitchFamily="34" charset="0"/>
              </a:endParaRPr>
            </a:p>
          </p:txBody>
        </p:sp>
        <p:sp>
          <p:nvSpPr>
            <p:cNvPr id="14350" name="Line 14"/>
            <p:cNvSpPr>
              <a:spLocks noChangeShapeType="1"/>
            </p:cNvSpPr>
            <p:nvPr/>
          </p:nvSpPr>
          <p:spPr bwMode="auto">
            <a:xfrm>
              <a:off x="3602" y="2696"/>
              <a:ext cx="314" cy="331"/>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4351" name="Line 15"/>
            <p:cNvSpPr>
              <a:spLocks noChangeShapeType="1"/>
            </p:cNvSpPr>
            <p:nvPr/>
          </p:nvSpPr>
          <p:spPr bwMode="auto">
            <a:xfrm>
              <a:off x="3180" y="2116"/>
              <a:ext cx="316" cy="332"/>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4352" name="Rectangle 16"/>
            <p:cNvSpPr>
              <a:spLocks noChangeArrowheads="1"/>
            </p:cNvSpPr>
            <p:nvPr/>
          </p:nvSpPr>
          <p:spPr bwMode="auto">
            <a:xfrm>
              <a:off x="3075" y="1620"/>
              <a:ext cx="527" cy="166"/>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600">
                  <a:solidFill>
                    <a:srgbClr val="FFFFFF"/>
                  </a:solidFill>
                  <a:latin typeface="Times New Roman" panose="02020603050405020304" pitchFamily="18" charset="0"/>
                </a:rPr>
                <a:t>包含</a:t>
              </a:r>
              <a:endParaRPr lang="zh-CN" altLang="en-US" sz="1600">
                <a:solidFill>
                  <a:srgbClr val="FFFFFF"/>
                </a:solidFill>
                <a:latin typeface="Tahoma" panose="020B0604030504040204" pitchFamily="34" charset="0"/>
              </a:endParaRPr>
            </a:p>
          </p:txBody>
        </p:sp>
        <p:sp>
          <p:nvSpPr>
            <p:cNvPr id="14353" name="Rectangle 17"/>
            <p:cNvSpPr>
              <a:spLocks noChangeArrowheads="1"/>
            </p:cNvSpPr>
            <p:nvPr/>
          </p:nvSpPr>
          <p:spPr bwMode="auto">
            <a:xfrm>
              <a:off x="3496" y="2200"/>
              <a:ext cx="840" cy="16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600">
                  <a:solidFill>
                    <a:srgbClr val="FFFFFF"/>
                  </a:solidFill>
                  <a:latin typeface="Times New Roman" panose="02020603050405020304" pitchFamily="18" charset="0"/>
                </a:rPr>
                <a:t>组织方式为</a:t>
              </a:r>
              <a:endParaRPr lang="zh-CN" altLang="en-US" sz="1600">
                <a:solidFill>
                  <a:srgbClr val="FFFFFF"/>
                </a:solidFill>
                <a:latin typeface="Tahoma" panose="020B0604030504040204" pitchFamily="34" charset="0"/>
              </a:endParaRPr>
            </a:p>
          </p:txBody>
        </p:sp>
        <p:sp>
          <p:nvSpPr>
            <p:cNvPr id="14354" name="Rectangle 18"/>
            <p:cNvSpPr>
              <a:spLocks noChangeArrowheads="1"/>
            </p:cNvSpPr>
            <p:nvPr/>
          </p:nvSpPr>
          <p:spPr bwMode="auto">
            <a:xfrm>
              <a:off x="3916" y="2779"/>
              <a:ext cx="526" cy="16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600">
                  <a:solidFill>
                    <a:srgbClr val="FFFFFF"/>
                  </a:solidFill>
                  <a:latin typeface="Times New Roman" panose="02020603050405020304" pitchFamily="18" charset="0"/>
                </a:rPr>
                <a:t>包含</a:t>
              </a:r>
              <a:endParaRPr lang="zh-CN" altLang="en-US" sz="1600">
                <a:solidFill>
                  <a:srgbClr val="FFFFFF"/>
                </a:solidFill>
                <a:latin typeface="Tahoma" panose="020B0604030504040204" pitchFamily="34" charset="0"/>
              </a:endParaRPr>
            </a:p>
          </p:txBody>
        </p:sp>
        <p:sp>
          <p:nvSpPr>
            <p:cNvPr id="14355" name="Line 19"/>
            <p:cNvSpPr>
              <a:spLocks noChangeShapeType="1"/>
            </p:cNvSpPr>
            <p:nvPr/>
          </p:nvSpPr>
          <p:spPr bwMode="auto">
            <a:xfrm flipH="1">
              <a:off x="1919" y="1373"/>
              <a:ext cx="315" cy="330"/>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4356" name="Line 20"/>
            <p:cNvSpPr>
              <a:spLocks noChangeShapeType="1"/>
            </p:cNvSpPr>
            <p:nvPr/>
          </p:nvSpPr>
          <p:spPr bwMode="auto">
            <a:xfrm flipH="1">
              <a:off x="3286" y="3110"/>
              <a:ext cx="210" cy="248"/>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4357" name="Rectangle 21"/>
            <p:cNvSpPr>
              <a:spLocks noChangeArrowheads="1"/>
            </p:cNvSpPr>
            <p:nvPr/>
          </p:nvSpPr>
          <p:spPr bwMode="auto">
            <a:xfrm>
              <a:off x="1393" y="1510"/>
              <a:ext cx="526" cy="1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600" dirty="0">
                  <a:solidFill>
                    <a:srgbClr val="FFFFFF"/>
                  </a:solidFill>
                  <a:latin typeface="Times New Roman" panose="02020603050405020304" pitchFamily="18" charset="0"/>
                </a:rPr>
                <a:t>指示</a:t>
              </a:r>
              <a:endParaRPr lang="zh-CN" altLang="en-US" sz="1600" dirty="0">
                <a:solidFill>
                  <a:srgbClr val="FFFFFF"/>
                </a:solidFill>
                <a:latin typeface="Tahoma" panose="020B0604030504040204" pitchFamily="34" charset="0"/>
              </a:endParaRPr>
            </a:p>
          </p:txBody>
        </p:sp>
        <p:sp>
          <p:nvSpPr>
            <p:cNvPr id="14358" name="Rectangle 22"/>
            <p:cNvSpPr>
              <a:spLocks noChangeArrowheads="1"/>
            </p:cNvSpPr>
            <p:nvPr/>
          </p:nvSpPr>
          <p:spPr bwMode="auto">
            <a:xfrm>
              <a:off x="1814" y="2006"/>
              <a:ext cx="526" cy="1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600">
                  <a:solidFill>
                    <a:srgbClr val="FFFFFF"/>
                  </a:solidFill>
                  <a:latin typeface="Times New Roman" panose="02020603050405020304" pitchFamily="18" charset="0"/>
                </a:rPr>
                <a:t>取得</a:t>
              </a:r>
              <a:endParaRPr lang="zh-CN" altLang="en-US" sz="1600">
                <a:solidFill>
                  <a:srgbClr val="FFFFFF"/>
                </a:solidFill>
                <a:latin typeface="Tahoma" panose="020B0604030504040204" pitchFamily="34" charset="0"/>
              </a:endParaRPr>
            </a:p>
          </p:txBody>
        </p:sp>
        <p:sp>
          <p:nvSpPr>
            <p:cNvPr id="14359" name="Rectangle 23"/>
            <p:cNvSpPr>
              <a:spLocks noChangeArrowheads="1"/>
            </p:cNvSpPr>
            <p:nvPr/>
          </p:nvSpPr>
          <p:spPr bwMode="auto">
            <a:xfrm>
              <a:off x="2340" y="2585"/>
              <a:ext cx="525" cy="1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600" dirty="0">
                  <a:solidFill>
                    <a:srgbClr val="FFFFFF"/>
                  </a:solidFill>
                  <a:latin typeface="Times New Roman" panose="02020603050405020304" pitchFamily="18" charset="0"/>
                </a:rPr>
                <a:t>说明</a:t>
              </a:r>
              <a:endParaRPr lang="zh-CN" altLang="en-US" sz="1600" dirty="0">
                <a:solidFill>
                  <a:srgbClr val="FFFFFF"/>
                </a:solidFill>
                <a:latin typeface="Tahoma" panose="020B0604030504040204" pitchFamily="34" charset="0"/>
              </a:endParaRPr>
            </a:p>
          </p:txBody>
        </p:sp>
        <p:sp>
          <p:nvSpPr>
            <p:cNvPr id="14360" name="Rectangle 24"/>
            <p:cNvSpPr>
              <a:spLocks noChangeArrowheads="1"/>
            </p:cNvSpPr>
            <p:nvPr/>
          </p:nvSpPr>
          <p:spPr bwMode="auto">
            <a:xfrm>
              <a:off x="2760" y="3081"/>
              <a:ext cx="526" cy="1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29E75B"/>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922" tIns="7668" rIns="64922" bIns="766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600">
                  <a:solidFill>
                    <a:srgbClr val="FFFFFF"/>
                  </a:solidFill>
                  <a:latin typeface="Times New Roman" panose="02020603050405020304" pitchFamily="18" charset="0"/>
                </a:rPr>
                <a:t>描述</a:t>
              </a:r>
              <a:endParaRPr lang="zh-CN" altLang="en-US" sz="1600">
                <a:solidFill>
                  <a:srgbClr val="FFFFFF"/>
                </a:solidFill>
                <a:latin typeface="Tahoma" panose="020B0604030504040204" pitchFamily="34" charset="0"/>
              </a:endParaRPr>
            </a:p>
          </p:txBody>
        </p:sp>
        <p:sp>
          <p:nvSpPr>
            <p:cNvPr id="14361" name="Line 25"/>
            <p:cNvSpPr>
              <a:spLocks noChangeShapeType="1"/>
            </p:cNvSpPr>
            <p:nvPr/>
          </p:nvSpPr>
          <p:spPr bwMode="auto">
            <a:xfrm flipH="1">
              <a:off x="2834" y="2607"/>
              <a:ext cx="228" cy="212"/>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4362" name="Line 26"/>
            <p:cNvSpPr>
              <a:spLocks noChangeShapeType="1"/>
            </p:cNvSpPr>
            <p:nvPr/>
          </p:nvSpPr>
          <p:spPr bwMode="auto">
            <a:xfrm flipH="1">
              <a:off x="2283" y="2004"/>
              <a:ext cx="249" cy="286"/>
            </a:xfrm>
            <a:prstGeom prst="line">
              <a:avLst/>
            </a:prstGeom>
            <a:noFill/>
            <a:ln w="28575">
              <a:solidFill>
                <a:srgbClr val="29E75B"/>
              </a:solidFill>
              <a:round/>
              <a:headEnd/>
              <a:tailEnd type="stealth" w="med" len="lg"/>
            </a:ln>
            <a:extLst>
              <a:ext uri="{909E8E84-426E-40DD-AFC4-6F175D3DCCD1}">
                <a14:hiddenFill xmlns:a14="http://schemas.microsoft.com/office/drawing/2010/main">
                  <a:noFill/>
                </a14:hiddenFill>
              </a:ext>
            </a:extLst>
          </p:spPr>
          <p:txBody>
            <a:bodyPr tIns="10800" bIns="10800"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4365805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rrowheads="1"/>
          </p:cNvSpPr>
          <p:nvPr>
            <p:ph type="title"/>
          </p:nvPr>
        </p:nvSpPr>
        <p:spPr/>
        <p:txBody>
          <a:bodyPr/>
          <a:lstStyle/>
          <a:p>
            <a:pPr eaLnBrk="1" hangingPunct="1">
              <a:defRPr/>
            </a:pPr>
            <a:r>
              <a:rPr lang="en-US" altLang="zh-CN" smtClean="0"/>
              <a:t>CMM</a:t>
            </a:r>
            <a:r>
              <a:rPr lang="zh-CN" altLang="en-US" smtClean="0"/>
              <a:t>内部结构</a:t>
            </a:r>
          </a:p>
        </p:txBody>
      </p:sp>
      <p:sp>
        <p:nvSpPr>
          <p:cNvPr id="172035" name="Rectangle 3"/>
          <p:cNvSpPr>
            <a:spLocks noGrp="1" noRot="1" noChangeArrowheads="1"/>
          </p:cNvSpPr>
          <p:nvPr>
            <p:ph type="body" idx="1"/>
          </p:nvPr>
        </p:nvSpPr>
        <p:spPr/>
        <p:txBody>
          <a:bodyPr/>
          <a:lstStyle/>
          <a:p>
            <a:pPr eaLnBrk="1" hangingPunct="1">
              <a:lnSpc>
                <a:spcPct val="80000"/>
              </a:lnSpc>
              <a:defRPr/>
            </a:pPr>
            <a:r>
              <a:rPr lang="en-US" altLang="zh-CN" sz="2800"/>
              <a:t>CMM</a:t>
            </a:r>
            <a:r>
              <a:rPr lang="zh-CN" altLang="en-US" sz="2800"/>
              <a:t>的结构主要包括如下几部分</a:t>
            </a:r>
          </a:p>
          <a:p>
            <a:pPr lvl="1" eaLnBrk="1" hangingPunct="1">
              <a:lnSpc>
                <a:spcPct val="80000"/>
              </a:lnSpc>
              <a:defRPr/>
            </a:pPr>
            <a:r>
              <a:rPr lang="zh-CN" altLang="en-US" sz="2400"/>
              <a:t>成熟度级别：</a:t>
            </a:r>
            <a:r>
              <a:rPr lang="en-US" altLang="zh-CN" sz="2400"/>
              <a:t>CMM</a:t>
            </a:r>
            <a:r>
              <a:rPr lang="zh-CN" altLang="en-US" sz="2400"/>
              <a:t>划分为五个等级，描述了每个等级的组织过程特征，每个等级代表一种组织的过程能力等级；指明了组织级过程改进的整体策略</a:t>
            </a:r>
          </a:p>
          <a:p>
            <a:pPr lvl="1" eaLnBrk="1" hangingPunct="1">
              <a:lnSpc>
                <a:spcPct val="80000"/>
              </a:lnSpc>
              <a:defRPr/>
            </a:pPr>
            <a:r>
              <a:rPr lang="zh-CN" altLang="en-US" sz="2400"/>
              <a:t>关键过程域（</a:t>
            </a:r>
            <a:r>
              <a:rPr lang="en-US" altLang="zh-CN" sz="2400"/>
              <a:t>KPA</a:t>
            </a:r>
            <a:r>
              <a:rPr lang="zh-CN" altLang="en-US" sz="2400"/>
              <a:t>）：每个等级包括几个过程域，说明了在一个等级中必要的过程；是一组学科或者逻辑上紧密联系的活动的集合，每个过程域均有自己的目标，这些目标用于支持过程能力等级特征</a:t>
            </a:r>
          </a:p>
          <a:p>
            <a:pPr lvl="1" eaLnBrk="1" hangingPunct="1">
              <a:lnSpc>
                <a:spcPct val="80000"/>
              </a:lnSpc>
              <a:defRPr/>
            </a:pPr>
            <a:r>
              <a:rPr lang="zh-CN" altLang="en-US" sz="2400"/>
              <a:t>公共特性（</a:t>
            </a:r>
            <a:r>
              <a:rPr lang="en-US" altLang="zh-CN" sz="2400"/>
              <a:t>CF</a:t>
            </a:r>
            <a:r>
              <a:rPr lang="zh-CN" altLang="en-US" sz="2400"/>
              <a:t>）：关键实践按照公共特性被组织起来，这些公共特性反映了过程有效执行的特征</a:t>
            </a:r>
          </a:p>
          <a:p>
            <a:pPr lvl="1" eaLnBrk="1" hangingPunct="1">
              <a:lnSpc>
                <a:spcPct val="80000"/>
              </a:lnSpc>
              <a:defRPr/>
            </a:pPr>
            <a:r>
              <a:rPr lang="zh-CN" altLang="en-US" sz="2400"/>
              <a:t>关键实践（</a:t>
            </a:r>
            <a:r>
              <a:rPr lang="en-US" altLang="zh-CN" sz="2400"/>
              <a:t>KP</a:t>
            </a:r>
            <a:r>
              <a:rPr lang="zh-CN" altLang="en-US" sz="2400"/>
              <a:t>）：组成一个过程域的活动，从逻辑上描述了实现这个过程域目标必须或者推荐执行的活动；属于具体的操作指导</a:t>
            </a:r>
          </a:p>
        </p:txBody>
      </p:sp>
    </p:spTree>
    <p:extLst>
      <p:ext uri="{BB962C8B-B14F-4D97-AF65-F5344CB8AC3E}">
        <p14:creationId xmlns:p14="http://schemas.microsoft.com/office/powerpoint/2010/main" val="32784653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Rot="1" noChangeArrowheads="1"/>
          </p:cNvSpPr>
          <p:nvPr>
            <p:ph type="title"/>
          </p:nvPr>
        </p:nvSpPr>
        <p:spPr/>
        <p:txBody>
          <a:bodyPr/>
          <a:lstStyle/>
          <a:p>
            <a:pPr eaLnBrk="1" hangingPunct="1">
              <a:defRPr/>
            </a:pPr>
            <a:r>
              <a:rPr lang="en-US" altLang="zh-CN" smtClean="0"/>
              <a:t>CMM</a:t>
            </a:r>
            <a:r>
              <a:rPr lang="zh-CN" altLang="en-US" smtClean="0"/>
              <a:t>内部结构</a:t>
            </a:r>
          </a:p>
        </p:txBody>
      </p:sp>
      <p:sp>
        <p:nvSpPr>
          <p:cNvPr id="174083" name="Rectangle 3"/>
          <p:cNvSpPr>
            <a:spLocks noGrp="1" noRot="1" noChangeArrowheads="1"/>
          </p:cNvSpPr>
          <p:nvPr>
            <p:ph type="body" idx="1"/>
          </p:nvPr>
        </p:nvSpPr>
        <p:spPr/>
        <p:txBody>
          <a:bodyPr/>
          <a:lstStyle/>
          <a:p>
            <a:pPr eaLnBrk="1" hangingPunct="1">
              <a:lnSpc>
                <a:spcPct val="90000"/>
              </a:lnSpc>
              <a:defRPr/>
            </a:pPr>
            <a:r>
              <a:rPr lang="zh-CN" altLang="en-US" sz="2400"/>
              <a:t>除第一级外，</a:t>
            </a:r>
            <a:r>
              <a:rPr lang="en-US" altLang="zh-CN" sz="2400"/>
              <a:t>CMM</a:t>
            </a:r>
            <a:r>
              <a:rPr lang="zh-CN" altLang="en-US" sz="2400"/>
              <a:t>的每一级是按完全相同的结构构成的。</a:t>
            </a:r>
          </a:p>
          <a:p>
            <a:pPr eaLnBrk="1" hangingPunct="1">
              <a:lnSpc>
                <a:spcPct val="90000"/>
              </a:lnSpc>
              <a:defRPr/>
            </a:pPr>
            <a:r>
              <a:rPr lang="zh-CN" altLang="en-US" sz="2400"/>
              <a:t>每一个成熟度等级都是通过一些</a:t>
            </a:r>
            <a:r>
              <a:rPr lang="en-US" altLang="zh-CN" sz="2400"/>
              <a:t>(2-7</a:t>
            </a:r>
            <a:r>
              <a:rPr lang="zh-CN" altLang="en-US" sz="2400"/>
              <a:t>个</a:t>
            </a:r>
            <a:r>
              <a:rPr lang="en-US" altLang="zh-CN" sz="2400"/>
              <a:t>)</a:t>
            </a:r>
            <a:r>
              <a:rPr lang="zh-CN" altLang="en-US" sz="2400"/>
              <a:t>关键过程域（</a:t>
            </a:r>
            <a:r>
              <a:rPr lang="en-US" altLang="zh-CN" sz="2400"/>
              <a:t>KPA</a:t>
            </a:r>
            <a:r>
              <a:rPr lang="zh-CN" altLang="en-US" sz="2400"/>
              <a:t>）描述的，</a:t>
            </a:r>
          </a:p>
          <a:p>
            <a:pPr eaLnBrk="1" hangingPunct="1">
              <a:lnSpc>
                <a:spcPct val="90000"/>
              </a:lnSpc>
              <a:defRPr/>
            </a:pPr>
            <a:r>
              <a:rPr lang="zh-CN" altLang="en-US" sz="2400"/>
              <a:t>每一个关键过程域都规定了一些目标，过程必须吻合这些目标以满足这个关键过程域。</a:t>
            </a:r>
          </a:p>
          <a:p>
            <a:pPr eaLnBrk="1" hangingPunct="1">
              <a:lnSpc>
                <a:spcPct val="90000"/>
              </a:lnSpc>
              <a:defRPr/>
            </a:pPr>
            <a:r>
              <a:rPr lang="zh-CN" altLang="en-US" sz="2400"/>
              <a:t>这些关键过程域规定了一些重要领域，机构应该关注以使它的过程向成熟等级发展。</a:t>
            </a:r>
          </a:p>
          <a:p>
            <a:pPr eaLnBrk="1" hangingPunct="1">
              <a:lnSpc>
                <a:spcPct val="90000"/>
              </a:lnSpc>
              <a:defRPr/>
            </a:pPr>
            <a:r>
              <a:rPr lang="zh-CN" altLang="en-US" sz="2400"/>
              <a:t>从整体来说软件能力成熟度级别从低到高的变化代表了企业的生产活动由高风险低效率到高质量、高生产率的进展。</a:t>
            </a:r>
          </a:p>
          <a:p>
            <a:pPr eaLnBrk="1" hangingPunct="1">
              <a:lnSpc>
                <a:spcPct val="90000"/>
              </a:lnSpc>
              <a:defRPr/>
            </a:pPr>
            <a:r>
              <a:rPr lang="zh-CN" altLang="en-US" sz="2400"/>
              <a:t>整个</a:t>
            </a:r>
            <a:r>
              <a:rPr lang="en-US" altLang="zh-CN" sz="2400"/>
              <a:t>CMM</a:t>
            </a:r>
            <a:r>
              <a:rPr lang="zh-CN" altLang="en-US" sz="2400"/>
              <a:t>模型通过等级、关键过程域、公共特性和过程改进理论联系起来；通过把关键过程域、关键实践和具体实践联系起来，提供具体的说明和指导。</a:t>
            </a:r>
          </a:p>
        </p:txBody>
      </p:sp>
    </p:spTree>
    <p:extLst>
      <p:ext uri="{BB962C8B-B14F-4D97-AF65-F5344CB8AC3E}">
        <p14:creationId xmlns:p14="http://schemas.microsoft.com/office/powerpoint/2010/main" val="17870887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rrowheads="1"/>
          </p:cNvSpPr>
          <p:nvPr>
            <p:ph type="title"/>
          </p:nvPr>
        </p:nvSpPr>
        <p:spPr/>
        <p:txBody>
          <a:bodyPr/>
          <a:lstStyle/>
          <a:p>
            <a:pPr eaLnBrk="1" hangingPunct="1">
              <a:defRPr/>
            </a:pPr>
            <a:r>
              <a:rPr lang="en-US" altLang="zh-CN" smtClean="0"/>
              <a:t>CMM</a:t>
            </a:r>
            <a:r>
              <a:rPr lang="zh-CN" altLang="en-US" smtClean="0"/>
              <a:t>的等级特征</a:t>
            </a:r>
          </a:p>
        </p:txBody>
      </p:sp>
      <p:sp>
        <p:nvSpPr>
          <p:cNvPr id="175107" name="Rectangle 3"/>
          <p:cNvSpPr>
            <a:spLocks noGrp="1" noRot="1" noChangeArrowheads="1"/>
          </p:cNvSpPr>
          <p:nvPr>
            <p:ph type="body" idx="1"/>
          </p:nvPr>
        </p:nvSpPr>
        <p:spPr/>
        <p:txBody>
          <a:bodyPr/>
          <a:lstStyle/>
          <a:p>
            <a:pPr eaLnBrk="1" hangingPunct="1">
              <a:lnSpc>
                <a:spcPct val="80000"/>
              </a:lnSpc>
              <a:defRPr/>
            </a:pPr>
            <a:r>
              <a:rPr lang="zh-CN" altLang="en-US" sz="2000"/>
              <a:t>等级一：没有一系列的准则来指导项目的执行，一个项目的结果主要取决于依靠编程组和项目负责人的能力，因此，其结果是难于预料的</a:t>
            </a:r>
          </a:p>
          <a:p>
            <a:pPr eaLnBrk="1" hangingPunct="1">
              <a:lnSpc>
                <a:spcPct val="80000"/>
              </a:lnSpc>
              <a:defRPr/>
            </a:pPr>
            <a:endParaRPr lang="zh-CN" altLang="en-US" sz="2000"/>
          </a:p>
          <a:p>
            <a:pPr eaLnBrk="1" hangingPunct="1">
              <a:lnSpc>
                <a:spcPct val="80000"/>
              </a:lnSpc>
              <a:defRPr/>
            </a:pPr>
            <a:r>
              <a:rPr lang="zh-CN" altLang="en-US" sz="2000"/>
              <a:t>等级二：有纪律的，可以重复以前项目的成功经验，实现部分的可视性</a:t>
            </a:r>
          </a:p>
          <a:p>
            <a:pPr eaLnBrk="1" hangingPunct="1">
              <a:lnSpc>
                <a:spcPct val="80000"/>
              </a:lnSpc>
              <a:defRPr/>
            </a:pPr>
            <a:endParaRPr lang="zh-CN" altLang="en-US" sz="2000"/>
          </a:p>
          <a:p>
            <a:pPr eaLnBrk="1" hangingPunct="1">
              <a:lnSpc>
                <a:spcPct val="80000"/>
              </a:lnSpc>
              <a:defRPr/>
            </a:pPr>
            <a:r>
              <a:rPr lang="zh-CN" altLang="en-US" sz="2000"/>
              <a:t>等级三：项目活动是标准和一致的，不同项目采用相同的标准，从而保持稳定的性能</a:t>
            </a:r>
          </a:p>
          <a:p>
            <a:pPr eaLnBrk="1" hangingPunct="1">
              <a:lnSpc>
                <a:spcPct val="80000"/>
              </a:lnSpc>
              <a:defRPr/>
            </a:pPr>
            <a:endParaRPr lang="zh-CN" altLang="en-US" sz="2000"/>
          </a:p>
          <a:p>
            <a:pPr eaLnBrk="1" hangingPunct="1">
              <a:lnSpc>
                <a:spcPct val="80000"/>
              </a:lnSpc>
              <a:defRPr/>
            </a:pPr>
            <a:r>
              <a:rPr lang="zh-CN" altLang="en-US" sz="2000"/>
              <a:t>等级四：对过程建立了度量，性能只在一定范围内变动，从而可以进行有效的预测</a:t>
            </a:r>
          </a:p>
          <a:p>
            <a:pPr eaLnBrk="1" hangingPunct="1">
              <a:lnSpc>
                <a:spcPct val="80000"/>
              </a:lnSpc>
              <a:defRPr/>
            </a:pPr>
            <a:endParaRPr lang="zh-CN" altLang="en-US" sz="2000"/>
          </a:p>
          <a:p>
            <a:pPr eaLnBrk="1" hangingPunct="1">
              <a:lnSpc>
                <a:spcPct val="80000"/>
              </a:lnSpc>
              <a:defRPr/>
            </a:pPr>
            <a:r>
              <a:rPr lang="zh-CN" altLang="en-US" sz="2000"/>
              <a:t>等级五：为了提高过程能力不断进行改进活动，并可以度量其结果</a:t>
            </a:r>
          </a:p>
        </p:txBody>
      </p:sp>
    </p:spTree>
    <p:extLst>
      <p:ext uri="{BB962C8B-B14F-4D97-AF65-F5344CB8AC3E}">
        <p14:creationId xmlns:p14="http://schemas.microsoft.com/office/powerpoint/2010/main" val="819693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rrowheads="1"/>
          </p:cNvSpPr>
          <p:nvPr>
            <p:ph type="title"/>
          </p:nvPr>
        </p:nvSpPr>
        <p:spPr/>
        <p:txBody>
          <a:bodyPr/>
          <a:lstStyle/>
          <a:p>
            <a:pPr eaLnBrk="1" hangingPunct="1">
              <a:defRPr/>
            </a:pPr>
            <a:r>
              <a:rPr lang="en-US" altLang="zh-CN" smtClean="0"/>
              <a:t>CMM</a:t>
            </a:r>
            <a:r>
              <a:rPr lang="zh-CN" altLang="en-US" smtClean="0"/>
              <a:t>的等级特征</a:t>
            </a:r>
          </a:p>
        </p:txBody>
      </p:sp>
      <p:sp>
        <p:nvSpPr>
          <p:cNvPr id="18435" name="AutoShape 3"/>
          <p:cNvSpPr>
            <a:spLocks noChangeAspect="1" noChangeArrowheads="1"/>
          </p:cNvSpPr>
          <p:nvPr/>
        </p:nvSpPr>
        <p:spPr bwMode="auto">
          <a:xfrm>
            <a:off x="1905000" y="1905001"/>
            <a:ext cx="8229600"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36" name="AutoShape 4"/>
          <p:cNvSpPr>
            <a:spLocks noChangeArrowheads="1"/>
          </p:cNvSpPr>
          <p:nvPr/>
        </p:nvSpPr>
        <p:spPr bwMode="auto">
          <a:xfrm>
            <a:off x="2328863" y="5172075"/>
            <a:ext cx="2220912" cy="787400"/>
          </a:xfrm>
          <a:prstGeom prst="roundRect">
            <a:avLst>
              <a:gd name="adj" fmla="val 12495"/>
            </a:avLst>
          </a:prstGeom>
          <a:solidFill>
            <a:srgbClr val="FFFFFF"/>
          </a:solidFill>
          <a:ln w="12700">
            <a:solidFill>
              <a:srgbClr val="000000"/>
            </a:solidFill>
            <a:round/>
            <a:headEnd/>
            <a:tailEnd/>
          </a:ln>
          <a:effectLst>
            <a:outerShdw dist="107763" dir="2700000" algn="ctr" rotWithShape="0">
              <a:srgbClr val="808080"/>
            </a:outerShdw>
          </a:effec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37" name="Rectangle 5"/>
          <p:cNvSpPr>
            <a:spLocks noChangeArrowheads="1"/>
          </p:cNvSpPr>
          <p:nvPr/>
        </p:nvSpPr>
        <p:spPr bwMode="auto">
          <a:xfrm>
            <a:off x="2254250" y="1905000"/>
            <a:ext cx="6554788" cy="359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38" name="AutoShape 6"/>
          <p:cNvSpPr>
            <a:spLocks noChangeArrowheads="1"/>
          </p:cNvSpPr>
          <p:nvPr/>
        </p:nvSpPr>
        <p:spPr bwMode="auto">
          <a:xfrm>
            <a:off x="3514726" y="4373563"/>
            <a:ext cx="2219325" cy="787400"/>
          </a:xfrm>
          <a:prstGeom prst="roundRect">
            <a:avLst>
              <a:gd name="adj" fmla="val 12495"/>
            </a:avLst>
          </a:prstGeom>
          <a:solidFill>
            <a:srgbClr val="FFFFFF"/>
          </a:solidFill>
          <a:ln w="12700">
            <a:solidFill>
              <a:srgbClr val="000000"/>
            </a:solidFill>
            <a:round/>
            <a:headEnd/>
            <a:tailEnd/>
          </a:ln>
          <a:effectLst>
            <a:outerShdw dist="107763" dir="2700000" algn="ctr" rotWithShape="0">
              <a:srgbClr val="808080"/>
            </a:outerShdw>
          </a:effec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39" name="Rectangle 7"/>
          <p:cNvSpPr>
            <a:spLocks noChangeArrowheads="1"/>
          </p:cNvSpPr>
          <p:nvPr/>
        </p:nvSpPr>
        <p:spPr bwMode="auto">
          <a:xfrm>
            <a:off x="2324100" y="2038350"/>
            <a:ext cx="6554788" cy="359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40" name="Rectangle 8"/>
          <p:cNvSpPr>
            <a:spLocks noChangeArrowheads="1"/>
          </p:cNvSpPr>
          <p:nvPr/>
        </p:nvSpPr>
        <p:spPr bwMode="auto">
          <a:xfrm>
            <a:off x="3649664" y="4368800"/>
            <a:ext cx="188118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b="1">
                <a:solidFill>
                  <a:srgbClr val="000000"/>
                </a:solidFill>
              </a:rPr>
              <a:t>2. Repeatable</a:t>
            </a:r>
            <a:endParaRPr lang="en-US" altLang="zh-CN" sz="1400">
              <a:solidFill>
                <a:srgbClr val="FFFFFF"/>
              </a:solidFill>
              <a:latin typeface="Tahoma" panose="020B0604030504040204" pitchFamily="34" charset="0"/>
            </a:endParaRPr>
          </a:p>
        </p:txBody>
      </p:sp>
      <p:sp>
        <p:nvSpPr>
          <p:cNvPr id="18441" name="AutoShape 9"/>
          <p:cNvSpPr>
            <a:spLocks noChangeArrowheads="1"/>
          </p:cNvSpPr>
          <p:nvPr/>
        </p:nvSpPr>
        <p:spPr bwMode="auto">
          <a:xfrm>
            <a:off x="4979989" y="3575051"/>
            <a:ext cx="2219325" cy="785813"/>
          </a:xfrm>
          <a:prstGeom prst="roundRect">
            <a:avLst>
              <a:gd name="adj" fmla="val 12495"/>
            </a:avLst>
          </a:prstGeom>
          <a:solidFill>
            <a:srgbClr val="FFFFFF"/>
          </a:solidFill>
          <a:ln w="12700">
            <a:solidFill>
              <a:srgbClr val="000000"/>
            </a:solidFill>
            <a:round/>
            <a:headEnd/>
            <a:tailEnd/>
          </a:ln>
          <a:effectLst>
            <a:outerShdw dist="107763" dir="2700000" algn="ctr" rotWithShape="0">
              <a:srgbClr val="808080"/>
            </a:outerShdw>
          </a:effec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42" name="AutoShape 10"/>
          <p:cNvSpPr>
            <a:spLocks noChangeArrowheads="1"/>
          </p:cNvSpPr>
          <p:nvPr/>
        </p:nvSpPr>
        <p:spPr bwMode="auto">
          <a:xfrm>
            <a:off x="6513513" y="2774950"/>
            <a:ext cx="1941512" cy="787400"/>
          </a:xfrm>
          <a:prstGeom prst="roundRect">
            <a:avLst>
              <a:gd name="adj" fmla="val 12495"/>
            </a:avLst>
          </a:prstGeom>
          <a:solidFill>
            <a:srgbClr val="FFFFFF"/>
          </a:solidFill>
          <a:ln w="12700">
            <a:solidFill>
              <a:srgbClr val="000000"/>
            </a:solidFill>
            <a:round/>
            <a:headEnd/>
            <a:tailEnd/>
          </a:ln>
          <a:effectLst>
            <a:outerShdw dist="107763" dir="2700000" algn="ctr" rotWithShape="0">
              <a:srgbClr val="808080"/>
            </a:outerShdw>
          </a:effec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43" name="Rectangle 11"/>
          <p:cNvSpPr>
            <a:spLocks noChangeArrowheads="1"/>
          </p:cNvSpPr>
          <p:nvPr/>
        </p:nvSpPr>
        <p:spPr bwMode="auto">
          <a:xfrm>
            <a:off x="2881314" y="2436813"/>
            <a:ext cx="6556375" cy="359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44" name="Rectangle 12"/>
          <p:cNvSpPr>
            <a:spLocks noChangeArrowheads="1"/>
          </p:cNvSpPr>
          <p:nvPr/>
        </p:nvSpPr>
        <p:spPr bwMode="auto">
          <a:xfrm>
            <a:off x="2673351" y="5167313"/>
            <a:ext cx="111442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b="1">
                <a:solidFill>
                  <a:srgbClr val="000000"/>
                </a:solidFill>
              </a:rPr>
              <a:t>1. Initial</a:t>
            </a:r>
            <a:endParaRPr lang="en-US" altLang="zh-CN" sz="1400">
              <a:solidFill>
                <a:srgbClr val="FFFFFF"/>
              </a:solidFill>
              <a:latin typeface="Tahoma" panose="020B0604030504040204" pitchFamily="34" charset="0"/>
            </a:endParaRPr>
          </a:p>
        </p:txBody>
      </p:sp>
      <p:sp>
        <p:nvSpPr>
          <p:cNvPr id="18445" name="Rectangle 13"/>
          <p:cNvSpPr>
            <a:spLocks noChangeArrowheads="1"/>
          </p:cNvSpPr>
          <p:nvPr/>
        </p:nvSpPr>
        <p:spPr bwMode="auto">
          <a:xfrm>
            <a:off x="5324475" y="3570288"/>
            <a:ext cx="18796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b="1">
                <a:solidFill>
                  <a:srgbClr val="000000"/>
                </a:solidFill>
              </a:rPr>
              <a:t>3. Defined</a:t>
            </a:r>
            <a:endParaRPr lang="en-US" altLang="zh-CN" sz="1400">
              <a:solidFill>
                <a:srgbClr val="FFFFFF"/>
              </a:solidFill>
              <a:latin typeface="Tahoma" panose="020B0604030504040204" pitchFamily="34" charset="0"/>
            </a:endParaRPr>
          </a:p>
        </p:txBody>
      </p:sp>
      <p:sp>
        <p:nvSpPr>
          <p:cNvPr id="18446" name="Rectangle 14"/>
          <p:cNvSpPr>
            <a:spLocks noChangeArrowheads="1"/>
          </p:cNvSpPr>
          <p:nvPr/>
        </p:nvSpPr>
        <p:spPr bwMode="auto">
          <a:xfrm>
            <a:off x="6788150" y="2771775"/>
            <a:ext cx="188118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b="1">
                <a:solidFill>
                  <a:srgbClr val="000000"/>
                </a:solidFill>
              </a:rPr>
              <a:t>4. Managed</a:t>
            </a:r>
            <a:endParaRPr lang="en-US" altLang="zh-CN" sz="1400">
              <a:solidFill>
                <a:srgbClr val="FFFFFF"/>
              </a:solidFill>
              <a:latin typeface="Tahoma" panose="020B0604030504040204" pitchFamily="34" charset="0"/>
            </a:endParaRPr>
          </a:p>
        </p:txBody>
      </p:sp>
      <p:sp>
        <p:nvSpPr>
          <p:cNvPr id="18447" name="Rectangle 15"/>
          <p:cNvSpPr>
            <a:spLocks noChangeArrowheads="1"/>
          </p:cNvSpPr>
          <p:nvPr/>
        </p:nvSpPr>
        <p:spPr bwMode="auto">
          <a:xfrm>
            <a:off x="2116139" y="4435476"/>
            <a:ext cx="1671637"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zh-CN" altLang="en-US" sz="1400">
                <a:solidFill>
                  <a:srgbClr val="FFFFFF"/>
                </a:solidFill>
              </a:rPr>
              <a:t>有纪律的过程</a:t>
            </a:r>
            <a:endParaRPr lang="zh-CN" altLang="en-US" sz="1400">
              <a:solidFill>
                <a:srgbClr val="FFFFFF"/>
              </a:solidFill>
              <a:latin typeface="Tahoma" panose="020B0604030504040204" pitchFamily="34" charset="0"/>
            </a:endParaRPr>
          </a:p>
        </p:txBody>
      </p:sp>
      <p:sp>
        <p:nvSpPr>
          <p:cNvPr id="18448" name="Rectangle 16"/>
          <p:cNvSpPr>
            <a:spLocks noChangeArrowheads="1"/>
          </p:cNvSpPr>
          <p:nvPr/>
        </p:nvSpPr>
        <p:spPr bwMode="auto">
          <a:xfrm>
            <a:off x="3441700" y="3436939"/>
            <a:ext cx="1670050"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zh-CN" altLang="en-US" sz="1400">
                <a:solidFill>
                  <a:srgbClr val="FFFFFF"/>
                </a:solidFill>
              </a:rPr>
              <a:t>标准、一致的过程</a:t>
            </a:r>
            <a:endParaRPr lang="zh-CN" altLang="en-US" sz="1400">
              <a:solidFill>
                <a:srgbClr val="FFFFFF"/>
              </a:solidFill>
              <a:latin typeface="Tahoma" panose="020B0604030504040204" pitchFamily="34" charset="0"/>
            </a:endParaRPr>
          </a:p>
        </p:txBody>
      </p:sp>
      <p:sp>
        <p:nvSpPr>
          <p:cNvPr id="18449" name="Rectangle 17"/>
          <p:cNvSpPr>
            <a:spLocks noChangeArrowheads="1"/>
          </p:cNvSpPr>
          <p:nvPr/>
        </p:nvSpPr>
        <p:spPr bwMode="auto">
          <a:xfrm>
            <a:off x="5045075" y="2905126"/>
            <a:ext cx="167005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400">
                <a:solidFill>
                  <a:srgbClr val="FFFFFF"/>
                </a:solidFill>
              </a:rPr>
              <a:t>可预测的过程</a:t>
            </a:r>
            <a:endParaRPr lang="zh-CN" altLang="en-US" sz="1400">
              <a:solidFill>
                <a:srgbClr val="FFFFFF"/>
              </a:solidFill>
              <a:latin typeface="Tahoma" panose="020B0604030504040204" pitchFamily="34" charset="0"/>
            </a:endParaRPr>
          </a:p>
        </p:txBody>
      </p:sp>
      <p:sp>
        <p:nvSpPr>
          <p:cNvPr id="18450" name="Rectangle 18"/>
          <p:cNvSpPr>
            <a:spLocks noChangeArrowheads="1"/>
          </p:cNvSpPr>
          <p:nvPr/>
        </p:nvSpPr>
        <p:spPr bwMode="auto">
          <a:xfrm>
            <a:off x="6300788" y="1906589"/>
            <a:ext cx="1670050"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zh-CN" altLang="en-US" sz="1400">
                <a:solidFill>
                  <a:srgbClr val="FFFFFF"/>
                </a:solidFill>
              </a:rPr>
              <a:t>不断改进的过程</a:t>
            </a:r>
            <a:endParaRPr lang="zh-CN" altLang="en-US" sz="1400">
              <a:solidFill>
                <a:srgbClr val="FFFFFF"/>
              </a:solidFill>
              <a:latin typeface="Tahoma" panose="020B0604030504040204" pitchFamily="34" charset="0"/>
            </a:endParaRPr>
          </a:p>
        </p:txBody>
      </p:sp>
      <p:sp>
        <p:nvSpPr>
          <p:cNvPr id="18451" name="Arc 19"/>
          <p:cNvSpPr>
            <a:spLocks/>
          </p:cNvSpPr>
          <p:nvPr/>
        </p:nvSpPr>
        <p:spPr bwMode="auto">
          <a:xfrm>
            <a:off x="2952750" y="4833938"/>
            <a:ext cx="558800" cy="400050"/>
          </a:xfrm>
          <a:custGeom>
            <a:avLst/>
            <a:gdLst>
              <a:gd name="T0" fmla="*/ 0 w 21600"/>
              <a:gd name="T1" fmla="*/ 400050 h 21600"/>
              <a:gd name="T2" fmla="*/ 557351 w 21600"/>
              <a:gd name="T3" fmla="*/ 0 h 21600"/>
              <a:gd name="T4" fmla="*/ 558800 w 21600"/>
              <a:gd name="T5" fmla="*/ 4000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lnTo>
                  <a:pt x="0" y="21599"/>
                </a:lnTo>
                <a:close/>
              </a:path>
            </a:pathLst>
          </a:custGeom>
          <a:noFill/>
          <a:ln w="25400" cap="rnd">
            <a:solidFill>
              <a:srgbClr val="29E75B"/>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8452" name="Arc 20"/>
          <p:cNvSpPr>
            <a:spLocks/>
          </p:cNvSpPr>
          <p:nvPr/>
        </p:nvSpPr>
        <p:spPr bwMode="auto">
          <a:xfrm>
            <a:off x="4348163" y="3970338"/>
            <a:ext cx="557212" cy="398462"/>
          </a:xfrm>
          <a:custGeom>
            <a:avLst/>
            <a:gdLst>
              <a:gd name="T0" fmla="*/ 0 w 21600"/>
              <a:gd name="T1" fmla="*/ 398462 h 21600"/>
              <a:gd name="T2" fmla="*/ 555767 w 21600"/>
              <a:gd name="T3" fmla="*/ 0 h 21600"/>
              <a:gd name="T4" fmla="*/ 557212 w 21600"/>
              <a:gd name="T5" fmla="*/ 39846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lnTo>
                  <a:pt x="0" y="21599"/>
                </a:lnTo>
                <a:close/>
              </a:path>
            </a:pathLst>
          </a:custGeom>
          <a:noFill/>
          <a:ln w="25400" cap="rnd">
            <a:solidFill>
              <a:srgbClr val="29E75B"/>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8453" name="Arc 21"/>
          <p:cNvSpPr>
            <a:spLocks/>
          </p:cNvSpPr>
          <p:nvPr/>
        </p:nvSpPr>
        <p:spPr bwMode="auto">
          <a:xfrm>
            <a:off x="5951538" y="3170238"/>
            <a:ext cx="558800" cy="400050"/>
          </a:xfrm>
          <a:custGeom>
            <a:avLst/>
            <a:gdLst>
              <a:gd name="T0" fmla="*/ 0 w 21600"/>
              <a:gd name="T1" fmla="*/ 400050 h 21600"/>
              <a:gd name="T2" fmla="*/ 557351 w 21600"/>
              <a:gd name="T3" fmla="*/ 0 h 21600"/>
              <a:gd name="T4" fmla="*/ 558800 w 21600"/>
              <a:gd name="T5" fmla="*/ 4000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lnTo>
                  <a:pt x="0" y="21599"/>
                </a:lnTo>
                <a:close/>
              </a:path>
            </a:pathLst>
          </a:custGeom>
          <a:noFill/>
          <a:ln w="25400" cap="rnd">
            <a:solidFill>
              <a:srgbClr val="29E75B"/>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8454" name="Arc 22"/>
          <p:cNvSpPr>
            <a:spLocks/>
          </p:cNvSpPr>
          <p:nvPr/>
        </p:nvSpPr>
        <p:spPr bwMode="auto">
          <a:xfrm>
            <a:off x="7346951" y="2371725"/>
            <a:ext cx="557213" cy="400050"/>
          </a:xfrm>
          <a:custGeom>
            <a:avLst/>
            <a:gdLst>
              <a:gd name="T0" fmla="*/ 0 w 21600"/>
              <a:gd name="T1" fmla="*/ 400050 h 21600"/>
              <a:gd name="T2" fmla="*/ 555768 w 21600"/>
              <a:gd name="T3" fmla="*/ 0 h 21600"/>
              <a:gd name="T4" fmla="*/ 557213 w 21600"/>
              <a:gd name="T5" fmla="*/ 4000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lnTo>
                  <a:pt x="0" y="21599"/>
                </a:lnTo>
                <a:close/>
              </a:path>
            </a:pathLst>
          </a:custGeom>
          <a:noFill/>
          <a:ln w="25400" cap="rnd">
            <a:solidFill>
              <a:srgbClr val="29E75B"/>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8455" name="Rectangle 23"/>
          <p:cNvSpPr>
            <a:spLocks noChangeArrowheads="1"/>
          </p:cNvSpPr>
          <p:nvPr/>
        </p:nvSpPr>
        <p:spPr bwMode="auto">
          <a:xfrm>
            <a:off x="2463800" y="5434013"/>
            <a:ext cx="1951038"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a:solidFill>
                  <a:srgbClr val="000000"/>
                </a:solidFill>
              </a:rPr>
              <a:t>Unpredictable and poorly controlled</a:t>
            </a:r>
            <a:endParaRPr lang="en-US" altLang="zh-CN" sz="1400">
              <a:solidFill>
                <a:srgbClr val="FFFFFF"/>
              </a:solidFill>
              <a:latin typeface="Tahoma" panose="020B0604030504040204" pitchFamily="34" charset="0"/>
            </a:endParaRPr>
          </a:p>
        </p:txBody>
      </p:sp>
      <p:sp>
        <p:nvSpPr>
          <p:cNvPr id="18456" name="Rectangle 24"/>
          <p:cNvSpPr>
            <a:spLocks noChangeArrowheads="1"/>
          </p:cNvSpPr>
          <p:nvPr/>
        </p:nvSpPr>
        <p:spPr bwMode="auto">
          <a:xfrm>
            <a:off x="3511551" y="4635501"/>
            <a:ext cx="2576513"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a:solidFill>
                  <a:srgbClr val="000000"/>
                </a:solidFill>
              </a:rPr>
              <a:t>Can repeat previously mastered tasks</a:t>
            </a:r>
            <a:endParaRPr lang="en-US" altLang="zh-CN" sz="1400">
              <a:solidFill>
                <a:srgbClr val="FFFFFF"/>
              </a:solidFill>
              <a:latin typeface="Tahoma" panose="020B0604030504040204" pitchFamily="34" charset="0"/>
            </a:endParaRPr>
          </a:p>
        </p:txBody>
      </p:sp>
      <p:sp>
        <p:nvSpPr>
          <p:cNvPr id="18457" name="Rectangle 25"/>
          <p:cNvSpPr>
            <a:spLocks noChangeArrowheads="1"/>
          </p:cNvSpPr>
          <p:nvPr/>
        </p:nvSpPr>
        <p:spPr bwMode="auto">
          <a:xfrm>
            <a:off x="4975225" y="3836988"/>
            <a:ext cx="257810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a:solidFill>
                  <a:srgbClr val="000000"/>
                </a:solidFill>
              </a:rPr>
              <a:t>Process characterized, fairly well understood</a:t>
            </a:r>
            <a:endParaRPr lang="en-US" altLang="zh-CN" sz="1400">
              <a:solidFill>
                <a:srgbClr val="FFFFFF"/>
              </a:solidFill>
              <a:latin typeface="Tahoma" panose="020B0604030504040204" pitchFamily="34" charset="0"/>
            </a:endParaRPr>
          </a:p>
        </p:txBody>
      </p:sp>
      <p:sp>
        <p:nvSpPr>
          <p:cNvPr id="18458" name="Rectangle 26"/>
          <p:cNvSpPr>
            <a:spLocks noChangeArrowheads="1"/>
          </p:cNvSpPr>
          <p:nvPr/>
        </p:nvSpPr>
        <p:spPr bwMode="auto">
          <a:xfrm>
            <a:off x="6510338" y="3038476"/>
            <a:ext cx="21590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a:solidFill>
                  <a:srgbClr val="000000"/>
                </a:solidFill>
              </a:rPr>
              <a:t>Process measured and controlled</a:t>
            </a:r>
            <a:endParaRPr lang="en-US" altLang="zh-CN" sz="1400">
              <a:solidFill>
                <a:srgbClr val="FFFFFF"/>
              </a:solidFill>
              <a:latin typeface="Tahoma" panose="020B0604030504040204" pitchFamily="34" charset="0"/>
            </a:endParaRPr>
          </a:p>
        </p:txBody>
      </p:sp>
      <p:sp>
        <p:nvSpPr>
          <p:cNvPr id="18459" name="AutoShape 27"/>
          <p:cNvSpPr>
            <a:spLocks noChangeArrowheads="1"/>
          </p:cNvSpPr>
          <p:nvPr/>
        </p:nvSpPr>
        <p:spPr bwMode="auto">
          <a:xfrm>
            <a:off x="7978776" y="1911350"/>
            <a:ext cx="1939925" cy="852488"/>
          </a:xfrm>
          <a:prstGeom prst="roundRect">
            <a:avLst>
              <a:gd name="adj" fmla="val 12495"/>
            </a:avLst>
          </a:prstGeom>
          <a:solidFill>
            <a:srgbClr val="FFFFFF"/>
          </a:solidFill>
          <a:ln w="12700">
            <a:solidFill>
              <a:srgbClr val="000000"/>
            </a:solidFill>
            <a:round/>
            <a:headEnd/>
            <a:tailEnd/>
          </a:ln>
          <a:effectLst>
            <a:outerShdw dist="107763" dir="2700000" algn="ctr" rotWithShape="0">
              <a:srgbClr val="808080"/>
            </a:outerShdw>
          </a:effec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sp>
        <p:nvSpPr>
          <p:cNvPr id="18460" name="Rectangle 28"/>
          <p:cNvSpPr>
            <a:spLocks noChangeArrowheads="1"/>
          </p:cNvSpPr>
          <p:nvPr/>
        </p:nvSpPr>
        <p:spPr bwMode="auto">
          <a:xfrm>
            <a:off x="8043863" y="2173288"/>
            <a:ext cx="187960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a:solidFill>
                  <a:srgbClr val="000000"/>
                </a:solidFill>
              </a:rPr>
              <a:t>Focus on process improvement</a:t>
            </a:r>
            <a:endParaRPr lang="en-US" altLang="zh-CN" sz="1400">
              <a:solidFill>
                <a:srgbClr val="FFFFFF"/>
              </a:solidFill>
              <a:latin typeface="Tahoma" panose="020B0604030504040204" pitchFamily="34" charset="0"/>
            </a:endParaRPr>
          </a:p>
        </p:txBody>
      </p:sp>
      <p:sp>
        <p:nvSpPr>
          <p:cNvPr id="18461" name="Rectangle 29"/>
          <p:cNvSpPr>
            <a:spLocks noChangeArrowheads="1"/>
          </p:cNvSpPr>
          <p:nvPr/>
        </p:nvSpPr>
        <p:spPr bwMode="auto">
          <a:xfrm>
            <a:off x="8253414" y="1906588"/>
            <a:ext cx="160178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b="1">
                <a:solidFill>
                  <a:srgbClr val="000000"/>
                </a:solidFill>
              </a:rPr>
              <a:t>5.Optimizing</a:t>
            </a:r>
            <a:endParaRPr lang="en-US" altLang="zh-CN" sz="1400">
              <a:solidFill>
                <a:srgbClr val="FFFFFF"/>
              </a:solidFill>
              <a:latin typeface="Tahoma" panose="020B0604030504040204" pitchFamily="34" charset="0"/>
            </a:endParaRPr>
          </a:p>
        </p:txBody>
      </p:sp>
      <p:sp>
        <p:nvSpPr>
          <p:cNvPr id="18462" name="Rectangle 30"/>
          <p:cNvSpPr>
            <a:spLocks noChangeArrowheads="1"/>
          </p:cNvSpPr>
          <p:nvPr/>
        </p:nvSpPr>
        <p:spPr bwMode="auto">
          <a:xfrm>
            <a:off x="4765675" y="5300663"/>
            <a:ext cx="1671638"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1400">
                <a:solidFill>
                  <a:srgbClr val="FFFFFF"/>
                </a:solidFill>
              </a:rPr>
              <a:t>Project Management </a:t>
            </a:r>
            <a:endParaRPr lang="en-US" altLang="zh-CN" sz="1400">
              <a:solidFill>
                <a:srgbClr val="FFFFFF"/>
              </a:solidFill>
              <a:latin typeface="Tahoma" panose="020B0604030504040204" pitchFamily="34" charset="0"/>
            </a:endParaRPr>
          </a:p>
        </p:txBody>
      </p:sp>
      <p:sp>
        <p:nvSpPr>
          <p:cNvPr id="18463" name="Rectangle 31"/>
          <p:cNvSpPr>
            <a:spLocks noChangeArrowheads="1"/>
          </p:cNvSpPr>
          <p:nvPr/>
        </p:nvSpPr>
        <p:spPr bwMode="auto">
          <a:xfrm>
            <a:off x="5951539" y="4502151"/>
            <a:ext cx="1671637"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r>
              <a:rPr lang="en-US" altLang="zh-CN" sz="1400">
                <a:solidFill>
                  <a:srgbClr val="FFFFFF"/>
                </a:solidFill>
              </a:rPr>
              <a:t>Integrated Engineering Process</a:t>
            </a:r>
            <a:endParaRPr lang="en-US" altLang="zh-CN" sz="1400">
              <a:solidFill>
                <a:srgbClr val="FFFFFF"/>
              </a:solidFill>
              <a:latin typeface="Tahoma" panose="020B0604030504040204" pitchFamily="34" charset="0"/>
            </a:endParaRPr>
          </a:p>
        </p:txBody>
      </p:sp>
      <p:sp>
        <p:nvSpPr>
          <p:cNvPr id="18464" name="Rectangle 32"/>
          <p:cNvSpPr>
            <a:spLocks noChangeArrowheads="1"/>
          </p:cNvSpPr>
          <p:nvPr/>
        </p:nvSpPr>
        <p:spPr bwMode="auto">
          <a:xfrm>
            <a:off x="7416800" y="3703638"/>
            <a:ext cx="16700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a:solidFill>
                  <a:srgbClr val="FFFFFF"/>
                </a:solidFill>
              </a:rPr>
              <a:t>Product and Process Quality</a:t>
            </a:r>
            <a:endParaRPr lang="en-US" altLang="zh-CN" sz="1400">
              <a:solidFill>
                <a:srgbClr val="FFFFFF"/>
              </a:solidFill>
              <a:latin typeface="Tahoma" panose="020B0604030504040204" pitchFamily="34" charset="0"/>
            </a:endParaRPr>
          </a:p>
        </p:txBody>
      </p:sp>
      <p:sp>
        <p:nvSpPr>
          <p:cNvPr id="18465" name="Rectangle 33"/>
          <p:cNvSpPr>
            <a:spLocks noChangeArrowheads="1"/>
          </p:cNvSpPr>
          <p:nvPr/>
        </p:nvSpPr>
        <p:spPr bwMode="auto">
          <a:xfrm>
            <a:off x="8670926" y="2905126"/>
            <a:ext cx="1323975"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3388" tIns="26226" rIns="53388" bIns="26226"/>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fontAlgn="base">
              <a:spcBef>
                <a:spcPct val="0"/>
              </a:spcBef>
              <a:spcAft>
                <a:spcPct val="0"/>
              </a:spcAft>
            </a:pPr>
            <a:r>
              <a:rPr lang="en-US" altLang="zh-CN" sz="1400">
                <a:solidFill>
                  <a:srgbClr val="FFFFFF"/>
                </a:solidFill>
              </a:rPr>
              <a:t>Managing Change</a:t>
            </a:r>
            <a:endParaRPr lang="en-US" altLang="zh-CN" sz="1400">
              <a:solidFill>
                <a:srgbClr val="FFFFFF"/>
              </a:solidFill>
              <a:latin typeface="Tahoma" panose="020B0604030504040204" pitchFamily="34" charset="0"/>
            </a:endParaRPr>
          </a:p>
        </p:txBody>
      </p:sp>
      <p:sp>
        <p:nvSpPr>
          <p:cNvPr id="18466" name="Line 34"/>
          <p:cNvSpPr>
            <a:spLocks noChangeShapeType="1"/>
          </p:cNvSpPr>
          <p:nvPr/>
        </p:nvSpPr>
        <p:spPr bwMode="auto">
          <a:xfrm flipV="1">
            <a:off x="2671764" y="2238376"/>
            <a:ext cx="2371725" cy="1730375"/>
          </a:xfrm>
          <a:prstGeom prst="line">
            <a:avLst/>
          </a:prstGeom>
          <a:noFill/>
          <a:ln w="57150">
            <a:solidFill>
              <a:srgbClr val="29E75B"/>
            </a:solidFill>
            <a:round/>
            <a:headEnd/>
            <a:tailEnd type="triangle" w="med" len="me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8467" name="Rectangle 35"/>
          <p:cNvSpPr>
            <a:spLocks noChangeArrowheads="1"/>
          </p:cNvSpPr>
          <p:nvPr/>
        </p:nvSpPr>
        <p:spPr bwMode="auto">
          <a:xfrm>
            <a:off x="1905001" y="3368676"/>
            <a:ext cx="1185863" cy="4667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53950" tIns="26975" rIns="53950" bIns="26975"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b="1">
                <a:solidFill>
                  <a:srgbClr val="29E75B"/>
                </a:solidFill>
                <a:latin typeface="Times New Roman" panose="02020603050405020304" pitchFamily="18" charset="0"/>
              </a:rPr>
              <a:t>Disorder</a:t>
            </a:r>
            <a:r>
              <a:rPr lang="en-US" altLang="zh-CN" sz="1400">
                <a:solidFill>
                  <a:srgbClr val="29E75B"/>
                </a:solidFill>
                <a:latin typeface="Times New Roman" panose="02020603050405020304" pitchFamily="18" charset="0"/>
              </a:rPr>
              <a:t> </a:t>
            </a:r>
            <a:endParaRPr lang="en-US" altLang="zh-CN">
              <a:solidFill>
                <a:srgbClr val="29E75B"/>
              </a:solidFill>
              <a:latin typeface="Tahoma" panose="020B0604030504040204" pitchFamily="34" charset="0"/>
            </a:endParaRPr>
          </a:p>
        </p:txBody>
      </p:sp>
      <p:sp>
        <p:nvSpPr>
          <p:cNvPr id="18468" name="Rectangle 36"/>
          <p:cNvSpPr>
            <a:spLocks noChangeArrowheads="1"/>
          </p:cNvSpPr>
          <p:nvPr/>
        </p:nvSpPr>
        <p:spPr bwMode="auto">
          <a:xfrm>
            <a:off x="2601913" y="2703514"/>
            <a:ext cx="1185862" cy="4667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53950" tIns="26975" rIns="53950" bIns="26975"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b="1">
                <a:solidFill>
                  <a:srgbClr val="29E75B"/>
                </a:solidFill>
                <a:latin typeface="Times New Roman" panose="02020603050405020304" pitchFamily="18" charset="0"/>
              </a:rPr>
              <a:t>Disciplined</a:t>
            </a:r>
            <a:r>
              <a:rPr lang="en-US" altLang="zh-CN" sz="1400">
                <a:solidFill>
                  <a:srgbClr val="29E75B"/>
                </a:solidFill>
                <a:latin typeface="Times New Roman" panose="02020603050405020304" pitchFamily="18" charset="0"/>
              </a:rPr>
              <a:t> </a:t>
            </a:r>
            <a:endParaRPr lang="en-US" altLang="zh-CN">
              <a:solidFill>
                <a:srgbClr val="29E75B"/>
              </a:solidFill>
              <a:latin typeface="Tahoma" panose="020B0604030504040204" pitchFamily="34" charset="0"/>
            </a:endParaRPr>
          </a:p>
        </p:txBody>
      </p:sp>
      <p:sp>
        <p:nvSpPr>
          <p:cNvPr id="18469" name="Rectangle 37"/>
          <p:cNvSpPr>
            <a:spLocks noChangeArrowheads="1"/>
          </p:cNvSpPr>
          <p:nvPr/>
        </p:nvSpPr>
        <p:spPr bwMode="auto">
          <a:xfrm>
            <a:off x="3300413" y="2105025"/>
            <a:ext cx="1185862" cy="465138"/>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53950" tIns="26975" rIns="53950" bIns="26975"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b="1">
                <a:solidFill>
                  <a:srgbClr val="29E75B"/>
                </a:solidFill>
                <a:latin typeface="Times New Roman" panose="02020603050405020304" pitchFamily="18" charset="0"/>
              </a:rPr>
              <a:t>Predictable</a:t>
            </a:r>
            <a:r>
              <a:rPr lang="en-US" altLang="zh-CN" sz="1400">
                <a:solidFill>
                  <a:srgbClr val="29E75B"/>
                </a:solidFill>
                <a:latin typeface="Times New Roman" panose="02020603050405020304" pitchFamily="18" charset="0"/>
              </a:rPr>
              <a:t> </a:t>
            </a:r>
            <a:endParaRPr lang="en-US" altLang="zh-CN">
              <a:solidFill>
                <a:srgbClr val="29E75B"/>
              </a:solidFill>
              <a:latin typeface="Tahoma" panose="020B0604030504040204" pitchFamily="34" charset="0"/>
            </a:endParaRPr>
          </a:p>
        </p:txBody>
      </p:sp>
      <p:sp>
        <p:nvSpPr>
          <p:cNvPr id="18470" name="Line 38"/>
          <p:cNvSpPr>
            <a:spLocks noChangeShapeType="1"/>
          </p:cNvSpPr>
          <p:nvPr/>
        </p:nvSpPr>
        <p:spPr bwMode="auto">
          <a:xfrm flipV="1">
            <a:off x="7065964" y="4035425"/>
            <a:ext cx="2371725" cy="1728788"/>
          </a:xfrm>
          <a:prstGeom prst="line">
            <a:avLst/>
          </a:prstGeom>
          <a:noFill/>
          <a:ln w="57150">
            <a:solidFill>
              <a:srgbClr val="29E75B"/>
            </a:solidFill>
            <a:round/>
            <a:headEnd/>
            <a:tailEnd type="triangle" w="med" len="me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18471" name="Rectangle 39"/>
          <p:cNvSpPr>
            <a:spLocks noChangeArrowheads="1"/>
          </p:cNvSpPr>
          <p:nvPr/>
        </p:nvSpPr>
        <p:spPr bwMode="auto">
          <a:xfrm>
            <a:off x="7485063" y="5499100"/>
            <a:ext cx="1185862" cy="465138"/>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53950" tIns="26975" rIns="53950" bIns="26975"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b="1">
                <a:solidFill>
                  <a:srgbClr val="29E75B"/>
                </a:solidFill>
                <a:latin typeface="Times New Roman" panose="02020603050405020304" pitchFamily="18" charset="0"/>
              </a:rPr>
              <a:t>Immature</a:t>
            </a:r>
            <a:r>
              <a:rPr lang="en-US" altLang="zh-CN" sz="1400">
                <a:solidFill>
                  <a:srgbClr val="29E75B"/>
                </a:solidFill>
                <a:latin typeface="Times New Roman" panose="02020603050405020304" pitchFamily="18" charset="0"/>
              </a:rPr>
              <a:t> </a:t>
            </a:r>
            <a:endParaRPr lang="en-US" altLang="zh-CN">
              <a:solidFill>
                <a:srgbClr val="29E75B"/>
              </a:solidFill>
              <a:latin typeface="Tahoma" panose="020B0604030504040204" pitchFamily="34" charset="0"/>
            </a:endParaRPr>
          </a:p>
        </p:txBody>
      </p:sp>
      <p:sp>
        <p:nvSpPr>
          <p:cNvPr id="18472" name="Rectangle 40"/>
          <p:cNvSpPr>
            <a:spLocks noChangeArrowheads="1"/>
          </p:cNvSpPr>
          <p:nvPr/>
        </p:nvSpPr>
        <p:spPr bwMode="auto">
          <a:xfrm>
            <a:off x="8948738" y="4367214"/>
            <a:ext cx="1185862" cy="4667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53950" tIns="26975" rIns="53950" bIns="26975"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pPr>
            <a:r>
              <a:rPr lang="en-US" altLang="zh-CN" sz="1400" b="1">
                <a:solidFill>
                  <a:srgbClr val="29E75B"/>
                </a:solidFill>
                <a:latin typeface="Times New Roman" panose="02020603050405020304" pitchFamily="18" charset="0"/>
              </a:rPr>
              <a:t>Mature</a:t>
            </a:r>
            <a:r>
              <a:rPr lang="en-US" altLang="zh-CN" sz="1400">
                <a:solidFill>
                  <a:srgbClr val="29E75B"/>
                </a:solidFill>
                <a:latin typeface="Times New Roman" panose="02020603050405020304" pitchFamily="18" charset="0"/>
              </a:rPr>
              <a:t> </a:t>
            </a:r>
            <a:endParaRPr lang="en-US" altLang="zh-CN">
              <a:solidFill>
                <a:srgbClr val="29E75B"/>
              </a:solidFill>
              <a:latin typeface="Tahoma" panose="020B0604030504040204" pitchFamily="34" charset="0"/>
            </a:endParaRPr>
          </a:p>
        </p:txBody>
      </p:sp>
    </p:spTree>
    <p:extLst>
      <p:ext uri="{BB962C8B-B14F-4D97-AF65-F5344CB8AC3E}">
        <p14:creationId xmlns:p14="http://schemas.microsoft.com/office/powerpoint/2010/main" val="20523715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rrowheads="1"/>
          </p:cNvSpPr>
          <p:nvPr>
            <p:ph type="title"/>
          </p:nvPr>
        </p:nvSpPr>
        <p:spPr/>
        <p:txBody>
          <a:bodyPr/>
          <a:lstStyle/>
          <a:p>
            <a:pPr eaLnBrk="1" hangingPunct="1">
              <a:defRPr/>
            </a:pPr>
            <a:r>
              <a:rPr lang="zh-CN" altLang="en-US" smtClean="0"/>
              <a:t>关键过程域</a:t>
            </a:r>
          </a:p>
        </p:txBody>
      </p:sp>
      <p:sp>
        <p:nvSpPr>
          <p:cNvPr id="176131" name="Rectangle 3"/>
          <p:cNvSpPr>
            <a:spLocks noGrp="1" noRot="1" noChangeArrowheads="1"/>
          </p:cNvSpPr>
          <p:nvPr>
            <p:ph type="body" idx="1"/>
          </p:nvPr>
        </p:nvSpPr>
        <p:spPr>
          <a:xfrm>
            <a:off x="1825625" y="1676400"/>
            <a:ext cx="8540750" cy="2057400"/>
          </a:xfrm>
        </p:spPr>
        <p:txBody>
          <a:bodyPr/>
          <a:lstStyle/>
          <a:p>
            <a:pPr eaLnBrk="1" hangingPunct="1">
              <a:lnSpc>
                <a:spcPct val="80000"/>
              </a:lnSpc>
              <a:defRPr/>
            </a:pPr>
            <a:r>
              <a:rPr lang="en-US" altLang="zh-CN" sz="2400"/>
              <a:t>SEI</a:t>
            </a:r>
            <a:r>
              <a:rPr lang="zh-CN" altLang="en-US" sz="2400"/>
              <a:t>根据实践经验确认关键的软件工程领域，这些过程域作为软件生产活动的关键部分被选择出来，是评价和形成过程能力的主要方面。</a:t>
            </a:r>
          </a:p>
          <a:p>
            <a:pPr eaLnBrk="1" hangingPunct="1">
              <a:lnSpc>
                <a:spcPct val="80000"/>
              </a:lnSpc>
              <a:defRPr/>
            </a:pPr>
            <a:r>
              <a:rPr lang="zh-CN" altLang="en-US" sz="2400"/>
              <a:t>可以将这些关键过程域归为三类：管理过程、组织过程、工程过程。其中管理过程包括项目管理的内容以及一些支持内容</a:t>
            </a:r>
          </a:p>
        </p:txBody>
      </p:sp>
      <p:pic>
        <p:nvPicPr>
          <p:cNvPr id="1946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657601"/>
            <a:ext cx="8229600"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6067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rrowheads="1"/>
          </p:cNvSpPr>
          <p:nvPr>
            <p:ph type="title"/>
          </p:nvPr>
        </p:nvSpPr>
        <p:spPr/>
        <p:txBody>
          <a:bodyPr/>
          <a:lstStyle/>
          <a:p>
            <a:pPr eaLnBrk="1" hangingPunct="1">
              <a:defRPr/>
            </a:pPr>
            <a:r>
              <a:rPr lang="zh-CN" altLang="en-US" smtClean="0"/>
              <a:t>关键过程域</a:t>
            </a:r>
          </a:p>
        </p:txBody>
      </p:sp>
      <p:sp>
        <p:nvSpPr>
          <p:cNvPr id="178179" name="Rectangle 3"/>
          <p:cNvSpPr>
            <a:spLocks noGrp="1" noRot="1" noChangeArrowheads="1"/>
          </p:cNvSpPr>
          <p:nvPr>
            <p:ph type="body" idx="1"/>
          </p:nvPr>
        </p:nvSpPr>
        <p:spPr/>
        <p:txBody>
          <a:bodyPr/>
          <a:lstStyle/>
          <a:p>
            <a:pPr eaLnBrk="1" hangingPunct="1">
              <a:lnSpc>
                <a:spcPct val="80000"/>
              </a:lnSpc>
              <a:defRPr/>
            </a:pPr>
            <a:r>
              <a:rPr lang="zh-CN" altLang="en-US" sz="2400"/>
              <a:t>每个关键过程域包括两个或者四个的目标；这些目标用于描述这个关键过程域的意义和价值，是对过程进行评价和改进的标准；</a:t>
            </a:r>
          </a:p>
          <a:p>
            <a:pPr eaLnBrk="1" hangingPunct="1">
              <a:lnSpc>
                <a:spcPct val="80000"/>
              </a:lnSpc>
              <a:buFont typeface="Wingdings" panose="05000000000000000000" pitchFamily="2" charset="2"/>
              <a:buNone/>
              <a:defRPr/>
            </a:pPr>
            <a:endParaRPr lang="zh-CN" altLang="en-US" sz="2400"/>
          </a:p>
          <a:p>
            <a:pPr eaLnBrk="1" hangingPunct="1">
              <a:lnSpc>
                <a:spcPct val="80000"/>
              </a:lnSpc>
              <a:defRPr/>
            </a:pPr>
            <a:r>
              <a:rPr lang="zh-CN" altLang="en-US" sz="2400"/>
              <a:t>在某个等级上所有关键过程域的目标集合构成了这个等级的特征；每个目标均有一组关键实践用于实现这个目标，可以说目标是关键实践的选择依据，作为评估标准具有如下作用：</a:t>
            </a:r>
          </a:p>
          <a:p>
            <a:pPr lvl="1" eaLnBrk="1" hangingPunct="1">
              <a:lnSpc>
                <a:spcPct val="80000"/>
              </a:lnSpc>
              <a:defRPr/>
            </a:pPr>
            <a:r>
              <a:rPr lang="zh-CN" altLang="en-US" sz="2000"/>
              <a:t>目标用来确定一个机构或项目组是否有效地执行了该</a:t>
            </a:r>
            <a:r>
              <a:rPr lang="en-US" altLang="zh-CN" sz="2000"/>
              <a:t>KPA </a:t>
            </a:r>
          </a:p>
          <a:p>
            <a:pPr lvl="1" eaLnBrk="1" hangingPunct="1">
              <a:lnSpc>
                <a:spcPct val="80000"/>
              </a:lnSpc>
              <a:defRPr/>
            </a:pPr>
            <a:r>
              <a:rPr lang="zh-CN" altLang="en-US" sz="2000"/>
              <a:t>目标概述了该</a:t>
            </a:r>
            <a:r>
              <a:rPr lang="en-US" altLang="zh-CN" sz="2000"/>
              <a:t>KPA</a:t>
            </a:r>
            <a:r>
              <a:rPr lang="zh-CN" altLang="en-US" sz="2000"/>
              <a:t>包括的关键实践（</a:t>
            </a:r>
            <a:r>
              <a:rPr lang="en-US" altLang="zh-CN" sz="2000"/>
              <a:t>KP</a:t>
            </a:r>
            <a:r>
              <a:rPr lang="zh-CN" altLang="en-US" sz="2000"/>
              <a:t>） </a:t>
            </a:r>
          </a:p>
          <a:p>
            <a:pPr lvl="1" eaLnBrk="1" hangingPunct="1">
              <a:lnSpc>
                <a:spcPct val="80000"/>
              </a:lnSpc>
              <a:defRPr/>
            </a:pPr>
            <a:r>
              <a:rPr lang="zh-CN" altLang="en-US" sz="2000"/>
              <a:t>在为适应关键实践而采取选择时，目标能用来确定这种适应是否有效</a:t>
            </a:r>
          </a:p>
        </p:txBody>
      </p:sp>
    </p:spTree>
    <p:extLst>
      <p:ext uri="{BB962C8B-B14F-4D97-AF65-F5344CB8AC3E}">
        <p14:creationId xmlns:p14="http://schemas.microsoft.com/office/powerpoint/2010/main" val="35950958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rrowheads="1"/>
          </p:cNvSpPr>
          <p:nvPr>
            <p:ph type="title"/>
          </p:nvPr>
        </p:nvSpPr>
        <p:spPr/>
        <p:txBody>
          <a:bodyPr/>
          <a:lstStyle/>
          <a:p>
            <a:pPr eaLnBrk="1" hangingPunct="1">
              <a:defRPr/>
            </a:pPr>
            <a:r>
              <a:rPr lang="zh-CN" altLang="en-US" smtClean="0"/>
              <a:t>公共特性</a:t>
            </a:r>
          </a:p>
        </p:txBody>
      </p:sp>
      <p:sp>
        <p:nvSpPr>
          <p:cNvPr id="179203" name="Rectangle 3"/>
          <p:cNvSpPr>
            <a:spLocks noGrp="1" noRot="1" noChangeArrowheads="1"/>
          </p:cNvSpPr>
          <p:nvPr>
            <p:ph type="body" idx="1"/>
          </p:nvPr>
        </p:nvSpPr>
        <p:spPr>
          <a:xfrm>
            <a:off x="1825625" y="1676400"/>
            <a:ext cx="8540750" cy="2286000"/>
          </a:xfrm>
        </p:spPr>
        <p:txBody>
          <a:bodyPr/>
          <a:lstStyle/>
          <a:p>
            <a:pPr eaLnBrk="1" hangingPunct="1">
              <a:lnSpc>
                <a:spcPct val="80000"/>
              </a:lnSpc>
              <a:defRPr/>
            </a:pPr>
            <a:r>
              <a:rPr lang="zh-CN" altLang="en-US" sz="2400"/>
              <a:t>五个公共特性：</a:t>
            </a:r>
          </a:p>
          <a:p>
            <a:pPr lvl="1" eaLnBrk="1" hangingPunct="1">
              <a:lnSpc>
                <a:spcPct val="80000"/>
              </a:lnSpc>
              <a:defRPr/>
            </a:pPr>
            <a:r>
              <a:rPr lang="zh-CN" altLang="en-US" sz="2000"/>
              <a:t>方针、能力、活动、测量、验证</a:t>
            </a:r>
          </a:p>
          <a:p>
            <a:pPr eaLnBrk="1" hangingPunct="1">
              <a:lnSpc>
                <a:spcPct val="80000"/>
              </a:lnSpc>
              <a:defRPr/>
            </a:pPr>
            <a:r>
              <a:rPr lang="zh-CN" altLang="en-US" sz="2400"/>
              <a:t>这是企业管理的五个主要环节；一个好的管理要建立大政“方针”的明确承诺和要求、要提供必要的资源和“能力”，这样才能进行必要的“活动”，要“验证”活动被执行（类似于</a:t>
            </a:r>
            <a:r>
              <a:rPr lang="en-US" altLang="zh-CN" sz="2400"/>
              <a:t>QA</a:t>
            </a:r>
            <a:r>
              <a:rPr lang="zh-CN" altLang="en-US" sz="2400"/>
              <a:t>），要对活动进行“测量”保证了解活动的情况和质量（类似于</a:t>
            </a:r>
            <a:r>
              <a:rPr lang="en-US" altLang="zh-CN" sz="2400"/>
              <a:t>QC</a:t>
            </a:r>
            <a:r>
              <a:rPr lang="zh-CN" altLang="en-US" sz="2400"/>
              <a:t>）</a:t>
            </a: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962400"/>
            <a:ext cx="7924800"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37012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rrowheads="1"/>
          </p:cNvSpPr>
          <p:nvPr>
            <p:ph type="title"/>
          </p:nvPr>
        </p:nvSpPr>
        <p:spPr/>
        <p:txBody>
          <a:bodyPr/>
          <a:lstStyle/>
          <a:p>
            <a:pPr eaLnBrk="1" hangingPunct="1">
              <a:defRPr/>
            </a:pPr>
            <a:r>
              <a:rPr lang="zh-CN" altLang="en-US" smtClean="0"/>
              <a:t>公共特性</a:t>
            </a:r>
          </a:p>
        </p:txBody>
      </p:sp>
      <p:sp>
        <p:nvSpPr>
          <p:cNvPr id="180227" name="Rectangle 3"/>
          <p:cNvSpPr>
            <a:spLocks noGrp="1" noRot="1" noChangeArrowheads="1"/>
          </p:cNvSpPr>
          <p:nvPr>
            <p:ph type="body" idx="1"/>
          </p:nvPr>
        </p:nvSpPr>
        <p:spPr/>
        <p:txBody>
          <a:bodyPr/>
          <a:lstStyle/>
          <a:p>
            <a:pPr eaLnBrk="1" hangingPunct="1">
              <a:lnSpc>
                <a:spcPct val="90000"/>
              </a:lnSpc>
              <a:defRPr/>
            </a:pPr>
            <a:r>
              <a:rPr lang="zh-CN" altLang="en-US" sz="2400"/>
              <a:t>公共特性反映了一个过程被执行的各种要素，关键实践按照这样分类非常有利于具体的实施。</a:t>
            </a:r>
          </a:p>
          <a:p>
            <a:pPr eaLnBrk="1" hangingPunct="1">
              <a:lnSpc>
                <a:spcPct val="90000"/>
              </a:lnSpc>
              <a:defRPr/>
            </a:pPr>
            <a:r>
              <a:rPr lang="zh-CN" altLang="en-US" sz="2400"/>
              <a:t>执行承诺：实施保证是企业为了建立和实施相应</a:t>
            </a:r>
            <a:r>
              <a:rPr lang="en-US" altLang="zh-CN" sz="2400"/>
              <a:t>KPA</a:t>
            </a:r>
            <a:r>
              <a:rPr lang="zh-CN" altLang="en-US" sz="2400"/>
              <a:t>所必须采取的行动，这些行动主要牵涉到企业范围的政策和高层管理的责任。</a:t>
            </a:r>
          </a:p>
          <a:p>
            <a:pPr eaLnBrk="1" hangingPunct="1">
              <a:lnSpc>
                <a:spcPct val="90000"/>
              </a:lnSpc>
              <a:defRPr/>
            </a:pPr>
            <a:r>
              <a:rPr lang="zh-CN" altLang="en-US" sz="2400"/>
              <a:t>能力：实施能力描述为了使某软件过程得以始终如一地执行的必须在项目或企业中存在的先决条件，是企业实施</a:t>
            </a:r>
            <a:r>
              <a:rPr lang="en-US" altLang="zh-CN" sz="2400"/>
              <a:t>KPA</a:t>
            </a:r>
            <a:r>
              <a:rPr lang="zh-CN" altLang="en-US" sz="2400"/>
              <a:t>的前提条件。企业必须采取措施，在满足了这些条件后，才有可能执行</a:t>
            </a:r>
            <a:r>
              <a:rPr lang="en-US" altLang="zh-CN" sz="2400"/>
              <a:t>KPA</a:t>
            </a:r>
            <a:r>
              <a:rPr lang="zh-CN" altLang="en-US" sz="2400"/>
              <a:t>的实践活动。实施能力关注于项目计划的实践；资源的配置；责任的布置与授权；以及各种有关的培训等，这些都是为了执行这个关键过程域的活动而对特定人以及作为整体的机构的能力开发起非常重要作用的事务。</a:t>
            </a:r>
          </a:p>
        </p:txBody>
      </p:sp>
    </p:spTree>
    <p:extLst>
      <p:ext uri="{BB962C8B-B14F-4D97-AF65-F5344CB8AC3E}">
        <p14:creationId xmlns:p14="http://schemas.microsoft.com/office/powerpoint/2010/main" val="1830874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rrowheads="1"/>
          </p:cNvSpPr>
          <p:nvPr>
            <p:ph type="title"/>
          </p:nvPr>
        </p:nvSpPr>
        <p:spPr/>
        <p:txBody>
          <a:bodyPr/>
          <a:lstStyle/>
          <a:p>
            <a:pPr eaLnBrk="1" hangingPunct="1">
              <a:defRPr/>
            </a:pPr>
            <a:r>
              <a:rPr lang="zh-CN" altLang="en-US" smtClean="0"/>
              <a:t>公共特性</a:t>
            </a:r>
          </a:p>
        </p:txBody>
      </p:sp>
      <p:sp>
        <p:nvSpPr>
          <p:cNvPr id="181251" name="Rectangle 3"/>
          <p:cNvSpPr>
            <a:spLocks noGrp="1" noRot="1" noChangeArrowheads="1"/>
          </p:cNvSpPr>
          <p:nvPr>
            <p:ph type="body" idx="1"/>
          </p:nvPr>
        </p:nvSpPr>
        <p:spPr/>
        <p:txBody>
          <a:bodyPr/>
          <a:lstStyle/>
          <a:p>
            <a:pPr eaLnBrk="1" hangingPunct="1">
              <a:defRPr/>
            </a:pPr>
            <a:r>
              <a:rPr lang="zh-CN" altLang="en-US" sz="2400"/>
              <a:t>活动：实现某个关键过程域所必需的岗位、活动（按照计划或按照规程活动）、产品等。</a:t>
            </a:r>
          </a:p>
          <a:p>
            <a:pPr eaLnBrk="1" hangingPunct="1">
              <a:defRPr/>
            </a:pPr>
            <a:r>
              <a:rPr lang="zh-CN" altLang="en-US" sz="2400"/>
              <a:t>验证：监督管理过程的活动，一般包括高级管理者、项目经理、</a:t>
            </a:r>
            <a:r>
              <a:rPr lang="en-US" altLang="zh-CN" sz="2400"/>
              <a:t>SQA</a:t>
            </a:r>
            <a:r>
              <a:rPr lang="zh-CN" altLang="en-US" sz="2400"/>
              <a:t>的进度管理</a:t>
            </a:r>
          </a:p>
          <a:p>
            <a:pPr eaLnBrk="1" hangingPunct="1">
              <a:defRPr/>
            </a:pPr>
            <a:r>
              <a:rPr lang="zh-CN" altLang="en-US" sz="2400"/>
              <a:t>测量：说明这个过程活动的状态和质量的信息</a:t>
            </a:r>
          </a:p>
        </p:txBody>
      </p:sp>
    </p:spTree>
    <p:extLst>
      <p:ext uri="{BB962C8B-B14F-4D97-AF65-F5344CB8AC3E}">
        <p14:creationId xmlns:p14="http://schemas.microsoft.com/office/powerpoint/2010/main" val="15183319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rrowheads="1"/>
          </p:cNvSpPr>
          <p:nvPr>
            <p:ph type="title"/>
          </p:nvPr>
        </p:nvSpPr>
        <p:spPr/>
        <p:txBody>
          <a:bodyPr/>
          <a:lstStyle/>
          <a:p>
            <a:pPr eaLnBrk="1" hangingPunct="1">
              <a:defRPr/>
            </a:pPr>
            <a:r>
              <a:rPr lang="zh-CN" altLang="en-US" b="1" smtClean="0"/>
              <a:t>关键实践</a:t>
            </a:r>
          </a:p>
        </p:txBody>
      </p:sp>
      <p:sp>
        <p:nvSpPr>
          <p:cNvPr id="182275" name="Rectangle 3"/>
          <p:cNvSpPr>
            <a:spLocks noGrp="1" noRot="1" noChangeArrowheads="1"/>
          </p:cNvSpPr>
          <p:nvPr>
            <p:ph type="body" idx="1"/>
          </p:nvPr>
        </p:nvSpPr>
        <p:spPr/>
        <p:txBody>
          <a:bodyPr/>
          <a:lstStyle/>
          <a:p>
            <a:pPr eaLnBrk="1" hangingPunct="1">
              <a:lnSpc>
                <a:spcPct val="90000"/>
              </a:lnSpc>
              <a:defRPr/>
            </a:pPr>
            <a:r>
              <a:rPr lang="zh-CN" altLang="en-US" sz="2400"/>
              <a:t>在关键过程域的目标之下，有一组相关联的关键实践（</a:t>
            </a:r>
            <a:r>
              <a:rPr lang="en-US" altLang="zh-CN" sz="2400"/>
              <a:t>Key Practices</a:t>
            </a:r>
            <a:r>
              <a:rPr lang="zh-CN" altLang="en-US" sz="2400"/>
              <a:t>），这些关键实践是评价一个组织过程能力的某种指示器，可以基本等价的说明过程能力。</a:t>
            </a:r>
          </a:p>
          <a:p>
            <a:pPr eaLnBrk="1" hangingPunct="1">
              <a:lnSpc>
                <a:spcPct val="90000"/>
              </a:lnSpc>
              <a:defRPr/>
            </a:pPr>
            <a:r>
              <a:rPr lang="zh-CN" altLang="en-US" sz="2400"/>
              <a:t>一个过程域的所有关键实践按照公共特性组织起来；这些关键实践一般情况下是达到目标所必要的；因为</a:t>
            </a:r>
            <a:r>
              <a:rPr lang="en-US" altLang="zh-CN" sz="2400"/>
              <a:t>CMM</a:t>
            </a:r>
            <a:r>
              <a:rPr lang="zh-CN" altLang="en-US" sz="2400"/>
              <a:t>是作为评估标准出现的，所以是“必要”的才能保证评估的标准。</a:t>
            </a:r>
          </a:p>
          <a:p>
            <a:pPr eaLnBrk="1" hangingPunct="1">
              <a:lnSpc>
                <a:spcPct val="90000"/>
              </a:lnSpc>
              <a:defRPr/>
            </a:pPr>
            <a:r>
              <a:rPr lang="zh-CN" altLang="en-US" sz="2400"/>
              <a:t>关键实践的几个特点：</a:t>
            </a:r>
          </a:p>
          <a:p>
            <a:pPr lvl="1" eaLnBrk="1" hangingPunct="1">
              <a:lnSpc>
                <a:spcPct val="90000"/>
              </a:lnSpc>
              <a:defRPr/>
            </a:pPr>
            <a:r>
              <a:rPr lang="zh-CN" altLang="en-US" sz="2000"/>
              <a:t>描述了对有效执行和制度化该</a:t>
            </a:r>
            <a:r>
              <a:rPr lang="en-US" altLang="zh-CN" sz="2000"/>
              <a:t>KPA</a:t>
            </a:r>
            <a:r>
              <a:rPr lang="zh-CN" altLang="en-US" sz="2000"/>
              <a:t>起主要作用的从属活动和基础构造</a:t>
            </a:r>
          </a:p>
          <a:p>
            <a:pPr lvl="1" eaLnBrk="1" hangingPunct="1">
              <a:lnSpc>
                <a:spcPct val="90000"/>
              </a:lnSpc>
              <a:defRPr/>
            </a:pPr>
            <a:r>
              <a:rPr lang="zh-CN" altLang="en-US" sz="2000"/>
              <a:t>因为</a:t>
            </a:r>
            <a:r>
              <a:rPr lang="en-US" altLang="zh-CN" sz="2000"/>
              <a:t>CMM</a:t>
            </a:r>
            <a:r>
              <a:rPr lang="zh-CN" altLang="en-US" sz="2000"/>
              <a:t>是作为评估标准出现的，所以规定做什么，而不去规定如何实现</a:t>
            </a:r>
          </a:p>
          <a:p>
            <a:pPr lvl="1" eaLnBrk="1" hangingPunct="1">
              <a:lnSpc>
                <a:spcPct val="90000"/>
              </a:lnSpc>
              <a:defRPr/>
            </a:pPr>
            <a:r>
              <a:rPr lang="zh-CN" altLang="en-US" sz="2000"/>
              <a:t>实现该</a:t>
            </a:r>
            <a:r>
              <a:rPr lang="en-US" altLang="zh-CN" sz="2000"/>
              <a:t>KPA</a:t>
            </a:r>
            <a:r>
              <a:rPr lang="zh-CN" altLang="en-US" sz="2000"/>
              <a:t>的目标所允许做的实践活动</a:t>
            </a:r>
          </a:p>
        </p:txBody>
      </p:sp>
    </p:spTree>
    <p:extLst>
      <p:ext uri="{BB962C8B-B14F-4D97-AF65-F5344CB8AC3E}">
        <p14:creationId xmlns:p14="http://schemas.microsoft.com/office/powerpoint/2010/main" val="15590268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rrowheads="1"/>
          </p:cNvSpPr>
          <p:nvPr>
            <p:ph type="title"/>
          </p:nvPr>
        </p:nvSpPr>
        <p:spPr/>
        <p:txBody>
          <a:bodyPr/>
          <a:lstStyle/>
          <a:p>
            <a:pPr eaLnBrk="1" hangingPunct="1">
              <a:defRPr/>
            </a:pPr>
            <a:r>
              <a:rPr lang="en-US" altLang="zh-CN" smtClean="0"/>
              <a:t>CMM</a:t>
            </a:r>
            <a:r>
              <a:rPr lang="zh-CN" altLang="en-US" smtClean="0"/>
              <a:t>的五个级别</a:t>
            </a:r>
          </a:p>
        </p:txBody>
      </p:sp>
      <p:sp>
        <p:nvSpPr>
          <p:cNvPr id="184323" name="Rectangle 3"/>
          <p:cNvSpPr>
            <a:spLocks noGrp="1" noRot="1" noChangeArrowheads="1"/>
          </p:cNvSpPr>
          <p:nvPr>
            <p:ph type="body" idx="1"/>
          </p:nvPr>
        </p:nvSpPr>
        <p:spPr/>
        <p:txBody>
          <a:bodyPr/>
          <a:lstStyle/>
          <a:p>
            <a:pPr eaLnBrk="1" hangingPunct="1">
              <a:defRPr/>
            </a:pPr>
            <a:r>
              <a:rPr lang="zh-CN" altLang="en-US" sz="2800"/>
              <a:t>成熟度等级是完善定义的在项成熟软件组织前进中的阶梯。每一个成熟度等级都是为过程继续改进提供的一个基石。每达到成熟度框架的一个等级，就建立其软件过程的一个不同的组成部分，保证软件组织的过程能力的持续增长</a:t>
            </a:r>
          </a:p>
          <a:p>
            <a:pPr eaLnBrk="1" hangingPunct="1">
              <a:defRPr/>
            </a:pPr>
            <a:endParaRPr lang="zh-CN" altLang="en-US" sz="2800"/>
          </a:p>
          <a:p>
            <a:pPr eaLnBrk="1" hangingPunct="1">
              <a:defRPr/>
            </a:pPr>
            <a:r>
              <a:rPr lang="en-US" altLang="zh-CN" sz="2800"/>
              <a:t>CMM</a:t>
            </a:r>
            <a:r>
              <a:rPr lang="zh-CN" altLang="en-US" sz="2800"/>
              <a:t>对于过程的改进可以从对过程的可视性方面进行考虑</a:t>
            </a:r>
          </a:p>
        </p:txBody>
      </p:sp>
    </p:spTree>
    <p:extLst>
      <p:ext uri="{BB962C8B-B14F-4D97-AF65-F5344CB8AC3E}">
        <p14:creationId xmlns:p14="http://schemas.microsoft.com/office/powerpoint/2010/main" val="38236873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sz="2400" dirty="0" smtClean="0"/>
              <a:t>软件过程的可视性</a:t>
            </a:r>
            <a:endParaRPr lang="zh-CN" altLang="en-US" sz="24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4607" y="1432610"/>
            <a:ext cx="8296275" cy="3819525"/>
          </a:xfrm>
          <a:prstGeom prst="rect">
            <a:avLst/>
          </a:prstGeom>
        </p:spPr>
      </p:pic>
    </p:spTree>
    <p:extLst>
      <p:ext uri="{BB962C8B-B14F-4D97-AF65-F5344CB8AC3E}">
        <p14:creationId xmlns:p14="http://schemas.microsoft.com/office/powerpoint/2010/main" val="31877392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435159" y="251636"/>
            <a:ext cx="4198485" cy="405376"/>
          </a:xfrm>
        </p:spPr>
        <p:txBody>
          <a:bodyPr/>
          <a:lstStyle/>
          <a:p>
            <a:r>
              <a:rPr kumimoji="1" lang="zh-CN" altLang="en-US" sz="2400" dirty="0"/>
              <a:t>软件能力成熟度模型（</a:t>
            </a:r>
            <a:r>
              <a:rPr kumimoji="1" lang="en-US" altLang="zh-CN" sz="2400" dirty="0"/>
              <a:t>CMM</a:t>
            </a:r>
            <a:r>
              <a:rPr kumimoji="1" lang="zh-CN" altLang="en-US" sz="2400" dirty="0"/>
              <a:t>）</a:t>
            </a:r>
          </a:p>
          <a:p>
            <a:endParaRPr lang="zh-CN" altLang="en-US" dirty="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626" y="1156585"/>
            <a:ext cx="6633779" cy="5051710"/>
          </a:xfrm>
          <a:prstGeom prst="rect">
            <a:avLst/>
          </a:prstGeom>
        </p:spPr>
      </p:pic>
    </p:spTree>
    <p:extLst>
      <p:ext uri="{BB962C8B-B14F-4D97-AF65-F5344CB8AC3E}">
        <p14:creationId xmlns:p14="http://schemas.microsoft.com/office/powerpoint/2010/main" val="23733913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sz="2400" dirty="0" smtClean="0"/>
              <a:t>初始级 </a:t>
            </a:r>
            <a:r>
              <a:rPr lang="en-US" altLang="zh-CN" sz="2400" dirty="0" smtClean="0"/>
              <a:t>(Initial)</a:t>
            </a:r>
            <a:endParaRPr lang="zh-CN" altLang="en-US" sz="2000"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950" y="1095475"/>
            <a:ext cx="8696325" cy="1028700"/>
          </a:xfrm>
          <a:prstGeom prst="rect">
            <a:avLst/>
          </a:prstGeom>
        </p:spPr>
      </p:pic>
      <p:sp>
        <p:nvSpPr>
          <p:cNvPr id="7" name="文本框 6"/>
          <p:cNvSpPr txBox="1"/>
          <p:nvPr/>
        </p:nvSpPr>
        <p:spPr>
          <a:xfrm>
            <a:off x="1333950" y="2755109"/>
            <a:ext cx="9642231" cy="3293209"/>
          </a:xfrm>
          <a:prstGeom prst="rect">
            <a:avLst/>
          </a:prstGeom>
        </p:spPr>
        <p:txBody>
          <a:bodyPr wrap="square" rtlCol="0">
            <a:spAutoFit/>
          </a:bodyPr>
          <a:lstStyle/>
          <a:p>
            <a:pPr marL="0" indent="0">
              <a:lnSpc>
                <a:spcPct val="130000"/>
              </a:lnSpc>
              <a:buNone/>
            </a:pPr>
            <a:r>
              <a:rPr lang="zh-CN" altLang="en-US" sz="2000" b="1" dirty="0">
                <a:solidFill>
                  <a:schemeClr val="tx1">
                    <a:lumMod val="75000"/>
                    <a:lumOff val="25000"/>
                  </a:schemeClr>
                </a:solidFill>
              </a:rPr>
              <a:t>过程特征：  </a:t>
            </a:r>
            <a:r>
              <a:rPr lang="en-US" altLang="zh-CN" sz="2000" dirty="0" smtClean="0">
                <a:solidFill>
                  <a:schemeClr val="bg1">
                    <a:lumMod val="50000"/>
                  </a:schemeClr>
                </a:solidFill>
              </a:rPr>
              <a:t>	1. </a:t>
            </a:r>
            <a:r>
              <a:rPr lang="zh-CN" altLang="en-US" sz="2000" dirty="0" smtClean="0">
                <a:solidFill>
                  <a:schemeClr val="bg1">
                    <a:lumMod val="50000"/>
                  </a:schemeClr>
                </a:solidFill>
              </a:rPr>
              <a:t>未加定义的随机过程</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a:t>
            </a:r>
            <a:r>
              <a:rPr lang="en-US" altLang="zh-CN" sz="2000" dirty="0">
                <a:solidFill>
                  <a:schemeClr val="bg1">
                    <a:lumMod val="50000"/>
                  </a:schemeClr>
                </a:solidFill>
              </a:rPr>
              <a:t>2</a:t>
            </a:r>
            <a:r>
              <a:rPr lang="en-US" altLang="zh-CN" sz="2000" dirty="0" smtClean="0">
                <a:solidFill>
                  <a:schemeClr val="bg1">
                    <a:lumMod val="50000"/>
                  </a:schemeClr>
                </a:solidFill>
              </a:rPr>
              <a:t>. </a:t>
            </a:r>
            <a:r>
              <a:rPr lang="zh-CN" altLang="en-US" sz="2000" dirty="0" smtClean="0">
                <a:solidFill>
                  <a:schemeClr val="bg1">
                    <a:lumMod val="50000"/>
                  </a:schemeClr>
                </a:solidFill>
              </a:rPr>
              <a:t>软件过程不稳定，项目执行无序混乱</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3. </a:t>
            </a:r>
            <a:r>
              <a:rPr lang="zh-CN" altLang="en-US" sz="2000" dirty="0" smtClean="0">
                <a:solidFill>
                  <a:schemeClr val="bg1">
                    <a:lumMod val="50000"/>
                  </a:schemeClr>
                </a:solidFill>
              </a:rPr>
              <a:t>遇到危机放弃或改变原有计划，直接进行编码和测试</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4. </a:t>
            </a:r>
            <a:r>
              <a:rPr lang="zh-CN" altLang="en-US" sz="2000" dirty="0" smtClean="0">
                <a:solidFill>
                  <a:schemeClr val="bg1">
                    <a:lumMod val="50000"/>
                  </a:schemeClr>
                </a:solidFill>
              </a:rPr>
              <a:t>成功取决与个人能力，依赖个别杰出的人员</a:t>
            </a:r>
            <a:endParaRPr lang="en-US" altLang="zh-CN" sz="2000" dirty="0" smtClean="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5.</a:t>
            </a:r>
            <a:r>
              <a:rPr lang="zh-CN" altLang="en-US" sz="2000" dirty="0">
                <a:solidFill>
                  <a:schemeClr val="bg1">
                    <a:lumMod val="50000"/>
                  </a:schemeClr>
                </a:solidFill>
              </a:rPr>
              <a:t>工作方式处于“救火”状态，不断应付开发过程中出现的</a:t>
            </a:r>
            <a:r>
              <a:rPr lang="zh-CN" altLang="en-US" sz="2000" dirty="0" smtClean="0">
                <a:solidFill>
                  <a:schemeClr val="bg1">
                    <a:lumMod val="50000"/>
                  </a:schemeClr>
                </a:solidFill>
              </a:rPr>
              <a:t>危机</a:t>
            </a:r>
            <a:endParaRPr lang="en-US" altLang="zh-CN" sz="2000" dirty="0" smtClean="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6. </a:t>
            </a:r>
            <a:r>
              <a:rPr lang="zh-CN" altLang="en-US" sz="2000" dirty="0" smtClean="0">
                <a:solidFill>
                  <a:schemeClr val="bg1">
                    <a:lumMod val="50000"/>
                  </a:schemeClr>
                </a:solidFill>
              </a:rPr>
              <a:t>软件</a:t>
            </a:r>
            <a:r>
              <a:rPr lang="zh-CN" altLang="en-US" sz="2000" dirty="0">
                <a:solidFill>
                  <a:schemeClr val="bg1">
                    <a:lumMod val="50000"/>
                  </a:schemeClr>
                </a:solidFill>
              </a:rPr>
              <a:t>过程不可确定和不可</a:t>
            </a:r>
            <a:r>
              <a:rPr lang="zh-CN" altLang="en-US" sz="2000" dirty="0" smtClean="0">
                <a:solidFill>
                  <a:schemeClr val="bg1">
                    <a:lumMod val="50000"/>
                  </a:schemeClr>
                </a:solidFill>
              </a:rPr>
              <a:t>预见</a:t>
            </a:r>
            <a:endParaRPr lang="en-US" altLang="zh-CN" sz="2000" dirty="0" smtClean="0">
              <a:solidFill>
                <a:schemeClr val="bg1">
                  <a:lumMod val="50000"/>
                </a:schemeClr>
              </a:solidFill>
            </a:endParaRPr>
          </a:p>
          <a:p>
            <a:pPr>
              <a:lnSpc>
                <a:spcPct val="130000"/>
              </a:lnSpc>
            </a:pPr>
            <a:r>
              <a:rPr lang="zh-CN" altLang="en-US" sz="2000" b="1" dirty="0" smtClean="0">
                <a:solidFill>
                  <a:schemeClr val="tx1">
                    <a:lumMod val="75000"/>
                    <a:lumOff val="25000"/>
                  </a:schemeClr>
                </a:solidFill>
              </a:rPr>
              <a:t>工作组</a:t>
            </a:r>
            <a:r>
              <a:rPr lang="en-US" altLang="zh-CN" sz="2000" b="1" dirty="0">
                <a:solidFill>
                  <a:schemeClr val="tx1">
                    <a:lumMod val="75000"/>
                    <a:lumOff val="25000"/>
                  </a:schemeClr>
                </a:solidFill>
              </a:rPr>
              <a:t>: 	</a:t>
            </a:r>
            <a:r>
              <a:rPr lang="en-US" altLang="zh-CN" sz="2000" dirty="0" smtClean="0">
                <a:solidFill>
                  <a:schemeClr val="bg1">
                    <a:lumMod val="50000"/>
                  </a:schemeClr>
                </a:solidFill>
              </a:rPr>
              <a:t>	</a:t>
            </a:r>
            <a:r>
              <a:rPr lang="zh-CN" altLang="en-US" sz="2000" dirty="0" smtClean="0">
                <a:solidFill>
                  <a:schemeClr val="bg1">
                    <a:lumMod val="50000"/>
                  </a:schemeClr>
                </a:solidFill>
              </a:rPr>
              <a:t>可能会建立一些工作组，如软件开发组，项目工程组等</a:t>
            </a:r>
            <a:endParaRPr lang="en-US" altLang="zh-CN" sz="2000" dirty="0" smtClean="0">
              <a:solidFill>
                <a:schemeClr val="bg1">
                  <a:lumMod val="50000"/>
                </a:schemeClr>
              </a:solidFill>
            </a:endParaRPr>
          </a:p>
          <a:p>
            <a:pPr marL="0" indent="0">
              <a:lnSpc>
                <a:spcPct val="130000"/>
              </a:lnSpc>
              <a:buNone/>
            </a:pPr>
            <a:r>
              <a:rPr lang="zh-CN" altLang="en-US" sz="2000" b="1" dirty="0">
                <a:solidFill>
                  <a:schemeClr val="tx1">
                    <a:lumMod val="75000"/>
                    <a:lumOff val="25000"/>
                  </a:schemeClr>
                </a:solidFill>
              </a:rPr>
              <a:t>度量：</a:t>
            </a:r>
            <a:r>
              <a:rPr lang="en-US" altLang="zh-CN" sz="2000" dirty="0" smtClean="0">
                <a:solidFill>
                  <a:schemeClr val="bg1">
                    <a:lumMod val="50000"/>
                  </a:schemeClr>
                </a:solidFill>
              </a:rPr>
              <a:t>		</a:t>
            </a:r>
            <a:r>
              <a:rPr lang="zh-CN" altLang="en-US" sz="2000" dirty="0" smtClean="0">
                <a:solidFill>
                  <a:schemeClr val="bg1">
                    <a:lumMod val="50000"/>
                  </a:schemeClr>
                </a:solidFill>
              </a:rPr>
              <a:t>没有进行数据</a:t>
            </a:r>
            <a:r>
              <a:rPr lang="zh-CN" altLang="en-US" sz="2000" dirty="0">
                <a:solidFill>
                  <a:schemeClr val="bg1">
                    <a:lumMod val="50000"/>
                  </a:schemeClr>
                </a:solidFill>
              </a:rPr>
              <a:t>收集</a:t>
            </a:r>
            <a:r>
              <a:rPr lang="zh-CN" altLang="en-US" sz="2000" dirty="0" smtClean="0">
                <a:solidFill>
                  <a:schemeClr val="bg1">
                    <a:lumMod val="50000"/>
                  </a:schemeClr>
                </a:solidFill>
              </a:rPr>
              <a:t>或分析工作</a:t>
            </a:r>
            <a:r>
              <a:rPr lang="en-US" altLang="zh-CN" sz="2000" dirty="0" smtClean="0">
                <a:solidFill>
                  <a:schemeClr val="bg1">
                    <a:lumMod val="50000"/>
                  </a:schemeClr>
                </a:solidFill>
              </a:rPr>
              <a:t> </a:t>
            </a:r>
          </a:p>
        </p:txBody>
      </p:sp>
    </p:spTree>
    <p:extLst>
      <p:ext uri="{BB962C8B-B14F-4D97-AF65-F5344CB8AC3E}">
        <p14:creationId xmlns:p14="http://schemas.microsoft.com/office/powerpoint/2010/main" val="38952679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sz="2400" dirty="0" smtClean="0"/>
              <a:t>可重复级 </a:t>
            </a:r>
            <a:r>
              <a:rPr lang="en-US" altLang="zh-CN" sz="2400" dirty="0" smtClean="0"/>
              <a:t>(Repeatable)</a:t>
            </a:r>
            <a:endParaRPr lang="zh-CN" altLang="en-US" sz="2400" dirty="0"/>
          </a:p>
          <a:p>
            <a:endParaRPr lang="zh-CN" altLang="en-US" sz="2400" dirty="0"/>
          </a:p>
        </p:txBody>
      </p:sp>
      <p:sp>
        <p:nvSpPr>
          <p:cNvPr id="7" name="文本框 6"/>
          <p:cNvSpPr txBox="1"/>
          <p:nvPr/>
        </p:nvSpPr>
        <p:spPr>
          <a:xfrm>
            <a:off x="1333950" y="2755109"/>
            <a:ext cx="9642231" cy="2492990"/>
          </a:xfrm>
          <a:prstGeom prst="rect">
            <a:avLst/>
          </a:prstGeom>
        </p:spPr>
        <p:txBody>
          <a:bodyPr wrap="square" rtlCol="0">
            <a:spAutoFit/>
          </a:bodyPr>
          <a:lstStyle/>
          <a:p>
            <a:pPr marL="0" indent="0">
              <a:lnSpc>
                <a:spcPct val="130000"/>
              </a:lnSpc>
              <a:buNone/>
            </a:pPr>
            <a:r>
              <a:rPr lang="zh-CN" altLang="en-US" sz="2000" b="1" dirty="0">
                <a:solidFill>
                  <a:schemeClr val="tx1">
                    <a:lumMod val="75000"/>
                    <a:lumOff val="25000"/>
                  </a:schemeClr>
                </a:solidFill>
              </a:rPr>
              <a:t>过程特征：  </a:t>
            </a:r>
            <a:r>
              <a:rPr lang="en-US" altLang="zh-CN" sz="2000" dirty="0" smtClean="0">
                <a:solidFill>
                  <a:schemeClr val="bg1">
                    <a:lumMod val="50000"/>
                  </a:schemeClr>
                </a:solidFill>
              </a:rPr>
              <a:t>	1. </a:t>
            </a:r>
            <a:r>
              <a:rPr lang="zh-CN" altLang="en-US" sz="2000" dirty="0" smtClean="0">
                <a:solidFill>
                  <a:schemeClr val="bg1">
                    <a:lumMod val="50000"/>
                  </a:schemeClr>
                </a:solidFill>
              </a:rPr>
              <a:t>规则化</a:t>
            </a:r>
            <a:endParaRPr lang="en-US" altLang="zh-CN" sz="2000" dirty="0" smtClean="0">
              <a:solidFill>
                <a:schemeClr val="bg1">
                  <a:lumMod val="50000"/>
                </a:schemeClr>
              </a:solidFill>
            </a:endParaRPr>
          </a:p>
          <a:p>
            <a:pPr marL="0" indent="0">
              <a:lnSpc>
                <a:spcPct val="130000"/>
              </a:lnSpc>
              <a:buNone/>
            </a:pPr>
            <a:r>
              <a:rPr lang="en-US" altLang="zh-CN" sz="2000" dirty="0" smtClean="0">
                <a:solidFill>
                  <a:schemeClr val="bg1">
                    <a:lumMod val="50000"/>
                  </a:schemeClr>
                </a:solidFill>
              </a:rPr>
              <a:t>		2. </a:t>
            </a:r>
            <a:r>
              <a:rPr lang="zh-CN" altLang="en-US" sz="2000" dirty="0" smtClean="0">
                <a:solidFill>
                  <a:schemeClr val="bg1">
                    <a:lumMod val="50000"/>
                  </a:schemeClr>
                </a:solidFill>
              </a:rPr>
              <a:t>建立了软件项目管理的策略和实施的规程</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3. </a:t>
            </a:r>
            <a:r>
              <a:rPr lang="zh-CN" altLang="en-US" sz="2000" dirty="0" smtClean="0">
                <a:solidFill>
                  <a:schemeClr val="bg1">
                    <a:lumMod val="50000"/>
                  </a:schemeClr>
                </a:solidFill>
              </a:rPr>
              <a:t>项目的成功不仅依赖于个人能力还依赖于管理层的支持</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4. </a:t>
            </a:r>
            <a:r>
              <a:rPr lang="zh-CN" altLang="en-US" sz="2000" dirty="0" smtClean="0">
                <a:solidFill>
                  <a:schemeClr val="bg1">
                    <a:lumMod val="50000"/>
                  </a:schemeClr>
                </a:solidFill>
              </a:rPr>
              <a:t>过去的成功可以重现</a:t>
            </a:r>
            <a:endParaRPr lang="en-US" altLang="zh-CN" sz="2000" dirty="0" smtClean="0">
              <a:solidFill>
                <a:schemeClr val="bg1">
                  <a:lumMod val="50000"/>
                </a:schemeClr>
              </a:solidFill>
            </a:endParaRPr>
          </a:p>
          <a:p>
            <a:pPr marL="0" indent="0">
              <a:lnSpc>
                <a:spcPct val="130000"/>
              </a:lnSpc>
              <a:buNone/>
            </a:pPr>
            <a:r>
              <a:rPr lang="zh-CN" altLang="en-US" sz="2000" b="1" dirty="0" smtClean="0">
                <a:solidFill>
                  <a:schemeClr val="tx1">
                    <a:lumMod val="75000"/>
                    <a:lumOff val="25000"/>
                  </a:schemeClr>
                </a:solidFill>
              </a:rPr>
              <a:t>工作组</a:t>
            </a:r>
            <a:r>
              <a:rPr lang="en-US" altLang="zh-CN" sz="2000" b="1" dirty="0" smtClean="0">
                <a:solidFill>
                  <a:schemeClr val="tx1">
                    <a:lumMod val="75000"/>
                    <a:lumOff val="25000"/>
                  </a:schemeClr>
                </a:solidFill>
              </a:rPr>
              <a:t>:		</a:t>
            </a:r>
            <a:r>
              <a:rPr lang="zh-CN" altLang="en-US" sz="2000" dirty="0" smtClean="0">
                <a:solidFill>
                  <a:schemeClr val="bg1">
                    <a:lumMod val="50000"/>
                  </a:schemeClr>
                </a:solidFill>
              </a:rPr>
              <a:t>系统测试组，软件评估组，软件质量保障组，培训组</a:t>
            </a:r>
            <a:r>
              <a:rPr lang="en-US" altLang="zh-CN" sz="2000" dirty="0" smtClean="0">
                <a:solidFill>
                  <a:schemeClr val="bg1">
                    <a:lumMod val="50000"/>
                  </a:schemeClr>
                </a:solidFill>
              </a:rPr>
              <a:t>….</a:t>
            </a:r>
          </a:p>
          <a:p>
            <a:pPr marL="0" indent="0">
              <a:lnSpc>
                <a:spcPct val="130000"/>
              </a:lnSpc>
              <a:buNone/>
            </a:pPr>
            <a:r>
              <a:rPr lang="zh-CN" altLang="en-US" sz="2000" b="1" dirty="0" smtClean="0">
                <a:solidFill>
                  <a:schemeClr val="tx1">
                    <a:lumMod val="75000"/>
                    <a:lumOff val="25000"/>
                  </a:schemeClr>
                </a:solidFill>
              </a:rPr>
              <a:t>度量</a:t>
            </a:r>
            <a:r>
              <a:rPr lang="zh-CN" altLang="en-US" sz="2000" b="1" dirty="0">
                <a:solidFill>
                  <a:schemeClr val="tx1">
                    <a:lumMod val="75000"/>
                    <a:lumOff val="25000"/>
                  </a:schemeClr>
                </a:solidFill>
              </a:rPr>
              <a:t>：</a:t>
            </a:r>
            <a:r>
              <a:rPr lang="en-US" altLang="zh-CN" sz="2000" dirty="0" smtClean="0">
                <a:solidFill>
                  <a:schemeClr val="bg1">
                    <a:lumMod val="50000"/>
                  </a:schemeClr>
                </a:solidFill>
              </a:rPr>
              <a:t>		</a:t>
            </a:r>
            <a:r>
              <a:rPr lang="zh-CN" altLang="en-US" sz="2000" dirty="0" smtClean="0">
                <a:solidFill>
                  <a:schemeClr val="bg1">
                    <a:lumMod val="50000"/>
                  </a:schemeClr>
                </a:solidFill>
              </a:rPr>
              <a:t>每个项目建立资源计划。关心成本，产品和进度，有相应的管理数据</a:t>
            </a:r>
            <a:endParaRPr lang="en-US" altLang="zh-CN" sz="2000" dirty="0" smtClean="0">
              <a:solidFill>
                <a:schemeClr val="bg1">
                  <a:lumMod val="50000"/>
                </a:schemeClr>
              </a:solidFill>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950" y="1085950"/>
            <a:ext cx="8172450" cy="1047750"/>
          </a:xfrm>
          <a:prstGeom prst="rect">
            <a:avLst/>
          </a:prstGeom>
        </p:spPr>
      </p:pic>
    </p:spTree>
    <p:extLst>
      <p:ext uri="{BB962C8B-B14F-4D97-AF65-F5344CB8AC3E}">
        <p14:creationId xmlns:p14="http://schemas.microsoft.com/office/powerpoint/2010/main" val="41145375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sz="2400" dirty="0"/>
              <a:t>已定义</a:t>
            </a:r>
            <a:r>
              <a:rPr lang="zh-CN" altLang="en-US" sz="2400" dirty="0" smtClean="0"/>
              <a:t>级 </a:t>
            </a:r>
            <a:r>
              <a:rPr lang="en-US" altLang="zh-CN" sz="2400" dirty="0" smtClean="0"/>
              <a:t>(Defined)</a:t>
            </a:r>
            <a:endParaRPr lang="zh-CN" altLang="en-US" sz="2400" dirty="0"/>
          </a:p>
        </p:txBody>
      </p:sp>
      <p:sp>
        <p:nvSpPr>
          <p:cNvPr id="7" name="文本框 6"/>
          <p:cNvSpPr txBox="1"/>
          <p:nvPr/>
        </p:nvSpPr>
        <p:spPr>
          <a:xfrm>
            <a:off x="1333950" y="2755109"/>
            <a:ext cx="9642231" cy="2893100"/>
          </a:xfrm>
          <a:prstGeom prst="rect">
            <a:avLst/>
          </a:prstGeom>
        </p:spPr>
        <p:txBody>
          <a:bodyPr wrap="square" rtlCol="0">
            <a:spAutoFit/>
          </a:bodyPr>
          <a:lstStyle/>
          <a:p>
            <a:pPr marL="0" indent="0">
              <a:lnSpc>
                <a:spcPct val="130000"/>
              </a:lnSpc>
              <a:buNone/>
            </a:pPr>
            <a:r>
              <a:rPr lang="zh-CN" altLang="en-US" sz="2000" b="1" dirty="0">
                <a:solidFill>
                  <a:schemeClr val="tx1">
                    <a:lumMod val="75000"/>
                    <a:lumOff val="25000"/>
                  </a:schemeClr>
                </a:solidFill>
              </a:rPr>
              <a:t>过程特征：  </a:t>
            </a:r>
            <a:r>
              <a:rPr lang="en-US" altLang="zh-CN" sz="2000" dirty="0" smtClean="0">
                <a:solidFill>
                  <a:schemeClr val="bg1">
                    <a:lumMod val="50000"/>
                  </a:schemeClr>
                </a:solidFill>
              </a:rPr>
              <a:t>	1. </a:t>
            </a:r>
            <a:r>
              <a:rPr lang="zh-CN" altLang="en-US" sz="2000" dirty="0" smtClean="0">
                <a:solidFill>
                  <a:schemeClr val="bg1">
                    <a:lumMod val="50000"/>
                  </a:schemeClr>
                </a:solidFill>
              </a:rPr>
              <a:t>标准，一致</a:t>
            </a:r>
            <a:endParaRPr lang="en-US" altLang="zh-CN" sz="2000" dirty="0" smtClean="0">
              <a:solidFill>
                <a:schemeClr val="bg1">
                  <a:lumMod val="50000"/>
                </a:schemeClr>
              </a:solidFill>
            </a:endParaRPr>
          </a:p>
          <a:p>
            <a:pPr>
              <a:lnSpc>
                <a:spcPct val="130000"/>
              </a:lnSpc>
            </a:pPr>
            <a:r>
              <a:rPr lang="en-US" altLang="zh-CN" sz="2000" dirty="0" smtClean="0">
                <a:solidFill>
                  <a:schemeClr val="bg1">
                    <a:lumMod val="50000"/>
                  </a:schemeClr>
                </a:solidFill>
              </a:rPr>
              <a:t>		2. </a:t>
            </a:r>
            <a:r>
              <a:rPr lang="zh-CN" altLang="en-US" sz="2000" dirty="0" smtClean="0">
                <a:solidFill>
                  <a:schemeClr val="bg1">
                    <a:lumMod val="50000"/>
                  </a:schemeClr>
                </a:solidFill>
              </a:rPr>
              <a:t>软件</a:t>
            </a:r>
            <a:r>
              <a:rPr lang="zh-CN" altLang="en-US" sz="2000" dirty="0">
                <a:solidFill>
                  <a:schemeClr val="bg1">
                    <a:lumMod val="50000"/>
                  </a:schemeClr>
                </a:solidFill>
              </a:rPr>
              <a:t>过程标准化，文档化，综合成有机的整体</a:t>
            </a:r>
            <a:endParaRPr lang="en-US" altLang="zh-CN" sz="2000" dirty="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3. </a:t>
            </a:r>
            <a:r>
              <a:rPr lang="zh-CN" altLang="en-US" sz="2000" dirty="0" smtClean="0">
                <a:solidFill>
                  <a:schemeClr val="bg1">
                    <a:lumMod val="50000"/>
                  </a:schemeClr>
                </a:solidFill>
              </a:rPr>
              <a:t>软件工程</a:t>
            </a:r>
            <a:r>
              <a:rPr lang="zh-CN" altLang="en-US" sz="2000" dirty="0">
                <a:solidFill>
                  <a:schemeClr val="bg1">
                    <a:lumMod val="50000"/>
                  </a:schemeClr>
                </a:solidFill>
              </a:rPr>
              <a:t>和管理活动稳定，可重复，具有连续性</a:t>
            </a:r>
            <a:endParaRPr lang="en-US" altLang="zh-CN" sz="2000" dirty="0">
              <a:solidFill>
                <a:schemeClr val="bg1">
                  <a:lumMod val="50000"/>
                </a:schemeClr>
              </a:solidFill>
            </a:endParaRPr>
          </a:p>
          <a:p>
            <a:pPr marL="0" indent="0">
              <a:lnSpc>
                <a:spcPct val="130000"/>
              </a:lnSpc>
              <a:buNone/>
            </a:pPr>
            <a:r>
              <a:rPr lang="en-US" altLang="zh-CN" sz="2000" dirty="0" smtClean="0">
                <a:solidFill>
                  <a:schemeClr val="bg1">
                    <a:lumMod val="50000"/>
                  </a:schemeClr>
                </a:solidFill>
              </a:rPr>
              <a:t>		4. </a:t>
            </a:r>
            <a:r>
              <a:rPr lang="zh-CN" altLang="en-US" sz="2000" dirty="0" smtClean="0">
                <a:solidFill>
                  <a:schemeClr val="bg1">
                    <a:lumMod val="50000"/>
                  </a:schemeClr>
                </a:solidFill>
              </a:rPr>
              <a:t>成本，进度，功能都是受控制的，软件质量也是可跟踪的</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5. </a:t>
            </a:r>
            <a:r>
              <a:rPr lang="zh-CN" altLang="en-US" sz="2000" dirty="0" smtClean="0">
                <a:solidFill>
                  <a:schemeClr val="bg1">
                    <a:lumMod val="50000"/>
                  </a:schemeClr>
                </a:solidFill>
              </a:rPr>
              <a:t>软件过程起了预见及防范问题的作用，能使风险的影响最小化</a:t>
            </a:r>
            <a:endParaRPr lang="en-US" altLang="zh-CN" sz="2000" dirty="0" smtClean="0">
              <a:solidFill>
                <a:schemeClr val="bg1">
                  <a:lumMod val="50000"/>
                </a:schemeClr>
              </a:solidFill>
            </a:endParaRPr>
          </a:p>
          <a:p>
            <a:pPr marL="0" indent="0">
              <a:lnSpc>
                <a:spcPct val="130000"/>
              </a:lnSpc>
              <a:buNone/>
            </a:pPr>
            <a:r>
              <a:rPr lang="zh-CN" altLang="en-US" sz="2000" b="1" dirty="0" smtClean="0">
                <a:solidFill>
                  <a:schemeClr val="tx1">
                    <a:lumMod val="75000"/>
                    <a:lumOff val="25000"/>
                  </a:schemeClr>
                </a:solidFill>
              </a:rPr>
              <a:t>工作组</a:t>
            </a:r>
            <a:r>
              <a:rPr lang="en-US" altLang="zh-CN" sz="2000" b="1" dirty="0" smtClean="0">
                <a:solidFill>
                  <a:schemeClr val="tx1">
                    <a:lumMod val="75000"/>
                    <a:lumOff val="25000"/>
                  </a:schemeClr>
                </a:solidFill>
              </a:rPr>
              <a:t>:		</a:t>
            </a:r>
            <a:r>
              <a:rPr lang="zh-CN" altLang="en-US" sz="2000" dirty="0">
                <a:solidFill>
                  <a:schemeClr val="bg1">
                    <a:lumMod val="50000"/>
                  </a:schemeClr>
                </a:solidFill>
              </a:rPr>
              <a:t>软件工程过程组，软件工程活动组，软件估计组</a:t>
            </a:r>
            <a:endParaRPr lang="en-US" altLang="zh-CN" sz="2000" dirty="0">
              <a:solidFill>
                <a:schemeClr val="bg1">
                  <a:lumMod val="50000"/>
                </a:schemeClr>
              </a:solidFill>
            </a:endParaRPr>
          </a:p>
          <a:p>
            <a:pPr marL="0" indent="0">
              <a:lnSpc>
                <a:spcPct val="130000"/>
              </a:lnSpc>
              <a:buNone/>
            </a:pPr>
            <a:r>
              <a:rPr lang="zh-CN" altLang="en-US" sz="2000" b="1" dirty="0" smtClean="0">
                <a:solidFill>
                  <a:schemeClr val="tx1">
                    <a:lumMod val="75000"/>
                    <a:lumOff val="25000"/>
                  </a:schemeClr>
                </a:solidFill>
              </a:rPr>
              <a:t>度量</a:t>
            </a:r>
            <a:r>
              <a:rPr lang="zh-CN" altLang="en-US" sz="2000" b="1" dirty="0">
                <a:solidFill>
                  <a:schemeClr val="tx1">
                    <a:lumMod val="75000"/>
                    <a:lumOff val="25000"/>
                  </a:schemeClr>
                </a:solidFill>
              </a:rPr>
              <a:t>：</a:t>
            </a:r>
            <a:r>
              <a:rPr lang="en-US" altLang="zh-CN" sz="2000" dirty="0" smtClean="0">
                <a:solidFill>
                  <a:schemeClr val="bg1">
                    <a:lumMod val="50000"/>
                  </a:schemeClr>
                </a:solidFill>
              </a:rPr>
              <a:t>		</a:t>
            </a:r>
            <a:r>
              <a:rPr lang="zh-CN" altLang="en-US" sz="2000" dirty="0" smtClean="0">
                <a:solidFill>
                  <a:schemeClr val="bg1">
                    <a:lumMod val="50000"/>
                  </a:schemeClr>
                </a:solidFill>
              </a:rPr>
              <a:t>全过程中收集使用数据，全项目中系统性地共享数据</a:t>
            </a:r>
            <a:endParaRPr lang="en-US" altLang="zh-CN" sz="2000" dirty="0" smtClean="0">
              <a:solidFill>
                <a:schemeClr val="bg1">
                  <a:lumMod val="50000"/>
                </a:schemeClr>
              </a:solidFill>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950" y="1124050"/>
            <a:ext cx="8077200" cy="971550"/>
          </a:xfrm>
          <a:prstGeom prst="rect">
            <a:avLst/>
          </a:prstGeom>
        </p:spPr>
      </p:pic>
    </p:spTree>
    <p:extLst>
      <p:ext uri="{BB962C8B-B14F-4D97-AF65-F5344CB8AC3E}">
        <p14:creationId xmlns:p14="http://schemas.microsoft.com/office/powerpoint/2010/main" val="4721921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sz="2400" dirty="0" smtClean="0"/>
              <a:t>已管理级 </a:t>
            </a:r>
            <a:r>
              <a:rPr lang="en-US" altLang="zh-CN" sz="2400" dirty="0" smtClean="0"/>
              <a:t>(Managed)</a:t>
            </a:r>
            <a:endParaRPr lang="zh-CN" altLang="en-US" sz="2400" dirty="0"/>
          </a:p>
        </p:txBody>
      </p:sp>
      <p:sp>
        <p:nvSpPr>
          <p:cNvPr id="7" name="文本框 6"/>
          <p:cNvSpPr txBox="1"/>
          <p:nvPr/>
        </p:nvSpPr>
        <p:spPr>
          <a:xfrm>
            <a:off x="1333950" y="2755109"/>
            <a:ext cx="10069156" cy="3323987"/>
          </a:xfrm>
          <a:prstGeom prst="rect">
            <a:avLst/>
          </a:prstGeom>
        </p:spPr>
        <p:txBody>
          <a:bodyPr wrap="square" rtlCol="0">
            <a:spAutoFit/>
          </a:bodyPr>
          <a:lstStyle/>
          <a:p>
            <a:pPr marL="0" indent="0">
              <a:lnSpc>
                <a:spcPct val="130000"/>
              </a:lnSpc>
              <a:buNone/>
            </a:pPr>
            <a:r>
              <a:rPr lang="zh-CN" altLang="en-US" sz="2000" b="1" dirty="0">
                <a:solidFill>
                  <a:schemeClr val="tx1">
                    <a:lumMod val="75000"/>
                    <a:lumOff val="25000"/>
                  </a:schemeClr>
                </a:solidFill>
              </a:rPr>
              <a:t>过程特征：  </a:t>
            </a:r>
            <a:r>
              <a:rPr lang="en-US" altLang="zh-CN" sz="2000" dirty="0" smtClean="0">
                <a:solidFill>
                  <a:schemeClr val="bg1">
                    <a:lumMod val="50000"/>
                  </a:schemeClr>
                </a:solidFill>
              </a:rPr>
              <a:t>	1. </a:t>
            </a:r>
            <a:r>
              <a:rPr lang="zh-CN" altLang="en-US" sz="2000" dirty="0">
                <a:solidFill>
                  <a:schemeClr val="bg1">
                    <a:lumMod val="50000"/>
                  </a:schemeClr>
                </a:solidFill>
              </a:rPr>
              <a:t>可</a:t>
            </a:r>
            <a:r>
              <a:rPr lang="zh-CN" altLang="en-US" sz="2000" dirty="0" smtClean="0">
                <a:solidFill>
                  <a:schemeClr val="bg1">
                    <a:lumMod val="50000"/>
                  </a:schemeClr>
                </a:solidFill>
              </a:rPr>
              <a:t>预测的</a:t>
            </a:r>
            <a:endParaRPr lang="en-US" altLang="zh-CN" sz="2000" dirty="0" smtClean="0">
              <a:solidFill>
                <a:schemeClr val="bg1">
                  <a:lumMod val="50000"/>
                </a:schemeClr>
              </a:solidFill>
            </a:endParaRPr>
          </a:p>
          <a:p>
            <a:pPr marL="0" indent="0">
              <a:lnSpc>
                <a:spcPct val="130000"/>
              </a:lnSpc>
              <a:buNone/>
            </a:pPr>
            <a:r>
              <a:rPr lang="en-US" altLang="zh-CN" sz="2000" dirty="0" smtClean="0">
                <a:solidFill>
                  <a:schemeClr val="bg1">
                    <a:lumMod val="50000"/>
                  </a:schemeClr>
                </a:solidFill>
              </a:rPr>
              <a:t>		2. </a:t>
            </a:r>
            <a:r>
              <a:rPr lang="zh-CN" altLang="en-US" sz="2000" dirty="0" smtClean="0">
                <a:solidFill>
                  <a:schemeClr val="bg1">
                    <a:lumMod val="50000"/>
                  </a:schemeClr>
                </a:solidFill>
              </a:rPr>
              <a:t>制定了软件过程和产品质量的详细而具体的度量标准</a:t>
            </a:r>
            <a:endParaRPr lang="en-US" altLang="zh-CN" sz="2000" dirty="0" smtClean="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3. </a:t>
            </a:r>
            <a:r>
              <a:rPr lang="zh-CN" altLang="en-US" sz="2000" dirty="0" smtClean="0">
                <a:solidFill>
                  <a:schemeClr val="bg1">
                    <a:lumMod val="50000"/>
                  </a:schemeClr>
                </a:solidFill>
              </a:rPr>
              <a:t>执行</a:t>
            </a:r>
            <a:r>
              <a:rPr lang="zh-CN" altLang="en-US" sz="2000" dirty="0">
                <a:solidFill>
                  <a:schemeClr val="bg1">
                    <a:lumMod val="50000"/>
                  </a:schemeClr>
                </a:solidFill>
              </a:rPr>
              <a:t>过程的</a:t>
            </a:r>
            <a:r>
              <a:rPr lang="zh-CN" altLang="en-US" sz="2000" dirty="0" smtClean="0">
                <a:solidFill>
                  <a:schemeClr val="bg1">
                    <a:lumMod val="50000"/>
                  </a:schemeClr>
                </a:solidFill>
              </a:rPr>
              <a:t>活动在</a:t>
            </a:r>
            <a:r>
              <a:rPr lang="zh-CN" altLang="en-US" sz="2000" dirty="0">
                <a:solidFill>
                  <a:schemeClr val="bg1">
                    <a:lumMod val="50000"/>
                  </a:schemeClr>
                </a:solidFill>
              </a:rPr>
              <a:t>可评价的限度之内</a:t>
            </a:r>
            <a:endParaRPr lang="en-US" altLang="zh-CN" sz="2000" dirty="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4. </a:t>
            </a:r>
            <a:r>
              <a:rPr lang="zh-CN" altLang="en-US" sz="2000" dirty="0" smtClean="0">
                <a:solidFill>
                  <a:schemeClr val="bg1">
                    <a:lumMod val="50000"/>
                  </a:schemeClr>
                </a:solidFill>
              </a:rPr>
              <a:t>定量</a:t>
            </a:r>
            <a:r>
              <a:rPr lang="zh-CN" altLang="en-US" sz="2000" dirty="0">
                <a:solidFill>
                  <a:schemeClr val="bg1">
                    <a:lumMod val="50000"/>
                  </a:schemeClr>
                </a:solidFill>
              </a:rPr>
              <a:t>认识软件</a:t>
            </a:r>
            <a:endParaRPr lang="en-US" altLang="zh-CN" sz="2000" dirty="0" smtClean="0">
              <a:solidFill>
                <a:schemeClr val="bg1">
                  <a:lumMod val="50000"/>
                </a:schemeClr>
              </a:solidFill>
            </a:endParaRPr>
          </a:p>
          <a:p>
            <a:pPr marL="0" indent="0">
              <a:lnSpc>
                <a:spcPct val="130000"/>
              </a:lnSpc>
              <a:buNone/>
            </a:pPr>
            <a:r>
              <a:rPr lang="zh-CN" altLang="en-US" sz="2000" b="1" dirty="0" smtClean="0">
                <a:solidFill>
                  <a:schemeClr val="tx1">
                    <a:lumMod val="75000"/>
                    <a:lumOff val="25000"/>
                  </a:schemeClr>
                </a:solidFill>
              </a:rPr>
              <a:t>工作组</a:t>
            </a:r>
            <a:r>
              <a:rPr lang="en-US" altLang="zh-CN" sz="2000" b="1" dirty="0" smtClean="0">
                <a:solidFill>
                  <a:schemeClr val="tx1">
                    <a:lumMod val="75000"/>
                    <a:lumOff val="25000"/>
                  </a:schemeClr>
                </a:solidFill>
              </a:rPr>
              <a:t>:		</a:t>
            </a:r>
            <a:r>
              <a:rPr lang="zh-CN" altLang="en-US" sz="2000" dirty="0" smtClean="0">
                <a:solidFill>
                  <a:schemeClr val="bg1">
                    <a:lumMod val="50000"/>
                  </a:schemeClr>
                </a:solidFill>
              </a:rPr>
              <a:t>软件相关组，定量过程管理组</a:t>
            </a:r>
            <a:endParaRPr lang="en-US" altLang="zh-CN" sz="2000" dirty="0" smtClean="0">
              <a:solidFill>
                <a:schemeClr val="bg1">
                  <a:lumMod val="50000"/>
                </a:schemeClr>
              </a:solidFill>
            </a:endParaRPr>
          </a:p>
          <a:p>
            <a:r>
              <a:rPr lang="zh-CN" altLang="en-US" sz="2000" b="1" dirty="0" smtClean="0">
                <a:solidFill>
                  <a:schemeClr val="tx1">
                    <a:lumMod val="75000"/>
                    <a:lumOff val="25000"/>
                  </a:schemeClr>
                </a:solidFill>
              </a:rPr>
              <a:t>度量：</a:t>
            </a:r>
            <a:r>
              <a:rPr lang="en-US" altLang="zh-CN" sz="2000" dirty="0" smtClean="0">
                <a:solidFill>
                  <a:schemeClr val="bg1">
                    <a:lumMod val="50000"/>
                  </a:schemeClr>
                </a:solidFill>
              </a:rPr>
              <a:t>		</a:t>
            </a:r>
            <a:r>
              <a:rPr lang="zh-CN" altLang="en-US" sz="2000" dirty="0">
                <a:solidFill>
                  <a:schemeClr val="bg1">
                    <a:lumMod val="50000"/>
                  </a:schemeClr>
                </a:solidFill>
              </a:rPr>
              <a:t>管理</a:t>
            </a:r>
            <a:r>
              <a:rPr lang="zh-CN" altLang="en-US" sz="2000" dirty="0" smtClean="0">
                <a:solidFill>
                  <a:schemeClr val="bg1">
                    <a:lumMod val="50000"/>
                  </a:schemeClr>
                </a:solidFill>
              </a:rPr>
              <a:t>者根据</a:t>
            </a:r>
            <a:r>
              <a:rPr lang="zh-CN" altLang="en-US" sz="2000" dirty="0">
                <a:solidFill>
                  <a:schemeClr val="bg1">
                    <a:lumMod val="50000"/>
                  </a:schemeClr>
                </a:solidFill>
              </a:rPr>
              <a:t>客观的度量，预见过程中的经费支出和其他情况，定量地</a:t>
            </a:r>
            <a:r>
              <a:rPr lang="zh-CN" altLang="en-US" sz="2000" dirty="0" smtClean="0">
                <a:solidFill>
                  <a:schemeClr val="bg1">
                    <a:lumMod val="50000"/>
                  </a:schemeClr>
                </a:solidFill>
              </a:rPr>
              <a:t>，</a:t>
            </a:r>
            <a:r>
              <a:rPr lang="en-US" altLang="zh-CN" sz="2000" dirty="0" smtClean="0">
                <a:solidFill>
                  <a:schemeClr val="bg1">
                    <a:lumMod val="50000"/>
                  </a:schemeClr>
                </a:solidFill>
              </a:rPr>
              <a:t>			</a:t>
            </a:r>
            <a:r>
              <a:rPr lang="zh-CN" altLang="en-US" sz="2000" dirty="0" smtClean="0">
                <a:solidFill>
                  <a:schemeClr val="bg1">
                    <a:lumMod val="50000"/>
                  </a:schemeClr>
                </a:solidFill>
              </a:rPr>
              <a:t>有</a:t>
            </a:r>
            <a:r>
              <a:rPr lang="zh-CN" altLang="en-US" sz="2000" dirty="0">
                <a:solidFill>
                  <a:schemeClr val="bg1">
                    <a:lumMod val="50000"/>
                  </a:schemeClr>
                </a:solidFill>
              </a:rPr>
              <a:t>目标地做出</a:t>
            </a:r>
            <a:r>
              <a:rPr lang="zh-CN" altLang="en-US" sz="2000" dirty="0" smtClean="0">
                <a:solidFill>
                  <a:schemeClr val="bg1">
                    <a:lumMod val="50000"/>
                  </a:schemeClr>
                </a:solidFill>
              </a:rPr>
              <a:t>决定</a:t>
            </a:r>
            <a:endParaRPr lang="en-US" altLang="zh-CN" sz="2000" dirty="0" smtClean="0">
              <a:solidFill>
                <a:schemeClr val="bg1">
                  <a:lumMod val="50000"/>
                </a:schemeClr>
              </a:solidFill>
            </a:endParaRPr>
          </a:p>
          <a:p>
            <a:r>
              <a:rPr lang="en-US" altLang="zh-CN" sz="2000" dirty="0">
                <a:solidFill>
                  <a:schemeClr val="bg1">
                    <a:lumMod val="50000"/>
                  </a:schemeClr>
                </a:solidFill>
              </a:rPr>
              <a:t>	</a:t>
            </a:r>
            <a:r>
              <a:rPr lang="en-US" altLang="zh-CN" sz="2000" dirty="0" smtClean="0">
                <a:solidFill>
                  <a:schemeClr val="bg1">
                    <a:lumMod val="50000"/>
                  </a:schemeClr>
                </a:solidFill>
              </a:rPr>
              <a:t>	</a:t>
            </a:r>
            <a:r>
              <a:rPr lang="zh-CN" altLang="en-US" sz="2000" dirty="0" smtClean="0">
                <a:solidFill>
                  <a:schemeClr val="bg1">
                    <a:lumMod val="50000"/>
                  </a:schemeClr>
                </a:solidFill>
              </a:rPr>
              <a:t>用户定量</a:t>
            </a:r>
            <a:r>
              <a:rPr lang="zh-CN" altLang="en-US" sz="2000" dirty="0">
                <a:solidFill>
                  <a:schemeClr val="bg1">
                    <a:lumMod val="50000"/>
                  </a:schemeClr>
                </a:solidFill>
              </a:rPr>
              <a:t>地理解过程的能力及存在的</a:t>
            </a:r>
            <a:r>
              <a:rPr lang="zh-CN" altLang="en-US" sz="2000" dirty="0" smtClean="0">
                <a:solidFill>
                  <a:schemeClr val="bg1">
                    <a:lumMod val="50000"/>
                  </a:schemeClr>
                </a:solidFill>
              </a:rPr>
              <a:t>风险</a:t>
            </a:r>
            <a:endParaRPr lang="en-US" altLang="zh-CN" sz="2000" dirty="0" smtClean="0">
              <a:solidFill>
                <a:schemeClr val="bg1">
                  <a:lumMod val="50000"/>
                </a:schemeClr>
              </a:solidFill>
            </a:endParaRPr>
          </a:p>
          <a:p>
            <a:r>
              <a:rPr lang="en-US" altLang="zh-CN" sz="2000" dirty="0">
                <a:solidFill>
                  <a:schemeClr val="bg1">
                    <a:lumMod val="50000"/>
                  </a:schemeClr>
                </a:solidFill>
              </a:rPr>
              <a:t>	</a:t>
            </a:r>
            <a:r>
              <a:rPr lang="en-US" altLang="zh-CN" sz="2000" dirty="0" smtClean="0">
                <a:solidFill>
                  <a:schemeClr val="bg1">
                    <a:lumMod val="50000"/>
                  </a:schemeClr>
                </a:solidFill>
              </a:rPr>
              <a:t>	</a:t>
            </a:r>
            <a:r>
              <a:rPr lang="zh-CN" altLang="en-US" sz="2000" dirty="0" smtClean="0">
                <a:solidFill>
                  <a:schemeClr val="bg1">
                    <a:lumMod val="50000"/>
                  </a:schemeClr>
                </a:solidFill>
              </a:rPr>
              <a:t>整个</a:t>
            </a:r>
            <a:r>
              <a:rPr lang="zh-CN" altLang="en-US" sz="2000" dirty="0">
                <a:solidFill>
                  <a:schemeClr val="bg1">
                    <a:lumMod val="50000"/>
                  </a:schemeClr>
                </a:solidFill>
              </a:rPr>
              <a:t>软件过程可以定量地指导和</a:t>
            </a:r>
            <a:r>
              <a:rPr lang="zh-CN" altLang="en-US" sz="2000" dirty="0" smtClean="0">
                <a:solidFill>
                  <a:schemeClr val="bg1">
                    <a:lumMod val="50000"/>
                  </a:schemeClr>
                </a:solidFill>
              </a:rPr>
              <a:t>控制</a:t>
            </a:r>
            <a:endParaRPr lang="en-US" altLang="zh-CN" sz="2000"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950" y="1019275"/>
            <a:ext cx="7781925" cy="1114425"/>
          </a:xfrm>
          <a:prstGeom prst="rect">
            <a:avLst/>
          </a:prstGeom>
        </p:spPr>
      </p:pic>
    </p:spTree>
    <p:extLst>
      <p:ext uri="{BB962C8B-B14F-4D97-AF65-F5344CB8AC3E}">
        <p14:creationId xmlns:p14="http://schemas.microsoft.com/office/powerpoint/2010/main" val="10351365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sz="2400" dirty="0" smtClean="0"/>
              <a:t>优化级 </a:t>
            </a:r>
            <a:r>
              <a:rPr lang="en-US" altLang="zh-CN" sz="2400" dirty="0" smtClean="0"/>
              <a:t>(Optimizing)</a:t>
            </a:r>
            <a:endParaRPr lang="zh-CN" altLang="en-US" sz="2400" dirty="0"/>
          </a:p>
        </p:txBody>
      </p:sp>
      <p:sp>
        <p:nvSpPr>
          <p:cNvPr id="7" name="文本框 6"/>
          <p:cNvSpPr txBox="1"/>
          <p:nvPr/>
        </p:nvSpPr>
        <p:spPr>
          <a:xfrm>
            <a:off x="1333949" y="2755108"/>
            <a:ext cx="10569579" cy="3693319"/>
          </a:xfrm>
          <a:prstGeom prst="rect">
            <a:avLst/>
          </a:prstGeom>
        </p:spPr>
        <p:txBody>
          <a:bodyPr wrap="square" rtlCol="0">
            <a:spAutoFit/>
          </a:bodyPr>
          <a:lstStyle/>
          <a:p>
            <a:pPr marL="0" indent="0">
              <a:lnSpc>
                <a:spcPct val="130000"/>
              </a:lnSpc>
              <a:buNone/>
            </a:pPr>
            <a:r>
              <a:rPr lang="zh-CN" altLang="en-US" sz="2000" b="1" dirty="0">
                <a:solidFill>
                  <a:schemeClr val="tx1">
                    <a:lumMod val="75000"/>
                    <a:lumOff val="25000"/>
                  </a:schemeClr>
                </a:solidFill>
              </a:rPr>
              <a:t>过程特征：  </a:t>
            </a:r>
            <a:r>
              <a:rPr lang="en-US" altLang="zh-CN" sz="2000" dirty="0" smtClean="0">
                <a:solidFill>
                  <a:schemeClr val="bg1">
                    <a:lumMod val="50000"/>
                  </a:schemeClr>
                </a:solidFill>
              </a:rPr>
              <a:t>	1. </a:t>
            </a:r>
            <a:r>
              <a:rPr lang="zh-CN" altLang="en-US" sz="2000" dirty="0" smtClean="0">
                <a:solidFill>
                  <a:schemeClr val="bg1">
                    <a:lumMod val="50000"/>
                  </a:schemeClr>
                </a:solidFill>
              </a:rPr>
              <a:t>不断地改进</a:t>
            </a:r>
            <a:endParaRPr lang="en-US" altLang="zh-CN" sz="2000" dirty="0" smtClean="0">
              <a:solidFill>
                <a:schemeClr val="bg1">
                  <a:lumMod val="50000"/>
                </a:schemeClr>
              </a:solidFill>
            </a:endParaRPr>
          </a:p>
          <a:p>
            <a:pPr marL="0" indent="0">
              <a:lnSpc>
                <a:spcPct val="130000"/>
              </a:lnSpc>
              <a:buNone/>
            </a:pPr>
            <a:r>
              <a:rPr lang="en-US" altLang="zh-CN" sz="2000" dirty="0" smtClean="0">
                <a:solidFill>
                  <a:schemeClr val="bg1">
                    <a:lumMod val="50000"/>
                  </a:schemeClr>
                </a:solidFill>
              </a:rPr>
              <a:t>		2. </a:t>
            </a:r>
            <a:r>
              <a:rPr lang="zh-CN" altLang="en-US" sz="2000" dirty="0" smtClean="0">
                <a:solidFill>
                  <a:schemeClr val="bg1">
                    <a:lumMod val="50000"/>
                  </a:schemeClr>
                </a:solidFill>
              </a:rPr>
              <a:t>整个组织特别关注软件过程改进的持续性，预见及增强本身</a:t>
            </a:r>
            <a:endParaRPr lang="en-US" altLang="zh-CN" sz="2000" dirty="0" smtClean="0">
              <a:solidFill>
                <a:schemeClr val="bg1">
                  <a:lumMod val="50000"/>
                </a:schemeClr>
              </a:solidFill>
            </a:endParaRPr>
          </a:p>
          <a:p>
            <a:pPr marL="0" indent="0">
              <a:lnSpc>
                <a:spcPct val="130000"/>
              </a:lnSpc>
              <a:buNone/>
            </a:pPr>
            <a:r>
              <a:rPr lang="en-US" altLang="zh-CN" sz="2000" dirty="0">
                <a:solidFill>
                  <a:schemeClr val="bg1">
                    <a:lumMod val="50000"/>
                  </a:schemeClr>
                </a:solidFill>
              </a:rPr>
              <a:t>	</a:t>
            </a:r>
            <a:r>
              <a:rPr lang="en-US" altLang="zh-CN" sz="2000" dirty="0" smtClean="0">
                <a:solidFill>
                  <a:schemeClr val="bg1">
                    <a:lumMod val="50000"/>
                  </a:schemeClr>
                </a:solidFill>
              </a:rPr>
              <a:t>	3. </a:t>
            </a:r>
            <a:r>
              <a:rPr lang="zh-CN" altLang="en-US" sz="2000" dirty="0" smtClean="0">
                <a:solidFill>
                  <a:schemeClr val="bg1">
                    <a:lumMod val="50000"/>
                  </a:schemeClr>
                </a:solidFill>
              </a:rPr>
              <a:t>加强定量分析，通过来自过程的质量反馈和吸收新观念，新科技</a:t>
            </a:r>
            <a:endParaRPr lang="en-US" altLang="zh-CN" sz="2000" dirty="0" smtClean="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4. </a:t>
            </a:r>
            <a:r>
              <a:rPr lang="zh-CN" altLang="en-US" sz="2000" dirty="0" smtClean="0">
                <a:solidFill>
                  <a:schemeClr val="bg1">
                    <a:lumMod val="50000"/>
                  </a:schemeClr>
                </a:solidFill>
              </a:rPr>
              <a:t>追求</a:t>
            </a:r>
            <a:r>
              <a:rPr lang="zh-CN" altLang="en-US" sz="2000" dirty="0">
                <a:solidFill>
                  <a:schemeClr val="bg1">
                    <a:lumMod val="50000"/>
                  </a:schemeClr>
                </a:solidFill>
              </a:rPr>
              <a:t>新技术，利用新技术</a:t>
            </a:r>
            <a:endParaRPr lang="en-US" altLang="zh-CN" sz="2000" dirty="0">
              <a:solidFill>
                <a:schemeClr val="bg1">
                  <a:lumMod val="50000"/>
                </a:schemeClr>
              </a:solidFill>
            </a:endParaRPr>
          </a:p>
          <a:p>
            <a:pPr>
              <a:lnSpc>
                <a:spcPct val="130000"/>
              </a:lnSpc>
            </a:pPr>
            <a:r>
              <a:rPr lang="en-US" altLang="zh-CN" sz="2000" dirty="0">
                <a:solidFill>
                  <a:schemeClr val="bg1">
                    <a:lumMod val="50000"/>
                  </a:schemeClr>
                </a:solidFill>
              </a:rPr>
              <a:t>	</a:t>
            </a:r>
            <a:r>
              <a:rPr lang="en-US" altLang="zh-CN" sz="2000" dirty="0" smtClean="0">
                <a:solidFill>
                  <a:schemeClr val="bg1">
                    <a:lumMod val="50000"/>
                  </a:schemeClr>
                </a:solidFill>
              </a:rPr>
              <a:t>	5. </a:t>
            </a:r>
            <a:r>
              <a:rPr lang="zh-CN" altLang="en-US" sz="2000" dirty="0" smtClean="0">
                <a:solidFill>
                  <a:schemeClr val="bg1">
                    <a:lumMod val="50000"/>
                  </a:schemeClr>
                </a:solidFill>
              </a:rPr>
              <a:t>把</a:t>
            </a:r>
            <a:r>
              <a:rPr lang="zh-CN" altLang="en-US" sz="2000" dirty="0">
                <a:solidFill>
                  <a:schemeClr val="bg1">
                    <a:lumMod val="50000"/>
                  </a:schemeClr>
                </a:solidFill>
              </a:rPr>
              <a:t>最好的创新成绩迅速向全组转移</a:t>
            </a:r>
            <a:endParaRPr lang="en-US" altLang="zh-CN" sz="2000" dirty="0">
              <a:solidFill>
                <a:schemeClr val="bg1">
                  <a:lumMod val="50000"/>
                </a:schemeClr>
              </a:solidFill>
            </a:endParaRPr>
          </a:p>
          <a:p>
            <a:pPr marL="0" indent="0">
              <a:lnSpc>
                <a:spcPct val="130000"/>
              </a:lnSpc>
              <a:buNone/>
            </a:pPr>
            <a:r>
              <a:rPr lang="zh-CN" altLang="en-US" sz="2000" b="1" dirty="0" smtClean="0">
                <a:solidFill>
                  <a:schemeClr val="tx1">
                    <a:lumMod val="75000"/>
                    <a:lumOff val="25000"/>
                  </a:schemeClr>
                </a:solidFill>
              </a:rPr>
              <a:t>工作组</a:t>
            </a:r>
            <a:r>
              <a:rPr lang="en-US" altLang="zh-CN" sz="2000" b="1" dirty="0" smtClean="0">
                <a:solidFill>
                  <a:schemeClr val="tx1">
                    <a:lumMod val="75000"/>
                    <a:lumOff val="25000"/>
                  </a:schemeClr>
                </a:solidFill>
              </a:rPr>
              <a:t>:		</a:t>
            </a:r>
            <a:r>
              <a:rPr lang="zh-CN" altLang="en-US" sz="2000" dirty="0" smtClean="0">
                <a:solidFill>
                  <a:schemeClr val="bg1">
                    <a:lumMod val="50000"/>
                  </a:schemeClr>
                </a:solidFill>
              </a:rPr>
              <a:t>软件相关组，缺陷防范活动协调组，技术改革管理活动组，软件过程改进组</a:t>
            </a:r>
            <a:endParaRPr lang="en-US" altLang="zh-CN" sz="2000" dirty="0" smtClean="0">
              <a:solidFill>
                <a:schemeClr val="bg1">
                  <a:lumMod val="50000"/>
                </a:schemeClr>
              </a:solidFill>
            </a:endParaRPr>
          </a:p>
          <a:p>
            <a:pPr marL="0" indent="0">
              <a:lnSpc>
                <a:spcPct val="130000"/>
              </a:lnSpc>
              <a:buNone/>
            </a:pPr>
            <a:r>
              <a:rPr lang="zh-CN" altLang="en-US" sz="2000" b="1" dirty="0" smtClean="0">
                <a:solidFill>
                  <a:schemeClr val="tx1">
                    <a:lumMod val="75000"/>
                    <a:lumOff val="25000"/>
                  </a:schemeClr>
                </a:solidFill>
              </a:rPr>
              <a:t>度量：</a:t>
            </a:r>
            <a:r>
              <a:rPr lang="en-US" altLang="zh-CN" sz="2000" dirty="0" smtClean="0">
                <a:solidFill>
                  <a:schemeClr val="bg1">
                    <a:lumMod val="50000"/>
                  </a:schemeClr>
                </a:solidFill>
              </a:rPr>
              <a:t>		</a:t>
            </a:r>
            <a:r>
              <a:rPr lang="zh-CN" altLang="en-US" sz="2000" dirty="0" smtClean="0">
                <a:solidFill>
                  <a:schemeClr val="bg1">
                    <a:lumMod val="50000"/>
                  </a:schemeClr>
                </a:solidFill>
              </a:rPr>
              <a:t>利用</a:t>
            </a:r>
            <a:r>
              <a:rPr lang="zh-CN" altLang="en-US" sz="2000" dirty="0">
                <a:solidFill>
                  <a:schemeClr val="bg1">
                    <a:lumMod val="50000"/>
                  </a:schemeClr>
                </a:solidFill>
              </a:rPr>
              <a:t>数据来评估，选择过程改进</a:t>
            </a:r>
            <a:endParaRPr lang="en-US" altLang="zh-CN" sz="2000" dirty="0">
              <a:solidFill>
                <a:schemeClr val="bg1">
                  <a:lumMod val="50000"/>
                </a:schemeClr>
              </a:solidFill>
            </a:endParaRPr>
          </a:p>
          <a:p>
            <a:pPr>
              <a:lnSpc>
                <a:spcPct val="130000"/>
              </a:lnSpc>
            </a:pPr>
            <a:r>
              <a:rPr lang="en-US" altLang="zh-CN" sz="2000" dirty="0">
                <a:solidFill>
                  <a:schemeClr val="bg1">
                    <a:lumMod val="50000"/>
                  </a:schemeClr>
                </a:solidFill>
              </a:rPr>
              <a:t>		</a:t>
            </a:r>
            <a:r>
              <a:rPr lang="zh-CN" altLang="en-US" sz="2000" dirty="0">
                <a:solidFill>
                  <a:schemeClr val="bg1">
                    <a:lumMod val="50000"/>
                  </a:schemeClr>
                </a:solidFill>
              </a:rPr>
              <a:t>管理人员有能力来估计定量跟踪变化的影响和效果</a:t>
            </a:r>
            <a:endParaRPr lang="en-US" altLang="zh-CN" sz="2000" dirty="0">
              <a:solidFill>
                <a:schemeClr val="bg1">
                  <a:lumMod val="50000"/>
                </a:schemeClr>
              </a:solidFill>
            </a:endParaRPr>
          </a:p>
          <a:p>
            <a:pPr>
              <a:lnSpc>
                <a:spcPct val="130000"/>
              </a:lnSpc>
            </a:pPr>
            <a:r>
              <a:rPr lang="en-US" altLang="zh-CN" sz="2000" dirty="0">
                <a:solidFill>
                  <a:schemeClr val="bg1">
                    <a:lumMod val="50000"/>
                  </a:schemeClr>
                </a:solidFill>
              </a:rPr>
              <a:t>		</a:t>
            </a:r>
            <a:r>
              <a:rPr lang="zh-CN" altLang="en-US" sz="2000" dirty="0">
                <a:solidFill>
                  <a:schemeClr val="bg1">
                    <a:lumMod val="50000"/>
                  </a:schemeClr>
                </a:solidFill>
              </a:rPr>
              <a:t>用户和开发组织合作关系良好</a:t>
            </a:r>
            <a:endParaRPr lang="en-US" altLang="zh-CN" sz="2000" dirty="0">
              <a:solidFill>
                <a:schemeClr val="bg1">
                  <a:lumMod val="50000"/>
                </a:schemeClr>
              </a:solidFill>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950" y="896435"/>
            <a:ext cx="8010525" cy="1619250"/>
          </a:xfrm>
          <a:prstGeom prst="rect">
            <a:avLst/>
          </a:prstGeom>
        </p:spPr>
      </p:pic>
    </p:spTree>
    <p:extLst>
      <p:ext uri="{BB962C8B-B14F-4D97-AF65-F5344CB8AC3E}">
        <p14:creationId xmlns:p14="http://schemas.microsoft.com/office/powerpoint/2010/main" val="16377712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5166"/>
          <p:cNvSpPr/>
          <p:nvPr/>
        </p:nvSpPr>
        <p:spPr>
          <a:xfrm>
            <a:off x="2592459" y="1876576"/>
            <a:ext cx="1624076" cy="1438817"/>
          </a:xfrm>
          <a:custGeom>
            <a:avLst/>
            <a:gdLst/>
            <a:ahLst/>
            <a:cxnLst>
              <a:cxn ang="0">
                <a:pos x="wd2" y="hd2"/>
              </a:cxn>
              <a:cxn ang="5400000">
                <a:pos x="wd2" y="hd2"/>
              </a:cxn>
              <a:cxn ang="10800000">
                <a:pos x="wd2" y="hd2"/>
              </a:cxn>
              <a:cxn ang="16200000">
                <a:pos x="wd2" y="hd2"/>
              </a:cxn>
            </a:cxnLst>
            <a:rect l="0" t="0" r="r" b="b"/>
            <a:pathLst>
              <a:path w="21600" h="21600" extrusionOk="0">
                <a:moveTo>
                  <a:pt x="17131" y="0"/>
                </a:moveTo>
                <a:lnTo>
                  <a:pt x="4125" y="12945"/>
                </a:lnTo>
                <a:lnTo>
                  <a:pt x="0" y="21600"/>
                </a:lnTo>
                <a:lnTo>
                  <a:pt x="21600" y="7769"/>
                </a:lnTo>
                <a:lnTo>
                  <a:pt x="17131" y="0"/>
                </a:lnTo>
                <a:close/>
              </a:path>
            </a:pathLst>
          </a:custGeom>
          <a:solidFill>
            <a:schemeClr val="bg1">
              <a:lumMod val="85000"/>
            </a:schemeClr>
          </a:solidFill>
          <a:ln w="12700" cap="flat">
            <a:no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5" name="Shape 5167"/>
          <p:cNvSpPr/>
          <p:nvPr/>
        </p:nvSpPr>
        <p:spPr>
          <a:xfrm>
            <a:off x="2099939" y="2729598"/>
            <a:ext cx="2615245" cy="1497889"/>
          </a:xfrm>
          <a:custGeom>
            <a:avLst/>
            <a:gdLst/>
            <a:ahLst/>
            <a:cxnLst>
              <a:cxn ang="0">
                <a:pos x="wd2" y="hd2"/>
              </a:cxn>
              <a:cxn ang="5400000">
                <a:pos x="wd2" y="hd2"/>
              </a:cxn>
              <a:cxn ang="10800000">
                <a:pos x="wd2" y="hd2"/>
              </a:cxn>
              <a:cxn ang="16200000">
                <a:pos x="wd2" y="hd2"/>
              </a:cxn>
            </a:cxnLst>
            <a:rect l="0" t="0" r="r" b="b"/>
            <a:pathLst>
              <a:path w="21600" h="21600" extrusionOk="0">
                <a:moveTo>
                  <a:pt x="19039" y="0"/>
                </a:moveTo>
                <a:lnTo>
                  <a:pt x="2561" y="13286"/>
                </a:lnTo>
                <a:lnTo>
                  <a:pt x="0" y="21600"/>
                </a:lnTo>
                <a:lnTo>
                  <a:pt x="21600" y="8314"/>
                </a:lnTo>
                <a:cubicBezTo>
                  <a:pt x="21600" y="8314"/>
                  <a:pt x="19039" y="0"/>
                  <a:pt x="19039" y="0"/>
                </a:cubicBezTo>
                <a:close/>
              </a:path>
            </a:pathLst>
          </a:custGeom>
          <a:solidFill>
            <a:schemeClr val="bg1">
              <a:lumMod val="85000"/>
            </a:schemeClr>
          </a:solidFill>
          <a:ln w="12700" cap="flat">
            <a:no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6" name="Shape 5168"/>
          <p:cNvSpPr/>
          <p:nvPr/>
        </p:nvSpPr>
        <p:spPr>
          <a:xfrm>
            <a:off x="1607419" y="3654532"/>
            <a:ext cx="3606415" cy="1497883"/>
          </a:xfrm>
          <a:custGeom>
            <a:avLst/>
            <a:gdLst/>
            <a:ahLst/>
            <a:cxnLst>
              <a:cxn ang="0">
                <a:pos x="wd2" y="hd2"/>
              </a:cxn>
              <a:cxn ang="5400000">
                <a:pos x="wd2" y="hd2"/>
              </a:cxn>
              <a:cxn ang="10800000">
                <a:pos x="wd2" y="hd2"/>
              </a:cxn>
              <a:cxn ang="16200000">
                <a:pos x="wd2" y="hd2"/>
              </a:cxn>
            </a:cxnLst>
            <a:rect l="0" t="0" r="r" b="b"/>
            <a:pathLst>
              <a:path w="21600" h="21600" extrusionOk="0">
                <a:moveTo>
                  <a:pt x="19743" y="0"/>
                </a:moveTo>
                <a:lnTo>
                  <a:pt x="1857" y="13286"/>
                </a:lnTo>
                <a:lnTo>
                  <a:pt x="0" y="21600"/>
                </a:lnTo>
                <a:lnTo>
                  <a:pt x="21600" y="8314"/>
                </a:lnTo>
                <a:cubicBezTo>
                  <a:pt x="21600" y="8314"/>
                  <a:pt x="19743" y="0"/>
                  <a:pt x="19743" y="0"/>
                </a:cubicBezTo>
                <a:close/>
              </a:path>
            </a:pathLst>
          </a:custGeom>
          <a:solidFill>
            <a:schemeClr val="bg1">
              <a:lumMod val="85000"/>
            </a:schemeClr>
          </a:solidFill>
          <a:ln w="12700" cap="flat">
            <a:no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7" name="Shape 5169"/>
          <p:cNvSpPr/>
          <p:nvPr/>
        </p:nvSpPr>
        <p:spPr>
          <a:xfrm>
            <a:off x="1103446" y="4579466"/>
            <a:ext cx="4597575" cy="1497876"/>
          </a:xfrm>
          <a:custGeom>
            <a:avLst/>
            <a:gdLst/>
            <a:ahLst/>
            <a:cxnLst>
              <a:cxn ang="0">
                <a:pos x="wd2" y="hd2"/>
              </a:cxn>
              <a:cxn ang="5400000">
                <a:pos x="wd2" y="hd2"/>
              </a:cxn>
              <a:cxn ang="10800000">
                <a:pos x="wd2" y="hd2"/>
              </a:cxn>
              <a:cxn ang="16200000">
                <a:pos x="wd2" y="hd2"/>
              </a:cxn>
            </a:cxnLst>
            <a:rect l="0" t="0" r="r" b="b"/>
            <a:pathLst>
              <a:path w="21600" h="21600" extrusionOk="0">
                <a:moveTo>
                  <a:pt x="1457" y="13286"/>
                </a:moveTo>
                <a:lnTo>
                  <a:pt x="0" y="21600"/>
                </a:lnTo>
                <a:lnTo>
                  <a:pt x="21600" y="8314"/>
                </a:lnTo>
                <a:lnTo>
                  <a:pt x="20143" y="0"/>
                </a:lnTo>
                <a:cubicBezTo>
                  <a:pt x="20143" y="0"/>
                  <a:pt x="1457" y="13286"/>
                  <a:pt x="1457" y="13286"/>
                </a:cubicBezTo>
                <a:close/>
              </a:path>
            </a:pathLst>
          </a:custGeom>
          <a:solidFill>
            <a:schemeClr val="bg1">
              <a:lumMod val="85000"/>
            </a:schemeClr>
          </a:solidFill>
          <a:ln w="12700" cap="flat">
            <a:noFill/>
            <a:miter lim="400000"/>
          </a:ln>
          <a:effectLst/>
        </p:spPr>
        <p:txBody>
          <a:bodyPr wrap="square" lIns="50800" tIns="50800" rIns="50800" bIns="508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grpSp>
        <p:nvGrpSpPr>
          <p:cNvPr id="38" name="组合 37"/>
          <p:cNvGrpSpPr/>
          <p:nvPr/>
        </p:nvGrpSpPr>
        <p:grpSpPr>
          <a:xfrm>
            <a:off x="3084981" y="1477975"/>
            <a:ext cx="1143841" cy="980623"/>
            <a:chOff x="2313735" y="1108481"/>
            <a:chExt cx="857881" cy="735467"/>
          </a:xfrm>
        </p:grpSpPr>
        <p:sp>
          <p:nvSpPr>
            <p:cNvPr id="4" name="Shape 5171"/>
            <p:cNvSpPr/>
            <p:nvPr/>
          </p:nvSpPr>
          <p:spPr>
            <a:xfrm>
              <a:off x="2313735" y="1108481"/>
              <a:ext cx="849654" cy="687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12700" cap="flat">
              <a:noFill/>
              <a:miter lim="400000"/>
            </a:ln>
            <a:effectLst/>
          </p:spPr>
          <p:txBody>
            <a:bodyPr wrap="square" lIns="0" tIns="0" rIns="0" bIns="0" numCol="1" anchor="t">
              <a:noAutofit/>
            </a:bodyPr>
            <a:lstStyle/>
            <a:p>
              <a:pPr lvl="0" algn="ctr">
                <a:defRPr>
                  <a:solidFill>
                    <a:srgbClr val="4C4C4C"/>
                  </a:solidFill>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9" name="Shape 5176"/>
            <p:cNvSpPr/>
            <p:nvPr/>
          </p:nvSpPr>
          <p:spPr>
            <a:xfrm>
              <a:off x="2329102" y="1491630"/>
              <a:ext cx="842514"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优化级</a:t>
              </a:r>
            </a:p>
          </p:txBody>
        </p:sp>
      </p:grpSp>
      <p:grpSp>
        <p:nvGrpSpPr>
          <p:cNvPr id="37" name="组合 36"/>
          <p:cNvGrpSpPr/>
          <p:nvPr/>
        </p:nvGrpSpPr>
        <p:grpSpPr>
          <a:xfrm>
            <a:off x="2592459" y="2729598"/>
            <a:ext cx="2119660" cy="576548"/>
            <a:chOff x="1944344" y="2047198"/>
            <a:chExt cx="1589745" cy="432411"/>
          </a:xfrm>
        </p:grpSpPr>
        <p:sp>
          <p:nvSpPr>
            <p:cNvPr id="6" name="Shape 5173"/>
            <p:cNvSpPr/>
            <p:nvPr/>
          </p:nvSpPr>
          <p:spPr>
            <a:xfrm>
              <a:off x="1944344" y="2047198"/>
              <a:ext cx="1589745" cy="432411"/>
            </a:xfrm>
            <a:custGeom>
              <a:avLst/>
              <a:gdLst/>
              <a:ahLst/>
              <a:cxnLst>
                <a:cxn ang="0">
                  <a:pos x="wd2" y="hd2"/>
                </a:cxn>
                <a:cxn ang="5400000">
                  <a:pos x="wd2" y="hd2"/>
                </a:cxn>
                <a:cxn ang="10800000">
                  <a:pos x="wd2" y="hd2"/>
                </a:cxn>
                <a:cxn ang="16200000">
                  <a:pos x="wd2" y="hd2"/>
                </a:cxn>
              </a:cxnLst>
              <a:rect l="0" t="0" r="r" b="b"/>
              <a:pathLst>
                <a:path w="21600" h="21600" extrusionOk="0">
                  <a:moveTo>
                    <a:pt x="3160" y="0"/>
                  </a:moveTo>
                  <a:lnTo>
                    <a:pt x="0" y="21600"/>
                  </a:lnTo>
                  <a:lnTo>
                    <a:pt x="21600" y="21600"/>
                  </a:lnTo>
                  <a:lnTo>
                    <a:pt x="18440" y="0"/>
                  </a:lnTo>
                  <a:cubicBezTo>
                    <a:pt x="18440" y="0"/>
                    <a:pt x="3160" y="0"/>
                    <a:pt x="3160" y="0"/>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0" name="Shape 5177"/>
            <p:cNvSpPr/>
            <p:nvPr/>
          </p:nvSpPr>
          <p:spPr>
            <a:xfrm>
              <a:off x="2191740" y="2087244"/>
              <a:ext cx="1099552"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管理级</a:t>
              </a:r>
            </a:p>
          </p:txBody>
        </p:sp>
      </p:grpSp>
      <p:grpSp>
        <p:nvGrpSpPr>
          <p:cNvPr id="36" name="组合 35"/>
          <p:cNvGrpSpPr/>
          <p:nvPr/>
        </p:nvGrpSpPr>
        <p:grpSpPr>
          <a:xfrm>
            <a:off x="2099941" y="3654531"/>
            <a:ext cx="3110828" cy="576549"/>
            <a:chOff x="1574955" y="2740898"/>
            <a:chExt cx="2333121" cy="432412"/>
          </a:xfrm>
        </p:grpSpPr>
        <p:sp>
          <p:nvSpPr>
            <p:cNvPr id="5" name="Shape 5172"/>
            <p:cNvSpPr/>
            <p:nvPr/>
          </p:nvSpPr>
          <p:spPr>
            <a:xfrm>
              <a:off x="1574955" y="2740898"/>
              <a:ext cx="2333121" cy="432412"/>
            </a:xfrm>
            <a:custGeom>
              <a:avLst/>
              <a:gdLst/>
              <a:ahLst/>
              <a:cxnLst>
                <a:cxn ang="0">
                  <a:pos x="wd2" y="hd2"/>
                </a:cxn>
                <a:cxn ang="5400000">
                  <a:pos x="wd2" y="hd2"/>
                </a:cxn>
                <a:cxn ang="10800000">
                  <a:pos x="wd2" y="hd2"/>
                </a:cxn>
                <a:cxn ang="16200000">
                  <a:pos x="wd2" y="hd2"/>
                </a:cxn>
              </a:cxnLst>
              <a:rect l="0" t="0" r="r" b="b"/>
              <a:pathLst>
                <a:path w="21600" h="21600" extrusionOk="0">
                  <a:moveTo>
                    <a:pt x="2153" y="0"/>
                  </a:moveTo>
                  <a:lnTo>
                    <a:pt x="0" y="21600"/>
                  </a:lnTo>
                  <a:lnTo>
                    <a:pt x="21600" y="21600"/>
                  </a:lnTo>
                  <a:lnTo>
                    <a:pt x="19447" y="0"/>
                  </a:lnTo>
                  <a:cubicBezTo>
                    <a:pt x="19447" y="0"/>
                    <a:pt x="2153" y="0"/>
                    <a:pt x="2153" y="0"/>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1" name="Shape 5178"/>
            <p:cNvSpPr/>
            <p:nvPr/>
          </p:nvSpPr>
          <p:spPr>
            <a:xfrm>
              <a:off x="1815028" y="2780945"/>
              <a:ext cx="1849246"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定义级</a:t>
              </a:r>
            </a:p>
          </p:txBody>
        </p:sp>
      </p:grpSp>
      <p:grpSp>
        <p:nvGrpSpPr>
          <p:cNvPr id="35" name="组合 34"/>
          <p:cNvGrpSpPr/>
          <p:nvPr/>
        </p:nvGrpSpPr>
        <p:grpSpPr>
          <a:xfrm>
            <a:off x="1607420" y="4579465"/>
            <a:ext cx="4101987" cy="576543"/>
            <a:chOff x="1205565" y="3434598"/>
            <a:chExt cx="3076490" cy="432407"/>
          </a:xfrm>
        </p:grpSpPr>
        <p:sp>
          <p:nvSpPr>
            <p:cNvPr id="7" name="Shape 5174"/>
            <p:cNvSpPr/>
            <p:nvPr/>
          </p:nvSpPr>
          <p:spPr>
            <a:xfrm>
              <a:off x="1205565" y="3434598"/>
              <a:ext cx="3076490" cy="432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967" y="0"/>
                  </a:lnTo>
                  <a:lnTo>
                    <a:pt x="1633" y="0"/>
                  </a:lnTo>
                  <a:lnTo>
                    <a:pt x="0" y="21600"/>
                  </a:lnTo>
                  <a:cubicBezTo>
                    <a:pt x="0" y="21600"/>
                    <a:pt x="21600" y="21600"/>
                    <a:pt x="21600" y="21600"/>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2" name="Shape 5179"/>
            <p:cNvSpPr/>
            <p:nvPr/>
          </p:nvSpPr>
          <p:spPr>
            <a:xfrm>
              <a:off x="1422332" y="3474643"/>
              <a:ext cx="2634639"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可重复级</a:t>
              </a:r>
            </a:p>
          </p:txBody>
        </p:sp>
      </p:grpSp>
      <p:grpSp>
        <p:nvGrpSpPr>
          <p:cNvPr id="33" name="组合 32"/>
          <p:cNvGrpSpPr/>
          <p:nvPr/>
        </p:nvGrpSpPr>
        <p:grpSpPr>
          <a:xfrm>
            <a:off x="1103447" y="5491554"/>
            <a:ext cx="5093160" cy="576543"/>
            <a:chOff x="827585" y="4118665"/>
            <a:chExt cx="3819870" cy="432407"/>
          </a:xfrm>
        </p:grpSpPr>
        <p:sp>
          <p:nvSpPr>
            <p:cNvPr id="8" name="Shape 5175"/>
            <p:cNvSpPr/>
            <p:nvPr/>
          </p:nvSpPr>
          <p:spPr>
            <a:xfrm>
              <a:off x="827585" y="4118665"/>
              <a:ext cx="3819870" cy="432407"/>
            </a:xfrm>
            <a:custGeom>
              <a:avLst/>
              <a:gdLst/>
              <a:ahLst/>
              <a:cxnLst>
                <a:cxn ang="0">
                  <a:pos x="wd2" y="hd2"/>
                </a:cxn>
                <a:cxn ang="5400000">
                  <a:pos x="wd2" y="hd2"/>
                </a:cxn>
                <a:cxn ang="10800000">
                  <a:pos x="wd2" y="hd2"/>
                </a:cxn>
                <a:cxn ang="16200000">
                  <a:pos x="wd2" y="hd2"/>
                </a:cxn>
              </a:cxnLst>
              <a:rect l="0" t="0" r="r" b="b"/>
              <a:pathLst>
                <a:path w="21600" h="21600" extrusionOk="0">
                  <a:moveTo>
                    <a:pt x="1315" y="0"/>
                  </a:moveTo>
                  <a:lnTo>
                    <a:pt x="0" y="21600"/>
                  </a:lnTo>
                  <a:lnTo>
                    <a:pt x="21600" y="21600"/>
                  </a:lnTo>
                  <a:lnTo>
                    <a:pt x="20285" y="0"/>
                  </a:lnTo>
                  <a:cubicBezTo>
                    <a:pt x="20285" y="0"/>
                    <a:pt x="1315" y="0"/>
                    <a:pt x="1315" y="0"/>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lgn="ctr">
                <a:defRPr>
                  <a:solidFill>
                    <a:srgbClr val="4C4C4C"/>
                  </a:solidFill>
                </a:defRPr>
              </a:pPr>
              <a:endParaRPr lang="en-US" sz="1600" dirty="0">
                <a:solidFill>
                  <a:schemeClr val="bg1"/>
                </a:solidFill>
                <a:latin typeface="微软雅黑" panose="020B0503020204020204" pitchFamily="34" charset="-122"/>
                <a:ea typeface="微软雅黑" panose="020B0503020204020204" pitchFamily="34" charset="-122"/>
                <a:cs typeface="Lato Light"/>
                <a:sym typeface="微软雅黑" panose="020B0503020204020204" pitchFamily="34" charset="-122"/>
              </a:endParaRPr>
            </a:p>
          </p:txBody>
        </p:sp>
        <p:sp>
          <p:nvSpPr>
            <p:cNvPr id="13" name="Shape 5180"/>
            <p:cNvSpPr/>
            <p:nvPr/>
          </p:nvSpPr>
          <p:spPr>
            <a:xfrm>
              <a:off x="1072475" y="4158709"/>
              <a:ext cx="3334354"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初始级</a:t>
              </a:r>
            </a:p>
          </p:txBody>
        </p:sp>
      </p:grpSp>
      <p:sp>
        <p:nvSpPr>
          <p:cNvPr id="18" name="Round Same Side Corner Rectangle 67"/>
          <p:cNvSpPr/>
          <p:nvPr/>
        </p:nvSpPr>
        <p:spPr>
          <a:xfrm rot="10800000" flipH="1">
            <a:off x="6788284" y="1495892"/>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Round Same Side Corner Rectangle 68"/>
          <p:cNvSpPr/>
          <p:nvPr/>
        </p:nvSpPr>
        <p:spPr>
          <a:xfrm rot="10800000" flipH="1">
            <a:off x="6786097" y="2537612"/>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ound Same Side Corner Rectangle 69"/>
          <p:cNvSpPr/>
          <p:nvPr/>
        </p:nvSpPr>
        <p:spPr>
          <a:xfrm rot="10800000" flipH="1">
            <a:off x="6788284" y="3484455"/>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extBox 20"/>
          <p:cNvSpPr txBox="1"/>
          <p:nvPr/>
        </p:nvSpPr>
        <p:spPr>
          <a:xfrm>
            <a:off x="6963034" y="1579713"/>
            <a:ext cx="3829173" cy="538481"/>
          </a:xfrm>
          <a:prstGeom prst="rect">
            <a:avLst/>
          </a:prstGeom>
          <a:noFill/>
        </p:spPr>
        <p:txBody>
          <a:bodyPr wrap="square" lIns="45720" tIns="22860" rIns="45720" bIns="22860" rtlCol="0">
            <a:spAutoFit/>
          </a:bodyPr>
          <a:lstStyle/>
          <a:p>
            <a:pPr algn="just">
              <a:lnSpc>
                <a:spcPct val="12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基于统计质量和过程控制工具，持续改进软件过程。质量和效率稳步改进。</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TextBox 22"/>
          <p:cNvSpPr txBox="1"/>
          <p:nvPr/>
        </p:nvSpPr>
        <p:spPr>
          <a:xfrm>
            <a:off x="6971350" y="2487893"/>
            <a:ext cx="3829173" cy="784638"/>
          </a:xfrm>
          <a:prstGeom prst="rect">
            <a:avLst/>
          </a:prstGeom>
          <a:noFill/>
        </p:spPr>
        <p:txBody>
          <a:bodyPr wrap="square" lIns="45720" tIns="22860" rIns="45720" bIns="22860" rtlCol="0">
            <a:spAutoFit/>
          </a:bodyPr>
          <a:lstStyle/>
          <a:p>
            <a:pPr algn="just">
              <a:lnSpc>
                <a:spcPct val="12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针对制定质量、效率目标，并收集、测量相应指标。利用统计工具分析并采取改进措施。对软件过程和产品质量有定量的理解和控制。</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TextBox 24"/>
          <p:cNvSpPr txBox="1"/>
          <p:nvPr/>
        </p:nvSpPr>
        <p:spPr>
          <a:xfrm>
            <a:off x="6971350" y="3416871"/>
            <a:ext cx="3829173" cy="784638"/>
          </a:xfrm>
          <a:prstGeom prst="rect">
            <a:avLst/>
          </a:prstGeom>
          <a:noFill/>
        </p:spPr>
        <p:txBody>
          <a:bodyPr wrap="square" lIns="45720" tIns="22860" rIns="45720" bIns="22860" rtlCol="0">
            <a:spAutoFit/>
          </a:bodyPr>
          <a:lstStyle/>
          <a:p>
            <a:pPr algn="just">
              <a:lnSpc>
                <a:spcPct val="12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已将软件过程文档化、标准化，可按需要改进开发过程，采用评审方法保证软件质量。可借助</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CASE</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工具提高质量和效率。</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Round Same Side Corner Rectangle 76"/>
          <p:cNvSpPr/>
          <p:nvPr/>
        </p:nvSpPr>
        <p:spPr>
          <a:xfrm rot="10800000" flipH="1">
            <a:off x="6786097" y="4445105"/>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Round Same Side Corner Rectangle 77"/>
          <p:cNvSpPr/>
          <p:nvPr/>
        </p:nvSpPr>
        <p:spPr>
          <a:xfrm rot="10800000" flipH="1">
            <a:off x="6788284" y="5391948"/>
            <a:ext cx="66537" cy="685392"/>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2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TextBox 28"/>
          <p:cNvSpPr txBox="1"/>
          <p:nvPr/>
        </p:nvSpPr>
        <p:spPr>
          <a:xfrm>
            <a:off x="6981556" y="4384699"/>
            <a:ext cx="3829173" cy="784638"/>
          </a:xfrm>
          <a:prstGeom prst="rect">
            <a:avLst/>
          </a:prstGeom>
          <a:noFill/>
        </p:spPr>
        <p:txBody>
          <a:bodyPr wrap="square" lIns="45720" tIns="22860" rIns="45720" bIns="22860" rtlCol="0">
            <a:spAutoFit/>
          </a:bodyPr>
          <a:lstStyle/>
          <a:p>
            <a:pPr algn="just">
              <a:lnSpc>
                <a:spcPct val="12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基于类似项目中的经验，建立了基本的项目管理制度，采取了一定的措施控制费用和时间。管理人员可及时发现问题，采取措施。一定程度上可重复。</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TextBox 30"/>
          <p:cNvSpPr txBox="1"/>
          <p:nvPr/>
        </p:nvSpPr>
        <p:spPr>
          <a:xfrm>
            <a:off x="6963034" y="5352659"/>
            <a:ext cx="4117205" cy="784638"/>
          </a:xfrm>
          <a:prstGeom prst="rect">
            <a:avLst/>
          </a:prstGeom>
          <a:noFill/>
        </p:spPr>
        <p:txBody>
          <a:bodyPr wrap="square" lIns="45720" tIns="22860" rIns="45720" bIns="22860" rtlCol="0">
            <a:spAutoFit/>
          </a:bodyPr>
          <a:lstStyle/>
          <a:p>
            <a:pPr algn="just">
              <a:lnSpc>
                <a:spcPct val="12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软件工程管理制度缺乏，过程缺乏定义、混乱无序。成功依靠的是个人的才能和经验，经常由于缺乏管理和计划导致时间、费用超支。</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Title 1"/>
          <p:cNvSpPr txBox="1">
            <a:spLocks/>
          </p:cNvSpPr>
          <p:nvPr/>
        </p:nvSpPr>
        <p:spPr>
          <a:xfrm>
            <a:off x="1143840" y="266933"/>
            <a:ext cx="2839925" cy="50596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等 级 特 点</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08000555"/>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4"/>
                                        </p:tgtEl>
                                        <p:attrNameLst>
                                          <p:attrName>ppt_y</p:attrName>
                                        </p:attrNameLst>
                                      </p:cBhvr>
                                      <p:tavLst>
                                        <p:tav tm="0">
                                          <p:val>
                                            <p:strVal val="#ppt_y"/>
                                          </p:val>
                                        </p:tav>
                                        <p:tav tm="100000">
                                          <p:val>
                                            <p:strVal val="#ppt_y"/>
                                          </p:val>
                                        </p:tav>
                                      </p:tavLst>
                                    </p:anim>
                                    <p:anim calcmode="lin" valueType="num">
                                      <p:cBhvr>
                                        <p:cTn id="9"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4"/>
                                        </p:tgtEl>
                                      </p:cBhvr>
                                    </p:animEffect>
                                  </p:childTnLst>
                                </p:cTn>
                              </p:par>
                            </p:childTnLst>
                          </p:cTn>
                        </p:par>
                        <p:par>
                          <p:cTn id="12" fill="hold">
                            <p:stCondLst>
                              <p:cond delay="650"/>
                            </p:stCondLst>
                            <p:childTnLst>
                              <p:par>
                                <p:cTn id="13" presetID="22" presetClass="entr" presetSubtype="2"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right)">
                                      <p:cBhvr>
                                        <p:cTn id="15" dur="500"/>
                                        <p:tgtEl>
                                          <p:spTgt spid="33"/>
                                        </p:tgtEl>
                                      </p:cBhvr>
                                    </p:animEffect>
                                  </p:childTnLst>
                                </p:cTn>
                              </p:par>
                            </p:childTnLst>
                          </p:cTn>
                        </p:par>
                        <p:par>
                          <p:cTn id="16" fill="hold">
                            <p:stCondLst>
                              <p:cond delay="115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1650"/>
                            </p:stCondLst>
                            <p:childTnLst>
                              <p:par>
                                <p:cTn id="21" presetID="22" presetClass="entr" presetSubtype="2"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right)">
                                      <p:cBhvr>
                                        <p:cTn id="23" dur="500"/>
                                        <p:tgtEl>
                                          <p:spTgt spid="35"/>
                                        </p:tgtEl>
                                      </p:cBhvr>
                                    </p:animEffect>
                                  </p:childTnLst>
                                </p:cTn>
                              </p:par>
                            </p:childTnLst>
                          </p:cTn>
                        </p:par>
                        <p:par>
                          <p:cTn id="24" fill="hold">
                            <p:stCondLst>
                              <p:cond delay="2150"/>
                            </p:stCondLst>
                            <p:childTnLst>
                              <p:par>
                                <p:cTn id="25" presetID="22" presetClass="entr" presetSubtype="8"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par>
                          <p:cTn id="28" fill="hold">
                            <p:stCondLst>
                              <p:cond delay="2650"/>
                            </p:stCondLst>
                            <p:childTnLst>
                              <p:par>
                                <p:cTn id="29" presetID="22" presetClass="entr" presetSubtype="2" fill="hold"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right)">
                                      <p:cBhvr>
                                        <p:cTn id="31" dur="500"/>
                                        <p:tgtEl>
                                          <p:spTgt spid="36"/>
                                        </p:tgtEl>
                                      </p:cBhvr>
                                    </p:animEffect>
                                  </p:childTnLst>
                                </p:cTn>
                              </p:par>
                            </p:childTnLst>
                          </p:cTn>
                        </p:par>
                        <p:par>
                          <p:cTn id="32" fill="hold">
                            <p:stCondLst>
                              <p:cond delay="3150"/>
                            </p:stCondLst>
                            <p:childTnLst>
                              <p:par>
                                <p:cTn id="33" presetID="2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par>
                          <p:cTn id="36" fill="hold">
                            <p:stCondLst>
                              <p:cond delay="3650"/>
                            </p:stCondLst>
                            <p:childTnLst>
                              <p:par>
                                <p:cTn id="37" presetID="22" presetClass="entr" presetSubtype="2" fill="hold"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right)">
                                      <p:cBhvr>
                                        <p:cTn id="39" dur="500"/>
                                        <p:tgtEl>
                                          <p:spTgt spid="37"/>
                                        </p:tgtEl>
                                      </p:cBhvr>
                                    </p:animEffect>
                                  </p:childTnLst>
                                </p:cTn>
                              </p:par>
                            </p:childTnLst>
                          </p:cTn>
                        </p:par>
                        <p:par>
                          <p:cTn id="40" fill="hold">
                            <p:stCondLst>
                              <p:cond delay="415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4650"/>
                            </p:stCondLst>
                            <p:childTnLst>
                              <p:par>
                                <p:cTn id="45" presetID="22" presetClass="entr" presetSubtype="4" fill="hold"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down)">
                                      <p:cBhvr>
                                        <p:cTn id="47" dur="500"/>
                                        <p:tgtEl>
                                          <p:spTgt spid="38"/>
                                        </p:tgtEl>
                                      </p:cBhvr>
                                    </p:animEffect>
                                  </p:childTnLst>
                                </p:cTn>
                              </p:par>
                            </p:childTnLst>
                          </p:cTn>
                        </p:par>
                        <p:par>
                          <p:cTn id="48" fill="hold">
                            <p:stCondLst>
                              <p:cond delay="5150"/>
                            </p:stCondLst>
                            <p:childTnLst>
                              <p:par>
                                <p:cTn id="49" presetID="22" presetClass="entr" presetSubtype="1"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up)">
                                      <p:cBhvr>
                                        <p:cTn id="51" dur="500"/>
                                        <p:tgtEl>
                                          <p:spTgt spid="18"/>
                                        </p:tgtEl>
                                      </p:cBhvr>
                                    </p:animEffect>
                                  </p:childTnLst>
                                </p:cTn>
                              </p:par>
                            </p:childTnLst>
                          </p:cTn>
                        </p:par>
                        <p:par>
                          <p:cTn id="52" fill="hold">
                            <p:stCondLst>
                              <p:cond delay="5650"/>
                            </p:stCondLst>
                            <p:childTnLst>
                              <p:par>
                                <p:cTn id="53" presetID="22" presetClass="entr" presetSubtype="1"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up)">
                                      <p:cBhvr>
                                        <p:cTn id="55" dur="500"/>
                                        <p:tgtEl>
                                          <p:spTgt spid="19"/>
                                        </p:tgtEl>
                                      </p:cBhvr>
                                    </p:animEffect>
                                  </p:childTnLst>
                                </p:cTn>
                              </p:par>
                            </p:childTnLst>
                          </p:cTn>
                        </p:par>
                        <p:par>
                          <p:cTn id="56" fill="hold">
                            <p:stCondLst>
                              <p:cond delay="6150"/>
                            </p:stCondLst>
                            <p:childTnLst>
                              <p:par>
                                <p:cTn id="57" presetID="22" presetClass="entr" presetSubtype="1"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up)">
                                      <p:cBhvr>
                                        <p:cTn id="59" dur="500"/>
                                        <p:tgtEl>
                                          <p:spTgt spid="20"/>
                                        </p:tgtEl>
                                      </p:cBhvr>
                                    </p:animEffect>
                                  </p:childTnLst>
                                </p:cTn>
                              </p:par>
                            </p:childTnLst>
                          </p:cTn>
                        </p:par>
                        <p:par>
                          <p:cTn id="60" fill="hold">
                            <p:stCondLst>
                              <p:cond delay="6650"/>
                            </p:stCondLst>
                            <p:childTnLst>
                              <p:par>
                                <p:cTn id="61" presetID="22" presetClass="entr" presetSubtype="1"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wipe(up)">
                                      <p:cBhvr>
                                        <p:cTn id="63" dur="500"/>
                                        <p:tgtEl>
                                          <p:spTgt spid="27"/>
                                        </p:tgtEl>
                                      </p:cBhvr>
                                    </p:animEffect>
                                  </p:childTnLst>
                                </p:cTn>
                              </p:par>
                            </p:childTnLst>
                          </p:cTn>
                        </p:par>
                        <p:par>
                          <p:cTn id="64" fill="hold">
                            <p:stCondLst>
                              <p:cond delay="7150"/>
                            </p:stCondLst>
                            <p:childTnLst>
                              <p:par>
                                <p:cTn id="65" presetID="22" presetClass="entr" presetSubtype="1" fill="hold" grpId="0"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up)">
                                      <p:cBhvr>
                                        <p:cTn id="6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7" grpId="0" animBg="1"/>
      <p:bldP spid="28" grpId="0" animBg="1"/>
      <p:bldP spid="3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2"/>
          <p:cNvSpPr/>
          <p:nvPr/>
        </p:nvSpPr>
        <p:spPr>
          <a:xfrm>
            <a:off x="7055424" y="1908447"/>
            <a:ext cx="4229032"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Shape 2013"/>
          <p:cNvSpPr/>
          <p:nvPr/>
        </p:nvSpPr>
        <p:spPr>
          <a:xfrm>
            <a:off x="7055424" y="3838923"/>
            <a:ext cx="4229032" cy="1684827"/>
          </a:xfrm>
          <a:prstGeom prst="roundRect">
            <a:avLst>
              <a:gd name="adj" fmla="val 6925"/>
            </a:avLst>
          </a:prstGeom>
          <a:noFill/>
          <a:ln w="12700">
            <a:solidFill>
              <a:srgbClr val="A6AAA9"/>
            </a:solidFill>
            <a:miter lim="400000"/>
          </a:ln>
        </p:spPr>
        <p:txBody>
          <a:bodyPr lIns="19051" tIns="19051" rIns="19051" bIns="19051" anchor="ct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Shape 2014"/>
          <p:cNvSpPr/>
          <p:nvPr/>
        </p:nvSpPr>
        <p:spPr>
          <a:xfrm>
            <a:off x="907301" y="3838030"/>
            <a:ext cx="4236023" cy="1686612"/>
          </a:xfrm>
          <a:prstGeom prst="roundRect">
            <a:avLst>
              <a:gd name="adj" fmla="val 6918"/>
            </a:avLst>
          </a:prstGeom>
          <a:noFill/>
          <a:ln w="12700">
            <a:solidFill>
              <a:srgbClr val="A6AAA9"/>
            </a:solidFill>
            <a:miter lim="400000"/>
          </a:ln>
        </p:spPr>
        <p:txBody>
          <a:bodyPr lIns="19051" tIns="19051" rIns="19051" bIns="19051" anchor="ct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Shape 2015"/>
          <p:cNvSpPr/>
          <p:nvPr/>
        </p:nvSpPr>
        <p:spPr>
          <a:xfrm>
            <a:off x="907301" y="1928464"/>
            <a:ext cx="4229031" cy="1686613"/>
          </a:xfrm>
          <a:prstGeom prst="roundRect">
            <a:avLst>
              <a:gd name="adj" fmla="val 6918"/>
            </a:avLst>
          </a:prstGeom>
          <a:noFill/>
          <a:ln w="12700">
            <a:solidFill>
              <a:srgbClr val="A6AAA9"/>
            </a:solidFill>
            <a:miter lim="400000"/>
          </a:ln>
        </p:spPr>
        <p:txBody>
          <a:bodyPr lIns="19051" tIns="19051" rIns="19051" bIns="19051" anchor="ct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Shape 2016"/>
          <p:cNvSpPr/>
          <p:nvPr/>
        </p:nvSpPr>
        <p:spPr>
          <a:xfrm>
            <a:off x="4651927" y="2276088"/>
            <a:ext cx="2887903" cy="28879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25400" tIns="25400" rIns="25400" bIns="25400" anchor="ct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Shape 2021"/>
          <p:cNvSpPr/>
          <p:nvPr/>
        </p:nvSpPr>
        <p:spPr>
          <a:xfrm>
            <a:off x="1116002" y="2008192"/>
            <a:ext cx="3847189" cy="154612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l">
              <a:lnSpc>
                <a:spcPct val="120000"/>
              </a:lnSpc>
              <a:spcBef>
                <a:spcPts val="2500"/>
              </a:spcBef>
              <a:defRPr sz="2000">
                <a:solidFill>
                  <a:srgbClr val="53585F"/>
                </a:solidFill>
              </a:defRPr>
            </a:lvl1pPr>
          </a:lstStyle>
          <a:p>
            <a:pPr marL="228594" indent="-228594" algn="just">
              <a:lnSpc>
                <a:spcPct val="150000"/>
              </a:lnSpc>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需求管理：</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requirement management</a:t>
            </a:r>
          </a:p>
          <a:p>
            <a:pPr marL="228594" indent="-228594" algn="just">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软件项目计划：</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software project planning</a:t>
            </a:r>
          </a:p>
          <a:p>
            <a:pPr marL="228594" indent="-228594" algn="just">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软件项目跟踪和监督：</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software project tracking oversight</a:t>
            </a:r>
          </a:p>
          <a:p>
            <a:pPr marL="228594" indent="-228594" algn="just">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软件子合同管理：</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software subcontract management</a:t>
            </a:r>
          </a:p>
          <a:p>
            <a:pPr marL="228594" indent="-228594" algn="just">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软件质量保证：</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software quality assurance</a:t>
            </a:r>
          </a:p>
          <a:p>
            <a:pPr marL="228594" indent="-228594" algn="just">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软件配置管理：</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software configuration management</a:t>
            </a:r>
          </a:p>
        </p:txBody>
      </p:sp>
      <p:sp>
        <p:nvSpPr>
          <p:cNvPr id="8" name="Shape 2022"/>
          <p:cNvSpPr/>
          <p:nvPr/>
        </p:nvSpPr>
        <p:spPr>
          <a:xfrm>
            <a:off x="2427970" y="1454075"/>
            <a:ext cx="1869332" cy="4016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l">
              <a:lnSpc>
                <a:spcPct val="120000"/>
              </a:lnSpc>
              <a:defRPr sz="3500">
                <a:solidFill>
                  <a:srgbClr val="53585F"/>
                </a:solidFill>
              </a:defRPr>
            </a:lvl1pPr>
          </a:lstStyle>
          <a:p>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可重复级</a:t>
            </a:r>
          </a:p>
        </p:txBody>
      </p:sp>
      <p:sp>
        <p:nvSpPr>
          <p:cNvPr id="10" name="Shape 2024"/>
          <p:cNvSpPr/>
          <p:nvPr/>
        </p:nvSpPr>
        <p:spPr>
          <a:xfrm>
            <a:off x="2563803" y="5632630"/>
            <a:ext cx="672075" cy="4016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l">
              <a:lnSpc>
                <a:spcPct val="120000"/>
              </a:lnSpc>
              <a:defRPr sz="3500">
                <a:solidFill>
                  <a:srgbClr val="53585F"/>
                </a:solidFill>
              </a:defRPr>
            </a:lvl1pPr>
          </a:lstStyle>
          <a:p>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定义级</a:t>
            </a:r>
          </a:p>
        </p:txBody>
      </p:sp>
      <p:sp>
        <p:nvSpPr>
          <p:cNvPr id="12" name="Shape 2026"/>
          <p:cNvSpPr/>
          <p:nvPr/>
        </p:nvSpPr>
        <p:spPr>
          <a:xfrm>
            <a:off x="8859344" y="1453518"/>
            <a:ext cx="621193" cy="4016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r">
              <a:defRPr sz="3500">
                <a:solidFill>
                  <a:srgbClr val="53585F"/>
                </a:solidFill>
              </a:defRPr>
            </a:lvl1pPr>
          </a:lstStyle>
          <a:p>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管理级</a:t>
            </a:r>
          </a:p>
        </p:txBody>
      </p:sp>
      <p:sp>
        <p:nvSpPr>
          <p:cNvPr id="14" name="Shape 2028"/>
          <p:cNvSpPr/>
          <p:nvPr/>
        </p:nvSpPr>
        <p:spPr>
          <a:xfrm>
            <a:off x="8859343" y="5645451"/>
            <a:ext cx="698444" cy="4016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r">
              <a:defRPr sz="3500">
                <a:solidFill>
                  <a:srgbClr val="53585F"/>
                </a:solidFill>
              </a:defRPr>
            </a:lvl1pPr>
          </a:lstStyle>
          <a:p>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优化级</a:t>
            </a:r>
          </a:p>
        </p:txBody>
      </p:sp>
      <p:grpSp>
        <p:nvGrpSpPr>
          <p:cNvPr id="15" name="Group 2031"/>
          <p:cNvGrpSpPr/>
          <p:nvPr/>
        </p:nvGrpSpPr>
        <p:grpSpPr>
          <a:xfrm>
            <a:off x="150420" y="2262075"/>
            <a:ext cx="955485" cy="955485"/>
            <a:chOff x="0" y="0"/>
            <a:chExt cx="1910968" cy="1910968"/>
          </a:xfrm>
        </p:grpSpPr>
        <p:sp>
          <p:nvSpPr>
            <p:cNvPr id="16"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33867" tIns="33867" rIns="33867" bIns="33867" numCol="1" anchor="ctr">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8" name="Group 2034"/>
          <p:cNvGrpSpPr/>
          <p:nvPr/>
        </p:nvGrpSpPr>
        <p:grpSpPr>
          <a:xfrm>
            <a:off x="187943" y="4173166"/>
            <a:ext cx="950151" cy="950151"/>
            <a:chOff x="0" y="0"/>
            <a:chExt cx="1900299" cy="1900299"/>
          </a:xfrm>
        </p:grpSpPr>
        <p:sp>
          <p:nvSpPr>
            <p:cNvPr id="19"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33867" tIns="33867" rIns="33867" bIns="33867" numCol="1" anchor="ctr">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1" name="Shape 2035"/>
          <p:cNvSpPr/>
          <p:nvPr/>
        </p:nvSpPr>
        <p:spPr>
          <a:xfrm>
            <a:off x="11017337" y="4206259"/>
            <a:ext cx="950152" cy="9501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2" name="Group 2040"/>
          <p:cNvGrpSpPr/>
          <p:nvPr/>
        </p:nvGrpSpPr>
        <p:grpSpPr>
          <a:xfrm>
            <a:off x="11017338" y="2274011"/>
            <a:ext cx="955485" cy="955485"/>
            <a:chOff x="0" y="0"/>
            <a:chExt cx="1910968" cy="1910968"/>
          </a:xfrm>
        </p:grpSpPr>
        <p:sp>
          <p:nvSpPr>
            <p:cNvPr id="23"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33867" tIns="33867" rIns="33867" bIns="33867" numCol="1" anchor="ctr">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Text Placeholder 5"/>
          <p:cNvSpPr txBox="1">
            <a:spLocks/>
          </p:cNvSpPr>
          <p:nvPr/>
        </p:nvSpPr>
        <p:spPr>
          <a:xfrm>
            <a:off x="5328133" y="3201937"/>
            <a:ext cx="1535488" cy="1036203"/>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zh-CN" altLang="en-US" sz="3200" dirty="0">
                <a:solidFill>
                  <a:schemeClr val="bg1"/>
                </a:solidFill>
                <a:latin typeface="微软雅黑 Light" panose="020B0502040204020203" pitchFamily="34" charset="-122"/>
                <a:ea typeface="微软雅黑 Light" panose="020B0502040204020203" pitchFamily="34" charset="-122"/>
                <a:sym typeface="微软雅黑" panose="020B0503020204020204" pitchFamily="34" charset="-122"/>
              </a:rPr>
              <a:t>关 键 </a:t>
            </a:r>
            <a:endParaRPr lang="en-US" altLang="zh-CN" sz="3200" dirty="0">
              <a:solidFill>
                <a:schemeClr val="bg1"/>
              </a:solidFill>
              <a:latin typeface="微软雅黑 Light" panose="020B0502040204020203" pitchFamily="34" charset="-122"/>
              <a:ea typeface="微软雅黑 Light" panose="020B0502040204020203" pitchFamily="34" charset="-122"/>
              <a:sym typeface="微软雅黑" panose="020B0503020204020204" pitchFamily="34" charset="-122"/>
            </a:endParaRPr>
          </a:p>
          <a:p>
            <a:pPr algn="ctr">
              <a:lnSpc>
                <a:spcPct val="100000"/>
              </a:lnSpc>
            </a:pPr>
            <a:r>
              <a:rPr lang="zh-CN" altLang="en-US" sz="3200" dirty="0">
                <a:solidFill>
                  <a:schemeClr val="bg1"/>
                </a:solidFill>
                <a:latin typeface="微软雅黑 Light" panose="020B0502040204020203" pitchFamily="34" charset="-122"/>
                <a:ea typeface="微软雅黑 Light" panose="020B0502040204020203" pitchFamily="34" charset="-122"/>
                <a:sym typeface="微软雅黑" panose="020B0503020204020204" pitchFamily="34" charset="-122"/>
              </a:rPr>
              <a:t>过 程</a:t>
            </a:r>
            <a:endParaRPr lang="en-GB" altLang="zh-CN" sz="3200" dirty="0">
              <a:solidFill>
                <a:schemeClr val="bg1"/>
              </a:solidFill>
              <a:latin typeface="微软雅黑 Light" panose="020B0502040204020203" pitchFamily="34" charset="-122"/>
              <a:ea typeface="微软雅黑 Light" panose="020B0502040204020203" pitchFamily="34" charset="-122"/>
              <a:sym typeface="微软雅黑" panose="020B0503020204020204" pitchFamily="34" charset="-122"/>
            </a:endParaRPr>
          </a:p>
        </p:txBody>
      </p:sp>
      <p:sp>
        <p:nvSpPr>
          <p:cNvPr id="30" name="Shape 2036"/>
          <p:cNvSpPr/>
          <p:nvPr/>
        </p:nvSpPr>
        <p:spPr>
          <a:xfrm>
            <a:off x="11291352" y="4466865"/>
            <a:ext cx="402123" cy="428939"/>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733">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Title 1"/>
          <p:cNvSpPr txBox="1">
            <a:spLocks/>
          </p:cNvSpPr>
          <p:nvPr/>
        </p:nvSpPr>
        <p:spPr>
          <a:xfrm>
            <a:off x="1143840" y="266933"/>
            <a:ext cx="2839925" cy="50596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关 键 过 程</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Shape 2021"/>
          <p:cNvSpPr/>
          <p:nvPr/>
        </p:nvSpPr>
        <p:spPr>
          <a:xfrm>
            <a:off x="1142419" y="3822704"/>
            <a:ext cx="3847189" cy="154612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l">
              <a:lnSpc>
                <a:spcPct val="120000"/>
              </a:lnSpc>
              <a:spcBef>
                <a:spcPts val="2500"/>
              </a:spcBef>
              <a:defRPr sz="2000">
                <a:solidFill>
                  <a:srgbClr val="53585F"/>
                </a:solidFill>
              </a:defRPr>
            </a:lvl1pPr>
          </a:lstStyle>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组织过程焦点：</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organization process focus</a:t>
            </a:r>
          </a:p>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组织过程定义：</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organization process definition</a:t>
            </a:r>
          </a:p>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培训大纲：</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training program</a:t>
            </a:r>
          </a:p>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集成软件管理：</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integrated software management</a:t>
            </a:r>
          </a:p>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软件产品工程：</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software product engineering</a:t>
            </a:r>
          </a:p>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组间协调：</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intergroup coordination</a:t>
            </a:r>
          </a:p>
          <a:p>
            <a:pPr marL="228594" indent="-228594">
              <a:lnSpc>
                <a:spcPct val="150000"/>
              </a:lnSpc>
              <a:spcBef>
                <a:spcPts val="0"/>
              </a:spcBef>
              <a:buFont typeface="Arial" panose="020B0604020202020204" pitchFamily="34" charset="0"/>
              <a:buChar char="•"/>
            </a:pPr>
            <a:r>
              <a:rPr lang="zh-CN" altLang="en-US" sz="1067" dirty="0">
                <a:solidFill>
                  <a:schemeClr val="tx1">
                    <a:lumMod val="75000"/>
                    <a:lumOff val="25000"/>
                  </a:schemeClr>
                </a:solidFill>
                <a:latin typeface="微软雅黑" panose="020B0503020204020204" pitchFamily="34" charset="-122"/>
                <a:ea typeface="微软雅黑" panose="020B0503020204020204" pitchFamily="34" charset="-122"/>
              </a:rPr>
              <a:t>同行评审：</a:t>
            </a:r>
            <a:r>
              <a:rPr lang="en-US" altLang="zh-CN" sz="1067" dirty="0">
                <a:solidFill>
                  <a:schemeClr val="tx1">
                    <a:lumMod val="75000"/>
                    <a:lumOff val="25000"/>
                  </a:schemeClr>
                </a:solidFill>
                <a:latin typeface="微软雅黑" panose="020B0503020204020204" pitchFamily="34" charset="-122"/>
                <a:ea typeface="微软雅黑" panose="020B0503020204020204" pitchFamily="34" charset="-122"/>
              </a:rPr>
              <a:t>peer review</a:t>
            </a:r>
          </a:p>
        </p:txBody>
      </p:sp>
      <p:sp>
        <p:nvSpPr>
          <p:cNvPr id="31" name="Shape 2021"/>
          <p:cNvSpPr/>
          <p:nvPr/>
        </p:nvSpPr>
        <p:spPr>
          <a:xfrm>
            <a:off x="7254940" y="2260179"/>
            <a:ext cx="3847189" cy="154612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l">
              <a:lnSpc>
                <a:spcPct val="120000"/>
              </a:lnSpc>
              <a:spcBef>
                <a:spcPts val="2500"/>
              </a:spcBef>
              <a:defRPr sz="2000">
                <a:solidFill>
                  <a:srgbClr val="53585F"/>
                </a:solidFill>
              </a:defRPr>
            </a:lvl1pPr>
          </a:lstStyle>
          <a:p>
            <a:pPr marL="228594" indent="-228594" algn="just">
              <a:lnSpc>
                <a:spcPct val="150000"/>
              </a:lnSpc>
              <a:buFont typeface="Arial" panose="020B0604020202020204" pitchFamily="34" charset="0"/>
              <a:buChar cha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定量管理过程：</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quantitative process management</a:t>
            </a:r>
          </a:p>
          <a:p>
            <a:pPr marL="228594" indent="-228594" algn="just">
              <a:lnSpc>
                <a:spcPct val="150000"/>
              </a:lnSpc>
              <a:buFont typeface="Arial" panose="020B0604020202020204" pitchFamily="34" charset="0"/>
              <a:buChar cha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软件质量管理：</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software quality management</a:t>
            </a:r>
          </a:p>
        </p:txBody>
      </p:sp>
      <p:sp>
        <p:nvSpPr>
          <p:cNvPr id="33" name="Shape 2021"/>
          <p:cNvSpPr/>
          <p:nvPr/>
        </p:nvSpPr>
        <p:spPr>
          <a:xfrm>
            <a:off x="7260218" y="3960625"/>
            <a:ext cx="3847189" cy="1027151"/>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l">
              <a:lnSpc>
                <a:spcPct val="120000"/>
              </a:lnSpc>
              <a:spcBef>
                <a:spcPts val="2500"/>
              </a:spcBef>
              <a:defRPr sz="2000">
                <a:solidFill>
                  <a:srgbClr val="53585F"/>
                </a:solidFill>
              </a:defRPr>
            </a:lvl1pPr>
          </a:lstStyle>
          <a:p>
            <a:pPr marL="228594" indent="-228594" algn="just">
              <a:lnSpc>
                <a:spcPct val="150000"/>
              </a:lnSpc>
              <a:spcBef>
                <a:spcPts val="2000"/>
              </a:spcBef>
              <a:buFont typeface="Arial" panose="020B0604020202020204" pitchFamily="34" charset="0"/>
              <a:buChar cha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 缺陷预防：</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defect prevention</a:t>
            </a:r>
          </a:p>
          <a:p>
            <a:pPr marL="228594" indent="-228594" algn="just">
              <a:lnSpc>
                <a:spcPct val="150000"/>
              </a:lnSpc>
              <a:spcBef>
                <a:spcPts val="2000"/>
              </a:spcBef>
              <a:buFont typeface="Arial" panose="020B0604020202020204" pitchFamily="34" charset="0"/>
              <a:buChar char="•"/>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技术改革管理：</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technology change management</a:t>
            </a:r>
          </a:p>
          <a:p>
            <a:pPr marL="228594" indent="-228594" algn="just">
              <a:lnSpc>
                <a:spcPct val="150000"/>
              </a:lnSpc>
              <a:spcBef>
                <a:spcPts val="2000"/>
              </a:spcBef>
              <a:buFont typeface="Arial" panose="020B0604020202020204" pitchFamily="34" charset="0"/>
              <a:buChar char="•"/>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过程更改管理：</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process change management</a:t>
            </a:r>
          </a:p>
        </p:txBody>
      </p:sp>
    </p:spTree>
    <p:extLst>
      <p:ext uri="{BB962C8B-B14F-4D97-AF65-F5344CB8AC3E}">
        <p14:creationId xmlns:p14="http://schemas.microsoft.com/office/powerpoint/2010/main" val="30147132"/>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650"/>
                            </p:stCondLst>
                            <p:childTnLst>
                              <p:par>
                                <p:cTn id="13" presetID="5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par>
                          <p:cTn id="18" fill="hold">
                            <p:stCondLst>
                              <p:cond delay="115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p:stCondLst>
                              <p:cond delay="165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p:stCondLst>
                              <p:cond delay="2150"/>
                            </p:stCondLst>
                            <p:childTnLst>
                              <p:par>
                                <p:cTn id="29" presetID="53" presetClass="entr" presetSubtype="16"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par>
                          <p:cTn id="34" fill="hold">
                            <p:stCondLst>
                              <p:cond delay="2650"/>
                            </p:stCondLst>
                            <p:childTnLst>
                              <p:par>
                                <p:cTn id="35" presetID="10"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childTnLst>
                          </p:cTn>
                        </p:par>
                        <p:par>
                          <p:cTn id="41" fill="hold">
                            <p:stCondLst>
                              <p:cond delay="3150"/>
                            </p:stCondLst>
                            <p:childTnLst>
                              <p:par>
                                <p:cTn id="42" presetID="53" presetClass="entr" presetSubtype="16"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par>
                          <p:cTn id="47" fill="hold">
                            <p:stCondLst>
                              <p:cond delay="3650"/>
                            </p:stCondLst>
                            <p:childTnLst>
                              <p:par>
                                <p:cTn id="48" presetID="53" presetClass="entr" presetSubtype="16"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childTnLst>
                          </p:cTn>
                        </p:par>
                        <p:par>
                          <p:cTn id="53" fill="hold">
                            <p:stCondLst>
                              <p:cond delay="4150"/>
                            </p:stCondLst>
                            <p:childTnLst>
                              <p:par>
                                <p:cTn id="54" presetID="10" presetClass="entr" presetSubtype="0"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childTnLst>
                          </p:cTn>
                        </p:par>
                        <p:par>
                          <p:cTn id="57" fill="hold">
                            <p:stCondLst>
                              <p:cond delay="4650"/>
                            </p:stCondLst>
                            <p:childTnLst>
                              <p:par>
                                <p:cTn id="58" presetID="53" presetClass="entr" presetSubtype="16" fill="hold" grpId="0"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500" fill="hold"/>
                                        <p:tgtEl>
                                          <p:spTgt spid="2"/>
                                        </p:tgtEl>
                                        <p:attrNameLst>
                                          <p:attrName>ppt_w</p:attrName>
                                        </p:attrNameLst>
                                      </p:cBhvr>
                                      <p:tavLst>
                                        <p:tav tm="0">
                                          <p:val>
                                            <p:fltVal val="0"/>
                                          </p:val>
                                        </p:tav>
                                        <p:tav tm="100000">
                                          <p:val>
                                            <p:strVal val="#ppt_w"/>
                                          </p:val>
                                        </p:tav>
                                      </p:tavLst>
                                    </p:anim>
                                    <p:anim calcmode="lin" valueType="num">
                                      <p:cBhvr>
                                        <p:cTn id="61" dur="500" fill="hold"/>
                                        <p:tgtEl>
                                          <p:spTgt spid="2"/>
                                        </p:tgtEl>
                                        <p:attrNameLst>
                                          <p:attrName>ppt_h</p:attrName>
                                        </p:attrNameLst>
                                      </p:cBhvr>
                                      <p:tavLst>
                                        <p:tav tm="0">
                                          <p:val>
                                            <p:fltVal val="0"/>
                                          </p:val>
                                        </p:tav>
                                        <p:tav tm="100000">
                                          <p:val>
                                            <p:strVal val="#ppt_h"/>
                                          </p:val>
                                        </p:tav>
                                      </p:tavLst>
                                    </p:anim>
                                    <p:animEffect transition="in" filter="fade">
                                      <p:cBhvr>
                                        <p:cTn id="62" dur="500"/>
                                        <p:tgtEl>
                                          <p:spTgt spid="2"/>
                                        </p:tgtEl>
                                      </p:cBhvr>
                                    </p:animEffect>
                                  </p:childTnLst>
                                </p:cTn>
                              </p:par>
                            </p:childTnLst>
                          </p:cTn>
                        </p:par>
                        <p:par>
                          <p:cTn id="63" fill="hold">
                            <p:stCondLst>
                              <p:cond delay="5150"/>
                            </p:stCondLst>
                            <p:childTnLst>
                              <p:par>
                                <p:cTn id="64" presetID="53" presetClass="entr" presetSubtype="16" fill="hold" nodeType="after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p:cTn id="66" dur="500" fill="hold"/>
                                        <p:tgtEl>
                                          <p:spTgt spid="22"/>
                                        </p:tgtEl>
                                        <p:attrNameLst>
                                          <p:attrName>ppt_w</p:attrName>
                                        </p:attrNameLst>
                                      </p:cBhvr>
                                      <p:tavLst>
                                        <p:tav tm="0">
                                          <p:val>
                                            <p:fltVal val="0"/>
                                          </p:val>
                                        </p:tav>
                                        <p:tav tm="100000">
                                          <p:val>
                                            <p:strVal val="#ppt_w"/>
                                          </p:val>
                                        </p:tav>
                                      </p:tavLst>
                                    </p:anim>
                                    <p:anim calcmode="lin" valueType="num">
                                      <p:cBhvr>
                                        <p:cTn id="67" dur="500" fill="hold"/>
                                        <p:tgtEl>
                                          <p:spTgt spid="22"/>
                                        </p:tgtEl>
                                        <p:attrNameLst>
                                          <p:attrName>ppt_h</p:attrName>
                                        </p:attrNameLst>
                                      </p:cBhvr>
                                      <p:tavLst>
                                        <p:tav tm="0">
                                          <p:val>
                                            <p:fltVal val="0"/>
                                          </p:val>
                                        </p:tav>
                                        <p:tav tm="100000">
                                          <p:val>
                                            <p:strVal val="#ppt_h"/>
                                          </p:val>
                                        </p:tav>
                                      </p:tavLst>
                                    </p:anim>
                                    <p:animEffect transition="in" filter="fade">
                                      <p:cBhvr>
                                        <p:cTn id="68" dur="500"/>
                                        <p:tgtEl>
                                          <p:spTgt spid="22"/>
                                        </p:tgtEl>
                                      </p:cBhvr>
                                    </p:animEffect>
                                  </p:childTnLst>
                                </p:cTn>
                              </p:par>
                            </p:childTnLst>
                          </p:cTn>
                        </p:par>
                        <p:par>
                          <p:cTn id="69" fill="hold">
                            <p:stCondLst>
                              <p:cond delay="5650"/>
                            </p:stCondLst>
                            <p:childTnLst>
                              <p:par>
                                <p:cTn id="70" presetID="10" presetClass="entr" presetSubtype="0" fill="hold" grpId="0" nodeType="after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childTnLst>
                                </p:cTn>
                              </p:par>
                            </p:childTnLst>
                          </p:cTn>
                        </p:par>
                        <p:par>
                          <p:cTn id="73" fill="hold">
                            <p:stCondLst>
                              <p:cond delay="6150"/>
                            </p:stCondLst>
                            <p:childTnLst>
                              <p:par>
                                <p:cTn id="74" presetID="53" presetClass="entr" presetSubtype="16" fill="hold" grpId="0" nodeType="afterEffect">
                                  <p:stCondLst>
                                    <p:cond delay="0"/>
                                  </p:stCondLst>
                                  <p:childTnLst>
                                    <p:set>
                                      <p:cBhvr>
                                        <p:cTn id="75" dur="1" fill="hold">
                                          <p:stCondLst>
                                            <p:cond delay="0"/>
                                          </p:stCondLst>
                                        </p:cTn>
                                        <p:tgtEl>
                                          <p:spTgt spid="3"/>
                                        </p:tgtEl>
                                        <p:attrNameLst>
                                          <p:attrName>style.visibility</p:attrName>
                                        </p:attrNameLst>
                                      </p:cBhvr>
                                      <p:to>
                                        <p:strVal val="visible"/>
                                      </p:to>
                                    </p:set>
                                    <p:anim calcmode="lin" valueType="num">
                                      <p:cBhvr>
                                        <p:cTn id="76" dur="500" fill="hold"/>
                                        <p:tgtEl>
                                          <p:spTgt spid="3"/>
                                        </p:tgtEl>
                                        <p:attrNameLst>
                                          <p:attrName>ppt_w</p:attrName>
                                        </p:attrNameLst>
                                      </p:cBhvr>
                                      <p:tavLst>
                                        <p:tav tm="0">
                                          <p:val>
                                            <p:fltVal val="0"/>
                                          </p:val>
                                        </p:tav>
                                        <p:tav tm="100000">
                                          <p:val>
                                            <p:strVal val="#ppt_w"/>
                                          </p:val>
                                        </p:tav>
                                      </p:tavLst>
                                    </p:anim>
                                    <p:anim calcmode="lin" valueType="num">
                                      <p:cBhvr>
                                        <p:cTn id="77" dur="500" fill="hold"/>
                                        <p:tgtEl>
                                          <p:spTgt spid="3"/>
                                        </p:tgtEl>
                                        <p:attrNameLst>
                                          <p:attrName>ppt_h</p:attrName>
                                        </p:attrNameLst>
                                      </p:cBhvr>
                                      <p:tavLst>
                                        <p:tav tm="0">
                                          <p:val>
                                            <p:fltVal val="0"/>
                                          </p:val>
                                        </p:tav>
                                        <p:tav tm="100000">
                                          <p:val>
                                            <p:strVal val="#ppt_h"/>
                                          </p:val>
                                        </p:tav>
                                      </p:tavLst>
                                    </p:anim>
                                    <p:animEffect transition="in" filter="fade">
                                      <p:cBhvr>
                                        <p:cTn id="78" dur="500"/>
                                        <p:tgtEl>
                                          <p:spTgt spid="3"/>
                                        </p:tgtEl>
                                      </p:cBhvr>
                                    </p:animEffect>
                                  </p:childTnLst>
                                </p:cTn>
                              </p:par>
                            </p:childTnLst>
                          </p:cTn>
                        </p:par>
                        <p:par>
                          <p:cTn id="79" fill="hold">
                            <p:stCondLst>
                              <p:cond delay="6650"/>
                            </p:stCondLst>
                            <p:childTnLst>
                              <p:par>
                                <p:cTn id="80" presetID="53" presetClass="entr" presetSubtype="16"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animEffect transition="in" filter="fade">
                                      <p:cBhvr>
                                        <p:cTn id="84" dur="500"/>
                                        <p:tgtEl>
                                          <p:spTgt spid="21"/>
                                        </p:tgtEl>
                                      </p:cBhvr>
                                    </p:animEffect>
                                  </p:childTnLst>
                                </p:cTn>
                              </p:par>
                            </p:childTnLst>
                          </p:cTn>
                        </p:par>
                        <p:par>
                          <p:cTn id="85" fill="hold">
                            <p:stCondLst>
                              <p:cond delay="7150"/>
                            </p:stCondLst>
                            <p:childTnLst>
                              <p:par>
                                <p:cTn id="86" presetID="10" presetClass="entr" presetSubtype="0" fill="hold" grpId="0" nodeType="after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childTnLst>
                          </p:cTn>
                        </p:par>
                        <p:par>
                          <p:cTn id="89" fill="hold">
                            <p:stCondLst>
                              <p:cond delay="7650"/>
                            </p:stCondLst>
                            <p:childTnLst>
                              <p:par>
                                <p:cTn id="90" presetID="10" presetClass="entr" presetSubtype="0" fill="hold" grpId="0" nodeType="after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500"/>
                                        <p:tgtEl>
                                          <p:spTgt spid="1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00"/>
                                        <p:tgtEl>
                                          <p:spTgt spid="2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10" grpId="0" animBg="1"/>
      <p:bldP spid="12" grpId="0" animBg="1"/>
      <p:bldP spid="14" grpId="0" animBg="1"/>
      <p:bldP spid="21" grpId="0" animBg="1"/>
      <p:bldP spid="26" grpId="0"/>
      <p:bldP spid="30" grpId="0" animBg="1"/>
      <p:bldP spid="32" grpId="0"/>
      <p:bldP spid="28" grpId="0" animBg="1"/>
      <p:bldP spid="31" grpId="0" animBg="1"/>
      <p:bldP spid="3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en-US" altLang="zh-CN" sz="2400" dirty="0" smtClean="0"/>
              <a:t>CMM</a:t>
            </a:r>
            <a:r>
              <a:rPr kumimoji="1" lang="zh-CN" altLang="en-US" sz="2400" dirty="0" smtClean="0"/>
              <a:t>的主要用途</a:t>
            </a:r>
            <a:endParaRPr kumimoji="1" lang="zh-CN" altLang="en-US" sz="2400" dirty="0"/>
          </a:p>
        </p:txBody>
      </p:sp>
      <p:graphicFrame>
        <p:nvGraphicFramePr>
          <p:cNvPr id="7" name="图表 6"/>
          <p:cNvGraphicFramePr/>
          <p:nvPr>
            <p:extLst>
              <p:ext uri="{D42A27DB-BD31-4B8C-83A1-F6EECF244321}">
                <p14:modId xmlns:p14="http://schemas.microsoft.com/office/powerpoint/2010/main" val="1472713773"/>
              </p:ext>
            </p:extLst>
          </p:nvPr>
        </p:nvGraphicFramePr>
        <p:xfrm>
          <a:off x="2138846" y="1303489"/>
          <a:ext cx="2254478" cy="2308770"/>
        </p:xfrm>
        <a:graphic>
          <a:graphicData uri="http://schemas.openxmlformats.org/drawingml/2006/chart">
            <c:chart xmlns:c="http://schemas.openxmlformats.org/drawingml/2006/chart" xmlns:r="http://schemas.openxmlformats.org/officeDocument/2006/relationships" r:id="rId3"/>
          </a:graphicData>
        </a:graphic>
      </p:graphicFrame>
      <p:sp>
        <p:nvSpPr>
          <p:cNvPr id="11" name="文本占位符 3"/>
          <p:cNvSpPr txBox="1">
            <a:spLocks/>
          </p:cNvSpPr>
          <p:nvPr/>
        </p:nvSpPr>
        <p:spPr>
          <a:xfrm>
            <a:off x="1861737" y="4639239"/>
            <a:ext cx="3013652" cy="18432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zh-CN" altLang="en-US" sz="1600" dirty="0">
                <a:solidFill>
                  <a:schemeClr val="bg1">
                    <a:lumMod val="50000"/>
                  </a:schemeClr>
                </a:solidFill>
              </a:rPr>
              <a:t>一组软件专业人员确定出一个企业软件过程的状况，找出与软件过程相关的急需解决的所有问题，取得企业领导层对软件过程改进的支持。</a:t>
            </a:r>
          </a:p>
        </p:txBody>
      </p:sp>
      <p:sp>
        <p:nvSpPr>
          <p:cNvPr id="12" name="文本占位符 3"/>
          <p:cNvSpPr txBox="1">
            <a:spLocks/>
          </p:cNvSpPr>
          <p:nvPr/>
        </p:nvSpPr>
        <p:spPr>
          <a:xfrm>
            <a:off x="1770845" y="4048529"/>
            <a:ext cx="2990480" cy="590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30000"/>
              </a:lnSpc>
              <a:buNone/>
            </a:pPr>
            <a:r>
              <a:rPr kumimoji="1" lang="zh-CN" altLang="en-US" sz="2000" b="1" dirty="0">
                <a:solidFill>
                  <a:schemeClr val="tx1">
                    <a:lumMod val="75000"/>
                    <a:lumOff val="25000"/>
                  </a:schemeClr>
                </a:solidFill>
              </a:rPr>
              <a:t>软件过程评估</a:t>
            </a:r>
          </a:p>
        </p:txBody>
      </p:sp>
      <p:grpSp>
        <p:nvGrpSpPr>
          <p:cNvPr id="15" name="组 14"/>
          <p:cNvGrpSpPr/>
          <p:nvPr/>
        </p:nvGrpSpPr>
        <p:grpSpPr>
          <a:xfrm>
            <a:off x="3163606" y="3721791"/>
            <a:ext cx="204957" cy="162177"/>
            <a:chOff x="7919545" y="1741082"/>
            <a:chExt cx="788276" cy="623746"/>
          </a:xfrm>
        </p:grpSpPr>
        <p:sp>
          <p:nvSpPr>
            <p:cNvPr id="13" name="燕尾形 12"/>
            <p:cNvSpPr/>
            <p:nvPr/>
          </p:nvSpPr>
          <p:spPr>
            <a:xfrm rot="5400000">
              <a:off x="8124496" y="1536131"/>
              <a:ext cx="378373" cy="788276"/>
            </a:xfrm>
            <a:prstGeom prst="chevron">
              <a:avLst>
                <a:gd name="adj" fmla="val 7166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4" name="燕尾形 13"/>
            <p:cNvSpPr/>
            <p:nvPr/>
          </p:nvSpPr>
          <p:spPr>
            <a:xfrm rot="5400000">
              <a:off x="8124497" y="1781504"/>
              <a:ext cx="378372" cy="788276"/>
            </a:xfrm>
            <a:prstGeom prst="chevron">
              <a:avLst>
                <a:gd name="adj" fmla="val 7166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graphicFrame>
        <p:nvGraphicFramePr>
          <p:cNvPr id="18" name="图表 17"/>
          <p:cNvGraphicFramePr/>
          <p:nvPr>
            <p:extLst>
              <p:ext uri="{D42A27DB-BD31-4B8C-83A1-F6EECF244321}">
                <p14:modId xmlns:p14="http://schemas.microsoft.com/office/powerpoint/2010/main" val="697517721"/>
              </p:ext>
            </p:extLst>
          </p:nvPr>
        </p:nvGraphicFramePr>
        <p:xfrm>
          <a:off x="5082981" y="1303489"/>
          <a:ext cx="2254478" cy="2308770"/>
        </p:xfrm>
        <a:graphic>
          <a:graphicData uri="http://schemas.openxmlformats.org/drawingml/2006/chart">
            <c:chart xmlns:c="http://schemas.openxmlformats.org/drawingml/2006/chart" xmlns:r="http://schemas.openxmlformats.org/officeDocument/2006/relationships" r:id="rId4"/>
          </a:graphicData>
        </a:graphic>
      </p:graphicFrame>
      <p:sp>
        <p:nvSpPr>
          <p:cNvPr id="19" name="文本占位符 3"/>
          <p:cNvSpPr txBox="1">
            <a:spLocks/>
          </p:cNvSpPr>
          <p:nvPr/>
        </p:nvSpPr>
        <p:spPr>
          <a:xfrm>
            <a:off x="4946436" y="4639240"/>
            <a:ext cx="2732524" cy="1104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zh-CN" altLang="en-US" sz="1600" dirty="0">
                <a:solidFill>
                  <a:schemeClr val="bg1">
                    <a:lumMod val="50000"/>
                  </a:schemeClr>
                </a:solidFill>
              </a:rPr>
              <a:t>帮助软件企业对其软件过程向更好的方向的改变，进行计划制定实施</a:t>
            </a:r>
          </a:p>
        </p:txBody>
      </p:sp>
      <p:sp>
        <p:nvSpPr>
          <p:cNvPr id="20" name="文本占位符 3"/>
          <p:cNvSpPr txBox="1">
            <a:spLocks/>
          </p:cNvSpPr>
          <p:nvPr/>
        </p:nvSpPr>
        <p:spPr>
          <a:xfrm>
            <a:off x="4714980" y="4048529"/>
            <a:ext cx="2990480" cy="590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30000"/>
              </a:lnSpc>
              <a:buNone/>
            </a:pPr>
            <a:r>
              <a:rPr lang="zh-CN" altLang="en-US" sz="2000" b="1" dirty="0">
                <a:solidFill>
                  <a:schemeClr val="tx1">
                    <a:lumMod val="75000"/>
                    <a:lumOff val="25000"/>
                  </a:schemeClr>
                </a:solidFill>
              </a:rPr>
              <a:t>软件过程改进</a:t>
            </a:r>
          </a:p>
        </p:txBody>
      </p:sp>
      <p:grpSp>
        <p:nvGrpSpPr>
          <p:cNvPr id="21" name="组 20"/>
          <p:cNvGrpSpPr/>
          <p:nvPr/>
        </p:nvGrpSpPr>
        <p:grpSpPr>
          <a:xfrm>
            <a:off x="6107741" y="3721791"/>
            <a:ext cx="204957" cy="162177"/>
            <a:chOff x="7919545" y="1741082"/>
            <a:chExt cx="788276" cy="623746"/>
          </a:xfrm>
        </p:grpSpPr>
        <p:sp>
          <p:nvSpPr>
            <p:cNvPr id="22" name="燕尾形 21"/>
            <p:cNvSpPr/>
            <p:nvPr/>
          </p:nvSpPr>
          <p:spPr>
            <a:xfrm rot="5400000">
              <a:off x="8124496" y="1536131"/>
              <a:ext cx="378373" cy="788276"/>
            </a:xfrm>
            <a:prstGeom prst="chevron">
              <a:avLst>
                <a:gd name="adj" fmla="val 7166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3" name="燕尾形 22"/>
            <p:cNvSpPr/>
            <p:nvPr/>
          </p:nvSpPr>
          <p:spPr>
            <a:xfrm rot="5400000">
              <a:off x="8124497" y="1781504"/>
              <a:ext cx="378372" cy="788276"/>
            </a:xfrm>
            <a:prstGeom prst="chevron">
              <a:avLst>
                <a:gd name="adj" fmla="val 7166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graphicFrame>
        <p:nvGraphicFramePr>
          <p:cNvPr id="25" name="图表 24"/>
          <p:cNvGraphicFramePr/>
          <p:nvPr>
            <p:extLst>
              <p:ext uri="{D42A27DB-BD31-4B8C-83A1-F6EECF244321}">
                <p14:modId xmlns:p14="http://schemas.microsoft.com/office/powerpoint/2010/main" val="1070575321"/>
              </p:ext>
            </p:extLst>
          </p:nvPr>
        </p:nvGraphicFramePr>
        <p:xfrm>
          <a:off x="8027115" y="1303489"/>
          <a:ext cx="2254478" cy="2308770"/>
        </p:xfrm>
        <a:graphic>
          <a:graphicData uri="http://schemas.openxmlformats.org/drawingml/2006/chart">
            <c:chart xmlns:c="http://schemas.openxmlformats.org/drawingml/2006/chart" xmlns:r="http://schemas.openxmlformats.org/officeDocument/2006/relationships" r:id="rId5"/>
          </a:graphicData>
        </a:graphic>
      </p:graphicFrame>
      <p:sp>
        <p:nvSpPr>
          <p:cNvPr id="26" name="文本占位符 3"/>
          <p:cNvSpPr txBox="1">
            <a:spLocks/>
          </p:cNvSpPr>
          <p:nvPr/>
        </p:nvSpPr>
        <p:spPr>
          <a:xfrm>
            <a:off x="8027116" y="4639240"/>
            <a:ext cx="2976506" cy="11042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kumimoji="1" lang="zh-CN" altLang="en-US" sz="1600" dirty="0">
                <a:solidFill>
                  <a:schemeClr val="bg1">
                    <a:lumMod val="50000"/>
                  </a:schemeClr>
                </a:solidFill>
              </a:rPr>
              <a:t>鉴别软件承包者的能力</a:t>
            </a:r>
            <a:r>
              <a:rPr kumimoji="1" lang="zh-CN" altLang="en-US" sz="1600" dirty="0" smtClean="0">
                <a:solidFill>
                  <a:schemeClr val="bg1">
                    <a:lumMod val="50000"/>
                  </a:schemeClr>
                </a:solidFill>
              </a:rPr>
              <a:t>资格</a:t>
            </a:r>
            <a:endParaRPr kumimoji="1" lang="en-US" altLang="zh-CN" sz="1600" dirty="0">
              <a:solidFill>
                <a:schemeClr val="bg1">
                  <a:lumMod val="50000"/>
                </a:schemeClr>
              </a:solidFill>
            </a:endParaRPr>
          </a:p>
          <a:p>
            <a:pPr marL="0" indent="0">
              <a:lnSpc>
                <a:spcPct val="130000"/>
              </a:lnSpc>
              <a:buNone/>
            </a:pPr>
            <a:r>
              <a:rPr kumimoji="1" lang="zh-CN" altLang="en-US" sz="1600" dirty="0">
                <a:solidFill>
                  <a:schemeClr val="bg1">
                    <a:lumMod val="50000"/>
                  </a:schemeClr>
                </a:solidFill>
              </a:rPr>
              <a:t>检查正用于软件制作的软件过程的状况</a:t>
            </a:r>
          </a:p>
        </p:txBody>
      </p:sp>
      <p:sp>
        <p:nvSpPr>
          <p:cNvPr id="27" name="文本占位符 3"/>
          <p:cNvSpPr txBox="1">
            <a:spLocks/>
          </p:cNvSpPr>
          <p:nvPr/>
        </p:nvSpPr>
        <p:spPr>
          <a:xfrm>
            <a:off x="7659114" y="4048529"/>
            <a:ext cx="2990480" cy="590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30000"/>
              </a:lnSpc>
              <a:buNone/>
            </a:pPr>
            <a:r>
              <a:rPr lang="zh-CN" altLang="en-US" sz="2000" b="1" dirty="0" smtClean="0">
                <a:solidFill>
                  <a:schemeClr val="tx1">
                    <a:lumMod val="75000"/>
                    <a:lumOff val="25000"/>
                  </a:schemeClr>
                </a:solidFill>
              </a:rPr>
              <a:t>软件能力评价</a:t>
            </a:r>
            <a:endParaRPr kumimoji="1" lang="zh-CN" altLang="en-US" sz="2000" b="1" dirty="0">
              <a:solidFill>
                <a:schemeClr val="tx1">
                  <a:lumMod val="75000"/>
                  <a:lumOff val="25000"/>
                </a:schemeClr>
              </a:solidFill>
            </a:endParaRPr>
          </a:p>
        </p:txBody>
      </p:sp>
      <p:grpSp>
        <p:nvGrpSpPr>
          <p:cNvPr id="28" name="组 27"/>
          <p:cNvGrpSpPr/>
          <p:nvPr/>
        </p:nvGrpSpPr>
        <p:grpSpPr>
          <a:xfrm>
            <a:off x="9051875" y="3721791"/>
            <a:ext cx="204957" cy="162177"/>
            <a:chOff x="7919545" y="1741082"/>
            <a:chExt cx="788276" cy="623746"/>
          </a:xfrm>
        </p:grpSpPr>
        <p:sp>
          <p:nvSpPr>
            <p:cNvPr id="29" name="燕尾形 28"/>
            <p:cNvSpPr/>
            <p:nvPr/>
          </p:nvSpPr>
          <p:spPr>
            <a:xfrm rot="5400000">
              <a:off x="8124496" y="1536131"/>
              <a:ext cx="378373" cy="788276"/>
            </a:xfrm>
            <a:prstGeom prst="chevron">
              <a:avLst>
                <a:gd name="adj" fmla="val 7166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燕尾形 29"/>
            <p:cNvSpPr/>
            <p:nvPr/>
          </p:nvSpPr>
          <p:spPr>
            <a:xfrm rot="5400000">
              <a:off x="8124497" y="1781504"/>
              <a:ext cx="378372" cy="788276"/>
            </a:xfrm>
            <a:prstGeom prst="chevron">
              <a:avLst>
                <a:gd name="adj" fmla="val 7166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spTree>
    <p:extLst>
      <p:ext uri="{BB962C8B-B14F-4D97-AF65-F5344CB8AC3E}">
        <p14:creationId xmlns:p14="http://schemas.microsoft.com/office/powerpoint/2010/main" val="593209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435159" y="251636"/>
            <a:ext cx="3838889" cy="405376"/>
          </a:xfrm>
        </p:spPr>
        <p:txBody>
          <a:bodyPr/>
          <a:lstStyle/>
          <a:p>
            <a:r>
              <a:rPr lang="en-US" altLang="zh-CN" sz="2400" dirty="0" smtClean="0"/>
              <a:t>CMM</a:t>
            </a:r>
            <a:r>
              <a:rPr lang="zh-CN" altLang="en-US" sz="2400" dirty="0" smtClean="0"/>
              <a:t>对于企业发展的启示</a:t>
            </a:r>
            <a:endParaRPr lang="zh-CN" altLang="en-US" sz="2400" dirty="0"/>
          </a:p>
        </p:txBody>
      </p:sp>
      <p:sp>
        <p:nvSpPr>
          <p:cNvPr id="4" name="矩形 3"/>
          <p:cNvSpPr/>
          <p:nvPr/>
        </p:nvSpPr>
        <p:spPr>
          <a:xfrm>
            <a:off x="1879653" y="1541677"/>
            <a:ext cx="9264075" cy="6001643"/>
          </a:xfrm>
          <a:prstGeom prst="rect">
            <a:avLst/>
          </a:prstGeom>
        </p:spPr>
        <p:txBody>
          <a:bodyPr wrap="none">
            <a:spAutoFit/>
          </a:bodyPr>
          <a:lstStyle/>
          <a:p>
            <a:r>
              <a:rPr lang="zh-CN" altLang="en-US" sz="2400" b="1" dirty="0">
                <a:solidFill>
                  <a:srgbClr val="333333"/>
                </a:solidFill>
                <a:latin typeface="Microsoft Yahei" panose="020B0503020204020204" pitchFamily="34" charset="-122"/>
                <a:ea typeface="Microsoft Yahei" panose="020B0503020204020204" pitchFamily="34" charset="-122"/>
              </a:rPr>
              <a:t>软件产品的质量是靠人才、技术、软件研发过程</a:t>
            </a:r>
            <a:r>
              <a:rPr lang="en-US" altLang="zh-CN" sz="2400" b="1" dirty="0">
                <a:solidFill>
                  <a:srgbClr val="333333"/>
                </a:solidFill>
                <a:latin typeface="Microsoft Yahei" panose="020B0503020204020204" pitchFamily="34" charset="-122"/>
                <a:ea typeface="Microsoft Yahei" panose="020B0503020204020204" pitchFamily="34" charset="-122"/>
              </a:rPr>
              <a:t>3</a:t>
            </a:r>
            <a:r>
              <a:rPr lang="zh-CN" altLang="en-US" sz="2400" b="1" dirty="0">
                <a:solidFill>
                  <a:srgbClr val="333333"/>
                </a:solidFill>
                <a:latin typeface="Microsoft Yahei" panose="020B0503020204020204" pitchFamily="34" charset="-122"/>
                <a:ea typeface="Microsoft Yahei" panose="020B0503020204020204" pitchFamily="34" charset="-122"/>
              </a:rPr>
              <a:t>个方面共同保障的</a:t>
            </a:r>
            <a:endParaRPr lang="en-US" altLang="zh-CN" sz="2400" b="1" dirty="0">
              <a:solidFill>
                <a:srgbClr val="333333"/>
              </a:solidFill>
              <a:latin typeface="Microsoft Yahei" panose="020B0503020204020204" pitchFamily="34" charset="-122"/>
              <a:ea typeface="Microsoft Yahei" panose="020B0503020204020204" pitchFamily="34" charset="-122"/>
            </a:endParaRPr>
          </a:p>
          <a:p>
            <a:endParaRPr lang="en-US" altLang="zh-CN" sz="2400" b="1" dirty="0" smtClean="0">
              <a:solidFill>
                <a:srgbClr val="333333"/>
              </a:solidFill>
              <a:latin typeface="Microsoft Yahei" panose="020B0503020204020204" pitchFamily="34" charset="-122"/>
              <a:ea typeface="Microsoft Yahei" panose="020B0503020204020204" pitchFamily="34" charset="-122"/>
            </a:endParaRPr>
          </a:p>
          <a:p>
            <a:r>
              <a:rPr lang="en-US" altLang="zh-CN" sz="2400" b="1" dirty="0" smtClean="0">
                <a:solidFill>
                  <a:srgbClr val="333333"/>
                </a:solidFill>
                <a:latin typeface="Microsoft Yahei" panose="020B0503020204020204" pitchFamily="34" charset="-122"/>
                <a:ea typeface="Microsoft Yahei" panose="020B0503020204020204" pitchFamily="34" charset="-122"/>
              </a:rPr>
              <a:t>CMM</a:t>
            </a:r>
            <a:r>
              <a:rPr lang="zh-CN" altLang="en-US" sz="2400" b="1" dirty="0" smtClean="0">
                <a:solidFill>
                  <a:srgbClr val="333333"/>
                </a:solidFill>
                <a:latin typeface="Microsoft Yahei" panose="020B0503020204020204" pitchFamily="34" charset="-122"/>
                <a:ea typeface="Microsoft Yahei" panose="020B0503020204020204" pitchFamily="34" charset="-122"/>
              </a:rPr>
              <a:t>之初，好处要被公司与个人都认识到</a:t>
            </a:r>
            <a:endParaRPr lang="en-US" altLang="zh-CN" sz="2400" b="1" dirty="0" smtClean="0">
              <a:solidFill>
                <a:srgbClr val="333333"/>
              </a:solidFill>
              <a:latin typeface="Microsoft Yahei" panose="020B0503020204020204" pitchFamily="34" charset="-122"/>
              <a:ea typeface="Microsoft Yahei" panose="020B0503020204020204" pitchFamily="34" charset="-122"/>
            </a:endParaRPr>
          </a:p>
          <a:p>
            <a:endParaRPr lang="en-US" altLang="zh-CN" sz="2400" b="1" dirty="0">
              <a:solidFill>
                <a:srgbClr val="333333"/>
              </a:solidFill>
              <a:latin typeface="Microsoft Yahei" panose="020B0503020204020204" pitchFamily="34" charset="-122"/>
              <a:ea typeface="Microsoft Yahei" panose="020B0503020204020204" pitchFamily="34" charset="-122"/>
            </a:endParaRPr>
          </a:p>
          <a:p>
            <a:r>
              <a:rPr lang="zh-CN" altLang="en-US" sz="2400" b="1" dirty="0">
                <a:solidFill>
                  <a:srgbClr val="333333"/>
                </a:solidFill>
                <a:latin typeface="Microsoft Yahei" panose="020B0503020204020204" pitchFamily="34" charset="-122"/>
                <a:ea typeface="Microsoft Yahei" panose="020B0503020204020204" pitchFamily="34" charset="-122"/>
              </a:rPr>
              <a:t>重视质量比忙着赚钱更</a:t>
            </a:r>
            <a:r>
              <a:rPr lang="zh-CN" altLang="en-US" sz="2400" b="1" dirty="0" smtClean="0">
                <a:solidFill>
                  <a:srgbClr val="333333"/>
                </a:solidFill>
                <a:latin typeface="Microsoft Yahei" panose="020B0503020204020204" pitchFamily="34" charset="-122"/>
                <a:ea typeface="Microsoft Yahei" panose="020B0503020204020204" pitchFamily="34" charset="-122"/>
              </a:rPr>
              <a:t>重要</a:t>
            </a:r>
            <a:endParaRPr lang="en-US" altLang="zh-CN" sz="2400" b="1" dirty="0" smtClean="0">
              <a:solidFill>
                <a:srgbClr val="333333"/>
              </a:solidFill>
              <a:latin typeface="Microsoft Yahei" panose="020B0503020204020204" pitchFamily="34" charset="-122"/>
              <a:ea typeface="Microsoft Yahei" panose="020B0503020204020204" pitchFamily="34" charset="-122"/>
            </a:endParaRPr>
          </a:p>
          <a:p>
            <a:endParaRPr lang="en-US" altLang="zh-CN" sz="2400" b="1" dirty="0">
              <a:solidFill>
                <a:srgbClr val="333333"/>
              </a:solidFill>
              <a:latin typeface="Microsoft Yahei" panose="020B0503020204020204" pitchFamily="34" charset="-122"/>
              <a:ea typeface="Microsoft Yahei" panose="020B0503020204020204" pitchFamily="34" charset="-122"/>
            </a:endParaRPr>
          </a:p>
          <a:p>
            <a:r>
              <a:rPr lang="en-US" altLang="zh-CN" sz="2400" b="1" dirty="0">
                <a:solidFill>
                  <a:srgbClr val="333333"/>
                </a:solidFill>
                <a:latin typeface="Microsoft Yahei" panose="020B0503020204020204" pitchFamily="34" charset="-122"/>
                <a:ea typeface="Microsoft Yahei" panose="020B0503020204020204" pitchFamily="34" charset="-122"/>
              </a:rPr>
              <a:t>CMM</a:t>
            </a:r>
            <a:r>
              <a:rPr lang="zh-CN" altLang="en-US" sz="2400" b="1" dirty="0">
                <a:solidFill>
                  <a:srgbClr val="333333"/>
                </a:solidFill>
                <a:latin typeface="Microsoft Yahei" panose="020B0503020204020204" pitchFamily="34" charset="-122"/>
                <a:ea typeface="Microsoft Yahei" panose="020B0503020204020204" pitchFamily="34" charset="-122"/>
              </a:rPr>
              <a:t>建立过程中，要注意中外企业文化的</a:t>
            </a:r>
            <a:r>
              <a:rPr lang="zh-CN" altLang="en-US" sz="2400" b="1" dirty="0" smtClean="0">
                <a:solidFill>
                  <a:srgbClr val="333333"/>
                </a:solidFill>
                <a:latin typeface="Microsoft Yahei" panose="020B0503020204020204" pitchFamily="34" charset="-122"/>
                <a:ea typeface="Microsoft Yahei" panose="020B0503020204020204" pitchFamily="34" charset="-122"/>
              </a:rPr>
              <a:t>差异</a:t>
            </a:r>
            <a:endParaRPr lang="en-US" altLang="zh-CN" sz="2400" b="1" dirty="0" smtClean="0">
              <a:solidFill>
                <a:srgbClr val="333333"/>
              </a:solidFill>
              <a:latin typeface="Microsoft Yahei" panose="020B0503020204020204" pitchFamily="34" charset="-122"/>
              <a:ea typeface="Microsoft Yahei" panose="020B0503020204020204" pitchFamily="34" charset="-122"/>
            </a:endParaRPr>
          </a:p>
          <a:p>
            <a:endParaRPr lang="en-US" altLang="zh-CN" sz="2400" b="1" dirty="0">
              <a:solidFill>
                <a:srgbClr val="333333"/>
              </a:solidFill>
              <a:latin typeface="Microsoft Yahei" panose="020B0503020204020204" pitchFamily="34" charset="-122"/>
              <a:ea typeface="Microsoft Yahei" panose="020B0503020204020204" pitchFamily="34" charset="-122"/>
            </a:endParaRPr>
          </a:p>
          <a:p>
            <a:r>
              <a:rPr lang="zh-CN" altLang="en-US" sz="2400" b="1" dirty="0">
                <a:solidFill>
                  <a:srgbClr val="333333"/>
                </a:solidFill>
                <a:latin typeface="Microsoft Yahei" panose="020B0503020204020204" pitchFamily="34" charset="-122"/>
                <a:ea typeface="Microsoft Yahei" panose="020B0503020204020204" pitchFamily="34" charset="-122"/>
              </a:rPr>
              <a:t>机制必须是活的</a:t>
            </a:r>
            <a:r>
              <a:rPr lang="zh-CN" altLang="en-US" sz="2400" b="1" dirty="0" smtClean="0">
                <a:solidFill>
                  <a:srgbClr val="333333"/>
                </a:solidFill>
                <a:latin typeface="Microsoft Yahei" panose="020B0503020204020204" pitchFamily="34" charset="-122"/>
                <a:ea typeface="Microsoft Yahei" panose="020B0503020204020204" pitchFamily="34" charset="-122"/>
              </a:rPr>
              <a:t>，不能盲目照搬</a:t>
            </a:r>
            <a:endParaRPr lang="en-US" altLang="zh-CN" sz="2400" b="1" dirty="0" smtClean="0">
              <a:solidFill>
                <a:srgbClr val="333333"/>
              </a:solidFill>
              <a:latin typeface="Microsoft Yahei" panose="020B0503020204020204" pitchFamily="34" charset="-122"/>
              <a:ea typeface="Microsoft Yahei" panose="020B0503020204020204" pitchFamily="34" charset="-122"/>
            </a:endParaRPr>
          </a:p>
          <a:p>
            <a:endParaRPr lang="en-US" altLang="zh-CN" sz="2400" b="1" dirty="0">
              <a:solidFill>
                <a:srgbClr val="333333"/>
              </a:solidFill>
              <a:latin typeface="Microsoft Yahei" panose="020B0503020204020204" pitchFamily="34" charset="-122"/>
              <a:ea typeface="Microsoft Yahei" panose="020B0503020204020204" pitchFamily="34" charset="-122"/>
            </a:endParaRPr>
          </a:p>
          <a:p>
            <a:r>
              <a:rPr lang="en-US" altLang="zh-CN" sz="2400" b="1" dirty="0" smtClean="0">
                <a:solidFill>
                  <a:srgbClr val="333333"/>
                </a:solidFill>
                <a:latin typeface="Microsoft Yahei" panose="020B0503020204020204" pitchFamily="34" charset="-122"/>
                <a:ea typeface="Microsoft Yahei" panose="020B0503020204020204" pitchFamily="34" charset="-122"/>
              </a:rPr>
              <a:t>CMM</a:t>
            </a:r>
            <a:r>
              <a:rPr lang="zh-CN" altLang="en-US" sz="2400" b="1" dirty="0" smtClean="0">
                <a:solidFill>
                  <a:srgbClr val="333333"/>
                </a:solidFill>
                <a:latin typeface="Microsoft Yahei" panose="020B0503020204020204" pitchFamily="34" charset="-122"/>
                <a:ea typeface="Microsoft Yahei" panose="020B0503020204020204" pitchFamily="34" charset="-122"/>
              </a:rPr>
              <a:t>是</a:t>
            </a:r>
            <a:r>
              <a:rPr lang="zh-CN" altLang="en-US" sz="2400" b="1" dirty="0">
                <a:solidFill>
                  <a:srgbClr val="333333"/>
                </a:solidFill>
                <a:latin typeface="Microsoft Yahei" panose="020B0503020204020204" pitchFamily="34" charset="-122"/>
                <a:ea typeface="Microsoft Yahei" panose="020B0503020204020204" pitchFamily="34" charset="-122"/>
              </a:rPr>
              <a:t>一种约束，重要的是真的去执行、</a:t>
            </a:r>
            <a:r>
              <a:rPr lang="zh-CN" altLang="en-US" sz="2400" b="1" dirty="0" smtClean="0">
                <a:solidFill>
                  <a:srgbClr val="333333"/>
                </a:solidFill>
                <a:latin typeface="Microsoft Yahei" panose="020B0503020204020204" pitchFamily="34" charset="-122"/>
                <a:ea typeface="Microsoft Yahei" panose="020B0503020204020204" pitchFamily="34" charset="-122"/>
              </a:rPr>
              <a:t>去使用</a:t>
            </a:r>
            <a:endParaRPr lang="zh-CN" altLang="en-US" sz="2400" b="1" dirty="0">
              <a:solidFill>
                <a:srgbClr val="333333"/>
              </a:solidFill>
              <a:latin typeface="Microsoft Yahei" panose="020B0503020204020204" pitchFamily="34" charset="-122"/>
              <a:ea typeface="Microsoft Yahei" panose="020B0503020204020204" pitchFamily="34" charset="-122"/>
            </a:endParaRPr>
          </a:p>
          <a:p>
            <a:endParaRPr lang="zh-CN" altLang="en-US" sz="2400" b="1" dirty="0">
              <a:solidFill>
                <a:srgbClr val="333333"/>
              </a:solidFill>
              <a:latin typeface="Microsoft Yahei" panose="020B0503020204020204" pitchFamily="34" charset="-122"/>
              <a:ea typeface="Microsoft Yahei" panose="020B0503020204020204" pitchFamily="34" charset="-122"/>
            </a:endParaRPr>
          </a:p>
          <a:p>
            <a:endParaRPr lang="zh-CN" altLang="en-US" sz="2400" b="1" dirty="0">
              <a:solidFill>
                <a:srgbClr val="333333"/>
              </a:solidFill>
              <a:latin typeface="Microsoft Yahei" panose="020B0503020204020204" pitchFamily="34" charset="-122"/>
              <a:ea typeface="Microsoft Yahei" panose="020B0503020204020204" pitchFamily="34" charset="-122"/>
            </a:endParaRPr>
          </a:p>
          <a:p>
            <a:endParaRPr lang="zh-CN" altLang="en-US" sz="2400" b="1" dirty="0">
              <a:solidFill>
                <a:srgbClr val="333333"/>
              </a:solidFill>
              <a:latin typeface="Microsoft Yahei" panose="020B0503020204020204" pitchFamily="34" charset="-122"/>
              <a:ea typeface="Microsoft Yahei" panose="020B0503020204020204" pitchFamily="34" charset="-122"/>
            </a:endParaRPr>
          </a:p>
          <a:p>
            <a:endParaRPr lang="en-US" altLang="zh-CN" sz="2400" b="1" dirty="0" smtClean="0">
              <a:solidFill>
                <a:srgbClr val="333333"/>
              </a:solidFill>
              <a:latin typeface="Microsoft Yahei" panose="020B0503020204020204" pitchFamily="34" charset="-122"/>
              <a:ea typeface="Microsoft Yahei" panose="020B0503020204020204" pitchFamily="34" charset="-122"/>
            </a:endParaRPr>
          </a:p>
          <a:p>
            <a:endParaRPr lang="zh-CN" altLang="en-US" sz="2400" b="1" i="0" dirty="0">
              <a:solidFill>
                <a:srgbClr val="333333"/>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50192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txBox="1">
            <a:spLocks/>
          </p:cNvSpPr>
          <p:nvPr/>
        </p:nvSpPr>
        <p:spPr>
          <a:xfrm>
            <a:off x="1143840" y="266933"/>
            <a:ext cx="2839925" cy="50596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三 个 模 型</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27"/>
          <p:cNvSpPr/>
          <p:nvPr/>
        </p:nvSpPr>
        <p:spPr>
          <a:xfrm>
            <a:off x="3795679" y="1791598"/>
            <a:ext cx="6803600" cy="1118845"/>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a:xfrm>
            <a:off x="4871007" y="1574062"/>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en-US" altLang="zh-CN" sz="1867" dirty="0">
                <a:latin typeface="微软雅黑" panose="020B0503020204020204" pitchFamily="34" charset="-122"/>
                <a:ea typeface="微软雅黑" panose="020B0503020204020204" pitchFamily="34" charset="-122"/>
                <a:sym typeface="微软雅黑" panose="020B0503020204020204" pitchFamily="34" charset="-122"/>
              </a:rPr>
              <a:t>CMMI-DEV</a:t>
            </a:r>
          </a:p>
        </p:txBody>
      </p:sp>
      <p:sp>
        <p:nvSpPr>
          <p:cNvPr id="30" name="六边形 29"/>
          <p:cNvSpPr/>
          <p:nvPr/>
        </p:nvSpPr>
        <p:spPr>
          <a:xfrm>
            <a:off x="1204838" y="3234261"/>
            <a:ext cx="1587263" cy="1368152"/>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zh-CN" altLang="en-US" sz="2667" b="1" dirty="0">
                <a:latin typeface="微软雅黑" panose="020B0503020204020204" pitchFamily="34" charset="-122"/>
                <a:ea typeface="微软雅黑" panose="020B0503020204020204" pitchFamily="34" charset="-122"/>
                <a:sym typeface="微软雅黑" panose="020B0503020204020204" pitchFamily="34" charset="-122"/>
              </a:rPr>
              <a:t>模型定义</a:t>
            </a:r>
          </a:p>
        </p:txBody>
      </p:sp>
      <p:cxnSp>
        <p:nvCxnSpPr>
          <p:cNvPr id="31" name="直接箭头连接符 30"/>
          <p:cNvCxnSpPr>
            <a:stCxn id="30" idx="5"/>
            <a:endCxn id="28" idx="1"/>
          </p:cNvCxnSpPr>
          <p:nvPr/>
        </p:nvCxnSpPr>
        <p:spPr>
          <a:xfrm flipV="1">
            <a:off x="2450063" y="2351021"/>
            <a:ext cx="1345616" cy="883241"/>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30" idx="0"/>
            <a:endCxn id="35" idx="1"/>
          </p:cNvCxnSpPr>
          <p:nvPr/>
        </p:nvCxnSpPr>
        <p:spPr>
          <a:xfrm flipV="1">
            <a:off x="2792100" y="3915449"/>
            <a:ext cx="1003579" cy="2888"/>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30" idx="1"/>
            <a:endCxn id="38" idx="1"/>
          </p:cNvCxnSpPr>
          <p:nvPr/>
        </p:nvCxnSpPr>
        <p:spPr>
          <a:xfrm>
            <a:off x="2450063" y="4602414"/>
            <a:ext cx="1345616" cy="905385"/>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189733" y="2153933"/>
            <a:ext cx="6049460" cy="625686"/>
          </a:xfrm>
          <a:prstGeom prst="rect">
            <a:avLst/>
          </a:prstGeom>
          <a:noFill/>
        </p:spPr>
        <p:txBody>
          <a:bodyPr wrap="square" lIns="91445" tIns="45721" rIns="91445" bIns="45721" rtlCol="0">
            <a:spAutoFit/>
          </a:bodyPr>
          <a:lstStyle/>
          <a:p>
            <a:pPr algn="ct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即</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rPr>
              <a:t>CMMI for Development</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模型。</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该模型是目前在全国使用最广的模型，通常说的</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rPr>
              <a:t>CMMI</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模型即指该模型。</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矩形 34"/>
          <p:cNvSpPr/>
          <p:nvPr/>
        </p:nvSpPr>
        <p:spPr>
          <a:xfrm>
            <a:off x="3795679" y="3356027"/>
            <a:ext cx="6803600" cy="1118845"/>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35"/>
          <p:cNvSpPr/>
          <p:nvPr/>
        </p:nvSpPr>
        <p:spPr>
          <a:xfrm>
            <a:off x="4871007" y="3148734"/>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en-US" altLang="zh-CN" sz="1867" dirty="0">
                <a:latin typeface="微软雅黑" panose="020B0503020204020204" pitchFamily="34" charset="-122"/>
                <a:ea typeface="微软雅黑" panose="020B0503020204020204" pitchFamily="34" charset="-122"/>
                <a:sym typeface="微软雅黑" panose="020B0503020204020204" pitchFamily="34" charset="-122"/>
              </a:rPr>
              <a:t>CMMI-SVC</a:t>
            </a:r>
          </a:p>
        </p:txBody>
      </p:sp>
      <p:sp>
        <p:nvSpPr>
          <p:cNvPr id="37" name="TextBox 36"/>
          <p:cNvSpPr txBox="1"/>
          <p:nvPr/>
        </p:nvSpPr>
        <p:spPr>
          <a:xfrm>
            <a:off x="3887755" y="3690878"/>
            <a:ext cx="6802812" cy="625686"/>
          </a:xfrm>
          <a:prstGeom prst="rect">
            <a:avLst/>
          </a:prstGeom>
          <a:noFill/>
        </p:spPr>
        <p:txBody>
          <a:bodyPr wrap="square" lIns="91445" tIns="45721" rIns="91445" bIns="45721" rtlCol="0">
            <a:spAutoFit/>
          </a:bodyPr>
          <a:lstStyle/>
          <a:p>
            <a:pPr algn="ct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即</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rPr>
              <a:t>CMMI for Services</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模型</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该模型吸收了</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ISO20000</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ITIL</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等服务相关标准的优点，并采用了</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CMMI</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的框架结构形成。</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37"/>
          <p:cNvSpPr/>
          <p:nvPr/>
        </p:nvSpPr>
        <p:spPr>
          <a:xfrm>
            <a:off x="3795679" y="4948376"/>
            <a:ext cx="6803600" cy="1118845"/>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endParaRPr lang="zh-CN" altLang="en-US" sz="24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38"/>
          <p:cNvSpPr/>
          <p:nvPr/>
        </p:nvSpPr>
        <p:spPr>
          <a:xfrm>
            <a:off x="4871007" y="4741084"/>
            <a:ext cx="4686911" cy="436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5" tIns="45721" rIns="91445" bIns="45721" rtlCol="0" anchor="ctr"/>
          <a:lstStyle/>
          <a:p>
            <a:pPr algn="ctr"/>
            <a:r>
              <a:rPr lang="en-US" altLang="zh-CN" sz="1867" dirty="0">
                <a:latin typeface="微软雅黑" panose="020B0503020204020204" pitchFamily="34" charset="-122"/>
                <a:ea typeface="微软雅黑" panose="020B0503020204020204" pitchFamily="34" charset="-122"/>
                <a:sym typeface="微软雅黑" panose="020B0503020204020204" pitchFamily="34" charset="-122"/>
              </a:rPr>
              <a:t>CMMI-ACQ</a:t>
            </a:r>
          </a:p>
        </p:txBody>
      </p:sp>
      <p:sp>
        <p:nvSpPr>
          <p:cNvPr id="40" name="TextBox 39"/>
          <p:cNvSpPr txBox="1"/>
          <p:nvPr/>
        </p:nvSpPr>
        <p:spPr>
          <a:xfrm>
            <a:off x="4009688" y="5290490"/>
            <a:ext cx="6409547" cy="625686"/>
          </a:xfrm>
          <a:prstGeom prst="rect">
            <a:avLst/>
          </a:prstGeom>
          <a:noFill/>
        </p:spPr>
        <p:txBody>
          <a:bodyPr wrap="square" lIns="91445" tIns="45721" rIns="91445" bIns="45721" rtlCol="0">
            <a:spAutoFit/>
          </a:bodyPr>
          <a:lstStyle/>
          <a:p>
            <a:pPr algn="ct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即</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CMMI for Acquisition </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模型。</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该模型基于</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CMMI</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模型基础架构，整合了</a:t>
            </a:r>
            <a:r>
              <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CMMI</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采购模型、软件采购模型等</a:t>
            </a:r>
            <a:endParaRPr lang="en-US" altLang="zh-CN"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117995215"/>
      </p:ext>
    </p:extLst>
  </p:cSld>
  <p:clrMapOvr>
    <a:masterClrMapping/>
  </p:clrMapOvr>
  <p:transition spd="slow"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650"/>
                                </p:stCondLst>
                                <p:childTnLst>
                                  <p:par>
                                    <p:cTn id="13" presetID="14"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par>
                              <p:cTn id="16" fill="hold">
                                <p:stCondLst>
                                  <p:cond delay="115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childTnLst>
                              </p:cTn>
                            </p:par>
                            <p:par>
                              <p:cTn id="30" fill="hold">
                                <p:stCondLst>
                                  <p:cond delay="0"/>
                                </p:stCondLst>
                                <p:childTnLst>
                                  <p:par>
                                    <p:cTn id="31" presetID="2" presetClass="entr" presetSubtype="1" fill="hold" grpId="0" nodeType="afterEffect" p14:presetBounceEnd="50000">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14:bounceEnd="50000">
                                          <p:cBhvr additive="base">
                                            <p:cTn id="33"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34" dur="500" fill="hold"/>
                                            <p:tgtEl>
                                              <p:spTgt spid="28"/>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par>
                              <p:cTn id="39" fill="hold">
                                <p:stCondLst>
                                  <p:cond delay="0"/>
                                </p:stCondLst>
                                <p:childTnLst>
                                  <p:par>
                                    <p:cTn id="40" presetID="2" presetClass="entr" presetSubtype="1" fill="hold" grpId="0" nodeType="afterEffect" p14:presetBounceEnd="50000">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14:bounceEnd="50000">
                                          <p:cBhvr additive="base">
                                            <p:cTn id="42" dur="500" fill="hold"/>
                                            <p:tgtEl>
                                              <p:spTgt spid="35"/>
                                            </p:tgtEl>
                                            <p:attrNameLst>
                                              <p:attrName>ppt_x</p:attrName>
                                            </p:attrNameLst>
                                          </p:cBhvr>
                                          <p:tavLst>
                                            <p:tav tm="0">
                                              <p:val>
                                                <p:strVal val="#ppt_x"/>
                                              </p:val>
                                            </p:tav>
                                            <p:tav tm="100000">
                                              <p:val>
                                                <p:strVal val="#ppt_x"/>
                                              </p:val>
                                            </p:tav>
                                          </p:tavLst>
                                        </p:anim>
                                        <p:anim calcmode="lin" valueType="num" p14:bounceEnd="50000">
                                          <p:cBhvr additive="base">
                                            <p:cTn id="43" dur="500" fill="hold"/>
                                            <p:tgtEl>
                                              <p:spTgt spid="35"/>
                                            </p:tgtEl>
                                            <p:attrNameLst>
                                              <p:attrName>ppt_y</p:attrName>
                                            </p:attrNameLst>
                                          </p:cBhvr>
                                          <p:tavLst>
                                            <p:tav tm="0">
                                              <p:val>
                                                <p:strVal val="0-#ppt_h/2"/>
                                              </p:val>
                                            </p:tav>
                                            <p:tav tm="100000">
                                              <p:val>
                                                <p:strVal val="#ppt_y"/>
                                              </p:val>
                                            </p:tav>
                                          </p:tavLst>
                                        </p:anim>
                                      </p:childTnLst>
                                    </p:cTn>
                                  </p:par>
                                </p:childTnLst>
                              </p:cTn>
                            </p:par>
                            <p:par>
                              <p:cTn id="44" fill="hold">
                                <p:stCondLst>
                                  <p:cond delay="500"/>
                                </p:stCondLst>
                                <p:childTnLst>
                                  <p:par>
                                    <p:cTn id="45" presetID="16" presetClass="entr" presetSubtype="37"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Vertic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par>
                              <p:cTn id="52" fill="hold">
                                <p:stCondLst>
                                  <p:cond delay="0"/>
                                </p:stCondLst>
                                <p:childTnLst>
                                  <p:par>
                                    <p:cTn id="53" presetID="16" presetClass="entr" presetSubtype="37" fill="hold" grpId="0"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barn(outVertical)">
                                          <p:cBhvr>
                                            <p:cTn id="55" dur="500"/>
                                            <p:tgtEl>
                                              <p:spTgt spid="39"/>
                                            </p:tgtEl>
                                          </p:cBhvr>
                                        </p:animEffect>
                                      </p:childTnLst>
                                    </p:cTn>
                                  </p:par>
                                </p:childTnLst>
                              </p:cTn>
                            </p:par>
                            <p:par>
                              <p:cTn id="56" fill="hold">
                                <p:stCondLst>
                                  <p:cond delay="500"/>
                                </p:stCondLst>
                                <p:childTnLst>
                                  <p:par>
                                    <p:cTn id="57" presetID="2" presetClass="entr" presetSubtype="1" fill="hold" grpId="0" nodeType="afterEffect" p14:presetBounceEnd="50000">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14:bounceEnd="50000">
                                          <p:cBhvr additive="base">
                                            <p:cTn id="59" dur="500" fill="hold"/>
                                            <p:tgtEl>
                                              <p:spTgt spid="38"/>
                                            </p:tgtEl>
                                            <p:attrNameLst>
                                              <p:attrName>ppt_x</p:attrName>
                                            </p:attrNameLst>
                                          </p:cBhvr>
                                          <p:tavLst>
                                            <p:tav tm="0">
                                              <p:val>
                                                <p:strVal val="#ppt_x"/>
                                              </p:val>
                                            </p:tav>
                                            <p:tav tm="100000">
                                              <p:val>
                                                <p:strVal val="#ppt_x"/>
                                              </p:val>
                                            </p:tav>
                                          </p:tavLst>
                                        </p:anim>
                                        <p:anim calcmode="lin" valueType="num" p14:bounceEnd="50000">
                                          <p:cBhvr additive="base">
                                            <p:cTn id="60" dur="500" fill="hold"/>
                                            <p:tgtEl>
                                              <p:spTgt spid="38"/>
                                            </p:tgtEl>
                                            <p:attrNameLst>
                                              <p:attrName>ppt_y</p:attrName>
                                            </p:attrNameLst>
                                          </p:cBhvr>
                                          <p:tavLst>
                                            <p:tav tm="0">
                                              <p:val>
                                                <p:strVal val="0-#ppt_h/2"/>
                                              </p:val>
                                            </p:tav>
                                            <p:tav tm="100000">
                                              <p:val>
                                                <p:strVal val="#ppt_y"/>
                                              </p:val>
                                            </p:tav>
                                          </p:tavLst>
                                        </p:anim>
                                      </p:childTnLst>
                                    </p:cTn>
                                  </p:par>
                                </p:childTnLst>
                              </p:cTn>
                            </p:par>
                            <p:par>
                              <p:cTn id="61" fill="hold">
                                <p:stCondLst>
                                  <p:cond delay="1000"/>
                                </p:stCondLst>
                                <p:childTnLst>
                                  <p:par>
                                    <p:cTn id="62" presetID="22" presetClass="entr" presetSubtype="8" fill="hold" grpId="0" nodeType="afterEffect">
                                      <p:stCondLst>
                                        <p:cond delay="0"/>
                                      </p:stCondLst>
                                      <p:iterate type="lt">
                                        <p:tmPct val="30000"/>
                                      </p:iterate>
                                      <p:childTnLst>
                                        <p:set>
                                          <p:cBhvr>
                                            <p:cTn id="63" dur="1" fill="hold">
                                              <p:stCondLst>
                                                <p:cond delay="0"/>
                                              </p:stCondLst>
                                            </p:cTn>
                                            <p:tgtEl>
                                              <p:spTgt spid="40"/>
                                            </p:tgtEl>
                                            <p:attrNameLst>
                                              <p:attrName>style.visibility</p:attrName>
                                            </p:attrNameLst>
                                          </p:cBhvr>
                                          <p:to>
                                            <p:strVal val="visible"/>
                                          </p:to>
                                        </p:set>
                                        <p:animEffect transition="in" filter="wipe(left)">
                                          <p:cBhvr>
                                            <p:cTn id="64" dur="100"/>
                                            <p:tgtEl>
                                              <p:spTgt spid="40"/>
                                            </p:tgtEl>
                                          </p:cBhvr>
                                        </p:animEffect>
                                      </p:childTnLst>
                                    </p:cTn>
                                  </p:par>
                                  <p:par>
                                    <p:cTn id="65" presetID="36" presetClass="emph" presetSubtype="0" fill="hold" grpId="1" nodeType="withEffect">
                                      <p:stCondLst>
                                        <p:cond delay="0"/>
                                      </p:stCondLst>
                                      <p:iterate type="lt">
                                        <p:tmPct val="30000"/>
                                      </p:iterate>
                                      <p:childTnLst>
                                        <p:animScale>
                                          <p:cBhvr>
                                            <p:cTn id="66" dur="50" autoRev="1" fill="hold">
                                              <p:stCondLst>
                                                <p:cond delay="0"/>
                                              </p:stCondLst>
                                            </p:cTn>
                                            <p:tgtEl>
                                              <p:spTgt spid="40"/>
                                            </p:tgtEl>
                                          </p:cBhvr>
                                          <p:to x="80000" y="100000"/>
                                        </p:animScale>
                                        <p:anim by="(#ppt_w*0.10)" calcmode="lin" valueType="num">
                                          <p:cBhvr>
                                            <p:cTn id="67" dur="50" autoRev="1" fill="hold">
                                              <p:stCondLst>
                                                <p:cond delay="0"/>
                                              </p:stCondLst>
                                            </p:cTn>
                                            <p:tgtEl>
                                              <p:spTgt spid="40"/>
                                            </p:tgtEl>
                                            <p:attrNameLst>
                                              <p:attrName>ppt_x</p:attrName>
                                            </p:attrNameLst>
                                          </p:cBhvr>
                                        </p:anim>
                                        <p:anim by="(-#ppt_w*0.10)" calcmode="lin" valueType="num">
                                          <p:cBhvr>
                                            <p:cTn id="68" dur="50" autoRev="1" fill="hold">
                                              <p:stCondLst>
                                                <p:cond delay="0"/>
                                              </p:stCondLst>
                                            </p:cTn>
                                            <p:tgtEl>
                                              <p:spTgt spid="40"/>
                                            </p:tgtEl>
                                            <p:attrNameLst>
                                              <p:attrName>ppt_y</p:attrName>
                                            </p:attrNameLst>
                                          </p:cBhvr>
                                        </p:anim>
                                        <p:animRot by="-480000">
                                          <p:cBhvr>
                                            <p:cTn id="69"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animBg="1"/>
          <p:bldP spid="30" grpId="0" animBg="1"/>
          <p:bldP spid="34" grpId="0"/>
          <p:bldP spid="35" grpId="0" animBg="1"/>
          <p:bldP spid="36" grpId="0" animBg="1"/>
          <p:bldP spid="37" grpId="0"/>
          <p:bldP spid="38" grpId="0" animBg="1"/>
          <p:bldP spid="39" grpId="0" animBg="1"/>
          <p:bldP spid="40" grpId="0"/>
          <p:bldP spid="40"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650"/>
                                </p:stCondLst>
                                <p:childTnLst>
                                  <p:par>
                                    <p:cTn id="13" presetID="14"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par>
                              <p:cTn id="16" fill="hold">
                                <p:stCondLst>
                                  <p:cond delay="115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childTnLst>
                              </p:cTn>
                            </p:par>
                            <p:par>
                              <p:cTn id="30" fill="hold">
                                <p:stCondLst>
                                  <p:cond delay="0"/>
                                </p:stCondLst>
                                <p:childTnLst>
                                  <p:par>
                                    <p:cTn id="31" presetID="2" presetClass="entr" presetSubtype="1"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ppt_x"/>
                                              </p:val>
                                            </p:tav>
                                            <p:tav tm="100000">
                                              <p:val>
                                                <p:strVal val="#ppt_x"/>
                                              </p:val>
                                            </p:tav>
                                          </p:tavLst>
                                        </p:anim>
                                        <p:anim calcmode="lin" valueType="num">
                                          <p:cBhvr additive="base">
                                            <p:cTn id="34" dur="500" fill="hold"/>
                                            <p:tgtEl>
                                              <p:spTgt spid="28"/>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par>
                              <p:cTn id="39" fill="hold">
                                <p:stCondLst>
                                  <p:cond delay="0"/>
                                </p:stCondLst>
                                <p:childTnLst>
                                  <p:par>
                                    <p:cTn id="40" presetID="2" presetClass="entr" presetSubtype="1"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additive="base">
                                            <p:cTn id="42" dur="500" fill="hold"/>
                                            <p:tgtEl>
                                              <p:spTgt spid="35"/>
                                            </p:tgtEl>
                                            <p:attrNameLst>
                                              <p:attrName>ppt_x</p:attrName>
                                            </p:attrNameLst>
                                          </p:cBhvr>
                                          <p:tavLst>
                                            <p:tav tm="0">
                                              <p:val>
                                                <p:strVal val="#ppt_x"/>
                                              </p:val>
                                            </p:tav>
                                            <p:tav tm="100000">
                                              <p:val>
                                                <p:strVal val="#ppt_x"/>
                                              </p:val>
                                            </p:tav>
                                          </p:tavLst>
                                        </p:anim>
                                        <p:anim calcmode="lin" valueType="num">
                                          <p:cBhvr additive="base">
                                            <p:cTn id="43" dur="500" fill="hold"/>
                                            <p:tgtEl>
                                              <p:spTgt spid="35"/>
                                            </p:tgtEl>
                                            <p:attrNameLst>
                                              <p:attrName>ppt_y</p:attrName>
                                            </p:attrNameLst>
                                          </p:cBhvr>
                                          <p:tavLst>
                                            <p:tav tm="0">
                                              <p:val>
                                                <p:strVal val="0-#ppt_h/2"/>
                                              </p:val>
                                            </p:tav>
                                            <p:tav tm="100000">
                                              <p:val>
                                                <p:strVal val="#ppt_y"/>
                                              </p:val>
                                            </p:tav>
                                          </p:tavLst>
                                        </p:anim>
                                      </p:childTnLst>
                                    </p:cTn>
                                  </p:par>
                                </p:childTnLst>
                              </p:cTn>
                            </p:par>
                            <p:par>
                              <p:cTn id="44" fill="hold">
                                <p:stCondLst>
                                  <p:cond delay="500"/>
                                </p:stCondLst>
                                <p:childTnLst>
                                  <p:par>
                                    <p:cTn id="45" presetID="16" presetClass="entr" presetSubtype="37"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Vertic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par>
                              <p:cTn id="52" fill="hold">
                                <p:stCondLst>
                                  <p:cond delay="0"/>
                                </p:stCondLst>
                                <p:childTnLst>
                                  <p:par>
                                    <p:cTn id="53" presetID="16" presetClass="entr" presetSubtype="37" fill="hold" grpId="0"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barn(outVertical)">
                                          <p:cBhvr>
                                            <p:cTn id="55" dur="500"/>
                                            <p:tgtEl>
                                              <p:spTgt spid="39"/>
                                            </p:tgtEl>
                                          </p:cBhvr>
                                        </p:animEffect>
                                      </p:childTnLst>
                                    </p:cTn>
                                  </p:par>
                                </p:childTnLst>
                              </p:cTn>
                            </p:par>
                            <p:par>
                              <p:cTn id="56" fill="hold">
                                <p:stCondLst>
                                  <p:cond delay="500"/>
                                </p:stCondLst>
                                <p:childTnLst>
                                  <p:par>
                                    <p:cTn id="57" presetID="2" presetClass="entr" presetSubtype="1" fill="hold" grpId="0" nodeType="afterEffect">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cBhvr additive="base">
                                            <p:cTn id="59" dur="500" fill="hold"/>
                                            <p:tgtEl>
                                              <p:spTgt spid="38"/>
                                            </p:tgtEl>
                                            <p:attrNameLst>
                                              <p:attrName>ppt_x</p:attrName>
                                            </p:attrNameLst>
                                          </p:cBhvr>
                                          <p:tavLst>
                                            <p:tav tm="0">
                                              <p:val>
                                                <p:strVal val="#ppt_x"/>
                                              </p:val>
                                            </p:tav>
                                            <p:tav tm="100000">
                                              <p:val>
                                                <p:strVal val="#ppt_x"/>
                                              </p:val>
                                            </p:tav>
                                          </p:tavLst>
                                        </p:anim>
                                        <p:anim calcmode="lin" valueType="num">
                                          <p:cBhvr additive="base">
                                            <p:cTn id="60" dur="500" fill="hold"/>
                                            <p:tgtEl>
                                              <p:spTgt spid="38"/>
                                            </p:tgtEl>
                                            <p:attrNameLst>
                                              <p:attrName>ppt_y</p:attrName>
                                            </p:attrNameLst>
                                          </p:cBhvr>
                                          <p:tavLst>
                                            <p:tav tm="0">
                                              <p:val>
                                                <p:strVal val="0-#ppt_h/2"/>
                                              </p:val>
                                            </p:tav>
                                            <p:tav tm="100000">
                                              <p:val>
                                                <p:strVal val="#ppt_y"/>
                                              </p:val>
                                            </p:tav>
                                          </p:tavLst>
                                        </p:anim>
                                      </p:childTnLst>
                                    </p:cTn>
                                  </p:par>
                                </p:childTnLst>
                              </p:cTn>
                            </p:par>
                            <p:par>
                              <p:cTn id="61" fill="hold">
                                <p:stCondLst>
                                  <p:cond delay="1000"/>
                                </p:stCondLst>
                                <p:childTnLst>
                                  <p:par>
                                    <p:cTn id="62" presetID="22" presetClass="entr" presetSubtype="8" fill="hold" grpId="0" nodeType="afterEffect">
                                      <p:stCondLst>
                                        <p:cond delay="0"/>
                                      </p:stCondLst>
                                      <p:iterate type="lt">
                                        <p:tmPct val="30000"/>
                                      </p:iterate>
                                      <p:childTnLst>
                                        <p:set>
                                          <p:cBhvr>
                                            <p:cTn id="63" dur="1" fill="hold">
                                              <p:stCondLst>
                                                <p:cond delay="0"/>
                                              </p:stCondLst>
                                            </p:cTn>
                                            <p:tgtEl>
                                              <p:spTgt spid="40"/>
                                            </p:tgtEl>
                                            <p:attrNameLst>
                                              <p:attrName>style.visibility</p:attrName>
                                            </p:attrNameLst>
                                          </p:cBhvr>
                                          <p:to>
                                            <p:strVal val="visible"/>
                                          </p:to>
                                        </p:set>
                                        <p:animEffect transition="in" filter="wipe(left)">
                                          <p:cBhvr>
                                            <p:cTn id="64" dur="100"/>
                                            <p:tgtEl>
                                              <p:spTgt spid="40"/>
                                            </p:tgtEl>
                                          </p:cBhvr>
                                        </p:animEffect>
                                      </p:childTnLst>
                                    </p:cTn>
                                  </p:par>
                                  <p:par>
                                    <p:cTn id="65" presetID="36" presetClass="emph" presetSubtype="0" fill="hold" grpId="1" nodeType="withEffect">
                                      <p:stCondLst>
                                        <p:cond delay="0"/>
                                      </p:stCondLst>
                                      <p:iterate type="lt">
                                        <p:tmPct val="30000"/>
                                      </p:iterate>
                                      <p:childTnLst>
                                        <p:animScale>
                                          <p:cBhvr>
                                            <p:cTn id="66" dur="50" autoRev="1" fill="hold">
                                              <p:stCondLst>
                                                <p:cond delay="0"/>
                                              </p:stCondLst>
                                            </p:cTn>
                                            <p:tgtEl>
                                              <p:spTgt spid="40"/>
                                            </p:tgtEl>
                                          </p:cBhvr>
                                          <p:to x="80000" y="100000"/>
                                        </p:animScale>
                                        <p:anim by="(#ppt_w*0.10)" calcmode="lin" valueType="num">
                                          <p:cBhvr>
                                            <p:cTn id="67" dur="50" autoRev="1" fill="hold">
                                              <p:stCondLst>
                                                <p:cond delay="0"/>
                                              </p:stCondLst>
                                            </p:cTn>
                                            <p:tgtEl>
                                              <p:spTgt spid="40"/>
                                            </p:tgtEl>
                                            <p:attrNameLst>
                                              <p:attrName>ppt_x</p:attrName>
                                            </p:attrNameLst>
                                          </p:cBhvr>
                                        </p:anim>
                                        <p:anim by="(-#ppt_w*0.10)" calcmode="lin" valueType="num">
                                          <p:cBhvr>
                                            <p:cTn id="68" dur="50" autoRev="1" fill="hold">
                                              <p:stCondLst>
                                                <p:cond delay="0"/>
                                              </p:stCondLst>
                                            </p:cTn>
                                            <p:tgtEl>
                                              <p:spTgt spid="40"/>
                                            </p:tgtEl>
                                            <p:attrNameLst>
                                              <p:attrName>ppt_y</p:attrName>
                                            </p:attrNameLst>
                                          </p:cBhvr>
                                        </p:anim>
                                        <p:animRot by="-480000">
                                          <p:cBhvr>
                                            <p:cTn id="69"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animBg="1"/>
          <p:bldP spid="30" grpId="0" animBg="1"/>
          <p:bldP spid="34" grpId="0"/>
          <p:bldP spid="35" grpId="0" animBg="1"/>
          <p:bldP spid="36" grpId="0" animBg="1"/>
          <p:bldP spid="37" grpId="0"/>
          <p:bldP spid="38" grpId="0" animBg="1"/>
          <p:bldP spid="39" grpId="0" animBg="1"/>
          <p:bldP spid="40" grpId="0"/>
          <p:bldP spid="40" grpId="1"/>
        </p:bldLst>
      </p:timing>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43840" y="266933"/>
            <a:ext cx="2839925" cy="50596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模 型 应 用</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14"/>
          <p:cNvSpPr/>
          <p:nvPr/>
        </p:nvSpPr>
        <p:spPr>
          <a:xfrm flipV="1">
            <a:off x="1301" y="3646056"/>
            <a:ext cx="4229088" cy="252849"/>
          </a:xfrm>
          <a:custGeom>
            <a:avLst/>
            <a:gdLst/>
            <a:ahLst/>
            <a:cxnLst/>
            <a:rect l="l" t="t" r="r" b="b"/>
            <a:pathLst>
              <a:path w="4571707" h="242218">
                <a:moveTo>
                  <a:pt x="0" y="242218"/>
                </a:moveTo>
                <a:lnTo>
                  <a:pt x="4571707" y="242218"/>
                </a:lnTo>
                <a:lnTo>
                  <a:pt x="4571707" y="0"/>
                </a:lnTo>
                <a:lnTo>
                  <a:pt x="0" y="0"/>
                </a:lnTo>
                <a:close/>
              </a:path>
            </a:pathLst>
          </a:cu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94085" tIns="47043" rIns="94085" bIns="47043" rtlCol="0" anchor="ctr"/>
          <a:lstStyle/>
          <a:p>
            <a:pPr algn="ctr"/>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 name="组合 4"/>
          <p:cNvGrpSpPr/>
          <p:nvPr/>
        </p:nvGrpSpPr>
        <p:grpSpPr>
          <a:xfrm>
            <a:off x="3320333" y="3647524"/>
            <a:ext cx="1786019" cy="1784651"/>
            <a:chOff x="3225639" y="4543565"/>
            <a:chExt cx="1735762" cy="1734334"/>
          </a:xfrm>
        </p:grpSpPr>
        <p:sp>
          <p:nvSpPr>
            <p:cNvPr id="6" name="椭圆 5"/>
            <p:cNvSpPr/>
            <p:nvPr/>
          </p:nvSpPr>
          <p:spPr>
            <a:xfrm flipV="1">
              <a:off x="3225639" y="4543565"/>
              <a:ext cx="1735762" cy="1734334"/>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椭圆 6"/>
            <p:cNvSpPr/>
            <p:nvPr/>
          </p:nvSpPr>
          <p:spPr>
            <a:xfrm rot="10800000" flipV="1">
              <a:off x="3450403" y="4786205"/>
              <a:ext cx="1284515" cy="1284516"/>
            </a:xfrm>
            <a:prstGeom prst="ellipse">
              <a:avLst/>
            </a:prstGeom>
            <a:solidFill>
              <a:schemeClr val="bg1">
                <a:lumMod val="95000"/>
              </a:schemeClr>
            </a:solidFill>
            <a:ln w="25400" cap="flat" cmpd="sng" algn="ctr">
              <a:noFill/>
              <a:prstDash val="solid"/>
            </a:ln>
            <a:effectLst/>
          </p:spPr>
          <p:txBody>
            <a:bodyPr tIns="48000" anchor="ctr" anchorCtr="1"/>
            <a:lstStyle/>
            <a:p>
              <a:pPr lvl="0" algn="ctr">
                <a:defRPr/>
              </a:pPr>
              <a:r>
                <a:rPr lang="en-US" altLang="zh-CN" sz="4133" b="1" kern="0"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4133" b="1" kern="0"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8" name="矩形 14"/>
          <p:cNvSpPr/>
          <p:nvPr/>
        </p:nvSpPr>
        <p:spPr>
          <a:xfrm>
            <a:off x="1301" y="3102368"/>
            <a:ext cx="7201539" cy="252849"/>
          </a:xfrm>
          <a:custGeom>
            <a:avLst/>
            <a:gdLst/>
            <a:ahLst/>
            <a:cxnLst/>
            <a:rect l="l" t="t" r="r" b="b"/>
            <a:pathLst>
              <a:path w="4571707" h="242218">
                <a:moveTo>
                  <a:pt x="0" y="0"/>
                </a:moveTo>
                <a:lnTo>
                  <a:pt x="4571707" y="0"/>
                </a:lnTo>
                <a:lnTo>
                  <a:pt x="4571707" y="242218"/>
                </a:lnTo>
                <a:lnTo>
                  <a:pt x="0" y="242218"/>
                </a:lnTo>
                <a:close/>
              </a:path>
            </a:pathLst>
          </a:cu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94085" tIns="47043" rIns="94085" bIns="47043" rtlCol="0" anchor="ctr"/>
          <a:lstStyle/>
          <a:p>
            <a:pPr algn="ctr"/>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nvGrpSpPr>
        <p:grpSpPr>
          <a:xfrm>
            <a:off x="6309831" y="1573361"/>
            <a:ext cx="1786019" cy="1786121"/>
            <a:chOff x="6131016" y="674750"/>
            <a:chExt cx="1735762" cy="1735763"/>
          </a:xfrm>
        </p:grpSpPr>
        <p:sp>
          <p:nvSpPr>
            <p:cNvPr id="10" name="椭圆 9"/>
            <p:cNvSpPr/>
            <p:nvPr/>
          </p:nvSpPr>
          <p:spPr>
            <a:xfrm>
              <a:off x="6131016" y="674750"/>
              <a:ext cx="1735762" cy="1735763"/>
            </a:xfrm>
            <a:prstGeom prst="ellipse">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4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p:nvPr/>
          </p:nvSpPr>
          <p:spPr>
            <a:xfrm>
              <a:off x="6355778" y="899818"/>
              <a:ext cx="1284515" cy="1284516"/>
            </a:xfrm>
            <a:prstGeom prst="ellipse">
              <a:avLst/>
            </a:prstGeom>
            <a:solidFill>
              <a:schemeClr val="bg1">
                <a:lumMod val="95000"/>
              </a:schemeClr>
            </a:solidFill>
            <a:ln w="25400" cap="flat" cmpd="sng" algn="ctr">
              <a:noFill/>
              <a:prstDash val="solid"/>
            </a:ln>
            <a:effectLst/>
          </p:spPr>
          <p:txBody>
            <a:bodyPr tIns="48000" anchor="ctr"/>
            <a:lstStyle/>
            <a:p>
              <a:pPr lvl="0" algn="ctr">
                <a:defRPr/>
              </a:pPr>
              <a:r>
                <a:rPr lang="en-US" altLang="zh-CN" sz="4133" b="1" kern="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4133" b="1" kern="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2" name="矩形 14"/>
          <p:cNvSpPr/>
          <p:nvPr/>
        </p:nvSpPr>
        <p:spPr>
          <a:xfrm flipV="1">
            <a:off x="6272986" y="3646054"/>
            <a:ext cx="5919015" cy="252849"/>
          </a:xfrm>
          <a:custGeom>
            <a:avLst/>
            <a:gdLst/>
            <a:ahLst/>
            <a:cxnLst/>
            <a:rect l="l" t="t" r="r" b="b"/>
            <a:pathLst>
              <a:path w="4571707" h="242218">
                <a:moveTo>
                  <a:pt x="0" y="242218"/>
                </a:moveTo>
                <a:lnTo>
                  <a:pt x="4571707" y="242218"/>
                </a:lnTo>
                <a:lnTo>
                  <a:pt x="4571707" y="0"/>
                </a:lnTo>
                <a:lnTo>
                  <a:pt x="0" y="0"/>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94085" tIns="47043" rIns="94085" bIns="47043" rtlCol="0" anchor="ctr"/>
          <a:lstStyle/>
          <a:p>
            <a:pPr algn="ctr"/>
            <a:endParaRPr lang="en-US" sz="240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nvGrpSpPr>
        <p:grpSpPr>
          <a:xfrm>
            <a:off x="5379975" y="3647524"/>
            <a:ext cx="1786019" cy="1784651"/>
            <a:chOff x="5227325" y="4543565"/>
            <a:chExt cx="1735762" cy="1734334"/>
          </a:xfrm>
        </p:grpSpPr>
        <p:sp>
          <p:nvSpPr>
            <p:cNvPr id="14" name="椭圆 13"/>
            <p:cNvSpPr/>
            <p:nvPr/>
          </p:nvSpPr>
          <p:spPr>
            <a:xfrm flipV="1">
              <a:off x="5227325" y="4543565"/>
              <a:ext cx="1735762" cy="1734334"/>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p:nvPr/>
          </p:nvSpPr>
          <p:spPr>
            <a:xfrm rot="10800000" flipV="1">
              <a:off x="5460802" y="4768780"/>
              <a:ext cx="1284515" cy="1284516"/>
            </a:xfrm>
            <a:prstGeom prst="ellipse">
              <a:avLst/>
            </a:prstGeom>
            <a:solidFill>
              <a:schemeClr val="bg1">
                <a:lumMod val="95000"/>
              </a:schemeClr>
            </a:solidFill>
            <a:ln w="25400" cap="flat" cmpd="sng" algn="ctr">
              <a:noFill/>
              <a:prstDash val="solid"/>
            </a:ln>
            <a:effectLst/>
          </p:spPr>
          <p:txBody>
            <a:bodyPr tIns="48000" anchor="ctr"/>
            <a:lstStyle/>
            <a:p>
              <a:pPr lvl="0" algn="ctr">
                <a:defRPr/>
              </a:pPr>
              <a:r>
                <a:rPr lang="en-US" altLang="zh-CN" sz="4133" b="1" kern="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4133" b="1" kern="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6" name="TextBox 15"/>
          <p:cNvSpPr txBox="1"/>
          <p:nvPr/>
        </p:nvSpPr>
        <p:spPr>
          <a:xfrm>
            <a:off x="1967542" y="1819130"/>
            <a:ext cx="3936437" cy="1161707"/>
          </a:xfrm>
          <a:prstGeom prst="rect">
            <a:avLst/>
          </a:prstGeom>
          <a:noFill/>
        </p:spPr>
        <p:txBody>
          <a:bodyPr wrap="square" lIns="94085" tIns="47043" rIns="94085" bIns="47043" rtlCol="0">
            <a:spAutoFit/>
          </a:bodyPr>
          <a:lstStyle/>
          <a:p>
            <a:pP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该模型基本上覆盖了产品研发的各个过程领域，包括：项目管理、需求、设计、开发、验证、确认、配置管理、质量保证、决策分析以及对研发的改进和培训等一系列活动。</a:t>
            </a:r>
          </a:p>
        </p:txBody>
      </p:sp>
      <p:sp>
        <p:nvSpPr>
          <p:cNvPr id="17" name="TextBox 16"/>
          <p:cNvSpPr txBox="1"/>
          <p:nvPr/>
        </p:nvSpPr>
        <p:spPr>
          <a:xfrm>
            <a:off x="2999209" y="1417267"/>
            <a:ext cx="1198297" cy="341226"/>
          </a:xfrm>
          <a:prstGeom prst="rect">
            <a:avLst/>
          </a:prstGeom>
          <a:noFill/>
        </p:spPr>
        <p:txBody>
          <a:bodyPr wrap="none" lIns="94085" tIns="47043" rIns="94085" bIns="47043" rtlCol="0">
            <a:spAutoFit/>
          </a:bodyPr>
          <a:lstStyle/>
          <a:p>
            <a:r>
              <a:rPr lang="en-US" altLang="zh-CN" sz="1600" dirty="0"/>
              <a:t>CMMI-DEV</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extBox 17"/>
          <p:cNvSpPr txBox="1"/>
          <p:nvPr/>
        </p:nvSpPr>
        <p:spPr>
          <a:xfrm>
            <a:off x="978819" y="5466529"/>
            <a:ext cx="3894493" cy="1161707"/>
          </a:xfrm>
          <a:prstGeom prst="rect">
            <a:avLst/>
          </a:prstGeom>
          <a:noFill/>
        </p:spPr>
        <p:txBody>
          <a:bodyPr wrap="square" lIns="94085" tIns="47043" rIns="94085" bIns="47043" rtlCol="0">
            <a:spAutoFit/>
          </a:bodyPr>
          <a:lstStyle/>
          <a:p>
            <a:pP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该模型在服务领域，提供了战略服务管理、服务系统开发、服务系统转移、服务交付、服务持续性、能力和可用性管理、事件解决和预防等服务直接相关的过程域</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19" name="TextBox 18"/>
          <p:cNvSpPr txBox="1"/>
          <p:nvPr/>
        </p:nvSpPr>
        <p:spPr>
          <a:xfrm>
            <a:off x="2115846" y="5090949"/>
            <a:ext cx="1181176" cy="341226"/>
          </a:xfrm>
          <a:prstGeom prst="rect">
            <a:avLst/>
          </a:prstGeom>
          <a:noFill/>
        </p:spPr>
        <p:txBody>
          <a:bodyPr wrap="none" lIns="94085" tIns="47043" rIns="94085" bIns="47043" rtlCol="0">
            <a:spAutoFit/>
          </a:bodyPr>
          <a:lstStyle/>
          <a:p>
            <a:r>
              <a:rPr lang="en-US" altLang="zh-CN" sz="1600" dirty="0"/>
              <a:t>CMMI-SVC</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Box 19"/>
          <p:cNvSpPr txBox="1"/>
          <p:nvPr/>
        </p:nvSpPr>
        <p:spPr>
          <a:xfrm>
            <a:off x="6672065" y="5470816"/>
            <a:ext cx="3472636" cy="628356"/>
          </a:xfrm>
          <a:prstGeom prst="rect">
            <a:avLst/>
          </a:prstGeom>
          <a:noFill/>
        </p:spPr>
        <p:txBody>
          <a:bodyPr wrap="square" lIns="94085" tIns="47043" rIns="94085" bIns="47043" rtlCol="0">
            <a:spAutoFit/>
          </a:bodyPr>
          <a:lstStyle/>
          <a:p>
            <a:pPr>
              <a:lnSpc>
                <a:spcPct val="13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模型适用于政府、电信、金融等各领域的采购管理</a:t>
            </a: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21" name="TextBox 20"/>
          <p:cNvSpPr txBox="1"/>
          <p:nvPr/>
        </p:nvSpPr>
        <p:spPr>
          <a:xfrm>
            <a:off x="7632171" y="5110269"/>
            <a:ext cx="1228562" cy="341226"/>
          </a:xfrm>
          <a:prstGeom prst="rect">
            <a:avLst/>
          </a:prstGeom>
          <a:noFill/>
        </p:spPr>
        <p:txBody>
          <a:bodyPr wrap="none" lIns="94085" tIns="47043" rIns="94085" bIns="47043" rtlCol="0">
            <a:spAutoFit/>
          </a:bodyPr>
          <a:lstStyle/>
          <a:p>
            <a:r>
              <a:rPr lang="en-US" altLang="zh-CN" sz="1600" dirty="0"/>
              <a:t>CMMI-ACQ</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1059962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65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150"/>
                            </p:stCondLst>
                            <p:childTnLst>
                              <p:par>
                                <p:cTn id="17" presetID="22" presetClass="entr" presetSubtype="4"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1650"/>
                            </p:stCondLst>
                            <p:childTnLst>
                              <p:par>
                                <p:cTn id="21" presetID="17" presetClass="entr" presetSubtype="1" fill="hold" grpId="0" nodeType="afterEffect">
                                  <p:stCondLst>
                                    <p:cond delay="0"/>
                                  </p:stCondLst>
                                  <p:iterate type="lt">
                                    <p:tmPct val="40000"/>
                                  </p:iterate>
                                  <p:childTnLst>
                                    <p:set>
                                      <p:cBhvr>
                                        <p:cTn id="22" dur="1" fill="hold">
                                          <p:stCondLst>
                                            <p:cond delay="0"/>
                                          </p:stCondLst>
                                        </p:cTn>
                                        <p:tgtEl>
                                          <p:spTgt spid="17"/>
                                        </p:tgtEl>
                                        <p:attrNameLst>
                                          <p:attrName>style.visibility</p:attrName>
                                        </p:attrNameLst>
                                      </p:cBhvr>
                                      <p:to>
                                        <p:strVal val="visible"/>
                                      </p:to>
                                    </p:set>
                                    <p:anim calcmode="lin" valueType="num">
                                      <p:cBhvr>
                                        <p:cTn id="23" dur="250" fill="hold"/>
                                        <p:tgtEl>
                                          <p:spTgt spid="17"/>
                                        </p:tgtEl>
                                        <p:attrNameLst>
                                          <p:attrName>ppt_x</p:attrName>
                                        </p:attrNameLst>
                                      </p:cBhvr>
                                      <p:tavLst>
                                        <p:tav tm="0">
                                          <p:val>
                                            <p:strVal val="#ppt_x"/>
                                          </p:val>
                                        </p:tav>
                                        <p:tav tm="100000">
                                          <p:val>
                                            <p:strVal val="#ppt_x"/>
                                          </p:val>
                                        </p:tav>
                                      </p:tavLst>
                                    </p:anim>
                                    <p:anim calcmode="lin" valueType="num">
                                      <p:cBhvr>
                                        <p:cTn id="24" dur="250" fill="hold"/>
                                        <p:tgtEl>
                                          <p:spTgt spid="17"/>
                                        </p:tgtEl>
                                        <p:attrNameLst>
                                          <p:attrName>ppt_y</p:attrName>
                                        </p:attrNameLst>
                                      </p:cBhvr>
                                      <p:tavLst>
                                        <p:tav tm="0">
                                          <p:val>
                                            <p:strVal val="#ppt_y-#ppt_h/2"/>
                                          </p:val>
                                        </p:tav>
                                        <p:tav tm="100000">
                                          <p:val>
                                            <p:strVal val="#ppt_y"/>
                                          </p:val>
                                        </p:tav>
                                      </p:tavLst>
                                    </p:anim>
                                    <p:anim calcmode="lin" valueType="num">
                                      <p:cBhvr>
                                        <p:cTn id="25" dur="250" fill="hold"/>
                                        <p:tgtEl>
                                          <p:spTgt spid="17"/>
                                        </p:tgtEl>
                                        <p:attrNameLst>
                                          <p:attrName>ppt_w</p:attrName>
                                        </p:attrNameLst>
                                      </p:cBhvr>
                                      <p:tavLst>
                                        <p:tav tm="0">
                                          <p:val>
                                            <p:strVal val="#ppt_w"/>
                                          </p:val>
                                        </p:tav>
                                        <p:tav tm="100000">
                                          <p:val>
                                            <p:strVal val="#ppt_w"/>
                                          </p:val>
                                        </p:tav>
                                      </p:tavLst>
                                    </p:anim>
                                    <p:anim calcmode="lin" valueType="num">
                                      <p:cBhvr>
                                        <p:cTn id="26" dur="250" fill="hold"/>
                                        <p:tgtEl>
                                          <p:spTgt spid="17"/>
                                        </p:tgtEl>
                                        <p:attrNameLst>
                                          <p:attrName>ppt_h</p:attrName>
                                        </p:attrNameLst>
                                      </p:cBhvr>
                                      <p:tavLst>
                                        <p:tav tm="0">
                                          <p:val>
                                            <p:fltVal val="0"/>
                                          </p:val>
                                        </p:tav>
                                        <p:tav tm="100000">
                                          <p:val>
                                            <p:strVal val="#ppt_h"/>
                                          </p:val>
                                        </p:tav>
                                      </p:tavLst>
                                    </p:anim>
                                  </p:childTnLst>
                                </p:cTn>
                              </p:par>
                            </p:childTnLst>
                          </p:cTn>
                        </p:par>
                        <p:par>
                          <p:cTn id="27" fill="hold">
                            <p:stCondLst>
                              <p:cond delay="2600"/>
                            </p:stCondLst>
                            <p:childTnLst>
                              <p:par>
                                <p:cTn id="28" presetID="2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100"/>
                            </p:stCondLst>
                            <p:childTnLst>
                              <p:par>
                                <p:cTn id="32" presetID="22" presetClass="entr" presetSubtype="8"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par>
                          <p:cTn id="35" fill="hold">
                            <p:stCondLst>
                              <p:cond delay="3600"/>
                            </p:stCondLst>
                            <p:childTnLst>
                              <p:par>
                                <p:cTn id="36" presetID="22" presetClass="entr" presetSubtype="1"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up)">
                                      <p:cBhvr>
                                        <p:cTn id="38" dur="500"/>
                                        <p:tgtEl>
                                          <p:spTgt spid="5"/>
                                        </p:tgtEl>
                                      </p:cBhvr>
                                    </p:animEffect>
                                  </p:childTnLst>
                                </p:cTn>
                              </p:par>
                            </p:childTnLst>
                          </p:cTn>
                        </p:par>
                        <p:par>
                          <p:cTn id="39" fill="hold">
                            <p:stCondLst>
                              <p:cond delay="4100"/>
                            </p:stCondLst>
                            <p:childTnLst>
                              <p:par>
                                <p:cTn id="40" presetID="17" presetClass="entr" presetSubtype="1" fill="hold" grpId="0" nodeType="afterEffect">
                                  <p:stCondLst>
                                    <p:cond delay="0"/>
                                  </p:stCondLst>
                                  <p:iterate type="lt">
                                    <p:tmPct val="40000"/>
                                  </p:iterate>
                                  <p:childTnLst>
                                    <p:set>
                                      <p:cBhvr>
                                        <p:cTn id="41" dur="1" fill="hold">
                                          <p:stCondLst>
                                            <p:cond delay="0"/>
                                          </p:stCondLst>
                                        </p:cTn>
                                        <p:tgtEl>
                                          <p:spTgt spid="19"/>
                                        </p:tgtEl>
                                        <p:attrNameLst>
                                          <p:attrName>style.visibility</p:attrName>
                                        </p:attrNameLst>
                                      </p:cBhvr>
                                      <p:to>
                                        <p:strVal val="visible"/>
                                      </p:to>
                                    </p:set>
                                    <p:anim calcmode="lin" valueType="num">
                                      <p:cBhvr>
                                        <p:cTn id="42" dur="250" fill="hold"/>
                                        <p:tgtEl>
                                          <p:spTgt spid="19"/>
                                        </p:tgtEl>
                                        <p:attrNameLst>
                                          <p:attrName>ppt_x</p:attrName>
                                        </p:attrNameLst>
                                      </p:cBhvr>
                                      <p:tavLst>
                                        <p:tav tm="0">
                                          <p:val>
                                            <p:strVal val="#ppt_x"/>
                                          </p:val>
                                        </p:tav>
                                        <p:tav tm="100000">
                                          <p:val>
                                            <p:strVal val="#ppt_x"/>
                                          </p:val>
                                        </p:tav>
                                      </p:tavLst>
                                    </p:anim>
                                    <p:anim calcmode="lin" valueType="num">
                                      <p:cBhvr>
                                        <p:cTn id="43" dur="250" fill="hold"/>
                                        <p:tgtEl>
                                          <p:spTgt spid="19"/>
                                        </p:tgtEl>
                                        <p:attrNameLst>
                                          <p:attrName>ppt_y</p:attrName>
                                        </p:attrNameLst>
                                      </p:cBhvr>
                                      <p:tavLst>
                                        <p:tav tm="0">
                                          <p:val>
                                            <p:strVal val="#ppt_y-#ppt_h/2"/>
                                          </p:val>
                                        </p:tav>
                                        <p:tav tm="100000">
                                          <p:val>
                                            <p:strVal val="#ppt_y"/>
                                          </p:val>
                                        </p:tav>
                                      </p:tavLst>
                                    </p:anim>
                                    <p:anim calcmode="lin" valueType="num">
                                      <p:cBhvr>
                                        <p:cTn id="44" dur="250" fill="hold"/>
                                        <p:tgtEl>
                                          <p:spTgt spid="19"/>
                                        </p:tgtEl>
                                        <p:attrNameLst>
                                          <p:attrName>ppt_w</p:attrName>
                                        </p:attrNameLst>
                                      </p:cBhvr>
                                      <p:tavLst>
                                        <p:tav tm="0">
                                          <p:val>
                                            <p:strVal val="#ppt_w"/>
                                          </p:val>
                                        </p:tav>
                                        <p:tav tm="100000">
                                          <p:val>
                                            <p:strVal val="#ppt_w"/>
                                          </p:val>
                                        </p:tav>
                                      </p:tavLst>
                                    </p:anim>
                                    <p:anim calcmode="lin" valueType="num">
                                      <p:cBhvr>
                                        <p:cTn id="45" dur="250" fill="hold"/>
                                        <p:tgtEl>
                                          <p:spTgt spid="19"/>
                                        </p:tgtEl>
                                        <p:attrNameLst>
                                          <p:attrName>ppt_h</p:attrName>
                                        </p:attrNameLst>
                                      </p:cBhvr>
                                      <p:tavLst>
                                        <p:tav tm="0">
                                          <p:val>
                                            <p:fltVal val="0"/>
                                          </p:val>
                                        </p:tav>
                                        <p:tav tm="100000">
                                          <p:val>
                                            <p:strVal val="#ppt_h"/>
                                          </p:val>
                                        </p:tav>
                                      </p:tavLst>
                                    </p:anim>
                                  </p:childTnLst>
                                </p:cTn>
                              </p:par>
                            </p:childTnLst>
                          </p:cTn>
                        </p:par>
                        <p:par>
                          <p:cTn id="46" fill="hold">
                            <p:stCondLst>
                              <p:cond delay="5050"/>
                            </p:stCondLst>
                            <p:childTnLst>
                              <p:par>
                                <p:cTn id="47" presetID="22" presetClass="entr" presetSubtype="8"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par>
                          <p:cTn id="50" fill="hold">
                            <p:stCondLst>
                              <p:cond delay="5550"/>
                            </p:stCondLst>
                            <p:childTnLst>
                              <p:par>
                                <p:cTn id="51" presetID="22" presetClass="entr" presetSubtype="2"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right)">
                                      <p:cBhvr>
                                        <p:cTn id="53" dur="500"/>
                                        <p:tgtEl>
                                          <p:spTgt spid="12"/>
                                        </p:tgtEl>
                                      </p:cBhvr>
                                    </p:animEffect>
                                  </p:childTnLst>
                                </p:cTn>
                              </p:par>
                            </p:childTnLst>
                          </p:cTn>
                        </p:par>
                        <p:par>
                          <p:cTn id="54" fill="hold">
                            <p:stCondLst>
                              <p:cond delay="6050"/>
                            </p:stCondLst>
                            <p:childTnLst>
                              <p:par>
                                <p:cTn id="55" presetID="22" presetClass="entr" presetSubtype="1"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up)">
                                      <p:cBhvr>
                                        <p:cTn id="57" dur="500"/>
                                        <p:tgtEl>
                                          <p:spTgt spid="13"/>
                                        </p:tgtEl>
                                      </p:cBhvr>
                                    </p:animEffect>
                                  </p:childTnLst>
                                </p:cTn>
                              </p:par>
                            </p:childTnLst>
                          </p:cTn>
                        </p:par>
                        <p:par>
                          <p:cTn id="58" fill="hold">
                            <p:stCondLst>
                              <p:cond delay="6550"/>
                            </p:stCondLst>
                            <p:childTnLst>
                              <p:par>
                                <p:cTn id="59" presetID="17" presetClass="entr" presetSubtype="1" fill="hold" grpId="0" nodeType="afterEffect">
                                  <p:stCondLst>
                                    <p:cond delay="0"/>
                                  </p:stCondLst>
                                  <p:iterate type="lt">
                                    <p:tmPct val="40000"/>
                                  </p:iterate>
                                  <p:childTnLst>
                                    <p:set>
                                      <p:cBhvr>
                                        <p:cTn id="60" dur="1" fill="hold">
                                          <p:stCondLst>
                                            <p:cond delay="0"/>
                                          </p:stCondLst>
                                        </p:cTn>
                                        <p:tgtEl>
                                          <p:spTgt spid="21"/>
                                        </p:tgtEl>
                                        <p:attrNameLst>
                                          <p:attrName>style.visibility</p:attrName>
                                        </p:attrNameLst>
                                      </p:cBhvr>
                                      <p:to>
                                        <p:strVal val="visible"/>
                                      </p:to>
                                    </p:set>
                                    <p:anim calcmode="lin" valueType="num">
                                      <p:cBhvr>
                                        <p:cTn id="61" dur="250" fill="hold"/>
                                        <p:tgtEl>
                                          <p:spTgt spid="21"/>
                                        </p:tgtEl>
                                        <p:attrNameLst>
                                          <p:attrName>ppt_x</p:attrName>
                                        </p:attrNameLst>
                                      </p:cBhvr>
                                      <p:tavLst>
                                        <p:tav tm="0">
                                          <p:val>
                                            <p:strVal val="#ppt_x"/>
                                          </p:val>
                                        </p:tav>
                                        <p:tav tm="100000">
                                          <p:val>
                                            <p:strVal val="#ppt_x"/>
                                          </p:val>
                                        </p:tav>
                                      </p:tavLst>
                                    </p:anim>
                                    <p:anim calcmode="lin" valueType="num">
                                      <p:cBhvr>
                                        <p:cTn id="62" dur="250" fill="hold"/>
                                        <p:tgtEl>
                                          <p:spTgt spid="21"/>
                                        </p:tgtEl>
                                        <p:attrNameLst>
                                          <p:attrName>ppt_y</p:attrName>
                                        </p:attrNameLst>
                                      </p:cBhvr>
                                      <p:tavLst>
                                        <p:tav tm="0">
                                          <p:val>
                                            <p:strVal val="#ppt_y-#ppt_h/2"/>
                                          </p:val>
                                        </p:tav>
                                        <p:tav tm="100000">
                                          <p:val>
                                            <p:strVal val="#ppt_y"/>
                                          </p:val>
                                        </p:tav>
                                      </p:tavLst>
                                    </p:anim>
                                    <p:anim calcmode="lin" valueType="num">
                                      <p:cBhvr>
                                        <p:cTn id="63" dur="250" fill="hold"/>
                                        <p:tgtEl>
                                          <p:spTgt spid="21"/>
                                        </p:tgtEl>
                                        <p:attrNameLst>
                                          <p:attrName>ppt_w</p:attrName>
                                        </p:attrNameLst>
                                      </p:cBhvr>
                                      <p:tavLst>
                                        <p:tav tm="0">
                                          <p:val>
                                            <p:strVal val="#ppt_w"/>
                                          </p:val>
                                        </p:tav>
                                        <p:tav tm="100000">
                                          <p:val>
                                            <p:strVal val="#ppt_w"/>
                                          </p:val>
                                        </p:tav>
                                      </p:tavLst>
                                    </p:anim>
                                    <p:anim calcmode="lin" valueType="num">
                                      <p:cBhvr>
                                        <p:cTn id="64" dur="250" fill="hold"/>
                                        <p:tgtEl>
                                          <p:spTgt spid="21"/>
                                        </p:tgtEl>
                                        <p:attrNameLst>
                                          <p:attrName>ppt_h</p:attrName>
                                        </p:attrNameLst>
                                      </p:cBhvr>
                                      <p:tavLst>
                                        <p:tav tm="0">
                                          <p:val>
                                            <p:fltVal val="0"/>
                                          </p:val>
                                        </p:tav>
                                        <p:tav tm="100000">
                                          <p:val>
                                            <p:strVal val="#ppt_h"/>
                                          </p:val>
                                        </p:tav>
                                      </p:tavLst>
                                    </p:anim>
                                  </p:childTnLst>
                                </p:cTn>
                              </p:par>
                            </p:childTnLst>
                          </p:cTn>
                        </p:par>
                        <p:par>
                          <p:cTn id="65" fill="hold">
                            <p:stCondLst>
                              <p:cond delay="7500"/>
                            </p:stCondLst>
                            <p:childTnLst>
                              <p:par>
                                <p:cTn id="66" presetID="22" presetClass="entr" presetSubtype="8" fill="hold" grpId="0"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8" grpId="0" animBg="1"/>
      <p:bldP spid="12" grpId="0" animBg="1"/>
      <p:bldP spid="16" grpId="0"/>
      <p:bldP spid="17" grpId="0"/>
      <p:bldP spid="18" grpId="0"/>
      <p:bldP spid="19" grpId="0"/>
      <p:bldP spid="20" grpId="0"/>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a:spLocks/>
          </p:cNvSpPr>
          <p:nvPr/>
        </p:nvSpPr>
        <p:spPr>
          <a:xfrm>
            <a:off x="1143840" y="266933"/>
            <a:ext cx="2839925" cy="50596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意  义</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Freeform 7"/>
          <p:cNvSpPr>
            <a:spLocks noChangeArrowheads="1"/>
          </p:cNvSpPr>
          <p:nvPr/>
        </p:nvSpPr>
        <p:spPr bwMode="auto">
          <a:xfrm>
            <a:off x="5287434" y="1881917"/>
            <a:ext cx="1384300" cy="1221316"/>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chemeClr val="accent1"/>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Freeform 8"/>
          <p:cNvSpPr>
            <a:spLocks noChangeArrowheads="1"/>
          </p:cNvSpPr>
          <p:nvPr/>
        </p:nvSpPr>
        <p:spPr bwMode="auto">
          <a:xfrm>
            <a:off x="3915833" y="3103232"/>
            <a:ext cx="1371600" cy="13208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chemeClr val="accent1"/>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Freeform 9"/>
          <p:cNvSpPr>
            <a:spLocks noChangeArrowheads="1"/>
          </p:cNvSpPr>
          <p:nvPr/>
        </p:nvSpPr>
        <p:spPr bwMode="auto">
          <a:xfrm>
            <a:off x="4703234" y="4424033"/>
            <a:ext cx="1274233" cy="1392767"/>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chemeClr val="accent1"/>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Freeform 10"/>
          <p:cNvSpPr>
            <a:spLocks noChangeArrowheads="1"/>
          </p:cNvSpPr>
          <p:nvPr/>
        </p:nvSpPr>
        <p:spPr bwMode="auto">
          <a:xfrm>
            <a:off x="5977467" y="4424033"/>
            <a:ext cx="1278467" cy="1392767"/>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chemeClr val="accent1"/>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Freeform 11"/>
          <p:cNvSpPr>
            <a:spLocks noChangeArrowheads="1"/>
          </p:cNvSpPr>
          <p:nvPr/>
        </p:nvSpPr>
        <p:spPr bwMode="auto">
          <a:xfrm>
            <a:off x="6671733" y="3103232"/>
            <a:ext cx="1371600" cy="13208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chemeClr val="accent1"/>
          </a:solidFill>
          <a:ln>
            <a:noFill/>
          </a:ln>
        </p:spPr>
        <p:txBody>
          <a:bodyPr/>
          <a:lstStyle/>
          <a:p>
            <a:endParaRPr lang="zh-CN" altLang="zh-CN" sz="24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7"/>
          <p:cNvSpPr>
            <a:spLocks noChangeArrowheads="1"/>
          </p:cNvSpPr>
          <p:nvPr/>
        </p:nvSpPr>
        <p:spPr bwMode="auto">
          <a:xfrm>
            <a:off x="5738285" y="2440717"/>
            <a:ext cx="47624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8"/>
          <p:cNvSpPr>
            <a:spLocks noChangeArrowheads="1"/>
          </p:cNvSpPr>
          <p:nvPr/>
        </p:nvSpPr>
        <p:spPr bwMode="auto">
          <a:xfrm>
            <a:off x="7018867" y="3353000"/>
            <a:ext cx="476251"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9"/>
          <p:cNvSpPr>
            <a:spLocks noChangeArrowheads="1"/>
          </p:cNvSpPr>
          <p:nvPr/>
        </p:nvSpPr>
        <p:spPr bwMode="auto">
          <a:xfrm>
            <a:off x="6540500" y="4872766"/>
            <a:ext cx="476251"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10"/>
          <p:cNvSpPr>
            <a:spLocks noChangeArrowheads="1"/>
          </p:cNvSpPr>
          <p:nvPr/>
        </p:nvSpPr>
        <p:spPr bwMode="auto">
          <a:xfrm>
            <a:off x="4861985" y="4891817"/>
            <a:ext cx="47624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11"/>
          <p:cNvSpPr>
            <a:spLocks noChangeArrowheads="1"/>
          </p:cNvSpPr>
          <p:nvPr/>
        </p:nvSpPr>
        <p:spPr bwMode="auto">
          <a:xfrm>
            <a:off x="4464052" y="3365700"/>
            <a:ext cx="47624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5</a:t>
            </a:r>
            <a:endParaRPr lang="zh-CN" altLang="en-US" sz="3733"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p:cNvSpPr>
            <a:spLocks noChangeArrowheads="1"/>
          </p:cNvSpPr>
          <p:nvPr/>
        </p:nvSpPr>
        <p:spPr bwMode="auto">
          <a:xfrm>
            <a:off x="7728181" y="3108396"/>
            <a:ext cx="3713360" cy="65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提升产品（服务）</a:t>
            </a:r>
            <a:endParaRPr lang="en-US" altLang="zh-CN"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质量和效率</a:t>
            </a:r>
          </a:p>
        </p:txBody>
      </p:sp>
      <p:sp>
        <p:nvSpPr>
          <p:cNvPr id="48" name="TextBox 18"/>
          <p:cNvSpPr>
            <a:spLocks noChangeArrowheads="1"/>
          </p:cNvSpPr>
          <p:nvPr/>
        </p:nvSpPr>
        <p:spPr bwMode="auto">
          <a:xfrm>
            <a:off x="1270589" y="3108397"/>
            <a:ext cx="2611601" cy="65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确保产品（服务）</a:t>
            </a:r>
            <a:endParaRPr lang="en-US" altLang="zh-CN"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按时交付</a:t>
            </a:r>
          </a:p>
        </p:txBody>
      </p:sp>
      <p:sp>
        <p:nvSpPr>
          <p:cNvPr id="49" name="TextBox 19"/>
          <p:cNvSpPr>
            <a:spLocks noChangeArrowheads="1"/>
          </p:cNvSpPr>
          <p:nvPr/>
        </p:nvSpPr>
        <p:spPr bwMode="auto">
          <a:xfrm>
            <a:off x="5359771" y="1406700"/>
            <a:ext cx="1279731" cy="328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控制成本</a:t>
            </a:r>
          </a:p>
        </p:txBody>
      </p:sp>
      <p:sp>
        <p:nvSpPr>
          <p:cNvPr id="50" name="TextBox 20"/>
          <p:cNvSpPr>
            <a:spLocks noChangeArrowheads="1"/>
          </p:cNvSpPr>
          <p:nvPr/>
        </p:nvSpPr>
        <p:spPr bwMode="auto">
          <a:xfrm>
            <a:off x="1575667" y="5661939"/>
            <a:ext cx="3105151" cy="65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提高研发（服务）</a:t>
            </a:r>
            <a:endParaRPr lang="en-US" altLang="zh-CN"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人员的职业素养</a:t>
            </a:r>
          </a:p>
        </p:txBody>
      </p:sp>
      <p:sp>
        <p:nvSpPr>
          <p:cNvPr id="51" name="TextBox 21"/>
          <p:cNvSpPr>
            <a:spLocks noChangeArrowheads="1"/>
          </p:cNvSpPr>
          <p:nvPr/>
        </p:nvSpPr>
        <p:spPr bwMode="auto">
          <a:xfrm>
            <a:off x="7895167" y="5645349"/>
            <a:ext cx="1989061" cy="65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133"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解决人员流动为企业带来的影响</a:t>
            </a:r>
          </a:p>
        </p:txBody>
      </p:sp>
      <p:sp>
        <p:nvSpPr>
          <p:cNvPr id="52" name="TextBox 22"/>
          <p:cNvSpPr>
            <a:spLocks noChangeArrowheads="1"/>
          </p:cNvSpPr>
          <p:nvPr/>
        </p:nvSpPr>
        <p:spPr bwMode="auto">
          <a:xfrm>
            <a:off x="5278967" y="3702595"/>
            <a:ext cx="132185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3733"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意 义</a:t>
            </a:r>
          </a:p>
        </p:txBody>
      </p:sp>
    </p:spTree>
    <p:extLst>
      <p:ext uri="{BB962C8B-B14F-4D97-AF65-F5344CB8AC3E}">
        <p14:creationId xmlns:p14="http://schemas.microsoft.com/office/powerpoint/2010/main" val="1286506022"/>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550"/>
                            </p:stCondLst>
                            <p:childTnLst>
                              <p:par>
                                <p:cTn id="13" presetID="23" presetClass="entr" presetSubtype="528"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500" fill="hold"/>
                                        <p:tgtEl>
                                          <p:spTgt spid="32"/>
                                        </p:tgtEl>
                                        <p:attrNameLst>
                                          <p:attrName>ppt_w</p:attrName>
                                        </p:attrNameLst>
                                      </p:cBhvr>
                                      <p:tavLst>
                                        <p:tav tm="0">
                                          <p:val>
                                            <p:fltVal val="0"/>
                                          </p:val>
                                        </p:tav>
                                        <p:tav tm="100000">
                                          <p:val>
                                            <p:strVal val="#ppt_w"/>
                                          </p:val>
                                        </p:tav>
                                      </p:tavLst>
                                    </p:anim>
                                    <p:anim calcmode="lin" valueType="num">
                                      <p:cBhvr>
                                        <p:cTn id="16" dur="500" fill="hold"/>
                                        <p:tgtEl>
                                          <p:spTgt spid="32"/>
                                        </p:tgtEl>
                                        <p:attrNameLst>
                                          <p:attrName>ppt_h</p:attrName>
                                        </p:attrNameLst>
                                      </p:cBhvr>
                                      <p:tavLst>
                                        <p:tav tm="0">
                                          <p:val>
                                            <p:fltVal val="0"/>
                                          </p:val>
                                        </p:tav>
                                        <p:tav tm="100000">
                                          <p:val>
                                            <p:strVal val="#ppt_h"/>
                                          </p:val>
                                        </p:tav>
                                      </p:tavLst>
                                    </p:anim>
                                    <p:anim calcmode="lin" valueType="num">
                                      <p:cBhvr>
                                        <p:cTn id="17" dur="500" fill="hold"/>
                                        <p:tgtEl>
                                          <p:spTgt spid="32"/>
                                        </p:tgtEl>
                                        <p:attrNameLst>
                                          <p:attrName>ppt_x</p:attrName>
                                        </p:attrNameLst>
                                      </p:cBhvr>
                                      <p:tavLst>
                                        <p:tav tm="0">
                                          <p:val>
                                            <p:fltVal val="0.5"/>
                                          </p:val>
                                        </p:tav>
                                        <p:tav tm="100000">
                                          <p:val>
                                            <p:strVal val="#ppt_x"/>
                                          </p:val>
                                        </p:tav>
                                      </p:tavLst>
                                    </p:anim>
                                    <p:anim calcmode="lin" valueType="num">
                                      <p:cBhvr>
                                        <p:cTn id="18" dur="500" fill="hold"/>
                                        <p:tgtEl>
                                          <p:spTgt spid="32"/>
                                        </p:tgtEl>
                                        <p:attrNameLst>
                                          <p:attrName>ppt_y</p:attrName>
                                        </p:attrNameLst>
                                      </p:cBhvr>
                                      <p:tavLst>
                                        <p:tav tm="0">
                                          <p:val>
                                            <p:fltVal val="0.5"/>
                                          </p:val>
                                        </p:tav>
                                        <p:tav tm="100000">
                                          <p:val>
                                            <p:strVal val="#ppt_y"/>
                                          </p:val>
                                        </p:tav>
                                      </p:tavLst>
                                    </p:anim>
                                  </p:childTnLst>
                                </p:cTn>
                              </p:par>
                              <p:par>
                                <p:cTn id="19" presetID="23" presetClass="entr" presetSubtype="528"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p:cTn id="21" dur="500" fill="hold"/>
                                        <p:tgtEl>
                                          <p:spTgt spid="33"/>
                                        </p:tgtEl>
                                        <p:attrNameLst>
                                          <p:attrName>ppt_w</p:attrName>
                                        </p:attrNameLst>
                                      </p:cBhvr>
                                      <p:tavLst>
                                        <p:tav tm="0">
                                          <p:val>
                                            <p:fltVal val="0"/>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anim calcmode="lin" valueType="num">
                                      <p:cBhvr>
                                        <p:cTn id="23" dur="500" fill="hold"/>
                                        <p:tgtEl>
                                          <p:spTgt spid="33"/>
                                        </p:tgtEl>
                                        <p:attrNameLst>
                                          <p:attrName>ppt_x</p:attrName>
                                        </p:attrNameLst>
                                      </p:cBhvr>
                                      <p:tavLst>
                                        <p:tav tm="0">
                                          <p:val>
                                            <p:fltVal val="0.5"/>
                                          </p:val>
                                        </p:tav>
                                        <p:tav tm="100000">
                                          <p:val>
                                            <p:strVal val="#ppt_x"/>
                                          </p:val>
                                        </p:tav>
                                      </p:tavLst>
                                    </p:anim>
                                    <p:anim calcmode="lin" valueType="num">
                                      <p:cBhvr>
                                        <p:cTn id="24" dur="500" fill="hold"/>
                                        <p:tgtEl>
                                          <p:spTgt spid="33"/>
                                        </p:tgtEl>
                                        <p:attrNameLst>
                                          <p:attrName>ppt_y</p:attrName>
                                        </p:attrNameLst>
                                      </p:cBhvr>
                                      <p:tavLst>
                                        <p:tav tm="0">
                                          <p:val>
                                            <p:fltVal val="0.5"/>
                                          </p:val>
                                        </p:tav>
                                        <p:tav tm="100000">
                                          <p:val>
                                            <p:strVal val="#ppt_y"/>
                                          </p:val>
                                        </p:tav>
                                      </p:tavLst>
                                    </p:anim>
                                  </p:childTnLst>
                                </p:cTn>
                              </p:par>
                              <p:par>
                                <p:cTn id="25" presetID="23" presetClass="entr" presetSubtype="528"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p:cTn id="27" dur="500" fill="hold"/>
                                        <p:tgtEl>
                                          <p:spTgt spid="34"/>
                                        </p:tgtEl>
                                        <p:attrNameLst>
                                          <p:attrName>ppt_w</p:attrName>
                                        </p:attrNameLst>
                                      </p:cBhvr>
                                      <p:tavLst>
                                        <p:tav tm="0">
                                          <p:val>
                                            <p:fltVal val="0"/>
                                          </p:val>
                                        </p:tav>
                                        <p:tav tm="100000">
                                          <p:val>
                                            <p:strVal val="#ppt_w"/>
                                          </p:val>
                                        </p:tav>
                                      </p:tavLst>
                                    </p:anim>
                                    <p:anim calcmode="lin" valueType="num">
                                      <p:cBhvr>
                                        <p:cTn id="28" dur="500" fill="hold"/>
                                        <p:tgtEl>
                                          <p:spTgt spid="34"/>
                                        </p:tgtEl>
                                        <p:attrNameLst>
                                          <p:attrName>ppt_h</p:attrName>
                                        </p:attrNameLst>
                                      </p:cBhvr>
                                      <p:tavLst>
                                        <p:tav tm="0">
                                          <p:val>
                                            <p:fltVal val="0"/>
                                          </p:val>
                                        </p:tav>
                                        <p:tav tm="100000">
                                          <p:val>
                                            <p:strVal val="#ppt_h"/>
                                          </p:val>
                                        </p:tav>
                                      </p:tavLst>
                                    </p:anim>
                                    <p:anim calcmode="lin" valueType="num">
                                      <p:cBhvr>
                                        <p:cTn id="29" dur="500" fill="hold"/>
                                        <p:tgtEl>
                                          <p:spTgt spid="34"/>
                                        </p:tgtEl>
                                        <p:attrNameLst>
                                          <p:attrName>ppt_x</p:attrName>
                                        </p:attrNameLst>
                                      </p:cBhvr>
                                      <p:tavLst>
                                        <p:tav tm="0">
                                          <p:val>
                                            <p:fltVal val="0.5"/>
                                          </p:val>
                                        </p:tav>
                                        <p:tav tm="100000">
                                          <p:val>
                                            <p:strVal val="#ppt_x"/>
                                          </p:val>
                                        </p:tav>
                                      </p:tavLst>
                                    </p:anim>
                                    <p:anim calcmode="lin" valueType="num">
                                      <p:cBhvr>
                                        <p:cTn id="30" dur="500" fill="hold"/>
                                        <p:tgtEl>
                                          <p:spTgt spid="34"/>
                                        </p:tgtEl>
                                        <p:attrNameLst>
                                          <p:attrName>ppt_y</p:attrName>
                                        </p:attrNameLst>
                                      </p:cBhvr>
                                      <p:tavLst>
                                        <p:tav tm="0">
                                          <p:val>
                                            <p:fltVal val="0.5"/>
                                          </p:val>
                                        </p:tav>
                                        <p:tav tm="100000">
                                          <p:val>
                                            <p:strVal val="#ppt_y"/>
                                          </p:val>
                                        </p:tav>
                                      </p:tavLst>
                                    </p:anim>
                                  </p:childTnLst>
                                </p:cTn>
                              </p:par>
                              <p:par>
                                <p:cTn id="31" presetID="23" presetClass="entr" presetSubtype="528"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ppt_w</p:attrName>
                                        </p:attrNameLst>
                                      </p:cBhvr>
                                      <p:tavLst>
                                        <p:tav tm="0">
                                          <p:val>
                                            <p:fltVal val="0"/>
                                          </p:val>
                                        </p:tav>
                                        <p:tav tm="100000">
                                          <p:val>
                                            <p:strVal val="#ppt_w"/>
                                          </p:val>
                                        </p:tav>
                                      </p:tavLst>
                                    </p:anim>
                                    <p:anim calcmode="lin" valueType="num">
                                      <p:cBhvr>
                                        <p:cTn id="34" dur="500" fill="hold"/>
                                        <p:tgtEl>
                                          <p:spTgt spid="35"/>
                                        </p:tgtEl>
                                        <p:attrNameLst>
                                          <p:attrName>ppt_h</p:attrName>
                                        </p:attrNameLst>
                                      </p:cBhvr>
                                      <p:tavLst>
                                        <p:tav tm="0">
                                          <p:val>
                                            <p:fltVal val="0"/>
                                          </p:val>
                                        </p:tav>
                                        <p:tav tm="100000">
                                          <p:val>
                                            <p:strVal val="#ppt_h"/>
                                          </p:val>
                                        </p:tav>
                                      </p:tavLst>
                                    </p:anim>
                                    <p:anim calcmode="lin" valueType="num">
                                      <p:cBhvr>
                                        <p:cTn id="35" dur="500" fill="hold"/>
                                        <p:tgtEl>
                                          <p:spTgt spid="35"/>
                                        </p:tgtEl>
                                        <p:attrNameLst>
                                          <p:attrName>ppt_x</p:attrName>
                                        </p:attrNameLst>
                                      </p:cBhvr>
                                      <p:tavLst>
                                        <p:tav tm="0">
                                          <p:val>
                                            <p:fltVal val="0.5"/>
                                          </p:val>
                                        </p:tav>
                                        <p:tav tm="100000">
                                          <p:val>
                                            <p:strVal val="#ppt_x"/>
                                          </p:val>
                                        </p:tav>
                                      </p:tavLst>
                                    </p:anim>
                                    <p:anim calcmode="lin" valueType="num">
                                      <p:cBhvr>
                                        <p:cTn id="36" dur="500" fill="hold"/>
                                        <p:tgtEl>
                                          <p:spTgt spid="35"/>
                                        </p:tgtEl>
                                        <p:attrNameLst>
                                          <p:attrName>ppt_y</p:attrName>
                                        </p:attrNameLst>
                                      </p:cBhvr>
                                      <p:tavLst>
                                        <p:tav tm="0">
                                          <p:val>
                                            <p:fltVal val="0.5"/>
                                          </p:val>
                                        </p:tav>
                                        <p:tav tm="100000">
                                          <p:val>
                                            <p:strVal val="#ppt_y"/>
                                          </p:val>
                                        </p:tav>
                                      </p:tavLst>
                                    </p:anim>
                                  </p:childTnLst>
                                </p:cTn>
                              </p:par>
                              <p:par>
                                <p:cTn id="37" presetID="23" presetClass="entr" presetSubtype="528"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p:cTn id="39" dur="500" fill="hold"/>
                                        <p:tgtEl>
                                          <p:spTgt spid="36"/>
                                        </p:tgtEl>
                                        <p:attrNameLst>
                                          <p:attrName>ppt_w</p:attrName>
                                        </p:attrNameLst>
                                      </p:cBhvr>
                                      <p:tavLst>
                                        <p:tav tm="0">
                                          <p:val>
                                            <p:fltVal val="0"/>
                                          </p:val>
                                        </p:tav>
                                        <p:tav tm="100000">
                                          <p:val>
                                            <p:strVal val="#ppt_w"/>
                                          </p:val>
                                        </p:tav>
                                      </p:tavLst>
                                    </p:anim>
                                    <p:anim calcmode="lin" valueType="num">
                                      <p:cBhvr>
                                        <p:cTn id="40" dur="500" fill="hold"/>
                                        <p:tgtEl>
                                          <p:spTgt spid="36"/>
                                        </p:tgtEl>
                                        <p:attrNameLst>
                                          <p:attrName>ppt_h</p:attrName>
                                        </p:attrNameLst>
                                      </p:cBhvr>
                                      <p:tavLst>
                                        <p:tav tm="0">
                                          <p:val>
                                            <p:fltVal val="0"/>
                                          </p:val>
                                        </p:tav>
                                        <p:tav tm="100000">
                                          <p:val>
                                            <p:strVal val="#ppt_h"/>
                                          </p:val>
                                        </p:tav>
                                      </p:tavLst>
                                    </p:anim>
                                    <p:anim calcmode="lin" valueType="num">
                                      <p:cBhvr>
                                        <p:cTn id="41" dur="500" fill="hold"/>
                                        <p:tgtEl>
                                          <p:spTgt spid="36"/>
                                        </p:tgtEl>
                                        <p:attrNameLst>
                                          <p:attrName>ppt_x</p:attrName>
                                        </p:attrNameLst>
                                      </p:cBhvr>
                                      <p:tavLst>
                                        <p:tav tm="0">
                                          <p:val>
                                            <p:fltVal val="0.5"/>
                                          </p:val>
                                        </p:tav>
                                        <p:tav tm="100000">
                                          <p:val>
                                            <p:strVal val="#ppt_x"/>
                                          </p:val>
                                        </p:tav>
                                      </p:tavLst>
                                    </p:anim>
                                    <p:anim calcmode="lin" valueType="num">
                                      <p:cBhvr>
                                        <p:cTn id="42" dur="500" fill="hold"/>
                                        <p:tgtEl>
                                          <p:spTgt spid="36"/>
                                        </p:tgtEl>
                                        <p:attrNameLst>
                                          <p:attrName>ppt_y</p:attrName>
                                        </p:attrNameLst>
                                      </p:cBhvr>
                                      <p:tavLst>
                                        <p:tav tm="0">
                                          <p:val>
                                            <p:fltVal val="0.5"/>
                                          </p:val>
                                        </p:tav>
                                        <p:tav tm="100000">
                                          <p:val>
                                            <p:strVal val="#ppt_y"/>
                                          </p:val>
                                        </p:tav>
                                      </p:tavLst>
                                    </p:anim>
                                  </p:childTnLst>
                                </p:cTn>
                              </p:par>
                              <p:par>
                                <p:cTn id="43" presetID="23" presetClass="entr" presetSubtype="528"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p:cTn id="45" dur="500" fill="hold"/>
                                        <p:tgtEl>
                                          <p:spTgt spid="37"/>
                                        </p:tgtEl>
                                        <p:attrNameLst>
                                          <p:attrName>ppt_w</p:attrName>
                                        </p:attrNameLst>
                                      </p:cBhvr>
                                      <p:tavLst>
                                        <p:tav tm="0">
                                          <p:val>
                                            <p:fltVal val="0"/>
                                          </p:val>
                                        </p:tav>
                                        <p:tav tm="100000">
                                          <p:val>
                                            <p:strVal val="#ppt_w"/>
                                          </p:val>
                                        </p:tav>
                                      </p:tavLst>
                                    </p:anim>
                                    <p:anim calcmode="lin" valueType="num">
                                      <p:cBhvr>
                                        <p:cTn id="46" dur="500" fill="hold"/>
                                        <p:tgtEl>
                                          <p:spTgt spid="37"/>
                                        </p:tgtEl>
                                        <p:attrNameLst>
                                          <p:attrName>ppt_h</p:attrName>
                                        </p:attrNameLst>
                                      </p:cBhvr>
                                      <p:tavLst>
                                        <p:tav tm="0">
                                          <p:val>
                                            <p:fltVal val="0"/>
                                          </p:val>
                                        </p:tav>
                                        <p:tav tm="100000">
                                          <p:val>
                                            <p:strVal val="#ppt_h"/>
                                          </p:val>
                                        </p:tav>
                                      </p:tavLst>
                                    </p:anim>
                                    <p:anim calcmode="lin" valueType="num">
                                      <p:cBhvr>
                                        <p:cTn id="47" dur="500" fill="hold"/>
                                        <p:tgtEl>
                                          <p:spTgt spid="37"/>
                                        </p:tgtEl>
                                        <p:attrNameLst>
                                          <p:attrName>ppt_x</p:attrName>
                                        </p:attrNameLst>
                                      </p:cBhvr>
                                      <p:tavLst>
                                        <p:tav tm="0">
                                          <p:val>
                                            <p:fltVal val="0.5"/>
                                          </p:val>
                                        </p:tav>
                                        <p:tav tm="100000">
                                          <p:val>
                                            <p:strVal val="#ppt_x"/>
                                          </p:val>
                                        </p:tav>
                                      </p:tavLst>
                                    </p:anim>
                                    <p:anim calcmode="lin" valueType="num">
                                      <p:cBhvr>
                                        <p:cTn id="48" dur="500" fill="hold"/>
                                        <p:tgtEl>
                                          <p:spTgt spid="37"/>
                                        </p:tgtEl>
                                        <p:attrNameLst>
                                          <p:attrName>ppt_y</p:attrName>
                                        </p:attrNameLst>
                                      </p:cBhvr>
                                      <p:tavLst>
                                        <p:tav tm="0">
                                          <p:val>
                                            <p:fltVal val="0.5"/>
                                          </p:val>
                                        </p:tav>
                                        <p:tav tm="100000">
                                          <p:val>
                                            <p:strVal val="#ppt_y"/>
                                          </p:val>
                                        </p:tav>
                                      </p:tavLst>
                                    </p:anim>
                                  </p:childTnLst>
                                </p:cTn>
                              </p:par>
                              <p:par>
                                <p:cTn id="49" presetID="23" presetClass="entr" presetSubtype="528"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500" fill="hold"/>
                                        <p:tgtEl>
                                          <p:spTgt spid="38"/>
                                        </p:tgtEl>
                                        <p:attrNameLst>
                                          <p:attrName>ppt_w</p:attrName>
                                        </p:attrNameLst>
                                      </p:cBhvr>
                                      <p:tavLst>
                                        <p:tav tm="0">
                                          <p:val>
                                            <p:fltVal val="0"/>
                                          </p:val>
                                        </p:tav>
                                        <p:tav tm="100000">
                                          <p:val>
                                            <p:strVal val="#ppt_w"/>
                                          </p:val>
                                        </p:tav>
                                      </p:tavLst>
                                    </p:anim>
                                    <p:anim calcmode="lin" valueType="num">
                                      <p:cBhvr>
                                        <p:cTn id="52" dur="500" fill="hold"/>
                                        <p:tgtEl>
                                          <p:spTgt spid="38"/>
                                        </p:tgtEl>
                                        <p:attrNameLst>
                                          <p:attrName>ppt_h</p:attrName>
                                        </p:attrNameLst>
                                      </p:cBhvr>
                                      <p:tavLst>
                                        <p:tav tm="0">
                                          <p:val>
                                            <p:fltVal val="0"/>
                                          </p:val>
                                        </p:tav>
                                        <p:tav tm="100000">
                                          <p:val>
                                            <p:strVal val="#ppt_h"/>
                                          </p:val>
                                        </p:tav>
                                      </p:tavLst>
                                    </p:anim>
                                    <p:anim calcmode="lin" valueType="num">
                                      <p:cBhvr>
                                        <p:cTn id="53" dur="500" fill="hold"/>
                                        <p:tgtEl>
                                          <p:spTgt spid="38"/>
                                        </p:tgtEl>
                                        <p:attrNameLst>
                                          <p:attrName>ppt_x</p:attrName>
                                        </p:attrNameLst>
                                      </p:cBhvr>
                                      <p:tavLst>
                                        <p:tav tm="0">
                                          <p:val>
                                            <p:fltVal val="0.5"/>
                                          </p:val>
                                        </p:tav>
                                        <p:tav tm="100000">
                                          <p:val>
                                            <p:strVal val="#ppt_x"/>
                                          </p:val>
                                        </p:tav>
                                      </p:tavLst>
                                    </p:anim>
                                    <p:anim calcmode="lin" valueType="num">
                                      <p:cBhvr>
                                        <p:cTn id="54" dur="500" fill="hold"/>
                                        <p:tgtEl>
                                          <p:spTgt spid="38"/>
                                        </p:tgtEl>
                                        <p:attrNameLst>
                                          <p:attrName>ppt_y</p:attrName>
                                        </p:attrNameLst>
                                      </p:cBhvr>
                                      <p:tavLst>
                                        <p:tav tm="0">
                                          <p:val>
                                            <p:fltVal val="0.5"/>
                                          </p:val>
                                        </p:tav>
                                        <p:tav tm="100000">
                                          <p:val>
                                            <p:strVal val="#ppt_y"/>
                                          </p:val>
                                        </p:tav>
                                      </p:tavLst>
                                    </p:anim>
                                  </p:childTnLst>
                                </p:cTn>
                              </p:par>
                              <p:par>
                                <p:cTn id="55" presetID="23" presetClass="entr" presetSubtype="528"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p:cTn id="57" dur="500" fill="hold"/>
                                        <p:tgtEl>
                                          <p:spTgt spid="39"/>
                                        </p:tgtEl>
                                        <p:attrNameLst>
                                          <p:attrName>ppt_w</p:attrName>
                                        </p:attrNameLst>
                                      </p:cBhvr>
                                      <p:tavLst>
                                        <p:tav tm="0">
                                          <p:val>
                                            <p:fltVal val="0"/>
                                          </p:val>
                                        </p:tav>
                                        <p:tav tm="100000">
                                          <p:val>
                                            <p:strVal val="#ppt_w"/>
                                          </p:val>
                                        </p:tav>
                                      </p:tavLst>
                                    </p:anim>
                                    <p:anim calcmode="lin" valueType="num">
                                      <p:cBhvr>
                                        <p:cTn id="58" dur="500" fill="hold"/>
                                        <p:tgtEl>
                                          <p:spTgt spid="39"/>
                                        </p:tgtEl>
                                        <p:attrNameLst>
                                          <p:attrName>ppt_h</p:attrName>
                                        </p:attrNameLst>
                                      </p:cBhvr>
                                      <p:tavLst>
                                        <p:tav tm="0">
                                          <p:val>
                                            <p:fltVal val="0"/>
                                          </p:val>
                                        </p:tav>
                                        <p:tav tm="100000">
                                          <p:val>
                                            <p:strVal val="#ppt_h"/>
                                          </p:val>
                                        </p:tav>
                                      </p:tavLst>
                                    </p:anim>
                                    <p:anim calcmode="lin" valueType="num">
                                      <p:cBhvr>
                                        <p:cTn id="59" dur="500" fill="hold"/>
                                        <p:tgtEl>
                                          <p:spTgt spid="39"/>
                                        </p:tgtEl>
                                        <p:attrNameLst>
                                          <p:attrName>ppt_x</p:attrName>
                                        </p:attrNameLst>
                                      </p:cBhvr>
                                      <p:tavLst>
                                        <p:tav tm="0">
                                          <p:val>
                                            <p:fltVal val="0.5"/>
                                          </p:val>
                                        </p:tav>
                                        <p:tav tm="100000">
                                          <p:val>
                                            <p:strVal val="#ppt_x"/>
                                          </p:val>
                                        </p:tav>
                                      </p:tavLst>
                                    </p:anim>
                                    <p:anim calcmode="lin" valueType="num">
                                      <p:cBhvr>
                                        <p:cTn id="60" dur="500" fill="hold"/>
                                        <p:tgtEl>
                                          <p:spTgt spid="39"/>
                                        </p:tgtEl>
                                        <p:attrNameLst>
                                          <p:attrName>ppt_y</p:attrName>
                                        </p:attrNameLst>
                                      </p:cBhvr>
                                      <p:tavLst>
                                        <p:tav tm="0">
                                          <p:val>
                                            <p:fltVal val="0.5"/>
                                          </p:val>
                                        </p:tav>
                                        <p:tav tm="100000">
                                          <p:val>
                                            <p:strVal val="#ppt_y"/>
                                          </p:val>
                                        </p:tav>
                                      </p:tavLst>
                                    </p:anim>
                                  </p:childTnLst>
                                </p:cTn>
                              </p:par>
                              <p:par>
                                <p:cTn id="61" presetID="23" presetClass="entr" presetSubtype="528"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p:cTn id="63" dur="500" fill="hold"/>
                                        <p:tgtEl>
                                          <p:spTgt spid="40"/>
                                        </p:tgtEl>
                                        <p:attrNameLst>
                                          <p:attrName>ppt_w</p:attrName>
                                        </p:attrNameLst>
                                      </p:cBhvr>
                                      <p:tavLst>
                                        <p:tav tm="0">
                                          <p:val>
                                            <p:fltVal val="0"/>
                                          </p:val>
                                        </p:tav>
                                        <p:tav tm="100000">
                                          <p:val>
                                            <p:strVal val="#ppt_w"/>
                                          </p:val>
                                        </p:tav>
                                      </p:tavLst>
                                    </p:anim>
                                    <p:anim calcmode="lin" valueType="num">
                                      <p:cBhvr>
                                        <p:cTn id="64" dur="500" fill="hold"/>
                                        <p:tgtEl>
                                          <p:spTgt spid="40"/>
                                        </p:tgtEl>
                                        <p:attrNameLst>
                                          <p:attrName>ppt_h</p:attrName>
                                        </p:attrNameLst>
                                      </p:cBhvr>
                                      <p:tavLst>
                                        <p:tav tm="0">
                                          <p:val>
                                            <p:fltVal val="0"/>
                                          </p:val>
                                        </p:tav>
                                        <p:tav tm="100000">
                                          <p:val>
                                            <p:strVal val="#ppt_h"/>
                                          </p:val>
                                        </p:tav>
                                      </p:tavLst>
                                    </p:anim>
                                    <p:anim calcmode="lin" valueType="num">
                                      <p:cBhvr>
                                        <p:cTn id="65" dur="500" fill="hold"/>
                                        <p:tgtEl>
                                          <p:spTgt spid="40"/>
                                        </p:tgtEl>
                                        <p:attrNameLst>
                                          <p:attrName>ppt_x</p:attrName>
                                        </p:attrNameLst>
                                      </p:cBhvr>
                                      <p:tavLst>
                                        <p:tav tm="0">
                                          <p:val>
                                            <p:fltVal val="0.5"/>
                                          </p:val>
                                        </p:tav>
                                        <p:tav tm="100000">
                                          <p:val>
                                            <p:strVal val="#ppt_x"/>
                                          </p:val>
                                        </p:tav>
                                      </p:tavLst>
                                    </p:anim>
                                    <p:anim calcmode="lin" valueType="num">
                                      <p:cBhvr>
                                        <p:cTn id="66" dur="500" fill="hold"/>
                                        <p:tgtEl>
                                          <p:spTgt spid="40"/>
                                        </p:tgtEl>
                                        <p:attrNameLst>
                                          <p:attrName>ppt_y</p:attrName>
                                        </p:attrNameLst>
                                      </p:cBhvr>
                                      <p:tavLst>
                                        <p:tav tm="0">
                                          <p:val>
                                            <p:fltVal val="0.5"/>
                                          </p:val>
                                        </p:tav>
                                        <p:tav tm="100000">
                                          <p:val>
                                            <p:strVal val="#ppt_y"/>
                                          </p:val>
                                        </p:tav>
                                      </p:tavLst>
                                    </p:anim>
                                  </p:childTnLst>
                                </p:cTn>
                              </p:par>
                              <p:par>
                                <p:cTn id="67" presetID="23" presetClass="entr" presetSubtype="528"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 calcmode="lin" valueType="num">
                                      <p:cBhvr>
                                        <p:cTn id="69" dur="500" fill="hold"/>
                                        <p:tgtEl>
                                          <p:spTgt spid="41"/>
                                        </p:tgtEl>
                                        <p:attrNameLst>
                                          <p:attrName>ppt_w</p:attrName>
                                        </p:attrNameLst>
                                      </p:cBhvr>
                                      <p:tavLst>
                                        <p:tav tm="0">
                                          <p:val>
                                            <p:fltVal val="0"/>
                                          </p:val>
                                        </p:tav>
                                        <p:tav tm="100000">
                                          <p:val>
                                            <p:strVal val="#ppt_w"/>
                                          </p:val>
                                        </p:tav>
                                      </p:tavLst>
                                    </p:anim>
                                    <p:anim calcmode="lin" valueType="num">
                                      <p:cBhvr>
                                        <p:cTn id="70" dur="500" fill="hold"/>
                                        <p:tgtEl>
                                          <p:spTgt spid="41"/>
                                        </p:tgtEl>
                                        <p:attrNameLst>
                                          <p:attrName>ppt_h</p:attrName>
                                        </p:attrNameLst>
                                      </p:cBhvr>
                                      <p:tavLst>
                                        <p:tav tm="0">
                                          <p:val>
                                            <p:fltVal val="0"/>
                                          </p:val>
                                        </p:tav>
                                        <p:tav tm="100000">
                                          <p:val>
                                            <p:strVal val="#ppt_h"/>
                                          </p:val>
                                        </p:tav>
                                      </p:tavLst>
                                    </p:anim>
                                    <p:anim calcmode="lin" valueType="num">
                                      <p:cBhvr>
                                        <p:cTn id="71" dur="500" fill="hold"/>
                                        <p:tgtEl>
                                          <p:spTgt spid="41"/>
                                        </p:tgtEl>
                                        <p:attrNameLst>
                                          <p:attrName>ppt_x</p:attrName>
                                        </p:attrNameLst>
                                      </p:cBhvr>
                                      <p:tavLst>
                                        <p:tav tm="0">
                                          <p:val>
                                            <p:fltVal val="0.5"/>
                                          </p:val>
                                        </p:tav>
                                        <p:tav tm="100000">
                                          <p:val>
                                            <p:strVal val="#ppt_x"/>
                                          </p:val>
                                        </p:tav>
                                      </p:tavLst>
                                    </p:anim>
                                    <p:anim calcmode="lin" valueType="num">
                                      <p:cBhvr>
                                        <p:cTn id="72" dur="500" fill="hold"/>
                                        <p:tgtEl>
                                          <p:spTgt spid="41"/>
                                        </p:tgtEl>
                                        <p:attrNameLst>
                                          <p:attrName>ppt_y</p:attrName>
                                        </p:attrNameLst>
                                      </p:cBhvr>
                                      <p:tavLst>
                                        <p:tav tm="0">
                                          <p:val>
                                            <p:fltVal val="0.5"/>
                                          </p:val>
                                        </p:tav>
                                        <p:tav tm="100000">
                                          <p:val>
                                            <p:strVal val="#ppt_y"/>
                                          </p:val>
                                        </p:tav>
                                      </p:tavLst>
                                    </p:anim>
                                  </p:childTnLst>
                                </p:cTn>
                              </p:par>
                            </p:childTnLst>
                          </p:cTn>
                        </p:par>
                        <p:par>
                          <p:cTn id="73" fill="hold">
                            <p:stCondLst>
                              <p:cond delay="1050"/>
                            </p:stCondLst>
                            <p:childTnLst>
                              <p:par>
                                <p:cTn id="74" presetID="10" presetClass="entr" presetSubtype="0" fill="hold" grpId="0" nodeType="after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p:cBhvr>
                                        <p:cTn id="78" dur="500"/>
                                        <p:tgtEl>
                                          <p:spTgt spid="52"/>
                                        </p:tgtEl>
                                      </p:cBhvr>
                                    </p:animEffect>
                                  </p:childTnLst>
                                </p:cTn>
                              </p:par>
                            </p:childTnLst>
                          </p:cTn>
                        </p:par>
                        <p:par>
                          <p:cTn id="79" fill="hold">
                            <p:stCondLst>
                              <p:cond delay="1550"/>
                            </p:stCondLst>
                            <p:childTnLst>
                              <p:par>
                                <p:cTn id="80" presetID="22" presetClass="entr" presetSubtype="8" fill="hold" grpId="0" nodeType="afterEffect">
                                  <p:stCondLst>
                                    <p:cond delay="0"/>
                                  </p:stCondLst>
                                  <p:childTnLst>
                                    <p:set>
                                      <p:cBhvr>
                                        <p:cTn id="81" dur="1" fill="hold">
                                          <p:stCondLst>
                                            <p:cond delay="0"/>
                                          </p:stCondLst>
                                        </p:cTn>
                                        <p:tgtEl>
                                          <p:spTgt spid="47"/>
                                        </p:tgtEl>
                                        <p:attrNameLst>
                                          <p:attrName>style.visibility</p:attrName>
                                        </p:attrNameLst>
                                      </p:cBhvr>
                                      <p:to>
                                        <p:strVal val="visible"/>
                                      </p:to>
                                    </p:set>
                                    <p:animEffect>
                                      <p:cBhvr>
                                        <p:cTn id="82" dur="500"/>
                                        <p:tgtEl>
                                          <p:spTgt spid="47"/>
                                        </p:tgtEl>
                                      </p:cBhvr>
                                    </p:animEffect>
                                  </p:childTnLst>
                                </p:cTn>
                              </p:par>
                            </p:childTnLst>
                          </p:cTn>
                        </p:par>
                        <p:par>
                          <p:cTn id="83" fill="hold">
                            <p:stCondLst>
                              <p:cond delay="2050"/>
                            </p:stCondLst>
                            <p:childTnLst>
                              <p:par>
                                <p:cTn id="84" presetID="22" presetClass="entr" presetSubtype="8" fill="hold" grpId="0" nodeType="afterEffect">
                                  <p:stCondLst>
                                    <p:cond delay="0"/>
                                  </p:stCondLst>
                                  <p:childTnLst>
                                    <p:set>
                                      <p:cBhvr>
                                        <p:cTn id="85" dur="1" fill="hold">
                                          <p:stCondLst>
                                            <p:cond delay="0"/>
                                          </p:stCondLst>
                                        </p:cTn>
                                        <p:tgtEl>
                                          <p:spTgt spid="48"/>
                                        </p:tgtEl>
                                        <p:attrNameLst>
                                          <p:attrName>style.visibility</p:attrName>
                                        </p:attrNameLst>
                                      </p:cBhvr>
                                      <p:to>
                                        <p:strVal val="visible"/>
                                      </p:to>
                                    </p:set>
                                    <p:animEffect>
                                      <p:cBhvr>
                                        <p:cTn id="86" dur="500"/>
                                        <p:tgtEl>
                                          <p:spTgt spid="48"/>
                                        </p:tgtEl>
                                      </p:cBhvr>
                                    </p:animEffect>
                                  </p:childTnLst>
                                </p:cTn>
                              </p:par>
                            </p:childTnLst>
                          </p:cTn>
                        </p:par>
                        <p:par>
                          <p:cTn id="87" fill="hold">
                            <p:stCondLst>
                              <p:cond delay="2550"/>
                            </p:stCondLst>
                            <p:childTnLst>
                              <p:par>
                                <p:cTn id="88" presetID="22" presetClass="entr" presetSubtype="8" fill="hold" grpId="0" nodeType="afterEffect">
                                  <p:stCondLst>
                                    <p:cond delay="0"/>
                                  </p:stCondLst>
                                  <p:childTnLst>
                                    <p:set>
                                      <p:cBhvr>
                                        <p:cTn id="89" dur="1" fill="hold">
                                          <p:stCondLst>
                                            <p:cond delay="0"/>
                                          </p:stCondLst>
                                        </p:cTn>
                                        <p:tgtEl>
                                          <p:spTgt spid="49"/>
                                        </p:tgtEl>
                                        <p:attrNameLst>
                                          <p:attrName>style.visibility</p:attrName>
                                        </p:attrNameLst>
                                      </p:cBhvr>
                                      <p:to>
                                        <p:strVal val="visible"/>
                                      </p:to>
                                    </p:set>
                                    <p:animEffect>
                                      <p:cBhvr>
                                        <p:cTn id="90" dur="500"/>
                                        <p:tgtEl>
                                          <p:spTgt spid="49"/>
                                        </p:tgtEl>
                                      </p:cBhvr>
                                    </p:animEffect>
                                  </p:childTnLst>
                                </p:cTn>
                              </p:par>
                            </p:childTnLst>
                          </p:cTn>
                        </p:par>
                        <p:par>
                          <p:cTn id="91" fill="hold">
                            <p:stCondLst>
                              <p:cond delay="3050"/>
                            </p:stCondLst>
                            <p:childTnLst>
                              <p:par>
                                <p:cTn id="92" presetID="22" presetClass="entr" presetSubtype="8" fill="hold" grpId="0" nodeType="afterEffect">
                                  <p:stCondLst>
                                    <p:cond delay="0"/>
                                  </p:stCondLst>
                                  <p:childTnLst>
                                    <p:set>
                                      <p:cBhvr>
                                        <p:cTn id="93" dur="1" fill="hold">
                                          <p:stCondLst>
                                            <p:cond delay="0"/>
                                          </p:stCondLst>
                                        </p:cTn>
                                        <p:tgtEl>
                                          <p:spTgt spid="50"/>
                                        </p:tgtEl>
                                        <p:attrNameLst>
                                          <p:attrName>style.visibility</p:attrName>
                                        </p:attrNameLst>
                                      </p:cBhvr>
                                      <p:to>
                                        <p:strVal val="visible"/>
                                      </p:to>
                                    </p:set>
                                    <p:animEffect>
                                      <p:cBhvr>
                                        <p:cTn id="94" dur="500"/>
                                        <p:tgtEl>
                                          <p:spTgt spid="50"/>
                                        </p:tgtEl>
                                      </p:cBhvr>
                                    </p:animEffect>
                                  </p:childTnLst>
                                </p:cTn>
                              </p:par>
                            </p:childTnLst>
                          </p:cTn>
                        </p:par>
                        <p:par>
                          <p:cTn id="95" fill="hold">
                            <p:stCondLst>
                              <p:cond delay="3550"/>
                            </p:stCondLst>
                            <p:childTnLst>
                              <p:par>
                                <p:cTn id="96" presetID="22" presetClass="entr" presetSubtype="8" fill="hold" grpId="0" nodeType="afterEffect">
                                  <p:stCondLst>
                                    <p:cond delay="0"/>
                                  </p:stCondLst>
                                  <p:childTnLst>
                                    <p:set>
                                      <p:cBhvr>
                                        <p:cTn id="97" dur="1" fill="hold">
                                          <p:stCondLst>
                                            <p:cond delay="0"/>
                                          </p:stCondLst>
                                        </p:cTn>
                                        <p:tgtEl>
                                          <p:spTgt spid="51"/>
                                        </p:tgtEl>
                                        <p:attrNameLst>
                                          <p:attrName>style.visibility</p:attrName>
                                        </p:attrNameLst>
                                      </p:cBhvr>
                                      <p:to>
                                        <p:strVal val="visible"/>
                                      </p:to>
                                    </p:set>
                                    <p:animEffect>
                                      <p:cBhvr>
                                        <p:cTn id="9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bldLvl="0" animBg="1" autoUpdateAnimBg="0"/>
      <p:bldP spid="33" grpId="0" bldLvl="0" animBg="1" autoUpdateAnimBg="0"/>
      <p:bldP spid="34" grpId="0" bldLvl="0" animBg="1" autoUpdateAnimBg="0"/>
      <p:bldP spid="35" grpId="0" bldLvl="0" animBg="1" autoUpdateAnimBg="0"/>
      <p:bldP spid="36" grpId="0" bldLvl="0" animBg="1" autoUpdateAnimBg="0"/>
      <p:bldP spid="37" grpId="0" bldLvl="0" autoUpdateAnimBg="0"/>
      <p:bldP spid="38" grpId="0" bldLvl="0" autoUpdateAnimBg="0"/>
      <p:bldP spid="39" grpId="0" bldLvl="0" autoUpdateAnimBg="0"/>
      <p:bldP spid="40" grpId="0" bldLvl="0" autoUpdateAnimBg="0"/>
      <p:bldP spid="41" grpId="0" bldLvl="0" autoUpdateAnimBg="0"/>
      <p:bldP spid="47" grpId="0" bldLvl="0" autoUpdateAnimBg="0"/>
      <p:bldP spid="48" grpId="0" bldLvl="0" autoUpdateAnimBg="0"/>
      <p:bldP spid="49" grpId="0" bldLvl="0" autoUpdateAnimBg="0"/>
      <p:bldP spid="50" grpId="0" bldLvl="0" autoUpdateAnimBg="0"/>
      <p:bldP spid="51" grpId="0" bldLvl="0" autoUpdateAnimBg="0"/>
      <p:bldP spid="52" grpId="0" bldLvl="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rrowheads="1"/>
          </p:cNvSpPr>
          <p:nvPr>
            <p:ph type="title"/>
          </p:nvPr>
        </p:nvSpPr>
        <p:spPr/>
        <p:txBody>
          <a:bodyPr/>
          <a:lstStyle/>
          <a:p>
            <a:pPr eaLnBrk="1" hangingPunct="1">
              <a:defRPr/>
            </a:pPr>
            <a:r>
              <a:rPr lang="en-US" altLang="zh-CN" smtClean="0"/>
              <a:t>CMM</a:t>
            </a:r>
            <a:r>
              <a:rPr lang="zh-CN" altLang="en-US" smtClean="0"/>
              <a:t>与</a:t>
            </a:r>
            <a:r>
              <a:rPr lang="en-US" altLang="zh-CN" smtClean="0"/>
              <a:t>ISO9000</a:t>
            </a:r>
          </a:p>
        </p:txBody>
      </p:sp>
      <p:sp>
        <p:nvSpPr>
          <p:cNvPr id="11267" name="Rectangle 3"/>
          <p:cNvSpPr>
            <a:spLocks noGrp="1" noRot="1" noChangeArrowheads="1"/>
          </p:cNvSpPr>
          <p:nvPr>
            <p:ph type="body" idx="1"/>
          </p:nvPr>
        </p:nvSpPr>
        <p:spPr/>
        <p:txBody>
          <a:bodyPr/>
          <a:lstStyle/>
          <a:p>
            <a:pPr eaLnBrk="1" hangingPunct="1">
              <a:lnSpc>
                <a:spcPct val="90000"/>
              </a:lnSpc>
            </a:pPr>
            <a:r>
              <a:rPr lang="en-US" altLang="zh-CN" sz="2400">
                <a:effectLst/>
              </a:rPr>
              <a:t>ISO 9001</a:t>
            </a:r>
            <a:r>
              <a:rPr lang="zh-CN" altLang="en-US" sz="2400">
                <a:effectLst/>
              </a:rPr>
              <a:t>与</a:t>
            </a:r>
            <a:r>
              <a:rPr lang="en-US" altLang="zh-CN" sz="2400">
                <a:effectLst/>
              </a:rPr>
              <a:t>CMM </a:t>
            </a:r>
            <a:r>
              <a:rPr lang="zh-CN" altLang="en-US" sz="2400">
                <a:effectLst/>
              </a:rPr>
              <a:t>的理论基础是相同的</a:t>
            </a:r>
            <a:r>
              <a:rPr lang="en-US" altLang="zh-CN" sz="2400">
                <a:effectLst/>
              </a:rPr>
              <a:t>,</a:t>
            </a:r>
            <a:r>
              <a:rPr lang="zh-CN" altLang="en-US" sz="2400">
                <a:effectLst/>
              </a:rPr>
              <a:t>都吸收了现代质量管理理论，都以“过程思维”为指导，两者之间有不少相通之处</a:t>
            </a:r>
          </a:p>
          <a:p>
            <a:pPr eaLnBrk="1" hangingPunct="1">
              <a:lnSpc>
                <a:spcPct val="90000"/>
              </a:lnSpc>
            </a:pPr>
            <a:endParaRPr lang="zh-CN" altLang="en-US" sz="2400">
              <a:effectLst/>
            </a:endParaRPr>
          </a:p>
          <a:p>
            <a:pPr eaLnBrk="1" hangingPunct="1">
              <a:lnSpc>
                <a:spcPct val="90000"/>
              </a:lnSpc>
            </a:pPr>
            <a:r>
              <a:rPr lang="zh-CN" altLang="en-US" sz="2400">
                <a:effectLst/>
              </a:rPr>
              <a:t>以现代质量管理理论为基础</a:t>
            </a:r>
          </a:p>
          <a:p>
            <a:pPr lvl="1" eaLnBrk="1" hangingPunct="1">
              <a:lnSpc>
                <a:spcPct val="90000"/>
              </a:lnSpc>
              <a:buFontTx/>
              <a:buNone/>
            </a:pPr>
            <a:r>
              <a:rPr lang="en-US" altLang="zh-CN" sz="2000">
                <a:effectLst/>
              </a:rPr>
              <a:t>(1) </a:t>
            </a:r>
            <a:r>
              <a:rPr lang="zh-CN" altLang="en-US" sz="2000">
                <a:effectLst/>
              </a:rPr>
              <a:t>质量形成于生产全过程</a:t>
            </a:r>
          </a:p>
          <a:p>
            <a:pPr lvl="1" eaLnBrk="1" hangingPunct="1">
              <a:lnSpc>
                <a:spcPct val="90000"/>
              </a:lnSpc>
              <a:buFontTx/>
              <a:buNone/>
            </a:pPr>
            <a:r>
              <a:rPr lang="en-US" altLang="zh-CN" sz="2000">
                <a:effectLst/>
              </a:rPr>
              <a:t>(2) </a:t>
            </a:r>
            <a:r>
              <a:rPr lang="zh-CN" altLang="en-US" sz="2000">
                <a:effectLst/>
              </a:rPr>
              <a:t>必须使影响产品质量的全部因素在生产全过程中始终处于受控状态</a:t>
            </a:r>
          </a:p>
          <a:p>
            <a:pPr lvl="1" eaLnBrk="1" hangingPunct="1">
              <a:lnSpc>
                <a:spcPct val="90000"/>
              </a:lnSpc>
              <a:buFontTx/>
              <a:buNone/>
            </a:pPr>
            <a:r>
              <a:rPr lang="en-US" altLang="zh-CN" sz="2000">
                <a:effectLst/>
              </a:rPr>
              <a:t>(3) </a:t>
            </a:r>
            <a:r>
              <a:rPr lang="zh-CN" altLang="en-US" sz="2000">
                <a:effectLst/>
              </a:rPr>
              <a:t>应使企业具有持续提供符合要求的产品的能力</a:t>
            </a:r>
          </a:p>
          <a:p>
            <a:pPr lvl="1" eaLnBrk="1" hangingPunct="1">
              <a:lnSpc>
                <a:spcPct val="90000"/>
              </a:lnSpc>
              <a:buFontTx/>
              <a:buNone/>
            </a:pPr>
            <a:r>
              <a:rPr lang="en-US" altLang="zh-CN" sz="2000">
                <a:effectLst/>
              </a:rPr>
              <a:t>(4) </a:t>
            </a:r>
            <a:r>
              <a:rPr lang="zh-CN" altLang="en-US" sz="2000">
                <a:effectLst/>
              </a:rPr>
              <a:t>质量管理必须坚持进行质量改进</a:t>
            </a:r>
          </a:p>
          <a:p>
            <a:pPr lvl="1" eaLnBrk="1" hangingPunct="1">
              <a:lnSpc>
                <a:spcPct val="90000"/>
              </a:lnSpc>
              <a:buFontTx/>
              <a:buNone/>
            </a:pPr>
            <a:r>
              <a:rPr lang="en-US" altLang="zh-CN" sz="2000">
                <a:effectLst/>
              </a:rPr>
              <a:t>(5) </a:t>
            </a:r>
            <a:r>
              <a:rPr lang="zh-CN" altLang="en-US" sz="2000">
                <a:effectLst/>
              </a:rPr>
              <a:t>质量管理体现</a:t>
            </a:r>
            <a:r>
              <a:rPr lang="en-US" altLang="zh-CN" sz="2000">
                <a:effectLst/>
              </a:rPr>
              <a:t>PDCA</a:t>
            </a:r>
            <a:r>
              <a:rPr lang="zh-CN" altLang="en-US" sz="2000">
                <a:effectLst/>
              </a:rPr>
              <a:t>循环</a:t>
            </a:r>
          </a:p>
          <a:p>
            <a:pPr lvl="1" eaLnBrk="1" hangingPunct="1">
              <a:lnSpc>
                <a:spcPct val="90000"/>
              </a:lnSpc>
              <a:buFontTx/>
              <a:buNone/>
            </a:pPr>
            <a:r>
              <a:rPr lang="en-US" altLang="zh-CN" sz="2000">
                <a:effectLst/>
              </a:rPr>
              <a:t>(6) </a:t>
            </a:r>
            <a:r>
              <a:rPr lang="zh-CN" altLang="en-US" sz="2000">
                <a:effectLst/>
              </a:rPr>
              <a:t>质量管理的核心是预防而不是补救</a:t>
            </a:r>
          </a:p>
        </p:txBody>
      </p:sp>
    </p:spTree>
    <p:extLst>
      <p:ext uri="{BB962C8B-B14F-4D97-AF65-F5344CB8AC3E}">
        <p14:creationId xmlns:p14="http://schemas.microsoft.com/office/powerpoint/2010/main" val="26010933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Rot="1" noChangeArrowheads="1"/>
          </p:cNvSpPr>
          <p:nvPr>
            <p:ph type="title"/>
          </p:nvPr>
        </p:nvSpPr>
        <p:spPr/>
        <p:txBody>
          <a:bodyPr/>
          <a:lstStyle/>
          <a:p>
            <a:pPr eaLnBrk="1" hangingPunct="1">
              <a:defRPr/>
            </a:pPr>
            <a:r>
              <a:rPr lang="en-US" altLang="zh-CN" smtClean="0"/>
              <a:t>CMM</a:t>
            </a:r>
            <a:r>
              <a:rPr lang="zh-CN" altLang="en-US" smtClean="0"/>
              <a:t>与</a:t>
            </a:r>
            <a:r>
              <a:rPr lang="en-US" altLang="zh-CN" smtClean="0"/>
              <a:t>ISO9000</a:t>
            </a:r>
          </a:p>
        </p:txBody>
      </p:sp>
      <p:sp>
        <p:nvSpPr>
          <p:cNvPr id="12291" name="Rectangle 3"/>
          <p:cNvSpPr>
            <a:spLocks noGrp="1" noRot="1" noChangeArrowheads="1"/>
          </p:cNvSpPr>
          <p:nvPr>
            <p:ph type="body" idx="1"/>
          </p:nvPr>
        </p:nvSpPr>
        <p:spPr/>
        <p:txBody>
          <a:bodyPr/>
          <a:lstStyle/>
          <a:p>
            <a:pPr eaLnBrk="1" hangingPunct="1">
              <a:lnSpc>
                <a:spcPct val="90000"/>
              </a:lnSpc>
            </a:pPr>
            <a:r>
              <a:rPr lang="en-US" altLang="zh-CN" sz="2400">
                <a:effectLst/>
              </a:rPr>
              <a:t>ISO 9000 </a:t>
            </a:r>
            <a:r>
              <a:rPr lang="zh-CN" altLang="en-US" sz="2400" b="1">
                <a:effectLst/>
              </a:rPr>
              <a:t>标准与</a:t>
            </a:r>
            <a:r>
              <a:rPr lang="en-US" altLang="zh-CN" sz="2400">
                <a:effectLst/>
              </a:rPr>
              <a:t>CMM</a:t>
            </a:r>
            <a:r>
              <a:rPr lang="zh-CN" altLang="en-US" sz="2400" b="1">
                <a:effectLst/>
              </a:rPr>
              <a:t>都以组织和过程为约束和控制对象</a:t>
            </a:r>
            <a:endParaRPr lang="zh-CN" altLang="en-US" sz="2400">
              <a:effectLst/>
            </a:endParaRPr>
          </a:p>
          <a:p>
            <a:pPr lvl="1" eaLnBrk="1" hangingPunct="1">
              <a:lnSpc>
                <a:spcPct val="90000"/>
              </a:lnSpc>
            </a:pPr>
            <a:r>
              <a:rPr lang="zh-CN" altLang="en-US" sz="2000">
                <a:effectLst/>
              </a:rPr>
              <a:t>质量体系标准不同于产品质量标准</a:t>
            </a:r>
            <a:r>
              <a:rPr lang="en-US" altLang="zh-CN" sz="2000">
                <a:effectLst/>
              </a:rPr>
              <a:t>,</a:t>
            </a:r>
            <a:r>
              <a:rPr lang="zh-CN" altLang="en-US" sz="2000">
                <a:effectLst/>
              </a:rPr>
              <a:t>不是传统意义下对产品进行约束和控制的标准样板和尺度</a:t>
            </a:r>
            <a:r>
              <a:rPr lang="en-US" altLang="zh-CN" sz="2000">
                <a:effectLst/>
              </a:rPr>
              <a:t>,</a:t>
            </a:r>
            <a:r>
              <a:rPr lang="zh-CN" altLang="en-US" sz="2000">
                <a:effectLst/>
              </a:rPr>
              <a:t>而是一种组织管理的原则</a:t>
            </a:r>
          </a:p>
          <a:p>
            <a:pPr lvl="1" eaLnBrk="1" hangingPunct="1">
              <a:lnSpc>
                <a:spcPct val="90000"/>
              </a:lnSpc>
            </a:pPr>
            <a:r>
              <a:rPr lang="zh-CN" altLang="en-US" sz="2000">
                <a:effectLst/>
              </a:rPr>
              <a:t>产品和服务是通过一系列过程生产出来的。过程之间相互交叉形成一个过程网络。过程网络的“质量”、“可靠性”保证了产品</a:t>
            </a:r>
            <a:r>
              <a:rPr lang="en-US" altLang="zh-CN" sz="2000">
                <a:effectLst/>
              </a:rPr>
              <a:t>/ </a:t>
            </a:r>
            <a:r>
              <a:rPr lang="zh-CN" altLang="en-US" sz="2000">
                <a:effectLst/>
              </a:rPr>
              <a:t>服务的质量和可靠性</a:t>
            </a:r>
          </a:p>
          <a:p>
            <a:pPr lvl="1" eaLnBrk="1" hangingPunct="1">
              <a:lnSpc>
                <a:spcPct val="90000"/>
              </a:lnSpc>
              <a:buFontTx/>
              <a:buNone/>
            </a:pPr>
            <a:endParaRPr lang="zh-CN" altLang="en-US" sz="2000">
              <a:effectLst/>
            </a:endParaRPr>
          </a:p>
          <a:p>
            <a:pPr eaLnBrk="1" hangingPunct="1">
              <a:lnSpc>
                <a:spcPct val="90000"/>
              </a:lnSpc>
            </a:pPr>
            <a:r>
              <a:rPr lang="en-US" altLang="zh-CN" sz="2400">
                <a:effectLst/>
              </a:rPr>
              <a:t>ISO 9000 </a:t>
            </a:r>
            <a:r>
              <a:rPr lang="zh-CN" altLang="en-US" sz="2400" b="1">
                <a:effectLst/>
              </a:rPr>
              <a:t>标准与</a:t>
            </a:r>
            <a:r>
              <a:rPr lang="en-US" altLang="zh-CN" sz="2400">
                <a:effectLst/>
              </a:rPr>
              <a:t>CMM</a:t>
            </a:r>
            <a:r>
              <a:rPr lang="zh-CN" altLang="en-US" sz="2400" b="1">
                <a:effectLst/>
              </a:rPr>
              <a:t>模型具有高度的概括性和抽象性</a:t>
            </a:r>
          </a:p>
          <a:p>
            <a:pPr lvl="1" eaLnBrk="1" hangingPunct="1">
              <a:lnSpc>
                <a:spcPct val="90000"/>
              </a:lnSpc>
            </a:pPr>
            <a:r>
              <a:rPr lang="en-US" altLang="zh-CN" sz="2000">
                <a:effectLst/>
              </a:rPr>
              <a:t>ISO9000</a:t>
            </a:r>
            <a:r>
              <a:rPr lang="zh-CN" altLang="en-US" sz="2000">
                <a:effectLst/>
              </a:rPr>
              <a:t>标准给出的仅是一些质量体系需要遵循的原则，具有很高的概括性和抽象性，需要和实际结合以形成具体的行为规范</a:t>
            </a:r>
          </a:p>
          <a:p>
            <a:pPr lvl="1" eaLnBrk="1" hangingPunct="1">
              <a:lnSpc>
                <a:spcPct val="90000"/>
              </a:lnSpc>
            </a:pPr>
            <a:r>
              <a:rPr lang="en-US" altLang="zh-CN" sz="2000">
                <a:effectLst/>
              </a:rPr>
              <a:t>CMM</a:t>
            </a:r>
            <a:r>
              <a:rPr lang="zh-CN" altLang="en-US" sz="2000">
                <a:effectLst/>
              </a:rPr>
              <a:t>模型也是在实际项目及企业中应用得到的经验的抽象结果</a:t>
            </a:r>
            <a:r>
              <a:rPr lang="en-US" altLang="zh-CN" sz="2000">
                <a:effectLst/>
              </a:rPr>
              <a:t>,</a:t>
            </a:r>
            <a:r>
              <a:rPr lang="zh-CN" altLang="en-US" sz="2000">
                <a:effectLst/>
              </a:rPr>
              <a:t>代表了软件过程的“共性”，具体企业和软件项目在应用</a:t>
            </a:r>
            <a:r>
              <a:rPr lang="en-US" altLang="zh-CN" sz="2000">
                <a:effectLst/>
              </a:rPr>
              <a:t>CMM</a:t>
            </a:r>
            <a:r>
              <a:rPr lang="zh-CN" altLang="en-US" sz="2000">
                <a:effectLst/>
              </a:rPr>
              <a:t>时</a:t>
            </a:r>
            <a:r>
              <a:rPr lang="en-US" altLang="zh-CN" sz="2000">
                <a:effectLst/>
              </a:rPr>
              <a:t>,</a:t>
            </a:r>
            <a:r>
              <a:rPr lang="zh-CN" altLang="en-US" sz="2000">
                <a:effectLst/>
              </a:rPr>
              <a:t>必须根据企业和项目特征</a:t>
            </a:r>
            <a:r>
              <a:rPr lang="en-US" altLang="zh-CN" sz="2000">
                <a:effectLst/>
              </a:rPr>
              <a:t>,</a:t>
            </a:r>
            <a:r>
              <a:rPr lang="zh-CN" altLang="en-US" sz="2000">
                <a:effectLst/>
              </a:rPr>
              <a:t>运用自己的专业知识和判断力对</a:t>
            </a:r>
            <a:r>
              <a:rPr lang="en-US" altLang="zh-CN" sz="2000">
                <a:effectLst/>
              </a:rPr>
              <a:t>CMM</a:t>
            </a:r>
            <a:r>
              <a:rPr lang="zh-CN" altLang="en-US" sz="2000">
                <a:effectLst/>
              </a:rPr>
              <a:t>进行合理剪裁</a:t>
            </a:r>
            <a:r>
              <a:rPr lang="en-US" altLang="zh-CN" sz="2000">
                <a:effectLst/>
              </a:rPr>
              <a:t>,</a:t>
            </a:r>
            <a:r>
              <a:rPr lang="zh-CN" altLang="en-US" sz="2000">
                <a:effectLst/>
              </a:rPr>
              <a:t>并灵活应用于软件过程的建立、评价和改进</a:t>
            </a:r>
          </a:p>
        </p:txBody>
      </p:sp>
    </p:spTree>
    <p:extLst>
      <p:ext uri="{BB962C8B-B14F-4D97-AF65-F5344CB8AC3E}">
        <p14:creationId xmlns:p14="http://schemas.microsoft.com/office/powerpoint/2010/main" val="15614355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rrowheads="1"/>
          </p:cNvSpPr>
          <p:nvPr>
            <p:ph type="title"/>
          </p:nvPr>
        </p:nvSpPr>
        <p:spPr/>
        <p:txBody>
          <a:bodyPr/>
          <a:lstStyle/>
          <a:p>
            <a:pPr eaLnBrk="1" hangingPunct="1">
              <a:defRPr/>
            </a:pPr>
            <a:r>
              <a:rPr lang="en-US" altLang="zh-CN" smtClean="0"/>
              <a:t>CMM</a:t>
            </a:r>
            <a:r>
              <a:rPr lang="zh-CN" altLang="en-US" smtClean="0"/>
              <a:t>与</a:t>
            </a:r>
            <a:r>
              <a:rPr lang="en-US" altLang="zh-CN" smtClean="0"/>
              <a:t>ISO9000</a:t>
            </a:r>
          </a:p>
        </p:txBody>
      </p:sp>
      <p:sp>
        <p:nvSpPr>
          <p:cNvPr id="13315" name="Rectangle 3"/>
          <p:cNvSpPr>
            <a:spLocks noGrp="1" noRot="1" noChangeArrowheads="1"/>
          </p:cNvSpPr>
          <p:nvPr>
            <p:ph type="body" idx="1"/>
          </p:nvPr>
        </p:nvSpPr>
        <p:spPr/>
        <p:txBody>
          <a:bodyPr/>
          <a:lstStyle/>
          <a:p>
            <a:pPr eaLnBrk="1" hangingPunct="1">
              <a:lnSpc>
                <a:spcPct val="90000"/>
              </a:lnSpc>
            </a:pPr>
            <a:r>
              <a:rPr lang="zh-CN" altLang="en-US" sz="2800">
                <a:effectLst/>
              </a:rPr>
              <a:t>　保证质量的方式不同</a:t>
            </a:r>
          </a:p>
          <a:p>
            <a:pPr lvl="1" eaLnBrk="1" hangingPunct="1">
              <a:lnSpc>
                <a:spcPct val="90000"/>
              </a:lnSpc>
            </a:pPr>
            <a:r>
              <a:rPr lang="en-US" altLang="zh-CN" sz="2400">
                <a:effectLst/>
              </a:rPr>
              <a:t>ISO 9001 </a:t>
            </a:r>
            <a:r>
              <a:rPr lang="zh-CN" altLang="en-US" sz="2400">
                <a:effectLst/>
              </a:rPr>
              <a:t>作为质量保证标准，只论述了质量体系的最小需求</a:t>
            </a:r>
            <a:r>
              <a:rPr lang="en-US" altLang="zh-CN" sz="2400">
                <a:effectLst/>
              </a:rPr>
              <a:t>,</a:t>
            </a:r>
            <a:r>
              <a:rPr lang="zh-CN" altLang="en-US" sz="2400">
                <a:effectLst/>
              </a:rPr>
              <a:t>即合格质量体系的最低可接受水平。它是一种“静态”标准</a:t>
            </a:r>
            <a:r>
              <a:rPr lang="en-US" altLang="zh-CN" sz="2400">
                <a:effectLst/>
              </a:rPr>
              <a:t>,</a:t>
            </a:r>
            <a:r>
              <a:rPr lang="zh-CN" altLang="en-US" sz="2400">
                <a:effectLst/>
              </a:rPr>
              <a:t>企业只要符合它要求的条件并通过权威机构的审核</a:t>
            </a:r>
            <a:r>
              <a:rPr lang="en-US" altLang="zh-CN" sz="2400">
                <a:effectLst/>
              </a:rPr>
              <a:t>,</a:t>
            </a:r>
            <a:r>
              <a:rPr lang="zh-CN" altLang="en-US" sz="2400">
                <a:effectLst/>
              </a:rPr>
              <a:t>就可以通过</a:t>
            </a:r>
          </a:p>
          <a:p>
            <a:pPr lvl="1" eaLnBrk="1" hangingPunct="1">
              <a:lnSpc>
                <a:spcPct val="90000"/>
              </a:lnSpc>
            </a:pPr>
            <a:r>
              <a:rPr lang="en-US" altLang="zh-CN" sz="2400">
                <a:effectLst/>
              </a:rPr>
              <a:t>CMM </a:t>
            </a:r>
            <a:r>
              <a:rPr lang="zh-CN" altLang="en-US" sz="2400">
                <a:effectLst/>
              </a:rPr>
              <a:t>则强调过程控制、过程管理</a:t>
            </a:r>
            <a:r>
              <a:rPr lang="en-US" altLang="zh-CN" sz="2400">
                <a:effectLst/>
              </a:rPr>
              <a:t>,</a:t>
            </a:r>
            <a:r>
              <a:rPr lang="zh-CN" altLang="en-US" sz="2400">
                <a:effectLst/>
              </a:rPr>
              <a:t>强调持续的过程改进。</a:t>
            </a:r>
            <a:r>
              <a:rPr lang="en-US" altLang="zh-CN" sz="2400">
                <a:effectLst/>
              </a:rPr>
              <a:t>CMM</a:t>
            </a:r>
            <a:r>
              <a:rPr lang="zh-CN" altLang="en-US" sz="2400">
                <a:effectLst/>
              </a:rPr>
              <a:t>不仅仅是对产品质量的认证</a:t>
            </a:r>
            <a:r>
              <a:rPr lang="en-US" altLang="zh-CN" sz="2400">
                <a:effectLst/>
              </a:rPr>
              <a:t>,</a:t>
            </a:r>
            <a:r>
              <a:rPr lang="zh-CN" altLang="en-US" sz="2400">
                <a:effectLst/>
              </a:rPr>
              <a:t>更是一种改善软件过程的模型</a:t>
            </a:r>
            <a:r>
              <a:rPr lang="en-US" altLang="zh-CN" sz="2400">
                <a:effectLst/>
              </a:rPr>
              <a:t>,</a:t>
            </a:r>
            <a:r>
              <a:rPr lang="zh-CN" altLang="en-US" sz="2400">
                <a:effectLst/>
              </a:rPr>
              <a:t>它以一种结构化的成熟度框架描述了软件管理和工程实践</a:t>
            </a:r>
            <a:r>
              <a:rPr lang="en-US" altLang="zh-CN" sz="2400">
                <a:effectLst/>
              </a:rPr>
              <a:t>,</a:t>
            </a:r>
            <a:r>
              <a:rPr lang="zh-CN" altLang="en-US" sz="2400">
                <a:effectLst/>
              </a:rPr>
              <a:t>指出了软件过程不断改进的科学途径。</a:t>
            </a:r>
          </a:p>
          <a:p>
            <a:pPr eaLnBrk="1" hangingPunct="1">
              <a:lnSpc>
                <a:spcPct val="90000"/>
              </a:lnSpc>
            </a:pPr>
            <a:endParaRPr lang="zh-CN" altLang="en-US" sz="2800">
              <a:effectLst/>
            </a:endParaRPr>
          </a:p>
          <a:p>
            <a:pPr eaLnBrk="1" hangingPunct="1">
              <a:lnSpc>
                <a:spcPct val="90000"/>
              </a:lnSpc>
            </a:pPr>
            <a:r>
              <a:rPr lang="zh-CN" altLang="en-US" sz="2800">
                <a:effectLst/>
              </a:rPr>
              <a:t>　适用范围不同</a:t>
            </a:r>
          </a:p>
        </p:txBody>
      </p:sp>
    </p:spTree>
    <p:extLst>
      <p:ext uri="{BB962C8B-B14F-4D97-AF65-F5344CB8AC3E}">
        <p14:creationId xmlns:p14="http://schemas.microsoft.com/office/powerpoint/2010/main" val="9439471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95587" name="Rectangle 3"/>
          <p:cNvSpPr>
            <a:spLocks noGrp="1" noRot="1" noChangeArrowheads="1"/>
          </p:cNvSpPr>
          <p:nvPr>
            <p:ph type="body" idx="1"/>
          </p:nvPr>
        </p:nvSpPr>
        <p:spPr/>
        <p:txBody>
          <a:bodyPr/>
          <a:lstStyle/>
          <a:p>
            <a:pPr eaLnBrk="1" hangingPunct="1">
              <a:lnSpc>
                <a:spcPct val="90000"/>
              </a:lnSpc>
              <a:defRPr/>
            </a:pPr>
            <a:r>
              <a:rPr lang="en-US" altLang="zh-CN" sz="2400"/>
              <a:t>SEI</a:t>
            </a:r>
            <a:r>
              <a:rPr lang="zh-CN" altLang="en-US" sz="2400"/>
              <a:t>提出的</a:t>
            </a:r>
            <a:r>
              <a:rPr lang="en-US" altLang="zh-CN" sz="2400"/>
              <a:t>IDEAL</a:t>
            </a:r>
            <a:r>
              <a:rPr lang="zh-CN" altLang="en-US" sz="2400"/>
              <a:t>模型提供了一个持续过程改进的方法</a:t>
            </a:r>
          </a:p>
          <a:p>
            <a:pPr eaLnBrk="1" hangingPunct="1">
              <a:lnSpc>
                <a:spcPct val="90000"/>
              </a:lnSpc>
              <a:defRPr/>
            </a:pPr>
            <a:endParaRPr lang="zh-CN" altLang="en-US" sz="2400"/>
          </a:p>
          <a:p>
            <a:pPr eaLnBrk="1" hangingPunct="1">
              <a:lnSpc>
                <a:spcPct val="90000"/>
              </a:lnSpc>
              <a:defRPr/>
            </a:pPr>
            <a:r>
              <a:rPr lang="en-US" altLang="zh-CN" sz="2400"/>
              <a:t>IDEAL</a:t>
            </a:r>
            <a:r>
              <a:rPr lang="zh-CN" altLang="en-US" sz="2400"/>
              <a:t>包括</a:t>
            </a:r>
            <a:r>
              <a:rPr lang="en-US" altLang="zh-CN" sz="2400"/>
              <a:t>5</a:t>
            </a:r>
            <a:r>
              <a:rPr lang="zh-CN" altLang="en-US" sz="2400"/>
              <a:t>个阶段</a:t>
            </a:r>
          </a:p>
          <a:p>
            <a:pPr lvl="1" eaLnBrk="1" hangingPunct="1">
              <a:lnSpc>
                <a:spcPct val="90000"/>
              </a:lnSpc>
              <a:defRPr/>
            </a:pPr>
            <a:r>
              <a:rPr lang="en-US" altLang="zh-CN" sz="2400"/>
              <a:t>Initiating</a:t>
            </a:r>
            <a:r>
              <a:rPr lang="zh-CN" altLang="en-US" sz="2400"/>
              <a:t>（启动），为成功的改进工作奠定基础</a:t>
            </a:r>
          </a:p>
          <a:p>
            <a:pPr lvl="1" eaLnBrk="1" hangingPunct="1">
              <a:lnSpc>
                <a:spcPct val="90000"/>
              </a:lnSpc>
              <a:defRPr/>
            </a:pPr>
            <a:r>
              <a:rPr lang="en-US" altLang="zh-CN" sz="2400"/>
              <a:t>Diagnosing</a:t>
            </a:r>
            <a:r>
              <a:rPr lang="zh-CN" altLang="en-US" sz="2400"/>
              <a:t>（诊断），确定现状与目标之间的差距</a:t>
            </a:r>
          </a:p>
          <a:p>
            <a:pPr lvl="1" eaLnBrk="1" hangingPunct="1">
              <a:lnSpc>
                <a:spcPct val="90000"/>
              </a:lnSpc>
              <a:defRPr/>
            </a:pPr>
            <a:r>
              <a:rPr lang="en-US" altLang="zh-CN" sz="2400"/>
              <a:t>Establishing</a:t>
            </a:r>
            <a:r>
              <a:rPr lang="zh-CN" altLang="en-US" sz="2400"/>
              <a:t>（建立），计划如何达到目标</a:t>
            </a:r>
          </a:p>
          <a:p>
            <a:pPr lvl="1" eaLnBrk="1" hangingPunct="1">
              <a:lnSpc>
                <a:spcPct val="90000"/>
              </a:lnSpc>
              <a:defRPr/>
            </a:pPr>
            <a:r>
              <a:rPr lang="en-US" altLang="zh-CN" sz="2400"/>
              <a:t>Acting</a:t>
            </a:r>
            <a:r>
              <a:rPr lang="zh-CN" altLang="en-US" sz="2400"/>
              <a:t>（行动），根据计划开展工作</a:t>
            </a:r>
          </a:p>
          <a:p>
            <a:pPr lvl="1" eaLnBrk="1" hangingPunct="1">
              <a:lnSpc>
                <a:spcPct val="90000"/>
              </a:lnSpc>
              <a:defRPr/>
            </a:pPr>
            <a:r>
              <a:rPr lang="en-US" altLang="zh-CN" sz="2400"/>
              <a:t>Learning</a:t>
            </a:r>
            <a:r>
              <a:rPr lang="zh-CN" altLang="en-US" sz="2400"/>
              <a:t>（学习），从经验中学习，以提高在将来采用新技术的能力</a:t>
            </a:r>
          </a:p>
          <a:p>
            <a:pPr eaLnBrk="1" hangingPunct="1">
              <a:lnSpc>
                <a:spcPct val="90000"/>
              </a:lnSpc>
              <a:defRPr/>
            </a:pPr>
            <a:endParaRPr lang="en-US" altLang="zh-CN" sz="2400"/>
          </a:p>
        </p:txBody>
      </p:sp>
    </p:spTree>
    <p:extLst>
      <p:ext uri="{BB962C8B-B14F-4D97-AF65-F5344CB8AC3E}">
        <p14:creationId xmlns:p14="http://schemas.microsoft.com/office/powerpoint/2010/main" val="12993657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rrowheads="1"/>
          </p:cNvSpPr>
          <p:nvPr>
            <p:ph type="title"/>
          </p:nvPr>
        </p:nvSpPr>
        <p:spPr>
          <a:xfrm>
            <a:off x="2133600" y="152400"/>
            <a:ext cx="7772400" cy="1143000"/>
          </a:xfrm>
        </p:spPr>
        <p:txBody>
          <a:bodyPr/>
          <a:lstStyle/>
          <a:p>
            <a:pPr eaLnBrk="1" hangingPunct="1">
              <a:defRPr/>
            </a:pPr>
            <a:r>
              <a:rPr lang="zh-CN" altLang="en-US" smtClean="0"/>
              <a:t>实施</a:t>
            </a:r>
            <a:r>
              <a:rPr lang="en-US" altLang="zh-CN" smtClean="0"/>
              <a:t>CMM</a:t>
            </a:r>
            <a:r>
              <a:rPr lang="zh-CN" altLang="en-US" smtClean="0"/>
              <a:t>的策略</a:t>
            </a:r>
          </a:p>
        </p:txBody>
      </p:sp>
      <p:sp>
        <p:nvSpPr>
          <p:cNvPr id="46083" name="Rectangle 5"/>
          <p:cNvSpPr>
            <a:spLocks noChangeArrowheads="1"/>
          </p:cNvSpPr>
          <p:nvPr/>
        </p:nvSpPr>
        <p:spPr bwMode="auto">
          <a:xfrm>
            <a:off x="3714750" y="111918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pPr>
            <a:endParaRPr lang="zh-CN" altLang="en-US">
              <a:solidFill>
                <a:srgbClr val="FFFFFF"/>
              </a:solidFill>
            </a:endParaRPr>
          </a:p>
        </p:txBody>
      </p:sp>
      <p:pic>
        <p:nvPicPr>
          <p:cNvPr id="46084" name="Picture 4" descr="http://resource.51cmm.com/pubcmm/images/No088.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352800" y="1219200"/>
            <a:ext cx="5486400" cy="532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23802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rrowheads="1"/>
          </p:cNvSpPr>
          <p:nvPr>
            <p:ph type="title"/>
          </p:nvPr>
        </p:nvSpPr>
        <p:spPr/>
        <p:txBody>
          <a:bodyPr/>
          <a:lstStyle/>
          <a:p>
            <a:pPr eaLnBrk="1" hangingPunct="1">
              <a:defRPr/>
            </a:pPr>
            <a:r>
              <a:rPr lang="en-US" altLang="zh-CN" smtClean="0"/>
              <a:t>SEPG</a:t>
            </a:r>
            <a:r>
              <a:rPr lang="zh-CN" altLang="en-US" smtClean="0"/>
              <a:t>（软件工程过程组）</a:t>
            </a:r>
          </a:p>
        </p:txBody>
      </p:sp>
      <p:sp>
        <p:nvSpPr>
          <p:cNvPr id="149507" name="Rectangle 3"/>
          <p:cNvSpPr>
            <a:spLocks noGrp="1" noRot="1" noChangeArrowheads="1"/>
          </p:cNvSpPr>
          <p:nvPr>
            <p:ph type="body" idx="1"/>
          </p:nvPr>
        </p:nvSpPr>
        <p:spPr/>
        <p:txBody>
          <a:bodyPr/>
          <a:lstStyle/>
          <a:p>
            <a:pPr eaLnBrk="1" hangingPunct="1">
              <a:lnSpc>
                <a:spcPct val="90000"/>
              </a:lnSpc>
              <a:defRPr/>
            </a:pPr>
            <a:r>
              <a:rPr lang="en-US" altLang="zh-CN" sz="2400"/>
              <a:t>SEPG</a:t>
            </a:r>
            <a:r>
              <a:rPr lang="zh-CN" altLang="en-US" sz="2400"/>
              <a:t>的主要功能是驱动、维持和评价过程改变。</a:t>
            </a:r>
          </a:p>
          <a:p>
            <a:pPr eaLnBrk="1" hangingPunct="1">
              <a:lnSpc>
                <a:spcPct val="90000"/>
              </a:lnSpc>
              <a:defRPr/>
            </a:pPr>
            <a:r>
              <a:rPr lang="zh-CN" altLang="en-US" sz="2400"/>
              <a:t>通过对</a:t>
            </a:r>
            <a:r>
              <a:rPr lang="en-US" altLang="zh-CN" sz="2400"/>
              <a:t>SQE</a:t>
            </a:r>
            <a:r>
              <a:rPr lang="zh-CN" altLang="en-US" sz="2400"/>
              <a:t>（软件质量度量）收集的数据进行分析，</a:t>
            </a:r>
            <a:r>
              <a:rPr lang="en-US" altLang="zh-CN" sz="2400"/>
              <a:t>SEPG</a:t>
            </a:r>
            <a:r>
              <a:rPr lang="zh-CN" altLang="en-US" sz="2400"/>
              <a:t>确定项目开发和维护所制定的过程是否满足项目的质量需求，尤其是在产品质量方面。</a:t>
            </a:r>
          </a:p>
          <a:p>
            <a:pPr lvl="1" eaLnBrk="1" hangingPunct="1">
              <a:lnSpc>
                <a:spcPct val="90000"/>
              </a:lnSpc>
              <a:defRPr/>
            </a:pPr>
            <a:r>
              <a:rPr lang="zh-CN" altLang="en-US" sz="2000"/>
              <a:t>如果不满足需求，</a:t>
            </a:r>
            <a:r>
              <a:rPr lang="en-US" altLang="zh-CN" sz="2000"/>
              <a:t>SEPG</a:t>
            </a:r>
            <a:r>
              <a:rPr lang="zh-CN" altLang="en-US" sz="2000"/>
              <a:t>会找其他方法替代现有的方法。</a:t>
            </a:r>
          </a:p>
          <a:p>
            <a:pPr lvl="1" eaLnBrk="1" hangingPunct="1">
              <a:lnSpc>
                <a:spcPct val="90000"/>
              </a:lnSpc>
              <a:defRPr/>
            </a:pPr>
            <a:r>
              <a:rPr lang="zh-CN" altLang="en-US" sz="2000"/>
              <a:t>它还要评价新出现的方法，以确定其是否适合组织的需要，以及是否满足质量标准</a:t>
            </a:r>
          </a:p>
          <a:p>
            <a:pPr lvl="1" eaLnBrk="1" hangingPunct="1">
              <a:lnSpc>
                <a:spcPct val="90000"/>
              </a:lnSpc>
              <a:defRPr/>
            </a:pPr>
            <a:r>
              <a:rPr lang="zh-CN" altLang="en-US" sz="2000"/>
              <a:t>如果引入一项新技术能够提高产品的质量，那么</a:t>
            </a:r>
            <a:r>
              <a:rPr lang="en-US" altLang="zh-CN" sz="2000"/>
              <a:t>SEPG</a:t>
            </a:r>
            <a:r>
              <a:rPr lang="zh-CN" altLang="en-US" sz="2000"/>
              <a:t>就会推荐引入。</a:t>
            </a:r>
          </a:p>
          <a:p>
            <a:pPr lvl="1" eaLnBrk="1" hangingPunct="1">
              <a:lnSpc>
                <a:spcPct val="90000"/>
              </a:lnSpc>
              <a:defRPr/>
            </a:pPr>
            <a:r>
              <a:rPr lang="zh-CN" altLang="en-US" sz="2000"/>
              <a:t>在提供建议时，</a:t>
            </a:r>
            <a:r>
              <a:rPr lang="en-US" altLang="zh-CN" sz="2000"/>
              <a:t>SPEG</a:t>
            </a:r>
            <a:r>
              <a:rPr lang="zh-CN" altLang="en-US" sz="2000"/>
              <a:t>会分析引入新方法所产生的影响，以确定新方法是否会对现有项目的开发和维护过程产生过大的十扰和劣化。</a:t>
            </a:r>
          </a:p>
        </p:txBody>
      </p:sp>
    </p:spTree>
    <p:extLst>
      <p:ext uri="{BB962C8B-B14F-4D97-AF65-F5344CB8AC3E}">
        <p14:creationId xmlns:p14="http://schemas.microsoft.com/office/powerpoint/2010/main" val="37167376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rrowheads="1"/>
          </p:cNvSpPr>
          <p:nvPr>
            <p:ph type="title"/>
          </p:nvPr>
        </p:nvSpPr>
        <p:spPr/>
        <p:txBody>
          <a:bodyPr/>
          <a:lstStyle/>
          <a:p>
            <a:pPr eaLnBrk="1" hangingPunct="1">
              <a:defRPr/>
            </a:pPr>
            <a:r>
              <a:rPr lang="zh-CN" altLang="en-US" smtClean="0"/>
              <a:t>大型项目组织</a:t>
            </a:r>
          </a:p>
        </p:txBody>
      </p:sp>
      <p:sp>
        <p:nvSpPr>
          <p:cNvPr id="48131" name="Rectangle 3"/>
          <p:cNvSpPr>
            <a:spLocks noChangeArrowheads="1"/>
          </p:cNvSpPr>
          <p:nvPr/>
        </p:nvSpPr>
        <p:spPr bwMode="auto">
          <a:xfrm>
            <a:off x="8816976" y="5173664"/>
            <a:ext cx="1089025"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质量保证</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APM</a:t>
            </a:r>
          </a:p>
        </p:txBody>
      </p:sp>
      <p:sp>
        <p:nvSpPr>
          <p:cNvPr id="48132" name="Rectangle 4"/>
          <p:cNvSpPr>
            <a:spLocks noChangeArrowheads="1"/>
          </p:cNvSpPr>
          <p:nvPr/>
        </p:nvSpPr>
        <p:spPr bwMode="auto">
          <a:xfrm>
            <a:off x="6796089" y="3197226"/>
            <a:ext cx="777875" cy="371475"/>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SEPG</a:t>
            </a:r>
          </a:p>
        </p:txBody>
      </p:sp>
      <p:sp>
        <p:nvSpPr>
          <p:cNvPr id="48133" name="Rectangle 5"/>
          <p:cNvSpPr>
            <a:spLocks noChangeArrowheads="1"/>
          </p:cNvSpPr>
          <p:nvPr/>
        </p:nvSpPr>
        <p:spPr bwMode="auto">
          <a:xfrm>
            <a:off x="3219450" y="3321050"/>
            <a:ext cx="933450" cy="1111250"/>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人员</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CM</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PP&amp;C</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ETC</a:t>
            </a:r>
          </a:p>
        </p:txBody>
      </p:sp>
      <p:sp>
        <p:nvSpPr>
          <p:cNvPr id="48134" name="Rectangle 6"/>
          <p:cNvSpPr>
            <a:spLocks noChangeArrowheads="1"/>
          </p:cNvSpPr>
          <p:nvPr/>
        </p:nvSpPr>
        <p:spPr bwMode="auto">
          <a:xfrm>
            <a:off x="5240339" y="3814764"/>
            <a:ext cx="1089025"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项目软件</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质量经理</a:t>
            </a:r>
          </a:p>
        </p:txBody>
      </p:sp>
      <p:sp>
        <p:nvSpPr>
          <p:cNvPr id="48135" name="Rectangle 7"/>
          <p:cNvSpPr>
            <a:spLocks noChangeArrowheads="1"/>
          </p:cNvSpPr>
          <p:nvPr/>
        </p:nvSpPr>
        <p:spPr bwMode="auto">
          <a:xfrm>
            <a:off x="7729538" y="5173664"/>
            <a:ext cx="931862"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后勤</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APM</a:t>
            </a:r>
          </a:p>
        </p:txBody>
      </p:sp>
      <p:sp>
        <p:nvSpPr>
          <p:cNvPr id="48136" name="Rectangle 8"/>
          <p:cNvSpPr>
            <a:spLocks noChangeArrowheads="1"/>
          </p:cNvSpPr>
          <p:nvPr/>
        </p:nvSpPr>
        <p:spPr bwMode="auto">
          <a:xfrm>
            <a:off x="6018213" y="5173664"/>
            <a:ext cx="1606550"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400">
                <a:solidFill>
                  <a:srgbClr val="FFFFFF"/>
                </a:solidFill>
                <a:latin typeface="Times New Roman" panose="02020603050405020304" pitchFamily="18" charset="0"/>
              </a:rPr>
              <a:t>系统集成与测试</a:t>
            </a:r>
          </a:p>
          <a:p>
            <a:pPr algn="ctr" defTabSz="914400" eaLnBrk="0" fontAlgn="base" hangingPunct="0">
              <a:spcBef>
                <a:spcPct val="0"/>
              </a:spcBef>
              <a:spcAft>
                <a:spcPct val="0"/>
              </a:spcAft>
            </a:pPr>
            <a:r>
              <a:rPr lang="en-US" altLang="zh-CN" sz="1400">
                <a:solidFill>
                  <a:srgbClr val="FFFFFF"/>
                </a:solidFill>
                <a:latin typeface="Times New Roman" panose="02020603050405020304" pitchFamily="18" charset="0"/>
              </a:rPr>
              <a:t>APM</a:t>
            </a:r>
          </a:p>
        </p:txBody>
      </p:sp>
      <p:sp>
        <p:nvSpPr>
          <p:cNvPr id="48137" name="Rectangle 9"/>
          <p:cNvSpPr>
            <a:spLocks noChangeArrowheads="1"/>
          </p:cNvSpPr>
          <p:nvPr/>
        </p:nvSpPr>
        <p:spPr bwMode="auto">
          <a:xfrm>
            <a:off x="4773614" y="5173664"/>
            <a:ext cx="1089025"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软件测试</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APM</a:t>
            </a:r>
          </a:p>
        </p:txBody>
      </p:sp>
      <p:sp>
        <p:nvSpPr>
          <p:cNvPr id="48138" name="Rectangle 10"/>
          <p:cNvSpPr>
            <a:spLocks noChangeArrowheads="1"/>
          </p:cNvSpPr>
          <p:nvPr/>
        </p:nvSpPr>
        <p:spPr bwMode="auto">
          <a:xfrm>
            <a:off x="3530600" y="5173664"/>
            <a:ext cx="1087438"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软件开发</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APM</a:t>
            </a:r>
          </a:p>
        </p:txBody>
      </p:sp>
      <p:sp>
        <p:nvSpPr>
          <p:cNvPr id="48139" name="Rectangle 11"/>
          <p:cNvSpPr>
            <a:spLocks noChangeArrowheads="1"/>
          </p:cNvSpPr>
          <p:nvPr/>
        </p:nvSpPr>
        <p:spPr bwMode="auto">
          <a:xfrm>
            <a:off x="2286001" y="5173664"/>
            <a:ext cx="1089025"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系统工程</a:t>
            </a:r>
          </a:p>
          <a:p>
            <a:pPr algn="ctr" defTabSz="914400" eaLnBrk="0" fontAlgn="base" hangingPunct="0">
              <a:spcBef>
                <a:spcPct val="0"/>
              </a:spcBef>
              <a:spcAft>
                <a:spcPct val="0"/>
              </a:spcAft>
            </a:pPr>
            <a:r>
              <a:rPr lang="en-US" altLang="zh-CN" sz="1600">
                <a:solidFill>
                  <a:srgbClr val="FFFFFF"/>
                </a:solidFill>
                <a:latin typeface="Times New Roman" panose="02020603050405020304" pitchFamily="18" charset="0"/>
              </a:rPr>
              <a:t>APM</a:t>
            </a:r>
          </a:p>
        </p:txBody>
      </p:sp>
      <p:sp>
        <p:nvSpPr>
          <p:cNvPr id="48140" name="Rectangle 12"/>
          <p:cNvSpPr>
            <a:spLocks noChangeArrowheads="1"/>
          </p:cNvSpPr>
          <p:nvPr/>
        </p:nvSpPr>
        <p:spPr bwMode="auto">
          <a:xfrm>
            <a:off x="4306889" y="2209800"/>
            <a:ext cx="1089025" cy="369888"/>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项目经理</a:t>
            </a:r>
          </a:p>
        </p:txBody>
      </p:sp>
      <p:sp>
        <p:nvSpPr>
          <p:cNvPr id="48141" name="Rectangle 13"/>
          <p:cNvSpPr>
            <a:spLocks noChangeArrowheads="1"/>
          </p:cNvSpPr>
          <p:nvPr/>
        </p:nvSpPr>
        <p:spPr bwMode="auto">
          <a:xfrm>
            <a:off x="8816976" y="3074989"/>
            <a:ext cx="1089025" cy="617537"/>
          </a:xfrm>
          <a:prstGeom prst="rect">
            <a:avLst/>
          </a:prstGeom>
          <a:solidFill>
            <a:schemeClr val="bg1"/>
          </a:solidFill>
          <a:ln w="28575">
            <a:solidFill>
              <a:srgbClr val="33CCC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部门质量</a:t>
            </a:r>
          </a:p>
          <a:p>
            <a:pPr algn="just"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保证经理</a:t>
            </a:r>
          </a:p>
        </p:txBody>
      </p:sp>
      <p:sp>
        <p:nvSpPr>
          <p:cNvPr id="48142" name="Line 14"/>
          <p:cNvSpPr>
            <a:spLocks noChangeShapeType="1"/>
          </p:cNvSpPr>
          <p:nvPr/>
        </p:nvSpPr>
        <p:spPr bwMode="auto">
          <a:xfrm>
            <a:off x="4773613" y="2579688"/>
            <a:ext cx="0" cy="2100262"/>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3" name="Line 15"/>
          <p:cNvSpPr>
            <a:spLocks noChangeShapeType="1"/>
          </p:cNvSpPr>
          <p:nvPr/>
        </p:nvSpPr>
        <p:spPr bwMode="auto">
          <a:xfrm>
            <a:off x="2908300" y="4679950"/>
            <a:ext cx="6375400" cy="0"/>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4" name="Line 16"/>
          <p:cNvSpPr>
            <a:spLocks noChangeShapeType="1"/>
          </p:cNvSpPr>
          <p:nvPr/>
        </p:nvSpPr>
        <p:spPr bwMode="auto">
          <a:xfrm>
            <a:off x="2908300" y="4679951"/>
            <a:ext cx="0" cy="493713"/>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5" name="Line 17"/>
          <p:cNvSpPr>
            <a:spLocks noChangeShapeType="1"/>
          </p:cNvSpPr>
          <p:nvPr/>
        </p:nvSpPr>
        <p:spPr bwMode="auto">
          <a:xfrm>
            <a:off x="4152900" y="4679951"/>
            <a:ext cx="0" cy="493713"/>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6" name="Line 18"/>
          <p:cNvSpPr>
            <a:spLocks noChangeShapeType="1"/>
          </p:cNvSpPr>
          <p:nvPr/>
        </p:nvSpPr>
        <p:spPr bwMode="auto">
          <a:xfrm>
            <a:off x="5395913" y="4679951"/>
            <a:ext cx="0" cy="493713"/>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7" name="Line 19"/>
          <p:cNvSpPr>
            <a:spLocks noChangeShapeType="1"/>
          </p:cNvSpPr>
          <p:nvPr/>
        </p:nvSpPr>
        <p:spPr bwMode="auto">
          <a:xfrm>
            <a:off x="6951663" y="4679951"/>
            <a:ext cx="0" cy="493713"/>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8" name="Line 20"/>
          <p:cNvSpPr>
            <a:spLocks noChangeShapeType="1"/>
          </p:cNvSpPr>
          <p:nvPr/>
        </p:nvSpPr>
        <p:spPr bwMode="auto">
          <a:xfrm>
            <a:off x="8194675" y="4679951"/>
            <a:ext cx="0" cy="493713"/>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49" name="Line 21"/>
          <p:cNvSpPr>
            <a:spLocks noChangeShapeType="1"/>
          </p:cNvSpPr>
          <p:nvPr/>
        </p:nvSpPr>
        <p:spPr bwMode="auto">
          <a:xfrm>
            <a:off x="9283700" y="4679951"/>
            <a:ext cx="0" cy="493713"/>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0" name="Line 22"/>
          <p:cNvSpPr>
            <a:spLocks noChangeShapeType="1"/>
          </p:cNvSpPr>
          <p:nvPr/>
        </p:nvSpPr>
        <p:spPr bwMode="auto">
          <a:xfrm>
            <a:off x="9283700" y="3692526"/>
            <a:ext cx="0" cy="987425"/>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1" name="Line 23"/>
          <p:cNvSpPr>
            <a:spLocks noChangeShapeType="1"/>
          </p:cNvSpPr>
          <p:nvPr/>
        </p:nvSpPr>
        <p:spPr bwMode="auto">
          <a:xfrm>
            <a:off x="4152900" y="4062413"/>
            <a:ext cx="1087438" cy="0"/>
          </a:xfrm>
          <a:prstGeom prst="line">
            <a:avLst/>
          </a:prstGeom>
          <a:noFill/>
          <a:ln w="28575">
            <a:solidFill>
              <a:srgbClr val="33CCCC"/>
            </a:solidFill>
            <a:round/>
            <a:headEnd/>
            <a:tailEn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2" name="Line 24"/>
          <p:cNvSpPr>
            <a:spLocks noChangeShapeType="1"/>
          </p:cNvSpPr>
          <p:nvPr/>
        </p:nvSpPr>
        <p:spPr bwMode="auto">
          <a:xfrm flipV="1">
            <a:off x="3063876" y="4308475"/>
            <a:ext cx="2176463" cy="865188"/>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3" name="Line 25"/>
          <p:cNvSpPr>
            <a:spLocks noChangeShapeType="1"/>
          </p:cNvSpPr>
          <p:nvPr/>
        </p:nvSpPr>
        <p:spPr bwMode="auto">
          <a:xfrm flipV="1">
            <a:off x="4152901" y="4432300"/>
            <a:ext cx="1243013" cy="617538"/>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4" name="Line 26"/>
          <p:cNvSpPr>
            <a:spLocks noChangeShapeType="1"/>
          </p:cNvSpPr>
          <p:nvPr/>
        </p:nvSpPr>
        <p:spPr bwMode="auto">
          <a:xfrm flipV="1">
            <a:off x="5240339" y="4432301"/>
            <a:ext cx="466725" cy="741363"/>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5" name="Line 27"/>
          <p:cNvSpPr>
            <a:spLocks noChangeShapeType="1"/>
          </p:cNvSpPr>
          <p:nvPr/>
        </p:nvSpPr>
        <p:spPr bwMode="auto">
          <a:xfrm flipH="1" flipV="1">
            <a:off x="6018213" y="4432301"/>
            <a:ext cx="622300" cy="741363"/>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6" name="Line 28"/>
          <p:cNvSpPr>
            <a:spLocks noChangeShapeType="1"/>
          </p:cNvSpPr>
          <p:nvPr/>
        </p:nvSpPr>
        <p:spPr bwMode="auto">
          <a:xfrm flipH="1" flipV="1">
            <a:off x="6329363" y="4432301"/>
            <a:ext cx="1865312" cy="741363"/>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7" name="Line 29"/>
          <p:cNvSpPr>
            <a:spLocks noChangeShapeType="1"/>
          </p:cNvSpPr>
          <p:nvPr/>
        </p:nvSpPr>
        <p:spPr bwMode="auto">
          <a:xfrm>
            <a:off x="6329364" y="4308475"/>
            <a:ext cx="2954337" cy="865188"/>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8" name="Line 30"/>
          <p:cNvSpPr>
            <a:spLocks noChangeShapeType="1"/>
          </p:cNvSpPr>
          <p:nvPr/>
        </p:nvSpPr>
        <p:spPr bwMode="auto">
          <a:xfrm flipV="1">
            <a:off x="5707064" y="3444875"/>
            <a:ext cx="1089025" cy="369888"/>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48159" name="Line 31"/>
          <p:cNvSpPr>
            <a:spLocks noChangeShapeType="1"/>
          </p:cNvSpPr>
          <p:nvPr/>
        </p:nvSpPr>
        <p:spPr bwMode="auto">
          <a:xfrm>
            <a:off x="3997326" y="3814764"/>
            <a:ext cx="1243013" cy="371475"/>
          </a:xfrm>
          <a:prstGeom prst="line">
            <a:avLst/>
          </a:prstGeom>
          <a:noFill/>
          <a:ln w="28575">
            <a:solidFill>
              <a:srgbClr val="F0203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6730018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rrowheads="1"/>
          </p:cNvSpPr>
          <p:nvPr>
            <p:ph type="title"/>
          </p:nvPr>
        </p:nvSpPr>
        <p:spPr/>
        <p:txBody>
          <a:bodyPr/>
          <a:lstStyle/>
          <a:p>
            <a:pPr eaLnBrk="1" hangingPunct="1">
              <a:defRPr/>
            </a:pPr>
            <a:r>
              <a:rPr lang="zh-CN" altLang="en-US" smtClean="0"/>
              <a:t>大型项目组织</a:t>
            </a:r>
          </a:p>
        </p:txBody>
      </p:sp>
      <p:sp>
        <p:nvSpPr>
          <p:cNvPr id="151555" name="Rectangle 3"/>
          <p:cNvSpPr>
            <a:spLocks noGrp="1" noRot="1" noChangeArrowheads="1"/>
          </p:cNvSpPr>
          <p:nvPr>
            <p:ph type="body" idx="1"/>
          </p:nvPr>
        </p:nvSpPr>
        <p:spPr/>
        <p:txBody>
          <a:bodyPr/>
          <a:lstStyle/>
          <a:p>
            <a:pPr eaLnBrk="1" hangingPunct="1">
              <a:lnSpc>
                <a:spcPct val="90000"/>
              </a:lnSpc>
              <a:defRPr/>
            </a:pPr>
            <a:r>
              <a:rPr lang="zh-CN" altLang="en-US" sz="2400"/>
              <a:t>软件的每个应用由一组开发人员负责</a:t>
            </a:r>
          </a:p>
          <a:p>
            <a:pPr eaLnBrk="1" hangingPunct="1">
              <a:lnSpc>
                <a:spcPct val="90000"/>
              </a:lnSpc>
              <a:defRPr/>
            </a:pPr>
            <a:r>
              <a:rPr lang="zh-CN" altLang="en-US" sz="2400"/>
              <a:t>每个组有一名软件项目组长</a:t>
            </a:r>
            <a:r>
              <a:rPr lang="en-US" altLang="zh-CN" sz="2400"/>
              <a:t>,</a:t>
            </a:r>
            <a:r>
              <a:rPr lang="zh-CN" altLang="en-US" sz="2400"/>
              <a:t>他向开发部的助理项目经理（</a:t>
            </a:r>
            <a:r>
              <a:rPr lang="en-US" altLang="zh-CN" sz="2400"/>
              <a:t>APM</a:t>
            </a:r>
            <a:r>
              <a:rPr lang="zh-CN" altLang="en-US" sz="2400"/>
              <a:t>）汇报工作</a:t>
            </a:r>
          </a:p>
          <a:p>
            <a:pPr eaLnBrk="1" hangingPunct="1">
              <a:lnSpc>
                <a:spcPct val="90000"/>
              </a:lnSpc>
              <a:defRPr/>
            </a:pPr>
            <a:r>
              <a:rPr lang="zh-CN" altLang="en-US" sz="2400"/>
              <a:t>项目软件质量经理（</a:t>
            </a:r>
            <a:r>
              <a:rPr lang="en-US" altLang="zh-CN" sz="2400"/>
              <a:t>PSQM</a:t>
            </a:r>
            <a:r>
              <a:rPr lang="zh-CN" altLang="en-US" sz="2400"/>
              <a:t>）负责计划</a:t>
            </a:r>
            <a:r>
              <a:rPr lang="en-US" altLang="zh-CN" sz="2400"/>
              <a:t>SQP</a:t>
            </a:r>
            <a:r>
              <a:rPr lang="zh-CN" altLang="en-US" sz="2400"/>
              <a:t>的执行</a:t>
            </a:r>
          </a:p>
          <a:p>
            <a:pPr eaLnBrk="1" hangingPunct="1">
              <a:lnSpc>
                <a:spcPct val="90000"/>
              </a:lnSpc>
              <a:defRPr/>
            </a:pPr>
            <a:r>
              <a:rPr lang="en-US" altLang="zh-CN" sz="2400"/>
              <a:t>SEPG</a:t>
            </a:r>
            <a:r>
              <a:rPr lang="zh-CN" altLang="en-US" sz="2400"/>
              <a:t>负责就建立一般方法与公司的其他部门进行协调并判定其有效性，</a:t>
            </a:r>
            <a:r>
              <a:rPr lang="en-US" altLang="zh-CN" sz="2400"/>
              <a:t>PSQM</a:t>
            </a:r>
            <a:r>
              <a:rPr lang="zh-CN" altLang="en-US" sz="2400"/>
              <a:t>要与</a:t>
            </a:r>
            <a:r>
              <a:rPr lang="en-US" altLang="zh-CN" sz="2400"/>
              <a:t>SEPG</a:t>
            </a:r>
            <a:r>
              <a:rPr lang="zh-CN" altLang="en-US" sz="2400"/>
              <a:t>协调</a:t>
            </a:r>
          </a:p>
          <a:p>
            <a:pPr eaLnBrk="1" hangingPunct="1">
              <a:lnSpc>
                <a:spcPct val="90000"/>
              </a:lnSpc>
              <a:defRPr/>
            </a:pPr>
            <a:r>
              <a:rPr lang="en-US" altLang="zh-CN" sz="2400"/>
              <a:t>QA</a:t>
            </a:r>
            <a:r>
              <a:rPr lang="zh-CN" altLang="en-US" sz="2400"/>
              <a:t>小组、软件测试小组、系统集成与测试小组、软件开发小组对软件的质量进行评估。</a:t>
            </a:r>
            <a:r>
              <a:rPr lang="en-US" altLang="zh-CN" sz="2400"/>
              <a:t>PSQM</a:t>
            </a:r>
            <a:r>
              <a:rPr lang="zh-CN" altLang="en-US" sz="2400"/>
              <a:t>协调并监督软件质量评估的过程</a:t>
            </a:r>
          </a:p>
          <a:p>
            <a:pPr eaLnBrk="1" hangingPunct="1">
              <a:lnSpc>
                <a:spcPct val="90000"/>
              </a:lnSpc>
              <a:defRPr/>
            </a:pPr>
            <a:r>
              <a:rPr lang="en-US" altLang="zh-CN" sz="2400"/>
              <a:t>PSQM</a:t>
            </a:r>
            <a:r>
              <a:rPr lang="zh-CN" altLang="en-US" sz="2400"/>
              <a:t>与项目经理直接沟通确保所有项目成员都遵守</a:t>
            </a:r>
            <a:r>
              <a:rPr lang="en-US" altLang="zh-CN" sz="2400"/>
              <a:t>SQP</a:t>
            </a:r>
            <a:r>
              <a:rPr lang="zh-CN" altLang="en-US" sz="2400"/>
              <a:t>的要求</a:t>
            </a:r>
          </a:p>
        </p:txBody>
      </p:sp>
    </p:spTree>
    <p:extLst>
      <p:ext uri="{BB962C8B-B14F-4D97-AF65-F5344CB8AC3E}">
        <p14:creationId xmlns:p14="http://schemas.microsoft.com/office/powerpoint/2010/main" val="29563188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56675" name="Rectangle 3"/>
          <p:cNvSpPr>
            <a:spLocks noGrp="1" noRot="1" noChangeArrowheads="1"/>
          </p:cNvSpPr>
          <p:nvPr>
            <p:ph type="body" idx="1"/>
          </p:nvPr>
        </p:nvSpPr>
        <p:spPr/>
        <p:txBody>
          <a:bodyPr/>
          <a:lstStyle/>
          <a:p>
            <a:pPr eaLnBrk="1" hangingPunct="1">
              <a:defRPr/>
            </a:pPr>
            <a:r>
              <a:rPr lang="en-US" altLang="zh-CN" sz="2400">
                <a:solidFill>
                  <a:schemeClr val="accent2"/>
                </a:solidFill>
              </a:rPr>
              <a:t>1 </a:t>
            </a:r>
            <a:r>
              <a:rPr lang="zh-CN" altLang="en-US" sz="2400">
                <a:solidFill>
                  <a:schemeClr val="accent2"/>
                </a:solidFill>
              </a:rPr>
              <a:t>自底向上和自顶向下有机结合</a:t>
            </a:r>
          </a:p>
          <a:p>
            <a:pPr lvl="1" eaLnBrk="1" hangingPunct="1">
              <a:defRPr/>
            </a:pPr>
            <a:r>
              <a:rPr lang="zh-CN" altLang="en-US" sz="2400"/>
              <a:t>自顶向下方法中，组织成立</a:t>
            </a:r>
            <a:r>
              <a:rPr lang="en-US" altLang="zh-CN" sz="2400"/>
              <a:t>SEPG</a:t>
            </a:r>
            <a:r>
              <a:rPr lang="zh-CN" altLang="en-US" sz="2400"/>
              <a:t>小组。他们是组织里“过程规范”制定的组织者。</a:t>
            </a:r>
          </a:p>
          <a:p>
            <a:pPr lvl="1" eaLnBrk="1" hangingPunct="1">
              <a:defRPr/>
            </a:pPr>
            <a:r>
              <a:rPr lang="zh-CN" altLang="en-US" sz="2400"/>
              <a:t>自顶向下的方法中最常见的阻力来自于开发人员，标准执行时难以贯彻下去。建议将自底向上和自顶向下的方法结合起来，即由</a:t>
            </a:r>
            <a:r>
              <a:rPr lang="en-US" altLang="zh-CN" sz="2400"/>
              <a:t>SEPG</a:t>
            </a:r>
            <a:r>
              <a:rPr lang="zh-CN" altLang="en-US" sz="2400"/>
              <a:t>深入到开发人员，项目经理中去，深入调研，从开发人员、项目管理人员中吸取可执行性强的改进措施。管理人员仅仅起到了监督、整理、归纳的作用，按照这个过程逐步完善形成标准与规范。</a:t>
            </a:r>
          </a:p>
        </p:txBody>
      </p:sp>
    </p:spTree>
    <p:extLst>
      <p:ext uri="{BB962C8B-B14F-4D97-AF65-F5344CB8AC3E}">
        <p14:creationId xmlns:p14="http://schemas.microsoft.com/office/powerpoint/2010/main" val="17884182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57699" name="Rectangle 3"/>
          <p:cNvSpPr>
            <a:spLocks noGrp="1" noRot="1" noChangeArrowheads="1"/>
          </p:cNvSpPr>
          <p:nvPr>
            <p:ph type="body" idx="1"/>
          </p:nvPr>
        </p:nvSpPr>
        <p:spPr>
          <a:xfrm>
            <a:off x="1828800" y="1600200"/>
            <a:ext cx="8540750" cy="1447800"/>
          </a:xfrm>
        </p:spPr>
        <p:txBody>
          <a:bodyPr/>
          <a:lstStyle/>
          <a:p>
            <a:pPr eaLnBrk="1" hangingPunct="1">
              <a:defRPr/>
            </a:pPr>
            <a:r>
              <a:rPr lang="en-US" altLang="zh-CN" sz="2000" b="1">
                <a:solidFill>
                  <a:schemeClr val="accent2"/>
                </a:solidFill>
              </a:rPr>
              <a:t>2 </a:t>
            </a:r>
            <a:r>
              <a:rPr lang="zh-CN" altLang="en-US" sz="2000" b="1">
                <a:solidFill>
                  <a:schemeClr val="accent2"/>
                </a:solidFill>
              </a:rPr>
              <a:t>设计良好的过程架构体系</a:t>
            </a:r>
          </a:p>
          <a:p>
            <a:pPr eaLnBrk="1" hangingPunct="1">
              <a:defRPr/>
            </a:pPr>
            <a:r>
              <a:rPr lang="zh-CN" altLang="en-US" sz="2000"/>
              <a:t>实施改进之前，组织应对自身当前所有的软件能力水平及过程状态有尽可能的、客观的、详尽的了解，设计一个适合组织实际情况的过程架构体系，为组织过程改进提供宏观的指导</a:t>
            </a:r>
          </a:p>
        </p:txBody>
      </p:sp>
      <p:grpSp>
        <p:nvGrpSpPr>
          <p:cNvPr id="51204" name="Group 5"/>
          <p:cNvGrpSpPr>
            <a:grpSpLocks/>
          </p:cNvGrpSpPr>
          <p:nvPr/>
        </p:nvGrpSpPr>
        <p:grpSpPr bwMode="auto">
          <a:xfrm>
            <a:off x="2819400" y="3276600"/>
            <a:ext cx="6324600" cy="2895600"/>
            <a:chOff x="2520" y="1440"/>
            <a:chExt cx="7020" cy="3900"/>
          </a:xfrm>
        </p:grpSpPr>
        <p:sp>
          <p:nvSpPr>
            <p:cNvPr id="51205" name="Rectangle 6"/>
            <p:cNvSpPr>
              <a:spLocks noChangeArrowheads="1"/>
            </p:cNvSpPr>
            <p:nvPr/>
          </p:nvSpPr>
          <p:spPr bwMode="auto">
            <a:xfrm>
              <a:off x="5220" y="1440"/>
              <a:ext cx="1620" cy="46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组织标准过程</a:t>
              </a:r>
            </a:p>
          </p:txBody>
        </p:sp>
        <p:sp>
          <p:nvSpPr>
            <p:cNvPr id="51206" name="Rectangle 7"/>
            <p:cNvSpPr>
              <a:spLocks noChangeArrowheads="1"/>
            </p:cNvSpPr>
            <p:nvPr/>
          </p:nvSpPr>
          <p:spPr bwMode="auto">
            <a:xfrm>
              <a:off x="2520" y="2688"/>
              <a:ext cx="1620" cy="46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过程</a:t>
              </a:r>
            </a:p>
          </p:txBody>
        </p:sp>
        <p:sp>
          <p:nvSpPr>
            <p:cNvPr id="51207" name="Rectangle 8"/>
            <p:cNvSpPr>
              <a:spLocks noChangeArrowheads="1"/>
            </p:cNvSpPr>
            <p:nvPr/>
          </p:nvSpPr>
          <p:spPr bwMode="auto">
            <a:xfrm>
              <a:off x="2520" y="3936"/>
              <a:ext cx="1620" cy="1404"/>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过程结构</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工程要素</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工作模板</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过程指南</a:t>
              </a:r>
            </a:p>
          </p:txBody>
        </p:sp>
        <p:sp>
          <p:nvSpPr>
            <p:cNvPr id="51208" name="Rectangle 9"/>
            <p:cNvSpPr>
              <a:spLocks noChangeArrowheads="1"/>
            </p:cNvSpPr>
            <p:nvPr/>
          </p:nvSpPr>
          <p:spPr bwMode="auto">
            <a:xfrm>
              <a:off x="4320" y="3936"/>
              <a:ext cx="1620" cy="1404"/>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白皮书</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出版物</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分析报告</a:t>
              </a:r>
            </a:p>
          </p:txBody>
        </p:sp>
        <p:sp>
          <p:nvSpPr>
            <p:cNvPr id="51209" name="Rectangle 10"/>
            <p:cNvSpPr>
              <a:spLocks noChangeArrowheads="1"/>
            </p:cNvSpPr>
            <p:nvPr/>
          </p:nvSpPr>
          <p:spPr bwMode="auto">
            <a:xfrm>
              <a:off x="6120" y="3936"/>
              <a:ext cx="1620" cy="1404"/>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瀑布模型</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螺旋模型</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原型模型</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增量模型</a:t>
              </a:r>
            </a:p>
          </p:txBody>
        </p:sp>
        <p:sp>
          <p:nvSpPr>
            <p:cNvPr id="51210" name="Rectangle 11"/>
            <p:cNvSpPr>
              <a:spLocks noChangeArrowheads="1"/>
            </p:cNvSpPr>
            <p:nvPr/>
          </p:nvSpPr>
          <p:spPr bwMode="auto">
            <a:xfrm>
              <a:off x="4320" y="2688"/>
              <a:ext cx="1620" cy="46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文档支持库</a:t>
              </a:r>
            </a:p>
          </p:txBody>
        </p:sp>
        <p:sp>
          <p:nvSpPr>
            <p:cNvPr id="51211" name="Rectangle 12"/>
            <p:cNvSpPr>
              <a:spLocks noChangeArrowheads="1"/>
            </p:cNvSpPr>
            <p:nvPr/>
          </p:nvSpPr>
          <p:spPr bwMode="auto">
            <a:xfrm>
              <a:off x="6120" y="2688"/>
              <a:ext cx="1620" cy="46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软件生存周期</a:t>
              </a:r>
            </a:p>
          </p:txBody>
        </p:sp>
        <p:sp>
          <p:nvSpPr>
            <p:cNvPr id="51212" name="Rectangle 13"/>
            <p:cNvSpPr>
              <a:spLocks noChangeArrowheads="1"/>
            </p:cNvSpPr>
            <p:nvPr/>
          </p:nvSpPr>
          <p:spPr bwMode="auto">
            <a:xfrm>
              <a:off x="7920" y="2688"/>
              <a:ext cx="1620" cy="468"/>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剪裁规则</a:t>
              </a:r>
            </a:p>
          </p:txBody>
        </p:sp>
        <p:sp>
          <p:nvSpPr>
            <p:cNvPr id="51213" name="Rectangle 14"/>
            <p:cNvSpPr>
              <a:spLocks noChangeArrowheads="1"/>
            </p:cNvSpPr>
            <p:nvPr/>
          </p:nvSpPr>
          <p:spPr bwMode="auto">
            <a:xfrm>
              <a:off x="7920" y="3936"/>
              <a:ext cx="1620" cy="1404"/>
            </a:xfrm>
            <a:prstGeom prst="rect">
              <a:avLst/>
            </a:prstGeom>
            <a:noFill/>
            <a:ln w="285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剪裁规则</a:t>
              </a:r>
            </a:p>
            <a:p>
              <a:pPr algn="ctr" defTabSz="914400" eaLnBrk="0" fontAlgn="base" hangingPunct="0">
                <a:spcBef>
                  <a:spcPct val="0"/>
                </a:spcBef>
                <a:spcAft>
                  <a:spcPct val="0"/>
                </a:spcAft>
              </a:pPr>
              <a:r>
                <a:rPr lang="zh-CN" altLang="en-US" sz="1600">
                  <a:solidFill>
                    <a:srgbClr val="FFFFFF"/>
                  </a:solidFill>
                  <a:latin typeface="Times New Roman" panose="02020603050405020304" pitchFamily="18" charset="0"/>
                </a:rPr>
                <a:t>剪裁指南</a:t>
              </a:r>
            </a:p>
          </p:txBody>
        </p:sp>
        <p:sp>
          <p:nvSpPr>
            <p:cNvPr id="51214" name="Line 15"/>
            <p:cNvSpPr>
              <a:spLocks noChangeShapeType="1"/>
            </p:cNvSpPr>
            <p:nvPr/>
          </p:nvSpPr>
          <p:spPr bwMode="auto">
            <a:xfrm flipH="1">
              <a:off x="3240" y="1908"/>
              <a:ext cx="234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15" name="Line 16"/>
            <p:cNvSpPr>
              <a:spLocks noChangeShapeType="1"/>
            </p:cNvSpPr>
            <p:nvPr/>
          </p:nvSpPr>
          <p:spPr bwMode="auto">
            <a:xfrm flipH="1">
              <a:off x="5220" y="1908"/>
              <a:ext cx="72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16" name="Line 17"/>
            <p:cNvSpPr>
              <a:spLocks noChangeShapeType="1"/>
            </p:cNvSpPr>
            <p:nvPr/>
          </p:nvSpPr>
          <p:spPr bwMode="auto">
            <a:xfrm>
              <a:off x="6120" y="1908"/>
              <a:ext cx="72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17" name="Line 18"/>
            <p:cNvSpPr>
              <a:spLocks noChangeShapeType="1"/>
            </p:cNvSpPr>
            <p:nvPr/>
          </p:nvSpPr>
          <p:spPr bwMode="auto">
            <a:xfrm>
              <a:off x="6480" y="1908"/>
              <a:ext cx="234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18" name="Line 19"/>
            <p:cNvSpPr>
              <a:spLocks noChangeShapeType="1"/>
            </p:cNvSpPr>
            <p:nvPr/>
          </p:nvSpPr>
          <p:spPr bwMode="auto">
            <a:xfrm>
              <a:off x="3240" y="3156"/>
              <a:ext cx="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19" name="Line 20"/>
            <p:cNvSpPr>
              <a:spLocks noChangeShapeType="1"/>
            </p:cNvSpPr>
            <p:nvPr/>
          </p:nvSpPr>
          <p:spPr bwMode="auto">
            <a:xfrm>
              <a:off x="5220" y="3156"/>
              <a:ext cx="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20" name="Line 21"/>
            <p:cNvSpPr>
              <a:spLocks noChangeShapeType="1"/>
            </p:cNvSpPr>
            <p:nvPr/>
          </p:nvSpPr>
          <p:spPr bwMode="auto">
            <a:xfrm>
              <a:off x="6840" y="3156"/>
              <a:ext cx="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51221" name="Line 22"/>
            <p:cNvSpPr>
              <a:spLocks noChangeShapeType="1"/>
            </p:cNvSpPr>
            <p:nvPr/>
          </p:nvSpPr>
          <p:spPr bwMode="auto">
            <a:xfrm>
              <a:off x="8820" y="3156"/>
              <a:ext cx="0" cy="78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484024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58723" name="Rectangle 3"/>
          <p:cNvSpPr>
            <a:spLocks noGrp="1" noRot="1" noChangeArrowheads="1"/>
          </p:cNvSpPr>
          <p:nvPr>
            <p:ph type="body" idx="1"/>
          </p:nvPr>
        </p:nvSpPr>
        <p:spPr/>
        <p:txBody>
          <a:bodyPr/>
          <a:lstStyle/>
          <a:p>
            <a:pPr eaLnBrk="1" hangingPunct="1">
              <a:lnSpc>
                <a:spcPct val="90000"/>
              </a:lnSpc>
              <a:defRPr/>
            </a:pPr>
            <a:r>
              <a:rPr lang="en-US" altLang="zh-CN" sz="2400" b="1">
                <a:solidFill>
                  <a:schemeClr val="accent2"/>
                </a:solidFill>
              </a:rPr>
              <a:t>3 </a:t>
            </a:r>
            <a:r>
              <a:rPr lang="zh-CN" altLang="en-US" sz="2400" b="1">
                <a:solidFill>
                  <a:schemeClr val="accent2"/>
                </a:solidFill>
              </a:rPr>
              <a:t>循序渐进、由易到难、由粗到细、由松到严</a:t>
            </a:r>
          </a:p>
          <a:p>
            <a:pPr eaLnBrk="1" hangingPunct="1">
              <a:lnSpc>
                <a:spcPct val="90000"/>
              </a:lnSpc>
              <a:defRPr/>
            </a:pPr>
            <a:r>
              <a:rPr lang="en-US" altLang="zh-CN" sz="2400"/>
              <a:t>CMM</a:t>
            </a:r>
            <a:r>
              <a:rPr lang="zh-CN" altLang="en-US" sz="2400"/>
              <a:t>的一个核心思想是分级改进。</a:t>
            </a:r>
          </a:p>
          <a:p>
            <a:pPr eaLnBrk="1" hangingPunct="1">
              <a:lnSpc>
                <a:spcPct val="90000"/>
              </a:lnSpc>
              <a:defRPr/>
            </a:pPr>
            <a:r>
              <a:rPr lang="zh-CN" altLang="en-US" sz="2400"/>
              <a:t>在实施</a:t>
            </a:r>
            <a:r>
              <a:rPr lang="en-US" altLang="zh-CN" sz="2400"/>
              <a:t>CMM</a:t>
            </a:r>
            <a:r>
              <a:rPr lang="zh-CN" altLang="en-US" sz="2400"/>
              <a:t>的过程中一定要根据组织的实际情况量力而行。先定出最基本的改进方案，然后逐步提高，要把握分级改进的思想</a:t>
            </a:r>
          </a:p>
          <a:p>
            <a:pPr eaLnBrk="1" hangingPunct="1">
              <a:lnSpc>
                <a:spcPct val="90000"/>
              </a:lnSpc>
              <a:defRPr/>
            </a:pPr>
            <a:r>
              <a:rPr lang="zh-CN" altLang="en-US" sz="2400"/>
              <a:t>要做到循序渐进，首先要对组织的现状有一个明确清醒的认识：</a:t>
            </a:r>
          </a:p>
          <a:p>
            <a:pPr lvl="1" eaLnBrk="1" hangingPunct="1">
              <a:lnSpc>
                <a:spcPct val="90000"/>
              </a:lnSpc>
              <a:defRPr/>
            </a:pPr>
            <a:r>
              <a:rPr lang="zh-CN" altLang="en-US" sz="2400"/>
              <a:t>当前我们存在哪些问题</a:t>
            </a:r>
          </a:p>
          <a:p>
            <a:pPr lvl="1" eaLnBrk="1" hangingPunct="1">
              <a:lnSpc>
                <a:spcPct val="90000"/>
              </a:lnSpc>
              <a:defRPr/>
            </a:pPr>
            <a:r>
              <a:rPr lang="zh-CN" altLang="en-US" sz="2400"/>
              <a:t>哪些问题是我们迫切需要解决的</a:t>
            </a:r>
          </a:p>
          <a:p>
            <a:pPr lvl="1" eaLnBrk="1" hangingPunct="1">
              <a:lnSpc>
                <a:spcPct val="90000"/>
              </a:lnSpc>
              <a:defRPr/>
            </a:pPr>
            <a:r>
              <a:rPr lang="zh-CN" altLang="en-US" sz="2400"/>
              <a:t>哪些问题是我们目前能够解决的</a:t>
            </a:r>
          </a:p>
          <a:p>
            <a:pPr lvl="1" eaLnBrk="1" hangingPunct="1">
              <a:lnSpc>
                <a:spcPct val="90000"/>
              </a:lnSpc>
              <a:defRPr/>
            </a:pPr>
            <a:r>
              <a:rPr lang="zh-CN" altLang="en-US" sz="2400"/>
              <a:t>哪些问题是我们当前无法解决的</a:t>
            </a:r>
          </a:p>
        </p:txBody>
      </p:sp>
    </p:spTree>
    <p:extLst>
      <p:ext uri="{BB962C8B-B14F-4D97-AF65-F5344CB8AC3E}">
        <p14:creationId xmlns:p14="http://schemas.microsoft.com/office/powerpoint/2010/main" val="126415013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61795" name="Rectangle 3"/>
          <p:cNvSpPr>
            <a:spLocks noGrp="1" noRot="1" noChangeArrowheads="1"/>
          </p:cNvSpPr>
          <p:nvPr>
            <p:ph type="body" idx="1"/>
          </p:nvPr>
        </p:nvSpPr>
        <p:spPr/>
        <p:txBody>
          <a:bodyPr/>
          <a:lstStyle/>
          <a:p>
            <a:pPr marL="609600" indent="-609600" eaLnBrk="1" hangingPunct="1">
              <a:lnSpc>
                <a:spcPct val="90000"/>
              </a:lnSpc>
              <a:defRPr/>
            </a:pPr>
            <a:r>
              <a:rPr lang="zh-CN" altLang="en-US" sz="2400"/>
              <a:t>循序渐进实施</a:t>
            </a:r>
            <a:r>
              <a:rPr lang="en-US" altLang="zh-CN" sz="2400"/>
              <a:t>CMM2 </a:t>
            </a:r>
            <a:r>
              <a:rPr lang="zh-CN" altLang="en-US" sz="2400"/>
              <a:t>的软件项目计划（</a:t>
            </a:r>
            <a:r>
              <a:rPr lang="en-US" altLang="zh-CN" sz="2400"/>
              <a:t>SPP</a:t>
            </a:r>
            <a:r>
              <a:rPr lang="zh-CN" altLang="en-US" sz="2400"/>
              <a:t>）和软件项目跟踪和监督（</a:t>
            </a:r>
            <a:r>
              <a:rPr lang="en-US" altLang="zh-CN" sz="2400"/>
              <a:t>SPTO</a:t>
            </a:r>
            <a:r>
              <a:rPr lang="zh-CN" altLang="en-US" sz="2400"/>
              <a:t>）两个</a:t>
            </a:r>
            <a:r>
              <a:rPr lang="en-US" altLang="zh-CN" sz="2400"/>
              <a:t>KPA</a:t>
            </a:r>
            <a:r>
              <a:rPr lang="zh-CN" altLang="en-US" sz="2400"/>
              <a:t>的例子：</a:t>
            </a:r>
          </a:p>
          <a:p>
            <a:pPr marL="990600" lvl="1" indent="-533400" eaLnBrk="1" hangingPunct="1">
              <a:lnSpc>
                <a:spcPct val="90000"/>
              </a:lnSpc>
              <a:buFont typeface="Wingdings" panose="05000000000000000000" pitchFamily="2" charset="2"/>
              <a:buAutoNum type="arabicParenR"/>
              <a:defRPr/>
            </a:pPr>
            <a:r>
              <a:rPr lang="zh-CN" altLang="en-US" sz="2400"/>
              <a:t>从无到有，使项目组成员熟悉作计划的过程，熟悉项目计划跟踪的重要性</a:t>
            </a:r>
          </a:p>
          <a:p>
            <a:pPr marL="990600" lvl="1" indent="-533400" eaLnBrk="1" hangingPunct="1">
              <a:lnSpc>
                <a:spcPct val="90000"/>
              </a:lnSpc>
              <a:buFont typeface="Wingdings" panose="05000000000000000000" pitchFamily="2" charset="2"/>
              <a:buAutoNum type="arabicParenR"/>
              <a:defRPr/>
            </a:pPr>
            <a:r>
              <a:rPr lang="zh-CN" altLang="en-US" sz="2400"/>
              <a:t>增加完整的生命周期模型</a:t>
            </a:r>
          </a:p>
          <a:p>
            <a:pPr marL="990600" lvl="1" indent="-533400" eaLnBrk="1" hangingPunct="1">
              <a:lnSpc>
                <a:spcPct val="90000"/>
              </a:lnSpc>
              <a:buFont typeface="Wingdings" panose="05000000000000000000" pitchFamily="2" charset="2"/>
              <a:buAutoNum type="arabicParenR"/>
              <a:defRPr/>
            </a:pPr>
            <a:r>
              <a:rPr lang="zh-CN" altLang="en-US" sz="2400"/>
              <a:t>增加规模、工作量等的度量</a:t>
            </a:r>
          </a:p>
          <a:p>
            <a:pPr marL="990600" lvl="1" indent="-533400" eaLnBrk="1" hangingPunct="1">
              <a:lnSpc>
                <a:spcPct val="90000"/>
              </a:lnSpc>
              <a:buFont typeface="Wingdings" panose="05000000000000000000" pitchFamily="2" charset="2"/>
              <a:buAutoNum type="arabicParenR"/>
              <a:defRPr/>
            </a:pPr>
            <a:r>
              <a:rPr lang="zh-CN" altLang="en-US" sz="2400"/>
              <a:t>增加风险分析</a:t>
            </a:r>
          </a:p>
          <a:p>
            <a:pPr marL="990600" lvl="1" indent="-533400" eaLnBrk="1" hangingPunct="1">
              <a:lnSpc>
                <a:spcPct val="90000"/>
              </a:lnSpc>
              <a:buFont typeface="Wingdings" panose="05000000000000000000" pitchFamily="2" charset="2"/>
              <a:buAutoNum type="arabicParenR"/>
              <a:defRPr/>
            </a:pPr>
            <a:r>
              <a:rPr lang="zh-CN" altLang="en-US" sz="2400"/>
              <a:t>体系化、制度化</a:t>
            </a:r>
          </a:p>
        </p:txBody>
      </p:sp>
    </p:spTree>
    <p:extLst>
      <p:ext uri="{BB962C8B-B14F-4D97-AF65-F5344CB8AC3E}">
        <p14:creationId xmlns:p14="http://schemas.microsoft.com/office/powerpoint/2010/main" val="308540511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59747" name="Rectangle 3"/>
          <p:cNvSpPr>
            <a:spLocks noGrp="1" noRot="1" noChangeArrowheads="1"/>
          </p:cNvSpPr>
          <p:nvPr>
            <p:ph type="body" idx="1"/>
          </p:nvPr>
        </p:nvSpPr>
        <p:spPr/>
        <p:txBody>
          <a:bodyPr/>
          <a:lstStyle/>
          <a:p>
            <a:pPr eaLnBrk="1" hangingPunct="1">
              <a:lnSpc>
                <a:spcPct val="90000"/>
              </a:lnSpc>
              <a:defRPr/>
            </a:pPr>
            <a:r>
              <a:rPr lang="en-US" altLang="zh-CN" sz="2400" b="1">
                <a:solidFill>
                  <a:schemeClr val="accent2"/>
                </a:solidFill>
              </a:rPr>
              <a:t>4 </a:t>
            </a:r>
            <a:r>
              <a:rPr lang="zh-CN" altLang="en-US" sz="2400" b="1">
                <a:solidFill>
                  <a:schemeClr val="accent2"/>
                </a:solidFill>
              </a:rPr>
              <a:t>教育与培训并重</a:t>
            </a:r>
          </a:p>
          <a:p>
            <a:pPr eaLnBrk="1" hangingPunct="1">
              <a:lnSpc>
                <a:spcPct val="90000"/>
              </a:lnSpc>
              <a:defRPr/>
            </a:pPr>
            <a:r>
              <a:rPr lang="zh-CN" altLang="en-US" sz="2400"/>
              <a:t>培训的关键目的不仅仅是让开发人员掌握技能、更重要的是改变他们的思想。从这个角度讲，培训应当作为教育来做。</a:t>
            </a:r>
          </a:p>
          <a:p>
            <a:pPr eaLnBrk="1" hangingPunct="1">
              <a:lnSpc>
                <a:spcPct val="90000"/>
              </a:lnSpc>
              <a:defRPr/>
            </a:pPr>
            <a:r>
              <a:rPr lang="en-US" altLang="zh-CN" sz="2400"/>
              <a:t>SPI</a:t>
            </a:r>
            <a:r>
              <a:rPr lang="zh-CN" altLang="en-US" sz="2400"/>
              <a:t>不能仅仅定义为开发部门的工作，需要整个组织的所有人员的参与和重视</a:t>
            </a:r>
          </a:p>
          <a:p>
            <a:pPr lvl="1" eaLnBrk="1" hangingPunct="1">
              <a:lnSpc>
                <a:spcPct val="90000"/>
              </a:lnSpc>
              <a:defRPr/>
            </a:pPr>
            <a:r>
              <a:rPr lang="zh-CN" altLang="en-US" sz="2400"/>
              <a:t>高层管理人员</a:t>
            </a:r>
          </a:p>
          <a:p>
            <a:pPr lvl="1" eaLnBrk="1" hangingPunct="1">
              <a:lnSpc>
                <a:spcPct val="90000"/>
              </a:lnSpc>
              <a:defRPr/>
            </a:pPr>
            <a:r>
              <a:rPr lang="zh-CN" altLang="en-US" sz="2400"/>
              <a:t>开发管理人员</a:t>
            </a:r>
          </a:p>
          <a:p>
            <a:pPr lvl="1" eaLnBrk="1" hangingPunct="1">
              <a:lnSpc>
                <a:spcPct val="90000"/>
              </a:lnSpc>
              <a:defRPr/>
            </a:pPr>
            <a:r>
              <a:rPr lang="zh-CN" altLang="en-US" sz="2400"/>
              <a:t>开发人员</a:t>
            </a:r>
          </a:p>
          <a:p>
            <a:pPr lvl="1" eaLnBrk="1" hangingPunct="1">
              <a:lnSpc>
                <a:spcPct val="90000"/>
              </a:lnSpc>
              <a:defRPr/>
            </a:pPr>
            <a:r>
              <a:rPr lang="zh-CN" altLang="en-US" sz="2400"/>
              <a:t>市场人员</a:t>
            </a:r>
          </a:p>
          <a:p>
            <a:pPr lvl="1" eaLnBrk="1" hangingPunct="1">
              <a:lnSpc>
                <a:spcPct val="90000"/>
              </a:lnSpc>
              <a:defRPr/>
            </a:pPr>
            <a:r>
              <a:rPr lang="zh-CN" altLang="en-US" sz="2400"/>
              <a:t>客户</a:t>
            </a:r>
          </a:p>
        </p:txBody>
      </p:sp>
    </p:spTree>
    <p:extLst>
      <p:ext uri="{BB962C8B-B14F-4D97-AF65-F5344CB8AC3E}">
        <p14:creationId xmlns:p14="http://schemas.microsoft.com/office/powerpoint/2010/main" val="6077651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rrowheads="1"/>
          </p:cNvSpPr>
          <p:nvPr>
            <p:ph type="title"/>
          </p:nvPr>
        </p:nvSpPr>
        <p:spPr/>
        <p:txBody>
          <a:bodyPr/>
          <a:lstStyle/>
          <a:p>
            <a:pPr eaLnBrk="1" hangingPunct="1">
              <a:defRPr/>
            </a:pPr>
            <a:r>
              <a:rPr lang="zh-CN" altLang="en-US" smtClean="0"/>
              <a:t>实施</a:t>
            </a:r>
            <a:r>
              <a:rPr lang="en-US" altLang="zh-CN" smtClean="0"/>
              <a:t>CMM</a:t>
            </a:r>
            <a:r>
              <a:rPr lang="zh-CN" altLang="en-US" smtClean="0"/>
              <a:t>的策略</a:t>
            </a:r>
          </a:p>
        </p:txBody>
      </p:sp>
      <p:sp>
        <p:nvSpPr>
          <p:cNvPr id="162819" name="Rectangle 3"/>
          <p:cNvSpPr>
            <a:spLocks noGrp="1" noRot="1" noChangeArrowheads="1"/>
          </p:cNvSpPr>
          <p:nvPr>
            <p:ph type="body" idx="1"/>
          </p:nvPr>
        </p:nvSpPr>
        <p:spPr/>
        <p:txBody>
          <a:bodyPr/>
          <a:lstStyle/>
          <a:p>
            <a:pPr eaLnBrk="1" hangingPunct="1">
              <a:defRPr/>
            </a:pPr>
            <a:r>
              <a:rPr lang="en-US" altLang="zh-CN" sz="2400" b="1">
                <a:solidFill>
                  <a:schemeClr val="accent2"/>
                </a:solidFill>
              </a:rPr>
              <a:t>5 </a:t>
            </a:r>
            <a:r>
              <a:rPr lang="zh-CN" altLang="en-US" sz="2400" b="1">
                <a:solidFill>
                  <a:schemeClr val="accent2"/>
                </a:solidFill>
              </a:rPr>
              <a:t>因材施教，各个击破</a:t>
            </a:r>
          </a:p>
          <a:p>
            <a:pPr lvl="1" eaLnBrk="1" hangingPunct="1">
              <a:defRPr/>
            </a:pPr>
            <a:r>
              <a:rPr lang="zh-CN" altLang="en-US" sz="2400"/>
              <a:t>组织内可能有多个开发项目组或开发部门，不同的组与部门原来就有不同的管理水平。在推行</a:t>
            </a:r>
            <a:r>
              <a:rPr lang="en-US" altLang="zh-CN" sz="2400"/>
              <a:t>CMM</a:t>
            </a:r>
            <a:r>
              <a:rPr lang="zh-CN" altLang="en-US" sz="2400"/>
              <a:t>时，应该区别对待</a:t>
            </a:r>
          </a:p>
          <a:p>
            <a:pPr lvl="1" eaLnBrk="1" hangingPunct="1">
              <a:defRPr/>
            </a:pPr>
            <a:r>
              <a:rPr lang="zh-CN" altLang="en-US" sz="2400"/>
              <a:t>在进行改进时应针对不同的项目组、不同的部门定出不同的改进策略和推进计划</a:t>
            </a:r>
          </a:p>
          <a:p>
            <a:pPr eaLnBrk="1" hangingPunct="1">
              <a:defRPr/>
            </a:pPr>
            <a:endParaRPr lang="zh-CN" altLang="en-US" sz="2400"/>
          </a:p>
          <a:p>
            <a:pPr eaLnBrk="1" hangingPunct="1">
              <a:defRPr/>
            </a:pPr>
            <a:r>
              <a:rPr lang="en-US" altLang="zh-CN" sz="2400" b="1">
                <a:solidFill>
                  <a:schemeClr val="accent2"/>
                </a:solidFill>
              </a:rPr>
              <a:t>6 </a:t>
            </a:r>
            <a:r>
              <a:rPr lang="zh-CN" altLang="en-US" sz="2400" b="1">
                <a:solidFill>
                  <a:schemeClr val="accent2"/>
                </a:solidFill>
              </a:rPr>
              <a:t>充分利用</a:t>
            </a:r>
            <a:r>
              <a:rPr lang="en-US" altLang="zh-CN" sz="2400" b="1">
                <a:solidFill>
                  <a:schemeClr val="accent2"/>
                </a:solidFill>
              </a:rPr>
              <a:t>CASE</a:t>
            </a:r>
            <a:r>
              <a:rPr lang="zh-CN" altLang="en-US" sz="2400" b="1">
                <a:solidFill>
                  <a:schemeClr val="accent2"/>
                </a:solidFill>
              </a:rPr>
              <a:t>工具</a:t>
            </a:r>
          </a:p>
        </p:txBody>
      </p:sp>
    </p:spTree>
    <p:extLst>
      <p:ext uri="{BB962C8B-B14F-4D97-AF65-F5344CB8AC3E}">
        <p14:creationId xmlns:p14="http://schemas.microsoft.com/office/powerpoint/2010/main" val="3779132081"/>
      </p:ext>
    </p:extLst>
  </p:cSld>
  <p:clrMapOvr>
    <a:masterClrMapping/>
  </p:clrMapOvr>
  <p:timing>
    <p:tnLst>
      <p:par>
        <p:cTn id="1" dur="indefinite" restart="never" nodeType="tmRoot"/>
      </p:par>
    </p:tnLst>
  </p:timing>
</p:sld>
</file>

<file path=ppt/theme/theme1.xml><?xml version="1.0" encoding="utf-8"?>
<a:theme xmlns:a="http://schemas.openxmlformats.org/drawingml/2006/main" name="模板页面">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47">
      <a:majorFont>
        <a:latin typeface="Segoe UI"/>
        <a:ea typeface="微软雅黑"/>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bodyPr/>
      <a:lstStyle>
        <a:defPPr marL="0" indent="0">
          <a:lnSpc>
            <a:spcPct val="130000"/>
          </a:lnSpc>
          <a:buNone/>
          <a:defRPr sz="1200" smtClean="0">
            <a:solidFill>
              <a:schemeClr val="bg1">
                <a:lumMod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2460</TotalTime>
  <Words>8862</Words>
  <Application>Microsoft Office PowerPoint</Application>
  <PresentationFormat>宽屏</PresentationFormat>
  <Paragraphs>484</Paragraphs>
  <Slides>53</Slides>
  <Notes>15</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53</vt:i4>
      </vt:variant>
    </vt:vector>
  </HeadingPairs>
  <TitlesOfParts>
    <vt:vector size="72" baseType="lpstr">
      <vt:lpstr>Century Gothic</vt:lpstr>
      <vt:lpstr>Helvetica Neue</vt:lpstr>
      <vt:lpstr>Lato Light</vt:lpstr>
      <vt:lpstr>Microsoft Yahei</vt:lpstr>
      <vt:lpstr>Open Sans</vt:lpstr>
      <vt:lpstr>Open Sans Light</vt:lpstr>
      <vt:lpstr>等线</vt:lpstr>
      <vt:lpstr>宋体</vt:lpstr>
      <vt:lpstr>微软雅黑</vt:lpstr>
      <vt:lpstr>微软雅黑 Light</vt:lpstr>
      <vt:lpstr>Arial</vt:lpstr>
      <vt:lpstr>Segoe UI</vt:lpstr>
      <vt:lpstr>Segoe UI Light</vt:lpstr>
      <vt:lpstr>Tahoma</vt:lpstr>
      <vt:lpstr>Times New Roman</vt:lpstr>
      <vt:lpstr>Wingdings</vt:lpstr>
      <vt:lpstr>模板页面</vt:lpstr>
      <vt:lpstr>OfficePLUS</vt:lpstr>
      <vt:lpstr>Clouds</vt:lpstr>
      <vt:lpstr>PowerPoint 演示文稿</vt:lpstr>
      <vt:lpstr>PowerPoint 演示文稿</vt:lpstr>
      <vt:lpstr>PowerPoint 演示文稿</vt:lpstr>
      <vt:lpstr>PowerPoint 演示文稿</vt:lpstr>
      <vt:lpstr>PowerPoint 演示文稿</vt:lpstr>
      <vt:lpstr>PowerPoint 演示文稿</vt:lpstr>
      <vt:lpstr>什么是CMM</vt:lpstr>
      <vt:lpstr>什么是CMM</vt:lpstr>
      <vt:lpstr>为什么需要CMM</vt:lpstr>
      <vt:lpstr>为什么需要CMM</vt:lpstr>
      <vt:lpstr>为什么需要CMM</vt:lpstr>
      <vt:lpstr>CMM的发展</vt:lpstr>
      <vt:lpstr>PowerPoint 演示文稿</vt:lpstr>
      <vt:lpstr>CMM内部结构</vt:lpstr>
      <vt:lpstr>CMM内部结构</vt:lpstr>
      <vt:lpstr>CMM内部结构</vt:lpstr>
      <vt:lpstr>CMM的等级特征</vt:lpstr>
      <vt:lpstr>CMM的等级特征</vt:lpstr>
      <vt:lpstr>关键过程域</vt:lpstr>
      <vt:lpstr>关键过程域</vt:lpstr>
      <vt:lpstr>公共特性</vt:lpstr>
      <vt:lpstr>公共特性</vt:lpstr>
      <vt:lpstr>公共特性</vt:lpstr>
      <vt:lpstr>关键实践</vt:lpstr>
      <vt:lpstr>CMM的五个级别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CMM与ISO9000</vt:lpstr>
      <vt:lpstr>CMM与ISO9000</vt:lpstr>
      <vt:lpstr>CMM与ISO9000</vt:lpstr>
      <vt:lpstr>实施CMM的策略</vt:lpstr>
      <vt:lpstr>实施CMM的策略</vt:lpstr>
      <vt:lpstr>SEPG（软件工程过程组）</vt:lpstr>
      <vt:lpstr>大型项目组织</vt:lpstr>
      <vt:lpstr>大型项目组织</vt:lpstr>
      <vt:lpstr>实施CMM的策略</vt:lpstr>
      <vt:lpstr>实施CMM的策略</vt:lpstr>
      <vt:lpstr>实施CMM的策略</vt:lpstr>
      <vt:lpstr>实施CMM的策略</vt:lpstr>
      <vt:lpstr>实施CMM的策略</vt:lpstr>
      <vt:lpstr>实施CMM的策略</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OfficePLUS</dc:creator>
  <cp:keywords/>
  <dc:description/>
  <cp:lastModifiedBy>nie</cp:lastModifiedBy>
  <cp:revision>169</cp:revision>
  <dcterms:created xsi:type="dcterms:W3CDTF">2015-08-18T02:51:41Z</dcterms:created>
  <dcterms:modified xsi:type="dcterms:W3CDTF">2020-06-29T03:28:25Z</dcterms:modified>
  <cp:category/>
</cp:coreProperties>
</file>