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312" r:id="rId3"/>
    <p:sldId id="313" r:id="rId4"/>
    <p:sldId id="319" r:id="rId5"/>
    <p:sldId id="321" r:id="rId6"/>
    <p:sldId id="320" r:id="rId7"/>
    <p:sldId id="322" r:id="rId8"/>
    <p:sldId id="323" r:id="rId9"/>
    <p:sldId id="327" r:id="rId10"/>
    <p:sldId id="286" r:id="rId11"/>
  </p:sldIdLst>
  <p:sldSz cx="9144000" cy="6858000" type="screen4x3"/>
  <p:notesSz cx="6797675" cy="987425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3366FF"/>
    <a:srgbClr val="BFBC3E"/>
    <a:srgbClr val="CCFFCC"/>
    <a:srgbClr val="FFFFCC"/>
    <a:srgbClr val="00FF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3" autoAdjust="0"/>
    <p:restoredTop sz="94298" autoAdjust="0"/>
  </p:normalViewPr>
  <p:slideViewPr>
    <p:cSldViewPr>
      <p:cViewPr varScale="1">
        <p:scale>
          <a:sx n="80" d="100"/>
          <a:sy n="80" d="100"/>
        </p:scale>
        <p:origin x="312" y="78"/>
      </p:cViewPr>
      <p:guideLst>
        <p:guide orient="horz" pos="2162"/>
        <p:guide pos="28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99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1863" y="741363"/>
            <a:ext cx="4935537" cy="370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99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691063"/>
            <a:ext cx="5438775" cy="44434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2099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99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28BC3818-33E2-4CBF-86AC-C0FF0478E305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6"/>
          <p:cNvSpPr>
            <a:spLocks noChangeArrowheads="1"/>
          </p:cNvSpPr>
          <p:nvPr/>
        </p:nvSpPr>
        <p:spPr bwMode="auto">
          <a:xfrm>
            <a:off x="228600" y="1635125"/>
            <a:ext cx="2514600" cy="2514600"/>
          </a:xfrm>
          <a:prstGeom prst="ellipse">
            <a:avLst/>
          </a:prstGeom>
          <a:noFill/>
          <a:ln w="12700">
            <a:solidFill>
              <a:schemeClr val="accent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 smtClean="0">
              <a:latin typeface="Arial" panose="020B0604020202020204" pitchFamily="34" charset="0"/>
            </a:endParaRPr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hidden">
          <a:xfrm>
            <a:off x="0" y="2397125"/>
            <a:ext cx="4724400" cy="1143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 sz="2400" smtClean="0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hidden">
          <a:xfrm>
            <a:off x="3962400" y="2397125"/>
            <a:ext cx="4724400" cy="11430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 sz="2400" smtClean="0"/>
          </a:p>
        </p:txBody>
      </p:sp>
      <p:pic>
        <p:nvPicPr>
          <p:cNvPr id="7" name="Picture 10" descr="tow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2088" y="188913"/>
            <a:ext cx="199072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1" descr="NJU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260350"/>
            <a:ext cx="2303462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6092825"/>
            <a:ext cx="9117012" cy="2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68413"/>
            <a:ext cx="9117013" cy="2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944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059113" y="4149725"/>
            <a:ext cx="5184775" cy="1336675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89449" name="Rectangle 9"/>
          <p:cNvSpPr>
            <a:spLocks noGrp="1" noChangeArrowheads="1"/>
          </p:cNvSpPr>
          <p:nvPr>
            <p:ph type="ctrTitle"/>
          </p:nvPr>
        </p:nvSpPr>
        <p:spPr>
          <a:xfrm>
            <a:off x="838200" y="2163763"/>
            <a:ext cx="7405688" cy="16002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1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84913"/>
            <a:ext cx="1293813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75A542-FF97-4E94-8C9E-5FD46A7BBE19}" type="datetime1">
              <a:rPr lang="zh-CN" altLang="en-US"/>
            </a:fld>
            <a:endParaRPr lang="en-US" altLang="zh-CN"/>
          </a:p>
        </p:txBody>
      </p:sp>
      <p:sp>
        <p:nvSpPr>
          <p:cNvPr id="12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195513" y="6202363"/>
            <a:ext cx="5113337" cy="5397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Institute of Computer Software</a:t>
            </a:r>
            <a:endParaRPr lang="en-US" altLang="zh-CN"/>
          </a:p>
          <a:p>
            <a:pPr>
              <a:defRPr/>
            </a:pPr>
            <a:r>
              <a:rPr lang="en-US" altLang="zh-CN"/>
              <a:t>Nanjing University</a:t>
            </a:r>
            <a:endParaRPr lang="en-US" altLang="zh-CN"/>
          </a:p>
        </p:txBody>
      </p:sp>
      <p:sp>
        <p:nvSpPr>
          <p:cNvPr id="13" name="Rectangle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3C08A1-3E05-4455-8A0A-3ABF159E45A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D41CD5-89FF-4815-9A8E-C21C31C05EB7}" type="datetime1">
              <a:rPr lang="zh-CN" altLang="en-US"/>
            </a:fld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Institute of Computer Software</a:t>
            </a:r>
            <a:endParaRPr lang="en-US" altLang="zh-CN"/>
          </a:p>
          <a:p>
            <a:pPr>
              <a:defRPr/>
            </a:pPr>
            <a:r>
              <a:rPr lang="en-US" altLang="zh-CN"/>
              <a:t>Nanjing University</a:t>
            </a: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108D6E-A297-4ADF-9676-E7DF0EB00A9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76EB1E-8A2E-4A6A-AD54-3AE0768AA555}" type="datetime1">
              <a:rPr lang="zh-CN" altLang="en-US"/>
            </a:fld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Institute of Computer Software</a:t>
            </a:r>
            <a:endParaRPr lang="en-US" altLang="zh-CN"/>
          </a:p>
          <a:p>
            <a:pPr>
              <a:defRPr/>
            </a:pPr>
            <a:r>
              <a:rPr lang="en-US" altLang="zh-CN"/>
              <a:t>Nanjing University</a:t>
            </a: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19AA54-8FFA-4A12-B297-594A2E6FA45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313" y="1484313"/>
            <a:ext cx="3994150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4863" y="1484313"/>
            <a:ext cx="3995737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CD87E6-73D0-47B4-905F-DC815C685E99}" type="datetime1">
              <a:rPr lang="zh-CN" altLang="en-US"/>
            </a:fld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Institute of Computer Software</a:t>
            </a:r>
            <a:endParaRPr lang="en-US" altLang="zh-CN"/>
          </a:p>
          <a:p>
            <a:pPr>
              <a:defRPr/>
            </a:pPr>
            <a:r>
              <a:rPr lang="en-US" altLang="zh-CN"/>
              <a:t>Nanjing University</a:t>
            </a: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40AE11-C2C8-4DD8-9751-9EF7167DEB2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C88E1D-58DB-465F-989B-9A799DCE91BB}" type="datetime1">
              <a:rPr lang="zh-CN" altLang="en-US"/>
            </a:fld>
            <a:endParaRPr lang="en-US" altLang="zh-CN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Institute of Computer Software</a:t>
            </a:r>
            <a:endParaRPr lang="en-US" altLang="zh-CN"/>
          </a:p>
          <a:p>
            <a:pPr>
              <a:defRPr/>
            </a:pPr>
            <a:r>
              <a:rPr lang="en-US" altLang="zh-CN"/>
              <a:t>Nanjing University</a:t>
            </a:r>
            <a:endParaRPr lang="en-US" altLang="zh-CN"/>
          </a:p>
        </p:txBody>
      </p:sp>
      <p:sp>
        <p:nvSpPr>
          <p:cNvPr id="9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18A6B2-3671-450D-8213-E332F3334BE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A4182F-F80C-47F4-A204-BAC44C2212CC}" type="datetime1">
              <a:rPr lang="zh-CN" altLang="en-US"/>
            </a:fld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Institute of Computer Software</a:t>
            </a:r>
            <a:endParaRPr lang="en-US" altLang="zh-CN"/>
          </a:p>
          <a:p>
            <a:pPr>
              <a:defRPr/>
            </a:pPr>
            <a:r>
              <a:rPr lang="en-US" altLang="zh-CN"/>
              <a:t>Nanjing University</a:t>
            </a:r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45D972-190F-494D-8971-828DD155C2C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9977D3-D740-4EC6-9A28-CE2400C1D7A0}" type="datetime1">
              <a:rPr lang="zh-CN" altLang="en-US"/>
            </a:fld>
            <a:endParaRPr lang="en-US" altLang="zh-CN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Institute of Computer Software</a:t>
            </a:r>
            <a:endParaRPr lang="en-US" altLang="zh-CN"/>
          </a:p>
          <a:p>
            <a:pPr>
              <a:defRPr/>
            </a:pPr>
            <a:r>
              <a:rPr lang="en-US" altLang="zh-CN"/>
              <a:t>Nanjing University</a:t>
            </a:r>
            <a:endParaRPr lang="en-US" altLang="zh-CN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A1E598-A757-40C0-A8C3-807FB5EF1D6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0E123C-0239-4C15-BD7B-45CAAD0DEEFB}" type="datetime1">
              <a:rPr lang="zh-CN" altLang="en-US"/>
            </a:fld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Institute of Computer Software</a:t>
            </a:r>
            <a:endParaRPr lang="en-US" altLang="zh-CN"/>
          </a:p>
          <a:p>
            <a:pPr>
              <a:defRPr/>
            </a:pPr>
            <a:r>
              <a:rPr lang="en-US" altLang="zh-CN"/>
              <a:t>Nanjing University</a:t>
            </a: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EA10C3-A35E-4F9C-9E8D-BE801303C7E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DE9E44-D2CC-4A44-B045-974AEDF1F624}" type="datetime1">
              <a:rPr lang="zh-CN" altLang="en-US"/>
            </a:fld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Institute of Computer Software</a:t>
            </a:r>
            <a:endParaRPr lang="en-US" altLang="zh-CN"/>
          </a:p>
          <a:p>
            <a:pPr>
              <a:defRPr/>
            </a:pPr>
            <a:r>
              <a:rPr lang="en-US" altLang="zh-CN"/>
              <a:t>Nanjing University</a:t>
            </a: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2A0CD2-156D-44D7-A674-82A44BA18C4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A93ED9-A663-4E50-BEF4-BC350B72FF91}" type="datetime1">
              <a:rPr lang="zh-CN" altLang="en-US"/>
            </a:fld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Institute of Computer Software</a:t>
            </a:r>
            <a:endParaRPr lang="en-US" altLang="zh-CN"/>
          </a:p>
          <a:p>
            <a:pPr>
              <a:defRPr/>
            </a:pPr>
            <a:r>
              <a:rPr lang="en-US" altLang="zh-CN"/>
              <a:t>Nanjing University</a:t>
            </a: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2E679D-2698-4C91-8FCE-2C3EFB0B586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5425" y="404813"/>
            <a:ext cx="2035175" cy="54721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68313" y="404813"/>
            <a:ext cx="5954712" cy="54721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1F1FD6-CBF6-495D-8EC6-8E63A46F54DC}" type="datetime1">
              <a:rPr lang="zh-CN" altLang="en-US"/>
            </a:fld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Institute of Computer Software</a:t>
            </a:r>
            <a:endParaRPr lang="en-US" altLang="zh-CN"/>
          </a:p>
          <a:p>
            <a:pPr>
              <a:defRPr/>
            </a:pPr>
            <a:r>
              <a:rPr lang="en-US" altLang="zh-CN"/>
              <a:t>Nanjing University</a:t>
            </a: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F72455-0FFD-4906-A044-8C4DF439414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4.png"/><Relationship Id="rId13" Type="http://schemas.openxmlformats.org/officeDocument/2006/relationships/image" Target="../media/image3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1125538"/>
            <a:ext cx="2133600" cy="1016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 sz="2400" smtClean="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1447800" y="1125538"/>
            <a:ext cx="7239000" cy="1016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 sz="240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042988" y="404813"/>
            <a:ext cx="561657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484313"/>
            <a:ext cx="8142287" cy="439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pic>
        <p:nvPicPr>
          <p:cNvPr id="1030" name="Picture 6" descr="tower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2088" y="188913"/>
            <a:ext cx="199072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8423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11188" y="6284913"/>
            <a:ext cx="1293812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600">
                <a:latin typeface="+mn-lt"/>
              </a:defRPr>
            </a:lvl1pPr>
          </a:lstStyle>
          <a:p>
            <a:pPr>
              <a:defRPr/>
            </a:pPr>
            <a:fld id="{B81EED3E-5B33-49F9-B6A9-104461501133}" type="datetime1">
              <a:rPr lang="zh-CN" altLang="en-US"/>
            </a:fld>
            <a:endParaRPr lang="en-US" altLang="zh-CN"/>
          </a:p>
        </p:txBody>
      </p:sp>
      <p:sp>
        <p:nvSpPr>
          <p:cNvPr id="18842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051050" y="6202363"/>
            <a:ext cx="5257800" cy="5397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600">
                <a:latin typeface="+mn-lt"/>
              </a:defRPr>
            </a:lvl1pPr>
          </a:lstStyle>
          <a:p>
            <a:pPr>
              <a:defRPr/>
            </a:pPr>
            <a:r>
              <a:rPr lang="en-US" altLang="zh-CN"/>
              <a:t> Institute of Computer Software</a:t>
            </a:r>
            <a:endParaRPr lang="en-US" altLang="zh-CN"/>
          </a:p>
          <a:p>
            <a:pPr>
              <a:defRPr/>
            </a:pPr>
            <a:r>
              <a:rPr lang="en-US" altLang="zh-CN"/>
              <a:t>Nanjing University</a:t>
            </a:r>
            <a:endParaRPr lang="en-US" altLang="zh-CN"/>
          </a:p>
        </p:txBody>
      </p:sp>
      <p:sp>
        <p:nvSpPr>
          <p:cNvPr id="18842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24750" y="6284913"/>
            <a:ext cx="9334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6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90CF984-3908-45D5-BC5E-31FD5A405E51}" type="slidenum">
              <a:rPr lang="en-US" altLang="zh-CN"/>
            </a:fld>
            <a:endParaRPr lang="en-US" altLang="zh-CN"/>
          </a:p>
        </p:txBody>
      </p:sp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6092825"/>
            <a:ext cx="9117012" cy="2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5" name="Picture 11" descr="校徽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88" y="261938"/>
            <a:ext cx="665162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447675" indent="-44767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889000" indent="-440055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¡"/>
        <a:defRPr sz="2400">
          <a:solidFill>
            <a:schemeClr val="tx1"/>
          </a:solidFill>
          <a:latin typeface="+mn-lt"/>
          <a:ea typeface="+mn-ea"/>
        </a:defRPr>
      </a:lvl2pPr>
      <a:lvl3pPr marL="1294130" indent="-4032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3pPr>
      <a:lvl4pPr marL="1681480" indent="-38608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¡"/>
        <a:defRPr sz="2000">
          <a:solidFill>
            <a:schemeClr val="tx1"/>
          </a:solidFill>
          <a:latin typeface="+mn-lt"/>
          <a:ea typeface="+mn-ea"/>
        </a:defRPr>
      </a:lvl4pPr>
      <a:lvl5pPr marL="2070100" indent="-3873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5pPr>
      <a:lvl6pPr marL="2527300" indent="-3873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6pPr>
      <a:lvl7pPr marL="2984500" indent="-3873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7pPr>
      <a:lvl8pPr marL="3441700" indent="-3873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8pPr>
      <a:lvl9pPr marL="3898900" indent="-3873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副标题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p>
            <a:pPr algn="r"/>
            <a:r>
              <a:rPr lang="zh-CN" altLang="en-US"/>
              <a:t>南京大学计算机科学与技术系</a:t>
            </a:r>
            <a:endParaRPr lang="zh-CN" altLang="en-US"/>
          </a:p>
          <a:p>
            <a:pPr algn="r"/>
            <a:r>
              <a:rPr lang="zh-CN" altLang="en-US"/>
              <a:t>聂长海</a:t>
            </a:r>
            <a:endParaRPr lang="zh-CN" altLang="en-US"/>
          </a:p>
        </p:txBody>
      </p:sp>
      <p:sp>
        <p:nvSpPr>
          <p:cNvPr id="5" name="标题 4"/>
          <p:cNvSpPr>
            <a:spLocks noGrp="1" noChangeArrowheads="1"/>
          </p:cNvSpPr>
          <p:nvPr>
            <p:ph type="ctrTitle"/>
          </p:nvPr>
        </p:nvSpPr>
        <p:spPr/>
        <p:txBody>
          <a:bodyPr/>
          <a:p>
            <a:r>
              <a:rPr lang="zh-CN" altLang="en-US" sz="4800">
                <a:sym typeface="+mn-ea"/>
              </a:rPr>
              <a:t>中间件</a:t>
            </a:r>
            <a:endParaRPr lang="zh-CN" altLang="en-US" sz="4800" b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fld id="{A99977D3-D740-4EC6-9A28-CE2400C1D7A0}" type="datetime1">
              <a:rPr lang="zh-CN" altLang="en-US"/>
            </a:fld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AAA1E598-A757-40C0-A8C3-807FB5EF1D6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258888" y="332423"/>
            <a:ext cx="5616575" cy="576262"/>
          </a:xfrm>
        </p:spPr>
        <p:txBody>
          <a:bodyPr/>
          <a:p>
            <a:r>
              <a:rPr lang="zh-CN" altLang="en-US">
                <a:sym typeface="+mn-ea"/>
              </a:rPr>
              <a:t>中间件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30480" y="1234440"/>
            <a:ext cx="9113520" cy="4852035"/>
          </a:xfrm>
        </p:spPr>
        <p:txBody>
          <a:bodyPr/>
          <a:p>
            <a:r>
              <a:rPr lang="zh-CN" altLang="en-US"/>
              <a:t>中间件(middleware)是一类连接软件组件和应用的计算机软件，它包括一组服务，以便于运行在一台或多台机器上的多个软件通过网络进行交互。</a:t>
            </a:r>
            <a:endParaRPr lang="zh-CN" altLang="en-US"/>
          </a:p>
          <a:p>
            <a:r>
              <a:rPr lang="zh-CN" altLang="en-US"/>
              <a:t>该技术提供互操作性，推动了分布式体系架构的演进，该架构通常用于支持并简化那些复杂的分布式应用程序，包括web服务器、事务监控器和消息队列软件。</a:t>
            </a:r>
            <a:endParaRPr lang="zh-CN" altLang="en-US"/>
          </a:p>
          <a:p>
            <a:r>
              <a:rPr lang="zh-CN" altLang="en-US"/>
              <a:t>中间件是基础软件类，属于可复用软件的范畴，一般处于操作系统软件与用户应用软件之间。</a:t>
            </a:r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fld id="{A99977D3-D740-4EC6-9A28-CE2400C1D7A0}" type="datetime1">
              <a:rPr lang="zh-CN" altLang="en-US"/>
            </a:fld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AAA1E598-A757-40C0-A8C3-807FB5EF1D6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5" grpI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中间件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420" y="1128395"/>
            <a:ext cx="8949690" cy="4999355"/>
          </a:xfrm>
        </p:spPr>
        <p:txBody>
          <a:bodyPr/>
          <a:p>
            <a:r>
              <a:rPr lang="zh-CN" altLang="en-US"/>
              <a:t>中间件在操作系统、网络和数据库之上，应用软件的下层，总的作用是为处于自己上层的应用软件提供运行与开发的环境，帮助用户灵活、高效地开发和集成复杂的应用软件。</a:t>
            </a:r>
            <a:endParaRPr lang="zh-CN" altLang="en-US"/>
          </a:p>
          <a:p>
            <a:r>
              <a:rPr lang="zh-CN" altLang="en-US"/>
              <a:t>在众多关于中间件的定义中，比较普遍被接受的是：</a:t>
            </a:r>
            <a:endParaRPr lang="zh-CN" altLang="en-US"/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中间件是一种独立的系统软件或服务程序，分布式应用软件借助这种软件在不同的技术之间共享资源，中间件位于客户机服务器的操作系统之上，管理计算资源和网络通信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fld id="{9FD41CD5-89FF-4815-9A8E-C21C31C05EB7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B9108D6E-A297-4ADF-9676-E7DF0EB00A9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中间件</a:t>
            </a:r>
            <a:r>
              <a:rPr lang="zh-CN" altLang="en-US" b="1">
                <a:sym typeface="+mn-ea"/>
              </a:rPr>
              <a:t>意义</a:t>
            </a:r>
            <a:endParaRPr lang="zh-CN" altLang="en-US" b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630" y="1285875"/>
            <a:ext cx="8141970" cy="4800600"/>
          </a:xfrm>
        </p:spPr>
        <p:txBody>
          <a:bodyPr/>
          <a:p>
            <a:r>
              <a:rPr lang="zh-CN" altLang="en-US"/>
              <a:t>近年来，人类生活中越来越多的领域已经变得离不开计算机、网络技术以及通信技术。并且随着计算机技术的快速发展，更多的应用软件被要求在许多不同的网络协议、不同的硬件生产厂商以及不一样的网络平台和环境上运营。</a:t>
            </a:r>
            <a:endParaRPr lang="zh-CN" altLang="en-US"/>
          </a:p>
          <a:p>
            <a:r>
              <a:rPr lang="zh-CN" altLang="en-US"/>
              <a:t>这导致了软件开发者需要面临数据离散、操作困难、系统匹配程度低，以及需要开发多种应用程序来达到运营的目的。</a:t>
            </a:r>
            <a:endParaRPr lang="zh-CN" altLang="en-US"/>
          </a:p>
          <a:p>
            <a:r>
              <a:rPr lang="zh-CN" altLang="en-US"/>
              <a:t>所以，中间件技术的产生，在极大程度上减轻了开发者的负担，使得网络的运行更有效率。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fld id="{9FD41CD5-89FF-4815-9A8E-C21C31C05EB7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B9108D6E-A297-4ADF-9676-E7DF0EB00A9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中间件</a:t>
            </a:r>
            <a:r>
              <a:rPr lang="zh-CN" altLang="en-US" b="1">
                <a:sym typeface="+mn-ea"/>
              </a:rPr>
              <a:t>基本功能</a:t>
            </a:r>
            <a:endParaRPr lang="zh-CN" altLang="en-US" b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158875"/>
            <a:ext cx="9112885" cy="4999355"/>
          </a:xfrm>
        </p:spPr>
        <p:txBody>
          <a:bodyPr/>
          <a:p>
            <a:r>
              <a:t>中间件是独立的系统级软件，连接操作系统层和应用程序层，将不同操作系统提供应用的接口标准化，协议统一化，屏蔽具体操作的细节，提供如下功能：</a:t>
            </a:r>
          </a:p>
          <a:p>
            <a:r>
              <a:t>（1）通信支持。中间件为其所支持的应用软件提供平台化的运行环境，该环境屏蔽底层通信之间的接口差异，实现互操作，所以通信支持是中间件一个最基本的功能。</a:t>
            </a:r>
          </a:p>
          <a:p>
            <a:r>
              <a:t>（2）应用支持。中间件的目的就是服务上层应用，提供应用层不同服务之间的互操作机制。</a:t>
            </a:r>
          </a:p>
          <a:p>
            <a:r>
              <a:t>（3）公共服务。公共服务是对应用软件中共性功能或约束的提取。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fld id="{9FD41CD5-89FF-4815-9A8E-C21C31C05EB7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B9108D6E-A297-4ADF-9676-E7DF0EB00A9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中间件</a:t>
            </a:r>
            <a:r>
              <a:rPr lang="zh-CN" altLang="en-US" b="1">
                <a:sym typeface="+mn-ea"/>
              </a:rPr>
              <a:t>未来发展</a:t>
            </a:r>
            <a:endParaRPr lang="zh-CN" altLang="en-US" b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fld id="{9FD41CD5-89FF-4815-9A8E-C21C31C05EB7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B9108D6E-A297-4ADF-9676-E7DF0EB00A91}" type="slidenum">
              <a:rPr lang="en-US" altLang="zh-CN"/>
            </a:fld>
            <a:endParaRPr lang="en-US" altLang="zh-CN"/>
          </a:p>
        </p:txBody>
      </p:sp>
      <p:sp>
        <p:nvSpPr>
          <p:cNvPr id="6" name="内容占位符 5"/>
          <p:cNvSpPr/>
          <p:nvPr>
            <p:ph idx="1"/>
          </p:nvPr>
        </p:nvSpPr>
        <p:spPr/>
        <p:txBody>
          <a:bodyPr/>
          <a:p>
            <a:r>
              <a:rPr lang="zh-CN" altLang="en-US"/>
              <a:t>中间件技术的发展方向，将聚焦于消除信息孤岛，推动无边界信息流，支撑开放、动态、多变的互联网环境中的复杂应用系统，实现对分布于互联网之上的各种自治信息资源（计算资源、数据资源、服务资源、软件资源）的简单、标准、快速、灵活、可信、高效能及低成本的集成、协同和综合利用，提高组织的IT基础设施的业务敏捷性，降低总体运维成本，促进IT与业务之间的匹配。中间件技术正在呈现出业务化、服务化、一体化、虚拟化等诸多新的重要发展趋势。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中间件</a:t>
            </a:r>
            <a:r>
              <a:rPr lang="zh-CN" altLang="en-US" b="1">
                <a:sym typeface="+mn-ea"/>
              </a:rPr>
              <a:t>未来发展</a:t>
            </a:r>
            <a:endParaRPr lang="zh-CN" altLang="en-US" b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-6350" y="1144270"/>
            <a:ext cx="9140825" cy="5026660"/>
          </a:xfrm>
        </p:spPr>
        <p:txBody>
          <a:bodyPr/>
          <a:p>
            <a:r>
              <a:rPr lang="zh-CN" altLang="en-US"/>
              <a:t>中间件技术已经取得了很大的成功，成为研究热点之一。随着应用的普及和研究的深入，以及互联网的发展，目前的中间件技术主要呈现出三方面的趋势：</a:t>
            </a:r>
            <a:endParaRPr lang="zh-CN" altLang="en-US"/>
          </a:p>
          <a:p>
            <a:r>
              <a:rPr lang="zh-CN" altLang="en-US"/>
              <a:t>首先，中间件越来越多地向传统操作系统层渗透，向平台化发展；</a:t>
            </a:r>
            <a:endParaRPr lang="zh-CN" altLang="en-US"/>
          </a:p>
          <a:p>
            <a:r>
              <a:rPr lang="zh-CN" altLang="en-US"/>
              <a:t>其次，随着网络化的发展趋势，应用软件需要的支持机制越来越多，中间件会变广变厚；</a:t>
            </a:r>
            <a:endParaRPr lang="zh-CN" altLang="en-US"/>
          </a:p>
          <a:p>
            <a:r>
              <a:rPr lang="zh-CN" altLang="en-US"/>
              <a:t>其三，中间件也向构件化发展，为上层应用的结构设计和部署提供有效的支持，并为解决软件复用问题提供支持。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fld id="{9FD41CD5-89FF-4815-9A8E-C21C31C05EB7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B9108D6E-A297-4ADF-9676-E7DF0EB00A9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思考题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什么是中间件？中间件有什么作用？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fld id="{9FD41CD5-89FF-4815-9A8E-C21C31C05EB7}" type="datetime1">
              <a:rPr lang="zh-CN" altLang="en-US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>
              <a:defRPr/>
            </a:pPr>
            <a:fld id="{B9108D6E-A297-4ADF-9676-E7DF0EB00A9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93FAA6BF-FC65-42B7-B3DA-EEABD2231966}" type="datetime1">
              <a:rPr lang="zh-CN" altLang="en-US"/>
            </a:fld>
            <a:endParaRPr lang="en-US" altLang="zh-CN"/>
          </a:p>
        </p:txBody>
      </p:sp>
      <p:sp>
        <p:nvSpPr>
          <p:cNvPr id="614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306D690-7FB6-4F1C-A386-B6D9CAEF90B5}" type="slidenum">
              <a:rPr lang="en-US" altLang="zh-CN" sz="1600" smtClean="0"/>
            </a:fld>
            <a:endParaRPr lang="en-US" altLang="zh-CN" sz="1600" smtClean="0"/>
          </a:p>
        </p:txBody>
      </p:sp>
      <p:sp>
        <p:nvSpPr>
          <p:cNvPr id="2" name="文本框 1"/>
          <p:cNvSpPr txBox="1"/>
          <p:nvPr/>
        </p:nvSpPr>
        <p:spPr>
          <a:xfrm>
            <a:off x="2339752" y="2924944"/>
            <a:ext cx="46085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 smtClean="0"/>
              <a:t>Thank You</a:t>
            </a:r>
            <a:r>
              <a:rPr lang="zh-CN" altLang="en-US" sz="6000" b="1" dirty="0" smtClean="0"/>
              <a:t>！</a:t>
            </a:r>
            <a:endParaRPr lang="zh-CN" altLang="en-US" sz="6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xis">
  <a:themeElements>
    <a:clrScheme name="Axis 8">
      <a:dk1>
        <a:srgbClr val="292929"/>
      </a:dk1>
      <a:lt1>
        <a:srgbClr val="FFFFFF"/>
      </a:lt1>
      <a:dk2>
        <a:srgbClr val="000000"/>
      </a:dk2>
      <a:lt2>
        <a:srgbClr val="808080"/>
      </a:lt2>
      <a:accent1>
        <a:srgbClr val="CC9900"/>
      </a:accent1>
      <a:accent2>
        <a:srgbClr val="CCCC99"/>
      </a:accent2>
      <a:accent3>
        <a:srgbClr val="FFFFFF"/>
      </a:accent3>
      <a:accent4>
        <a:srgbClr val="212121"/>
      </a:accent4>
      <a:accent5>
        <a:srgbClr val="E2CAAA"/>
      </a:accent5>
      <a:accent6>
        <a:srgbClr val="B9B98A"/>
      </a:accent6>
      <a:hlink>
        <a:srgbClr val="999933"/>
      </a:hlink>
      <a:folHlink>
        <a:srgbClr val="B2B2B2"/>
      </a:folHlink>
    </a:clrScheme>
    <a:fontScheme name="Axis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xis 1">
        <a:dk1>
          <a:srgbClr val="080808"/>
        </a:dk1>
        <a:lt1>
          <a:srgbClr val="F8F8F8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ADAAAA"/>
        </a:accent3>
        <a:accent4>
          <a:srgbClr val="D4D4D4"/>
        </a:accent4>
        <a:accent5>
          <a:srgbClr val="FFCAAA"/>
        </a:accent5>
        <a:accent6>
          <a:srgbClr val="B92D00"/>
        </a:accent6>
        <a:hlink>
          <a:srgbClr val="CC66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2">
        <a:dk1>
          <a:srgbClr val="333333"/>
        </a:dk1>
        <a:lt1>
          <a:srgbClr val="F8F8F8"/>
        </a:lt1>
        <a:dk2>
          <a:srgbClr val="800000"/>
        </a:dk2>
        <a:lt2>
          <a:srgbClr val="FFFFFF"/>
        </a:lt2>
        <a:accent1>
          <a:srgbClr val="CC9900"/>
        </a:accent1>
        <a:accent2>
          <a:srgbClr val="666666"/>
        </a:accent2>
        <a:accent3>
          <a:srgbClr val="C0AAAA"/>
        </a:accent3>
        <a:accent4>
          <a:srgbClr val="D4D4D4"/>
        </a:accent4>
        <a:accent5>
          <a:srgbClr val="E2CAAA"/>
        </a:accent5>
        <a:accent6>
          <a:srgbClr val="5C5C5C"/>
        </a:accent6>
        <a:hlink>
          <a:srgbClr val="CC6600"/>
        </a:hlink>
        <a:folHlink>
          <a:srgbClr val="95A58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3">
        <a:dk1>
          <a:srgbClr val="5F5F5F"/>
        </a:dk1>
        <a:lt1>
          <a:srgbClr val="A4BEE0"/>
        </a:lt1>
        <a:dk2>
          <a:srgbClr val="013253"/>
        </a:dk2>
        <a:lt2>
          <a:srgbClr val="FFFFFF"/>
        </a:lt2>
        <a:accent1>
          <a:srgbClr val="588480"/>
        </a:accent1>
        <a:accent2>
          <a:srgbClr val="6600FF"/>
        </a:accent2>
        <a:accent3>
          <a:srgbClr val="AAADB3"/>
        </a:accent3>
        <a:accent4>
          <a:srgbClr val="8BA2BF"/>
        </a:accent4>
        <a:accent5>
          <a:srgbClr val="B4C2C0"/>
        </a:accent5>
        <a:accent6>
          <a:srgbClr val="5C00E7"/>
        </a:accent6>
        <a:hlink>
          <a:srgbClr val="CCCC00"/>
        </a:hlink>
        <a:folHlink>
          <a:srgbClr val="5F5F5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4">
        <a:dk1>
          <a:srgbClr val="003300"/>
        </a:dk1>
        <a:lt1>
          <a:srgbClr val="F8F8F8"/>
        </a:lt1>
        <a:dk2>
          <a:srgbClr val="3D4A1C"/>
        </a:dk2>
        <a:lt2>
          <a:srgbClr val="FFFFFF"/>
        </a:lt2>
        <a:accent1>
          <a:srgbClr val="99CC00"/>
        </a:accent1>
        <a:accent2>
          <a:srgbClr val="669900"/>
        </a:accent2>
        <a:accent3>
          <a:srgbClr val="AFB1AB"/>
        </a:accent3>
        <a:accent4>
          <a:srgbClr val="D4D4D4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5">
        <a:dk1>
          <a:srgbClr val="333333"/>
        </a:dk1>
        <a:lt1>
          <a:srgbClr val="F8F8F8"/>
        </a:lt1>
        <a:dk2>
          <a:srgbClr val="005D8C"/>
        </a:dk2>
        <a:lt2>
          <a:srgbClr val="FFFFFF"/>
        </a:lt2>
        <a:accent1>
          <a:srgbClr val="00CC99"/>
        </a:accent1>
        <a:accent2>
          <a:srgbClr val="0099CC"/>
        </a:accent2>
        <a:accent3>
          <a:srgbClr val="AAB6C5"/>
        </a:accent3>
        <a:accent4>
          <a:srgbClr val="D4D4D4"/>
        </a:accent4>
        <a:accent5>
          <a:srgbClr val="AAE2CA"/>
        </a:accent5>
        <a:accent6>
          <a:srgbClr val="008AB9"/>
        </a:accent6>
        <a:hlink>
          <a:srgbClr val="FFCC00"/>
        </a:hlink>
        <a:folHlink>
          <a:srgbClr val="D8D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6">
        <a:dk1>
          <a:srgbClr val="000000"/>
        </a:dk1>
        <a:lt1>
          <a:srgbClr val="ECAE00"/>
        </a:lt1>
        <a:dk2>
          <a:srgbClr val="FFFFFF"/>
        </a:dk2>
        <a:lt2>
          <a:srgbClr val="333333"/>
        </a:lt2>
        <a:accent1>
          <a:srgbClr val="CC6600"/>
        </a:accent1>
        <a:accent2>
          <a:srgbClr val="BA6D10"/>
        </a:accent2>
        <a:accent3>
          <a:srgbClr val="F4D3AA"/>
        </a:accent3>
        <a:accent4>
          <a:srgbClr val="000000"/>
        </a:accent4>
        <a:accent5>
          <a:srgbClr val="E2B8AA"/>
        </a:accent5>
        <a:accent6>
          <a:srgbClr val="A8620D"/>
        </a:accent6>
        <a:hlink>
          <a:srgbClr val="666633"/>
        </a:hlink>
        <a:folHlink>
          <a:srgbClr val="8D996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xis 7">
        <a:dk1>
          <a:srgbClr val="000000"/>
        </a:dk1>
        <a:lt1>
          <a:srgbClr val="FFFFFF"/>
        </a:lt1>
        <a:dk2>
          <a:srgbClr val="372221"/>
        </a:dk2>
        <a:lt2>
          <a:srgbClr val="808080"/>
        </a:lt2>
        <a:accent1>
          <a:srgbClr val="009999"/>
        </a:accent1>
        <a:accent2>
          <a:srgbClr val="9AAC98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8B9B89"/>
        </a:accent6>
        <a:hlink>
          <a:srgbClr val="6666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xis 8">
        <a:dk1>
          <a:srgbClr val="292929"/>
        </a:dk1>
        <a:lt1>
          <a:srgbClr val="FFFFFF"/>
        </a:lt1>
        <a:dk2>
          <a:srgbClr val="000000"/>
        </a:dk2>
        <a:lt2>
          <a:srgbClr val="808080"/>
        </a:lt2>
        <a:accent1>
          <a:srgbClr val="CC9900"/>
        </a:accent1>
        <a:accent2>
          <a:srgbClr val="CCCC99"/>
        </a:accent2>
        <a:accent3>
          <a:srgbClr val="FFFFFF"/>
        </a:accent3>
        <a:accent4>
          <a:srgbClr val="212121"/>
        </a:accent4>
        <a:accent5>
          <a:srgbClr val="E2CAAA"/>
        </a:accent5>
        <a:accent6>
          <a:srgbClr val="B9B98A"/>
        </a:accent6>
        <a:hlink>
          <a:srgbClr val="9999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1255</Words>
  <Application>WPS 演示</Application>
  <PresentationFormat>全屏显示(4:3)</PresentationFormat>
  <Paragraphs>83</Paragraphs>
  <Slides>9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Arial</vt:lpstr>
      <vt:lpstr>宋体</vt:lpstr>
      <vt:lpstr>Wingdings</vt:lpstr>
      <vt:lpstr>Times New Roman</vt:lpstr>
      <vt:lpstr>微软雅黑</vt:lpstr>
      <vt:lpstr>Arial Unicode MS</vt:lpstr>
      <vt:lpstr>Axis</vt:lpstr>
      <vt:lpstr>软件质量保证的自动化方法</vt:lpstr>
      <vt:lpstr>软件质量保证的自动化方法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ics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HMM词性标注</dc:title>
  <dc:creator>HuangShujian</dc:creator>
  <cp:lastModifiedBy>Mr Nie</cp:lastModifiedBy>
  <cp:revision>890</cp:revision>
  <dcterms:created xsi:type="dcterms:W3CDTF">2005-03-03T04:54:00Z</dcterms:created>
  <dcterms:modified xsi:type="dcterms:W3CDTF">2021-11-10T06:21:14Z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86FDB1FF0FB04A54ADF0FC1C09871073</vt:lpwstr>
  </property>
  <property fmtid="{D5CDD505-2E9C-101B-9397-08002B2CF9AE}" pid="3" name="KSOProductBuildVer">
    <vt:lpwstr>2052-11.1.0.10495</vt:lpwstr>
  </property>
</Properties>
</file>