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45"/>
  </p:handoutMasterIdLst>
  <p:sldIdLst>
    <p:sldId id="256" r:id="rId2"/>
    <p:sldId id="263" r:id="rId3"/>
    <p:sldId id="258" r:id="rId4"/>
    <p:sldId id="260" r:id="rId5"/>
    <p:sldId id="259" r:id="rId6"/>
    <p:sldId id="261" r:id="rId7"/>
    <p:sldId id="277" r:id="rId8"/>
    <p:sldId id="310" r:id="rId9"/>
    <p:sldId id="278" r:id="rId10"/>
    <p:sldId id="279" r:id="rId11"/>
    <p:sldId id="280" r:id="rId12"/>
    <p:sldId id="281" r:id="rId13"/>
    <p:sldId id="282" r:id="rId14"/>
    <p:sldId id="283" r:id="rId15"/>
    <p:sldId id="285" r:id="rId16"/>
    <p:sldId id="312"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306" r:id="rId31"/>
    <p:sldId id="288" r:id="rId32"/>
    <p:sldId id="289" r:id="rId33"/>
    <p:sldId id="313" r:id="rId34"/>
    <p:sldId id="290" r:id="rId35"/>
    <p:sldId id="294" r:id="rId36"/>
    <p:sldId id="295" r:id="rId37"/>
    <p:sldId id="293" r:id="rId38"/>
    <p:sldId id="297" r:id="rId39"/>
    <p:sldId id="298" r:id="rId40"/>
    <p:sldId id="308" r:id="rId41"/>
    <p:sldId id="309" r:id="rId42"/>
    <p:sldId id="314" r:id="rId43"/>
    <p:sldId id="315" r:id="rId4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0" d="100"/>
          <a:sy n="80" d="100"/>
        </p:scale>
        <p:origin x="120"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rawing1.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2">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4C2206A-867B-4333-BF6D-73E4F2257824}" type="doc">
      <dgm:prSet loTypeId="urn:microsoft.com/office/officeart/2005/8/layout/chevron2" loCatId="list" qsTypeId="urn:microsoft.com/office/officeart/2005/8/quickstyle/simple5#1" qsCatId="simple" csTypeId="urn:microsoft.com/office/officeart/2005/8/colors/colorful1#1" csCatId="colorful" phldr="1"/>
      <dgm:spPr/>
      <dgm:t>
        <a:bodyPr/>
        <a:lstStyle/>
        <a:p>
          <a:endParaRPr lang="zh-CN" altLang="en-US"/>
        </a:p>
      </dgm:t>
    </dgm:pt>
    <dgm:pt modelId="{0F57615F-5E8C-4D26-9FF2-427EED3C36B1}">
      <dgm:prSet phldrT="[文本]"/>
      <dgm:spPr/>
      <dgm:t>
        <a:bodyPr/>
        <a:lstStyle/>
        <a:p>
          <a:r>
            <a:rPr lang="en-US" altLang="zh-CN" dirty="0" smtClean="0"/>
            <a:t>1</a:t>
          </a:r>
          <a:endParaRPr lang="zh-CN" altLang="en-US" dirty="0"/>
        </a:p>
      </dgm:t>
    </dgm:pt>
    <dgm:pt modelId="{94556BF0-1353-4731-8803-5E72F96F871F}" type="parTrans" cxnId="{3DCDC01A-B1D9-4D2C-BF7A-06C15127DC2F}">
      <dgm:prSet/>
      <dgm:spPr/>
      <dgm:t>
        <a:bodyPr/>
        <a:lstStyle/>
        <a:p>
          <a:endParaRPr lang="zh-CN" altLang="en-US"/>
        </a:p>
      </dgm:t>
    </dgm:pt>
    <dgm:pt modelId="{138F3CFF-29EA-4F52-B1C6-E2DA42210B5C}" type="sibTrans" cxnId="{3DCDC01A-B1D9-4D2C-BF7A-06C15127DC2F}">
      <dgm:prSet/>
      <dgm:spPr/>
      <dgm:t>
        <a:bodyPr/>
        <a:lstStyle/>
        <a:p>
          <a:endParaRPr lang="zh-CN" altLang="en-US"/>
        </a:p>
      </dgm:t>
    </dgm:pt>
    <dgm:pt modelId="{FC9EEEB3-23CE-41FE-BBD7-9912FD3E2AA3}">
      <dgm:prSet phldrT="[文本]"/>
      <dgm:spPr/>
      <dgm:t>
        <a:bodyPr/>
        <a:lstStyle/>
        <a:p>
          <a:r>
            <a:rPr lang="zh-CN" altLang="en-US" dirty="0" smtClean="0"/>
            <a:t>物联网的定义</a:t>
          </a:r>
          <a:endParaRPr lang="zh-CN" altLang="en-US" dirty="0"/>
        </a:p>
      </dgm:t>
    </dgm:pt>
    <dgm:pt modelId="{B471FA3D-A3BB-44AA-861A-88845599DEE0}" type="parTrans" cxnId="{A6F80929-E1F0-482B-A1FF-164E2CA5B33C}">
      <dgm:prSet/>
      <dgm:spPr/>
      <dgm:t>
        <a:bodyPr/>
        <a:lstStyle/>
        <a:p>
          <a:endParaRPr lang="zh-CN" altLang="en-US"/>
        </a:p>
      </dgm:t>
    </dgm:pt>
    <dgm:pt modelId="{09A7FAD3-0009-40CC-BB0D-701B0E7CEAAB}" type="sibTrans" cxnId="{A6F80929-E1F0-482B-A1FF-164E2CA5B33C}">
      <dgm:prSet/>
      <dgm:spPr/>
      <dgm:t>
        <a:bodyPr/>
        <a:lstStyle/>
        <a:p>
          <a:endParaRPr lang="zh-CN" altLang="en-US"/>
        </a:p>
      </dgm:t>
    </dgm:pt>
    <dgm:pt modelId="{CB269991-20EC-4AD9-9434-70891112F678}">
      <dgm:prSet phldrT="[文本]"/>
      <dgm:spPr/>
      <dgm:t>
        <a:bodyPr/>
        <a:lstStyle/>
        <a:p>
          <a:r>
            <a:rPr lang="en-US" altLang="zh-CN" dirty="0" smtClean="0"/>
            <a:t>2</a:t>
          </a:r>
          <a:endParaRPr lang="zh-CN" altLang="en-US" dirty="0"/>
        </a:p>
      </dgm:t>
    </dgm:pt>
    <dgm:pt modelId="{5AEE8316-97D9-436A-9525-CA2AE721C8D2}" type="parTrans" cxnId="{5C561EE1-74B1-4FE5-9646-3DAD41C715B8}">
      <dgm:prSet/>
      <dgm:spPr/>
      <dgm:t>
        <a:bodyPr/>
        <a:lstStyle/>
        <a:p>
          <a:endParaRPr lang="zh-CN" altLang="en-US"/>
        </a:p>
      </dgm:t>
    </dgm:pt>
    <dgm:pt modelId="{766EFD6D-430E-4233-84A3-493B12F0504D}" type="sibTrans" cxnId="{5C561EE1-74B1-4FE5-9646-3DAD41C715B8}">
      <dgm:prSet/>
      <dgm:spPr/>
      <dgm:t>
        <a:bodyPr/>
        <a:lstStyle/>
        <a:p>
          <a:endParaRPr lang="zh-CN" altLang="en-US"/>
        </a:p>
      </dgm:t>
    </dgm:pt>
    <dgm:pt modelId="{386EF715-D4A4-4283-8ECC-D715FD74AAD1}">
      <dgm:prSet phldrT="[文本]"/>
      <dgm:spPr/>
      <dgm:t>
        <a:bodyPr/>
        <a:lstStyle/>
        <a:p>
          <a:r>
            <a:rPr lang="zh-CN" altLang="en-US" dirty="0" smtClean="0"/>
            <a:t>物联网核心技术</a:t>
          </a:r>
          <a:endParaRPr lang="zh-CN" altLang="en-US" dirty="0"/>
        </a:p>
      </dgm:t>
    </dgm:pt>
    <dgm:pt modelId="{CC6B3574-8C67-4290-A1A0-76552B4CF33B}" type="parTrans" cxnId="{4838ACFA-4334-40B5-9975-1EB393948657}">
      <dgm:prSet/>
      <dgm:spPr/>
      <dgm:t>
        <a:bodyPr/>
        <a:lstStyle/>
        <a:p>
          <a:endParaRPr lang="zh-CN" altLang="en-US"/>
        </a:p>
      </dgm:t>
    </dgm:pt>
    <dgm:pt modelId="{79F614DD-7605-464E-AF30-C3E6E7DE22A3}" type="sibTrans" cxnId="{4838ACFA-4334-40B5-9975-1EB393948657}">
      <dgm:prSet/>
      <dgm:spPr/>
      <dgm:t>
        <a:bodyPr/>
        <a:lstStyle/>
        <a:p>
          <a:endParaRPr lang="zh-CN" altLang="en-US"/>
        </a:p>
      </dgm:t>
    </dgm:pt>
    <dgm:pt modelId="{AAD669CF-D4D7-4074-9A03-6BCEA46D20C4}">
      <dgm:prSet phldrT="[文本]"/>
      <dgm:spPr/>
      <dgm:t>
        <a:bodyPr/>
        <a:lstStyle/>
        <a:p>
          <a:r>
            <a:rPr lang="en-US" altLang="zh-CN" dirty="0" smtClean="0"/>
            <a:t>3</a:t>
          </a:r>
          <a:endParaRPr lang="zh-CN" altLang="en-US" dirty="0"/>
        </a:p>
      </dgm:t>
    </dgm:pt>
    <dgm:pt modelId="{EA6A8393-624C-4311-9513-B824FBC556C7}" type="parTrans" cxnId="{4F90BC82-436E-462B-BB54-6BC598C176D1}">
      <dgm:prSet/>
      <dgm:spPr/>
      <dgm:t>
        <a:bodyPr/>
        <a:lstStyle/>
        <a:p>
          <a:endParaRPr lang="zh-CN" altLang="en-US"/>
        </a:p>
      </dgm:t>
    </dgm:pt>
    <dgm:pt modelId="{3486094D-2D16-4BB9-9906-5F727B80E32B}" type="sibTrans" cxnId="{4F90BC82-436E-462B-BB54-6BC598C176D1}">
      <dgm:prSet/>
      <dgm:spPr/>
      <dgm:t>
        <a:bodyPr/>
        <a:lstStyle/>
        <a:p>
          <a:endParaRPr lang="zh-CN" altLang="en-US"/>
        </a:p>
      </dgm:t>
    </dgm:pt>
    <dgm:pt modelId="{3D4CCACB-BA35-48CC-AE12-1A06EF1B676E}">
      <dgm:prSet phldrT="[文本]"/>
      <dgm:spPr/>
      <dgm:t>
        <a:bodyPr/>
        <a:lstStyle/>
        <a:p>
          <a:r>
            <a:rPr lang="zh-CN" altLang="en-US" dirty="0" smtClean="0"/>
            <a:t>中国物联网发展现状</a:t>
          </a:r>
          <a:endParaRPr lang="zh-CN" altLang="en-US" dirty="0"/>
        </a:p>
      </dgm:t>
    </dgm:pt>
    <dgm:pt modelId="{A80B149C-2151-4384-8585-9073AF8DD93B}" type="parTrans" cxnId="{2B4EF1BC-B93D-4F44-8445-6E221BCF0E92}">
      <dgm:prSet/>
      <dgm:spPr/>
      <dgm:t>
        <a:bodyPr/>
        <a:lstStyle/>
        <a:p>
          <a:endParaRPr lang="zh-CN" altLang="en-US"/>
        </a:p>
      </dgm:t>
    </dgm:pt>
    <dgm:pt modelId="{743C8B11-8F57-4D5E-AC39-E0D47E39CC69}" type="sibTrans" cxnId="{2B4EF1BC-B93D-4F44-8445-6E221BCF0E92}">
      <dgm:prSet/>
      <dgm:spPr/>
      <dgm:t>
        <a:bodyPr/>
        <a:lstStyle/>
        <a:p>
          <a:endParaRPr lang="zh-CN" altLang="en-US"/>
        </a:p>
      </dgm:t>
    </dgm:pt>
    <dgm:pt modelId="{09B56250-653F-4ADB-96B0-43A373E8F4A9}">
      <dgm:prSet phldrT="[文本]"/>
      <dgm:spPr/>
      <dgm:t>
        <a:bodyPr/>
        <a:lstStyle/>
        <a:p>
          <a:r>
            <a:rPr lang="en-US" altLang="zh-CN" dirty="0" smtClean="0"/>
            <a:t>4</a:t>
          </a:r>
          <a:endParaRPr lang="zh-CN" altLang="en-US" dirty="0"/>
        </a:p>
      </dgm:t>
    </dgm:pt>
    <dgm:pt modelId="{AA07EADF-347A-4281-9240-2DC696FD2359}" type="parTrans" cxnId="{8A09D902-93D1-42EA-9CD2-454C023C57B0}">
      <dgm:prSet/>
      <dgm:spPr/>
      <dgm:t>
        <a:bodyPr/>
        <a:lstStyle/>
        <a:p>
          <a:endParaRPr lang="zh-CN" altLang="en-US"/>
        </a:p>
      </dgm:t>
    </dgm:pt>
    <dgm:pt modelId="{2F70C778-901A-4D09-B8CC-04641B64A021}" type="sibTrans" cxnId="{8A09D902-93D1-42EA-9CD2-454C023C57B0}">
      <dgm:prSet/>
      <dgm:spPr/>
      <dgm:t>
        <a:bodyPr/>
        <a:lstStyle/>
        <a:p>
          <a:endParaRPr lang="zh-CN" altLang="en-US"/>
        </a:p>
      </dgm:t>
    </dgm:pt>
    <dgm:pt modelId="{549AE32D-98FA-420E-BCC2-699EB0999946}">
      <dgm:prSet phldrT="[文本]"/>
      <dgm:spPr/>
      <dgm:t>
        <a:bodyPr/>
        <a:lstStyle/>
        <a:p>
          <a:r>
            <a:rPr lang="zh-CN" altLang="en-US" dirty="0" smtClean="0"/>
            <a:t>物联网的典型应用</a:t>
          </a:r>
          <a:endParaRPr lang="zh-CN" altLang="en-US" dirty="0"/>
        </a:p>
      </dgm:t>
    </dgm:pt>
    <dgm:pt modelId="{D921B67F-7295-4542-87C6-B3B2A070035D}" type="parTrans" cxnId="{98414C25-E558-4E0E-8E0A-DA80BBA81066}">
      <dgm:prSet/>
      <dgm:spPr/>
      <dgm:t>
        <a:bodyPr/>
        <a:lstStyle/>
        <a:p>
          <a:endParaRPr lang="zh-CN" altLang="en-US"/>
        </a:p>
      </dgm:t>
    </dgm:pt>
    <dgm:pt modelId="{0B500279-BDAA-4454-B556-C041AD67686A}" type="sibTrans" cxnId="{98414C25-E558-4E0E-8E0A-DA80BBA81066}">
      <dgm:prSet/>
      <dgm:spPr/>
      <dgm:t>
        <a:bodyPr/>
        <a:lstStyle/>
        <a:p>
          <a:endParaRPr lang="zh-CN" altLang="en-US"/>
        </a:p>
      </dgm:t>
    </dgm:pt>
    <dgm:pt modelId="{6144C5F7-F157-4313-A2EA-8CFBACB765EE}" type="pres">
      <dgm:prSet presAssocID="{D4C2206A-867B-4333-BF6D-73E4F2257824}" presName="linearFlow" presStyleCnt="0">
        <dgm:presLayoutVars>
          <dgm:dir/>
          <dgm:animLvl val="lvl"/>
          <dgm:resizeHandles val="exact"/>
        </dgm:presLayoutVars>
      </dgm:prSet>
      <dgm:spPr/>
      <dgm:t>
        <a:bodyPr/>
        <a:lstStyle/>
        <a:p>
          <a:endParaRPr lang="zh-CN" altLang="en-US"/>
        </a:p>
      </dgm:t>
    </dgm:pt>
    <dgm:pt modelId="{9A823627-98BD-4575-856D-F108F48FDCBE}" type="pres">
      <dgm:prSet presAssocID="{0F57615F-5E8C-4D26-9FF2-427EED3C36B1}" presName="composite" presStyleCnt="0"/>
      <dgm:spPr/>
    </dgm:pt>
    <dgm:pt modelId="{9AE65FA0-2BA5-4D07-ACC1-D62102AC3933}" type="pres">
      <dgm:prSet presAssocID="{0F57615F-5E8C-4D26-9FF2-427EED3C36B1}" presName="parentText" presStyleLbl="alignNode1" presStyleIdx="0" presStyleCnt="4">
        <dgm:presLayoutVars>
          <dgm:chMax val="1"/>
          <dgm:bulletEnabled val="1"/>
        </dgm:presLayoutVars>
      </dgm:prSet>
      <dgm:spPr/>
      <dgm:t>
        <a:bodyPr/>
        <a:lstStyle/>
        <a:p>
          <a:endParaRPr lang="zh-CN" altLang="en-US"/>
        </a:p>
      </dgm:t>
    </dgm:pt>
    <dgm:pt modelId="{1CD77611-B1B9-4903-AA94-2D262ED12F37}" type="pres">
      <dgm:prSet presAssocID="{0F57615F-5E8C-4D26-9FF2-427EED3C36B1}" presName="descendantText" presStyleLbl="alignAcc1" presStyleIdx="0" presStyleCnt="4">
        <dgm:presLayoutVars>
          <dgm:bulletEnabled val="1"/>
        </dgm:presLayoutVars>
      </dgm:prSet>
      <dgm:spPr/>
      <dgm:t>
        <a:bodyPr/>
        <a:lstStyle/>
        <a:p>
          <a:endParaRPr lang="zh-CN" altLang="en-US"/>
        </a:p>
      </dgm:t>
    </dgm:pt>
    <dgm:pt modelId="{B9EDA681-EB17-407F-B237-6A868A536D34}" type="pres">
      <dgm:prSet presAssocID="{138F3CFF-29EA-4F52-B1C6-E2DA42210B5C}" presName="sp" presStyleCnt="0"/>
      <dgm:spPr/>
    </dgm:pt>
    <dgm:pt modelId="{93306852-47CF-43F2-9BA4-4760D009ED5A}" type="pres">
      <dgm:prSet presAssocID="{CB269991-20EC-4AD9-9434-70891112F678}" presName="composite" presStyleCnt="0"/>
      <dgm:spPr/>
    </dgm:pt>
    <dgm:pt modelId="{D4D998A7-681F-45F1-98C8-FBE1DE068125}" type="pres">
      <dgm:prSet presAssocID="{CB269991-20EC-4AD9-9434-70891112F678}" presName="parentText" presStyleLbl="alignNode1" presStyleIdx="1" presStyleCnt="4">
        <dgm:presLayoutVars>
          <dgm:chMax val="1"/>
          <dgm:bulletEnabled val="1"/>
        </dgm:presLayoutVars>
      </dgm:prSet>
      <dgm:spPr/>
      <dgm:t>
        <a:bodyPr/>
        <a:lstStyle/>
        <a:p>
          <a:endParaRPr lang="zh-CN" altLang="en-US"/>
        </a:p>
      </dgm:t>
    </dgm:pt>
    <dgm:pt modelId="{DFFADD8F-80FD-4F6A-8B4D-1104DADC1A5B}" type="pres">
      <dgm:prSet presAssocID="{CB269991-20EC-4AD9-9434-70891112F678}" presName="descendantText" presStyleLbl="alignAcc1" presStyleIdx="1" presStyleCnt="4">
        <dgm:presLayoutVars>
          <dgm:bulletEnabled val="1"/>
        </dgm:presLayoutVars>
      </dgm:prSet>
      <dgm:spPr/>
      <dgm:t>
        <a:bodyPr/>
        <a:lstStyle/>
        <a:p>
          <a:endParaRPr lang="zh-CN" altLang="en-US"/>
        </a:p>
      </dgm:t>
    </dgm:pt>
    <dgm:pt modelId="{6B5B1020-3C03-41B4-9BFB-934D9D47506E}" type="pres">
      <dgm:prSet presAssocID="{766EFD6D-430E-4233-84A3-493B12F0504D}" presName="sp" presStyleCnt="0"/>
      <dgm:spPr/>
    </dgm:pt>
    <dgm:pt modelId="{729CC1BE-FFD8-4C02-89B7-6FF9BE61E69F}" type="pres">
      <dgm:prSet presAssocID="{AAD669CF-D4D7-4074-9A03-6BCEA46D20C4}" presName="composite" presStyleCnt="0"/>
      <dgm:spPr/>
    </dgm:pt>
    <dgm:pt modelId="{AD85597D-4309-4767-B8B9-7B275A25A627}" type="pres">
      <dgm:prSet presAssocID="{AAD669CF-D4D7-4074-9A03-6BCEA46D20C4}" presName="parentText" presStyleLbl="alignNode1" presStyleIdx="2" presStyleCnt="4">
        <dgm:presLayoutVars>
          <dgm:chMax val="1"/>
          <dgm:bulletEnabled val="1"/>
        </dgm:presLayoutVars>
      </dgm:prSet>
      <dgm:spPr/>
      <dgm:t>
        <a:bodyPr/>
        <a:lstStyle/>
        <a:p>
          <a:endParaRPr lang="zh-CN" altLang="en-US"/>
        </a:p>
      </dgm:t>
    </dgm:pt>
    <dgm:pt modelId="{5927C2E2-40A9-4813-A305-C9C6328A188C}" type="pres">
      <dgm:prSet presAssocID="{AAD669CF-D4D7-4074-9A03-6BCEA46D20C4}" presName="descendantText" presStyleLbl="alignAcc1" presStyleIdx="2" presStyleCnt="4">
        <dgm:presLayoutVars>
          <dgm:bulletEnabled val="1"/>
        </dgm:presLayoutVars>
      </dgm:prSet>
      <dgm:spPr/>
      <dgm:t>
        <a:bodyPr/>
        <a:lstStyle/>
        <a:p>
          <a:endParaRPr lang="zh-CN" altLang="en-US"/>
        </a:p>
      </dgm:t>
    </dgm:pt>
    <dgm:pt modelId="{7F269BAB-3F0D-43BE-BF80-92F64B4D30A1}" type="pres">
      <dgm:prSet presAssocID="{3486094D-2D16-4BB9-9906-5F727B80E32B}" presName="sp" presStyleCnt="0"/>
      <dgm:spPr/>
    </dgm:pt>
    <dgm:pt modelId="{94192C5D-9A97-447E-9BF5-C5B054D820E3}" type="pres">
      <dgm:prSet presAssocID="{09B56250-653F-4ADB-96B0-43A373E8F4A9}" presName="composite" presStyleCnt="0"/>
      <dgm:spPr/>
    </dgm:pt>
    <dgm:pt modelId="{4FBB5D5B-BFB3-4118-9958-7C723EB0ABDD}" type="pres">
      <dgm:prSet presAssocID="{09B56250-653F-4ADB-96B0-43A373E8F4A9}" presName="parentText" presStyleLbl="alignNode1" presStyleIdx="3" presStyleCnt="4">
        <dgm:presLayoutVars>
          <dgm:chMax val="1"/>
          <dgm:bulletEnabled val="1"/>
        </dgm:presLayoutVars>
      </dgm:prSet>
      <dgm:spPr/>
      <dgm:t>
        <a:bodyPr/>
        <a:lstStyle/>
        <a:p>
          <a:endParaRPr lang="zh-CN" altLang="en-US"/>
        </a:p>
      </dgm:t>
    </dgm:pt>
    <dgm:pt modelId="{CD1A7BBA-EB46-4607-A35C-51102233C963}" type="pres">
      <dgm:prSet presAssocID="{09B56250-653F-4ADB-96B0-43A373E8F4A9}" presName="descendantText" presStyleLbl="alignAcc1" presStyleIdx="3" presStyleCnt="4">
        <dgm:presLayoutVars>
          <dgm:bulletEnabled val="1"/>
        </dgm:presLayoutVars>
      </dgm:prSet>
      <dgm:spPr/>
      <dgm:t>
        <a:bodyPr/>
        <a:lstStyle/>
        <a:p>
          <a:endParaRPr lang="zh-CN" altLang="en-US"/>
        </a:p>
      </dgm:t>
    </dgm:pt>
  </dgm:ptLst>
  <dgm:cxnLst>
    <dgm:cxn modelId="{96FC8344-6108-4C7F-AE99-9E67B8A79E45}" type="presOf" srcId="{0F57615F-5E8C-4D26-9FF2-427EED3C36B1}" destId="{9AE65FA0-2BA5-4D07-ACC1-D62102AC3933}" srcOrd="0" destOrd="0" presId="urn:microsoft.com/office/officeart/2005/8/layout/chevron2"/>
    <dgm:cxn modelId="{98414C25-E558-4E0E-8E0A-DA80BBA81066}" srcId="{09B56250-653F-4ADB-96B0-43A373E8F4A9}" destId="{549AE32D-98FA-420E-BCC2-699EB0999946}" srcOrd="0" destOrd="0" parTransId="{D921B67F-7295-4542-87C6-B3B2A070035D}" sibTransId="{0B500279-BDAA-4454-B556-C041AD67686A}"/>
    <dgm:cxn modelId="{63C41434-73D8-4FAD-B98F-31F4A356E54B}" type="presOf" srcId="{CB269991-20EC-4AD9-9434-70891112F678}" destId="{D4D998A7-681F-45F1-98C8-FBE1DE068125}" srcOrd="0" destOrd="0" presId="urn:microsoft.com/office/officeart/2005/8/layout/chevron2"/>
    <dgm:cxn modelId="{8A09D902-93D1-42EA-9CD2-454C023C57B0}" srcId="{D4C2206A-867B-4333-BF6D-73E4F2257824}" destId="{09B56250-653F-4ADB-96B0-43A373E8F4A9}" srcOrd="3" destOrd="0" parTransId="{AA07EADF-347A-4281-9240-2DC696FD2359}" sibTransId="{2F70C778-901A-4D09-B8CC-04641B64A021}"/>
    <dgm:cxn modelId="{3DCDC01A-B1D9-4D2C-BF7A-06C15127DC2F}" srcId="{D4C2206A-867B-4333-BF6D-73E4F2257824}" destId="{0F57615F-5E8C-4D26-9FF2-427EED3C36B1}" srcOrd="0" destOrd="0" parTransId="{94556BF0-1353-4731-8803-5E72F96F871F}" sibTransId="{138F3CFF-29EA-4F52-B1C6-E2DA42210B5C}"/>
    <dgm:cxn modelId="{2B4EF1BC-B93D-4F44-8445-6E221BCF0E92}" srcId="{AAD669CF-D4D7-4074-9A03-6BCEA46D20C4}" destId="{3D4CCACB-BA35-48CC-AE12-1A06EF1B676E}" srcOrd="0" destOrd="0" parTransId="{A80B149C-2151-4384-8585-9073AF8DD93B}" sibTransId="{743C8B11-8F57-4D5E-AC39-E0D47E39CC69}"/>
    <dgm:cxn modelId="{AB84EF86-FD79-4545-9A96-59C2297F3181}" type="presOf" srcId="{AAD669CF-D4D7-4074-9A03-6BCEA46D20C4}" destId="{AD85597D-4309-4767-B8B9-7B275A25A627}" srcOrd="0" destOrd="0" presId="urn:microsoft.com/office/officeart/2005/8/layout/chevron2"/>
    <dgm:cxn modelId="{4838ACFA-4334-40B5-9975-1EB393948657}" srcId="{CB269991-20EC-4AD9-9434-70891112F678}" destId="{386EF715-D4A4-4283-8ECC-D715FD74AAD1}" srcOrd="0" destOrd="0" parTransId="{CC6B3574-8C67-4290-A1A0-76552B4CF33B}" sibTransId="{79F614DD-7605-464E-AF30-C3E6E7DE22A3}"/>
    <dgm:cxn modelId="{191F30F3-5249-48FE-ACC9-2A61D0AB1873}" type="presOf" srcId="{09B56250-653F-4ADB-96B0-43A373E8F4A9}" destId="{4FBB5D5B-BFB3-4118-9958-7C723EB0ABDD}" srcOrd="0" destOrd="0" presId="urn:microsoft.com/office/officeart/2005/8/layout/chevron2"/>
    <dgm:cxn modelId="{A6F80929-E1F0-482B-A1FF-164E2CA5B33C}" srcId="{0F57615F-5E8C-4D26-9FF2-427EED3C36B1}" destId="{FC9EEEB3-23CE-41FE-BBD7-9912FD3E2AA3}" srcOrd="0" destOrd="0" parTransId="{B471FA3D-A3BB-44AA-861A-88845599DEE0}" sibTransId="{09A7FAD3-0009-40CC-BB0D-701B0E7CEAAB}"/>
    <dgm:cxn modelId="{5C561EE1-74B1-4FE5-9646-3DAD41C715B8}" srcId="{D4C2206A-867B-4333-BF6D-73E4F2257824}" destId="{CB269991-20EC-4AD9-9434-70891112F678}" srcOrd="1" destOrd="0" parTransId="{5AEE8316-97D9-436A-9525-CA2AE721C8D2}" sibTransId="{766EFD6D-430E-4233-84A3-493B12F0504D}"/>
    <dgm:cxn modelId="{E5F8CC22-E43B-463C-8DAC-C159B41A25B5}" type="presOf" srcId="{FC9EEEB3-23CE-41FE-BBD7-9912FD3E2AA3}" destId="{1CD77611-B1B9-4903-AA94-2D262ED12F37}" srcOrd="0" destOrd="0" presId="urn:microsoft.com/office/officeart/2005/8/layout/chevron2"/>
    <dgm:cxn modelId="{47BA9AFC-C935-430E-8BB6-AC4738AE40F9}" type="presOf" srcId="{549AE32D-98FA-420E-BCC2-699EB0999946}" destId="{CD1A7BBA-EB46-4607-A35C-51102233C963}" srcOrd="0" destOrd="0" presId="urn:microsoft.com/office/officeart/2005/8/layout/chevron2"/>
    <dgm:cxn modelId="{41FC283A-2C40-4B0F-BB4A-92AA5AFE4438}" type="presOf" srcId="{D4C2206A-867B-4333-BF6D-73E4F2257824}" destId="{6144C5F7-F157-4313-A2EA-8CFBACB765EE}" srcOrd="0" destOrd="0" presId="urn:microsoft.com/office/officeart/2005/8/layout/chevron2"/>
    <dgm:cxn modelId="{755D5ADE-A8B2-4CFD-AF03-CC76E1C53A20}" type="presOf" srcId="{386EF715-D4A4-4283-8ECC-D715FD74AAD1}" destId="{DFFADD8F-80FD-4F6A-8B4D-1104DADC1A5B}" srcOrd="0" destOrd="0" presId="urn:microsoft.com/office/officeart/2005/8/layout/chevron2"/>
    <dgm:cxn modelId="{03CF39D2-7AE3-4C47-94DB-C6338E018175}" type="presOf" srcId="{3D4CCACB-BA35-48CC-AE12-1A06EF1B676E}" destId="{5927C2E2-40A9-4813-A305-C9C6328A188C}" srcOrd="0" destOrd="0" presId="urn:microsoft.com/office/officeart/2005/8/layout/chevron2"/>
    <dgm:cxn modelId="{4F90BC82-436E-462B-BB54-6BC598C176D1}" srcId="{D4C2206A-867B-4333-BF6D-73E4F2257824}" destId="{AAD669CF-D4D7-4074-9A03-6BCEA46D20C4}" srcOrd="2" destOrd="0" parTransId="{EA6A8393-624C-4311-9513-B824FBC556C7}" sibTransId="{3486094D-2D16-4BB9-9906-5F727B80E32B}"/>
    <dgm:cxn modelId="{3106312F-9CDD-4408-A418-012EB361B795}" type="presParOf" srcId="{6144C5F7-F157-4313-A2EA-8CFBACB765EE}" destId="{9A823627-98BD-4575-856D-F108F48FDCBE}" srcOrd="0" destOrd="0" presId="urn:microsoft.com/office/officeart/2005/8/layout/chevron2"/>
    <dgm:cxn modelId="{2D46E165-22A4-4FD1-BC85-D7CDF8348C3E}" type="presParOf" srcId="{9A823627-98BD-4575-856D-F108F48FDCBE}" destId="{9AE65FA0-2BA5-4D07-ACC1-D62102AC3933}" srcOrd="0" destOrd="0" presId="urn:microsoft.com/office/officeart/2005/8/layout/chevron2"/>
    <dgm:cxn modelId="{35DE6655-9A41-4AB8-B9BD-16B4C7A54848}" type="presParOf" srcId="{9A823627-98BD-4575-856D-F108F48FDCBE}" destId="{1CD77611-B1B9-4903-AA94-2D262ED12F37}" srcOrd="1" destOrd="0" presId="urn:microsoft.com/office/officeart/2005/8/layout/chevron2"/>
    <dgm:cxn modelId="{9961642B-05AB-4FA7-B7BF-938129C88FC1}" type="presParOf" srcId="{6144C5F7-F157-4313-A2EA-8CFBACB765EE}" destId="{B9EDA681-EB17-407F-B237-6A868A536D34}" srcOrd="1" destOrd="0" presId="urn:microsoft.com/office/officeart/2005/8/layout/chevron2"/>
    <dgm:cxn modelId="{2C0C6168-868E-4375-8F54-3F237965F8D1}" type="presParOf" srcId="{6144C5F7-F157-4313-A2EA-8CFBACB765EE}" destId="{93306852-47CF-43F2-9BA4-4760D009ED5A}" srcOrd="2" destOrd="0" presId="urn:microsoft.com/office/officeart/2005/8/layout/chevron2"/>
    <dgm:cxn modelId="{85AEDCA3-9C8A-4BF7-89EB-2BF2484D6621}" type="presParOf" srcId="{93306852-47CF-43F2-9BA4-4760D009ED5A}" destId="{D4D998A7-681F-45F1-98C8-FBE1DE068125}" srcOrd="0" destOrd="0" presId="urn:microsoft.com/office/officeart/2005/8/layout/chevron2"/>
    <dgm:cxn modelId="{450FE0BC-18A2-4CD7-A44F-304E5408C347}" type="presParOf" srcId="{93306852-47CF-43F2-9BA4-4760D009ED5A}" destId="{DFFADD8F-80FD-4F6A-8B4D-1104DADC1A5B}" srcOrd="1" destOrd="0" presId="urn:microsoft.com/office/officeart/2005/8/layout/chevron2"/>
    <dgm:cxn modelId="{FD0C66FF-3E4F-47C9-A21F-00D8346E82E9}" type="presParOf" srcId="{6144C5F7-F157-4313-A2EA-8CFBACB765EE}" destId="{6B5B1020-3C03-41B4-9BFB-934D9D47506E}" srcOrd="3" destOrd="0" presId="urn:microsoft.com/office/officeart/2005/8/layout/chevron2"/>
    <dgm:cxn modelId="{AC7E1036-2ED6-407B-8ECA-F36E5F34D36E}" type="presParOf" srcId="{6144C5F7-F157-4313-A2EA-8CFBACB765EE}" destId="{729CC1BE-FFD8-4C02-89B7-6FF9BE61E69F}" srcOrd="4" destOrd="0" presId="urn:microsoft.com/office/officeart/2005/8/layout/chevron2"/>
    <dgm:cxn modelId="{1DAA9053-8F94-420E-868F-BA819BA8F531}" type="presParOf" srcId="{729CC1BE-FFD8-4C02-89B7-6FF9BE61E69F}" destId="{AD85597D-4309-4767-B8B9-7B275A25A627}" srcOrd="0" destOrd="0" presId="urn:microsoft.com/office/officeart/2005/8/layout/chevron2"/>
    <dgm:cxn modelId="{3D587A46-6C65-4F2C-A8B2-D10E93ED72DC}" type="presParOf" srcId="{729CC1BE-FFD8-4C02-89B7-6FF9BE61E69F}" destId="{5927C2E2-40A9-4813-A305-C9C6328A188C}" srcOrd="1" destOrd="0" presId="urn:microsoft.com/office/officeart/2005/8/layout/chevron2"/>
    <dgm:cxn modelId="{B2E4CA9B-0D90-45D0-9A03-13D361BE5EB9}" type="presParOf" srcId="{6144C5F7-F157-4313-A2EA-8CFBACB765EE}" destId="{7F269BAB-3F0D-43BE-BF80-92F64B4D30A1}" srcOrd="5" destOrd="0" presId="urn:microsoft.com/office/officeart/2005/8/layout/chevron2"/>
    <dgm:cxn modelId="{841DD3A5-7BF4-4805-8674-4D186495C030}" type="presParOf" srcId="{6144C5F7-F157-4313-A2EA-8CFBACB765EE}" destId="{94192C5D-9A97-447E-9BF5-C5B054D820E3}" srcOrd="6" destOrd="0" presId="urn:microsoft.com/office/officeart/2005/8/layout/chevron2"/>
    <dgm:cxn modelId="{7EBBDB3E-C59C-4B19-AE04-2BFB9969E509}" type="presParOf" srcId="{94192C5D-9A97-447E-9BF5-C5B054D820E3}" destId="{4FBB5D5B-BFB3-4118-9958-7C723EB0ABDD}" srcOrd="0" destOrd="0" presId="urn:microsoft.com/office/officeart/2005/8/layout/chevron2"/>
    <dgm:cxn modelId="{8EE7A6D0-C07F-4E67-B0A8-94466337EC3D}" type="presParOf" srcId="{94192C5D-9A97-447E-9BF5-C5B054D820E3}" destId="{CD1A7BBA-EB46-4607-A35C-51102233C963}"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80DF456-4BF8-4C4C-99AA-E6E156E75B84}" type="doc">
      <dgm:prSet loTypeId="urn:microsoft.com/office/officeart/2005/8/layout/pyramid1#1" loCatId="pyramid" qsTypeId="urn:microsoft.com/office/officeart/2005/8/quickstyle/simple2#1" qsCatId="simple" csTypeId="urn:microsoft.com/office/officeart/2005/8/colors/colorful3#1" csCatId="colorful" phldr="1"/>
      <dgm:spPr/>
    </dgm:pt>
    <dgm:pt modelId="{50EB52D1-C1CB-4C1B-9905-AD3526ACDE92}">
      <dgm:prSet phldrT="[文本]"/>
      <dgm:spPr/>
      <dgm:t>
        <a:bodyPr/>
        <a:lstStyle/>
        <a:p>
          <a:r>
            <a:rPr lang="zh-CN" altLang="en-US" dirty="0" smtClean="0"/>
            <a:t>管理服务层</a:t>
          </a:r>
          <a:endParaRPr lang="zh-CN" altLang="en-US" dirty="0"/>
        </a:p>
      </dgm:t>
    </dgm:pt>
    <dgm:pt modelId="{9E5BA329-181E-487F-ABBA-F8B0D0294A21}" type="parTrans" cxnId="{F8884E3F-8FC2-45FF-84B1-D7AFC30C1A36}">
      <dgm:prSet/>
      <dgm:spPr/>
      <dgm:t>
        <a:bodyPr/>
        <a:lstStyle/>
        <a:p>
          <a:endParaRPr lang="zh-CN" altLang="en-US"/>
        </a:p>
      </dgm:t>
    </dgm:pt>
    <dgm:pt modelId="{968202BE-4F0E-4A2A-B7A9-6E5A7660997D}" type="sibTrans" cxnId="{F8884E3F-8FC2-45FF-84B1-D7AFC30C1A36}">
      <dgm:prSet/>
      <dgm:spPr/>
      <dgm:t>
        <a:bodyPr/>
        <a:lstStyle/>
        <a:p>
          <a:endParaRPr lang="zh-CN" altLang="en-US"/>
        </a:p>
      </dgm:t>
    </dgm:pt>
    <dgm:pt modelId="{FB9D8F01-D7C4-40B0-B658-1BB985AC662A}">
      <dgm:prSet phldrT="[文本]"/>
      <dgm:spPr/>
      <dgm:t>
        <a:bodyPr/>
        <a:lstStyle/>
        <a:p>
          <a:r>
            <a:rPr lang="zh-CN" altLang="en-US" dirty="0" smtClean="0"/>
            <a:t>网络构建层</a:t>
          </a:r>
          <a:endParaRPr lang="zh-CN" altLang="en-US" dirty="0"/>
        </a:p>
      </dgm:t>
    </dgm:pt>
    <dgm:pt modelId="{C9A4EEE8-DE2D-49DC-8932-9D51E14A688F}" type="parTrans" cxnId="{C59A81B3-7FD5-4490-B04B-2A9798FAA59A}">
      <dgm:prSet/>
      <dgm:spPr/>
      <dgm:t>
        <a:bodyPr/>
        <a:lstStyle/>
        <a:p>
          <a:endParaRPr lang="zh-CN" altLang="en-US"/>
        </a:p>
      </dgm:t>
    </dgm:pt>
    <dgm:pt modelId="{C155AC95-0BB1-4B1E-9046-1CD2D6885AD2}" type="sibTrans" cxnId="{C59A81B3-7FD5-4490-B04B-2A9798FAA59A}">
      <dgm:prSet/>
      <dgm:spPr/>
      <dgm:t>
        <a:bodyPr/>
        <a:lstStyle/>
        <a:p>
          <a:endParaRPr lang="zh-CN" altLang="en-US"/>
        </a:p>
      </dgm:t>
    </dgm:pt>
    <dgm:pt modelId="{396D7780-CE69-4928-BD8F-D04E176A9F2B}">
      <dgm:prSet phldrT="[文本]"/>
      <dgm:spPr/>
      <dgm:t>
        <a:bodyPr/>
        <a:lstStyle/>
        <a:p>
          <a:r>
            <a:rPr lang="zh-CN" altLang="en-US" dirty="0" smtClean="0"/>
            <a:t>感知识别层</a:t>
          </a:r>
          <a:endParaRPr lang="zh-CN" altLang="en-US" dirty="0"/>
        </a:p>
      </dgm:t>
    </dgm:pt>
    <dgm:pt modelId="{B84E546D-293E-4E9C-8B61-83F99CC00CDD}" type="parTrans" cxnId="{E03F7CBB-5C27-4FC5-8856-D6D17051D5B5}">
      <dgm:prSet/>
      <dgm:spPr/>
      <dgm:t>
        <a:bodyPr/>
        <a:lstStyle/>
        <a:p>
          <a:endParaRPr lang="zh-CN" altLang="en-US"/>
        </a:p>
      </dgm:t>
    </dgm:pt>
    <dgm:pt modelId="{5D1ADEBF-53C9-4B48-A27C-E32FF231C535}" type="sibTrans" cxnId="{E03F7CBB-5C27-4FC5-8856-D6D17051D5B5}">
      <dgm:prSet/>
      <dgm:spPr/>
      <dgm:t>
        <a:bodyPr/>
        <a:lstStyle/>
        <a:p>
          <a:endParaRPr lang="zh-CN" altLang="en-US"/>
        </a:p>
      </dgm:t>
    </dgm:pt>
    <dgm:pt modelId="{BE5F3FFE-6545-4879-B5BC-DA8F296A759E}">
      <dgm:prSet phldrT="[文本]"/>
      <dgm:spPr/>
      <dgm:t>
        <a:bodyPr/>
        <a:lstStyle/>
        <a:p>
          <a:r>
            <a:rPr lang="zh-CN" altLang="en-US" dirty="0" smtClean="0"/>
            <a:t>综合应用层</a:t>
          </a:r>
          <a:endParaRPr lang="zh-CN" altLang="en-US" dirty="0"/>
        </a:p>
      </dgm:t>
    </dgm:pt>
    <dgm:pt modelId="{702BC2FF-51FE-4A5C-8B48-9D004A5456EF}" type="parTrans" cxnId="{6FB3B766-B201-43E8-A05A-EA57BAF6212E}">
      <dgm:prSet/>
      <dgm:spPr/>
      <dgm:t>
        <a:bodyPr/>
        <a:lstStyle/>
        <a:p>
          <a:endParaRPr lang="zh-CN" altLang="en-US"/>
        </a:p>
      </dgm:t>
    </dgm:pt>
    <dgm:pt modelId="{E38AE61D-09AC-4234-8EE3-DC7CF9C6CDCB}" type="sibTrans" cxnId="{6FB3B766-B201-43E8-A05A-EA57BAF6212E}">
      <dgm:prSet/>
      <dgm:spPr/>
      <dgm:t>
        <a:bodyPr/>
        <a:lstStyle/>
        <a:p>
          <a:endParaRPr lang="zh-CN" altLang="en-US"/>
        </a:p>
      </dgm:t>
    </dgm:pt>
    <dgm:pt modelId="{2EB37533-F2DB-4919-B00A-FB2982E94633}" type="pres">
      <dgm:prSet presAssocID="{880DF456-4BF8-4C4C-99AA-E6E156E75B84}" presName="Name0" presStyleCnt="0">
        <dgm:presLayoutVars>
          <dgm:dir/>
          <dgm:animLvl val="lvl"/>
          <dgm:resizeHandles val="exact"/>
        </dgm:presLayoutVars>
      </dgm:prSet>
      <dgm:spPr/>
    </dgm:pt>
    <dgm:pt modelId="{12289855-8D08-4B1F-8FFA-7F14E0901DF5}" type="pres">
      <dgm:prSet presAssocID="{BE5F3FFE-6545-4879-B5BC-DA8F296A759E}" presName="Name8" presStyleCnt="0"/>
      <dgm:spPr/>
    </dgm:pt>
    <dgm:pt modelId="{8D566B89-7DAA-42F4-B616-7CD2FBF64DB4}" type="pres">
      <dgm:prSet presAssocID="{BE5F3FFE-6545-4879-B5BC-DA8F296A759E}" presName="level" presStyleLbl="node1" presStyleIdx="0" presStyleCnt="4">
        <dgm:presLayoutVars>
          <dgm:chMax val="1"/>
          <dgm:bulletEnabled val="1"/>
        </dgm:presLayoutVars>
      </dgm:prSet>
      <dgm:spPr/>
      <dgm:t>
        <a:bodyPr/>
        <a:lstStyle/>
        <a:p>
          <a:endParaRPr lang="zh-CN" altLang="en-US"/>
        </a:p>
      </dgm:t>
    </dgm:pt>
    <dgm:pt modelId="{F33D2EB0-B95C-43E5-9991-1CCBC03D4D69}" type="pres">
      <dgm:prSet presAssocID="{BE5F3FFE-6545-4879-B5BC-DA8F296A759E}" presName="levelTx" presStyleLbl="revTx" presStyleIdx="0" presStyleCnt="0">
        <dgm:presLayoutVars>
          <dgm:chMax val="1"/>
          <dgm:bulletEnabled val="1"/>
        </dgm:presLayoutVars>
      </dgm:prSet>
      <dgm:spPr/>
      <dgm:t>
        <a:bodyPr/>
        <a:lstStyle/>
        <a:p>
          <a:endParaRPr lang="zh-CN" altLang="en-US"/>
        </a:p>
      </dgm:t>
    </dgm:pt>
    <dgm:pt modelId="{19FFF5E9-F9F6-466A-90F3-E59D6CFF3504}" type="pres">
      <dgm:prSet presAssocID="{50EB52D1-C1CB-4C1B-9905-AD3526ACDE92}" presName="Name8" presStyleCnt="0"/>
      <dgm:spPr/>
    </dgm:pt>
    <dgm:pt modelId="{4E6C40AC-BE5A-4D55-8BF0-49E9579E7510}" type="pres">
      <dgm:prSet presAssocID="{50EB52D1-C1CB-4C1B-9905-AD3526ACDE92}" presName="level" presStyleLbl="node1" presStyleIdx="1" presStyleCnt="4">
        <dgm:presLayoutVars>
          <dgm:chMax val="1"/>
          <dgm:bulletEnabled val="1"/>
        </dgm:presLayoutVars>
      </dgm:prSet>
      <dgm:spPr/>
      <dgm:t>
        <a:bodyPr/>
        <a:lstStyle/>
        <a:p>
          <a:endParaRPr lang="zh-CN" altLang="en-US"/>
        </a:p>
      </dgm:t>
    </dgm:pt>
    <dgm:pt modelId="{3716BEBB-40DD-46E9-A7F5-1CC66B864448}" type="pres">
      <dgm:prSet presAssocID="{50EB52D1-C1CB-4C1B-9905-AD3526ACDE92}" presName="levelTx" presStyleLbl="revTx" presStyleIdx="0" presStyleCnt="0">
        <dgm:presLayoutVars>
          <dgm:chMax val="1"/>
          <dgm:bulletEnabled val="1"/>
        </dgm:presLayoutVars>
      </dgm:prSet>
      <dgm:spPr/>
      <dgm:t>
        <a:bodyPr/>
        <a:lstStyle/>
        <a:p>
          <a:endParaRPr lang="zh-CN" altLang="en-US"/>
        </a:p>
      </dgm:t>
    </dgm:pt>
    <dgm:pt modelId="{409EE0D3-F773-4234-9E1F-F8DED134E098}" type="pres">
      <dgm:prSet presAssocID="{FB9D8F01-D7C4-40B0-B658-1BB985AC662A}" presName="Name8" presStyleCnt="0"/>
      <dgm:spPr/>
    </dgm:pt>
    <dgm:pt modelId="{4353F4A8-BB8C-44B7-BD0B-6A8103EF5CB1}" type="pres">
      <dgm:prSet presAssocID="{FB9D8F01-D7C4-40B0-B658-1BB985AC662A}" presName="level" presStyleLbl="node1" presStyleIdx="2" presStyleCnt="4">
        <dgm:presLayoutVars>
          <dgm:chMax val="1"/>
          <dgm:bulletEnabled val="1"/>
        </dgm:presLayoutVars>
      </dgm:prSet>
      <dgm:spPr/>
      <dgm:t>
        <a:bodyPr/>
        <a:lstStyle/>
        <a:p>
          <a:endParaRPr lang="zh-CN" altLang="en-US"/>
        </a:p>
      </dgm:t>
    </dgm:pt>
    <dgm:pt modelId="{79078A2F-B41F-4DA2-B5AA-8150E6556A2A}" type="pres">
      <dgm:prSet presAssocID="{FB9D8F01-D7C4-40B0-B658-1BB985AC662A}" presName="levelTx" presStyleLbl="revTx" presStyleIdx="0" presStyleCnt="0">
        <dgm:presLayoutVars>
          <dgm:chMax val="1"/>
          <dgm:bulletEnabled val="1"/>
        </dgm:presLayoutVars>
      </dgm:prSet>
      <dgm:spPr/>
      <dgm:t>
        <a:bodyPr/>
        <a:lstStyle/>
        <a:p>
          <a:endParaRPr lang="zh-CN" altLang="en-US"/>
        </a:p>
      </dgm:t>
    </dgm:pt>
    <dgm:pt modelId="{BF1A0938-5A0B-49B7-8CAA-30D8C8D2DFF1}" type="pres">
      <dgm:prSet presAssocID="{396D7780-CE69-4928-BD8F-D04E176A9F2B}" presName="Name8" presStyleCnt="0"/>
      <dgm:spPr/>
    </dgm:pt>
    <dgm:pt modelId="{EB6CA73A-5D41-49BA-B03E-90BE8BEA46C6}" type="pres">
      <dgm:prSet presAssocID="{396D7780-CE69-4928-BD8F-D04E176A9F2B}" presName="level" presStyleLbl="node1" presStyleIdx="3" presStyleCnt="4">
        <dgm:presLayoutVars>
          <dgm:chMax val="1"/>
          <dgm:bulletEnabled val="1"/>
        </dgm:presLayoutVars>
      </dgm:prSet>
      <dgm:spPr/>
      <dgm:t>
        <a:bodyPr/>
        <a:lstStyle/>
        <a:p>
          <a:endParaRPr lang="zh-CN" altLang="en-US"/>
        </a:p>
      </dgm:t>
    </dgm:pt>
    <dgm:pt modelId="{776D2E8B-5A4F-4E7E-A531-3AE75ED7C863}" type="pres">
      <dgm:prSet presAssocID="{396D7780-CE69-4928-BD8F-D04E176A9F2B}" presName="levelTx" presStyleLbl="revTx" presStyleIdx="0" presStyleCnt="0">
        <dgm:presLayoutVars>
          <dgm:chMax val="1"/>
          <dgm:bulletEnabled val="1"/>
        </dgm:presLayoutVars>
      </dgm:prSet>
      <dgm:spPr/>
      <dgm:t>
        <a:bodyPr/>
        <a:lstStyle/>
        <a:p>
          <a:endParaRPr lang="zh-CN" altLang="en-US"/>
        </a:p>
      </dgm:t>
    </dgm:pt>
  </dgm:ptLst>
  <dgm:cxnLst>
    <dgm:cxn modelId="{E4ED0ED8-156D-4E00-A538-E2BAEB3DB1EB}" type="presOf" srcId="{BE5F3FFE-6545-4879-B5BC-DA8F296A759E}" destId="{F33D2EB0-B95C-43E5-9991-1CCBC03D4D69}" srcOrd="1" destOrd="0" presId="urn:microsoft.com/office/officeart/2005/8/layout/pyramid1#1"/>
    <dgm:cxn modelId="{C4ADBF62-7522-43F0-9173-0A43C3ABEC20}" type="presOf" srcId="{880DF456-4BF8-4C4C-99AA-E6E156E75B84}" destId="{2EB37533-F2DB-4919-B00A-FB2982E94633}" srcOrd="0" destOrd="0" presId="urn:microsoft.com/office/officeart/2005/8/layout/pyramid1#1"/>
    <dgm:cxn modelId="{3E21CE37-C2FC-4E10-8153-C3D094B5F68F}" type="presOf" srcId="{FB9D8F01-D7C4-40B0-B658-1BB985AC662A}" destId="{79078A2F-B41F-4DA2-B5AA-8150E6556A2A}" srcOrd="1" destOrd="0" presId="urn:microsoft.com/office/officeart/2005/8/layout/pyramid1#1"/>
    <dgm:cxn modelId="{01CA7A90-4CBC-4488-ACB0-BA06C22B77CE}" type="presOf" srcId="{50EB52D1-C1CB-4C1B-9905-AD3526ACDE92}" destId="{4E6C40AC-BE5A-4D55-8BF0-49E9579E7510}" srcOrd="0" destOrd="0" presId="urn:microsoft.com/office/officeart/2005/8/layout/pyramid1#1"/>
    <dgm:cxn modelId="{F8884E3F-8FC2-45FF-84B1-D7AFC30C1A36}" srcId="{880DF456-4BF8-4C4C-99AA-E6E156E75B84}" destId="{50EB52D1-C1CB-4C1B-9905-AD3526ACDE92}" srcOrd="1" destOrd="0" parTransId="{9E5BA329-181E-487F-ABBA-F8B0D0294A21}" sibTransId="{968202BE-4F0E-4A2A-B7A9-6E5A7660997D}"/>
    <dgm:cxn modelId="{29F027A3-BB8A-4006-A879-C81233A9EAFF}" type="presOf" srcId="{FB9D8F01-D7C4-40B0-B658-1BB985AC662A}" destId="{4353F4A8-BB8C-44B7-BD0B-6A8103EF5CB1}" srcOrd="0" destOrd="0" presId="urn:microsoft.com/office/officeart/2005/8/layout/pyramid1#1"/>
    <dgm:cxn modelId="{7F053FCD-BABE-41FB-9080-2BEB9837171B}" type="presOf" srcId="{396D7780-CE69-4928-BD8F-D04E176A9F2B}" destId="{776D2E8B-5A4F-4E7E-A531-3AE75ED7C863}" srcOrd="1" destOrd="0" presId="urn:microsoft.com/office/officeart/2005/8/layout/pyramid1#1"/>
    <dgm:cxn modelId="{1B183684-3625-4893-8D8A-73AFFC521D6C}" type="presOf" srcId="{50EB52D1-C1CB-4C1B-9905-AD3526ACDE92}" destId="{3716BEBB-40DD-46E9-A7F5-1CC66B864448}" srcOrd="1" destOrd="0" presId="urn:microsoft.com/office/officeart/2005/8/layout/pyramid1#1"/>
    <dgm:cxn modelId="{E03F7CBB-5C27-4FC5-8856-D6D17051D5B5}" srcId="{880DF456-4BF8-4C4C-99AA-E6E156E75B84}" destId="{396D7780-CE69-4928-BD8F-D04E176A9F2B}" srcOrd="3" destOrd="0" parTransId="{B84E546D-293E-4E9C-8B61-83F99CC00CDD}" sibTransId="{5D1ADEBF-53C9-4B48-A27C-E32FF231C535}"/>
    <dgm:cxn modelId="{CCC8DEEC-9770-42AE-B454-02B924B075AA}" type="presOf" srcId="{BE5F3FFE-6545-4879-B5BC-DA8F296A759E}" destId="{8D566B89-7DAA-42F4-B616-7CD2FBF64DB4}" srcOrd="0" destOrd="0" presId="urn:microsoft.com/office/officeart/2005/8/layout/pyramid1#1"/>
    <dgm:cxn modelId="{C59A81B3-7FD5-4490-B04B-2A9798FAA59A}" srcId="{880DF456-4BF8-4C4C-99AA-E6E156E75B84}" destId="{FB9D8F01-D7C4-40B0-B658-1BB985AC662A}" srcOrd="2" destOrd="0" parTransId="{C9A4EEE8-DE2D-49DC-8932-9D51E14A688F}" sibTransId="{C155AC95-0BB1-4B1E-9046-1CD2D6885AD2}"/>
    <dgm:cxn modelId="{F0AD278B-5061-46B2-851D-479D7BC0E84C}" type="presOf" srcId="{396D7780-CE69-4928-BD8F-D04E176A9F2B}" destId="{EB6CA73A-5D41-49BA-B03E-90BE8BEA46C6}" srcOrd="0" destOrd="0" presId="urn:microsoft.com/office/officeart/2005/8/layout/pyramid1#1"/>
    <dgm:cxn modelId="{6FB3B766-B201-43E8-A05A-EA57BAF6212E}" srcId="{880DF456-4BF8-4C4C-99AA-E6E156E75B84}" destId="{BE5F3FFE-6545-4879-B5BC-DA8F296A759E}" srcOrd="0" destOrd="0" parTransId="{702BC2FF-51FE-4A5C-8B48-9D004A5456EF}" sibTransId="{E38AE61D-09AC-4234-8EE3-DC7CF9C6CDCB}"/>
    <dgm:cxn modelId="{FBC5276E-DDF3-40C0-BAE9-FD3FB907F7BA}" type="presParOf" srcId="{2EB37533-F2DB-4919-B00A-FB2982E94633}" destId="{12289855-8D08-4B1F-8FFA-7F14E0901DF5}" srcOrd="0" destOrd="0" presId="urn:microsoft.com/office/officeart/2005/8/layout/pyramid1#1"/>
    <dgm:cxn modelId="{6C022D29-AF38-4D51-A8FE-B1A8B37415D7}" type="presParOf" srcId="{12289855-8D08-4B1F-8FFA-7F14E0901DF5}" destId="{8D566B89-7DAA-42F4-B616-7CD2FBF64DB4}" srcOrd="0" destOrd="0" presId="urn:microsoft.com/office/officeart/2005/8/layout/pyramid1#1"/>
    <dgm:cxn modelId="{37BCE2C4-E8E7-4F2E-BC95-0836E09AE0B9}" type="presParOf" srcId="{12289855-8D08-4B1F-8FFA-7F14E0901DF5}" destId="{F33D2EB0-B95C-43E5-9991-1CCBC03D4D69}" srcOrd="1" destOrd="0" presId="urn:microsoft.com/office/officeart/2005/8/layout/pyramid1#1"/>
    <dgm:cxn modelId="{F1DB87E6-47D0-41B4-89DA-5668EEEF3BCB}" type="presParOf" srcId="{2EB37533-F2DB-4919-B00A-FB2982E94633}" destId="{19FFF5E9-F9F6-466A-90F3-E59D6CFF3504}" srcOrd="1" destOrd="0" presId="urn:microsoft.com/office/officeart/2005/8/layout/pyramid1#1"/>
    <dgm:cxn modelId="{45826FFD-C447-4B31-8409-0EA78CDC4C60}" type="presParOf" srcId="{19FFF5E9-F9F6-466A-90F3-E59D6CFF3504}" destId="{4E6C40AC-BE5A-4D55-8BF0-49E9579E7510}" srcOrd="0" destOrd="0" presId="urn:microsoft.com/office/officeart/2005/8/layout/pyramid1#1"/>
    <dgm:cxn modelId="{87804606-F215-4EFE-BED6-BD3EEA2FFBDE}" type="presParOf" srcId="{19FFF5E9-F9F6-466A-90F3-E59D6CFF3504}" destId="{3716BEBB-40DD-46E9-A7F5-1CC66B864448}" srcOrd="1" destOrd="0" presId="urn:microsoft.com/office/officeart/2005/8/layout/pyramid1#1"/>
    <dgm:cxn modelId="{8739D14D-0984-4F96-AB0D-D997E344C7BF}" type="presParOf" srcId="{2EB37533-F2DB-4919-B00A-FB2982E94633}" destId="{409EE0D3-F773-4234-9E1F-F8DED134E098}" srcOrd="2" destOrd="0" presId="urn:microsoft.com/office/officeart/2005/8/layout/pyramid1#1"/>
    <dgm:cxn modelId="{A2B55ED8-5BE3-4019-A4CD-94FD172B1E94}" type="presParOf" srcId="{409EE0D3-F773-4234-9E1F-F8DED134E098}" destId="{4353F4A8-BB8C-44B7-BD0B-6A8103EF5CB1}" srcOrd="0" destOrd="0" presId="urn:microsoft.com/office/officeart/2005/8/layout/pyramid1#1"/>
    <dgm:cxn modelId="{A9CC27E6-D603-4CDD-A203-16674FCB2DFE}" type="presParOf" srcId="{409EE0D3-F773-4234-9E1F-F8DED134E098}" destId="{79078A2F-B41F-4DA2-B5AA-8150E6556A2A}" srcOrd="1" destOrd="0" presId="urn:microsoft.com/office/officeart/2005/8/layout/pyramid1#1"/>
    <dgm:cxn modelId="{EFD2E12E-BD5C-4F8B-9746-8649DCDE3909}" type="presParOf" srcId="{2EB37533-F2DB-4919-B00A-FB2982E94633}" destId="{BF1A0938-5A0B-49B7-8CAA-30D8C8D2DFF1}" srcOrd="3" destOrd="0" presId="urn:microsoft.com/office/officeart/2005/8/layout/pyramid1#1"/>
    <dgm:cxn modelId="{EABBE871-4534-4F61-A9BC-3259CEFC716F}" type="presParOf" srcId="{BF1A0938-5A0B-49B7-8CAA-30D8C8D2DFF1}" destId="{EB6CA73A-5D41-49BA-B03E-90BE8BEA46C6}" srcOrd="0" destOrd="0" presId="urn:microsoft.com/office/officeart/2005/8/layout/pyramid1#1"/>
    <dgm:cxn modelId="{839F1EAA-A85D-4498-A0F4-C601F0D33A1C}" type="presParOf" srcId="{BF1A0938-5A0B-49B7-8CAA-30D8C8D2DFF1}" destId="{776D2E8B-5A4F-4E7E-A531-3AE75ED7C863}" srcOrd="1" destOrd="0" presId="urn:microsoft.com/office/officeart/2005/8/layout/pyramid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751B7E3-B27A-43BA-AB07-7C038E2173A3}" type="doc">
      <dgm:prSet loTypeId="urn:microsoft.com/office/officeart/2005/8/layout/vList6" loCatId="list" qsTypeId="urn:microsoft.com/office/officeart/2005/8/quickstyle/simple2#2" qsCatId="simple" csTypeId="urn:microsoft.com/office/officeart/2005/8/colors/colorful3#2" csCatId="colorful" phldr="1"/>
      <dgm:spPr/>
      <dgm:t>
        <a:bodyPr/>
        <a:lstStyle/>
        <a:p>
          <a:endParaRPr lang="zh-CN" altLang="en-US"/>
        </a:p>
      </dgm:t>
    </dgm:pt>
    <dgm:pt modelId="{DF6AA133-467F-4CD6-9167-BBEDA5D98DB1}">
      <dgm:prSet phldrT="[文本]" custT="1"/>
      <dgm:spPr/>
      <dgm:t>
        <a:bodyPr/>
        <a:lstStyle/>
        <a:p>
          <a:r>
            <a:rPr lang="zh-CN" altLang="en-US" sz="2800" dirty="0" smtClean="0"/>
            <a:t>互联网</a:t>
          </a:r>
        </a:p>
      </dgm:t>
    </dgm:pt>
    <dgm:pt modelId="{2F2DEC1B-893A-4CF8-BBB7-98F80CFC3886}" type="parTrans" cxnId="{D22DFEEA-5D44-4CF5-8B6B-28E9CB2DC9AB}">
      <dgm:prSet/>
      <dgm:spPr/>
      <dgm:t>
        <a:bodyPr/>
        <a:lstStyle/>
        <a:p>
          <a:endParaRPr lang="zh-CN" altLang="en-US" sz="2400"/>
        </a:p>
      </dgm:t>
    </dgm:pt>
    <dgm:pt modelId="{F73DE8FD-64A1-4B34-8F96-09C889E68522}" type="sibTrans" cxnId="{D22DFEEA-5D44-4CF5-8B6B-28E9CB2DC9AB}">
      <dgm:prSet/>
      <dgm:spPr/>
      <dgm:t>
        <a:bodyPr/>
        <a:lstStyle/>
        <a:p>
          <a:endParaRPr lang="zh-CN" altLang="en-US" sz="2400"/>
        </a:p>
      </dgm:t>
    </dgm:pt>
    <dgm:pt modelId="{B478686F-27B7-43CE-81BB-D7C5687B4473}">
      <dgm:prSet phldrT="[文本]" custT="1"/>
      <dgm:spPr/>
      <dgm:t>
        <a:bodyPr anchor="ctr"/>
        <a:lstStyle/>
        <a:p>
          <a:r>
            <a:rPr lang="en-US" altLang="zh-CN" sz="1600" b="1" u="none" dirty="0" smtClean="0">
              <a:latin typeface="+mn-lt"/>
              <a:ea typeface="+mn-ea"/>
            </a:rPr>
            <a:t>IPv6</a:t>
          </a:r>
          <a:r>
            <a:rPr lang="zh-CN" altLang="en-US" sz="1600" u="none" dirty="0" smtClean="0">
              <a:latin typeface="+mn-lt"/>
              <a:ea typeface="+mn-ea"/>
            </a:rPr>
            <a:t>扫清了可接入网络的终端设备在数量上的限制。互联网</a:t>
          </a:r>
          <a:r>
            <a:rPr lang="en-US" altLang="zh-CN" sz="1600" u="none" dirty="0" smtClean="0">
              <a:latin typeface="+mn-lt"/>
              <a:ea typeface="+mn-ea"/>
            </a:rPr>
            <a:t>/</a:t>
          </a:r>
          <a:r>
            <a:rPr lang="zh-CN" altLang="en-US" sz="1600" u="none" dirty="0" smtClean="0">
              <a:latin typeface="+mn-lt"/>
              <a:ea typeface="+mn-ea"/>
            </a:rPr>
            <a:t>电信网是物联网的核心网络、平台和技术支持。</a:t>
          </a:r>
          <a:endParaRPr lang="zh-CN" altLang="en-US" sz="1600" u="none" dirty="0"/>
        </a:p>
      </dgm:t>
    </dgm:pt>
    <dgm:pt modelId="{16128B82-BBB0-40DC-8AA5-6C64D69ABDB5}" type="parTrans" cxnId="{4AFFA7FC-836F-4DC5-9CE2-F40C1F867648}">
      <dgm:prSet/>
      <dgm:spPr/>
      <dgm:t>
        <a:bodyPr/>
        <a:lstStyle/>
        <a:p>
          <a:endParaRPr lang="zh-CN" altLang="en-US" sz="2400"/>
        </a:p>
      </dgm:t>
    </dgm:pt>
    <dgm:pt modelId="{98CE7734-B5D6-4DC6-A0F2-BB40296070B5}" type="sibTrans" cxnId="{4AFFA7FC-836F-4DC5-9CE2-F40C1F867648}">
      <dgm:prSet/>
      <dgm:spPr/>
      <dgm:t>
        <a:bodyPr/>
        <a:lstStyle/>
        <a:p>
          <a:endParaRPr lang="zh-CN" altLang="en-US" sz="2400"/>
        </a:p>
      </dgm:t>
    </dgm:pt>
    <dgm:pt modelId="{C4C29CA7-A43F-4B1F-A7A6-1728F431CB9F}">
      <dgm:prSet phldrT="[文本]" custT="1"/>
      <dgm:spPr/>
      <dgm:t>
        <a:bodyPr/>
        <a:lstStyle/>
        <a:p>
          <a:r>
            <a:rPr lang="zh-CN" altLang="en-US" sz="2800" dirty="0" smtClean="0"/>
            <a:t>无线宽带网</a:t>
          </a:r>
        </a:p>
      </dgm:t>
    </dgm:pt>
    <dgm:pt modelId="{2EB607A6-D902-4C63-9E5E-D499DCB43C93}" type="parTrans" cxnId="{C6864E38-8C2A-440C-B9B8-B6C952C0B360}">
      <dgm:prSet/>
      <dgm:spPr/>
      <dgm:t>
        <a:bodyPr/>
        <a:lstStyle/>
        <a:p>
          <a:endParaRPr lang="zh-CN" altLang="en-US" sz="2400"/>
        </a:p>
      </dgm:t>
    </dgm:pt>
    <dgm:pt modelId="{EE2ABF06-1BBD-49A8-8193-6E0C1260492E}" type="sibTrans" cxnId="{C6864E38-8C2A-440C-B9B8-B6C952C0B360}">
      <dgm:prSet/>
      <dgm:spPr/>
      <dgm:t>
        <a:bodyPr/>
        <a:lstStyle/>
        <a:p>
          <a:endParaRPr lang="zh-CN" altLang="en-US" sz="2400"/>
        </a:p>
      </dgm:t>
    </dgm:pt>
    <dgm:pt modelId="{6205C6D0-87DB-46C1-AD94-0F75C9C1DE91}">
      <dgm:prSet phldrT="[文本]" custT="1"/>
      <dgm:spPr/>
      <dgm:t>
        <a:bodyPr anchor="ctr"/>
        <a:lstStyle/>
        <a:p>
          <a:r>
            <a:rPr lang="en-US" altLang="zh-CN" sz="1600" b="1" u="none" dirty="0" err="1" smtClean="0">
              <a:latin typeface="+mn-lt"/>
              <a:ea typeface="+mn-ea"/>
            </a:rPr>
            <a:t>WiFi</a:t>
          </a:r>
          <a:r>
            <a:rPr lang="en-US" altLang="zh-CN" sz="1600" b="1" u="none" dirty="0" smtClean="0">
              <a:latin typeface="+mn-lt"/>
              <a:ea typeface="+mn-ea"/>
            </a:rPr>
            <a:t>/</a:t>
          </a:r>
          <a:r>
            <a:rPr lang="en-US" altLang="zh-CN" sz="1600" b="1" u="none" dirty="0" err="1" smtClean="0">
              <a:latin typeface="+mn-lt"/>
              <a:ea typeface="+mn-ea"/>
            </a:rPr>
            <a:t>WiMAX</a:t>
          </a:r>
          <a:r>
            <a:rPr lang="zh-CN" altLang="en-US" sz="1600" u="none" dirty="0" smtClean="0">
              <a:latin typeface="+mn-lt"/>
              <a:ea typeface="+mn-ea"/>
            </a:rPr>
            <a:t>等无线宽带技术覆盖范围较广，传输速度较快，为物联网提供高速可靠廉价且不受接入设备位置限制的互联手段</a:t>
          </a:r>
          <a:endParaRPr lang="zh-CN" altLang="en-US" sz="1600" u="none" dirty="0"/>
        </a:p>
      </dgm:t>
    </dgm:pt>
    <dgm:pt modelId="{05862A5E-FB29-48FC-81EB-C9B21247F42A}" type="parTrans" cxnId="{7FB706CB-C5D2-42F8-9DA9-B3D11F99AF98}">
      <dgm:prSet/>
      <dgm:spPr/>
      <dgm:t>
        <a:bodyPr/>
        <a:lstStyle/>
        <a:p>
          <a:endParaRPr lang="zh-CN" altLang="en-US" sz="2400"/>
        </a:p>
      </dgm:t>
    </dgm:pt>
    <dgm:pt modelId="{A6DCF10D-5DBD-48A4-A6F1-503905F802E2}" type="sibTrans" cxnId="{7FB706CB-C5D2-42F8-9DA9-B3D11F99AF98}">
      <dgm:prSet/>
      <dgm:spPr/>
      <dgm:t>
        <a:bodyPr/>
        <a:lstStyle/>
        <a:p>
          <a:endParaRPr lang="zh-CN" altLang="en-US" sz="2400"/>
        </a:p>
      </dgm:t>
    </dgm:pt>
    <dgm:pt modelId="{5AEC898D-96C0-474F-AD46-BAAC8CF0BB35}">
      <dgm:prSet phldrT="[文本]" custT="1"/>
      <dgm:spPr/>
      <dgm:t>
        <a:bodyPr/>
        <a:lstStyle/>
        <a:p>
          <a:r>
            <a:rPr lang="zh-CN" altLang="en-US" sz="2800" dirty="0" smtClean="0"/>
            <a:t>无线低速网</a:t>
          </a:r>
          <a:endParaRPr lang="zh-CN" altLang="en-US" sz="2800" dirty="0"/>
        </a:p>
      </dgm:t>
    </dgm:pt>
    <dgm:pt modelId="{17FFB28B-1F07-4DC9-9A2C-30477612E068}" type="parTrans" cxnId="{95D76962-CD0D-472C-9BE6-7F23842FED59}">
      <dgm:prSet/>
      <dgm:spPr/>
      <dgm:t>
        <a:bodyPr/>
        <a:lstStyle/>
        <a:p>
          <a:endParaRPr lang="zh-CN" altLang="en-US" sz="2400"/>
        </a:p>
      </dgm:t>
    </dgm:pt>
    <dgm:pt modelId="{D25795C3-3320-4E8D-AEC1-15C45ABD6524}" type="sibTrans" cxnId="{95D76962-CD0D-472C-9BE6-7F23842FED59}">
      <dgm:prSet/>
      <dgm:spPr/>
      <dgm:t>
        <a:bodyPr/>
        <a:lstStyle/>
        <a:p>
          <a:endParaRPr lang="zh-CN" altLang="en-US" sz="2400"/>
        </a:p>
      </dgm:t>
    </dgm:pt>
    <dgm:pt modelId="{36FBB229-6752-47BB-99B5-8C476F7DE82B}">
      <dgm:prSet custT="1"/>
      <dgm:spPr/>
      <dgm:t>
        <a:bodyPr anchor="ctr"/>
        <a:lstStyle/>
        <a:p>
          <a:r>
            <a:rPr lang="en-US" altLang="zh-CN" sz="1600" b="1" u="none" dirty="0" err="1" smtClean="0">
              <a:latin typeface="+mn-lt"/>
              <a:ea typeface="+mn-ea"/>
            </a:rPr>
            <a:t>ZigBee</a:t>
          </a:r>
          <a:r>
            <a:rPr lang="en-US" altLang="zh-CN" sz="1600" b="1" u="none" dirty="0" smtClean="0">
              <a:latin typeface="+mn-lt"/>
              <a:ea typeface="+mn-ea"/>
            </a:rPr>
            <a:t>/</a:t>
          </a:r>
          <a:r>
            <a:rPr lang="zh-CN" altLang="en-US" sz="1600" b="1" u="none" dirty="0" smtClean="0">
              <a:latin typeface="+mn-lt"/>
              <a:ea typeface="+mn-ea"/>
            </a:rPr>
            <a:t>蓝牙</a:t>
          </a:r>
          <a:r>
            <a:rPr lang="en-US" altLang="zh-CN" sz="1600" b="1" u="none" dirty="0" smtClean="0">
              <a:latin typeface="+mn-lt"/>
              <a:ea typeface="+mn-ea"/>
            </a:rPr>
            <a:t>/</a:t>
          </a:r>
          <a:r>
            <a:rPr lang="zh-CN" altLang="en-US" sz="1600" b="1" u="none" dirty="0" smtClean="0">
              <a:latin typeface="+mn-lt"/>
              <a:ea typeface="+mn-ea"/>
            </a:rPr>
            <a:t>红外</a:t>
          </a:r>
          <a:r>
            <a:rPr lang="zh-CN" altLang="en-US" sz="1600" u="none" dirty="0" smtClean="0">
              <a:latin typeface="+mn-lt"/>
              <a:ea typeface="+mn-ea"/>
            </a:rPr>
            <a:t>等低速网络协议能够适应物联网中能力较低的节点的低速率、低通信半径、低计算能力和低能量来源等特征。</a:t>
          </a:r>
          <a:endParaRPr lang="zh-CN" altLang="en-US" sz="1600" u="none" dirty="0"/>
        </a:p>
      </dgm:t>
    </dgm:pt>
    <dgm:pt modelId="{46FD0618-97D7-47D4-A4C7-5869E97EBD6E}" type="parTrans" cxnId="{A27282CD-B273-40C8-B40F-EE8AC537B091}">
      <dgm:prSet/>
      <dgm:spPr/>
      <dgm:t>
        <a:bodyPr/>
        <a:lstStyle/>
        <a:p>
          <a:endParaRPr lang="zh-CN" altLang="en-US" sz="2400"/>
        </a:p>
      </dgm:t>
    </dgm:pt>
    <dgm:pt modelId="{34735C9E-0037-4D51-8748-2226805C5CD0}" type="sibTrans" cxnId="{A27282CD-B273-40C8-B40F-EE8AC537B091}">
      <dgm:prSet/>
      <dgm:spPr/>
      <dgm:t>
        <a:bodyPr/>
        <a:lstStyle/>
        <a:p>
          <a:endParaRPr lang="zh-CN" altLang="en-US" sz="2400"/>
        </a:p>
      </dgm:t>
    </dgm:pt>
    <dgm:pt modelId="{BF64EEF5-AD90-4DE3-95C0-9FBF9A47CAC6}">
      <dgm:prSet custT="1"/>
      <dgm:spPr/>
      <dgm:t>
        <a:bodyPr/>
        <a:lstStyle/>
        <a:p>
          <a:r>
            <a:rPr lang="zh-CN" altLang="en-US" sz="2800" dirty="0" smtClean="0"/>
            <a:t>移动通信网</a:t>
          </a:r>
          <a:endParaRPr lang="zh-CN" altLang="en-US" sz="2800" dirty="0"/>
        </a:p>
      </dgm:t>
    </dgm:pt>
    <dgm:pt modelId="{292979B3-25D3-4595-BDB2-BB60E4565091}" type="parTrans" cxnId="{B792B551-BA6D-4E98-94A9-A7251D2946C9}">
      <dgm:prSet/>
      <dgm:spPr/>
      <dgm:t>
        <a:bodyPr/>
        <a:lstStyle/>
        <a:p>
          <a:endParaRPr lang="zh-CN" altLang="en-US" sz="2400"/>
        </a:p>
      </dgm:t>
    </dgm:pt>
    <dgm:pt modelId="{D0987BD7-8874-4501-AAD1-2DF735F259B2}" type="sibTrans" cxnId="{B792B551-BA6D-4E98-94A9-A7251D2946C9}">
      <dgm:prSet/>
      <dgm:spPr/>
      <dgm:t>
        <a:bodyPr/>
        <a:lstStyle/>
        <a:p>
          <a:endParaRPr lang="zh-CN" altLang="en-US" sz="2400"/>
        </a:p>
      </dgm:t>
    </dgm:pt>
    <dgm:pt modelId="{BE95A65B-F30A-4230-B561-EA6036EA5E2C}">
      <dgm:prSet custT="1"/>
      <dgm:spPr/>
      <dgm:t>
        <a:bodyPr anchor="ctr"/>
        <a:lstStyle/>
        <a:p>
          <a:r>
            <a:rPr lang="zh-CN" altLang="en-US" sz="1600" u="none" dirty="0" smtClean="0">
              <a:latin typeface="+mn-lt"/>
              <a:ea typeface="+mn-ea"/>
            </a:rPr>
            <a:t>移动通信网络将成为“</a:t>
          </a:r>
          <a:r>
            <a:rPr lang="zh-CN" altLang="en-US" sz="1600" u="none" dirty="0" smtClean="0">
              <a:solidFill>
                <a:srgbClr val="FF3300"/>
              </a:solidFill>
              <a:latin typeface="+mn-lt"/>
              <a:ea typeface="+mn-ea"/>
            </a:rPr>
            <a:t>全面、随时、随地</a:t>
          </a:r>
          <a:r>
            <a:rPr lang="zh-CN" altLang="en-US" sz="1600" u="none" dirty="0" smtClean="0">
              <a:latin typeface="+mn-lt"/>
              <a:ea typeface="+mn-ea"/>
            </a:rPr>
            <a:t>”传输信息的有效平台。高速、实时、高覆盖率、多元化处理多媒体数据，为“物品触网”创造条件。</a:t>
          </a:r>
          <a:endParaRPr lang="zh-CN" altLang="en-US" sz="1600" u="none" dirty="0"/>
        </a:p>
      </dgm:t>
    </dgm:pt>
    <dgm:pt modelId="{B98603D9-13F0-4F3D-8717-7D612A8CFE34}" type="parTrans" cxnId="{5DC2921D-5BA5-4308-8F89-AEA985B4D3BC}">
      <dgm:prSet/>
      <dgm:spPr/>
      <dgm:t>
        <a:bodyPr/>
        <a:lstStyle/>
        <a:p>
          <a:endParaRPr lang="zh-CN" altLang="en-US" sz="2400"/>
        </a:p>
      </dgm:t>
    </dgm:pt>
    <dgm:pt modelId="{0838A346-6DC7-47BD-80FE-78B7A18FF8DD}" type="sibTrans" cxnId="{5DC2921D-5BA5-4308-8F89-AEA985B4D3BC}">
      <dgm:prSet/>
      <dgm:spPr/>
      <dgm:t>
        <a:bodyPr/>
        <a:lstStyle/>
        <a:p>
          <a:endParaRPr lang="zh-CN" altLang="en-US" sz="2400"/>
        </a:p>
      </dgm:t>
    </dgm:pt>
    <dgm:pt modelId="{F506A8E9-4F58-4528-A832-A2857DACC44A}" type="pres">
      <dgm:prSet presAssocID="{6751B7E3-B27A-43BA-AB07-7C038E2173A3}" presName="Name0" presStyleCnt="0">
        <dgm:presLayoutVars>
          <dgm:dir/>
          <dgm:animLvl val="lvl"/>
          <dgm:resizeHandles/>
        </dgm:presLayoutVars>
      </dgm:prSet>
      <dgm:spPr/>
      <dgm:t>
        <a:bodyPr/>
        <a:lstStyle/>
        <a:p>
          <a:endParaRPr lang="zh-CN" altLang="en-US"/>
        </a:p>
      </dgm:t>
    </dgm:pt>
    <dgm:pt modelId="{4C0F9174-3FE7-4CCC-94E2-8CDFA983D613}" type="pres">
      <dgm:prSet presAssocID="{DF6AA133-467F-4CD6-9167-BBEDA5D98DB1}" presName="linNode" presStyleCnt="0"/>
      <dgm:spPr/>
    </dgm:pt>
    <dgm:pt modelId="{5C8FB966-6E5C-4704-BB8F-818FBA628093}" type="pres">
      <dgm:prSet presAssocID="{DF6AA133-467F-4CD6-9167-BBEDA5D98DB1}" presName="parentShp" presStyleLbl="node1" presStyleIdx="0" presStyleCnt="4" custScaleX="58854">
        <dgm:presLayoutVars>
          <dgm:bulletEnabled val="1"/>
        </dgm:presLayoutVars>
      </dgm:prSet>
      <dgm:spPr/>
      <dgm:t>
        <a:bodyPr/>
        <a:lstStyle/>
        <a:p>
          <a:endParaRPr lang="zh-CN" altLang="en-US"/>
        </a:p>
      </dgm:t>
    </dgm:pt>
    <dgm:pt modelId="{AC2F9A41-61D8-4894-A859-AE2DD497F439}" type="pres">
      <dgm:prSet presAssocID="{DF6AA133-467F-4CD6-9167-BBEDA5D98DB1}" presName="childShp" presStyleLbl="bgAccFollowNode1" presStyleIdx="0" presStyleCnt="4" custScaleX="122802">
        <dgm:presLayoutVars>
          <dgm:bulletEnabled val="1"/>
        </dgm:presLayoutVars>
      </dgm:prSet>
      <dgm:spPr/>
      <dgm:t>
        <a:bodyPr/>
        <a:lstStyle/>
        <a:p>
          <a:endParaRPr lang="zh-CN" altLang="en-US"/>
        </a:p>
      </dgm:t>
    </dgm:pt>
    <dgm:pt modelId="{91101C3A-C617-40CB-A518-5DFC10345E6B}" type="pres">
      <dgm:prSet presAssocID="{F73DE8FD-64A1-4B34-8F96-09C889E68522}" presName="spacing" presStyleCnt="0"/>
      <dgm:spPr/>
    </dgm:pt>
    <dgm:pt modelId="{B734EFEC-C64C-4267-8E7A-BFB33C8486AA}" type="pres">
      <dgm:prSet presAssocID="{C4C29CA7-A43F-4B1F-A7A6-1728F431CB9F}" presName="linNode" presStyleCnt="0"/>
      <dgm:spPr/>
    </dgm:pt>
    <dgm:pt modelId="{6EF2F18C-6B89-409C-A771-2F3E61F063B7}" type="pres">
      <dgm:prSet presAssocID="{C4C29CA7-A43F-4B1F-A7A6-1728F431CB9F}" presName="parentShp" presStyleLbl="node1" presStyleIdx="1" presStyleCnt="4" custScaleX="58853">
        <dgm:presLayoutVars>
          <dgm:bulletEnabled val="1"/>
        </dgm:presLayoutVars>
      </dgm:prSet>
      <dgm:spPr/>
      <dgm:t>
        <a:bodyPr/>
        <a:lstStyle/>
        <a:p>
          <a:endParaRPr lang="zh-CN" altLang="en-US"/>
        </a:p>
      </dgm:t>
    </dgm:pt>
    <dgm:pt modelId="{8E26F9E2-5A43-45DB-9A54-10B1321F132F}" type="pres">
      <dgm:prSet presAssocID="{C4C29CA7-A43F-4B1F-A7A6-1728F431CB9F}" presName="childShp" presStyleLbl="bgAccFollowNode1" presStyleIdx="1" presStyleCnt="4" custScaleX="122803">
        <dgm:presLayoutVars>
          <dgm:bulletEnabled val="1"/>
        </dgm:presLayoutVars>
      </dgm:prSet>
      <dgm:spPr/>
      <dgm:t>
        <a:bodyPr/>
        <a:lstStyle/>
        <a:p>
          <a:endParaRPr lang="zh-CN" altLang="en-US"/>
        </a:p>
      </dgm:t>
    </dgm:pt>
    <dgm:pt modelId="{0353B729-C50E-4FE1-A971-621AA70BC6BA}" type="pres">
      <dgm:prSet presAssocID="{EE2ABF06-1BBD-49A8-8193-6E0C1260492E}" presName="spacing" presStyleCnt="0"/>
      <dgm:spPr/>
    </dgm:pt>
    <dgm:pt modelId="{1AFDA04D-15C2-4E1A-A0FB-C88DCAF560CC}" type="pres">
      <dgm:prSet presAssocID="{5AEC898D-96C0-474F-AD46-BAAC8CF0BB35}" presName="linNode" presStyleCnt="0"/>
      <dgm:spPr/>
    </dgm:pt>
    <dgm:pt modelId="{3DDE3272-B9E4-48A3-BDBB-67A2A5E6961B}" type="pres">
      <dgm:prSet presAssocID="{5AEC898D-96C0-474F-AD46-BAAC8CF0BB35}" presName="parentShp" presStyleLbl="node1" presStyleIdx="2" presStyleCnt="4" custScaleX="58853">
        <dgm:presLayoutVars>
          <dgm:bulletEnabled val="1"/>
        </dgm:presLayoutVars>
      </dgm:prSet>
      <dgm:spPr/>
      <dgm:t>
        <a:bodyPr/>
        <a:lstStyle/>
        <a:p>
          <a:endParaRPr lang="zh-CN" altLang="en-US"/>
        </a:p>
      </dgm:t>
    </dgm:pt>
    <dgm:pt modelId="{11ABA132-8C5D-42D6-B5B2-E698B1DAF2C8}" type="pres">
      <dgm:prSet presAssocID="{5AEC898D-96C0-474F-AD46-BAAC8CF0BB35}" presName="childShp" presStyleLbl="bgAccFollowNode1" presStyleIdx="2" presStyleCnt="4" custScaleX="119909">
        <dgm:presLayoutVars>
          <dgm:bulletEnabled val="1"/>
        </dgm:presLayoutVars>
      </dgm:prSet>
      <dgm:spPr/>
      <dgm:t>
        <a:bodyPr/>
        <a:lstStyle/>
        <a:p>
          <a:endParaRPr lang="zh-CN" altLang="en-US"/>
        </a:p>
      </dgm:t>
    </dgm:pt>
    <dgm:pt modelId="{B00EE497-75D1-4FF4-A54D-E4AD0A3FF058}" type="pres">
      <dgm:prSet presAssocID="{D25795C3-3320-4E8D-AEC1-15C45ABD6524}" presName="spacing" presStyleCnt="0"/>
      <dgm:spPr/>
    </dgm:pt>
    <dgm:pt modelId="{5D422FA9-B731-42B4-8F25-26FCF800EA0A}" type="pres">
      <dgm:prSet presAssocID="{BF64EEF5-AD90-4DE3-95C0-9FBF9A47CAC6}" presName="linNode" presStyleCnt="0"/>
      <dgm:spPr/>
    </dgm:pt>
    <dgm:pt modelId="{919A1E5B-2129-480E-B200-7F80133F46AC}" type="pres">
      <dgm:prSet presAssocID="{BF64EEF5-AD90-4DE3-95C0-9FBF9A47CAC6}" presName="parentShp" presStyleLbl="node1" presStyleIdx="3" presStyleCnt="4" custScaleX="58853" custLinFactNeighborX="-1447" custLinFactNeighborY="462">
        <dgm:presLayoutVars>
          <dgm:bulletEnabled val="1"/>
        </dgm:presLayoutVars>
      </dgm:prSet>
      <dgm:spPr/>
      <dgm:t>
        <a:bodyPr/>
        <a:lstStyle/>
        <a:p>
          <a:endParaRPr lang="zh-CN" altLang="en-US"/>
        </a:p>
      </dgm:t>
    </dgm:pt>
    <dgm:pt modelId="{648E94B5-F7B5-40BA-B810-54EB92B27BBB}" type="pres">
      <dgm:prSet presAssocID="{BF64EEF5-AD90-4DE3-95C0-9FBF9A47CAC6}" presName="childShp" presStyleLbl="bgAccFollowNode1" presStyleIdx="3" presStyleCnt="4" custScaleX="117016">
        <dgm:presLayoutVars>
          <dgm:bulletEnabled val="1"/>
        </dgm:presLayoutVars>
      </dgm:prSet>
      <dgm:spPr/>
      <dgm:t>
        <a:bodyPr/>
        <a:lstStyle/>
        <a:p>
          <a:endParaRPr lang="zh-CN" altLang="en-US"/>
        </a:p>
      </dgm:t>
    </dgm:pt>
  </dgm:ptLst>
  <dgm:cxnLst>
    <dgm:cxn modelId="{B792B551-BA6D-4E98-94A9-A7251D2946C9}" srcId="{6751B7E3-B27A-43BA-AB07-7C038E2173A3}" destId="{BF64EEF5-AD90-4DE3-95C0-9FBF9A47CAC6}" srcOrd="3" destOrd="0" parTransId="{292979B3-25D3-4595-BDB2-BB60E4565091}" sibTransId="{D0987BD7-8874-4501-AAD1-2DF735F259B2}"/>
    <dgm:cxn modelId="{4AFFA7FC-836F-4DC5-9CE2-F40C1F867648}" srcId="{DF6AA133-467F-4CD6-9167-BBEDA5D98DB1}" destId="{B478686F-27B7-43CE-81BB-D7C5687B4473}" srcOrd="0" destOrd="0" parTransId="{16128B82-BBB0-40DC-8AA5-6C64D69ABDB5}" sibTransId="{98CE7734-B5D6-4DC6-A0F2-BB40296070B5}"/>
    <dgm:cxn modelId="{A27282CD-B273-40C8-B40F-EE8AC537B091}" srcId="{5AEC898D-96C0-474F-AD46-BAAC8CF0BB35}" destId="{36FBB229-6752-47BB-99B5-8C476F7DE82B}" srcOrd="0" destOrd="0" parTransId="{46FD0618-97D7-47D4-A4C7-5869E97EBD6E}" sibTransId="{34735C9E-0037-4D51-8748-2226805C5CD0}"/>
    <dgm:cxn modelId="{C6864E38-8C2A-440C-B9B8-B6C952C0B360}" srcId="{6751B7E3-B27A-43BA-AB07-7C038E2173A3}" destId="{C4C29CA7-A43F-4B1F-A7A6-1728F431CB9F}" srcOrd="1" destOrd="0" parTransId="{2EB607A6-D902-4C63-9E5E-D499DCB43C93}" sibTransId="{EE2ABF06-1BBD-49A8-8193-6E0C1260492E}"/>
    <dgm:cxn modelId="{8F7AEE75-BC55-4DDF-8D65-AE1E7CBA345A}" type="presOf" srcId="{C4C29CA7-A43F-4B1F-A7A6-1728F431CB9F}" destId="{6EF2F18C-6B89-409C-A771-2F3E61F063B7}" srcOrd="0" destOrd="0" presId="urn:microsoft.com/office/officeart/2005/8/layout/vList6"/>
    <dgm:cxn modelId="{D4884494-06CE-4587-A554-155208F946F1}" type="presOf" srcId="{6751B7E3-B27A-43BA-AB07-7C038E2173A3}" destId="{F506A8E9-4F58-4528-A832-A2857DACC44A}" srcOrd="0" destOrd="0" presId="urn:microsoft.com/office/officeart/2005/8/layout/vList6"/>
    <dgm:cxn modelId="{FABD8571-E664-4727-B97D-D4B66989F53D}" type="presOf" srcId="{DF6AA133-467F-4CD6-9167-BBEDA5D98DB1}" destId="{5C8FB966-6E5C-4704-BB8F-818FBA628093}" srcOrd="0" destOrd="0" presId="urn:microsoft.com/office/officeart/2005/8/layout/vList6"/>
    <dgm:cxn modelId="{CED8348C-1BFE-404E-AEA3-EC024F06806D}" type="presOf" srcId="{B478686F-27B7-43CE-81BB-D7C5687B4473}" destId="{AC2F9A41-61D8-4894-A859-AE2DD497F439}" srcOrd="0" destOrd="0" presId="urn:microsoft.com/office/officeart/2005/8/layout/vList6"/>
    <dgm:cxn modelId="{3762584E-D95B-4AE2-BC1F-E3155D395473}" type="presOf" srcId="{5AEC898D-96C0-474F-AD46-BAAC8CF0BB35}" destId="{3DDE3272-B9E4-48A3-BDBB-67A2A5E6961B}" srcOrd="0" destOrd="0" presId="urn:microsoft.com/office/officeart/2005/8/layout/vList6"/>
    <dgm:cxn modelId="{66FD947E-B353-4C49-9C62-3D21C69C02D5}" type="presOf" srcId="{BF64EEF5-AD90-4DE3-95C0-9FBF9A47CAC6}" destId="{919A1E5B-2129-480E-B200-7F80133F46AC}" srcOrd="0" destOrd="0" presId="urn:microsoft.com/office/officeart/2005/8/layout/vList6"/>
    <dgm:cxn modelId="{EC4F6A86-CD63-4177-BBFB-052F83EF2864}" type="presOf" srcId="{36FBB229-6752-47BB-99B5-8C476F7DE82B}" destId="{11ABA132-8C5D-42D6-B5B2-E698B1DAF2C8}" srcOrd="0" destOrd="0" presId="urn:microsoft.com/office/officeart/2005/8/layout/vList6"/>
    <dgm:cxn modelId="{5DC2921D-5BA5-4308-8F89-AEA985B4D3BC}" srcId="{BF64EEF5-AD90-4DE3-95C0-9FBF9A47CAC6}" destId="{BE95A65B-F30A-4230-B561-EA6036EA5E2C}" srcOrd="0" destOrd="0" parTransId="{B98603D9-13F0-4F3D-8717-7D612A8CFE34}" sibTransId="{0838A346-6DC7-47BD-80FE-78B7A18FF8DD}"/>
    <dgm:cxn modelId="{95D76962-CD0D-472C-9BE6-7F23842FED59}" srcId="{6751B7E3-B27A-43BA-AB07-7C038E2173A3}" destId="{5AEC898D-96C0-474F-AD46-BAAC8CF0BB35}" srcOrd="2" destOrd="0" parTransId="{17FFB28B-1F07-4DC9-9A2C-30477612E068}" sibTransId="{D25795C3-3320-4E8D-AEC1-15C45ABD6524}"/>
    <dgm:cxn modelId="{D22DFEEA-5D44-4CF5-8B6B-28E9CB2DC9AB}" srcId="{6751B7E3-B27A-43BA-AB07-7C038E2173A3}" destId="{DF6AA133-467F-4CD6-9167-BBEDA5D98DB1}" srcOrd="0" destOrd="0" parTransId="{2F2DEC1B-893A-4CF8-BBB7-98F80CFC3886}" sibTransId="{F73DE8FD-64A1-4B34-8F96-09C889E68522}"/>
    <dgm:cxn modelId="{7FB706CB-C5D2-42F8-9DA9-B3D11F99AF98}" srcId="{C4C29CA7-A43F-4B1F-A7A6-1728F431CB9F}" destId="{6205C6D0-87DB-46C1-AD94-0F75C9C1DE91}" srcOrd="0" destOrd="0" parTransId="{05862A5E-FB29-48FC-81EB-C9B21247F42A}" sibTransId="{A6DCF10D-5DBD-48A4-A6F1-503905F802E2}"/>
    <dgm:cxn modelId="{5A8C6867-141A-4494-AD98-B53E62EB0B94}" type="presOf" srcId="{BE95A65B-F30A-4230-B561-EA6036EA5E2C}" destId="{648E94B5-F7B5-40BA-B810-54EB92B27BBB}" srcOrd="0" destOrd="0" presId="urn:microsoft.com/office/officeart/2005/8/layout/vList6"/>
    <dgm:cxn modelId="{A598049C-C49E-4F1B-9039-2B5C4C8FFEE8}" type="presOf" srcId="{6205C6D0-87DB-46C1-AD94-0F75C9C1DE91}" destId="{8E26F9E2-5A43-45DB-9A54-10B1321F132F}" srcOrd="0" destOrd="0" presId="urn:microsoft.com/office/officeart/2005/8/layout/vList6"/>
    <dgm:cxn modelId="{64EC070A-26BB-438D-B206-614DC2223F5A}" type="presParOf" srcId="{F506A8E9-4F58-4528-A832-A2857DACC44A}" destId="{4C0F9174-3FE7-4CCC-94E2-8CDFA983D613}" srcOrd="0" destOrd="0" presId="urn:microsoft.com/office/officeart/2005/8/layout/vList6"/>
    <dgm:cxn modelId="{0B7525B2-4B5F-467F-A972-211FD06AEA92}" type="presParOf" srcId="{4C0F9174-3FE7-4CCC-94E2-8CDFA983D613}" destId="{5C8FB966-6E5C-4704-BB8F-818FBA628093}" srcOrd="0" destOrd="0" presId="urn:microsoft.com/office/officeart/2005/8/layout/vList6"/>
    <dgm:cxn modelId="{11AE45DD-986C-44D9-B720-43FDEAA625E7}" type="presParOf" srcId="{4C0F9174-3FE7-4CCC-94E2-8CDFA983D613}" destId="{AC2F9A41-61D8-4894-A859-AE2DD497F439}" srcOrd="1" destOrd="0" presId="urn:microsoft.com/office/officeart/2005/8/layout/vList6"/>
    <dgm:cxn modelId="{C9549132-B3D3-4C09-93AB-45B038919BDB}" type="presParOf" srcId="{F506A8E9-4F58-4528-A832-A2857DACC44A}" destId="{91101C3A-C617-40CB-A518-5DFC10345E6B}" srcOrd="1" destOrd="0" presId="urn:microsoft.com/office/officeart/2005/8/layout/vList6"/>
    <dgm:cxn modelId="{7555CF23-0DCA-49EF-BCCE-22E8AC31F114}" type="presParOf" srcId="{F506A8E9-4F58-4528-A832-A2857DACC44A}" destId="{B734EFEC-C64C-4267-8E7A-BFB33C8486AA}" srcOrd="2" destOrd="0" presId="urn:microsoft.com/office/officeart/2005/8/layout/vList6"/>
    <dgm:cxn modelId="{6D82A5C6-CF47-440A-A8A7-7A1DF61CFA40}" type="presParOf" srcId="{B734EFEC-C64C-4267-8E7A-BFB33C8486AA}" destId="{6EF2F18C-6B89-409C-A771-2F3E61F063B7}" srcOrd="0" destOrd="0" presId="urn:microsoft.com/office/officeart/2005/8/layout/vList6"/>
    <dgm:cxn modelId="{8786459C-0E71-42AC-AA65-B2CDC1884A21}" type="presParOf" srcId="{B734EFEC-C64C-4267-8E7A-BFB33C8486AA}" destId="{8E26F9E2-5A43-45DB-9A54-10B1321F132F}" srcOrd="1" destOrd="0" presId="urn:microsoft.com/office/officeart/2005/8/layout/vList6"/>
    <dgm:cxn modelId="{58EF0E43-5D43-4454-BBD1-85B06A435DE3}" type="presParOf" srcId="{F506A8E9-4F58-4528-A832-A2857DACC44A}" destId="{0353B729-C50E-4FE1-A971-621AA70BC6BA}" srcOrd="3" destOrd="0" presId="urn:microsoft.com/office/officeart/2005/8/layout/vList6"/>
    <dgm:cxn modelId="{70D9F721-9D74-4EE6-A1A4-36F6918E3E52}" type="presParOf" srcId="{F506A8E9-4F58-4528-A832-A2857DACC44A}" destId="{1AFDA04D-15C2-4E1A-A0FB-C88DCAF560CC}" srcOrd="4" destOrd="0" presId="urn:microsoft.com/office/officeart/2005/8/layout/vList6"/>
    <dgm:cxn modelId="{5E2FA324-789C-445C-810B-8581345D12DC}" type="presParOf" srcId="{1AFDA04D-15C2-4E1A-A0FB-C88DCAF560CC}" destId="{3DDE3272-B9E4-48A3-BDBB-67A2A5E6961B}" srcOrd="0" destOrd="0" presId="urn:microsoft.com/office/officeart/2005/8/layout/vList6"/>
    <dgm:cxn modelId="{038E545D-77DB-4C7E-BE12-EA32ACE99886}" type="presParOf" srcId="{1AFDA04D-15C2-4E1A-A0FB-C88DCAF560CC}" destId="{11ABA132-8C5D-42D6-B5B2-E698B1DAF2C8}" srcOrd="1" destOrd="0" presId="urn:microsoft.com/office/officeart/2005/8/layout/vList6"/>
    <dgm:cxn modelId="{39669B38-7F28-4A63-BFDD-6274FFD4039B}" type="presParOf" srcId="{F506A8E9-4F58-4528-A832-A2857DACC44A}" destId="{B00EE497-75D1-4FF4-A54D-E4AD0A3FF058}" srcOrd="5" destOrd="0" presId="urn:microsoft.com/office/officeart/2005/8/layout/vList6"/>
    <dgm:cxn modelId="{1B524BF1-8882-408B-8DC8-AB03FCD10705}" type="presParOf" srcId="{F506A8E9-4F58-4528-A832-A2857DACC44A}" destId="{5D422FA9-B731-42B4-8F25-26FCF800EA0A}" srcOrd="6" destOrd="0" presId="urn:microsoft.com/office/officeart/2005/8/layout/vList6"/>
    <dgm:cxn modelId="{8AE99D9B-0E9E-496E-AA17-5A2B5895CA27}" type="presParOf" srcId="{5D422FA9-B731-42B4-8F25-26FCF800EA0A}" destId="{919A1E5B-2129-480E-B200-7F80133F46AC}" srcOrd="0" destOrd="0" presId="urn:microsoft.com/office/officeart/2005/8/layout/vList6"/>
    <dgm:cxn modelId="{79286AF9-3512-462B-A714-33D7140B7ECF}" type="presParOf" srcId="{5D422FA9-B731-42B4-8F25-26FCF800EA0A}" destId="{648E94B5-F7B5-40BA-B810-54EB92B27BBB}"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E65FA0-2BA5-4D07-ACC1-D62102AC3933}">
      <dsp:nvSpPr>
        <dsp:cNvPr id="0" name=""/>
        <dsp:cNvSpPr/>
      </dsp:nvSpPr>
      <dsp:spPr>
        <a:xfrm rot="5400000">
          <a:off x="-146087" y="147857"/>
          <a:ext cx="973917" cy="681742"/>
        </a:xfrm>
        <a:prstGeom prst="chevron">
          <a:avLst/>
        </a:prstGeom>
        <a:blipFill rotWithShape="0">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rnd"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zh-CN" sz="2000" kern="1200" dirty="0" smtClean="0"/>
            <a:t>1</a:t>
          </a:r>
          <a:endParaRPr lang="zh-CN" altLang="en-US" sz="2000" kern="1200" dirty="0"/>
        </a:p>
      </dsp:txBody>
      <dsp:txXfrm rot="-5400000">
        <a:off x="1" y="342640"/>
        <a:ext cx="681742" cy="292175"/>
      </dsp:txXfrm>
    </dsp:sp>
    <dsp:sp modelId="{1CD77611-B1B9-4903-AA94-2D262ED12F37}">
      <dsp:nvSpPr>
        <dsp:cNvPr id="0" name=""/>
        <dsp:cNvSpPr/>
      </dsp:nvSpPr>
      <dsp:spPr>
        <a:xfrm rot="5400000">
          <a:off x="3423978" y="-2740466"/>
          <a:ext cx="633046" cy="6117519"/>
        </a:xfrm>
        <a:prstGeom prst="round2SameRect">
          <a:avLst/>
        </a:prstGeom>
        <a:solidFill>
          <a:schemeClr val="lt1">
            <a:alpha val="90000"/>
            <a:hueOff val="0"/>
            <a:satOff val="0"/>
            <a:lumOff val="0"/>
            <a:alphaOff val="0"/>
          </a:schemeClr>
        </a:solidFill>
        <a:ln w="9525" cap="rnd" cmpd="sng" algn="ctr">
          <a:solidFill>
            <a:schemeClr val="accent2">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t>物联网的定义</a:t>
          </a:r>
          <a:endParaRPr lang="zh-CN" altLang="en-US" sz="3600" kern="1200" dirty="0"/>
        </a:p>
      </dsp:txBody>
      <dsp:txXfrm rot="-5400000">
        <a:off x="681742" y="32673"/>
        <a:ext cx="6086616" cy="571240"/>
      </dsp:txXfrm>
    </dsp:sp>
    <dsp:sp modelId="{D4D998A7-681F-45F1-98C8-FBE1DE068125}">
      <dsp:nvSpPr>
        <dsp:cNvPr id="0" name=""/>
        <dsp:cNvSpPr/>
      </dsp:nvSpPr>
      <dsp:spPr>
        <a:xfrm rot="5400000">
          <a:off x="-146087" y="970330"/>
          <a:ext cx="973917" cy="681742"/>
        </a:xfrm>
        <a:prstGeom prst="chevron">
          <a:avLst/>
        </a:prstGeom>
        <a:blipFill rotWithShape="0">
          <a:blip xmlns:r="http://schemas.openxmlformats.org/officeDocument/2006/relationships" r:embed="rId1">
            <a:duotone>
              <a:schemeClr val="accent3">
                <a:hueOff val="0"/>
                <a:satOff val="0"/>
                <a:lumOff val="0"/>
                <a:alphaOff val="0"/>
                <a:shade val="74000"/>
                <a:satMod val="130000"/>
                <a:lumMod val="90000"/>
              </a:schemeClr>
              <a:schemeClr val="accent3">
                <a:hueOff val="0"/>
                <a:satOff val="0"/>
                <a:lumOff val="0"/>
                <a:alphaOff val="0"/>
                <a:tint val="94000"/>
                <a:satMod val="120000"/>
                <a:lumMod val="104000"/>
              </a:schemeClr>
            </a:duotone>
          </a:blip>
          <a:tile tx="0" ty="0" sx="100000" sy="100000" flip="none" algn="tl"/>
        </a:blipFill>
        <a:ln w="9525" cap="rnd" cmpd="sng" algn="ctr">
          <a:solidFill>
            <a:schemeClr val="accent3">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zh-CN" sz="2000" kern="1200" dirty="0" smtClean="0"/>
            <a:t>2</a:t>
          </a:r>
          <a:endParaRPr lang="zh-CN" altLang="en-US" sz="2000" kern="1200" dirty="0"/>
        </a:p>
      </dsp:txBody>
      <dsp:txXfrm rot="-5400000">
        <a:off x="1" y="1165113"/>
        <a:ext cx="681742" cy="292175"/>
      </dsp:txXfrm>
    </dsp:sp>
    <dsp:sp modelId="{DFFADD8F-80FD-4F6A-8B4D-1104DADC1A5B}">
      <dsp:nvSpPr>
        <dsp:cNvPr id="0" name=""/>
        <dsp:cNvSpPr/>
      </dsp:nvSpPr>
      <dsp:spPr>
        <a:xfrm rot="5400000">
          <a:off x="3423978" y="-1917994"/>
          <a:ext cx="633046" cy="6117519"/>
        </a:xfrm>
        <a:prstGeom prst="round2SameRect">
          <a:avLst/>
        </a:prstGeom>
        <a:solidFill>
          <a:schemeClr val="lt1">
            <a:alpha val="90000"/>
            <a:hueOff val="0"/>
            <a:satOff val="0"/>
            <a:lumOff val="0"/>
            <a:alphaOff val="0"/>
          </a:schemeClr>
        </a:solidFill>
        <a:ln w="9525" cap="rnd" cmpd="sng" algn="ctr">
          <a:solidFill>
            <a:schemeClr val="accent3">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t>物联网核心技术</a:t>
          </a:r>
          <a:endParaRPr lang="zh-CN" altLang="en-US" sz="3600" kern="1200" dirty="0"/>
        </a:p>
      </dsp:txBody>
      <dsp:txXfrm rot="-5400000">
        <a:off x="681742" y="855145"/>
        <a:ext cx="6086616" cy="571240"/>
      </dsp:txXfrm>
    </dsp:sp>
    <dsp:sp modelId="{AD85597D-4309-4767-B8B9-7B275A25A627}">
      <dsp:nvSpPr>
        <dsp:cNvPr id="0" name=""/>
        <dsp:cNvSpPr/>
      </dsp:nvSpPr>
      <dsp:spPr>
        <a:xfrm rot="5400000">
          <a:off x="-146087" y="1792802"/>
          <a:ext cx="973917" cy="681742"/>
        </a:xfrm>
        <a:prstGeom prst="chevron">
          <a:avLst/>
        </a:prstGeom>
        <a:blipFill rotWithShape="0">
          <a:blip xmlns:r="http://schemas.openxmlformats.org/officeDocument/2006/relationships" r:embed="rId1">
            <a:duotone>
              <a:schemeClr val="accent4">
                <a:hueOff val="0"/>
                <a:satOff val="0"/>
                <a:lumOff val="0"/>
                <a:alphaOff val="0"/>
                <a:shade val="74000"/>
                <a:satMod val="130000"/>
                <a:lumMod val="90000"/>
              </a:schemeClr>
              <a:schemeClr val="accent4">
                <a:hueOff val="0"/>
                <a:satOff val="0"/>
                <a:lumOff val="0"/>
                <a:alphaOff val="0"/>
                <a:tint val="94000"/>
                <a:satMod val="120000"/>
                <a:lumMod val="104000"/>
              </a:schemeClr>
            </a:duotone>
          </a:blip>
          <a:tile tx="0" ty="0" sx="100000" sy="100000" flip="none" algn="tl"/>
        </a:blipFill>
        <a:ln w="9525" cap="rnd" cmpd="sng" algn="ctr">
          <a:solidFill>
            <a:schemeClr val="accent4">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zh-CN" sz="2000" kern="1200" dirty="0" smtClean="0"/>
            <a:t>3</a:t>
          </a:r>
          <a:endParaRPr lang="zh-CN" altLang="en-US" sz="2000" kern="1200" dirty="0"/>
        </a:p>
      </dsp:txBody>
      <dsp:txXfrm rot="-5400000">
        <a:off x="1" y="1987585"/>
        <a:ext cx="681742" cy="292175"/>
      </dsp:txXfrm>
    </dsp:sp>
    <dsp:sp modelId="{5927C2E2-40A9-4813-A305-C9C6328A188C}">
      <dsp:nvSpPr>
        <dsp:cNvPr id="0" name=""/>
        <dsp:cNvSpPr/>
      </dsp:nvSpPr>
      <dsp:spPr>
        <a:xfrm rot="5400000">
          <a:off x="3423978" y="-1095521"/>
          <a:ext cx="633046" cy="6117519"/>
        </a:xfrm>
        <a:prstGeom prst="round2SameRect">
          <a:avLst/>
        </a:prstGeom>
        <a:solidFill>
          <a:schemeClr val="lt1">
            <a:alpha val="90000"/>
            <a:hueOff val="0"/>
            <a:satOff val="0"/>
            <a:lumOff val="0"/>
            <a:alphaOff val="0"/>
          </a:schemeClr>
        </a:solidFill>
        <a:ln w="9525" cap="rnd" cmpd="sng" algn="ctr">
          <a:solidFill>
            <a:schemeClr val="accent4">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t>中国物联网发展现状</a:t>
          </a:r>
          <a:endParaRPr lang="zh-CN" altLang="en-US" sz="3600" kern="1200" dirty="0"/>
        </a:p>
      </dsp:txBody>
      <dsp:txXfrm rot="-5400000">
        <a:off x="681742" y="1677618"/>
        <a:ext cx="6086616" cy="571240"/>
      </dsp:txXfrm>
    </dsp:sp>
    <dsp:sp modelId="{4FBB5D5B-BFB3-4118-9958-7C723EB0ABDD}">
      <dsp:nvSpPr>
        <dsp:cNvPr id="0" name=""/>
        <dsp:cNvSpPr/>
      </dsp:nvSpPr>
      <dsp:spPr>
        <a:xfrm rot="5400000">
          <a:off x="-146087" y="2615275"/>
          <a:ext cx="973917" cy="681742"/>
        </a:xfrm>
        <a:prstGeom prst="chevron">
          <a:avLst/>
        </a:prstGeom>
        <a:blipFill rotWithShape="0">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rnd"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zh-CN" sz="2000" kern="1200" dirty="0" smtClean="0"/>
            <a:t>4</a:t>
          </a:r>
          <a:endParaRPr lang="zh-CN" altLang="en-US" sz="2000" kern="1200" dirty="0"/>
        </a:p>
      </dsp:txBody>
      <dsp:txXfrm rot="-5400000">
        <a:off x="1" y="2810058"/>
        <a:ext cx="681742" cy="292175"/>
      </dsp:txXfrm>
    </dsp:sp>
    <dsp:sp modelId="{CD1A7BBA-EB46-4607-A35C-51102233C963}">
      <dsp:nvSpPr>
        <dsp:cNvPr id="0" name=""/>
        <dsp:cNvSpPr/>
      </dsp:nvSpPr>
      <dsp:spPr>
        <a:xfrm rot="5400000">
          <a:off x="3423978" y="-273049"/>
          <a:ext cx="633046" cy="6117519"/>
        </a:xfrm>
        <a:prstGeom prst="round2SameRect">
          <a:avLst/>
        </a:prstGeom>
        <a:solidFill>
          <a:schemeClr val="lt1">
            <a:alpha val="90000"/>
            <a:hueOff val="0"/>
            <a:satOff val="0"/>
            <a:lumOff val="0"/>
            <a:alphaOff val="0"/>
          </a:schemeClr>
        </a:solidFill>
        <a:ln w="9525" cap="rnd" cmpd="sng" algn="ctr">
          <a:solidFill>
            <a:schemeClr val="accent5">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t>物联网的典型应用</a:t>
          </a:r>
          <a:endParaRPr lang="zh-CN" altLang="en-US" sz="3600" kern="1200" dirty="0"/>
        </a:p>
      </dsp:txBody>
      <dsp:txXfrm rot="-5400000">
        <a:off x="681742" y="2500090"/>
        <a:ext cx="6086616" cy="5712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566B89-7DAA-42F4-B616-7CD2FBF64DB4}">
      <dsp:nvSpPr>
        <dsp:cNvPr id="0" name=""/>
        <dsp:cNvSpPr/>
      </dsp:nvSpPr>
      <dsp:spPr>
        <a:xfrm>
          <a:off x="1728192" y="0"/>
          <a:ext cx="1152128" cy="1044228"/>
        </a:xfrm>
        <a:prstGeom prst="trapezoid">
          <a:avLst>
            <a:gd name="adj" fmla="val 55166"/>
          </a:avLst>
        </a:prstGeom>
        <a:solidFill>
          <a:schemeClr val="accent3">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zh-CN" altLang="en-US" sz="2800" kern="1200" dirty="0" smtClean="0"/>
            <a:t>综合应用层</a:t>
          </a:r>
          <a:endParaRPr lang="zh-CN" altLang="en-US" sz="2800" kern="1200" dirty="0"/>
        </a:p>
      </dsp:txBody>
      <dsp:txXfrm>
        <a:off x="1728192" y="0"/>
        <a:ext cx="1152128" cy="1044228"/>
      </dsp:txXfrm>
    </dsp:sp>
    <dsp:sp modelId="{4E6C40AC-BE5A-4D55-8BF0-49E9579E7510}">
      <dsp:nvSpPr>
        <dsp:cNvPr id="0" name=""/>
        <dsp:cNvSpPr/>
      </dsp:nvSpPr>
      <dsp:spPr>
        <a:xfrm>
          <a:off x="1152128" y="1044228"/>
          <a:ext cx="2304256" cy="1044228"/>
        </a:xfrm>
        <a:prstGeom prst="trapezoid">
          <a:avLst>
            <a:gd name="adj" fmla="val 55166"/>
          </a:avLst>
        </a:prstGeom>
        <a:solidFill>
          <a:schemeClr val="accent3">
            <a:hueOff val="-4109389"/>
            <a:satOff val="4187"/>
            <a:lumOff val="-785"/>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zh-CN" altLang="en-US" sz="2800" kern="1200" dirty="0" smtClean="0"/>
            <a:t>管理服务层</a:t>
          </a:r>
          <a:endParaRPr lang="zh-CN" altLang="en-US" sz="2800" kern="1200" dirty="0"/>
        </a:p>
      </dsp:txBody>
      <dsp:txXfrm>
        <a:off x="1555372" y="1044228"/>
        <a:ext cx="1497766" cy="1044228"/>
      </dsp:txXfrm>
    </dsp:sp>
    <dsp:sp modelId="{4353F4A8-BB8C-44B7-BD0B-6A8103EF5CB1}">
      <dsp:nvSpPr>
        <dsp:cNvPr id="0" name=""/>
        <dsp:cNvSpPr/>
      </dsp:nvSpPr>
      <dsp:spPr>
        <a:xfrm>
          <a:off x="576064" y="2088457"/>
          <a:ext cx="3456384" cy="1044228"/>
        </a:xfrm>
        <a:prstGeom prst="trapezoid">
          <a:avLst>
            <a:gd name="adj" fmla="val 55166"/>
          </a:avLst>
        </a:prstGeom>
        <a:solidFill>
          <a:schemeClr val="accent3">
            <a:hueOff val="-8218778"/>
            <a:satOff val="8375"/>
            <a:lumOff val="-1569"/>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zh-CN" altLang="en-US" sz="2800" kern="1200" dirty="0" smtClean="0"/>
            <a:t>网络构建层</a:t>
          </a:r>
          <a:endParaRPr lang="zh-CN" altLang="en-US" sz="2800" kern="1200" dirty="0"/>
        </a:p>
      </dsp:txBody>
      <dsp:txXfrm>
        <a:off x="1180931" y="2088457"/>
        <a:ext cx="2246649" cy="1044228"/>
      </dsp:txXfrm>
    </dsp:sp>
    <dsp:sp modelId="{EB6CA73A-5D41-49BA-B03E-90BE8BEA46C6}">
      <dsp:nvSpPr>
        <dsp:cNvPr id="0" name=""/>
        <dsp:cNvSpPr/>
      </dsp:nvSpPr>
      <dsp:spPr>
        <a:xfrm>
          <a:off x="0" y="3132685"/>
          <a:ext cx="4608512" cy="1044228"/>
        </a:xfrm>
        <a:prstGeom prst="trapezoid">
          <a:avLst>
            <a:gd name="adj" fmla="val 55166"/>
          </a:avLst>
        </a:prstGeom>
        <a:solidFill>
          <a:schemeClr val="accent3">
            <a:hueOff val="-12328166"/>
            <a:satOff val="12562"/>
            <a:lumOff val="-2354"/>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zh-CN" altLang="en-US" sz="2800" kern="1200" dirty="0" smtClean="0"/>
            <a:t>感知识别层</a:t>
          </a:r>
          <a:endParaRPr lang="zh-CN" altLang="en-US" sz="2800" kern="1200" dirty="0"/>
        </a:p>
      </dsp:txBody>
      <dsp:txXfrm>
        <a:off x="806489" y="3132685"/>
        <a:ext cx="2995532" cy="104422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2F9A41-61D8-4894-A859-AE2DD497F439}">
      <dsp:nvSpPr>
        <dsp:cNvPr id="0" name=""/>
        <dsp:cNvSpPr/>
      </dsp:nvSpPr>
      <dsp:spPr>
        <a:xfrm>
          <a:off x="1866980" y="1181"/>
          <a:ext cx="5517861" cy="937229"/>
        </a:xfrm>
        <a:prstGeom prst="rightArrow">
          <a:avLst>
            <a:gd name="adj1" fmla="val 75000"/>
            <a:gd name="adj2" fmla="val 50000"/>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altLang="zh-CN" sz="1600" b="1" u="none" kern="1200" dirty="0" smtClean="0">
              <a:latin typeface="+mn-lt"/>
              <a:ea typeface="+mn-ea"/>
            </a:rPr>
            <a:t>IPv6</a:t>
          </a:r>
          <a:r>
            <a:rPr lang="zh-CN" altLang="en-US" sz="1600" u="none" kern="1200" dirty="0" smtClean="0">
              <a:latin typeface="+mn-lt"/>
              <a:ea typeface="+mn-ea"/>
            </a:rPr>
            <a:t>扫清了可接入网络的终端设备在数量上的限制。互联网</a:t>
          </a:r>
          <a:r>
            <a:rPr lang="en-US" altLang="zh-CN" sz="1600" u="none" kern="1200" dirty="0" smtClean="0">
              <a:latin typeface="+mn-lt"/>
              <a:ea typeface="+mn-ea"/>
            </a:rPr>
            <a:t>/</a:t>
          </a:r>
          <a:r>
            <a:rPr lang="zh-CN" altLang="en-US" sz="1600" u="none" kern="1200" dirty="0" smtClean="0">
              <a:latin typeface="+mn-lt"/>
              <a:ea typeface="+mn-ea"/>
            </a:rPr>
            <a:t>电信网是物联网的核心网络、平台和技术支持。</a:t>
          </a:r>
          <a:endParaRPr lang="zh-CN" altLang="en-US" sz="1600" u="none" kern="1200" dirty="0"/>
        </a:p>
      </dsp:txBody>
      <dsp:txXfrm>
        <a:off x="1866980" y="118335"/>
        <a:ext cx="5166400" cy="702921"/>
      </dsp:txXfrm>
    </dsp:sp>
    <dsp:sp modelId="{5C8FB966-6E5C-4704-BB8F-818FBA628093}">
      <dsp:nvSpPr>
        <dsp:cNvPr id="0" name=""/>
        <dsp:cNvSpPr/>
      </dsp:nvSpPr>
      <dsp:spPr>
        <a:xfrm>
          <a:off x="103989" y="1181"/>
          <a:ext cx="1762990" cy="937229"/>
        </a:xfrm>
        <a:prstGeom prst="roundRect">
          <a:avLst/>
        </a:prstGeom>
        <a:solidFill>
          <a:schemeClr val="accent3">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zh-CN" altLang="en-US" sz="2800" kern="1200" dirty="0" smtClean="0"/>
            <a:t>互联网</a:t>
          </a:r>
        </a:p>
      </dsp:txBody>
      <dsp:txXfrm>
        <a:off x="149741" y="46933"/>
        <a:ext cx="1671486" cy="845725"/>
      </dsp:txXfrm>
    </dsp:sp>
    <dsp:sp modelId="{8E26F9E2-5A43-45DB-9A54-10B1321F132F}">
      <dsp:nvSpPr>
        <dsp:cNvPr id="0" name=""/>
        <dsp:cNvSpPr/>
      </dsp:nvSpPr>
      <dsp:spPr>
        <a:xfrm>
          <a:off x="1866943" y="1032133"/>
          <a:ext cx="5517906" cy="937229"/>
        </a:xfrm>
        <a:prstGeom prst="rightArrow">
          <a:avLst>
            <a:gd name="adj1" fmla="val 75000"/>
            <a:gd name="adj2" fmla="val 50000"/>
          </a:avLst>
        </a:prstGeom>
        <a:solidFill>
          <a:schemeClr val="accent3">
            <a:tint val="40000"/>
            <a:alpha val="90000"/>
            <a:hueOff val="-4291871"/>
            <a:satOff val="1125"/>
            <a:lumOff val="-11"/>
            <a:alphaOff val="0"/>
          </a:schemeClr>
        </a:solidFill>
        <a:ln w="15875" cap="rnd" cmpd="sng" algn="ctr">
          <a:solidFill>
            <a:schemeClr val="accent3">
              <a:tint val="40000"/>
              <a:alpha val="90000"/>
              <a:hueOff val="-4291871"/>
              <a:satOff val="1125"/>
              <a:lumOff val="-1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altLang="zh-CN" sz="1600" b="1" u="none" kern="1200" dirty="0" err="1" smtClean="0">
              <a:latin typeface="+mn-lt"/>
              <a:ea typeface="+mn-ea"/>
            </a:rPr>
            <a:t>WiFi</a:t>
          </a:r>
          <a:r>
            <a:rPr lang="en-US" altLang="zh-CN" sz="1600" b="1" u="none" kern="1200" dirty="0" smtClean="0">
              <a:latin typeface="+mn-lt"/>
              <a:ea typeface="+mn-ea"/>
            </a:rPr>
            <a:t>/</a:t>
          </a:r>
          <a:r>
            <a:rPr lang="en-US" altLang="zh-CN" sz="1600" b="1" u="none" kern="1200" dirty="0" err="1" smtClean="0">
              <a:latin typeface="+mn-lt"/>
              <a:ea typeface="+mn-ea"/>
            </a:rPr>
            <a:t>WiMAX</a:t>
          </a:r>
          <a:r>
            <a:rPr lang="zh-CN" altLang="en-US" sz="1600" u="none" kern="1200" dirty="0" smtClean="0">
              <a:latin typeface="+mn-lt"/>
              <a:ea typeface="+mn-ea"/>
            </a:rPr>
            <a:t>等无线宽带技术覆盖范围较广，传输速度较快，为物联网提供高速可靠廉价且不受接入设备位置限制的互联手段</a:t>
          </a:r>
          <a:endParaRPr lang="zh-CN" altLang="en-US" sz="1600" u="none" kern="1200" dirty="0"/>
        </a:p>
      </dsp:txBody>
      <dsp:txXfrm>
        <a:off x="1866943" y="1149287"/>
        <a:ext cx="5166445" cy="702921"/>
      </dsp:txXfrm>
    </dsp:sp>
    <dsp:sp modelId="{6EF2F18C-6B89-409C-A771-2F3E61F063B7}">
      <dsp:nvSpPr>
        <dsp:cNvPr id="0" name=""/>
        <dsp:cNvSpPr/>
      </dsp:nvSpPr>
      <dsp:spPr>
        <a:xfrm>
          <a:off x="103982" y="1032133"/>
          <a:ext cx="1762960" cy="937229"/>
        </a:xfrm>
        <a:prstGeom prst="roundRect">
          <a:avLst/>
        </a:prstGeom>
        <a:solidFill>
          <a:schemeClr val="accent3">
            <a:hueOff val="-4109389"/>
            <a:satOff val="4187"/>
            <a:lumOff val="-785"/>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zh-CN" altLang="en-US" sz="2800" kern="1200" dirty="0" smtClean="0"/>
            <a:t>无线宽带网</a:t>
          </a:r>
        </a:p>
      </dsp:txBody>
      <dsp:txXfrm>
        <a:off x="149734" y="1077885"/>
        <a:ext cx="1671456" cy="845725"/>
      </dsp:txXfrm>
    </dsp:sp>
    <dsp:sp modelId="{11ABA132-8C5D-42D6-B5B2-E698B1DAF2C8}">
      <dsp:nvSpPr>
        <dsp:cNvPr id="0" name=""/>
        <dsp:cNvSpPr/>
      </dsp:nvSpPr>
      <dsp:spPr>
        <a:xfrm>
          <a:off x="1931961" y="2063085"/>
          <a:ext cx="5387870" cy="937229"/>
        </a:xfrm>
        <a:prstGeom prst="rightArrow">
          <a:avLst>
            <a:gd name="adj1" fmla="val 75000"/>
            <a:gd name="adj2" fmla="val 50000"/>
          </a:avLst>
        </a:prstGeom>
        <a:solidFill>
          <a:schemeClr val="accent3">
            <a:tint val="40000"/>
            <a:alpha val="90000"/>
            <a:hueOff val="-8583743"/>
            <a:satOff val="2249"/>
            <a:lumOff val="-23"/>
            <a:alphaOff val="0"/>
          </a:schemeClr>
        </a:solidFill>
        <a:ln w="15875" cap="rnd" cmpd="sng" algn="ctr">
          <a:solidFill>
            <a:schemeClr val="accent3">
              <a:tint val="40000"/>
              <a:alpha val="90000"/>
              <a:hueOff val="-8583743"/>
              <a:satOff val="2249"/>
              <a:lumOff val="-2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altLang="zh-CN" sz="1600" b="1" u="none" kern="1200" dirty="0" err="1" smtClean="0">
              <a:latin typeface="+mn-lt"/>
              <a:ea typeface="+mn-ea"/>
            </a:rPr>
            <a:t>ZigBee</a:t>
          </a:r>
          <a:r>
            <a:rPr lang="en-US" altLang="zh-CN" sz="1600" b="1" u="none" kern="1200" dirty="0" smtClean="0">
              <a:latin typeface="+mn-lt"/>
              <a:ea typeface="+mn-ea"/>
            </a:rPr>
            <a:t>/</a:t>
          </a:r>
          <a:r>
            <a:rPr lang="zh-CN" altLang="en-US" sz="1600" b="1" u="none" kern="1200" dirty="0" smtClean="0">
              <a:latin typeface="+mn-lt"/>
              <a:ea typeface="+mn-ea"/>
            </a:rPr>
            <a:t>蓝牙</a:t>
          </a:r>
          <a:r>
            <a:rPr lang="en-US" altLang="zh-CN" sz="1600" b="1" u="none" kern="1200" dirty="0" smtClean="0">
              <a:latin typeface="+mn-lt"/>
              <a:ea typeface="+mn-ea"/>
            </a:rPr>
            <a:t>/</a:t>
          </a:r>
          <a:r>
            <a:rPr lang="zh-CN" altLang="en-US" sz="1600" b="1" u="none" kern="1200" dirty="0" smtClean="0">
              <a:latin typeface="+mn-lt"/>
              <a:ea typeface="+mn-ea"/>
            </a:rPr>
            <a:t>红外</a:t>
          </a:r>
          <a:r>
            <a:rPr lang="zh-CN" altLang="en-US" sz="1600" u="none" kern="1200" dirty="0" smtClean="0">
              <a:latin typeface="+mn-lt"/>
              <a:ea typeface="+mn-ea"/>
            </a:rPr>
            <a:t>等低速网络协议能够适应物联网中能力较低的节点的低速率、低通信半径、低计算能力和低能量来源等特征。</a:t>
          </a:r>
          <a:endParaRPr lang="zh-CN" altLang="en-US" sz="1600" u="none" kern="1200" dirty="0"/>
        </a:p>
      </dsp:txBody>
      <dsp:txXfrm>
        <a:off x="1931961" y="2180239"/>
        <a:ext cx="5036409" cy="702921"/>
      </dsp:txXfrm>
    </dsp:sp>
    <dsp:sp modelId="{3DDE3272-B9E4-48A3-BDBB-67A2A5E6961B}">
      <dsp:nvSpPr>
        <dsp:cNvPr id="0" name=""/>
        <dsp:cNvSpPr/>
      </dsp:nvSpPr>
      <dsp:spPr>
        <a:xfrm>
          <a:off x="169000" y="2063085"/>
          <a:ext cx="1762960" cy="937229"/>
        </a:xfrm>
        <a:prstGeom prst="roundRect">
          <a:avLst/>
        </a:prstGeom>
        <a:solidFill>
          <a:schemeClr val="accent3">
            <a:hueOff val="-8218778"/>
            <a:satOff val="8375"/>
            <a:lumOff val="-1569"/>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zh-CN" altLang="en-US" sz="2800" kern="1200" dirty="0" smtClean="0"/>
            <a:t>无线低速网</a:t>
          </a:r>
          <a:endParaRPr lang="zh-CN" altLang="en-US" sz="2800" kern="1200" dirty="0"/>
        </a:p>
      </dsp:txBody>
      <dsp:txXfrm>
        <a:off x="214752" y="2108837"/>
        <a:ext cx="1671456" cy="845725"/>
      </dsp:txXfrm>
    </dsp:sp>
    <dsp:sp modelId="{648E94B5-F7B5-40BA-B810-54EB92B27BBB}">
      <dsp:nvSpPr>
        <dsp:cNvPr id="0" name=""/>
        <dsp:cNvSpPr/>
      </dsp:nvSpPr>
      <dsp:spPr>
        <a:xfrm>
          <a:off x="1996956" y="3094037"/>
          <a:ext cx="5257878" cy="937229"/>
        </a:xfrm>
        <a:prstGeom prst="rightArrow">
          <a:avLst>
            <a:gd name="adj1" fmla="val 75000"/>
            <a:gd name="adj2" fmla="val 50000"/>
          </a:avLst>
        </a:prstGeom>
        <a:solidFill>
          <a:schemeClr val="accent3">
            <a:tint val="40000"/>
            <a:alpha val="90000"/>
            <a:hueOff val="-12875614"/>
            <a:satOff val="3374"/>
            <a:lumOff val="-34"/>
            <a:alphaOff val="0"/>
          </a:schemeClr>
        </a:solidFill>
        <a:ln w="15875" cap="rnd" cmpd="sng" algn="ctr">
          <a:solidFill>
            <a:schemeClr val="accent3">
              <a:tint val="40000"/>
              <a:alpha val="90000"/>
              <a:hueOff val="-12875614"/>
              <a:satOff val="3374"/>
              <a:lumOff val="-3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zh-CN" altLang="en-US" sz="1600" u="none" kern="1200" dirty="0" smtClean="0">
              <a:latin typeface="+mn-lt"/>
              <a:ea typeface="+mn-ea"/>
            </a:rPr>
            <a:t>移动通信网络将成为“</a:t>
          </a:r>
          <a:r>
            <a:rPr lang="zh-CN" altLang="en-US" sz="1600" u="none" kern="1200" dirty="0" smtClean="0">
              <a:solidFill>
                <a:srgbClr val="FF3300"/>
              </a:solidFill>
              <a:latin typeface="+mn-lt"/>
              <a:ea typeface="+mn-ea"/>
            </a:rPr>
            <a:t>全面、随时、随地</a:t>
          </a:r>
          <a:r>
            <a:rPr lang="zh-CN" altLang="en-US" sz="1600" u="none" kern="1200" dirty="0" smtClean="0">
              <a:latin typeface="+mn-lt"/>
              <a:ea typeface="+mn-ea"/>
            </a:rPr>
            <a:t>”传输信息的有效平台。高速、实时、高覆盖率、多元化处理多媒体数据，为“物品触网”创造条件。</a:t>
          </a:r>
          <a:endParaRPr lang="zh-CN" altLang="en-US" sz="1600" u="none" kern="1200" dirty="0"/>
        </a:p>
      </dsp:txBody>
      <dsp:txXfrm>
        <a:off x="1996956" y="3211191"/>
        <a:ext cx="4906417" cy="702921"/>
      </dsp:txXfrm>
    </dsp:sp>
    <dsp:sp modelId="{919A1E5B-2129-480E-B200-7F80133F46AC}">
      <dsp:nvSpPr>
        <dsp:cNvPr id="0" name=""/>
        <dsp:cNvSpPr/>
      </dsp:nvSpPr>
      <dsp:spPr>
        <a:xfrm>
          <a:off x="168978" y="3095218"/>
          <a:ext cx="1762960" cy="937229"/>
        </a:xfrm>
        <a:prstGeom prst="roundRect">
          <a:avLst/>
        </a:prstGeom>
        <a:solidFill>
          <a:schemeClr val="accent3">
            <a:hueOff val="-12328166"/>
            <a:satOff val="12562"/>
            <a:lumOff val="-2354"/>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zh-CN" altLang="en-US" sz="2800" kern="1200" dirty="0" smtClean="0"/>
            <a:t>移动通信网</a:t>
          </a:r>
          <a:endParaRPr lang="zh-CN" altLang="en-US" sz="2800" kern="1200" dirty="0"/>
        </a:p>
      </dsp:txBody>
      <dsp:txXfrm>
        <a:off x="214730" y="3140970"/>
        <a:ext cx="1671456" cy="845725"/>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pyraLvlNode" val="level"/>
          <dgm:param type="pyraAcctTxNode" val="acctTx"/>
          <dgm:param type="pyraAcctBkgdNode" val="acctBkgd"/>
          <dgm:param type="linDir" val="fromB"/>
          <dgm:param type="txDir" val="fromT"/>
          <dgm:param type="pyraAcctPos" val="aft"/>
          <dgm:param type="pyraAcctTxMar" val="step"/>
        </dgm:alg>
      </dgm:if>
      <dgm:else name="Name3">
        <dgm:alg type="pyra">
          <dgm:param type="pyraLvlNode" val="level"/>
          <dgm:param type="pyraAcctTxNode" val="acctTx"/>
          <dgm:param type="pyraAcctBkgdNode" val="acctBkgd"/>
          <dgm:param type="linDir" val="fromB"/>
          <dgm:param type="txDir" val="fromT"/>
          <dgm:param type="pyraAcctPos" val="bef"/>
          <dgm:param type="pyraAcctTxMar" val="step"/>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2">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defRPr>
            </a:lvl1pPr>
          </a:lstStyle>
          <a:p>
            <a:pPr>
              <a:defRPr/>
            </a:pPr>
            <a:fld id="{AB9DEBB1-6068-496C-A6C0-D286CE01E4D0}" type="datetimeFigureOut">
              <a:rPr lang="zh-CN" altLang="en-US"/>
              <a:t>2021/11/3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a:defRPr/>
            </a:pPr>
            <a:fld id="{E2B9904E-B658-4579-A763-B844B8A48DE1}" type="slidenum">
              <a:rPr lang="zh-CN" altLang="en-US"/>
              <a:t>‹#›</a:t>
            </a:fld>
            <a:endParaRPr lang="zh-CN" alt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a:fillRect/>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a:fillRect/>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a:xfrm>
            <a:off x="6065417" y="5054602"/>
            <a:ext cx="673276" cy="279400"/>
          </a:xfrm>
        </p:spPr>
        <p:txBody>
          <a:bodyPr/>
          <a:lstStyle/>
          <a:p>
            <a:pPr>
              <a:defRPr/>
            </a:pPr>
            <a:fld id="{F06AA7FE-B731-436C-9896-4D1A7FDA4096}" type="datetimeFigureOut">
              <a:rPr lang="zh-CN" altLang="en-US" smtClean="0"/>
              <a:t>2021/11/3</a:t>
            </a:fld>
            <a:endParaRPr lang="zh-CN" altLang="en-US"/>
          </a:p>
        </p:txBody>
      </p:sp>
      <p:sp>
        <p:nvSpPr>
          <p:cNvPr id="5" name="Footer Placeholder 4"/>
          <p:cNvSpPr>
            <a:spLocks noGrp="1"/>
          </p:cNvSpPr>
          <p:nvPr>
            <p:ph type="ftr" sz="quarter" idx="11"/>
          </p:nvPr>
        </p:nvSpPr>
        <p:spPr>
          <a:xfrm>
            <a:off x="1921934" y="5054602"/>
            <a:ext cx="4064860" cy="279400"/>
          </a:xfrm>
        </p:spPr>
        <p:txBody>
          <a:bodyPr/>
          <a:lstStyle/>
          <a:p>
            <a:pPr>
              <a:defRPr/>
            </a:pPr>
            <a:endParaRPr lang="zh-CN" altLang="en-US"/>
          </a:p>
        </p:txBody>
      </p:sp>
      <p:sp>
        <p:nvSpPr>
          <p:cNvPr id="6" name="Slide Number Placeholder 5"/>
          <p:cNvSpPr>
            <a:spLocks noGrp="1"/>
          </p:cNvSpPr>
          <p:nvPr>
            <p:ph type="sldNum" sz="quarter" idx="12"/>
          </p:nvPr>
        </p:nvSpPr>
        <p:spPr>
          <a:xfrm>
            <a:off x="6817317" y="5054602"/>
            <a:ext cx="413483" cy="279400"/>
          </a:xfrm>
        </p:spPr>
        <p:txBody>
          <a:bodyPr/>
          <a:lstStyle/>
          <a:p>
            <a:pPr>
              <a:defRPr/>
            </a:pPr>
            <a:fld id="{F486B37A-394F-4359-B6DB-AA4380B4E1A9}" type="slidenum">
              <a:rPr lang="zh-CN" altLang="en-US" smtClean="0"/>
              <a:t>‹#›</a:t>
            </a:fld>
            <a:endParaRPr lang="zh-CN" alt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fld id="{2C1EC7D2-0ACA-4D80-85F7-D76A7BF3852C}" type="datetimeFigureOut">
              <a:rPr lang="zh-CN" altLang="en-US" smtClean="0"/>
              <a:t>2021/11/3</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54C8FF23-324F-4284-BFF5-C146D67EB023}"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fld id="{E7C1BD79-D036-442D-A929-7C29E9CB0C32}" type="datetimeFigureOut">
              <a:rPr lang="zh-CN" altLang="en-US" smtClean="0"/>
              <a:t>2021/11/3</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AFEF587D-6940-48C2-A484-D44C5A3E1CA3}" type="slidenum">
              <a:rPr lang="zh-CN" altLang="en-US" smtClean="0"/>
              <a:t>‹#›</a:t>
            </a:fld>
            <a:endParaRPr lang="zh-CN" alt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pPr>
              <a:defRPr/>
            </a:pPr>
            <a:fld id="{73368A75-5541-4E42-8F62-5B487ABAA550}" type="datetimeFigureOut">
              <a:rPr lang="zh-CN" altLang="en-US" smtClean="0"/>
              <a:t>2021/11/3</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0FCD42EA-88B2-4E0A-9137-5E1C7982845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fld id="{56D3347C-4CC4-45C2-B2F6-84A1FCE16AC1}" type="datetimeFigureOut">
              <a:rPr lang="zh-CN" altLang="en-US" smtClean="0"/>
              <a:t>2021/11/3</a:t>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pPr>
              <a:defRPr/>
            </a:pPr>
            <a:fld id="{E618EF22-F552-4ECD-AA1B-8316D9B579AD}" type="slidenum">
              <a:rPr lang="zh-CN" altLang="en-US" smtClean="0"/>
              <a:t>‹#›</a:t>
            </a:fld>
            <a:endParaRPr lang="zh-CN" alt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pPr>
              <a:defRPr/>
            </a:pPr>
            <a:fld id="{215A1774-D9F5-4F57-879E-A89261871D5F}" type="datetimeFigureOut">
              <a:rPr lang="zh-CN" altLang="en-US" smtClean="0"/>
              <a:t>2021/11/3</a:t>
            </a:fld>
            <a:endParaRPr lang="zh-CN" altLang="en-US"/>
          </a:p>
        </p:txBody>
      </p:sp>
      <p:sp>
        <p:nvSpPr>
          <p:cNvPr id="4" name="Footer Placeholder 3"/>
          <p:cNvSpPr>
            <a:spLocks noGrp="1"/>
          </p:cNvSpPr>
          <p:nvPr>
            <p:ph type="ftr" sz="quarter" idx="11"/>
          </p:nvPr>
        </p:nvSpPr>
        <p:spPr/>
        <p:txBody>
          <a:bodyPr/>
          <a:lstStyle/>
          <a:p>
            <a:pPr>
              <a:defRPr/>
            </a:pPr>
            <a:endParaRPr lang="zh-CN" altLang="en-US"/>
          </a:p>
        </p:txBody>
      </p:sp>
      <p:sp>
        <p:nvSpPr>
          <p:cNvPr id="5" name="Slide Number Placeholder 4"/>
          <p:cNvSpPr>
            <a:spLocks noGrp="1"/>
          </p:cNvSpPr>
          <p:nvPr>
            <p:ph type="sldNum" sz="quarter" idx="12"/>
          </p:nvPr>
        </p:nvSpPr>
        <p:spPr/>
        <p:txBody>
          <a:bodyPr/>
          <a:lstStyle/>
          <a:p>
            <a:pPr>
              <a:defRPr/>
            </a:pPr>
            <a:fld id="{AAA42484-19EB-488E-B817-40EB0AA4E051}" type="slidenum">
              <a:rPr lang="zh-CN" altLang="en-US" smtClean="0"/>
              <a:t>‹#›</a:t>
            </a:fld>
            <a:endParaRPr lang="zh-CN" alt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255FCD9-500E-4B39-96A0-98BE51E8DAF6}" type="datetimeFigureOut">
              <a:rPr lang="zh-CN" altLang="en-US" smtClean="0"/>
              <a:t>2021/11/3</a:t>
            </a:fld>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pPr>
              <a:defRPr/>
            </a:pPr>
            <a:fld id="{DBC2A116-6E4E-48A2-A866-F8B60EF476E3}"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fld id="{06175F6F-54C4-4B6C-9166-7EC1458EDD15}" type="datetimeFigureOut">
              <a:rPr lang="zh-CN" altLang="en-US" smtClean="0"/>
              <a:t>2021/11/3</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F7C5CCD4-46BE-40E1-A748-9094485E5A79}" type="slidenum">
              <a:rPr lang="zh-CN" altLang="en-US" smtClean="0"/>
              <a:t>‹#›</a:t>
            </a:fld>
            <a:endParaRPr lang="zh-CN" alt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zh-CN" altLang="en-US" smtClean="0"/>
              <a:t>单击此处编辑母版标题样式</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fld id="{94F3CBE6-7650-470D-847A-FE4D60210CF8}" type="datetimeFigureOut">
              <a:rPr lang="zh-CN" altLang="en-US" smtClean="0"/>
              <a:t>2021/11/3</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671039E5-A3A5-4601-A46C-CEEA53004A5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fld id="{B0CF5CBA-C462-4F64-BFB2-FBF51CEE7BE8}" type="datetimeFigureOut">
              <a:rPr lang="zh-CN" altLang="en-US" smtClean="0"/>
              <a:t>2021/11/3</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B27B34DA-BE49-440D-A839-84A9CA232EE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fld id="{B0CF5CBA-C462-4F64-BFB2-FBF51CEE7BE8}" type="datetimeFigureOut">
              <a:rPr lang="zh-CN" altLang="en-US" smtClean="0"/>
              <a:t>2021/11/3</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B27B34DA-BE49-440D-A839-84A9CA232EE9}" type="slidenum">
              <a:rPr lang="zh-CN" altLang="en-US" smtClean="0"/>
              <a:t>‹#›</a:t>
            </a:fld>
            <a:endParaRPr lang="zh-CN" alt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zh-CN" altLang="en-US" smtClean="0"/>
              <a:t>单击此处编辑母版标题样式</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fld id="{B0CF5CBA-C462-4F64-BFB2-FBF51CEE7BE8}" type="datetimeFigureOut">
              <a:rPr lang="zh-CN" altLang="en-US" smtClean="0"/>
              <a:t>2021/11/3</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B27B34DA-BE49-440D-A839-84A9CA232EE9}" type="slidenum">
              <a:rPr lang="zh-CN" altLang="en-US" smtClean="0"/>
              <a:t>‹#›</a:t>
            </a:fld>
            <a:endParaRPr lang="zh-CN" alt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fld id="{B0CF5CBA-C462-4F64-BFB2-FBF51CEE7BE8}" type="datetimeFigureOut">
              <a:rPr lang="zh-CN" altLang="en-US" smtClean="0"/>
              <a:t>2021/11/3</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B27B34DA-BE49-440D-A839-84A9CA232EE9}"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zh-CN" altLang="en-US" smtClean="0"/>
              <a:t>单击此处编辑母版标题样式</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fld id="{B0CF5CBA-C462-4F64-BFB2-FBF51CEE7BE8}" type="datetimeFigureOut">
              <a:rPr lang="zh-CN" altLang="en-US" smtClean="0"/>
              <a:t>2021/11/3</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B27B34DA-BE49-440D-A839-84A9CA232EE9}" type="slidenum">
              <a:rPr lang="zh-CN" altLang="en-US" smtClean="0"/>
              <a:t>‹#›</a:t>
            </a:fld>
            <a:endParaRPr lang="zh-CN" alt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zh-CN" altLang="en-US" smtClean="0"/>
              <a:t>单击此处编辑母版标题样式</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fld id="{B0CF5CBA-C462-4F64-BFB2-FBF51CEE7BE8}" type="datetimeFigureOut">
              <a:rPr lang="zh-CN" altLang="en-US" smtClean="0"/>
              <a:t>2021/11/3</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B27B34DA-BE49-440D-A839-84A9CA232EE9}" type="slidenum">
              <a:rPr lang="zh-CN" altLang="en-US" smtClean="0"/>
              <a:t>‹#›</a:t>
            </a:fld>
            <a:endParaRPr lang="zh-CN" alt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fld id="{ADF47182-529A-4B80-9445-853A5FDD572A}" type="datetimeFigureOut">
              <a:rPr lang="zh-CN" altLang="en-US" smtClean="0"/>
              <a:t>2021/11/3</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AF476369-8CC3-4332-A314-DD12850753A4}" type="slidenum">
              <a:rPr lang="zh-CN" altLang="en-US" smtClean="0"/>
              <a:t>‹#›</a:t>
            </a:fld>
            <a:endParaRPr lang="zh-CN" alt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fld id="{B0CF5CBA-C462-4F64-BFB2-FBF51CEE7BE8}" type="datetimeFigureOut">
              <a:rPr lang="zh-CN" altLang="en-US" smtClean="0"/>
              <a:t>2021/11/3</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B27B34DA-BE49-440D-A839-84A9CA232EE9}" type="slidenum">
              <a:rPr lang="zh-CN" altLang="en-US" smtClean="0"/>
              <a:t>‹#›</a:t>
            </a:fld>
            <a:endParaRPr lang="zh-CN" alt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1"/>
            <a:ext cx="8001000" cy="121602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66738" y="1752600"/>
            <a:ext cx="3924300" cy="4267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3438" y="1752600"/>
            <a:ext cx="3924300" cy="4267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246813"/>
            <a:ext cx="1981200" cy="476250"/>
          </a:xfrm>
        </p:spPr>
        <p:txBody>
          <a:bodyPr/>
          <a:lstStyle>
            <a:lvl1pPr>
              <a:defRPr/>
            </a:lvl1pPr>
          </a:lstStyle>
          <a:p>
            <a:pPr>
              <a:defRPr/>
            </a:pPr>
            <a:endParaRPr lang="en-US" altLang="zh-CN"/>
          </a:p>
        </p:txBody>
      </p:sp>
      <p:sp>
        <p:nvSpPr>
          <p:cNvPr id="6" name="页脚占位符 5"/>
          <p:cNvSpPr>
            <a:spLocks noGrp="1"/>
          </p:cNvSpPr>
          <p:nvPr>
            <p:ph type="ftr" sz="quarter" idx="11"/>
          </p:nvPr>
        </p:nvSpPr>
        <p:spPr>
          <a:xfrm>
            <a:off x="3124200" y="6246813"/>
            <a:ext cx="2895600" cy="476250"/>
          </a:xfrm>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a:xfrm>
            <a:off x="6553200" y="6246813"/>
            <a:ext cx="1981200" cy="476250"/>
          </a:xfrm>
        </p:spPr>
        <p:txBody>
          <a:bodyPr/>
          <a:lstStyle>
            <a:lvl1pPr>
              <a:defRPr/>
            </a:lvl1pPr>
          </a:lstStyle>
          <a:p>
            <a:pPr>
              <a:defRPr/>
            </a:pPr>
            <a:fld id="{BC7ECCEC-4551-4A9D-A8A0-D102FB20A26B}" type="slidenum">
              <a:rPr lang="zh-CN" altLang="en-US"/>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l="1" r="14240"/>
            <a:stretch>
              <a:fillRect/>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l="1" r="14240"/>
            <a:stretch>
              <a:fillRect/>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B0CF5CBA-C462-4F64-BFB2-FBF51CEE7BE8}" type="datetimeFigureOut">
              <a:rPr lang="zh-CN" altLang="en-US" smtClean="0"/>
              <a:t>2021/11/3</a:t>
            </a:fld>
            <a:endParaRPr lang="zh-CN" alt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a:defRPr/>
            </a:pPr>
            <a:endParaRPr lang="zh-CN" alt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B27B34DA-BE49-440D-A839-84A9CA232EE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ctrTitle"/>
          </p:nvPr>
        </p:nvSpPr>
        <p:spPr>
          <a:xfrm>
            <a:off x="1763688" y="2128465"/>
            <a:ext cx="5544616" cy="1300163"/>
          </a:xfrm>
        </p:spPr>
        <p:txBody>
          <a:bodyPr/>
          <a:lstStyle/>
          <a:p>
            <a:pPr eaLnBrk="1" hangingPunct="1"/>
            <a:r>
              <a:rPr lang="zh-CN" altLang="en-US" smtClean="0"/>
              <a:t>物联网</a:t>
            </a:r>
          </a:p>
        </p:txBody>
      </p:sp>
    </p:spTree>
  </p:cSld>
  <p:clrMapOvr>
    <a:masterClrMapping/>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pPr eaLnBrk="1" hangingPunct="1"/>
            <a:r>
              <a:rPr lang="zh-CN" altLang="en-US" smtClean="0"/>
              <a:t>内容提纲</a:t>
            </a:r>
          </a:p>
        </p:txBody>
      </p:sp>
      <p:graphicFrame>
        <p:nvGraphicFramePr>
          <p:cNvPr id="4" name="内容占位符 3"/>
          <p:cNvGraphicFramePr>
            <a:graphicFrameLocks noGrp="1"/>
          </p:cNvGraphicFramePr>
          <p:nvPr>
            <p:ph idx="1"/>
          </p:nvPr>
        </p:nvGraphicFramePr>
        <p:xfrm>
          <a:off x="1176338" y="2490788"/>
          <a:ext cx="6799262" cy="3444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sz="half" idx="2"/>
          </p:nvPr>
        </p:nvSpPr>
        <p:spPr>
          <a:xfrm>
            <a:off x="683568" y="1268760"/>
            <a:ext cx="7776864" cy="4536504"/>
          </a:xfrm>
        </p:spPr>
        <p:txBody>
          <a:bodyPr anchor="ctr">
            <a:noAutofit/>
          </a:bodyPr>
          <a:lstStyle/>
          <a:p>
            <a:pPr>
              <a:lnSpc>
                <a:spcPct val="200000"/>
              </a:lnSpc>
              <a:spcAft>
                <a:spcPts val="0"/>
              </a:spcAft>
              <a:buClr>
                <a:schemeClr val="accent2"/>
              </a:buClr>
              <a:buFont typeface="Wingdings" panose="05000000000000000000" pitchFamily="2" charset="2"/>
              <a:buChar char="u"/>
              <a:defRPr/>
            </a:pPr>
            <a:r>
              <a:rPr lang="zh-CN" altLang="en-US" sz="1800"/>
              <a:t>物联网（</a:t>
            </a:r>
            <a:r>
              <a:rPr lang="en-US" altLang="zh-CN" sz="1800"/>
              <a:t>Internet of Things</a:t>
            </a:r>
            <a:r>
              <a:rPr lang="zh-CN" altLang="en-US" sz="1800"/>
              <a:t>，简称</a:t>
            </a:r>
            <a:r>
              <a:rPr lang="en-US" altLang="zh-CN" sz="1800"/>
              <a:t>IOT</a:t>
            </a:r>
            <a:r>
              <a:rPr lang="zh-CN" altLang="en-US" sz="1800"/>
              <a:t>），顾名思义就是“物物相连的互联网”，它是通过无线射频识别（</a:t>
            </a:r>
            <a:r>
              <a:rPr lang="en-US" altLang="zh-CN" sz="1800"/>
              <a:t>RFID</a:t>
            </a:r>
            <a:r>
              <a:rPr lang="zh-CN" altLang="en-US" sz="1800"/>
              <a:t>）、红外感应器、全球定位系统、激光扫描器等信息传感设备，按约定的协议，把任何物品与互联网连接起来，</a:t>
            </a:r>
            <a:r>
              <a:rPr lang="zh-CN" altLang="en-US" sz="1800" b="1">
                <a:latin typeface="微软雅黑" panose="020B0503020204020204" pitchFamily="34" charset="-122"/>
                <a:ea typeface="微软雅黑" panose="020B0503020204020204" pitchFamily="34" charset="-122"/>
              </a:rPr>
              <a:t>实现任何物体、任何人、任何时间、任何地点（</a:t>
            </a:r>
            <a:r>
              <a:rPr lang="en-US" altLang="zh-CN" sz="1800" b="1">
                <a:latin typeface="微软雅黑" panose="020B0503020204020204" pitchFamily="34" charset="-122"/>
                <a:ea typeface="微软雅黑" panose="020B0503020204020204" pitchFamily="34" charset="-122"/>
              </a:rPr>
              <a:t>4A</a:t>
            </a:r>
            <a:r>
              <a:rPr lang="zh-CN" altLang="en-US" sz="1800" b="1">
                <a:latin typeface="微软雅黑" panose="020B0503020204020204" pitchFamily="34" charset="-122"/>
                <a:ea typeface="微软雅黑" panose="020B0503020204020204" pitchFamily="34" charset="-122"/>
              </a:rPr>
              <a:t>）的智能化识别、信息交换与管理</a:t>
            </a:r>
            <a:r>
              <a:rPr lang="zh-CN" altLang="en-US" sz="1800"/>
              <a:t>，以实现智能化识别、定位、跟踪、监控和管理的一种网络</a:t>
            </a:r>
            <a:r>
              <a:rPr lang="zh-CN" altLang="en-US" sz="1800" smtClean="0"/>
              <a:t>。</a:t>
            </a:r>
            <a:endParaRPr lang="en-US" altLang="zh-CN" sz="1800" smtClean="0">
              <a:latin typeface="微软雅黑" panose="020B0503020204020204" pitchFamily="34" charset="-122"/>
              <a:ea typeface="微软雅黑" panose="020B0503020204020204" pitchFamily="34" charset="-122"/>
            </a:endParaRPr>
          </a:p>
          <a:p>
            <a:pPr eaLnBrk="1" fontAlgn="auto" hangingPunct="1">
              <a:lnSpc>
                <a:spcPct val="200000"/>
              </a:lnSpc>
              <a:spcBef>
                <a:spcPct val="20000"/>
              </a:spcBef>
              <a:spcAft>
                <a:spcPts val="0"/>
              </a:spcAft>
              <a:buClr>
                <a:schemeClr val="accent2"/>
              </a:buClr>
              <a:buFont typeface="Wingdings" panose="05000000000000000000" pitchFamily="2" charset="2"/>
              <a:buChar char="u"/>
              <a:defRPr/>
            </a:pPr>
            <a:r>
              <a:rPr lang="zh-CN" altLang="en-US" sz="1800" smtClean="0">
                <a:latin typeface="微软雅黑" panose="020B0503020204020204" pitchFamily="34" charset="-122"/>
                <a:ea typeface="微软雅黑" panose="020B0503020204020204" pitchFamily="34" charset="-122"/>
              </a:rPr>
              <a:t>也</a:t>
            </a:r>
            <a:r>
              <a:rPr lang="zh-CN" altLang="en-US" sz="1800" dirty="0" smtClean="0">
                <a:latin typeface="微软雅黑" panose="020B0503020204020204" pitchFamily="34" charset="-122"/>
                <a:ea typeface="微软雅黑" panose="020B0503020204020204" pitchFamily="34" charset="-122"/>
              </a:rPr>
              <a:t>有将物联网理解为</a:t>
            </a:r>
            <a:r>
              <a:rPr lang="en-US" altLang="zh-CN" sz="1800" dirty="0" smtClean="0">
                <a:latin typeface="微软雅黑" panose="020B0503020204020204" pitchFamily="34" charset="-122"/>
                <a:ea typeface="微软雅黑" panose="020B0503020204020204" pitchFamily="34" charset="-122"/>
              </a:rPr>
              <a:t>Intelligent Interconnection Of Things(IIOT)</a:t>
            </a:r>
            <a:r>
              <a:rPr lang="zh-CN" altLang="en-US" sz="1800" dirty="0" smtClean="0">
                <a:latin typeface="微软雅黑" panose="020B0503020204020204" pitchFamily="34" charset="-122"/>
                <a:ea typeface="微软雅黑" panose="020B0503020204020204" pitchFamily="34" charset="-122"/>
              </a:rPr>
              <a:t>，体现出了“</a:t>
            </a:r>
            <a:r>
              <a:rPr lang="zh-CN" altLang="en-US" sz="1800" dirty="0" smtClean="0">
                <a:solidFill>
                  <a:srgbClr val="FF0000"/>
                </a:solidFill>
                <a:latin typeface="微软雅黑" panose="020B0503020204020204" pitchFamily="34" charset="-122"/>
                <a:ea typeface="微软雅黑" panose="020B0503020204020204" pitchFamily="34" charset="-122"/>
              </a:rPr>
              <a:t>智慧</a:t>
            </a:r>
            <a:r>
              <a:rPr lang="zh-CN" altLang="en-US" sz="1800" dirty="0" smtClean="0">
                <a:latin typeface="微软雅黑" panose="020B0503020204020204" pitchFamily="34" charset="-122"/>
                <a:ea typeface="微软雅黑" panose="020B0503020204020204" pitchFamily="34" charset="-122"/>
              </a:rPr>
              <a:t>”和“</a:t>
            </a:r>
            <a:r>
              <a:rPr lang="zh-CN" altLang="en-US" sz="1800" dirty="0" smtClean="0">
                <a:solidFill>
                  <a:srgbClr val="FF0000"/>
                </a:solidFill>
                <a:latin typeface="微软雅黑" panose="020B0503020204020204" pitchFamily="34" charset="-122"/>
                <a:ea typeface="微软雅黑" panose="020B0503020204020204" pitchFamily="34" charset="-122"/>
              </a:rPr>
              <a:t>泛在网络</a:t>
            </a:r>
            <a:r>
              <a:rPr lang="zh-CN" altLang="en-US" sz="1800" dirty="0" smtClean="0">
                <a:latin typeface="微软雅黑" panose="020B0503020204020204" pitchFamily="34" charset="-122"/>
                <a:ea typeface="微软雅黑" panose="020B0503020204020204" pitchFamily="34" charset="-122"/>
              </a:rPr>
              <a:t>”的含义。</a:t>
            </a:r>
            <a:endParaRPr lang="zh-CN" altLang="en-US" sz="1800" dirty="0"/>
          </a:p>
        </p:txBody>
      </p:sp>
      <p:pic>
        <p:nvPicPr>
          <p:cNvPr id="922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2280" y="260648"/>
            <a:ext cx="1609591" cy="1368152"/>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p:cNvSpPr>
            <a:spLocks noGrp="1"/>
          </p:cNvSpPr>
          <p:nvPr>
            <p:ph type="title"/>
          </p:nvPr>
        </p:nvSpPr>
        <p:spPr>
          <a:xfrm>
            <a:off x="611560" y="476673"/>
            <a:ext cx="6798734" cy="792088"/>
          </a:xfrm>
        </p:spPr>
        <p:txBody>
          <a:bodyPr/>
          <a:lstStyle/>
          <a:p>
            <a:pPr eaLnBrk="1" hangingPunct="1"/>
            <a:r>
              <a:rPr lang="zh-CN" altLang="en-US" smtClean="0"/>
              <a:t>物联网的定义</a:t>
            </a:r>
          </a:p>
        </p:txBody>
      </p:sp>
    </p:spTree>
  </p:cSld>
  <p:clrMapOvr>
    <a:masterClrMapping/>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标题 1"/>
          <p:cNvSpPr>
            <a:spLocks noGrp="1"/>
          </p:cNvSpPr>
          <p:nvPr>
            <p:ph type="title"/>
          </p:nvPr>
        </p:nvSpPr>
        <p:spPr>
          <a:xfrm>
            <a:off x="539552" y="619670"/>
            <a:ext cx="6798734" cy="1303867"/>
          </a:xfrm>
        </p:spPr>
        <p:txBody>
          <a:bodyPr/>
          <a:lstStyle/>
          <a:p>
            <a:pPr eaLnBrk="1" hangingPunct="1"/>
            <a:r>
              <a:rPr lang="zh-CN" altLang="en-US" smtClean="0"/>
              <a:t>物联网的其它定义</a:t>
            </a:r>
          </a:p>
        </p:txBody>
      </p:sp>
      <p:sp>
        <p:nvSpPr>
          <p:cNvPr id="12291" name="内容占位符 2"/>
          <p:cNvSpPr>
            <a:spLocks noGrp="1"/>
          </p:cNvSpPr>
          <p:nvPr>
            <p:ph idx="1"/>
          </p:nvPr>
        </p:nvSpPr>
        <p:spPr/>
        <p:txBody>
          <a:bodyPr/>
          <a:lstStyle/>
          <a:p>
            <a:pPr eaLnBrk="1" hangingPunct="1"/>
            <a:endParaRPr lang="zh-CN" altLang="en-US" smtClean="0"/>
          </a:p>
        </p:txBody>
      </p:sp>
      <p:pic>
        <p:nvPicPr>
          <p:cNvPr id="1229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690157"/>
            <a:ext cx="7632848" cy="424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4"/>
          <p:cNvSpPr>
            <a:spLocks noGrp="1"/>
          </p:cNvSpPr>
          <p:nvPr>
            <p:ph type="title"/>
          </p:nvPr>
        </p:nvSpPr>
        <p:spPr/>
        <p:txBody>
          <a:bodyPr/>
          <a:lstStyle/>
          <a:p>
            <a:pPr eaLnBrk="1" hangingPunct="1"/>
            <a:r>
              <a:rPr lang="zh-CN" altLang="en-US" smtClean="0"/>
              <a:t>历史进程</a:t>
            </a:r>
          </a:p>
        </p:txBody>
      </p:sp>
      <p:grpSp>
        <p:nvGrpSpPr>
          <p:cNvPr id="10243" name="组合 71"/>
          <p:cNvGrpSpPr/>
          <p:nvPr/>
        </p:nvGrpSpPr>
        <p:grpSpPr bwMode="auto">
          <a:xfrm>
            <a:off x="1173170" y="2179517"/>
            <a:ext cx="7287262" cy="4132263"/>
            <a:chOff x="395288" y="2438400"/>
            <a:chExt cx="8247062" cy="4132263"/>
          </a:xfrm>
        </p:grpSpPr>
        <p:pic>
          <p:nvPicPr>
            <p:cNvPr id="41" name="图片 40" descr="images.jpeg"/>
            <p:cNvPicPr>
              <a:picLocks noChangeAspect="1"/>
            </p:cNvPicPr>
            <p:nvPr/>
          </p:nvPicPr>
          <p:blipFill>
            <a:blip r:embed="rId2" cstate="print"/>
            <a:stretch>
              <a:fillRect/>
            </a:stretch>
          </p:blipFill>
          <p:spPr>
            <a:xfrm>
              <a:off x="7524303" y="2531765"/>
              <a:ext cx="1034603" cy="1493811"/>
            </a:xfrm>
            <a:prstGeom prst="rect">
              <a:avLst/>
            </a:prstGeom>
            <a:solidFill>
              <a:srgbClr val="FFFFFF">
                <a:shade val="85000"/>
              </a:srgbClr>
            </a:solidFill>
            <a:ln w="190500" cap="sq">
              <a:solidFill>
                <a:srgbClr val="FFFFFF"/>
              </a:solidFill>
              <a:miter lim="800000"/>
              <a:headEnd/>
              <a:tailEnd/>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2" name="Freeform 4"/>
            <p:cNvSpPr>
              <a:spLocks noEditPoints="1"/>
            </p:cNvSpPr>
            <p:nvPr/>
          </p:nvSpPr>
          <p:spPr bwMode="gray">
            <a:xfrm>
              <a:off x="468313" y="2781300"/>
              <a:ext cx="5614987" cy="3789363"/>
            </a:xfrm>
            <a:custGeom>
              <a:avLst/>
              <a:gdLst>
                <a:gd name="T0" fmla="*/ 1092 w 2820"/>
                <a:gd name="T1" fmla="*/ 50 h 2912"/>
                <a:gd name="T2" fmla="*/ 822 w 2820"/>
                <a:gd name="T3" fmla="*/ 168 h 2912"/>
                <a:gd name="T4" fmla="*/ 594 w 2820"/>
                <a:gd name="T5" fmla="*/ 300 h 2912"/>
                <a:gd name="T6" fmla="*/ 406 w 2820"/>
                <a:gd name="T7" fmla="*/ 446 h 2912"/>
                <a:gd name="T8" fmla="*/ 254 w 2820"/>
                <a:gd name="T9" fmla="*/ 604 h 2912"/>
                <a:gd name="T10" fmla="*/ 140 w 2820"/>
                <a:gd name="T11" fmla="*/ 772 h 2912"/>
                <a:gd name="T12" fmla="*/ 60 w 2820"/>
                <a:gd name="T13" fmla="*/ 944 h 2912"/>
                <a:gd name="T14" fmla="*/ 14 w 2820"/>
                <a:gd name="T15" fmla="*/ 1122 h 2912"/>
                <a:gd name="T16" fmla="*/ 0 w 2820"/>
                <a:gd name="T17" fmla="*/ 1300 h 2912"/>
                <a:gd name="T18" fmla="*/ 18 w 2820"/>
                <a:gd name="T19" fmla="*/ 1476 h 2912"/>
                <a:gd name="T20" fmla="*/ 64 w 2820"/>
                <a:gd name="T21" fmla="*/ 1650 h 2912"/>
                <a:gd name="T22" fmla="*/ 138 w 2820"/>
                <a:gd name="T23" fmla="*/ 1818 h 2912"/>
                <a:gd name="T24" fmla="*/ 238 w 2820"/>
                <a:gd name="T25" fmla="*/ 1978 h 2912"/>
                <a:gd name="T26" fmla="*/ 364 w 2820"/>
                <a:gd name="T27" fmla="*/ 2126 h 2912"/>
                <a:gd name="T28" fmla="*/ 512 w 2820"/>
                <a:gd name="T29" fmla="*/ 2262 h 2912"/>
                <a:gd name="T30" fmla="*/ 684 w 2820"/>
                <a:gd name="T31" fmla="*/ 2382 h 2912"/>
                <a:gd name="T32" fmla="*/ 874 w 2820"/>
                <a:gd name="T33" fmla="*/ 2484 h 2912"/>
                <a:gd name="T34" fmla="*/ 1086 w 2820"/>
                <a:gd name="T35" fmla="*/ 2564 h 2912"/>
                <a:gd name="T36" fmla="*/ 1314 w 2820"/>
                <a:gd name="T37" fmla="*/ 2622 h 2912"/>
                <a:gd name="T38" fmla="*/ 1558 w 2820"/>
                <a:gd name="T39" fmla="*/ 2654 h 2912"/>
                <a:gd name="T40" fmla="*/ 1818 w 2820"/>
                <a:gd name="T41" fmla="*/ 2658 h 2912"/>
                <a:gd name="T42" fmla="*/ 2090 w 2820"/>
                <a:gd name="T43" fmla="*/ 2632 h 2912"/>
                <a:gd name="T44" fmla="*/ 2374 w 2820"/>
                <a:gd name="T45" fmla="*/ 2574 h 2912"/>
                <a:gd name="T46" fmla="*/ 2544 w 2820"/>
                <a:gd name="T47" fmla="*/ 2912 h 2912"/>
                <a:gd name="T48" fmla="*/ 1868 w 2820"/>
                <a:gd name="T49" fmla="*/ 1552 h 2912"/>
                <a:gd name="T50" fmla="*/ 1956 w 2820"/>
                <a:gd name="T51" fmla="*/ 1914 h 2912"/>
                <a:gd name="T52" fmla="*/ 1788 w 2820"/>
                <a:gd name="T53" fmla="*/ 1936 h 2912"/>
                <a:gd name="T54" fmla="*/ 1616 w 2820"/>
                <a:gd name="T55" fmla="*/ 1934 h 2912"/>
                <a:gd name="T56" fmla="*/ 1442 w 2820"/>
                <a:gd name="T57" fmla="*/ 1912 h 2912"/>
                <a:gd name="T58" fmla="*/ 1272 w 2820"/>
                <a:gd name="T59" fmla="*/ 1872 h 2912"/>
                <a:gd name="T60" fmla="*/ 1108 w 2820"/>
                <a:gd name="T61" fmla="*/ 1812 h 2912"/>
                <a:gd name="T62" fmla="*/ 952 w 2820"/>
                <a:gd name="T63" fmla="*/ 1736 h 2912"/>
                <a:gd name="T64" fmla="*/ 810 w 2820"/>
                <a:gd name="T65" fmla="*/ 1646 h 2912"/>
                <a:gd name="T66" fmla="*/ 684 w 2820"/>
                <a:gd name="T67" fmla="*/ 1542 h 2912"/>
                <a:gd name="T68" fmla="*/ 578 w 2820"/>
                <a:gd name="T69" fmla="*/ 1428 h 2912"/>
                <a:gd name="T70" fmla="*/ 494 w 2820"/>
                <a:gd name="T71" fmla="*/ 1304 h 2912"/>
                <a:gd name="T72" fmla="*/ 438 w 2820"/>
                <a:gd name="T73" fmla="*/ 1170 h 2912"/>
                <a:gd name="T74" fmla="*/ 410 w 2820"/>
                <a:gd name="T75" fmla="*/ 1032 h 2912"/>
                <a:gd name="T76" fmla="*/ 416 w 2820"/>
                <a:gd name="T77" fmla="*/ 888 h 2912"/>
                <a:gd name="T78" fmla="*/ 460 w 2820"/>
                <a:gd name="T79" fmla="*/ 742 h 2912"/>
                <a:gd name="T80" fmla="*/ 544 w 2820"/>
                <a:gd name="T81" fmla="*/ 592 h 2912"/>
                <a:gd name="T82" fmla="*/ 670 w 2820"/>
                <a:gd name="T83" fmla="*/ 444 h 2912"/>
                <a:gd name="T84" fmla="*/ 844 w 2820"/>
                <a:gd name="T85" fmla="*/ 298 h 2912"/>
                <a:gd name="T86" fmla="*/ 1070 w 2820"/>
                <a:gd name="T87" fmla="*/ 154 h 2912"/>
                <a:gd name="T88" fmla="*/ 1348 w 2820"/>
                <a:gd name="T89" fmla="*/ 16 h 2912"/>
                <a:gd name="T90" fmla="*/ 1244 w 2820"/>
                <a:gd name="T91" fmla="*/ 0 h 2912"/>
                <a:gd name="T92" fmla="*/ 2820 w 2820"/>
                <a:gd name="T93" fmla="*/ 1934 h 2912"/>
                <a:gd name="T94" fmla="*/ 2820 w 2820"/>
                <a:gd name="T95" fmla="*/ 1934 h 291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820" h="2912">
                  <a:moveTo>
                    <a:pt x="1244" y="0"/>
                  </a:moveTo>
                  <a:lnTo>
                    <a:pt x="1092" y="50"/>
                  </a:lnTo>
                  <a:lnTo>
                    <a:pt x="952" y="106"/>
                  </a:lnTo>
                  <a:lnTo>
                    <a:pt x="822" y="168"/>
                  </a:lnTo>
                  <a:lnTo>
                    <a:pt x="704" y="232"/>
                  </a:lnTo>
                  <a:lnTo>
                    <a:pt x="594" y="300"/>
                  </a:lnTo>
                  <a:lnTo>
                    <a:pt x="494" y="372"/>
                  </a:lnTo>
                  <a:lnTo>
                    <a:pt x="406" y="446"/>
                  </a:lnTo>
                  <a:lnTo>
                    <a:pt x="324" y="524"/>
                  </a:lnTo>
                  <a:lnTo>
                    <a:pt x="254" y="604"/>
                  </a:lnTo>
                  <a:lnTo>
                    <a:pt x="192" y="686"/>
                  </a:lnTo>
                  <a:lnTo>
                    <a:pt x="140" y="772"/>
                  </a:lnTo>
                  <a:lnTo>
                    <a:pt x="96" y="856"/>
                  </a:lnTo>
                  <a:lnTo>
                    <a:pt x="60" y="944"/>
                  </a:lnTo>
                  <a:lnTo>
                    <a:pt x="32" y="1032"/>
                  </a:lnTo>
                  <a:lnTo>
                    <a:pt x="14" y="1122"/>
                  </a:lnTo>
                  <a:lnTo>
                    <a:pt x="2" y="1210"/>
                  </a:lnTo>
                  <a:lnTo>
                    <a:pt x="0" y="1300"/>
                  </a:lnTo>
                  <a:lnTo>
                    <a:pt x="4" y="1388"/>
                  </a:lnTo>
                  <a:lnTo>
                    <a:pt x="18" y="1476"/>
                  </a:lnTo>
                  <a:lnTo>
                    <a:pt x="36" y="1564"/>
                  </a:lnTo>
                  <a:lnTo>
                    <a:pt x="64" y="1650"/>
                  </a:lnTo>
                  <a:lnTo>
                    <a:pt x="96" y="1736"/>
                  </a:lnTo>
                  <a:lnTo>
                    <a:pt x="138" y="1818"/>
                  </a:lnTo>
                  <a:lnTo>
                    <a:pt x="184" y="1900"/>
                  </a:lnTo>
                  <a:lnTo>
                    <a:pt x="238" y="1978"/>
                  </a:lnTo>
                  <a:lnTo>
                    <a:pt x="298" y="2054"/>
                  </a:lnTo>
                  <a:lnTo>
                    <a:pt x="364" y="2126"/>
                  </a:lnTo>
                  <a:lnTo>
                    <a:pt x="434" y="2196"/>
                  </a:lnTo>
                  <a:lnTo>
                    <a:pt x="512" y="2262"/>
                  </a:lnTo>
                  <a:lnTo>
                    <a:pt x="596" y="2324"/>
                  </a:lnTo>
                  <a:lnTo>
                    <a:pt x="684" y="2382"/>
                  </a:lnTo>
                  <a:lnTo>
                    <a:pt x="776" y="2436"/>
                  </a:lnTo>
                  <a:lnTo>
                    <a:pt x="874" y="2484"/>
                  </a:lnTo>
                  <a:lnTo>
                    <a:pt x="978" y="2526"/>
                  </a:lnTo>
                  <a:lnTo>
                    <a:pt x="1086" y="2564"/>
                  </a:lnTo>
                  <a:lnTo>
                    <a:pt x="1198" y="2596"/>
                  </a:lnTo>
                  <a:lnTo>
                    <a:pt x="1314" y="2622"/>
                  </a:lnTo>
                  <a:lnTo>
                    <a:pt x="1434" y="2642"/>
                  </a:lnTo>
                  <a:lnTo>
                    <a:pt x="1558" y="2654"/>
                  </a:lnTo>
                  <a:lnTo>
                    <a:pt x="1686" y="2660"/>
                  </a:lnTo>
                  <a:lnTo>
                    <a:pt x="1818" y="2658"/>
                  </a:lnTo>
                  <a:lnTo>
                    <a:pt x="1952" y="2650"/>
                  </a:lnTo>
                  <a:lnTo>
                    <a:pt x="2090" y="2632"/>
                  </a:lnTo>
                  <a:lnTo>
                    <a:pt x="2230" y="2608"/>
                  </a:lnTo>
                  <a:lnTo>
                    <a:pt x="2374" y="2574"/>
                  </a:lnTo>
                  <a:lnTo>
                    <a:pt x="2542" y="2912"/>
                  </a:lnTo>
                  <a:lnTo>
                    <a:pt x="2544" y="2912"/>
                  </a:lnTo>
                  <a:lnTo>
                    <a:pt x="2820" y="1934"/>
                  </a:lnTo>
                  <a:lnTo>
                    <a:pt x="1868" y="1552"/>
                  </a:lnTo>
                  <a:lnTo>
                    <a:pt x="2036" y="1894"/>
                  </a:lnTo>
                  <a:lnTo>
                    <a:pt x="1956" y="1914"/>
                  </a:lnTo>
                  <a:lnTo>
                    <a:pt x="1872" y="1928"/>
                  </a:lnTo>
                  <a:lnTo>
                    <a:pt x="1788" y="1936"/>
                  </a:lnTo>
                  <a:lnTo>
                    <a:pt x="1702" y="1938"/>
                  </a:lnTo>
                  <a:lnTo>
                    <a:pt x="1616" y="1934"/>
                  </a:lnTo>
                  <a:lnTo>
                    <a:pt x="1528" y="1926"/>
                  </a:lnTo>
                  <a:lnTo>
                    <a:pt x="1442" y="1912"/>
                  </a:lnTo>
                  <a:lnTo>
                    <a:pt x="1356" y="1894"/>
                  </a:lnTo>
                  <a:lnTo>
                    <a:pt x="1272" y="1872"/>
                  </a:lnTo>
                  <a:lnTo>
                    <a:pt x="1188" y="1844"/>
                  </a:lnTo>
                  <a:lnTo>
                    <a:pt x="1108" y="1812"/>
                  </a:lnTo>
                  <a:lnTo>
                    <a:pt x="1028" y="1776"/>
                  </a:lnTo>
                  <a:lnTo>
                    <a:pt x="952" y="1736"/>
                  </a:lnTo>
                  <a:lnTo>
                    <a:pt x="880" y="1692"/>
                  </a:lnTo>
                  <a:lnTo>
                    <a:pt x="810" y="1646"/>
                  </a:lnTo>
                  <a:lnTo>
                    <a:pt x="744" y="1596"/>
                  </a:lnTo>
                  <a:lnTo>
                    <a:pt x="684" y="1542"/>
                  </a:lnTo>
                  <a:lnTo>
                    <a:pt x="628" y="1486"/>
                  </a:lnTo>
                  <a:lnTo>
                    <a:pt x="578" y="1428"/>
                  </a:lnTo>
                  <a:lnTo>
                    <a:pt x="532" y="1366"/>
                  </a:lnTo>
                  <a:lnTo>
                    <a:pt x="494" y="1304"/>
                  </a:lnTo>
                  <a:lnTo>
                    <a:pt x="462" y="1238"/>
                  </a:lnTo>
                  <a:lnTo>
                    <a:pt x="438" y="1170"/>
                  </a:lnTo>
                  <a:lnTo>
                    <a:pt x="420" y="1102"/>
                  </a:lnTo>
                  <a:lnTo>
                    <a:pt x="410" y="1032"/>
                  </a:lnTo>
                  <a:lnTo>
                    <a:pt x="410" y="960"/>
                  </a:lnTo>
                  <a:lnTo>
                    <a:pt x="416" y="888"/>
                  </a:lnTo>
                  <a:lnTo>
                    <a:pt x="434" y="816"/>
                  </a:lnTo>
                  <a:lnTo>
                    <a:pt x="460" y="742"/>
                  </a:lnTo>
                  <a:lnTo>
                    <a:pt x="496" y="668"/>
                  </a:lnTo>
                  <a:lnTo>
                    <a:pt x="544" y="592"/>
                  </a:lnTo>
                  <a:lnTo>
                    <a:pt x="602" y="518"/>
                  </a:lnTo>
                  <a:lnTo>
                    <a:pt x="670" y="444"/>
                  </a:lnTo>
                  <a:lnTo>
                    <a:pt x="752" y="370"/>
                  </a:lnTo>
                  <a:lnTo>
                    <a:pt x="844" y="298"/>
                  </a:lnTo>
                  <a:lnTo>
                    <a:pt x="950" y="226"/>
                  </a:lnTo>
                  <a:lnTo>
                    <a:pt x="1070" y="154"/>
                  </a:lnTo>
                  <a:lnTo>
                    <a:pt x="1202" y="84"/>
                  </a:lnTo>
                  <a:lnTo>
                    <a:pt x="1348" y="16"/>
                  </a:lnTo>
                  <a:lnTo>
                    <a:pt x="1244" y="0"/>
                  </a:lnTo>
                  <a:close/>
                  <a:moveTo>
                    <a:pt x="2820" y="1934"/>
                  </a:moveTo>
                  <a:lnTo>
                    <a:pt x="2820" y="1934"/>
                  </a:lnTo>
                  <a:close/>
                </a:path>
              </a:pathLst>
            </a:custGeom>
            <a:gradFill rotWithShape="1">
              <a:gsLst>
                <a:gs pos="0">
                  <a:schemeClr val="hlink"/>
                </a:gs>
                <a:gs pos="100000">
                  <a:schemeClr val="accent1"/>
                </a:gs>
              </a:gsLst>
              <a:lin ang="5400000" scaled="1"/>
            </a:gradFill>
            <a:ln w="0">
              <a:noFill/>
              <a:prstDash val="solid"/>
              <a:round/>
            </a:ln>
            <a:effectLst>
              <a:outerShdw dist="206741" dir="8249373" algn="ctr" rotWithShape="0">
                <a:srgbClr val="C1D1D3">
                  <a:alpha val="50000"/>
                </a:srgbClr>
              </a:outerShdw>
            </a:effectLst>
          </p:spPr>
          <p:txBody>
            <a:bodyPr/>
            <a:lstStyle/>
            <a:p>
              <a:pPr eaLnBrk="1" fontAlgn="auto" hangingPunct="1">
                <a:spcBef>
                  <a:spcPts val="0"/>
                </a:spcBef>
                <a:spcAft>
                  <a:spcPts val="0"/>
                </a:spcAft>
                <a:defRPr/>
              </a:pPr>
              <a:endParaRPr lang="zh-CN" altLang="en-US">
                <a:latin typeface="+mn-lt"/>
                <a:ea typeface="+mn-ea"/>
              </a:endParaRPr>
            </a:p>
          </p:txBody>
        </p:sp>
        <p:grpSp>
          <p:nvGrpSpPr>
            <p:cNvPr id="10246" name="组合 34"/>
            <p:cNvGrpSpPr/>
            <p:nvPr/>
          </p:nvGrpSpPr>
          <p:grpSpPr bwMode="auto">
            <a:xfrm>
              <a:off x="3203575" y="4652963"/>
              <a:ext cx="1562100" cy="1741487"/>
              <a:chOff x="3649663" y="4295775"/>
              <a:chExt cx="1704975" cy="1885950"/>
            </a:xfrm>
          </p:grpSpPr>
          <p:sp>
            <p:nvSpPr>
              <p:cNvPr id="10269" name="Oval 35"/>
              <p:cNvSpPr>
                <a:spLocks noChangeArrowheads="1"/>
              </p:cNvSpPr>
              <p:nvPr/>
            </p:nvSpPr>
            <p:spPr bwMode="gray">
              <a:xfrm rot="-723406">
                <a:off x="3717925" y="5514975"/>
                <a:ext cx="1438275" cy="666750"/>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70" name="Oval 36"/>
              <p:cNvSpPr>
                <a:spLocks noChangeArrowheads="1"/>
              </p:cNvSpPr>
              <p:nvPr/>
            </p:nvSpPr>
            <p:spPr bwMode="gray">
              <a:xfrm>
                <a:off x="3649663" y="4295775"/>
                <a:ext cx="1704975" cy="1706563"/>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71" name="Oval 37"/>
              <p:cNvSpPr>
                <a:spLocks noChangeArrowheads="1"/>
              </p:cNvSpPr>
              <p:nvPr/>
            </p:nvSpPr>
            <p:spPr bwMode="gray">
              <a:xfrm>
                <a:off x="3670300" y="4305300"/>
                <a:ext cx="1665288" cy="1663700"/>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72" name="Oval 38"/>
              <p:cNvSpPr>
                <a:spLocks noChangeArrowheads="1"/>
              </p:cNvSpPr>
              <p:nvPr/>
            </p:nvSpPr>
            <p:spPr bwMode="gray">
              <a:xfrm>
                <a:off x="3687763" y="4321175"/>
                <a:ext cx="1584325" cy="1555750"/>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73" name="Oval 39"/>
              <p:cNvSpPr>
                <a:spLocks noChangeArrowheads="1"/>
              </p:cNvSpPr>
              <p:nvPr/>
            </p:nvSpPr>
            <p:spPr bwMode="gray">
              <a:xfrm>
                <a:off x="3779838" y="4365625"/>
                <a:ext cx="1409700" cy="1262063"/>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grpSp>
        <p:sp>
          <p:nvSpPr>
            <p:cNvPr id="49" name="Text Box 40"/>
            <p:cNvSpPr txBox="1">
              <a:spLocks noChangeArrowheads="1"/>
            </p:cNvSpPr>
            <p:nvPr/>
          </p:nvSpPr>
          <p:spPr bwMode="gray">
            <a:xfrm>
              <a:off x="3563938" y="5157788"/>
              <a:ext cx="5078412" cy="461665"/>
            </a:xfrm>
            <a:prstGeom prst="rect">
              <a:avLst/>
            </a:prstGeom>
            <a:noFill/>
            <a:ln w="9525" algn="ctr">
              <a:noFill/>
              <a:miter lim="800000"/>
            </a:ln>
            <a:effectLst/>
          </p:spPr>
          <p:txBody>
            <a:bodyPr>
              <a:spAutoFit/>
            </a:bodyPr>
            <a:lstStyle/>
            <a:p>
              <a:pPr eaLnBrk="1" fontAlgn="auto" hangingPunct="1">
                <a:spcBef>
                  <a:spcPts val="0"/>
                </a:spcBef>
                <a:spcAft>
                  <a:spcPts val="0"/>
                </a:spcAft>
                <a:defRPr/>
              </a:pPr>
              <a:r>
                <a:rPr lang="en-US" altLang="zh-CN" sz="2400" b="1" smtClean="0">
                  <a:solidFill>
                    <a:srgbClr val="C00000"/>
                  </a:solidFill>
                  <a:latin typeface="Arial" panose="020B0604020202020204" pitchFamily="34" charset="0"/>
                  <a:ea typeface="+mn-ea"/>
                </a:rPr>
                <a:t>2020-2025 </a:t>
              </a:r>
              <a:r>
                <a:rPr lang="zh-CN" altLang="en-US" sz="2400" b="1">
                  <a:solidFill>
                    <a:srgbClr val="C00000"/>
                  </a:solidFill>
                  <a:latin typeface="Arial" panose="020B0604020202020204" pitchFamily="34" charset="0"/>
                  <a:ea typeface="+mn-ea"/>
                </a:rPr>
                <a:t>智能</a:t>
              </a:r>
              <a:r>
                <a:rPr lang="zh-CN" altLang="en-US" sz="2400" b="1" smtClean="0">
                  <a:solidFill>
                    <a:srgbClr val="C00000"/>
                  </a:solidFill>
                  <a:latin typeface="Arial" panose="020B0604020202020204" pitchFamily="34" charset="0"/>
                  <a:ea typeface="+mn-ea"/>
                </a:rPr>
                <a:t>阶段</a:t>
              </a:r>
              <a:endParaRPr lang="en-US" altLang="zh-CN" sz="2800" b="1" dirty="0">
                <a:latin typeface="Arial" panose="020B0604020202020204" pitchFamily="34" charset="0"/>
                <a:ea typeface="+mn-ea"/>
              </a:endParaRPr>
            </a:p>
          </p:txBody>
        </p:sp>
        <p:sp>
          <p:nvSpPr>
            <p:cNvPr id="10248" name="Oval 41"/>
            <p:cNvSpPr>
              <a:spLocks noChangeArrowheads="1"/>
            </p:cNvSpPr>
            <p:nvPr/>
          </p:nvSpPr>
          <p:spPr bwMode="gray">
            <a:xfrm rot="-772996">
              <a:off x="649288" y="5200650"/>
              <a:ext cx="1133475" cy="609600"/>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grpSp>
          <p:nvGrpSpPr>
            <p:cNvPr id="10249" name="Group 42"/>
            <p:cNvGrpSpPr/>
            <p:nvPr/>
          </p:nvGrpSpPr>
          <p:grpSpPr bwMode="auto">
            <a:xfrm>
              <a:off x="395288" y="4221163"/>
              <a:ext cx="5222875" cy="1441450"/>
              <a:chOff x="732" y="2112"/>
              <a:chExt cx="3206" cy="860"/>
            </a:xfrm>
          </p:grpSpPr>
          <p:sp>
            <p:nvSpPr>
              <p:cNvPr id="10264" name="Oval 43"/>
              <p:cNvSpPr>
                <a:spLocks noChangeArrowheads="1"/>
              </p:cNvSpPr>
              <p:nvPr/>
            </p:nvSpPr>
            <p:spPr bwMode="gray">
              <a:xfrm>
                <a:off x="732" y="2112"/>
                <a:ext cx="842" cy="860"/>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65" name="Oval 44"/>
              <p:cNvSpPr>
                <a:spLocks noChangeArrowheads="1"/>
              </p:cNvSpPr>
              <p:nvPr/>
            </p:nvSpPr>
            <p:spPr bwMode="gray">
              <a:xfrm>
                <a:off x="743" y="2117"/>
                <a:ext cx="821" cy="838"/>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66" name="Oval 45"/>
              <p:cNvSpPr>
                <a:spLocks noChangeArrowheads="1"/>
              </p:cNvSpPr>
              <p:nvPr/>
            </p:nvSpPr>
            <p:spPr bwMode="gray">
              <a:xfrm>
                <a:off x="751" y="2125"/>
                <a:ext cx="781" cy="784"/>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67" name="Oval 46"/>
              <p:cNvSpPr>
                <a:spLocks noChangeArrowheads="1"/>
              </p:cNvSpPr>
              <p:nvPr/>
            </p:nvSpPr>
            <p:spPr bwMode="gray">
              <a:xfrm>
                <a:off x="795" y="2147"/>
                <a:ext cx="695" cy="63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68" name="Text Box 47"/>
              <p:cNvSpPr txBox="1">
                <a:spLocks noChangeArrowheads="1"/>
              </p:cNvSpPr>
              <p:nvPr/>
            </p:nvSpPr>
            <p:spPr bwMode="gray">
              <a:xfrm>
                <a:off x="904" y="2414"/>
                <a:ext cx="3034"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r>
                  <a:rPr lang="en-US" altLang="zh-CN" sz="2000" b="1" smtClean="0">
                    <a:solidFill>
                      <a:srgbClr val="C00000"/>
                    </a:solidFill>
                  </a:rPr>
                  <a:t>2015-2020</a:t>
                </a:r>
                <a:r>
                  <a:rPr lang="en-US" altLang="zh-CN" sz="2000" b="1" smtClean="0">
                    <a:solidFill>
                      <a:srgbClr val="000000"/>
                    </a:solidFill>
                  </a:rPr>
                  <a:t> </a:t>
                </a:r>
                <a:r>
                  <a:rPr lang="zh-CN" altLang="en-US" sz="2000" b="1" smtClean="0">
                    <a:solidFill>
                      <a:srgbClr val="000000"/>
                    </a:solidFill>
                  </a:rPr>
                  <a:t>数据爆发阶段</a:t>
                </a:r>
                <a:endParaRPr lang="en-US" altLang="zh-CN" sz="2000" b="1"/>
              </a:p>
            </p:txBody>
          </p:sp>
        </p:grpSp>
        <p:sp>
          <p:nvSpPr>
            <p:cNvPr id="10250" name="Oval 48"/>
            <p:cNvSpPr>
              <a:spLocks noChangeArrowheads="1"/>
            </p:cNvSpPr>
            <p:nvPr/>
          </p:nvSpPr>
          <p:spPr bwMode="gray">
            <a:xfrm>
              <a:off x="471488" y="3444875"/>
              <a:ext cx="914400" cy="533400"/>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51" name="Oval 49"/>
            <p:cNvSpPr>
              <a:spLocks noChangeArrowheads="1"/>
            </p:cNvSpPr>
            <p:nvPr/>
          </p:nvSpPr>
          <p:spPr bwMode="gray">
            <a:xfrm>
              <a:off x="547688" y="2838450"/>
              <a:ext cx="1023937" cy="1023938"/>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52" name="Oval 50"/>
            <p:cNvSpPr>
              <a:spLocks noChangeArrowheads="1"/>
            </p:cNvSpPr>
            <p:nvPr/>
          </p:nvSpPr>
          <p:spPr bwMode="gray">
            <a:xfrm>
              <a:off x="560388" y="2843213"/>
              <a:ext cx="1000125" cy="1000125"/>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53" name="Oval 51"/>
            <p:cNvSpPr>
              <a:spLocks noChangeArrowheads="1"/>
            </p:cNvSpPr>
            <p:nvPr/>
          </p:nvSpPr>
          <p:spPr bwMode="gray">
            <a:xfrm>
              <a:off x="571500" y="2854325"/>
              <a:ext cx="950913" cy="933450"/>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54" name="Oval 52"/>
            <p:cNvSpPr>
              <a:spLocks noChangeArrowheads="1"/>
            </p:cNvSpPr>
            <p:nvPr/>
          </p:nvSpPr>
          <p:spPr bwMode="gray">
            <a:xfrm>
              <a:off x="625475" y="2879725"/>
              <a:ext cx="847725" cy="757238"/>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55" name="Text Box 53"/>
            <p:cNvSpPr txBox="1">
              <a:spLocks noChangeArrowheads="1"/>
            </p:cNvSpPr>
            <p:nvPr/>
          </p:nvSpPr>
          <p:spPr bwMode="gray">
            <a:xfrm>
              <a:off x="742951" y="3187700"/>
              <a:ext cx="34988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r>
                <a:rPr lang="en-US" altLang="zh-CN" sz="1800" b="1" smtClean="0">
                  <a:solidFill>
                    <a:srgbClr val="C00000"/>
                  </a:solidFill>
                </a:rPr>
                <a:t>2009-2015</a:t>
              </a:r>
              <a:r>
                <a:rPr lang="en-US" altLang="zh-CN" sz="1800" b="1" smtClean="0">
                  <a:solidFill>
                    <a:srgbClr val="000000"/>
                  </a:solidFill>
                </a:rPr>
                <a:t> </a:t>
              </a:r>
              <a:r>
                <a:rPr lang="zh-CN" altLang="en-US" sz="1800" b="1" smtClean="0">
                  <a:solidFill>
                    <a:srgbClr val="000000"/>
                  </a:solidFill>
                </a:rPr>
                <a:t>生态意识阶段</a:t>
              </a:r>
              <a:endParaRPr lang="en-US" altLang="zh-CN" sz="1800"/>
            </a:p>
          </p:txBody>
        </p:sp>
        <p:sp>
          <p:nvSpPr>
            <p:cNvPr id="10256" name="Oval 54"/>
            <p:cNvSpPr>
              <a:spLocks noChangeArrowheads="1"/>
            </p:cNvSpPr>
            <p:nvPr/>
          </p:nvSpPr>
          <p:spPr bwMode="gray">
            <a:xfrm>
              <a:off x="1738313" y="2971800"/>
              <a:ext cx="685800" cy="228600"/>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57" name="Oval 55"/>
            <p:cNvSpPr>
              <a:spLocks noChangeArrowheads="1"/>
            </p:cNvSpPr>
            <p:nvPr/>
          </p:nvSpPr>
          <p:spPr bwMode="gray">
            <a:xfrm>
              <a:off x="1860550" y="2438400"/>
              <a:ext cx="682625" cy="682625"/>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58" name="Oval 56"/>
            <p:cNvSpPr>
              <a:spLocks noChangeArrowheads="1"/>
            </p:cNvSpPr>
            <p:nvPr/>
          </p:nvSpPr>
          <p:spPr bwMode="gray">
            <a:xfrm>
              <a:off x="1870075" y="2441575"/>
              <a:ext cx="665163" cy="666750"/>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59" name="Oval 57"/>
            <p:cNvSpPr>
              <a:spLocks noChangeArrowheads="1"/>
            </p:cNvSpPr>
            <p:nvPr/>
          </p:nvSpPr>
          <p:spPr bwMode="gray">
            <a:xfrm>
              <a:off x="1876425" y="2447925"/>
              <a:ext cx="633413" cy="622300"/>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60" name="Oval 58"/>
            <p:cNvSpPr>
              <a:spLocks noChangeArrowheads="1"/>
            </p:cNvSpPr>
            <p:nvPr/>
          </p:nvSpPr>
          <p:spPr bwMode="gray">
            <a:xfrm>
              <a:off x="1912938" y="2466975"/>
              <a:ext cx="563562" cy="503238"/>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p>
          </p:txBody>
        </p:sp>
        <p:sp>
          <p:nvSpPr>
            <p:cNvPr id="10261" name="Text Box 59"/>
            <p:cNvSpPr txBox="1">
              <a:spLocks noChangeArrowheads="1"/>
            </p:cNvSpPr>
            <p:nvPr/>
          </p:nvSpPr>
          <p:spPr bwMode="gray">
            <a:xfrm>
              <a:off x="1822464" y="2564368"/>
              <a:ext cx="37052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r>
                <a:rPr lang="en-US" altLang="zh-CN" sz="1800" b="1" smtClean="0">
                  <a:solidFill>
                    <a:srgbClr val="C00000"/>
                  </a:solidFill>
                </a:rPr>
                <a:t>1990-2009</a:t>
              </a:r>
              <a:r>
                <a:rPr lang="zh-CN" altLang="en-US" sz="1800" b="1" smtClean="0"/>
                <a:t>自然发展阶段</a:t>
              </a:r>
              <a:endParaRPr lang="en-US" altLang="zh-CN" sz="1800"/>
            </a:p>
          </p:txBody>
        </p:sp>
        <p:pic>
          <p:nvPicPr>
            <p:cNvPr id="10262" name="图片 34" descr="index.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4292600"/>
              <a:ext cx="465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 name="Picture 2"/>
            <p:cNvPicPr>
              <a:picLocks noChangeAspect="1" noChangeArrowheads="1"/>
            </p:cNvPicPr>
            <p:nvPr/>
          </p:nvPicPr>
          <p:blipFill>
            <a:blip r:embed="rId4" cstate="print"/>
            <a:srcRect/>
            <a:stretch>
              <a:fillRect/>
            </a:stretch>
          </p:blipFill>
          <p:spPr bwMode="auto">
            <a:xfrm>
              <a:off x="7236296" y="3356992"/>
              <a:ext cx="1079759" cy="153022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grpSp>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619126" y="545306"/>
            <a:ext cx="6798734" cy="1303867"/>
          </a:xfrm>
        </p:spPr>
        <p:txBody>
          <a:bodyPr/>
          <a:lstStyle/>
          <a:p>
            <a:pPr eaLnBrk="1" hangingPunct="1"/>
            <a:r>
              <a:rPr lang="zh-CN" altLang="en-US" smtClean="0"/>
              <a:t>物联网的本质</a:t>
            </a:r>
          </a:p>
        </p:txBody>
      </p:sp>
      <p:sp>
        <p:nvSpPr>
          <p:cNvPr id="14339" name="矩形 5"/>
          <p:cNvSpPr>
            <a:spLocks noChangeArrowheads="1"/>
          </p:cNvSpPr>
          <p:nvPr/>
        </p:nvSpPr>
        <p:spPr bwMode="auto">
          <a:xfrm>
            <a:off x="428625" y="2428875"/>
            <a:ext cx="3786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r>
              <a:rPr lang="zh-CN" altLang="en-US" sz="2400" i="1">
                <a:solidFill>
                  <a:srgbClr val="FF0000"/>
                </a:solidFill>
                <a:latin typeface="微软雅黑" panose="020B0503020204020204" pitchFamily="34" charset="-122"/>
                <a:ea typeface="微软雅黑" panose="020B0503020204020204" pitchFamily="34" charset="-122"/>
              </a:rPr>
              <a:t>我们应该如何理解物联网</a:t>
            </a:r>
            <a:r>
              <a:rPr lang="zh-CN" altLang="en-US" sz="2400" b="1" i="1">
                <a:solidFill>
                  <a:srgbClr val="FF0000"/>
                </a:solidFill>
              </a:rPr>
              <a:t>？</a:t>
            </a:r>
            <a:endParaRPr lang="zh-CN" altLang="en-US" sz="2400" i="1">
              <a:solidFill>
                <a:srgbClr val="FF0000"/>
              </a:solidFill>
            </a:endParaRPr>
          </a:p>
        </p:txBody>
      </p:sp>
      <p:pic>
        <p:nvPicPr>
          <p:cNvPr id="1434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1950" y="2573339"/>
            <a:ext cx="4190709" cy="314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a:spLocks noChangeArrowheads="1"/>
          </p:cNvSpPr>
          <p:nvPr/>
        </p:nvSpPr>
        <p:spPr bwMode="auto">
          <a:xfrm>
            <a:off x="875243" y="3287718"/>
            <a:ext cx="3143250" cy="2286000"/>
          </a:xfrm>
          <a:prstGeom prst="rect">
            <a:avLst/>
          </a:prstGeom>
        </p:spPr>
        <p:style>
          <a:lnRef idx="2">
            <a:schemeClr val="accent1"/>
          </a:lnRef>
          <a:fillRef idx="1">
            <a:schemeClr val="lt1"/>
          </a:fillRef>
          <a:effectRef idx="0">
            <a:schemeClr val="accent1"/>
          </a:effectRef>
          <a:fontRef idx="minor">
            <a:schemeClr val="dk1"/>
          </a:fontRef>
        </p:style>
        <p:txBody>
          <a:bodyPr anchor="ctr"/>
          <a:lstStyle/>
          <a:p>
            <a:pPr eaLnBrk="1" fontAlgn="auto" hangingPunct="1">
              <a:lnSpc>
                <a:spcPct val="200000"/>
              </a:lnSpc>
              <a:spcBef>
                <a:spcPts val="0"/>
              </a:spcBef>
              <a:spcAft>
                <a:spcPts val="0"/>
              </a:spcAft>
              <a:defRPr/>
            </a:pPr>
            <a:r>
              <a:rPr lang="zh-CN" altLang="en-US" sz="2000" dirty="0">
                <a:latin typeface="微软雅黑" panose="020B0503020204020204" pitchFamily="34" charset="-122"/>
                <a:ea typeface="微软雅黑" panose="020B0503020204020204" pitchFamily="34" charset="-122"/>
              </a:rPr>
              <a:t>       物联网不仅仅是一个网络，更是一个平台，一个应用，或者说是一个带有节点和内容的网络。</a:t>
            </a:r>
          </a:p>
        </p:txBody>
      </p:sp>
      <p:sp>
        <p:nvSpPr>
          <p:cNvPr id="7" name="右箭头 6"/>
          <p:cNvSpPr/>
          <p:nvPr/>
        </p:nvSpPr>
        <p:spPr>
          <a:xfrm>
            <a:off x="4071934" y="4214818"/>
            <a:ext cx="288925" cy="215900"/>
          </a:xfrm>
          <a:prstGeom prst="rightArrow">
            <a:avLst/>
          </a:prstGeom>
        </p:spPr>
        <p:style>
          <a:lnRef idx="1">
            <a:schemeClr val="accent1"/>
          </a:lnRef>
          <a:fillRef idx="2">
            <a:schemeClr val="accent1"/>
          </a:fillRef>
          <a:effectRef idx="1">
            <a:schemeClr val="accent1"/>
          </a:effectRef>
          <a:fontRef idx="minor">
            <a:schemeClr val="dk1"/>
          </a:fontRef>
        </p:style>
        <p:txBody>
          <a:bodyPr anchor="ctr"/>
          <a:lstStyle/>
          <a:p>
            <a:pPr eaLnBrk="1" fontAlgn="auto" hangingPunct="1">
              <a:spcBef>
                <a:spcPts val="0"/>
              </a:spcBef>
              <a:spcAft>
                <a:spcPts val="0"/>
              </a:spcAft>
              <a:defRPr/>
            </a:pPr>
            <a:endParaRPr lang="zh-CN" altLang="en-US"/>
          </a:p>
        </p:txBody>
      </p:sp>
    </p:spTree>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pPr eaLnBrk="1" hangingPunct="1"/>
            <a:r>
              <a:rPr lang="zh-CN" altLang="en-US" smtClean="0"/>
              <a:t>物联网 </a:t>
            </a:r>
            <a:r>
              <a:rPr lang="en-US" altLang="zh-CN" smtClean="0"/>
              <a:t>VS  </a:t>
            </a:r>
            <a:r>
              <a:rPr lang="zh-CN" altLang="en-US" smtClean="0"/>
              <a:t>互联网</a:t>
            </a:r>
          </a:p>
        </p:txBody>
      </p:sp>
      <p:sp>
        <p:nvSpPr>
          <p:cNvPr id="4" name="TextBox 3"/>
          <p:cNvSpPr txBox="1"/>
          <p:nvPr/>
        </p:nvSpPr>
        <p:spPr>
          <a:xfrm>
            <a:off x="683568" y="2355736"/>
            <a:ext cx="8143900" cy="523220"/>
          </a:xfrm>
          <a:prstGeom prst="rect">
            <a:avLst/>
          </a:prstGeom>
          <a:noFill/>
        </p:spPr>
        <p:txBody>
          <a:bodyPr>
            <a:spAutoFit/>
          </a:bodyPr>
          <a:lstStyle/>
          <a:p>
            <a:pPr eaLnBrk="1" fontAlgn="auto" hangingPunct="1">
              <a:spcBef>
                <a:spcPts val="0"/>
              </a:spcBef>
              <a:spcAft>
                <a:spcPts val="0"/>
              </a:spcAft>
              <a:defRPr/>
            </a:pPr>
            <a:r>
              <a:rPr lang="zh-CN" altLang="en-US" sz="28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mn-lt"/>
                <a:ea typeface="+mn-ea"/>
              </a:rPr>
              <a:t>物联网是完全不同于互联网的一种全新的网络？</a:t>
            </a:r>
          </a:p>
        </p:txBody>
      </p:sp>
      <p:sp>
        <p:nvSpPr>
          <p:cNvPr id="5" name="TextBox 4"/>
          <p:cNvSpPr txBox="1"/>
          <p:nvPr/>
        </p:nvSpPr>
        <p:spPr>
          <a:xfrm>
            <a:off x="2528596" y="4190346"/>
            <a:ext cx="6286544" cy="523220"/>
          </a:xfrm>
          <a:prstGeom prst="rect">
            <a:avLst/>
          </a:prstGeom>
          <a:noFill/>
        </p:spPr>
        <p:txBody>
          <a:bodyPr>
            <a:spAutoFit/>
          </a:bodyPr>
          <a:lstStyle/>
          <a:p>
            <a:pPr eaLnBrk="1" fontAlgn="auto" hangingPunct="1">
              <a:spcBef>
                <a:spcPts val="0"/>
              </a:spcBef>
              <a:spcAft>
                <a:spcPts val="0"/>
              </a:spcAft>
              <a:defRPr/>
            </a:pPr>
            <a:r>
              <a:rPr lang="zh-CN" altLang="en-US" sz="28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mn-lt"/>
                <a:ea typeface="+mn-ea"/>
              </a:rPr>
              <a:t>物联网是互联网的延伸？</a:t>
            </a:r>
          </a:p>
        </p:txBody>
      </p:sp>
      <p:sp>
        <p:nvSpPr>
          <p:cNvPr id="6" name="矩形 5"/>
          <p:cNvSpPr/>
          <p:nvPr/>
        </p:nvSpPr>
        <p:spPr>
          <a:xfrm>
            <a:off x="3857620" y="3357562"/>
            <a:ext cx="1223412" cy="923330"/>
          </a:xfrm>
          <a:prstGeom prst="rect">
            <a:avLst/>
          </a:prstGeom>
          <a:noFill/>
        </p:spPr>
        <p:txBody>
          <a:bodyPr wrap="none">
            <a:spAutoFit/>
          </a:bodyPr>
          <a:lstStyle/>
          <a:p>
            <a:pPr algn="ctr" eaLnBrk="1" fontAlgn="auto" hangingPunct="1">
              <a:spcBef>
                <a:spcPts val="0"/>
              </a:spcBef>
              <a:spcAft>
                <a:spcPts val="0"/>
              </a:spcAft>
              <a:defRPr/>
            </a:pPr>
            <a:r>
              <a:rPr lang="en-US" altLang="zh-CN"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lt"/>
                <a:ea typeface="+mn-ea"/>
              </a:rPr>
              <a:t>OR</a:t>
            </a:r>
            <a:endParaRPr lang="zh-CN" alt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lt"/>
              <a:ea typeface="+mn-ea"/>
            </a:endParaRPr>
          </a:p>
        </p:txBody>
      </p:sp>
      <p:pic>
        <p:nvPicPr>
          <p:cNvPr id="15366" name="图片 3" descr="1598033754213721078.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84168" y="4985962"/>
            <a:ext cx="2312987"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pPr eaLnBrk="1" hangingPunct="1"/>
            <a:r>
              <a:rPr lang="zh-CN" altLang="en-US" smtClean="0"/>
              <a:t>物联网 </a:t>
            </a:r>
            <a:r>
              <a:rPr lang="en-US" altLang="zh-CN" smtClean="0"/>
              <a:t>VS  </a:t>
            </a:r>
            <a:r>
              <a:rPr lang="zh-CN" altLang="en-US" smtClean="0"/>
              <a:t>互联网</a:t>
            </a:r>
          </a:p>
        </p:txBody>
      </p:sp>
      <p:sp>
        <p:nvSpPr>
          <p:cNvPr id="16387" name="内容占位符 2"/>
          <p:cNvSpPr>
            <a:spLocks noGrp="1"/>
          </p:cNvSpPr>
          <p:nvPr>
            <p:ph idx="1"/>
          </p:nvPr>
        </p:nvSpPr>
        <p:spPr/>
        <p:txBody>
          <a:bodyPr>
            <a:normAutofit fontScale="92500" lnSpcReduction="10000"/>
          </a:bodyPr>
          <a:lstStyle/>
          <a:p>
            <a:pPr eaLnBrk="1" hangingPunct="1"/>
            <a:r>
              <a:rPr lang="zh-CN" altLang="en-US" smtClean="0"/>
              <a:t>互联网与物联网，有点类似“</a:t>
            </a:r>
            <a:r>
              <a:rPr lang="zh-CN" altLang="en-US" smtClean="0">
                <a:solidFill>
                  <a:srgbClr val="0000FF"/>
                </a:solidFill>
              </a:rPr>
              <a:t>父与子</a:t>
            </a:r>
            <a:r>
              <a:rPr lang="zh-CN" altLang="en-US" smtClean="0"/>
              <a:t>”的关系。因为物联网是以互联网为基础核心发展起来的新一代信息网络。</a:t>
            </a:r>
            <a:endParaRPr lang="en-US" altLang="zh-CN" smtClean="0"/>
          </a:p>
          <a:p>
            <a:pPr lvl="1">
              <a:buSzPct val="60000"/>
              <a:buFont typeface="Arial" panose="020B0604020202020204" pitchFamily="34" charset="0"/>
              <a:buChar char="•"/>
            </a:pPr>
            <a:r>
              <a:rPr lang="zh-CN" altLang="zh-CN" sz="2000" smtClean="0"/>
              <a:t>物联网</a:t>
            </a:r>
            <a:r>
              <a:rPr lang="zh-CN" altLang="en-US" sz="2000" smtClean="0"/>
              <a:t>是</a:t>
            </a:r>
            <a:r>
              <a:rPr lang="en-US" altLang="zh-CN" sz="2000" smtClean="0"/>
              <a:t>Internet of things</a:t>
            </a:r>
            <a:r>
              <a:rPr lang="zh-CN" altLang="zh-CN" sz="2000" smtClean="0"/>
              <a:t>，从这个出发很容易理解成物联网是互联网向物体世界的延伸，目前的互联网中就有大量的物与物的通信，如果从这一点出发，物联网只要对互联网作适当的延伸就可以了。</a:t>
            </a:r>
            <a:endParaRPr lang="en-US" altLang="zh-CN" sz="2000" smtClean="0"/>
          </a:p>
          <a:p>
            <a:pPr lvl="1">
              <a:buSzPct val="60000"/>
              <a:buFont typeface="Arial" panose="020B0604020202020204" pitchFamily="34" charset="0"/>
              <a:buChar char="•"/>
            </a:pPr>
            <a:r>
              <a:rPr lang="zh-CN" altLang="zh-CN" sz="2000" smtClean="0"/>
              <a:t>但事实上，物联网与互联网在技术需求上又有很大不同，物联网很难从目前的互联网延伸而来，尤其是互联网的承载网（端到端）是单一的它是</a:t>
            </a:r>
            <a:r>
              <a:rPr lang="en-US" altLang="zh-CN" sz="2000" smtClean="0"/>
              <a:t>IP</a:t>
            </a:r>
            <a:r>
              <a:rPr lang="zh-CN" altLang="zh-CN" sz="2000" smtClean="0"/>
              <a:t>网；而物联网的承载网（端到端）无论如何不可能是单一的承载网。</a:t>
            </a:r>
          </a:p>
          <a:p>
            <a:pPr eaLnBrk="1" hangingPunct="1"/>
            <a:endParaRPr lang="zh-CN" altLang="en-US"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pPr eaLnBrk="1" hangingPunct="1"/>
            <a:r>
              <a:rPr lang="zh-CN" altLang="en-US" smtClean="0"/>
              <a:t>物联网 </a:t>
            </a:r>
            <a:r>
              <a:rPr lang="en-US" altLang="zh-CN" smtClean="0"/>
              <a:t>VS  </a:t>
            </a:r>
            <a:r>
              <a:rPr lang="zh-CN" altLang="en-US" smtClean="0"/>
              <a:t>互联网</a:t>
            </a:r>
          </a:p>
        </p:txBody>
      </p:sp>
      <p:sp>
        <p:nvSpPr>
          <p:cNvPr id="17411" name="内容占位符 2"/>
          <p:cNvSpPr>
            <a:spLocks noGrp="1"/>
          </p:cNvSpPr>
          <p:nvPr>
            <p:ph idx="1"/>
          </p:nvPr>
        </p:nvSpPr>
        <p:spPr/>
        <p:txBody>
          <a:bodyPr/>
          <a:lstStyle/>
          <a:p>
            <a:pPr eaLnBrk="1" hangingPunct="1"/>
            <a:r>
              <a:rPr lang="zh-CN" altLang="en-US" smtClean="0">
                <a:solidFill>
                  <a:srgbClr val="0000FF"/>
                </a:solidFill>
              </a:rPr>
              <a:t>共同点：技术基础相同</a:t>
            </a:r>
            <a:endParaRPr lang="en-US" altLang="zh-CN" smtClean="0">
              <a:solidFill>
                <a:srgbClr val="0000FF"/>
              </a:solidFill>
            </a:endParaRPr>
          </a:p>
          <a:p>
            <a:pPr lvl="1">
              <a:buSzPct val="60000"/>
              <a:buFont typeface="Arial" panose="020B0604020202020204" pitchFamily="34" charset="0"/>
              <a:buChar char="•"/>
            </a:pPr>
            <a:r>
              <a:rPr lang="zh-CN" altLang="en-US" sz="2400" b="1" smtClean="0"/>
              <a:t>物联网和互联网</a:t>
            </a:r>
            <a:r>
              <a:rPr lang="zh-CN" altLang="zh-CN" sz="2400" b="1" smtClean="0"/>
              <a:t>都是建立在分组数据技术的基础之上的，它们都采用数据分组网作为它们的承载网；承载网和业务网是相分离的，业务网可以独立于承载网进行设计和独立发展，互联网是如此，物联网同样。</a:t>
            </a:r>
          </a:p>
          <a:p>
            <a:pPr lvl="2" eaLnBrk="1" hangingPunct="1"/>
            <a:endParaRPr lang="zh-CN" altLang="en-US" smtClean="0"/>
          </a:p>
        </p:txBody>
      </p:sp>
    </p:spTree>
  </p:cSld>
  <p:clrMapOvr>
    <a:masterClrMapping/>
  </p:clrMapOvr>
  <p:transition>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pPr eaLnBrk="1" hangingPunct="1"/>
            <a:r>
              <a:rPr lang="zh-CN" altLang="en-US" smtClean="0"/>
              <a:t>不同点</a:t>
            </a:r>
            <a:r>
              <a:rPr lang="en-US" altLang="zh-CN" smtClean="0"/>
              <a:t>1</a:t>
            </a:r>
            <a:r>
              <a:rPr lang="zh-CN" altLang="en-US" smtClean="0"/>
              <a:t>：覆盖范围不同</a:t>
            </a:r>
          </a:p>
        </p:txBody>
      </p:sp>
      <p:sp>
        <p:nvSpPr>
          <p:cNvPr id="18435" name="内容占位符 2"/>
          <p:cNvSpPr>
            <a:spLocks noGrp="1"/>
          </p:cNvSpPr>
          <p:nvPr>
            <p:ph idx="1"/>
          </p:nvPr>
        </p:nvSpPr>
        <p:spPr/>
        <p:txBody>
          <a:bodyPr/>
          <a:lstStyle/>
          <a:p>
            <a:pPr eaLnBrk="1" hangingPunct="1"/>
            <a:r>
              <a:rPr lang="zh-CN" altLang="en-US" smtClean="0"/>
              <a:t>物联网的覆盖范围要远大于互联网</a:t>
            </a:r>
            <a:endParaRPr lang="en-US" altLang="zh-CN" smtClean="0"/>
          </a:p>
          <a:p>
            <a:pPr lvl="1" eaLnBrk="1" hangingPunct="1"/>
            <a:r>
              <a:rPr lang="zh-CN" altLang="en-US" smtClean="0"/>
              <a:t>互联网的产生是为了让人通过网络交换信息，其服务的对象是人；</a:t>
            </a:r>
            <a:endParaRPr lang="en-US" altLang="zh-CN" smtClean="0"/>
          </a:p>
          <a:p>
            <a:pPr lvl="1" eaLnBrk="1" hangingPunct="1"/>
            <a:r>
              <a:rPr lang="zh-CN" altLang="en-US" smtClean="0"/>
              <a:t>物联网是为物而生，让物自由地交换信息，主要是为了管理物，间接为人服务</a:t>
            </a:r>
          </a:p>
        </p:txBody>
      </p:sp>
      <p:sp>
        <p:nvSpPr>
          <p:cNvPr id="4" name="TextBox 3"/>
          <p:cNvSpPr txBox="1"/>
          <p:nvPr/>
        </p:nvSpPr>
        <p:spPr>
          <a:xfrm>
            <a:off x="880418" y="4420959"/>
            <a:ext cx="7383164" cy="1785104"/>
          </a:xfrm>
          <a:prstGeom prst="rect">
            <a:avLst/>
          </a:prstGeom>
          <a:ln w="28575"/>
        </p:spPr>
        <p:style>
          <a:lnRef idx="2">
            <a:schemeClr val="accent4"/>
          </a:lnRef>
          <a:fillRef idx="1">
            <a:schemeClr val="lt1"/>
          </a:fillRef>
          <a:effectRef idx="0">
            <a:schemeClr val="accent4"/>
          </a:effectRef>
          <a:fontRef idx="minor">
            <a:schemeClr val="dk1"/>
          </a:fontRef>
        </p:style>
        <p:txBody>
          <a:bodyPr wrap="square">
            <a:spAutoFit/>
          </a:bodyPr>
          <a:lstStyle/>
          <a:p>
            <a:pPr indent="457200" eaLnBrk="1" fontAlgn="auto" hangingPunct="1">
              <a:spcBef>
                <a:spcPts val="0"/>
              </a:spcBef>
              <a:spcAft>
                <a:spcPts val="0"/>
              </a:spcAft>
              <a:defRPr/>
            </a:pPr>
            <a:r>
              <a:rPr lang="zh-CN" altLang="zh-CN" sz="2200" dirty="0">
                <a:latin typeface="楷体_GB2312" pitchFamily="49" charset="-122"/>
                <a:ea typeface="楷体_GB2312" pitchFamily="49" charset="-122"/>
              </a:rPr>
              <a:t>物联网为物而生，物比人笨，因此，物联网的真正实现必然比互联网的实现更难。另外，从信息的进化上讲，从人的互联，到物的互联，是一种自然的递进，本质上互联网和物联网都是人类智慧的物化而已，人的智慧对自然界的影响才是信息化进程本质的原因。</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pPr eaLnBrk="1" hangingPunct="1"/>
            <a:r>
              <a:rPr lang="zh-CN" altLang="en-US" smtClean="0"/>
              <a:t>不同点</a:t>
            </a:r>
            <a:r>
              <a:rPr lang="en-US" altLang="zh-CN" smtClean="0"/>
              <a:t>2</a:t>
            </a:r>
            <a:r>
              <a:rPr lang="zh-CN" altLang="en-US" smtClean="0"/>
              <a:t>：终端接入方式不同</a:t>
            </a:r>
          </a:p>
        </p:txBody>
      </p:sp>
      <p:sp>
        <p:nvSpPr>
          <p:cNvPr id="19459" name="内容占位符 2"/>
          <p:cNvSpPr>
            <a:spLocks noGrp="1"/>
          </p:cNvSpPr>
          <p:nvPr>
            <p:ph idx="1"/>
          </p:nvPr>
        </p:nvSpPr>
        <p:spPr/>
        <p:txBody>
          <a:bodyPr>
            <a:normAutofit lnSpcReduction="10000"/>
          </a:bodyPr>
          <a:lstStyle/>
          <a:p>
            <a:pPr eaLnBrk="1" hangingPunct="1"/>
            <a:r>
              <a:rPr lang="zh-CN" altLang="zh-CN" smtClean="0"/>
              <a:t>互联网用户通过端系统的服务器、台式机、笔记本和移动终端访问互联网资源，发送或接收电子邮件</a:t>
            </a:r>
            <a:r>
              <a:rPr lang="zh-CN" altLang="en-US" smtClean="0"/>
              <a:t>；</a:t>
            </a:r>
            <a:r>
              <a:rPr lang="zh-CN" altLang="zh-CN" smtClean="0"/>
              <a:t>阅读新闻</a:t>
            </a:r>
            <a:r>
              <a:rPr lang="zh-CN" altLang="en-US" smtClean="0"/>
              <a:t>；</a:t>
            </a:r>
            <a:r>
              <a:rPr lang="zh-CN" altLang="zh-CN" smtClean="0"/>
              <a:t>写博客或读博客</a:t>
            </a:r>
            <a:r>
              <a:rPr lang="zh-CN" altLang="en-US" smtClean="0"/>
              <a:t>；</a:t>
            </a:r>
            <a:r>
              <a:rPr lang="zh-CN" altLang="zh-CN" smtClean="0"/>
              <a:t>通过网络电话通信</a:t>
            </a:r>
            <a:r>
              <a:rPr lang="zh-CN" altLang="en-US" smtClean="0"/>
              <a:t>；</a:t>
            </a:r>
            <a:r>
              <a:rPr lang="zh-CN" altLang="zh-CN" smtClean="0"/>
              <a:t>在网上买卖股票，定机票、酒店。</a:t>
            </a:r>
            <a:endParaRPr lang="en-US" altLang="zh-CN" smtClean="0"/>
          </a:p>
          <a:p>
            <a:pPr eaLnBrk="1" hangingPunct="1"/>
            <a:r>
              <a:rPr lang="en-US" altLang="zh-CN" smtClean="0"/>
              <a:t>  </a:t>
            </a:r>
            <a:r>
              <a:rPr lang="zh-CN" altLang="zh-CN" smtClean="0"/>
              <a:t>而物联网中的传感器结点需要通过无线传感器网络的汇聚结点接入互联网</a:t>
            </a:r>
            <a:r>
              <a:rPr lang="zh-CN" altLang="en-US" smtClean="0"/>
              <a:t>；</a:t>
            </a:r>
            <a:r>
              <a:rPr lang="en-US" altLang="zh-CN" smtClean="0"/>
              <a:t>RFID</a:t>
            </a:r>
            <a:r>
              <a:rPr lang="zh-CN" altLang="zh-CN" smtClean="0"/>
              <a:t>芯片通过读写器与控制主机连接，再通过控制结点的主机接入互联网。</a:t>
            </a:r>
            <a:endParaRPr lang="en-US" altLang="zh-CN" smtClean="0"/>
          </a:p>
        </p:txBody>
      </p:sp>
    </p:spTree>
  </p:cSld>
  <p:clrMapOvr>
    <a:masterClrMapping/>
  </p:clrMapOvr>
  <p:transition>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pPr eaLnBrk="1" hangingPunct="1"/>
            <a:r>
              <a:rPr lang="zh-CN" altLang="en-US" smtClean="0"/>
              <a:t>不同点</a:t>
            </a:r>
            <a:r>
              <a:rPr lang="en-US" altLang="zh-CN" smtClean="0"/>
              <a:t>3</a:t>
            </a:r>
            <a:r>
              <a:rPr lang="zh-CN" altLang="en-US" smtClean="0"/>
              <a:t>：数据采集方式不同</a:t>
            </a:r>
          </a:p>
        </p:txBody>
      </p:sp>
      <p:sp>
        <p:nvSpPr>
          <p:cNvPr id="20483" name="内容占位符 2"/>
          <p:cNvSpPr>
            <a:spLocks noGrp="1"/>
          </p:cNvSpPr>
          <p:nvPr>
            <p:ph idx="1"/>
          </p:nvPr>
        </p:nvSpPr>
        <p:spPr/>
        <p:txBody>
          <a:bodyPr>
            <a:normAutofit fontScale="85000" lnSpcReduction="20000"/>
          </a:bodyPr>
          <a:lstStyle/>
          <a:p>
            <a:pPr eaLnBrk="1" hangingPunct="1"/>
            <a:r>
              <a:rPr lang="zh-CN" altLang="en-US" sz="2400" smtClean="0"/>
              <a:t>从互联网所能够提供的服务功能来看，无论是基本的互联网服务功能（如</a:t>
            </a:r>
            <a:r>
              <a:rPr lang="en-US" altLang="zh-CN" sz="2400" smtClean="0"/>
              <a:t>Telnet</a:t>
            </a:r>
            <a:r>
              <a:rPr lang="zh-CN" altLang="en-US" sz="2400" smtClean="0"/>
              <a:t>、</a:t>
            </a:r>
            <a:r>
              <a:rPr lang="en-US" altLang="zh-CN" sz="2400" smtClean="0"/>
              <a:t>E-mail</a:t>
            </a:r>
            <a:r>
              <a:rPr lang="zh-CN" altLang="en-US" sz="2400" smtClean="0"/>
              <a:t>、</a:t>
            </a:r>
            <a:r>
              <a:rPr lang="en-US" altLang="zh-CN" sz="2400" smtClean="0"/>
              <a:t>FTP</a:t>
            </a:r>
            <a:r>
              <a:rPr lang="zh-CN" altLang="en-US" sz="2400" smtClean="0"/>
              <a:t>、电子政务、电子商务、远程医疗、远程教育），还是基于对等结构的</a:t>
            </a:r>
            <a:r>
              <a:rPr lang="en-US" altLang="zh-CN" sz="2400" smtClean="0"/>
              <a:t>P2P</a:t>
            </a:r>
            <a:r>
              <a:rPr lang="zh-CN" altLang="en-US" sz="2400" smtClean="0"/>
              <a:t>网络新应用（如网络电话、网络电视、博客、播客、即时通信、搜索引擎、网络视频、网络游戏等），主要是实行</a:t>
            </a:r>
            <a:r>
              <a:rPr lang="zh-CN" altLang="en-US" sz="2400" b="1" smtClean="0">
                <a:solidFill>
                  <a:srgbClr val="0000FF"/>
                </a:solidFill>
              </a:rPr>
              <a:t>人与人之间的信息交互与共享</a:t>
            </a:r>
            <a:r>
              <a:rPr lang="zh-CN" altLang="en-US" sz="2400" smtClean="0"/>
              <a:t>。因此在互联网端结点之间传输的文本文件、语音文件、视频</a:t>
            </a:r>
            <a:r>
              <a:rPr lang="zh-CN" altLang="en-US" sz="2400" b="1" smtClean="0">
                <a:solidFill>
                  <a:srgbClr val="0000FF"/>
                </a:solidFill>
              </a:rPr>
              <a:t>文件都是由人输入</a:t>
            </a:r>
            <a:r>
              <a:rPr lang="zh-CN" altLang="en-US" sz="2400" smtClean="0"/>
              <a:t>的，即使是通过扫描和文字识别</a:t>
            </a:r>
            <a:r>
              <a:rPr lang="en-US" altLang="zh-CN" sz="2400" smtClean="0"/>
              <a:t>OCR</a:t>
            </a:r>
            <a:r>
              <a:rPr lang="zh-CN" altLang="en-US" sz="2400" smtClean="0"/>
              <a:t>技术输入的文字或图形、图像文件，也都是在人的控制之下完成的。</a:t>
            </a:r>
            <a:endParaRPr lang="en-US" altLang="zh-CN" sz="2400" smtClean="0"/>
          </a:p>
          <a:p>
            <a:pPr eaLnBrk="1" hangingPunct="1"/>
            <a:r>
              <a:rPr lang="zh-CN" altLang="en-US" sz="2400" smtClean="0"/>
              <a:t>而物联网的终端系统采用的是传感器、</a:t>
            </a:r>
            <a:r>
              <a:rPr lang="en-US" altLang="zh-CN" sz="2400" smtClean="0"/>
              <a:t>RFID</a:t>
            </a:r>
            <a:r>
              <a:rPr lang="zh-CN" altLang="en-US" sz="2400" smtClean="0"/>
              <a:t>，因此物联网感知的数据是</a:t>
            </a:r>
            <a:r>
              <a:rPr lang="zh-CN" altLang="en-US" sz="2400" b="1" smtClean="0">
                <a:solidFill>
                  <a:srgbClr val="0000FF"/>
                </a:solidFill>
              </a:rPr>
              <a:t>传感器主动感知或者是</a:t>
            </a:r>
            <a:r>
              <a:rPr lang="en-US" altLang="zh-CN" sz="2400" b="1" smtClean="0">
                <a:solidFill>
                  <a:srgbClr val="0000FF"/>
                </a:solidFill>
              </a:rPr>
              <a:t>RFID</a:t>
            </a:r>
            <a:r>
              <a:rPr lang="zh-CN" altLang="en-US" sz="2400" b="1" smtClean="0">
                <a:solidFill>
                  <a:srgbClr val="0000FF"/>
                </a:solidFill>
              </a:rPr>
              <a:t>读写器自动读出的</a:t>
            </a:r>
            <a:r>
              <a:rPr lang="zh-CN" altLang="en-US" sz="2400" smtClean="0"/>
              <a:t>。</a:t>
            </a:r>
            <a:endParaRPr lang="en-US" altLang="zh-CN" sz="2400" smtClean="0"/>
          </a:p>
        </p:txBody>
      </p:sp>
    </p:spTree>
  </p:cSld>
  <p:clrMapOvr>
    <a:masterClrMapping/>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pPr eaLnBrk="1" hangingPunct="1"/>
            <a:r>
              <a:rPr lang="zh-CN" altLang="en-US" smtClean="0"/>
              <a:t>不同点</a:t>
            </a:r>
            <a:r>
              <a:rPr lang="en-US" altLang="zh-CN" smtClean="0"/>
              <a:t>4</a:t>
            </a:r>
            <a:r>
              <a:rPr lang="zh-CN" altLang="en-US" smtClean="0"/>
              <a:t>：技术范围不同</a:t>
            </a:r>
          </a:p>
        </p:txBody>
      </p:sp>
      <p:sp>
        <p:nvSpPr>
          <p:cNvPr id="3" name="内容占位符 2"/>
          <p:cNvSpPr>
            <a:spLocks noGrp="1"/>
          </p:cNvSpPr>
          <p:nvPr>
            <p:ph idx="1"/>
          </p:nvPr>
        </p:nvSpPr>
        <p:spPr>
          <a:xfrm>
            <a:off x="457200" y="2249488"/>
            <a:ext cx="3829050" cy="4324350"/>
          </a:xfrm>
        </p:spPr>
        <p:txBody>
          <a:bodyPr>
            <a:normAutofit fontScale="92500"/>
          </a:bodyPr>
          <a:lstStyle/>
          <a:p>
            <a:pPr marL="365760" indent="-255905" eaLnBrk="1" fontAlgn="auto" hangingPunct="1">
              <a:spcAft>
                <a:spcPts val="0"/>
              </a:spcAft>
              <a:buClr>
                <a:schemeClr val="accent3"/>
              </a:buClr>
              <a:buFont typeface="Georgia" panose="02040502050405020303"/>
              <a:buChar char="•"/>
              <a:defRPr/>
            </a:pPr>
            <a:r>
              <a:rPr lang="en-US" altLang="zh-CN" b="1" dirty="0" smtClean="0"/>
              <a:t> </a:t>
            </a:r>
            <a:r>
              <a:rPr lang="zh-CN" altLang="zh-CN" sz="2600" dirty="0" smtClean="0"/>
              <a:t>物联网运用的技术主要包括</a:t>
            </a:r>
            <a:r>
              <a:rPr lang="zh-CN" altLang="zh-CN" sz="2600" b="1" dirty="0" smtClean="0">
                <a:solidFill>
                  <a:srgbClr val="0000FF"/>
                </a:solidFill>
              </a:rPr>
              <a:t>无线技术、互联网、智能芯片技术、软件技术</a:t>
            </a:r>
            <a:r>
              <a:rPr lang="zh-CN" altLang="zh-CN" sz="2600" dirty="0" smtClean="0"/>
              <a:t>，几乎涵盖了信息通信技术的所有领域。</a:t>
            </a:r>
            <a:endParaRPr lang="en-US" altLang="zh-CN" sz="2600" dirty="0" smtClean="0"/>
          </a:p>
          <a:p>
            <a:pPr marL="365760" indent="-255905" eaLnBrk="1" fontAlgn="auto" hangingPunct="1">
              <a:spcAft>
                <a:spcPts val="0"/>
              </a:spcAft>
              <a:buClr>
                <a:schemeClr val="accent3"/>
              </a:buClr>
              <a:buFont typeface="Georgia" panose="02040502050405020303"/>
              <a:buChar char="•"/>
              <a:defRPr/>
            </a:pPr>
            <a:r>
              <a:rPr lang="zh-CN" altLang="zh-CN" sz="2600" dirty="0" smtClean="0"/>
              <a:t>互联网只是物联网的一个技术方向。互联网只能是一种</a:t>
            </a:r>
            <a:r>
              <a:rPr lang="zh-CN" altLang="zh-CN" sz="2600" b="1" dirty="0" smtClean="0">
                <a:solidFill>
                  <a:srgbClr val="0000FF"/>
                </a:solidFill>
              </a:rPr>
              <a:t>虚拟的交流</a:t>
            </a:r>
            <a:r>
              <a:rPr lang="zh-CN" altLang="zh-CN" sz="2600" dirty="0" smtClean="0"/>
              <a:t>，而物联网实现的就是实物之间的交流。</a:t>
            </a:r>
            <a:endParaRPr lang="zh-CN" altLang="en-US" sz="2600" dirty="0" smtClean="0"/>
          </a:p>
        </p:txBody>
      </p:sp>
      <p:pic>
        <p:nvPicPr>
          <p:cNvPr id="21508" name="图片 2" descr="201009071151457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57750" y="2643188"/>
            <a:ext cx="3514725"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pPr eaLnBrk="1" hangingPunct="1"/>
            <a:r>
              <a:rPr lang="zh-CN" altLang="en-US" smtClean="0"/>
              <a:t>不同点</a:t>
            </a:r>
            <a:r>
              <a:rPr lang="en-US" altLang="zh-CN" smtClean="0"/>
              <a:t>5</a:t>
            </a:r>
            <a:r>
              <a:rPr lang="zh-CN" altLang="en-US" smtClean="0"/>
              <a:t>：发展驱动力不同</a:t>
            </a:r>
          </a:p>
        </p:txBody>
      </p:sp>
      <p:sp>
        <p:nvSpPr>
          <p:cNvPr id="3" name="内容占位符 2"/>
          <p:cNvSpPr>
            <a:spLocks noGrp="1"/>
          </p:cNvSpPr>
          <p:nvPr>
            <p:ph idx="1"/>
          </p:nvPr>
        </p:nvSpPr>
        <p:spPr/>
        <p:txBody>
          <a:bodyPr>
            <a:normAutofit fontScale="85000" lnSpcReduction="20000"/>
          </a:bodyPr>
          <a:lstStyle/>
          <a:p>
            <a:pPr marL="365760" indent="-255905" fontAlgn="auto">
              <a:spcAft>
                <a:spcPts val="0"/>
              </a:spcAft>
              <a:buClr>
                <a:schemeClr val="accent3"/>
              </a:buClr>
              <a:buFont typeface="Wingdings" panose="05000000000000000000" pitchFamily="2" charset="2"/>
              <a:buChar char="l"/>
              <a:defRPr/>
            </a:pPr>
            <a:r>
              <a:rPr lang="zh-CN" altLang="en-US" sz="2600" dirty="0" smtClean="0"/>
              <a:t>互联网发展的驱动力是</a:t>
            </a:r>
            <a:r>
              <a:rPr lang="zh-CN" altLang="en-US" sz="2600" b="1" dirty="0" smtClean="0">
                <a:solidFill>
                  <a:srgbClr val="FF0000"/>
                </a:solidFill>
              </a:rPr>
              <a:t>个人</a:t>
            </a:r>
            <a:r>
              <a:rPr lang="zh-CN" altLang="en-US" sz="2600" dirty="0" smtClean="0"/>
              <a:t>，因为，互联网的开放性和人人参与的理念，互联网的生产者和消费者在很大程度上是重叠的，极大地激发了以个人为核心的创造力。</a:t>
            </a:r>
            <a:endParaRPr lang="en-US" altLang="zh-CN" sz="2600" dirty="0" smtClean="0"/>
          </a:p>
          <a:p>
            <a:pPr marL="365760" indent="-255905" fontAlgn="auto">
              <a:spcAft>
                <a:spcPts val="0"/>
              </a:spcAft>
              <a:buClr>
                <a:schemeClr val="accent3"/>
              </a:buClr>
              <a:buFont typeface="Wingdings" panose="05000000000000000000" pitchFamily="2" charset="2"/>
              <a:buChar char="l"/>
              <a:defRPr/>
            </a:pPr>
            <a:r>
              <a:rPr lang="zh-CN" altLang="en-US" sz="2600" dirty="0" smtClean="0"/>
              <a:t>而物联网的驱动力必须是来自</a:t>
            </a:r>
            <a:r>
              <a:rPr lang="zh-CN" altLang="en-US" sz="2600" b="1" dirty="0" smtClean="0">
                <a:solidFill>
                  <a:srgbClr val="FF0000"/>
                </a:solidFill>
              </a:rPr>
              <a:t>企业</a:t>
            </a:r>
            <a:r>
              <a:rPr lang="zh-CN" altLang="en-US" sz="2600" dirty="0" smtClean="0"/>
              <a:t>，因为，物联网的应用都是针对实物的，而且涉及的技术种类比较多，在把握用户的需求以及实现应用的多样性方面有一定的难度。物联网的实现首先需要改变的是企业的生产管理模式、物流管理模式、产品追溯机制和整体工作效率。</a:t>
            </a:r>
            <a:r>
              <a:rPr lang="zh-CN" altLang="en-US" sz="2600" b="1" dirty="0" smtClean="0">
                <a:solidFill>
                  <a:srgbClr val="0000FF"/>
                </a:solidFill>
              </a:rPr>
              <a:t>实现物联网的过程，其实是一个企业真正利用现代科技技术进行自我突破与创新的过程。 </a:t>
            </a:r>
          </a:p>
          <a:p>
            <a:pPr marL="365760" indent="-255905" eaLnBrk="1" fontAlgn="auto" hangingPunct="1">
              <a:spcAft>
                <a:spcPts val="0"/>
              </a:spcAft>
              <a:buClr>
                <a:schemeClr val="accent3"/>
              </a:buClr>
              <a:buFont typeface="Georgia" panose="02040502050405020303"/>
              <a:buChar char="•"/>
              <a:defRPr/>
            </a:pPr>
            <a:endParaRPr lang="zh-CN" altLang="en-US" dirty="0"/>
          </a:p>
        </p:txBody>
      </p:sp>
    </p:spTree>
  </p:cSld>
  <p:clrMapOvr>
    <a:masterClrMapping/>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4526" y="1484784"/>
            <a:ext cx="7994947" cy="70802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pPr algn="ctr" eaLnBrk="1" fontAlgn="auto" hangingPunct="1">
              <a:spcBef>
                <a:spcPts val="0"/>
              </a:spcBef>
              <a:spcAft>
                <a:spcPts val="0"/>
              </a:spcAft>
              <a:defRPr/>
            </a:pPr>
            <a:r>
              <a:rPr lang="zh-CN" altLang="en-US" sz="4000" smtClean="0">
                <a:latin typeface="+mj-ea"/>
                <a:ea typeface="+mj-ea"/>
              </a:rPr>
              <a:t>物</a:t>
            </a:r>
            <a:r>
              <a:rPr lang="zh-CN" altLang="en-US" sz="4000" dirty="0">
                <a:latin typeface="+mj-ea"/>
                <a:ea typeface="+mj-ea"/>
              </a:rPr>
              <a:t>联网的核心技术</a:t>
            </a:r>
          </a:p>
        </p:txBody>
      </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1259632" y="482059"/>
            <a:ext cx="6798734" cy="1303867"/>
          </a:xfrm>
        </p:spPr>
        <p:txBody>
          <a:bodyPr/>
          <a:lstStyle/>
          <a:p>
            <a:pPr eaLnBrk="1" hangingPunct="1"/>
            <a:r>
              <a:rPr lang="zh-CN" altLang="en-US" smtClean="0"/>
              <a:t>物联网核心技术</a:t>
            </a:r>
          </a:p>
        </p:txBody>
      </p:sp>
      <p:graphicFrame>
        <p:nvGraphicFramePr>
          <p:cNvPr id="4" name="内容占位符 3"/>
          <p:cNvGraphicFramePr>
            <a:graphicFrameLocks noGrp="1"/>
          </p:cNvGraphicFramePr>
          <p:nvPr>
            <p:ph idx="1"/>
          </p:nvPr>
        </p:nvGraphicFramePr>
        <p:xfrm>
          <a:off x="2267744" y="1916832"/>
          <a:ext cx="4608512" cy="41769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normAutofit fontScale="90000"/>
          </a:bodyPr>
          <a:lstStyle/>
          <a:p>
            <a:pPr eaLnBrk="1" hangingPunct="1"/>
            <a:r>
              <a:rPr lang="zh-CN" altLang="en-US" smtClean="0"/>
              <a:t>物联网核心技术</a:t>
            </a:r>
            <a:r>
              <a:rPr lang="en-US" altLang="zh-CN" smtClean="0">
                <a:solidFill>
                  <a:srgbClr val="0000FF"/>
                </a:solidFill>
              </a:rPr>
              <a:t>——</a:t>
            </a:r>
            <a:r>
              <a:rPr lang="zh-CN" altLang="en-US" smtClean="0">
                <a:solidFill>
                  <a:srgbClr val="0000FF"/>
                </a:solidFill>
              </a:rPr>
              <a:t>感知识别层</a:t>
            </a:r>
          </a:p>
        </p:txBody>
      </p:sp>
      <p:pic>
        <p:nvPicPr>
          <p:cNvPr id="26627" name="内容占位符 3" descr="图片1.p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000125" y="2286000"/>
            <a:ext cx="6075363" cy="4324350"/>
          </a:xfrm>
          <a:noFill/>
        </p:spPr>
      </p:pic>
    </p:spTree>
  </p:cSld>
  <p:clrMapOvr>
    <a:masterClrMapping/>
  </p:clrMapOvr>
  <p:transition>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755576" y="915337"/>
            <a:ext cx="7704856" cy="1303867"/>
          </a:xfrm>
        </p:spPr>
        <p:txBody>
          <a:bodyPr>
            <a:normAutofit/>
          </a:bodyPr>
          <a:lstStyle/>
          <a:p>
            <a:pPr eaLnBrk="1" hangingPunct="1"/>
            <a:r>
              <a:rPr lang="zh-CN" altLang="en-US" smtClean="0"/>
              <a:t>物联网核心技术</a:t>
            </a:r>
            <a:r>
              <a:rPr lang="en-US" altLang="zh-CN" smtClean="0">
                <a:solidFill>
                  <a:srgbClr val="0000FF"/>
                </a:solidFill>
              </a:rPr>
              <a:t>——</a:t>
            </a:r>
            <a:r>
              <a:rPr lang="zh-CN" altLang="en-US" smtClean="0">
                <a:solidFill>
                  <a:srgbClr val="0000FF"/>
                </a:solidFill>
              </a:rPr>
              <a:t>感知识别层</a:t>
            </a:r>
            <a:endParaRPr lang="zh-CN" altLang="en-US" smtClean="0"/>
          </a:p>
        </p:txBody>
      </p:sp>
      <p:sp>
        <p:nvSpPr>
          <p:cNvPr id="3" name="内容占位符 2"/>
          <p:cNvSpPr>
            <a:spLocks noGrp="1"/>
          </p:cNvSpPr>
          <p:nvPr>
            <p:ph idx="1"/>
          </p:nvPr>
        </p:nvSpPr>
        <p:spPr/>
        <p:txBody>
          <a:bodyPr>
            <a:normAutofit fontScale="85000" lnSpcReduction="20000"/>
          </a:bodyPr>
          <a:lstStyle/>
          <a:p>
            <a:pPr marL="342900" indent="-342900" fontAlgn="auto" hangingPunct="1">
              <a:lnSpc>
                <a:spcPct val="110000"/>
              </a:lnSpc>
              <a:spcBef>
                <a:spcPct val="20000"/>
              </a:spcBef>
              <a:spcAft>
                <a:spcPts val="0"/>
              </a:spcAft>
              <a:buClr>
                <a:schemeClr val="accent3"/>
              </a:buClr>
              <a:buFont typeface="Arial" panose="020B0604020202020204" pitchFamily="34" charset="0"/>
              <a:buChar char="•"/>
              <a:defRPr/>
            </a:pPr>
            <a:r>
              <a:rPr lang="zh-CN" altLang="en-US" dirty="0" smtClean="0"/>
              <a:t>感知识别层位于物联网四层模型的最底端，是所有上层结构的基础。</a:t>
            </a:r>
          </a:p>
          <a:p>
            <a:pPr marL="342900" indent="-342900" fontAlgn="auto" hangingPunct="1">
              <a:lnSpc>
                <a:spcPct val="110000"/>
              </a:lnSpc>
              <a:spcBef>
                <a:spcPct val="20000"/>
              </a:spcBef>
              <a:spcAft>
                <a:spcPts val="0"/>
              </a:spcAft>
              <a:buClr>
                <a:schemeClr val="accent3"/>
              </a:buClr>
              <a:buFont typeface="Arial" panose="020B0604020202020204" pitchFamily="34" charset="0"/>
              <a:buChar char="•"/>
              <a:defRPr/>
            </a:pPr>
            <a:r>
              <a:rPr lang="zh-CN" altLang="en-US" b="1" dirty="0" smtClean="0">
                <a:solidFill>
                  <a:srgbClr val="FF3300"/>
                </a:solidFill>
              </a:rPr>
              <a:t>信息生成方式多样化</a:t>
            </a:r>
            <a:r>
              <a:rPr lang="zh-CN" altLang="en-US" dirty="0" smtClean="0"/>
              <a:t>是物联网的重要特征之一。</a:t>
            </a:r>
          </a:p>
          <a:p>
            <a:pPr marL="342900" indent="-342900" fontAlgn="auto" hangingPunct="1">
              <a:lnSpc>
                <a:spcPct val="110000"/>
              </a:lnSpc>
              <a:spcBef>
                <a:spcPct val="20000"/>
              </a:spcBef>
              <a:spcAft>
                <a:spcPts val="0"/>
              </a:spcAft>
              <a:buClr>
                <a:schemeClr val="accent3"/>
              </a:buClr>
              <a:buFont typeface="Arial" panose="020B0604020202020204" pitchFamily="34" charset="0"/>
              <a:buChar char="•"/>
              <a:defRPr/>
            </a:pPr>
            <a:r>
              <a:rPr lang="zh-CN" altLang="en-US" dirty="0" smtClean="0"/>
              <a:t>通过感知识别技术，</a:t>
            </a:r>
            <a:r>
              <a:rPr lang="zh-CN" altLang="en-US" b="1" dirty="0" smtClean="0">
                <a:solidFill>
                  <a:srgbClr val="FF3300"/>
                </a:solidFill>
              </a:rPr>
              <a:t>让物品“开口说话、发布信息”</a:t>
            </a:r>
            <a:r>
              <a:rPr lang="zh-CN" altLang="en-US" dirty="0" smtClean="0"/>
              <a:t>是融合物理世界和信息世界的重要一环，是物联网区别于其他网络的最独特的部分。</a:t>
            </a:r>
          </a:p>
          <a:p>
            <a:pPr marL="342900" indent="-342900" fontAlgn="auto" hangingPunct="1">
              <a:lnSpc>
                <a:spcPct val="110000"/>
              </a:lnSpc>
              <a:spcBef>
                <a:spcPct val="20000"/>
              </a:spcBef>
              <a:spcAft>
                <a:spcPts val="0"/>
              </a:spcAft>
              <a:buClr>
                <a:schemeClr val="accent3"/>
              </a:buClr>
              <a:buFont typeface="Arial" panose="020B0604020202020204" pitchFamily="34" charset="0"/>
              <a:buChar char="•"/>
              <a:defRPr/>
            </a:pPr>
            <a:r>
              <a:rPr lang="zh-CN" altLang="en-US" dirty="0" smtClean="0"/>
              <a:t>物联网的“触手”是位于感知识别层的大量</a:t>
            </a:r>
            <a:r>
              <a:rPr lang="zh-CN" altLang="en-US" b="1" dirty="0" smtClean="0">
                <a:solidFill>
                  <a:srgbClr val="FF3300"/>
                </a:solidFill>
              </a:rPr>
              <a:t>信息生成设备</a:t>
            </a:r>
            <a:r>
              <a:rPr lang="zh-CN" altLang="en-US" dirty="0" smtClean="0"/>
              <a:t>，既包括采用自动生成方式的</a:t>
            </a:r>
            <a:r>
              <a:rPr lang="en-US" altLang="zh-CN" dirty="0" smtClean="0"/>
              <a:t>RFID</a:t>
            </a:r>
            <a:r>
              <a:rPr lang="zh-CN" altLang="en-US" dirty="0" smtClean="0"/>
              <a:t>、传感器、定位系统等，也包括采用人工生成方式的各种智能设备，例如智能手机、</a:t>
            </a:r>
            <a:r>
              <a:rPr lang="en-US" altLang="zh-CN" dirty="0" smtClean="0"/>
              <a:t>PDA</a:t>
            </a:r>
            <a:r>
              <a:rPr lang="zh-CN" altLang="en-US" dirty="0" smtClean="0"/>
              <a:t>、多媒体播放器、上网本、笔记本电脑等等。</a:t>
            </a:r>
            <a:endParaRPr lang="zh-CN" altLang="en-US" dirty="0"/>
          </a:p>
        </p:txBody>
      </p:sp>
    </p:spTree>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858209" y="684973"/>
            <a:ext cx="7427582" cy="1303867"/>
          </a:xfrm>
        </p:spPr>
        <p:txBody>
          <a:bodyPr>
            <a:normAutofit/>
          </a:bodyPr>
          <a:lstStyle/>
          <a:p>
            <a:pPr eaLnBrk="1" hangingPunct="1"/>
            <a:r>
              <a:rPr lang="zh-CN" altLang="en-US" smtClean="0"/>
              <a:t>物联网核心技术</a:t>
            </a:r>
            <a:r>
              <a:rPr lang="en-US" altLang="zh-CN" smtClean="0">
                <a:solidFill>
                  <a:srgbClr val="0000FF"/>
                </a:solidFill>
              </a:rPr>
              <a:t>——</a:t>
            </a:r>
            <a:r>
              <a:rPr lang="zh-CN" altLang="en-US" smtClean="0">
                <a:solidFill>
                  <a:srgbClr val="0000FF"/>
                </a:solidFill>
              </a:rPr>
              <a:t>网络构建层</a:t>
            </a:r>
            <a:endParaRPr lang="zh-CN" altLang="en-US" smtClean="0"/>
          </a:p>
        </p:txBody>
      </p:sp>
      <p:pic>
        <p:nvPicPr>
          <p:cNvPr id="28676" name="图片 6" descr="图片3.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35037" y="1988840"/>
            <a:ext cx="7040563"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683568" y="697488"/>
            <a:ext cx="7436048" cy="1303867"/>
          </a:xfrm>
        </p:spPr>
        <p:txBody>
          <a:bodyPr>
            <a:normAutofit/>
          </a:bodyPr>
          <a:lstStyle/>
          <a:p>
            <a:pPr eaLnBrk="1" hangingPunct="1"/>
            <a:r>
              <a:rPr lang="zh-CN" altLang="en-US" smtClean="0"/>
              <a:t>物联网核心技术</a:t>
            </a:r>
            <a:r>
              <a:rPr lang="en-US" altLang="zh-CN" smtClean="0">
                <a:solidFill>
                  <a:srgbClr val="0000FF"/>
                </a:solidFill>
              </a:rPr>
              <a:t>——</a:t>
            </a:r>
            <a:r>
              <a:rPr lang="zh-CN" altLang="en-US" smtClean="0">
                <a:solidFill>
                  <a:srgbClr val="0000FF"/>
                </a:solidFill>
              </a:rPr>
              <a:t>网络构建层</a:t>
            </a:r>
            <a:endParaRPr lang="zh-CN" altLang="en-US" smtClean="0"/>
          </a:p>
        </p:txBody>
      </p:sp>
      <p:sp>
        <p:nvSpPr>
          <p:cNvPr id="3" name="内容占位符 2"/>
          <p:cNvSpPr>
            <a:spLocks noGrp="1"/>
          </p:cNvSpPr>
          <p:nvPr>
            <p:ph idx="1"/>
          </p:nvPr>
        </p:nvSpPr>
        <p:spPr/>
        <p:txBody>
          <a:bodyPr>
            <a:normAutofit/>
          </a:bodyPr>
          <a:lstStyle/>
          <a:p>
            <a:pPr marL="342900" indent="-342900" fontAlgn="auto">
              <a:spcBef>
                <a:spcPct val="20000"/>
              </a:spcBef>
              <a:spcAft>
                <a:spcPts val="0"/>
              </a:spcAft>
              <a:buClr>
                <a:schemeClr val="accent3"/>
              </a:buClr>
              <a:buFont typeface="Arial" panose="020B0604020202020204" pitchFamily="34" charset="0"/>
              <a:buChar char="•"/>
              <a:defRPr/>
            </a:pPr>
            <a:r>
              <a:rPr lang="zh-CN" altLang="en-US" sz="2600" b="1" dirty="0" smtClean="0">
                <a:solidFill>
                  <a:srgbClr val="FF3300"/>
                </a:solidFill>
              </a:rPr>
              <a:t>网络</a:t>
            </a:r>
            <a:r>
              <a:rPr lang="zh-CN" altLang="en-US" sz="2400" dirty="0" smtClean="0"/>
              <a:t>是物联网最重要的基础设施之一。</a:t>
            </a:r>
          </a:p>
          <a:p>
            <a:pPr marL="742950" lvl="1" indent="-285750" fontAlgn="auto">
              <a:spcBef>
                <a:spcPct val="20000"/>
              </a:spcBef>
              <a:spcAft>
                <a:spcPts val="0"/>
              </a:spcAft>
              <a:buFont typeface="Arial" panose="020B0604020202020204" pitchFamily="34" charset="0"/>
              <a:buChar char="–"/>
              <a:defRPr/>
            </a:pPr>
            <a:endParaRPr lang="zh-CN" altLang="en-US" sz="2400" dirty="0" smtClean="0"/>
          </a:p>
          <a:p>
            <a:pPr marL="342900" indent="-342900" fontAlgn="auto">
              <a:spcBef>
                <a:spcPct val="20000"/>
              </a:spcBef>
              <a:spcAft>
                <a:spcPts val="0"/>
              </a:spcAft>
              <a:buClr>
                <a:schemeClr val="accent3"/>
              </a:buClr>
              <a:buFont typeface="Arial" panose="020B0604020202020204" pitchFamily="34" charset="0"/>
              <a:buChar char="•"/>
              <a:defRPr/>
            </a:pPr>
            <a:r>
              <a:rPr lang="zh-CN" altLang="en-US" sz="2400" dirty="0" smtClean="0"/>
              <a:t>网络构建层在物联网四层模型中连接感知识别层和管理服务层，具有强大的</a:t>
            </a:r>
            <a:r>
              <a:rPr lang="zh-CN" altLang="en-US" sz="2600" b="1" dirty="0" smtClean="0">
                <a:solidFill>
                  <a:srgbClr val="FF3300"/>
                </a:solidFill>
              </a:rPr>
              <a:t>纽带</a:t>
            </a:r>
            <a:r>
              <a:rPr lang="zh-CN" altLang="en-US" sz="2400" dirty="0" smtClean="0"/>
              <a:t>作用，高效、稳定、及时、安全地传输上下层的数据。</a:t>
            </a:r>
          </a:p>
          <a:p>
            <a:pPr marL="365760" indent="-255905" eaLnBrk="1" fontAlgn="auto" hangingPunct="1">
              <a:spcAft>
                <a:spcPts val="0"/>
              </a:spcAft>
              <a:buClr>
                <a:schemeClr val="accent3"/>
              </a:buClr>
              <a:buFont typeface="Georgia" panose="02040502050405020303"/>
              <a:buChar char="•"/>
              <a:defRPr/>
            </a:pPr>
            <a:endParaRPr lang="zh-CN" altLang="en-US" dirty="0"/>
          </a:p>
        </p:txBody>
      </p:sp>
      <p:sp>
        <p:nvSpPr>
          <p:cNvPr id="4" name="TextBox 3"/>
          <p:cNvSpPr txBox="1"/>
          <p:nvPr/>
        </p:nvSpPr>
        <p:spPr>
          <a:xfrm>
            <a:off x="43890" y="4729164"/>
            <a:ext cx="8715404" cy="1200329"/>
          </a:xfrm>
          <a:prstGeom prst="rect">
            <a:avLst/>
          </a:prstGeom>
          <a:ln w="28575"/>
        </p:spPr>
        <p:style>
          <a:lnRef idx="2">
            <a:schemeClr val="accent3"/>
          </a:lnRef>
          <a:fillRef idx="1">
            <a:schemeClr val="lt1"/>
          </a:fillRef>
          <a:effectRef idx="0">
            <a:schemeClr val="accent3"/>
          </a:effectRef>
          <a:fontRef idx="minor">
            <a:schemeClr val="dk1"/>
          </a:fontRef>
        </p:style>
        <p:txBody>
          <a:bodyPr>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zh-CN" altLang="en-US" sz="2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物联网的网络和现有网络有何异同？</a:t>
            </a:r>
            <a:endParaRPr lang="en-US" altLang="zh-CN" sz="2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a:p>
            <a:pPr algn="ctr" eaLnBrk="1" hangingPunct="1">
              <a:defRPr/>
            </a:pPr>
            <a:r>
              <a:rPr lang="zh-CN" altLang="en-US" sz="2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物联网是下一代互联网吗？</a:t>
            </a:r>
            <a:endParaRPr lang="en-US" altLang="zh-CN" sz="2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a:p>
            <a:pPr algn="ctr" eaLnBrk="1" hangingPunct="1">
              <a:defRPr/>
            </a:pPr>
            <a:r>
              <a:rPr lang="zh-CN" altLang="en-US" sz="2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无线网络在物联网中究竟扮演了什么角色？</a:t>
            </a:r>
          </a:p>
        </p:txBody>
      </p:sp>
    </p:spTree>
  </p:cSld>
  <p:clrMapOvr>
    <a:masterClrMapping/>
  </p:clrMapOvr>
  <p:transition>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pPr eaLnBrk="1" hangingPunct="1"/>
            <a:r>
              <a:rPr lang="zh-CN" altLang="en-US" smtClean="0"/>
              <a:t>各种网络形式如何服务物联网</a:t>
            </a:r>
          </a:p>
        </p:txBody>
      </p:sp>
      <p:graphicFrame>
        <p:nvGraphicFramePr>
          <p:cNvPr id="4" name="内容占位符 3"/>
          <p:cNvGraphicFramePr>
            <a:graphicFrameLocks noGrp="1"/>
          </p:cNvGraphicFramePr>
          <p:nvPr>
            <p:ph idx="1"/>
          </p:nvPr>
        </p:nvGraphicFramePr>
        <p:xfrm>
          <a:off x="971600" y="2060848"/>
          <a:ext cx="7488832" cy="40324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683568" y="915337"/>
            <a:ext cx="7704856" cy="1303867"/>
          </a:xfrm>
        </p:spPr>
        <p:txBody>
          <a:bodyPr>
            <a:normAutofit/>
          </a:bodyPr>
          <a:lstStyle/>
          <a:p>
            <a:pPr eaLnBrk="1" hangingPunct="1"/>
            <a:r>
              <a:rPr lang="zh-CN" altLang="en-US" smtClean="0"/>
              <a:t>物联网核心技术</a:t>
            </a:r>
            <a:r>
              <a:rPr lang="en-US" altLang="zh-CN" smtClean="0">
                <a:solidFill>
                  <a:srgbClr val="0000FF"/>
                </a:solidFill>
              </a:rPr>
              <a:t>——</a:t>
            </a:r>
            <a:r>
              <a:rPr lang="zh-CN" altLang="en-US" smtClean="0">
                <a:solidFill>
                  <a:srgbClr val="0000FF"/>
                </a:solidFill>
              </a:rPr>
              <a:t>管理服务层</a:t>
            </a:r>
            <a:endParaRPr lang="zh-CN" altLang="en-US" smtClean="0"/>
          </a:p>
        </p:txBody>
      </p:sp>
      <p:sp>
        <p:nvSpPr>
          <p:cNvPr id="31747" name="内容占位符 2"/>
          <p:cNvSpPr>
            <a:spLocks noGrp="1"/>
          </p:cNvSpPr>
          <p:nvPr>
            <p:ph idx="1"/>
          </p:nvPr>
        </p:nvSpPr>
        <p:spPr/>
        <p:txBody>
          <a:bodyPr>
            <a:normAutofit lnSpcReduction="10000"/>
          </a:bodyPr>
          <a:lstStyle/>
          <a:p>
            <a:pPr marL="342900" indent="-342900">
              <a:spcAft>
                <a:spcPct val="50000"/>
              </a:spcAft>
              <a:buFont typeface="Arial" panose="020B0604020202020204" pitchFamily="34" charset="0"/>
              <a:buChar char="•"/>
            </a:pPr>
            <a:r>
              <a:rPr lang="zh-CN" altLang="en-US" dirty="0" smtClean="0"/>
              <a:t>管理服务层位于感知识别和网络构建层之上，综合应用层之下，是</a:t>
            </a:r>
            <a:r>
              <a:rPr lang="zh-CN" altLang="en-US" sz="3200" b="1" dirty="0" smtClean="0">
                <a:solidFill>
                  <a:srgbClr val="FF3300"/>
                </a:solidFill>
              </a:rPr>
              <a:t>物联网智慧的源泉</a:t>
            </a:r>
            <a:r>
              <a:rPr lang="zh-CN" altLang="en-US" dirty="0" smtClean="0"/>
              <a:t>。人们通常把物联网应用冠以“智能”的名称，如智能电网、智能交通、智能物流等，其中的智慧就来自这一层。</a:t>
            </a:r>
          </a:p>
          <a:p>
            <a:pPr marL="342900" indent="-342900">
              <a:spcAft>
                <a:spcPct val="50000"/>
              </a:spcAft>
              <a:buFont typeface="Arial" panose="020B0604020202020204" pitchFamily="34" charset="0"/>
              <a:buChar char="•"/>
            </a:pPr>
            <a:r>
              <a:rPr lang="zh-CN" altLang="en-US" dirty="0" smtClean="0"/>
              <a:t>当感知识别层生成的大量信息经过网络层传输汇聚到管理服务层，如果不能有效地整合与利用，那无异于</a:t>
            </a:r>
            <a:r>
              <a:rPr lang="zh-CN" altLang="en-US" dirty="0" smtClean="0">
                <a:solidFill>
                  <a:srgbClr val="0000FF"/>
                </a:solidFill>
              </a:rPr>
              <a:t>“入宝山而空返” ，望“数据的海洋”而兴叹</a:t>
            </a:r>
            <a:r>
              <a:rPr lang="zh-CN" altLang="en-US" dirty="0" smtClean="0"/>
              <a:t>。</a:t>
            </a:r>
          </a:p>
        </p:txBody>
      </p:sp>
    </p:spTree>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611560" y="915337"/>
            <a:ext cx="7364040" cy="1303867"/>
          </a:xfrm>
        </p:spPr>
        <p:txBody>
          <a:bodyPr>
            <a:normAutofit/>
          </a:bodyPr>
          <a:lstStyle/>
          <a:p>
            <a:pPr eaLnBrk="1" hangingPunct="1"/>
            <a:r>
              <a:rPr lang="zh-CN" altLang="en-US" smtClean="0"/>
              <a:t>物联网核心技术</a:t>
            </a:r>
            <a:r>
              <a:rPr lang="en-US" altLang="zh-CN" smtClean="0">
                <a:solidFill>
                  <a:srgbClr val="0000FF"/>
                </a:solidFill>
              </a:rPr>
              <a:t>——</a:t>
            </a:r>
            <a:r>
              <a:rPr lang="zh-CN" altLang="en-US" smtClean="0">
                <a:solidFill>
                  <a:srgbClr val="0000FF"/>
                </a:solidFill>
              </a:rPr>
              <a:t>管理服务层</a:t>
            </a:r>
            <a:endParaRPr lang="zh-CN" altLang="en-US" smtClean="0"/>
          </a:p>
        </p:txBody>
      </p:sp>
      <p:sp>
        <p:nvSpPr>
          <p:cNvPr id="32771" name="内容占位符 2"/>
          <p:cNvSpPr>
            <a:spLocks noGrp="1"/>
          </p:cNvSpPr>
          <p:nvPr>
            <p:ph idx="1"/>
          </p:nvPr>
        </p:nvSpPr>
        <p:spPr/>
        <p:txBody>
          <a:bodyPr/>
          <a:lstStyle/>
          <a:p>
            <a:pPr eaLnBrk="1" hangingPunct="1"/>
            <a:r>
              <a:rPr lang="zh-CN" altLang="en-US" smtClean="0"/>
              <a:t>管理服务层解决数据</a:t>
            </a:r>
            <a:r>
              <a:rPr lang="zh-CN" altLang="en-US" sz="3200" b="1" smtClean="0">
                <a:solidFill>
                  <a:srgbClr val="FF3300"/>
                </a:solidFill>
              </a:rPr>
              <a:t>如何存储</a:t>
            </a:r>
            <a:r>
              <a:rPr lang="zh-CN" altLang="en-US" smtClean="0"/>
              <a:t>（数据库与海量存储技术）、</a:t>
            </a:r>
            <a:r>
              <a:rPr lang="zh-CN" altLang="en-US" sz="3200" b="1" smtClean="0">
                <a:solidFill>
                  <a:srgbClr val="FF3300"/>
                </a:solidFill>
              </a:rPr>
              <a:t>如何检索</a:t>
            </a:r>
            <a:r>
              <a:rPr lang="zh-CN" altLang="en-US" smtClean="0"/>
              <a:t>（搜索引擎）、</a:t>
            </a:r>
            <a:r>
              <a:rPr lang="zh-CN" altLang="en-US" sz="3200" b="1" smtClean="0">
                <a:solidFill>
                  <a:srgbClr val="FF3300"/>
                </a:solidFill>
              </a:rPr>
              <a:t>如何使用</a:t>
            </a:r>
            <a:r>
              <a:rPr lang="zh-CN" altLang="en-US" smtClean="0"/>
              <a:t>（数据挖掘与机器学习）、</a:t>
            </a:r>
            <a:r>
              <a:rPr lang="zh-CN" altLang="en-US" sz="3200" b="1" smtClean="0">
                <a:solidFill>
                  <a:srgbClr val="FF3300"/>
                </a:solidFill>
              </a:rPr>
              <a:t>如何不被滥用</a:t>
            </a:r>
            <a:r>
              <a:rPr lang="zh-CN" altLang="en-US" smtClean="0"/>
              <a:t>（数据安全与隐私保护）等问题。</a:t>
            </a:r>
          </a:p>
          <a:p>
            <a:pPr eaLnBrk="1" hangingPunct="1"/>
            <a:endParaRPr lang="zh-CN" altLang="en-US" smtClean="0"/>
          </a:p>
        </p:txBody>
      </p:sp>
    </p:spTree>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pPr eaLnBrk="1" hangingPunct="1"/>
            <a:r>
              <a:rPr lang="zh-CN" altLang="en-US" smtClean="0"/>
              <a:t>数据库与物联网</a:t>
            </a:r>
          </a:p>
        </p:txBody>
      </p:sp>
      <p:sp>
        <p:nvSpPr>
          <p:cNvPr id="3" name="内容占位符 2"/>
          <p:cNvSpPr>
            <a:spLocks noGrp="1"/>
          </p:cNvSpPr>
          <p:nvPr>
            <p:ph idx="1"/>
          </p:nvPr>
        </p:nvSpPr>
        <p:spPr/>
        <p:txBody>
          <a:bodyPr>
            <a:normAutofit fontScale="85000" lnSpcReduction="20000"/>
          </a:bodyPr>
          <a:lstStyle/>
          <a:p>
            <a:pPr marL="365760" indent="-255905" eaLnBrk="1" fontAlgn="auto" hangingPunct="1">
              <a:spcAft>
                <a:spcPts val="0"/>
              </a:spcAft>
              <a:buClr>
                <a:schemeClr val="accent3"/>
              </a:buClr>
              <a:buFont typeface="Georgia" panose="02040502050405020303"/>
              <a:buChar char="•"/>
              <a:defRPr/>
            </a:pPr>
            <a:r>
              <a:rPr lang="zh-CN" altLang="en-US" sz="3200" b="1" dirty="0" smtClean="0"/>
              <a:t>物联网数据特点：</a:t>
            </a:r>
            <a:endParaRPr lang="en-US" altLang="zh-CN" sz="3200" b="1" dirty="0" smtClean="0"/>
          </a:p>
          <a:p>
            <a:pPr marL="923290" lvl="2" indent="-219710" eaLnBrk="1" fontAlgn="auto" hangingPunct="1">
              <a:spcAft>
                <a:spcPts val="0"/>
              </a:spcAft>
              <a:buFont typeface="Wingdings 2" panose="05020102010507070707"/>
              <a:buChar char=""/>
              <a:defRPr/>
            </a:pPr>
            <a:r>
              <a:rPr lang="zh-CN" altLang="en-US" dirty="0" smtClean="0"/>
              <a:t>海量性，多态性，关联性及语义性</a:t>
            </a:r>
            <a:endParaRPr lang="en-US" altLang="zh-CN" dirty="0" smtClean="0"/>
          </a:p>
          <a:p>
            <a:pPr marL="365760" indent="-255905" eaLnBrk="1" fontAlgn="auto" hangingPunct="1">
              <a:spcAft>
                <a:spcPts val="0"/>
              </a:spcAft>
              <a:buClr>
                <a:schemeClr val="accent3"/>
              </a:buClr>
              <a:buFont typeface="Georgia" panose="02040502050405020303"/>
              <a:buChar char="•"/>
              <a:defRPr/>
            </a:pPr>
            <a:endParaRPr lang="en-US" altLang="zh-CN" dirty="0" smtClean="0"/>
          </a:p>
          <a:p>
            <a:pPr marL="365760" indent="-255905" eaLnBrk="1" fontAlgn="auto" hangingPunct="1">
              <a:spcAft>
                <a:spcPts val="0"/>
              </a:spcAft>
              <a:buClr>
                <a:schemeClr val="accent3"/>
              </a:buClr>
              <a:buFont typeface="Georgia" panose="02040502050405020303"/>
              <a:buChar char="•"/>
              <a:defRPr/>
            </a:pPr>
            <a:r>
              <a:rPr lang="zh-CN" altLang="en-US" sz="3200" b="1" dirty="0" smtClean="0">
                <a:solidFill>
                  <a:srgbClr val="C00000"/>
                </a:solidFill>
              </a:rPr>
              <a:t>关系数据库系统</a:t>
            </a:r>
            <a:r>
              <a:rPr lang="zh-CN" altLang="en-US" dirty="0" smtClean="0"/>
              <a:t>作为一项有着近半个世纪历史的数据处理技术，仍可在物联网中大展拳脚，为物联网的运行提供支撑。与此同时，结合物联网应用提出的新需求，数据库技术也在进行不断的更新，发展出新的方向。</a:t>
            </a:r>
            <a:endParaRPr lang="en-US" altLang="zh-CN" dirty="0" smtClean="0"/>
          </a:p>
          <a:p>
            <a:pPr marL="365760" indent="-255905" eaLnBrk="1" fontAlgn="auto" hangingPunct="1">
              <a:spcAft>
                <a:spcPts val="0"/>
              </a:spcAft>
              <a:buClr>
                <a:schemeClr val="accent3"/>
              </a:buClr>
              <a:buFont typeface="Georgia" panose="02040502050405020303"/>
              <a:buChar char="•"/>
              <a:defRPr/>
            </a:pPr>
            <a:endParaRPr lang="zh-CN" altLang="en-US" dirty="0" smtClean="0"/>
          </a:p>
          <a:p>
            <a:pPr marL="365760" indent="-255905" eaLnBrk="1" fontAlgn="auto" hangingPunct="1">
              <a:spcAft>
                <a:spcPts val="0"/>
              </a:spcAft>
              <a:buClr>
                <a:schemeClr val="accent3"/>
              </a:buClr>
              <a:buFont typeface="Georgia" panose="02040502050405020303"/>
              <a:buChar char="•"/>
              <a:defRPr/>
            </a:pPr>
            <a:r>
              <a:rPr lang="zh-CN" altLang="en-US" sz="3200" b="1" dirty="0" smtClean="0">
                <a:solidFill>
                  <a:srgbClr val="C00000"/>
                </a:solidFill>
              </a:rPr>
              <a:t>新兴数据库系统</a:t>
            </a:r>
            <a:r>
              <a:rPr lang="zh-CN" altLang="en-US" dirty="0" smtClean="0"/>
              <a:t>（</a:t>
            </a:r>
            <a:r>
              <a:rPr lang="en-US" altLang="zh-CN" dirty="0" err="1" smtClean="0"/>
              <a:t>NoSQL</a:t>
            </a:r>
            <a:r>
              <a:rPr lang="zh-CN" altLang="en-US" dirty="0" smtClean="0"/>
              <a:t>数据库）针对非关系型、分布式的数据存储，并不要求数据库具有确定的表模式，通过避免连接操作提升数据库性能。</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10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10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pPr eaLnBrk="1" hangingPunct="1"/>
            <a:r>
              <a:rPr lang="zh-CN" altLang="en-US" smtClean="0"/>
              <a:t>海量信息存储与物联网</a:t>
            </a:r>
          </a:p>
        </p:txBody>
      </p:sp>
      <p:sp>
        <p:nvSpPr>
          <p:cNvPr id="34819" name="内容占位符 2"/>
          <p:cNvSpPr>
            <a:spLocks noGrp="1"/>
          </p:cNvSpPr>
          <p:nvPr>
            <p:ph idx="1"/>
          </p:nvPr>
        </p:nvSpPr>
        <p:spPr/>
        <p:txBody>
          <a:bodyPr>
            <a:normAutofit fontScale="85000" lnSpcReduction="20000"/>
          </a:bodyPr>
          <a:lstStyle/>
          <a:p>
            <a:r>
              <a:rPr lang="zh-CN" altLang="en-US" sz="2400" b="1" smtClean="0"/>
              <a:t>网络存储体系结构：</a:t>
            </a:r>
            <a:endParaRPr lang="en-US" altLang="zh-CN" sz="2400" b="1" smtClean="0"/>
          </a:p>
          <a:p>
            <a:pPr lvl="1">
              <a:buSzPct val="60000"/>
              <a:buFont typeface="Arial" panose="020B0604020202020204" pitchFamily="34" charset="0"/>
              <a:buChar char="•"/>
            </a:pPr>
            <a:r>
              <a:rPr lang="zh-CN" altLang="en-US" sz="2000" smtClean="0"/>
              <a:t>直接附加存储（</a:t>
            </a:r>
            <a:r>
              <a:rPr lang="en-US" altLang="zh-CN" sz="2000" smtClean="0"/>
              <a:t>DAS</a:t>
            </a:r>
            <a:r>
              <a:rPr lang="zh-CN" altLang="en-US" sz="2000" smtClean="0"/>
              <a:t>）</a:t>
            </a:r>
            <a:endParaRPr lang="en-US" altLang="zh-CN" sz="2000" smtClean="0"/>
          </a:p>
          <a:p>
            <a:pPr lvl="1">
              <a:buSzPct val="60000"/>
              <a:buFont typeface="Arial" panose="020B0604020202020204" pitchFamily="34" charset="0"/>
              <a:buChar char="•"/>
            </a:pPr>
            <a:r>
              <a:rPr lang="zh-CN" altLang="en-US" sz="2000" smtClean="0"/>
              <a:t>网络附加存储（</a:t>
            </a:r>
            <a:r>
              <a:rPr lang="en-US" altLang="zh-CN" sz="2000" smtClean="0"/>
              <a:t>NAS</a:t>
            </a:r>
            <a:r>
              <a:rPr lang="zh-CN" altLang="en-US" sz="2000" smtClean="0"/>
              <a:t>）</a:t>
            </a:r>
            <a:endParaRPr lang="en-US" altLang="zh-CN" sz="2000" smtClean="0"/>
          </a:p>
          <a:p>
            <a:pPr lvl="1">
              <a:buSzPct val="60000"/>
              <a:buFont typeface="Arial" panose="020B0604020202020204" pitchFamily="34" charset="0"/>
              <a:buChar char="•"/>
            </a:pPr>
            <a:r>
              <a:rPr lang="zh-CN" altLang="en-US" sz="2000" smtClean="0"/>
              <a:t>存储区域网络（</a:t>
            </a:r>
            <a:r>
              <a:rPr lang="en-US" altLang="zh-CN" sz="2000" smtClean="0"/>
              <a:t>SAN</a:t>
            </a:r>
            <a:r>
              <a:rPr lang="zh-CN" altLang="en-US" sz="2000" smtClean="0"/>
              <a:t>）</a:t>
            </a:r>
            <a:endParaRPr lang="en-US" altLang="zh-CN" sz="2000" smtClean="0"/>
          </a:p>
          <a:p>
            <a:pPr>
              <a:buSzPct val="60000"/>
            </a:pPr>
            <a:r>
              <a:rPr lang="zh-CN" altLang="en-US" sz="2400" b="1" smtClean="0"/>
              <a:t>困难：</a:t>
            </a:r>
            <a:r>
              <a:rPr lang="zh-CN" altLang="en-US" sz="2000" smtClean="0"/>
              <a:t>只能满足中等规模商业需求</a:t>
            </a:r>
            <a:endParaRPr lang="en-US" altLang="zh-CN" sz="2000" smtClean="0"/>
          </a:p>
          <a:p>
            <a:pPr>
              <a:buSzPct val="60000"/>
            </a:pPr>
            <a:endParaRPr lang="en-US" altLang="zh-CN" sz="2000" smtClean="0"/>
          </a:p>
          <a:p>
            <a:r>
              <a:rPr lang="zh-CN" altLang="en-US" b="1" smtClean="0">
                <a:solidFill>
                  <a:srgbClr val="C00000"/>
                </a:solidFill>
              </a:rPr>
              <a:t>数据中心</a:t>
            </a:r>
            <a:r>
              <a:rPr lang="zh-CN" altLang="en-US" sz="2000" smtClean="0"/>
              <a:t>不仅包括计算机系统和配套设备（如通信</a:t>
            </a:r>
            <a:r>
              <a:rPr lang="en-US" altLang="zh-CN" sz="2000" smtClean="0"/>
              <a:t>/</a:t>
            </a:r>
            <a:r>
              <a:rPr lang="zh-CN" altLang="en-US" sz="2000" smtClean="0"/>
              <a:t>存储设备），还包括冗余的数据通信连接</a:t>
            </a:r>
            <a:r>
              <a:rPr lang="en-US" altLang="zh-CN" sz="2000" smtClean="0"/>
              <a:t>/</a:t>
            </a:r>
            <a:r>
              <a:rPr lang="zh-CN" altLang="en-US" sz="2000" smtClean="0"/>
              <a:t>环境控制设备</a:t>
            </a:r>
            <a:r>
              <a:rPr lang="en-US" altLang="zh-CN" sz="2000" smtClean="0"/>
              <a:t>/</a:t>
            </a:r>
            <a:r>
              <a:rPr lang="zh-CN" altLang="en-US" sz="2000" smtClean="0"/>
              <a:t>监控设备及安全装置，是一大型的系统工程。通过高度的安全性和可靠性提供及时持续的数据服务，为物联网应用提供良好的支持。</a:t>
            </a:r>
            <a:endParaRPr lang="en-US" altLang="zh-CN" sz="2000" smtClean="0"/>
          </a:p>
          <a:p>
            <a:r>
              <a:rPr lang="zh-CN" altLang="en-US" sz="2400" b="1" smtClean="0"/>
              <a:t>典型的数据中心：</a:t>
            </a:r>
            <a:r>
              <a:rPr lang="en-US" altLang="zh-CN" sz="2000" smtClean="0"/>
              <a:t>Google/Hadoop</a:t>
            </a:r>
            <a:endParaRPr lang="zh-CN" altLang="en-US" smtClean="0"/>
          </a:p>
        </p:txBody>
      </p:sp>
    </p:spTree>
  </p:cSld>
  <p:clrMapOvr>
    <a:masterClrMapping/>
  </p:clrMapOvr>
  <p:transition>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pPr eaLnBrk="1" hangingPunct="1"/>
            <a:r>
              <a:rPr lang="zh-CN" altLang="en-US" smtClean="0"/>
              <a:t>搜索引擎与物联网</a:t>
            </a:r>
          </a:p>
        </p:txBody>
      </p:sp>
      <p:sp>
        <p:nvSpPr>
          <p:cNvPr id="35843" name="内容占位符 2"/>
          <p:cNvSpPr>
            <a:spLocks noGrp="1"/>
          </p:cNvSpPr>
          <p:nvPr>
            <p:ph idx="1"/>
          </p:nvPr>
        </p:nvSpPr>
        <p:spPr/>
        <p:txBody>
          <a:bodyPr>
            <a:normAutofit fontScale="85000" lnSpcReduction="20000"/>
          </a:bodyPr>
          <a:lstStyle/>
          <a:p>
            <a:r>
              <a:rPr lang="en-US" altLang="zh-CN" b="1" smtClean="0">
                <a:solidFill>
                  <a:srgbClr val="C00000"/>
                </a:solidFill>
              </a:rPr>
              <a:t>Web</a:t>
            </a:r>
            <a:r>
              <a:rPr lang="zh-CN" altLang="en-US" b="1" smtClean="0">
                <a:solidFill>
                  <a:srgbClr val="C00000"/>
                </a:solidFill>
              </a:rPr>
              <a:t>搜索引擎：</a:t>
            </a:r>
            <a:r>
              <a:rPr lang="zh-CN" altLang="en-US" sz="2000" smtClean="0"/>
              <a:t>一个能够在合理响应时间内，根据用户的查询关键词，返回一个包含相关信息的结果列表（</a:t>
            </a:r>
            <a:r>
              <a:rPr lang="en-US" altLang="zh-CN" sz="2000" smtClean="0"/>
              <a:t>hits list</a:t>
            </a:r>
            <a:r>
              <a:rPr lang="zh-CN" altLang="en-US" sz="2000" smtClean="0"/>
              <a:t>）服务的综合体。</a:t>
            </a:r>
            <a:endParaRPr lang="en-US" altLang="zh-CN" sz="2000" smtClean="0"/>
          </a:p>
          <a:p>
            <a:endParaRPr lang="zh-CN" altLang="en-US" sz="2000" smtClean="0"/>
          </a:p>
          <a:p>
            <a:r>
              <a:rPr lang="zh-CN" altLang="en-US" sz="2400" b="1" smtClean="0"/>
              <a:t>传统的</a:t>
            </a:r>
            <a:r>
              <a:rPr lang="en-US" altLang="zh-CN" sz="2400" b="1" smtClean="0"/>
              <a:t>Web</a:t>
            </a:r>
            <a:r>
              <a:rPr lang="zh-CN" altLang="en-US" sz="2400" b="1" smtClean="0"/>
              <a:t>搜索引擎</a:t>
            </a:r>
            <a:r>
              <a:rPr lang="zh-CN" altLang="en-US" sz="2000" smtClean="0"/>
              <a:t>是基于查询</a:t>
            </a:r>
            <a:r>
              <a:rPr lang="zh-CN" altLang="en-US" sz="2000" b="1" smtClean="0">
                <a:solidFill>
                  <a:srgbClr val="0000FF"/>
                </a:solidFill>
              </a:rPr>
              <a:t>关键词</a:t>
            </a:r>
            <a:r>
              <a:rPr lang="zh-CN" altLang="en-US" sz="2000" smtClean="0"/>
              <a:t>的，对于相同的关键词，会得到相同的查询结果。</a:t>
            </a:r>
            <a:endParaRPr lang="en-US" altLang="zh-CN" sz="2000" smtClean="0"/>
          </a:p>
          <a:p>
            <a:endParaRPr lang="zh-CN" altLang="en-US" sz="2000" smtClean="0"/>
          </a:p>
          <a:p>
            <a:r>
              <a:rPr lang="zh-CN" altLang="en-US" sz="2400" b="1" smtClean="0"/>
              <a:t>物联网时代搜索引擎的新思考</a:t>
            </a:r>
          </a:p>
          <a:p>
            <a:pPr lvl="1">
              <a:buFont typeface="Arial" panose="020B0604020202020204" pitchFamily="34" charset="0"/>
              <a:buChar char="•"/>
            </a:pPr>
            <a:r>
              <a:rPr lang="zh-CN" altLang="en-US" sz="2000" smtClean="0"/>
              <a:t>从智能物体角度思考搜索引擎与物体之间的关系，主动识别物体并提取有用信息。</a:t>
            </a:r>
          </a:p>
          <a:p>
            <a:pPr lvl="1">
              <a:buFont typeface="Arial" panose="020B0604020202020204" pitchFamily="34" charset="0"/>
              <a:buChar char="•"/>
            </a:pPr>
            <a:r>
              <a:rPr lang="zh-CN" altLang="en-US" sz="2000" smtClean="0"/>
              <a:t>从用户角度上的多模态信息利用，使查询结果更精确，更智能，更定制化。</a:t>
            </a:r>
            <a:endParaRPr lang="zh-CN" altLang="en-US" smtClean="0"/>
          </a:p>
        </p:txBody>
      </p:sp>
    </p:spTree>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pPr eaLnBrk="1" hangingPunct="1"/>
            <a:r>
              <a:rPr lang="zh-CN" altLang="en-US" smtClean="0"/>
              <a:t>物联网的智慧决策</a:t>
            </a:r>
          </a:p>
        </p:txBody>
      </p:sp>
      <p:sp>
        <p:nvSpPr>
          <p:cNvPr id="36867" name="内容占位符 2"/>
          <p:cNvSpPr>
            <a:spLocks noGrp="1"/>
          </p:cNvSpPr>
          <p:nvPr>
            <p:ph idx="1"/>
          </p:nvPr>
        </p:nvSpPr>
        <p:spPr>
          <a:xfrm>
            <a:off x="1172632" y="1988840"/>
            <a:ext cx="7431816" cy="4104456"/>
          </a:xfrm>
        </p:spPr>
        <p:txBody>
          <a:bodyPr>
            <a:noAutofit/>
          </a:bodyPr>
          <a:lstStyle/>
          <a:p>
            <a:r>
              <a:rPr lang="zh-CN" altLang="en-US" sz="2000" b="1" smtClean="0">
                <a:solidFill>
                  <a:srgbClr val="000000"/>
                </a:solidFill>
              </a:rPr>
              <a:t>需求分析：</a:t>
            </a:r>
            <a:endParaRPr lang="en-US" altLang="zh-CN" sz="2000" b="1" smtClean="0">
              <a:solidFill>
                <a:srgbClr val="000000"/>
              </a:solidFill>
            </a:endParaRPr>
          </a:p>
          <a:p>
            <a:pPr lvl="1">
              <a:buFont typeface="Arial" panose="020B0604020202020204" pitchFamily="34" charset="0"/>
              <a:buChar char="•"/>
            </a:pPr>
            <a:r>
              <a:rPr lang="zh-CN" altLang="en-US" sz="1800" smtClean="0">
                <a:solidFill>
                  <a:srgbClr val="000000"/>
                </a:solidFill>
              </a:rPr>
              <a:t>更透彻的感知要求</a:t>
            </a:r>
            <a:r>
              <a:rPr lang="zh-CN" altLang="en-US" sz="1800" b="1" smtClean="0">
                <a:solidFill>
                  <a:srgbClr val="0000FF"/>
                </a:solidFill>
              </a:rPr>
              <a:t>对海量数据多维度整合与分析</a:t>
            </a:r>
            <a:endParaRPr lang="en-US" altLang="zh-CN" sz="1800" b="1" smtClean="0">
              <a:solidFill>
                <a:srgbClr val="0000FF"/>
              </a:solidFill>
            </a:endParaRPr>
          </a:p>
          <a:p>
            <a:pPr lvl="1">
              <a:buFont typeface="Arial" panose="020B0604020202020204" pitchFamily="34" charset="0"/>
              <a:buChar char="•"/>
            </a:pPr>
            <a:r>
              <a:rPr lang="zh-CN" altLang="en-US" sz="1800" smtClean="0">
                <a:solidFill>
                  <a:srgbClr val="000000"/>
                </a:solidFill>
              </a:rPr>
              <a:t>更深入的智能化需要</a:t>
            </a:r>
            <a:r>
              <a:rPr lang="zh-CN" altLang="en-US" sz="1800" b="1" smtClean="0">
                <a:solidFill>
                  <a:srgbClr val="0000FF"/>
                </a:solidFill>
              </a:rPr>
              <a:t>普适性的数据搜索和服务</a:t>
            </a:r>
            <a:endParaRPr lang="en-US" altLang="zh-CN" sz="1800" b="1" smtClean="0">
              <a:solidFill>
                <a:srgbClr val="0000FF"/>
              </a:solidFill>
            </a:endParaRPr>
          </a:p>
          <a:p>
            <a:r>
              <a:rPr lang="zh-CN" altLang="en-US" sz="2000" b="1" smtClean="0">
                <a:solidFill>
                  <a:srgbClr val="C00000"/>
                </a:solidFill>
              </a:rPr>
              <a:t>数据挖掘技术</a:t>
            </a:r>
            <a:r>
              <a:rPr lang="zh-CN" altLang="en-US" sz="1800" smtClean="0">
                <a:solidFill>
                  <a:srgbClr val="000000"/>
                </a:solidFill>
              </a:rPr>
              <a:t>从大量数据中获取潜在有用的且可被人理解的模式，基本类型有关联分析，聚类分析，演化分析等。</a:t>
            </a:r>
            <a:endParaRPr lang="en-US" altLang="zh-CN" sz="1800" smtClean="0">
              <a:solidFill>
                <a:srgbClr val="000000"/>
              </a:solidFill>
            </a:endParaRPr>
          </a:p>
          <a:p>
            <a:r>
              <a:rPr lang="zh-CN" altLang="en-US" sz="2000" b="1" smtClean="0">
                <a:solidFill>
                  <a:srgbClr val="000000"/>
                </a:solidFill>
              </a:rPr>
              <a:t>应用举例：</a:t>
            </a:r>
            <a:endParaRPr lang="en-US" altLang="zh-CN" sz="2000" b="1" smtClean="0">
              <a:solidFill>
                <a:srgbClr val="000000"/>
              </a:solidFill>
            </a:endParaRPr>
          </a:p>
          <a:p>
            <a:pPr lvl="1">
              <a:buFont typeface="Arial" panose="020B0604020202020204" pitchFamily="34" charset="0"/>
              <a:buChar char="•"/>
            </a:pPr>
            <a:r>
              <a:rPr lang="zh-CN" altLang="en-US" sz="1800" u="sng" smtClean="0">
                <a:solidFill>
                  <a:srgbClr val="000000"/>
                </a:solidFill>
              </a:rPr>
              <a:t>精准农业</a:t>
            </a:r>
            <a:r>
              <a:rPr lang="zh-CN" altLang="en-US" sz="1800" smtClean="0">
                <a:solidFill>
                  <a:srgbClr val="000000"/>
                </a:solidFill>
              </a:rPr>
              <a:t>：实时监测环境数据，挖掘影响产量的重要因素，获得产量最大化配置方式</a:t>
            </a:r>
            <a:endParaRPr lang="en-US" altLang="zh-CN" sz="1800" smtClean="0">
              <a:solidFill>
                <a:srgbClr val="000000"/>
              </a:solidFill>
            </a:endParaRPr>
          </a:p>
          <a:p>
            <a:pPr lvl="1">
              <a:buFont typeface="Arial" panose="020B0604020202020204" pitchFamily="34" charset="0"/>
              <a:buChar char="•"/>
            </a:pPr>
            <a:r>
              <a:rPr lang="zh-CN" altLang="en-US" sz="1800" u="sng" smtClean="0">
                <a:solidFill>
                  <a:srgbClr val="000000"/>
                </a:solidFill>
              </a:rPr>
              <a:t>市场营销</a:t>
            </a:r>
            <a:r>
              <a:rPr lang="zh-CN" altLang="en-US" sz="1800" smtClean="0">
                <a:solidFill>
                  <a:srgbClr val="000000"/>
                </a:solidFill>
              </a:rPr>
              <a:t>：通过数据库行销和货篮分析等方式获取顾客购物取向和兴趣</a:t>
            </a:r>
            <a:endParaRPr lang="en-US" altLang="zh-CN" sz="1800" smtClean="0">
              <a:solidFill>
                <a:srgbClr val="000000"/>
              </a:solidFill>
              <a:ea typeface="隶书" panose="02010509060101010101" pitchFamily="49" charset="-122"/>
            </a:endParaRPr>
          </a:p>
          <a:p>
            <a:pPr eaLnBrk="1" hangingPunct="1"/>
            <a:endParaRPr lang="zh-CN" altLang="en-US" sz="2000" smtClean="0"/>
          </a:p>
        </p:txBody>
      </p:sp>
    </p:spTree>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pPr eaLnBrk="1" hangingPunct="1"/>
            <a:r>
              <a:rPr lang="zh-CN" altLang="en-US" smtClean="0"/>
              <a:t>信息安全与隐私保护</a:t>
            </a:r>
          </a:p>
        </p:txBody>
      </p:sp>
      <p:sp>
        <p:nvSpPr>
          <p:cNvPr id="3" name="内容占位符 2"/>
          <p:cNvSpPr>
            <a:spLocks noGrp="1"/>
          </p:cNvSpPr>
          <p:nvPr>
            <p:ph idx="1"/>
          </p:nvPr>
        </p:nvSpPr>
        <p:spPr/>
        <p:txBody>
          <a:bodyPr>
            <a:normAutofit fontScale="77500" lnSpcReduction="20000"/>
          </a:bodyPr>
          <a:lstStyle/>
          <a:p>
            <a:pPr marL="365760" indent="-255905" fontAlgn="auto">
              <a:spcAft>
                <a:spcPts val="0"/>
              </a:spcAft>
              <a:buClr>
                <a:schemeClr val="accent3"/>
              </a:buClr>
              <a:buFont typeface="Georgia" panose="02040502050405020303"/>
              <a:buChar char="•"/>
              <a:defRPr/>
            </a:pPr>
            <a:r>
              <a:rPr lang="en-US" altLang="zh-CN" sz="3200" b="1" dirty="0" smtClean="0">
                <a:solidFill>
                  <a:srgbClr val="C00000"/>
                </a:solidFill>
              </a:rPr>
              <a:t>RFID</a:t>
            </a:r>
            <a:r>
              <a:rPr lang="zh-CN" altLang="en-US" sz="3200" b="1" dirty="0" smtClean="0">
                <a:solidFill>
                  <a:srgbClr val="C00000"/>
                </a:solidFill>
              </a:rPr>
              <a:t>安全</a:t>
            </a:r>
            <a:endParaRPr lang="en-US" altLang="zh-CN" sz="3200" b="1" dirty="0" smtClean="0">
              <a:solidFill>
                <a:srgbClr val="C00000"/>
              </a:solidFill>
            </a:endParaRPr>
          </a:p>
          <a:p>
            <a:pPr marL="658495" lvl="1" indent="-247015" fontAlgn="auto">
              <a:spcAft>
                <a:spcPts val="0"/>
              </a:spcAft>
              <a:buFont typeface="Georgia" panose="02040502050405020303"/>
              <a:buChar char="▫"/>
              <a:defRPr/>
            </a:pPr>
            <a:r>
              <a:rPr lang="zh-CN" altLang="en-US" sz="3000" b="1" dirty="0" smtClean="0"/>
              <a:t>主要安全和隐私隐患：</a:t>
            </a:r>
            <a:r>
              <a:rPr lang="zh-CN" altLang="en-US" dirty="0" smtClean="0">
                <a:solidFill>
                  <a:schemeClr val="tx1"/>
                </a:solidFill>
              </a:rPr>
              <a:t>窃听、跟踪、中间人攻击、欺骗</a:t>
            </a:r>
            <a:r>
              <a:rPr lang="en-US" altLang="zh-CN" dirty="0" smtClean="0">
                <a:solidFill>
                  <a:schemeClr val="tx1"/>
                </a:solidFill>
              </a:rPr>
              <a:t>/</a:t>
            </a:r>
            <a:r>
              <a:rPr lang="zh-CN" altLang="en-US" dirty="0" smtClean="0">
                <a:solidFill>
                  <a:schemeClr val="tx1"/>
                </a:solidFill>
              </a:rPr>
              <a:t>重放</a:t>
            </a:r>
            <a:r>
              <a:rPr lang="en-US" altLang="zh-CN" dirty="0" smtClean="0">
                <a:solidFill>
                  <a:schemeClr val="tx1"/>
                </a:solidFill>
              </a:rPr>
              <a:t>/</a:t>
            </a:r>
            <a:r>
              <a:rPr lang="zh-CN" altLang="en-US" dirty="0" smtClean="0">
                <a:solidFill>
                  <a:schemeClr val="tx1"/>
                </a:solidFill>
              </a:rPr>
              <a:t>克隆、物理破解、篡改信息、拒绝服务攻击、</a:t>
            </a:r>
            <a:r>
              <a:rPr lang="en-US" altLang="zh-CN" dirty="0" smtClean="0">
                <a:solidFill>
                  <a:schemeClr val="tx1"/>
                </a:solidFill>
              </a:rPr>
              <a:t>RFID</a:t>
            </a:r>
            <a:r>
              <a:rPr lang="zh-CN" altLang="en-US" dirty="0" smtClean="0">
                <a:solidFill>
                  <a:schemeClr val="tx1"/>
                </a:solidFill>
              </a:rPr>
              <a:t>病毒</a:t>
            </a:r>
            <a:r>
              <a:rPr lang="en-US" altLang="zh-CN" dirty="0" smtClean="0">
                <a:solidFill>
                  <a:schemeClr val="tx1"/>
                </a:solidFill>
              </a:rPr>
              <a:t>…</a:t>
            </a:r>
          </a:p>
          <a:p>
            <a:pPr marL="658495" lvl="1" indent="-247015" fontAlgn="auto">
              <a:spcAft>
                <a:spcPts val="0"/>
              </a:spcAft>
              <a:buFont typeface="Georgia" panose="02040502050405020303"/>
              <a:buChar char="▫"/>
              <a:defRPr/>
            </a:pPr>
            <a:r>
              <a:rPr lang="zh-CN" altLang="en-US" sz="3000" b="1" dirty="0" smtClean="0"/>
              <a:t>保护手段：</a:t>
            </a:r>
            <a:r>
              <a:rPr lang="zh-CN" altLang="en-US" dirty="0" smtClean="0">
                <a:solidFill>
                  <a:schemeClr val="tx1"/>
                </a:solidFill>
              </a:rPr>
              <a:t>物理安全机制</a:t>
            </a:r>
            <a:r>
              <a:rPr lang="en-US" altLang="zh-CN" dirty="0" smtClean="0">
                <a:solidFill>
                  <a:schemeClr val="tx1"/>
                </a:solidFill>
              </a:rPr>
              <a:t>/</a:t>
            </a:r>
            <a:r>
              <a:rPr lang="zh-CN" altLang="en-US" dirty="0" smtClean="0">
                <a:solidFill>
                  <a:schemeClr val="tx1"/>
                </a:solidFill>
              </a:rPr>
              <a:t>密码学安全机制</a:t>
            </a:r>
            <a:r>
              <a:rPr lang="en-US" altLang="zh-CN" dirty="0" smtClean="0">
                <a:solidFill>
                  <a:schemeClr val="tx1"/>
                </a:solidFill>
              </a:rPr>
              <a:t>/PUF…</a:t>
            </a:r>
          </a:p>
          <a:p>
            <a:pPr marL="365760" indent="-255905" fontAlgn="auto">
              <a:spcAft>
                <a:spcPts val="0"/>
              </a:spcAft>
              <a:buClr>
                <a:schemeClr val="accent3"/>
              </a:buClr>
              <a:buFont typeface="Georgia" panose="02040502050405020303"/>
              <a:buChar char="•"/>
              <a:defRPr/>
            </a:pPr>
            <a:endParaRPr lang="en-US" altLang="zh-CN" dirty="0" smtClean="0"/>
          </a:p>
          <a:p>
            <a:pPr marL="365760" indent="-255905" fontAlgn="auto">
              <a:spcAft>
                <a:spcPts val="0"/>
              </a:spcAft>
              <a:buClr>
                <a:schemeClr val="accent3"/>
              </a:buClr>
              <a:buFont typeface="Georgia" panose="02040502050405020303"/>
              <a:buChar char="•"/>
              <a:defRPr/>
            </a:pPr>
            <a:r>
              <a:rPr lang="zh-CN" altLang="en-US" sz="3200" b="1" dirty="0" smtClean="0">
                <a:solidFill>
                  <a:srgbClr val="C00000"/>
                </a:solidFill>
              </a:rPr>
              <a:t>位置隐私</a:t>
            </a:r>
          </a:p>
          <a:p>
            <a:pPr marL="658495" lvl="1" indent="-247015" fontAlgn="auto">
              <a:spcAft>
                <a:spcPts val="0"/>
              </a:spcAft>
              <a:buFont typeface="Georgia" panose="02040502050405020303"/>
              <a:buChar char="▫"/>
              <a:defRPr/>
            </a:pPr>
            <a:r>
              <a:rPr lang="zh-CN" altLang="en-US" sz="3000" b="1" dirty="0" smtClean="0"/>
              <a:t>定义：</a:t>
            </a:r>
            <a:r>
              <a:rPr lang="zh-CN" altLang="en-US" dirty="0" smtClean="0">
                <a:solidFill>
                  <a:schemeClr val="tx1"/>
                </a:solidFill>
              </a:rPr>
              <a:t>用户对自己位置信息的掌控能力：用户能自由决定是否发布位置信息，将信息发布给谁，通过何种方式来发布，以及发布的信息有多详细。 </a:t>
            </a:r>
          </a:p>
          <a:p>
            <a:pPr marL="658495" lvl="1" indent="-247015" fontAlgn="auto">
              <a:spcAft>
                <a:spcPts val="0"/>
              </a:spcAft>
              <a:buFont typeface="Georgia" panose="02040502050405020303"/>
              <a:buChar char="▫"/>
              <a:defRPr/>
            </a:pPr>
            <a:r>
              <a:rPr lang="zh-CN" altLang="en-US" sz="3000" b="1" dirty="0" smtClean="0"/>
              <a:t>保护手段：</a:t>
            </a:r>
            <a:r>
              <a:rPr lang="zh-CN" altLang="en-US" dirty="0" smtClean="0">
                <a:solidFill>
                  <a:schemeClr val="tx1"/>
                </a:solidFill>
              </a:rPr>
              <a:t>制度制约、隐私方针、身份匿名、数据混淆</a:t>
            </a:r>
            <a:endParaRPr lang="en-US" altLang="zh-CN" dirty="0" smtClean="0">
              <a:solidFill>
                <a:schemeClr val="tx1"/>
              </a:solidFill>
            </a:endParaRPr>
          </a:p>
          <a:p>
            <a:pPr marL="365760" indent="-255905" eaLnBrk="1" fontAlgn="auto" hangingPunct="1">
              <a:spcAft>
                <a:spcPts val="0"/>
              </a:spcAft>
              <a:buClr>
                <a:schemeClr val="accent3"/>
              </a:buClr>
              <a:buFont typeface="Georgia" panose="02040502050405020303"/>
              <a:buChar char="•"/>
              <a:defRPr/>
            </a:pPr>
            <a:endParaRPr lang="zh-CN" altLang="en-US" dirty="0"/>
          </a:p>
        </p:txBody>
      </p:sp>
    </p:spTree>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xfrm>
            <a:off x="611560" y="915337"/>
            <a:ext cx="7364040" cy="1303867"/>
          </a:xfrm>
        </p:spPr>
        <p:txBody>
          <a:bodyPr>
            <a:normAutofit/>
          </a:bodyPr>
          <a:lstStyle/>
          <a:p>
            <a:pPr eaLnBrk="1" hangingPunct="1"/>
            <a:r>
              <a:rPr lang="zh-CN" altLang="en-US" smtClean="0"/>
              <a:t>物联网核心技术</a:t>
            </a:r>
            <a:r>
              <a:rPr lang="en-US" altLang="zh-CN" smtClean="0">
                <a:solidFill>
                  <a:srgbClr val="0000FF"/>
                </a:solidFill>
              </a:rPr>
              <a:t>——</a:t>
            </a:r>
            <a:r>
              <a:rPr lang="zh-CN" altLang="en-US" smtClean="0">
                <a:solidFill>
                  <a:srgbClr val="0000FF"/>
                </a:solidFill>
              </a:rPr>
              <a:t>综合应用层</a:t>
            </a:r>
            <a:endParaRPr lang="zh-CN" altLang="en-US" smtClean="0"/>
          </a:p>
        </p:txBody>
      </p:sp>
      <p:sp>
        <p:nvSpPr>
          <p:cNvPr id="3" name="内容占位符 2"/>
          <p:cNvSpPr>
            <a:spLocks noGrp="1"/>
          </p:cNvSpPr>
          <p:nvPr>
            <p:ph idx="1"/>
          </p:nvPr>
        </p:nvSpPr>
        <p:spPr/>
        <p:txBody>
          <a:bodyPr>
            <a:normAutofit fontScale="92500" lnSpcReduction="20000"/>
          </a:bodyPr>
          <a:lstStyle/>
          <a:p>
            <a:pPr marL="342900" indent="-342900" fontAlgn="auto">
              <a:spcBef>
                <a:spcPct val="20000"/>
              </a:spcBef>
              <a:spcAft>
                <a:spcPts val="0"/>
              </a:spcAft>
              <a:buClr>
                <a:schemeClr val="accent3"/>
              </a:buClr>
              <a:buFont typeface="Arial" panose="020B0604020202020204" pitchFamily="34" charset="0"/>
              <a:buChar char="•"/>
              <a:defRPr/>
            </a:pPr>
            <a:r>
              <a:rPr lang="zh-CN" altLang="en-US" dirty="0" smtClean="0"/>
              <a:t>“实践出真知”，无论任何技术，应用是决定成败的关键。</a:t>
            </a:r>
            <a:endParaRPr lang="en-US" altLang="zh-CN" dirty="0" smtClean="0"/>
          </a:p>
          <a:p>
            <a:pPr marL="342900" indent="-342900" fontAlgn="auto">
              <a:spcBef>
                <a:spcPct val="20000"/>
              </a:spcBef>
              <a:spcAft>
                <a:spcPts val="0"/>
              </a:spcAft>
              <a:buClr>
                <a:schemeClr val="accent3"/>
              </a:buClr>
              <a:buFont typeface="Arial" panose="020B0604020202020204" pitchFamily="34" charset="0"/>
              <a:buChar char="•"/>
              <a:defRPr/>
            </a:pPr>
            <a:r>
              <a:rPr lang="zh-CN" altLang="en-US" dirty="0" smtClean="0"/>
              <a:t>物联网丰富的内涵催生出更加丰富的外延应用。</a:t>
            </a:r>
            <a:endParaRPr lang="en-US" altLang="zh-CN" dirty="0" smtClean="0"/>
          </a:p>
          <a:p>
            <a:pPr marL="342900" indent="-342900" fontAlgn="auto">
              <a:spcBef>
                <a:spcPct val="20000"/>
              </a:spcBef>
              <a:spcAft>
                <a:spcPts val="0"/>
              </a:spcAft>
              <a:buClr>
                <a:schemeClr val="accent3"/>
              </a:buClr>
              <a:buFont typeface="Arial" panose="020B0604020202020204" pitchFamily="34" charset="0"/>
              <a:buChar char="•"/>
              <a:defRPr/>
            </a:pPr>
            <a:r>
              <a:rPr lang="zh-CN" altLang="en-US" dirty="0" smtClean="0"/>
              <a:t>传统互联网经历了以数据为中心到以人为中心的转化，典型应用包括文件传输、电子邮件、万维网、电子商务、视频点播、在线游戏和社交网络等；而</a:t>
            </a:r>
            <a:r>
              <a:rPr lang="zh-CN" altLang="en-US" sz="2600" b="1" dirty="0" smtClean="0">
                <a:solidFill>
                  <a:srgbClr val="FF3300"/>
                </a:solidFill>
              </a:rPr>
              <a:t>物联网应用以“物”或者物理世界为中心</a:t>
            </a:r>
            <a:r>
              <a:rPr lang="zh-CN" altLang="en-US" dirty="0" smtClean="0"/>
              <a:t>，涵盖</a:t>
            </a:r>
            <a:r>
              <a:rPr lang="zh-CN" altLang="en-US" b="1" dirty="0" smtClean="0">
                <a:solidFill>
                  <a:srgbClr val="0000FF"/>
                </a:solidFill>
              </a:rPr>
              <a:t>物品追踪</a:t>
            </a:r>
            <a:r>
              <a:rPr lang="zh-CN" altLang="en-US" dirty="0" smtClean="0"/>
              <a:t>、</a:t>
            </a:r>
            <a:r>
              <a:rPr lang="zh-CN" altLang="en-US" b="1" dirty="0" smtClean="0">
                <a:solidFill>
                  <a:srgbClr val="0000FF"/>
                </a:solidFill>
              </a:rPr>
              <a:t>环境感知</a:t>
            </a:r>
            <a:r>
              <a:rPr lang="zh-CN" altLang="en-US" dirty="0" smtClean="0"/>
              <a:t>、</a:t>
            </a:r>
            <a:r>
              <a:rPr lang="zh-CN" altLang="en-US" b="1" dirty="0" smtClean="0">
                <a:solidFill>
                  <a:srgbClr val="0000FF"/>
                </a:solidFill>
              </a:rPr>
              <a:t>智能物流</a:t>
            </a:r>
            <a:r>
              <a:rPr lang="zh-CN" altLang="en-US" dirty="0" smtClean="0"/>
              <a:t>、</a:t>
            </a:r>
            <a:r>
              <a:rPr lang="zh-CN" altLang="en-US" b="1" dirty="0" smtClean="0">
                <a:solidFill>
                  <a:srgbClr val="0000FF"/>
                </a:solidFill>
              </a:rPr>
              <a:t>智能交通</a:t>
            </a:r>
            <a:r>
              <a:rPr lang="zh-CN" altLang="en-US" dirty="0" smtClean="0"/>
              <a:t>、</a:t>
            </a:r>
            <a:r>
              <a:rPr lang="zh-CN" altLang="en-US" b="1" dirty="0" smtClean="0">
                <a:solidFill>
                  <a:srgbClr val="0000FF"/>
                </a:solidFill>
              </a:rPr>
              <a:t>智能电网</a:t>
            </a:r>
            <a:r>
              <a:rPr lang="zh-CN" altLang="en-US" dirty="0" smtClean="0"/>
              <a:t>等等。</a:t>
            </a:r>
            <a:endParaRPr lang="en-US" altLang="zh-CN" dirty="0" smtClean="0"/>
          </a:p>
          <a:p>
            <a:pPr marL="342900" indent="-342900" fontAlgn="auto">
              <a:spcBef>
                <a:spcPct val="20000"/>
              </a:spcBef>
              <a:spcAft>
                <a:spcPts val="0"/>
              </a:spcAft>
              <a:buClr>
                <a:schemeClr val="accent3"/>
              </a:buClr>
              <a:buFont typeface="Arial" panose="020B0604020202020204" pitchFamily="34" charset="0"/>
              <a:buChar char="•"/>
              <a:defRPr/>
            </a:pPr>
            <a:r>
              <a:rPr lang="zh-CN" altLang="en-US" dirty="0" smtClean="0"/>
              <a:t>物联网应用目前正处于快速增长期，具有多样化、规模化、行业化等特点。</a:t>
            </a:r>
          </a:p>
          <a:p>
            <a:pPr marL="365760" indent="-255905" eaLnBrk="1" fontAlgn="auto" hangingPunct="1">
              <a:spcAft>
                <a:spcPts val="0"/>
              </a:spcAft>
              <a:buClr>
                <a:schemeClr val="accent3"/>
              </a:buClr>
              <a:buFont typeface="Georgia" panose="02040502050405020303"/>
              <a:buChar char="•"/>
              <a:defRPr/>
            </a:pPr>
            <a:endParaRPr lang="zh-CN" altLang="en-US" dirty="0"/>
          </a:p>
        </p:txBody>
      </p:sp>
    </p:spTree>
  </p:cSld>
  <p:clrMapOvr>
    <a:masterClrMapping/>
  </p:clrMapOvr>
  <p:transition>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59632" y="1556792"/>
            <a:ext cx="6696744" cy="70802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pPr algn="ctr" eaLnBrk="1" fontAlgn="auto" hangingPunct="1">
              <a:spcBef>
                <a:spcPts val="0"/>
              </a:spcBef>
              <a:spcAft>
                <a:spcPts val="0"/>
              </a:spcAft>
              <a:defRPr/>
            </a:pPr>
            <a:r>
              <a:rPr lang="zh-CN" altLang="en-US" sz="4000" smtClean="0">
                <a:latin typeface="+mj-ea"/>
                <a:ea typeface="+mj-ea"/>
              </a:rPr>
              <a:t>中国</a:t>
            </a:r>
            <a:r>
              <a:rPr lang="zh-CN" altLang="en-US" sz="4000" dirty="0">
                <a:latin typeface="+mj-ea"/>
                <a:ea typeface="+mj-ea"/>
              </a:rPr>
              <a:t>物联网的发展现状</a:t>
            </a:r>
          </a:p>
        </p:txBody>
      </p:sp>
    </p:spTree>
  </p:cSld>
  <p:clrMapOvr>
    <a:masterClrMapping/>
  </p:clrMapOvr>
  <p:transition>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pPr eaLnBrk="1" hangingPunct="1"/>
            <a:r>
              <a:rPr lang="zh-CN" altLang="en-US" smtClean="0"/>
              <a:t>中国物联网发展水平</a:t>
            </a:r>
          </a:p>
        </p:txBody>
      </p:sp>
      <p:sp>
        <p:nvSpPr>
          <p:cNvPr id="4" name="内容占位符 3"/>
          <p:cNvSpPr>
            <a:spLocks noGrp="1"/>
          </p:cNvSpPr>
          <p:nvPr>
            <p:ph sz="half" idx="1"/>
          </p:nvPr>
        </p:nvSpPr>
        <p:spPr>
          <a:xfrm>
            <a:off x="214313" y="2249488"/>
            <a:ext cx="4500562" cy="4525962"/>
          </a:xfrm>
        </p:spPr>
        <p:txBody>
          <a:bodyPr>
            <a:normAutofit/>
          </a:bodyPr>
          <a:lstStyle/>
          <a:p>
            <a:pPr marL="365760" indent="-255905" eaLnBrk="1" fontAlgn="auto" hangingPunct="1">
              <a:lnSpc>
                <a:spcPct val="200000"/>
              </a:lnSpc>
              <a:spcBef>
                <a:spcPct val="25000"/>
              </a:spcBef>
              <a:spcAft>
                <a:spcPts val="0"/>
              </a:spcAft>
              <a:buClr>
                <a:schemeClr val="accent3"/>
              </a:buClr>
              <a:buFont typeface="Georgia" panose="02040502050405020303"/>
              <a:buChar char="•"/>
              <a:defRPr/>
            </a:pPr>
            <a:r>
              <a:rPr lang="zh-CN" altLang="en-US" dirty="0" smtClean="0">
                <a:latin typeface="微软雅黑" panose="020B0503020204020204" pitchFamily="34" charset="-122"/>
                <a:ea typeface="微软雅黑" panose="020B0503020204020204" pitchFamily="34" charset="-122"/>
              </a:rPr>
              <a:t>温家宝总理</a:t>
            </a:r>
            <a:r>
              <a:rPr lang="en-US" altLang="zh-CN" dirty="0" smtClean="0">
                <a:latin typeface="微软雅黑" panose="020B0503020204020204" pitchFamily="34" charset="-122"/>
                <a:ea typeface="微软雅黑" panose="020B0503020204020204" pitchFamily="34" charset="-122"/>
              </a:rPr>
              <a:t>09</a:t>
            </a:r>
            <a:r>
              <a:rPr lang="zh-CN" altLang="en-US" dirty="0" smtClean="0">
                <a:latin typeface="微软雅黑" panose="020B0503020204020204" pitchFamily="34" charset="-122"/>
                <a:ea typeface="微软雅黑" panose="020B0503020204020204" pitchFamily="34" charset="-122"/>
              </a:rPr>
              <a:t>年</a:t>
            </a:r>
            <a:r>
              <a:rPr lang="en-US" altLang="zh-CN" dirty="0" smtClean="0">
                <a:latin typeface="微软雅黑" panose="020B0503020204020204" pitchFamily="34" charset="-122"/>
                <a:ea typeface="微软雅黑" panose="020B0503020204020204" pitchFamily="34" charset="-122"/>
              </a:rPr>
              <a:t>4</a:t>
            </a:r>
            <a:r>
              <a:rPr lang="zh-CN" altLang="en-US" dirty="0" smtClean="0">
                <a:latin typeface="微软雅黑" panose="020B0503020204020204" pitchFamily="34" charset="-122"/>
                <a:ea typeface="微软雅黑" panose="020B0503020204020204" pitchFamily="34" charset="-122"/>
              </a:rPr>
              <a:t>次提到物联网，物联网目前已成为国家五大战略性新产业第二，由此可见中国对物联网的重视程度。</a:t>
            </a:r>
            <a:endParaRPr lang="en-US" altLang="zh-CN" dirty="0" smtClean="0">
              <a:latin typeface="微软雅黑" panose="020B0503020204020204" pitchFamily="34" charset="-122"/>
              <a:ea typeface="微软雅黑" panose="020B0503020204020204" pitchFamily="34" charset="-122"/>
            </a:endParaRPr>
          </a:p>
        </p:txBody>
      </p:sp>
      <p:sp>
        <p:nvSpPr>
          <p:cNvPr id="5" name="内容占位符 4"/>
          <p:cNvSpPr>
            <a:spLocks noGrp="1"/>
          </p:cNvSpPr>
          <p:nvPr>
            <p:ph sz="half" idx="2"/>
          </p:nvPr>
        </p:nvSpPr>
        <p:spPr/>
        <p:txBody>
          <a:bodyPr>
            <a:normAutofit/>
          </a:bodyPr>
          <a:lstStyle/>
          <a:p>
            <a:pPr marL="365760" indent="-255905" eaLnBrk="1" fontAlgn="auto" hangingPunct="1">
              <a:spcAft>
                <a:spcPts val="0"/>
              </a:spcAft>
              <a:buClr>
                <a:schemeClr val="accent3"/>
              </a:buClr>
              <a:buFont typeface="Georgia" panose="02040502050405020303"/>
              <a:buChar char="•"/>
              <a:defRPr/>
            </a:pPr>
            <a:endParaRPr lang="zh-CN" altLang="en-US"/>
          </a:p>
        </p:txBody>
      </p:sp>
      <p:pic>
        <p:nvPicPr>
          <p:cNvPr id="40965" name="Picture 5" descr="温家宝：让科技引领中国可持续发展"/>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2523" y="1943622"/>
            <a:ext cx="3024187" cy="227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2063" y="4237328"/>
            <a:ext cx="3024187" cy="168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4"/>
          <p:cNvSpPr>
            <a:spLocks noGrp="1"/>
          </p:cNvSpPr>
          <p:nvPr>
            <p:ph type="title"/>
          </p:nvPr>
        </p:nvSpPr>
        <p:spPr/>
        <p:txBody>
          <a:bodyPr/>
          <a:lstStyle/>
          <a:p>
            <a:pPr eaLnBrk="1" hangingPunct="1"/>
            <a:r>
              <a:rPr lang="zh-CN" altLang="en-US" smtClean="0"/>
              <a:t>中国物联网发展优势</a:t>
            </a:r>
          </a:p>
        </p:txBody>
      </p:sp>
      <p:sp>
        <p:nvSpPr>
          <p:cNvPr id="6" name="内容占位符 5"/>
          <p:cNvSpPr>
            <a:spLocks noGrp="1"/>
          </p:cNvSpPr>
          <p:nvPr>
            <p:ph idx="1"/>
          </p:nvPr>
        </p:nvSpPr>
        <p:spPr>
          <a:xfrm>
            <a:off x="1172632" y="1844824"/>
            <a:ext cx="7287800" cy="4320480"/>
          </a:xfrm>
        </p:spPr>
        <p:txBody>
          <a:bodyPr>
            <a:noAutofit/>
          </a:bodyPr>
          <a:lstStyle/>
          <a:p>
            <a:pPr marL="365760" indent="-255905" eaLnBrk="1" fontAlgn="auto" hangingPunct="1">
              <a:lnSpc>
                <a:spcPct val="200000"/>
              </a:lnSpc>
              <a:spcAft>
                <a:spcPts val="0"/>
              </a:spcAft>
              <a:buClr>
                <a:schemeClr val="accent3"/>
              </a:buClr>
              <a:buFont typeface="Georgia" panose="02040502050405020303"/>
              <a:buChar char="•"/>
              <a:defRPr/>
            </a:pPr>
            <a:r>
              <a:rPr lang="zh-CN" altLang="en-US" sz="1600" dirty="0" smtClean="0">
                <a:latin typeface="微软雅黑" panose="020B0503020204020204" pitchFamily="34" charset="-122"/>
                <a:ea typeface="微软雅黑" panose="020B0503020204020204" pitchFamily="34" charset="-122"/>
              </a:rPr>
              <a:t>第一，我国早在</a:t>
            </a:r>
            <a:r>
              <a:rPr lang="en-US" altLang="en-US" sz="1600" dirty="0" smtClean="0">
                <a:latin typeface="微软雅黑" panose="020B0503020204020204" pitchFamily="34" charset="-122"/>
                <a:ea typeface="微软雅黑" panose="020B0503020204020204" pitchFamily="34" charset="-122"/>
              </a:rPr>
              <a:t>1999</a:t>
            </a:r>
            <a:r>
              <a:rPr lang="zh-CN" altLang="en-US" sz="1600" dirty="0" smtClean="0">
                <a:latin typeface="微软雅黑" panose="020B0503020204020204" pitchFamily="34" charset="-122"/>
                <a:ea typeface="微软雅黑" panose="020B0503020204020204" pitchFamily="34" charset="-122"/>
              </a:rPr>
              <a:t>年就启动了物联网核心传感网技术研究，研发水平处于世界前列；</a:t>
            </a:r>
          </a:p>
          <a:p>
            <a:pPr marL="365760" indent="-255905" eaLnBrk="1" fontAlgn="auto" hangingPunct="1">
              <a:lnSpc>
                <a:spcPct val="200000"/>
              </a:lnSpc>
              <a:spcAft>
                <a:spcPts val="0"/>
              </a:spcAft>
              <a:buClr>
                <a:schemeClr val="accent3"/>
              </a:buClr>
              <a:buFont typeface="Georgia" panose="02040502050405020303"/>
              <a:buChar char="•"/>
              <a:defRPr/>
            </a:pPr>
            <a:r>
              <a:rPr lang="zh-CN" altLang="en-US" sz="1600" dirty="0" smtClean="0">
                <a:latin typeface="微软雅黑" panose="020B0503020204020204" pitchFamily="34" charset="-122"/>
                <a:ea typeface="微软雅黑" panose="020B0503020204020204" pitchFamily="34" charset="-122"/>
              </a:rPr>
              <a:t>第二，在世界传感网领域，我国是标准主导国之一，专利拥有量高；</a:t>
            </a:r>
          </a:p>
          <a:p>
            <a:pPr marL="365760" indent="-255905" eaLnBrk="1" fontAlgn="auto" hangingPunct="1">
              <a:lnSpc>
                <a:spcPct val="200000"/>
              </a:lnSpc>
              <a:spcAft>
                <a:spcPts val="0"/>
              </a:spcAft>
              <a:buClr>
                <a:schemeClr val="accent3"/>
              </a:buClr>
              <a:buFont typeface="Georgia" panose="02040502050405020303"/>
              <a:buChar char="•"/>
              <a:defRPr/>
            </a:pPr>
            <a:r>
              <a:rPr lang="zh-CN" altLang="en-US" sz="1600" dirty="0" smtClean="0">
                <a:latin typeface="微软雅黑" panose="020B0503020204020204" pitchFamily="34" charset="-122"/>
                <a:ea typeface="微软雅黑" panose="020B0503020204020204" pitchFamily="34" charset="-122"/>
              </a:rPr>
              <a:t>第三，我国是目前能够实现物联网完整产业链的国家之一；</a:t>
            </a:r>
          </a:p>
          <a:p>
            <a:pPr marL="365760" indent="-255905" eaLnBrk="1" fontAlgn="auto" hangingPunct="1">
              <a:lnSpc>
                <a:spcPct val="200000"/>
              </a:lnSpc>
              <a:spcAft>
                <a:spcPts val="0"/>
              </a:spcAft>
              <a:buClr>
                <a:schemeClr val="accent3"/>
              </a:buClr>
              <a:buFont typeface="Georgia" panose="02040502050405020303"/>
              <a:buChar char="•"/>
              <a:defRPr/>
            </a:pPr>
            <a:r>
              <a:rPr lang="zh-CN" altLang="en-US" sz="1600" dirty="0" smtClean="0">
                <a:latin typeface="微软雅黑" panose="020B0503020204020204" pitchFamily="34" charset="-122"/>
                <a:ea typeface="微软雅黑" panose="020B0503020204020204" pitchFamily="34" charset="-122"/>
              </a:rPr>
              <a:t>第四，我国无线通信网络和宽带覆盖率高，为物联网的发展提供了坚实的基础设施支持；</a:t>
            </a:r>
          </a:p>
          <a:p>
            <a:pPr marL="365760" indent="-255905" eaLnBrk="1" fontAlgn="auto" hangingPunct="1">
              <a:lnSpc>
                <a:spcPct val="200000"/>
              </a:lnSpc>
              <a:spcAft>
                <a:spcPts val="0"/>
              </a:spcAft>
              <a:buClr>
                <a:schemeClr val="accent3"/>
              </a:buClr>
              <a:buFont typeface="Georgia" panose="02040502050405020303"/>
              <a:buChar char="•"/>
              <a:defRPr/>
            </a:pPr>
            <a:r>
              <a:rPr lang="zh-CN" altLang="en-US" sz="1600" dirty="0" smtClean="0">
                <a:latin typeface="微软雅黑" panose="020B0503020204020204" pitchFamily="34" charset="-122"/>
                <a:ea typeface="微软雅黑" panose="020B0503020204020204" pitchFamily="34" charset="-122"/>
              </a:rPr>
              <a:t>第五，我国已经成为世界第二大经济体，有较为雄厚的经济实力支持物联网发展。</a:t>
            </a:r>
          </a:p>
          <a:p>
            <a:pPr marL="365760" indent="-255905" eaLnBrk="1" fontAlgn="auto" hangingPunct="1">
              <a:spcAft>
                <a:spcPts val="0"/>
              </a:spcAft>
              <a:buClr>
                <a:schemeClr val="accent3"/>
              </a:buClr>
              <a:buFont typeface="Georgia" panose="02040502050405020303"/>
              <a:buChar char="•"/>
              <a:defRPr/>
            </a:pPr>
            <a:endParaRPr lang="zh-CN" altLang="en-US" sz="1600" dirty="0"/>
          </a:p>
        </p:txBody>
      </p:sp>
    </p:spTree>
  </p:cSld>
  <p:clrMapOvr>
    <a:masterClrMapping/>
  </p:clrMapOvr>
  <p:transition>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pPr eaLnBrk="1" hangingPunct="1"/>
            <a:r>
              <a:rPr lang="zh-CN" altLang="en-US" smtClean="0"/>
              <a:t>物联网发展的劣势</a:t>
            </a:r>
          </a:p>
        </p:txBody>
      </p:sp>
      <p:sp>
        <p:nvSpPr>
          <p:cNvPr id="3" name="内容占位符 2"/>
          <p:cNvSpPr>
            <a:spLocks noGrp="1"/>
          </p:cNvSpPr>
          <p:nvPr>
            <p:ph idx="1"/>
          </p:nvPr>
        </p:nvSpPr>
        <p:spPr>
          <a:xfrm>
            <a:off x="1176864" y="2490135"/>
            <a:ext cx="7355575" cy="3444997"/>
          </a:xfrm>
        </p:spPr>
        <p:txBody>
          <a:bodyPr/>
          <a:lstStyle/>
          <a:p>
            <a:pPr marL="365760" indent="-255905" eaLnBrk="1" fontAlgn="auto" hangingPunct="1">
              <a:lnSpc>
                <a:spcPct val="180000"/>
              </a:lnSpc>
              <a:spcAft>
                <a:spcPts val="0"/>
              </a:spcAft>
              <a:buClr>
                <a:schemeClr val="accent3"/>
              </a:buClr>
              <a:buFont typeface="Georgia" panose="02040502050405020303"/>
              <a:buChar char="•"/>
              <a:defRPr/>
            </a:pPr>
            <a:r>
              <a:rPr lang="zh-CN" altLang="en-US" sz="2400" dirty="0" smtClean="0">
                <a:latin typeface="微软雅黑" panose="020B0503020204020204" pitchFamily="34" charset="-122"/>
                <a:ea typeface="微软雅黑" panose="020B0503020204020204" pitchFamily="34" charset="-122"/>
              </a:rPr>
              <a:t>然而，虽然我国在物联网的研究方面与美国、欧盟、日本和韩国等具有同发优势，享有国际话语权，但也要清醒地认识到，中国在基础网络设施、核心技术掌握上，同发达国家相比，尚有不小的差距。</a:t>
            </a:r>
          </a:p>
          <a:p>
            <a:pPr eaLnBrk="1" hangingPunct="1">
              <a:defRPr/>
            </a:pPr>
            <a:endParaRPr lang="zh-CN" alt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85875" y="1989138"/>
            <a:ext cx="6643688" cy="1550987"/>
          </a:xfrm>
          <a:prstGeom prst="rect">
            <a:avLst/>
          </a:prstGeom>
        </p:spPr>
        <p:txBody>
          <a:bodyPr>
            <a:spAutoFit/>
          </a:bodyPr>
          <a:lstStyle/>
          <a:p>
            <a:pPr algn="ctr" defTabSz="704215" eaLnBrk="1" fontAlgn="auto" hangingPunct="1">
              <a:lnSpc>
                <a:spcPct val="150000"/>
              </a:lnSpc>
              <a:spcBef>
                <a:spcPct val="20000"/>
              </a:spcBef>
              <a:spcAft>
                <a:spcPts val="0"/>
              </a:spcAft>
              <a:defRPr/>
            </a:pPr>
            <a:r>
              <a:rPr lang="zh-CN" altLang="en-US" sz="3600" b="1" kern="0" smtClean="0">
                <a:solidFill>
                  <a:srgbClr val="C0504D">
                    <a:lumMod val="75000"/>
                  </a:srgbClr>
                </a:solidFill>
                <a:latin typeface="微软雅黑" panose="020B0503020204020204" pitchFamily="34" charset="-122"/>
                <a:ea typeface="微软雅黑" panose="020B0503020204020204" pitchFamily="34" charset="-122"/>
              </a:rPr>
              <a:t>物</a:t>
            </a:r>
            <a:r>
              <a:rPr lang="zh-CN" altLang="en-US" sz="3600" b="1" kern="0" dirty="0">
                <a:solidFill>
                  <a:srgbClr val="C0504D">
                    <a:lumMod val="75000"/>
                  </a:srgbClr>
                </a:solidFill>
                <a:latin typeface="微软雅黑" panose="020B0503020204020204" pitchFamily="34" charset="-122"/>
                <a:ea typeface="微软雅黑" panose="020B0503020204020204" pitchFamily="34" charset="-122"/>
              </a:rPr>
              <a:t>联网的应用案例</a:t>
            </a:r>
          </a:p>
          <a:p>
            <a:pPr marL="264160" indent="-264160" algn="ctr" defTabSz="704215" eaLnBrk="1" fontAlgn="auto" hangingPunct="1">
              <a:lnSpc>
                <a:spcPct val="150000"/>
              </a:lnSpc>
              <a:spcBef>
                <a:spcPct val="20000"/>
              </a:spcBef>
              <a:spcAft>
                <a:spcPts val="0"/>
              </a:spcAft>
              <a:defRPr/>
            </a:pPr>
            <a:r>
              <a:rPr lang="zh-CN" altLang="en-US" sz="2400" kern="0" dirty="0">
                <a:solidFill>
                  <a:sysClr val="windowText" lastClr="000000">
                    <a:lumMod val="75000"/>
                    <a:lumOff val="25000"/>
                  </a:sysClr>
                </a:solidFill>
                <a:latin typeface="微软雅黑" panose="020B0503020204020204" pitchFamily="34" charset="-122"/>
                <a:ea typeface="微软雅黑" panose="020B0503020204020204" pitchFamily="34" charset="-122"/>
              </a:rPr>
              <a:t>（应用模式 </a:t>
            </a:r>
            <a:r>
              <a:rPr lang="en-US" altLang="zh-CN" sz="2400" kern="0" dirty="0">
                <a:solidFill>
                  <a:sysClr val="windowText" lastClr="000000">
                    <a:lumMod val="75000"/>
                    <a:lumOff val="25000"/>
                  </a:sysClr>
                </a:solidFill>
                <a:latin typeface="微软雅黑" panose="020B0503020204020204" pitchFamily="34" charset="-122"/>
                <a:ea typeface="微软雅黑" panose="020B0503020204020204" pitchFamily="34" charset="-122"/>
              </a:rPr>
              <a:t>| </a:t>
            </a:r>
            <a:r>
              <a:rPr lang="zh-CN" altLang="en-US" sz="2400" kern="0" dirty="0">
                <a:solidFill>
                  <a:sysClr val="windowText" lastClr="000000">
                    <a:lumMod val="75000"/>
                    <a:lumOff val="25000"/>
                  </a:sysClr>
                </a:solidFill>
                <a:latin typeface="微软雅黑" panose="020B0503020204020204" pitchFamily="34" charset="-122"/>
                <a:ea typeface="微软雅黑" panose="020B0503020204020204" pitchFamily="34" charset="-122"/>
              </a:rPr>
              <a:t>应用方向 </a:t>
            </a:r>
            <a:r>
              <a:rPr lang="en-US" altLang="zh-CN" sz="2400" kern="0" dirty="0">
                <a:solidFill>
                  <a:sysClr val="windowText" lastClr="000000">
                    <a:lumMod val="75000"/>
                    <a:lumOff val="25000"/>
                  </a:sysClr>
                </a:solidFill>
                <a:latin typeface="微软雅黑" panose="020B0503020204020204" pitchFamily="34" charset="-122"/>
                <a:ea typeface="微软雅黑" panose="020B0503020204020204" pitchFamily="34" charset="-122"/>
              </a:rPr>
              <a:t>| </a:t>
            </a:r>
            <a:r>
              <a:rPr lang="zh-CN" altLang="en-US" sz="2400" kern="0" dirty="0">
                <a:solidFill>
                  <a:sysClr val="windowText" lastClr="000000">
                    <a:lumMod val="75000"/>
                    <a:lumOff val="25000"/>
                  </a:sysClr>
                </a:solidFill>
                <a:latin typeface="微软雅黑" panose="020B0503020204020204" pitchFamily="34" charset="-122"/>
                <a:ea typeface="微软雅黑" panose="020B0503020204020204" pitchFamily="34" charset="-122"/>
              </a:rPr>
              <a:t>应用案例）</a:t>
            </a:r>
          </a:p>
        </p:txBody>
      </p:sp>
    </p:spTree>
  </p:cSld>
  <p:clrMapOvr>
    <a:masterClrMapping/>
  </p:clrMapOvr>
  <p:transition>
    <p:rand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1142213" y="548680"/>
            <a:ext cx="6798734" cy="1303867"/>
          </a:xfrm>
        </p:spPr>
        <p:txBody>
          <a:bodyPr/>
          <a:lstStyle/>
          <a:p>
            <a:pPr eaLnBrk="1" hangingPunct="1"/>
            <a:r>
              <a:rPr lang="zh-CN" altLang="en-US" smtClean="0"/>
              <a:t>物联网的应用模式</a:t>
            </a:r>
          </a:p>
        </p:txBody>
      </p:sp>
      <p:sp>
        <p:nvSpPr>
          <p:cNvPr id="45059" name="内容占位符 2"/>
          <p:cNvSpPr>
            <a:spLocks noGrp="1"/>
          </p:cNvSpPr>
          <p:nvPr>
            <p:ph idx="1"/>
          </p:nvPr>
        </p:nvSpPr>
        <p:spPr>
          <a:xfrm>
            <a:off x="1175128" y="1628800"/>
            <a:ext cx="7285303" cy="4536504"/>
          </a:xfrm>
        </p:spPr>
        <p:txBody>
          <a:bodyPr>
            <a:noAutofit/>
          </a:bodyPr>
          <a:lstStyle/>
          <a:p>
            <a:pPr eaLnBrk="1" hangingPunct="1">
              <a:lnSpc>
                <a:spcPct val="140000"/>
              </a:lnSpc>
              <a:buFont typeface="Wingdings" panose="05000000000000000000" pitchFamily="2" charset="2"/>
              <a:buChar char="p"/>
            </a:pPr>
            <a:r>
              <a:rPr lang="zh-CN" altLang="en-US" sz="1600" dirty="0" smtClean="0">
                <a:solidFill>
                  <a:srgbClr val="FF0000"/>
                </a:solidFill>
                <a:latin typeface="微软雅黑" panose="020B0503020204020204" pitchFamily="34" charset="-122"/>
                <a:ea typeface="微软雅黑" panose="020B0503020204020204" pitchFamily="34" charset="-122"/>
              </a:rPr>
              <a:t>对象的智能标签。</a:t>
            </a:r>
            <a:r>
              <a:rPr lang="zh-CN" altLang="en-US" sz="1600" dirty="0" smtClean="0">
                <a:latin typeface="微软雅黑" panose="020B0503020204020204" pitchFamily="34" charset="-122"/>
                <a:ea typeface="微软雅黑" panose="020B0503020204020204" pitchFamily="34" charset="-122"/>
              </a:rPr>
              <a:t>通过二维码，</a:t>
            </a:r>
            <a:r>
              <a:rPr lang="en-US" altLang="zh-CN" sz="1600" dirty="0" smtClean="0">
                <a:latin typeface="微软雅黑" panose="020B0503020204020204" pitchFamily="34" charset="-122"/>
                <a:ea typeface="微软雅黑" panose="020B0503020204020204" pitchFamily="34" charset="-122"/>
              </a:rPr>
              <a:t>RFID</a:t>
            </a:r>
            <a:r>
              <a:rPr lang="zh-CN" altLang="en-US" sz="1600" dirty="0" smtClean="0">
                <a:latin typeface="微软雅黑" panose="020B0503020204020204" pitchFamily="34" charset="-122"/>
                <a:ea typeface="微软雅黑" panose="020B0503020204020204" pitchFamily="34" charset="-122"/>
              </a:rPr>
              <a:t>等技术标识特定的对象，用于区分对象个体，例如在生活中我们使用的各种智能卡，条码标签的基本用途就是用来获得对象的识别信息；此外通过智能标签还可以用于获得对象物品所包含的扩展信息，例如</a:t>
            </a:r>
            <a:r>
              <a:rPr lang="zh-CN" altLang="en-US" sz="1600" dirty="0" smtClean="0">
                <a:solidFill>
                  <a:srgbClr val="0000FF"/>
                </a:solidFill>
                <a:latin typeface="微软雅黑" panose="020B0503020204020204" pitchFamily="34" charset="-122"/>
                <a:ea typeface="微软雅黑" panose="020B0503020204020204" pitchFamily="34" charset="-122"/>
              </a:rPr>
              <a:t>智能卡上的金额余额，二维码中所包含的网址和名称</a:t>
            </a:r>
            <a:r>
              <a:rPr lang="zh-CN" altLang="en-US" sz="1600" dirty="0" smtClean="0">
                <a:latin typeface="微软雅黑" panose="020B0503020204020204" pitchFamily="34" charset="-122"/>
                <a:ea typeface="微软雅黑" panose="020B0503020204020204" pitchFamily="34" charset="-122"/>
              </a:rPr>
              <a:t>等。 </a:t>
            </a:r>
          </a:p>
          <a:p>
            <a:pPr eaLnBrk="1" hangingPunct="1">
              <a:lnSpc>
                <a:spcPct val="140000"/>
              </a:lnSpc>
              <a:buFont typeface="Wingdings" panose="05000000000000000000" pitchFamily="2" charset="2"/>
              <a:buChar char="p"/>
            </a:pPr>
            <a:r>
              <a:rPr lang="zh-CN" altLang="en-US" sz="1600" dirty="0" smtClean="0">
                <a:solidFill>
                  <a:srgbClr val="FF0000"/>
                </a:solidFill>
                <a:latin typeface="微软雅黑" panose="020B0503020204020204" pitchFamily="34" charset="-122"/>
                <a:ea typeface="微软雅黑" panose="020B0503020204020204" pitchFamily="34" charset="-122"/>
              </a:rPr>
              <a:t>环境监控和对象跟踪。</a:t>
            </a:r>
            <a:r>
              <a:rPr lang="zh-CN" altLang="en-US" sz="1600" dirty="0" smtClean="0">
                <a:latin typeface="微软雅黑" panose="020B0503020204020204" pitchFamily="34" charset="-122"/>
                <a:ea typeface="微软雅黑" panose="020B0503020204020204" pitchFamily="34" charset="-122"/>
              </a:rPr>
              <a:t>利用多种类型的传感器和分布广泛的传感器网络，可以实现对某个对象的实时状态的获取和特定对象行为的监控，如使用分布在市区的各个噪音探头监测噪声污染，</a:t>
            </a:r>
            <a:r>
              <a:rPr lang="zh-CN" altLang="en-US" sz="1600" dirty="0" smtClean="0">
                <a:solidFill>
                  <a:srgbClr val="0000FF"/>
                </a:solidFill>
                <a:latin typeface="微软雅黑" panose="020B0503020204020204" pitchFamily="34" charset="-122"/>
                <a:ea typeface="微软雅黑" panose="020B0503020204020204" pitchFamily="34" charset="-122"/>
              </a:rPr>
              <a:t>通过二氧化碳传感器监控大气中二氧化碳的浓度</a:t>
            </a:r>
            <a:r>
              <a:rPr lang="zh-CN" altLang="en-US" sz="1600" dirty="0" smtClean="0">
                <a:latin typeface="微软雅黑" panose="020B0503020204020204" pitchFamily="34" charset="-122"/>
                <a:ea typeface="微软雅黑" panose="020B0503020204020204" pitchFamily="34" charset="-122"/>
              </a:rPr>
              <a:t>，</a:t>
            </a:r>
            <a:r>
              <a:rPr lang="zh-CN" altLang="en-US" sz="1600" dirty="0" smtClean="0">
                <a:solidFill>
                  <a:srgbClr val="0000FF"/>
                </a:solidFill>
                <a:latin typeface="微软雅黑" panose="020B0503020204020204" pitchFamily="34" charset="-122"/>
                <a:ea typeface="微软雅黑" panose="020B0503020204020204" pitchFamily="34" charset="-122"/>
              </a:rPr>
              <a:t>通过</a:t>
            </a:r>
            <a:r>
              <a:rPr lang="en-US" altLang="zh-CN" sz="1600" dirty="0" smtClean="0">
                <a:solidFill>
                  <a:srgbClr val="0000FF"/>
                </a:solidFill>
                <a:latin typeface="微软雅黑" panose="020B0503020204020204" pitchFamily="34" charset="-122"/>
                <a:ea typeface="微软雅黑" panose="020B0503020204020204" pitchFamily="34" charset="-122"/>
              </a:rPr>
              <a:t>GPS</a:t>
            </a:r>
            <a:r>
              <a:rPr lang="zh-CN" altLang="en-US" sz="1600" dirty="0" smtClean="0">
                <a:solidFill>
                  <a:srgbClr val="0000FF"/>
                </a:solidFill>
                <a:latin typeface="微软雅黑" panose="020B0503020204020204" pitchFamily="34" charset="-122"/>
                <a:ea typeface="微软雅黑" panose="020B0503020204020204" pitchFamily="34" charset="-122"/>
              </a:rPr>
              <a:t>标签跟踪车辆位置，通过交通路口的摄像头捕捉实时交通流程</a:t>
            </a:r>
            <a:r>
              <a:rPr lang="zh-CN" altLang="en-US" sz="1600" dirty="0" smtClean="0">
                <a:latin typeface="微软雅黑" panose="020B0503020204020204" pitchFamily="34" charset="-122"/>
                <a:ea typeface="微软雅黑" panose="020B0503020204020204" pitchFamily="34" charset="-122"/>
              </a:rPr>
              <a:t>等。 </a:t>
            </a:r>
          </a:p>
          <a:p>
            <a:pPr eaLnBrk="1" hangingPunct="1">
              <a:lnSpc>
                <a:spcPct val="140000"/>
              </a:lnSpc>
              <a:buFont typeface="Wingdings" panose="05000000000000000000" pitchFamily="2" charset="2"/>
              <a:buChar char="p"/>
            </a:pPr>
            <a:r>
              <a:rPr lang="zh-CN" altLang="en-US" sz="1600" dirty="0" smtClean="0">
                <a:solidFill>
                  <a:srgbClr val="FF0000"/>
                </a:solidFill>
                <a:latin typeface="微软雅黑" panose="020B0503020204020204" pitchFamily="34" charset="-122"/>
                <a:ea typeface="微软雅黑" panose="020B0503020204020204" pitchFamily="34" charset="-122"/>
              </a:rPr>
              <a:t>对象的智能控制。</a:t>
            </a:r>
            <a:r>
              <a:rPr lang="zh-CN" altLang="en-US" sz="1600" dirty="0" smtClean="0">
                <a:latin typeface="微软雅黑" panose="020B0503020204020204" pitchFamily="34" charset="-122"/>
                <a:ea typeface="微软雅黑" panose="020B0503020204020204" pitchFamily="34" charset="-122"/>
              </a:rPr>
              <a:t>物联网基于云计算平台和智能网络，可以依据传感器网络用获取的数据进行决策，改变对象的行为进行控制和反馈。例如</a:t>
            </a:r>
            <a:r>
              <a:rPr lang="zh-CN" altLang="en-US" sz="1600" dirty="0" smtClean="0">
                <a:solidFill>
                  <a:srgbClr val="0000FF"/>
                </a:solidFill>
                <a:latin typeface="微软雅黑" panose="020B0503020204020204" pitchFamily="34" charset="-122"/>
                <a:ea typeface="微软雅黑" panose="020B0503020204020204" pitchFamily="34" charset="-122"/>
              </a:rPr>
              <a:t>根据光线的强弱调整路灯的亮度</a:t>
            </a:r>
            <a:r>
              <a:rPr lang="zh-CN" altLang="en-US" sz="1600" dirty="0" smtClean="0">
                <a:latin typeface="微软雅黑" panose="020B0503020204020204" pitchFamily="34" charset="-122"/>
                <a:ea typeface="微软雅黑" panose="020B0503020204020204" pitchFamily="34" charset="-122"/>
              </a:rPr>
              <a:t>，</a:t>
            </a:r>
            <a:r>
              <a:rPr lang="zh-CN" altLang="en-US" sz="1600" dirty="0" smtClean="0">
                <a:solidFill>
                  <a:srgbClr val="0000FF"/>
                </a:solidFill>
                <a:latin typeface="微软雅黑" panose="020B0503020204020204" pitchFamily="34" charset="-122"/>
                <a:ea typeface="微软雅黑" panose="020B0503020204020204" pitchFamily="34" charset="-122"/>
              </a:rPr>
              <a:t>根据车辆的流量自动调整红绿灯间隔</a:t>
            </a:r>
            <a:r>
              <a:rPr lang="zh-CN" altLang="en-US" sz="1600" dirty="0" smtClean="0">
                <a:latin typeface="微软雅黑" panose="020B0503020204020204" pitchFamily="34" charset="-122"/>
                <a:ea typeface="微软雅黑" panose="020B0503020204020204" pitchFamily="34" charset="-122"/>
              </a:rPr>
              <a:t>等。</a:t>
            </a:r>
          </a:p>
          <a:p>
            <a:pPr eaLnBrk="1" hangingPunct="1">
              <a:lnSpc>
                <a:spcPct val="140000"/>
              </a:lnSpc>
            </a:pPr>
            <a:endParaRPr lang="zh-CN" altLang="en-US" sz="1600" dirty="0" smtClean="0"/>
          </a:p>
        </p:txBody>
      </p:sp>
    </p:spTree>
  </p:cSld>
  <p:clrMapOvr>
    <a:masterClrMapping/>
  </p:clrMapOvr>
  <p:transition>
    <p:rand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1172633" y="188640"/>
            <a:ext cx="6798734" cy="1303867"/>
          </a:xfrm>
        </p:spPr>
        <p:txBody>
          <a:bodyPr/>
          <a:lstStyle/>
          <a:p>
            <a:pPr eaLnBrk="1" hangingPunct="1"/>
            <a:r>
              <a:rPr lang="zh-CN" altLang="en-US" smtClean="0"/>
              <a:t>物联网的应用方向</a:t>
            </a:r>
          </a:p>
        </p:txBody>
      </p:sp>
      <p:sp>
        <p:nvSpPr>
          <p:cNvPr id="46083" name="内容占位符 2"/>
          <p:cNvSpPr>
            <a:spLocks noGrp="1"/>
          </p:cNvSpPr>
          <p:nvPr>
            <p:ph idx="1"/>
          </p:nvPr>
        </p:nvSpPr>
        <p:spPr>
          <a:xfrm>
            <a:off x="683568" y="1307610"/>
            <a:ext cx="7776864" cy="4242779"/>
          </a:xfrm>
        </p:spPr>
        <p:txBody>
          <a:bodyPr>
            <a:noAutofit/>
          </a:bodyPr>
          <a:lstStyle/>
          <a:p>
            <a:pPr eaLnBrk="1" hangingPunct="1">
              <a:lnSpc>
                <a:spcPct val="150000"/>
              </a:lnSpc>
              <a:spcBef>
                <a:spcPct val="30000"/>
              </a:spcBef>
            </a:pPr>
            <a:r>
              <a:rPr lang="en-US" altLang="zh-CN" sz="1600" smtClean="0">
                <a:latin typeface="微软雅黑" panose="020B0503020204020204" pitchFamily="34" charset="-122"/>
                <a:ea typeface="微软雅黑" panose="020B0503020204020204" pitchFamily="34" charset="-122"/>
              </a:rPr>
              <a:t>(1)</a:t>
            </a:r>
            <a:r>
              <a:rPr lang="zh-CN" altLang="en-US" sz="1600" smtClean="0">
                <a:latin typeface="微软雅黑" panose="020B0503020204020204" pitchFamily="34" charset="-122"/>
                <a:ea typeface="微软雅黑" panose="020B0503020204020204" pitchFamily="34" charset="-122"/>
              </a:rPr>
              <a:t>智能城市，用于城市的数字化管理和安全监控；</a:t>
            </a:r>
            <a:br>
              <a:rPr lang="zh-CN" altLang="en-US" sz="1600" smtClean="0">
                <a:latin typeface="微软雅黑" panose="020B0503020204020204" pitchFamily="34" charset="-122"/>
                <a:ea typeface="微软雅黑" panose="020B0503020204020204" pitchFamily="34" charset="-122"/>
              </a:rPr>
            </a:br>
            <a:r>
              <a:rPr lang="en-US" altLang="zh-CN" sz="1600" smtClean="0">
                <a:latin typeface="微软雅黑" panose="020B0503020204020204" pitchFamily="34" charset="-122"/>
                <a:ea typeface="微软雅黑" panose="020B0503020204020204" pitchFamily="34" charset="-122"/>
              </a:rPr>
              <a:t>(2)</a:t>
            </a:r>
            <a:r>
              <a:rPr lang="zh-CN" altLang="en-US" sz="1600" smtClean="0">
                <a:latin typeface="微软雅黑" panose="020B0503020204020204" pitchFamily="34" charset="-122"/>
                <a:ea typeface="微软雅黑" panose="020B0503020204020204" pitchFamily="34" charset="-122"/>
              </a:rPr>
              <a:t>智能交通，包括公交视频监控、智能公交站台、电子票务、车管专家和公交手机一卡通、红绿灯自动控制和交通违章监管等业务； </a:t>
            </a:r>
          </a:p>
          <a:p>
            <a:pPr eaLnBrk="1" hangingPunct="1">
              <a:lnSpc>
                <a:spcPct val="150000"/>
              </a:lnSpc>
              <a:spcBef>
                <a:spcPct val="30000"/>
              </a:spcBef>
            </a:pPr>
            <a:r>
              <a:rPr lang="en-US" altLang="zh-CN" sz="1600" smtClean="0">
                <a:latin typeface="微软雅黑" panose="020B0503020204020204" pitchFamily="34" charset="-122"/>
                <a:ea typeface="微软雅黑" panose="020B0503020204020204" pitchFamily="34" charset="-122"/>
              </a:rPr>
              <a:t>(3)</a:t>
            </a:r>
            <a:r>
              <a:rPr lang="zh-CN" altLang="en-US" sz="1600" smtClean="0">
                <a:latin typeface="微软雅黑" panose="020B0503020204020204" pitchFamily="34" charset="-122"/>
                <a:ea typeface="微软雅黑" panose="020B0503020204020204" pitchFamily="34" charset="-122"/>
              </a:rPr>
              <a:t>智能物流，打造集信息展现、电子商务、物流配载、仓储管理、金融质押、园区安保、海关保税等功能为一体的物流园区综合信息服务平台；</a:t>
            </a:r>
          </a:p>
          <a:p>
            <a:pPr eaLnBrk="1" hangingPunct="1">
              <a:lnSpc>
                <a:spcPct val="150000"/>
              </a:lnSpc>
              <a:spcBef>
                <a:spcPct val="30000"/>
              </a:spcBef>
            </a:pPr>
            <a:r>
              <a:rPr lang="en-US" altLang="zh-CN" sz="1600" smtClean="0">
                <a:latin typeface="微软雅黑" panose="020B0503020204020204" pitchFamily="34" charset="-122"/>
                <a:ea typeface="微软雅黑" panose="020B0503020204020204" pitchFamily="34" charset="-122"/>
              </a:rPr>
              <a:t>(4)</a:t>
            </a:r>
            <a:r>
              <a:rPr lang="zh-CN" altLang="en-US" sz="1600" smtClean="0">
                <a:latin typeface="微软雅黑" panose="020B0503020204020204" pitchFamily="34" charset="-122"/>
                <a:ea typeface="微软雅黑" panose="020B0503020204020204" pitchFamily="34" charset="-122"/>
              </a:rPr>
              <a:t>智能环保，实施对水质的实时自动监控，预防重大或流域性水质污染；</a:t>
            </a:r>
            <a:br>
              <a:rPr lang="zh-CN" altLang="en-US" sz="1600" smtClean="0">
                <a:latin typeface="微软雅黑" panose="020B0503020204020204" pitchFamily="34" charset="-122"/>
                <a:ea typeface="微软雅黑" panose="020B0503020204020204" pitchFamily="34" charset="-122"/>
              </a:rPr>
            </a:br>
            <a:r>
              <a:rPr lang="en-US" altLang="zh-CN" sz="1600" smtClean="0">
                <a:latin typeface="微软雅黑" panose="020B0503020204020204" pitchFamily="34" charset="-122"/>
                <a:ea typeface="微软雅黑" panose="020B0503020204020204" pitchFamily="34" charset="-122"/>
              </a:rPr>
              <a:t>(5)</a:t>
            </a:r>
            <a:r>
              <a:rPr lang="zh-CN" altLang="en-US" sz="1600" smtClean="0">
                <a:latin typeface="微软雅黑" panose="020B0503020204020204" pitchFamily="34" charset="-122"/>
                <a:ea typeface="微软雅黑" panose="020B0503020204020204" pitchFamily="34" charset="-122"/>
              </a:rPr>
              <a:t>智能家居，用于各种家庭设备之控制；</a:t>
            </a:r>
          </a:p>
          <a:p>
            <a:pPr eaLnBrk="1" hangingPunct="1">
              <a:lnSpc>
                <a:spcPct val="150000"/>
              </a:lnSpc>
              <a:spcBef>
                <a:spcPct val="30000"/>
              </a:spcBef>
            </a:pPr>
            <a:r>
              <a:rPr lang="en-US" altLang="zh-CN" sz="1600" smtClean="0">
                <a:latin typeface="微软雅黑" panose="020B0503020204020204" pitchFamily="34" charset="-122"/>
                <a:ea typeface="微软雅黑" panose="020B0503020204020204" pitchFamily="34" charset="-122"/>
              </a:rPr>
              <a:t>(6) M2M</a:t>
            </a:r>
            <a:r>
              <a:rPr lang="zh-CN" altLang="en-US" sz="1600" smtClean="0">
                <a:latin typeface="微软雅黑" panose="020B0503020204020204" pitchFamily="34" charset="-122"/>
                <a:ea typeface="微软雅黑" panose="020B0503020204020204" pitchFamily="34" charset="-122"/>
              </a:rPr>
              <a:t>应用； </a:t>
            </a:r>
          </a:p>
          <a:p>
            <a:pPr eaLnBrk="1" hangingPunct="1">
              <a:lnSpc>
                <a:spcPct val="150000"/>
              </a:lnSpc>
              <a:spcBef>
                <a:spcPct val="30000"/>
              </a:spcBef>
            </a:pPr>
            <a:r>
              <a:rPr lang="en-US" altLang="zh-CN" sz="1600" smtClean="0">
                <a:latin typeface="微软雅黑" panose="020B0503020204020204" pitchFamily="34" charset="-122"/>
                <a:ea typeface="微软雅黑" panose="020B0503020204020204" pitchFamily="34" charset="-122"/>
              </a:rPr>
              <a:t>(7)</a:t>
            </a:r>
            <a:r>
              <a:rPr lang="zh-CN" altLang="en-US" sz="1600" smtClean="0">
                <a:latin typeface="微软雅黑" panose="020B0503020204020204" pitchFamily="34" charset="-122"/>
                <a:ea typeface="微软雅黑" panose="020B0503020204020204" pitchFamily="34" charset="-122"/>
              </a:rPr>
              <a:t>精准农业，通过实时采集温度、湿度、光照、</a:t>
            </a:r>
            <a:r>
              <a:rPr lang="en-US" altLang="zh-CN" sz="1600" smtClean="0">
                <a:latin typeface="微软雅黑" panose="020B0503020204020204" pitchFamily="34" charset="-122"/>
                <a:ea typeface="微软雅黑" panose="020B0503020204020204" pitchFamily="34" charset="-122"/>
              </a:rPr>
              <a:t>CO₂</a:t>
            </a:r>
            <a:r>
              <a:rPr lang="zh-CN" altLang="en-US" sz="1600" smtClean="0">
                <a:latin typeface="微软雅黑" panose="020B0503020204020204" pitchFamily="34" charset="-122"/>
                <a:ea typeface="微软雅黑" panose="020B0503020204020204" pitchFamily="34" charset="-122"/>
              </a:rPr>
              <a:t>浓度以及土壤温度、叶面湿度等参数，实现对指定设备自动关启的远程控制；</a:t>
            </a:r>
          </a:p>
          <a:p>
            <a:pPr eaLnBrk="1" hangingPunct="1">
              <a:lnSpc>
                <a:spcPct val="150000"/>
              </a:lnSpc>
              <a:spcBef>
                <a:spcPct val="30000"/>
              </a:spcBef>
            </a:pPr>
            <a:r>
              <a:rPr lang="en-US" altLang="zh-CN" sz="1600" smtClean="0">
                <a:latin typeface="微软雅黑" panose="020B0503020204020204" pitchFamily="34" charset="-122"/>
                <a:ea typeface="微软雅黑" panose="020B0503020204020204" pitchFamily="34" charset="-122"/>
              </a:rPr>
              <a:t>(8)</a:t>
            </a:r>
            <a:r>
              <a:rPr lang="zh-CN" altLang="en-US" sz="1600" smtClean="0">
                <a:latin typeface="微软雅黑" panose="020B0503020204020204" pitchFamily="34" charset="-122"/>
                <a:ea typeface="微软雅黑" panose="020B0503020204020204" pitchFamily="34" charset="-122"/>
              </a:rPr>
              <a:t>智能医疗，用于病人监测护理等服务。</a:t>
            </a:r>
            <a:endParaRPr lang="zh-CN" altLang="en-US" sz="1600" smtClean="0"/>
          </a:p>
        </p:txBody>
      </p:sp>
    </p:spTree>
  </p:cSld>
  <p:clrMapOvr>
    <a:masterClrMapping/>
  </p:clrMapOvr>
  <p:transition>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type="title"/>
          </p:nvPr>
        </p:nvSpPr>
        <p:spPr>
          <a:xfrm>
            <a:off x="539750" y="404813"/>
            <a:ext cx="8001000" cy="901700"/>
          </a:xfrm>
          <a:noFill/>
        </p:spPr>
        <p:txBody>
          <a:bodyPr/>
          <a:lstStyle/>
          <a:p>
            <a:pPr eaLnBrk="1" hangingPunct="1"/>
            <a:r>
              <a:rPr lang="zh-CN" altLang="en-US" sz="2800" b="1" smtClean="0"/>
              <a:t>物联网的典型应用</a:t>
            </a:r>
          </a:p>
        </p:txBody>
      </p:sp>
      <p:pic>
        <p:nvPicPr>
          <p:cNvPr id="47107"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196751"/>
            <a:ext cx="5760640" cy="508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title"/>
          </p:nvPr>
        </p:nvSpPr>
        <p:spPr>
          <a:xfrm>
            <a:off x="0" y="785813"/>
            <a:ext cx="8229600" cy="1066800"/>
          </a:xfrm>
          <a:noFill/>
        </p:spPr>
        <p:txBody>
          <a:bodyPr/>
          <a:lstStyle/>
          <a:p>
            <a:pPr eaLnBrk="1" hangingPunct="1"/>
            <a:r>
              <a:rPr lang="en-US" altLang="zh-CN" sz="2800" b="1" smtClean="0"/>
              <a:t>5.1 </a:t>
            </a:r>
            <a:r>
              <a:rPr lang="zh-CN" altLang="en-US" sz="2800" b="1" smtClean="0"/>
              <a:t>物联网的理解误区</a:t>
            </a:r>
          </a:p>
        </p:txBody>
      </p:sp>
      <p:sp>
        <p:nvSpPr>
          <p:cNvPr id="49155" name="Rectangle 2"/>
          <p:cNvSpPr>
            <a:spLocks noGrp="1" noChangeArrowheads="1"/>
          </p:cNvSpPr>
          <p:nvPr>
            <p:ph idx="1"/>
          </p:nvPr>
        </p:nvSpPr>
        <p:spPr/>
        <p:txBody>
          <a:bodyPr/>
          <a:lstStyle/>
          <a:p>
            <a:pPr eaLnBrk="1" hangingPunct="1">
              <a:buFont typeface="Wingdings" panose="05000000000000000000" pitchFamily="2" charset="2"/>
              <a:buNone/>
            </a:pPr>
            <a:r>
              <a:rPr lang="zh-CN" altLang="en-US" smtClean="0"/>
              <a:t>    </a:t>
            </a:r>
            <a:endParaRPr lang="zh-CN" altLang="en-US" sz="2000" b="1" smtClean="0"/>
          </a:p>
        </p:txBody>
      </p:sp>
      <p:sp>
        <p:nvSpPr>
          <p:cNvPr id="49156" name="Rectangle 4"/>
          <p:cNvSpPr>
            <a:spLocks noChangeArrowheads="1"/>
          </p:cNvSpPr>
          <p:nvPr/>
        </p:nvSpPr>
        <p:spPr bwMode="auto">
          <a:xfrm>
            <a:off x="285750" y="1557338"/>
            <a:ext cx="6500813" cy="459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lnSpc>
                <a:spcPct val="200000"/>
              </a:lnSpc>
              <a:spcBef>
                <a:spcPct val="30000"/>
              </a:spcBef>
              <a:buClrTx/>
              <a:buFont typeface="Arial" panose="020B0604020202020204" pitchFamily="34" charset="0"/>
              <a:buChar char="•"/>
            </a:pPr>
            <a:r>
              <a:rPr lang="zh-CN" altLang="en-US" sz="2000">
                <a:latin typeface="微软雅黑" panose="020B0503020204020204" pitchFamily="34" charset="-122"/>
                <a:ea typeface="微软雅黑" panose="020B0503020204020204" pitchFamily="34" charset="-122"/>
              </a:rPr>
              <a:t>      </a:t>
            </a:r>
            <a:r>
              <a:rPr lang="zh-CN" altLang="en-US" sz="2000" b="1">
                <a:latin typeface="微软雅黑" panose="020B0503020204020204" pitchFamily="34" charset="-122"/>
                <a:ea typeface="微软雅黑" panose="020B0503020204020204" pitchFamily="34" charset="-122"/>
              </a:rPr>
              <a:t>物联网概念不清晰。</a:t>
            </a:r>
            <a:endParaRPr lang="en-US" altLang="zh-CN" sz="2000" b="1">
              <a:latin typeface="微软雅黑" panose="020B0503020204020204" pitchFamily="34" charset="-122"/>
              <a:ea typeface="微软雅黑" panose="020B0503020204020204" pitchFamily="34" charset="-122"/>
            </a:endParaRPr>
          </a:p>
          <a:p>
            <a:pPr eaLnBrk="1" hangingPunct="1">
              <a:lnSpc>
                <a:spcPct val="200000"/>
              </a:lnSpc>
              <a:spcBef>
                <a:spcPct val="30000"/>
              </a:spcBef>
              <a:buClrTx/>
              <a:buFontTx/>
              <a:buNone/>
            </a:pPr>
            <a:r>
              <a:rPr lang="en-US" altLang="zh-CN" sz="1600">
                <a:latin typeface="微软雅黑" panose="020B0503020204020204" pitchFamily="34" charset="-122"/>
                <a:ea typeface="微软雅黑" panose="020B0503020204020204" pitchFamily="34" charset="-122"/>
              </a:rPr>
              <a:t>       </a:t>
            </a:r>
            <a:r>
              <a:rPr lang="zh-CN" altLang="en-US" sz="1600">
                <a:latin typeface="微软雅黑" panose="020B0503020204020204" pitchFamily="34" charset="-122"/>
                <a:ea typeface="微软雅黑" panose="020B0503020204020204" pitchFamily="34" charset="-122"/>
              </a:rPr>
              <a:t>尚处于发展的初期阶段，应用少，商业模式缺乏，是炒作，是忽悠。</a:t>
            </a:r>
          </a:p>
          <a:p>
            <a:pPr eaLnBrk="1" hangingPunct="1">
              <a:lnSpc>
                <a:spcPct val="200000"/>
              </a:lnSpc>
              <a:spcBef>
                <a:spcPct val="30000"/>
              </a:spcBef>
              <a:buClrTx/>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      </a:t>
            </a:r>
            <a:r>
              <a:rPr lang="zh-CN" altLang="en-US" sz="2000" b="1">
                <a:latin typeface="微软雅黑" panose="020B0503020204020204" pitchFamily="34" charset="-122"/>
                <a:ea typeface="微软雅黑" panose="020B0503020204020204" pitchFamily="34" charset="-122"/>
              </a:rPr>
              <a:t>物联网“新瓶”装“老酒”</a:t>
            </a:r>
          </a:p>
          <a:p>
            <a:pPr eaLnBrk="1" hangingPunct="1">
              <a:lnSpc>
                <a:spcPct val="200000"/>
              </a:lnSpc>
              <a:spcBef>
                <a:spcPct val="30000"/>
              </a:spcBef>
              <a:buClrTx/>
              <a:buFontTx/>
              <a:buNone/>
            </a:pPr>
            <a:r>
              <a:rPr lang="zh-CN" altLang="en-US" sz="1600">
                <a:latin typeface="微软雅黑" panose="020B0503020204020204" pitchFamily="34" charset="-122"/>
                <a:ea typeface="微软雅黑" panose="020B0503020204020204" pitchFamily="34" charset="-122"/>
              </a:rPr>
              <a:t>          物联网被热炒的同时，持有以上观点的人不在少数。实际上，任何一种新技术的出现，都不会是凭空出现的，物联网就是在互联网技术发展到一定阶段的“抽象提高”，既有量变的成份，也有质的飞跃。</a:t>
            </a:r>
          </a:p>
          <a:p>
            <a:pPr eaLnBrk="1" hangingPunct="1">
              <a:lnSpc>
                <a:spcPct val="200000"/>
              </a:lnSpc>
              <a:spcBef>
                <a:spcPct val="30000"/>
              </a:spcBef>
              <a:buClrTx/>
              <a:buFontTx/>
              <a:buNone/>
            </a:pPr>
            <a:r>
              <a:rPr lang="zh-CN" altLang="en-US" sz="1600">
                <a:latin typeface="微软雅黑" panose="020B0503020204020204" pitchFamily="34" charset="-122"/>
                <a:ea typeface="微软雅黑" panose="020B0503020204020204" pitchFamily="34" charset="-122"/>
              </a:rPr>
              <a:t>          物联网与互联网相比，其本质差异是物联网强调了</a:t>
            </a:r>
            <a:r>
              <a:rPr lang="zh-CN" altLang="en-US" sz="1600">
                <a:solidFill>
                  <a:srgbClr val="FF0000"/>
                </a:solidFill>
                <a:latin typeface="微软雅黑" panose="020B0503020204020204" pitchFamily="34" charset="-122"/>
                <a:ea typeface="微软雅黑" panose="020B0503020204020204" pitchFamily="34" charset="-122"/>
              </a:rPr>
              <a:t>信息的自动提取。</a:t>
            </a:r>
          </a:p>
        </p:txBody>
      </p:sp>
      <p:pic>
        <p:nvPicPr>
          <p:cNvPr id="4915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6888" y="2463800"/>
            <a:ext cx="2297112" cy="439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矩形 4"/>
          <p:cNvSpPr>
            <a:spLocks noChangeArrowheads="1"/>
          </p:cNvSpPr>
          <p:nvPr/>
        </p:nvSpPr>
        <p:spPr bwMode="auto">
          <a:xfrm>
            <a:off x="571500" y="1214438"/>
            <a:ext cx="8389938" cy="521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lnSpc>
                <a:spcPct val="150000"/>
              </a:lnSpc>
              <a:spcBef>
                <a:spcPct val="0"/>
              </a:spcBef>
              <a:buClrTx/>
              <a:buFont typeface="Arial" panose="020B0604020202020204" pitchFamily="34" charset="0"/>
              <a:buChar char="•"/>
            </a:pPr>
            <a:r>
              <a:rPr lang="zh-CN" altLang="en-US" sz="1100">
                <a:latin typeface="微软雅黑" panose="020B0503020204020204" pitchFamily="34" charset="-122"/>
                <a:ea typeface="微软雅黑" panose="020B0503020204020204" pitchFamily="34" charset="-122"/>
              </a:rPr>
              <a:t> 　</a:t>
            </a:r>
            <a:r>
              <a:rPr lang="zh-CN" altLang="en-US" sz="1600">
                <a:solidFill>
                  <a:srgbClr val="FF0000"/>
                </a:solidFill>
                <a:latin typeface="微软雅黑" panose="020B0503020204020204" pitchFamily="34" charset="-122"/>
                <a:ea typeface="微软雅黑" panose="020B0503020204020204" pitchFamily="34" charset="-122"/>
              </a:rPr>
              <a:t>把传感网或</a:t>
            </a:r>
            <a:r>
              <a:rPr lang="en-US" altLang="zh-CN" sz="1600">
                <a:solidFill>
                  <a:srgbClr val="FF0000"/>
                </a:solidFill>
                <a:latin typeface="微软雅黑" panose="020B0503020204020204" pitchFamily="34" charset="-122"/>
                <a:ea typeface="微软雅黑" panose="020B0503020204020204" pitchFamily="34" charset="-122"/>
              </a:rPr>
              <a:t>RFID</a:t>
            </a:r>
            <a:r>
              <a:rPr lang="zh-CN" altLang="en-US" sz="1600">
                <a:solidFill>
                  <a:srgbClr val="FF0000"/>
                </a:solidFill>
                <a:latin typeface="微软雅黑" panose="020B0503020204020204" pitchFamily="34" charset="-122"/>
                <a:ea typeface="微软雅黑" panose="020B0503020204020204" pitchFamily="34" charset="-122"/>
              </a:rPr>
              <a:t>网等同于物联网。</a:t>
            </a:r>
            <a:r>
              <a:rPr lang="zh-CN" altLang="en-US" sz="1600">
                <a:latin typeface="微软雅黑" panose="020B0503020204020204" pitchFamily="34" charset="-122"/>
                <a:ea typeface="微软雅黑" panose="020B0503020204020204" pitchFamily="34" charset="-122"/>
              </a:rPr>
              <a:t>事实上传感技术也好、</a:t>
            </a:r>
            <a:r>
              <a:rPr lang="en-US" altLang="zh-CN" sz="1600">
                <a:latin typeface="微软雅黑" panose="020B0503020204020204" pitchFamily="34" charset="-122"/>
                <a:ea typeface="微软雅黑" panose="020B0503020204020204" pitchFamily="34" charset="-122"/>
              </a:rPr>
              <a:t>RFID</a:t>
            </a:r>
            <a:r>
              <a:rPr lang="zh-CN" altLang="en-US" sz="1600">
                <a:latin typeface="微软雅黑" panose="020B0503020204020204" pitchFamily="34" charset="-122"/>
                <a:ea typeface="微软雅黑" panose="020B0503020204020204" pitchFamily="34" charset="-122"/>
              </a:rPr>
              <a:t>技术也好，都仅仅是信息采集技术之一。除传感技术和</a:t>
            </a:r>
            <a:r>
              <a:rPr lang="en-US" altLang="zh-CN" sz="1600">
                <a:latin typeface="微软雅黑" panose="020B0503020204020204" pitchFamily="34" charset="-122"/>
                <a:ea typeface="微软雅黑" panose="020B0503020204020204" pitchFamily="34" charset="-122"/>
              </a:rPr>
              <a:t>RFID</a:t>
            </a:r>
            <a:r>
              <a:rPr lang="zh-CN" altLang="en-US" sz="1600">
                <a:latin typeface="微软雅黑" panose="020B0503020204020204" pitchFamily="34" charset="-122"/>
                <a:ea typeface="微软雅黑" panose="020B0503020204020204" pitchFamily="34" charset="-122"/>
              </a:rPr>
              <a:t>技术外，</a:t>
            </a:r>
            <a:r>
              <a:rPr lang="en-US" altLang="zh-CN" sz="1600">
                <a:latin typeface="微软雅黑" panose="020B0503020204020204" pitchFamily="34" charset="-122"/>
                <a:ea typeface="微软雅黑" panose="020B0503020204020204" pitchFamily="34" charset="-122"/>
              </a:rPr>
              <a:t>GPS</a:t>
            </a:r>
            <a:r>
              <a:rPr lang="zh-CN" altLang="en-US" sz="1600">
                <a:latin typeface="微软雅黑" panose="020B0503020204020204" pitchFamily="34" charset="-122"/>
                <a:ea typeface="微软雅黑" panose="020B0503020204020204" pitchFamily="34" charset="-122"/>
              </a:rPr>
              <a:t>、视频识别、红外、激光、扫描等所有能够实现自动识别与物物通信的技术都可以成为物联网的信息采集技术。传感网或者</a:t>
            </a:r>
            <a:r>
              <a:rPr lang="en-US" altLang="zh-CN" sz="1600">
                <a:latin typeface="微软雅黑" panose="020B0503020204020204" pitchFamily="34" charset="-122"/>
                <a:ea typeface="微软雅黑" panose="020B0503020204020204" pitchFamily="34" charset="-122"/>
              </a:rPr>
              <a:t>RFID</a:t>
            </a:r>
            <a:r>
              <a:rPr lang="zh-CN" altLang="en-US" sz="1600">
                <a:latin typeface="微软雅黑" panose="020B0503020204020204" pitchFamily="34" charset="-122"/>
                <a:ea typeface="微软雅黑" panose="020B0503020204020204" pitchFamily="34" charset="-122"/>
              </a:rPr>
              <a:t>网只是物联网的一种应用，但绝不是物联网的全部。 </a:t>
            </a:r>
            <a:endParaRPr lang="en-US" altLang="zh-CN" sz="1600">
              <a:latin typeface="微软雅黑" panose="020B0503020204020204" pitchFamily="34" charset="-122"/>
              <a:ea typeface="微软雅黑" panose="020B0503020204020204" pitchFamily="34" charset="-122"/>
            </a:endParaRPr>
          </a:p>
          <a:p>
            <a:pPr eaLnBrk="1" hangingPunct="1">
              <a:lnSpc>
                <a:spcPct val="150000"/>
              </a:lnSpc>
              <a:spcBef>
                <a:spcPct val="0"/>
              </a:spcBef>
              <a:buClrTx/>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　</a:t>
            </a:r>
            <a:r>
              <a:rPr lang="zh-CN" altLang="en-US" sz="1600">
                <a:solidFill>
                  <a:srgbClr val="FF0000"/>
                </a:solidFill>
                <a:latin typeface="微软雅黑" panose="020B0503020204020204" pitchFamily="34" charset="-122"/>
                <a:ea typeface="微软雅黑" panose="020B0503020204020204" pitchFamily="34" charset="-122"/>
              </a:rPr>
              <a:t>把物联网当成互联网的无边无际的无限延伸，</a:t>
            </a:r>
            <a:r>
              <a:rPr lang="zh-CN" altLang="en-US" sz="1600">
                <a:latin typeface="微软雅黑" panose="020B0503020204020204" pitchFamily="34" charset="-122"/>
                <a:ea typeface="微软雅黑" panose="020B0503020204020204" pitchFamily="34" charset="-122"/>
              </a:rPr>
              <a:t>把物联网当成所有物的完全开放、全部互连、全部共享的互联网平台。实际上物联网绝不是简单的全球共享互联网的无限延伸。即使互联网也不仅仅指我们通常认为的国际共享的计算机网络，互联网也有广域网和局域网之分。     </a:t>
            </a:r>
            <a:endParaRPr lang="en-US" altLang="zh-CN" sz="1600">
              <a:latin typeface="微软雅黑" panose="020B0503020204020204" pitchFamily="34" charset="-122"/>
              <a:ea typeface="微软雅黑" panose="020B0503020204020204" pitchFamily="34" charset="-122"/>
            </a:endParaRPr>
          </a:p>
          <a:p>
            <a:pPr eaLnBrk="1" hangingPunct="1">
              <a:lnSpc>
                <a:spcPct val="150000"/>
              </a:lnSpc>
              <a:spcBef>
                <a:spcPct val="0"/>
              </a:spcBef>
              <a:buClrTx/>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　</a:t>
            </a:r>
            <a:r>
              <a:rPr lang="zh-CN" altLang="en-US" sz="1600">
                <a:solidFill>
                  <a:srgbClr val="FF0000"/>
                </a:solidFill>
                <a:latin typeface="微软雅黑" panose="020B0503020204020204" pitchFamily="34" charset="-122"/>
                <a:ea typeface="微软雅黑" panose="020B0503020204020204" pitchFamily="34" charset="-122"/>
              </a:rPr>
              <a:t>认为物联网就是物物互联的无所不在的网络</a:t>
            </a:r>
            <a:r>
              <a:rPr lang="zh-CN" altLang="en-US" sz="1600">
                <a:latin typeface="微软雅黑" panose="020B0503020204020204" pitchFamily="34" charset="-122"/>
                <a:ea typeface="微软雅黑" panose="020B0503020204020204" pitchFamily="34" charset="-122"/>
              </a:rPr>
              <a:t>，因此认为物联网是空中楼阁，是目前很难实现的技术。事实上物联网是实实在在的，很多初级的物联网应用早就在为我们服务着。物联网理念就是在很多现实应用基础上推出的聚合型集成的创新，是对早就存在的具有物物互联的网络化、智能化、自动化系统的概括与提升，它从更高的角度升级了我们的认识。 </a:t>
            </a:r>
            <a:endParaRPr lang="en-US" altLang="zh-CN" sz="1600">
              <a:latin typeface="微软雅黑" panose="020B0503020204020204" pitchFamily="34" charset="-122"/>
              <a:ea typeface="微软雅黑" panose="020B0503020204020204" pitchFamily="34" charset="-122"/>
            </a:endParaRPr>
          </a:p>
          <a:p>
            <a:pPr eaLnBrk="1" hangingPunct="1">
              <a:lnSpc>
                <a:spcPct val="150000"/>
              </a:lnSpc>
              <a:spcBef>
                <a:spcPct val="0"/>
              </a:spcBef>
              <a:buClrTx/>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　</a:t>
            </a:r>
            <a:r>
              <a:rPr lang="zh-CN" altLang="en-US" sz="1600">
                <a:solidFill>
                  <a:srgbClr val="FF0000"/>
                </a:solidFill>
                <a:latin typeface="微软雅黑" panose="020B0503020204020204" pitchFamily="34" charset="-122"/>
                <a:ea typeface="微软雅黑" panose="020B0503020204020204" pitchFamily="34" charset="-122"/>
              </a:rPr>
              <a:t>把物联网当成个筐，什么都往里装</a:t>
            </a:r>
            <a:r>
              <a:rPr lang="zh-CN" altLang="en-US" sz="1600">
                <a:latin typeface="微软雅黑" panose="020B0503020204020204" pitchFamily="34" charset="-122"/>
                <a:ea typeface="微软雅黑" panose="020B0503020204020204" pitchFamily="34" charset="-122"/>
              </a:rPr>
              <a:t>；基于自身认识，把仅仅能够互动、通信的产品都当成物联网应用。如，仅仅嵌入了一些传感器，就成为了所谓的物联网家电；把产品贴上了</a:t>
            </a:r>
            <a:r>
              <a:rPr lang="en-US" altLang="zh-CN" sz="1600">
                <a:latin typeface="微软雅黑" panose="020B0503020204020204" pitchFamily="34" charset="-122"/>
                <a:ea typeface="微软雅黑" panose="020B0503020204020204" pitchFamily="34" charset="-122"/>
              </a:rPr>
              <a:t>RFID</a:t>
            </a:r>
            <a:r>
              <a:rPr lang="zh-CN" altLang="en-US" sz="1600">
                <a:latin typeface="微软雅黑" panose="020B0503020204020204" pitchFamily="34" charset="-122"/>
                <a:ea typeface="微软雅黑" panose="020B0503020204020204" pitchFamily="34" charset="-122"/>
              </a:rPr>
              <a:t>标签，就成了物联网应用等等。</a:t>
            </a:r>
          </a:p>
        </p:txBody>
      </p:sp>
      <p:sp>
        <p:nvSpPr>
          <p:cNvPr id="50179" name="Rectangle 3"/>
          <p:cNvSpPr>
            <a:spLocks noGrp="1" noChangeArrowheads="1"/>
          </p:cNvSpPr>
          <p:nvPr>
            <p:ph type="title"/>
          </p:nvPr>
        </p:nvSpPr>
        <p:spPr>
          <a:xfrm>
            <a:off x="539750" y="404813"/>
            <a:ext cx="8001000" cy="901700"/>
          </a:xfrm>
          <a:noFill/>
        </p:spPr>
        <p:txBody>
          <a:bodyPr/>
          <a:lstStyle/>
          <a:p>
            <a:pPr eaLnBrk="1" hangingPunct="1"/>
            <a:r>
              <a:rPr lang="zh-CN" altLang="en-US" sz="2800" b="1" smtClean="0"/>
              <a:t>物联网的理解误区</a:t>
            </a:r>
          </a:p>
        </p:txBody>
      </p:sp>
      <p:sp>
        <p:nvSpPr>
          <p:cNvPr id="4" name="圆角矩形 3"/>
          <p:cNvSpPr/>
          <p:nvPr/>
        </p:nvSpPr>
        <p:spPr>
          <a:xfrm>
            <a:off x="182563" y="1214438"/>
            <a:ext cx="8818562" cy="5478462"/>
          </a:xfrm>
          <a:prstGeom prst="roundRect">
            <a:avLst/>
          </a:prstGeom>
          <a:noFill/>
          <a:ln w="3175">
            <a:solidFill>
              <a:schemeClr val="tx1">
                <a:lumMod val="50000"/>
                <a:lumOff val="50000"/>
              </a:schemeClr>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zh-CN" altLang="en-US"/>
          </a:p>
        </p:txBody>
      </p:sp>
    </p:spTree>
  </p:cSld>
  <p:clrMapOvr>
    <a:masterClrMapping/>
  </p:clrMapOvr>
  <p:transition>
    <p:rand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pPr eaLnBrk="1" hangingPunct="1"/>
            <a:r>
              <a:rPr lang="en-US" altLang="zh-CN" smtClean="0"/>
              <a:t>5.3 </a:t>
            </a:r>
            <a:r>
              <a:rPr lang="zh-CN" altLang="en-US" smtClean="0"/>
              <a:t>物联网面临的挑战</a:t>
            </a:r>
          </a:p>
        </p:txBody>
      </p:sp>
      <p:sp>
        <p:nvSpPr>
          <p:cNvPr id="3" name="内容占位符 2"/>
          <p:cNvSpPr>
            <a:spLocks noGrp="1"/>
          </p:cNvSpPr>
          <p:nvPr>
            <p:ph idx="1"/>
          </p:nvPr>
        </p:nvSpPr>
        <p:spPr/>
        <p:txBody>
          <a:bodyPr>
            <a:normAutofit/>
          </a:bodyPr>
          <a:lstStyle/>
          <a:p>
            <a:pPr marL="342900" indent="-342900" eaLnBrk="1" fontAlgn="auto" hangingPunct="1">
              <a:lnSpc>
                <a:spcPct val="120000"/>
              </a:lnSpc>
              <a:spcBef>
                <a:spcPct val="20000"/>
              </a:spcBef>
              <a:spcAft>
                <a:spcPts val="0"/>
              </a:spcAft>
              <a:buClr>
                <a:schemeClr val="accent3"/>
              </a:buClr>
              <a:buFontTx/>
              <a:buAutoNum type="circleNumDbPlain"/>
              <a:defRPr/>
            </a:pPr>
            <a:r>
              <a:rPr lang="zh-CN" altLang="en-US" dirty="0" smtClean="0">
                <a:latin typeface="微软雅黑" panose="020B0503020204020204" pitchFamily="34" charset="-122"/>
                <a:ea typeface="微软雅黑" panose="020B0503020204020204" pitchFamily="34" charset="-122"/>
              </a:rPr>
              <a:t>存在“四多” 问题</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传感器数量多、读写设备多、识读点多、硬件设备品种多； </a:t>
            </a:r>
          </a:p>
          <a:p>
            <a:pPr marL="342900" indent="-342900" eaLnBrk="1" fontAlgn="auto" hangingPunct="1">
              <a:lnSpc>
                <a:spcPct val="120000"/>
              </a:lnSpc>
              <a:spcBef>
                <a:spcPct val="20000"/>
              </a:spcBef>
              <a:spcAft>
                <a:spcPts val="0"/>
              </a:spcAft>
              <a:buClr>
                <a:schemeClr val="accent3"/>
              </a:buClr>
              <a:buFontTx/>
              <a:buAutoNum type="circleNumDbPlain"/>
              <a:defRPr/>
            </a:pPr>
            <a:r>
              <a:rPr lang="zh-CN" altLang="en-US" dirty="0" smtClean="0">
                <a:latin typeface="微软雅黑" panose="020B0503020204020204" pitchFamily="34" charset="-122"/>
                <a:ea typeface="微软雅黑" panose="020B0503020204020204" pitchFamily="34" charset="-122"/>
              </a:rPr>
              <a:t>缺乏对物联网系统的有效管理，设备维护困难； </a:t>
            </a:r>
          </a:p>
          <a:p>
            <a:pPr marL="342900" indent="-342900" eaLnBrk="1" fontAlgn="auto" hangingPunct="1">
              <a:lnSpc>
                <a:spcPct val="120000"/>
              </a:lnSpc>
              <a:spcBef>
                <a:spcPct val="20000"/>
              </a:spcBef>
              <a:spcAft>
                <a:spcPts val="0"/>
              </a:spcAft>
              <a:buClr>
                <a:schemeClr val="accent3"/>
              </a:buClr>
              <a:buFontTx/>
              <a:buAutoNum type="circleNumDbPlain"/>
              <a:defRPr/>
            </a:pPr>
            <a:r>
              <a:rPr lang="zh-CN" altLang="en-US" dirty="0" smtClean="0">
                <a:latin typeface="微软雅黑" panose="020B0503020204020204" pitchFamily="34" charset="-122"/>
                <a:ea typeface="微软雅黑" panose="020B0503020204020204" pitchFamily="34" charset="-122"/>
              </a:rPr>
              <a:t>系统可扩展性、可复制性差。</a:t>
            </a:r>
            <a:endParaRPr lang="zh-CN" altLang="en-US" dirty="0"/>
          </a:p>
        </p:txBody>
      </p:sp>
    </p:spTree>
  </p:cSld>
  <p:clrMapOvr>
    <a:masterClrMapping/>
  </p:clrMapOvr>
  <p:transition>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pPr eaLnBrk="1" hangingPunct="1"/>
            <a:r>
              <a:rPr lang="en-US" altLang="zh-CN" smtClean="0"/>
              <a:t>5.4 </a:t>
            </a:r>
            <a:r>
              <a:rPr lang="zh-CN" altLang="en-US" smtClean="0"/>
              <a:t>物联网发展趋势</a:t>
            </a:r>
          </a:p>
        </p:txBody>
      </p:sp>
      <p:sp>
        <p:nvSpPr>
          <p:cNvPr id="3" name="内容占位符 2"/>
          <p:cNvSpPr>
            <a:spLocks noGrp="1"/>
          </p:cNvSpPr>
          <p:nvPr>
            <p:ph idx="1"/>
          </p:nvPr>
        </p:nvSpPr>
        <p:spPr/>
        <p:txBody>
          <a:bodyPr>
            <a:normAutofit fontScale="62500" lnSpcReduction="20000"/>
          </a:bodyPr>
          <a:lstStyle/>
          <a:p>
            <a:pPr marL="365760" indent="-255905" eaLnBrk="1" fontAlgn="auto" hangingPunct="1">
              <a:lnSpc>
                <a:spcPct val="140000"/>
              </a:lnSpc>
              <a:spcAft>
                <a:spcPts val="0"/>
              </a:spcAft>
              <a:buClr>
                <a:schemeClr val="accent3"/>
              </a:buClr>
              <a:buFont typeface="Wingdings" panose="05000000000000000000" pitchFamily="2" charset="2"/>
              <a:buChar char="p"/>
              <a:defRPr/>
            </a:pPr>
            <a:r>
              <a:rPr lang="zh-CN" altLang="en-US" dirty="0" smtClean="0">
                <a:latin typeface="微软雅黑" panose="020B0503020204020204" pitchFamily="34" charset="-122"/>
                <a:ea typeface="微软雅黑" panose="020B0503020204020204" pitchFamily="34" charset="-122"/>
              </a:rPr>
              <a:t>业内专家认为，物联网一方面可以提高经济效益，大大节约成本；另一方面可以为全球经济的复苏提供技术动力。目前，美国、欧盟等都在投入巨资深入研究探索物联网。我国也正在高度关注、重视物联网的研究，工业和信息化部会同有关部门，在新一代信息技术方面正在开展研究，以形成支持新一代信息技术发展的政策措施。 </a:t>
            </a:r>
          </a:p>
          <a:p>
            <a:pPr marL="365760" indent="-255905" eaLnBrk="1" fontAlgn="auto" hangingPunct="1">
              <a:lnSpc>
                <a:spcPct val="140000"/>
              </a:lnSpc>
              <a:spcAft>
                <a:spcPts val="0"/>
              </a:spcAft>
              <a:buClr>
                <a:schemeClr val="accent3"/>
              </a:buClr>
              <a:buFont typeface="Wingdings" panose="05000000000000000000" pitchFamily="2" charset="2"/>
              <a:buChar char="p"/>
              <a:defRPr/>
            </a:pPr>
            <a:r>
              <a:rPr lang="zh-CN" altLang="en-US" dirty="0" smtClean="0">
                <a:latin typeface="微软雅黑" panose="020B0503020204020204" pitchFamily="34" charset="-122"/>
                <a:ea typeface="微软雅黑" panose="020B0503020204020204" pitchFamily="34" charset="-122"/>
              </a:rPr>
              <a:t>此外，在“物联网”普及以后，用于动物、植物和机器、物品的传感器与电子标签及配套的接口装置的数量将大大超过手机的数量。物联网的推广将会成为推进经济发展的又一个驱动器，为产业开拓了又一个潜力无穷的发展机会。按照目前对物联网的需求，在近年内就需要按亿计的传感器和电子标签，这将大大推进信息技术元件的生产，同时增加大量的就业机会。 </a:t>
            </a:r>
          </a:p>
        </p:txBody>
      </p:sp>
    </p:spTree>
  </p:cSld>
  <p:clrMapOvr>
    <a:masterClrMapping/>
  </p:clrMapOvr>
  <p:transition>
    <p:rand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xfrm>
            <a:off x="1167861" y="620688"/>
            <a:ext cx="6798734" cy="1303867"/>
          </a:xfrm>
        </p:spPr>
        <p:txBody>
          <a:bodyPr/>
          <a:lstStyle/>
          <a:p>
            <a:pPr eaLnBrk="1" hangingPunct="1"/>
            <a:r>
              <a:rPr lang="zh-CN" altLang="en-US" smtClean="0"/>
              <a:t>物联网发展趋势</a:t>
            </a:r>
          </a:p>
        </p:txBody>
      </p:sp>
      <p:sp>
        <p:nvSpPr>
          <p:cNvPr id="3" name="内容占位符 2"/>
          <p:cNvSpPr>
            <a:spLocks noGrp="1"/>
          </p:cNvSpPr>
          <p:nvPr>
            <p:ph idx="1"/>
          </p:nvPr>
        </p:nvSpPr>
        <p:spPr>
          <a:xfrm>
            <a:off x="1172632" y="1915551"/>
            <a:ext cx="7215792" cy="3444997"/>
          </a:xfrm>
        </p:spPr>
        <p:txBody>
          <a:bodyPr>
            <a:normAutofit fontScale="92500" lnSpcReduction="20000"/>
          </a:bodyPr>
          <a:lstStyle/>
          <a:p>
            <a:pPr marL="365760" indent="-255905" eaLnBrk="1" fontAlgn="auto" hangingPunct="1">
              <a:lnSpc>
                <a:spcPct val="140000"/>
              </a:lnSpc>
              <a:spcAft>
                <a:spcPts val="0"/>
              </a:spcAft>
              <a:buClr>
                <a:schemeClr val="accent3"/>
              </a:buClr>
              <a:buFont typeface="Wingdings" panose="05000000000000000000" pitchFamily="2" charset="2"/>
              <a:buChar char="p"/>
              <a:defRPr/>
            </a:pPr>
            <a:r>
              <a:rPr lang="zh-CN" altLang="en-US" sz="2000" dirty="0" smtClean="0">
                <a:latin typeface="微软雅黑" panose="020B0503020204020204" pitchFamily="34" charset="-122"/>
                <a:ea typeface="微软雅黑" panose="020B0503020204020204" pitchFamily="34" charset="-122"/>
              </a:rPr>
              <a:t>要真正建立一个有效的物联网，有两个重要因素。</a:t>
            </a:r>
            <a:r>
              <a:rPr lang="zh-CN" altLang="en-US" sz="2000" dirty="0" smtClean="0">
                <a:solidFill>
                  <a:srgbClr val="FF0000"/>
                </a:solidFill>
                <a:latin typeface="微软雅黑" panose="020B0503020204020204" pitchFamily="34" charset="-122"/>
                <a:ea typeface="微软雅黑" panose="020B0503020204020204" pitchFamily="34" charset="-122"/>
              </a:rPr>
              <a:t>一是规模性</a:t>
            </a:r>
            <a:r>
              <a:rPr lang="zh-CN" altLang="en-US" sz="2000" dirty="0" smtClean="0">
                <a:latin typeface="微软雅黑" panose="020B0503020204020204" pitchFamily="34" charset="-122"/>
                <a:ea typeface="微软雅黑" panose="020B0503020204020204" pitchFamily="34" charset="-122"/>
              </a:rPr>
              <a:t>，只有具备了规模，才能使物品的智能发挥作用。例如，一个城市有１００万辆汽车，如果我们只在１万辆汽车上装上智能系统，就不可能形成一个智能交通系统；</a:t>
            </a:r>
            <a:r>
              <a:rPr lang="zh-CN" altLang="en-US" sz="2000" dirty="0" smtClean="0">
                <a:solidFill>
                  <a:srgbClr val="FF0000"/>
                </a:solidFill>
                <a:latin typeface="微软雅黑" panose="020B0503020204020204" pitchFamily="34" charset="-122"/>
                <a:ea typeface="微软雅黑" panose="020B0503020204020204" pitchFamily="34" charset="-122"/>
              </a:rPr>
              <a:t>二是流动性</a:t>
            </a:r>
            <a:r>
              <a:rPr lang="zh-CN" altLang="en-US" sz="2000" dirty="0" smtClean="0">
                <a:latin typeface="微软雅黑" panose="020B0503020204020204" pitchFamily="34" charset="-122"/>
                <a:ea typeface="微软雅黑" panose="020B0503020204020204" pitchFamily="34" charset="-122"/>
              </a:rPr>
              <a:t>，物品通常都不是静止的，而是处于运动的状态，必须保持物品在运动状态，甚至高速运动状态下都能随时实现对话。 </a:t>
            </a:r>
          </a:p>
          <a:p>
            <a:pPr marL="365760" indent="-255905" eaLnBrk="1" fontAlgn="auto" hangingPunct="1">
              <a:lnSpc>
                <a:spcPct val="140000"/>
              </a:lnSpc>
              <a:spcAft>
                <a:spcPts val="0"/>
              </a:spcAft>
              <a:buClr>
                <a:schemeClr val="accent3"/>
              </a:buClr>
              <a:buFont typeface="Wingdings" panose="05000000000000000000" pitchFamily="2" charset="2"/>
              <a:buChar char="p"/>
              <a:defRPr/>
            </a:pPr>
            <a:r>
              <a:rPr lang="zh-CN" altLang="en-US" sz="2000" dirty="0" smtClean="0">
                <a:latin typeface="微软雅黑" panose="020B0503020204020204" pitchFamily="34" charset="-122"/>
                <a:ea typeface="微软雅黑" panose="020B0503020204020204" pitchFamily="34" charset="-122"/>
              </a:rPr>
              <a:t>美国权威咨询机构</a:t>
            </a:r>
            <a:r>
              <a:rPr lang="en-US" altLang="zh-CN" sz="2000" dirty="0" smtClean="0">
                <a:latin typeface="微软雅黑" panose="020B0503020204020204" pitchFamily="34" charset="-122"/>
                <a:ea typeface="微软雅黑" panose="020B0503020204020204" pitchFamily="34" charset="-122"/>
              </a:rPr>
              <a:t>FORRESTER</a:t>
            </a:r>
            <a:r>
              <a:rPr lang="zh-CN" altLang="en-US" sz="2000" dirty="0" smtClean="0">
                <a:latin typeface="微软雅黑" panose="020B0503020204020204" pitchFamily="34" charset="-122"/>
                <a:ea typeface="微软雅黑" panose="020B0503020204020204" pitchFamily="34" charset="-122"/>
              </a:rPr>
              <a:t>预测，到</a:t>
            </a:r>
            <a:r>
              <a:rPr lang="en-US" altLang="zh-CN" sz="2000" dirty="0" smtClean="0">
                <a:latin typeface="微软雅黑" panose="020B0503020204020204" pitchFamily="34" charset="-122"/>
                <a:ea typeface="微软雅黑" panose="020B0503020204020204" pitchFamily="34" charset="-122"/>
              </a:rPr>
              <a:t>2020</a:t>
            </a:r>
            <a:r>
              <a:rPr lang="zh-CN" altLang="en-US" sz="2000" dirty="0" smtClean="0">
                <a:latin typeface="微软雅黑" panose="020B0503020204020204" pitchFamily="34" charset="-122"/>
                <a:ea typeface="微软雅黑" panose="020B0503020204020204" pitchFamily="34" charset="-122"/>
              </a:rPr>
              <a:t>年，世界上物物互联的业务，跟人与人通信的业务相比，将达到</a:t>
            </a:r>
            <a:r>
              <a:rPr lang="en-US" altLang="zh-CN" sz="2000" dirty="0" smtClean="0">
                <a:latin typeface="微软雅黑" panose="020B0503020204020204" pitchFamily="34" charset="-122"/>
                <a:ea typeface="微软雅黑" panose="020B0503020204020204" pitchFamily="34" charset="-122"/>
              </a:rPr>
              <a:t>30:</a:t>
            </a:r>
            <a:r>
              <a:rPr lang="zh-CN" altLang="en-US" sz="2000" dirty="0" smtClean="0">
                <a:latin typeface="微软雅黑" panose="020B0503020204020204" pitchFamily="34" charset="-122"/>
                <a:ea typeface="微软雅黑" panose="020B0503020204020204" pitchFamily="34" charset="-122"/>
              </a:rPr>
              <a:t>１，因此，“物联网”被称为是下一个万亿级的通信业务。</a:t>
            </a:r>
          </a:p>
          <a:p>
            <a:pPr marL="365760" indent="-255905" eaLnBrk="1" fontAlgn="auto" hangingPunct="1">
              <a:spcAft>
                <a:spcPts val="0"/>
              </a:spcAft>
              <a:buClr>
                <a:schemeClr val="accent3"/>
              </a:buClr>
              <a:buFont typeface="Georgia" panose="02040502050405020303"/>
              <a:buChar char="•"/>
              <a:defRPr/>
            </a:pPr>
            <a:endParaRPr lang="zh-CN" altLang="en-US" sz="2000" dirty="0" smtClean="0"/>
          </a:p>
          <a:p>
            <a:pPr eaLnBrk="1" hangingPunct="1">
              <a:defRPr/>
            </a:pPr>
            <a:endParaRPr lang="zh-CN" altLang="en-US" sz="2000"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4282" y="3357562"/>
            <a:ext cx="7572428" cy="1015663"/>
          </a:xfrm>
          <a:prstGeom prst="rect">
            <a:avLst/>
          </a:prstGeom>
          <a:noFill/>
        </p:spPr>
        <p:txBody>
          <a:bodyPr anchor="ctr">
            <a:spAutoFit/>
          </a:bodyPr>
          <a:lstStyle/>
          <a:p>
            <a:pPr algn="ctr" eaLnBrk="1" hangingPunct="1">
              <a:defRPr/>
            </a:pPr>
            <a:r>
              <a:rPr lang="en-US" altLang="zh-CN" sz="6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panose="020B0604020202020204" pitchFamily="34" charset="0"/>
              </a:rPr>
              <a:t>The End</a:t>
            </a:r>
            <a:endParaRPr lang="zh-CN" altLang="en-US" sz="6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panose="020B0604020202020204" pitchFamily="34"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环保">
  <a:themeElements>
    <a:clrScheme name="环保">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环保">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环保">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3200</TotalTime>
  <Words>5326</Words>
  <Application>Microsoft Office PowerPoint</Application>
  <PresentationFormat>全屏显示(4:3)</PresentationFormat>
  <Paragraphs>177</Paragraphs>
  <Slides>43</Slides>
  <Notes>0</Notes>
  <HiddenSlides>1</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43</vt:i4>
      </vt:variant>
    </vt:vector>
  </HeadingPairs>
  <TitlesOfParts>
    <vt:vector size="54" baseType="lpstr">
      <vt:lpstr>方正舒体</vt:lpstr>
      <vt:lpstr>楷体_GB2312</vt:lpstr>
      <vt:lpstr>隶书</vt:lpstr>
      <vt:lpstr>宋体</vt:lpstr>
      <vt:lpstr>微软雅黑</vt:lpstr>
      <vt:lpstr>Arial</vt:lpstr>
      <vt:lpstr>Garamond</vt:lpstr>
      <vt:lpstr>Georgia</vt:lpstr>
      <vt:lpstr>Wingdings</vt:lpstr>
      <vt:lpstr>Wingdings 2</vt:lpstr>
      <vt:lpstr>环保</vt:lpstr>
      <vt:lpstr>物联网</vt:lpstr>
      <vt:lpstr>内容提纲</vt:lpstr>
      <vt:lpstr>物联网的定义</vt:lpstr>
      <vt:lpstr>物联网的其它定义</vt:lpstr>
      <vt:lpstr>历史进程</vt:lpstr>
      <vt:lpstr>物联网的本质</vt:lpstr>
      <vt:lpstr>物联网 VS  互联网</vt:lpstr>
      <vt:lpstr>物联网 VS  互联网</vt:lpstr>
      <vt:lpstr>物联网 VS  互联网</vt:lpstr>
      <vt:lpstr>不同点1：覆盖范围不同</vt:lpstr>
      <vt:lpstr>不同点2：终端接入方式不同</vt:lpstr>
      <vt:lpstr>不同点3：数据采集方式不同</vt:lpstr>
      <vt:lpstr>不同点4：技术范围不同</vt:lpstr>
      <vt:lpstr>不同点5：发展驱动力不同</vt:lpstr>
      <vt:lpstr>PowerPoint 演示文稿</vt:lpstr>
      <vt:lpstr>物联网核心技术</vt:lpstr>
      <vt:lpstr>物联网核心技术——感知识别层</vt:lpstr>
      <vt:lpstr>物联网核心技术——感知识别层</vt:lpstr>
      <vt:lpstr>物联网核心技术——网络构建层</vt:lpstr>
      <vt:lpstr>物联网核心技术——网络构建层</vt:lpstr>
      <vt:lpstr>各种网络形式如何服务物联网</vt:lpstr>
      <vt:lpstr>物联网核心技术——管理服务层</vt:lpstr>
      <vt:lpstr>物联网核心技术——管理服务层</vt:lpstr>
      <vt:lpstr>数据库与物联网</vt:lpstr>
      <vt:lpstr>海量信息存储与物联网</vt:lpstr>
      <vt:lpstr>搜索引擎与物联网</vt:lpstr>
      <vt:lpstr>物联网的智慧决策</vt:lpstr>
      <vt:lpstr>信息安全与隐私保护</vt:lpstr>
      <vt:lpstr>物联网核心技术——综合应用层</vt:lpstr>
      <vt:lpstr>PowerPoint 演示文稿</vt:lpstr>
      <vt:lpstr>中国物联网发展水平</vt:lpstr>
      <vt:lpstr>中国物联网发展优势</vt:lpstr>
      <vt:lpstr>物联网发展的劣势</vt:lpstr>
      <vt:lpstr>PowerPoint 演示文稿</vt:lpstr>
      <vt:lpstr>物联网的应用模式</vt:lpstr>
      <vt:lpstr>物联网的应用方向</vt:lpstr>
      <vt:lpstr>物联网的典型应用</vt:lpstr>
      <vt:lpstr>5.1 物联网的理解误区</vt:lpstr>
      <vt:lpstr>物联网的理解误区</vt:lpstr>
      <vt:lpstr>5.3 物联网面临的挑战</vt:lpstr>
      <vt:lpstr>5.4 物联网发展趋势</vt:lpstr>
      <vt:lpstr>物联网发展趋势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物联网简介</dc:title>
  <dc:creator>微软中国</dc:creator>
  <cp:lastModifiedBy>nie</cp:lastModifiedBy>
  <cp:revision>45</cp:revision>
  <dcterms:created xsi:type="dcterms:W3CDTF">2013-10-29T15:33:00Z</dcterms:created>
  <dcterms:modified xsi:type="dcterms:W3CDTF">2021-11-05T05:54:39Z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2052-11.1.0.9740</vt:lpwstr>
  </property>
</Properties>
</file>