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701" r:id="rId5"/>
  </p:sldMasterIdLst>
  <p:notesMasterIdLst>
    <p:notesMasterId r:id="rId43"/>
  </p:notesMasterIdLst>
  <p:sldIdLst>
    <p:sldId id="259" r:id="rId6"/>
    <p:sldId id="263" r:id="rId7"/>
    <p:sldId id="260" r:id="rId8"/>
    <p:sldId id="353" r:id="rId9"/>
    <p:sldId id="354" r:id="rId10"/>
    <p:sldId id="355" r:id="rId11"/>
    <p:sldId id="267" r:id="rId12"/>
    <p:sldId id="343" r:id="rId13"/>
    <p:sldId id="341" r:id="rId14"/>
    <p:sldId id="342" r:id="rId15"/>
    <p:sldId id="269" r:id="rId16"/>
    <p:sldId id="323" r:id="rId17"/>
    <p:sldId id="346" r:id="rId18"/>
    <p:sldId id="325" r:id="rId19"/>
    <p:sldId id="288" r:id="rId20"/>
    <p:sldId id="264" r:id="rId21"/>
    <p:sldId id="326" r:id="rId22"/>
    <p:sldId id="272" r:id="rId23"/>
    <p:sldId id="328" r:id="rId24"/>
    <p:sldId id="274" r:id="rId25"/>
    <p:sldId id="329" r:id="rId26"/>
    <p:sldId id="330" r:id="rId27"/>
    <p:sldId id="265" r:id="rId28"/>
    <p:sldId id="332" r:id="rId29"/>
    <p:sldId id="331" r:id="rId30"/>
    <p:sldId id="335" r:id="rId31"/>
    <p:sldId id="334" r:id="rId32"/>
    <p:sldId id="333" r:id="rId33"/>
    <p:sldId id="336" r:id="rId34"/>
    <p:sldId id="295" r:id="rId35"/>
    <p:sldId id="347" r:id="rId36"/>
    <p:sldId id="348" r:id="rId37"/>
    <p:sldId id="349" r:id="rId38"/>
    <p:sldId id="350" r:id="rId39"/>
    <p:sldId id="351" r:id="rId40"/>
    <p:sldId id="352" r:id="rId41"/>
    <p:sldId id="302" r:id="rId42"/>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6F6"/>
    <a:srgbClr val="004B7D"/>
    <a:srgbClr val="4BAF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 y="426"/>
      </p:cViewPr>
      <p:guideLst>
        <p:guide orient="horz" pos="1584"/>
        <p:guide pos="2880"/>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5B59B-3CDD-40D8-B55C-F17BB30F22C2}" type="datetimeFigureOut">
              <a:rPr lang="zh-CN" altLang="en-US" smtClean="0"/>
              <a:t>2020/7/1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35E87-F321-44EE-9A27-D29C28F3A52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35E87-F321-44EE-9A27-D29C28F3A52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16</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19</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23</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24</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25</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26</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27</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29</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935E87-F321-44EE-9A27-D29C28F3A52A}" type="slidenum">
              <a:rPr lang="zh-CN" altLang="en-US" smtClean="0"/>
              <a:t>30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35E87-F321-44EE-9A27-D29C28F3A52A}"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2"/>
          <p:cNvSpPr/>
          <p:nvPr userDrawn="1"/>
        </p:nvSpPr>
        <p:spPr>
          <a:xfrm>
            <a:off x="-9526" y="0"/>
            <a:ext cx="9153525" cy="648000"/>
          </a:xfrm>
          <a:custGeom>
            <a:avLst/>
            <a:gdLst>
              <a:gd name="connsiteX0" fmla="*/ 0 w 9144000"/>
              <a:gd name="connsiteY0" fmla="*/ 0 h 769257"/>
              <a:gd name="connsiteX1" fmla="*/ 9144000 w 9144000"/>
              <a:gd name="connsiteY1" fmla="*/ 0 h 769257"/>
              <a:gd name="connsiteX2" fmla="*/ 9144000 w 9144000"/>
              <a:gd name="connsiteY2" fmla="*/ 769257 h 769257"/>
              <a:gd name="connsiteX3" fmla="*/ 0 w 9144000"/>
              <a:gd name="connsiteY3" fmla="*/ 769257 h 769257"/>
              <a:gd name="connsiteX4" fmla="*/ 0 w 9144000"/>
              <a:gd name="connsiteY4" fmla="*/ 0 h 769257"/>
              <a:gd name="connsiteX0-1" fmla="*/ 9525 w 9153525"/>
              <a:gd name="connsiteY0-2" fmla="*/ 0 h 769257"/>
              <a:gd name="connsiteX1-3" fmla="*/ 9153525 w 9153525"/>
              <a:gd name="connsiteY1-4" fmla="*/ 0 h 769257"/>
              <a:gd name="connsiteX2-5" fmla="*/ 9153525 w 9153525"/>
              <a:gd name="connsiteY2-6" fmla="*/ 769257 h 769257"/>
              <a:gd name="connsiteX3-7" fmla="*/ 0 w 9153525"/>
              <a:gd name="connsiteY3-8" fmla="*/ 521607 h 769257"/>
              <a:gd name="connsiteX4-9" fmla="*/ 9525 w 9153525"/>
              <a:gd name="connsiteY4-10" fmla="*/ 0 h 769257"/>
              <a:gd name="connsiteX0-11" fmla="*/ 9525 w 9153525"/>
              <a:gd name="connsiteY0-12" fmla="*/ 0 h 769257"/>
              <a:gd name="connsiteX1-13" fmla="*/ 9153525 w 9153525"/>
              <a:gd name="connsiteY1-14" fmla="*/ 0 h 769257"/>
              <a:gd name="connsiteX2-15" fmla="*/ 9153525 w 9153525"/>
              <a:gd name="connsiteY2-16" fmla="*/ 769257 h 769257"/>
              <a:gd name="connsiteX3-17" fmla="*/ 0 w 9153525"/>
              <a:gd name="connsiteY3-18" fmla="*/ 540657 h 769257"/>
              <a:gd name="connsiteX4-19" fmla="*/ 9525 w 9153525"/>
              <a:gd name="connsiteY4-20" fmla="*/ 0 h 769257"/>
              <a:gd name="connsiteX0-21" fmla="*/ 9525 w 9153525"/>
              <a:gd name="connsiteY0-22" fmla="*/ 0 h 769257"/>
              <a:gd name="connsiteX1-23" fmla="*/ 9153525 w 9153525"/>
              <a:gd name="connsiteY1-24" fmla="*/ 0 h 769257"/>
              <a:gd name="connsiteX2-25" fmla="*/ 9153525 w 9153525"/>
              <a:gd name="connsiteY2-26" fmla="*/ 769257 h 769257"/>
              <a:gd name="connsiteX3-27" fmla="*/ 885826 w 9153525"/>
              <a:gd name="connsiteY3-28" fmla="*/ 542925 h 769257"/>
              <a:gd name="connsiteX4-29" fmla="*/ 0 w 9153525"/>
              <a:gd name="connsiteY4-30" fmla="*/ 540657 h 769257"/>
              <a:gd name="connsiteX5" fmla="*/ 9525 w 9153525"/>
              <a:gd name="connsiteY5" fmla="*/ 0 h 769257"/>
              <a:gd name="connsiteX0-31" fmla="*/ 9525 w 9153525"/>
              <a:gd name="connsiteY0-32" fmla="*/ 0 h 769257"/>
              <a:gd name="connsiteX1-33" fmla="*/ 9153525 w 9153525"/>
              <a:gd name="connsiteY1-34" fmla="*/ 0 h 769257"/>
              <a:gd name="connsiteX2-35" fmla="*/ 9153525 w 9153525"/>
              <a:gd name="connsiteY2-36" fmla="*/ 769257 h 769257"/>
              <a:gd name="connsiteX3-37" fmla="*/ 2038351 w 9153525"/>
              <a:gd name="connsiteY3-38" fmla="*/ 571500 h 769257"/>
              <a:gd name="connsiteX4-39" fmla="*/ 885826 w 9153525"/>
              <a:gd name="connsiteY4-40" fmla="*/ 542925 h 769257"/>
              <a:gd name="connsiteX5-41" fmla="*/ 0 w 9153525"/>
              <a:gd name="connsiteY5-42" fmla="*/ 540657 h 769257"/>
              <a:gd name="connsiteX6" fmla="*/ 9525 w 9153525"/>
              <a:gd name="connsiteY6" fmla="*/ 0 h 769257"/>
              <a:gd name="connsiteX0-43" fmla="*/ 9525 w 9153525"/>
              <a:gd name="connsiteY0-44" fmla="*/ 0 h 769257"/>
              <a:gd name="connsiteX1-45" fmla="*/ 9153525 w 9153525"/>
              <a:gd name="connsiteY1-46" fmla="*/ 0 h 769257"/>
              <a:gd name="connsiteX2-47" fmla="*/ 9153525 w 9153525"/>
              <a:gd name="connsiteY2-48" fmla="*/ 769257 h 769257"/>
              <a:gd name="connsiteX3-49" fmla="*/ 3648076 w 9153525"/>
              <a:gd name="connsiteY3-50" fmla="*/ 628650 h 769257"/>
              <a:gd name="connsiteX4-51" fmla="*/ 2038351 w 9153525"/>
              <a:gd name="connsiteY4-52" fmla="*/ 571500 h 769257"/>
              <a:gd name="connsiteX5-53" fmla="*/ 885826 w 9153525"/>
              <a:gd name="connsiteY5-54" fmla="*/ 542925 h 769257"/>
              <a:gd name="connsiteX6-55" fmla="*/ 0 w 9153525"/>
              <a:gd name="connsiteY6-56" fmla="*/ 540657 h 769257"/>
              <a:gd name="connsiteX7" fmla="*/ 9525 w 9153525"/>
              <a:gd name="connsiteY7" fmla="*/ 0 h 769257"/>
              <a:gd name="connsiteX0-57" fmla="*/ 9525 w 9153525"/>
              <a:gd name="connsiteY0-58" fmla="*/ 0 h 769257"/>
              <a:gd name="connsiteX1-59" fmla="*/ 9153525 w 9153525"/>
              <a:gd name="connsiteY1-60" fmla="*/ 0 h 769257"/>
              <a:gd name="connsiteX2-61" fmla="*/ 9153525 w 9153525"/>
              <a:gd name="connsiteY2-62" fmla="*/ 769257 h 769257"/>
              <a:gd name="connsiteX3-63" fmla="*/ 5276851 w 9153525"/>
              <a:gd name="connsiteY3-64" fmla="*/ 676275 h 769257"/>
              <a:gd name="connsiteX4-65" fmla="*/ 3648076 w 9153525"/>
              <a:gd name="connsiteY4-66" fmla="*/ 628650 h 769257"/>
              <a:gd name="connsiteX5-67" fmla="*/ 2038351 w 9153525"/>
              <a:gd name="connsiteY5-68" fmla="*/ 571500 h 769257"/>
              <a:gd name="connsiteX6-69" fmla="*/ 885826 w 9153525"/>
              <a:gd name="connsiteY6-70" fmla="*/ 542925 h 769257"/>
              <a:gd name="connsiteX7-71" fmla="*/ 0 w 9153525"/>
              <a:gd name="connsiteY7-72" fmla="*/ 540657 h 769257"/>
              <a:gd name="connsiteX8" fmla="*/ 9525 w 9153525"/>
              <a:gd name="connsiteY8" fmla="*/ 0 h 769257"/>
              <a:gd name="connsiteX0-73" fmla="*/ 9525 w 9153525"/>
              <a:gd name="connsiteY0-74" fmla="*/ 0 h 769257"/>
              <a:gd name="connsiteX1-75" fmla="*/ 9153525 w 9153525"/>
              <a:gd name="connsiteY1-76" fmla="*/ 0 h 769257"/>
              <a:gd name="connsiteX2-77" fmla="*/ 9153525 w 9153525"/>
              <a:gd name="connsiteY2-78" fmla="*/ 769257 h 769257"/>
              <a:gd name="connsiteX3-79" fmla="*/ 6819901 w 9153525"/>
              <a:gd name="connsiteY3-80" fmla="*/ 714375 h 769257"/>
              <a:gd name="connsiteX4-81" fmla="*/ 5276851 w 9153525"/>
              <a:gd name="connsiteY4-82" fmla="*/ 676275 h 769257"/>
              <a:gd name="connsiteX5-83" fmla="*/ 3648076 w 9153525"/>
              <a:gd name="connsiteY5-84" fmla="*/ 628650 h 769257"/>
              <a:gd name="connsiteX6-85" fmla="*/ 2038351 w 9153525"/>
              <a:gd name="connsiteY6-86" fmla="*/ 571500 h 769257"/>
              <a:gd name="connsiteX7-87" fmla="*/ 885826 w 9153525"/>
              <a:gd name="connsiteY7-88" fmla="*/ 542925 h 769257"/>
              <a:gd name="connsiteX8-89" fmla="*/ 0 w 9153525"/>
              <a:gd name="connsiteY8-90" fmla="*/ 540657 h 769257"/>
              <a:gd name="connsiteX9" fmla="*/ 9525 w 9153525"/>
              <a:gd name="connsiteY9" fmla="*/ 0 h 769257"/>
              <a:gd name="connsiteX0-91" fmla="*/ 9525 w 9153525"/>
              <a:gd name="connsiteY0-92" fmla="*/ 0 h 769257"/>
              <a:gd name="connsiteX1-93" fmla="*/ 9153525 w 9153525"/>
              <a:gd name="connsiteY1-94" fmla="*/ 0 h 769257"/>
              <a:gd name="connsiteX2-95" fmla="*/ 9153525 w 9153525"/>
              <a:gd name="connsiteY2-96" fmla="*/ 769257 h 769257"/>
              <a:gd name="connsiteX3-97" fmla="*/ 8201026 w 9153525"/>
              <a:gd name="connsiteY3-98" fmla="*/ 752475 h 769257"/>
              <a:gd name="connsiteX4-99" fmla="*/ 6819901 w 9153525"/>
              <a:gd name="connsiteY4-100" fmla="*/ 714375 h 769257"/>
              <a:gd name="connsiteX5-101" fmla="*/ 5276851 w 9153525"/>
              <a:gd name="connsiteY5-102" fmla="*/ 676275 h 769257"/>
              <a:gd name="connsiteX6-103" fmla="*/ 3648076 w 9153525"/>
              <a:gd name="connsiteY6-104" fmla="*/ 628650 h 769257"/>
              <a:gd name="connsiteX7-105" fmla="*/ 2038351 w 9153525"/>
              <a:gd name="connsiteY7-106" fmla="*/ 571500 h 769257"/>
              <a:gd name="connsiteX8-107" fmla="*/ 885826 w 9153525"/>
              <a:gd name="connsiteY8-108" fmla="*/ 542925 h 769257"/>
              <a:gd name="connsiteX9-109" fmla="*/ 0 w 9153525"/>
              <a:gd name="connsiteY9-110" fmla="*/ 540657 h 769257"/>
              <a:gd name="connsiteX10" fmla="*/ 9525 w 9153525"/>
              <a:gd name="connsiteY10" fmla="*/ 0 h 769257"/>
              <a:gd name="connsiteX0-111" fmla="*/ 9525 w 9153525"/>
              <a:gd name="connsiteY0-112" fmla="*/ 0 h 752475"/>
              <a:gd name="connsiteX1-113" fmla="*/ 9153525 w 9153525"/>
              <a:gd name="connsiteY1-114" fmla="*/ 0 h 752475"/>
              <a:gd name="connsiteX2-115" fmla="*/ 9153525 w 9153525"/>
              <a:gd name="connsiteY2-116" fmla="*/ 559707 h 752475"/>
              <a:gd name="connsiteX3-117" fmla="*/ 8201026 w 9153525"/>
              <a:gd name="connsiteY3-118" fmla="*/ 752475 h 752475"/>
              <a:gd name="connsiteX4-119" fmla="*/ 6819901 w 9153525"/>
              <a:gd name="connsiteY4-120" fmla="*/ 714375 h 752475"/>
              <a:gd name="connsiteX5-121" fmla="*/ 5276851 w 9153525"/>
              <a:gd name="connsiteY5-122" fmla="*/ 676275 h 752475"/>
              <a:gd name="connsiteX6-123" fmla="*/ 3648076 w 9153525"/>
              <a:gd name="connsiteY6-124" fmla="*/ 628650 h 752475"/>
              <a:gd name="connsiteX7-125" fmla="*/ 2038351 w 9153525"/>
              <a:gd name="connsiteY7-126" fmla="*/ 571500 h 752475"/>
              <a:gd name="connsiteX8-127" fmla="*/ 885826 w 9153525"/>
              <a:gd name="connsiteY8-128" fmla="*/ 542925 h 752475"/>
              <a:gd name="connsiteX9-129" fmla="*/ 0 w 9153525"/>
              <a:gd name="connsiteY9-130" fmla="*/ 540657 h 752475"/>
              <a:gd name="connsiteX10-131" fmla="*/ 9525 w 9153525"/>
              <a:gd name="connsiteY10-132" fmla="*/ 0 h 752475"/>
              <a:gd name="connsiteX0-133" fmla="*/ 9525 w 9153525"/>
              <a:gd name="connsiteY0-134" fmla="*/ 0 h 714375"/>
              <a:gd name="connsiteX1-135" fmla="*/ 9153525 w 9153525"/>
              <a:gd name="connsiteY1-136" fmla="*/ 0 h 714375"/>
              <a:gd name="connsiteX2-137" fmla="*/ 9153525 w 9153525"/>
              <a:gd name="connsiteY2-138" fmla="*/ 559707 h 714375"/>
              <a:gd name="connsiteX3-139" fmla="*/ 8296276 w 9153525"/>
              <a:gd name="connsiteY3-140" fmla="*/ 266700 h 714375"/>
              <a:gd name="connsiteX4-141" fmla="*/ 6819901 w 9153525"/>
              <a:gd name="connsiteY4-142" fmla="*/ 714375 h 714375"/>
              <a:gd name="connsiteX5-143" fmla="*/ 5276851 w 9153525"/>
              <a:gd name="connsiteY5-144" fmla="*/ 676275 h 714375"/>
              <a:gd name="connsiteX6-145" fmla="*/ 3648076 w 9153525"/>
              <a:gd name="connsiteY6-146" fmla="*/ 628650 h 714375"/>
              <a:gd name="connsiteX7-147" fmla="*/ 2038351 w 9153525"/>
              <a:gd name="connsiteY7-148" fmla="*/ 571500 h 714375"/>
              <a:gd name="connsiteX8-149" fmla="*/ 885826 w 9153525"/>
              <a:gd name="connsiteY8-150" fmla="*/ 542925 h 714375"/>
              <a:gd name="connsiteX9-151" fmla="*/ 0 w 9153525"/>
              <a:gd name="connsiteY9-152" fmla="*/ 540657 h 714375"/>
              <a:gd name="connsiteX10-153" fmla="*/ 9525 w 9153525"/>
              <a:gd name="connsiteY10-154" fmla="*/ 0 h 714375"/>
              <a:gd name="connsiteX0-155" fmla="*/ 9525 w 9153525"/>
              <a:gd name="connsiteY0-156" fmla="*/ 0 h 752475"/>
              <a:gd name="connsiteX1-157" fmla="*/ 9153525 w 9153525"/>
              <a:gd name="connsiteY1-158" fmla="*/ 0 h 752475"/>
              <a:gd name="connsiteX2-159" fmla="*/ 9153525 w 9153525"/>
              <a:gd name="connsiteY2-160" fmla="*/ 559707 h 752475"/>
              <a:gd name="connsiteX3-161" fmla="*/ 8296276 w 9153525"/>
              <a:gd name="connsiteY3-162" fmla="*/ 266700 h 752475"/>
              <a:gd name="connsiteX4-163" fmla="*/ 6791326 w 9153525"/>
              <a:gd name="connsiteY4-164" fmla="*/ 752475 h 752475"/>
              <a:gd name="connsiteX5-165" fmla="*/ 5276851 w 9153525"/>
              <a:gd name="connsiteY5-166" fmla="*/ 676275 h 752475"/>
              <a:gd name="connsiteX6-167" fmla="*/ 3648076 w 9153525"/>
              <a:gd name="connsiteY6-168" fmla="*/ 628650 h 752475"/>
              <a:gd name="connsiteX7-169" fmla="*/ 2038351 w 9153525"/>
              <a:gd name="connsiteY7-170" fmla="*/ 571500 h 752475"/>
              <a:gd name="connsiteX8-171" fmla="*/ 885826 w 9153525"/>
              <a:gd name="connsiteY8-172" fmla="*/ 542925 h 752475"/>
              <a:gd name="connsiteX9-173" fmla="*/ 0 w 9153525"/>
              <a:gd name="connsiteY9-174" fmla="*/ 540657 h 752475"/>
              <a:gd name="connsiteX10-175" fmla="*/ 9525 w 9153525"/>
              <a:gd name="connsiteY10-176" fmla="*/ 0 h 752475"/>
              <a:gd name="connsiteX0-177" fmla="*/ 9525 w 9153525"/>
              <a:gd name="connsiteY0-178" fmla="*/ 0 h 752475"/>
              <a:gd name="connsiteX1-179" fmla="*/ 9153525 w 9153525"/>
              <a:gd name="connsiteY1-180" fmla="*/ 0 h 752475"/>
              <a:gd name="connsiteX2-181" fmla="*/ 9153525 w 9153525"/>
              <a:gd name="connsiteY2-182" fmla="*/ 559707 h 752475"/>
              <a:gd name="connsiteX3-183" fmla="*/ 8296276 w 9153525"/>
              <a:gd name="connsiteY3-184" fmla="*/ 266700 h 752475"/>
              <a:gd name="connsiteX4-185" fmla="*/ 6791326 w 9153525"/>
              <a:gd name="connsiteY4-186" fmla="*/ 752475 h 752475"/>
              <a:gd name="connsiteX5-187" fmla="*/ 5267326 w 9153525"/>
              <a:gd name="connsiteY5-188" fmla="*/ 257175 h 752475"/>
              <a:gd name="connsiteX6-189" fmla="*/ 3648076 w 9153525"/>
              <a:gd name="connsiteY6-190" fmla="*/ 628650 h 752475"/>
              <a:gd name="connsiteX7-191" fmla="*/ 2038351 w 9153525"/>
              <a:gd name="connsiteY7-192" fmla="*/ 571500 h 752475"/>
              <a:gd name="connsiteX8-193" fmla="*/ 885826 w 9153525"/>
              <a:gd name="connsiteY8-194" fmla="*/ 542925 h 752475"/>
              <a:gd name="connsiteX9-195" fmla="*/ 0 w 9153525"/>
              <a:gd name="connsiteY9-196" fmla="*/ 540657 h 752475"/>
              <a:gd name="connsiteX10-197" fmla="*/ 9525 w 9153525"/>
              <a:gd name="connsiteY10-198" fmla="*/ 0 h 752475"/>
              <a:gd name="connsiteX0-199" fmla="*/ 9525 w 9153525"/>
              <a:gd name="connsiteY0-200" fmla="*/ 0 h 752475"/>
              <a:gd name="connsiteX1-201" fmla="*/ 9153525 w 9153525"/>
              <a:gd name="connsiteY1-202" fmla="*/ 0 h 752475"/>
              <a:gd name="connsiteX2-203" fmla="*/ 9153525 w 9153525"/>
              <a:gd name="connsiteY2-204" fmla="*/ 559707 h 752475"/>
              <a:gd name="connsiteX3-205" fmla="*/ 8296276 w 9153525"/>
              <a:gd name="connsiteY3-206" fmla="*/ 266700 h 752475"/>
              <a:gd name="connsiteX4-207" fmla="*/ 6791326 w 9153525"/>
              <a:gd name="connsiteY4-208" fmla="*/ 752475 h 752475"/>
              <a:gd name="connsiteX5-209" fmla="*/ 5267326 w 9153525"/>
              <a:gd name="connsiteY5-210" fmla="*/ 257175 h 752475"/>
              <a:gd name="connsiteX6-211" fmla="*/ 3819526 w 9153525"/>
              <a:gd name="connsiteY6-212" fmla="*/ 742950 h 752475"/>
              <a:gd name="connsiteX7-213" fmla="*/ 2038351 w 9153525"/>
              <a:gd name="connsiteY7-214" fmla="*/ 571500 h 752475"/>
              <a:gd name="connsiteX8-215" fmla="*/ 885826 w 9153525"/>
              <a:gd name="connsiteY8-216" fmla="*/ 542925 h 752475"/>
              <a:gd name="connsiteX9-217" fmla="*/ 0 w 9153525"/>
              <a:gd name="connsiteY9-218" fmla="*/ 540657 h 752475"/>
              <a:gd name="connsiteX10-219" fmla="*/ 9525 w 9153525"/>
              <a:gd name="connsiteY10-220" fmla="*/ 0 h 752475"/>
              <a:gd name="connsiteX0-221" fmla="*/ 9525 w 9153525"/>
              <a:gd name="connsiteY0-222" fmla="*/ 0 h 752475"/>
              <a:gd name="connsiteX1-223" fmla="*/ 9153525 w 9153525"/>
              <a:gd name="connsiteY1-224" fmla="*/ 0 h 752475"/>
              <a:gd name="connsiteX2-225" fmla="*/ 9153525 w 9153525"/>
              <a:gd name="connsiteY2-226" fmla="*/ 559707 h 752475"/>
              <a:gd name="connsiteX3-227" fmla="*/ 8296276 w 9153525"/>
              <a:gd name="connsiteY3-228" fmla="*/ 266700 h 752475"/>
              <a:gd name="connsiteX4-229" fmla="*/ 6791326 w 9153525"/>
              <a:gd name="connsiteY4-230" fmla="*/ 752475 h 752475"/>
              <a:gd name="connsiteX5-231" fmla="*/ 5267326 w 9153525"/>
              <a:gd name="connsiteY5-232" fmla="*/ 257175 h 752475"/>
              <a:gd name="connsiteX6-233" fmla="*/ 3819526 w 9153525"/>
              <a:gd name="connsiteY6-234" fmla="*/ 742950 h 752475"/>
              <a:gd name="connsiteX7-235" fmla="*/ 2286001 w 9153525"/>
              <a:gd name="connsiteY7-236" fmla="*/ 257175 h 752475"/>
              <a:gd name="connsiteX8-237" fmla="*/ 885826 w 9153525"/>
              <a:gd name="connsiteY8-238" fmla="*/ 542925 h 752475"/>
              <a:gd name="connsiteX9-239" fmla="*/ 0 w 9153525"/>
              <a:gd name="connsiteY9-240" fmla="*/ 540657 h 752475"/>
              <a:gd name="connsiteX10-241" fmla="*/ 9525 w 9153525"/>
              <a:gd name="connsiteY10-242" fmla="*/ 0 h 752475"/>
              <a:gd name="connsiteX0-243" fmla="*/ 9525 w 9153525"/>
              <a:gd name="connsiteY0-244" fmla="*/ 0 h 790575"/>
              <a:gd name="connsiteX1-245" fmla="*/ 9153525 w 9153525"/>
              <a:gd name="connsiteY1-246" fmla="*/ 0 h 790575"/>
              <a:gd name="connsiteX2-247" fmla="*/ 9153525 w 9153525"/>
              <a:gd name="connsiteY2-248" fmla="*/ 559707 h 790575"/>
              <a:gd name="connsiteX3-249" fmla="*/ 8296276 w 9153525"/>
              <a:gd name="connsiteY3-250" fmla="*/ 266700 h 790575"/>
              <a:gd name="connsiteX4-251" fmla="*/ 6791326 w 9153525"/>
              <a:gd name="connsiteY4-252" fmla="*/ 752475 h 790575"/>
              <a:gd name="connsiteX5-253" fmla="*/ 5267326 w 9153525"/>
              <a:gd name="connsiteY5-254" fmla="*/ 257175 h 790575"/>
              <a:gd name="connsiteX6-255" fmla="*/ 3819526 w 9153525"/>
              <a:gd name="connsiteY6-256" fmla="*/ 742950 h 790575"/>
              <a:gd name="connsiteX7-257" fmla="*/ 2286001 w 9153525"/>
              <a:gd name="connsiteY7-258" fmla="*/ 257175 h 790575"/>
              <a:gd name="connsiteX8-259" fmla="*/ 800101 w 9153525"/>
              <a:gd name="connsiteY8-260" fmla="*/ 790575 h 790575"/>
              <a:gd name="connsiteX9-261" fmla="*/ 0 w 9153525"/>
              <a:gd name="connsiteY9-262" fmla="*/ 540657 h 790575"/>
              <a:gd name="connsiteX10-263" fmla="*/ 9525 w 9153525"/>
              <a:gd name="connsiteY10-264" fmla="*/ 0 h 790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 ang="0">
                <a:pos x="connsiteX6-55" y="connsiteY6-56"/>
              </a:cxn>
              <a:cxn ang="0">
                <a:pos x="connsiteX7-71" y="connsiteY7-72"/>
              </a:cxn>
              <a:cxn ang="0">
                <a:pos x="connsiteX8-89" y="connsiteY8-90"/>
              </a:cxn>
              <a:cxn ang="0">
                <a:pos x="connsiteX9-109" y="connsiteY9-110"/>
              </a:cxn>
              <a:cxn ang="0">
                <a:pos x="connsiteX10-131" y="connsiteY10-132"/>
              </a:cxn>
            </a:cxnLst>
            <a:rect l="l" t="t" r="r" b="b"/>
            <a:pathLst>
              <a:path w="9153525" h="790575">
                <a:moveTo>
                  <a:pt x="9525" y="0"/>
                </a:moveTo>
                <a:lnTo>
                  <a:pt x="9153525" y="0"/>
                </a:lnTo>
                <a:lnTo>
                  <a:pt x="9153525" y="559707"/>
                </a:lnTo>
                <a:lnTo>
                  <a:pt x="8296276" y="266700"/>
                </a:lnTo>
                <a:lnTo>
                  <a:pt x="6791326" y="752475"/>
                </a:lnTo>
                <a:lnTo>
                  <a:pt x="5267326" y="257175"/>
                </a:lnTo>
                <a:lnTo>
                  <a:pt x="3819526" y="742950"/>
                </a:lnTo>
                <a:lnTo>
                  <a:pt x="2286001" y="257175"/>
                </a:lnTo>
                <a:lnTo>
                  <a:pt x="800101" y="790575"/>
                </a:lnTo>
                <a:lnTo>
                  <a:pt x="0" y="540657"/>
                </a:lnTo>
                <a:lnTo>
                  <a:pt x="9525" y="0"/>
                </a:ln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2"/>
          <p:cNvSpPr/>
          <p:nvPr userDrawn="1"/>
        </p:nvSpPr>
        <p:spPr>
          <a:xfrm flipH="1" flipV="1">
            <a:off x="-9526" y="4495500"/>
            <a:ext cx="9153525" cy="648000"/>
          </a:xfrm>
          <a:custGeom>
            <a:avLst/>
            <a:gdLst>
              <a:gd name="connsiteX0" fmla="*/ 0 w 9144000"/>
              <a:gd name="connsiteY0" fmla="*/ 0 h 769257"/>
              <a:gd name="connsiteX1" fmla="*/ 9144000 w 9144000"/>
              <a:gd name="connsiteY1" fmla="*/ 0 h 769257"/>
              <a:gd name="connsiteX2" fmla="*/ 9144000 w 9144000"/>
              <a:gd name="connsiteY2" fmla="*/ 769257 h 769257"/>
              <a:gd name="connsiteX3" fmla="*/ 0 w 9144000"/>
              <a:gd name="connsiteY3" fmla="*/ 769257 h 769257"/>
              <a:gd name="connsiteX4" fmla="*/ 0 w 9144000"/>
              <a:gd name="connsiteY4" fmla="*/ 0 h 769257"/>
              <a:gd name="connsiteX0-1" fmla="*/ 9525 w 9153525"/>
              <a:gd name="connsiteY0-2" fmla="*/ 0 h 769257"/>
              <a:gd name="connsiteX1-3" fmla="*/ 9153525 w 9153525"/>
              <a:gd name="connsiteY1-4" fmla="*/ 0 h 769257"/>
              <a:gd name="connsiteX2-5" fmla="*/ 9153525 w 9153525"/>
              <a:gd name="connsiteY2-6" fmla="*/ 769257 h 769257"/>
              <a:gd name="connsiteX3-7" fmla="*/ 0 w 9153525"/>
              <a:gd name="connsiteY3-8" fmla="*/ 521607 h 769257"/>
              <a:gd name="connsiteX4-9" fmla="*/ 9525 w 9153525"/>
              <a:gd name="connsiteY4-10" fmla="*/ 0 h 769257"/>
              <a:gd name="connsiteX0-11" fmla="*/ 9525 w 9153525"/>
              <a:gd name="connsiteY0-12" fmla="*/ 0 h 769257"/>
              <a:gd name="connsiteX1-13" fmla="*/ 9153525 w 9153525"/>
              <a:gd name="connsiteY1-14" fmla="*/ 0 h 769257"/>
              <a:gd name="connsiteX2-15" fmla="*/ 9153525 w 9153525"/>
              <a:gd name="connsiteY2-16" fmla="*/ 769257 h 769257"/>
              <a:gd name="connsiteX3-17" fmla="*/ 0 w 9153525"/>
              <a:gd name="connsiteY3-18" fmla="*/ 540657 h 769257"/>
              <a:gd name="connsiteX4-19" fmla="*/ 9525 w 9153525"/>
              <a:gd name="connsiteY4-20" fmla="*/ 0 h 769257"/>
              <a:gd name="connsiteX0-21" fmla="*/ 9525 w 9153525"/>
              <a:gd name="connsiteY0-22" fmla="*/ 0 h 769257"/>
              <a:gd name="connsiteX1-23" fmla="*/ 9153525 w 9153525"/>
              <a:gd name="connsiteY1-24" fmla="*/ 0 h 769257"/>
              <a:gd name="connsiteX2-25" fmla="*/ 9153525 w 9153525"/>
              <a:gd name="connsiteY2-26" fmla="*/ 769257 h 769257"/>
              <a:gd name="connsiteX3-27" fmla="*/ 885826 w 9153525"/>
              <a:gd name="connsiteY3-28" fmla="*/ 542925 h 769257"/>
              <a:gd name="connsiteX4-29" fmla="*/ 0 w 9153525"/>
              <a:gd name="connsiteY4-30" fmla="*/ 540657 h 769257"/>
              <a:gd name="connsiteX5" fmla="*/ 9525 w 9153525"/>
              <a:gd name="connsiteY5" fmla="*/ 0 h 769257"/>
              <a:gd name="connsiteX0-31" fmla="*/ 9525 w 9153525"/>
              <a:gd name="connsiteY0-32" fmla="*/ 0 h 769257"/>
              <a:gd name="connsiteX1-33" fmla="*/ 9153525 w 9153525"/>
              <a:gd name="connsiteY1-34" fmla="*/ 0 h 769257"/>
              <a:gd name="connsiteX2-35" fmla="*/ 9153525 w 9153525"/>
              <a:gd name="connsiteY2-36" fmla="*/ 769257 h 769257"/>
              <a:gd name="connsiteX3-37" fmla="*/ 2038351 w 9153525"/>
              <a:gd name="connsiteY3-38" fmla="*/ 571500 h 769257"/>
              <a:gd name="connsiteX4-39" fmla="*/ 885826 w 9153525"/>
              <a:gd name="connsiteY4-40" fmla="*/ 542925 h 769257"/>
              <a:gd name="connsiteX5-41" fmla="*/ 0 w 9153525"/>
              <a:gd name="connsiteY5-42" fmla="*/ 540657 h 769257"/>
              <a:gd name="connsiteX6" fmla="*/ 9525 w 9153525"/>
              <a:gd name="connsiteY6" fmla="*/ 0 h 769257"/>
              <a:gd name="connsiteX0-43" fmla="*/ 9525 w 9153525"/>
              <a:gd name="connsiteY0-44" fmla="*/ 0 h 769257"/>
              <a:gd name="connsiteX1-45" fmla="*/ 9153525 w 9153525"/>
              <a:gd name="connsiteY1-46" fmla="*/ 0 h 769257"/>
              <a:gd name="connsiteX2-47" fmla="*/ 9153525 w 9153525"/>
              <a:gd name="connsiteY2-48" fmla="*/ 769257 h 769257"/>
              <a:gd name="connsiteX3-49" fmla="*/ 3648076 w 9153525"/>
              <a:gd name="connsiteY3-50" fmla="*/ 628650 h 769257"/>
              <a:gd name="connsiteX4-51" fmla="*/ 2038351 w 9153525"/>
              <a:gd name="connsiteY4-52" fmla="*/ 571500 h 769257"/>
              <a:gd name="connsiteX5-53" fmla="*/ 885826 w 9153525"/>
              <a:gd name="connsiteY5-54" fmla="*/ 542925 h 769257"/>
              <a:gd name="connsiteX6-55" fmla="*/ 0 w 9153525"/>
              <a:gd name="connsiteY6-56" fmla="*/ 540657 h 769257"/>
              <a:gd name="connsiteX7" fmla="*/ 9525 w 9153525"/>
              <a:gd name="connsiteY7" fmla="*/ 0 h 769257"/>
              <a:gd name="connsiteX0-57" fmla="*/ 9525 w 9153525"/>
              <a:gd name="connsiteY0-58" fmla="*/ 0 h 769257"/>
              <a:gd name="connsiteX1-59" fmla="*/ 9153525 w 9153525"/>
              <a:gd name="connsiteY1-60" fmla="*/ 0 h 769257"/>
              <a:gd name="connsiteX2-61" fmla="*/ 9153525 w 9153525"/>
              <a:gd name="connsiteY2-62" fmla="*/ 769257 h 769257"/>
              <a:gd name="connsiteX3-63" fmla="*/ 5276851 w 9153525"/>
              <a:gd name="connsiteY3-64" fmla="*/ 676275 h 769257"/>
              <a:gd name="connsiteX4-65" fmla="*/ 3648076 w 9153525"/>
              <a:gd name="connsiteY4-66" fmla="*/ 628650 h 769257"/>
              <a:gd name="connsiteX5-67" fmla="*/ 2038351 w 9153525"/>
              <a:gd name="connsiteY5-68" fmla="*/ 571500 h 769257"/>
              <a:gd name="connsiteX6-69" fmla="*/ 885826 w 9153525"/>
              <a:gd name="connsiteY6-70" fmla="*/ 542925 h 769257"/>
              <a:gd name="connsiteX7-71" fmla="*/ 0 w 9153525"/>
              <a:gd name="connsiteY7-72" fmla="*/ 540657 h 769257"/>
              <a:gd name="connsiteX8" fmla="*/ 9525 w 9153525"/>
              <a:gd name="connsiteY8" fmla="*/ 0 h 769257"/>
              <a:gd name="connsiteX0-73" fmla="*/ 9525 w 9153525"/>
              <a:gd name="connsiteY0-74" fmla="*/ 0 h 769257"/>
              <a:gd name="connsiteX1-75" fmla="*/ 9153525 w 9153525"/>
              <a:gd name="connsiteY1-76" fmla="*/ 0 h 769257"/>
              <a:gd name="connsiteX2-77" fmla="*/ 9153525 w 9153525"/>
              <a:gd name="connsiteY2-78" fmla="*/ 769257 h 769257"/>
              <a:gd name="connsiteX3-79" fmla="*/ 6819901 w 9153525"/>
              <a:gd name="connsiteY3-80" fmla="*/ 714375 h 769257"/>
              <a:gd name="connsiteX4-81" fmla="*/ 5276851 w 9153525"/>
              <a:gd name="connsiteY4-82" fmla="*/ 676275 h 769257"/>
              <a:gd name="connsiteX5-83" fmla="*/ 3648076 w 9153525"/>
              <a:gd name="connsiteY5-84" fmla="*/ 628650 h 769257"/>
              <a:gd name="connsiteX6-85" fmla="*/ 2038351 w 9153525"/>
              <a:gd name="connsiteY6-86" fmla="*/ 571500 h 769257"/>
              <a:gd name="connsiteX7-87" fmla="*/ 885826 w 9153525"/>
              <a:gd name="connsiteY7-88" fmla="*/ 542925 h 769257"/>
              <a:gd name="connsiteX8-89" fmla="*/ 0 w 9153525"/>
              <a:gd name="connsiteY8-90" fmla="*/ 540657 h 769257"/>
              <a:gd name="connsiteX9" fmla="*/ 9525 w 9153525"/>
              <a:gd name="connsiteY9" fmla="*/ 0 h 769257"/>
              <a:gd name="connsiteX0-91" fmla="*/ 9525 w 9153525"/>
              <a:gd name="connsiteY0-92" fmla="*/ 0 h 769257"/>
              <a:gd name="connsiteX1-93" fmla="*/ 9153525 w 9153525"/>
              <a:gd name="connsiteY1-94" fmla="*/ 0 h 769257"/>
              <a:gd name="connsiteX2-95" fmla="*/ 9153525 w 9153525"/>
              <a:gd name="connsiteY2-96" fmla="*/ 769257 h 769257"/>
              <a:gd name="connsiteX3-97" fmla="*/ 8201026 w 9153525"/>
              <a:gd name="connsiteY3-98" fmla="*/ 752475 h 769257"/>
              <a:gd name="connsiteX4-99" fmla="*/ 6819901 w 9153525"/>
              <a:gd name="connsiteY4-100" fmla="*/ 714375 h 769257"/>
              <a:gd name="connsiteX5-101" fmla="*/ 5276851 w 9153525"/>
              <a:gd name="connsiteY5-102" fmla="*/ 676275 h 769257"/>
              <a:gd name="connsiteX6-103" fmla="*/ 3648076 w 9153525"/>
              <a:gd name="connsiteY6-104" fmla="*/ 628650 h 769257"/>
              <a:gd name="connsiteX7-105" fmla="*/ 2038351 w 9153525"/>
              <a:gd name="connsiteY7-106" fmla="*/ 571500 h 769257"/>
              <a:gd name="connsiteX8-107" fmla="*/ 885826 w 9153525"/>
              <a:gd name="connsiteY8-108" fmla="*/ 542925 h 769257"/>
              <a:gd name="connsiteX9-109" fmla="*/ 0 w 9153525"/>
              <a:gd name="connsiteY9-110" fmla="*/ 540657 h 769257"/>
              <a:gd name="connsiteX10" fmla="*/ 9525 w 9153525"/>
              <a:gd name="connsiteY10" fmla="*/ 0 h 769257"/>
              <a:gd name="connsiteX0-111" fmla="*/ 9525 w 9153525"/>
              <a:gd name="connsiteY0-112" fmla="*/ 0 h 752475"/>
              <a:gd name="connsiteX1-113" fmla="*/ 9153525 w 9153525"/>
              <a:gd name="connsiteY1-114" fmla="*/ 0 h 752475"/>
              <a:gd name="connsiteX2-115" fmla="*/ 9153525 w 9153525"/>
              <a:gd name="connsiteY2-116" fmla="*/ 559707 h 752475"/>
              <a:gd name="connsiteX3-117" fmla="*/ 8201026 w 9153525"/>
              <a:gd name="connsiteY3-118" fmla="*/ 752475 h 752475"/>
              <a:gd name="connsiteX4-119" fmla="*/ 6819901 w 9153525"/>
              <a:gd name="connsiteY4-120" fmla="*/ 714375 h 752475"/>
              <a:gd name="connsiteX5-121" fmla="*/ 5276851 w 9153525"/>
              <a:gd name="connsiteY5-122" fmla="*/ 676275 h 752475"/>
              <a:gd name="connsiteX6-123" fmla="*/ 3648076 w 9153525"/>
              <a:gd name="connsiteY6-124" fmla="*/ 628650 h 752475"/>
              <a:gd name="connsiteX7-125" fmla="*/ 2038351 w 9153525"/>
              <a:gd name="connsiteY7-126" fmla="*/ 571500 h 752475"/>
              <a:gd name="connsiteX8-127" fmla="*/ 885826 w 9153525"/>
              <a:gd name="connsiteY8-128" fmla="*/ 542925 h 752475"/>
              <a:gd name="connsiteX9-129" fmla="*/ 0 w 9153525"/>
              <a:gd name="connsiteY9-130" fmla="*/ 540657 h 752475"/>
              <a:gd name="connsiteX10-131" fmla="*/ 9525 w 9153525"/>
              <a:gd name="connsiteY10-132" fmla="*/ 0 h 752475"/>
              <a:gd name="connsiteX0-133" fmla="*/ 9525 w 9153525"/>
              <a:gd name="connsiteY0-134" fmla="*/ 0 h 714375"/>
              <a:gd name="connsiteX1-135" fmla="*/ 9153525 w 9153525"/>
              <a:gd name="connsiteY1-136" fmla="*/ 0 h 714375"/>
              <a:gd name="connsiteX2-137" fmla="*/ 9153525 w 9153525"/>
              <a:gd name="connsiteY2-138" fmla="*/ 559707 h 714375"/>
              <a:gd name="connsiteX3-139" fmla="*/ 8296276 w 9153525"/>
              <a:gd name="connsiteY3-140" fmla="*/ 266700 h 714375"/>
              <a:gd name="connsiteX4-141" fmla="*/ 6819901 w 9153525"/>
              <a:gd name="connsiteY4-142" fmla="*/ 714375 h 714375"/>
              <a:gd name="connsiteX5-143" fmla="*/ 5276851 w 9153525"/>
              <a:gd name="connsiteY5-144" fmla="*/ 676275 h 714375"/>
              <a:gd name="connsiteX6-145" fmla="*/ 3648076 w 9153525"/>
              <a:gd name="connsiteY6-146" fmla="*/ 628650 h 714375"/>
              <a:gd name="connsiteX7-147" fmla="*/ 2038351 w 9153525"/>
              <a:gd name="connsiteY7-148" fmla="*/ 571500 h 714375"/>
              <a:gd name="connsiteX8-149" fmla="*/ 885826 w 9153525"/>
              <a:gd name="connsiteY8-150" fmla="*/ 542925 h 714375"/>
              <a:gd name="connsiteX9-151" fmla="*/ 0 w 9153525"/>
              <a:gd name="connsiteY9-152" fmla="*/ 540657 h 714375"/>
              <a:gd name="connsiteX10-153" fmla="*/ 9525 w 9153525"/>
              <a:gd name="connsiteY10-154" fmla="*/ 0 h 714375"/>
              <a:gd name="connsiteX0-155" fmla="*/ 9525 w 9153525"/>
              <a:gd name="connsiteY0-156" fmla="*/ 0 h 752475"/>
              <a:gd name="connsiteX1-157" fmla="*/ 9153525 w 9153525"/>
              <a:gd name="connsiteY1-158" fmla="*/ 0 h 752475"/>
              <a:gd name="connsiteX2-159" fmla="*/ 9153525 w 9153525"/>
              <a:gd name="connsiteY2-160" fmla="*/ 559707 h 752475"/>
              <a:gd name="connsiteX3-161" fmla="*/ 8296276 w 9153525"/>
              <a:gd name="connsiteY3-162" fmla="*/ 266700 h 752475"/>
              <a:gd name="connsiteX4-163" fmla="*/ 6791326 w 9153525"/>
              <a:gd name="connsiteY4-164" fmla="*/ 752475 h 752475"/>
              <a:gd name="connsiteX5-165" fmla="*/ 5276851 w 9153525"/>
              <a:gd name="connsiteY5-166" fmla="*/ 676275 h 752475"/>
              <a:gd name="connsiteX6-167" fmla="*/ 3648076 w 9153525"/>
              <a:gd name="connsiteY6-168" fmla="*/ 628650 h 752475"/>
              <a:gd name="connsiteX7-169" fmla="*/ 2038351 w 9153525"/>
              <a:gd name="connsiteY7-170" fmla="*/ 571500 h 752475"/>
              <a:gd name="connsiteX8-171" fmla="*/ 885826 w 9153525"/>
              <a:gd name="connsiteY8-172" fmla="*/ 542925 h 752475"/>
              <a:gd name="connsiteX9-173" fmla="*/ 0 w 9153525"/>
              <a:gd name="connsiteY9-174" fmla="*/ 540657 h 752475"/>
              <a:gd name="connsiteX10-175" fmla="*/ 9525 w 9153525"/>
              <a:gd name="connsiteY10-176" fmla="*/ 0 h 752475"/>
              <a:gd name="connsiteX0-177" fmla="*/ 9525 w 9153525"/>
              <a:gd name="connsiteY0-178" fmla="*/ 0 h 752475"/>
              <a:gd name="connsiteX1-179" fmla="*/ 9153525 w 9153525"/>
              <a:gd name="connsiteY1-180" fmla="*/ 0 h 752475"/>
              <a:gd name="connsiteX2-181" fmla="*/ 9153525 w 9153525"/>
              <a:gd name="connsiteY2-182" fmla="*/ 559707 h 752475"/>
              <a:gd name="connsiteX3-183" fmla="*/ 8296276 w 9153525"/>
              <a:gd name="connsiteY3-184" fmla="*/ 266700 h 752475"/>
              <a:gd name="connsiteX4-185" fmla="*/ 6791326 w 9153525"/>
              <a:gd name="connsiteY4-186" fmla="*/ 752475 h 752475"/>
              <a:gd name="connsiteX5-187" fmla="*/ 5267326 w 9153525"/>
              <a:gd name="connsiteY5-188" fmla="*/ 257175 h 752475"/>
              <a:gd name="connsiteX6-189" fmla="*/ 3648076 w 9153525"/>
              <a:gd name="connsiteY6-190" fmla="*/ 628650 h 752475"/>
              <a:gd name="connsiteX7-191" fmla="*/ 2038351 w 9153525"/>
              <a:gd name="connsiteY7-192" fmla="*/ 571500 h 752475"/>
              <a:gd name="connsiteX8-193" fmla="*/ 885826 w 9153525"/>
              <a:gd name="connsiteY8-194" fmla="*/ 542925 h 752475"/>
              <a:gd name="connsiteX9-195" fmla="*/ 0 w 9153525"/>
              <a:gd name="connsiteY9-196" fmla="*/ 540657 h 752475"/>
              <a:gd name="connsiteX10-197" fmla="*/ 9525 w 9153525"/>
              <a:gd name="connsiteY10-198" fmla="*/ 0 h 752475"/>
              <a:gd name="connsiteX0-199" fmla="*/ 9525 w 9153525"/>
              <a:gd name="connsiteY0-200" fmla="*/ 0 h 752475"/>
              <a:gd name="connsiteX1-201" fmla="*/ 9153525 w 9153525"/>
              <a:gd name="connsiteY1-202" fmla="*/ 0 h 752475"/>
              <a:gd name="connsiteX2-203" fmla="*/ 9153525 w 9153525"/>
              <a:gd name="connsiteY2-204" fmla="*/ 559707 h 752475"/>
              <a:gd name="connsiteX3-205" fmla="*/ 8296276 w 9153525"/>
              <a:gd name="connsiteY3-206" fmla="*/ 266700 h 752475"/>
              <a:gd name="connsiteX4-207" fmla="*/ 6791326 w 9153525"/>
              <a:gd name="connsiteY4-208" fmla="*/ 752475 h 752475"/>
              <a:gd name="connsiteX5-209" fmla="*/ 5267326 w 9153525"/>
              <a:gd name="connsiteY5-210" fmla="*/ 257175 h 752475"/>
              <a:gd name="connsiteX6-211" fmla="*/ 3819526 w 9153525"/>
              <a:gd name="connsiteY6-212" fmla="*/ 742950 h 752475"/>
              <a:gd name="connsiteX7-213" fmla="*/ 2038351 w 9153525"/>
              <a:gd name="connsiteY7-214" fmla="*/ 571500 h 752475"/>
              <a:gd name="connsiteX8-215" fmla="*/ 885826 w 9153525"/>
              <a:gd name="connsiteY8-216" fmla="*/ 542925 h 752475"/>
              <a:gd name="connsiteX9-217" fmla="*/ 0 w 9153525"/>
              <a:gd name="connsiteY9-218" fmla="*/ 540657 h 752475"/>
              <a:gd name="connsiteX10-219" fmla="*/ 9525 w 9153525"/>
              <a:gd name="connsiteY10-220" fmla="*/ 0 h 752475"/>
              <a:gd name="connsiteX0-221" fmla="*/ 9525 w 9153525"/>
              <a:gd name="connsiteY0-222" fmla="*/ 0 h 752475"/>
              <a:gd name="connsiteX1-223" fmla="*/ 9153525 w 9153525"/>
              <a:gd name="connsiteY1-224" fmla="*/ 0 h 752475"/>
              <a:gd name="connsiteX2-225" fmla="*/ 9153525 w 9153525"/>
              <a:gd name="connsiteY2-226" fmla="*/ 559707 h 752475"/>
              <a:gd name="connsiteX3-227" fmla="*/ 8296276 w 9153525"/>
              <a:gd name="connsiteY3-228" fmla="*/ 266700 h 752475"/>
              <a:gd name="connsiteX4-229" fmla="*/ 6791326 w 9153525"/>
              <a:gd name="connsiteY4-230" fmla="*/ 752475 h 752475"/>
              <a:gd name="connsiteX5-231" fmla="*/ 5267326 w 9153525"/>
              <a:gd name="connsiteY5-232" fmla="*/ 257175 h 752475"/>
              <a:gd name="connsiteX6-233" fmla="*/ 3819526 w 9153525"/>
              <a:gd name="connsiteY6-234" fmla="*/ 742950 h 752475"/>
              <a:gd name="connsiteX7-235" fmla="*/ 2286001 w 9153525"/>
              <a:gd name="connsiteY7-236" fmla="*/ 257175 h 752475"/>
              <a:gd name="connsiteX8-237" fmla="*/ 885826 w 9153525"/>
              <a:gd name="connsiteY8-238" fmla="*/ 542925 h 752475"/>
              <a:gd name="connsiteX9-239" fmla="*/ 0 w 9153525"/>
              <a:gd name="connsiteY9-240" fmla="*/ 540657 h 752475"/>
              <a:gd name="connsiteX10-241" fmla="*/ 9525 w 9153525"/>
              <a:gd name="connsiteY10-242" fmla="*/ 0 h 752475"/>
              <a:gd name="connsiteX0-243" fmla="*/ 9525 w 9153525"/>
              <a:gd name="connsiteY0-244" fmla="*/ 0 h 790575"/>
              <a:gd name="connsiteX1-245" fmla="*/ 9153525 w 9153525"/>
              <a:gd name="connsiteY1-246" fmla="*/ 0 h 790575"/>
              <a:gd name="connsiteX2-247" fmla="*/ 9153525 w 9153525"/>
              <a:gd name="connsiteY2-248" fmla="*/ 559707 h 790575"/>
              <a:gd name="connsiteX3-249" fmla="*/ 8296276 w 9153525"/>
              <a:gd name="connsiteY3-250" fmla="*/ 266700 h 790575"/>
              <a:gd name="connsiteX4-251" fmla="*/ 6791326 w 9153525"/>
              <a:gd name="connsiteY4-252" fmla="*/ 752475 h 790575"/>
              <a:gd name="connsiteX5-253" fmla="*/ 5267326 w 9153525"/>
              <a:gd name="connsiteY5-254" fmla="*/ 257175 h 790575"/>
              <a:gd name="connsiteX6-255" fmla="*/ 3819526 w 9153525"/>
              <a:gd name="connsiteY6-256" fmla="*/ 742950 h 790575"/>
              <a:gd name="connsiteX7-257" fmla="*/ 2286001 w 9153525"/>
              <a:gd name="connsiteY7-258" fmla="*/ 257175 h 790575"/>
              <a:gd name="connsiteX8-259" fmla="*/ 800101 w 9153525"/>
              <a:gd name="connsiteY8-260" fmla="*/ 790575 h 790575"/>
              <a:gd name="connsiteX9-261" fmla="*/ 0 w 9153525"/>
              <a:gd name="connsiteY9-262" fmla="*/ 540657 h 790575"/>
              <a:gd name="connsiteX10-263" fmla="*/ 9525 w 9153525"/>
              <a:gd name="connsiteY10-264" fmla="*/ 0 h 790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 ang="0">
                <a:pos x="connsiteX6-55" y="connsiteY6-56"/>
              </a:cxn>
              <a:cxn ang="0">
                <a:pos x="connsiteX7-71" y="connsiteY7-72"/>
              </a:cxn>
              <a:cxn ang="0">
                <a:pos x="connsiteX8-89" y="connsiteY8-90"/>
              </a:cxn>
              <a:cxn ang="0">
                <a:pos x="connsiteX9-109" y="connsiteY9-110"/>
              </a:cxn>
              <a:cxn ang="0">
                <a:pos x="connsiteX10-131" y="connsiteY10-132"/>
              </a:cxn>
            </a:cxnLst>
            <a:rect l="l" t="t" r="r" b="b"/>
            <a:pathLst>
              <a:path w="9153525" h="790575">
                <a:moveTo>
                  <a:pt x="9525" y="0"/>
                </a:moveTo>
                <a:lnTo>
                  <a:pt x="9153525" y="0"/>
                </a:lnTo>
                <a:lnTo>
                  <a:pt x="9153525" y="559707"/>
                </a:lnTo>
                <a:lnTo>
                  <a:pt x="8296276" y="266700"/>
                </a:lnTo>
                <a:lnTo>
                  <a:pt x="6791326" y="752475"/>
                </a:lnTo>
                <a:lnTo>
                  <a:pt x="5267326" y="257175"/>
                </a:lnTo>
                <a:lnTo>
                  <a:pt x="3819526" y="742950"/>
                </a:lnTo>
                <a:lnTo>
                  <a:pt x="2286001" y="257175"/>
                </a:lnTo>
                <a:lnTo>
                  <a:pt x="800101" y="790575"/>
                </a:lnTo>
                <a:lnTo>
                  <a:pt x="0" y="540657"/>
                </a:lnTo>
                <a:lnTo>
                  <a:pt x="9525" y="0"/>
                </a:lnTo>
                <a:close/>
              </a:path>
            </a:pathLst>
          </a:custGeom>
          <a:solidFill>
            <a:srgbClr val="4BA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83BD48-1813-4BF3-AEF5-A3C42B2B615C}"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2"/>
          <p:cNvSpPr/>
          <p:nvPr userDrawn="1"/>
        </p:nvSpPr>
        <p:spPr>
          <a:xfrm>
            <a:off x="-9526" y="0"/>
            <a:ext cx="9153525" cy="648000"/>
          </a:xfrm>
          <a:custGeom>
            <a:avLst/>
            <a:gdLst>
              <a:gd name="connsiteX0" fmla="*/ 0 w 9144000"/>
              <a:gd name="connsiteY0" fmla="*/ 0 h 769257"/>
              <a:gd name="connsiteX1" fmla="*/ 9144000 w 9144000"/>
              <a:gd name="connsiteY1" fmla="*/ 0 h 769257"/>
              <a:gd name="connsiteX2" fmla="*/ 9144000 w 9144000"/>
              <a:gd name="connsiteY2" fmla="*/ 769257 h 769257"/>
              <a:gd name="connsiteX3" fmla="*/ 0 w 9144000"/>
              <a:gd name="connsiteY3" fmla="*/ 769257 h 769257"/>
              <a:gd name="connsiteX4" fmla="*/ 0 w 9144000"/>
              <a:gd name="connsiteY4" fmla="*/ 0 h 769257"/>
              <a:gd name="connsiteX0-1" fmla="*/ 9525 w 9153525"/>
              <a:gd name="connsiteY0-2" fmla="*/ 0 h 769257"/>
              <a:gd name="connsiteX1-3" fmla="*/ 9153525 w 9153525"/>
              <a:gd name="connsiteY1-4" fmla="*/ 0 h 769257"/>
              <a:gd name="connsiteX2-5" fmla="*/ 9153525 w 9153525"/>
              <a:gd name="connsiteY2-6" fmla="*/ 769257 h 769257"/>
              <a:gd name="connsiteX3-7" fmla="*/ 0 w 9153525"/>
              <a:gd name="connsiteY3-8" fmla="*/ 521607 h 769257"/>
              <a:gd name="connsiteX4-9" fmla="*/ 9525 w 9153525"/>
              <a:gd name="connsiteY4-10" fmla="*/ 0 h 769257"/>
              <a:gd name="connsiteX0-11" fmla="*/ 9525 w 9153525"/>
              <a:gd name="connsiteY0-12" fmla="*/ 0 h 769257"/>
              <a:gd name="connsiteX1-13" fmla="*/ 9153525 w 9153525"/>
              <a:gd name="connsiteY1-14" fmla="*/ 0 h 769257"/>
              <a:gd name="connsiteX2-15" fmla="*/ 9153525 w 9153525"/>
              <a:gd name="connsiteY2-16" fmla="*/ 769257 h 769257"/>
              <a:gd name="connsiteX3-17" fmla="*/ 0 w 9153525"/>
              <a:gd name="connsiteY3-18" fmla="*/ 540657 h 769257"/>
              <a:gd name="connsiteX4-19" fmla="*/ 9525 w 9153525"/>
              <a:gd name="connsiteY4-20" fmla="*/ 0 h 769257"/>
              <a:gd name="connsiteX0-21" fmla="*/ 9525 w 9153525"/>
              <a:gd name="connsiteY0-22" fmla="*/ 0 h 769257"/>
              <a:gd name="connsiteX1-23" fmla="*/ 9153525 w 9153525"/>
              <a:gd name="connsiteY1-24" fmla="*/ 0 h 769257"/>
              <a:gd name="connsiteX2-25" fmla="*/ 9153525 w 9153525"/>
              <a:gd name="connsiteY2-26" fmla="*/ 769257 h 769257"/>
              <a:gd name="connsiteX3-27" fmla="*/ 885826 w 9153525"/>
              <a:gd name="connsiteY3-28" fmla="*/ 542925 h 769257"/>
              <a:gd name="connsiteX4-29" fmla="*/ 0 w 9153525"/>
              <a:gd name="connsiteY4-30" fmla="*/ 540657 h 769257"/>
              <a:gd name="connsiteX5" fmla="*/ 9525 w 9153525"/>
              <a:gd name="connsiteY5" fmla="*/ 0 h 769257"/>
              <a:gd name="connsiteX0-31" fmla="*/ 9525 w 9153525"/>
              <a:gd name="connsiteY0-32" fmla="*/ 0 h 769257"/>
              <a:gd name="connsiteX1-33" fmla="*/ 9153525 w 9153525"/>
              <a:gd name="connsiteY1-34" fmla="*/ 0 h 769257"/>
              <a:gd name="connsiteX2-35" fmla="*/ 9153525 w 9153525"/>
              <a:gd name="connsiteY2-36" fmla="*/ 769257 h 769257"/>
              <a:gd name="connsiteX3-37" fmla="*/ 2038351 w 9153525"/>
              <a:gd name="connsiteY3-38" fmla="*/ 571500 h 769257"/>
              <a:gd name="connsiteX4-39" fmla="*/ 885826 w 9153525"/>
              <a:gd name="connsiteY4-40" fmla="*/ 542925 h 769257"/>
              <a:gd name="connsiteX5-41" fmla="*/ 0 w 9153525"/>
              <a:gd name="connsiteY5-42" fmla="*/ 540657 h 769257"/>
              <a:gd name="connsiteX6" fmla="*/ 9525 w 9153525"/>
              <a:gd name="connsiteY6" fmla="*/ 0 h 769257"/>
              <a:gd name="connsiteX0-43" fmla="*/ 9525 w 9153525"/>
              <a:gd name="connsiteY0-44" fmla="*/ 0 h 769257"/>
              <a:gd name="connsiteX1-45" fmla="*/ 9153525 w 9153525"/>
              <a:gd name="connsiteY1-46" fmla="*/ 0 h 769257"/>
              <a:gd name="connsiteX2-47" fmla="*/ 9153525 w 9153525"/>
              <a:gd name="connsiteY2-48" fmla="*/ 769257 h 769257"/>
              <a:gd name="connsiteX3-49" fmla="*/ 3648076 w 9153525"/>
              <a:gd name="connsiteY3-50" fmla="*/ 628650 h 769257"/>
              <a:gd name="connsiteX4-51" fmla="*/ 2038351 w 9153525"/>
              <a:gd name="connsiteY4-52" fmla="*/ 571500 h 769257"/>
              <a:gd name="connsiteX5-53" fmla="*/ 885826 w 9153525"/>
              <a:gd name="connsiteY5-54" fmla="*/ 542925 h 769257"/>
              <a:gd name="connsiteX6-55" fmla="*/ 0 w 9153525"/>
              <a:gd name="connsiteY6-56" fmla="*/ 540657 h 769257"/>
              <a:gd name="connsiteX7" fmla="*/ 9525 w 9153525"/>
              <a:gd name="connsiteY7" fmla="*/ 0 h 769257"/>
              <a:gd name="connsiteX0-57" fmla="*/ 9525 w 9153525"/>
              <a:gd name="connsiteY0-58" fmla="*/ 0 h 769257"/>
              <a:gd name="connsiteX1-59" fmla="*/ 9153525 w 9153525"/>
              <a:gd name="connsiteY1-60" fmla="*/ 0 h 769257"/>
              <a:gd name="connsiteX2-61" fmla="*/ 9153525 w 9153525"/>
              <a:gd name="connsiteY2-62" fmla="*/ 769257 h 769257"/>
              <a:gd name="connsiteX3-63" fmla="*/ 5276851 w 9153525"/>
              <a:gd name="connsiteY3-64" fmla="*/ 676275 h 769257"/>
              <a:gd name="connsiteX4-65" fmla="*/ 3648076 w 9153525"/>
              <a:gd name="connsiteY4-66" fmla="*/ 628650 h 769257"/>
              <a:gd name="connsiteX5-67" fmla="*/ 2038351 w 9153525"/>
              <a:gd name="connsiteY5-68" fmla="*/ 571500 h 769257"/>
              <a:gd name="connsiteX6-69" fmla="*/ 885826 w 9153525"/>
              <a:gd name="connsiteY6-70" fmla="*/ 542925 h 769257"/>
              <a:gd name="connsiteX7-71" fmla="*/ 0 w 9153525"/>
              <a:gd name="connsiteY7-72" fmla="*/ 540657 h 769257"/>
              <a:gd name="connsiteX8" fmla="*/ 9525 w 9153525"/>
              <a:gd name="connsiteY8" fmla="*/ 0 h 769257"/>
              <a:gd name="connsiteX0-73" fmla="*/ 9525 w 9153525"/>
              <a:gd name="connsiteY0-74" fmla="*/ 0 h 769257"/>
              <a:gd name="connsiteX1-75" fmla="*/ 9153525 w 9153525"/>
              <a:gd name="connsiteY1-76" fmla="*/ 0 h 769257"/>
              <a:gd name="connsiteX2-77" fmla="*/ 9153525 w 9153525"/>
              <a:gd name="connsiteY2-78" fmla="*/ 769257 h 769257"/>
              <a:gd name="connsiteX3-79" fmla="*/ 6819901 w 9153525"/>
              <a:gd name="connsiteY3-80" fmla="*/ 714375 h 769257"/>
              <a:gd name="connsiteX4-81" fmla="*/ 5276851 w 9153525"/>
              <a:gd name="connsiteY4-82" fmla="*/ 676275 h 769257"/>
              <a:gd name="connsiteX5-83" fmla="*/ 3648076 w 9153525"/>
              <a:gd name="connsiteY5-84" fmla="*/ 628650 h 769257"/>
              <a:gd name="connsiteX6-85" fmla="*/ 2038351 w 9153525"/>
              <a:gd name="connsiteY6-86" fmla="*/ 571500 h 769257"/>
              <a:gd name="connsiteX7-87" fmla="*/ 885826 w 9153525"/>
              <a:gd name="connsiteY7-88" fmla="*/ 542925 h 769257"/>
              <a:gd name="connsiteX8-89" fmla="*/ 0 w 9153525"/>
              <a:gd name="connsiteY8-90" fmla="*/ 540657 h 769257"/>
              <a:gd name="connsiteX9" fmla="*/ 9525 w 9153525"/>
              <a:gd name="connsiteY9" fmla="*/ 0 h 769257"/>
              <a:gd name="connsiteX0-91" fmla="*/ 9525 w 9153525"/>
              <a:gd name="connsiteY0-92" fmla="*/ 0 h 769257"/>
              <a:gd name="connsiteX1-93" fmla="*/ 9153525 w 9153525"/>
              <a:gd name="connsiteY1-94" fmla="*/ 0 h 769257"/>
              <a:gd name="connsiteX2-95" fmla="*/ 9153525 w 9153525"/>
              <a:gd name="connsiteY2-96" fmla="*/ 769257 h 769257"/>
              <a:gd name="connsiteX3-97" fmla="*/ 8201026 w 9153525"/>
              <a:gd name="connsiteY3-98" fmla="*/ 752475 h 769257"/>
              <a:gd name="connsiteX4-99" fmla="*/ 6819901 w 9153525"/>
              <a:gd name="connsiteY4-100" fmla="*/ 714375 h 769257"/>
              <a:gd name="connsiteX5-101" fmla="*/ 5276851 w 9153525"/>
              <a:gd name="connsiteY5-102" fmla="*/ 676275 h 769257"/>
              <a:gd name="connsiteX6-103" fmla="*/ 3648076 w 9153525"/>
              <a:gd name="connsiteY6-104" fmla="*/ 628650 h 769257"/>
              <a:gd name="connsiteX7-105" fmla="*/ 2038351 w 9153525"/>
              <a:gd name="connsiteY7-106" fmla="*/ 571500 h 769257"/>
              <a:gd name="connsiteX8-107" fmla="*/ 885826 w 9153525"/>
              <a:gd name="connsiteY8-108" fmla="*/ 542925 h 769257"/>
              <a:gd name="connsiteX9-109" fmla="*/ 0 w 9153525"/>
              <a:gd name="connsiteY9-110" fmla="*/ 540657 h 769257"/>
              <a:gd name="connsiteX10" fmla="*/ 9525 w 9153525"/>
              <a:gd name="connsiteY10" fmla="*/ 0 h 769257"/>
              <a:gd name="connsiteX0-111" fmla="*/ 9525 w 9153525"/>
              <a:gd name="connsiteY0-112" fmla="*/ 0 h 752475"/>
              <a:gd name="connsiteX1-113" fmla="*/ 9153525 w 9153525"/>
              <a:gd name="connsiteY1-114" fmla="*/ 0 h 752475"/>
              <a:gd name="connsiteX2-115" fmla="*/ 9153525 w 9153525"/>
              <a:gd name="connsiteY2-116" fmla="*/ 559707 h 752475"/>
              <a:gd name="connsiteX3-117" fmla="*/ 8201026 w 9153525"/>
              <a:gd name="connsiteY3-118" fmla="*/ 752475 h 752475"/>
              <a:gd name="connsiteX4-119" fmla="*/ 6819901 w 9153525"/>
              <a:gd name="connsiteY4-120" fmla="*/ 714375 h 752475"/>
              <a:gd name="connsiteX5-121" fmla="*/ 5276851 w 9153525"/>
              <a:gd name="connsiteY5-122" fmla="*/ 676275 h 752475"/>
              <a:gd name="connsiteX6-123" fmla="*/ 3648076 w 9153525"/>
              <a:gd name="connsiteY6-124" fmla="*/ 628650 h 752475"/>
              <a:gd name="connsiteX7-125" fmla="*/ 2038351 w 9153525"/>
              <a:gd name="connsiteY7-126" fmla="*/ 571500 h 752475"/>
              <a:gd name="connsiteX8-127" fmla="*/ 885826 w 9153525"/>
              <a:gd name="connsiteY8-128" fmla="*/ 542925 h 752475"/>
              <a:gd name="connsiteX9-129" fmla="*/ 0 w 9153525"/>
              <a:gd name="connsiteY9-130" fmla="*/ 540657 h 752475"/>
              <a:gd name="connsiteX10-131" fmla="*/ 9525 w 9153525"/>
              <a:gd name="connsiteY10-132" fmla="*/ 0 h 752475"/>
              <a:gd name="connsiteX0-133" fmla="*/ 9525 w 9153525"/>
              <a:gd name="connsiteY0-134" fmla="*/ 0 h 714375"/>
              <a:gd name="connsiteX1-135" fmla="*/ 9153525 w 9153525"/>
              <a:gd name="connsiteY1-136" fmla="*/ 0 h 714375"/>
              <a:gd name="connsiteX2-137" fmla="*/ 9153525 w 9153525"/>
              <a:gd name="connsiteY2-138" fmla="*/ 559707 h 714375"/>
              <a:gd name="connsiteX3-139" fmla="*/ 8296276 w 9153525"/>
              <a:gd name="connsiteY3-140" fmla="*/ 266700 h 714375"/>
              <a:gd name="connsiteX4-141" fmla="*/ 6819901 w 9153525"/>
              <a:gd name="connsiteY4-142" fmla="*/ 714375 h 714375"/>
              <a:gd name="connsiteX5-143" fmla="*/ 5276851 w 9153525"/>
              <a:gd name="connsiteY5-144" fmla="*/ 676275 h 714375"/>
              <a:gd name="connsiteX6-145" fmla="*/ 3648076 w 9153525"/>
              <a:gd name="connsiteY6-146" fmla="*/ 628650 h 714375"/>
              <a:gd name="connsiteX7-147" fmla="*/ 2038351 w 9153525"/>
              <a:gd name="connsiteY7-148" fmla="*/ 571500 h 714375"/>
              <a:gd name="connsiteX8-149" fmla="*/ 885826 w 9153525"/>
              <a:gd name="connsiteY8-150" fmla="*/ 542925 h 714375"/>
              <a:gd name="connsiteX9-151" fmla="*/ 0 w 9153525"/>
              <a:gd name="connsiteY9-152" fmla="*/ 540657 h 714375"/>
              <a:gd name="connsiteX10-153" fmla="*/ 9525 w 9153525"/>
              <a:gd name="connsiteY10-154" fmla="*/ 0 h 714375"/>
              <a:gd name="connsiteX0-155" fmla="*/ 9525 w 9153525"/>
              <a:gd name="connsiteY0-156" fmla="*/ 0 h 752475"/>
              <a:gd name="connsiteX1-157" fmla="*/ 9153525 w 9153525"/>
              <a:gd name="connsiteY1-158" fmla="*/ 0 h 752475"/>
              <a:gd name="connsiteX2-159" fmla="*/ 9153525 w 9153525"/>
              <a:gd name="connsiteY2-160" fmla="*/ 559707 h 752475"/>
              <a:gd name="connsiteX3-161" fmla="*/ 8296276 w 9153525"/>
              <a:gd name="connsiteY3-162" fmla="*/ 266700 h 752475"/>
              <a:gd name="connsiteX4-163" fmla="*/ 6791326 w 9153525"/>
              <a:gd name="connsiteY4-164" fmla="*/ 752475 h 752475"/>
              <a:gd name="connsiteX5-165" fmla="*/ 5276851 w 9153525"/>
              <a:gd name="connsiteY5-166" fmla="*/ 676275 h 752475"/>
              <a:gd name="connsiteX6-167" fmla="*/ 3648076 w 9153525"/>
              <a:gd name="connsiteY6-168" fmla="*/ 628650 h 752475"/>
              <a:gd name="connsiteX7-169" fmla="*/ 2038351 w 9153525"/>
              <a:gd name="connsiteY7-170" fmla="*/ 571500 h 752475"/>
              <a:gd name="connsiteX8-171" fmla="*/ 885826 w 9153525"/>
              <a:gd name="connsiteY8-172" fmla="*/ 542925 h 752475"/>
              <a:gd name="connsiteX9-173" fmla="*/ 0 w 9153525"/>
              <a:gd name="connsiteY9-174" fmla="*/ 540657 h 752475"/>
              <a:gd name="connsiteX10-175" fmla="*/ 9525 w 9153525"/>
              <a:gd name="connsiteY10-176" fmla="*/ 0 h 752475"/>
              <a:gd name="connsiteX0-177" fmla="*/ 9525 w 9153525"/>
              <a:gd name="connsiteY0-178" fmla="*/ 0 h 752475"/>
              <a:gd name="connsiteX1-179" fmla="*/ 9153525 w 9153525"/>
              <a:gd name="connsiteY1-180" fmla="*/ 0 h 752475"/>
              <a:gd name="connsiteX2-181" fmla="*/ 9153525 w 9153525"/>
              <a:gd name="connsiteY2-182" fmla="*/ 559707 h 752475"/>
              <a:gd name="connsiteX3-183" fmla="*/ 8296276 w 9153525"/>
              <a:gd name="connsiteY3-184" fmla="*/ 266700 h 752475"/>
              <a:gd name="connsiteX4-185" fmla="*/ 6791326 w 9153525"/>
              <a:gd name="connsiteY4-186" fmla="*/ 752475 h 752475"/>
              <a:gd name="connsiteX5-187" fmla="*/ 5267326 w 9153525"/>
              <a:gd name="connsiteY5-188" fmla="*/ 257175 h 752475"/>
              <a:gd name="connsiteX6-189" fmla="*/ 3648076 w 9153525"/>
              <a:gd name="connsiteY6-190" fmla="*/ 628650 h 752475"/>
              <a:gd name="connsiteX7-191" fmla="*/ 2038351 w 9153525"/>
              <a:gd name="connsiteY7-192" fmla="*/ 571500 h 752475"/>
              <a:gd name="connsiteX8-193" fmla="*/ 885826 w 9153525"/>
              <a:gd name="connsiteY8-194" fmla="*/ 542925 h 752475"/>
              <a:gd name="connsiteX9-195" fmla="*/ 0 w 9153525"/>
              <a:gd name="connsiteY9-196" fmla="*/ 540657 h 752475"/>
              <a:gd name="connsiteX10-197" fmla="*/ 9525 w 9153525"/>
              <a:gd name="connsiteY10-198" fmla="*/ 0 h 752475"/>
              <a:gd name="connsiteX0-199" fmla="*/ 9525 w 9153525"/>
              <a:gd name="connsiteY0-200" fmla="*/ 0 h 752475"/>
              <a:gd name="connsiteX1-201" fmla="*/ 9153525 w 9153525"/>
              <a:gd name="connsiteY1-202" fmla="*/ 0 h 752475"/>
              <a:gd name="connsiteX2-203" fmla="*/ 9153525 w 9153525"/>
              <a:gd name="connsiteY2-204" fmla="*/ 559707 h 752475"/>
              <a:gd name="connsiteX3-205" fmla="*/ 8296276 w 9153525"/>
              <a:gd name="connsiteY3-206" fmla="*/ 266700 h 752475"/>
              <a:gd name="connsiteX4-207" fmla="*/ 6791326 w 9153525"/>
              <a:gd name="connsiteY4-208" fmla="*/ 752475 h 752475"/>
              <a:gd name="connsiteX5-209" fmla="*/ 5267326 w 9153525"/>
              <a:gd name="connsiteY5-210" fmla="*/ 257175 h 752475"/>
              <a:gd name="connsiteX6-211" fmla="*/ 3819526 w 9153525"/>
              <a:gd name="connsiteY6-212" fmla="*/ 742950 h 752475"/>
              <a:gd name="connsiteX7-213" fmla="*/ 2038351 w 9153525"/>
              <a:gd name="connsiteY7-214" fmla="*/ 571500 h 752475"/>
              <a:gd name="connsiteX8-215" fmla="*/ 885826 w 9153525"/>
              <a:gd name="connsiteY8-216" fmla="*/ 542925 h 752475"/>
              <a:gd name="connsiteX9-217" fmla="*/ 0 w 9153525"/>
              <a:gd name="connsiteY9-218" fmla="*/ 540657 h 752475"/>
              <a:gd name="connsiteX10-219" fmla="*/ 9525 w 9153525"/>
              <a:gd name="connsiteY10-220" fmla="*/ 0 h 752475"/>
              <a:gd name="connsiteX0-221" fmla="*/ 9525 w 9153525"/>
              <a:gd name="connsiteY0-222" fmla="*/ 0 h 752475"/>
              <a:gd name="connsiteX1-223" fmla="*/ 9153525 w 9153525"/>
              <a:gd name="connsiteY1-224" fmla="*/ 0 h 752475"/>
              <a:gd name="connsiteX2-225" fmla="*/ 9153525 w 9153525"/>
              <a:gd name="connsiteY2-226" fmla="*/ 559707 h 752475"/>
              <a:gd name="connsiteX3-227" fmla="*/ 8296276 w 9153525"/>
              <a:gd name="connsiteY3-228" fmla="*/ 266700 h 752475"/>
              <a:gd name="connsiteX4-229" fmla="*/ 6791326 w 9153525"/>
              <a:gd name="connsiteY4-230" fmla="*/ 752475 h 752475"/>
              <a:gd name="connsiteX5-231" fmla="*/ 5267326 w 9153525"/>
              <a:gd name="connsiteY5-232" fmla="*/ 257175 h 752475"/>
              <a:gd name="connsiteX6-233" fmla="*/ 3819526 w 9153525"/>
              <a:gd name="connsiteY6-234" fmla="*/ 742950 h 752475"/>
              <a:gd name="connsiteX7-235" fmla="*/ 2286001 w 9153525"/>
              <a:gd name="connsiteY7-236" fmla="*/ 257175 h 752475"/>
              <a:gd name="connsiteX8-237" fmla="*/ 885826 w 9153525"/>
              <a:gd name="connsiteY8-238" fmla="*/ 542925 h 752475"/>
              <a:gd name="connsiteX9-239" fmla="*/ 0 w 9153525"/>
              <a:gd name="connsiteY9-240" fmla="*/ 540657 h 752475"/>
              <a:gd name="connsiteX10-241" fmla="*/ 9525 w 9153525"/>
              <a:gd name="connsiteY10-242" fmla="*/ 0 h 752475"/>
              <a:gd name="connsiteX0-243" fmla="*/ 9525 w 9153525"/>
              <a:gd name="connsiteY0-244" fmla="*/ 0 h 790575"/>
              <a:gd name="connsiteX1-245" fmla="*/ 9153525 w 9153525"/>
              <a:gd name="connsiteY1-246" fmla="*/ 0 h 790575"/>
              <a:gd name="connsiteX2-247" fmla="*/ 9153525 w 9153525"/>
              <a:gd name="connsiteY2-248" fmla="*/ 559707 h 790575"/>
              <a:gd name="connsiteX3-249" fmla="*/ 8296276 w 9153525"/>
              <a:gd name="connsiteY3-250" fmla="*/ 266700 h 790575"/>
              <a:gd name="connsiteX4-251" fmla="*/ 6791326 w 9153525"/>
              <a:gd name="connsiteY4-252" fmla="*/ 752475 h 790575"/>
              <a:gd name="connsiteX5-253" fmla="*/ 5267326 w 9153525"/>
              <a:gd name="connsiteY5-254" fmla="*/ 257175 h 790575"/>
              <a:gd name="connsiteX6-255" fmla="*/ 3819526 w 9153525"/>
              <a:gd name="connsiteY6-256" fmla="*/ 742950 h 790575"/>
              <a:gd name="connsiteX7-257" fmla="*/ 2286001 w 9153525"/>
              <a:gd name="connsiteY7-258" fmla="*/ 257175 h 790575"/>
              <a:gd name="connsiteX8-259" fmla="*/ 800101 w 9153525"/>
              <a:gd name="connsiteY8-260" fmla="*/ 790575 h 790575"/>
              <a:gd name="connsiteX9-261" fmla="*/ 0 w 9153525"/>
              <a:gd name="connsiteY9-262" fmla="*/ 540657 h 790575"/>
              <a:gd name="connsiteX10-263" fmla="*/ 9525 w 9153525"/>
              <a:gd name="connsiteY10-264" fmla="*/ 0 h 790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 ang="0">
                <a:pos x="connsiteX6-55" y="connsiteY6-56"/>
              </a:cxn>
              <a:cxn ang="0">
                <a:pos x="connsiteX7-71" y="connsiteY7-72"/>
              </a:cxn>
              <a:cxn ang="0">
                <a:pos x="connsiteX8-89" y="connsiteY8-90"/>
              </a:cxn>
              <a:cxn ang="0">
                <a:pos x="connsiteX9-109" y="connsiteY9-110"/>
              </a:cxn>
              <a:cxn ang="0">
                <a:pos x="connsiteX10-131" y="connsiteY10-132"/>
              </a:cxn>
            </a:cxnLst>
            <a:rect l="l" t="t" r="r" b="b"/>
            <a:pathLst>
              <a:path w="9153525" h="790575">
                <a:moveTo>
                  <a:pt x="9525" y="0"/>
                </a:moveTo>
                <a:lnTo>
                  <a:pt x="9153525" y="0"/>
                </a:lnTo>
                <a:lnTo>
                  <a:pt x="9153525" y="559707"/>
                </a:lnTo>
                <a:lnTo>
                  <a:pt x="8296276" y="266700"/>
                </a:lnTo>
                <a:lnTo>
                  <a:pt x="6791326" y="752475"/>
                </a:lnTo>
                <a:lnTo>
                  <a:pt x="5267326" y="257175"/>
                </a:lnTo>
                <a:lnTo>
                  <a:pt x="3819526" y="742950"/>
                </a:lnTo>
                <a:lnTo>
                  <a:pt x="2286001" y="257175"/>
                </a:lnTo>
                <a:lnTo>
                  <a:pt x="800101" y="790575"/>
                </a:lnTo>
                <a:lnTo>
                  <a:pt x="0" y="540657"/>
                </a:lnTo>
                <a:lnTo>
                  <a:pt x="9525" y="0"/>
                </a:ln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2"/>
          <p:cNvSpPr/>
          <p:nvPr userDrawn="1"/>
        </p:nvSpPr>
        <p:spPr>
          <a:xfrm flipH="1" flipV="1">
            <a:off x="-9526" y="4495500"/>
            <a:ext cx="9153525" cy="648000"/>
          </a:xfrm>
          <a:custGeom>
            <a:avLst/>
            <a:gdLst>
              <a:gd name="connsiteX0" fmla="*/ 0 w 9144000"/>
              <a:gd name="connsiteY0" fmla="*/ 0 h 769257"/>
              <a:gd name="connsiteX1" fmla="*/ 9144000 w 9144000"/>
              <a:gd name="connsiteY1" fmla="*/ 0 h 769257"/>
              <a:gd name="connsiteX2" fmla="*/ 9144000 w 9144000"/>
              <a:gd name="connsiteY2" fmla="*/ 769257 h 769257"/>
              <a:gd name="connsiteX3" fmla="*/ 0 w 9144000"/>
              <a:gd name="connsiteY3" fmla="*/ 769257 h 769257"/>
              <a:gd name="connsiteX4" fmla="*/ 0 w 9144000"/>
              <a:gd name="connsiteY4" fmla="*/ 0 h 769257"/>
              <a:gd name="connsiteX0-1" fmla="*/ 9525 w 9153525"/>
              <a:gd name="connsiteY0-2" fmla="*/ 0 h 769257"/>
              <a:gd name="connsiteX1-3" fmla="*/ 9153525 w 9153525"/>
              <a:gd name="connsiteY1-4" fmla="*/ 0 h 769257"/>
              <a:gd name="connsiteX2-5" fmla="*/ 9153525 w 9153525"/>
              <a:gd name="connsiteY2-6" fmla="*/ 769257 h 769257"/>
              <a:gd name="connsiteX3-7" fmla="*/ 0 w 9153525"/>
              <a:gd name="connsiteY3-8" fmla="*/ 521607 h 769257"/>
              <a:gd name="connsiteX4-9" fmla="*/ 9525 w 9153525"/>
              <a:gd name="connsiteY4-10" fmla="*/ 0 h 769257"/>
              <a:gd name="connsiteX0-11" fmla="*/ 9525 w 9153525"/>
              <a:gd name="connsiteY0-12" fmla="*/ 0 h 769257"/>
              <a:gd name="connsiteX1-13" fmla="*/ 9153525 w 9153525"/>
              <a:gd name="connsiteY1-14" fmla="*/ 0 h 769257"/>
              <a:gd name="connsiteX2-15" fmla="*/ 9153525 w 9153525"/>
              <a:gd name="connsiteY2-16" fmla="*/ 769257 h 769257"/>
              <a:gd name="connsiteX3-17" fmla="*/ 0 w 9153525"/>
              <a:gd name="connsiteY3-18" fmla="*/ 540657 h 769257"/>
              <a:gd name="connsiteX4-19" fmla="*/ 9525 w 9153525"/>
              <a:gd name="connsiteY4-20" fmla="*/ 0 h 769257"/>
              <a:gd name="connsiteX0-21" fmla="*/ 9525 w 9153525"/>
              <a:gd name="connsiteY0-22" fmla="*/ 0 h 769257"/>
              <a:gd name="connsiteX1-23" fmla="*/ 9153525 w 9153525"/>
              <a:gd name="connsiteY1-24" fmla="*/ 0 h 769257"/>
              <a:gd name="connsiteX2-25" fmla="*/ 9153525 w 9153525"/>
              <a:gd name="connsiteY2-26" fmla="*/ 769257 h 769257"/>
              <a:gd name="connsiteX3-27" fmla="*/ 885826 w 9153525"/>
              <a:gd name="connsiteY3-28" fmla="*/ 542925 h 769257"/>
              <a:gd name="connsiteX4-29" fmla="*/ 0 w 9153525"/>
              <a:gd name="connsiteY4-30" fmla="*/ 540657 h 769257"/>
              <a:gd name="connsiteX5" fmla="*/ 9525 w 9153525"/>
              <a:gd name="connsiteY5" fmla="*/ 0 h 769257"/>
              <a:gd name="connsiteX0-31" fmla="*/ 9525 w 9153525"/>
              <a:gd name="connsiteY0-32" fmla="*/ 0 h 769257"/>
              <a:gd name="connsiteX1-33" fmla="*/ 9153525 w 9153525"/>
              <a:gd name="connsiteY1-34" fmla="*/ 0 h 769257"/>
              <a:gd name="connsiteX2-35" fmla="*/ 9153525 w 9153525"/>
              <a:gd name="connsiteY2-36" fmla="*/ 769257 h 769257"/>
              <a:gd name="connsiteX3-37" fmla="*/ 2038351 w 9153525"/>
              <a:gd name="connsiteY3-38" fmla="*/ 571500 h 769257"/>
              <a:gd name="connsiteX4-39" fmla="*/ 885826 w 9153525"/>
              <a:gd name="connsiteY4-40" fmla="*/ 542925 h 769257"/>
              <a:gd name="connsiteX5-41" fmla="*/ 0 w 9153525"/>
              <a:gd name="connsiteY5-42" fmla="*/ 540657 h 769257"/>
              <a:gd name="connsiteX6" fmla="*/ 9525 w 9153525"/>
              <a:gd name="connsiteY6" fmla="*/ 0 h 769257"/>
              <a:gd name="connsiteX0-43" fmla="*/ 9525 w 9153525"/>
              <a:gd name="connsiteY0-44" fmla="*/ 0 h 769257"/>
              <a:gd name="connsiteX1-45" fmla="*/ 9153525 w 9153525"/>
              <a:gd name="connsiteY1-46" fmla="*/ 0 h 769257"/>
              <a:gd name="connsiteX2-47" fmla="*/ 9153525 w 9153525"/>
              <a:gd name="connsiteY2-48" fmla="*/ 769257 h 769257"/>
              <a:gd name="connsiteX3-49" fmla="*/ 3648076 w 9153525"/>
              <a:gd name="connsiteY3-50" fmla="*/ 628650 h 769257"/>
              <a:gd name="connsiteX4-51" fmla="*/ 2038351 w 9153525"/>
              <a:gd name="connsiteY4-52" fmla="*/ 571500 h 769257"/>
              <a:gd name="connsiteX5-53" fmla="*/ 885826 w 9153525"/>
              <a:gd name="connsiteY5-54" fmla="*/ 542925 h 769257"/>
              <a:gd name="connsiteX6-55" fmla="*/ 0 w 9153525"/>
              <a:gd name="connsiteY6-56" fmla="*/ 540657 h 769257"/>
              <a:gd name="connsiteX7" fmla="*/ 9525 w 9153525"/>
              <a:gd name="connsiteY7" fmla="*/ 0 h 769257"/>
              <a:gd name="connsiteX0-57" fmla="*/ 9525 w 9153525"/>
              <a:gd name="connsiteY0-58" fmla="*/ 0 h 769257"/>
              <a:gd name="connsiteX1-59" fmla="*/ 9153525 w 9153525"/>
              <a:gd name="connsiteY1-60" fmla="*/ 0 h 769257"/>
              <a:gd name="connsiteX2-61" fmla="*/ 9153525 w 9153525"/>
              <a:gd name="connsiteY2-62" fmla="*/ 769257 h 769257"/>
              <a:gd name="connsiteX3-63" fmla="*/ 5276851 w 9153525"/>
              <a:gd name="connsiteY3-64" fmla="*/ 676275 h 769257"/>
              <a:gd name="connsiteX4-65" fmla="*/ 3648076 w 9153525"/>
              <a:gd name="connsiteY4-66" fmla="*/ 628650 h 769257"/>
              <a:gd name="connsiteX5-67" fmla="*/ 2038351 w 9153525"/>
              <a:gd name="connsiteY5-68" fmla="*/ 571500 h 769257"/>
              <a:gd name="connsiteX6-69" fmla="*/ 885826 w 9153525"/>
              <a:gd name="connsiteY6-70" fmla="*/ 542925 h 769257"/>
              <a:gd name="connsiteX7-71" fmla="*/ 0 w 9153525"/>
              <a:gd name="connsiteY7-72" fmla="*/ 540657 h 769257"/>
              <a:gd name="connsiteX8" fmla="*/ 9525 w 9153525"/>
              <a:gd name="connsiteY8" fmla="*/ 0 h 769257"/>
              <a:gd name="connsiteX0-73" fmla="*/ 9525 w 9153525"/>
              <a:gd name="connsiteY0-74" fmla="*/ 0 h 769257"/>
              <a:gd name="connsiteX1-75" fmla="*/ 9153525 w 9153525"/>
              <a:gd name="connsiteY1-76" fmla="*/ 0 h 769257"/>
              <a:gd name="connsiteX2-77" fmla="*/ 9153525 w 9153525"/>
              <a:gd name="connsiteY2-78" fmla="*/ 769257 h 769257"/>
              <a:gd name="connsiteX3-79" fmla="*/ 6819901 w 9153525"/>
              <a:gd name="connsiteY3-80" fmla="*/ 714375 h 769257"/>
              <a:gd name="connsiteX4-81" fmla="*/ 5276851 w 9153525"/>
              <a:gd name="connsiteY4-82" fmla="*/ 676275 h 769257"/>
              <a:gd name="connsiteX5-83" fmla="*/ 3648076 w 9153525"/>
              <a:gd name="connsiteY5-84" fmla="*/ 628650 h 769257"/>
              <a:gd name="connsiteX6-85" fmla="*/ 2038351 w 9153525"/>
              <a:gd name="connsiteY6-86" fmla="*/ 571500 h 769257"/>
              <a:gd name="connsiteX7-87" fmla="*/ 885826 w 9153525"/>
              <a:gd name="connsiteY7-88" fmla="*/ 542925 h 769257"/>
              <a:gd name="connsiteX8-89" fmla="*/ 0 w 9153525"/>
              <a:gd name="connsiteY8-90" fmla="*/ 540657 h 769257"/>
              <a:gd name="connsiteX9" fmla="*/ 9525 w 9153525"/>
              <a:gd name="connsiteY9" fmla="*/ 0 h 769257"/>
              <a:gd name="connsiteX0-91" fmla="*/ 9525 w 9153525"/>
              <a:gd name="connsiteY0-92" fmla="*/ 0 h 769257"/>
              <a:gd name="connsiteX1-93" fmla="*/ 9153525 w 9153525"/>
              <a:gd name="connsiteY1-94" fmla="*/ 0 h 769257"/>
              <a:gd name="connsiteX2-95" fmla="*/ 9153525 w 9153525"/>
              <a:gd name="connsiteY2-96" fmla="*/ 769257 h 769257"/>
              <a:gd name="connsiteX3-97" fmla="*/ 8201026 w 9153525"/>
              <a:gd name="connsiteY3-98" fmla="*/ 752475 h 769257"/>
              <a:gd name="connsiteX4-99" fmla="*/ 6819901 w 9153525"/>
              <a:gd name="connsiteY4-100" fmla="*/ 714375 h 769257"/>
              <a:gd name="connsiteX5-101" fmla="*/ 5276851 w 9153525"/>
              <a:gd name="connsiteY5-102" fmla="*/ 676275 h 769257"/>
              <a:gd name="connsiteX6-103" fmla="*/ 3648076 w 9153525"/>
              <a:gd name="connsiteY6-104" fmla="*/ 628650 h 769257"/>
              <a:gd name="connsiteX7-105" fmla="*/ 2038351 w 9153525"/>
              <a:gd name="connsiteY7-106" fmla="*/ 571500 h 769257"/>
              <a:gd name="connsiteX8-107" fmla="*/ 885826 w 9153525"/>
              <a:gd name="connsiteY8-108" fmla="*/ 542925 h 769257"/>
              <a:gd name="connsiteX9-109" fmla="*/ 0 w 9153525"/>
              <a:gd name="connsiteY9-110" fmla="*/ 540657 h 769257"/>
              <a:gd name="connsiteX10" fmla="*/ 9525 w 9153525"/>
              <a:gd name="connsiteY10" fmla="*/ 0 h 769257"/>
              <a:gd name="connsiteX0-111" fmla="*/ 9525 w 9153525"/>
              <a:gd name="connsiteY0-112" fmla="*/ 0 h 752475"/>
              <a:gd name="connsiteX1-113" fmla="*/ 9153525 w 9153525"/>
              <a:gd name="connsiteY1-114" fmla="*/ 0 h 752475"/>
              <a:gd name="connsiteX2-115" fmla="*/ 9153525 w 9153525"/>
              <a:gd name="connsiteY2-116" fmla="*/ 559707 h 752475"/>
              <a:gd name="connsiteX3-117" fmla="*/ 8201026 w 9153525"/>
              <a:gd name="connsiteY3-118" fmla="*/ 752475 h 752475"/>
              <a:gd name="connsiteX4-119" fmla="*/ 6819901 w 9153525"/>
              <a:gd name="connsiteY4-120" fmla="*/ 714375 h 752475"/>
              <a:gd name="connsiteX5-121" fmla="*/ 5276851 w 9153525"/>
              <a:gd name="connsiteY5-122" fmla="*/ 676275 h 752475"/>
              <a:gd name="connsiteX6-123" fmla="*/ 3648076 w 9153525"/>
              <a:gd name="connsiteY6-124" fmla="*/ 628650 h 752475"/>
              <a:gd name="connsiteX7-125" fmla="*/ 2038351 w 9153525"/>
              <a:gd name="connsiteY7-126" fmla="*/ 571500 h 752475"/>
              <a:gd name="connsiteX8-127" fmla="*/ 885826 w 9153525"/>
              <a:gd name="connsiteY8-128" fmla="*/ 542925 h 752475"/>
              <a:gd name="connsiteX9-129" fmla="*/ 0 w 9153525"/>
              <a:gd name="connsiteY9-130" fmla="*/ 540657 h 752475"/>
              <a:gd name="connsiteX10-131" fmla="*/ 9525 w 9153525"/>
              <a:gd name="connsiteY10-132" fmla="*/ 0 h 752475"/>
              <a:gd name="connsiteX0-133" fmla="*/ 9525 w 9153525"/>
              <a:gd name="connsiteY0-134" fmla="*/ 0 h 714375"/>
              <a:gd name="connsiteX1-135" fmla="*/ 9153525 w 9153525"/>
              <a:gd name="connsiteY1-136" fmla="*/ 0 h 714375"/>
              <a:gd name="connsiteX2-137" fmla="*/ 9153525 w 9153525"/>
              <a:gd name="connsiteY2-138" fmla="*/ 559707 h 714375"/>
              <a:gd name="connsiteX3-139" fmla="*/ 8296276 w 9153525"/>
              <a:gd name="connsiteY3-140" fmla="*/ 266700 h 714375"/>
              <a:gd name="connsiteX4-141" fmla="*/ 6819901 w 9153525"/>
              <a:gd name="connsiteY4-142" fmla="*/ 714375 h 714375"/>
              <a:gd name="connsiteX5-143" fmla="*/ 5276851 w 9153525"/>
              <a:gd name="connsiteY5-144" fmla="*/ 676275 h 714375"/>
              <a:gd name="connsiteX6-145" fmla="*/ 3648076 w 9153525"/>
              <a:gd name="connsiteY6-146" fmla="*/ 628650 h 714375"/>
              <a:gd name="connsiteX7-147" fmla="*/ 2038351 w 9153525"/>
              <a:gd name="connsiteY7-148" fmla="*/ 571500 h 714375"/>
              <a:gd name="connsiteX8-149" fmla="*/ 885826 w 9153525"/>
              <a:gd name="connsiteY8-150" fmla="*/ 542925 h 714375"/>
              <a:gd name="connsiteX9-151" fmla="*/ 0 w 9153525"/>
              <a:gd name="connsiteY9-152" fmla="*/ 540657 h 714375"/>
              <a:gd name="connsiteX10-153" fmla="*/ 9525 w 9153525"/>
              <a:gd name="connsiteY10-154" fmla="*/ 0 h 714375"/>
              <a:gd name="connsiteX0-155" fmla="*/ 9525 w 9153525"/>
              <a:gd name="connsiteY0-156" fmla="*/ 0 h 752475"/>
              <a:gd name="connsiteX1-157" fmla="*/ 9153525 w 9153525"/>
              <a:gd name="connsiteY1-158" fmla="*/ 0 h 752475"/>
              <a:gd name="connsiteX2-159" fmla="*/ 9153525 w 9153525"/>
              <a:gd name="connsiteY2-160" fmla="*/ 559707 h 752475"/>
              <a:gd name="connsiteX3-161" fmla="*/ 8296276 w 9153525"/>
              <a:gd name="connsiteY3-162" fmla="*/ 266700 h 752475"/>
              <a:gd name="connsiteX4-163" fmla="*/ 6791326 w 9153525"/>
              <a:gd name="connsiteY4-164" fmla="*/ 752475 h 752475"/>
              <a:gd name="connsiteX5-165" fmla="*/ 5276851 w 9153525"/>
              <a:gd name="connsiteY5-166" fmla="*/ 676275 h 752475"/>
              <a:gd name="connsiteX6-167" fmla="*/ 3648076 w 9153525"/>
              <a:gd name="connsiteY6-168" fmla="*/ 628650 h 752475"/>
              <a:gd name="connsiteX7-169" fmla="*/ 2038351 w 9153525"/>
              <a:gd name="connsiteY7-170" fmla="*/ 571500 h 752475"/>
              <a:gd name="connsiteX8-171" fmla="*/ 885826 w 9153525"/>
              <a:gd name="connsiteY8-172" fmla="*/ 542925 h 752475"/>
              <a:gd name="connsiteX9-173" fmla="*/ 0 w 9153525"/>
              <a:gd name="connsiteY9-174" fmla="*/ 540657 h 752475"/>
              <a:gd name="connsiteX10-175" fmla="*/ 9525 w 9153525"/>
              <a:gd name="connsiteY10-176" fmla="*/ 0 h 752475"/>
              <a:gd name="connsiteX0-177" fmla="*/ 9525 w 9153525"/>
              <a:gd name="connsiteY0-178" fmla="*/ 0 h 752475"/>
              <a:gd name="connsiteX1-179" fmla="*/ 9153525 w 9153525"/>
              <a:gd name="connsiteY1-180" fmla="*/ 0 h 752475"/>
              <a:gd name="connsiteX2-181" fmla="*/ 9153525 w 9153525"/>
              <a:gd name="connsiteY2-182" fmla="*/ 559707 h 752475"/>
              <a:gd name="connsiteX3-183" fmla="*/ 8296276 w 9153525"/>
              <a:gd name="connsiteY3-184" fmla="*/ 266700 h 752475"/>
              <a:gd name="connsiteX4-185" fmla="*/ 6791326 w 9153525"/>
              <a:gd name="connsiteY4-186" fmla="*/ 752475 h 752475"/>
              <a:gd name="connsiteX5-187" fmla="*/ 5267326 w 9153525"/>
              <a:gd name="connsiteY5-188" fmla="*/ 257175 h 752475"/>
              <a:gd name="connsiteX6-189" fmla="*/ 3648076 w 9153525"/>
              <a:gd name="connsiteY6-190" fmla="*/ 628650 h 752475"/>
              <a:gd name="connsiteX7-191" fmla="*/ 2038351 w 9153525"/>
              <a:gd name="connsiteY7-192" fmla="*/ 571500 h 752475"/>
              <a:gd name="connsiteX8-193" fmla="*/ 885826 w 9153525"/>
              <a:gd name="connsiteY8-194" fmla="*/ 542925 h 752475"/>
              <a:gd name="connsiteX9-195" fmla="*/ 0 w 9153525"/>
              <a:gd name="connsiteY9-196" fmla="*/ 540657 h 752475"/>
              <a:gd name="connsiteX10-197" fmla="*/ 9525 w 9153525"/>
              <a:gd name="connsiteY10-198" fmla="*/ 0 h 752475"/>
              <a:gd name="connsiteX0-199" fmla="*/ 9525 w 9153525"/>
              <a:gd name="connsiteY0-200" fmla="*/ 0 h 752475"/>
              <a:gd name="connsiteX1-201" fmla="*/ 9153525 w 9153525"/>
              <a:gd name="connsiteY1-202" fmla="*/ 0 h 752475"/>
              <a:gd name="connsiteX2-203" fmla="*/ 9153525 w 9153525"/>
              <a:gd name="connsiteY2-204" fmla="*/ 559707 h 752475"/>
              <a:gd name="connsiteX3-205" fmla="*/ 8296276 w 9153525"/>
              <a:gd name="connsiteY3-206" fmla="*/ 266700 h 752475"/>
              <a:gd name="connsiteX4-207" fmla="*/ 6791326 w 9153525"/>
              <a:gd name="connsiteY4-208" fmla="*/ 752475 h 752475"/>
              <a:gd name="connsiteX5-209" fmla="*/ 5267326 w 9153525"/>
              <a:gd name="connsiteY5-210" fmla="*/ 257175 h 752475"/>
              <a:gd name="connsiteX6-211" fmla="*/ 3819526 w 9153525"/>
              <a:gd name="connsiteY6-212" fmla="*/ 742950 h 752475"/>
              <a:gd name="connsiteX7-213" fmla="*/ 2038351 w 9153525"/>
              <a:gd name="connsiteY7-214" fmla="*/ 571500 h 752475"/>
              <a:gd name="connsiteX8-215" fmla="*/ 885826 w 9153525"/>
              <a:gd name="connsiteY8-216" fmla="*/ 542925 h 752475"/>
              <a:gd name="connsiteX9-217" fmla="*/ 0 w 9153525"/>
              <a:gd name="connsiteY9-218" fmla="*/ 540657 h 752475"/>
              <a:gd name="connsiteX10-219" fmla="*/ 9525 w 9153525"/>
              <a:gd name="connsiteY10-220" fmla="*/ 0 h 752475"/>
              <a:gd name="connsiteX0-221" fmla="*/ 9525 w 9153525"/>
              <a:gd name="connsiteY0-222" fmla="*/ 0 h 752475"/>
              <a:gd name="connsiteX1-223" fmla="*/ 9153525 w 9153525"/>
              <a:gd name="connsiteY1-224" fmla="*/ 0 h 752475"/>
              <a:gd name="connsiteX2-225" fmla="*/ 9153525 w 9153525"/>
              <a:gd name="connsiteY2-226" fmla="*/ 559707 h 752475"/>
              <a:gd name="connsiteX3-227" fmla="*/ 8296276 w 9153525"/>
              <a:gd name="connsiteY3-228" fmla="*/ 266700 h 752475"/>
              <a:gd name="connsiteX4-229" fmla="*/ 6791326 w 9153525"/>
              <a:gd name="connsiteY4-230" fmla="*/ 752475 h 752475"/>
              <a:gd name="connsiteX5-231" fmla="*/ 5267326 w 9153525"/>
              <a:gd name="connsiteY5-232" fmla="*/ 257175 h 752475"/>
              <a:gd name="connsiteX6-233" fmla="*/ 3819526 w 9153525"/>
              <a:gd name="connsiteY6-234" fmla="*/ 742950 h 752475"/>
              <a:gd name="connsiteX7-235" fmla="*/ 2286001 w 9153525"/>
              <a:gd name="connsiteY7-236" fmla="*/ 257175 h 752475"/>
              <a:gd name="connsiteX8-237" fmla="*/ 885826 w 9153525"/>
              <a:gd name="connsiteY8-238" fmla="*/ 542925 h 752475"/>
              <a:gd name="connsiteX9-239" fmla="*/ 0 w 9153525"/>
              <a:gd name="connsiteY9-240" fmla="*/ 540657 h 752475"/>
              <a:gd name="connsiteX10-241" fmla="*/ 9525 w 9153525"/>
              <a:gd name="connsiteY10-242" fmla="*/ 0 h 752475"/>
              <a:gd name="connsiteX0-243" fmla="*/ 9525 w 9153525"/>
              <a:gd name="connsiteY0-244" fmla="*/ 0 h 790575"/>
              <a:gd name="connsiteX1-245" fmla="*/ 9153525 w 9153525"/>
              <a:gd name="connsiteY1-246" fmla="*/ 0 h 790575"/>
              <a:gd name="connsiteX2-247" fmla="*/ 9153525 w 9153525"/>
              <a:gd name="connsiteY2-248" fmla="*/ 559707 h 790575"/>
              <a:gd name="connsiteX3-249" fmla="*/ 8296276 w 9153525"/>
              <a:gd name="connsiteY3-250" fmla="*/ 266700 h 790575"/>
              <a:gd name="connsiteX4-251" fmla="*/ 6791326 w 9153525"/>
              <a:gd name="connsiteY4-252" fmla="*/ 752475 h 790575"/>
              <a:gd name="connsiteX5-253" fmla="*/ 5267326 w 9153525"/>
              <a:gd name="connsiteY5-254" fmla="*/ 257175 h 790575"/>
              <a:gd name="connsiteX6-255" fmla="*/ 3819526 w 9153525"/>
              <a:gd name="connsiteY6-256" fmla="*/ 742950 h 790575"/>
              <a:gd name="connsiteX7-257" fmla="*/ 2286001 w 9153525"/>
              <a:gd name="connsiteY7-258" fmla="*/ 257175 h 790575"/>
              <a:gd name="connsiteX8-259" fmla="*/ 800101 w 9153525"/>
              <a:gd name="connsiteY8-260" fmla="*/ 790575 h 790575"/>
              <a:gd name="connsiteX9-261" fmla="*/ 0 w 9153525"/>
              <a:gd name="connsiteY9-262" fmla="*/ 540657 h 790575"/>
              <a:gd name="connsiteX10-263" fmla="*/ 9525 w 9153525"/>
              <a:gd name="connsiteY10-264" fmla="*/ 0 h 790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 ang="0">
                <a:pos x="connsiteX6-55" y="connsiteY6-56"/>
              </a:cxn>
              <a:cxn ang="0">
                <a:pos x="connsiteX7-71" y="connsiteY7-72"/>
              </a:cxn>
              <a:cxn ang="0">
                <a:pos x="connsiteX8-89" y="connsiteY8-90"/>
              </a:cxn>
              <a:cxn ang="0">
                <a:pos x="connsiteX9-109" y="connsiteY9-110"/>
              </a:cxn>
              <a:cxn ang="0">
                <a:pos x="connsiteX10-131" y="connsiteY10-132"/>
              </a:cxn>
            </a:cxnLst>
            <a:rect l="l" t="t" r="r" b="b"/>
            <a:pathLst>
              <a:path w="9153525" h="790575">
                <a:moveTo>
                  <a:pt x="9525" y="0"/>
                </a:moveTo>
                <a:lnTo>
                  <a:pt x="9153525" y="0"/>
                </a:lnTo>
                <a:lnTo>
                  <a:pt x="9153525" y="559707"/>
                </a:lnTo>
                <a:lnTo>
                  <a:pt x="8296276" y="266700"/>
                </a:lnTo>
                <a:lnTo>
                  <a:pt x="6791326" y="752475"/>
                </a:lnTo>
                <a:lnTo>
                  <a:pt x="5267326" y="257175"/>
                </a:lnTo>
                <a:lnTo>
                  <a:pt x="3819526" y="742950"/>
                </a:lnTo>
                <a:lnTo>
                  <a:pt x="2286001" y="257175"/>
                </a:lnTo>
                <a:lnTo>
                  <a:pt x="800101" y="790575"/>
                </a:lnTo>
                <a:lnTo>
                  <a:pt x="0" y="540657"/>
                </a:lnTo>
                <a:lnTo>
                  <a:pt x="9525" y="0"/>
                </a:lnTo>
                <a:close/>
              </a:path>
            </a:pathLst>
          </a:custGeom>
          <a:solidFill>
            <a:srgbClr val="4BA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83BD48-1813-4BF3-AEF5-A3C42B2B615C}"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83BD48-1813-4BF3-AEF5-A3C42B2B615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5D17DAB-5824-431A-892B-7CA3AA3C2A26}" type="datetime1">
              <a:rPr lang="zh-CN" altLang="en-US" smtClean="0"/>
              <a:t>2020/7/1</a:t>
            </a:fld>
            <a:endParaRPr lang="zh-CN" altLang="en-US"/>
          </a:p>
        </p:txBody>
      </p:sp>
      <p:sp>
        <p:nvSpPr>
          <p:cNvPr id="5" name="页脚占位符 4"/>
          <p:cNvSpPr>
            <a:spLocks noGrp="1"/>
          </p:cNvSpPr>
          <p:nvPr>
            <p:ph type="ftr" sz="quarter" idx="11"/>
          </p:nvPr>
        </p:nvSpPr>
        <p:spPr/>
        <p:txBody>
          <a:bodyPr/>
          <a:lstStyle/>
          <a:p>
            <a:r>
              <a:rPr lang="zh-CN" altLang="en-US" smtClean="0"/>
              <a:t>软件演化介绍</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87365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E4AEBB9-AE9F-4D71-99EF-15CBD09856B6}" type="datetime1">
              <a:rPr lang="zh-CN" altLang="en-US" smtClean="0"/>
              <a:t>2020/7/1</a:t>
            </a:fld>
            <a:endParaRPr lang="zh-CN" altLang="en-US"/>
          </a:p>
        </p:txBody>
      </p:sp>
      <p:sp>
        <p:nvSpPr>
          <p:cNvPr id="5" name="页脚占位符 4"/>
          <p:cNvSpPr>
            <a:spLocks noGrp="1"/>
          </p:cNvSpPr>
          <p:nvPr>
            <p:ph type="ftr" sz="quarter" idx="11"/>
          </p:nvPr>
        </p:nvSpPr>
        <p:spPr/>
        <p:txBody>
          <a:bodyPr/>
          <a:lstStyle/>
          <a:p>
            <a:r>
              <a:rPr lang="zh-CN" altLang="en-US" smtClean="0"/>
              <a:t>软件演化介绍</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7628059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47368E7B-38E3-4C4C-8BF2-417FD57855AF}" type="datetime1">
              <a:rPr lang="zh-CN" altLang="en-US" smtClean="0"/>
              <a:t>2020/7/1</a:t>
            </a:fld>
            <a:endParaRPr lang="zh-CN" altLang="en-US"/>
          </a:p>
        </p:txBody>
      </p:sp>
      <p:sp>
        <p:nvSpPr>
          <p:cNvPr id="5" name="页脚占位符 4"/>
          <p:cNvSpPr>
            <a:spLocks noGrp="1"/>
          </p:cNvSpPr>
          <p:nvPr>
            <p:ph type="ftr" sz="quarter" idx="11"/>
          </p:nvPr>
        </p:nvSpPr>
        <p:spPr/>
        <p:txBody>
          <a:bodyPr/>
          <a:lstStyle/>
          <a:p>
            <a:r>
              <a:rPr lang="zh-CN" altLang="en-US" smtClean="0"/>
              <a:t>软件演化介绍</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0274385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4055D6A-89CD-498E-8FCE-03674EBAA97E}" type="datetime1">
              <a:rPr lang="zh-CN" altLang="en-US" smtClean="0"/>
              <a:t>2020/7/1</a:t>
            </a:fld>
            <a:endParaRPr lang="zh-CN" altLang="en-US"/>
          </a:p>
        </p:txBody>
      </p:sp>
      <p:sp>
        <p:nvSpPr>
          <p:cNvPr id="6" name="页脚占位符 5"/>
          <p:cNvSpPr>
            <a:spLocks noGrp="1"/>
          </p:cNvSpPr>
          <p:nvPr>
            <p:ph type="ftr" sz="quarter" idx="11"/>
          </p:nvPr>
        </p:nvSpPr>
        <p:spPr/>
        <p:txBody>
          <a:bodyPr/>
          <a:lstStyle/>
          <a:p>
            <a:r>
              <a:rPr lang="zh-CN" altLang="en-US" smtClean="0"/>
              <a:t>软件演化介绍</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07923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474E30A-7D62-4608-A176-747E2D2D6868}" type="datetime1">
              <a:rPr lang="zh-CN" altLang="en-US" smtClean="0"/>
              <a:t>2020/7/1</a:t>
            </a:fld>
            <a:endParaRPr lang="zh-CN" altLang="en-US"/>
          </a:p>
        </p:txBody>
      </p:sp>
      <p:sp>
        <p:nvSpPr>
          <p:cNvPr id="8" name="页脚占位符 7"/>
          <p:cNvSpPr>
            <a:spLocks noGrp="1"/>
          </p:cNvSpPr>
          <p:nvPr>
            <p:ph type="ftr" sz="quarter" idx="11"/>
          </p:nvPr>
        </p:nvSpPr>
        <p:spPr/>
        <p:txBody>
          <a:bodyPr/>
          <a:lstStyle/>
          <a:p>
            <a:r>
              <a:rPr lang="zh-CN" altLang="en-US" smtClean="0"/>
              <a:t>软件演化介绍</a:t>
            </a: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560348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07D01E1-3FAB-4ADA-A719-14F43D55D444}" type="datetime1">
              <a:rPr lang="zh-CN" altLang="en-US" smtClean="0"/>
              <a:t>2020/7/1</a:t>
            </a:fld>
            <a:endParaRPr lang="zh-CN" altLang="en-US"/>
          </a:p>
        </p:txBody>
      </p:sp>
      <p:sp>
        <p:nvSpPr>
          <p:cNvPr id="4" name="页脚占位符 3"/>
          <p:cNvSpPr>
            <a:spLocks noGrp="1"/>
          </p:cNvSpPr>
          <p:nvPr>
            <p:ph type="ftr" sz="quarter" idx="11"/>
          </p:nvPr>
        </p:nvSpPr>
        <p:spPr/>
        <p:txBody>
          <a:bodyPr/>
          <a:lstStyle/>
          <a:p>
            <a:r>
              <a:rPr lang="zh-CN" altLang="en-US" smtClean="0"/>
              <a:t>软件演化介绍</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3804726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E6AA0E-60EE-474C-B039-F113F87C4C5E}" type="datetime1">
              <a:rPr lang="zh-CN" altLang="en-US" smtClean="0"/>
              <a:t>2020/7/1</a:t>
            </a:fld>
            <a:endParaRPr lang="zh-CN" altLang="en-US"/>
          </a:p>
        </p:txBody>
      </p:sp>
      <p:sp>
        <p:nvSpPr>
          <p:cNvPr id="3" name="页脚占位符 2"/>
          <p:cNvSpPr>
            <a:spLocks noGrp="1"/>
          </p:cNvSpPr>
          <p:nvPr>
            <p:ph type="ftr" sz="quarter" idx="11"/>
          </p:nvPr>
        </p:nvSpPr>
        <p:spPr/>
        <p:txBody>
          <a:bodyPr/>
          <a:lstStyle/>
          <a:p>
            <a:r>
              <a:rPr lang="zh-CN" altLang="en-US" smtClean="0"/>
              <a:t>软件演化介绍</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051683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917A0A6-E30A-4934-BD19-C5CD66E68FD1}" type="datetime1">
              <a:rPr lang="zh-CN" altLang="en-US" smtClean="0"/>
              <a:t>2020/7/1</a:t>
            </a:fld>
            <a:endParaRPr lang="zh-CN" altLang="en-US"/>
          </a:p>
        </p:txBody>
      </p:sp>
      <p:sp>
        <p:nvSpPr>
          <p:cNvPr id="6" name="页脚占位符 5"/>
          <p:cNvSpPr>
            <a:spLocks noGrp="1"/>
          </p:cNvSpPr>
          <p:nvPr>
            <p:ph type="ftr" sz="quarter" idx="11"/>
          </p:nvPr>
        </p:nvSpPr>
        <p:spPr/>
        <p:txBody>
          <a:bodyPr/>
          <a:lstStyle/>
          <a:p>
            <a:r>
              <a:rPr lang="zh-CN" altLang="en-US" smtClean="0"/>
              <a:t>软件演化介绍</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1078122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0412D74-795E-40DD-9B66-254AE9048B44}" type="datetime1">
              <a:rPr lang="zh-CN" altLang="en-US" smtClean="0"/>
              <a:t>2020/7/1</a:t>
            </a:fld>
            <a:endParaRPr lang="zh-CN" altLang="en-US"/>
          </a:p>
        </p:txBody>
      </p:sp>
      <p:sp>
        <p:nvSpPr>
          <p:cNvPr id="6" name="页脚占位符 5"/>
          <p:cNvSpPr>
            <a:spLocks noGrp="1"/>
          </p:cNvSpPr>
          <p:nvPr>
            <p:ph type="ftr" sz="quarter" idx="11"/>
          </p:nvPr>
        </p:nvSpPr>
        <p:spPr/>
        <p:txBody>
          <a:bodyPr/>
          <a:lstStyle/>
          <a:p>
            <a:r>
              <a:rPr lang="zh-CN" altLang="en-US" smtClean="0"/>
              <a:t>软件演化介绍</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97819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04BF47-B919-4A1D-9DC0-FC1A9F7E0CF0}" type="datetime1">
              <a:rPr lang="zh-CN" altLang="en-US" smtClean="0"/>
              <a:t>2020/7/1</a:t>
            </a:fld>
            <a:endParaRPr lang="zh-CN" altLang="en-US"/>
          </a:p>
        </p:txBody>
      </p:sp>
      <p:sp>
        <p:nvSpPr>
          <p:cNvPr id="5" name="页脚占位符 4"/>
          <p:cNvSpPr>
            <a:spLocks noGrp="1"/>
          </p:cNvSpPr>
          <p:nvPr>
            <p:ph type="ftr" sz="quarter" idx="11"/>
          </p:nvPr>
        </p:nvSpPr>
        <p:spPr/>
        <p:txBody>
          <a:bodyPr/>
          <a:lstStyle/>
          <a:p>
            <a:r>
              <a:rPr lang="zh-CN" altLang="en-US" smtClean="0"/>
              <a:t>软件演化介绍</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819093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1F781EF-2E1E-4B8B-B85A-FF6D5ED13266}" type="datetime1">
              <a:rPr lang="zh-CN" altLang="en-US" smtClean="0"/>
              <a:t>2020/7/1</a:t>
            </a:fld>
            <a:endParaRPr lang="zh-CN" altLang="en-US"/>
          </a:p>
        </p:txBody>
      </p:sp>
      <p:sp>
        <p:nvSpPr>
          <p:cNvPr id="5" name="页脚占位符 4"/>
          <p:cNvSpPr>
            <a:spLocks noGrp="1"/>
          </p:cNvSpPr>
          <p:nvPr>
            <p:ph type="ftr" sz="quarter" idx="11"/>
          </p:nvPr>
        </p:nvSpPr>
        <p:spPr/>
        <p:txBody>
          <a:bodyPr/>
          <a:lstStyle/>
          <a:p>
            <a:r>
              <a:rPr lang="zh-CN" altLang="en-US" smtClean="0"/>
              <a:t>软件演化介绍</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948941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1885950"/>
            <a:ext cx="6686549" cy="1697086"/>
          </a:xfrm>
        </p:spPr>
        <p:txBody>
          <a:bodyPr anchor="b">
            <a:normAutofit/>
          </a:bodyPr>
          <a:lstStyle>
            <a:lvl1pPr>
              <a:defRPr sz="405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941910" y="3583035"/>
            <a:ext cx="6686549" cy="844712"/>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3242858"/>
            <a:ext cx="1308489" cy="583942"/>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3397155"/>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5155877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944694" y="468082"/>
            <a:ext cx="6683765" cy="960668"/>
          </a:xfrm>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1941909" y="1600200"/>
            <a:ext cx="6686550" cy="283321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21412150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41910" y="1544063"/>
            <a:ext cx="6686549" cy="1101600"/>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1941910" y="2647597"/>
            <a:ext cx="6686549" cy="6453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2739935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1941909" y="1600200"/>
            <a:ext cx="3235398" cy="28332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hasCustomPrompt="1"/>
          </p:nvPr>
        </p:nvSpPr>
        <p:spPr>
          <a:xfrm>
            <a:off x="5393060" y="1594666"/>
            <a:ext cx="3235398" cy="28332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590837"/>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8996695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2204530" y="1479527"/>
            <a:ext cx="2994549"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hasCustomPrompt="1"/>
          </p:nvPr>
        </p:nvSpPr>
        <p:spPr>
          <a:xfrm>
            <a:off x="1941909" y="1911725"/>
            <a:ext cx="3257170" cy="2515545"/>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hasCustomPrompt="1"/>
          </p:nvPr>
        </p:nvSpPr>
        <p:spPr>
          <a:xfrm>
            <a:off x="5629972" y="1477106"/>
            <a:ext cx="2999251"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hasCustomPrompt="1"/>
          </p:nvPr>
        </p:nvSpPr>
        <p:spPr>
          <a:xfrm>
            <a:off x="5375218" y="1909304"/>
            <a:ext cx="3254006" cy="2515545"/>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t>7/1/2020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590837"/>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9073353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t>7/1/2020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3788944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t>7/1/2020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11479558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1910" y="334566"/>
            <a:ext cx="2628899" cy="732234"/>
          </a:xfrm>
        </p:spPr>
        <p:txBody>
          <a:bodyPr anchor="b"/>
          <a:lstStyle>
            <a:lvl1pPr algn="l">
              <a:defRPr sz="1500" b="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4742259" y="334567"/>
            <a:ext cx="3886200" cy="4061222"/>
          </a:xfrm>
        </p:spPr>
        <p:txBody>
          <a:bodyPr anchor="ct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hasCustomPrompt="1"/>
          </p:nvPr>
        </p:nvSpPr>
        <p:spPr>
          <a:xfrm>
            <a:off x="1941910" y="1198960"/>
            <a:ext cx="2628899" cy="319682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22637332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1910" y="3600450"/>
            <a:ext cx="6686550" cy="425054"/>
          </a:xfrm>
        </p:spPr>
        <p:txBody>
          <a:bodyPr anchor="b">
            <a:normAutofit/>
          </a:bodyPr>
          <a:lstStyle>
            <a:lvl1pPr algn="l">
              <a:defRPr sz="18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941909" y="476224"/>
            <a:ext cx="6686550" cy="289122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1941910" y="4025504"/>
            <a:ext cx="6686550"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15353797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941910" y="457200"/>
            <a:ext cx="6686549" cy="2337780"/>
          </a:xfrm>
        </p:spPr>
        <p:txBody>
          <a:bodyPr anchor="ctr">
            <a:normAutofit/>
          </a:bodyPr>
          <a:lstStyle>
            <a:lvl1pPr algn="l">
              <a:defRPr sz="3600" b="0" cap="none"/>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9936510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zh-CN" altLang="en-US" smtClean="0"/>
              <a:t>单击此处编辑母版标题样式</a:t>
            </a:r>
            <a:endParaRPr lang="en-US" dirty="0"/>
          </a:p>
        </p:txBody>
      </p:sp>
      <p:sp>
        <p:nvSpPr>
          <p:cNvPr id="13" name="Text Placeholder 9"/>
          <p:cNvSpPr>
            <a:spLocks noGrp="1"/>
          </p:cNvSpPr>
          <p:nvPr>
            <p:ph type="body" sz="quarter" idx="13" hasCustomPrompt="1"/>
          </p:nvPr>
        </p:nvSpPr>
        <p:spPr>
          <a:xfrm>
            <a:off x="2456259" y="2628900"/>
            <a:ext cx="5652416"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CN" altLang="en-US" smtClean="0"/>
              <a:t>编辑母版文本样式</a:t>
            </a:r>
          </a:p>
        </p:txBody>
      </p:sp>
      <p:sp>
        <p:nvSpPr>
          <p:cNvPr id="3" name="Text Placeholder 2"/>
          <p:cNvSpPr>
            <a:spLocks noGrp="1"/>
          </p:cNvSpPr>
          <p:nvPr>
            <p:ph type="body" idx="1" hasCustomPrompt="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t>‹#›</a:t>
            </a:fld>
            <a:endParaRPr lang="en-US" dirty="0"/>
          </a:p>
        </p:txBody>
      </p:sp>
      <p:sp>
        <p:nvSpPr>
          <p:cNvPr id="14" name="TextBox 13"/>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
        <p:nvSpPr>
          <p:cNvPr id="15" name="TextBox 14"/>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Tree>
    <p:extLst>
      <p:ext uri="{BB962C8B-B14F-4D97-AF65-F5344CB8AC3E}">
        <p14:creationId xmlns:p14="http://schemas.microsoft.com/office/powerpoint/2010/main" val="24295784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941910" y="1828800"/>
            <a:ext cx="6686550" cy="2043634"/>
          </a:xfrm>
        </p:spPr>
        <p:txBody>
          <a:bodyPr anchor="b">
            <a:normAutofit/>
          </a:bodyPr>
          <a:lstStyle>
            <a:lvl1pPr algn="l">
              <a:defRPr sz="3600" b="0"/>
            </a:lvl1pPr>
          </a:lstStyle>
          <a:p>
            <a:r>
              <a:rPr lang="zh-CN" altLang="en-US" smtClean="0"/>
              <a:t>单击此处编辑母版标题样式</a:t>
            </a:r>
            <a:endParaRPr lang="en-US" dirty="0"/>
          </a:p>
        </p:txBody>
      </p:sp>
      <p:sp>
        <p:nvSpPr>
          <p:cNvPr id="4" name="Text Placeholder 3"/>
          <p:cNvSpPr>
            <a:spLocks noGrp="1"/>
          </p:cNvSpPr>
          <p:nvPr>
            <p:ph type="body" sz="half" idx="2" hasCustomPrompt="1"/>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8439916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zh-CN" altLang="en-US" smtClean="0"/>
              <a:t>单击此处编辑母版标题样式</a:t>
            </a:r>
            <a:endParaRPr lang="en-US" dirty="0"/>
          </a:p>
        </p:txBody>
      </p:sp>
      <p:sp>
        <p:nvSpPr>
          <p:cNvPr id="21" name="Text Placeholder 9"/>
          <p:cNvSpPr>
            <a:spLocks noGrp="1"/>
          </p:cNvSpPr>
          <p:nvPr>
            <p:ph type="body" sz="quarter" idx="13" hasCustomPrompt="1"/>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CN" altLang="en-US" smtClean="0"/>
              <a:t>编辑母版文本样式</a:t>
            </a:r>
          </a:p>
        </p:txBody>
      </p:sp>
      <p:sp>
        <p:nvSpPr>
          <p:cNvPr id="4" name="Text Placeholder 3"/>
          <p:cNvSpPr>
            <a:spLocks noGrp="1"/>
          </p:cNvSpPr>
          <p:nvPr>
            <p:ph type="body" sz="half" idx="2" hasCustomPrompt="1"/>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t>‹#›</a:t>
            </a:fld>
            <a:endParaRPr lang="en-US" dirty="0"/>
          </a:p>
        </p:txBody>
      </p:sp>
      <p:sp>
        <p:nvSpPr>
          <p:cNvPr id="17" name="TextBox 16"/>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
        <p:nvSpPr>
          <p:cNvPr id="18" name="TextBox 17"/>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Tree>
    <p:extLst>
      <p:ext uri="{BB962C8B-B14F-4D97-AF65-F5344CB8AC3E}">
        <p14:creationId xmlns:p14="http://schemas.microsoft.com/office/powerpoint/2010/main" val="12727750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941910" y="470555"/>
            <a:ext cx="6686549" cy="2160015"/>
          </a:xfrm>
        </p:spPr>
        <p:txBody>
          <a:bodyPr anchor="ctr">
            <a:normAutofit/>
          </a:bodyPr>
          <a:lstStyle>
            <a:lvl1pPr algn="l">
              <a:defRPr sz="3600" b="0"/>
            </a:lvl1pPr>
          </a:lstStyle>
          <a:p>
            <a:r>
              <a:rPr lang="zh-CN" altLang="en-US" smtClean="0"/>
              <a:t>单击此处编辑母版标题样式</a:t>
            </a:r>
            <a:endParaRPr lang="en-US" dirty="0"/>
          </a:p>
        </p:txBody>
      </p:sp>
      <p:sp>
        <p:nvSpPr>
          <p:cNvPr id="21" name="Text Placeholder 9"/>
          <p:cNvSpPr>
            <a:spLocks noGrp="1"/>
          </p:cNvSpPr>
          <p:nvPr>
            <p:ph type="body" sz="quarter" idx="13" hasCustomPrompt="1"/>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CN" altLang="en-US" smtClean="0"/>
              <a:t>编辑母版文本样式</a:t>
            </a:r>
          </a:p>
        </p:txBody>
      </p:sp>
      <p:sp>
        <p:nvSpPr>
          <p:cNvPr id="4" name="Text Placeholder 3"/>
          <p:cNvSpPr>
            <a:spLocks noGrp="1"/>
          </p:cNvSpPr>
          <p:nvPr>
            <p:ph type="body" sz="half" idx="2" hasCustomPrompt="1"/>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195644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42118941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470554"/>
            <a:ext cx="1655701" cy="3962863"/>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1941909" y="470554"/>
            <a:ext cx="4857750" cy="3962863"/>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5088935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052484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440288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9796027F-7875-4030-9381-8BD8C4F21935}"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29820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385296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320770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5423302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147678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7" name="Date Placeholder 4"/>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965056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509A250-FF31-4206-8172-F9D3106AACB1}"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9117718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509A250-FF31-4206-8172-F9D3106AACB1}" type="datetimeFigureOut">
              <a:rPr lang="en-US" dirty="0"/>
              <a:t>7/1/2020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768572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302433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zh-CN" altLang="en-US" smtClean="0"/>
              <a:t>编辑母版文本样式</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3667296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9670140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74993309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65254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2930285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70015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4.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theme" Target="../theme/theme5.xml"/><Relationship Id="rId3" Type="http://schemas.openxmlformats.org/officeDocument/2006/relationships/slideLayout" Target="../slideLayouts/slideLayout52.xml"/><Relationship Id="rId21" Type="http://schemas.openxmlformats.org/officeDocument/2006/relationships/image" Target="../media/image5.png"/><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image" Target="../media/image4.png"/><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image" Target="../media/image3.png"/><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D83BD48-1813-4BF3-AEF5-A3C42B2B615C}" type="slidenum">
              <a:rPr lang="zh-CN" altLang="en-US" smtClean="0"/>
              <a:t>‹#›</a:t>
            </a:fld>
            <a:endParaRPr lang="zh-CN" altLang="en-US"/>
          </a:p>
        </p:txBody>
      </p:sp>
      <p:sp>
        <p:nvSpPr>
          <p:cNvPr id="7" name="矩形 6"/>
          <p:cNvSpPr/>
          <p:nvPr userDrawn="1"/>
        </p:nvSpPr>
        <p:spPr>
          <a:xfrm>
            <a:off x="0" y="0"/>
            <a:ext cx="9144000" cy="51435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624BF09-67E6-4A51-8000-FCB2DD1DE614}" type="datetimeFigureOut">
              <a:rPr lang="zh-CN" altLang="en-US" smtClean="0"/>
              <a:t>2020/7/1</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D83BD48-1813-4BF3-AEF5-A3C42B2B615C}" type="slidenum">
              <a:rPr lang="zh-CN" altLang="en-US" smtClean="0"/>
              <a:t>‹#›</a:t>
            </a:fld>
            <a:endParaRPr lang="zh-CN" altLang="en-US"/>
          </a:p>
        </p:txBody>
      </p:sp>
      <p:sp>
        <p:nvSpPr>
          <p:cNvPr id="7" name="矩形 6"/>
          <p:cNvSpPr/>
          <p:nvPr userDrawn="1"/>
        </p:nvSpPr>
        <p:spPr>
          <a:xfrm>
            <a:off x="0" y="0"/>
            <a:ext cx="9144000" cy="51435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7000" r="-17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548AF3A-067B-450D-9E40-69F0D83F3634}" type="datetime1">
              <a:rPr lang="zh-CN" altLang="en-US" smtClean="0"/>
              <a:t>2020/7/1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smtClean="0"/>
              <a:t>软件演化介绍</a:t>
            </a:r>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2162906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171450"/>
            <a:ext cx="2138637" cy="4978971"/>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118"/>
            <a:ext cx="1767506" cy="5139822"/>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468082"/>
            <a:ext cx="6683765" cy="960668"/>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41909" y="1600200"/>
            <a:ext cx="6686550" cy="2914650"/>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771210" y="4597828"/>
            <a:ext cx="859712" cy="277797"/>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t>7/1/2020</a:t>
            </a:fld>
            <a:endParaRPr lang="en-US" dirty="0"/>
          </a:p>
        </p:txBody>
      </p:sp>
      <p:sp>
        <p:nvSpPr>
          <p:cNvPr id="5" name="Footer Placeholder 4"/>
          <p:cNvSpPr>
            <a:spLocks noGrp="1"/>
          </p:cNvSpPr>
          <p:nvPr>
            <p:ph type="ftr" sz="quarter" idx="3"/>
          </p:nvPr>
        </p:nvSpPr>
        <p:spPr>
          <a:xfrm>
            <a:off x="1941910" y="4601856"/>
            <a:ext cx="571499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398860" y="590837"/>
            <a:ext cx="584825" cy="273844"/>
          </a:xfrm>
          <a:prstGeom prst="rect">
            <a:avLst/>
          </a:prstGeom>
        </p:spPr>
        <p:txBody>
          <a:bodyPr vert="horz" lIns="91440" tIns="45720" rIns="91440" bIns="45720" rtlCol="0" anchor="ctr"/>
          <a:lstStyle>
            <a:lvl1pPr algn="r">
              <a:defRPr sz="1500">
                <a:solidFill>
                  <a:srgbClr val="FEFFFF"/>
                </a:solidFill>
              </a:defRPr>
            </a:lvl1pPr>
          </a:lstStyle>
          <a:p>
            <a:fld id="{D57F1E4F-1CFF-5643-939E-217C01CDF565}" type="slidenum">
              <a:rPr lang="en-US" dirty="0"/>
              <a:t>‹#›</a:t>
            </a:fld>
            <a:endParaRPr lang="en-US" dirty="0"/>
          </a:p>
        </p:txBody>
      </p:sp>
    </p:spTree>
    <p:extLst>
      <p:ext uri="{BB962C8B-B14F-4D97-AF65-F5344CB8AC3E}">
        <p14:creationId xmlns:p14="http://schemas.microsoft.com/office/powerpoint/2010/main" val="39262136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342900" rtl="0" eaLnBrk="1" latinLnBrk="0" hangingPunct="1">
        <a:spcBef>
          <a:spcPct val="0"/>
        </a:spcBef>
        <a:buNone/>
        <a:defRPr sz="27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AAD347D-5ACD-4C99-B74B-A9C85AD731AF}" type="datetimeFigureOut">
              <a:rPr lang="en-US" dirty="0"/>
              <a:t>7/1/2020</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1047208748"/>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tags" Target="../tags/tag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0.xml"/><Relationship Id="rId5" Type="http://schemas.openxmlformats.org/officeDocument/2006/relationships/slideLayout" Target="../slideLayouts/slideLayout18.xml"/><Relationship Id="rId4" Type="http://schemas.openxmlformats.org/officeDocument/2006/relationships/tags" Target="../tags/tag8.xml"/></Relationships>
</file>

<file path=ppt/slides/_rels/slide30.xml.rels><?xml version="1.0" encoding="UTF-8" standalone="yes"?>
<Relationships xmlns="http://schemas.openxmlformats.org/package/2006/relationships"><Relationship Id="rId3" Type="http://schemas.openxmlformats.org/officeDocument/2006/relationships/hyperlink" Target="http://www.shangwuppt.com/"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42"/>
          <p:cNvSpPr/>
          <p:nvPr/>
        </p:nvSpPr>
        <p:spPr>
          <a:xfrm rot="16200000">
            <a:off x="3837195" y="-3878783"/>
            <a:ext cx="1469609" cy="9144009"/>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rot="16200000">
            <a:off x="3880175" y="-3922705"/>
            <a:ext cx="1383644" cy="9144005"/>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33"/>
          <p:cNvSpPr/>
          <p:nvPr/>
        </p:nvSpPr>
        <p:spPr>
          <a:xfrm rot="16200000" flipH="1" flipV="1">
            <a:off x="3849373" y="-151131"/>
            <a:ext cx="1445257" cy="9144004"/>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a:grpSpLocks noChangeAspect="1"/>
          </p:cNvGrpSpPr>
          <p:nvPr/>
        </p:nvGrpSpPr>
        <p:grpSpPr>
          <a:xfrm>
            <a:off x="1776785" y="1254360"/>
            <a:ext cx="5262894" cy="1161180"/>
            <a:chOff x="3634622" y="2012950"/>
            <a:chExt cx="3426470" cy="756000"/>
          </a:xfrm>
        </p:grpSpPr>
        <p:grpSp>
          <p:nvGrpSpPr>
            <p:cNvPr id="21" name="组合 20"/>
            <p:cNvGrpSpPr/>
            <p:nvPr/>
          </p:nvGrpSpPr>
          <p:grpSpPr>
            <a:xfrm>
              <a:off x="3634622" y="2012950"/>
              <a:ext cx="756000" cy="756000"/>
              <a:chOff x="571500" y="1695450"/>
              <a:chExt cx="1238250" cy="1238250"/>
            </a:xfrm>
          </p:grpSpPr>
          <p:sp>
            <p:nvSpPr>
              <p:cNvPr id="26" name="矩形 25"/>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a:stCxn id="26" idx="0"/>
                <a:endCxn id="26"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6" idx="1"/>
                <a:endCxn id="26"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4524778" y="2012950"/>
              <a:ext cx="756000" cy="756000"/>
              <a:chOff x="571500" y="1695450"/>
              <a:chExt cx="1238250" cy="1238250"/>
            </a:xfrm>
          </p:grpSpPr>
          <p:sp>
            <p:nvSpPr>
              <p:cNvPr id="23" name="矩形 22"/>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a:stCxn id="23" idx="0"/>
                <a:endCxn id="23"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1"/>
                <a:endCxn id="23"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5414934" y="2012950"/>
              <a:ext cx="756000" cy="756000"/>
              <a:chOff x="571500" y="1695450"/>
              <a:chExt cx="1238250" cy="1238250"/>
            </a:xfrm>
          </p:grpSpPr>
          <p:sp>
            <p:nvSpPr>
              <p:cNvPr id="36" name="矩形 35"/>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a:stCxn id="36" idx="0"/>
                <a:endCxn id="36"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6" idx="1"/>
                <a:endCxn id="36"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6305092" y="2012950"/>
              <a:ext cx="756000" cy="756000"/>
              <a:chOff x="571500" y="1695450"/>
              <a:chExt cx="1238250" cy="1238250"/>
            </a:xfrm>
          </p:grpSpPr>
          <p:sp>
            <p:nvSpPr>
              <p:cNvPr id="40" name="矩形 39"/>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40"/>
              <p:cNvCxnSpPr>
                <a:stCxn id="40" idx="0"/>
                <a:endCxn id="40"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40" idx="1"/>
                <a:endCxn id="40"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sp>
        <p:nvSpPr>
          <p:cNvPr id="45" name="Rectangle 3"/>
          <p:cNvSpPr txBox="1">
            <a:spLocks noChangeArrowheads="1"/>
          </p:cNvSpPr>
          <p:nvPr/>
        </p:nvSpPr>
        <p:spPr bwMode="auto">
          <a:xfrm>
            <a:off x="1780232" y="1428027"/>
            <a:ext cx="5256000" cy="7557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3" tIns="34277" rIns="68553" bIns="34277"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6600" b="1" dirty="0">
                <a:solidFill>
                  <a:srgbClr val="294A5A"/>
                </a:solidFill>
                <a:latin typeface="黑体" panose="02010609060101010101" pitchFamily="49" charset="-122"/>
                <a:ea typeface="黑体" panose="02010609060101010101" pitchFamily="49" charset="-122"/>
              </a:rPr>
              <a:t>软件演化</a:t>
            </a:r>
          </a:p>
        </p:txBody>
      </p:sp>
      <p:sp>
        <p:nvSpPr>
          <p:cNvPr id="29" name="任意多边形 28"/>
          <p:cNvSpPr/>
          <p:nvPr/>
        </p:nvSpPr>
        <p:spPr>
          <a:xfrm rot="16200000" flipH="1" flipV="1">
            <a:off x="3976371" y="-24132"/>
            <a:ext cx="1191257" cy="9144005"/>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
          <p:cNvSpPr>
            <a:spLocks noEditPoints="1"/>
          </p:cNvSpPr>
          <p:nvPr/>
        </p:nvSpPr>
        <p:spPr bwMode="auto">
          <a:xfrm>
            <a:off x="2439734" y="2831733"/>
            <a:ext cx="279727" cy="28090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rgbClr val="004B7D"/>
          </a:solidFill>
          <a:ln>
            <a:noFill/>
          </a:ln>
        </p:spPr>
        <p:txBody>
          <a:bodyPr vert="horz" wrap="square" lIns="68553" tIns="34277" rIns="68553" bIns="34277" numCol="1" anchor="t" anchorCtr="0" compatLnSpc="1"/>
          <a:lstStyle/>
          <a:p>
            <a:endParaRPr lang="zh-CN" altLang="en-US">
              <a:solidFill>
                <a:schemeClr val="accent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down)">
                                      <p:cBhvr>
                                        <p:cTn id="13" dur="500"/>
                                        <p:tgtEl>
                                          <p:spTgt spid="4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p:cTn id="20" dur="500" fill="hold"/>
                                        <p:tgtEl>
                                          <p:spTgt spid="44"/>
                                        </p:tgtEl>
                                        <p:attrNameLst>
                                          <p:attrName>ppt_w</p:attrName>
                                        </p:attrNameLst>
                                      </p:cBhvr>
                                      <p:tavLst>
                                        <p:tav tm="0">
                                          <p:val>
                                            <p:fltVal val="0"/>
                                          </p:val>
                                        </p:tav>
                                        <p:tav tm="100000">
                                          <p:val>
                                            <p:strVal val="#ppt_w"/>
                                          </p:val>
                                        </p:tav>
                                      </p:tavLst>
                                    </p:anim>
                                    <p:anim calcmode="lin" valueType="num">
                                      <p:cBhvr>
                                        <p:cTn id="21" dur="500" fill="hold"/>
                                        <p:tgtEl>
                                          <p:spTgt spid="44"/>
                                        </p:tgtEl>
                                        <p:attrNameLst>
                                          <p:attrName>ppt_h</p:attrName>
                                        </p:attrNameLst>
                                      </p:cBhvr>
                                      <p:tavLst>
                                        <p:tav tm="0">
                                          <p:val>
                                            <p:fltVal val="0"/>
                                          </p:val>
                                        </p:tav>
                                        <p:tav tm="100000">
                                          <p:val>
                                            <p:strVal val="#ppt_h"/>
                                          </p:val>
                                        </p:tav>
                                      </p:tavLst>
                                    </p:anim>
                                    <p:animEffect transition="in" filter="fade">
                                      <p:cBhvr>
                                        <p:cTn id="22" dur="500"/>
                                        <p:tgtEl>
                                          <p:spTgt spid="44"/>
                                        </p:tgtEl>
                                      </p:cBhvr>
                                    </p:animEffect>
                                  </p:childTnLst>
                                </p:cTn>
                              </p:par>
                            </p:childTnLst>
                          </p:cTn>
                        </p:par>
                        <p:par>
                          <p:cTn id="23" fill="hold">
                            <p:stCondLst>
                              <p:cond delay="1000"/>
                            </p:stCondLst>
                            <p:childTnLst>
                              <p:par>
                                <p:cTn id="24" presetID="56" presetClass="entr" presetSubtype="0" fill="hold" grpId="0" nodeType="afterEffect">
                                  <p:stCondLst>
                                    <p:cond delay="0"/>
                                  </p:stCondLst>
                                  <p:iterate type="lt">
                                    <p:tmPct val="10000"/>
                                  </p:iterate>
                                  <p:childTnLst>
                                    <p:set>
                                      <p:cBhvr>
                                        <p:cTn id="25" dur="1" fill="hold">
                                          <p:stCondLst>
                                            <p:cond delay="0"/>
                                          </p:stCondLst>
                                        </p:cTn>
                                        <p:tgtEl>
                                          <p:spTgt spid="45"/>
                                        </p:tgtEl>
                                        <p:attrNameLst>
                                          <p:attrName>style.visibility</p:attrName>
                                        </p:attrNameLst>
                                      </p:cBhvr>
                                      <p:to>
                                        <p:strVal val="visible"/>
                                      </p:to>
                                    </p:set>
                                    <p:anim by="(-#ppt_w*2)" calcmode="lin" valueType="num">
                                      <p:cBhvr rctx="PPT">
                                        <p:cTn id="26" dur="500" autoRev="1" fill="hold">
                                          <p:stCondLst>
                                            <p:cond delay="0"/>
                                          </p:stCondLst>
                                        </p:cTn>
                                        <p:tgtEl>
                                          <p:spTgt spid="45"/>
                                        </p:tgtEl>
                                        <p:attrNameLst>
                                          <p:attrName>ppt_w</p:attrName>
                                        </p:attrNameLst>
                                      </p:cBhvr>
                                    </p:anim>
                                    <p:anim by="(#ppt_w*0.50)" calcmode="lin" valueType="num">
                                      <p:cBhvr>
                                        <p:cTn id="27" dur="500" decel="50000" autoRev="1" fill="hold">
                                          <p:stCondLst>
                                            <p:cond delay="0"/>
                                          </p:stCondLst>
                                        </p:cTn>
                                        <p:tgtEl>
                                          <p:spTgt spid="45"/>
                                        </p:tgtEl>
                                        <p:attrNameLst>
                                          <p:attrName>ppt_x</p:attrName>
                                        </p:attrNameLst>
                                      </p:cBhvr>
                                    </p:anim>
                                    <p:anim from="(-#ppt_h/2)" to="(#ppt_y)" calcmode="lin" valueType="num">
                                      <p:cBhvr>
                                        <p:cTn id="28" dur="1000" fill="hold">
                                          <p:stCondLst>
                                            <p:cond delay="0"/>
                                          </p:stCondLst>
                                        </p:cTn>
                                        <p:tgtEl>
                                          <p:spTgt spid="45"/>
                                        </p:tgtEl>
                                        <p:attrNameLst>
                                          <p:attrName>ppt_y</p:attrName>
                                        </p:attrNameLst>
                                      </p:cBhvr>
                                    </p:anim>
                                    <p:animRot by="21600000">
                                      <p:cBhvr>
                                        <p:cTn id="29" dur="1000" fill="hold">
                                          <p:stCondLst>
                                            <p:cond delay="0"/>
                                          </p:stCondLst>
                                        </p:cTn>
                                        <p:tgtEl>
                                          <p:spTgt spid="45"/>
                                        </p:tgtEl>
                                        <p:attrNameLst>
                                          <p:attrName>r</p:attrName>
                                        </p:attrNameLst>
                                      </p:cBhvr>
                                    </p:animRot>
                                  </p:childTnLst>
                                </p:cTn>
                              </p:par>
                              <p:par>
                                <p:cTn id="30" presetID="2" presetClass="entr" presetSubtype="4" decel="5330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750" fill="hold"/>
                                        <p:tgtEl>
                                          <p:spTgt spid="31"/>
                                        </p:tgtEl>
                                        <p:attrNameLst>
                                          <p:attrName>ppt_x</p:attrName>
                                        </p:attrNameLst>
                                      </p:cBhvr>
                                      <p:tavLst>
                                        <p:tav tm="0">
                                          <p:val>
                                            <p:strVal val="#ppt_x"/>
                                          </p:val>
                                        </p:tav>
                                        <p:tav tm="100000">
                                          <p:val>
                                            <p:strVal val="#ppt_x"/>
                                          </p:val>
                                        </p:tav>
                                      </p:tavLst>
                                    </p:anim>
                                    <p:anim calcmode="lin" valueType="num">
                                      <p:cBhvr additive="base">
                                        <p:cTn id="33" dur="7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6" grpId="0" animBg="1"/>
      <p:bldP spid="34" grpId="0" animBg="1"/>
      <p:bldP spid="45" grpId="0"/>
      <p:bldP spid="29" grpId="0" animBg="1"/>
      <p:bldP spid="3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48"/>
          <p:cNvSpPr txBox="1"/>
          <p:nvPr/>
        </p:nvSpPr>
        <p:spPr>
          <a:xfrm>
            <a:off x="942117" y="3172410"/>
            <a:ext cx="1554480" cy="737235"/>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rPr>
              <a:t>软件演化</a:t>
            </a:r>
          </a:p>
          <a:p>
            <a:pPr algn="ctr">
              <a:lnSpc>
                <a:spcPct val="150000"/>
              </a:lnSpc>
            </a:pPr>
            <a:r>
              <a:rPr lang="zh-CN" altLang="en-US" sz="1100" spc="100" dirty="0">
                <a:solidFill>
                  <a:schemeClr val="tx1">
                    <a:lumMod val="75000"/>
                    <a:lumOff val="25000"/>
                  </a:schemeClr>
                </a:solidFill>
                <a:latin typeface="微软雅黑" panose="020B0503020204020204" pitchFamily="34" charset="-122"/>
                <a:ea typeface="微软雅黑" panose="020B0503020204020204" pitchFamily="34" charset="-122"/>
              </a:rPr>
              <a:t>（什么是软件演化）</a:t>
            </a:r>
            <a:endParaRPr lang="zh-CN" altLang="en-US" sz="1700" spc="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TextBox 49"/>
          <p:cNvSpPr txBox="1"/>
          <p:nvPr/>
        </p:nvSpPr>
        <p:spPr>
          <a:xfrm>
            <a:off x="2746213" y="3172410"/>
            <a:ext cx="1859280" cy="737235"/>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rPr>
              <a:t>软件静态演化</a:t>
            </a:r>
          </a:p>
          <a:p>
            <a:pPr algn="ctr">
              <a:lnSpc>
                <a:spcPct val="150000"/>
              </a:lnSpc>
            </a:pPr>
            <a:r>
              <a:rPr lang="zh-CN" altLang="en-US" sz="1100" spc="100" dirty="0">
                <a:solidFill>
                  <a:prstClr val="black">
                    <a:lumMod val="75000"/>
                    <a:lumOff val="25000"/>
                  </a:prstClr>
                </a:solidFill>
                <a:latin typeface="微软雅黑" panose="020B0503020204020204" pitchFamily="34" charset="-122"/>
                <a:ea typeface="微软雅黑" panose="020B0503020204020204" pitchFamily="34" charset="-122"/>
              </a:rPr>
              <a:t>（什么是软件静态演化）</a:t>
            </a:r>
            <a:endPar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TextBox 50"/>
          <p:cNvSpPr txBox="1"/>
          <p:nvPr/>
        </p:nvSpPr>
        <p:spPr>
          <a:xfrm>
            <a:off x="6426817" y="3185313"/>
            <a:ext cx="2492990" cy="738664"/>
          </a:xfrm>
          <a:prstGeom prst="rect">
            <a:avLst/>
          </a:prstGeom>
          <a:noFill/>
        </p:spPr>
        <p:txBody>
          <a:bodyPr wrap="none" rtlCol="0">
            <a:spAutoFit/>
          </a:bodyPr>
          <a:lstStyle/>
          <a:p>
            <a:pPr algn="ctr">
              <a:lnSpc>
                <a:spcPct val="150000"/>
              </a:lnSpc>
            </a:pPr>
            <a:r>
              <a:rPr lang="zh-CN" altLang="en-US" sz="1700" b="1" spc="100" dirty="0" smtClean="0">
                <a:solidFill>
                  <a:schemeClr val="tx1">
                    <a:lumMod val="75000"/>
                    <a:lumOff val="25000"/>
                  </a:schemeClr>
                </a:solidFill>
                <a:latin typeface="微软雅黑" panose="020B0503020204020204" pitchFamily="34" charset="-122"/>
                <a:ea typeface="微软雅黑" panose="020B0503020204020204" pitchFamily="34" charset="-122"/>
              </a:rPr>
              <a:t>软件演化生命周期模型</a:t>
            </a:r>
            <a:endParaRPr lang="en-US" altLang="zh-CN" sz="1700" b="1" spc="1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100" spc="100" dirty="0" smtClean="0">
                <a:solidFill>
                  <a:prstClr val="black">
                    <a:lumMod val="75000"/>
                    <a:lumOff val="25000"/>
                  </a:prstClr>
                </a:solidFill>
                <a:latin typeface="微软雅黑" panose="020B0503020204020204" pitchFamily="34" charset="-122"/>
                <a:ea typeface="微软雅黑" panose="020B0503020204020204" pitchFamily="34" charset="-122"/>
              </a:rPr>
              <a:t>（怎样演化）</a:t>
            </a:r>
            <a:endPar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TextBox 52"/>
          <p:cNvSpPr txBox="1"/>
          <p:nvPr/>
        </p:nvSpPr>
        <p:spPr>
          <a:xfrm>
            <a:off x="4567537" y="3172410"/>
            <a:ext cx="1859280" cy="737235"/>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rPr>
              <a:t>软件动态演化</a:t>
            </a:r>
          </a:p>
          <a:p>
            <a:pPr algn="ctr">
              <a:lnSpc>
                <a:spcPct val="150000"/>
              </a:lnSpc>
            </a:pPr>
            <a:r>
              <a:rPr lang="zh-CN" altLang="en-US" sz="1100" spc="100" dirty="0">
                <a:solidFill>
                  <a:prstClr val="black">
                    <a:lumMod val="75000"/>
                    <a:lumOff val="25000"/>
                  </a:prstClr>
                </a:solidFill>
                <a:latin typeface="微软雅黑" panose="020B0503020204020204" pitchFamily="34" charset="-122"/>
                <a:ea typeface="微软雅黑" panose="020B0503020204020204" pitchFamily="34" charset="-122"/>
              </a:rPr>
              <a:t>（什么是软件动态演化）</a:t>
            </a:r>
            <a:endParaRPr lang="zh-CN" altLang="en-US" sz="1700" b="1" spc="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395536" y="1131590"/>
            <a:ext cx="8352928" cy="0"/>
          </a:xfrm>
          <a:prstGeom prst="line">
            <a:avLst/>
          </a:prstGeom>
          <a:ln>
            <a:solidFill>
              <a:srgbClr val="4BAF31"/>
            </a:solidFill>
            <a:prstDash val="sysDot"/>
          </a:ln>
        </p:spPr>
        <p:style>
          <a:lnRef idx="1">
            <a:schemeClr val="accent1"/>
          </a:lnRef>
          <a:fillRef idx="0">
            <a:schemeClr val="accent1"/>
          </a:fillRef>
          <a:effectRef idx="0">
            <a:schemeClr val="accent1"/>
          </a:effectRef>
          <a:fontRef idx="minor">
            <a:schemeClr val="tx1"/>
          </a:fontRef>
        </p:style>
      </p:cxnSp>
      <p:sp>
        <p:nvSpPr>
          <p:cNvPr id="23" name="文本框 18"/>
          <p:cNvSpPr txBox="1"/>
          <p:nvPr/>
        </p:nvSpPr>
        <p:spPr>
          <a:xfrm>
            <a:off x="3203849" y="627534"/>
            <a:ext cx="2736302" cy="461665"/>
          </a:xfrm>
          <a:prstGeom prst="rect">
            <a:avLst/>
          </a:prstGeom>
          <a:noFill/>
        </p:spPr>
        <p:txBody>
          <a:bodyPr wrap="square" rtlCol="0">
            <a:spAutoFit/>
          </a:bodyPr>
          <a:lstStyle/>
          <a:p>
            <a:pPr algn="ctr"/>
            <a:r>
              <a:rPr lang="zh-CN" altLang="en-US" sz="2400" b="1" dirty="0">
                <a:solidFill>
                  <a:srgbClr val="004B7D"/>
                </a:solidFill>
                <a:latin typeface="微软雅黑" panose="020B0503020204020204" pitchFamily="34" charset="-122"/>
                <a:ea typeface="微软雅黑" panose="020B0503020204020204" pitchFamily="34" charset="-122"/>
              </a:rPr>
              <a:t>目  录</a:t>
            </a:r>
            <a:r>
              <a:rPr lang="en-US" altLang="zh-CN" sz="2400" b="1" dirty="0">
                <a:solidFill>
                  <a:srgbClr val="4BAF31"/>
                </a:solidFill>
                <a:latin typeface="微软雅黑" panose="020B0503020204020204" pitchFamily="34" charset="-122"/>
                <a:ea typeface="微软雅黑" panose="020B0503020204020204" pitchFamily="34" charset="-122"/>
              </a:rPr>
              <a:t>/</a:t>
            </a:r>
            <a:r>
              <a:rPr lang="en-US" altLang="zh-CN" sz="1600" b="1" dirty="0">
                <a:solidFill>
                  <a:srgbClr val="4BAF31"/>
                </a:solidFill>
                <a:latin typeface="微软雅黑" panose="020B0503020204020204" pitchFamily="34" charset="-122"/>
                <a:ea typeface="微软雅黑" panose="020B0503020204020204" pitchFamily="34" charset="-122"/>
              </a:rPr>
              <a:t>CONTENTS</a:t>
            </a:r>
            <a:endParaRPr lang="en-US" altLang="zh-CN" sz="2400" b="1" dirty="0">
              <a:solidFill>
                <a:srgbClr val="4BAF31"/>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rot="5400000">
            <a:off x="1281760" y="1816690"/>
            <a:ext cx="1116508" cy="1259752"/>
            <a:chOff x="4468733" y="2771468"/>
            <a:chExt cx="1487127" cy="1677919"/>
          </a:xfrm>
        </p:grpSpPr>
        <p:sp>
          <p:nvSpPr>
            <p:cNvPr id="25" name="Freeform 5"/>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6" name="Freeform 5"/>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grpSp>
        <p:nvGrpSpPr>
          <p:cNvPr id="27" name="组合 26"/>
          <p:cNvGrpSpPr/>
          <p:nvPr/>
        </p:nvGrpSpPr>
        <p:grpSpPr>
          <a:xfrm rot="5400000">
            <a:off x="3117598" y="1816690"/>
            <a:ext cx="1116508" cy="1259752"/>
            <a:chOff x="4468733" y="2771468"/>
            <a:chExt cx="1487127" cy="1677919"/>
          </a:xfrm>
        </p:grpSpPr>
        <p:sp>
          <p:nvSpPr>
            <p:cNvPr id="28" name="Freeform 5"/>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9" name="Freeform 5"/>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4BAF3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grpSp>
        <p:nvGrpSpPr>
          <p:cNvPr id="30" name="组合 29"/>
          <p:cNvGrpSpPr/>
          <p:nvPr/>
        </p:nvGrpSpPr>
        <p:grpSpPr>
          <a:xfrm rot="5400000">
            <a:off x="4938922" y="1816690"/>
            <a:ext cx="1116508" cy="1259752"/>
            <a:chOff x="4468733" y="2771468"/>
            <a:chExt cx="1487127" cy="1677919"/>
          </a:xfrm>
        </p:grpSpPr>
        <p:sp>
          <p:nvSpPr>
            <p:cNvPr id="31" name="Freeform 5"/>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2" name="Freeform 5"/>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rot="5400000">
            <a:off x="6745733" y="1816690"/>
            <a:ext cx="1116508" cy="1259752"/>
            <a:chOff x="4468733" y="2771468"/>
            <a:chExt cx="1487127" cy="1677919"/>
          </a:xfrm>
        </p:grpSpPr>
        <p:sp>
          <p:nvSpPr>
            <p:cNvPr id="34" name="Freeform 5"/>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5" name="Freeform 5"/>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4BAF3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sp>
        <p:nvSpPr>
          <p:cNvPr id="49" name="Freeform 16"/>
          <p:cNvSpPr>
            <a:spLocks noEditPoints="1"/>
          </p:cNvSpPr>
          <p:nvPr/>
        </p:nvSpPr>
        <p:spPr bwMode="auto">
          <a:xfrm>
            <a:off x="1629976" y="2324555"/>
            <a:ext cx="420074" cy="244020"/>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sp>
        <p:nvSpPr>
          <p:cNvPr id="50" name="Freeform 9"/>
          <p:cNvSpPr>
            <a:spLocks noEditPoints="1"/>
          </p:cNvSpPr>
          <p:nvPr/>
        </p:nvSpPr>
        <p:spPr bwMode="auto">
          <a:xfrm>
            <a:off x="3515672" y="2257880"/>
            <a:ext cx="332598" cy="377370"/>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sp>
        <p:nvSpPr>
          <p:cNvPr id="51" name="Freeform 10"/>
          <p:cNvSpPr>
            <a:spLocks noEditPoints="1"/>
          </p:cNvSpPr>
          <p:nvPr/>
        </p:nvSpPr>
        <p:spPr bwMode="auto">
          <a:xfrm>
            <a:off x="5331739" y="2251273"/>
            <a:ext cx="330874" cy="354650"/>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sp>
        <p:nvSpPr>
          <p:cNvPr id="52" name="Freeform 13"/>
          <p:cNvSpPr>
            <a:spLocks noEditPoints="1"/>
          </p:cNvSpPr>
          <p:nvPr/>
        </p:nvSpPr>
        <p:spPr bwMode="auto">
          <a:xfrm>
            <a:off x="7135609" y="2265390"/>
            <a:ext cx="336754" cy="362350"/>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right)">
                                      <p:cBhvr>
                                        <p:cTn id="7" dur="500"/>
                                        <p:tgtEl>
                                          <p:spTgt spid="1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700"/>
                            </p:stCondLst>
                            <p:childTnLst>
                              <p:par>
                                <p:cTn id="16" presetID="2" presetClass="entr" presetSubtype="4" accel="40000" decel="40000" fill="hold" nodeType="after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1000" fill="hold"/>
                                        <p:tgtEl>
                                          <p:spTgt spid="24"/>
                                        </p:tgtEl>
                                        <p:attrNameLst>
                                          <p:attrName>ppt_x</p:attrName>
                                        </p:attrNameLst>
                                      </p:cBhvr>
                                      <p:tavLst>
                                        <p:tav tm="0">
                                          <p:val>
                                            <p:strVal val="#ppt_x"/>
                                          </p:val>
                                        </p:tav>
                                        <p:tav tm="100000">
                                          <p:val>
                                            <p:strVal val="#ppt_x"/>
                                          </p:val>
                                        </p:tav>
                                      </p:tavLst>
                                    </p:anim>
                                    <p:anim calcmode="lin" valueType="num">
                                      <p:cBhvr additive="base">
                                        <p:cTn id="19" dur="1000" fill="hold"/>
                                        <p:tgtEl>
                                          <p:spTgt spid="24"/>
                                        </p:tgtEl>
                                        <p:attrNameLst>
                                          <p:attrName>ppt_y</p:attrName>
                                        </p:attrNameLst>
                                      </p:cBhvr>
                                      <p:tavLst>
                                        <p:tav tm="0">
                                          <p:val>
                                            <p:strVal val="1+#ppt_h/2"/>
                                          </p:val>
                                        </p:tav>
                                        <p:tav tm="100000">
                                          <p:val>
                                            <p:strVal val="#ppt_y"/>
                                          </p:val>
                                        </p:tav>
                                      </p:tavLst>
                                    </p:anim>
                                  </p:childTnLst>
                                </p:cTn>
                              </p:par>
                            </p:childTnLst>
                          </p:cTn>
                        </p:par>
                        <p:par>
                          <p:cTn id="20" fill="hold">
                            <p:stCondLst>
                              <p:cond delay="3700"/>
                            </p:stCondLst>
                            <p:childTnLst>
                              <p:par>
                                <p:cTn id="21" presetID="5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animEffect transition="in" filter="fade">
                                      <p:cBhvr>
                                        <p:cTn id="25" dur="500"/>
                                        <p:tgtEl>
                                          <p:spTgt spid="49"/>
                                        </p:tgtEl>
                                      </p:cBhvr>
                                    </p:animEffect>
                                  </p:childTnLst>
                                </p:cTn>
                              </p:par>
                            </p:childTnLst>
                          </p:cTn>
                        </p:par>
                        <p:par>
                          <p:cTn id="26" fill="hold">
                            <p:stCondLst>
                              <p:cond delay="4200"/>
                            </p:stCondLst>
                            <p:childTnLst>
                              <p:par>
                                <p:cTn id="27" presetID="22" presetClass="entr" presetSubtype="1"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par>
                          <p:cTn id="30" fill="hold">
                            <p:stCondLst>
                              <p:cond delay="4700"/>
                            </p:stCondLst>
                            <p:childTnLst>
                              <p:par>
                                <p:cTn id="31" presetID="2" presetClass="entr" presetSubtype="4" accel="40000" decel="40000" fill="hold" nodeType="after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1000" fill="hold"/>
                                        <p:tgtEl>
                                          <p:spTgt spid="27"/>
                                        </p:tgtEl>
                                        <p:attrNameLst>
                                          <p:attrName>ppt_x</p:attrName>
                                        </p:attrNameLst>
                                      </p:cBhvr>
                                      <p:tavLst>
                                        <p:tav tm="0">
                                          <p:val>
                                            <p:strVal val="#ppt_x"/>
                                          </p:val>
                                        </p:tav>
                                        <p:tav tm="100000">
                                          <p:val>
                                            <p:strVal val="#ppt_x"/>
                                          </p:val>
                                        </p:tav>
                                      </p:tavLst>
                                    </p:anim>
                                    <p:anim calcmode="lin" valueType="num">
                                      <p:cBhvr additive="base">
                                        <p:cTn id="34" dur="1000" fill="hold"/>
                                        <p:tgtEl>
                                          <p:spTgt spid="27"/>
                                        </p:tgtEl>
                                        <p:attrNameLst>
                                          <p:attrName>ppt_y</p:attrName>
                                        </p:attrNameLst>
                                      </p:cBhvr>
                                      <p:tavLst>
                                        <p:tav tm="0">
                                          <p:val>
                                            <p:strVal val="1+#ppt_h/2"/>
                                          </p:val>
                                        </p:tav>
                                        <p:tav tm="100000">
                                          <p:val>
                                            <p:strVal val="#ppt_y"/>
                                          </p:val>
                                        </p:tav>
                                      </p:tavLst>
                                    </p:anim>
                                  </p:childTnLst>
                                </p:cTn>
                              </p:par>
                            </p:childTnLst>
                          </p:cTn>
                        </p:par>
                        <p:par>
                          <p:cTn id="35" fill="hold">
                            <p:stCondLst>
                              <p:cond delay="5700"/>
                            </p:stCondLst>
                            <p:childTnLst>
                              <p:par>
                                <p:cTn id="36" presetID="53" presetClass="entr" presetSubtype="16" fill="hold" grpId="0" nodeType="after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p:cTn id="38" dur="500" fill="hold"/>
                                        <p:tgtEl>
                                          <p:spTgt spid="50"/>
                                        </p:tgtEl>
                                        <p:attrNameLst>
                                          <p:attrName>ppt_w</p:attrName>
                                        </p:attrNameLst>
                                      </p:cBhvr>
                                      <p:tavLst>
                                        <p:tav tm="0">
                                          <p:val>
                                            <p:fltVal val="0"/>
                                          </p:val>
                                        </p:tav>
                                        <p:tav tm="100000">
                                          <p:val>
                                            <p:strVal val="#ppt_w"/>
                                          </p:val>
                                        </p:tav>
                                      </p:tavLst>
                                    </p:anim>
                                    <p:anim calcmode="lin" valueType="num">
                                      <p:cBhvr>
                                        <p:cTn id="39" dur="500" fill="hold"/>
                                        <p:tgtEl>
                                          <p:spTgt spid="50"/>
                                        </p:tgtEl>
                                        <p:attrNameLst>
                                          <p:attrName>ppt_h</p:attrName>
                                        </p:attrNameLst>
                                      </p:cBhvr>
                                      <p:tavLst>
                                        <p:tav tm="0">
                                          <p:val>
                                            <p:fltVal val="0"/>
                                          </p:val>
                                        </p:tav>
                                        <p:tav tm="100000">
                                          <p:val>
                                            <p:strVal val="#ppt_h"/>
                                          </p:val>
                                        </p:tav>
                                      </p:tavLst>
                                    </p:anim>
                                    <p:animEffect transition="in" filter="fade">
                                      <p:cBhvr>
                                        <p:cTn id="40" dur="500"/>
                                        <p:tgtEl>
                                          <p:spTgt spid="50"/>
                                        </p:tgtEl>
                                      </p:cBhvr>
                                    </p:animEffect>
                                  </p:childTnLst>
                                </p:cTn>
                              </p:par>
                            </p:childTnLst>
                          </p:cTn>
                        </p:par>
                        <p:par>
                          <p:cTn id="41" fill="hold">
                            <p:stCondLst>
                              <p:cond delay="6200"/>
                            </p:stCondLst>
                            <p:childTnLst>
                              <p:par>
                                <p:cTn id="42" presetID="22" presetClass="entr" presetSubtype="1"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childTnLst>
                          </p:cTn>
                        </p:par>
                        <p:par>
                          <p:cTn id="45" fill="hold">
                            <p:stCondLst>
                              <p:cond delay="6700"/>
                            </p:stCondLst>
                            <p:childTnLst>
                              <p:par>
                                <p:cTn id="46" presetID="2" presetClass="entr" presetSubtype="4" accel="40000" decel="40000"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1000" fill="hold"/>
                                        <p:tgtEl>
                                          <p:spTgt spid="30"/>
                                        </p:tgtEl>
                                        <p:attrNameLst>
                                          <p:attrName>ppt_x</p:attrName>
                                        </p:attrNameLst>
                                      </p:cBhvr>
                                      <p:tavLst>
                                        <p:tav tm="0">
                                          <p:val>
                                            <p:strVal val="#ppt_x"/>
                                          </p:val>
                                        </p:tav>
                                        <p:tav tm="100000">
                                          <p:val>
                                            <p:strVal val="#ppt_x"/>
                                          </p:val>
                                        </p:tav>
                                      </p:tavLst>
                                    </p:anim>
                                    <p:anim calcmode="lin" valueType="num">
                                      <p:cBhvr additive="base">
                                        <p:cTn id="49" dur="1000" fill="hold"/>
                                        <p:tgtEl>
                                          <p:spTgt spid="30"/>
                                        </p:tgtEl>
                                        <p:attrNameLst>
                                          <p:attrName>ppt_y</p:attrName>
                                        </p:attrNameLst>
                                      </p:cBhvr>
                                      <p:tavLst>
                                        <p:tav tm="0">
                                          <p:val>
                                            <p:strVal val="1+#ppt_h/2"/>
                                          </p:val>
                                        </p:tav>
                                        <p:tav tm="100000">
                                          <p:val>
                                            <p:strVal val="#ppt_y"/>
                                          </p:val>
                                        </p:tav>
                                      </p:tavLst>
                                    </p:anim>
                                  </p:childTnLst>
                                </p:cTn>
                              </p:par>
                            </p:childTnLst>
                          </p:cTn>
                        </p:par>
                        <p:par>
                          <p:cTn id="50" fill="hold">
                            <p:stCondLst>
                              <p:cond delay="7700"/>
                            </p:stCondLst>
                            <p:childTnLst>
                              <p:par>
                                <p:cTn id="51" presetID="53" presetClass="entr" presetSubtype="16"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p:cTn id="53" dur="500" fill="hold"/>
                                        <p:tgtEl>
                                          <p:spTgt spid="51"/>
                                        </p:tgtEl>
                                        <p:attrNameLst>
                                          <p:attrName>ppt_w</p:attrName>
                                        </p:attrNameLst>
                                      </p:cBhvr>
                                      <p:tavLst>
                                        <p:tav tm="0">
                                          <p:val>
                                            <p:fltVal val="0"/>
                                          </p:val>
                                        </p:tav>
                                        <p:tav tm="100000">
                                          <p:val>
                                            <p:strVal val="#ppt_w"/>
                                          </p:val>
                                        </p:tav>
                                      </p:tavLst>
                                    </p:anim>
                                    <p:anim calcmode="lin" valueType="num">
                                      <p:cBhvr>
                                        <p:cTn id="54" dur="500" fill="hold"/>
                                        <p:tgtEl>
                                          <p:spTgt spid="51"/>
                                        </p:tgtEl>
                                        <p:attrNameLst>
                                          <p:attrName>ppt_h</p:attrName>
                                        </p:attrNameLst>
                                      </p:cBhvr>
                                      <p:tavLst>
                                        <p:tav tm="0">
                                          <p:val>
                                            <p:fltVal val="0"/>
                                          </p:val>
                                        </p:tav>
                                        <p:tav tm="100000">
                                          <p:val>
                                            <p:strVal val="#ppt_h"/>
                                          </p:val>
                                        </p:tav>
                                      </p:tavLst>
                                    </p:anim>
                                    <p:animEffect transition="in" filter="fade">
                                      <p:cBhvr>
                                        <p:cTn id="55" dur="500"/>
                                        <p:tgtEl>
                                          <p:spTgt spid="51"/>
                                        </p:tgtEl>
                                      </p:cBhvr>
                                    </p:animEffect>
                                  </p:childTnLst>
                                </p:cTn>
                              </p:par>
                            </p:childTnLst>
                          </p:cTn>
                        </p:par>
                        <p:par>
                          <p:cTn id="56" fill="hold">
                            <p:stCondLst>
                              <p:cond delay="8200"/>
                            </p:stCondLst>
                            <p:childTnLst>
                              <p:par>
                                <p:cTn id="57" presetID="22" presetClass="entr" presetSubtype="1"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up)">
                                      <p:cBhvr>
                                        <p:cTn id="59" dur="500"/>
                                        <p:tgtEl>
                                          <p:spTgt spid="22"/>
                                        </p:tgtEl>
                                      </p:cBhvr>
                                    </p:animEffect>
                                  </p:childTnLst>
                                </p:cTn>
                              </p:par>
                            </p:childTnLst>
                          </p:cTn>
                        </p:par>
                        <p:par>
                          <p:cTn id="60" fill="hold">
                            <p:stCondLst>
                              <p:cond delay="8700"/>
                            </p:stCondLst>
                            <p:childTnLst>
                              <p:par>
                                <p:cTn id="61" presetID="2" presetClass="entr" presetSubtype="4" accel="40000" decel="40000" fill="hold" nodeType="after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1000" fill="hold"/>
                                        <p:tgtEl>
                                          <p:spTgt spid="33"/>
                                        </p:tgtEl>
                                        <p:attrNameLst>
                                          <p:attrName>ppt_x</p:attrName>
                                        </p:attrNameLst>
                                      </p:cBhvr>
                                      <p:tavLst>
                                        <p:tav tm="0">
                                          <p:val>
                                            <p:strVal val="#ppt_x"/>
                                          </p:val>
                                        </p:tav>
                                        <p:tav tm="100000">
                                          <p:val>
                                            <p:strVal val="#ppt_x"/>
                                          </p:val>
                                        </p:tav>
                                      </p:tavLst>
                                    </p:anim>
                                    <p:anim calcmode="lin" valueType="num">
                                      <p:cBhvr additive="base">
                                        <p:cTn id="64" dur="1000" fill="hold"/>
                                        <p:tgtEl>
                                          <p:spTgt spid="33"/>
                                        </p:tgtEl>
                                        <p:attrNameLst>
                                          <p:attrName>ppt_y</p:attrName>
                                        </p:attrNameLst>
                                      </p:cBhvr>
                                      <p:tavLst>
                                        <p:tav tm="0">
                                          <p:val>
                                            <p:strVal val="1+#ppt_h/2"/>
                                          </p:val>
                                        </p:tav>
                                        <p:tav tm="100000">
                                          <p:val>
                                            <p:strVal val="#ppt_y"/>
                                          </p:val>
                                        </p:tav>
                                      </p:tavLst>
                                    </p:anim>
                                  </p:childTnLst>
                                </p:cTn>
                              </p:par>
                            </p:childTnLst>
                          </p:cTn>
                        </p:par>
                        <p:par>
                          <p:cTn id="65" fill="hold">
                            <p:stCondLst>
                              <p:cond delay="9700"/>
                            </p:stCondLst>
                            <p:childTnLst>
                              <p:par>
                                <p:cTn id="66" presetID="53" presetClass="entr" presetSubtype="16" fill="hold" grpId="0" nodeType="afterEffect">
                                  <p:stCondLst>
                                    <p:cond delay="0"/>
                                  </p:stCondLst>
                                  <p:childTnLst>
                                    <p:set>
                                      <p:cBhvr>
                                        <p:cTn id="67" dur="1" fill="hold">
                                          <p:stCondLst>
                                            <p:cond delay="0"/>
                                          </p:stCondLst>
                                        </p:cTn>
                                        <p:tgtEl>
                                          <p:spTgt spid="52"/>
                                        </p:tgtEl>
                                        <p:attrNameLst>
                                          <p:attrName>style.visibility</p:attrName>
                                        </p:attrNameLst>
                                      </p:cBhvr>
                                      <p:to>
                                        <p:strVal val="visible"/>
                                      </p:to>
                                    </p:set>
                                    <p:anim calcmode="lin" valueType="num">
                                      <p:cBhvr>
                                        <p:cTn id="68" dur="500" fill="hold"/>
                                        <p:tgtEl>
                                          <p:spTgt spid="52"/>
                                        </p:tgtEl>
                                        <p:attrNameLst>
                                          <p:attrName>ppt_w</p:attrName>
                                        </p:attrNameLst>
                                      </p:cBhvr>
                                      <p:tavLst>
                                        <p:tav tm="0">
                                          <p:val>
                                            <p:fltVal val="0"/>
                                          </p:val>
                                        </p:tav>
                                        <p:tav tm="100000">
                                          <p:val>
                                            <p:strVal val="#ppt_w"/>
                                          </p:val>
                                        </p:tav>
                                      </p:tavLst>
                                    </p:anim>
                                    <p:anim calcmode="lin" valueType="num">
                                      <p:cBhvr>
                                        <p:cTn id="69" dur="500" fill="hold"/>
                                        <p:tgtEl>
                                          <p:spTgt spid="52"/>
                                        </p:tgtEl>
                                        <p:attrNameLst>
                                          <p:attrName>ppt_h</p:attrName>
                                        </p:attrNameLst>
                                      </p:cBhvr>
                                      <p:tavLst>
                                        <p:tav tm="0">
                                          <p:val>
                                            <p:fltVal val="0"/>
                                          </p:val>
                                        </p:tav>
                                        <p:tav tm="100000">
                                          <p:val>
                                            <p:strVal val="#ppt_h"/>
                                          </p:val>
                                        </p:tav>
                                      </p:tavLst>
                                    </p:anim>
                                    <p:animEffect transition="in" filter="fade">
                                      <p:cBhvr>
                                        <p:cTn id="70" dur="500"/>
                                        <p:tgtEl>
                                          <p:spTgt spid="52"/>
                                        </p:tgtEl>
                                      </p:cBhvr>
                                    </p:animEffect>
                                  </p:childTnLst>
                                </p:cTn>
                              </p:par>
                            </p:childTnLst>
                          </p:cTn>
                        </p:par>
                        <p:par>
                          <p:cTn id="71" fill="hold">
                            <p:stCondLst>
                              <p:cond delay="10200"/>
                            </p:stCondLst>
                            <p:childTnLst>
                              <p:par>
                                <p:cTn id="72" presetID="22" presetClass="entr" presetSubtype="1"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up)">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49" grpId="0" animBg="1"/>
      <p:bldP spid="50" grpId="0" animBg="1"/>
      <p:bldP spid="51" grpId="0" animBg="1"/>
      <p:bldP spid="5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2043172" y="1981200"/>
            <a:ext cx="5057656" cy="2032000"/>
          </a:xfrm>
          <a:prstGeom prst="roundRect">
            <a:avLst>
              <a:gd name="adj" fmla="val 4167"/>
            </a:avLst>
          </a:prstGeom>
          <a:solidFill>
            <a:srgbClr val="4BA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5"/>
          <p:cNvSpPr/>
          <p:nvPr/>
        </p:nvSpPr>
        <p:spPr bwMode="auto">
          <a:xfrm rot="10800000">
            <a:off x="3543301" y="999624"/>
            <a:ext cx="2057398" cy="18234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6F6F6"/>
          </a:solidFill>
          <a:ln w="19050">
            <a:noFill/>
          </a:ln>
          <a:effectLst/>
        </p:spPr>
        <p:txBody>
          <a:bodyPr vert="horz" wrap="square" lIns="91440" tIns="45720" rIns="91440" bIns="45720" numCol="1" anchor="t" anchorCtr="0" compatLnSpc="1"/>
          <a:lstStyle/>
          <a:p>
            <a:endParaRPr lang="zh-CN" altLang="en-US"/>
          </a:p>
        </p:txBody>
      </p:sp>
      <p:grpSp>
        <p:nvGrpSpPr>
          <p:cNvPr id="19" name="组合 18"/>
          <p:cNvGrpSpPr/>
          <p:nvPr/>
        </p:nvGrpSpPr>
        <p:grpSpPr>
          <a:xfrm>
            <a:off x="3716867" y="1153454"/>
            <a:ext cx="1710267" cy="1515795"/>
            <a:chOff x="3716867" y="1153454"/>
            <a:chExt cx="1710267" cy="1515795"/>
          </a:xfrm>
        </p:grpSpPr>
        <p:sp>
          <p:nvSpPr>
            <p:cNvPr id="6" name="Freeform 5"/>
            <p:cNvSpPr/>
            <p:nvPr/>
          </p:nvSpPr>
          <p:spPr bwMode="auto">
            <a:xfrm rot="10800000">
              <a:off x="3716867" y="1153454"/>
              <a:ext cx="1710267" cy="151579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7" name="Freeform 5"/>
            <p:cNvSpPr/>
            <p:nvPr/>
          </p:nvSpPr>
          <p:spPr bwMode="auto">
            <a:xfrm rot="10800000">
              <a:off x="3948829" y="1359038"/>
              <a:ext cx="1246344" cy="110462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sp>
        <p:nvSpPr>
          <p:cNvPr id="8" name="文本框 32"/>
          <p:cNvSpPr txBox="1"/>
          <p:nvPr/>
        </p:nvSpPr>
        <p:spPr>
          <a:xfrm>
            <a:off x="2874224" y="3194013"/>
            <a:ext cx="610666" cy="430887"/>
          </a:xfrm>
          <a:prstGeom prst="rect">
            <a:avLst/>
          </a:prstGeom>
          <a:noFill/>
        </p:spPr>
        <p:txBody>
          <a:bodyPr wrap="square" lIns="0" tIns="0" rIns="0" bIns="0" rtlCol="0">
            <a:spAutoFit/>
          </a:bodyPr>
          <a:lstStyle/>
          <a:p>
            <a:pPr algn="ctr"/>
            <a:r>
              <a:rPr lang="en-US" altLang="zh-CN" sz="2800" dirty="0">
                <a:solidFill>
                  <a:schemeClr val="bg1"/>
                </a:solidFill>
              </a:rPr>
              <a:t>01.</a:t>
            </a:r>
            <a:endParaRPr lang="zh-CN" altLang="en-US" sz="2800" dirty="0">
              <a:solidFill>
                <a:schemeClr val="bg1"/>
              </a:solidFill>
            </a:endParaRPr>
          </a:p>
        </p:txBody>
      </p:sp>
      <p:sp>
        <p:nvSpPr>
          <p:cNvPr id="13" name="Freeform 40"/>
          <p:cNvSpPr>
            <a:spLocks noEditPoints="1"/>
          </p:cNvSpPr>
          <p:nvPr/>
        </p:nvSpPr>
        <p:spPr bwMode="auto">
          <a:xfrm>
            <a:off x="4262128" y="1714787"/>
            <a:ext cx="588540" cy="393127"/>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chemeClr val="bg1"/>
          </a:solidFill>
          <a:ln>
            <a:noFill/>
          </a:ln>
        </p:spPr>
        <p:txBody>
          <a:bodyPr vert="horz" wrap="square" lIns="68553" tIns="34277" rIns="68553" bIns="34277" numCol="1" anchor="t" anchorCtr="0" compatLnSpc="1"/>
          <a:lstStyle/>
          <a:p>
            <a:endParaRPr lang="zh-CN" altLang="en-US"/>
          </a:p>
        </p:txBody>
      </p:sp>
      <p:sp>
        <p:nvSpPr>
          <p:cNvPr id="15" name="TextBox 42"/>
          <p:cNvSpPr txBox="1"/>
          <p:nvPr/>
        </p:nvSpPr>
        <p:spPr>
          <a:xfrm>
            <a:off x="3283496" y="3048191"/>
            <a:ext cx="2545804" cy="645160"/>
          </a:xfrm>
          <a:prstGeom prst="rect">
            <a:avLst/>
          </a:prstGeom>
          <a:noFill/>
        </p:spPr>
        <p:txBody>
          <a:bodyPr wrap="square" rtlCol="0">
            <a:spAutoFit/>
          </a:bodyPr>
          <a:lstStyle/>
          <a:p>
            <a:pPr algn="ctr" defTabSz="914400" fontAlgn="base">
              <a:spcBef>
                <a:spcPct val="0"/>
              </a:spcBef>
              <a:spcAft>
                <a:spcPct val="0"/>
              </a:spcAft>
              <a:buFont typeface="Arial" panose="020B0604020202020204" pitchFamily="34" charset="0"/>
              <a:buNone/>
            </a:pPr>
            <a:r>
              <a:rPr lang="zh-CN" altLang="en-US" sz="3600" b="1" spc="300" dirty="0">
                <a:solidFill>
                  <a:schemeClr val="bg1"/>
                </a:solidFill>
                <a:latin typeface="微软雅黑" panose="020B0503020204020204" pitchFamily="34" charset="-122"/>
                <a:ea typeface="微软雅黑" panose="020B0503020204020204" pitchFamily="34" charset="-122"/>
              </a:rPr>
              <a:t>软件演化</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33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750" fill="hold"/>
                                        <p:tgtEl>
                                          <p:spTgt spid="17"/>
                                        </p:tgtEl>
                                        <p:attrNameLst>
                                          <p:attrName>ppt_x</p:attrName>
                                        </p:attrNameLst>
                                      </p:cBhvr>
                                      <p:tavLst>
                                        <p:tav tm="0">
                                          <p:val>
                                            <p:strVal val="#ppt_x"/>
                                          </p:val>
                                        </p:tav>
                                        <p:tav tm="100000">
                                          <p:val>
                                            <p:strVal val="#ppt_x"/>
                                          </p:val>
                                        </p:tav>
                                      </p:tavLst>
                                    </p:anim>
                                    <p:anim calcmode="lin" valueType="num">
                                      <p:cBhvr additive="base">
                                        <p:cTn id="8" dur="75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1" decel="5330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750" fill="hold"/>
                                        <p:tgtEl>
                                          <p:spTgt spid="19"/>
                                        </p:tgtEl>
                                        <p:attrNameLst>
                                          <p:attrName>ppt_w</p:attrName>
                                        </p:attrNameLst>
                                      </p:cBhvr>
                                      <p:tavLst>
                                        <p:tav tm="0">
                                          <p:val>
                                            <p:fltVal val="0"/>
                                          </p:val>
                                        </p:tav>
                                        <p:tav tm="100000">
                                          <p:val>
                                            <p:strVal val="#ppt_w"/>
                                          </p:val>
                                        </p:tav>
                                      </p:tavLst>
                                    </p:anim>
                                    <p:anim calcmode="lin" valueType="num">
                                      <p:cBhvr>
                                        <p:cTn id="17" dur="750" fill="hold"/>
                                        <p:tgtEl>
                                          <p:spTgt spid="19"/>
                                        </p:tgtEl>
                                        <p:attrNameLst>
                                          <p:attrName>ppt_h</p:attrName>
                                        </p:attrNameLst>
                                      </p:cBhvr>
                                      <p:tavLst>
                                        <p:tav tm="0">
                                          <p:val>
                                            <p:fltVal val="0"/>
                                          </p:val>
                                        </p:tav>
                                        <p:tav tm="100000">
                                          <p:val>
                                            <p:strVal val="#ppt_h"/>
                                          </p:val>
                                        </p:tav>
                                      </p:tavLst>
                                    </p:anim>
                                    <p:animEffect transition="in" filter="fade">
                                      <p:cBhvr>
                                        <p:cTn id="18" dur="750"/>
                                        <p:tgtEl>
                                          <p:spTgt spid="19"/>
                                        </p:tgtEl>
                                      </p:cBhvr>
                                    </p:animEffect>
                                  </p:childTnLst>
                                </p:cTn>
                              </p:par>
                            </p:childTnLst>
                          </p:cTn>
                        </p:par>
                        <p:par>
                          <p:cTn id="19" fill="hold">
                            <p:stCondLst>
                              <p:cond delay="2000"/>
                            </p:stCondLst>
                            <p:childTnLst>
                              <p:par>
                                <p:cTn id="20" presetID="3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 calcmode="lin" valueType="num">
                                      <p:cBhvr>
                                        <p:cTn id="24" dur="500" fill="hold"/>
                                        <p:tgtEl>
                                          <p:spTgt spid="13"/>
                                        </p:tgtEl>
                                        <p:attrNameLst>
                                          <p:attrName>style.rotation</p:attrName>
                                        </p:attrNameLst>
                                      </p:cBhvr>
                                      <p:tavLst>
                                        <p:tav tm="0">
                                          <p:val>
                                            <p:fltVal val="90"/>
                                          </p:val>
                                        </p:tav>
                                        <p:tav tm="100000">
                                          <p:val>
                                            <p:fltVal val="0"/>
                                          </p:val>
                                        </p:tav>
                                      </p:tavLst>
                                    </p:anim>
                                    <p:animEffect transition="in" filter="fade">
                                      <p:cBhvr>
                                        <p:cTn id="25" dur="500"/>
                                        <p:tgtEl>
                                          <p:spTgt spid="13"/>
                                        </p:tgtEl>
                                      </p:cBhvr>
                                    </p:animEffect>
                                  </p:childTnLst>
                                </p:cTn>
                              </p:par>
                              <p:par>
                                <p:cTn id="26" presetID="8" presetClass="emph" presetSubtype="0" fill="hold" grpId="1" nodeType="withEffect">
                                  <p:stCondLst>
                                    <p:cond delay="0"/>
                                  </p:stCondLst>
                                  <p:childTnLst>
                                    <p:animRot by="21600000">
                                      <p:cBhvr>
                                        <p:cTn id="27" dur="500" fill="hold"/>
                                        <p:tgtEl>
                                          <p:spTgt spid="13"/>
                                        </p:tgtEl>
                                        <p:attrNameLst>
                                          <p:attrName>r</p:attrName>
                                        </p:attrNameLst>
                                      </p:cBhvr>
                                    </p:animRo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par>
                          <p:cTn id="34" fill="hold">
                            <p:stCondLst>
                              <p:cond delay="3000"/>
                            </p:stCondLst>
                            <p:childTnLst>
                              <p:par>
                                <p:cTn id="35" presetID="41" presetClass="entr" presetSubtype="0" fill="hold" grpId="0" nodeType="afterEffect">
                                  <p:stCondLst>
                                    <p:cond delay="0"/>
                                  </p:stCondLst>
                                  <p:iterate type="lt">
                                    <p:tmPct val="10000"/>
                                  </p:iterate>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15"/>
                                        </p:tgtEl>
                                        <p:attrNameLst>
                                          <p:attrName>ppt_y</p:attrName>
                                        </p:attrNameLst>
                                      </p:cBhvr>
                                      <p:tavLst>
                                        <p:tav tm="0">
                                          <p:val>
                                            <p:strVal val="#ppt_y"/>
                                          </p:val>
                                        </p:tav>
                                        <p:tav tm="100000">
                                          <p:val>
                                            <p:strVal val="#ppt_y"/>
                                          </p:val>
                                        </p:tav>
                                      </p:tavLst>
                                    </p:anim>
                                    <p:anim calcmode="lin" valueType="num">
                                      <p:cBhvr>
                                        <p:cTn id="3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8" grpId="0"/>
      <p:bldP spid="13" grpId="0" animBg="1"/>
      <p:bldP spid="13" grpId="1" animBg="1"/>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软件变更的问题</a:t>
            </a:r>
            <a:endParaRPr lang="zh-CN" altLang="en-US" dirty="0"/>
          </a:p>
        </p:txBody>
      </p:sp>
      <p:sp>
        <p:nvSpPr>
          <p:cNvPr id="3" name="内容占位符 2"/>
          <p:cNvSpPr>
            <a:spLocks noGrp="1"/>
          </p:cNvSpPr>
          <p:nvPr>
            <p:ph idx="1"/>
          </p:nvPr>
        </p:nvSpPr>
        <p:spPr/>
        <p:txBody>
          <a:bodyPr/>
          <a:lstStyle/>
          <a:p>
            <a:r>
              <a:rPr lang="zh-CN" altLang="en-US" dirty="0" smtClean="0"/>
              <a:t>对于任何的软件系统来说，不改变是不可能的，除非这个系统没有被使用。因此，软件系统在交付之后仍然在不断地进化。</a:t>
            </a:r>
            <a:endParaRPr lang="en-US" altLang="zh-CN" dirty="0" smtClean="0"/>
          </a:p>
          <a:p>
            <a:r>
              <a:rPr lang="zh-CN" altLang="en-US" dirty="0"/>
              <a:t>软件</a:t>
            </a:r>
            <a:r>
              <a:rPr lang="zh-CN" altLang="en-US" dirty="0" smtClean="0"/>
              <a:t>变更的主要情况：</a:t>
            </a:r>
            <a:endParaRPr lang="en-US" altLang="zh-CN" dirty="0" smtClean="0"/>
          </a:p>
          <a:p>
            <a:r>
              <a:rPr lang="en-US" altLang="zh-CN" dirty="0" smtClean="0"/>
              <a:t>1.</a:t>
            </a:r>
            <a:r>
              <a:rPr lang="zh-CN" altLang="en-US" dirty="0" smtClean="0"/>
              <a:t>软件在使用过程中，新的需求不断出现</a:t>
            </a:r>
            <a:endParaRPr lang="en-US" altLang="zh-CN" dirty="0" smtClean="0"/>
          </a:p>
          <a:p>
            <a:r>
              <a:rPr lang="en-US" altLang="zh-CN" dirty="0" smtClean="0"/>
              <a:t>2.</a:t>
            </a:r>
            <a:r>
              <a:rPr lang="zh-CN" altLang="en-US" dirty="0" smtClean="0"/>
              <a:t>商业环境在不断地变化</a:t>
            </a:r>
            <a:endParaRPr lang="en-US" altLang="zh-CN" dirty="0" smtClean="0"/>
          </a:p>
          <a:p>
            <a:r>
              <a:rPr lang="en-US" altLang="zh-CN" dirty="0" smtClean="0"/>
              <a:t>3.</a:t>
            </a:r>
            <a:r>
              <a:rPr lang="zh-CN" altLang="en-US" dirty="0" smtClean="0"/>
              <a:t>软件中的缺陷需要进行修复</a:t>
            </a:r>
            <a:endParaRPr lang="en-US" altLang="zh-CN" dirty="0" smtClean="0"/>
          </a:p>
          <a:p>
            <a:r>
              <a:rPr lang="en-US" altLang="zh-CN" dirty="0" smtClean="0"/>
              <a:t>4.</a:t>
            </a:r>
            <a:r>
              <a:rPr lang="zh-CN" altLang="en-US" dirty="0" smtClean="0"/>
              <a:t>计算机硬件和软件环境的升级需要更新现有的系统</a:t>
            </a:r>
            <a:endParaRPr lang="en-US" altLang="zh-CN" dirty="0" smtClean="0"/>
          </a:p>
          <a:p>
            <a:r>
              <a:rPr lang="en-US" altLang="zh-CN" dirty="0" smtClean="0"/>
              <a:t>5.</a:t>
            </a:r>
            <a:r>
              <a:rPr lang="zh-CN" altLang="en-US" dirty="0" smtClean="0"/>
              <a:t>软件的性能和可靠性需要进一步改进</a:t>
            </a:r>
            <a:endParaRPr lang="zh-CN" altLang="en-US" dirty="0"/>
          </a:p>
        </p:txBody>
      </p:sp>
    </p:spTree>
    <p:extLst>
      <p:ext uri="{BB962C8B-B14F-4D97-AF65-F5344CB8AC3E}">
        <p14:creationId xmlns:p14="http://schemas.microsoft.com/office/powerpoint/2010/main" val="1700756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484584" y="339538"/>
            <a:ext cx="7053542" cy="1059494"/>
          </a:xfrm>
        </p:spPr>
        <p:txBody>
          <a:bodyPr/>
          <a:lstStyle/>
          <a:p>
            <a:r>
              <a:rPr lang="en-US" altLang="en-US" dirty="0" smtClean="0"/>
              <a:t>软件演化概述</a:t>
            </a:r>
            <a:endParaRPr lang="zh-CN" altLang="en-US" dirty="0"/>
          </a:p>
        </p:txBody>
      </p:sp>
      <p:sp>
        <p:nvSpPr>
          <p:cNvPr id="379907" name="Rectangle 3"/>
          <p:cNvSpPr>
            <a:spLocks noGrp="1" noChangeArrowheads="1"/>
          </p:cNvSpPr>
          <p:nvPr>
            <p:ph type="body" idx="1"/>
          </p:nvPr>
        </p:nvSpPr>
        <p:spPr>
          <a:xfrm>
            <a:off x="1302878" y="1232154"/>
            <a:ext cx="6028134" cy="3363516"/>
          </a:xfrm>
        </p:spPr>
        <p:txBody>
          <a:bodyPr>
            <a:normAutofit/>
          </a:bodyPr>
          <a:lstStyle/>
          <a:p>
            <a:endParaRPr lang="zh-CN" altLang="en-US" sz="2100" dirty="0"/>
          </a:p>
          <a:p>
            <a:r>
              <a:rPr lang="zh-CN" altLang="en-US" sz="2100" dirty="0"/>
              <a:t>演化是一项贯穿始终的活动，系统需求改变、功能实现增强、新功能加入、软件体系结构改变、软件缺陷修复、运行环境改变均要求软件系统具有较强的演化能力，能够快速适应改变，减少软件维护的代价。</a:t>
            </a:r>
            <a:endParaRPr lang="en-US" altLang="zh-CN" sz="2100" dirty="0"/>
          </a:p>
        </p:txBody>
      </p:sp>
    </p:spTree>
    <p:extLst>
      <p:ext uri="{BB962C8B-B14F-4D97-AF65-F5344CB8AC3E}">
        <p14:creationId xmlns:p14="http://schemas.microsoft.com/office/powerpoint/2010/main" val="1247095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r>
              <a:rPr lang="en-US" altLang="en-US" sz="3300" dirty="0"/>
              <a:t>软件演化概述</a:t>
            </a:r>
            <a:endParaRPr lang="zh-CN" altLang="en-US" sz="3300" dirty="0"/>
          </a:p>
        </p:txBody>
      </p:sp>
      <p:sp>
        <p:nvSpPr>
          <p:cNvPr id="596995" name="Rectangle 3"/>
          <p:cNvSpPr>
            <a:spLocks noGrp="1" noChangeArrowheads="1"/>
          </p:cNvSpPr>
          <p:nvPr>
            <p:ph type="body" idx="1"/>
          </p:nvPr>
        </p:nvSpPr>
        <p:spPr>
          <a:xfrm>
            <a:off x="1211438" y="1296162"/>
            <a:ext cx="6028134" cy="3363516"/>
          </a:xfrm>
        </p:spPr>
        <p:txBody>
          <a:bodyPr>
            <a:normAutofit/>
          </a:bodyPr>
          <a:lstStyle/>
          <a:p>
            <a:r>
              <a:rPr lang="zh-CN" altLang="en-US" sz="2700" dirty="0"/>
              <a:t>软件演化是指在软件生命周期内</a:t>
            </a:r>
            <a:r>
              <a:rPr lang="zh-CN" altLang="en-US" sz="2700" dirty="0">
                <a:solidFill>
                  <a:srgbClr val="FF0000"/>
                </a:solidFill>
              </a:rPr>
              <a:t>进行系统维护和系统更新的动态行为和过程</a:t>
            </a:r>
            <a:endParaRPr lang="en-US" altLang="zh-CN" sz="2700" dirty="0">
              <a:solidFill>
                <a:srgbClr val="FF0000"/>
              </a:solidFill>
            </a:endParaRPr>
          </a:p>
          <a:p>
            <a:endParaRPr lang="zh-CN" altLang="en-US" sz="2700" dirty="0"/>
          </a:p>
          <a:p>
            <a:r>
              <a:rPr lang="zh-CN" altLang="en-US" sz="2700" dirty="0"/>
              <a:t>软件演化的核心问题是：如何使软件系统适应外界的改变，软件演化过程是软件演化和软件过程的统一</a:t>
            </a:r>
          </a:p>
        </p:txBody>
      </p:sp>
    </p:spTree>
    <p:extLst>
      <p:ext uri="{BB962C8B-B14F-4D97-AF65-F5344CB8AC3E}">
        <p14:creationId xmlns:p14="http://schemas.microsoft.com/office/powerpoint/2010/main" val="1512545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什么是软件演化</a:t>
            </a:r>
          </a:p>
        </p:txBody>
      </p:sp>
      <p:sp>
        <p:nvSpPr>
          <p:cNvPr id="11" name="MH_Other_1"/>
          <p:cNvSpPr/>
          <p:nvPr>
            <p:custDataLst>
              <p:tags r:id="rId1"/>
            </p:custDataLst>
          </p:nvPr>
        </p:nvSpPr>
        <p:spPr>
          <a:xfrm rot="16374127">
            <a:off x="177416" y="2406678"/>
            <a:ext cx="3244870" cy="1442806"/>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2" name="MH_Other_2"/>
          <p:cNvSpPr/>
          <p:nvPr>
            <p:custDataLst>
              <p:tags r:id="rId2"/>
            </p:custDataLst>
          </p:nvPr>
        </p:nvSpPr>
        <p:spPr>
          <a:xfrm rot="18174127">
            <a:off x="642721" y="2543021"/>
            <a:ext cx="3244871" cy="1444250"/>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3" name="MH_Other_3"/>
          <p:cNvSpPr/>
          <p:nvPr>
            <p:custDataLst>
              <p:tags r:id="rId3"/>
            </p:custDataLst>
          </p:nvPr>
        </p:nvSpPr>
        <p:spPr>
          <a:xfrm rot="19974127">
            <a:off x="921183" y="2890739"/>
            <a:ext cx="3244871" cy="1442806"/>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4" name="MH_Other_4"/>
          <p:cNvSpPr/>
          <p:nvPr>
            <p:custDataLst>
              <p:tags r:id="rId4"/>
            </p:custDataLst>
          </p:nvPr>
        </p:nvSpPr>
        <p:spPr>
          <a:xfrm rot="174127">
            <a:off x="1040936" y="3356764"/>
            <a:ext cx="3244871" cy="1444250"/>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5" name="椭圆 14"/>
          <p:cNvSpPr/>
          <p:nvPr/>
        </p:nvSpPr>
        <p:spPr>
          <a:xfrm>
            <a:off x="1094132" y="3392648"/>
            <a:ext cx="1277256" cy="1277256"/>
          </a:xfrm>
          <a:prstGeom prst="ellipse">
            <a:avLst/>
          </a:prstGeom>
          <a:solidFill>
            <a:srgbClr val="F6F6F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软件演化</a:t>
            </a:r>
          </a:p>
        </p:txBody>
      </p:sp>
      <p:sp>
        <p:nvSpPr>
          <p:cNvPr id="16" name="椭圆 15"/>
          <p:cNvSpPr/>
          <p:nvPr/>
        </p:nvSpPr>
        <p:spPr>
          <a:xfrm>
            <a:off x="3493686" y="3849462"/>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04</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椭圆 16"/>
          <p:cNvSpPr/>
          <p:nvPr/>
        </p:nvSpPr>
        <p:spPr>
          <a:xfrm>
            <a:off x="3280150" y="2770965"/>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03</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2613574" y="1939187"/>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02</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1570425" y="1577764"/>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01</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文本框 17"/>
          <p:cNvSpPr txBox="1"/>
          <p:nvPr/>
        </p:nvSpPr>
        <p:spPr bwMode="auto">
          <a:xfrm>
            <a:off x="4407399" y="3897838"/>
            <a:ext cx="3404961" cy="622300"/>
          </a:xfrm>
          <a:prstGeom prst="rect">
            <a:avLst/>
          </a:prstGeom>
          <a:noFill/>
        </p:spPr>
        <p:txBody>
          <a:bodyPr wrap="square" lIns="68580" tIns="34290" rIns="68580" bIns="34290">
            <a:spAutoFit/>
          </a:bodyPr>
          <a:lstStyle/>
          <a:p>
            <a:pPr>
              <a:lnSpc>
                <a:spcPct val="150000"/>
              </a:lnSpc>
              <a:spcBef>
                <a:spcPct val="0"/>
              </a:spcBef>
            </a:pPr>
            <a:r>
              <a:rPr lang="zh-CN" altLang="en-US" sz="1200" b="1" dirty="0">
                <a:solidFill>
                  <a:srgbClr val="4BAF31"/>
                </a:solidFill>
                <a:latin typeface="微软雅黑" panose="020B0503020204020204" pitchFamily="34" charset="-122"/>
                <a:ea typeface="微软雅黑" panose="020B0503020204020204" pitchFamily="34" charset="-122"/>
              </a:rPr>
              <a:t>是指软件在其生命周期内进行系统维护和系统更新的动态行为。</a:t>
            </a:r>
          </a:p>
        </p:txBody>
      </p:sp>
      <p:sp>
        <p:nvSpPr>
          <p:cNvPr id="21" name="文本框 17"/>
          <p:cNvSpPr txBox="1"/>
          <p:nvPr/>
        </p:nvSpPr>
        <p:spPr bwMode="auto">
          <a:xfrm>
            <a:off x="4139952" y="2819341"/>
            <a:ext cx="3404961" cy="622300"/>
          </a:xfrm>
          <a:prstGeom prst="rect">
            <a:avLst/>
          </a:prstGeom>
          <a:noFill/>
        </p:spPr>
        <p:txBody>
          <a:bodyPr wrap="square" lIns="68580" tIns="34290" rIns="68580" bIns="34290">
            <a:spAutoFit/>
          </a:bodyPr>
          <a:lstStyle/>
          <a:p>
            <a:pPr>
              <a:lnSpc>
                <a:spcPct val="150000"/>
              </a:lnSpc>
              <a:spcBef>
                <a:spcPct val="0"/>
              </a:spcBef>
            </a:pPr>
            <a:r>
              <a:rPr lang="zh-CN" altLang="en-US" sz="1200" dirty="0">
                <a:sym typeface="+mn-ea"/>
              </a:rPr>
              <a:t>软件系统进行渐进完善并达到所希望的目标的过程就是软件演化</a:t>
            </a:r>
            <a:r>
              <a:rPr lang="en-US" altLang="zh-CN" sz="1200">
                <a:sym typeface="+mn-ea"/>
              </a:rPr>
              <a:t>(Software Evolution)</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文本框 17"/>
          <p:cNvSpPr txBox="1"/>
          <p:nvPr/>
        </p:nvSpPr>
        <p:spPr bwMode="auto">
          <a:xfrm>
            <a:off x="3490595" y="1699260"/>
            <a:ext cx="4650105" cy="899160"/>
          </a:xfrm>
          <a:prstGeom prst="rect">
            <a:avLst/>
          </a:prstGeom>
          <a:noFill/>
        </p:spPr>
        <p:txBody>
          <a:bodyPr wrap="square" lIns="68580" tIns="34290" rIns="68580" bIns="34290">
            <a:spAutoFit/>
          </a:bodyPr>
          <a:lstStyle/>
          <a:p>
            <a:pPr>
              <a:lnSpc>
                <a:spcPct val="150000"/>
              </a:lnSpc>
              <a:spcBef>
                <a:spcPct val="0"/>
              </a:spcBef>
            </a:pPr>
            <a:r>
              <a:rPr lang="zh-CN" altLang="en-US" sz="1200" dirty="0">
                <a:sym typeface="+mn-ea"/>
              </a:rPr>
              <a:t>在软件系统开发完毕正式投入使用之后，用户需求发生了改变，或者要将该系统移植到另一个运行环境中，或者在新环境中需求发生变化，都需要对软件系统进行修改和完善</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3" name="文本框 17"/>
          <p:cNvSpPr txBox="1"/>
          <p:nvPr/>
        </p:nvSpPr>
        <p:spPr bwMode="auto">
          <a:xfrm>
            <a:off x="2297669" y="869225"/>
            <a:ext cx="3404961" cy="899160"/>
          </a:xfrm>
          <a:prstGeom prst="rect">
            <a:avLst/>
          </a:prstGeom>
          <a:noFill/>
        </p:spPr>
        <p:txBody>
          <a:bodyPr wrap="square" lIns="68580" tIns="34290" rIns="68580" bIns="34290">
            <a:spAutoFit/>
          </a:bodyPr>
          <a:lstStyle/>
          <a:p>
            <a:pPr lvl="0">
              <a:lnSpc>
                <a:spcPct val="150000"/>
              </a:lnSpc>
              <a:spcBef>
                <a:spcPct val="0"/>
              </a:spcBef>
            </a:pPr>
            <a:endParaRPr lang="zh-CN" altLang="en-US" sz="1200" b="1" dirty="0">
              <a:solidFill>
                <a:srgbClr val="4BAF31"/>
              </a:solidFill>
              <a:latin typeface="微软雅黑" panose="020B0503020204020204" pitchFamily="34" charset="-122"/>
              <a:ea typeface="微软雅黑" panose="020B0503020204020204" pitchFamily="34" charset="-122"/>
            </a:endParaRPr>
          </a:p>
          <a:p>
            <a:pPr lvl="0">
              <a:lnSpc>
                <a:spcPct val="150000"/>
              </a:lnSpc>
              <a:spcBef>
                <a:spcPct val="0"/>
              </a:spcBef>
            </a:pPr>
            <a:r>
              <a:rPr lang="zh-CN" altLang="en-US" sz="1200" dirty="0">
                <a:sym typeface="+mn-ea"/>
              </a:rPr>
              <a:t>软件的开发、发布和维护是一个渐进变化并要达到预期目标的过程，是一种演化过程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700"/>
                            </p:stCondLst>
                            <p:childTnLst>
                              <p:par>
                                <p:cTn id="22" presetID="3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750" fill="hold"/>
                                        <p:tgtEl>
                                          <p:spTgt spid="11"/>
                                        </p:tgtEl>
                                        <p:attrNameLst>
                                          <p:attrName>ppt_w</p:attrName>
                                        </p:attrNameLst>
                                      </p:cBhvr>
                                      <p:tavLst>
                                        <p:tav tm="0">
                                          <p:val>
                                            <p:fltVal val="0"/>
                                          </p:val>
                                        </p:tav>
                                        <p:tav tm="100000">
                                          <p:val>
                                            <p:strVal val="#ppt_w"/>
                                          </p:val>
                                        </p:tav>
                                      </p:tavLst>
                                    </p:anim>
                                    <p:anim calcmode="lin" valueType="num">
                                      <p:cBhvr>
                                        <p:cTn id="25" dur="750" fill="hold"/>
                                        <p:tgtEl>
                                          <p:spTgt spid="11"/>
                                        </p:tgtEl>
                                        <p:attrNameLst>
                                          <p:attrName>ppt_h</p:attrName>
                                        </p:attrNameLst>
                                      </p:cBhvr>
                                      <p:tavLst>
                                        <p:tav tm="0">
                                          <p:val>
                                            <p:fltVal val="0"/>
                                          </p:val>
                                        </p:tav>
                                        <p:tav tm="100000">
                                          <p:val>
                                            <p:strVal val="#ppt_h"/>
                                          </p:val>
                                        </p:tav>
                                      </p:tavLst>
                                    </p:anim>
                                    <p:anim calcmode="lin" valueType="num">
                                      <p:cBhvr>
                                        <p:cTn id="26" dur="750" fill="hold"/>
                                        <p:tgtEl>
                                          <p:spTgt spid="11"/>
                                        </p:tgtEl>
                                        <p:attrNameLst>
                                          <p:attrName>style.rotation</p:attrName>
                                        </p:attrNameLst>
                                      </p:cBhvr>
                                      <p:tavLst>
                                        <p:tav tm="0">
                                          <p:val>
                                            <p:fltVal val="90"/>
                                          </p:val>
                                        </p:tav>
                                        <p:tav tm="100000">
                                          <p:val>
                                            <p:fltVal val="0"/>
                                          </p:val>
                                        </p:tav>
                                      </p:tavLst>
                                    </p:anim>
                                    <p:animEffect transition="in" filter="fade">
                                      <p:cBhvr>
                                        <p:cTn id="27" dur="750"/>
                                        <p:tgtEl>
                                          <p:spTgt spid="11"/>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750" fill="hold"/>
                                        <p:tgtEl>
                                          <p:spTgt spid="12"/>
                                        </p:tgtEl>
                                        <p:attrNameLst>
                                          <p:attrName>ppt_w</p:attrName>
                                        </p:attrNameLst>
                                      </p:cBhvr>
                                      <p:tavLst>
                                        <p:tav tm="0">
                                          <p:val>
                                            <p:fltVal val="0"/>
                                          </p:val>
                                        </p:tav>
                                        <p:tav tm="100000">
                                          <p:val>
                                            <p:strVal val="#ppt_w"/>
                                          </p:val>
                                        </p:tav>
                                      </p:tavLst>
                                    </p:anim>
                                    <p:anim calcmode="lin" valueType="num">
                                      <p:cBhvr>
                                        <p:cTn id="31" dur="750" fill="hold"/>
                                        <p:tgtEl>
                                          <p:spTgt spid="12"/>
                                        </p:tgtEl>
                                        <p:attrNameLst>
                                          <p:attrName>ppt_h</p:attrName>
                                        </p:attrNameLst>
                                      </p:cBhvr>
                                      <p:tavLst>
                                        <p:tav tm="0">
                                          <p:val>
                                            <p:fltVal val="0"/>
                                          </p:val>
                                        </p:tav>
                                        <p:tav tm="100000">
                                          <p:val>
                                            <p:strVal val="#ppt_h"/>
                                          </p:val>
                                        </p:tav>
                                      </p:tavLst>
                                    </p:anim>
                                    <p:anim calcmode="lin" valueType="num">
                                      <p:cBhvr>
                                        <p:cTn id="32" dur="750" fill="hold"/>
                                        <p:tgtEl>
                                          <p:spTgt spid="12"/>
                                        </p:tgtEl>
                                        <p:attrNameLst>
                                          <p:attrName>style.rotation</p:attrName>
                                        </p:attrNameLst>
                                      </p:cBhvr>
                                      <p:tavLst>
                                        <p:tav tm="0">
                                          <p:val>
                                            <p:fltVal val="90"/>
                                          </p:val>
                                        </p:tav>
                                        <p:tav tm="100000">
                                          <p:val>
                                            <p:fltVal val="0"/>
                                          </p:val>
                                        </p:tav>
                                      </p:tavLst>
                                    </p:anim>
                                    <p:animEffect transition="in" filter="fade">
                                      <p:cBhvr>
                                        <p:cTn id="33" dur="750"/>
                                        <p:tgtEl>
                                          <p:spTgt spid="12"/>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750" fill="hold"/>
                                        <p:tgtEl>
                                          <p:spTgt spid="13"/>
                                        </p:tgtEl>
                                        <p:attrNameLst>
                                          <p:attrName>ppt_w</p:attrName>
                                        </p:attrNameLst>
                                      </p:cBhvr>
                                      <p:tavLst>
                                        <p:tav tm="0">
                                          <p:val>
                                            <p:fltVal val="0"/>
                                          </p:val>
                                        </p:tav>
                                        <p:tav tm="100000">
                                          <p:val>
                                            <p:strVal val="#ppt_w"/>
                                          </p:val>
                                        </p:tav>
                                      </p:tavLst>
                                    </p:anim>
                                    <p:anim calcmode="lin" valueType="num">
                                      <p:cBhvr>
                                        <p:cTn id="37" dur="750" fill="hold"/>
                                        <p:tgtEl>
                                          <p:spTgt spid="13"/>
                                        </p:tgtEl>
                                        <p:attrNameLst>
                                          <p:attrName>ppt_h</p:attrName>
                                        </p:attrNameLst>
                                      </p:cBhvr>
                                      <p:tavLst>
                                        <p:tav tm="0">
                                          <p:val>
                                            <p:fltVal val="0"/>
                                          </p:val>
                                        </p:tav>
                                        <p:tav tm="100000">
                                          <p:val>
                                            <p:strVal val="#ppt_h"/>
                                          </p:val>
                                        </p:tav>
                                      </p:tavLst>
                                    </p:anim>
                                    <p:anim calcmode="lin" valueType="num">
                                      <p:cBhvr>
                                        <p:cTn id="38" dur="750" fill="hold"/>
                                        <p:tgtEl>
                                          <p:spTgt spid="13"/>
                                        </p:tgtEl>
                                        <p:attrNameLst>
                                          <p:attrName>style.rotation</p:attrName>
                                        </p:attrNameLst>
                                      </p:cBhvr>
                                      <p:tavLst>
                                        <p:tav tm="0">
                                          <p:val>
                                            <p:fltVal val="90"/>
                                          </p:val>
                                        </p:tav>
                                        <p:tav tm="100000">
                                          <p:val>
                                            <p:fltVal val="0"/>
                                          </p:val>
                                        </p:tav>
                                      </p:tavLst>
                                    </p:anim>
                                    <p:animEffect transition="in" filter="fade">
                                      <p:cBhvr>
                                        <p:cTn id="39" dur="750"/>
                                        <p:tgtEl>
                                          <p:spTgt spid="13"/>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750" fill="hold"/>
                                        <p:tgtEl>
                                          <p:spTgt spid="14"/>
                                        </p:tgtEl>
                                        <p:attrNameLst>
                                          <p:attrName>ppt_w</p:attrName>
                                        </p:attrNameLst>
                                      </p:cBhvr>
                                      <p:tavLst>
                                        <p:tav tm="0">
                                          <p:val>
                                            <p:fltVal val="0"/>
                                          </p:val>
                                        </p:tav>
                                        <p:tav tm="100000">
                                          <p:val>
                                            <p:strVal val="#ppt_w"/>
                                          </p:val>
                                        </p:tav>
                                      </p:tavLst>
                                    </p:anim>
                                    <p:anim calcmode="lin" valueType="num">
                                      <p:cBhvr>
                                        <p:cTn id="43" dur="750" fill="hold"/>
                                        <p:tgtEl>
                                          <p:spTgt spid="14"/>
                                        </p:tgtEl>
                                        <p:attrNameLst>
                                          <p:attrName>ppt_h</p:attrName>
                                        </p:attrNameLst>
                                      </p:cBhvr>
                                      <p:tavLst>
                                        <p:tav tm="0">
                                          <p:val>
                                            <p:fltVal val="0"/>
                                          </p:val>
                                        </p:tav>
                                        <p:tav tm="100000">
                                          <p:val>
                                            <p:strVal val="#ppt_h"/>
                                          </p:val>
                                        </p:tav>
                                      </p:tavLst>
                                    </p:anim>
                                    <p:anim calcmode="lin" valueType="num">
                                      <p:cBhvr>
                                        <p:cTn id="44" dur="750" fill="hold"/>
                                        <p:tgtEl>
                                          <p:spTgt spid="14"/>
                                        </p:tgtEl>
                                        <p:attrNameLst>
                                          <p:attrName>style.rotation</p:attrName>
                                        </p:attrNameLst>
                                      </p:cBhvr>
                                      <p:tavLst>
                                        <p:tav tm="0">
                                          <p:val>
                                            <p:fltVal val="90"/>
                                          </p:val>
                                        </p:tav>
                                        <p:tav tm="100000">
                                          <p:val>
                                            <p:fltVal val="0"/>
                                          </p:val>
                                        </p:tav>
                                      </p:tavLst>
                                    </p:anim>
                                    <p:animEffect transition="in" filter="fade">
                                      <p:cBhvr>
                                        <p:cTn id="45" dur="750"/>
                                        <p:tgtEl>
                                          <p:spTgt spid="14"/>
                                        </p:tgtEl>
                                      </p:cBhvr>
                                    </p:animEffect>
                                  </p:childTnLst>
                                </p:cTn>
                              </p:par>
                            </p:childTnLst>
                          </p:cTn>
                        </p:par>
                        <p:par>
                          <p:cTn id="46" fill="hold">
                            <p:stCondLst>
                              <p:cond delay="2700"/>
                            </p:stCondLst>
                            <p:childTnLst>
                              <p:par>
                                <p:cTn id="47" presetID="21" presetClass="entr" presetSubtype="1"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heel(1)">
                                      <p:cBhvr>
                                        <p:cTn id="49" dur="500"/>
                                        <p:tgtEl>
                                          <p:spTgt spid="15"/>
                                        </p:tgtEl>
                                      </p:cBhvr>
                                    </p:animEffect>
                                  </p:childTnLst>
                                </p:cTn>
                              </p:par>
                            </p:childTnLst>
                          </p:cTn>
                        </p:par>
                        <p:par>
                          <p:cTn id="50" fill="hold">
                            <p:stCondLst>
                              <p:cond delay="3200"/>
                            </p:stCondLst>
                            <p:childTnLst>
                              <p:par>
                                <p:cTn id="51" presetID="53" presetClass="entr" presetSubtype="16"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p:cTn id="53" dur="500" fill="hold"/>
                                        <p:tgtEl>
                                          <p:spTgt spid="19"/>
                                        </p:tgtEl>
                                        <p:attrNameLst>
                                          <p:attrName>ppt_w</p:attrName>
                                        </p:attrNameLst>
                                      </p:cBhvr>
                                      <p:tavLst>
                                        <p:tav tm="0">
                                          <p:val>
                                            <p:fltVal val="0"/>
                                          </p:val>
                                        </p:tav>
                                        <p:tav tm="100000">
                                          <p:val>
                                            <p:strVal val="#ppt_w"/>
                                          </p:val>
                                        </p:tav>
                                      </p:tavLst>
                                    </p:anim>
                                    <p:anim calcmode="lin" valueType="num">
                                      <p:cBhvr>
                                        <p:cTn id="54" dur="500" fill="hold"/>
                                        <p:tgtEl>
                                          <p:spTgt spid="19"/>
                                        </p:tgtEl>
                                        <p:attrNameLst>
                                          <p:attrName>ppt_h</p:attrName>
                                        </p:attrNameLst>
                                      </p:cBhvr>
                                      <p:tavLst>
                                        <p:tav tm="0">
                                          <p:val>
                                            <p:fltVal val="0"/>
                                          </p:val>
                                        </p:tav>
                                        <p:tav tm="100000">
                                          <p:val>
                                            <p:strVal val="#ppt_h"/>
                                          </p:val>
                                        </p:tav>
                                      </p:tavLst>
                                    </p:anim>
                                    <p:animEffect transition="in" filter="fade">
                                      <p:cBhvr>
                                        <p:cTn id="55" dur="500"/>
                                        <p:tgtEl>
                                          <p:spTgt spid="19"/>
                                        </p:tgtEl>
                                      </p:cBhvr>
                                    </p:animEffect>
                                  </p:childTnLst>
                                </p:cTn>
                              </p:par>
                            </p:childTnLst>
                          </p:cTn>
                        </p:par>
                        <p:par>
                          <p:cTn id="56" fill="hold">
                            <p:stCondLst>
                              <p:cond delay="3700"/>
                            </p:stCondLst>
                            <p:childTnLst>
                              <p:par>
                                <p:cTn id="57" presetID="22" presetClass="entr" presetSubtype="8"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left)">
                                      <p:cBhvr>
                                        <p:cTn id="59" dur="500"/>
                                        <p:tgtEl>
                                          <p:spTgt spid="23"/>
                                        </p:tgtEl>
                                      </p:cBhvr>
                                    </p:animEffect>
                                  </p:childTnLst>
                                </p:cTn>
                              </p:par>
                            </p:childTnLst>
                          </p:cTn>
                        </p:par>
                        <p:par>
                          <p:cTn id="60" fill="hold">
                            <p:stCondLst>
                              <p:cond delay="4200"/>
                            </p:stCondLst>
                            <p:childTnLst>
                              <p:par>
                                <p:cTn id="61" presetID="53" presetClass="entr" presetSubtype="16"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p:cTn id="63" dur="500" fill="hold"/>
                                        <p:tgtEl>
                                          <p:spTgt spid="18"/>
                                        </p:tgtEl>
                                        <p:attrNameLst>
                                          <p:attrName>ppt_w</p:attrName>
                                        </p:attrNameLst>
                                      </p:cBhvr>
                                      <p:tavLst>
                                        <p:tav tm="0">
                                          <p:val>
                                            <p:fltVal val="0"/>
                                          </p:val>
                                        </p:tav>
                                        <p:tav tm="100000">
                                          <p:val>
                                            <p:strVal val="#ppt_w"/>
                                          </p:val>
                                        </p:tav>
                                      </p:tavLst>
                                    </p:anim>
                                    <p:anim calcmode="lin" valueType="num">
                                      <p:cBhvr>
                                        <p:cTn id="64" dur="500" fill="hold"/>
                                        <p:tgtEl>
                                          <p:spTgt spid="18"/>
                                        </p:tgtEl>
                                        <p:attrNameLst>
                                          <p:attrName>ppt_h</p:attrName>
                                        </p:attrNameLst>
                                      </p:cBhvr>
                                      <p:tavLst>
                                        <p:tav tm="0">
                                          <p:val>
                                            <p:fltVal val="0"/>
                                          </p:val>
                                        </p:tav>
                                        <p:tav tm="100000">
                                          <p:val>
                                            <p:strVal val="#ppt_h"/>
                                          </p:val>
                                        </p:tav>
                                      </p:tavLst>
                                    </p:anim>
                                    <p:animEffect transition="in" filter="fade">
                                      <p:cBhvr>
                                        <p:cTn id="65" dur="500"/>
                                        <p:tgtEl>
                                          <p:spTgt spid="18"/>
                                        </p:tgtEl>
                                      </p:cBhvr>
                                    </p:animEffect>
                                  </p:childTnLst>
                                </p:cTn>
                              </p:par>
                            </p:childTnLst>
                          </p:cTn>
                        </p:par>
                        <p:par>
                          <p:cTn id="66" fill="hold">
                            <p:stCondLst>
                              <p:cond delay="4700"/>
                            </p:stCondLst>
                            <p:childTnLst>
                              <p:par>
                                <p:cTn id="67" presetID="22" presetClass="entr" presetSubtype="8"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childTnLst>
                          </p:cTn>
                        </p:par>
                        <p:par>
                          <p:cTn id="70" fill="hold">
                            <p:stCondLst>
                              <p:cond delay="5200"/>
                            </p:stCondLst>
                            <p:childTnLst>
                              <p:par>
                                <p:cTn id="71" presetID="53" presetClass="entr" presetSubtype="16" fill="hold" grpId="0" nodeType="after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p:cTn id="73" dur="500" fill="hold"/>
                                        <p:tgtEl>
                                          <p:spTgt spid="17"/>
                                        </p:tgtEl>
                                        <p:attrNameLst>
                                          <p:attrName>ppt_w</p:attrName>
                                        </p:attrNameLst>
                                      </p:cBhvr>
                                      <p:tavLst>
                                        <p:tav tm="0">
                                          <p:val>
                                            <p:fltVal val="0"/>
                                          </p:val>
                                        </p:tav>
                                        <p:tav tm="100000">
                                          <p:val>
                                            <p:strVal val="#ppt_w"/>
                                          </p:val>
                                        </p:tav>
                                      </p:tavLst>
                                    </p:anim>
                                    <p:anim calcmode="lin" valueType="num">
                                      <p:cBhvr>
                                        <p:cTn id="74" dur="500" fill="hold"/>
                                        <p:tgtEl>
                                          <p:spTgt spid="17"/>
                                        </p:tgtEl>
                                        <p:attrNameLst>
                                          <p:attrName>ppt_h</p:attrName>
                                        </p:attrNameLst>
                                      </p:cBhvr>
                                      <p:tavLst>
                                        <p:tav tm="0">
                                          <p:val>
                                            <p:fltVal val="0"/>
                                          </p:val>
                                        </p:tav>
                                        <p:tav tm="100000">
                                          <p:val>
                                            <p:strVal val="#ppt_h"/>
                                          </p:val>
                                        </p:tav>
                                      </p:tavLst>
                                    </p:anim>
                                    <p:animEffect transition="in" filter="fade">
                                      <p:cBhvr>
                                        <p:cTn id="75" dur="500"/>
                                        <p:tgtEl>
                                          <p:spTgt spid="17"/>
                                        </p:tgtEl>
                                      </p:cBhvr>
                                    </p:animEffect>
                                  </p:childTnLst>
                                </p:cTn>
                              </p:par>
                            </p:childTnLst>
                          </p:cTn>
                        </p:par>
                        <p:par>
                          <p:cTn id="76" fill="hold">
                            <p:stCondLst>
                              <p:cond delay="5700"/>
                            </p:stCondLst>
                            <p:childTnLst>
                              <p:par>
                                <p:cTn id="77" presetID="22" presetClass="entr" presetSubtype="8"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left)">
                                      <p:cBhvr>
                                        <p:cTn id="79" dur="500"/>
                                        <p:tgtEl>
                                          <p:spTgt spid="21"/>
                                        </p:tgtEl>
                                      </p:cBhvr>
                                    </p:animEffect>
                                  </p:childTnLst>
                                </p:cTn>
                              </p:par>
                            </p:childTnLst>
                          </p:cTn>
                        </p:par>
                        <p:par>
                          <p:cTn id="80" fill="hold">
                            <p:stCondLst>
                              <p:cond delay="6200"/>
                            </p:stCondLst>
                            <p:childTnLst>
                              <p:par>
                                <p:cTn id="81" presetID="53" presetClass="entr" presetSubtype="16" fill="hold" grpId="0" nodeType="after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p:cTn id="83" dur="500" fill="hold"/>
                                        <p:tgtEl>
                                          <p:spTgt spid="16"/>
                                        </p:tgtEl>
                                        <p:attrNameLst>
                                          <p:attrName>ppt_w</p:attrName>
                                        </p:attrNameLst>
                                      </p:cBhvr>
                                      <p:tavLst>
                                        <p:tav tm="0">
                                          <p:val>
                                            <p:fltVal val="0"/>
                                          </p:val>
                                        </p:tav>
                                        <p:tav tm="100000">
                                          <p:val>
                                            <p:strVal val="#ppt_w"/>
                                          </p:val>
                                        </p:tav>
                                      </p:tavLst>
                                    </p:anim>
                                    <p:anim calcmode="lin" valueType="num">
                                      <p:cBhvr>
                                        <p:cTn id="84" dur="500" fill="hold"/>
                                        <p:tgtEl>
                                          <p:spTgt spid="16"/>
                                        </p:tgtEl>
                                        <p:attrNameLst>
                                          <p:attrName>ppt_h</p:attrName>
                                        </p:attrNameLst>
                                      </p:cBhvr>
                                      <p:tavLst>
                                        <p:tav tm="0">
                                          <p:val>
                                            <p:fltVal val="0"/>
                                          </p:val>
                                        </p:tav>
                                        <p:tav tm="100000">
                                          <p:val>
                                            <p:strVal val="#ppt_h"/>
                                          </p:val>
                                        </p:tav>
                                      </p:tavLst>
                                    </p:anim>
                                    <p:animEffect transition="in" filter="fade">
                                      <p:cBhvr>
                                        <p:cTn id="85" dur="500"/>
                                        <p:tgtEl>
                                          <p:spTgt spid="16"/>
                                        </p:tgtEl>
                                      </p:cBhvr>
                                    </p:animEffect>
                                  </p:childTnLst>
                                </p:cTn>
                              </p:par>
                            </p:childTnLst>
                          </p:cTn>
                        </p:par>
                        <p:par>
                          <p:cTn id="86" fill="hold">
                            <p:stCondLst>
                              <p:cond delay="6700"/>
                            </p:stCondLst>
                            <p:childTnLst>
                              <p:par>
                                <p:cTn id="87" presetID="22" presetClass="entr" presetSubtype="8" fill="hold" grpId="0"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smtClean="0">
                <a:latin typeface="微软雅黑 Light" panose="020B0502040204020203" pitchFamily="34" charset="-122"/>
                <a:ea typeface="微软雅黑 Light" panose="020B0502040204020203" pitchFamily="34" charset="-122"/>
              </a:rPr>
              <a:t> 软件演化定义</a:t>
            </a:r>
            <a:endParaRPr lang="zh-CN" altLang="en-US" b="1" dirty="0">
              <a:latin typeface="微软雅黑 Light" panose="020B0502040204020203" pitchFamily="34" charset="-122"/>
              <a:ea typeface="微软雅黑 Light" panose="020B0502040204020203" pitchFamily="34" charset="-122"/>
            </a:endParaRPr>
          </a:p>
        </p:txBody>
      </p:sp>
      <p:sp>
        <p:nvSpPr>
          <p:cNvPr id="4" name="页脚占位符 3"/>
          <p:cNvSpPr>
            <a:spLocks noGrp="1"/>
          </p:cNvSpPr>
          <p:nvPr>
            <p:ph type="ftr" sz="quarter" idx="11"/>
          </p:nvPr>
        </p:nvSpPr>
        <p:spPr/>
        <p:txBody>
          <a:bodyPr/>
          <a:lstStyle/>
          <a:p>
            <a:r>
              <a:rPr lang="zh-CN" altLang="en-US">
                <a:solidFill>
                  <a:prstClr val="black">
                    <a:tint val="75000"/>
                  </a:prstClr>
                </a:solidFill>
                <a:latin typeface="Calibri"/>
                <a:ea typeface="宋体" panose="02010600030101010101" pitchFamily="2" charset="-122"/>
              </a:rPr>
              <a:t>软件演化介绍</a:t>
            </a:r>
          </a:p>
        </p:txBody>
      </p:sp>
      <p:sp>
        <p:nvSpPr>
          <p:cNvPr id="5" name="灯片编号占位符 4"/>
          <p:cNvSpPr>
            <a:spLocks noGrp="1"/>
          </p:cNvSpPr>
          <p:nvPr>
            <p:ph type="sldNum" sz="quarter" idx="12"/>
          </p:nvPr>
        </p:nvSpPr>
        <p:spPr/>
        <p:txBody>
          <a:bodyPr/>
          <a:lstStyle/>
          <a:p>
            <a:fld id="{0C913308-F349-4B6D-A68A-DD1791B4A57B}" type="slidenum">
              <a:rPr lang="zh-CN" altLang="en-US">
                <a:solidFill>
                  <a:prstClr val="black">
                    <a:tint val="75000"/>
                  </a:prstClr>
                </a:solidFill>
                <a:latin typeface="Calibri"/>
                <a:ea typeface="宋体" panose="02010600030101010101" pitchFamily="2" charset="-122"/>
              </a:rPr>
              <a:pPr/>
              <a:t>8</a:t>
            </a:fld>
            <a:endParaRPr lang="zh-CN" altLang="en-US">
              <a:solidFill>
                <a:prstClr val="black">
                  <a:tint val="75000"/>
                </a:prstClr>
              </a:solidFill>
              <a:latin typeface="Calibri"/>
              <a:ea typeface="宋体" panose="02010600030101010101" pitchFamily="2" charset="-122"/>
            </a:endParaRPr>
          </a:p>
        </p:txBody>
      </p:sp>
      <p:sp>
        <p:nvSpPr>
          <p:cNvPr id="6" name="Oval 3"/>
          <p:cNvSpPr>
            <a:spLocks noChangeArrowheads="1"/>
          </p:cNvSpPr>
          <p:nvPr/>
        </p:nvSpPr>
        <p:spPr bwMode="auto">
          <a:xfrm>
            <a:off x="6179454" y="2195440"/>
            <a:ext cx="90" cy="194756"/>
          </a:xfrm>
          <a:prstGeom prst="ellipse">
            <a:avLst/>
          </a:prstGeom>
          <a:noFill/>
          <a:ln w="190500">
            <a:solidFill>
              <a:srgbClr val="777777"/>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7" name="AutoShape 4"/>
          <p:cNvSpPr>
            <a:spLocks noChangeArrowheads="1"/>
          </p:cNvSpPr>
          <p:nvPr/>
        </p:nvSpPr>
        <p:spPr bwMode="auto">
          <a:xfrm>
            <a:off x="5269798" y="2255269"/>
            <a:ext cx="128" cy="275124"/>
          </a:xfrm>
          <a:prstGeom prst="triangle">
            <a:avLst>
              <a:gd name="adj" fmla="val 50000"/>
            </a:avLst>
          </a:prstGeom>
          <a:solidFill>
            <a:srgbClr val="777777"/>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8" name="AutoShape 5"/>
          <p:cNvSpPr>
            <a:spLocks noChangeArrowheads="1"/>
          </p:cNvSpPr>
          <p:nvPr/>
        </p:nvSpPr>
        <p:spPr bwMode="auto">
          <a:xfrm flipV="1">
            <a:off x="7089073" y="2364454"/>
            <a:ext cx="128" cy="275124"/>
          </a:xfrm>
          <a:prstGeom prst="triangle">
            <a:avLst>
              <a:gd name="adj" fmla="val 50000"/>
            </a:avLst>
          </a:prstGeom>
          <a:solidFill>
            <a:srgbClr val="777777"/>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9" name="TextBox 8"/>
          <p:cNvSpPr txBox="1"/>
          <p:nvPr/>
        </p:nvSpPr>
        <p:spPr>
          <a:xfrm>
            <a:off x="5770369" y="2097874"/>
            <a:ext cx="1292573" cy="507831"/>
          </a:xfrm>
          <a:prstGeom prst="rect">
            <a:avLst/>
          </a:prstGeom>
          <a:noFill/>
        </p:spPr>
        <p:txBody>
          <a:bodyPr wrap="square" rtlCol="0">
            <a:spAutoFit/>
          </a:bodyPr>
          <a:lstStyle/>
          <a:p>
            <a:r>
              <a:rPr lang="zh-CN" altLang="en-US" dirty="0">
                <a:solidFill>
                  <a:prstClr val="black"/>
                </a:solidFill>
                <a:latin typeface="幼圆" panose="02010509060101010101" pitchFamily="49" charset="-122"/>
                <a:ea typeface="幼圆" panose="02010509060101010101" pitchFamily="49" charset="-122"/>
              </a:rPr>
              <a:t>不断调节</a:t>
            </a:r>
            <a:endParaRPr lang="en-US" altLang="zh-CN" dirty="0">
              <a:solidFill>
                <a:prstClr val="black"/>
              </a:solidFill>
              <a:latin typeface="幼圆" panose="02010509060101010101" pitchFamily="49" charset="-122"/>
              <a:ea typeface="幼圆" panose="02010509060101010101" pitchFamily="49" charset="-122"/>
            </a:endParaRPr>
          </a:p>
          <a:p>
            <a:r>
              <a:rPr lang="zh-CN" altLang="en-US" dirty="0">
                <a:solidFill>
                  <a:prstClr val="black"/>
                </a:solidFill>
                <a:latin typeface="幼圆" panose="02010509060101010101" pitchFamily="49" charset="-122"/>
                <a:ea typeface="幼圆" panose="02010509060101010101" pitchFamily="49" charset="-122"/>
              </a:rPr>
              <a:t>中的程序</a:t>
            </a:r>
          </a:p>
        </p:txBody>
      </p:sp>
      <p:sp>
        <p:nvSpPr>
          <p:cNvPr id="10" name="TextBox 9"/>
          <p:cNvSpPr txBox="1"/>
          <p:nvPr/>
        </p:nvSpPr>
        <p:spPr>
          <a:xfrm>
            <a:off x="1601670" y="1582512"/>
            <a:ext cx="3186354" cy="1754326"/>
          </a:xfrm>
          <a:prstGeom prst="rect">
            <a:avLst/>
          </a:prstGeom>
          <a:noFill/>
          <a:ln w="12700" cap="rnd">
            <a:solidFill>
              <a:schemeClr val="accent1"/>
            </a:solidFill>
            <a:prstDash val="sysDot"/>
          </a:ln>
        </p:spPr>
        <p:txBody>
          <a:bodyPr wrap="square" rtlCol="0">
            <a:spAutoFit/>
          </a:bodyPr>
          <a:lstStyle/>
          <a:p>
            <a:r>
              <a:rPr lang="zh-CN" altLang="en-US" sz="1800" dirty="0">
                <a:solidFill>
                  <a:prstClr val="black"/>
                </a:solidFill>
                <a:latin typeface="微软雅黑 Light" panose="020B0502040204020203" pitchFamily="34" charset="-122"/>
                <a:ea typeface="微软雅黑 Light" panose="020B0502040204020203" pitchFamily="34" charset="-122"/>
              </a:rPr>
              <a:t>在软件的实际使用中，无论是客户还是开发者本身都会对软件提出新的需求。</a:t>
            </a:r>
            <a:endParaRPr lang="en-US" altLang="zh-CN" sz="1800" dirty="0">
              <a:solidFill>
                <a:prstClr val="black"/>
              </a:solidFill>
              <a:latin typeface="微软雅黑 Light" panose="020B0502040204020203" pitchFamily="34" charset="-122"/>
              <a:ea typeface="微软雅黑 Light" panose="020B0502040204020203" pitchFamily="34" charset="-122"/>
            </a:endParaRPr>
          </a:p>
          <a:p>
            <a:endParaRPr lang="en-US" altLang="zh-CN" sz="1800" dirty="0">
              <a:solidFill>
                <a:prstClr val="black"/>
              </a:solidFill>
              <a:latin typeface="微软雅黑 Light" panose="020B0502040204020203" pitchFamily="34" charset="-122"/>
              <a:ea typeface="微软雅黑 Light" panose="020B0502040204020203" pitchFamily="34" charset="-122"/>
            </a:endParaRPr>
          </a:p>
          <a:p>
            <a:r>
              <a:rPr lang="zh-CN" altLang="en-US" sz="1800" dirty="0">
                <a:solidFill>
                  <a:prstClr val="black"/>
                </a:solidFill>
                <a:latin typeface="微软雅黑 Light" panose="020B0502040204020203" pitchFamily="34" charset="-122"/>
                <a:ea typeface="微软雅黑 Light" panose="020B0502040204020203" pitchFamily="34" charset="-122"/>
              </a:rPr>
              <a:t>软件演化就是</a:t>
            </a:r>
            <a:r>
              <a:rPr lang="zh-CN" altLang="en-US" sz="1800" b="1" dirty="0">
                <a:solidFill>
                  <a:prstClr val="black"/>
                </a:solidFill>
                <a:latin typeface="微软雅黑 Light" panose="020B0502040204020203" pitchFamily="34" charset="-122"/>
                <a:ea typeface="微软雅黑 Light" panose="020B0502040204020203" pitchFamily="34" charset="-122"/>
              </a:rPr>
              <a:t>一个程序不断调节以满足新的软件需求</a:t>
            </a:r>
            <a:r>
              <a:rPr lang="zh-CN" altLang="en-US" sz="1800" dirty="0">
                <a:solidFill>
                  <a:prstClr val="black"/>
                </a:solidFill>
                <a:latin typeface="微软雅黑 Light" panose="020B0502040204020203" pitchFamily="34" charset="-122"/>
                <a:ea typeface="微软雅黑 Light" panose="020B0502040204020203" pitchFamily="34" charset="-122"/>
              </a:rPr>
              <a:t>过程</a:t>
            </a:r>
            <a:r>
              <a:rPr lang="zh-CN" altLang="en-US" sz="1800" dirty="0">
                <a:solidFill>
                  <a:prstClr val="black"/>
                </a:solidFill>
                <a:latin typeface="Calibri"/>
                <a:ea typeface="宋体" panose="02010600030101010101" pitchFamily="2" charset="-122"/>
              </a:rPr>
              <a:t>。</a:t>
            </a:r>
            <a:endParaRPr lang="en-US" altLang="zh-CN" sz="1800" dirty="0">
              <a:solidFill>
                <a:prstClr val="black"/>
              </a:solidFill>
              <a:latin typeface="Calibri"/>
              <a:ea typeface="宋体" panose="02010600030101010101" pitchFamily="2" charset="-122"/>
            </a:endParaRPr>
          </a:p>
        </p:txBody>
      </p:sp>
      <p:sp>
        <p:nvSpPr>
          <p:cNvPr id="11" name="AutoShape 3"/>
          <p:cNvSpPr>
            <a:spLocks noChangeArrowheads="1"/>
          </p:cNvSpPr>
          <p:nvPr/>
        </p:nvSpPr>
        <p:spPr bwMode="auto">
          <a:xfrm rot="19425697">
            <a:off x="4453757" y="3403405"/>
            <a:ext cx="1439466" cy="619125"/>
          </a:xfrm>
          <a:prstGeom prst="rightArrow">
            <a:avLst>
              <a:gd name="adj1" fmla="val 59935"/>
              <a:gd name="adj2" fmla="val 56726"/>
            </a:avLst>
          </a:prstGeom>
          <a:solidFill>
            <a:srgbClr val="777777"/>
          </a:solidFill>
          <a:ln>
            <a:noFill/>
          </a:ln>
          <a:effectLst/>
          <a:extLst>
            <a:ext uri="{91240B29-F687-4F45-9708-019B960494DF}">
              <a14:hiddenLine xmlns:a14="http://schemas.microsoft.com/office/drawing/2010/main" w="63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eaLnBrk="0" fontAlgn="base" hangingPunct="0">
              <a:spcBef>
                <a:spcPct val="0"/>
              </a:spcBef>
              <a:spcAft>
                <a:spcPct val="0"/>
              </a:spcAft>
              <a:defRPr/>
            </a:pPr>
            <a:r>
              <a:rPr lang="zh-CN" altLang="en-US" sz="2100" b="1" kern="0" dirty="0">
                <a:solidFill>
                  <a:srgbClr val="000000"/>
                </a:solidFill>
                <a:latin typeface="幼圆" panose="02010509060101010101" pitchFamily="49" charset="-122"/>
                <a:ea typeface="幼圆" panose="02010509060101010101" pitchFamily="49" charset="-122"/>
              </a:rPr>
              <a:t>使用者</a:t>
            </a:r>
          </a:p>
        </p:txBody>
      </p:sp>
      <p:sp>
        <p:nvSpPr>
          <p:cNvPr id="12" name="AutoShape 4"/>
          <p:cNvSpPr>
            <a:spLocks noChangeArrowheads="1"/>
          </p:cNvSpPr>
          <p:nvPr/>
        </p:nvSpPr>
        <p:spPr bwMode="auto">
          <a:xfrm rot="2008214" flipH="1">
            <a:off x="6510162" y="3403406"/>
            <a:ext cx="1439465" cy="619125"/>
          </a:xfrm>
          <a:prstGeom prst="rightArrow">
            <a:avLst>
              <a:gd name="adj1" fmla="val 59935"/>
              <a:gd name="adj2" fmla="val 56726"/>
            </a:avLst>
          </a:prstGeom>
          <a:solidFill>
            <a:srgbClr val="777777"/>
          </a:solidFill>
          <a:ln>
            <a:noFill/>
          </a:ln>
          <a:effectLst/>
          <a:extLst>
            <a:ext uri="{91240B29-F687-4F45-9708-019B960494DF}">
              <a14:hiddenLine xmlns:a14="http://schemas.microsoft.com/office/drawing/2010/main" w="63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eaLnBrk="0" fontAlgn="base" hangingPunct="0">
              <a:spcBef>
                <a:spcPct val="0"/>
              </a:spcBef>
              <a:spcAft>
                <a:spcPct val="0"/>
              </a:spcAft>
              <a:defRPr/>
            </a:pPr>
            <a:r>
              <a:rPr lang="zh-CN" altLang="en-US" sz="2100" b="1" kern="0" dirty="0">
                <a:solidFill>
                  <a:srgbClr val="000000"/>
                </a:solidFill>
                <a:latin typeface="幼圆" panose="02010509060101010101" pitchFamily="49" charset="-122"/>
                <a:ea typeface="幼圆" panose="02010509060101010101" pitchFamily="49" charset="-122"/>
              </a:rPr>
              <a:t>开发者</a:t>
            </a:r>
          </a:p>
        </p:txBody>
      </p:sp>
    </p:spTree>
    <p:extLst>
      <p:ext uri="{BB962C8B-B14F-4D97-AF65-F5344CB8AC3E}">
        <p14:creationId xmlns:p14="http://schemas.microsoft.com/office/powerpoint/2010/main" val="27809378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1926" y="195486"/>
            <a:ext cx="6172200" cy="857250"/>
          </a:xfrm>
        </p:spPr>
        <p:txBody>
          <a:bodyPr>
            <a:normAutofit/>
          </a:bodyPr>
          <a:lstStyle/>
          <a:p>
            <a:pPr algn="l"/>
            <a:r>
              <a:rPr lang="zh-CN" altLang="en-US" b="1" dirty="0" smtClean="0">
                <a:latin typeface="微软雅黑 Light" panose="020B0502040204020203" pitchFamily="34" charset="-122"/>
                <a:ea typeface="微软雅黑 Light" panose="020B0502040204020203" pitchFamily="34" charset="-122"/>
              </a:rPr>
              <a:t>软件演化必要性</a:t>
            </a:r>
            <a:endParaRPr lang="zh-CN" altLang="en-US" b="1" dirty="0">
              <a:latin typeface="微软雅黑 Light" panose="020B0502040204020203" pitchFamily="34" charset="-122"/>
              <a:ea typeface="微软雅黑 Light" panose="020B0502040204020203" pitchFamily="34" charset="-122"/>
            </a:endParaRPr>
          </a:p>
        </p:txBody>
      </p:sp>
      <p:sp>
        <p:nvSpPr>
          <p:cNvPr id="4" name="页脚占位符 3"/>
          <p:cNvSpPr>
            <a:spLocks noGrp="1"/>
          </p:cNvSpPr>
          <p:nvPr>
            <p:ph type="ftr" sz="quarter" idx="11"/>
          </p:nvPr>
        </p:nvSpPr>
        <p:spPr/>
        <p:txBody>
          <a:bodyPr/>
          <a:lstStyle/>
          <a:p>
            <a:r>
              <a:rPr lang="zh-CN" altLang="en-US">
                <a:solidFill>
                  <a:prstClr val="black">
                    <a:tint val="75000"/>
                  </a:prstClr>
                </a:solidFill>
                <a:latin typeface="Calibri"/>
                <a:ea typeface="宋体" panose="02010600030101010101" pitchFamily="2" charset="-122"/>
              </a:rPr>
              <a:t>软件演化介绍</a:t>
            </a:r>
          </a:p>
        </p:txBody>
      </p:sp>
      <p:sp>
        <p:nvSpPr>
          <p:cNvPr id="5" name="灯片编号占位符 4"/>
          <p:cNvSpPr>
            <a:spLocks noGrp="1"/>
          </p:cNvSpPr>
          <p:nvPr>
            <p:ph type="sldNum" sz="quarter" idx="12"/>
          </p:nvPr>
        </p:nvSpPr>
        <p:spPr/>
        <p:txBody>
          <a:bodyPr/>
          <a:lstStyle/>
          <a:p>
            <a:fld id="{0C913308-F349-4B6D-A68A-DD1791B4A57B}" type="slidenum">
              <a:rPr lang="zh-CN" altLang="en-US">
                <a:solidFill>
                  <a:prstClr val="black">
                    <a:tint val="75000"/>
                  </a:prstClr>
                </a:solidFill>
                <a:latin typeface="Calibri"/>
                <a:ea typeface="宋体" panose="02010600030101010101" pitchFamily="2" charset="-122"/>
              </a:rPr>
              <a:pPr/>
              <a:t>9</a:t>
            </a:fld>
            <a:endParaRPr lang="zh-CN" altLang="en-US">
              <a:solidFill>
                <a:prstClr val="black">
                  <a:tint val="75000"/>
                </a:prstClr>
              </a:solidFill>
              <a:latin typeface="Calibri"/>
              <a:ea typeface="宋体" panose="02010600030101010101" pitchFamily="2" charset="-122"/>
            </a:endParaRPr>
          </a:p>
        </p:txBody>
      </p:sp>
      <p:sp useBgFill="1">
        <p:nvSpPr>
          <p:cNvPr id="17" name="Oval 3"/>
          <p:cNvSpPr>
            <a:spLocks noChangeArrowheads="1"/>
          </p:cNvSpPr>
          <p:nvPr/>
        </p:nvSpPr>
        <p:spPr bwMode="auto">
          <a:xfrm>
            <a:off x="2499717" y="2106672"/>
            <a:ext cx="4238625" cy="2397919"/>
          </a:xfrm>
          <a:prstGeom prst="ellipse">
            <a:avLst/>
          </a:prstGeom>
          <a:ln w="47625">
            <a:solidFill>
              <a:srgbClr val="DDDDDD"/>
            </a:solidFill>
            <a:round/>
            <a:headEnd/>
            <a:tailEnd/>
          </a:ln>
          <a:effectLst>
            <a:outerShdw dist="35921" dir="2700000" algn="ctr" rotWithShape="0">
              <a:srgbClr val="777777"/>
            </a:outerShdw>
          </a:effectLst>
        </p:spPr>
        <p:txBody>
          <a:bodyPr wrap="none" lIns="5400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useBgFill="1">
        <p:nvSpPr>
          <p:cNvPr id="18" name="Oval 4"/>
          <p:cNvSpPr>
            <a:spLocks noChangeArrowheads="1"/>
          </p:cNvSpPr>
          <p:nvPr/>
        </p:nvSpPr>
        <p:spPr bwMode="auto">
          <a:xfrm>
            <a:off x="1755576" y="2531725"/>
            <a:ext cx="1759186" cy="907424"/>
          </a:xfrm>
          <a:prstGeom prst="ellipse">
            <a:avLst/>
          </a:prstGeom>
          <a:ln w="63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19" name="Text Box 5"/>
          <p:cNvSpPr txBox="1">
            <a:spLocks noChangeArrowheads="1"/>
          </p:cNvSpPr>
          <p:nvPr/>
        </p:nvSpPr>
        <p:spPr bwMode="auto">
          <a:xfrm flipH="1">
            <a:off x="1908886" y="2777688"/>
            <a:ext cx="1452563" cy="415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fontAlgn="base" hangingPunct="0">
              <a:spcBef>
                <a:spcPct val="0"/>
              </a:spcBef>
              <a:spcAft>
                <a:spcPct val="0"/>
              </a:spcAft>
            </a:pPr>
            <a:r>
              <a:rPr lang="zh-CN" altLang="en-US" dirty="0">
                <a:solidFill>
                  <a:prstClr val="black"/>
                </a:solidFill>
                <a:latin typeface="幼圆" panose="02010509060101010101" pitchFamily="49" charset="-122"/>
                <a:ea typeface="幼圆" panose="02010509060101010101" pitchFamily="49" charset="-122"/>
              </a:rPr>
              <a:t>不断修改会导致软件的退化</a:t>
            </a:r>
            <a:endParaRPr lang="zh-CN" altLang="en-US" dirty="0">
              <a:solidFill>
                <a:srgbClr val="000000"/>
              </a:solidFill>
              <a:latin typeface="幼圆" panose="02010509060101010101" pitchFamily="49" charset="-122"/>
              <a:ea typeface="幼圆" panose="02010509060101010101" pitchFamily="49" charset="-122"/>
            </a:endParaRPr>
          </a:p>
        </p:txBody>
      </p:sp>
      <p:sp useBgFill="1">
        <p:nvSpPr>
          <p:cNvPr id="20" name="Oval 6"/>
          <p:cNvSpPr>
            <a:spLocks noChangeArrowheads="1"/>
          </p:cNvSpPr>
          <p:nvPr/>
        </p:nvSpPr>
        <p:spPr bwMode="auto">
          <a:xfrm>
            <a:off x="2498526" y="3865225"/>
            <a:ext cx="1772320" cy="924074"/>
          </a:xfrm>
          <a:prstGeom prst="ellipse">
            <a:avLst/>
          </a:prstGeom>
          <a:ln w="63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21" name="Text Box 7"/>
          <p:cNvSpPr txBox="1">
            <a:spLocks noChangeArrowheads="1"/>
          </p:cNvSpPr>
          <p:nvPr/>
        </p:nvSpPr>
        <p:spPr bwMode="auto">
          <a:xfrm flipH="1">
            <a:off x="2658403" y="3996582"/>
            <a:ext cx="1452563" cy="623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fontAlgn="base" hangingPunct="0">
              <a:spcBef>
                <a:spcPct val="0"/>
              </a:spcBef>
              <a:spcAft>
                <a:spcPct val="0"/>
              </a:spcAft>
            </a:pPr>
            <a:r>
              <a:rPr lang="zh-CN" altLang="en-US" dirty="0">
                <a:solidFill>
                  <a:prstClr val="black"/>
                </a:solidFill>
                <a:latin typeface="幼圆" panose="02010509060101010101" pitchFamily="49" charset="-122"/>
                <a:ea typeface="幼圆" panose="02010509060101010101" pitchFamily="49" charset="-122"/>
              </a:rPr>
              <a:t>资源人员的变化对系统长期演化的影响是不易察觉的</a:t>
            </a:r>
            <a:endParaRPr lang="zh-CN" altLang="en-US" dirty="0">
              <a:solidFill>
                <a:srgbClr val="000000"/>
              </a:solidFill>
              <a:latin typeface="幼圆" panose="02010509060101010101" pitchFamily="49" charset="-122"/>
              <a:ea typeface="幼圆" panose="02010509060101010101" pitchFamily="49" charset="-122"/>
            </a:endParaRPr>
          </a:p>
        </p:txBody>
      </p:sp>
      <p:sp useBgFill="1">
        <p:nvSpPr>
          <p:cNvPr id="22" name="Oval 8"/>
          <p:cNvSpPr>
            <a:spLocks noChangeArrowheads="1"/>
          </p:cNvSpPr>
          <p:nvPr/>
        </p:nvSpPr>
        <p:spPr bwMode="auto">
          <a:xfrm>
            <a:off x="3700463" y="1764962"/>
            <a:ext cx="1837134" cy="843282"/>
          </a:xfrm>
          <a:prstGeom prst="ellipse">
            <a:avLst/>
          </a:prstGeom>
          <a:ln w="63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23" name="Text Box 9"/>
          <p:cNvSpPr txBox="1">
            <a:spLocks noChangeArrowheads="1"/>
          </p:cNvSpPr>
          <p:nvPr/>
        </p:nvSpPr>
        <p:spPr bwMode="auto">
          <a:xfrm flipH="1">
            <a:off x="3892748" y="1963802"/>
            <a:ext cx="1452563" cy="415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fontAlgn="base" hangingPunct="0">
              <a:spcBef>
                <a:spcPct val="0"/>
              </a:spcBef>
              <a:spcAft>
                <a:spcPct val="0"/>
              </a:spcAft>
            </a:pPr>
            <a:r>
              <a:rPr lang="zh-CN" altLang="en-US" dirty="0">
                <a:solidFill>
                  <a:prstClr val="black"/>
                </a:solidFill>
                <a:latin typeface="幼圆" panose="02010509060101010101" pitchFamily="49" charset="-122"/>
                <a:ea typeface="幼圆" panose="02010509060101010101" pitchFamily="49" charset="-122"/>
              </a:rPr>
              <a:t>维护和演化是一个必然的过程</a:t>
            </a:r>
            <a:endParaRPr lang="zh-CN" altLang="en-US" dirty="0">
              <a:solidFill>
                <a:srgbClr val="000000"/>
              </a:solidFill>
              <a:latin typeface="幼圆" panose="02010509060101010101" pitchFamily="49" charset="-122"/>
              <a:ea typeface="幼圆" panose="02010509060101010101" pitchFamily="49" charset="-122"/>
            </a:endParaRPr>
          </a:p>
        </p:txBody>
      </p:sp>
      <p:sp useBgFill="1">
        <p:nvSpPr>
          <p:cNvPr id="24" name="Oval 10"/>
          <p:cNvSpPr>
            <a:spLocks noChangeArrowheads="1"/>
          </p:cNvSpPr>
          <p:nvPr/>
        </p:nvSpPr>
        <p:spPr bwMode="auto">
          <a:xfrm>
            <a:off x="5802558" y="2531725"/>
            <a:ext cx="1871569" cy="907424"/>
          </a:xfrm>
          <a:prstGeom prst="ellipse">
            <a:avLst/>
          </a:prstGeom>
          <a:ln w="63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25" name="Text Box 11"/>
          <p:cNvSpPr txBox="1">
            <a:spLocks noChangeArrowheads="1"/>
          </p:cNvSpPr>
          <p:nvPr/>
        </p:nvSpPr>
        <p:spPr bwMode="auto">
          <a:xfrm flipH="1">
            <a:off x="6084177" y="2649641"/>
            <a:ext cx="1308330" cy="623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algn="ctr" eaLnBrk="0" fontAlgn="base" hangingPunct="0">
              <a:spcBef>
                <a:spcPct val="0"/>
              </a:spcBef>
              <a:spcAft>
                <a:spcPct val="0"/>
              </a:spcAft>
            </a:pPr>
            <a:r>
              <a:rPr lang="zh-CN" altLang="en-US" dirty="0">
                <a:solidFill>
                  <a:prstClr val="black"/>
                </a:solidFill>
                <a:latin typeface="幼圆" panose="02010509060101010101" pitchFamily="49" charset="-122"/>
                <a:ea typeface="幼圆" panose="02010509060101010101" pitchFamily="49" charset="-122"/>
              </a:rPr>
              <a:t>软件系统的动态特性是早期就建立起来的</a:t>
            </a:r>
            <a:endParaRPr lang="zh-CN" altLang="en-US" dirty="0">
              <a:solidFill>
                <a:srgbClr val="000000"/>
              </a:solidFill>
              <a:latin typeface="幼圆" panose="02010509060101010101" pitchFamily="49" charset="-122"/>
              <a:ea typeface="幼圆" panose="02010509060101010101" pitchFamily="49" charset="-122"/>
            </a:endParaRPr>
          </a:p>
        </p:txBody>
      </p:sp>
      <p:sp useBgFill="1">
        <p:nvSpPr>
          <p:cNvPr id="26" name="Oval 12"/>
          <p:cNvSpPr>
            <a:spLocks noChangeArrowheads="1"/>
          </p:cNvSpPr>
          <p:nvPr/>
        </p:nvSpPr>
        <p:spPr bwMode="auto">
          <a:xfrm>
            <a:off x="5059561" y="3865225"/>
            <a:ext cx="1803573" cy="924074"/>
          </a:xfrm>
          <a:prstGeom prst="ellipse">
            <a:avLst/>
          </a:prstGeom>
          <a:ln w="63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algn="ctr" eaLnBrk="0" fontAlgn="base" hangingPunct="0">
              <a:spcBef>
                <a:spcPct val="0"/>
              </a:spcBef>
              <a:spcAft>
                <a:spcPct val="0"/>
              </a:spcAft>
              <a:defRPr/>
            </a:pPr>
            <a:endParaRPr lang="zh-CN" altLang="en-US" sz="900" b="1" kern="0">
              <a:solidFill>
                <a:srgbClr val="000000"/>
              </a:solidFill>
              <a:latin typeface="Arial" charset="0"/>
              <a:ea typeface="宋体" panose="02010600030101010101" pitchFamily="2" charset="-122"/>
            </a:endParaRPr>
          </a:p>
        </p:txBody>
      </p:sp>
      <p:sp>
        <p:nvSpPr>
          <p:cNvPr id="27" name="Text Box 13"/>
          <p:cNvSpPr txBox="1">
            <a:spLocks noChangeArrowheads="1"/>
          </p:cNvSpPr>
          <p:nvPr/>
        </p:nvSpPr>
        <p:spPr bwMode="auto">
          <a:xfrm flipH="1">
            <a:off x="5235066" y="4015637"/>
            <a:ext cx="1452563" cy="623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fontAlgn="base" hangingPunct="0">
              <a:spcBef>
                <a:spcPct val="0"/>
              </a:spcBef>
              <a:spcAft>
                <a:spcPct val="0"/>
              </a:spcAft>
            </a:pPr>
            <a:r>
              <a:rPr lang="zh-CN" altLang="en-US" dirty="0">
                <a:solidFill>
                  <a:prstClr val="black"/>
                </a:solidFill>
                <a:latin typeface="幼圆" panose="02010509060101010101" pitchFamily="49" charset="-122"/>
                <a:ea typeface="幼圆" panose="02010509060101010101" pitchFamily="49" charset="-122"/>
              </a:rPr>
              <a:t>在软件系统中添加新的功能不可避免地会产生新的缺陷</a:t>
            </a:r>
            <a:endParaRPr lang="zh-CN" altLang="en-US" dirty="0">
              <a:solidFill>
                <a:srgbClr val="000000"/>
              </a:solidFill>
              <a:latin typeface="幼圆" panose="02010509060101010101" pitchFamily="49" charset="-122"/>
              <a:ea typeface="幼圆" panose="02010509060101010101" pitchFamily="49" charset="-122"/>
            </a:endParaRPr>
          </a:p>
        </p:txBody>
      </p:sp>
      <p:sp>
        <p:nvSpPr>
          <p:cNvPr id="28" name="Text Box 14"/>
          <p:cNvSpPr txBox="1">
            <a:spLocks noChangeArrowheads="1"/>
          </p:cNvSpPr>
          <p:nvPr/>
        </p:nvSpPr>
        <p:spPr bwMode="auto">
          <a:xfrm flipH="1">
            <a:off x="3615333" y="2811224"/>
            <a:ext cx="2007394"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fontAlgn="base" hangingPunct="0">
              <a:spcBef>
                <a:spcPct val="0"/>
              </a:spcBef>
              <a:spcAft>
                <a:spcPct val="0"/>
              </a:spcAft>
            </a:pPr>
            <a:r>
              <a:rPr lang="zh-CN" altLang="en-US" sz="3000" b="1" dirty="0">
                <a:solidFill>
                  <a:srgbClr val="000000"/>
                </a:solidFill>
                <a:latin typeface="Arial" charset="0"/>
                <a:ea typeface="宋体" panose="02010600030101010101" pitchFamily="2" charset="-122"/>
              </a:rPr>
              <a:t>软件演化五</a:t>
            </a:r>
            <a:r>
              <a:rPr lang="zh-CN" altLang="en-US" sz="3000" b="1" dirty="0" smtClean="0">
                <a:solidFill>
                  <a:srgbClr val="000000"/>
                </a:solidFill>
                <a:latin typeface="Arial" charset="0"/>
                <a:ea typeface="宋体" panose="02010600030101010101" pitchFamily="2" charset="-122"/>
              </a:rPr>
              <a:t>大必然性</a:t>
            </a:r>
            <a:endParaRPr lang="zh-CN" altLang="en-US" sz="3000" b="1" dirty="0">
              <a:solidFill>
                <a:srgbClr val="000000"/>
              </a:solidFill>
              <a:latin typeface="Arial" charset="0"/>
              <a:ea typeface="宋体" panose="02010600030101010101" pitchFamily="2" charset="-122"/>
            </a:endParaRPr>
          </a:p>
        </p:txBody>
      </p:sp>
      <p:sp>
        <p:nvSpPr>
          <p:cNvPr id="29" name="TextBox 28"/>
          <p:cNvSpPr txBox="1"/>
          <p:nvPr/>
        </p:nvSpPr>
        <p:spPr>
          <a:xfrm>
            <a:off x="1512482" y="1113588"/>
            <a:ext cx="5516725" cy="553998"/>
          </a:xfrm>
          <a:prstGeom prst="rect">
            <a:avLst/>
          </a:prstGeom>
          <a:noFill/>
        </p:spPr>
        <p:txBody>
          <a:bodyPr wrap="square" rtlCol="0">
            <a:spAutoFit/>
          </a:bodyPr>
          <a:lstStyle/>
          <a:p>
            <a:r>
              <a:rPr lang="en-US" altLang="zh-CN" sz="1500" dirty="0">
                <a:solidFill>
                  <a:prstClr val="black"/>
                </a:solidFill>
                <a:latin typeface="微软雅黑 Light" panose="020B0502040204020203" pitchFamily="34" charset="-122"/>
                <a:ea typeface="微软雅黑 Light" panose="020B0502040204020203" pitchFamily="34" charset="-122"/>
              </a:rPr>
              <a:t>1985</a:t>
            </a:r>
            <a:r>
              <a:rPr lang="zh-CN" altLang="en-US" sz="1500" dirty="0">
                <a:solidFill>
                  <a:prstClr val="black"/>
                </a:solidFill>
                <a:latin typeface="微软雅黑 Light" panose="020B0502040204020203" pitchFamily="34" charset="-122"/>
                <a:ea typeface="微软雅黑 Light" panose="020B0502040204020203" pitchFamily="34" charset="-122"/>
              </a:rPr>
              <a:t>年</a:t>
            </a:r>
            <a:r>
              <a:rPr lang="en-US" altLang="zh-CN" sz="1500" dirty="0">
                <a:solidFill>
                  <a:prstClr val="black"/>
                </a:solidFill>
                <a:latin typeface="微软雅黑 Light" panose="020B0502040204020203" pitchFamily="34" charset="-122"/>
                <a:ea typeface="微软雅黑 Light" panose="020B0502040204020203" pitchFamily="34" charset="-122"/>
              </a:rPr>
              <a:t>Lehman</a:t>
            </a:r>
            <a:r>
              <a:rPr lang="zh-CN" altLang="en-US" sz="1500" dirty="0">
                <a:solidFill>
                  <a:prstClr val="black"/>
                </a:solidFill>
                <a:latin typeface="微软雅黑 Light" panose="020B0502040204020203" pitchFamily="34" charset="-122"/>
                <a:ea typeface="微软雅黑 Light" panose="020B0502040204020203" pitchFamily="34" charset="-122"/>
              </a:rPr>
              <a:t>和</a:t>
            </a:r>
            <a:r>
              <a:rPr lang="en-US" altLang="zh-CN" sz="1500" dirty="0" err="1">
                <a:solidFill>
                  <a:prstClr val="black"/>
                </a:solidFill>
                <a:latin typeface="微软雅黑 Light" panose="020B0502040204020203" pitchFamily="34" charset="-122"/>
                <a:ea typeface="微软雅黑 Light" panose="020B0502040204020203" pitchFamily="34" charset="-122"/>
              </a:rPr>
              <a:t>Belady</a:t>
            </a:r>
            <a:r>
              <a:rPr lang="zh-CN" altLang="en-US" sz="1500" dirty="0">
                <a:solidFill>
                  <a:prstClr val="black"/>
                </a:solidFill>
                <a:latin typeface="微软雅黑 Light" panose="020B0502040204020203" pitchFamily="34" charset="-122"/>
                <a:ea typeface="微软雅黑 Light" panose="020B0502040204020203" pitchFamily="34" charset="-122"/>
              </a:rPr>
              <a:t>在专门研究了许多大型软件系统的发展和演化的基础上总结了软件在变更过程中的演</a:t>
            </a:r>
            <a:r>
              <a:rPr lang="zh-CN" altLang="en-US" sz="1500" dirty="0" smtClean="0">
                <a:solidFill>
                  <a:prstClr val="black"/>
                </a:solidFill>
                <a:latin typeface="微软雅黑 Light" panose="020B0502040204020203" pitchFamily="34" charset="-122"/>
                <a:ea typeface="微软雅黑 Light" panose="020B0502040204020203" pitchFamily="34" charset="-122"/>
              </a:rPr>
              <a:t>化特性</a:t>
            </a:r>
            <a:endParaRPr lang="zh-CN" altLang="en-US" sz="1500" dirty="0">
              <a:solidFill>
                <a:prstClr val="black"/>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1706363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latin typeface="微软雅黑 Light" panose="020B0502040204020203" pitchFamily="34" charset="-122"/>
                <a:ea typeface="微软雅黑 Light" panose="020B0502040204020203" pitchFamily="34" charset="-122"/>
              </a:rPr>
              <a:t>软件</a:t>
            </a:r>
            <a:r>
              <a:rPr lang="zh-CN" altLang="en-US" b="1" dirty="0" smtClean="0">
                <a:latin typeface="微软雅黑 Light" panose="020B0502040204020203" pitchFamily="34" charset="-122"/>
                <a:ea typeface="微软雅黑 Light" panose="020B0502040204020203" pitchFamily="34" charset="-122"/>
              </a:rPr>
              <a:t>演化</a:t>
            </a:r>
            <a:r>
              <a:rPr lang="zh-CN" altLang="en-US" b="1" dirty="0">
                <a:latin typeface="微软雅黑 Light" panose="020B0502040204020203" pitchFamily="34" charset="-122"/>
                <a:ea typeface="微软雅黑 Light" panose="020B0502040204020203" pitchFamily="34" charset="-122"/>
              </a:rPr>
              <a:t>过程</a:t>
            </a:r>
            <a:endParaRPr lang="zh-CN" altLang="en-US" b="1" dirty="0"/>
          </a:p>
        </p:txBody>
      </p:sp>
      <p:sp>
        <p:nvSpPr>
          <p:cNvPr id="4" name="页脚占位符 3"/>
          <p:cNvSpPr>
            <a:spLocks noGrp="1"/>
          </p:cNvSpPr>
          <p:nvPr>
            <p:ph type="ftr" sz="quarter" idx="11"/>
          </p:nvPr>
        </p:nvSpPr>
        <p:spPr/>
        <p:txBody>
          <a:bodyPr/>
          <a:lstStyle/>
          <a:p>
            <a:r>
              <a:rPr lang="zh-CN" altLang="en-US">
                <a:solidFill>
                  <a:prstClr val="black">
                    <a:tint val="75000"/>
                  </a:prstClr>
                </a:solidFill>
                <a:latin typeface="Calibri"/>
                <a:ea typeface="宋体" panose="02010600030101010101" pitchFamily="2" charset="-122"/>
              </a:rPr>
              <a:t>软件演化介绍</a:t>
            </a:r>
          </a:p>
        </p:txBody>
      </p:sp>
      <p:sp>
        <p:nvSpPr>
          <p:cNvPr id="5" name="灯片编号占位符 4"/>
          <p:cNvSpPr>
            <a:spLocks noGrp="1"/>
          </p:cNvSpPr>
          <p:nvPr>
            <p:ph type="sldNum" sz="quarter" idx="12"/>
          </p:nvPr>
        </p:nvSpPr>
        <p:spPr/>
        <p:txBody>
          <a:bodyPr/>
          <a:lstStyle/>
          <a:p>
            <a:fld id="{0C913308-F349-4B6D-A68A-DD1791B4A57B}" type="slidenum">
              <a:rPr lang="zh-CN" altLang="en-US">
                <a:solidFill>
                  <a:prstClr val="black">
                    <a:tint val="75000"/>
                  </a:prstClr>
                </a:solidFill>
                <a:latin typeface="Calibri"/>
                <a:ea typeface="宋体" panose="02010600030101010101" pitchFamily="2" charset="-122"/>
              </a:rPr>
              <a:pPr/>
              <a:t>10</a:t>
            </a:fld>
            <a:endParaRPr lang="zh-CN" altLang="en-US">
              <a:solidFill>
                <a:prstClr val="black">
                  <a:tint val="75000"/>
                </a:prstClr>
              </a:solidFill>
              <a:latin typeface="Calibri"/>
              <a:ea typeface="宋体" panose="02010600030101010101" pitchFamily="2" charset="-122"/>
            </a:endParaRPr>
          </a:p>
        </p:txBody>
      </p:sp>
      <p:sp>
        <p:nvSpPr>
          <p:cNvPr id="6" name="矩形 5"/>
          <p:cNvSpPr/>
          <p:nvPr/>
        </p:nvSpPr>
        <p:spPr>
          <a:xfrm>
            <a:off x="1548546" y="1383618"/>
            <a:ext cx="4738836" cy="2631490"/>
          </a:xfrm>
          <a:prstGeom prst="rect">
            <a:avLst/>
          </a:prstGeom>
        </p:spPr>
        <p:txBody>
          <a:bodyPr wrap="square">
            <a:spAutoFit/>
          </a:bodyPr>
          <a:lstStyle/>
          <a:p>
            <a:r>
              <a:rPr lang="zh-CN" altLang="en-US" sz="1500" dirty="0">
                <a:solidFill>
                  <a:prstClr val="black"/>
                </a:solidFill>
                <a:latin typeface="幼圆" panose="02010509060101010101" pitchFamily="49" charset="-122"/>
                <a:ea typeface="幼圆" panose="02010509060101010101" pitchFamily="49" charset="-122"/>
              </a:rPr>
              <a:t>软件演化过程是软件演化和软件过程的统一。软件过程是指软件生命期中的若干活动的集合。活动又称为工作流程，又可细分为子活动或任务。软件演化过程是一个多层次，多循环，多用户的反馈系统。从软件再工程的角度看，软件演化过程是对软件系统进行不断地再工程的过程，是软件系统在其生命周期中不断完善的</a:t>
            </a:r>
            <a:r>
              <a:rPr lang="zh-CN" altLang="en-US" sz="1500" b="1" dirty="0">
                <a:solidFill>
                  <a:srgbClr val="C0504D">
                    <a:lumMod val="75000"/>
                  </a:srgbClr>
                </a:solidFill>
                <a:latin typeface="幼圆" panose="02010509060101010101" pitchFamily="49" charset="-122"/>
                <a:ea typeface="幼圆" panose="02010509060101010101" pitchFamily="49" charset="-122"/>
              </a:rPr>
              <a:t>系统动力学</a:t>
            </a:r>
            <a:r>
              <a:rPr lang="zh-CN" altLang="en-US" sz="1500" dirty="0">
                <a:solidFill>
                  <a:prstClr val="black"/>
                </a:solidFill>
                <a:latin typeface="幼圆" panose="02010509060101010101" pitchFamily="49" charset="-122"/>
                <a:ea typeface="幼圆" panose="02010509060101010101" pitchFamily="49" charset="-122"/>
              </a:rPr>
              <a:t>行为。</a:t>
            </a:r>
            <a:endParaRPr lang="en-US" altLang="zh-CN" sz="1500" dirty="0">
              <a:solidFill>
                <a:prstClr val="black"/>
              </a:solidFill>
              <a:latin typeface="幼圆" panose="02010509060101010101" pitchFamily="49" charset="-122"/>
              <a:ea typeface="幼圆" panose="02010509060101010101" pitchFamily="49" charset="-122"/>
            </a:endParaRPr>
          </a:p>
          <a:p>
            <a:endParaRPr lang="zh-CN" altLang="en-US" sz="1500" dirty="0">
              <a:solidFill>
                <a:prstClr val="black"/>
              </a:solidFill>
              <a:latin typeface="幼圆" panose="02010509060101010101" pitchFamily="49" charset="-122"/>
              <a:ea typeface="幼圆" panose="02010509060101010101" pitchFamily="49" charset="-122"/>
            </a:endParaRPr>
          </a:p>
          <a:p>
            <a:r>
              <a:rPr lang="zh-CN" altLang="en-US" sz="1500" dirty="0">
                <a:solidFill>
                  <a:prstClr val="black"/>
                </a:solidFill>
                <a:latin typeface="幼圆" panose="02010509060101010101" pitchFamily="49" charset="-122"/>
                <a:ea typeface="幼圆" panose="02010509060101010101" pitchFamily="49" charset="-122"/>
              </a:rPr>
              <a:t>软件演化过程并非是顺序进行的，它是根据一定的环境迭代地、多层次地进行的。在软件演化过程中，不同粒度的活动都会发生，因此它必须更具有灵活性。</a:t>
            </a:r>
          </a:p>
        </p:txBody>
      </p:sp>
      <p:cxnSp>
        <p:nvCxnSpPr>
          <p:cNvPr id="8" name="直接箭头连接符 7"/>
          <p:cNvCxnSpPr/>
          <p:nvPr/>
        </p:nvCxnSpPr>
        <p:spPr>
          <a:xfrm flipH="1" flipV="1">
            <a:off x="6094993" y="2895786"/>
            <a:ext cx="498864" cy="486054"/>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605204" y="1383618"/>
            <a:ext cx="1110491" cy="3416320"/>
          </a:xfrm>
          <a:prstGeom prst="rect">
            <a:avLst/>
          </a:prstGeom>
          <a:gradFill>
            <a:gsLst>
              <a:gs pos="7300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altLang="zh-CN" dirty="0">
                <a:solidFill>
                  <a:prstClr val="black"/>
                </a:solidFill>
                <a:latin typeface="幼圆" panose="02010509060101010101" pitchFamily="49" charset="-122"/>
                <a:ea typeface="幼圆" panose="02010509060101010101" pitchFamily="49" charset="-122"/>
              </a:rPr>
              <a:t>1.</a:t>
            </a:r>
            <a:r>
              <a:rPr lang="zh-CN" altLang="en-US" dirty="0">
                <a:solidFill>
                  <a:prstClr val="black"/>
                </a:solidFill>
                <a:latin typeface="幼圆" panose="02010509060101010101" pitchFamily="49" charset="-122"/>
                <a:ea typeface="幼圆" panose="02010509060101010101" pitchFamily="49" charset="-122"/>
              </a:rPr>
              <a:t>找出问题</a:t>
            </a:r>
          </a:p>
          <a:p>
            <a:r>
              <a:rPr lang="en-US" altLang="zh-CN" dirty="0">
                <a:solidFill>
                  <a:prstClr val="black"/>
                </a:solidFill>
                <a:latin typeface="幼圆" panose="02010509060101010101" pitchFamily="49" charset="-122"/>
                <a:ea typeface="幼圆" panose="02010509060101010101" pitchFamily="49" charset="-122"/>
              </a:rPr>
              <a:t>2.</a:t>
            </a:r>
            <a:r>
              <a:rPr lang="zh-CN" altLang="en-US" dirty="0">
                <a:solidFill>
                  <a:prstClr val="black"/>
                </a:solidFill>
                <a:latin typeface="幼圆" panose="02010509060101010101" pitchFamily="49" charset="-122"/>
                <a:ea typeface="幼圆" panose="02010509060101010101" pitchFamily="49" charset="-122"/>
              </a:rPr>
              <a:t>对问题产生的原因形成动态假设</a:t>
            </a:r>
          </a:p>
          <a:p>
            <a:r>
              <a:rPr lang="en-US" altLang="zh-CN" dirty="0">
                <a:solidFill>
                  <a:prstClr val="black"/>
                </a:solidFill>
                <a:latin typeface="幼圆" panose="02010509060101010101" pitchFamily="49" charset="-122"/>
                <a:ea typeface="幼圆" panose="02010509060101010101" pitchFamily="49" charset="-122"/>
              </a:rPr>
              <a:t>3.</a:t>
            </a:r>
            <a:r>
              <a:rPr lang="zh-CN" altLang="en-US" dirty="0">
                <a:solidFill>
                  <a:prstClr val="black"/>
                </a:solidFill>
                <a:latin typeface="幼圆" panose="02010509060101010101" pitchFamily="49" charset="-122"/>
                <a:ea typeface="幼圆" panose="02010509060101010101" pitchFamily="49" charset="-122"/>
              </a:rPr>
              <a:t>从问题根源出发，建立计算机仿真模型系统</a:t>
            </a:r>
          </a:p>
          <a:p>
            <a:r>
              <a:rPr lang="en-US" altLang="zh-CN" dirty="0">
                <a:solidFill>
                  <a:prstClr val="black"/>
                </a:solidFill>
                <a:latin typeface="幼圆" panose="02010509060101010101" pitchFamily="49" charset="-122"/>
                <a:ea typeface="幼圆" panose="02010509060101010101" pitchFamily="49" charset="-122"/>
              </a:rPr>
              <a:t>4.</a:t>
            </a:r>
            <a:r>
              <a:rPr lang="zh-CN" altLang="en-US" dirty="0">
                <a:solidFill>
                  <a:prstClr val="black"/>
                </a:solidFill>
                <a:latin typeface="幼圆" panose="02010509060101010101" pitchFamily="49" charset="-122"/>
                <a:ea typeface="幼圆" panose="02010509060101010101" pitchFamily="49" charset="-122"/>
              </a:rPr>
              <a:t>对模型进行测试</a:t>
            </a:r>
          </a:p>
          <a:p>
            <a:r>
              <a:rPr lang="en-US" altLang="zh-CN" dirty="0">
                <a:solidFill>
                  <a:prstClr val="black"/>
                </a:solidFill>
                <a:latin typeface="幼圆" panose="02010509060101010101" pitchFamily="49" charset="-122"/>
                <a:ea typeface="幼圆" panose="02010509060101010101" pitchFamily="49" charset="-122"/>
              </a:rPr>
              <a:t>5.</a:t>
            </a:r>
            <a:r>
              <a:rPr lang="zh-CN" altLang="en-US" dirty="0">
                <a:solidFill>
                  <a:prstClr val="black"/>
                </a:solidFill>
                <a:latin typeface="幼圆" panose="02010509060101010101" pitchFamily="49" charset="-122"/>
                <a:ea typeface="幼圆" panose="02010509060101010101" pitchFamily="49" charset="-122"/>
              </a:rPr>
              <a:t>设计并测试各选择性方案，减少问题</a:t>
            </a:r>
          </a:p>
          <a:p>
            <a:r>
              <a:rPr lang="en-US" altLang="zh-CN" dirty="0">
                <a:solidFill>
                  <a:prstClr val="black"/>
                </a:solidFill>
                <a:latin typeface="幼圆" panose="02010509060101010101" pitchFamily="49" charset="-122"/>
                <a:ea typeface="幼圆" panose="02010509060101010101" pitchFamily="49" charset="-122"/>
              </a:rPr>
              <a:t>6.</a:t>
            </a:r>
            <a:r>
              <a:rPr lang="zh-CN" altLang="en-US" dirty="0">
                <a:solidFill>
                  <a:prstClr val="black"/>
                </a:solidFill>
                <a:latin typeface="幼圆" panose="02010509060101010101" pitchFamily="49" charset="-122"/>
                <a:ea typeface="幼圆" panose="02010509060101010101" pitchFamily="49" charset="-122"/>
              </a:rPr>
              <a:t>实施方案</a:t>
            </a:r>
          </a:p>
          <a:p>
            <a:endParaRPr lang="zh-CN" altLang="en-US" dirty="0">
              <a:solidFill>
                <a:prstClr val="black"/>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783178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软件演化</a:t>
            </a:r>
          </a:p>
        </p:txBody>
      </p:sp>
      <p:sp>
        <p:nvSpPr>
          <p:cNvPr id="17" name="矩形 1"/>
          <p:cNvSpPr>
            <a:spLocks noChangeArrowheads="1"/>
          </p:cNvSpPr>
          <p:nvPr/>
        </p:nvSpPr>
        <p:spPr bwMode="auto">
          <a:xfrm>
            <a:off x="1043608" y="1624266"/>
            <a:ext cx="3528392"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30000"/>
              </a:lnSpc>
            </a:pPr>
            <a:r>
              <a:rPr lang="zh-CN" altLang="en-US" sz="2400" dirty="0">
                <a:sym typeface="+mn-ea"/>
              </a:rPr>
              <a:t>软件演化过程是由一系列复杂的变化活动组成的，控制系统按照预期目标进行变化是开发者所追求的目标</a:t>
            </a:r>
            <a:endParaRPr lang="zh-CN" altLang="en-US" sz="2400" dirty="0">
              <a:solidFill>
                <a:srgbClr val="2F2637"/>
              </a:solidFill>
              <a:latin typeface="微软雅黑" panose="020B0503020204020204" pitchFamily="34" charset="-122"/>
              <a:ea typeface="微软雅黑" panose="020B0503020204020204" pitchFamily="34" charset="-122"/>
              <a:sym typeface="+mn-ea"/>
            </a:endParaRPr>
          </a:p>
        </p:txBody>
      </p:sp>
      <p:graphicFrame>
        <p:nvGraphicFramePr>
          <p:cNvPr id="595972" name="对象 595971"/>
          <p:cNvGraphicFramePr/>
          <p:nvPr/>
        </p:nvGraphicFramePr>
        <p:xfrm>
          <a:off x="4465638" y="1348105"/>
          <a:ext cx="4608512" cy="3438525"/>
        </p:xfrm>
        <a:graphic>
          <a:graphicData uri="http://schemas.openxmlformats.org/presentationml/2006/ole">
            <mc:AlternateContent xmlns:mc="http://schemas.openxmlformats.org/markup-compatibility/2006">
              <mc:Choice xmlns:v="urn:schemas-microsoft-com:vml" Requires="v">
                <p:oleObj spid="_x0000_s3094" r:id="rId4" imgW="2761615" imgH="2066290" progId="Word.Picture.8">
                  <p:embed/>
                </p:oleObj>
              </mc:Choice>
              <mc:Fallback>
                <p:oleObj r:id="rId4" imgW="2761615" imgH="2066290" progId="Word.Picture.8">
                  <p:embed/>
                  <p:pic>
                    <p:nvPicPr>
                      <p:cNvPr id="0" name="图片 3075"/>
                      <p:cNvPicPr/>
                      <p:nvPr/>
                    </p:nvPicPr>
                    <p:blipFill>
                      <a:blip r:embed="rId5"/>
                      <a:stretch>
                        <a:fillRect/>
                      </a:stretch>
                    </p:blipFill>
                    <p:spPr>
                      <a:xfrm>
                        <a:off x="4465638" y="1348105"/>
                        <a:ext cx="4608512" cy="343852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par>
                                <p:cTn id="21" presetID="2" presetClass="entr" presetSubtype="8" decel="53300" fill="hold" grpId="0" nodeType="withEffect">
                                  <p:stCondLst>
                                    <p:cond delay="30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750" fill="hold"/>
                                        <p:tgtEl>
                                          <p:spTgt spid="17"/>
                                        </p:tgtEl>
                                        <p:attrNameLst>
                                          <p:attrName>ppt_x</p:attrName>
                                        </p:attrNameLst>
                                      </p:cBhvr>
                                      <p:tavLst>
                                        <p:tav tm="0">
                                          <p:val>
                                            <p:strVal val="0-#ppt_w/2"/>
                                          </p:val>
                                        </p:tav>
                                        <p:tav tm="100000">
                                          <p:val>
                                            <p:strVal val="#ppt_x"/>
                                          </p:val>
                                        </p:tav>
                                      </p:tavLst>
                                    </p:anim>
                                    <p:anim calcmode="lin" valueType="num">
                                      <p:cBhvr additive="base">
                                        <p:cTn id="24"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软件演化的几个特征</a:t>
            </a:r>
          </a:p>
        </p:txBody>
      </p:sp>
      <p:sp>
        <p:nvSpPr>
          <p:cNvPr id="7" name="Text Box 10"/>
          <p:cNvSpPr txBox="1">
            <a:spLocks noChangeArrowheads="1"/>
          </p:cNvSpPr>
          <p:nvPr/>
        </p:nvSpPr>
        <p:spPr bwMode="auto">
          <a:xfrm>
            <a:off x="750971" y="3393994"/>
            <a:ext cx="1262877" cy="1151255"/>
          </a:xfrm>
          <a:prstGeom prst="rect">
            <a:avLst/>
          </a:prstGeom>
          <a:noFill/>
          <a:ln w="9525">
            <a:noFill/>
            <a:miter lim="800000"/>
          </a:ln>
        </p:spPr>
        <p:txBody>
          <a:bodyPr wrap="square" lIns="45720" tIns="22860" rIns="45720" bIns="22860">
            <a:spAutoFit/>
          </a:bodyPr>
          <a:lstStyle/>
          <a:p>
            <a:pPr algn="just">
              <a:lnSpc>
                <a:spcPct val="120000"/>
              </a:lnSpc>
              <a:spcBef>
                <a:spcPts val="660"/>
              </a:spcBef>
              <a:spcAft>
                <a:spcPts val="660"/>
              </a:spcAft>
              <a:defRPr/>
            </a:pPr>
            <a:r>
              <a:rPr lang="zh-CN" altLang="en-US" sz="1200" dirty="0">
                <a:sym typeface="+mn-ea"/>
              </a:rPr>
              <a:t>不断地对系统进行变更，许多活动要比在传统模式中具有更高的重复执行频率</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286412" y="4042066"/>
            <a:ext cx="1262877" cy="930275"/>
          </a:xfrm>
          <a:prstGeom prst="rect">
            <a:avLst/>
          </a:prstGeom>
          <a:noFill/>
          <a:ln w="9525">
            <a:noFill/>
            <a:miter lim="800000"/>
          </a:ln>
        </p:spPr>
        <p:txBody>
          <a:bodyPr wrap="square" lIns="45720" tIns="22860" rIns="45720" bIns="22860">
            <a:spAutoFit/>
          </a:bodyPr>
          <a:lstStyle/>
          <a:p>
            <a:pPr algn="just">
              <a:lnSpc>
                <a:spcPct val="120000"/>
              </a:lnSpc>
              <a:spcBef>
                <a:spcPts val="660"/>
              </a:spcBef>
              <a:spcAft>
                <a:spcPts val="660"/>
              </a:spcAft>
              <a:defRPr/>
            </a:pPr>
            <a:r>
              <a:rPr lang="zh-CN" altLang="en-US" sz="1200" dirty="0">
                <a:sym typeface="+mn-ea"/>
              </a:rPr>
              <a:t>为了提高软件演化的效率，必须对软件演化过程进行并行处理</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3821853" y="3393994"/>
            <a:ext cx="1262877" cy="1151255"/>
          </a:xfrm>
          <a:prstGeom prst="rect">
            <a:avLst/>
          </a:prstGeom>
          <a:noFill/>
          <a:ln w="9525">
            <a:noFill/>
            <a:miter lim="800000"/>
          </a:ln>
        </p:spPr>
        <p:txBody>
          <a:bodyPr wrap="square" lIns="45720" tIns="22860" rIns="45720" bIns="22860">
            <a:spAutoFit/>
          </a:bodyPr>
          <a:lstStyle/>
          <a:p>
            <a:pPr algn="just">
              <a:lnSpc>
                <a:spcPct val="120000"/>
              </a:lnSpc>
              <a:spcBef>
                <a:spcPts val="660"/>
              </a:spcBef>
              <a:spcAft>
                <a:spcPts val="660"/>
              </a:spcAft>
              <a:defRPr/>
            </a:pPr>
            <a:r>
              <a:rPr lang="zh-CN" altLang="en-US" sz="1200" dirty="0">
                <a:sym typeface="+mn-ea"/>
              </a:rPr>
              <a:t>需求、环境总是在不断地发生该变，所以要及时作出反馈，启动软件演化过程</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Text Box 10"/>
          <p:cNvSpPr txBox="1">
            <a:spLocks noChangeArrowheads="1"/>
          </p:cNvSpPr>
          <p:nvPr/>
        </p:nvSpPr>
        <p:spPr bwMode="auto">
          <a:xfrm>
            <a:off x="5357294" y="4042066"/>
            <a:ext cx="1262877" cy="930275"/>
          </a:xfrm>
          <a:prstGeom prst="rect">
            <a:avLst/>
          </a:prstGeom>
          <a:noFill/>
          <a:ln w="9525">
            <a:noFill/>
            <a:miter lim="800000"/>
          </a:ln>
        </p:spPr>
        <p:txBody>
          <a:bodyPr wrap="square" lIns="45720" tIns="22860" rIns="45720" bIns="22860">
            <a:spAutoFit/>
          </a:bodyPr>
          <a:lstStyle/>
          <a:p>
            <a:pPr algn="just">
              <a:lnSpc>
                <a:spcPct val="120000"/>
              </a:lnSpc>
              <a:spcBef>
                <a:spcPts val="660"/>
              </a:spcBef>
              <a:spcAft>
                <a:spcPts val="660"/>
              </a:spcAft>
              <a:defRPr/>
            </a:pPr>
            <a:r>
              <a:rPr lang="zh-CN" altLang="en-US" sz="1200" dirty="0">
                <a:sym typeface="+mn-ea"/>
              </a:rPr>
              <a:t>软件演化是一项多层次的工作，它是多方面因素共同作用的结果</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 name="Text Box 10"/>
          <p:cNvSpPr txBox="1">
            <a:spLocks noChangeArrowheads="1"/>
          </p:cNvSpPr>
          <p:nvPr/>
        </p:nvSpPr>
        <p:spPr bwMode="auto">
          <a:xfrm>
            <a:off x="6892734" y="3393994"/>
            <a:ext cx="1262877" cy="930275"/>
          </a:xfrm>
          <a:prstGeom prst="rect">
            <a:avLst/>
          </a:prstGeom>
          <a:noFill/>
          <a:ln w="9525">
            <a:noFill/>
            <a:miter lim="800000"/>
          </a:ln>
        </p:spPr>
        <p:txBody>
          <a:bodyPr wrap="square" lIns="45720" tIns="22860" rIns="45720" bIns="22860">
            <a:spAutoFit/>
          </a:bodyPr>
          <a:lstStyle/>
          <a:p>
            <a:pPr algn="just">
              <a:lnSpc>
                <a:spcPct val="120000"/>
              </a:lnSpc>
              <a:spcBef>
                <a:spcPts val="660"/>
              </a:spcBef>
              <a:spcAft>
                <a:spcPts val="660"/>
              </a:spcAft>
              <a:defRPr/>
            </a:pPr>
            <a:r>
              <a:rPr lang="zh-CN" altLang="en-US" sz="1200" dirty="0">
                <a:sym typeface="+mn-ea"/>
              </a:rPr>
              <a:t>软件演化既具有连续性有具有间断性，二者是交错进行的</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Oval 4"/>
          <p:cNvSpPr/>
          <p:nvPr/>
        </p:nvSpPr>
        <p:spPr>
          <a:xfrm>
            <a:off x="2315477" y="2727553"/>
            <a:ext cx="1152000" cy="1152000"/>
          </a:xfrm>
          <a:prstGeom prst="ellipse">
            <a:avLst/>
          </a:prstGeom>
          <a:gradFill>
            <a:gsLst>
              <a:gs pos="0">
                <a:srgbClr val="4BAF31"/>
              </a:gs>
              <a:gs pos="100000">
                <a:srgbClr val="004B7D"/>
              </a:gs>
            </a:gsLst>
            <a:lin ang="5400000" scaled="1"/>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并行性</a:t>
            </a:r>
          </a:p>
        </p:txBody>
      </p:sp>
      <p:sp>
        <p:nvSpPr>
          <p:cNvPr id="19" name="Oval 8"/>
          <p:cNvSpPr/>
          <p:nvPr/>
        </p:nvSpPr>
        <p:spPr>
          <a:xfrm>
            <a:off x="6921799" y="2127022"/>
            <a:ext cx="1152000" cy="1152000"/>
          </a:xfrm>
          <a:prstGeom prst="ellipse">
            <a:avLst/>
          </a:prstGeom>
          <a:gradFill>
            <a:gsLst>
              <a:gs pos="0">
                <a:srgbClr val="4BAF31"/>
              </a:gs>
              <a:gs pos="100000">
                <a:srgbClr val="004B7D"/>
              </a:gs>
            </a:gsLst>
            <a:lin ang="5400000" scaled="1"/>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交错性</a:t>
            </a:r>
          </a:p>
        </p:txBody>
      </p:sp>
      <p:sp>
        <p:nvSpPr>
          <p:cNvPr id="27" name="Oval 5"/>
          <p:cNvSpPr/>
          <p:nvPr/>
        </p:nvSpPr>
        <p:spPr>
          <a:xfrm>
            <a:off x="3850918" y="2127022"/>
            <a:ext cx="1152000" cy="1152000"/>
          </a:xfrm>
          <a:prstGeom prst="ellipse">
            <a:avLst/>
          </a:prstGeom>
          <a:gradFill>
            <a:gsLst>
              <a:gs pos="0">
                <a:srgbClr val="4BAF31"/>
              </a:gs>
              <a:gs pos="100000">
                <a:srgbClr val="004B7D"/>
              </a:gs>
            </a:gsLst>
            <a:lin ang="5400000" scaled="1"/>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反馈性</a:t>
            </a:r>
          </a:p>
        </p:txBody>
      </p:sp>
      <p:sp>
        <p:nvSpPr>
          <p:cNvPr id="33" name="Oval 7"/>
          <p:cNvSpPr/>
          <p:nvPr/>
        </p:nvSpPr>
        <p:spPr>
          <a:xfrm>
            <a:off x="5386359" y="2727553"/>
            <a:ext cx="1152000" cy="1152000"/>
          </a:xfrm>
          <a:prstGeom prst="ellipse">
            <a:avLst/>
          </a:prstGeom>
          <a:gradFill>
            <a:gsLst>
              <a:gs pos="0">
                <a:srgbClr val="4BAF31"/>
              </a:gs>
              <a:gs pos="100000">
                <a:srgbClr val="004B7D"/>
              </a:gs>
            </a:gsLst>
            <a:lin ang="5400000" scaled="1"/>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多层</a:t>
            </a:r>
          </a:p>
          <a:p>
            <a:pPr algn="ctr"/>
            <a:r>
              <a:rPr lang="zh-CN" altLang="en-US" sz="1400" dirty="0">
                <a:solidFill>
                  <a:schemeClr val="bg1"/>
                </a:solidFill>
                <a:latin typeface="微软雅黑" panose="020B0503020204020204" pitchFamily="34" charset="-122"/>
                <a:ea typeface="微软雅黑" panose="020B0503020204020204" pitchFamily="34" charset="-122"/>
              </a:rPr>
              <a:t>次性</a:t>
            </a:r>
          </a:p>
        </p:txBody>
      </p:sp>
      <p:sp>
        <p:nvSpPr>
          <p:cNvPr id="39" name="Oval 3"/>
          <p:cNvSpPr/>
          <p:nvPr/>
        </p:nvSpPr>
        <p:spPr>
          <a:xfrm>
            <a:off x="780036" y="2127022"/>
            <a:ext cx="1152000" cy="1152000"/>
          </a:xfrm>
          <a:prstGeom prst="ellipse">
            <a:avLst/>
          </a:prstGeom>
          <a:gradFill>
            <a:gsLst>
              <a:gs pos="0">
                <a:srgbClr val="4BAF31"/>
              </a:gs>
              <a:gs pos="100000">
                <a:srgbClr val="004B7D"/>
              </a:gs>
            </a:gsLst>
            <a:lin ang="5400000" scaled="1"/>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迭代性</a:t>
            </a:r>
          </a:p>
        </p:txBody>
      </p:sp>
      <p:sp>
        <p:nvSpPr>
          <p:cNvPr id="45" name="Text Box 7"/>
          <p:cNvSpPr txBox="1">
            <a:spLocks noChangeArrowheads="1"/>
          </p:cNvSpPr>
          <p:nvPr/>
        </p:nvSpPr>
        <p:spPr bwMode="auto">
          <a:xfrm>
            <a:off x="726705" y="1184276"/>
            <a:ext cx="7690591" cy="784225"/>
          </a:xfrm>
          <a:prstGeom prst="rect">
            <a:avLst/>
          </a:prstGeom>
          <a:noFill/>
          <a:ln w="9525">
            <a:noFill/>
            <a:miter lim="800000"/>
          </a:ln>
        </p:spPr>
        <p:txBody>
          <a:bodyPr wrap="square" lIns="45720" tIns="22860" rIns="45720" bIns="22860" anchor="ctr">
            <a:spAutoFit/>
          </a:bodyPr>
          <a:lstStyle/>
          <a:p>
            <a:pPr defTabSz="1087755">
              <a:lnSpc>
                <a:spcPct val="150000"/>
              </a:lnSpc>
            </a:pPr>
            <a:r>
              <a:rPr lang="zh-CN" altLang="en-US" sz="1600" dirty="0">
                <a:sym typeface="+mn-ea"/>
              </a:rPr>
              <a:t>软件演化的核心问题是：如何使软件系统适应外界的改变，软件演化过程是软件演化和软件过程的统一</a:t>
            </a:r>
            <a:endParaRPr lang="zh-CN" altLang="en-US" sz="1600" dirty="0">
              <a:solidFill>
                <a:schemeClr val="bg1">
                  <a:lumMod val="65000"/>
                </a:schemeClr>
              </a:solidFill>
              <a:latin typeface="Open Sans Semibold" pitchFamily="34" charset="0"/>
              <a:ea typeface="Open Sans Semibold" pitchFamily="34" charset="0"/>
              <a:cs typeface="Open Sans Semibold" pitchFamily="34" charset="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850"/>
                            </p:stCondLst>
                            <p:childTnLst>
                              <p:par>
                                <p:cTn id="22" presetID="22" presetClass="entr" presetSubtype="8" fill="hold" grpId="0" nodeType="after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left)">
                                      <p:cBhvr>
                                        <p:cTn id="24" dur="1000"/>
                                        <p:tgtEl>
                                          <p:spTgt spid="45"/>
                                        </p:tgtEl>
                                      </p:cBhvr>
                                    </p:animEffect>
                                  </p:childTnLst>
                                </p:cTn>
                              </p:par>
                            </p:childTnLst>
                          </p:cTn>
                        </p:par>
                        <p:par>
                          <p:cTn id="25" fill="hold">
                            <p:stCondLst>
                              <p:cond delay="2850"/>
                            </p:stCondLst>
                            <p:childTnLst>
                              <p:par>
                                <p:cTn id="26" presetID="2" presetClass="entr" presetSubtype="4" decel="53300" fill="hold" grpId="0" nodeType="afterEffect">
                                  <p:stCondLst>
                                    <p:cond delay="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750" fill="hold"/>
                                        <p:tgtEl>
                                          <p:spTgt spid="39"/>
                                        </p:tgtEl>
                                        <p:attrNameLst>
                                          <p:attrName>ppt_x</p:attrName>
                                        </p:attrNameLst>
                                      </p:cBhvr>
                                      <p:tavLst>
                                        <p:tav tm="0">
                                          <p:val>
                                            <p:strVal val="#ppt_x"/>
                                          </p:val>
                                        </p:tav>
                                        <p:tav tm="100000">
                                          <p:val>
                                            <p:strVal val="#ppt_x"/>
                                          </p:val>
                                        </p:tav>
                                      </p:tavLst>
                                    </p:anim>
                                    <p:anim calcmode="lin" valueType="num">
                                      <p:cBhvr additive="base">
                                        <p:cTn id="29" dur="750" fill="hold"/>
                                        <p:tgtEl>
                                          <p:spTgt spid="39"/>
                                        </p:tgtEl>
                                        <p:attrNameLst>
                                          <p:attrName>ppt_y</p:attrName>
                                        </p:attrNameLst>
                                      </p:cBhvr>
                                      <p:tavLst>
                                        <p:tav tm="0">
                                          <p:val>
                                            <p:strVal val="1+#ppt_h/2"/>
                                          </p:val>
                                        </p:tav>
                                        <p:tav tm="100000">
                                          <p:val>
                                            <p:strVal val="#ppt_y"/>
                                          </p:val>
                                        </p:tav>
                                      </p:tavLst>
                                    </p:anim>
                                  </p:childTnLst>
                                </p:cTn>
                              </p:par>
                              <p:par>
                                <p:cTn id="30" presetID="2" presetClass="entr" presetSubtype="4" decel="53300" fill="hold" grpId="0" nodeType="withEffect">
                                  <p:stCondLst>
                                    <p:cond delay="25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750" fill="hold"/>
                                        <p:tgtEl>
                                          <p:spTgt spid="16"/>
                                        </p:tgtEl>
                                        <p:attrNameLst>
                                          <p:attrName>ppt_x</p:attrName>
                                        </p:attrNameLst>
                                      </p:cBhvr>
                                      <p:tavLst>
                                        <p:tav tm="0">
                                          <p:val>
                                            <p:strVal val="#ppt_x"/>
                                          </p:val>
                                        </p:tav>
                                        <p:tav tm="100000">
                                          <p:val>
                                            <p:strVal val="#ppt_x"/>
                                          </p:val>
                                        </p:tav>
                                      </p:tavLst>
                                    </p:anim>
                                    <p:anim calcmode="lin" valueType="num">
                                      <p:cBhvr additive="base">
                                        <p:cTn id="33" dur="750" fill="hold"/>
                                        <p:tgtEl>
                                          <p:spTgt spid="16"/>
                                        </p:tgtEl>
                                        <p:attrNameLst>
                                          <p:attrName>ppt_y</p:attrName>
                                        </p:attrNameLst>
                                      </p:cBhvr>
                                      <p:tavLst>
                                        <p:tav tm="0">
                                          <p:val>
                                            <p:strVal val="1+#ppt_h/2"/>
                                          </p:val>
                                        </p:tav>
                                        <p:tav tm="100000">
                                          <p:val>
                                            <p:strVal val="#ppt_y"/>
                                          </p:val>
                                        </p:tav>
                                      </p:tavLst>
                                    </p:anim>
                                  </p:childTnLst>
                                </p:cTn>
                              </p:par>
                              <p:par>
                                <p:cTn id="34" presetID="2" presetClass="entr" presetSubtype="4" decel="53300" fill="hold" grpId="0" nodeType="withEffect">
                                  <p:stCondLst>
                                    <p:cond delay="50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750" fill="hold"/>
                                        <p:tgtEl>
                                          <p:spTgt spid="27"/>
                                        </p:tgtEl>
                                        <p:attrNameLst>
                                          <p:attrName>ppt_x</p:attrName>
                                        </p:attrNameLst>
                                      </p:cBhvr>
                                      <p:tavLst>
                                        <p:tav tm="0">
                                          <p:val>
                                            <p:strVal val="#ppt_x"/>
                                          </p:val>
                                        </p:tav>
                                        <p:tav tm="100000">
                                          <p:val>
                                            <p:strVal val="#ppt_x"/>
                                          </p:val>
                                        </p:tav>
                                      </p:tavLst>
                                    </p:anim>
                                    <p:anim calcmode="lin" valueType="num">
                                      <p:cBhvr additive="base">
                                        <p:cTn id="37" dur="750" fill="hold"/>
                                        <p:tgtEl>
                                          <p:spTgt spid="27"/>
                                        </p:tgtEl>
                                        <p:attrNameLst>
                                          <p:attrName>ppt_y</p:attrName>
                                        </p:attrNameLst>
                                      </p:cBhvr>
                                      <p:tavLst>
                                        <p:tav tm="0">
                                          <p:val>
                                            <p:strVal val="1+#ppt_h/2"/>
                                          </p:val>
                                        </p:tav>
                                        <p:tav tm="100000">
                                          <p:val>
                                            <p:strVal val="#ppt_y"/>
                                          </p:val>
                                        </p:tav>
                                      </p:tavLst>
                                    </p:anim>
                                  </p:childTnLst>
                                </p:cTn>
                              </p:par>
                              <p:par>
                                <p:cTn id="38" presetID="2" presetClass="entr" presetSubtype="4" decel="53300" fill="hold" grpId="0" nodeType="withEffect">
                                  <p:stCondLst>
                                    <p:cond delay="75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750" fill="hold"/>
                                        <p:tgtEl>
                                          <p:spTgt spid="33"/>
                                        </p:tgtEl>
                                        <p:attrNameLst>
                                          <p:attrName>ppt_x</p:attrName>
                                        </p:attrNameLst>
                                      </p:cBhvr>
                                      <p:tavLst>
                                        <p:tav tm="0">
                                          <p:val>
                                            <p:strVal val="#ppt_x"/>
                                          </p:val>
                                        </p:tav>
                                        <p:tav tm="100000">
                                          <p:val>
                                            <p:strVal val="#ppt_x"/>
                                          </p:val>
                                        </p:tav>
                                      </p:tavLst>
                                    </p:anim>
                                    <p:anim calcmode="lin" valueType="num">
                                      <p:cBhvr additive="base">
                                        <p:cTn id="41" dur="750" fill="hold"/>
                                        <p:tgtEl>
                                          <p:spTgt spid="33"/>
                                        </p:tgtEl>
                                        <p:attrNameLst>
                                          <p:attrName>ppt_y</p:attrName>
                                        </p:attrNameLst>
                                      </p:cBhvr>
                                      <p:tavLst>
                                        <p:tav tm="0">
                                          <p:val>
                                            <p:strVal val="1+#ppt_h/2"/>
                                          </p:val>
                                        </p:tav>
                                        <p:tav tm="100000">
                                          <p:val>
                                            <p:strVal val="#ppt_y"/>
                                          </p:val>
                                        </p:tav>
                                      </p:tavLst>
                                    </p:anim>
                                  </p:childTnLst>
                                </p:cTn>
                              </p:par>
                              <p:par>
                                <p:cTn id="42" presetID="2" presetClass="entr" presetSubtype="4" decel="53300" fill="hold" grpId="0" nodeType="withEffect">
                                  <p:stCondLst>
                                    <p:cond delay="100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750" fill="hold"/>
                                        <p:tgtEl>
                                          <p:spTgt spid="19"/>
                                        </p:tgtEl>
                                        <p:attrNameLst>
                                          <p:attrName>ppt_x</p:attrName>
                                        </p:attrNameLst>
                                      </p:cBhvr>
                                      <p:tavLst>
                                        <p:tav tm="0">
                                          <p:val>
                                            <p:strVal val="#ppt_x"/>
                                          </p:val>
                                        </p:tav>
                                        <p:tav tm="100000">
                                          <p:val>
                                            <p:strVal val="#ppt_x"/>
                                          </p:val>
                                        </p:tav>
                                      </p:tavLst>
                                    </p:anim>
                                    <p:anim calcmode="lin" valueType="num">
                                      <p:cBhvr additive="base">
                                        <p:cTn id="45" dur="750" fill="hold"/>
                                        <p:tgtEl>
                                          <p:spTgt spid="19"/>
                                        </p:tgtEl>
                                        <p:attrNameLst>
                                          <p:attrName>ppt_y</p:attrName>
                                        </p:attrNameLst>
                                      </p:cBhvr>
                                      <p:tavLst>
                                        <p:tav tm="0">
                                          <p:val>
                                            <p:strVal val="1+#ppt_h/2"/>
                                          </p:val>
                                        </p:tav>
                                        <p:tav tm="100000">
                                          <p:val>
                                            <p:strVal val="#ppt_y"/>
                                          </p:val>
                                        </p:tav>
                                      </p:tavLst>
                                    </p:anim>
                                  </p:childTnLst>
                                </p:cTn>
                              </p:par>
                            </p:childTnLst>
                          </p:cTn>
                        </p:par>
                        <p:par>
                          <p:cTn id="46" fill="hold">
                            <p:stCondLst>
                              <p:cond delay="3850"/>
                            </p:stCondLst>
                            <p:childTnLst>
                              <p:par>
                                <p:cTn id="47" presetID="22" presetClass="entr" presetSubtype="1" fill="hold" grpId="0"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up)">
                                      <p:cBhvr>
                                        <p:cTn id="49" dur="500"/>
                                        <p:tgtEl>
                                          <p:spTgt spid="7"/>
                                        </p:tgtEl>
                                      </p:cBhvr>
                                    </p:animEffect>
                                  </p:childTnLst>
                                </p:cTn>
                              </p:par>
                            </p:childTnLst>
                          </p:cTn>
                        </p:par>
                        <p:par>
                          <p:cTn id="50" fill="hold">
                            <p:stCondLst>
                              <p:cond delay="4350"/>
                            </p:stCondLst>
                            <p:childTnLst>
                              <p:par>
                                <p:cTn id="51" presetID="22" presetClass="entr" presetSubtype="1"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up)">
                                      <p:cBhvr>
                                        <p:cTn id="53" dur="500"/>
                                        <p:tgtEl>
                                          <p:spTgt spid="11"/>
                                        </p:tgtEl>
                                      </p:cBhvr>
                                    </p:animEffect>
                                  </p:childTnLst>
                                </p:cTn>
                              </p:par>
                            </p:childTnLst>
                          </p:cTn>
                        </p:par>
                        <p:par>
                          <p:cTn id="54" fill="hold">
                            <p:stCondLst>
                              <p:cond delay="4850"/>
                            </p:stCondLst>
                            <p:childTnLst>
                              <p:par>
                                <p:cTn id="55" presetID="22" presetClass="entr" presetSubtype="1"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up)">
                                      <p:cBhvr>
                                        <p:cTn id="57" dur="500"/>
                                        <p:tgtEl>
                                          <p:spTgt spid="12"/>
                                        </p:tgtEl>
                                      </p:cBhvr>
                                    </p:animEffect>
                                  </p:childTnLst>
                                </p:cTn>
                              </p:par>
                            </p:childTnLst>
                          </p:cTn>
                        </p:par>
                        <p:par>
                          <p:cTn id="58" fill="hold">
                            <p:stCondLst>
                              <p:cond delay="5350"/>
                            </p:stCondLst>
                            <p:childTnLst>
                              <p:par>
                                <p:cTn id="59" presetID="22" presetClass="entr" presetSubtype="1"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up)">
                                      <p:cBhvr>
                                        <p:cTn id="61" dur="500"/>
                                        <p:tgtEl>
                                          <p:spTgt spid="13"/>
                                        </p:tgtEl>
                                      </p:cBhvr>
                                    </p:animEffect>
                                  </p:childTnLst>
                                </p:cTn>
                              </p:par>
                            </p:childTnLst>
                          </p:cTn>
                        </p:par>
                        <p:par>
                          <p:cTn id="62" fill="hold">
                            <p:stCondLst>
                              <p:cond delay="5850"/>
                            </p:stCondLst>
                            <p:childTnLst>
                              <p:par>
                                <p:cTn id="63" presetID="22" presetClass="entr" presetSubtype="1"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7" grpId="0"/>
      <p:bldP spid="11" grpId="0"/>
      <p:bldP spid="12" grpId="0"/>
      <p:bldP spid="13" grpId="0"/>
      <p:bldP spid="14" grpId="0"/>
      <p:bldP spid="16" grpId="0" bldLvl="0" animBg="1"/>
      <p:bldP spid="19" grpId="0" bldLvl="0" animBg="1"/>
      <p:bldP spid="27" grpId="0" bldLvl="0" animBg="1"/>
      <p:bldP spid="33" grpId="0" bldLvl="0" animBg="1"/>
      <p:bldP spid="39" grpId="0" bldLvl="0" animBg="1"/>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rPr>
              <a:t>软件演化介绍</a:t>
            </a:r>
          </a:p>
        </p:txBody>
      </p:sp>
      <p:sp>
        <p:nvSpPr>
          <p:cNvPr id="5" name="灯片编号占位符 4"/>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9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rPr>
              <a:pPr marL="0" marR="0" lvl="0" indent="0" algn="r" defTabSz="685800" rtl="0" eaLnBrk="1" fontAlgn="auto" latinLnBrk="0" hangingPunct="1">
                <a:lnSpc>
                  <a:spcPct val="100000"/>
                </a:lnSpc>
                <a:spcBef>
                  <a:spcPts val="0"/>
                </a:spcBef>
                <a:spcAft>
                  <a:spcPts val="0"/>
                </a:spcAft>
                <a:buClrTx/>
                <a:buSzTx/>
                <a:buFontTx/>
                <a:buNone/>
                <a:tabLst/>
                <a:defRPr/>
              </a:pPr>
              <a:t>13</a:t>
            </a:fld>
            <a:endParaRPr kumimoji="0" lang="zh-CN" altLang="en-US" sz="9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标题 1"/>
          <p:cNvSpPr>
            <a:spLocks noGrp="1"/>
          </p:cNvSpPr>
          <p:nvPr>
            <p:ph type="title"/>
          </p:nvPr>
        </p:nvSpPr>
        <p:spPr/>
        <p:txBody>
          <a:bodyPr>
            <a:normAutofit fontScale="90000"/>
          </a:bodyPr>
          <a:lstStyle/>
          <a:p>
            <a:pPr algn="l"/>
            <a:r>
              <a:rPr lang="zh-CN" altLang="en-US" b="1" dirty="0" smtClean="0">
                <a:latin typeface="微软雅黑 Light" panose="020B0502040204020203" pitchFamily="34" charset="-122"/>
                <a:ea typeface="微软雅黑 Light" panose="020B0502040204020203" pitchFamily="34" charset="-122"/>
              </a:rPr>
              <a:t>软件演化分类</a:t>
            </a:r>
            <a:r>
              <a:rPr lang="en-US" altLang="zh-CN" b="1" dirty="0" smtClean="0">
                <a:latin typeface="微软雅黑 Light" panose="020B0502040204020203" pitchFamily="34" charset="-122"/>
                <a:ea typeface="微软雅黑 Light" panose="020B0502040204020203" pitchFamily="34" charset="-122"/>
              </a:rPr>
              <a:t/>
            </a:r>
            <a:br>
              <a:rPr lang="en-US" altLang="zh-CN" b="1" dirty="0" smtClean="0">
                <a:latin typeface="微软雅黑 Light" panose="020B0502040204020203" pitchFamily="34" charset="-122"/>
                <a:ea typeface="微软雅黑 Light" panose="020B0502040204020203" pitchFamily="34" charset="-122"/>
              </a:rPr>
            </a:br>
            <a:r>
              <a:rPr lang="en-US" altLang="zh-CN" sz="2325" b="1" dirty="0">
                <a:latin typeface="微软雅黑 Light" panose="020B0502040204020203" pitchFamily="34" charset="-122"/>
                <a:ea typeface="微软雅黑 Light" panose="020B0502040204020203" pitchFamily="34" charset="-122"/>
              </a:rPr>
              <a:t>——</a:t>
            </a:r>
            <a:r>
              <a:rPr lang="zh-CN" altLang="en-US" sz="2325" b="1" dirty="0">
                <a:latin typeface="微软雅黑 Light" panose="020B0502040204020203" pitchFamily="34" charset="-122"/>
                <a:ea typeface="微软雅黑 Light" panose="020B0502040204020203" pitchFamily="34" charset="-122"/>
              </a:rPr>
              <a:t>按演化发生时机分类</a:t>
            </a:r>
          </a:p>
        </p:txBody>
      </p:sp>
      <p:sp>
        <p:nvSpPr>
          <p:cNvPr id="7" name="AutoShape 3"/>
          <p:cNvSpPr>
            <a:spLocks noChangeArrowheads="1"/>
          </p:cNvSpPr>
          <p:nvPr/>
        </p:nvSpPr>
        <p:spPr bwMode="auto">
          <a:xfrm>
            <a:off x="3130029" y="2416746"/>
            <a:ext cx="3033713" cy="1674019"/>
          </a:xfrm>
          <a:prstGeom prst="triangle">
            <a:avLst>
              <a:gd name="adj" fmla="val 50000"/>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0" rIns="0" bIns="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8" name="Oval 4"/>
          <p:cNvSpPr>
            <a:spLocks noChangeArrowheads="1"/>
          </p:cNvSpPr>
          <p:nvPr/>
        </p:nvSpPr>
        <p:spPr bwMode="auto">
          <a:xfrm>
            <a:off x="4044429" y="1823815"/>
            <a:ext cx="1204913" cy="1204913"/>
          </a:xfrm>
          <a:prstGeom prst="ellipse">
            <a:avLst/>
          </a:prstGeom>
          <a:solidFill>
            <a:srgbClr val="DDDDDD"/>
          </a:solidFill>
          <a:ln w="6350">
            <a:solidFill>
              <a:srgbClr val="DDDDDD"/>
            </a:solidFill>
            <a:round/>
            <a:headEnd/>
            <a:tailEnd/>
          </a:ln>
          <a:effectLst>
            <a:outerShdw dist="35921" dir="2700000" algn="ctr" rotWithShape="0">
              <a:srgbClr val="777777"/>
            </a:outerShdw>
          </a:effectLst>
        </p:spPr>
        <p:txBody>
          <a:bodyPr wrap="none" lIns="54000" tIns="0" rIns="0" bIns="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9" name="Oval 5"/>
          <p:cNvSpPr>
            <a:spLocks noChangeArrowheads="1"/>
          </p:cNvSpPr>
          <p:nvPr/>
        </p:nvSpPr>
        <p:spPr bwMode="auto">
          <a:xfrm>
            <a:off x="2510904" y="3466877"/>
            <a:ext cx="1204913" cy="1204913"/>
          </a:xfrm>
          <a:prstGeom prst="ellipse">
            <a:avLst/>
          </a:prstGeom>
          <a:solidFill>
            <a:srgbClr val="DDDDDD"/>
          </a:solidFill>
          <a:ln w="6350">
            <a:solidFill>
              <a:srgbClr val="DDDDDD"/>
            </a:solidFill>
            <a:round/>
            <a:headEnd/>
            <a:tailEnd/>
          </a:ln>
          <a:effectLst>
            <a:outerShdw dist="35921" dir="2700000" algn="ctr" rotWithShape="0">
              <a:srgbClr val="777777"/>
            </a:outerShdw>
          </a:effectLst>
        </p:spPr>
        <p:txBody>
          <a:bodyPr wrap="none" lIns="54000" tIns="0" rIns="0" bIns="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10" name="Oval 6"/>
          <p:cNvSpPr>
            <a:spLocks noChangeArrowheads="1"/>
          </p:cNvSpPr>
          <p:nvPr/>
        </p:nvSpPr>
        <p:spPr bwMode="auto">
          <a:xfrm>
            <a:off x="5558904" y="3466877"/>
            <a:ext cx="1204913" cy="1204913"/>
          </a:xfrm>
          <a:prstGeom prst="ellipse">
            <a:avLst/>
          </a:prstGeom>
          <a:solidFill>
            <a:srgbClr val="DDDDDD"/>
          </a:solidFill>
          <a:ln w="6350">
            <a:solidFill>
              <a:srgbClr val="DDDDDD"/>
            </a:solidFill>
            <a:round/>
            <a:headEnd/>
            <a:tailEnd/>
          </a:ln>
          <a:effectLst>
            <a:outerShdw dist="35921" dir="2700000" algn="ctr" rotWithShape="0">
              <a:srgbClr val="777777"/>
            </a:outerShdw>
          </a:effectLst>
        </p:spPr>
        <p:txBody>
          <a:bodyPr wrap="none" lIns="54000" tIns="0" rIns="0" bIns="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11" name="Text Box 7"/>
          <p:cNvSpPr txBox="1">
            <a:spLocks noChangeArrowheads="1"/>
          </p:cNvSpPr>
          <p:nvPr/>
        </p:nvSpPr>
        <p:spPr bwMode="auto">
          <a:xfrm flipH="1">
            <a:off x="2601391" y="3954513"/>
            <a:ext cx="1023938" cy="230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zh-CN" altLang="en-US" sz="15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装载期演化</a:t>
            </a:r>
          </a:p>
        </p:txBody>
      </p:sp>
      <p:sp>
        <p:nvSpPr>
          <p:cNvPr id="12" name="Text Box 8"/>
          <p:cNvSpPr txBox="1">
            <a:spLocks noChangeArrowheads="1"/>
          </p:cNvSpPr>
          <p:nvPr/>
        </p:nvSpPr>
        <p:spPr bwMode="auto">
          <a:xfrm flipH="1">
            <a:off x="5651773" y="3953917"/>
            <a:ext cx="1023938" cy="230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zh-CN" altLang="en-US" sz="15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运行时演化</a:t>
            </a:r>
          </a:p>
        </p:txBody>
      </p:sp>
      <p:sp>
        <p:nvSpPr>
          <p:cNvPr id="13" name="Text Box 9"/>
          <p:cNvSpPr txBox="1">
            <a:spLocks noChangeArrowheads="1"/>
          </p:cNvSpPr>
          <p:nvPr/>
        </p:nvSpPr>
        <p:spPr bwMode="auto">
          <a:xfrm flipH="1">
            <a:off x="4134916" y="2311451"/>
            <a:ext cx="1023938" cy="230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zh-CN" altLang="en-US" sz="15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设计时演化</a:t>
            </a:r>
          </a:p>
        </p:txBody>
      </p:sp>
      <p:sp>
        <p:nvSpPr>
          <p:cNvPr id="14" name="TextBox 13"/>
          <p:cNvSpPr txBox="1"/>
          <p:nvPr/>
        </p:nvSpPr>
        <p:spPr>
          <a:xfrm>
            <a:off x="5265058" y="861102"/>
            <a:ext cx="2482937" cy="124649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设计时演化是指在软件编译前，通过修改软件的设计、源代码，重新编译、部署系统来适应变化。设计时演化是静态演化。</a:t>
            </a:r>
          </a:p>
        </p:txBody>
      </p:sp>
      <p:sp>
        <p:nvSpPr>
          <p:cNvPr id="17" name="TextBox 16"/>
          <p:cNvSpPr txBox="1"/>
          <p:nvPr/>
        </p:nvSpPr>
        <p:spPr>
          <a:xfrm>
            <a:off x="1432774" y="1320136"/>
            <a:ext cx="2214246" cy="21698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350" b="0"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装载期演化是指在软件编译后、运行前进行的演化，变更发生在运行平台装载代码期间。因为系统尚未开始执行，这类演化不涉及系统状态的维护问题。而装载期间的演化既可以被看作静态演化也可以看作是动态演化，取决于它怎样被平台或提供者使用</a:t>
            </a:r>
          </a:p>
        </p:txBody>
      </p:sp>
      <p:sp>
        <p:nvSpPr>
          <p:cNvPr id="18" name="TextBox 17"/>
          <p:cNvSpPr txBox="1"/>
          <p:nvPr/>
        </p:nvSpPr>
        <p:spPr>
          <a:xfrm>
            <a:off x="5651773" y="2262438"/>
            <a:ext cx="2314054" cy="124649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发生在程序执行过程中的</a:t>
            </a:r>
            <a:r>
              <a:rPr kumimoji="0" lang="zh-CN" altLang="en-US" sz="15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任何时刻</a:t>
            </a:r>
            <a:r>
              <a:rPr kumimoji="0" lang="zh-CN" altLang="en-US" sz="1500" b="0"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，部分代码或者对象中执行期间修改。运行时演化是一种典型的动态演化。</a:t>
            </a:r>
          </a:p>
        </p:txBody>
      </p:sp>
    </p:spTree>
    <p:extLst>
      <p:ext uri="{BB962C8B-B14F-4D97-AF65-F5344CB8AC3E}">
        <p14:creationId xmlns:p14="http://schemas.microsoft.com/office/powerpoint/2010/main" val="34178896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4336415"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软件演化的分类</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从实现方式和粒度</a:t>
            </a:r>
          </a:p>
        </p:txBody>
      </p:sp>
      <p:grpSp>
        <p:nvGrpSpPr>
          <p:cNvPr id="7" name="组合 6"/>
          <p:cNvGrpSpPr/>
          <p:nvPr/>
        </p:nvGrpSpPr>
        <p:grpSpPr>
          <a:xfrm>
            <a:off x="2282892" y="2692468"/>
            <a:ext cx="1657762" cy="1221509"/>
            <a:chOff x="2282892" y="2767021"/>
            <a:chExt cx="1657762" cy="1221509"/>
          </a:xfrm>
        </p:grpSpPr>
        <p:sp>
          <p:nvSpPr>
            <p:cNvPr id="11" name="五边形 10"/>
            <p:cNvSpPr/>
            <p:nvPr/>
          </p:nvSpPr>
          <p:spPr>
            <a:xfrm rot="16200000" flipV="1">
              <a:off x="2501018" y="2548895"/>
              <a:ext cx="1221509" cy="1657762"/>
            </a:xfrm>
            <a:prstGeom prst="homePlate">
              <a:avLst/>
            </a:prstGeom>
            <a:gradFill>
              <a:gsLst>
                <a:gs pos="0">
                  <a:srgbClr val="4BAF31"/>
                </a:gs>
                <a:gs pos="100000">
                  <a:srgbClr val="004B7D"/>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354595" y="3395950"/>
              <a:ext cx="1453732" cy="461665"/>
            </a:xfrm>
            <a:prstGeom prst="rect">
              <a:avLst/>
            </a:prstGeom>
          </p:spPr>
          <p:txBody>
            <a:bodyPr wrap="square">
              <a:noAutofit/>
            </a:bodyPr>
            <a:lstStyle/>
            <a:p>
              <a:pPr algn="ctr">
                <a:defRPr/>
              </a:pPr>
              <a:r>
                <a:rPr lang="zh-CN" altLang="en-US" b="1" dirty="0">
                  <a:solidFill>
                    <a:srgbClr val="FFFFFF"/>
                  </a:solidFill>
                  <a:latin typeface="微软雅黑" panose="020B0503020204020204" pitchFamily="34" charset="-122"/>
                  <a:ea typeface="微软雅黑" panose="020B0503020204020204" pitchFamily="34" charset="-122"/>
                  <a:cs typeface="经典特宋简" pitchFamily="49" charset="-122"/>
                </a:rPr>
                <a:t>基于构件</a:t>
              </a:r>
            </a:p>
            <a:p>
              <a:pPr algn="ctr">
                <a:defRPr/>
              </a:pPr>
              <a:r>
                <a:rPr lang="zh-CN" altLang="en-US" sz="1000" b="1" dirty="0">
                  <a:solidFill>
                    <a:srgbClr val="FFFFFF"/>
                  </a:solidFill>
                  <a:latin typeface="微软雅黑" panose="020B0503020204020204" pitchFamily="34" charset="-122"/>
                  <a:ea typeface="微软雅黑" panose="020B0503020204020204" pitchFamily="34" charset="-122"/>
                  <a:cs typeface="经典特宋简" pitchFamily="49" charset="-122"/>
                </a:rPr>
                <a:t>（信息、行为、接口）</a:t>
              </a:r>
            </a:p>
          </p:txBody>
        </p:sp>
      </p:grpSp>
      <p:grpSp>
        <p:nvGrpSpPr>
          <p:cNvPr id="13" name="组合 12"/>
          <p:cNvGrpSpPr/>
          <p:nvPr/>
        </p:nvGrpSpPr>
        <p:grpSpPr>
          <a:xfrm>
            <a:off x="4231488" y="2692468"/>
            <a:ext cx="1657762" cy="1221509"/>
            <a:chOff x="4231488" y="2767021"/>
            <a:chExt cx="1657762" cy="1221509"/>
          </a:xfrm>
        </p:grpSpPr>
        <p:sp>
          <p:nvSpPr>
            <p:cNvPr id="14" name="五边形 13"/>
            <p:cNvSpPr/>
            <p:nvPr/>
          </p:nvSpPr>
          <p:spPr>
            <a:xfrm rot="16200000" flipV="1">
              <a:off x="4449614" y="2548895"/>
              <a:ext cx="1221509" cy="1657762"/>
            </a:xfrm>
            <a:prstGeom prst="homePlate">
              <a:avLst/>
            </a:prstGeom>
            <a:gradFill>
              <a:gsLst>
                <a:gs pos="0">
                  <a:srgbClr val="4BAF31"/>
                </a:gs>
                <a:gs pos="100000">
                  <a:srgbClr val="004B7D"/>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333503" y="3395950"/>
              <a:ext cx="1453732" cy="461665"/>
            </a:xfrm>
            <a:prstGeom prst="rect">
              <a:avLst/>
            </a:prstGeom>
          </p:spPr>
          <p:txBody>
            <a:bodyPr wrap="square">
              <a:noAutofit/>
            </a:bodyPr>
            <a:lstStyle/>
            <a:p>
              <a:pPr algn="ctr">
                <a:defRPr/>
              </a:pPr>
              <a:r>
                <a:rPr lang="zh-CN" altLang="en-US" b="1" dirty="0">
                  <a:solidFill>
                    <a:srgbClr val="FFFFFF"/>
                  </a:solidFill>
                  <a:latin typeface="微软雅黑" panose="020B0503020204020204" pitchFamily="34" charset="-122"/>
                  <a:ea typeface="微软雅黑" panose="020B0503020204020204" pitchFamily="34" charset="-122"/>
                  <a:cs typeface="经典特宋简" pitchFamily="49" charset="-122"/>
                </a:rPr>
                <a:t>基于体系结构</a:t>
              </a:r>
            </a:p>
          </p:txBody>
        </p:sp>
      </p:grpSp>
      <p:grpSp>
        <p:nvGrpSpPr>
          <p:cNvPr id="16" name="组合 15"/>
          <p:cNvGrpSpPr/>
          <p:nvPr/>
        </p:nvGrpSpPr>
        <p:grpSpPr>
          <a:xfrm>
            <a:off x="3257190" y="1950837"/>
            <a:ext cx="1657762" cy="1221509"/>
            <a:chOff x="3257190" y="2025390"/>
            <a:chExt cx="1657762" cy="1221509"/>
          </a:xfrm>
        </p:grpSpPr>
        <p:sp>
          <p:nvSpPr>
            <p:cNvPr id="17" name="五边形 16"/>
            <p:cNvSpPr/>
            <p:nvPr/>
          </p:nvSpPr>
          <p:spPr>
            <a:xfrm rot="5400000">
              <a:off x="3475316" y="1807264"/>
              <a:ext cx="1221509" cy="1657762"/>
            </a:xfrm>
            <a:prstGeom prst="homePlate">
              <a:avLst/>
            </a:prstGeom>
            <a:gradFill flip="none" rotWithShape="1">
              <a:gsLst>
                <a:gs pos="0">
                  <a:srgbClr val="4BAF31"/>
                </a:gs>
                <a:gs pos="100000">
                  <a:srgbClr val="004B7D"/>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298587" y="2340617"/>
              <a:ext cx="1514348" cy="461665"/>
            </a:xfrm>
            <a:prstGeom prst="rect">
              <a:avLst/>
            </a:prstGeom>
          </p:spPr>
          <p:txBody>
            <a:bodyPr wrap="square">
              <a:noAutofit/>
            </a:bodyPr>
            <a:lstStyle/>
            <a:p>
              <a:pPr algn="ctr">
                <a:defRPr/>
              </a:pPr>
              <a:r>
                <a:rPr lang="zh-CN" altLang="en-US" b="1" dirty="0">
                  <a:solidFill>
                    <a:srgbClr val="FFFFFF"/>
                  </a:solidFill>
                  <a:latin typeface="微软雅黑" panose="020B0503020204020204" pitchFamily="34" charset="-122"/>
                  <a:ea typeface="微软雅黑" panose="020B0503020204020204" pitchFamily="34" charset="-122"/>
                  <a:cs typeface="经典特宋简" pitchFamily="49" charset="-122"/>
                </a:rPr>
                <a:t>基于过程和函数</a:t>
              </a:r>
            </a:p>
          </p:txBody>
        </p:sp>
      </p:grpSp>
      <p:grpSp>
        <p:nvGrpSpPr>
          <p:cNvPr id="19" name="组合 18"/>
          <p:cNvGrpSpPr/>
          <p:nvPr/>
        </p:nvGrpSpPr>
        <p:grpSpPr>
          <a:xfrm>
            <a:off x="5205788" y="1950837"/>
            <a:ext cx="1657762" cy="1221509"/>
            <a:chOff x="5205788" y="2025390"/>
            <a:chExt cx="1657762" cy="1221509"/>
          </a:xfrm>
        </p:grpSpPr>
        <p:sp>
          <p:nvSpPr>
            <p:cNvPr id="20" name="五边形 19"/>
            <p:cNvSpPr/>
            <p:nvPr/>
          </p:nvSpPr>
          <p:spPr>
            <a:xfrm rot="5400000">
              <a:off x="5423914" y="1807264"/>
              <a:ext cx="1221509" cy="1657762"/>
            </a:xfrm>
            <a:prstGeom prst="homePlate">
              <a:avLst/>
            </a:prstGeom>
            <a:gradFill>
              <a:gsLst>
                <a:gs pos="0">
                  <a:srgbClr val="4BAF31"/>
                </a:gs>
                <a:gs pos="100000">
                  <a:srgbClr val="004B7D"/>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5205788" y="2304138"/>
              <a:ext cx="1657762" cy="461665"/>
            </a:xfrm>
            <a:prstGeom prst="rect">
              <a:avLst/>
            </a:prstGeom>
          </p:spPr>
          <p:txBody>
            <a:bodyPr wrap="square">
              <a:noAutofit/>
            </a:bodyPr>
            <a:lstStyle/>
            <a:p>
              <a:pPr algn="ctr">
                <a:defRPr/>
              </a:pPr>
              <a:r>
                <a:rPr lang="zh-CN" altLang="en-US" b="1" dirty="0">
                  <a:solidFill>
                    <a:srgbClr val="FFFFFF"/>
                  </a:solidFill>
                  <a:latin typeface="微软雅黑" panose="020B0503020204020204" pitchFamily="34" charset="-122"/>
                  <a:ea typeface="微软雅黑" panose="020B0503020204020204" pitchFamily="34" charset="-122"/>
                  <a:cs typeface="经典特宋简" pitchFamily="49" charset="-122"/>
                </a:rPr>
                <a:t>面向对象</a:t>
              </a:r>
            </a:p>
          </p:txBody>
        </p:sp>
      </p:grpSp>
      <p:cxnSp>
        <p:nvCxnSpPr>
          <p:cNvPr id="22" name="肘形连接符 21"/>
          <p:cNvCxnSpPr>
            <a:stCxn id="17" idx="1"/>
          </p:cNvCxnSpPr>
          <p:nvPr/>
        </p:nvCxnSpPr>
        <p:spPr>
          <a:xfrm rot="16200000" flipV="1">
            <a:off x="3112267" y="1116116"/>
            <a:ext cx="556480" cy="1112961"/>
          </a:xfrm>
          <a:prstGeom prst="bentConnector2">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肘形连接符 22"/>
          <p:cNvCxnSpPr/>
          <p:nvPr/>
        </p:nvCxnSpPr>
        <p:spPr>
          <a:xfrm rot="5400000" flipH="1" flipV="1">
            <a:off x="6242831" y="1262764"/>
            <a:ext cx="556480" cy="834721"/>
          </a:xfrm>
          <a:prstGeom prst="bentConnector2">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肘形连接符 23"/>
          <p:cNvCxnSpPr>
            <a:stCxn id="11" idx="1"/>
          </p:cNvCxnSpPr>
          <p:nvPr/>
        </p:nvCxnSpPr>
        <p:spPr>
          <a:xfrm rot="5400000">
            <a:off x="2468342" y="3757467"/>
            <a:ext cx="486920" cy="799941"/>
          </a:xfrm>
          <a:prstGeom prst="bentConnector2">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肘形连接符 24"/>
          <p:cNvCxnSpPr/>
          <p:nvPr/>
        </p:nvCxnSpPr>
        <p:spPr>
          <a:xfrm rot="16200000" flipH="1">
            <a:off x="5203272" y="3771073"/>
            <a:ext cx="479353" cy="765160"/>
          </a:xfrm>
          <a:prstGeom prst="bentConnector2">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文本框 81"/>
          <p:cNvSpPr txBox="1">
            <a:spLocks noChangeArrowheads="1"/>
          </p:cNvSpPr>
          <p:nvPr/>
        </p:nvSpPr>
        <p:spPr bwMode="auto">
          <a:xfrm>
            <a:off x="698910" y="1264472"/>
            <a:ext cx="2197360" cy="97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Aft>
                <a:spcPts val="600"/>
              </a:spcAft>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早期的动态链接库</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DLL</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的动态加载就是以</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DLL</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为基础的函数层的软件演化</a:t>
            </a:r>
          </a:p>
        </p:txBody>
      </p:sp>
      <p:sp>
        <p:nvSpPr>
          <p:cNvPr id="27" name="文本框 81"/>
          <p:cNvSpPr txBox="1">
            <a:spLocks noChangeArrowheads="1"/>
          </p:cNvSpPr>
          <p:nvPr/>
        </p:nvSpPr>
        <p:spPr bwMode="auto">
          <a:xfrm>
            <a:off x="372364" y="3902759"/>
            <a:ext cx="1999548" cy="83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Aft>
                <a:spcPts val="600"/>
              </a:spcAft>
            </a:pP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gn="ctr">
              <a:spcAft>
                <a:spcPts val="600"/>
              </a:spcAft>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构件演化是在现有构件的基础上，对其进行修改，以满足用户的新需求</a:t>
            </a:r>
          </a:p>
        </p:txBody>
      </p:sp>
      <p:sp>
        <p:nvSpPr>
          <p:cNvPr id="28" name="文本框 81"/>
          <p:cNvSpPr txBox="1">
            <a:spLocks noChangeArrowheads="1"/>
          </p:cNvSpPr>
          <p:nvPr/>
        </p:nvSpPr>
        <p:spPr bwMode="auto">
          <a:xfrm>
            <a:off x="6873123" y="1262782"/>
            <a:ext cx="1999548" cy="90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spcAft>
                <a:spcPts val="600"/>
              </a:spcAft>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利用对象和类的相关特性，在软件升级时，可以将系统修改局限于某个或某几个类中，提高演化的效率</a:t>
            </a:r>
          </a:p>
        </p:txBody>
      </p:sp>
      <p:sp>
        <p:nvSpPr>
          <p:cNvPr id="29" name="文本框 81"/>
          <p:cNvSpPr txBox="1">
            <a:spLocks noChangeArrowheads="1"/>
          </p:cNvSpPr>
          <p:nvPr/>
        </p:nvSpPr>
        <p:spPr bwMode="auto">
          <a:xfrm>
            <a:off x="5962540" y="3940186"/>
            <a:ext cx="2197360" cy="97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Aft>
                <a:spcPts val="600"/>
              </a:spcAft>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由于系统需求、技术、环境和分布等因素的变化，最终导致系统框架按照一定的方式来变动，这就是软件体系结构演化</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2450"/>
                            </p:stCondLst>
                            <p:childTnLst>
                              <p:par>
                                <p:cTn id="22" presetID="2" presetClass="entr" presetSubtype="4"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1" fill="hold" nodeType="withEffect">
                                  <p:stCondLst>
                                    <p:cond delay="25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0-#ppt_h/2"/>
                                          </p:val>
                                        </p:tav>
                                        <p:tav tm="100000">
                                          <p:val>
                                            <p:strVal val="#ppt_y"/>
                                          </p:val>
                                        </p:tav>
                                      </p:tavLst>
                                    </p:anim>
                                  </p:childTnLst>
                                </p:cTn>
                              </p:par>
                              <p:par>
                                <p:cTn id="30" presetID="2" presetClass="entr" presetSubtype="4" fill="hold" nodeType="withEffect">
                                  <p:stCondLst>
                                    <p:cond delay="5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par>
                                <p:cTn id="34" presetID="2" presetClass="entr" presetSubtype="1" fill="hold" nodeType="withEffect">
                                  <p:stCondLst>
                                    <p:cond delay="75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0-#ppt_h/2"/>
                                          </p:val>
                                        </p:tav>
                                        <p:tav tm="100000">
                                          <p:val>
                                            <p:strVal val="#ppt_y"/>
                                          </p:val>
                                        </p:tav>
                                      </p:tavLst>
                                    </p:anim>
                                  </p:childTnLst>
                                </p:cTn>
                              </p:par>
                            </p:childTnLst>
                          </p:cTn>
                        </p:par>
                        <p:par>
                          <p:cTn id="38" fill="hold">
                            <p:stCondLst>
                              <p:cond delay="2950"/>
                            </p:stCondLst>
                            <p:childTnLst>
                              <p:par>
                                <p:cTn id="39" presetID="22" presetClass="entr" presetSubtype="2" fill="hold"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right)">
                                      <p:cBhvr>
                                        <p:cTn id="41" dur="500"/>
                                        <p:tgtEl>
                                          <p:spTgt spid="24"/>
                                        </p:tgtEl>
                                      </p:cBhvr>
                                    </p:animEffect>
                                  </p:childTnLst>
                                </p:cTn>
                              </p:par>
                            </p:childTnLst>
                          </p:cTn>
                        </p:par>
                        <p:par>
                          <p:cTn id="42" fill="hold">
                            <p:stCondLst>
                              <p:cond delay="3450"/>
                            </p:stCondLst>
                            <p:childTnLst>
                              <p:par>
                                <p:cTn id="43" presetID="22" presetClass="entr" presetSubtype="2"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right)">
                                      <p:cBhvr>
                                        <p:cTn id="45" dur="500"/>
                                        <p:tgtEl>
                                          <p:spTgt spid="27"/>
                                        </p:tgtEl>
                                      </p:cBhvr>
                                    </p:animEffect>
                                  </p:childTnLst>
                                </p:cTn>
                              </p:par>
                            </p:childTnLst>
                          </p:cTn>
                        </p:par>
                        <p:par>
                          <p:cTn id="46" fill="hold">
                            <p:stCondLst>
                              <p:cond delay="3950"/>
                            </p:stCondLst>
                            <p:childTnLst>
                              <p:par>
                                <p:cTn id="47" presetID="22" presetClass="entr" presetSubtype="2"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right)">
                                      <p:cBhvr>
                                        <p:cTn id="49" dur="500"/>
                                        <p:tgtEl>
                                          <p:spTgt spid="22"/>
                                        </p:tgtEl>
                                      </p:cBhvr>
                                    </p:animEffect>
                                  </p:childTnLst>
                                </p:cTn>
                              </p:par>
                            </p:childTnLst>
                          </p:cTn>
                        </p:par>
                        <p:par>
                          <p:cTn id="50" fill="hold">
                            <p:stCondLst>
                              <p:cond delay="4450"/>
                            </p:stCondLst>
                            <p:childTnLst>
                              <p:par>
                                <p:cTn id="51" presetID="22" presetClass="entr" presetSubtype="2"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right)">
                                      <p:cBhvr>
                                        <p:cTn id="53" dur="500"/>
                                        <p:tgtEl>
                                          <p:spTgt spid="26"/>
                                        </p:tgtEl>
                                      </p:cBhvr>
                                    </p:animEffect>
                                  </p:childTnLst>
                                </p:cTn>
                              </p:par>
                            </p:childTnLst>
                          </p:cTn>
                        </p:par>
                        <p:par>
                          <p:cTn id="54" fill="hold">
                            <p:stCondLst>
                              <p:cond delay="4950"/>
                            </p:stCondLst>
                            <p:childTnLst>
                              <p:par>
                                <p:cTn id="55" presetID="22" presetClass="entr" presetSubtype="8" fill="hold"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par>
                          <p:cTn id="58" fill="hold">
                            <p:stCondLst>
                              <p:cond delay="5450"/>
                            </p:stCondLst>
                            <p:childTnLst>
                              <p:par>
                                <p:cTn id="59" presetID="22" presetClass="entr" presetSubtype="8" fill="hold" grpId="0" nodeType="after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childTnLst>
                          </p:cTn>
                        </p:par>
                        <p:par>
                          <p:cTn id="62" fill="hold">
                            <p:stCondLst>
                              <p:cond delay="5950"/>
                            </p:stCondLst>
                            <p:childTnLst>
                              <p:par>
                                <p:cTn id="63" presetID="22" presetClass="entr" presetSubtype="8"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par>
                          <p:cTn id="66" fill="hold">
                            <p:stCondLst>
                              <p:cond delay="6450"/>
                            </p:stCondLst>
                            <p:childTnLst>
                              <p:par>
                                <p:cTn id="67" presetID="22" presetClass="entr" presetSubtype="8" fill="hold" grpId="0"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6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26" grpId="0"/>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2882265"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软件演化的分类</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总体</a:t>
            </a:r>
          </a:p>
        </p:txBody>
      </p:sp>
      <p:sp>
        <p:nvSpPr>
          <p:cNvPr id="20" name="TextBox 54"/>
          <p:cNvSpPr txBox="1"/>
          <p:nvPr/>
        </p:nvSpPr>
        <p:spPr>
          <a:xfrm>
            <a:off x="4646777" y="1377067"/>
            <a:ext cx="3384377" cy="1384935"/>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lgn="just" fontAlgn="auto">
              <a:lnSpc>
                <a:spcPct val="150000"/>
              </a:lnSpc>
              <a:spcBef>
                <a:spcPts val="0"/>
              </a:spcBef>
              <a:spcAft>
                <a:spcPts val="0"/>
              </a:spcAft>
              <a:defRPr/>
            </a:pPr>
            <a:r>
              <a:rPr lang="zh-CN" altLang="en-US" sz="1200" dirty="0">
                <a:solidFill>
                  <a:srgbClr val="92D050"/>
                </a:solidFill>
                <a:sym typeface="+mn-ea"/>
              </a:rPr>
              <a:t>静态演化</a:t>
            </a:r>
            <a:r>
              <a:rPr lang="zh-CN" altLang="en-US" sz="1200" dirty="0">
                <a:sym typeface="+mn-ea"/>
              </a:rPr>
              <a:t>是指系统在停机状态下所进行的修改</a:t>
            </a:r>
          </a:p>
          <a:p>
            <a:pPr lvl="0" algn="just" fontAlgn="auto">
              <a:lnSpc>
                <a:spcPct val="150000"/>
              </a:lnSpc>
              <a:spcBef>
                <a:spcPts val="0"/>
              </a:spcBef>
              <a:spcAft>
                <a:spcPts val="0"/>
              </a:spcAft>
              <a:defRPr/>
            </a:pPr>
            <a:r>
              <a:rPr lang="zh-CN" altLang="en-US" sz="1200" dirty="0">
                <a:sym typeface="+mn-ea"/>
              </a:rPr>
              <a:t>在静态演化中，先对需求变化进行分析，锁定软件更新的范围，然后实施系统升级</a:t>
            </a:r>
          </a:p>
          <a:p>
            <a:pPr lvl="0" algn="just" fontAlgn="auto">
              <a:lnSpc>
                <a:spcPct val="150000"/>
              </a:lnSpc>
              <a:spcBef>
                <a:spcPts val="0"/>
              </a:spcBef>
              <a:spcAft>
                <a:spcPts val="0"/>
              </a:spcAft>
              <a:defRPr/>
            </a:pPr>
            <a:r>
              <a:rPr lang="zh-CN" altLang="en-US" sz="1200" dirty="0">
                <a:sym typeface="+mn-ea"/>
              </a:rPr>
              <a:t>在停机状态下，系统的维护和二次开发就是一种典型的软件静态演化</a:t>
            </a:r>
            <a:endParaRPr kumimoji="0" lang="zh-CN" altLang="en-US" sz="12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sym typeface="+mn-ea"/>
            </a:endParaRPr>
          </a:p>
        </p:txBody>
      </p:sp>
      <p:sp>
        <p:nvSpPr>
          <p:cNvPr id="21" name="Freeform 5"/>
          <p:cNvSpPr/>
          <p:nvPr/>
        </p:nvSpPr>
        <p:spPr bwMode="auto">
          <a:xfrm rot="5400000">
            <a:off x="1119563" y="1740659"/>
            <a:ext cx="2300880" cy="207450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flip="none" rotWithShape="1">
            <a:gsLst>
              <a:gs pos="0">
                <a:srgbClr val="004B7D"/>
              </a:gs>
              <a:gs pos="100000">
                <a:srgbClr val="4BAF31"/>
              </a:gs>
            </a:gsLst>
            <a:lin ang="10800000" scaled="1"/>
            <a:tileRect/>
          </a:gradFill>
          <a:ln w="9525" cap="flat">
            <a:noFill/>
            <a:prstDash val="solid"/>
            <a:miter lim="800000"/>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2" name="TextBox 56"/>
          <p:cNvSpPr txBox="1"/>
          <p:nvPr/>
        </p:nvSpPr>
        <p:spPr>
          <a:xfrm>
            <a:off x="1745581" y="2335556"/>
            <a:ext cx="1048845" cy="86169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软件演化</a:t>
            </a:r>
          </a:p>
        </p:txBody>
      </p:sp>
      <p:sp>
        <p:nvSpPr>
          <p:cNvPr id="23" name="Freeform 5"/>
          <p:cNvSpPr/>
          <p:nvPr/>
        </p:nvSpPr>
        <p:spPr bwMode="auto">
          <a:xfrm rot="5400000">
            <a:off x="1007834" y="1651700"/>
            <a:ext cx="2524338" cy="225241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BAF31"/>
            </a:solidFill>
            <a:prstDash val="solid"/>
            <a:miter lim="800000"/>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 name="椭圆 23"/>
          <p:cNvSpPr/>
          <p:nvPr/>
        </p:nvSpPr>
        <p:spPr>
          <a:xfrm>
            <a:off x="2967128" y="1856369"/>
            <a:ext cx="427814" cy="427814"/>
          </a:xfrm>
          <a:prstGeom prst="ellipse">
            <a:avLst/>
          </a:prstGeom>
          <a:gradFill flip="none" rotWithShape="1">
            <a:gsLst>
              <a:gs pos="0">
                <a:srgbClr val="004B7D"/>
              </a:gs>
              <a:gs pos="100000">
                <a:srgbClr val="4BAF31"/>
              </a:gs>
            </a:gsLst>
            <a:lin ang="10800000" scaled="1"/>
            <a:tileRect/>
          </a:gra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1</a:t>
            </a:r>
            <a:endParaRPr kumimoji="0" lang="zh-CN" altLang="en-US"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6" name="椭圆 25"/>
          <p:cNvSpPr/>
          <p:nvPr/>
        </p:nvSpPr>
        <p:spPr>
          <a:xfrm>
            <a:off x="2967763" y="3277681"/>
            <a:ext cx="427814" cy="427814"/>
          </a:xfrm>
          <a:prstGeom prst="ellipse">
            <a:avLst/>
          </a:prstGeom>
          <a:gradFill flip="none" rotWithShape="1">
            <a:gsLst>
              <a:gs pos="0">
                <a:srgbClr val="004B7D"/>
              </a:gs>
              <a:gs pos="100000">
                <a:srgbClr val="4BAF31"/>
              </a:gs>
            </a:gsLst>
            <a:lin ang="10800000" scaled="1"/>
            <a:tileRect/>
          </a:gra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2</a:t>
            </a:r>
          </a:p>
        </p:txBody>
      </p:sp>
      <p:grpSp>
        <p:nvGrpSpPr>
          <p:cNvPr id="27" name="组合 26"/>
          <p:cNvGrpSpPr/>
          <p:nvPr/>
        </p:nvGrpSpPr>
        <p:grpSpPr>
          <a:xfrm>
            <a:off x="3394942" y="1892967"/>
            <a:ext cx="1051729" cy="354618"/>
            <a:chOff x="3513818" y="1963801"/>
            <a:chExt cx="1051729" cy="354618"/>
          </a:xfrm>
        </p:grpSpPr>
        <p:cxnSp>
          <p:nvCxnSpPr>
            <p:cNvPr id="28" name="直接连接符 27"/>
            <p:cNvCxnSpPr/>
            <p:nvPr/>
          </p:nvCxnSpPr>
          <p:spPr>
            <a:xfrm>
              <a:off x="3513818" y="2141110"/>
              <a:ext cx="1051729" cy="0"/>
            </a:xfrm>
            <a:prstGeom prst="line">
              <a:avLst/>
            </a:prstGeom>
            <a:noFill/>
            <a:ln w="9525" cap="flat" cmpd="sng" algn="ctr">
              <a:solidFill>
                <a:srgbClr val="4BAF31"/>
              </a:solidFill>
              <a:prstDash val="sysDot"/>
              <a:headEnd type="none" w="med" len="med"/>
              <a:tailEnd type="none" w="med" len="med"/>
            </a:ln>
            <a:effectLst/>
          </p:spPr>
        </p:cxnSp>
        <p:cxnSp>
          <p:nvCxnSpPr>
            <p:cNvPr id="29" name="直接连接符 28"/>
            <p:cNvCxnSpPr/>
            <p:nvPr/>
          </p:nvCxnSpPr>
          <p:spPr>
            <a:xfrm>
              <a:off x="4565547" y="1963801"/>
              <a:ext cx="0" cy="354618"/>
            </a:xfrm>
            <a:prstGeom prst="line">
              <a:avLst/>
            </a:prstGeom>
            <a:noFill/>
            <a:ln w="9525" cap="flat" cmpd="sng" algn="ctr">
              <a:solidFill>
                <a:srgbClr val="4BAF31"/>
              </a:solidFill>
              <a:prstDash val="sysDot"/>
              <a:headEnd type="none" w="med" len="med"/>
              <a:tailEnd type="none" w="med" len="med"/>
            </a:ln>
            <a:effectLst/>
          </p:spPr>
        </p:cxnSp>
      </p:grpSp>
      <p:sp>
        <p:nvSpPr>
          <p:cNvPr id="31" name="TextBox 65"/>
          <p:cNvSpPr txBox="1"/>
          <p:nvPr/>
        </p:nvSpPr>
        <p:spPr>
          <a:xfrm>
            <a:off x="4646737" y="2762482"/>
            <a:ext cx="3384377" cy="1938655"/>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lgn="just" fontAlgn="auto">
              <a:lnSpc>
                <a:spcPct val="150000"/>
              </a:lnSpc>
              <a:spcBef>
                <a:spcPts val="0"/>
              </a:spcBef>
              <a:spcAft>
                <a:spcPts val="0"/>
              </a:spcAft>
              <a:defRPr/>
            </a:pPr>
            <a:r>
              <a:rPr lang="zh-CN" altLang="en-US" sz="1200" dirty="0">
                <a:solidFill>
                  <a:srgbClr val="92D050"/>
                </a:solidFill>
                <a:sym typeface="+mn-ea"/>
              </a:rPr>
              <a:t>软件动态演化</a:t>
            </a:r>
            <a:r>
              <a:rPr lang="zh-CN" altLang="en-US" sz="1200" dirty="0">
                <a:sym typeface="+mn-ea"/>
              </a:rPr>
              <a:t>可以分为两种类型：预设和非预设</a:t>
            </a:r>
          </a:p>
          <a:p>
            <a:pPr lvl="0" algn="just" fontAlgn="auto">
              <a:lnSpc>
                <a:spcPct val="150000"/>
              </a:lnSpc>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动态变化的因素是软件设计者能够预先设想到的，可实现为系统的固有功能，这是</a:t>
            </a:r>
            <a:r>
              <a:rPr lang="zh-CN" altLang="en-US" sz="1200" dirty="0">
                <a:solidFill>
                  <a:srgbClr val="92D050"/>
                </a:solidFill>
                <a:latin typeface="微软雅黑" panose="020B0503020204020204" pitchFamily="34" charset="-122"/>
                <a:ea typeface="微软雅黑" panose="020B0503020204020204" pitchFamily="34" charset="-122"/>
                <a:sym typeface="+mn-ea"/>
              </a:rPr>
              <a:t>预设软件动态演化</a:t>
            </a:r>
          </a:p>
          <a:p>
            <a:pPr lvl="0" algn="just" fontAlgn="auto">
              <a:lnSpc>
                <a:spcPct val="150000"/>
              </a:lnSpc>
              <a:spcBef>
                <a:spcPts val="0"/>
              </a:spcBef>
              <a:spcAft>
                <a:spcPts val="0"/>
              </a:spcAft>
              <a:defRPr/>
            </a:pPr>
            <a:r>
              <a:rPr lang="zh-CN" altLang="en-US" sz="1200" dirty="0">
                <a:sym typeface="+mn-ea"/>
              </a:rPr>
              <a:t>对系统配置进行修改和调整是直到软件投入运行以后才能确定的，这就要求系统能够处理在原始设计中没有完全预料到的新需求，这就是</a:t>
            </a:r>
            <a:r>
              <a:rPr lang="zh-CN" altLang="en-US" sz="1200" dirty="0">
                <a:solidFill>
                  <a:srgbClr val="92D050"/>
                </a:solidFill>
                <a:sym typeface="+mn-ea"/>
              </a:rPr>
              <a:t>非预设软件动态演化</a:t>
            </a:r>
            <a:endParaRPr lang="zh-CN" altLang="en-US" sz="1200" b="0" kern="0" dirty="0">
              <a:solidFill>
                <a:srgbClr val="92D050"/>
              </a:solidFill>
              <a:latin typeface="微软雅黑" panose="020B0503020204020204" pitchFamily="34" charset="-122"/>
              <a:ea typeface="微软雅黑" panose="020B0503020204020204" pitchFamily="34" charset="-122"/>
              <a:sym typeface="+mn-ea"/>
            </a:endParaRPr>
          </a:p>
        </p:txBody>
      </p:sp>
      <p:grpSp>
        <p:nvGrpSpPr>
          <p:cNvPr id="35" name="组合 34"/>
          <p:cNvGrpSpPr/>
          <p:nvPr/>
        </p:nvGrpSpPr>
        <p:grpSpPr>
          <a:xfrm>
            <a:off x="3395577" y="3314278"/>
            <a:ext cx="1051729" cy="354618"/>
            <a:chOff x="3513818" y="1963801"/>
            <a:chExt cx="1051729" cy="354618"/>
          </a:xfrm>
        </p:grpSpPr>
        <p:cxnSp>
          <p:nvCxnSpPr>
            <p:cNvPr id="36" name="直接连接符 35"/>
            <p:cNvCxnSpPr/>
            <p:nvPr/>
          </p:nvCxnSpPr>
          <p:spPr>
            <a:xfrm>
              <a:off x="3513818" y="2141110"/>
              <a:ext cx="1051729" cy="0"/>
            </a:xfrm>
            <a:prstGeom prst="line">
              <a:avLst/>
            </a:prstGeom>
            <a:noFill/>
            <a:ln w="9525" cap="flat" cmpd="sng" algn="ctr">
              <a:solidFill>
                <a:srgbClr val="4BAF31"/>
              </a:solidFill>
              <a:prstDash val="sysDot"/>
              <a:headEnd type="none" w="med" len="med"/>
              <a:tailEnd type="none" w="med" len="med"/>
            </a:ln>
            <a:effectLst/>
          </p:spPr>
        </p:cxnSp>
        <p:cxnSp>
          <p:nvCxnSpPr>
            <p:cNvPr id="37" name="直接连接符 36"/>
            <p:cNvCxnSpPr/>
            <p:nvPr/>
          </p:nvCxnSpPr>
          <p:spPr>
            <a:xfrm>
              <a:off x="4565547" y="1963801"/>
              <a:ext cx="0" cy="354618"/>
            </a:xfrm>
            <a:prstGeom prst="line">
              <a:avLst/>
            </a:prstGeom>
            <a:noFill/>
            <a:ln w="9525" cap="flat" cmpd="sng" algn="ctr">
              <a:solidFill>
                <a:srgbClr val="4BAF31"/>
              </a:solidFill>
              <a:prstDash val="sysDot"/>
              <a:headEnd type="none" w="med" len="med"/>
              <a:tailEnd type="none" w="med" len="med"/>
            </a:ln>
            <a:effectLst/>
          </p:spPr>
        </p:cxn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2000"/>
                            </p:stCondLst>
                            <p:childTnLst>
                              <p:par>
                                <p:cTn id="22" presetID="53" presetClass="entr" presetSubtype="528"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500" fill="hold"/>
                                        <p:tgtEl>
                                          <p:spTgt spid="23"/>
                                        </p:tgtEl>
                                        <p:attrNameLst>
                                          <p:attrName>ppt_w</p:attrName>
                                        </p:attrNameLst>
                                      </p:cBhvr>
                                      <p:tavLst>
                                        <p:tav tm="0">
                                          <p:val>
                                            <p:fltVal val="0"/>
                                          </p:val>
                                        </p:tav>
                                        <p:tav tm="100000">
                                          <p:val>
                                            <p:strVal val="#ppt_w"/>
                                          </p:val>
                                        </p:tav>
                                      </p:tavLst>
                                    </p:anim>
                                    <p:anim calcmode="lin" valueType="num">
                                      <p:cBhvr>
                                        <p:cTn id="25" dur="500" fill="hold"/>
                                        <p:tgtEl>
                                          <p:spTgt spid="23"/>
                                        </p:tgtEl>
                                        <p:attrNameLst>
                                          <p:attrName>ppt_h</p:attrName>
                                        </p:attrNameLst>
                                      </p:cBhvr>
                                      <p:tavLst>
                                        <p:tav tm="0">
                                          <p:val>
                                            <p:fltVal val="0"/>
                                          </p:val>
                                        </p:tav>
                                        <p:tav tm="100000">
                                          <p:val>
                                            <p:strVal val="#ppt_h"/>
                                          </p:val>
                                        </p:tav>
                                      </p:tavLst>
                                    </p:anim>
                                    <p:animEffect transition="in" filter="fade">
                                      <p:cBhvr>
                                        <p:cTn id="26" dur="500"/>
                                        <p:tgtEl>
                                          <p:spTgt spid="23"/>
                                        </p:tgtEl>
                                      </p:cBhvr>
                                    </p:animEffect>
                                    <p:anim calcmode="lin" valueType="num">
                                      <p:cBhvr>
                                        <p:cTn id="27" dur="500" fill="hold"/>
                                        <p:tgtEl>
                                          <p:spTgt spid="23"/>
                                        </p:tgtEl>
                                        <p:attrNameLst>
                                          <p:attrName>ppt_x</p:attrName>
                                        </p:attrNameLst>
                                      </p:cBhvr>
                                      <p:tavLst>
                                        <p:tav tm="0">
                                          <p:val>
                                            <p:fltVal val="0.5"/>
                                          </p:val>
                                        </p:tav>
                                        <p:tav tm="100000">
                                          <p:val>
                                            <p:strVal val="#ppt_x"/>
                                          </p:val>
                                        </p:tav>
                                      </p:tavLst>
                                    </p:anim>
                                    <p:anim calcmode="lin" valueType="num">
                                      <p:cBhvr>
                                        <p:cTn id="28" dur="500" fill="hold"/>
                                        <p:tgtEl>
                                          <p:spTgt spid="23"/>
                                        </p:tgtEl>
                                        <p:attrNameLst>
                                          <p:attrName>ppt_y</p:attrName>
                                        </p:attrNameLst>
                                      </p:cBhvr>
                                      <p:tavLst>
                                        <p:tav tm="0">
                                          <p:val>
                                            <p:fltVal val="0.5"/>
                                          </p:val>
                                        </p:tav>
                                        <p:tav tm="100000">
                                          <p:val>
                                            <p:strVal val="#ppt_y"/>
                                          </p:val>
                                        </p:tav>
                                      </p:tavLst>
                                    </p:anim>
                                  </p:childTnLst>
                                </p:cTn>
                              </p:par>
                              <p:par>
                                <p:cTn id="29" presetID="53" presetClass="entr" presetSubtype="528"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anim calcmode="lin" valueType="num">
                                      <p:cBhvr>
                                        <p:cTn id="34" dur="500" fill="hold"/>
                                        <p:tgtEl>
                                          <p:spTgt spid="21"/>
                                        </p:tgtEl>
                                        <p:attrNameLst>
                                          <p:attrName>ppt_x</p:attrName>
                                        </p:attrNameLst>
                                      </p:cBhvr>
                                      <p:tavLst>
                                        <p:tav tm="0">
                                          <p:val>
                                            <p:fltVal val="0.5"/>
                                          </p:val>
                                        </p:tav>
                                        <p:tav tm="100000">
                                          <p:val>
                                            <p:strVal val="#ppt_x"/>
                                          </p:val>
                                        </p:tav>
                                      </p:tavLst>
                                    </p:anim>
                                    <p:anim calcmode="lin" valueType="num">
                                      <p:cBhvr>
                                        <p:cTn id="35" dur="500" fill="hold"/>
                                        <p:tgtEl>
                                          <p:spTgt spid="21"/>
                                        </p:tgtEl>
                                        <p:attrNameLst>
                                          <p:attrName>ppt_y</p:attrName>
                                        </p:attrNameLst>
                                      </p:cBhvr>
                                      <p:tavLst>
                                        <p:tav tm="0">
                                          <p:val>
                                            <p:fltVal val="0.5"/>
                                          </p:val>
                                        </p:tav>
                                        <p:tav tm="100000">
                                          <p:val>
                                            <p:strVal val="#ppt_y"/>
                                          </p:val>
                                        </p:tav>
                                      </p:tavLst>
                                    </p:anim>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childTnLst>
                          </p:cTn>
                        </p:par>
                        <p:par>
                          <p:cTn id="42" fill="hold">
                            <p:stCondLst>
                              <p:cond delay="3000"/>
                            </p:stCondLst>
                            <p:childTnLst>
                              <p:par>
                                <p:cTn id="43" presetID="53" presetClass="entr" presetSubtype="16"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500" fill="hold"/>
                                        <p:tgtEl>
                                          <p:spTgt spid="24"/>
                                        </p:tgtEl>
                                        <p:attrNameLst>
                                          <p:attrName>ppt_w</p:attrName>
                                        </p:attrNameLst>
                                      </p:cBhvr>
                                      <p:tavLst>
                                        <p:tav tm="0">
                                          <p:val>
                                            <p:fltVal val="0"/>
                                          </p:val>
                                        </p:tav>
                                        <p:tav tm="100000">
                                          <p:val>
                                            <p:strVal val="#ppt_w"/>
                                          </p:val>
                                        </p:tav>
                                      </p:tavLst>
                                    </p:anim>
                                    <p:anim calcmode="lin" valueType="num">
                                      <p:cBhvr>
                                        <p:cTn id="46" dur="500" fill="hold"/>
                                        <p:tgtEl>
                                          <p:spTgt spid="24"/>
                                        </p:tgtEl>
                                        <p:attrNameLst>
                                          <p:attrName>ppt_h</p:attrName>
                                        </p:attrNameLst>
                                      </p:cBhvr>
                                      <p:tavLst>
                                        <p:tav tm="0">
                                          <p:val>
                                            <p:fltVal val="0"/>
                                          </p:val>
                                        </p:tav>
                                        <p:tav tm="100000">
                                          <p:val>
                                            <p:strVal val="#ppt_h"/>
                                          </p:val>
                                        </p:tav>
                                      </p:tavLst>
                                    </p:anim>
                                    <p:animEffect transition="in" filter="fade">
                                      <p:cBhvr>
                                        <p:cTn id="47" dur="500"/>
                                        <p:tgtEl>
                                          <p:spTgt spid="24"/>
                                        </p:tgtEl>
                                      </p:cBhvr>
                                    </p:animEffect>
                                  </p:childTnLst>
                                </p:cTn>
                              </p:par>
                              <p:par>
                                <p:cTn id="48" presetID="53" presetClass="entr" presetSubtype="16" fill="hold" grpId="0" nodeType="withEffect">
                                  <p:stCondLst>
                                    <p:cond delay="400"/>
                                  </p:stCondLst>
                                  <p:childTnLst>
                                    <p:set>
                                      <p:cBhvr>
                                        <p:cTn id="49" dur="1" fill="hold">
                                          <p:stCondLst>
                                            <p:cond delay="0"/>
                                          </p:stCondLst>
                                        </p:cTn>
                                        <p:tgtEl>
                                          <p:spTgt spid="26"/>
                                        </p:tgtEl>
                                        <p:attrNameLst>
                                          <p:attrName>style.visibility</p:attrName>
                                        </p:attrNameLst>
                                      </p:cBhvr>
                                      <p:to>
                                        <p:strVal val="visible"/>
                                      </p:to>
                                    </p:set>
                                    <p:anim calcmode="lin" valueType="num">
                                      <p:cBhvr>
                                        <p:cTn id="50" dur="500" fill="hold"/>
                                        <p:tgtEl>
                                          <p:spTgt spid="26"/>
                                        </p:tgtEl>
                                        <p:attrNameLst>
                                          <p:attrName>ppt_w</p:attrName>
                                        </p:attrNameLst>
                                      </p:cBhvr>
                                      <p:tavLst>
                                        <p:tav tm="0">
                                          <p:val>
                                            <p:fltVal val="0"/>
                                          </p:val>
                                        </p:tav>
                                        <p:tav tm="100000">
                                          <p:val>
                                            <p:strVal val="#ppt_w"/>
                                          </p:val>
                                        </p:tav>
                                      </p:tavLst>
                                    </p:anim>
                                    <p:anim calcmode="lin" valueType="num">
                                      <p:cBhvr>
                                        <p:cTn id="51" dur="500" fill="hold"/>
                                        <p:tgtEl>
                                          <p:spTgt spid="26"/>
                                        </p:tgtEl>
                                        <p:attrNameLst>
                                          <p:attrName>ppt_h</p:attrName>
                                        </p:attrNameLst>
                                      </p:cBhvr>
                                      <p:tavLst>
                                        <p:tav tm="0">
                                          <p:val>
                                            <p:fltVal val="0"/>
                                          </p:val>
                                        </p:tav>
                                        <p:tav tm="100000">
                                          <p:val>
                                            <p:strVal val="#ppt_h"/>
                                          </p:val>
                                        </p:tav>
                                      </p:tavLst>
                                    </p:anim>
                                    <p:animEffect transition="in" filter="fade">
                                      <p:cBhvr>
                                        <p:cTn id="52" dur="500"/>
                                        <p:tgtEl>
                                          <p:spTgt spid="26"/>
                                        </p:tgtEl>
                                      </p:cBhvr>
                                    </p:animEffect>
                                  </p:childTnLst>
                                </p:cTn>
                              </p:par>
                            </p:childTnLst>
                          </p:cTn>
                        </p:par>
                        <p:par>
                          <p:cTn id="53" fill="hold">
                            <p:stCondLst>
                              <p:cond delay="3500"/>
                            </p:stCondLst>
                            <p:childTnLst>
                              <p:par>
                                <p:cTn id="54" presetID="22" presetClass="entr" presetSubtype="8" fill="hold"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par>
                                <p:cTn id="57" presetID="2" presetClass="entr" presetSubtype="2" decel="5330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750" fill="hold"/>
                                        <p:tgtEl>
                                          <p:spTgt spid="20"/>
                                        </p:tgtEl>
                                        <p:attrNameLst>
                                          <p:attrName>ppt_x</p:attrName>
                                        </p:attrNameLst>
                                      </p:cBhvr>
                                      <p:tavLst>
                                        <p:tav tm="0">
                                          <p:val>
                                            <p:strVal val="1+#ppt_w/2"/>
                                          </p:val>
                                        </p:tav>
                                        <p:tav tm="100000">
                                          <p:val>
                                            <p:strVal val="#ppt_x"/>
                                          </p:val>
                                        </p:tav>
                                      </p:tavLst>
                                    </p:anim>
                                    <p:anim calcmode="lin" valueType="num">
                                      <p:cBhvr additive="base">
                                        <p:cTn id="60" dur="750" fill="hold"/>
                                        <p:tgtEl>
                                          <p:spTgt spid="20"/>
                                        </p:tgtEl>
                                        <p:attrNameLst>
                                          <p:attrName>ppt_y</p:attrName>
                                        </p:attrNameLst>
                                      </p:cBhvr>
                                      <p:tavLst>
                                        <p:tav tm="0">
                                          <p:val>
                                            <p:strVal val="#ppt_y"/>
                                          </p:val>
                                        </p:tav>
                                        <p:tav tm="100000">
                                          <p:val>
                                            <p:strVal val="#ppt_y"/>
                                          </p:val>
                                        </p:tav>
                                      </p:tavLst>
                                    </p:anim>
                                  </p:childTnLst>
                                </p:cTn>
                              </p:par>
                            </p:childTnLst>
                          </p:cTn>
                        </p:par>
                        <p:par>
                          <p:cTn id="61" fill="hold">
                            <p:stCondLst>
                              <p:cond delay="4000"/>
                            </p:stCondLst>
                            <p:childTnLst>
                              <p:par>
                                <p:cTn id="62" presetID="22" presetClass="entr" presetSubtype="8" fill="hold" nodeType="after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wipe(left)">
                                      <p:cBhvr>
                                        <p:cTn id="64" dur="500"/>
                                        <p:tgtEl>
                                          <p:spTgt spid="35"/>
                                        </p:tgtEl>
                                      </p:cBhvr>
                                    </p:animEffect>
                                  </p:childTnLst>
                                </p:cTn>
                              </p:par>
                              <p:par>
                                <p:cTn id="65" presetID="2" presetClass="entr" presetSubtype="2" decel="5330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 calcmode="lin" valueType="num">
                                      <p:cBhvr additive="base">
                                        <p:cTn id="67" dur="750" fill="hold"/>
                                        <p:tgtEl>
                                          <p:spTgt spid="31"/>
                                        </p:tgtEl>
                                        <p:attrNameLst>
                                          <p:attrName>ppt_x</p:attrName>
                                        </p:attrNameLst>
                                      </p:cBhvr>
                                      <p:tavLst>
                                        <p:tav tm="0">
                                          <p:val>
                                            <p:strVal val="1+#ppt_w/2"/>
                                          </p:val>
                                        </p:tav>
                                        <p:tav tm="100000">
                                          <p:val>
                                            <p:strVal val="#ppt_x"/>
                                          </p:val>
                                        </p:tav>
                                      </p:tavLst>
                                    </p:anim>
                                    <p:anim calcmode="lin" valueType="num">
                                      <p:cBhvr additive="base">
                                        <p:cTn id="68" dur="75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20" grpId="0"/>
      <p:bldP spid="21" grpId="0" animBg="1"/>
      <p:bldP spid="22" grpId="0"/>
      <p:bldP spid="23" grpId="0" animBg="1"/>
      <p:bldP spid="24" grpId="0" bldLvl="0" animBg="1"/>
      <p:bldP spid="26" grpId="0" bldLvl="0" animBg="1"/>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2043172" y="1981200"/>
            <a:ext cx="5057656" cy="2032000"/>
          </a:xfrm>
          <a:prstGeom prst="roundRect">
            <a:avLst>
              <a:gd name="adj" fmla="val 4167"/>
            </a:avLst>
          </a:prstGeom>
          <a:solidFill>
            <a:srgbClr val="4BA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5"/>
          <p:cNvSpPr/>
          <p:nvPr/>
        </p:nvSpPr>
        <p:spPr bwMode="auto">
          <a:xfrm rot="10800000">
            <a:off x="3543301" y="999624"/>
            <a:ext cx="2057398" cy="18234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6F6F6"/>
          </a:solidFill>
          <a:ln w="19050">
            <a:noFill/>
          </a:ln>
          <a:effectLst/>
        </p:spPr>
        <p:txBody>
          <a:bodyPr vert="horz" wrap="square" lIns="91440" tIns="45720" rIns="91440" bIns="45720" numCol="1" anchor="t" anchorCtr="0" compatLnSpc="1"/>
          <a:lstStyle/>
          <a:p>
            <a:endParaRPr lang="zh-CN" altLang="en-US"/>
          </a:p>
        </p:txBody>
      </p:sp>
      <p:grpSp>
        <p:nvGrpSpPr>
          <p:cNvPr id="19" name="组合 18"/>
          <p:cNvGrpSpPr/>
          <p:nvPr/>
        </p:nvGrpSpPr>
        <p:grpSpPr>
          <a:xfrm>
            <a:off x="3716867" y="1153454"/>
            <a:ext cx="1710267" cy="1515795"/>
            <a:chOff x="3716867" y="1153454"/>
            <a:chExt cx="1710267" cy="1515795"/>
          </a:xfrm>
        </p:grpSpPr>
        <p:sp>
          <p:nvSpPr>
            <p:cNvPr id="6" name="Freeform 5"/>
            <p:cNvSpPr/>
            <p:nvPr/>
          </p:nvSpPr>
          <p:spPr bwMode="auto">
            <a:xfrm rot="10800000">
              <a:off x="3716867" y="1153454"/>
              <a:ext cx="1710267" cy="151579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7" name="Freeform 5"/>
            <p:cNvSpPr/>
            <p:nvPr/>
          </p:nvSpPr>
          <p:spPr bwMode="auto">
            <a:xfrm rot="10800000">
              <a:off x="3948829" y="1359038"/>
              <a:ext cx="1246344" cy="110462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sp>
        <p:nvSpPr>
          <p:cNvPr id="8" name="文本框 32"/>
          <p:cNvSpPr txBox="1"/>
          <p:nvPr/>
        </p:nvSpPr>
        <p:spPr>
          <a:xfrm>
            <a:off x="2874224" y="3194013"/>
            <a:ext cx="610666" cy="430887"/>
          </a:xfrm>
          <a:prstGeom prst="rect">
            <a:avLst/>
          </a:prstGeom>
          <a:noFill/>
        </p:spPr>
        <p:txBody>
          <a:bodyPr wrap="square" lIns="0" tIns="0" rIns="0" bIns="0" rtlCol="0">
            <a:spAutoFit/>
          </a:bodyPr>
          <a:lstStyle/>
          <a:p>
            <a:pPr algn="ctr"/>
            <a:r>
              <a:rPr lang="en-US" altLang="zh-CN" sz="2800" dirty="0" smtClean="0">
                <a:solidFill>
                  <a:schemeClr val="bg1"/>
                </a:solidFill>
              </a:rPr>
              <a:t>2.1</a:t>
            </a:r>
            <a:endParaRPr lang="zh-CN" altLang="en-US" sz="2800" dirty="0">
              <a:solidFill>
                <a:schemeClr val="bg1"/>
              </a:solidFill>
            </a:endParaRPr>
          </a:p>
        </p:txBody>
      </p:sp>
      <p:sp>
        <p:nvSpPr>
          <p:cNvPr id="15" name="TextBox 42"/>
          <p:cNvSpPr txBox="1"/>
          <p:nvPr/>
        </p:nvSpPr>
        <p:spPr>
          <a:xfrm>
            <a:off x="3298825" y="3103245"/>
            <a:ext cx="2773680" cy="521970"/>
          </a:xfrm>
          <a:prstGeom prst="rect">
            <a:avLst/>
          </a:prstGeom>
          <a:noFill/>
        </p:spPr>
        <p:txBody>
          <a:bodyPr wrap="square" rtlCol="0">
            <a:spAutoFit/>
          </a:bodyPr>
          <a:lstStyle/>
          <a:p>
            <a:pPr algn="ctr" defTabSz="914400" fontAlgn="base">
              <a:spcBef>
                <a:spcPct val="0"/>
              </a:spcBef>
              <a:spcAft>
                <a:spcPct val="0"/>
              </a:spcAft>
              <a:buFont typeface="Arial" panose="020B0604020202020204" pitchFamily="34" charset="0"/>
              <a:buNone/>
            </a:pPr>
            <a:r>
              <a:rPr lang="zh-CN" altLang="en-US" sz="2800" b="1" spc="300" dirty="0">
                <a:solidFill>
                  <a:schemeClr val="bg1"/>
                </a:solidFill>
                <a:latin typeface="微软雅黑" panose="020B0503020204020204" pitchFamily="34" charset="-122"/>
                <a:ea typeface="微软雅黑" panose="020B0503020204020204" pitchFamily="34" charset="-122"/>
              </a:rPr>
              <a:t>软件静态演化</a:t>
            </a:r>
          </a:p>
        </p:txBody>
      </p:sp>
      <p:sp>
        <p:nvSpPr>
          <p:cNvPr id="10" name="Freeform 9"/>
          <p:cNvSpPr>
            <a:spLocks noEditPoints="1"/>
          </p:cNvSpPr>
          <p:nvPr/>
        </p:nvSpPr>
        <p:spPr bwMode="auto">
          <a:xfrm>
            <a:off x="4316650" y="1621627"/>
            <a:ext cx="510700" cy="57944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chemeClr val="bg1"/>
          </a:solidFill>
          <a:ln>
            <a:noFill/>
          </a:ln>
        </p:spPr>
        <p:txBody>
          <a:bodyPr vert="horz" wrap="square" lIns="68553" tIns="34277" rIns="68553" bIns="34277" numCol="1" anchor="t" anchorCtr="0" compatLnSpc="1"/>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33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750" fill="hold"/>
                                        <p:tgtEl>
                                          <p:spTgt spid="17"/>
                                        </p:tgtEl>
                                        <p:attrNameLst>
                                          <p:attrName>ppt_x</p:attrName>
                                        </p:attrNameLst>
                                      </p:cBhvr>
                                      <p:tavLst>
                                        <p:tav tm="0">
                                          <p:val>
                                            <p:strVal val="#ppt_x"/>
                                          </p:val>
                                        </p:tav>
                                        <p:tav tm="100000">
                                          <p:val>
                                            <p:strVal val="#ppt_x"/>
                                          </p:val>
                                        </p:tav>
                                      </p:tavLst>
                                    </p:anim>
                                    <p:anim calcmode="lin" valueType="num">
                                      <p:cBhvr additive="base">
                                        <p:cTn id="8" dur="75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1" decel="5330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750" fill="hold"/>
                                        <p:tgtEl>
                                          <p:spTgt spid="19"/>
                                        </p:tgtEl>
                                        <p:attrNameLst>
                                          <p:attrName>ppt_w</p:attrName>
                                        </p:attrNameLst>
                                      </p:cBhvr>
                                      <p:tavLst>
                                        <p:tav tm="0">
                                          <p:val>
                                            <p:fltVal val="0"/>
                                          </p:val>
                                        </p:tav>
                                        <p:tav tm="100000">
                                          <p:val>
                                            <p:strVal val="#ppt_w"/>
                                          </p:val>
                                        </p:tav>
                                      </p:tavLst>
                                    </p:anim>
                                    <p:anim calcmode="lin" valueType="num">
                                      <p:cBhvr>
                                        <p:cTn id="17" dur="750" fill="hold"/>
                                        <p:tgtEl>
                                          <p:spTgt spid="19"/>
                                        </p:tgtEl>
                                        <p:attrNameLst>
                                          <p:attrName>ppt_h</p:attrName>
                                        </p:attrNameLst>
                                      </p:cBhvr>
                                      <p:tavLst>
                                        <p:tav tm="0">
                                          <p:val>
                                            <p:fltVal val="0"/>
                                          </p:val>
                                        </p:tav>
                                        <p:tav tm="100000">
                                          <p:val>
                                            <p:strVal val="#ppt_h"/>
                                          </p:val>
                                        </p:tav>
                                      </p:tavLst>
                                    </p:anim>
                                    <p:animEffect transition="in" filter="fade">
                                      <p:cBhvr>
                                        <p:cTn id="18" dur="750"/>
                                        <p:tgtEl>
                                          <p:spTgt spid="19"/>
                                        </p:tgtEl>
                                      </p:cBhvr>
                                    </p:animEffect>
                                  </p:childTnLst>
                                </p:cTn>
                              </p:par>
                            </p:childTnLst>
                          </p:cTn>
                        </p:par>
                        <p:par>
                          <p:cTn id="19" fill="hold">
                            <p:stCondLst>
                              <p:cond delay="2000"/>
                            </p:stCondLst>
                            <p:childTnLst>
                              <p:par>
                                <p:cTn id="20" presetID="31"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 calcmode="lin" valueType="num">
                                      <p:cBhvr>
                                        <p:cTn id="24" dur="500" fill="hold"/>
                                        <p:tgtEl>
                                          <p:spTgt spid="10"/>
                                        </p:tgtEl>
                                        <p:attrNameLst>
                                          <p:attrName>style.rotation</p:attrName>
                                        </p:attrNameLst>
                                      </p:cBhvr>
                                      <p:tavLst>
                                        <p:tav tm="0">
                                          <p:val>
                                            <p:fltVal val="90"/>
                                          </p:val>
                                        </p:tav>
                                        <p:tav tm="100000">
                                          <p:val>
                                            <p:fltVal val="0"/>
                                          </p:val>
                                        </p:tav>
                                      </p:tavLst>
                                    </p:anim>
                                    <p:animEffect transition="in" filter="fade">
                                      <p:cBhvr>
                                        <p:cTn id="25" dur="500"/>
                                        <p:tgtEl>
                                          <p:spTgt spid="10"/>
                                        </p:tgtEl>
                                      </p:cBhvr>
                                    </p:animEffect>
                                  </p:childTnLst>
                                </p:cTn>
                              </p:par>
                              <p:par>
                                <p:cTn id="26" presetID="8" presetClass="emph" presetSubtype="0" fill="hold" grpId="1" nodeType="withEffect">
                                  <p:stCondLst>
                                    <p:cond delay="0"/>
                                  </p:stCondLst>
                                  <p:childTnLst>
                                    <p:animRot by="21600000">
                                      <p:cBhvr>
                                        <p:cTn id="27" dur="500" fill="hold"/>
                                        <p:tgtEl>
                                          <p:spTgt spid="10"/>
                                        </p:tgtEl>
                                        <p:attrNameLst>
                                          <p:attrName>r</p:attrName>
                                        </p:attrNameLst>
                                      </p:cBhvr>
                                    </p:animRo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par>
                          <p:cTn id="34" fill="hold">
                            <p:stCondLst>
                              <p:cond delay="3000"/>
                            </p:stCondLst>
                            <p:childTnLst>
                              <p:par>
                                <p:cTn id="35" presetID="41" presetClass="entr" presetSubtype="0" fill="hold" grpId="0" nodeType="afterEffect">
                                  <p:stCondLst>
                                    <p:cond delay="0"/>
                                  </p:stCondLst>
                                  <p:iterate type="lt">
                                    <p:tmPct val="10000"/>
                                  </p:iterate>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15"/>
                                        </p:tgtEl>
                                        <p:attrNameLst>
                                          <p:attrName>ppt_y</p:attrName>
                                        </p:attrNameLst>
                                      </p:cBhvr>
                                      <p:tavLst>
                                        <p:tav tm="0">
                                          <p:val>
                                            <p:strVal val="#ppt_y"/>
                                          </p:val>
                                        </p:tav>
                                        <p:tav tm="100000">
                                          <p:val>
                                            <p:strVal val="#ppt_y"/>
                                          </p:val>
                                        </p:tav>
                                      </p:tavLst>
                                    </p:anim>
                                    <p:anim calcmode="lin" valueType="num">
                                      <p:cBhvr>
                                        <p:cTn id="3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8" grpId="0"/>
      <p:bldP spid="15" grpId="0"/>
      <p:bldP spid="10" grpId="0" animBg="1"/>
      <p:bldP spid="1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83995" y="971550"/>
            <a:ext cx="5852160" cy="3415030"/>
          </a:xfrm>
          <a:prstGeom prst="rect">
            <a:avLst/>
          </a:prstGeom>
          <a:noFill/>
        </p:spPr>
        <p:txBody>
          <a:bodyPr wrap="square" rtlCol="0">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sym typeface="+mn-ea"/>
              </a:rPr>
              <a:t>静态演化可以是一种更正代码错误的简单变更，也可以是更正设计方案的重大调整，可以是对描述错误所作的较大范围的修改，还可以是针对新需求所作的重大完善</a:t>
            </a:r>
          </a:p>
          <a:p>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sym typeface="+mn-ea"/>
              </a:rPr>
              <a:t>在演化时，首先根据用户的需求变动，开发新功能模块或更新已有的功能模块，然后编译链接生成新应用系统，最后部署更新后的软件系统</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3963835"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a:t>
            </a:r>
          </a:p>
        </p:txBody>
      </p:sp>
      <p:sp>
        <p:nvSpPr>
          <p:cNvPr id="7" name="Oval 6"/>
          <p:cNvSpPr>
            <a:spLocks noChangeArrowheads="1"/>
          </p:cNvSpPr>
          <p:nvPr/>
        </p:nvSpPr>
        <p:spPr bwMode="auto">
          <a:xfrm>
            <a:off x="1310736" y="1486048"/>
            <a:ext cx="3114634" cy="3116942"/>
          </a:xfrm>
          <a:prstGeom prst="ellipse">
            <a:avLst/>
          </a:prstGeom>
          <a:noFill/>
          <a:ln w="9">
            <a:solidFill>
              <a:schemeClr val="tx1">
                <a:lumMod val="75000"/>
                <a:lumOff val="25000"/>
              </a:schemeClr>
            </a:solidFill>
            <a:prstDash val="sysDash"/>
            <a:round/>
          </a:ln>
          <a:extLst>
            <a:ext uri="{909E8E84-426E-40DD-AFC4-6F175D3DCCD1}">
              <a14:hiddenFill xmlns:a14="http://schemas.microsoft.com/office/drawing/2010/main">
                <a:solidFill>
                  <a:srgbClr val="FFFFFF"/>
                </a:solidFill>
              </a14:hiddenFill>
            </a:ext>
          </a:extLst>
        </p:spPr>
        <p:txBody>
          <a:bodyPr lIns="68562" tIns="34281" rIns="68562" bIns="34281"/>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300" b="1">
              <a:solidFill>
                <a:schemeClr val="tx1"/>
              </a:solidFill>
              <a:ea typeface="宋体" panose="02010600030101010101" pitchFamily="2" charset="-122"/>
            </a:endParaRPr>
          </a:p>
        </p:txBody>
      </p:sp>
      <p:sp>
        <p:nvSpPr>
          <p:cNvPr id="11" name="Oval 10"/>
          <p:cNvSpPr>
            <a:spLocks noChangeArrowheads="1"/>
          </p:cNvSpPr>
          <p:nvPr/>
        </p:nvSpPr>
        <p:spPr bwMode="auto">
          <a:xfrm>
            <a:off x="3415748" y="1328517"/>
            <a:ext cx="439189" cy="439375"/>
          </a:xfrm>
          <a:prstGeom prst="ellipse">
            <a:avLst/>
          </a:prstGeom>
          <a:solidFill>
            <a:srgbClr val="004B7D"/>
          </a:soli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bg1"/>
                </a:solidFill>
                <a:latin typeface="+mn-lt"/>
              </a:rPr>
              <a:t>01</a:t>
            </a:r>
            <a:endParaRPr lang="zh-CN" altLang="en-US" sz="1800" dirty="0">
              <a:solidFill>
                <a:schemeClr val="bg1"/>
              </a:solidFill>
              <a:latin typeface="+mn-lt"/>
            </a:endParaRPr>
          </a:p>
        </p:txBody>
      </p:sp>
      <p:sp>
        <p:nvSpPr>
          <p:cNvPr id="12" name="Oval 11"/>
          <p:cNvSpPr>
            <a:spLocks noChangeArrowheads="1"/>
          </p:cNvSpPr>
          <p:nvPr/>
        </p:nvSpPr>
        <p:spPr bwMode="auto">
          <a:xfrm>
            <a:off x="3502832" y="4186591"/>
            <a:ext cx="439189" cy="439375"/>
          </a:xfrm>
          <a:prstGeom prst="ellipse">
            <a:avLst/>
          </a:prstGeom>
          <a:solidFill>
            <a:srgbClr val="004B7D"/>
          </a:soli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bg1"/>
                </a:solidFill>
                <a:latin typeface="+mn-lt"/>
              </a:rPr>
              <a:t>05</a:t>
            </a:r>
            <a:endParaRPr lang="zh-CN" altLang="en-US" sz="1800" dirty="0">
              <a:solidFill>
                <a:schemeClr val="bg1"/>
              </a:solidFill>
              <a:latin typeface="+mn-lt"/>
            </a:endParaRPr>
          </a:p>
        </p:txBody>
      </p:sp>
      <p:sp>
        <p:nvSpPr>
          <p:cNvPr id="13" name="Oval 12"/>
          <p:cNvSpPr>
            <a:spLocks noChangeArrowheads="1"/>
          </p:cNvSpPr>
          <p:nvPr/>
        </p:nvSpPr>
        <p:spPr bwMode="auto">
          <a:xfrm>
            <a:off x="4031287" y="3550461"/>
            <a:ext cx="440378" cy="439374"/>
          </a:xfrm>
          <a:prstGeom prst="ellipse">
            <a:avLst/>
          </a:prstGeom>
          <a:solidFill>
            <a:srgbClr val="004B7D"/>
          </a:soli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bg1"/>
                </a:solidFill>
                <a:latin typeface="+mn-lt"/>
              </a:rPr>
              <a:t>04</a:t>
            </a:r>
            <a:endParaRPr lang="zh-CN" altLang="en-US" sz="1800" dirty="0">
              <a:solidFill>
                <a:schemeClr val="bg1"/>
              </a:solidFill>
              <a:latin typeface="+mn-lt"/>
            </a:endParaRPr>
          </a:p>
        </p:txBody>
      </p:sp>
      <p:sp>
        <p:nvSpPr>
          <p:cNvPr id="14" name="Oval 13"/>
          <p:cNvSpPr>
            <a:spLocks noChangeArrowheads="1"/>
          </p:cNvSpPr>
          <p:nvPr/>
        </p:nvSpPr>
        <p:spPr bwMode="auto">
          <a:xfrm>
            <a:off x="4031287" y="1950138"/>
            <a:ext cx="440378" cy="439374"/>
          </a:xfrm>
          <a:prstGeom prst="ellipse">
            <a:avLst/>
          </a:prstGeom>
          <a:solidFill>
            <a:srgbClr val="004B7D"/>
          </a:soli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bg1"/>
                </a:solidFill>
                <a:latin typeface="+mn-lt"/>
              </a:rPr>
              <a:t>02</a:t>
            </a:r>
            <a:endParaRPr lang="zh-CN" altLang="en-US" sz="1800" dirty="0">
              <a:solidFill>
                <a:schemeClr val="bg1"/>
              </a:solidFill>
              <a:latin typeface="+mn-lt"/>
            </a:endParaRPr>
          </a:p>
        </p:txBody>
      </p:sp>
      <p:sp>
        <p:nvSpPr>
          <p:cNvPr id="15" name="Oval 14"/>
          <p:cNvSpPr>
            <a:spLocks noChangeArrowheads="1"/>
          </p:cNvSpPr>
          <p:nvPr/>
        </p:nvSpPr>
        <p:spPr bwMode="auto">
          <a:xfrm>
            <a:off x="4202677" y="2750300"/>
            <a:ext cx="439189" cy="439374"/>
          </a:xfrm>
          <a:prstGeom prst="ellipse">
            <a:avLst/>
          </a:prstGeom>
          <a:solidFill>
            <a:srgbClr val="004B7D"/>
          </a:soli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bg1"/>
                </a:solidFill>
                <a:latin typeface="+mn-lt"/>
              </a:rPr>
              <a:t>03</a:t>
            </a:r>
            <a:endParaRPr lang="zh-CN" altLang="en-US" sz="1800" dirty="0">
              <a:solidFill>
                <a:schemeClr val="bg1"/>
              </a:solidFill>
              <a:latin typeface="+mn-lt"/>
            </a:endParaRPr>
          </a:p>
        </p:txBody>
      </p:sp>
      <p:sp>
        <p:nvSpPr>
          <p:cNvPr id="17" name="Oval 9"/>
          <p:cNvSpPr>
            <a:spLocks noChangeArrowheads="1"/>
          </p:cNvSpPr>
          <p:nvPr/>
        </p:nvSpPr>
        <p:spPr bwMode="auto">
          <a:xfrm>
            <a:off x="797580" y="3180468"/>
            <a:ext cx="1193460" cy="1193967"/>
          </a:xfrm>
          <a:prstGeom prst="ellipse">
            <a:avLst/>
          </a:prstGeom>
          <a:solidFill>
            <a:srgbClr val="004B7D"/>
          </a:solidFill>
          <a:ln>
            <a:noFill/>
          </a:ln>
        </p:spPr>
        <p:txBody>
          <a:bodyPr lIns="68562" tIns="34281" rIns="68562" bIns="34281"/>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300" b="1">
              <a:solidFill>
                <a:schemeClr val="tx1"/>
              </a:solidFill>
              <a:ea typeface="宋体" panose="02010600030101010101" pitchFamily="2" charset="-122"/>
            </a:endParaRPr>
          </a:p>
        </p:txBody>
      </p:sp>
      <p:sp>
        <p:nvSpPr>
          <p:cNvPr id="18" name="TextBox 18"/>
          <p:cNvSpPr txBox="1">
            <a:spLocks noChangeArrowheads="1"/>
          </p:cNvSpPr>
          <p:nvPr/>
        </p:nvSpPr>
        <p:spPr bwMode="auto">
          <a:xfrm>
            <a:off x="1045579" y="3435059"/>
            <a:ext cx="697463"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2" tIns="34281" rIns="68562" bIns="34281">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dirty="0">
                <a:solidFill>
                  <a:schemeClr val="bg1"/>
                </a:solidFill>
                <a:latin typeface="微软雅黑" panose="020B0503020204020204" pitchFamily="34" charset="-122"/>
              </a:rPr>
              <a:t>演化步骤</a:t>
            </a:r>
          </a:p>
        </p:txBody>
      </p:sp>
      <p:sp>
        <p:nvSpPr>
          <p:cNvPr id="19" name="矩形 1"/>
          <p:cNvSpPr>
            <a:spLocks noChangeArrowheads="1"/>
          </p:cNvSpPr>
          <p:nvPr/>
        </p:nvSpPr>
        <p:spPr bwMode="auto">
          <a:xfrm>
            <a:off x="4078287" y="1185489"/>
            <a:ext cx="3105671"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1" algn="l"/>
            <a:r>
              <a:rPr lang="zh-CN" altLang="en-US" sz="1000" dirty="0">
                <a:solidFill>
                  <a:schemeClr val="accent6">
                    <a:lumMod val="60000"/>
                    <a:lumOff val="40000"/>
                  </a:schemeClr>
                </a:solidFill>
                <a:latin typeface="微软雅黑" panose="020B0503020204020204" pitchFamily="34" charset="-122"/>
                <a:ea typeface="微软雅黑" panose="020B0503020204020204" pitchFamily="34" charset="-122"/>
                <a:sym typeface="+mn-ea"/>
              </a:rPr>
              <a:t>软件理解：</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mn-ea"/>
              </a:rPr>
              <a:t>查阅软件文档、分析软件内部结构，识别系统组成元素及其之间的关系，提取系统抽象表现形式</a:t>
            </a:r>
          </a:p>
        </p:txBody>
      </p:sp>
      <p:sp>
        <p:nvSpPr>
          <p:cNvPr id="20" name="矩形 1"/>
          <p:cNvSpPr>
            <a:spLocks noChangeArrowheads="1"/>
          </p:cNvSpPr>
          <p:nvPr/>
        </p:nvSpPr>
        <p:spPr bwMode="auto">
          <a:xfrm>
            <a:off x="4712963" y="1881681"/>
            <a:ext cx="2868667"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1000" dirty="0">
                <a:solidFill>
                  <a:schemeClr val="accent6">
                    <a:lumMod val="60000"/>
                    <a:lumOff val="40000"/>
                  </a:schemeClr>
                </a:solidFill>
                <a:latin typeface="微软雅黑" panose="020B0503020204020204" pitchFamily="34" charset="-122"/>
                <a:ea typeface="微软雅黑" panose="020B0503020204020204" pitchFamily="34" charset="-122"/>
                <a:sym typeface="+mn-ea"/>
              </a:rPr>
              <a:t>需求变更分析</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mn-ea"/>
              </a:rPr>
              <a:t>：软件的静态演化往往是由于用户需求变化、系统运行出错和运行环境发生改变所导致的</a:t>
            </a:r>
          </a:p>
        </p:txBody>
      </p:sp>
      <p:sp>
        <p:nvSpPr>
          <p:cNvPr id="21" name="矩形 1"/>
          <p:cNvSpPr>
            <a:spLocks noChangeArrowheads="1"/>
          </p:cNvSpPr>
          <p:nvPr/>
        </p:nvSpPr>
        <p:spPr bwMode="auto">
          <a:xfrm>
            <a:off x="4827767" y="2732581"/>
            <a:ext cx="2868667"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1000" dirty="0">
                <a:solidFill>
                  <a:schemeClr val="accent6">
                    <a:lumMod val="60000"/>
                    <a:lumOff val="40000"/>
                  </a:schemeClr>
                </a:solidFill>
                <a:latin typeface="微软雅黑" panose="020B0503020204020204" pitchFamily="34" charset="-122"/>
                <a:ea typeface="微软雅黑" panose="020B0503020204020204" pitchFamily="34" charset="-122"/>
                <a:sym typeface="+mn-ea"/>
              </a:rPr>
              <a:t>演化计划</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mn-ea"/>
              </a:rPr>
              <a:t>：对原系统进行分析，确定更新范围和所花费的代价，制定更新成本和演化计划</a:t>
            </a:r>
          </a:p>
        </p:txBody>
      </p:sp>
      <p:sp>
        <p:nvSpPr>
          <p:cNvPr id="22" name="矩形 1"/>
          <p:cNvSpPr>
            <a:spLocks noChangeArrowheads="1"/>
          </p:cNvSpPr>
          <p:nvPr/>
        </p:nvSpPr>
        <p:spPr bwMode="auto">
          <a:xfrm>
            <a:off x="4712963" y="3527027"/>
            <a:ext cx="2868667"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1000" dirty="0">
                <a:solidFill>
                  <a:schemeClr val="accent6">
                    <a:lumMod val="75000"/>
                  </a:schemeClr>
                </a:solidFill>
                <a:sym typeface="+mn-ea"/>
              </a:rPr>
              <a:t>系统重构</a:t>
            </a:r>
            <a:r>
              <a:rPr lang="zh-CN" altLang="en-US" sz="1000" dirty="0">
                <a:solidFill>
                  <a:schemeClr val="tx1">
                    <a:lumMod val="65000"/>
                    <a:lumOff val="35000"/>
                  </a:schemeClr>
                </a:solidFill>
                <a:sym typeface="+mn-ea"/>
              </a:rPr>
              <a:t>：根据演化计划对原软件系统进行重构，使之能够适应当前的需求</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23" name="矩形 1"/>
          <p:cNvSpPr>
            <a:spLocks noChangeArrowheads="1"/>
          </p:cNvSpPr>
          <p:nvPr/>
        </p:nvSpPr>
        <p:spPr bwMode="auto">
          <a:xfrm>
            <a:off x="4165371" y="4166363"/>
            <a:ext cx="3105671"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1" algn="l"/>
            <a:r>
              <a:rPr lang="zh-CN" altLang="en-US" sz="1000" dirty="0">
                <a:solidFill>
                  <a:schemeClr val="accent6">
                    <a:lumMod val="75000"/>
                  </a:schemeClr>
                </a:solidFill>
                <a:sym typeface="+mn-ea"/>
              </a:rPr>
              <a:t>系统测试</a:t>
            </a:r>
            <a:r>
              <a:rPr lang="zh-CN" altLang="en-US" sz="1000" dirty="0">
                <a:solidFill>
                  <a:schemeClr val="tx1">
                    <a:lumMod val="65000"/>
                    <a:lumOff val="35000"/>
                  </a:schemeClr>
                </a:solidFill>
                <a:sym typeface="+mn-ea"/>
              </a:rPr>
              <a:t>：对更新后的软件元素和整个系统进行测试，以查出其中的错误和不足之处</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grpSp>
        <p:nvGrpSpPr>
          <p:cNvPr id="2" name="组合 1"/>
          <p:cNvGrpSpPr/>
          <p:nvPr/>
        </p:nvGrpSpPr>
        <p:grpSpPr>
          <a:xfrm>
            <a:off x="1648037" y="2239939"/>
            <a:ext cx="1710267" cy="1515795"/>
            <a:chOff x="3716867" y="1153454"/>
            <a:chExt cx="1710267" cy="1515795"/>
          </a:xfrm>
        </p:grpSpPr>
        <p:sp>
          <p:nvSpPr>
            <p:cNvPr id="3" name="Freeform 5"/>
            <p:cNvSpPr/>
            <p:nvPr/>
          </p:nvSpPr>
          <p:spPr bwMode="auto">
            <a:xfrm rot="10800000">
              <a:off x="3716867" y="1153454"/>
              <a:ext cx="1710267" cy="151579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0800000">
              <a:off x="3948829" y="1359038"/>
              <a:ext cx="1246344" cy="110462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sp>
        <p:nvSpPr>
          <p:cNvPr id="5" name="Freeform 9"/>
          <p:cNvSpPr>
            <a:spLocks noEditPoints="1"/>
          </p:cNvSpPr>
          <p:nvPr/>
        </p:nvSpPr>
        <p:spPr bwMode="auto">
          <a:xfrm>
            <a:off x="2247185" y="2718907"/>
            <a:ext cx="510700" cy="57944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chemeClr val="bg1"/>
          </a:solidFill>
          <a:ln>
            <a:noFill/>
          </a:ln>
        </p:spPr>
        <p:txBody>
          <a:bodyPr vert="horz" wrap="square" lIns="68553" tIns="34277" rIns="68553" bIns="34277" numCol="1" anchor="t" anchorCtr="0" compatLnSpc="1"/>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625"/>
                            </p:stCondLst>
                            <p:childTnLst>
                              <p:par>
                                <p:cTn id="22" presetID="21" presetClass="entr" presetSubtype="2"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heel(2)">
                                      <p:cBhvr>
                                        <p:cTn id="24" dur="750"/>
                                        <p:tgtEl>
                                          <p:spTgt spid="7"/>
                                        </p:tgtEl>
                                      </p:cBhvr>
                                    </p:animEffect>
                                  </p:childTnLst>
                                </p:cTn>
                              </p:par>
                            </p:childTnLst>
                          </p:cTn>
                        </p:par>
                        <p:par>
                          <p:cTn id="25" fill="hold">
                            <p:stCondLst>
                              <p:cond delay="2625"/>
                            </p:stCondLst>
                            <p:childTnLst>
                              <p:par>
                                <p:cTn id="26" presetID="52"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Scale>
                                      <p:cBhvr>
                                        <p:cTn id="28"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9" dur="1000" decel="50000" fill="hold">
                                          <p:stCondLst>
                                            <p:cond delay="0"/>
                                          </p:stCondLst>
                                        </p:cTn>
                                        <p:tgtEl>
                                          <p:spTgt spid="17"/>
                                        </p:tgtEl>
                                        <p:attrNameLst>
                                          <p:attrName>ppt_x</p:attrName>
                                          <p:attrName>ppt_y</p:attrName>
                                        </p:attrNameLst>
                                      </p:cBhvr>
                                      <p:rCtr x="0" y="0"/>
                                    </p:animMotion>
                                    <p:animEffect transition="in" filter="fade">
                                      <p:cBhvr>
                                        <p:cTn id="30" dur="1000"/>
                                        <p:tgtEl>
                                          <p:spTgt spid="17"/>
                                        </p:tgtEl>
                                      </p:cBhvr>
                                    </p:animEffect>
                                  </p:childTnLst>
                                </p:cTn>
                              </p:par>
                              <p:par>
                                <p:cTn id="31" presetID="52"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Scale>
                                      <p:cBhvr>
                                        <p:cTn id="33"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4" dur="1000" decel="50000" fill="hold">
                                          <p:stCondLst>
                                            <p:cond delay="0"/>
                                          </p:stCondLst>
                                        </p:cTn>
                                        <p:tgtEl>
                                          <p:spTgt spid="18"/>
                                        </p:tgtEl>
                                        <p:attrNameLst>
                                          <p:attrName>ppt_x</p:attrName>
                                          <p:attrName>ppt_y</p:attrName>
                                        </p:attrNameLst>
                                      </p:cBhvr>
                                      <p:rCtr x="0" y="0"/>
                                    </p:animMotion>
                                    <p:animEffect transition="in" filter="fade">
                                      <p:cBhvr>
                                        <p:cTn id="35" dur="1000"/>
                                        <p:tgtEl>
                                          <p:spTgt spid="18"/>
                                        </p:tgtEl>
                                      </p:cBhvr>
                                    </p:animEffect>
                                  </p:childTnLst>
                                </p:cTn>
                              </p:par>
                            </p:childTnLst>
                          </p:cTn>
                        </p:par>
                        <p:par>
                          <p:cTn id="36" fill="hold">
                            <p:stCondLst>
                              <p:cond delay="3625"/>
                            </p:stCondLst>
                            <p:childTnLst>
                              <p:par>
                                <p:cTn id="37" presetID="1"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35" presetClass="path" presetSubtype="0" accel="50000" decel="50000" fill="hold" grpId="1" nodeType="withEffect">
                                  <p:stCondLst>
                                    <p:cond delay="0"/>
                                  </p:stCondLst>
                                  <p:childTnLst>
                                    <p:animMotion origin="layout" path="M 5.55556E-7 4.07407E-6 L -0.17361 0.29043 " pathEditMode="relative" rAng="0" ptsTypes="AA">
                                      <p:cBhvr>
                                        <p:cTn id="48" dur="500" spd="-99900" fill="hold"/>
                                        <p:tgtEl>
                                          <p:spTgt spid="11"/>
                                        </p:tgtEl>
                                        <p:attrNameLst>
                                          <p:attrName>ppt_x</p:attrName>
                                          <p:attrName>ppt_y</p:attrName>
                                        </p:attrNameLst>
                                      </p:cBhvr>
                                      <p:rCtr x="-8681" y="14506"/>
                                    </p:animMotion>
                                  </p:childTnLst>
                                </p:cTn>
                              </p:par>
                              <p:par>
                                <p:cTn id="49" presetID="35" presetClass="path" presetSubtype="0" accel="50000" decel="50000" fill="hold" grpId="1" nodeType="withEffect">
                                  <p:stCondLst>
                                    <p:cond delay="0"/>
                                  </p:stCondLst>
                                  <p:childTnLst>
                                    <p:animMotion origin="layout" path="M -5.55556E-7 -4.93827E-6 L -0.23142 0.15556 " pathEditMode="relative" rAng="0" ptsTypes="AA">
                                      <p:cBhvr>
                                        <p:cTn id="50" dur="500" spd="-99900" fill="hold"/>
                                        <p:tgtEl>
                                          <p:spTgt spid="14"/>
                                        </p:tgtEl>
                                        <p:attrNameLst>
                                          <p:attrName>ppt_x</p:attrName>
                                          <p:attrName>ppt_y</p:attrName>
                                        </p:attrNameLst>
                                      </p:cBhvr>
                                      <p:rCtr x="-11580" y="7778"/>
                                    </p:animMotion>
                                  </p:childTnLst>
                                </p:cTn>
                              </p:par>
                              <p:par>
                                <p:cTn id="51" presetID="35" presetClass="path" presetSubtype="0" accel="50000" decel="50000" fill="hold" grpId="1" nodeType="withEffect">
                                  <p:stCondLst>
                                    <p:cond delay="0"/>
                                  </p:stCondLst>
                                  <p:childTnLst>
                                    <p:animMotion origin="layout" path="M 3.05556E-6 -4.93827E-7 L -0.25 -4.93827E-7 " pathEditMode="relative" rAng="0" ptsTypes="AA">
                                      <p:cBhvr>
                                        <p:cTn id="52" dur="500" spd="-99900" fill="hold"/>
                                        <p:tgtEl>
                                          <p:spTgt spid="15"/>
                                        </p:tgtEl>
                                        <p:attrNameLst>
                                          <p:attrName>ppt_x</p:attrName>
                                          <p:attrName>ppt_y</p:attrName>
                                        </p:attrNameLst>
                                      </p:cBhvr>
                                      <p:rCtr x="-12500" y="0"/>
                                    </p:animMotion>
                                  </p:childTnLst>
                                </p:cTn>
                              </p:par>
                              <p:par>
                                <p:cTn id="53" presetID="35" presetClass="path" presetSubtype="0" accel="50000" decel="50000" fill="hold" grpId="1" nodeType="withEffect">
                                  <p:stCondLst>
                                    <p:cond delay="0"/>
                                  </p:stCondLst>
                                  <p:childTnLst>
                                    <p:animMotion origin="layout" path="M -5.55556E-7 -4.69136E-6 L -0.23142 -0.15555 " pathEditMode="relative" rAng="0" ptsTypes="AA">
                                      <p:cBhvr>
                                        <p:cTn id="54" dur="500" spd="-99900" fill="hold"/>
                                        <p:tgtEl>
                                          <p:spTgt spid="13"/>
                                        </p:tgtEl>
                                        <p:attrNameLst>
                                          <p:attrName>ppt_x</p:attrName>
                                          <p:attrName>ppt_y</p:attrName>
                                        </p:attrNameLst>
                                      </p:cBhvr>
                                      <p:rCtr x="-11580" y="-7778"/>
                                    </p:animMotion>
                                  </p:childTnLst>
                                </p:cTn>
                              </p:par>
                              <p:par>
                                <p:cTn id="55" presetID="35" presetClass="path" presetSubtype="0" accel="50000" decel="50000" fill="hold" grpId="1" nodeType="withEffect">
                                  <p:stCondLst>
                                    <p:cond delay="0"/>
                                  </p:stCondLst>
                                  <p:childTnLst>
                                    <p:animMotion origin="layout" path="M 1.94444E-6 -1.48148E-6 L -0.17361 -0.29043 " pathEditMode="relative" rAng="0" ptsTypes="AA">
                                      <p:cBhvr>
                                        <p:cTn id="56" dur="500" spd="-99900" fill="hold"/>
                                        <p:tgtEl>
                                          <p:spTgt spid="12"/>
                                        </p:tgtEl>
                                        <p:attrNameLst>
                                          <p:attrName>ppt_x</p:attrName>
                                          <p:attrName>ppt_y</p:attrName>
                                        </p:attrNameLst>
                                      </p:cBhvr>
                                      <p:rCtr x="-8681" y="-14537"/>
                                    </p:animMotion>
                                  </p:childTnLst>
                                </p:cTn>
                              </p:par>
                            </p:childTnLst>
                          </p:cTn>
                        </p:par>
                        <p:par>
                          <p:cTn id="57" fill="hold">
                            <p:stCondLst>
                              <p:cond delay="3625"/>
                            </p:stCondLst>
                            <p:childTnLst>
                              <p:par>
                                <p:cTn id="58" presetID="2" presetClass="entr" presetSubtype="2" decel="53300"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750" fill="hold"/>
                                        <p:tgtEl>
                                          <p:spTgt spid="19"/>
                                        </p:tgtEl>
                                        <p:attrNameLst>
                                          <p:attrName>ppt_x</p:attrName>
                                        </p:attrNameLst>
                                      </p:cBhvr>
                                      <p:tavLst>
                                        <p:tav tm="0">
                                          <p:val>
                                            <p:strVal val="1+#ppt_w/2"/>
                                          </p:val>
                                        </p:tav>
                                        <p:tav tm="100000">
                                          <p:val>
                                            <p:strVal val="#ppt_x"/>
                                          </p:val>
                                        </p:tav>
                                      </p:tavLst>
                                    </p:anim>
                                    <p:anim calcmode="lin" valueType="num">
                                      <p:cBhvr additive="base">
                                        <p:cTn id="61" dur="750" fill="hold"/>
                                        <p:tgtEl>
                                          <p:spTgt spid="19"/>
                                        </p:tgtEl>
                                        <p:attrNameLst>
                                          <p:attrName>ppt_y</p:attrName>
                                        </p:attrNameLst>
                                      </p:cBhvr>
                                      <p:tavLst>
                                        <p:tav tm="0">
                                          <p:val>
                                            <p:strVal val="#ppt_y"/>
                                          </p:val>
                                        </p:tav>
                                        <p:tav tm="100000">
                                          <p:val>
                                            <p:strVal val="#ppt_y"/>
                                          </p:val>
                                        </p:tav>
                                      </p:tavLst>
                                    </p:anim>
                                  </p:childTnLst>
                                </p:cTn>
                              </p:par>
                              <p:par>
                                <p:cTn id="62" presetID="2" presetClass="entr" presetSubtype="2" decel="53300" fill="hold" grpId="0" nodeType="withEffect">
                                  <p:stCondLst>
                                    <p:cond delay="25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750" fill="hold"/>
                                        <p:tgtEl>
                                          <p:spTgt spid="20"/>
                                        </p:tgtEl>
                                        <p:attrNameLst>
                                          <p:attrName>ppt_x</p:attrName>
                                        </p:attrNameLst>
                                      </p:cBhvr>
                                      <p:tavLst>
                                        <p:tav tm="0">
                                          <p:val>
                                            <p:strVal val="1+#ppt_w/2"/>
                                          </p:val>
                                        </p:tav>
                                        <p:tav tm="100000">
                                          <p:val>
                                            <p:strVal val="#ppt_x"/>
                                          </p:val>
                                        </p:tav>
                                      </p:tavLst>
                                    </p:anim>
                                    <p:anim calcmode="lin" valueType="num">
                                      <p:cBhvr additive="base">
                                        <p:cTn id="65" dur="750" fill="hold"/>
                                        <p:tgtEl>
                                          <p:spTgt spid="20"/>
                                        </p:tgtEl>
                                        <p:attrNameLst>
                                          <p:attrName>ppt_y</p:attrName>
                                        </p:attrNameLst>
                                      </p:cBhvr>
                                      <p:tavLst>
                                        <p:tav tm="0">
                                          <p:val>
                                            <p:strVal val="#ppt_y"/>
                                          </p:val>
                                        </p:tav>
                                        <p:tav tm="100000">
                                          <p:val>
                                            <p:strVal val="#ppt_y"/>
                                          </p:val>
                                        </p:tav>
                                      </p:tavLst>
                                    </p:anim>
                                  </p:childTnLst>
                                </p:cTn>
                              </p:par>
                              <p:par>
                                <p:cTn id="66" presetID="2" presetClass="entr" presetSubtype="2" decel="53300" fill="hold" grpId="0" nodeType="withEffect">
                                  <p:stCondLst>
                                    <p:cond delay="50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750" fill="hold"/>
                                        <p:tgtEl>
                                          <p:spTgt spid="21"/>
                                        </p:tgtEl>
                                        <p:attrNameLst>
                                          <p:attrName>ppt_x</p:attrName>
                                        </p:attrNameLst>
                                      </p:cBhvr>
                                      <p:tavLst>
                                        <p:tav tm="0">
                                          <p:val>
                                            <p:strVal val="1+#ppt_w/2"/>
                                          </p:val>
                                        </p:tav>
                                        <p:tav tm="100000">
                                          <p:val>
                                            <p:strVal val="#ppt_x"/>
                                          </p:val>
                                        </p:tav>
                                      </p:tavLst>
                                    </p:anim>
                                    <p:anim calcmode="lin" valueType="num">
                                      <p:cBhvr additive="base">
                                        <p:cTn id="69" dur="750" fill="hold"/>
                                        <p:tgtEl>
                                          <p:spTgt spid="21"/>
                                        </p:tgtEl>
                                        <p:attrNameLst>
                                          <p:attrName>ppt_y</p:attrName>
                                        </p:attrNameLst>
                                      </p:cBhvr>
                                      <p:tavLst>
                                        <p:tav tm="0">
                                          <p:val>
                                            <p:strVal val="#ppt_y"/>
                                          </p:val>
                                        </p:tav>
                                        <p:tav tm="100000">
                                          <p:val>
                                            <p:strVal val="#ppt_y"/>
                                          </p:val>
                                        </p:tav>
                                      </p:tavLst>
                                    </p:anim>
                                  </p:childTnLst>
                                </p:cTn>
                              </p:par>
                              <p:par>
                                <p:cTn id="70" presetID="2" presetClass="entr" presetSubtype="2" decel="53300" fill="hold" grpId="0" nodeType="withEffect">
                                  <p:stCondLst>
                                    <p:cond delay="75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750" fill="hold"/>
                                        <p:tgtEl>
                                          <p:spTgt spid="22"/>
                                        </p:tgtEl>
                                        <p:attrNameLst>
                                          <p:attrName>ppt_x</p:attrName>
                                        </p:attrNameLst>
                                      </p:cBhvr>
                                      <p:tavLst>
                                        <p:tav tm="0">
                                          <p:val>
                                            <p:strVal val="1+#ppt_w/2"/>
                                          </p:val>
                                        </p:tav>
                                        <p:tav tm="100000">
                                          <p:val>
                                            <p:strVal val="#ppt_x"/>
                                          </p:val>
                                        </p:tav>
                                      </p:tavLst>
                                    </p:anim>
                                    <p:anim calcmode="lin" valueType="num">
                                      <p:cBhvr additive="base">
                                        <p:cTn id="73" dur="750" fill="hold"/>
                                        <p:tgtEl>
                                          <p:spTgt spid="22"/>
                                        </p:tgtEl>
                                        <p:attrNameLst>
                                          <p:attrName>ppt_y</p:attrName>
                                        </p:attrNameLst>
                                      </p:cBhvr>
                                      <p:tavLst>
                                        <p:tav tm="0">
                                          <p:val>
                                            <p:strVal val="#ppt_y"/>
                                          </p:val>
                                        </p:tav>
                                        <p:tav tm="100000">
                                          <p:val>
                                            <p:strVal val="#ppt_y"/>
                                          </p:val>
                                        </p:tav>
                                      </p:tavLst>
                                    </p:anim>
                                  </p:childTnLst>
                                </p:cTn>
                              </p:par>
                              <p:par>
                                <p:cTn id="74" presetID="2" presetClass="entr" presetSubtype="2" decel="53300" fill="hold" grpId="0" nodeType="withEffect">
                                  <p:stCondLst>
                                    <p:cond delay="10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750" fill="hold"/>
                                        <p:tgtEl>
                                          <p:spTgt spid="23"/>
                                        </p:tgtEl>
                                        <p:attrNameLst>
                                          <p:attrName>ppt_x</p:attrName>
                                        </p:attrNameLst>
                                      </p:cBhvr>
                                      <p:tavLst>
                                        <p:tav tm="0">
                                          <p:val>
                                            <p:strVal val="1+#ppt_w/2"/>
                                          </p:val>
                                        </p:tav>
                                        <p:tav tm="100000">
                                          <p:val>
                                            <p:strVal val="#ppt_x"/>
                                          </p:val>
                                        </p:tav>
                                      </p:tavLst>
                                    </p:anim>
                                    <p:anim calcmode="lin" valueType="num">
                                      <p:cBhvr additive="base">
                                        <p:cTn id="77" dur="750" fill="hold"/>
                                        <p:tgtEl>
                                          <p:spTgt spid="23"/>
                                        </p:tgtEl>
                                        <p:attrNameLst>
                                          <p:attrName>ppt_y</p:attrName>
                                        </p:attrNameLst>
                                      </p:cBhvr>
                                      <p:tavLst>
                                        <p:tav tm="0">
                                          <p:val>
                                            <p:strVal val="#ppt_y"/>
                                          </p:val>
                                        </p:tav>
                                        <p:tav tm="100000">
                                          <p:val>
                                            <p:strVal val="#ppt_y"/>
                                          </p:val>
                                        </p:tav>
                                      </p:tavLst>
                                    </p:anim>
                                  </p:childTnLst>
                                </p:cTn>
                              </p:par>
                            </p:childTnLst>
                          </p:cTn>
                        </p:par>
                        <p:par>
                          <p:cTn id="78" fill="hold">
                            <p:stCondLst>
                              <p:cond delay="4625"/>
                            </p:stCondLst>
                            <p:childTnLst>
                              <p:par>
                                <p:cTn id="79" presetID="53" presetClass="entr" presetSubtype="16" fill="hold" nodeType="afterEffect">
                                  <p:stCondLst>
                                    <p:cond delay="0"/>
                                  </p:stCondLst>
                                  <p:childTnLst>
                                    <p:set>
                                      <p:cBhvr>
                                        <p:cTn id="80" dur="1" fill="hold">
                                          <p:stCondLst>
                                            <p:cond delay="0"/>
                                          </p:stCondLst>
                                        </p:cTn>
                                        <p:tgtEl>
                                          <p:spTgt spid="2"/>
                                        </p:tgtEl>
                                        <p:attrNameLst>
                                          <p:attrName>style.visibility</p:attrName>
                                        </p:attrNameLst>
                                      </p:cBhvr>
                                      <p:to>
                                        <p:strVal val="visible"/>
                                      </p:to>
                                    </p:set>
                                    <p:anim calcmode="lin" valueType="num">
                                      <p:cBhvr>
                                        <p:cTn id="81" dur="750" fill="hold"/>
                                        <p:tgtEl>
                                          <p:spTgt spid="2"/>
                                        </p:tgtEl>
                                        <p:attrNameLst>
                                          <p:attrName>ppt_w</p:attrName>
                                        </p:attrNameLst>
                                      </p:cBhvr>
                                      <p:tavLst>
                                        <p:tav tm="0">
                                          <p:val>
                                            <p:fltVal val="0"/>
                                          </p:val>
                                        </p:tav>
                                        <p:tav tm="100000">
                                          <p:val>
                                            <p:strVal val="#ppt_w"/>
                                          </p:val>
                                        </p:tav>
                                      </p:tavLst>
                                    </p:anim>
                                    <p:anim calcmode="lin" valueType="num">
                                      <p:cBhvr>
                                        <p:cTn id="82" dur="750" fill="hold"/>
                                        <p:tgtEl>
                                          <p:spTgt spid="2"/>
                                        </p:tgtEl>
                                        <p:attrNameLst>
                                          <p:attrName>ppt_h</p:attrName>
                                        </p:attrNameLst>
                                      </p:cBhvr>
                                      <p:tavLst>
                                        <p:tav tm="0">
                                          <p:val>
                                            <p:fltVal val="0"/>
                                          </p:val>
                                        </p:tav>
                                        <p:tav tm="100000">
                                          <p:val>
                                            <p:strVal val="#ppt_h"/>
                                          </p:val>
                                        </p:tav>
                                      </p:tavLst>
                                    </p:anim>
                                    <p:animEffect transition="in" filter="fade">
                                      <p:cBhvr>
                                        <p:cTn id="83" dur="750"/>
                                        <p:tgtEl>
                                          <p:spTgt spid="2"/>
                                        </p:tgtEl>
                                      </p:cBhvr>
                                    </p:animEffect>
                                  </p:childTnLst>
                                </p:cTn>
                              </p:par>
                            </p:childTnLst>
                          </p:cTn>
                        </p:par>
                        <p:par>
                          <p:cTn id="84" fill="hold">
                            <p:stCondLst>
                              <p:cond delay="5625"/>
                            </p:stCondLst>
                            <p:childTnLst>
                              <p:par>
                                <p:cTn id="85" presetID="31" presetClass="entr" presetSubtype="0" fill="hold" grpId="0" nodeType="afterEffect">
                                  <p:stCondLst>
                                    <p:cond delay="0"/>
                                  </p:stCondLst>
                                  <p:childTnLst>
                                    <p:set>
                                      <p:cBhvr>
                                        <p:cTn id="86" dur="1" fill="hold">
                                          <p:stCondLst>
                                            <p:cond delay="0"/>
                                          </p:stCondLst>
                                        </p:cTn>
                                        <p:tgtEl>
                                          <p:spTgt spid="5"/>
                                        </p:tgtEl>
                                        <p:attrNameLst>
                                          <p:attrName>style.visibility</p:attrName>
                                        </p:attrNameLst>
                                      </p:cBhvr>
                                      <p:to>
                                        <p:strVal val="visible"/>
                                      </p:to>
                                    </p:set>
                                    <p:anim calcmode="lin" valueType="num">
                                      <p:cBhvr>
                                        <p:cTn id="87" dur="500" fill="hold"/>
                                        <p:tgtEl>
                                          <p:spTgt spid="5"/>
                                        </p:tgtEl>
                                        <p:attrNameLst>
                                          <p:attrName>ppt_w</p:attrName>
                                        </p:attrNameLst>
                                      </p:cBhvr>
                                      <p:tavLst>
                                        <p:tav tm="0">
                                          <p:val>
                                            <p:fltVal val="0"/>
                                          </p:val>
                                        </p:tav>
                                        <p:tav tm="100000">
                                          <p:val>
                                            <p:strVal val="#ppt_w"/>
                                          </p:val>
                                        </p:tav>
                                      </p:tavLst>
                                    </p:anim>
                                    <p:anim calcmode="lin" valueType="num">
                                      <p:cBhvr>
                                        <p:cTn id="88" dur="500" fill="hold"/>
                                        <p:tgtEl>
                                          <p:spTgt spid="5"/>
                                        </p:tgtEl>
                                        <p:attrNameLst>
                                          <p:attrName>ppt_h</p:attrName>
                                        </p:attrNameLst>
                                      </p:cBhvr>
                                      <p:tavLst>
                                        <p:tav tm="0">
                                          <p:val>
                                            <p:fltVal val="0"/>
                                          </p:val>
                                        </p:tav>
                                        <p:tav tm="100000">
                                          <p:val>
                                            <p:strVal val="#ppt_h"/>
                                          </p:val>
                                        </p:tav>
                                      </p:tavLst>
                                    </p:anim>
                                    <p:anim calcmode="lin" valueType="num">
                                      <p:cBhvr>
                                        <p:cTn id="89" dur="500" fill="hold"/>
                                        <p:tgtEl>
                                          <p:spTgt spid="5"/>
                                        </p:tgtEl>
                                        <p:attrNameLst>
                                          <p:attrName>style.rotation</p:attrName>
                                        </p:attrNameLst>
                                      </p:cBhvr>
                                      <p:tavLst>
                                        <p:tav tm="0">
                                          <p:val>
                                            <p:fltVal val="90"/>
                                          </p:val>
                                        </p:tav>
                                        <p:tav tm="100000">
                                          <p:val>
                                            <p:fltVal val="0"/>
                                          </p:val>
                                        </p:tav>
                                      </p:tavLst>
                                    </p:anim>
                                    <p:animEffect transition="in" filter="fade">
                                      <p:cBhvr>
                                        <p:cTn id="90" dur="500"/>
                                        <p:tgtEl>
                                          <p:spTgt spid="5"/>
                                        </p:tgtEl>
                                      </p:cBhvr>
                                    </p:animEffect>
                                  </p:childTnLst>
                                </p:cTn>
                              </p:par>
                              <p:par>
                                <p:cTn id="91" presetID="8" presetClass="emph" presetSubtype="0" fill="hold" grpId="1" nodeType="withEffect">
                                  <p:stCondLst>
                                    <p:cond delay="0"/>
                                  </p:stCondLst>
                                  <p:childTnLst>
                                    <p:animRot by="21600000">
                                      <p:cBhvr>
                                        <p:cTn id="92" dur="5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7" grpId="0" animBg="1"/>
      <p:bldP spid="11" grpId="0" animBg="1" autoUpdateAnimBg="0"/>
      <p:bldP spid="11" grpId="1" animBg="1" autoUpdateAnimBg="0"/>
      <p:bldP spid="12" grpId="0" animBg="1" autoUpdateAnimBg="0"/>
      <p:bldP spid="12" grpId="1" animBg="1" autoUpdateAnimBg="0"/>
      <p:bldP spid="13" grpId="0" animBg="1" autoUpdateAnimBg="0"/>
      <p:bldP spid="13" grpId="1" animBg="1" autoUpdateAnimBg="0"/>
      <p:bldP spid="14" grpId="0" animBg="1" autoUpdateAnimBg="0"/>
      <p:bldP spid="14" grpId="1" animBg="1" autoUpdateAnimBg="0"/>
      <p:bldP spid="15" grpId="0" animBg="1" autoUpdateAnimBg="0"/>
      <p:bldP spid="15" grpId="1" animBg="1" autoUpdateAnimBg="0"/>
      <p:bldP spid="17" grpId="0" animBg="1" autoUpdateAnimBg="0"/>
      <p:bldP spid="18" grpId="0" autoUpdateAnimBg="0"/>
      <p:bldP spid="19" grpId="0"/>
      <p:bldP spid="20" grpId="0"/>
      <p:bldP spid="21" grpId="0"/>
      <p:bldP spid="22" grpId="0"/>
      <p:bldP spid="23" grpId="0"/>
      <p:bldP spid="5" grpId="0" bldLvl="0" animBg="1"/>
      <p:bldP spid="5" grpId="1"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2846070"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软件静态演化过程模型</a:t>
            </a:r>
          </a:p>
        </p:txBody>
      </p:sp>
      <p:graphicFrame>
        <p:nvGraphicFramePr>
          <p:cNvPr id="631812" name="对象 631811"/>
          <p:cNvGraphicFramePr/>
          <p:nvPr/>
        </p:nvGraphicFramePr>
        <p:xfrm>
          <a:off x="684213" y="1361440"/>
          <a:ext cx="7775575" cy="3122613"/>
        </p:xfrm>
        <a:graphic>
          <a:graphicData uri="http://schemas.openxmlformats.org/presentationml/2006/ole">
            <mc:AlternateContent xmlns:mc="http://schemas.openxmlformats.org/markup-compatibility/2006">
              <mc:Choice xmlns:v="urn:schemas-microsoft-com:vml" Requires="v">
                <p:oleObj spid="_x0000_s4113" r:id="rId4" imgW="4133215" imgH="1667510" progId="Word.Picture.8">
                  <p:embed/>
                </p:oleObj>
              </mc:Choice>
              <mc:Fallback>
                <p:oleObj r:id="rId4" imgW="4133215" imgH="1667510" progId="Word.Picture.8">
                  <p:embed/>
                  <p:pic>
                    <p:nvPicPr>
                      <p:cNvPr id="0" name="图片 3078"/>
                      <p:cNvPicPr/>
                      <p:nvPr/>
                    </p:nvPicPr>
                    <p:blipFill>
                      <a:blip r:embed="rId5"/>
                      <a:stretch>
                        <a:fillRect/>
                      </a:stretch>
                    </p:blipFill>
                    <p:spPr>
                      <a:xfrm>
                        <a:off x="684213" y="1361440"/>
                        <a:ext cx="7775575" cy="3122613"/>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a:t>
            </a:r>
          </a:p>
        </p:txBody>
      </p:sp>
      <p:sp>
        <p:nvSpPr>
          <p:cNvPr id="632835" name="文本占位符 632834"/>
          <p:cNvSpPr>
            <a:spLocks noGrp="1"/>
          </p:cNvSpPr>
          <p:nvPr/>
        </p:nvSpPr>
        <p:spPr>
          <a:xfrm>
            <a:off x="553403" y="966470"/>
            <a:ext cx="8037512" cy="44846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a:lstStyle>
          <a:p>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在对系统功能进行更新时，最简单的机制就是创建相关类的子类，然后重载需要变更的方法，利用多态性来调用新创建的方法</a:t>
            </a:r>
          </a:p>
          <a:p>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在开发构件时，通常采用接口和实现相分离的原则，构件之间只能通过接口来进行通信</a:t>
            </a:r>
          </a:p>
          <a:p>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具有兼容接口的不同构件实现部分可以相互取代，在静态演化过程中，这已经成为一条非常有效的途径</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a:t>
            </a:r>
          </a:p>
        </p:txBody>
      </p:sp>
      <p:sp>
        <p:nvSpPr>
          <p:cNvPr id="633859" name="文本占位符 633858"/>
          <p:cNvSpPr>
            <a:spLocks noGrp="1"/>
          </p:cNvSpPr>
          <p:nvPr/>
        </p:nvSpPr>
        <p:spPr>
          <a:xfrm>
            <a:off x="652463" y="945515"/>
            <a:ext cx="8037512" cy="44846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a:lstStyle>
          <a:p>
            <a:pPr>
              <a:lnSpc>
                <a:spcPct val="90000"/>
              </a:lnSpc>
            </a:pPr>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在基于构件的开发模式中，经常出现的构件接口与系统设计接口不兼容的情况包括：接口方法名称不一致和参数类型不一致</a:t>
            </a:r>
          </a:p>
          <a:p>
            <a:pPr>
              <a:lnSpc>
                <a:spcPct val="90000"/>
              </a:lnSpc>
            </a:pPr>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为了提高软件演化的效率，通常使用构件包装器</a:t>
            </a:r>
            <a:r>
              <a:rPr lang="en-US" altLang="zh-CN" sz="2800" dirty="0">
                <a:solidFill>
                  <a:schemeClr val="tx1">
                    <a:lumMod val="65000"/>
                    <a:lumOff val="35000"/>
                  </a:schemeClr>
                </a:solidFill>
                <a:latin typeface="微软雅黑" panose="020B0503020204020204" pitchFamily="34" charset="-122"/>
                <a:ea typeface="微软雅黑" panose="020B0503020204020204" pitchFamily="34" charset="-122"/>
              </a:rPr>
              <a:t>(Component Wrapper)</a:t>
            </a:r>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来修改原构件的接口，包装器对构件接口进行封装以适应新的需求环境</a:t>
            </a:r>
          </a:p>
          <a:p>
            <a:pPr>
              <a:lnSpc>
                <a:spcPct val="90000"/>
              </a:lnSpc>
            </a:pPr>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在构件包装器中，封装了原始构件，同时提供了系统所需要的接口，这样就解决了构件接口不兼容的问题</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3" name="文本占位符 634882"/>
          <p:cNvSpPr>
            <a:spLocks noGrp="1"/>
          </p:cNvSpPr>
          <p:nvPr>
            <p:ph type="body" idx="1"/>
          </p:nvPr>
        </p:nvSpPr>
        <p:spPr>
          <a:xfrm>
            <a:off x="566738" y="1752600"/>
            <a:ext cx="8037512" cy="4484688"/>
          </a:xfrm>
        </p:spPr>
        <p:txBody>
          <a:bodyPr/>
          <a:lstStyle/>
          <a:p>
            <a:pPr>
              <a:lnSpc>
                <a:spcPct val="90000"/>
              </a:lnSpc>
            </a:pP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90000"/>
              </a:lnSpc>
            </a:pP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90000"/>
              </a:lnSpc>
            </a:pP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9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包装器的实质是一个筛选器，将对原构件的请求进行过滤并调用对应的方法</a:t>
            </a:r>
          </a:p>
          <a:p>
            <a:pPr>
              <a:lnSpc>
                <a:spcPct val="9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将一个或多个构件作为复合构件的组成部分，包装允许构件组合和聚集起来完成新的功能</a:t>
            </a:r>
          </a:p>
        </p:txBody>
      </p:sp>
      <p:graphicFrame>
        <p:nvGraphicFramePr>
          <p:cNvPr id="634884" name="对象 634883"/>
          <p:cNvGraphicFramePr/>
          <p:nvPr/>
        </p:nvGraphicFramePr>
        <p:xfrm>
          <a:off x="1007110" y="1059180"/>
          <a:ext cx="7129463" cy="1550988"/>
        </p:xfrm>
        <a:graphic>
          <a:graphicData uri="http://schemas.openxmlformats.org/presentationml/2006/ole">
            <mc:AlternateContent xmlns:mc="http://schemas.openxmlformats.org/markup-compatibility/2006">
              <mc:Choice xmlns:v="urn:schemas-microsoft-com:vml" Requires="v">
                <p:oleObj spid="_x0000_s5137" r:id="rId3" imgW="3267710" imgH="716280" progId="Word.Picture.8">
                  <p:embed/>
                </p:oleObj>
              </mc:Choice>
              <mc:Fallback>
                <p:oleObj r:id="rId3" imgW="3267710" imgH="716280" progId="Word.Picture.8">
                  <p:embed/>
                  <p:pic>
                    <p:nvPicPr>
                      <p:cNvPr id="0" name="图片 3077"/>
                      <p:cNvPicPr/>
                      <p:nvPr/>
                    </p:nvPicPr>
                    <p:blipFill>
                      <a:blip r:embed="rId4"/>
                      <a:stretch>
                        <a:fillRect/>
                      </a:stretch>
                    </p:blipFill>
                    <p:spPr>
                      <a:xfrm>
                        <a:off x="1007110" y="1059180"/>
                        <a:ext cx="7129463" cy="1550988"/>
                      </a:xfrm>
                      <a:prstGeom prst="rect">
                        <a:avLst/>
                      </a:prstGeom>
                      <a:noFill/>
                      <a:ln w="38100">
                        <a:noFill/>
                        <a:miter/>
                      </a:ln>
                    </p:spPr>
                  </p:pic>
                </p:oleObj>
              </mc:Fallback>
            </mc:AlternateContent>
          </a:graphicData>
        </a:graphic>
      </p:graphicFrame>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2043172" y="1981200"/>
            <a:ext cx="5057656" cy="2032000"/>
          </a:xfrm>
          <a:prstGeom prst="roundRect">
            <a:avLst>
              <a:gd name="adj" fmla="val 4167"/>
            </a:avLst>
          </a:prstGeom>
          <a:solidFill>
            <a:srgbClr val="4BA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5"/>
          <p:cNvSpPr/>
          <p:nvPr/>
        </p:nvSpPr>
        <p:spPr bwMode="auto">
          <a:xfrm rot="10800000">
            <a:off x="3543301" y="999624"/>
            <a:ext cx="2057398" cy="18234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6F6F6"/>
          </a:solidFill>
          <a:ln w="19050">
            <a:noFill/>
          </a:ln>
          <a:effectLst/>
        </p:spPr>
        <p:txBody>
          <a:bodyPr vert="horz" wrap="square" lIns="91440" tIns="45720" rIns="91440" bIns="45720" numCol="1" anchor="t" anchorCtr="0" compatLnSpc="1"/>
          <a:lstStyle/>
          <a:p>
            <a:endParaRPr lang="zh-CN" altLang="en-US"/>
          </a:p>
        </p:txBody>
      </p:sp>
      <p:grpSp>
        <p:nvGrpSpPr>
          <p:cNvPr id="19" name="组合 18"/>
          <p:cNvGrpSpPr/>
          <p:nvPr/>
        </p:nvGrpSpPr>
        <p:grpSpPr>
          <a:xfrm>
            <a:off x="3716867" y="1153454"/>
            <a:ext cx="1710267" cy="1515795"/>
            <a:chOff x="3716867" y="1153454"/>
            <a:chExt cx="1710267" cy="1515795"/>
          </a:xfrm>
        </p:grpSpPr>
        <p:sp>
          <p:nvSpPr>
            <p:cNvPr id="6" name="Freeform 5"/>
            <p:cNvSpPr/>
            <p:nvPr/>
          </p:nvSpPr>
          <p:spPr bwMode="auto">
            <a:xfrm rot="10800000">
              <a:off x="3716867" y="1153454"/>
              <a:ext cx="1710267" cy="151579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7" name="Freeform 5"/>
            <p:cNvSpPr/>
            <p:nvPr/>
          </p:nvSpPr>
          <p:spPr bwMode="auto">
            <a:xfrm rot="10800000">
              <a:off x="3948829" y="1359038"/>
              <a:ext cx="1246344" cy="110462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4B7D"/>
            </a:solidFill>
            <a:ln w="15875">
              <a:noFill/>
            </a:ln>
            <a:effectLst>
              <a:innerShdw blurRad="63500" dist="25400" dir="2700000">
                <a:prstClr val="black">
                  <a:alpha val="50000"/>
                </a:prstClr>
              </a:innerShdw>
            </a:effectLst>
          </p:spPr>
          <p:txBody>
            <a:bodyPr vert="horz" wrap="square" lIns="91440" tIns="45720" rIns="91440" bIns="45720" numCol="1" anchor="t" anchorCtr="0" compatLnSpc="1"/>
            <a:lstStyle/>
            <a:p>
              <a:endParaRPr lang="zh-CN" altLang="en-US"/>
            </a:p>
          </p:txBody>
        </p:sp>
      </p:grpSp>
      <p:sp>
        <p:nvSpPr>
          <p:cNvPr id="8" name="文本框 32"/>
          <p:cNvSpPr txBox="1"/>
          <p:nvPr/>
        </p:nvSpPr>
        <p:spPr>
          <a:xfrm>
            <a:off x="2874224" y="3194013"/>
            <a:ext cx="610666" cy="430887"/>
          </a:xfrm>
          <a:prstGeom prst="rect">
            <a:avLst/>
          </a:prstGeom>
          <a:noFill/>
        </p:spPr>
        <p:txBody>
          <a:bodyPr wrap="square" lIns="0" tIns="0" rIns="0" bIns="0" rtlCol="0">
            <a:spAutoFit/>
          </a:bodyPr>
          <a:lstStyle/>
          <a:p>
            <a:pPr algn="ctr"/>
            <a:r>
              <a:rPr lang="en-US" altLang="zh-CN" sz="2800" dirty="0" smtClean="0">
                <a:solidFill>
                  <a:schemeClr val="bg1"/>
                </a:solidFill>
              </a:rPr>
              <a:t>2.2</a:t>
            </a:r>
            <a:endParaRPr lang="zh-CN" altLang="en-US" sz="2800" dirty="0">
              <a:solidFill>
                <a:schemeClr val="bg1"/>
              </a:solidFill>
            </a:endParaRPr>
          </a:p>
        </p:txBody>
      </p:sp>
      <p:sp>
        <p:nvSpPr>
          <p:cNvPr id="15" name="TextBox 42"/>
          <p:cNvSpPr txBox="1"/>
          <p:nvPr/>
        </p:nvSpPr>
        <p:spPr>
          <a:xfrm>
            <a:off x="3298825" y="3103245"/>
            <a:ext cx="2796540" cy="521970"/>
          </a:xfrm>
          <a:prstGeom prst="rect">
            <a:avLst/>
          </a:prstGeom>
          <a:noFill/>
        </p:spPr>
        <p:txBody>
          <a:bodyPr wrap="square" rtlCol="0">
            <a:spAutoFit/>
          </a:bodyPr>
          <a:lstStyle/>
          <a:p>
            <a:pPr algn="ctr" defTabSz="914400" fontAlgn="base">
              <a:spcBef>
                <a:spcPct val="0"/>
              </a:spcBef>
              <a:spcAft>
                <a:spcPct val="0"/>
              </a:spcAft>
              <a:buFont typeface="Arial" panose="020B0604020202020204" pitchFamily="34" charset="0"/>
              <a:buNone/>
            </a:pPr>
            <a:r>
              <a:rPr lang="zh-CN" altLang="en-US" sz="2800" b="1" spc="300" dirty="0">
                <a:solidFill>
                  <a:schemeClr val="bg1"/>
                </a:solidFill>
                <a:latin typeface="微软雅黑" panose="020B0503020204020204" pitchFamily="34" charset="-122"/>
                <a:ea typeface="微软雅黑" panose="020B0503020204020204" pitchFamily="34" charset="-122"/>
              </a:rPr>
              <a:t>软件动态演化</a:t>
            </a:r>
          </a:p>
        </p:txBody>
      </p:sp>
      <p:sp>
        <p:nvSpPr>
          <p:cNvPr id="11" name="Freeform 10"/>
          <p:cNvSpPr>
            <a:spLocks noEditPoints="1"/>
          </p:cNvSpPr>
          <p:nvPr/>
        </p:nvSpPr>
        <p:spPr bwMode="auto">
          <a:xfrm>
            <a:off x="4269415" y="1603746"/>
            <a:ext cx="573966" cy="615209"/>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chemeClr val="bg1"/>
          </a:solidFill>
          <a:ln>
            <a:noFill/>
          </a:ln>
        </p:spPr>
        <p:txBody>
          <a:bodyPr vert="horz" wrap="square" lIns="68553" tIns="34277" rIns="68553" bIns="34277" numCol="1" anchor="t" anchorCtr="0" compatLnSpc="1"/>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33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750" fill="hold"/>
                                        <p:tgtEl>
                                          <p:spTgt spid="17"/>
                                        </p:tgtEl>
                                        <p:attrNameLst>
                                          <p:attrName>ppt_x</p:attrName>
                                        </p:attrNameLst>
                                      </p:cBhvr>
                                      <p:tavLst>
                                        <p:tav tm="0">
                                          <p:val>
                                            <p:strVal val="#ppt_x"/>
                                          </p:val>
                                        </p:tav>
                                        <p:tav tm="100000">
                                          <p:val>
                                            <p:strVal val="#ppt_x"/>
                                          </p:val>
                                        </p:tav>
                                      </p:tavLst>
                                    </p:anim>
                                    <p:anim calcmode="lin" valueType="num">
                                      <p:cBhvr additive="base">
                                        <p:cTn id="8" dur="75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1" decel="5330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750" fill="hold"/>
                                        <p:tgtEl>
                                          <p:spTgt spid="19"/>
                                        </p:tgtEl>
                                        <p:attrNameLst>
                                          <p:attrName>ppt_w</p:attrName>
                                        </p:attrNameLst>
                                      </p:cBhvr>
                                      <p:tavLst>
                                        <p:tav tm="0">
                                          <p:val>
                                            <p:fltVal val="0"/>
                                          </p:val>
                                        </p:tav>
                                        <p:tav tm="100000">
                                          <p:val>
                                            <p:strVal val="#ppt_w"/>
                                          </p:val>
                                        </p:tav>
                                      </p:tavLst>
                                    </p:anim>
                                    <p:anim calcmode="lin" valueType="num">
                                      <p:cBhvr>
                                        <p:cTn id="17" dur="750" fill="hold"/>
                                        <p:tgtEl>
                                          <p:spTgt spid="19"/>
                                        </p:tgtEl>
                                        <p:attrNameLst>
                                          <p:attrName>ppt_h</p:attrName>
                                        </p:attrNameLst>
                                      </p:cBhvr>
                                      <p:tavLst>
                                        <p:tav tm="0">
                                          <p:val>
                                            <p:fltVal val="0"/>
                                          </p:val>
                                        </p:tav>
                                        <p:tav tm="100000">
                                          <p:val>
                                            <p:strVal val="#ppt_h"/>
                                          </p:val>
                                        </p:tav>
                                      </p:tavLst>
                                    </p:anim>
                                    <p:animEffect transition="in" filter="fade">
                                      <p:cBhvr>
                                        <p:cTn id="18" dur="750"/>
                                        <p:tgtEl>
                                          <p:spTgt spid="19"/>
                                        </p:tgtEl>
                                      </p:cBhvr>
                                    </p:animEffect>
                                  </p:childTnLst>
                                </p:cTn>
                              </p:par>
                            </p:childTnLst>
                          </p:cTn>
                        </p:par>
                        <p:par>
                          <p:cTn id="19" fill="hold">
                            <p:stCondLst>
                              <p:cond delay="2000"/>
                            </p:stCondLst>
                            <p:childTnLst>
                              <p:par>
                                <p:cTn id="20" presetID="31" presetClass="entr" presetSubtype="0"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 calcmode="lin" valueType="num">
                                      <p:cBhvr>
                                        <p:cTn id="24" dur="500" fill="hold"/>
                                        <p:tgtEl>
                                          <p:spTgt spid="11"/>
                                        </p:tgtEl>
                                        <p:attrNameLst>
                                          <p:attrName>style.rotation</p:attrName>
                                        </p:attrNameLst>
                                      </p:cBhvr>
                                      <p:tavLst>
                                        <p:tav tm="0">
                                          <p:val>
                                            <p:fltVal val="90"/>
                                          </p:val>
                                        </p:tav>
                                        <p:tav tm="100000">
                                          <p:val>
                                            <p:fltVal val="0"/>
                                          </p:val>
                                        </p:tav>
                                      </p:tavLst>
                                    </p:anim>
                                    <p:animEffect transition="in" filter="fade">
                                      <p:cBhvr>
                                        <p:cTn id="25" dur="500"/>
                                        <p:tgtEl>
                                          <p:spTgt spid="11"/>
                                        </p:tgtEl>
                                      </p:cBhvr>
                                    </p:animEffect>
                                  </p:childTnLst>
                                </p:cTn>
                              </p:par>
                              <p:par>
                                <p:cTn id="26" presetID="8" presetClass="emph" presetSubtype="0" fill="hold" grpId="1" nodeType="withEffect">
                                  <p:stCondLst>
                                    <p:cond delay="0"/>
                                  </p:stCondLst>
                                  <p:childTnLst>
                                    <p:animRot by="21600000">
                                      <p:cBhvr>
                                        <p:cTn id="27" dur="500" fill="hold"/>
                                        <p:tgtEl>
                                          <p:spTgt spid="11"/>
                                        </p:tgtEl>
                                        <p:attrNameLst>
                                          <p:attrName>r</p:attrName>
                                        </p:attrNameLst>
                                      </p:cBhvr>
                                    </p:animRo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par>
                          <p:cTn id="34" fill="hold">
                            <p:stCondLst>
                              <p:cond delay="3000"/>
                            </p:stCondLst>
                            <p:childTnLst>
                              <p:par>
                                <p:cTn id="35" presetID="41" presetClass="entr" presetSubtype="0" fill="hold" grpId="0" nodeType="afterEffect">
                                  <p:stCondLst>
                                    <p:cond delay="0"/>
                                  </p:stCondLst>
                                  <p:iterate type="lt">
                                    <p:tmPct val="10000"/>
                                  </p:iterate>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15"/>
                                        </p:tgtEl>
                                        <p:attrNameLst>
                                          <p:attrName>ppt_y</p:attrName>
                                        </p:attrNameLst>
                                      </p:cBhvr>
                                      <p:tavLst>
                                        <p:tav tm="0">
                                          <p:val>
                                            <p:strVal val="#ppt_y"/>
                                          </p:val>
                                        </p:tav>
                                        <p:tav tm="100000">
                                          <p:val>
                                            <p:strVal val="#ppt_y"/>
                                          </p:val>
                                        </p:tav>
                                      </p:tavLst>
                                    </p:anim>
                                    <p:anim calcmode="lin" valueType="num">
                                      <p:cBhvr>
                                        <p:cTn id="3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8" grpId="0"/>
      <p:bldP spid="15" grpId="0"/>
      <p:bldP spid="11" grpId="0" animBg="1"/>
      <p:bldP spid="11"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软件动态演化</a:t>
            </a:r>
          </a:p>
        </p:txBody>
      </p:sp>
      <p:sp>
        <p:nvSpPr>
          <p:cNvPr id="7" name="Oval 65"/>
          <p:cNvSpPr>
            <a:spLocks noChangeArrowheads="1"/>
          </p:cNvSpPr>
          <p:nvPr/>
        </p:nvSpPr>
        <p:spPr bwMode="auto">
          <a:xfrm rot="10403702" flipV="1">
            <a:off x="1055356" y="4417064"/>
            <a:ext cx="1708651" cy="232506"/>
          </a:xfrm>
          <a:prstGeom prst="ellipse">
            <a:avLst/>
          </a:prstGeom>
          <a:gradFill rotWithShape="1">
            <a:gsLst>
              <a:gs pos="0">
                <a:schemeClr val="tx1">
                  <a:lumMod val="50000"/>
                  <a:lumOff val="50000"/>
                </a:schemeClr>
              </a:gs>
              <a:gs pos="100000">
                <a:srgbClr val="EEECE1">
                  <a:alpha val="0"/>
                </a:srgbClr>
              </a:gs>
            </a:gsLst>
            <a:path path="shape">
              <a:fillToRect l="50000" t="50000" r="50000" b="50000"/>
            </a:path>
          </a:gradFill>
          <a:ln w="9525">
            <a:noFill/>
            <a:round/>
          </a:ln>
          <a:effectLst/>
        </p:spPr>
        <p:txBody>
          <a:bodyPr wrap="none" lIns="86404" tIns="43202" rIns="86404" bIns="43202" anchor="ctr"/>
          <a:lstStyle/>
          <a:p>
            <a:pPr>
              <a:defRPr/>
            </a:pPr>
            <a:endParaRPr lang="zh-CN" altLang="en-US" kern="0" dirty="0">
              <a:solidFill>
                <a:sysClr val="windowText" lastClr="000000"/>
              </a:solidFill>
              <a:latin typeface="微软雅黑" panose="020B0503020204020204" pitchFamily="34" charset="-122"/>
              <a:ea typeface="微软雅黑" panose="020B0503020204020204" pitchFamily="34" charset="-122"/>
            </a:endParaRPr>
          </a:p>
        </p:txBody>
      </p:sp>
      <p:sp>
        <p:nvSpPr>
          <p:cNvPr id="11" name="Oval 65"/>
          <p:cNvSpPr>
            <a:spLocks noChangeArrowheads="1"/>
          </p:cNvSpPr>
          <p:nvPr/>
        </p:nvSpPr>
        <p:spPr bwMode="auto">
          <a:xfrm rot="10403702" flipV="1">
            <a:off x="2049944" y="3055027"/>
            <a:ext cx="1708651" cy="232506"/>
          </a:xfrm>
          <a:prstGeom prst="ellipse">
            <a:avLst/>
          </a:prstGeom>
          <a:gradFill rotWithShape="1">
            <a:gsLst>
              <a:gs pos="0">
                <a:schemeClr val="tx1">
                  <a:lumMod val="50000"/>
                  <a:lumOff val="50000"/>
                </a:schemeClr>
              </a:gs>
              <a:gs pos="100000">
                <a:srgbClr val="EEECE1">
                  <a:alpha val="0"/>
                </a:srgbClr>
              </a:gs>
            </a:gsLst>
            <a:path path="shape">
              <a:fillToRect l="50000" t="50000" r="50000" b="50000"/>
            </a:path>
          </a:gradFill>
          <a:ln w="9525">
            <a:noFill/>
            <a:round/>
          </a:ln>
          <a:effectLst/>
        </p:spPr>
        <p:txBody>
          <a:bodyPr wrap="none" lIns="86404" tIns="43202" rIns="86404" bIns="43202" anchor="ctr"/>
          <a:lstStyle/>
          <a:p>
            <a:pPr>
              <a:defRPr/>
            </a:pPr>
            <a:endParaRPr lang="zh-CN" altLang="en-US" kern="0" dirty="0">
              <a:solidFill>
                <a:sysClr val="windowText" lastClr="000000"/>
              </a:solidFill>
              <a:latin typeface="微软雅黑" panose="020B0503020204020204" pitchFamily="34" charset="-122"/>
              <a:ea typeface="微软雅黑" panose="020B0503020204020204" pitchFamily="34" charset="-122"/>
            </a:endParaRPr>
          </a:p>
        </p:txBody>
      </p:sp>
      <p:sp>
        <p:nvSpPr>
          <p:cNvPr id="12" name="Oval 65"/>
          <p:cNvSpPr>
            <a:spLocks noChangeArrowheads="1"/>
          </p:cNvSpPr>
          <p:nvPr/>
        </p:nvSpPr>
        <p:spPr bwMode="auto">
          <a:xfrm rot="10403702" flipV="1">
            <a:off x="1053856" y="1851995"/>
            <a:ext cx="1708651" cy="234006"/>
          </a:xfrm>
          <a:prstGeom prst="ellipse">
            <a:avLst/>
          </a:prstGeom>
          <a:gradFill rotWithShape="1">
            <a:gsLst>
              <a:gs pos="0">
                <a:schemeClr val="tx1">
                  <a:lumMod val="50000"/>
                  <a:lumOff val="50000"/>
                </a:schemeClr>
              </a:gs>
              <a:gs pos="100000">
                <a:srgbClr val="EEECE1">
                  <a:alpha val="0"/>
                </a:srgbClr>
              </a:gs>
            </a:gsLst>
            <a:path path="shape">
              <a:fillToRect l="50000" t="50000" r="50000" b="50000"/>
            </a:path>
          </a:gradFill>
          <a:ln w="9525">
            <a:noFill/>
            <a:round/>
          </a:ln>
          <a:effectLst/>
        </p:spPr>
        <p:txBody>
          <a:bodyPr wrap="none" lIns="86404" tIns="43202" rIns="86404" bIns="43202" anchor="ctr"/>
          <a:lstStyle/>
          <a:p>
            <a:pPr>
              <a:defRPr/>
            </a:pPr>
            <a:endParaRPr lang="zh-CN" altLang="en-US"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322380" y="1205477"/>
            <a:ext cx="1041092" cy="798021"/>
            <a:chOff x="1033592" y="1118393"/>
            <a:chExt cx="1041092" cy="798021"/>
          </a:xfrm>
        </p:grpSpPr>
        <p:sp>
          <p:nvSpPr>
            <p:cNvPr id="14" name="任意多边形 13"/>
            <p:cNvSpPr/>
            <p:nvPr/>
          </p:nvSpPr>
          <p:spPr>
            <a:xfrm flipH="1">
              <a:off x="1033592" y="1118394"/>
              <a:ext cx="268524" cy="651018"/>
            </a:xfrm>
            <a:custGeom>
              <a:avLst/>
              <a:gdLst>
                <a:gd name="connsiteX0" fmla="*/ 0 w 284480"/>
                <a:gd name="connsiteY0" fmla="*/ 0 h 619760"/>
                <a:gd name="connsiteX1" fmla="*/ 284480 w 284480"/>
                <a:gd name="connsiteY1" fmla="*/ 619760 h 619760"/>
                <a:gd name="connsiteX2" fmla="*/ 81280 w 284480"/>
                <a:gd name="connsiteY2" fmla="*/ 619760 h 619760"/>
                <a:gd name="connsiteX3" fmla="*/ 0 w 284480"/>
                <a:gd name="connsiteY3" fmla="*/ 0 h 619760"/>
              </a:gdLst>
              <a:ahLst/>
              <a:cxnLst>
                <a:cxn ang="0">
                  <a:pos x="connsiteX0" y="connsiteY0"/>
                </a:cxn>
                <a:cxn ang="0">
                  <a:pos x="connsiteX1" y="connsiteY1"/>
                </a:cxn>
                <a:cxn ang="0">
                  <a:pos x="connsiteX2" y="connsiteY2"/>
                </a:cxn>
                <a:cxn ang="0">
                  <a:pos x="connsiteX3" y="connsiteY3"/>
                </a:cxn>
              </a:cxnLst>
              <a:rect l="l" t="t" r="r" b="b"/>
              <a:pathLst>
                <a:path w="284480" h="619760">
                  <a:moveTo>
                    <a:pt x="0" y="0"/>
                  </a:moveTo>
                  <a:lnTo>
                    <a:pt x="284480" y="619760"/>
                  </a:lnTo>
                  <a:lnTo>
                    <a:pt x="81280" y="619760"/>
                  </a:lnTo>
                  <a:lnTo>
                    <a:pt x="0" y="0"/>
                  </a:lnTo>
                  <a:close/>
                </a:path>
              </a:pathLst>
            </a:custGeom>
            <a:solidFill>
              <a:schemeClr val="bg1">
                <a:lumMod val="85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endParaRPr lang="zh-CN" altLang="en-US" dirty="0">
                <a:latin typeface="微软雅黑" panose="020B0503020204020204" pitchFamily="34" charset="-122"/>
                <a:ea typeface="微软雅黑" panose="020B0503020204020204" pitchFamily="34" charset="-122"/>
              </a:endParaRPr>
            </a:p>
          </p:txBody>
        </p:sp>
        <p:sp>
          <p:nvSpPr>
            <p:cNvPr id="15" name="任意多边形 14"/>
            <p:cNvSpPr/>
            <p:nvPr/>
          </p:nvSpPr>
          <p:spPr>
            <a:xfrm flipH="1">
              <a:off x="1162603" y="1118393"/>
              <a:ext cx="912081" cy="798021"/>
            </a:xfrm>
            <a:custGeom>
              <a:avLst/>
              <a:gdLst>
                <a:gd name="connsiteX0" fmla="*/ 172720 w 965200"/>
                <a:gd name="connsiteY0" fmla="*/ 20320 h 843280"/>
                <a:gd name="connsiteX1" fmla="*/ 822960 w 965200"/>
                <a:gd name="connsiteY1" fmla="*/ 0 h 843280"/>
                <a:gd name="connsiteX2" fmla="*/ 965200 w 965200"/>
                <a:gd name="connsiteY2" fmla="*/ 843280 h 843280"/>
                <a:gd name="connsiteX3" fmla="*/ 0 w 965200"/>
                <a:gd name="connsiteY3" fmla="*/ 731520 h 843280"/>
                <a:gd name="connsiteX4" fmla="*/ 172720 w 965200"/>
                <a:gd name="connsiteY4" fmla="*/ 20320 h 843280"/>
                <a:gd name="connsiteX0-1" fmla="*/ 187008 w 965200"/>
                <a:gd name="connsiteY0-2" fmla="*/ 6032 h 843280"/>
                <a:gd name="connsiteX1-3" fmla="*/ 822960 w 965200"/>
                <a:gd name="connsiteY1-4" fmla="*/ 0 h 843280"/>
                <a:gd name="connsiteX2-5" fmla="*/ 965200 w 965200"/>
                <a:gd name="connsiteY2-6" fmla="*/ 843280 h 843280"/>
                <a:gd name="connsiteX3-7" fmla="*/ 0 w 965200"/>
                <a:gd name="connsiteY3-8" fmla="*/ 731520 h 843280"/>
                <a:gd name="connsiteX4-9" fmla="*/ 187008 w 965200"/>
                <a:gd name="connsiteY4-10" fmla="*/ 6032 h 8432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200" h="843280">
                  <a:moveTo>
                    <a:pt x="187008" y="6032"/>
                  </a:moveTo>
                  <a:lnTo>
                    <a:pt x="822960" y="0"/>
                  </a:lnTo>
                  <a:lnTo>
                    <a:pt x="965200" y="843280"/>
                  </a:lnTo>
                  <a:lnTo>
                    <a:pt x="0" y="731520"/>
                  </a:lnTo>
                  <a:lnTo>
                    <a:pt x="187008" y="6032"/>
                  </a:lnTo>
                  <a:close/>
                </a:path>
              </a:pathLst>
            </a:custGeom>
            <a:gradFill>
              <a:gsLst>
                <a:gs pos="0">
                  <a:srgbClr val="004B7D"/>
                </a:gs>
                <a:gs pos="100000">
                  <a:srgbClr val="4BAF31"/>
                </a:gs>
              </a:gsLst>
              <a:lin ang="16200000" scaled="1"/>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r>
                <a:rPr lang="en-US" altLang="zh-CN" sz="3000" dirty="0">
                  <a:solidFill>
                    <a:schemeClr val="bg1"/>
                  </a:solidFill>
                  <a:latin typeface="微软雅黑" panose="020B0503020204020204" pitchFamily="34" charset="-122"/>
                  <a:ea typeface="微软雅黑" panose="020B0503020204020204" pitchFamily="34" charset="-122"/>
                </a:rPr>
                <a:t>A</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pSp>
      <p:sp>
        <p:nvSpPr>
          <p:cNvPr id="16" name="矩形 15"/>
          <p:cNvSpPr/>
          <p:nvPr/>
        </p:nvSpPr>
        <p:spPr>
          <a:xfrm>
            <a:off x="2474482" y="1074658"/>
            <a:ext cx="4969850" cy="645160"/>
          </a:xfrm>
          <a:prstGeom prst="rect">
            <a:avLst/>
          </a:prstGeom>
        </p:spPr>
        <p:txBody>
          <a:bodyPr wrap="square" lIns="86404" tIns="43202" rIns="86404" bIns="43202">
            <a:spAutoFit/>
          </a:bodyPr>
          <a:lstStyle/>
          <a:p>
            <a:pPr lvl="0">
              <a:lnSpc>
                <a:spcPct val="130000"/>
              </a:lnSpc>
              <a:defRPr/>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软件动态演化技术是满足之一变化的有效手段，也是自治计算、网格计算、自适应软件和网构软件的核心技术。</a:t>
            </a:r>
          </a:p>
        </p:txBody>
      </p:sp>
      <p:grpSp>
        <p:nvGrpSpPr>
          <p:cNvPr id="17" name="组合 16"/>
          <p:cNvGrpSpPr/>
          <p:nvPr/>
        </p:nvGrpSpPr>
        <p:grpSpPr>
          <a:xfrm>
            <a:off x="2318468" y="2410010"/>
            <a:ext cx="1041092" cy="796522"/>
            <a:chOff x="2029680" y="2322926"/>
            <a:chExt cx="1041092" cy="796522"/>
          </a:xfrm>
        </p:grpSpPr>
        <p:sp>
          <p:nvSpPr>
            <p:cNvPr id="18" name="任意多边形 17"/>
            <p:cNvSpPr/>
            <p:nvPr/>
          </p:nvSpPr>
          <p:spPr>
            <a:xfrm flipH="1">
              <a:off x="2029680" y="2322927"/>
              <a:ext cx="268524" cy="649517"/>
            </a:xfrm>
            <a:custGeom>
              <a:avLst/>
              <a:gdLst>
                <a:gd name="connsiteX0" fmla="*/ 0 w 284480"/>
                <a:gd name="connsiteY0" fmla="*/ 0 h 619760"/>
                <a:gd name="connsiteX1" fmla="*/ 284480 w 284480"/>
                <a:gd name="connsiteY1" fmla="*/ 619760 h 619760"/>
                <a:gd name="connsiteX2" fmla="*/ 81280 w 284480"/>
                <a:gd name="connsiteY2" fmla="*/ 619760 h 619760"/>
                <a:gd name="connsiteX3" fmla="*/ 0 w 284480"/>
                <a:gd name="connsiteY3" fmla="*/ 0 h 619760"/>
              </a:gdLst>
              <a:ahLst/>
              <a:cxnLst>
                <a:cxn ang="0">
                  <a:pos x="connsiteX0" y="connsiteY0"/>
                </a:cxn>
                <a:cxn ang="0">
                  <a:pos x="connsiteX1" y="connsiteY1"/>
                </a:cxn>
                <a:cxn ang="0">
                  <a:pos x="connsiteX2" y="connsiteY2"/>
                </a:cxn>
                <a:cxn ang="0">
                  <a:pos x="connsiteX3" y="connsiteY3"/>
                </a:cxn>
              </a:cxnLst>
              <a:rect l="l" t="t" r="r" b="b"/>
              <a:pathLst>
                <a:path w="284480" h="619760">
                  <a:moveTo>
                    <a:pt x="0" y="0"/>
                  </a:moveTo>
                  <a:lnTo>
                    <a:pt x="284480" y="619760"/>
                  </a:lnTo>
                  <a:lnTo>
                    <a:pt x="81280" y="619760"/>
                  </a:lnTo>
                  <a:lnTo>
                    <a:pt x="0" y="0"/>
                  </a:lnTo>
                  <a:close/>
                </a:path>
              </a:pathLst>
            </a:custGeom>
            <a:solidFill>
              <a:schemeClr val="bg1">
                <a:lumMod val="85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endParaRPr lang="zh-CN" altLang="en-US" dirty="0">
                <a:latin typeface="微软雅黑" panose="020B0503020204020204" pitchFamily="34" charset="-122"/>
                <a:ea typeface="微软雅黑" panose="020B0503020204020204" pitchFamily="34" charset="-122"/>
              </a:endParaRPr>
            </a:p>
          </p:txBody>
        </p:sp>
        <p:sp>
          <p:nvSpPr>
            <p:cNvPr id="19" name="任意多边形 18"/>
            <p:cNvSpPr/>
            <p:nvPr/>
          </p:nvSpPr>
          <p:spPr>
            <a:xfrm flipH="1">
              <a:off x="2158691" y="2322926"/>
              <a:ext cx="912081" cy="796522"/>
            </a:xfrm>
            <a:custGeom>
              <a:avLst/>
              <a:gdLst>
                <a:gd name="connsiteX0" fmla="*/ 172720 w 965200"/>
                <a:gd name="connsiteY0" fmla="*/ 20320 h 843280"/>
                <a:gd name="connsiteX1" fmla="*/ 822960 w 965200"/>
                <a:gd name="connsiteY1" fmla="*/ 0 h 843280"/>
                <a:gd name="connsiteX2" fmla="*/ 965200 w 965200"/>
                <a:gd name="connsiteY2" fmla="*/ 843280 h 843280"/>
                <a:gd name="connsiteX3" fmla="*/ 0 w 965200"/>
                <a:gd name="connsiteY3" fmla="*/ 731520 h 843280"/>
                <a:gd name="connsiteX4" fmla="*/ 172720 w 965200"/>
                <a:gd name="connsiteY4" fmla="*/ 20320 h 843280"/>
                <a:gd name="connsiteX0-1" fmla="*/ 187008 w 965200"/>
                <a:gd name="connsiteY0-2" fmla="*/ 6032 h 843280"/>
                <a:gd name="connsiteX1-3" fmla="*/ 822960 w 965200"/>
                <a:gd name="connsiteY1-4" fmla="*/ 0 h 843280"/>
                <a:gd name="connsiteX2-5" fmla="*/ 965200 w 965200"/>
                <a:gd name="connsiteY2-6" fmla="*/ 843280 h 843280"/>
                <a:gd name="connsiteX3-7" fmla="*/ 0 w 965200"/>
                <a:gd name="connsiteY3-8" fmla="*/ 731520 h 843280"/>
                <a:gd name="connsiteX4-9" fmla="*/ 187008 w 965200"/>
                <a:gd name="connsiteY4-10" fmla="*/ 6032 h 8432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200" h="843280">
                  <a:moveTo>
                    <a:pt x="187008" y="6032"/>
                  </a:moveTo>
                  <a:lnTo>
                    <a:pt x="822960" y="0"/>
                  </a:lnTo>
                  <a:lnTo>
                    <a:pt x="965200" y="843280"/>
                  </a:lnTo>
                  <a:lnTo>
                    <a:pt x="0" y="731520"/>
                  </a:lnTo>
                  <a:lnTo>
                    <a:pt x="187008" y="6032"/>
                  </a:lnTo>
                  <a:close/>
                </a:path>
              </a:pathLst>
            </a:custGeom>
            <a:gradFill>
              <a:gsLst>
                <a:gs pos="0">
                  <a:srgbClr val="004B7D"/>
                </a:gs>
                <a:gs pos="100000">
                  <a:srgbClr val="4BAF31"/>
                </a:gs>
              </a:gsLst>
              <a:lin ang="16200000" scaled="1"/>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r>
                <a:rPr lang="en-US" altLang="zh-CN" sz="3000" dirty="0">
                  <a:solidFill>
                    <a:schemeClr val="bg1"/>
                  </a:solidFill>
                  <a:latin typeface="微软雅黑" panose="020B0503020204020204" pitchFamily="34" charset="-122"/>
                  <a:ea typeface="微软雅黑" panose="020B0503020204020204" pitchFamily="34" charset="-122"/>
                </a:rPr>
                <a:t>B</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pSp>
      <p:sp>
        <p:nvSpPr>
          <p:cNvPr id="20" name="矩形 19"/>
          <p:cNvSpPr/>
          <p:nvPr/>
        </p:nvSpPr>
        <p:spPr>
          <a:xfrm>
            <a:off x="3470570" y="2206279"/>
            <a:ext cx="4969850" cy="1204595"/>
          </a:xfrm>
          <a:prstGeom prst="rect">
            <a:avLst/>
          </a:prstGeom>
        </p:spPr>
        <p:txBody>
          <a:bodyPr wrap="square" lIns="86404" tIns="43202" rIns="86404" bIns="43202">
            <a:spAutoFit/>
          </a:bodyPr>
          <a:lstStyle/>
          <a:p>
            <a:pPr lvl="0">
              <a:lnSpc>
                <a:spcPct val="130000"/>
              </a:lnSpc>
              <a:defRPr/>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软件是对现实世界中问题空间与解空间的具体描述，是客观事物的一种反映。现实世界是不断演化的，软件系统面对的问题域是不停地发展变化的，使得用户期望软件系统能够很好地适应外界要求的变化。因此，演化性是软件的基本属性。</a:t>
            </a:r>
          </a:p>
        </p:txBody>
      </p:sp>
      <p:grpSp>
        <p:nvGrpSpPr>
          <p:cNvPr id="21" name="组合 20"/>
          <p:cNvGrpSpPr/>
          <p:nvPr/>
        </p:nvGrpSpPr>
        <p:grpSpPr>
          <a:xfrm>
            <a:off x="1322380" y="3764546"/>
            <a:ext cx="1041092" cy="796522"/>
            <a:chOff x="1033592" y="3677462"/>
            <a:chExt cx="1041092" cy="796522"/>
          </a:xfrm>
        </p:grpSpPr>
        <p:sp>
          <p:nvSpPr>
            <p:cNvPr id="22" name="任意多边形 21"/>
            <p:cNvSpPr/>
            <p:nvPr/>
          </p:nvSpPr>
          <p:spPr>
            <a:xfrm flipH="1">
              <a:off x="1033592" y="3677462"/>
              <a:ext cx="268524" cy="649518"/>
            </a:xfrm>
            <a:custGeom>
              <a:avLst/>
              <a:gdLst>
                <a:gd name="connsiteX0" fmla="*/ 0 w 284480"/>
                <a:gd name="connsiteY0" fmla="*/ 0 h 619760"/>
                <a:gd name="connsiteX1" fmla="*/ 284480 w 284480"/>
                <a:gd name="connsiteY1" fmla="*/ 619760 h 619760"/>
                <a:gd name="connsiteX2" fmla="*/ 81280 w 284480"/>
                <a:gd name="connsiteY2" fmla="*/ 619760 h 619760"/>
                <a:gd name="connsiteX3" fmla="*/ 0 w 284480"/>
                <a:gd name="connsiteY3" fmla="*/ 0 h 619760"/>
              </a:gdLst>
              <a:ahLst/>
              <a:cxnLst>
                <a:cxn ang="0">
                  <a:pos x="connsiteX0" y="connsiteY0"/>
                </a:cxn>
                <a:cxn ang="0">
                  <a:pos x="connsiteX1" y="connsiteY1"/>
                </a:cxn>
                <a:cxn ang="0">
                  <a:pos x="connsiteX2" y="connsiteY2"/>
                </a:cxn>
                <a:cxn ang="0">
                  <a:pos x="connsiteX3" y="connsiteY3"/>
                </a:cxn>
              </a:cxnLst>
              <a:rect l="l" t="t" r="r" b="b"/>
              <a:pathLst>
                <a:path w="284480" h="619760">
                  <a:moveTo>
                    <a:pt x="0" y="0"/>
                  </a:moveTo>
                  <a:lnTo>
                    <a:pt x="284480" y="619760"/>
                  </a:lnTo>
                  <a:lnTo>
                    <a:pt x="81280" y="619760"/>
                  </a:lnTo>
                  <a:lnTo>
                    <a:pt x="0" y="0"/>
                  </a:lnTo>
                  <a:close/>
                </a:path>
              </a:pathLst>
            </a:custGeom>
            <a:solidFill>
              <a:schemeClr val="bg1">
                <a:lumMod val="85000"/>
              </a:schemeClr>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endParaRPr lang="zh-CN" altLang="en-US" dirty="0">
                <a:latin typeface="微软雅黑" panose="020B0503020204020204" pitchFamily="34" charset="-122"/>
                <a:ea typeface="微软雅黑" panose="020B0503020204020204" pitchFamily="34" charset="-122"/>
              </a:endParaRPr>
            </a:p>
          </p:txBody>
        </p:sp>
        <p:sp>
          <p:nvSpPr>
            <p:cNvPr id="23" name="任意多边形 22"/>
            <p:cNvSpPr/>
            <p:nvPr/>
          </p:nvSpPr>
          <p:spPr>
            <a:xfrm flipH="1">
              <a:off x="1162603" y="3677462"/>
              <a:ext cx="912081" cy="796522"/>
            </a:xfrm>
            <a:custGeom>
              <a:avLst/>
              <a:gdLst>
                <a:gd name="connsiteX0" fmla="*/ 172720 w 965200"/>
                <a:gd name="connsiteY0" fmla="*/ 20320 h 843280"/>
                <a:gd name="connsiteX1" fmla="*/ 822960 w 965200"/>
                <a:gd name="connsiteY1" fmla="*/ 0 h 843280"/>
                <a:gd name="connsiteX2" fmla="*/ 965200 w 965200"/>
                <a:gd name="connsiteY2" fmla="*/ 843280 h 843280"/>
                <a:gd name="connsiteX3" fmla="*/ 0 w 965200"/>
                <a:gd name="connsiteY3" fmla="*/ 731520 h 843280"/>
                <a:gd name="connsiteX4" fmla="*/ 172720 w 965200"/>
                <a:gd name="connsiteY4" fmla="*/ 20320 h 843280"/>
                <a:gd name="connsiteX0-1" fmla="*/ 187008 w 965200"/>
                <a:gd name="connsiteY0-2" fmla="*/ 6032 h 843280"/>
                <a:gd name="connsiteX1-3" fmla="*/ 822960 w 965200"/>
                <a:gd name="connsiteY1-4" fmla="*/ 0 h 843280"/>
                <a:gd name="connsiteX2-5" fmla="*/ 965200 w 965200"/>
                <a:gd name="connsiteY2-6" fmla="*/ 843280 h 843280"/>
                <a:gd name="connsiteX3-7" fmla="*/ 0 w 965200"/>
                <a:gd name="connsiteY3-8" fmla="*/ 731520 h 843280"/>
                <a:gd name="connsiteX4-9" fmla="*/ 187008 w 965200"/>
                <a:gd name="connsiteY4-10" fmla="*/ 6032 h 8432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200" h="843280">
                  <a:moveTo>
                    <a:pt x="187008" y="6032"/>
                  </a:moveTo>
                  <a:lnTo>
                    <a:pt x="822960" y="0"/>
                  </a:lnTo>
                  <a:lnTo>
                    <a:pt x="965200" y="843280"/>
                  </a:lnTo>
                  <a:lnTo>
                    <a:pt x="0" y="731520"/>
                  </a:lnTo>
                  <a:lnTo>
                    <a:pt x="187008" y="6032"/>
                  </a:lnTo>
                  <a:close/>
                </a:path>
              </a:pathLst>
            </a:custGeom>
            <a:gradFill>
              <a:gsLst>
                <a:gs pos="0">
                  <a:srgbClr val="004B7D"/>
                </a:gs>
                <a:gs pos="100000">
                  <a:srgbClr val="4BAF31"/>
                </a:gs>
              </a:gsLst>
              <a:lin ang="16200000" scaled="1"/>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86404" tIns="43202" rIns="86404" bIns="43202" anchor="ctr"/>
            <a:lstStyle/>
            <a:p>
              <a:pPr algn="ctr">
                <a:defRPr/>
              </a:pPr>
              <a:r>
                <a:rPr lang="en-US" altLang="zh-CN" sz="3000" dirty="0">
                  <a:solidFill>
                    <a:schemeClr val="bg1"/>
                  </a:solidFill>
                  <a:latin typeface="微软雅黑" panose="020B0503020204020204" pitchFamily="34" charset="-122"/>
                  <a:ea typeface="微软雅黑" panose="020B0503020204020204" pitchFamily="34" charset="-122"/>
                </a:rPr>
                <a:t>C</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pSp>
      <p:sp>
        <p:nvSpPr>
          <p:cNvPr id="24" name="矩形 23"/>
          <p:cNvSpPr/>
          <p:nvPr/>
        </p:nvSpPr>
        <p:spPr>
          <a:xfrm>
            <a:off x="2474482" y="3703050"/>
            <a:ext cx="4969850" cy="924560"/>
          </a:xfrm>
          <a:prstGeom prst="rect">
            <a:avLst/>
          </a:prstGeom>
        </p:spPr>
        <p:txBody>
          <a:bodyPr wrap="square" lIns="86404" tIns="43202" rIns="86404" bIns="43202">
            <a:spAutoFit/>
          </a:bodyPr>
          <a:lstStyle/>
          <a:p>
            <a:pPr lvl="0">
              <a:lnSpc>
                <a:spcPct val="130000"/>
              </a:lnSpc>
              <a:defRPr/>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在Internet成为主流运行环境之后，网络的开放性和动态性使得客户端需求与硬件资源更加频繁地变化，导致软件的演化性和复杂性进一步增强。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625"/>
                            </p:stCondLst>
                            <p:childTnLst>
                              <p:par>
                                <p:cTn id="22" presetID="47"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10" presetClass="entr" presetSubtype="0" fill="hold" grpId="0" nodeType="withEffect">
                                  <p:stCondLst>
                                    <p:cond delay="5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par>
                          <p:cTn id="30" fill="hold">
                            <p:stCondLst>
                              <p:cond delay="2625"/>
                            </p:stCondLst>
                            <p:childTnLst>
                              <p:par>
                                <p:cTn id="31" presetID="22" presetClass="entr" presetSubtype="8"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par>
                          <p:cTn id="34" fill="hold">
                            <p:stCondLst>
                              <p:cond delay="3125"/>
                            </p:stCondLst>
                            <p:childTnLst>
                              <p:par>
                                <p:cTn id="35" presetID="47" presetClass="entr" presetSubtype="0" fill="hold"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4125"/>
                            </p:stCondLst>
                            <p:childTnLst>
                              <p:par>
                                <p:cTn id="44" presetID="22" presetClass="entr" presetSubtype="8"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childTnLst>
                          </p:cTn>
                        </p:par>
                        <p:par>
                          <p:cTn id="47" fill="hold">
                            <p:stCondLst>
                              <p:cond delay="4625"/>
                            </p:stCondLst>
                            <p:childTnLst>
                              <p:par>
                                <p:cTn id="48" presetID="47" presetClass="entr" presetSubtype="0" fill="hold"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par>
                                <p:cTn id="53" presetID="10" presetClass="entr" presetSubtype="0" fill="hold" grpId="0" nodeType="withEffect">
                                  <p:stCondLst>
                                    <p:cond delay="50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500"/>
                                        <p:tgtEl>
                                          <p:spTgt spid="7"/>
                                        </p:tgtEl>
                                      </p:cBhvr>
                                    </p:animEffect>
                                  </p:childTnLst>
                                </p:cTn>
                              </p:par>
                            </p:childTnLst>
                          </p:cTn>
                        </p:par>
                        <p:par>
                          <p:cTn id="56" fill="hold">
                            <p:stCondLst>
                              <p:cond delay="5625"/>
                            </p:stCondLst>
                            <p:childTnLst>
                              <p:par>
                                <p:cTn id="57" presetID="22" presetClass="entr" presetSubtype="8"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7" grpId="0" bldLvl="0" animBg="1"/>
      <p:bldP spid="11" grpId="0" bldLvl="0" animBg="1"/>
      <p:bldP spid="12" grpId="0" bldLvl="0" animBg="1"/>
      <p:bldP spid="16" grpId="0"/>
      <p:bldP spid="20"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2846070"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软件动态演化过程模型</a:t>
            </a:r>
          </a:p>
        </p:txBody>
      </p:sp>
      <p:pic>
        <p:nvPicPr>
          <p:cNvPr id="15364" name="Picture 3"/>
          <p:cNvPicPr>
            <a:picLocks noChangeAspect="1"/>
          </p:cNvPicPr>
          <p:nvPr/>
        </p:nvPicPr>
        <p:blipFill>
          <a:blip r:embed="rId3"/>
          <a:stretch>
            <a:fillRect/>
          </a:stretch>
        </p:blipFill>
        <p:spPr>
          <a:xfrm>
            <a:off x="1343025" y="1590675"/>
            <a:ext cx="6457950" cy="26289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软件静态演化</a:t>
            </a:r>
          </a:p>
        </p:txBody>
      </p:sp>
      <p:sp>
        <p:nvSpPr>
          <p:cNvPr id="632835" name="文本占位符 632834"/>
          <p:cNvSpPr>
            <a:spLocks noGrp="1"/>
          </p:cNvSpPr>
          <p:nvPr/>
        </p:nvSpPr>
        <p:spPr>
          <a:xfrm>
            <a:off x="553403" y="1561465"/>
            <a:ext cx="8037512" cy="44846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a:lstStyle>
          <a:p>
            <a:pPr marL="0" indent="0">
              <a:buNone/>
            </a:pPr>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动态演化平台根据动态演化内容和系统正确性约束生成动态演化策略。动态演化策略描述了实现动态演化的具体步骤。在动态演化本身合法的前提下，动态演化策略必须保证系统在动态演化期间和动态演化后处于正常运行状态 ，这就是在动态演化期间的系统一致性。动态演化必须保证系统一致性。</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软件动态演化的分类</a:t>
            </a:r>
          </a:p>
        </p:txBody>
      </p:sp>
      <p:sp>
        <p:nvSpPr>
          <p:cNvPr id="7" name="菱形 6"/>
          <p:cNvSpPr/>
          <p:nvPr/>
        </p:nvSpPr>
        <p:spPr>
          <a:xfrm>
            <a:off x="2782179" y="1183276"/>
            <a:ext cx="3371878" cy="3372294"/>
          </a:xfrm>
          <a:prstGeom prst="diamond">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任意多边形 10"/>
          <p:cNvSpPr/>
          <p:nvPr/>
        </p:nvSpPr>
        <p:spPr>
          <a:xfrm>
            <a:off x="2968398" y="1493319"/>
            <a:ext cx="1315570" cy="1315732"/>
          </a:xfrm>
          <a:custGeom>
            <a:avLst/>
            <a:gdLst>
              <a:gd name="connsiteX0" fmla="*/ 0 w 1584960"/>
              <a:gd name="connsiteY0" fmla="*/ 264165 h 1584960"/>
              <a:gd name="connsiteX1" fmla="*/ 264165 w 1584960"/>
              <a:gd name="connsiteY1" fmla="*/ 0 h 1584960"/>
              <a:gd name="connsiteX2" fmla="*/ 1320795 w 1584960"/>
              <a:gd name="connsiteY2" fmla="*/ 0 h 1584960"/>
              <a:gd name="connsiteX3" fmla="*/ 1584960 w 1584960"/>
              <a:gd name="connsiteY3" fmla="*/ 264165 h 1584960"/>
              <a:gd name="connsiteX4" fmla="*/ 1584960 w 1584960"/>
              <a:gd name="connsiteY4" fmla="*/ 1320795 h 1584960"/>
              <a:gd name="connsiteX5" fmla="*/ 1320795 w 1584960"/>
              <a:gd name="connsiteY5" fmla="*/ 1584960 h 1584960"/>
              <a:gd name="connsiteX6" fmla="*/ 264165 w 1584960"/>
              <a:gd name="connsiteY6" fmla="*/ 1584960 h 1584960"/>
              <a:gd name="connsiteX7" fmla="*/ 0 w 1584960"/>
              <a:gd name="connsiteY7" fmla="*/ 1320795 h 1584960"/>
              <a:gd name="connsiteX8" fmla="*/ 0 w 1584960"/>
              <a:gd name="connsiteY8" fmla="*/ 264165 h 15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960" h="1584960">
                <a:moveTo>
                  <a:pt x="0" y="264165"/>
                </a:moveTo>
                <a:cubicBezTo>
                  <a:pt x="0" y="118271"/>
                  <a:pt x="118271" y="0"/>
                  <a:pt x="264165" y="0"/>
                </a:cubicBezTo>
                <a:lnTo>
                  <a:pt x="1320795" y="0"/>
                </a:lnTo>
                <a:cubicBezTo>
                  <a:pt x="1466689" y="0"/>
                  <a:pt x="1584960" y="118271"/>
                  <a:pt x="1584960" y="264165"/>
                </a:cubicBezTo>
                <a:lnTo>
                  <a:pt x="1584960" y="1320795"/>
                </a:lnTo>
                <a:cubicBezTo>
                  <a:pt x="1584960" y="1466689"/>
                  <a:pt x="1466689" y="1584960"/>
                  <a:pt x="1320795" y="1584960"/>
                </a:cubicBezTo>
                <a:lnTo>
                  <a:pt x="264165" y="1584960"/>
                </a:lnTo>
                <a:cubicBezTo>
                  <a:pt x="118271" y="1584960"/>
                  <a:pt x="0" y="1466689"/>
                  <a:pt x="0" y="1320795"/>
                </a:cubicBezTo>
                <a:lnTo>
                  <a:pt x="0" y="264165"/>
                </a:lnTo>
                <a:close/>
              </a:path>
            </a:pathLst>
          </a:custGeom>
          <a:gradFill flip="none" rotWithShape="1">
            <a:gsLst>
              <a:gs pos="0">
                <a:srgbClr val="4BAF31"/>
              </a:gs>
              <a:gs pos="100000">
                <a:srgbClr val="004B7D"/>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9834" tIns="49917" rIns="99834" bIns="49917" anchor="ctr"/>
          <a:lstStyle/>
          <a:p>
            <a:pPr algn="ctr">
              <a:defRPr/>
            </a:pPr>
            <a:r>
              <a:rPr lang="zh-CN" altLang="en-US" sz="1600" b="1" dirty="0">
                <a:solidFill>
                  <a:schemeClr val="bg1"/>
                </a:solidFill>
                <a:latin typeface="微软雅黑" panose="020B0503020204020204" pitchFamily="34" charset="-122"/>
                <a:ea typeface="微软雅黑" panose="020B0503020204020204" pitchFamily="34" charset="-122"/>
              </a:rPr>
              <a:t>基于构件的动态演化</a:t>
            </a:r>
          </a:p>
        </p:txBody>
      </p:sp>
      <p:sp>
        <p:nvSpPr>
          <p:cNvPr id="12" name="任意多边形 11"/>
          <p:cNvSpPr/>
          <p:nvPr/>
        </p:nvSpPr>
        <p:spPr>
          <a:xfrm>
            <a:off x="4572000" y="1493319"/>
            <a:ext cx="1315570" cy="1315732"/>
          </a:xfrm>
          <a:custGeom>
            <a:avLst/>
            <a:gdLst>
              <a:gd name="connsiteX0" fmla="*/ 0 w 1584960"/>
              <a:gd name="connsiteY0" fmla="*/ 264165 h 1584960"/>
              <a:gd name="connsiteX1" fmla="*/ 264165 w 1584960"/>
              <a:gd name="connsiteY1" fmla="*/ 0 h 1584960"/>
              <a:gd name="connsiteX2" fmla="*/ 1320795 w 1584960"/>
              <a:gd name="connsiteY2" fmla="*/ 0 h 1584960"/>
              <a:gd name="connsiteX3" fmla="*/ 1584960 w 1584960"/>
              <a:gd name="connsiteY3" fmla="*/ 264165 h 1584960"/>
              <a:gd name="connsiteX4" fmla="*/ 1584960 w 1584960"/>
              <a:gd name="connsiteY4" fmla="*/ 1320795 h 1584960"/>
              <a:gd name="connsiteX5" fmla="*/ 1320795 w 1584960"/>
              <a:gd name="connsiteY5" fmla="*/ 1584960 h 1584960"/>
              <a:gd name="connsiteX6" fmla="*/ 264165 w 1584960"/>
              <a:gd name="connsiteY6" fmla="*/ 1584960 h 1584960"/>
              <a:gd name="connsiteX7" fmla="*/ 0 w 1584960"/>
              <a:gd name="connsiteY7" fmla="*/ 1320795 h 1584960"/>
              <a:gd name="connsiteX8" fmla="*/ 0 w 1584960"/>
              <a:gd name="connsiteY8" fmla="*/ 264165 h 15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960" h="1584960">
                <a:moveTo>
                  <a:pt x="0" y="264165"/>
                </a:moveTo>
                <a:cubicBezTo>
                  <a:pt x="0" y="118271"/>
                  <a:pt x="118271" y="0"/>
                  <a:pt x="264165" y="0"/>
                </a:cubicBezTo>
                <a:lnTo>
                  <a:pt x="1320795" y="0"/>
                </a:lnTo>
                <a:cubicBezTo>
                  <a:pt x="1466689" y="0"/>
                  <a:pt x="1584960" y="118271"/>
                  <a:pt x="1584960" y="264165"/>
                </a:cubicBezTo>
                <a:lnTo>
                  <a:pt x="1584960" y="1320795"/>
                </a:lnTo>
                <a:cubicBezTo>
                  <a:pt x="1584960" y="1466689"/>
                  <a:pt x="1466689" y="1584960"/>
                  <a:pt x="1320795" y="1584960"/>
                </a:cubicBezTo>
                <a:lnTo>
                  <a:pt x="264165" y="1584960"/>
                </a:lnTo>
                <a:cubicBezTo>
                  <a:pt x="118271" y="1584960"/>
                  <a:pt x="0" y="1466689"/>
                  <a:pt x="0" y="1320795"/>
                </a:cubicBezTo>
                <a:lnTo>
                  <a:pt x="0" y="264165"/>
                </a:lnTo>
                <a:close/>
              </a:path>
            </a:pathLst>
          </a:custGeom>
          <a:gradFill flip="none" rotWithShape="1">
            <a:gsLst>
              <a:gs pos="0">
                <a:srgbClr val="4BAF31"/>
              </a:gs>
              <a:gs pos="100000">
                <a:srgbClr val="004B7D"/>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9834" tIns="49917" rIns="99834" bIns="49917" anchor="ctr"/>
          <a:lstStyle/>
          <a:p>
            <a:pPr algn="ctr">
              <a:defRPr/>
            </a:pPr>
            <a:r>
              <a:rPr lang="zh-CN" altLang="en-US" sz="1600" b="1" dirty="0">
                <a:solidFill>
                  <a:schemeClr val="bg1"/>
                </a:solidFill>
                <a:latin typeface="微软雅黑" panose="020B0503020204020204" pitchFamily="34" charset="-122"/>
                <a:ea typeface="微软雅黑" panose="020B0503020204020204" pitchFamily="34" charset="-122"/>
              </a:rPr>
              <a:t>基于过程的动态演化</a:t>
            </a:r>
          </a:p>
        </p:txBody>
      </p:sp>
      <p:sp>
        <p:nvSpPr>
          <p:cNvPr id="13" name="任意多边形 12"/>
          <p:cNvSpPr/>
          <p:nvPr/>
        </p:nvSpPr>
        <p:spPr>
          <a:xfrm>
            <a:off x="2968398" y="3077495"/>
            <a:ext cx="1315570" cy="1315732"/>
          </a:xfrm>
          <a:custGeom>
            <a:avLst/>
            <a:gdLst>
              <a:gd name="connsiteX0" fmla="*/ 0 w 1584960"/>
              <a:gd name="connsiteY0" fmla="*/ 264165 h 1584960"/>
              <a:gd name="connsiteX1" fmla="*/ 264165 w 1584960"/>
              <a:gd name="connsiteY1" fmla="*/ 0 h 1584960"/>
              <a:gd name="connsiteX2" fmla="*/ 1320795 w 1584960"/>
              <a:gd name="connsiteY2" fmla="*/ 0 h 1584960"/>
              <a:gd name="connsiteX3" fmla="*/ 1584960 w 1584960"/>
              <a:gd name="connsiteY3" fmla="*/ 264165 h 1584960"/>
              <a:gd name="connsiteX4" fmla="*/ 1584960 w 1584960"/>
              <a:gd name="connsiteY4" fmla="*/ 1320795 h 1584960"/>
              <a:gd name="connsiteX5" fmla="*/ 1320795 w 1584960"/>
              <a:gd name="connsiteY5" fmla="*/ 1584960 h 1584960"/>
              <a:gd name="connsiteX6" fmla="*/ 264165 w 1584960"/>
              <a:gd name="connsiteY6" fmla="*/ 1584960 h 1584960"/>
              <a:gd name="connsiteX7" fmla="*/ 0 w 1584960"/>
              <a:gd name="connsiteY7" fmla="*/ 1320795 h 1584960"/>
              <a:gd name="connsiteX8" fmla="*/ 0 w 1584960"/>
              <a:gd name="connsiteY8" fmla="*/ 264165 h 15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960" h="1584960">
                <a:moveTo>
                  <a:pt x="0" y="264165"/>
                </a:moveTo>
                <a:cubicBezTo>
                  <a:pt x="0" y="118271"/>
                  <a:pt x="118271" y="0"/>
                  <a:pt x="264165" y="0"/>
                </a:cubicBezTo>
                <a:lnTo>
                  <a:pt x="1320795" y="0"/>
                </a:lnTo>
                <a:cubicBezTo>
                  <a:pt x="1466689" y="0"/>
                  <a:pt x="1584960" y="118271"/>
                  <a:pt x="1584960" y="264165"/>
                </a:cubicBezTo>
                <a:lnTo>
                  <a:pt x="1584960" y="1320795"/>
                </a:lnTo>
                <a:cubicBezTo>
                  <a:pt x="1584960" y="1466689"/>
                  <a:pt x="1466689" y="1584960"/>
                  <a:pt x="1320795" y="1584960"/>
                </a:cubicBezTo>
                <a:lnTo>
                  <a:pt x="264165" y="1584960"/>
                </a:lnTo>
                <a:cubicBezTo>
                  <a:pt x="118271" y="1584960"/>
                  <a:pt x="0" y="1466689"/>
                  <a:pt x="0" y="1320795"/>
                </a:cubicBezTo>
                <a:lnTo>
                  <a:pt x="0" y="264165"/>
                </a:lnTo>
                <a:close/>
              </a:path>
            </a:pathLst>
          </a:custGeom>
          <a:gradFill flip="none" rotWithShape="1">
            <a:gsLst>
              <a:gs pos="0">
                <a:srgbClr val="4BAF31"/>
              </a:gs>
              <a:gs pos="100000">
                <a:srgbClr val="004B7D"/>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9834" tIns="49917" rIns="99834" bIns="49917" anchor="ctr"/>
          <a:lstStyle/>
          <a:p>
            <a:pPr algn="ctr">
              <a:defRPr/>
            </a:pPr>
            <a:r>
              <a:rPr lang="zh-CN" altLang="en-US" sz="1600" b="1" dirty="0">
                <a:solidFill>
                  <a:schemeClr val="bg1"/>
                </a:solidFill>
                <a:latin typeface="微软雅黑" panose="020B0503020204020204" pitchFamily="34" charset="-122"/>
                <a:ea typeface="微软雅黑" panose="020B0503020204020204" pitchFamily="34" charset="-122"/>
              </a:rPr>
              <a:t>基于体系结构描述语言</a:t>
            </a:r>
          </a:p>
        </p:txBody>
      </p:sp>
      <p:sp>
        <p:nvSpPr>
          <p:cNvPr id="14" name="任意多边形 13"/>
          <p:cNvSpPr/>
          <p:nvPr/>
        </p:nvSpPr>
        <p:spPr>
          <a:xfrm>
            <a:off x="4572000" y="3077495"/>
            <a:ext cx="1315570" cy="1315732"/>
          </a:xfrm>
          <a:custGeom>
            <a:avLst/>
            <a:gdLst>
              <a:gd name="connsiteX0" fmla="*/ 0 w 1584960"/>
              <a:gd name="connsiteY0" fmla="*/ 264165 h 1584960"/>
              <a:gd name="connsiteX1" fmla="*/ 264165 w 1584960"/>
              <a:gd name="connsiteY1" fmla="*/ 0 h 1584960"/>
              <a:gd name="connsiteX2" fmla="*/ 1320795 w 1584960"/>
              <a:gd name="connsiteY2" fmla="*/ 0 h 1584960"/>
              <a:gd name="connsiteX3" fmla="*/ 1584960 w 1584960"/>
              <a:gd name="connsiteY3" fmla="*/ 264165 h 1584960"/>
              <a:gd name="connsiteX4" fmla="*/ 1584960 w 1584960"/>
              <a:gd name="connsiteY4" fmla="*/ 1320795 h 1584960"/>
              <a:gd name="connsiteX5" fmla="*/ 1320795 w 1584960"/>
              <a:gd name="connsiteY5" fmla="*/ 1584960 h 1584960"/>
              <a:gd name="connsiteX6" fmla="*/ 264165 w 1584960"/>
              <a:gd name="connsiteY6" fmla="*/ 1584960 h 1584960"/>
              <a:gd name="connsiteX7" fmla="*/ 0 w 1584960"/>
              <a:gd name="connsiteY7" fmla="*/ 1320795 h 1584960"/>
              <a:gd name="connsiteX8" fmla="*/ 0 w 1584960"/>
              <a:gd name="connsiteY8" fmla="*/ 264165 h 15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960" h="1584960">
                <a:moveTo>
                  <a:pt x="0" y="264165"/>
                </a:moveTo>
                <a:cubicBezTo>
                  <a:pt x="0" y="118271"/>
                  <a:pt x="118271" y="0"/>
                  <a:pt x="264165" y="0"/>
                </a:cubicBezTo>
                <a:lnTo>
                  <a:pt x="1320795" y="0"/>
                </a:lnTo>
                <a:cubicBezTo>
                  <a:pt x="1466689" y="0"/>
                  <a:pt x="1584960" y="118271"/>
                  <a:pt x="1584960" y="264165"/>
                </a:cubicBezTo>
                <a:lnTo>
                  <a:pt x="1584960" y="1320795"/>
                </a:lnTo>
                <a:cubicBezTo>
                  <a:pt x="1584960" y="1466689"/>
                  <a:pt x="1466689" y="1584960"/>
                  <a:pt x="1320795" y="1584960"/>
                </a:cubicBezTo>
                <a:lnTo>
                  <a:pt x="264165" y="1584960"/>
                </a:lnTo>
                <a:cubicBezTo>
                  <a:pt x="118271" y="1584960"/>
                  <a:pt x="0" y="1466689"/>
                  <a:pt x="0" y="1320795"/>
                </a:cubicBezTo>
                <a:lnTo>
                  <a:pt x="0" y="264165"/>
                </a:lnTo>
                <a:close/>
              </a:path>
            </a:pathLst>
          </a:custGeom>
          <a:gradFill flip="none" rotWithShape="1">
            <a:gsLst>
              <a:gs pos="0">
                <a:srgbClr val="4BAF31"/>
              </a:gs>
              <a:gs pos="100000">
                <a:srgbClr val="004B7D"/>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9834" tIns="49917" rIns="99834" bIns="49917" anchor="ctr"/>
          <a:lstStyle/>
          <a:p>
            <a:pPr algn="ctr">
              <a:defRPr/>
            </a:pPr>
            <a:r>
              <a:rPr lang="zh-CN" altLang="en-US" sz="1600" b="1" dirty="0">
                <a:solidFill>
                  <a:schemeClr val="bg1"/>
                </a:solidFill>
                <a:latin typeface="微软雅黑" panose="020B0503020204020204" pitchFamily="34" charset="-122"/>
                <a:ea typeface="微软雅黑" panose="020B0503020204020204" pitchFamily="34" charset="-122"/>
              </a:rPr>
              <a:t>基于体系结构模型</a:t>
            </a:r>
          </a:p>
        </p:txBody>
      </p:sp>
      <p:sp>
        <p:nvSpPr>
          <p:cNvPr id="15" name="矩形 14"/>
          <p:cNvSpPr>
            <a:spLocks noChangeArrowheads="1"/>
          </p:cNvSpPr>
          <p:nvPr/>
        </p:nvSpPr>
        <p:spPr bwMode="auto">
          <a:xfrm>
            <a:off x="359824" y="1686514"/>
            <a:ext cx="2628000"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834" tIns="49917" rIns="99834" bIns="49917">
            <a:spAutoFit/>
          </a:bodyPr>
          <a:lstStyle/>
          <a:p>
            <a:pPr marL="0" lvl="2">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按照功能划分，将构件的接口分为两种</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用于处理构件所提供的服务，即行为接口，用于处理构件的演化，即演化接口，在使用构件时，可以通过访问演化接口，为相关的动态插入点定义回调</a:t>
            </a:r>
            <a:r>
              <a:rPr lang="en-US" altLang="zh-CN" sz="1100" err="1">
                <a:solidFill>
                  <a:schemeClr val="tx1">
                    <a:lumMod val="65000"/>
                    <a:lumOff val="35000"/>
                  </a:schemeClr>
                </a:solidFill>
                <a:latin typeface="微软雅黑" panose="020B0503020204020204" pitchFamily="34" charset="-122"/>
                <a:ea typeface="微软雅黑" panose="020B0503020204020204" pitchFamily="34" charset="-122"/>
                <a:sym typeface="+mn-ea"/>
              </a:rPr>
              <a:t>(CallBack</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方法，增加或替换成用户需要的代码</a:t>
            </a:r>
          </a:p>
        </p:txBody>
      </p:sp>
      <p:sp>
        <p:nvSpPr>
          <p:cNvPr id="16" name="矩形 15"/>
          <p:cNvSpPr>
            <a:spLocks noChangeArrowheads="1"/>
          </p:cNvSpPr>
          <p:nvPr/>
        </p:nvSpPr>
        <p:spPr bwMode="auto">
          <a:xfrm>
            <a:off x="6084168" y="1543267"/>
            <a:ext cx="26640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834" tIns="49917" rIns="99834" bIns="49917" anchor="ctr">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形式化描述系统在运行过程中的状态，建立系统的状态机模型</a:t>
            </a:r>
          </a:p>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在状态机模型中，系统的演化可以对应于状态的迁移</a:t>
            </a:r>
          </a:p>
        </p:txBody>
      </p:sp>
      <p:sp>
        <p:nvSpPr>
          <p:cNvPr id="17" name="矩形 16"/>
          <p:cNvSpPr>
            <a:spLocks noChangeArrowheads="1"/>
          </p:cNvSpPr>
          <p:nvPr/>
        </p:nvSpPr>
        <p:spPr bwMode="auto">
          <a:xfrm>
            <a:off x="359824" y="3574306"/>
            <a:ext cx="26280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834" tIns="49917" rIns="99834" bIns="49917">
            <a:spAutoFit/>
          </a:bodyPr>
          <a:lstStyle/>
          <a:p>
            <a:pPr lvl="0">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在体系结构描述语言中，增加动态描述成份，通过语言来定义构件之间是如何进行互操作的，构件是如何被替换的，以实现动态演化</a:t>
            </a:r>
          </a:p>
        </p:txBody>
      </p:sp>
      <p:sp>
        <p:nvSpPr>
          <p:cNvPr id="18" name="矩形 17"/>
          <p:cNvSpPr>
            <a:spLocks noChangeArrowheads="1"/>
          </p:cNvSpPr>
          <p:nvPr/>
        </p:nvSpPr>
        <p:spPr bwMode="auto">
          <a:xfrm>
            <a:off x="6084168" y="3558059"/>
            <a:ext cx="2664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834" tIns="49917" rIns="99834" bIns="49917" anchor="ctr">
            <a:spAutoFit/>
          </a:bodyPr>
          <a:lstStyle/>
          <a:p>
            <a:pPr lvl="0">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sym typeface="+mn-ea"/>
              </a:rPr>
              <a:t>这类方法是通过建立一个体系结构模型，并使用这个模型来控制构件行为，控制结构改变和行为演化</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850"/>
                            </p:stCondLst>
                            <p:childTnLst>
                              <p:par>
                                <p:cTn id="22" presetID="31" presetClass="entr" presetSubtype="0"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1000" fill="hold"/>
                                        <p:tgtEl>
                                          <p:spTgt spid="7"/>
                                        </p:tgtEl>
                                        <p:attrNameLst>
                                          <p:attrName>ppt_w</p:attrName>
                                        </p:attrNameLst>
                                      </p:cBhvr>
                                      <p:tavLst>
                                        <p:tav tm="0">
                                          <p:val>
                                            <p:fltVal val="0"/>
                                          </p:val>
                                        </p:tav>
                                        <p:tav tm="100000">
                                          <p:val>
                                            <p:strVal val="#ppt_w"/>
                                          </p:val>
                                        </p:tav>
                                      </p:tavLst>
                                    </p:anim>
                                    <p:anim calcmode="lin" valueType="num">
                                      <p:cBhvr>
                                        <p:cTn id="25" dur="1000" fill="hold"/>
                                        <p:tgtEl>
                                          <p:spTgt spid="7"/>
                                        </p:tgtEl>
                                        <p:attrNameLst>
                                          <p:attrName>ppt_h</p:attrName>
                                        </p:attrNameLst>
                                      </p:cBhvr>
                                      <p:tavLst>
                                        <p:tav tm="0">
                                          <p:val>
                                            <p:fltVal val="0"/>
                                          </p:val>
                                        </p:tav>
                                        <p:tav tm="100000">
                                          <p:val>
                                            <p:strVal val="#ppt_h"/>
                                          </p:val>
                                        </p:tav>
                                      </p:tavLst>
                                    </p:anim>
                                    <p:anim calcmode="lin" valueType="num">
                                      <p:cBhvr>
                                        <p:cTn id="26" dur="1000" fill="hold"/>
                                        <p:tgtEl>
                                          <p:spTgt spid="7"/>
                                        </p:tgtEl>
                                        <p:attrNameLst>
                                          <p:attrName>style.rotation</p:attrName>
                                        </p:attrNameLst>
                                      </p:cBhvr>
                                      <p:tavLst>
                                        <p:tav tm="0">
                                          <p:val>
                                            <p:fltVal val="90"/>
                                          </p:val>
                                        </p:tav>
                                        <p:tav tm="100000">
                                          <p:val>
                                            <p:fltVal val="0"/>
                                          </p:val>
                                        </p:tav>
                                      </p:tavLst>
                                    </p:anim>
                                    <p:animEffect transition="in" filter="fade">
                                      <p:cBhvr>
                                        <p:cTn id="27" dur="1000"/>
                                        <p:tgtEl>
                                          <p:spTgt spid="7"/>
                                        </p:tgtEl>
                                      </p:cBhvr>
                                    </p:animEffect>
                                  </p:childTnLst>
                                </p:cTn>
                              </p:par>
                            </p:childTnLst>
                          </p:cTn>
                        </p:par>
                        <p:par>
                          <p:cTn id="28" fill="hold">
                            <p:stCondLst>
                              <p:cond delay="2850"/>
                            </p:stCondLst>
                            <p:childTnLst>
                              <p:par>
                                <p:cTn id="29" presetID="53" presetClass="entr" presetSubtype="16"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childTnLst>
                          </p:cTn>
                        </p:par>
                        <p:par>
                          <p:cTn id="49" fill="hold">
                            <p:stCondLst>
                              <p:cond delay="3350"/>
                            </p:stCondLst>
                            <p:childTnLst>
                              <p:par>
                                <p:cTn id="50" presetID="22" presetClass="entr" presetSubtype="2"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500"/>
                                        <p:tgtEl>
                                          <p:spTgt spid="1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500"/>
                                        <p:tgtEl>
                                          <p:spTgt spid="16"/>
                                        </p:tgtEl>
                                      </p:cBhvr>
                                    </p:animEffect>
                                  </p:childTnLst>
                                </p:cTn>
                              </p:par>
                            </p:childTnLst>
                          </p:cTn>
                        </p:par>
                        <p:par>
                          <p:cTn id="56" fill="hold">
                            <p:stCondLst>
                              <p:cond delay="3850"/>
                            </p:stCondLst>
                            <p:childTnLst>
                              <p:par>
                                <p:cTn id="57" presetID="22" presetClass="entr" presetSubtype="2"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right)">
                                      <p:cBhvr>
                                        <p:cTn id="59" dur="500"/>
                                        <p:tgtEl>
                                          <p:spTgt spid="17"/>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11" grpId="0" bldLvl="0" animBg="1"/>
      <p:bldP spid="12" grpId="0" bldLvl="0" animBg="1"/>
      <p:bldP spid="13" grpId="0" bldLvl="0" animBg="1"/>
      <p:bldP spid="14" grpId="0" bldLvl="0" animBg="1"/>
      <p:bldP spid="15" grpId="0"/>
      <p:bldP spid="16" grpId="0"/>
      <p:bldP spid="17"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279" y="148186"/>
            <a:ext cx="2584977"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软件动态演化工具</a:t>
            </a:r>
          </a:p>
        </p:txBody>
      </p:sp>
      <p:sp>
        <p:nvSpPr>
          <p:cNvPr id="7" name="等腰三角形 6"/>
          <p:cNvSpPr/>
          <p:nvPr/>
        </p:nvSpPr>
        <p:spPr>
          <a:xfrm>
            <a:off x="3689879" y="1754365"/>
            <a:ext cx="1662100" cy="1358082"/>
          </a:xfrm>
          <a:custGeom>
            <a:avLst/>
            <a:gdLst/>
            <a:ahLst/>
            <a:cxnLst/>
            <a:rect l="l" t="t" r="r" b="b"/>
            <a:pathLst>
              <a:path w="1796802" h="1469072">
                <a:moveTo>
                  <a:pt x="898401" y="0"/>
                </a:moveTo>
                <a:lnTo>
                  <a:pt x="1796802" y="1469072"/>
                </a:lnTo>
                <a:lnTo>
                  <a:pt x="1015417" y="1469072"/>
                </a:lnTo>
                <a:lnTo>
                  <a:pt x="1015417" y="1372637"/>
                </a:lnTo>
                <a:lnTo>
                  <a:pt x="1154781" y="1372637"/>
                </a:lnTo>
                <a:lnTo>
                  <a:pt x="876052" y="1125318"/>
                </a:lnTo>
                <a:lnTo>
                  <a:pt x="597323" y="1372637"/>
                </a:lnTo>
                <a:lnTo>
                  <a:pt x="736688" y="1372637"/>
                </a:lnTo>
                <a:lnTo>
                  <a:pt x="736688" y="1469072"/>
                </a:lnTo>
                <a:lnTo>
                  <a:pt x="0" y="1469072"/>
                </a:lnTo>
                <a:close/>
              </a:path>
            </a:pathLst>
          </a:custGeom>
          <a:gradFill>
            <a:gsLst>
              <a:gs pos="0">
                <a:srgbClr val="4BAF31"/>
              </a:gs>
              <a:gs pos="100000">
                <a:srgbClr val="004B7D"/>
              </a:gs>
            </a:gsLst>
            <a:lin ang="10800000" scaled="1"/>
          </a:gradFill>
          <a:ln w="3175" cap="flat" cmpd="sng" algn="ctr">
            <a:solidFill>
              <a:sysClr val="window" lastClr="FFFFFF"/>
            </a:solidFill>
            <a:prstDash val="solid"/>
          </a:ln>
          <a:effectLst/>
        </p:spPr>
        <p:txBody>
          <a:bodyPr lIns="86404" tIns="204103" rIns="86404" bIns="43202"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01</a:t>
            </a:r>
            <a:endParaRPr kumimoji="0" lang="zh-CN" altLang="en-US"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 name="等腰三角形 7"/>
          <p:cNvSpPr/>
          <p:nvPr/>
        </p:nvSpPr>
        <p:spPr>
          <a:xfrm>
            <a:off x="4628642" y="3323727"/>
            <a:ext cx="1632736" cy="1387446"/>
          </a:xfrm>
          <a:custGeom>
            <a:avLst/>
            <a:gdLst/>
            <a:ahLst/>
            <a:cxnLst/>
            <a:rect l="l" t="t" r="r" b="b"/>
            <a:pathLst>
              <a:path w="1765052" h="1500603">
                <a:moveTo>
                  <a:pt x="882526" y="0"/>
                </a:moveTo>
                <a:lnTo>
                  <a:pt x="1765052" y="1500603"/>
                </a:lnTo>
                <a:lnTo>
                  <a:pt x="0" y="1500603"/>
                </a:lnTo>
                <a:lnTo>
                  <a:pt x="375894" y="861452"/>
                </a:lnTo>
                <a:lnTo>
                  <a:pt x="464514" y="915388"/>
                </a:lnTo>
                <a:lnTo>
                  <a:pt x="392059" y="1034436"/>
                </a:lnTo>
                <a:lnTo>
                  <a:pt x="748236" y="924919"/>
                </a:lnTo>
                <a:lnTo>
                  <a:pt x="681880" y="558240"/>
                </a:lnTo>
                <a:lnTo>
                  <a:pt x="609424" y="677289"/>
                </a:lnTo>
                <a:lnTo>
                  <a:pt x="517210" y="621166"/>
                </a:lnTo>
                <a:close/>
              </a:path>
            </a:pathLst>
          </a:custGeom>
          <a:gradFill>
            <a:gsLst>
              <a:gs pos="0">
                <a:srgbClr val="4BAF31"/>
              </a:gs>
              <a:gs pos="100000">
                <a:srgbClr val="004B7D"/>
              </a:gs>
            </a:gsLst>
            <a:lin ang="10800000" scaled="1"/>
          </a:gradFill>
          <a:ln w="3175" cap="flat" cmpd="sng" algn="ctr">
            <a:solidFill>
              <a:sysClr val="window" lastClr="FFFFFF"/>
            </a:solidFill>
            <a:prstDash val="solid"/>
          </a:ln>
          <a:effectLst/>
        </p:spPr>
        <p:txBody>
          <a:bodyPr lIns="204103" tIns="578292" rIns="0" bIns="43202"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03</a:t>
            </a:r>
            <a:endParaRPr kumimoji="0" lang="zh-CN" altLang="en-US"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2" name="等腰三角形 11"/>
          <p:cNvSpPr/>
          <p:nvPr/>
        </p:nvSpPr>
        <p:spPr>
          <a:xfrm>
            <a:off x="2774477" y="3323727"/>
            <a:ext cx="1632736" cy="1387446"/>
          </a:xfrm>
          <a:custGeom>
            <a:avLst/>
            <a:gdLst/>
            <a:ahLst/>
            <a:cxnLst/>
            <a:rect l="l" t="t" r="r" b="b"/>
            <a:pathLst>
              <a:path w="1765052" h="1500603">
                <a:moveTo>
                  <a:pt x="882526" y="0"/>
                </a:moveTo>
                <a:lnTo>
                  <a:pt x="1236032" y="601083"/>
                </a:lnTo>
                <a:lnTo>
                  <a:pt x="1121186" y="667974"/>
                </a:lnTo>
                <a:lnTo>
                  <a:pt x="1051045" y="547547"/>
                </a:lnTo>
                <a:lnTo>
                  <a:pt x="977616" y="912876"/>
                </a:lnTo>
                <a:lnTo>
                  <a:pt x="1331611" y="1029255"/>
                </a:lnTo>
                <a:lnTo>
                  <a:pt x="1261469" y="908828"/>
                </a:lnTo>
                <a:lnTo>
                  <a:pt x="1377332" y="841344"/>
                </a:lnTo>
                <a:lnTo>
                  <a:pt x="1765052" y="1500603"/>
                </a:lnTo>
                <a:lnTo>
                  <a:pt x="0" y="1500603"/>
                </a:lnTo>
                <a:close/>
              </a:path>
            </a:pathLst>
          </a:custGeom>
          <a:gradFill>
            <a:gsLst>
              <a:gs pos="0">
                <a:srgbClr val="4BAF31"/>
              </a:gs>
              <a:gs pos="100000">
                <a:srgbClr val="004B7D"/>
              </a:gs>
            </a:gsLst>
            <a:lin ang="10800000" scaled="1"/>
          </a:gradFill>
          <a:ln w="3175" cap="flat" cmpd="sng" algn="ctr">
            <a:solidFill>
              <a:sysClr val="window" lastClr="FFFFFF"/>
            </a:solidFill>
            <a:prstDash val="solid"/>
          </a:ln>
          <a:effectLst/>
        </p:spPr>
        <p:txBody>
          <a:bodyPr lIns="0" tIns="578292" rIns="170086" bIns="43202"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02</a:t>
            </a:r>
            <a:endParaRPr kumimoji="0" lang="zh-CN" altLang="en-US" sz="2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3" name="TextBox 4"/>
          <p:cNvSpPr txBox="1">
            <a:spLocks noChangeArrowheads="1"/>
          </p:cNvSpPr>
          <p:nvPr/>
        </p:nvSpPr>
        <p:spPr bwMode="auto">
          <a:xfrm flipH="1">
            <a:off x="493767" y="3583735"/>
            <a:ext cx="2418118" cy="1217295"/>
          </a:xfrm>
          <a:prstGeom prst="rect">
            <a:avLst/>
          </a:prstGeom>
          <a:noFill/>
          <a:ln>
            <a:noFill/>
          </a:ln>
          <a:effectLst/>
        </p:spPr>
        <p:txBody>
          <a:bodyPr wrap="square" lIns="86404" tIns="43202" rIns="86404" bIns="4320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r">
              <a:lnSpc>
                <a:spcPct val="150000"/>
              </a:lnSpc>
              <a:defRPr/>
            </a:pPr>
            <a:r>
              <a:rPr lang="en-US" sz="1300" b="1" dirty="0">
                <a:solidFill>
                  <a:prstClr val="black">
                    <a:lumMod val="65000"/>
                    <a:lumOff val="35000"/>
                  </a:prstClr>
                </a:solidFill>
                <a:latin typeface="微软雅黑" panose="020B0503020204020204" pitchFamily="34" charset="-122"/>
                <a:ea typeface="微软雅黑" panose="020B0503020204020204" pitchFamily="34" charset="-122"/>
              </a:rPr>
              <a:t>starDRP</a:t>
            </a:r>
          </a:p>
          <a:p>
            <a:pPr lvl="0" algn="r">
              <a:lnSpc>
                <a:spcPct val="150000"/>
              </a:lnSpc>
              <a:defRPr/>
            </a:pPr>
            <a:r>
              <a:rPr lang="en-US" altLang="zh-CN" sz="1200" err="1">
                <a:solidFill>
                  <a:schemeClr val="tx1">
                    <a:lumMod val="65000"/>
                    <a:lumOff val="35000"/>
                  </a:schemeClr>
                </a:solidFill>
                <a:latin typeface="微软雅黑" panose="020B0503020204020204" pitchFamily="34" charset="-122"/>
                <a:ea typeface="微软雅黑" panose="020B0503020204020204" pitchFamily="34" charset="-122"/>
                <a:sym typeface="+mn-ea"/>
              </a:rPr>
              <a:t>StarDRP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是由国防科技大学研制和开发的，这是一种基于</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CORBA</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构件的动态配置模型</a:t>
            </a:r>
          </a:p>
        </p:txBody>
      </p:sp>
      <p:sp>
        <p:nvSpPr>
          <p:cNvPr id="14" name="TextBox 11"/>
          <p:cNvSpPr txBox="1">
            <a:spLocks noChangeArrowheads="1"/>
          </p:cNvSpPr>
          <p:nvPr/>
        </p:nvSpPr>
        <p:spPr bwMode="auto">
          <a:xfrm flipH="1">
            <a:off x="6190248" y="3583735"/>
            <a:ext cx="2459536" cy="1217295"/>
          </a:xfrm>
          <a:prstGeom prst="rect">
            <a:avLst/>
          </a:prstGeom>
          <a:noFill/>
          <a:ln>
            <a:noFill/>
          </a:ln>
          <a:effectLst/>
        </p:spPr>
        <p:txBody>
          <a:bodyPr wrap="square" lIns="86404" tIns="43202" rIns="86404" bIns="4320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nSpc>
                <a:spcPct val="150000"/>
              </a:lnSpc>
              <a:defRPr/>
            </a:pPr>
            <a:r>
              <a:rPr lang="en-US" altLang="zh-CN" sz="1300" b="1" dirty="0">
                <a:solidFill>
                  <a:prstClr val="black">
                    <a:lumMod val="65000"/>
                    <a:lumOff val="35000"/>
                  </a:prstClr>
                </a:solidFill>
                <a:latin typeface="微软雅黑" panose="020B0503020204020204" pitchFamily="34" charset="-122"/>
                <a:ea typeface="微软雅黑" panose="020B0503020204020204" pitchFamily="34" charset="-122"/>
              </a:rPr>
              <a:t>PKUAS</a:t>
            </a:r>
          </a:p>
          <a:p>
            <a:pPr lvl="0">
              <a:lnSpc>
                <a:spcPct val="150000"/>
              </a:lnSpc>
              <a:defRPr/>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PKUAS</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是一种基于</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J2EE</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的构件演化工具，由北京大学自主研发，主要应用于电力部门</a:t>
            </a:r>
          </a:p>
        </p:txBody>
      </p:sp>
      <p:sp>
        <p:nvSpPr>
          <p:cNvPr id="15" name="TextBox 6"/>
          <p:cNvSpPr txBox="1">
            <a:spLocks noChangeArrowheads="1"/>
          </p:cNvSpPr>
          <p:nvPr/>
        </p:nvSpPr>
        <p:spPr bwMode="auto">
          <a:xfrm flipH="1">
            <a:off x="2950287" y="847777"/>
            <a:ext cx="3178818" cy="940435"/>
          </a:xfrm>
          <a:prstGeom prst="rect">
            <a:avLst/>
          </a:prstGeom>
          <a:noFill/>
          <a:ln>
            <a:noFill/>
          </a:ln>
          <a:effectLst/>
        </p:spPr>
        <p:txBody>
          <a:bodyPr wrap="square" lIns="86404" tIns="43202" rIns="86404" bIns="4320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a:lnSpc>
                <a:spcPct val="150000"/>
              </a:lnSpc>
              <a:defRPr/>
            </a:pPr>
            <a:r>
              <a:rPr lang="en-US" altLang="zh-CN" sz="1300" b="1" dirty="0">
                <a:solidFill>
                  <a:prstClr val="black">
                    <a:lumMod val="65000"/>
                    <a:lumOff val="35000"/>
                  </a:prstClr>
                </a:solidFill>
                <a:latin typeface="微软雅黑" panose="020B0503020204020204" pitchFamily="34" charset="-122"/>
                <a:ea typeface="微软雅黑" panose="020B0503020204020204" pitchFamily="34" charset="-122"/>
              </a:rPr>
              <a:t>mChaRM</a:t>
            </a:r>
          </a:p>
          <a:p>
            <a:pPr lvl="0" algn="ctr">
              <a:lnSpc>
                <a:spcPct val="150000"/>
              </a:lnSpc>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意大利学者</a:t>
            </a:r>
            <a:r>
              <a:rPr lang="en-US" altLang="zh-CN" sz="1200" err="1">
                <a:solidFill>
                  <a:schemeClr val="tx1">
                    <a:lumMod val="65000"/>
                    <a:lumOff val="35000"/>
                  </a:schemeClr>
                </a:solidFill>
                <a:latin typeface="微软雅黑" panose="020B0503020204020204" pitchFamily="34" charset="-122"/>
                <a:ea typeface="微软雅黑" panose="020B0503020204020204" pitchFamily="34" charset="-122"/>
                <a:sym typeface="+mn-ea"/>
              </a:rPr>
              <a:t>Cazzola</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设计了</a:t>
            </a:r>
            <a:r>
              <a:rPr lang="en-US" altLang="zh-CN" sz="1200" err="1">
                <a:solidFill>
                  <a:schemeClr val="tx1">
                    <a:lumMod val="65000"/>
                    <a:lumOff val="35000"/>
                  </a:schemeClr>
                </a:solidFill>
                <a:latin typeface="微软雅黑" panose="020B0503020204020204" pitchFamily="34" charset="-122"/>
                <a:ea typeface="微软雅黑" panose="020B0503020204020204" pitchFamily="34" charset="-122"/>
                <a:sym typeface="+mn-ea"/>
              </a:rPr>
              <a:t>mChaRM</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rPr>
              <a:t>工具，利用多信道元模型来完成实体之间的调用</a:t>
            </a:r>
          </a:p>
        </p:txBody>
      </p:sp>
      <p:sp>
        <p:nvSpPr>
          <p:cNvPr id="16" name="任意多边形 15"/>
          <p:cNvSpPr/>
          <p:nvPr/>
        </p:nvSpPr>
        <p:spPr>
          <a:xfrm>
            <a:off x="3657130" y="3226732"/>
            <a:ext cx="1685594" cy="1434430"/>
          </a:xfrm>
          <a:custGeom>
            <a:avLst/>
            <a:gdLst>
              <a:gd name="connsiteX0" fmla="*/ 0 w 1822450"/>
              <a:gd name="connsiteY0" fmla="*/ 0 h 1551623"/>
              <a:gd name="connsiteX1" fmla="*/ 1822450 w 1822450"/>
              <a:gd name="connsiteY1" fmla="*/ 0 h 1551623"/>
              <a:gd name="connsiteX2" fmla="*/ 911225 w 1822450"/>
              <a:gd name="connsiteY2" fmla="*/ 1551623 h 1551623"/>
            </a:gdLst>
            <a:ahLst/>
            <a:cxnLst>
              <a:cxn ang="0">
                <a:pos x="connsiteX0" y="connsiteY0"/>
              </a:cxn>
              <a:cxn ang="0">
                <a:pos x="connsiteX1" y="connsiteY1"/>
              </a:cxn>
              <a:cxn ang="0">
                <a:pos x="connsiteX2" y="connsiteY2"/>
              </a:cxn>
            </a:cxnLst>
            <a:rect l="l" t="t" r="r" b="b"/>
            <a:pathLst>
              <a:path w="1822450" h="1551623">
                <a:moveTo>
                  <a:pt x="0" y="0"/>
                </a:moveTo>
                <a:lnTo>
                  <a:pt x="1822450" y="0"/>
                </a:lnTo>
                <a:lnTo>
                  <a:pt x="911225" y="1551623"/>
                </a:lnTo>
                <a:close/>
              </a:path>
            </a:pathLst>
          </a:custGeom>
          <a:solidFill>
            <a:srgbClr val="004B7D"/>
          </a:solidFill>
          <a:ln w="3175" cap="flat" cmpd="sng" algn="ctr">
            <a:solidFill>
              <a:sysClr val="window" lastClr="FFFFFF"/>
            </a:solidFill>
            <a:prstDash val="solid"/>
          </a:ln>
          <a:effectLst/>
        </p:spPr>
        <p:txBody>
          <a:bodyPr lIns="408206" tIns="0" rIns="408206" bIns="374189"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添加</a:t>
            </a:r>
            <a:endParaRPr kumimoji="0" lang="en-US" altLang="zh-CN"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标题</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774"/>
                            </p:stCondLst>
                            <p:childTnLst>
                              <p:par>
                                <p:cTn id="22" presetID="53" presetClass="entr" presetSubtype="16"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par>
                          <p:cTn id="27" fill="hold">
                            <p:stCondLst>
                              <p:cond delay="2274"/>
                            </p:stCondLst>
                            <p:childTnLst>
                              <p:par>
                                <p:cTn id="28" presetID="22" presetClass="entr" presetSubtype="4"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par>
                          <p:cTn id="31" fill="hold">
                            <p:stCondLst>
                              <p:cond delay="2774"/>
                            </p:stCondLst>
                            <p:childTnLst>
                              <p:par>
                                <p:cTn id="32" presetID="22" presetClass="entr" presetSubtype="2"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right)">
                                      <p:cBhvr>
                                        <p:cTn id="34" dur="500"/>
                                        <p:tgtEl>
                                          <p:spTgt spid="12"/>
                                        </p:tgtEl>
                                      </p:cBhvr>
                                    </p:animEffect>
                                  </p:childTnLst>
                                </p:cTn>
                              </p:par>
                            </p:childTnLst>
                          </p:cTn>
                        </p:par>
                        <p:par>
                          <p:cTn id="35" fill="hold">
                            <p:stCondLst>
                              <p:cond delay="3274"/>
                            </p:stCondLst>
                            <p:childTnLst>
                              <p:par>
                                <p:cTn id="36" presetID="22" presetClass="entr" presetSubtype="8"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39" fill="hold">
                            <p:stCondLst>
                              <p:cond delay="3774"/>
                            </p:stCondLst>
                            <p:childTnLst>
                              <p:par>
                                <p:cTn id="40" presetID="22" presetClass="entr" presetSubtype="4"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down)">
                                      <p:cBhvr>
                                        <p:cTn id="42" dur="500"/>
                                        <p:tgtEl>
                                          <p:spTgt spid="15"/>
                                        </p:tgtEl>
                                      </p:cBhvr>
                                    </p:animEffect>
                                  </p:childTnLst>
                                </p:cTn>
                              </p:par>
                            </p:childTnLst>
                          </p:cTn>
                        </p:par>
                        <p:par>
                          <p:cTn id="43" fill="hold">
                            <p:stCondLst>
                              <p:cond delay="4274"/>
                            </p:stCondLst>
                            <p:childTnLst>
                              <p:par>
                                <p:cTn id="44" presetID="22" presetClass="entr" presetSubtype="2"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right)">
                                      <p:cBhvr>
                                        <p:cTn id="46" dur="500"/>
                                        <p:tgtEl>
                                          <p:spTgt spid="13"/>
                                        </p:tgtEl>
                                      </p:cBhvr>
                                    </p:animEffect>
                                  </p:childTnLst>
                                </p:cTn>
                              </p:par>
                            </p:childTnLst>
                          </p:cTn>
                        </p:par>
                        <p:par>
                          <p:cTn id="47" fill="hold">
                            <p:stCondLst>
                              <p:cond delay="4774"/>
                            </p:stCondLst>
                            <p:childTnLst>
                              <p:par>
                                <p:cTn id="48" presetID="22" presetClass="entr" presetSubtype="8"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7" grpId="0" bldLvl="0" animBg="1"/>
      <p:bldP spid="11" grpId="0" bldLvl="0" animBg="1"/>
      <p:bldP spid="12" grpId="0" bldLvl="0" animBg="1"/>
      <p:bldP spid="13" grpId="0" bldLvl="0" animBg="1"/>
      <p:bldP spid="14" grpId="0" bldLvl="0" animBg="1"/>
      <p:bldP spid="15" grpId="0" bldLvl="0" animBg="1"/>
      <p:bldP spid="1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3275965"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软件动态演化的研究方向</a:t>
            </a:r>
          </a:p>
        </p:txBody>
      </p:sp>
      <p:sp>
        <p:nvSpPr>
          <p:cNvPr id="11" name="MH_Other_1"/>
          <p:cNvSpPr/>
          <p:nvPr>
            <p:custDataLst>
              <p:tags r:id="rId1"/>
            </p:custDataLst>
          </p:nvPr>
        </p:nvSpPr>
        <p:spPr>
          <a:xfrm rot="16374127">
            <a:off x="177416" y="2406678"/>
            <a:ext cx="3244870" cy="1442806"/>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2" name="MH_Other_2"/>
          <p:cNvSpPr/>
          <p:nvPr>
            <p:custDataLst>
              <p:tags r:id="rId2"/>
            </p:custDataLst>
          </p:nvPr>
        </p:nvSpPr>
        <p:spPr>
          <a:xfrm rot="18174127">
            <a:off x="642721" y="2543021"/>
            <a:ext cx="3244871" cy="1444250"/>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3" name="MH_Other_3"/>
          <p:cNvSpPr/>
          <p:nvPr>
            <p:custDataLst>
              <p:tags r:id="rId3"/>
            </p:custDataLst>
          </p:nvPr>
        </p:nvSpPr>
        <p:spPr>
          <a:xfrm rot="19974127">
            <a:off x="921183" y="2890739"/>
            <a:ext cx="3244871" cy="1442806"/>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4" name="MH_Other_4"/>
          <p:cNvSpPr/>
          <p:nvPr>
            <p:custDataLst>
              <p:tags r:id="rId4"/>
            </p:custDataLst>
          </p:nvPr>
        </p:nvSpPr>
        <p:spPr>
          <a:xfrm rot="174127">
            <a:off x="1040936" y="3356764"/>
            <a:ext cx="3244871" cy="1444250"/>
          </a:xfrm>
          <a:custGeom>
            <a:avLst/>
            <a:gdLst/>
            <a:ahLst/>
            <a:cxnLst/>
            <a:rect l="l" t="t" r="r" b="b"/>
            <a:pathLst>
              <a:path w="7590151" h="3240360">
                <a:moveTo>
                  <a:pt x="1620180" y="0"/>
                </a:moveTo>
                <a:cubicBezTo>
                  <a:pt x="2278948" y="0"/>
                  <a:pt x="2845888" y="393168"/>
                  <a:pt x="3097941" y="958193"/>
                </a:cubicBezTo>
                <a:lnTo>
                  <a:pt x="3098072" y="958193"/>
                </a:lnTo>
                <a:cubicBezTo>
                  <a:pt x="3396017" y="1214402"/>
                  <a:pt x="3933309" y="1384501"/>
                  <a:pt x="4546440" y="1384501"/>
                </a:cubicBezTo>
                <a:cubicBezTo>
                  <a:pt x="5102087" y="1384501"/>
                  <a:pt x="5595448" y="1244803"/>
                  <a:pt x="5903768" y="1026403"/>
                </a:cubicBezTo>
                <a:cubicBezTo>
                  <a:pt x="6082157" y="862178"/>
                  <a:pt x="6320464" y="762555"/>
                  <a:pt x="6582039" y="762555"/>
                </a:cubicBezTo>
                <a:cubicBezTo>
                  <a:pt x="7138804" y="762555"/>
                  <a:pt x="7590151" y="1213902"/>
                  <a:pt x="7590151" y="1770667"/>
                </a:cubicBezTo>
                <a:cubicBezTo>
                  <a:pt x="7590151" y="2327432"/>
                  <a:pt x="7138804" y="2778779"/>
                  <a:pt x="6582039" y="2778779"/>
                </a:cubicBezTo>
                <a:cubicBezTo>
                  <a:pt x="6378610" y="2778779"/>
                  <a:pt x="6189255" y="2718524"/>
                  <a:pt x="6031180" y="2614377"/>
                </a:cubicBezTo>
                <a:lnTo>
                  <a:pt x="6025214" y="2614377"/>
                </a:lnTo>
                <a:lnTo>
                  <a:pt x="6018143" y="2606422"/>
                </a:lnTo>
                <a:cubicBezTo>
                  <a:pt x="5945686" y="2557456"/>
                  <a:pt x="5879947" y="2499306"/>
                  <a:pt x="5823306" y="2433018"/>
                </a:cubicBezTo>
                <a:cubicBezTo>
                  <a:pt x="5515437" y="2211718"/>
                  <a:pt x="5018750" y="2069853"/>
                  <a:pt x="4458811" y="2069853"/>
                </a:cubicBezTo>
                <a:cubicBezTo>
                  <a:pt x="3782126" y="2069853"/>
                  <a:pt x="3197817" y="2277043"/>
                  <a:pt x="2925134" y="2577557"/>
                </a:cubicBezTo>
                <a:cubicBezTo>
                  <a:pt x="2631694" y="2979912"/>
                  <a:pt x="2156352" y="3240360"/>
                  <a:pt x="1620180" y="3240360"/>
                </a:cubicBezTo>
                <a:cubicBezTo>
                  <a:pt x="725379" y="3240360"/>
                  <a:pt x="0" y="2514981"/>
                  <a:pt x="0" y="1620180"/>
                </a:cubicBezTo>
                <a:cubicBezTo>
                  <a:pt x="0" y="725379"/>
                  <a:pt x="725379" y="0"/>
                  <a:pt x="1620180" y="0"/>
                </a:cubicBezTo>
                <a:close/>
              </a:path>
            </a:pathLst>
          </a:custGeom>
          <a:gradFill>
            <a:gsLst>
              <a:gs pos="0">
                <a:srgbClr val="4BAF31"/>
              </a:gs>
              <a:gs pos="100000">
                <a:srgbClr val="004B7D"/>
              </a:gs>
            </a:gsLst>
            <a:path path="circle">
              <a:fillToRect l="100000" t="100000"/>
            </a:path>
          </a:gradFill>
          <a:ln w="25400" cap="flat" cmpd="sng" algn="ctr">
            <a:noFill/>
            <a:prstDash val="solid"/>
          </a:ln>
          <a:effectLst/>
        </p:spPr>
        <p:txBody>
          <a:bodyPr lIns="0" anchor="ctr"/>
          <a:lstStyle/>
          <a:p>
            <a:pPr algn="ctr" eaLnBrk="1" fontAlgn="auto" hangingPunct="1">
              <a:spcBef>
                <a:spcPts val="0"/>
              </a:spcBef>
              <a:spcAft>
                <a:spcPts val="0"/>
              </a:spcAft>
              <a:defRPr/>
            </a:pPr>
            <a:endParaRPr lang="zh-CN" altLang="en-US" sz="1350" kern="0">
              <a:solidFill>
                <a:schemeClr val="tx1">
                  <a:lumMod val="75000"/>
                  <a:lumOff val="25000"/>
                </a:schemeClr>
              </a:solidFill>
              <a:latin typeface="+mn-lt"/>
              <a:ea typeface="+mn-ea"/>
            </a:endParaRPr>
          </a:p>
        </p:txBody>
      </p:sp>
      <p:sp>
        <p:nvSpPr>
          <p:cNvPr id="15" name="椭圆 14"/>
          <p:cNvSpPr/>
          <p:nvPr/>
        </p:nvSpPr>
        <p:spPr>
          <a:xfrm>
            <a:off x="1094132" y="3392648"/>
            <a:ext cx="1277256" cy="1277256"/>
          </a:xfrm>
          <a:prstGeom prst="ellipse">
            <a:avLst/>
          </a:prstGeom>
          <a:solidFill>
            <a:srgbClr val="F6F6F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软件动态演化</a:t>
            </a:r>
          </a:p>
        </p:txBody>
      </p:sp>
      <p:sp>
        <p:nvSpPr>
          <p:cNvPr id="16" name="椭圆 15"/>
          <p:cNvSpPr/>
          <p:nvPr/>
        </p:nvSpPr>
        <p:spPr>
          <a:xfrm>
            <a:off x="3493686" y="3849462"/>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04</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椭圆 16"/>
          <p:cNvSpPr/>
          <p:nvPr/>
        </p:nvSpPr>
        <p:spPr>
          <a:xfrm>
            <a:off x="3280150" y="2770965"/>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03</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2613574" y="1939187"/>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02</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1570425" y="1577764"/>
            <a:ext cx="720000" cy="72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01</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文本框 17"/>
          <p:cNvSpPr txBox="1"/>
          <p:nvPr/>
        </p:nvSpPr>
        <p:spPr bwMode="auto">
          <a:xfrm>
            <a:off x="4320404" y="3706068"/>
            <a:ext cx="3404961" cy="1176020"/>
          </a:xfrm>
          <a:prstGeom prst="rect">
            <a:avLst/>
          </a:prstGeom>
          <a:noFill/>
        </p:spPr>
        <p:txBody>
          <a:bodyPr wrap="square" lIns="68580" tIns="34290" rIns="68580" bIns="34290">
            <a:spAutoFit/>
          </a:bodyPr>
          <a:lstStyle/>
          <a:p>
            <a:pPr>
              <a:lnSpc>
                <a:spcPct val="150000"/>
              </a:lnSpc>
              <a:spcBef>
                <a:spcPct val="0"/>
              </a:spcBef>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实时、较准确地对变更前后状态进行切换的机制，以维持演化期间的上下文一致性。当软件执行到某一断点时，从系统配置上撤换下来，它保持一定的状态信息。</a:t>
            </a:r>
          </a:p>
        </p:txBody>
      </p:sp>
      <p:sp>
        <p:nvSpPr>
          <p:cNvPr id="21" name="文本框 17"/>
          <p:cNvSpPr txBox="1"/>
          <p:nvPr/>
        </p:nvSpPr>
        <p:spPr bwMode="auto">
          <a:xfrm>
            <a:off x="4088130" y="2592070"/>
            <a:ext cx="4300220" cy="899160"/>
          </a:xfrm>
          <a:prstGeom prst="rect">
            <a:avLst/>
          </a:prstGeom>
          <a:noFill/>
        </p:spPr>
        <p:txBody>
          <a:bodyPr wrap="square" lIns="68580" tIns="34290" rIns="68580" bIns="34290">
            <a:spAutoFit/>
          </a:bodyPr>
          <a:lstStyle/>
          <a:p>
            <a:pPr>
              <a:lnSpc>
                <a:spcPct val="150000"/>
              </a:lnSpc>
              <a:spcBef>
                <a:spcPct val="0"/>
              </a:spcBef>
            </a:pPr>
            <a:r>
              <a:rPr sz="1200">
                <a:sym typeface="+mn-ea"/>
              </a:rPr>
              <a:t>动态演化过程中事务机制的研究与实现；具备控制变更过程的手段，以保持应用的完整性。例如在变更过程中发生了错误，可以采取措施进行回滚</a:t>
            </a:r>
            <a:r>
              <a:rPr lang="zh-CN" sz="1200">
                <a:sym typeface="+mn-ea"/>
              </a:rPr>
              <a:t>，撤销最近变更</a:t>
            </a:r>
          </a:p>
        </p:txBody>
      </p:sp>
      <p:sp>
        <p:nvSpPr>
          <p:cNvPr id="23" name="文本框 17"/>
          <p:cNvSpPr txBox="1"/>
          <p:nvPr/>
        </p:nvSpPr>
        <p:spPr bwMode="auto">
          <a:xfrm>
            <a:off x="2297430" y="869315"/>
            <a:ext cx="6547485" cy="899160"/>
          </a:xfrm>
          <a:prstGeom prst="rect">
            <a:avLst/>
          </a:prstGeom>
          <a:noFill/>
        </p:spPr>
        <p:txBody>
          <a:bodyPr wrap="square" lIns="68580" tIns="34290" rIns="68580" bIns="34290">
            <a:spAutoFit/>
          </a:bodyPr>
          <a:lstStyle/>
          <a:p>
            <a:pPr lvl="0">
              <a:lnSpc>
                <a:spcPct val="150000"/>
              </a:lnSpc>
              <a:spcBef>
                <a:spcPct val="0"/>
              </a:spcBef>
            </a:pPr>
            <a:endParaRPr lang="zh-CN" altLang="en-US" sz="1200" b="1" dirty="0">
              <a:solidFill>
                <a:srgbClr val="4BAF31"/>
              </a:solidFill>
              <a:latin typeface="微软雅黑" panose="020B0503020204020204" pitchFamily="34" charset="-122"/>
              <a:ea typeface="微软雅黑" panose="020B0503020204020204" pitchFamily="34" charset="-122"/>
            </a:endParaRPr>
          </a:p>
          <a:p>
            <a:pPr lvl="0">
              <a:lnSpc>
                <a:spcPct val="150000"/>
              </a:lnSpc>
              <a:spcBef>
                <a:spcPct val="0"/>
              </a:spcBef>
            </a:pPr>
            <a:r>
              <a:rPr lang="zh-CN" altLang="en-US" sz="1200" dirty="0">
                <a:sym typeface="+mn-ea"/>
              </a:rPr>
              <a:t>如何预先推导变更的结果及其影响范围。在发生软件变更之前，对变更之后的软件是否满足了需求、变更后的软件是否符合系统的约束进行自动的预测和评估</a:t>
            </a:r>
          </a:p>
        </p:txBody>
      </p:sp>
      <p:sp>
        <p:nvSpPr>
          <p:cNvPr id="2" name="文本框 1"/>
          <p:cNvSpPr txBox="1"/>
          <p:nvPr/>
        </p:nvSpPr>
        <p:spPr>
          <a:xfrm>
            <a:off x="3464560" y="1939925"/>
            <a:ext cx="3821430" cy="506730"/>
          </a:xfrm>
          <a:prstGeom prst="rect">
            <a:avLst/>
          </a:prstGeom>
          <a:noFill/>
        </p:spPr>
        <p:txBody>
          <a:bodyPr wrap="square" rtlCol="0">
            <a:spAutoFit/>
          </a:bodyPr>
          <a:lstStyle/>
          <a:p>
            <a:r>
              <a:rPr lang="zh-CN" altLang="en-US"/>
              <a:t>对于软件计算成员的替换，能够保证替换前后成员的外部行为的一致性。</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2000"/>
                            </p:stCondLst>
                            <p:childTnLst>
                              <p:par>
                                <p:cTn id="22" presetID="3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750" fill="hold"/>
                                        <p:tgtEl>
                                          <p:spTgt spid="11"/>
                                        </p:tgtEl>
                                        <p:attrNameLst>
                                          <p:attrName>ppt_w</p:attrName>
                                        </p:attrNameLst>
                                      </p:cBhvr>
                                      <p:tavLst>
                                        <p:tav tm="0">
                                          <p:val>
                                            <p:fltVal val="0"/>
                                          </p:val>
                                        </p:tav>
                                        <p:tav tm="100000">
                                          <p:val>
                                            <p:strVal val="#ppt_w"/>
                                          </p:val>
                                        </p:tav>
                                      </p:tavLst>
                                    </p:anim>
                                    <p:anim calcmode="lin" valueType="num">
                                      <p:cBhvr>
                                        <p:cTn id="25" dur="750" fill="hold"/>
                                        <p:tgtEl>
                                          <p:spTgt spid="11"/>
                                        </p:tgtEl>
                                        <p:attrNameLst>
                                          <p:attrName>ppt_h</p:attrName>
                                        </p:attrNameLst>
                                      </p:cBhvr>
                                      <p:tavLst>
                                        <p:tav tm="0">
                                          <p:val>
                                            <p:fltVal val="0"/>
                                          </p:val>
                                        </p:tav>
                                        <p:tav tm="100000">
                                          <p:val>
                                            <p:strVal val="#ppt_h"/>
                                          </p:val>
                                        </p:tav>
                                      </p:tavLst>
                                    </p:anim>
                                    <p:anim calcmode="lin" valueType="num">
                                      <p:cBhvr>
                                        <p:cTn id="26" dur="750" fill="hold"/>
                                        <p:tgtEl>
                                          <p:spTgt spid="11"/>
                                        </p:tgtEl>
                                        <p:attrNameLst>
                                          <p:attrName>style.rotation</p:attrName>
                                        </p:attrNameLst>
                                      </p:cBhvr>
                                      <p:tavLst>
                                        <p:tav tm="0">
                                          <p:val>
                                            <p:fltVal val="90"/>
                                          </p:val>
                                        </p:tav>
                                        <p:tav tm="100000">
                                          <p:val>
                                            <p:fltVal val="0"/>
                                          </p:val>
                                        </p:tav>
                                      </p:tavLst>
                                    </p:anim>
                                    <p:animEffect transition="in" filter="fade">
                                      <p:cBhvr>
                                        <p:cTn id="27" dur="750"/>
                                        <p:tgtEl>
                                          <p:spTgt spid="11"/>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750" fill="hold"/>
                                        <p:tgtEl>
                                          <p:spTgt spid="12"/>
                                        </p:tgtEl>
                                        <p:attrNameLst>
                                          <p:attrName>ppt_w</p:attrName>
                                        </p:attrNameLst>
                                      </p:cBhvr>
                                      <p:tavLst>
                                        <p:tav tm="0">
                                          <p:val>
                                            <p:fltVal val="0"/>
                                          </p:val>
                                        </p:tav>
                                        <p:tav tm="100000">
                                          <p:val>
                                            <p:strVal val="#ppt_w"/>
                                          </p:val>
                                        </p:tav>
                                      </p:tavLst>
                                    </p:anim>
                                    <p:anim calcmode="lin" valueType="num">
                                      <p:cBhvr>
                                        <p:cTn id="31" dur="750" fill="hold"/>
                                        <p:tgtEl>
                                          <p:spTgt spid="12"/>
                                        </p:tgtEl>
                                        <p:attrNameLst>
                                          <p:attrName>ppt_h</p:attrName>
                                        </p:attrNameLst>
                                      </p:cBhvr>
                                      <p:tavLst>
                                        <p:tav tm="0">
                                          <p:val>
                                            <p:fltVal val="0"/>
                                          </p:val>
                                        </p:tav>
                                        <p:tav tm="100000">
                                          <p:val>
                                            <p:strVal val="#ppt_h"/>
                                          </p:val>
                                        </p:tav>
                                      </p:tavLst>
                                    </p:anim>
                                    <p:anim calcmode="lin" valueType="num">
                                      <p:cBhvr>
                                        <p:cTn id="32" dur="750" fill="hold"/>
                                        <p:tgtEl>
                                          <p:spTgt spid="12"/>
                                        </p:tgtEl>
                                        <p:attrNameLst>
                                          <p:attrName>style.rotation</p:attrName>
                                        </p:attrNameLst>
                                      </p:cBhvr>
                                      <p:tavLst>
                                        <p:tav tm="0">
                                          <p:val>
                                            <p:fltVal val="90"/>
                                          </p:val>
                                        </p:tav>
                                        <p:tav tm="100000">
                                          <p:val>
                                            <p:fltVal val="0"/>
                                          </p:val>
                                        </p:tav>
                                      </p:tavLst>
                                    </p:anim>
                                    <p:animEffect transition="in" filter="fade">
                                      <p:cBhvr>
                                        <p:cTn id="33" dur="750"/>
                                        <p:tgtEl>
                                          <p:spTgt spid="12"/>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750" fill="hold"/>
                                        <p:tgtEl>
                                          <p:spTgt spid="13"/>
                                        </p:tgtEl>
                                        <p:attrNameLst>
                                          <p:attrName>ppt_w</p:attrName>
                                        </p:attrNameLst>
                                      </p:cBhvr>
                                      <p:tavLst>
                                        <p:tav tm="0">
                                          <p:val>
                                            <p:fltVal val="0"/>
                                          </p:val>
                                        </p:tav>
                                        <p:tav tm="100000">
                                          <p:val>
                                            <p:strVal val="#ppt_w"/>
                                          </p:val>
                                        </p:tav>
                                      </p:tavLst>
                                    </p:anim>
                                    <p:anim calcmode="lin" valueType="num">
                                      <p:cBhvr>
                                        <p:cTn id="37" dur="750" fill="hold"/>
                                        <p:tgtEl>
                                          <p:spTgt spid="13"/>
                                        </p:tgtEl>
                                        <p:attrNameLst>
                                          <p:attrName>ppt_h</p:attrName>
                                        </p:attrNameLst>
                                      </p:cBhvr>
                                      <p:tavLst>
                                        <p:tav tm="0">
                                          <p:val>
                                            <p:fltVal val="0"/>
                                          </p:val>
                                        </p:tav>
                                        <p:tav tm="100000">
                                          <p:val>
                                            <p:strVal val="#ppt_h"/>
                                          </p:val>
                                        </p:tav>
                                      </p:tavLst>
                                    </p:anim>
                                    <p:anim calcmode="lin" valueType="num">
                                      <p:cBhvr>
                                        <p:cTn id="38" dur="750" fill="hold"/>
                                        <p:tgtEl>
                                          <p:spTgt spid="13"/>
                                        </p:tgtEl>
                                        <p:attrNameLst>
                                          <p:attrName>style.rotation</p:attrName>
                                        </p:attrNameLst>
                                      </p:cBhvr>
                                      <p:tavLst>
                                        <p:tav tm="0">
                                          <p:val>
                                            <p:fltVal val="90"/>
                                          </p:val>
                                        </p:tav>
                                        <p:tav tm="100000">
                                          <p:val>
                                            <p:fltVal val="0"/>
                                          </p:val>
                                        </p:tav>
                                      </p:tavLst>
                                    </p:anim>
                                    <p:animEffect transition="in" filter="fade">
                                      <p:cBhvr>
                                        <p:cTn id="39" dur="750"/>
                                        <p:tgtEl>
                                          <p:spTgt spid="13"/>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750" fill="hold"/>
                                        <p:tgtEl>
                                          <p:spTgt spid="14"/>
                                        </p:tgtEl>
                                        <p:attrNameLst>
                                          <p:attrName>ppt_w</p:attrName>
                                        </p:attrNameLst>
                                      </p:cBhvr>
                                      <p:tavLst>
                                        <p:tav tm="0">
                                          <p:val>
                                            <p:fltVal val="0"/>
                                          </p:val>
                                        </p:tav>
                                        <p:tav tm="100000">
                                          <p:val>
                                            <p:strVal val="#ppt_w"/>
                                          </p:val>
                                        </p:tav>
                                      </p:tavLst>
                                    </p:anim>
                                    <p:anim calcmode="lin" valueType="num">
                                      <p:cBhvr>
                                        <p:cTn id="43" dur="750" fill="hold"/>
                                        <p:tgtEl>
                                          <p:spTgt spid="14"/>
                                        </p:tgtEl>
                                        <p:attrNameLst>
                                          <p:attrName>ppt_h</p:attrName>
                                        </p:attrNameLst>
                                      </p:cBhvr>
                                      <p:tavLst>
                                        <p:tav tm="0">
                                          <p:val>
                                            <p:fltVal val="0"/>
                                          </p:val>
                                        </p:tav>
                                        <p:tav tm="100000">
                                          <p:val>
                                            <p:strVal val="#ppt_h"/>
                                          </p:val>
                                        </p:tav>
                                      </p:tavLst>
                                    </p:anim>
                                    <p:anim calcmode="lin" valueType="num">
                                      <p:cBhvr>
                                        <p:cTn id="44" dur="750" fill="hold"/>
                                        <p:tgtEl>
                                          <p:spTgt spid="14"/>
                                        </p:tgtEl>
                                        <p:attrNameLst>
                                          <p:attrName>style.rotation</p:attrName>
                                        </p:attrNameLst>
                                      </p:cBhvr>
                                      <p:tavLst>
                                        <p:tav tm="0">
                                          <p:val>
                                            <p:fltVal val="90"/>
                                          </p:val>
                                        </p:tav>
                                        <p:tav tm="100000">
                                          <p:val>
                                            <p:fltVal val="0"/>
                                          </p:val>
                                        </p:tav>
                                      </p:tavLst>
                                    </p:anim>
                                    <p:animEffect transition="in" filter="fade">
                                      <p:cBhvr>
                                        <p:cTn id="45" dur="750"/>
                                        <p:tgtEl>
                                          <p:spTgt spid="14"/>
                                        </p:tgtEl>
                                      </p:cBhvr>
                                    </p:animEffect>
                                  </p:childTnLst>
                                </p:cTn>
                              </p:par>
                            </p:childTnLst>
                          </p:cTn>
                        </p:par>
                        <p:par>
                          <p:cTn id="46" fill="hold">
                            <p:stCondLst>
                              <p:cond delay="3000"/>
                            </p:stCondLst>
                            <p:childTnLst>
                              <p:par>
                                <p:cTn id="47" presetID="21" presetClass="entr" presetSubtype="1"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heel(1)">
                                      <p:cBhvr>
                                        <p:cTn id="49" dur="500"/>
                                        <p:tgtEl>
                                          <p:spTgt spid="15"/>
                                        </p:tgtEl>
                                      </p:cBhvr>
                                    </p:animEffect>
                                  </p:childTnLst>
                                </p:cTn>
                              </p:par>
                            </p:childTnLst>
                          </p:cTn>
                        </p:par>
                        <p:par>
                          <p:cTn id="50" fill="hold">
                            <p:stCondLst>
                              <p:cond delay="3500"/>
                            </p:stCondLst>
                            <p:childTnLst>
                              <p:par>
                                <p:cTn id="51" presetID="53" presetClass="entr" presetSubtype="16"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p:cTn id="53" dur="500" fill="hold"/>
                                        <p:tgtEl>
                                          <p:spTgt spid="19"/>
                                        </p:tgtEl>
                                        <p:attrNameLst>
                                          <p:attrName>ppt_w</p:attrName>
                                        </p:attrNameLst>
                                      </p:cBhvr>
                                      <p:tavLst>
                                        <p:tav tm="0">
                                          <p:val>
                                            <p:fltVal val="0"/>
                                          </p:val>
                                        </p:tav>
                                        <p:tav tm="100000">
                                          <p:val>
                                            <p:strVal val="#ppt_w"/>
                                          </p:val>
                                        </p:tav>
                                      </p:tavLst>
                                    </p:anim>
                                    <p:anim calcmode="lin" valueType="num">
                                      <p:cBhvr>
                                        <p:cTn id="54" dur="500" fill="hold"/>
                                        <p:tgtEl>
                                          <p:spTgt spid="19"/>
                                        </p:tgtEl>
                                        <p:attrNameLst>
                                          <p:attrName>ppt_h</p:attrName>
                                        </p:attrNameLst>
                                      </p:cBhvr>
                                      <p:tavLst>
                                        <p:tav tm="0">
                                          <p:val>
                                            <p:fltVal val="0"/>
                                          </p:val>
                                        </p:tav>
                                        <p:tav tm="100000">
                                          <p:val>
                                            <p:strVal val="#ppt_h"/>
                                          </p:val>
                                        </p:tav>
                                      </p:tavLst>
                                    </p:anim>
                                    <p:animEffect transition="in" filter="fade">
                                      <p:cBhvr>
                                        <p:cTn id="55" dur="500"/>
                                        <p:tgtEl>
                                          <p:spTgt spid="19"/>
                                        </p:tgtEl>
                                      </p:cBhvr>
                                    </p:animEffec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left)">
                                      <p:cBhvr>
                                        <p:cTn id="59" dur="500"/>
                                        <p:tgtEl>
                                          <p:spTgt spid="23"/>
                                        </p:tgtEl>
                                      </p:cBhvr>
                                    </p:animEffect>
                                  </p:childTnLst>
                                </p:cTn>
                              </p:par>
                            </p:childTnLst>
                          </p:cTn>
                        </p:par>
                        <p:par>
                          <p:cTn id="60" fill="hold">
                            <p:stCondLst>
                              <p:cond delay="4500"/>
                            </p:stCondLst>
                            <p:childTnLst>
                              <p:par>
                                <p:cTn id="61" presetID="53" presetClass="entr" presetSubtype="16"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p:cTn id="63" dur="500" fill="hold"/>
                                        <p:tgtEl>
                                          <p:spTgt spid="18"/>
                                        </p:tgtEl>
                                        <p:attrNameLst>
                                          <p:attrName>ppt_w</p:attrName>
                                        </p:attrNameLst>
                                      </p:cBhvr>
                                      <p:tavLst>
                                        <p:tav tm="0">
                                          <p:val>
                                            <p:fltVal val="0"/>
                                          </p:val>
                                        </p:tav>
                                        <p:tav tm="100000">
                                          <p:val>
                                            <p:strVal val="#ppt_w"/>
                                          </p:val>
                                        </p:tav>
                                      </p:tavLst>
                                    </p:anim>
                                    <p:anim calcmode="lin" valueType="num">
                                      <p:cBhvr>
                                        <p:cTn id="64" dur="500" fill="hold"/>
                                        <p:tgtEl>
                                          <p:spTgt spid="18"/>
                                        </p:tgtEl>
                                        <p:attrNameLst>
                                          <p:attrName>ppt_h</p:attrName>
                                        </p:attrNameLst>
                                      </p:cBhvr>
                                      <p:tavLst>
                                        <p:tav tm="0">
                                          <p:val>
                                            <p:fltVal val="0"/>
                                          </p:val>
                                        </p:tav>
                                        <p:tav tm="100000">
                                          <p:val>
                                            <p:strVal val="#ppt_h"/>
                                          </p:val>
                                        </p:tav>
                                      </p:tavLst>
                                    </p:anim>
                                    <p:animEffect transition="in" filter="fade">
                                      <p:cBhvr>
                                        <p:cTn id="65" dur="500"/>
                                        <p:tgtEl>
                                          <p:spTgt spid="18"/>
                                        </p:tgtEl>
                                      </p:cBhvr>
                                    </p:animEffect>
                                  </p:childTnLst>
                                </p:cTn>
                              </p:par>
                            </p:childTnLst>
                          </p:cTn>
                        </p:par>
                        <p:par>
                          <p:cTn id="66" fill="hold">
                            <p:stCondLst>
                              <p:cond delay="5000"/>
                            </p:stCondLst>
                            <p:childTnLst>
                              <p:par>
                                <p:cTn id="67" presetID="53" presetClass="entr" presetSubtype="16"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500" fill="hold"/>
                                        <p:tgtEl>
                                          <p:spTgt spid="17"/>
                                        </p:tgtEl>
                                        <p:attrNameLst>
                                          <p:attrName>ppt_w</p:attrName>
                                        </p:attrNameLst>
                                      </p:cBhvr>
                                      <p:tavLst>
                                        <p:tav tm="0">
                                          <p:val>
                                            <p:fltVal val="0"/>
                                          </p:val>
                                        </p:tav>
                                        <p:tav tm="100000">
                                          <p:val>
                                            <p:strVal val="#ppt_w"/>
                                          </p:val>
                                        </p:tav>
                                      </p:tavLst>
                                    </p:anim>
                                    <p:anim calcmode="lin" valueType="num">
                                      <p:cBhvr>
                                        <p:cTn id="70" dur="500" fill="hold"/>
                                        <p:tgtEl>
                                          <p:spTgt spid="17"/>
                                        </p:tgtEl>
                                        <p:attrNameLst>
                                          <p:attrName>ppt_h</p:attrName>
                                        </p:attrNameLst>
                                      </p:cBhvr>
                                      <p:tavLst>
                                        <p:tav tm="0">
                                          <p:val>
                                            <p:fltVal val="0"/>
                                          </p:val>
                                        </p:tav>
                                        <p:tav tm="100000">
                                          <p:val>
                                            <p:strVal val="#ppt_h"/>
                                          </p:val>
                                        </p:tav>
                                      </p:tavLst>
                                    </p:anim>
                                    <p:animEffect transition="in" filter="fade">
                                      <p:cBhvr>
                                        <p:cTn id="71" dur="500"/>
                                        <p:tgtEl>
                                          <p:spTgt spid="17"/>
                                        </p:tgtEl>
                                      </p:cBhvr>
                                    </p:animEffect>
                                  </p:childTnLst>
                                </p:cTn>
                              </p:par>
                            </p:childTnLst>
                          </p:cTn>
                        </p:par>
                        <p:par>
                          <p:cTn id="72" fill="hold">
                            <p:stCondLst>
                              <p:cond delay="5500"/>
                            </p:stCondLst>
                            <p:childTnLst>
                              <p:par>
                                <p:cTn id="73" presetID="22" presetClass="entr" presetSubtype="8"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wipe(left)">
                                      <p:cBhvr>
                                        <p:cTn id="75" dur="500"/>
                                        <p:tgtEl>
                                          <p:spTgt spid="21"/>
                                        </p:tgtEl>
                                      </p:cBhvr>
                                    </p:animEffect>
                                  </p:childTnLst>
                                </p:cTn>
                              </p:par>
                            </p:childTnLst>
                          </p:cTn>
                        </p:par>
                        <p:par>
                          <p:cTn id="76" fill="hold">
                            <p:stCondLst>
                              <p:cond delay="6000"/>
                            </p:stCondLst>
                            <p:childTnLst>
                              <p:par>
                                <p:cTn id="77" presetID="53" presetClass="entr" presetSubtype="16"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p:cTn id="79" dur="500" fill="hold"/>
                                        <p:tgtEl>
                                          <p:spTgt spid="16"/>
                                        </p:tgtEl>
                                        <p:attrNameLst>
                                          <p:attrName>ppt_w</p:attrName>
                                        </p:attrNameLst>
                                      </p:cBhvr>
                                      <p:tavLst>
                                        <p:tav tm="0">
                                          <p:val>
                                            <p:fltVal val="0"/>
                                          </p:val>
                                        </p:tav>
                                        <p:tav tm="100000">
                                          <p:val>
                                            <p:strVal val="#ppt_w"/>
                                          </p:val>
                                        </p:tav>
                                      </p:tavLst>
                                    </p:anim>
                                    <p:anim calcmode="lin" valueType="num">
                                      <p:cBhvr>
                                        <p:cTn id="80" dur="500" fill="hold"/>
                                        <p:tgtEl>
                                          <p:spTgt spid="16"/>
                                        </p:tgtEl>
                                        <p:attrNameLst>
                                          <p:attrName>ppt_h</p:attrName>
                                        </p:attrNameLst>
                                      </p:cBhvr>
                                      <p:tavLst>
                                        <p:tav tm="0">
                                          <p:val>
                                            <p:fltVal val="0"/>
                                          </p:val>
                                        </p:tav>
                                        <p:tav tm="100000">
                                          <p:val>
                                            <p:strVal val="#ppt_h"/>
                                          </p:val>
                                        </p:tav>
                                      </p:tavLst>
                                    </p:anim>
                                    <p:animEffect transition="in" filter="fade">
                                      <p:cBhvr>
                                        <p:cTn id="81" dur="500"/>
                                        <p:tgtEl>
                                          <p:spTgt spid="16"/>
                                        </p:tgtEl>
                                      </p:cBhvr>
                                    </p:animEffect>
                                  </p:childTnLst>
                                </p:cTn>
                              </p:par>
                            </p:childTnLst>
                          </p:cTn>
                        </p:par>
                        <p:par>
                          <p:cTn id="82" fill="hold">
                            <p:stCondLst>
                              <p:cond delay="6500"/>
                            </p:stCondLst>
                            <p:childTnLst>
                              <p:par>
                                <p:cTn id="83" presetID="22" presetClass="entr" presetSubtype="8" fill="hold" grpId="0" nodeType="after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wipe(left)">
                                      <p:cBhvr>
                                        <p:cTn id="8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p:bldP spid="21"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
            <a:ext cx="9144000" cy="648000"/>
          </a:xfrm>
          <a:prstGeom prst="rect">
            <a:avLst/>
          </a:prstGeom>
          <a:gradFill flip="none" rotWithShape="1">
            <a:gsLst>
              <a:gs pos="0">
                <a:srgbClr val="004B7D"/>
              </a:gs>
              <a:gs pos="100000">
                <a:srgbClr val="4BAF3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69852" y="153529"/>
            <a:ext cx="382588" cy="340940"/>
          </a:xfrm>
          <a:custGeom>
            <a:avLst/>
            <a:gdLst>
              <a:gd name="connsiteX0" fmla="*/ 666819 w 1423251"/>
              <a:gd name="connsiteY0" fmla="*/ 0 h 1268316"/>
              <a:gd name="connsiteX1" fmla="*/ 870358 w 1423251"/>
              <a:gd name="connsiteY1" fmla="*/ 203539 h 1268316"/>
              <a:gd name="connsiteX2" fmla="*/ 666819 w 1423251"/>
              <a:gd name="connsiteY2" fmla="*/ 407078 h 1268316"/>
              <a:gd name="connsiteX3" fmla="*/ 651740 w 1423251"/>
              <a:gd name="connsiteY3" fmla="*/ 405558 h 1268316"/>
              <a:gd name="connsiteX4" fmla="*/ 408000 w 1423251"/>
              <a:gd name="connsiteY4" fmla="*/ 788102 h 1268316"/>
              <a:gd name="connsiteX5" fmla="*/ 443405 w 1423251"/>
              <a:gd name="connsiteY5" fmla="*/ 817314 h 1268316"/>
              <a:gd name="connsiteX6" fmla="*/ 514205 w 1423251"/>
              <a:gd name="connsiteY6" fmla="*/ 948632 h 1268316"/>
              <a:gd name="connsiteX7" fmla="*/ 518894 w 1423251"/>
              <a:gd name="connsiteY7" fmla="*/ 995147 h 1268316"/>
              <a:gd name="connsiteX8" fmla="*/ 1029190 w 1423251"/>
              <a:gd name="connsiteY8" fmla="*/ 995147 h 1268316"/>
              <a:gd name="connsiteX9" fmla="*/ 1032168 w 1423251"/>
              <a:gd name="connsiteY9" fmla="*/ 985551 h 1268316"/>
              <a:gd name="connsiteX10" fmla="*/ 1219712 w 1423251"/>
              <a:gd name="connsiteY10" fmla="*/ 861238 h 1268316"/>
              <a:gd name="connsiteX11" fmla="*/ 1423251 w 1423251"/>
              <a:gd name="connsiteY11" fmla="*/ 1064777 h 1268316"/>
              <a:gd name="connsiteX12" fmla="*/ 1219712 w 1423251"/>
              <a:gd name="connsiteY12" fmla="*/ 1268316 h 1268316"/>
              <a:gd name="connsiteX13" fmla="*/ 1020308 w 1423251"/>
              <a:gd name="connsiteY13" fmla="*/ 1105797 h 1268316"/>
              <a:gd name="connsiteX14" fmla="*/ 1018801 w 1423251"/>
              <a:gd name="connsiteY14" fmla="*/ 1090840 h 1268316"/>
              <a:gd name="connsiteX15" fmla="*/ 502560 w 1423251"/>
              <a:gd name="connsiteY15" fmla="*/ 1090840 h 1268316"/>
              <a:gd name="connsiteX16" fmla="*/ 499071 w 1423251"/>
              <a:gd name="connsiteY16" fmla="*/ 1102082 h 1268316"/>
              <a:gd name="connsiteX17" fmla="*/ 259741 w 1423251"/>
              <a:gd name="connsiteY17" fmla="*/ 1260720 h 1268316"/>
              <a:gd name="connsiteX18" fmla="*/ 0 w 1423251"/>
              <a:gd name="connsiteY18" fmla="*/ 1000979 h 1268316"/>
              <a:gd name="connsiteX19" fmla="*/ 259741 w 1423251"/>
              <a:gd name="connsiteY19" fmla="*/ 741238 h 1268316"/>
              <a:gd name="connsiteX20" fmla="*/ 312088 w 1423251"/>
              <a:gd name="connsiteY20" fmla="*/ 746515 h 1268316"/>
              <a:gd name="connsiteX21" fmla="*/ 319554 w 1423251"/>
              <a:gd name="connsiteY21" fmla="*/ 748833 h 1268316"/>
              <a:gd name="connsiteX22" fmla="*/ 559545 w 1423251"/>
              <a:gd name="connsiteY22" fmla="*/ 372173 h 1268316"/>
              <a:gd name="connsiteX23" fmla="*/ 522896 w 1423251"/>
              <a:gd name="connsiteY23" fmla="*/ 347463 h 1268316"/>
              <a:gd name="connsiteX24" fmla="*/ 463280 w 1423251"/>
              <a:gd name="connsiteY24" fmla="*/ 203539 h 1268316"/>
              <a:gd name="connsiteX25" fmla="*/ 666819 w 1423251"/>
              <a:gd name="connsiteY25" fmla="*/ 0 h 1268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3251" h="1268316">
                <a:moveTo>
                  <a:pt x="666819" y="0"/>
                </a:moveTo>
                <a:cubicBezTo>
                  <a:pt x="779230" y="0"/>
                  <a:pt x="870358" y="91128"/>
                  <a:pt x="870358" y="203539"/>
                </a:cubicBezTo>
                <a:cubicBezTo>
                  <a:pt x="870358" y="315950"/>
                  <a:pt x="779230" y="407078"/>
                  <a:pt x="666819" y="407078"/>
                </a:cubicBezTo>
                <a:lnTo>
                  <a:pt x="651740" y="405558"/>
                </a:lnTo>
                <a:lnTo>
                  <a:pt x="408000" y="788102"/>
                </a:lnTo>
                <a:lnTo>
                  <a:pt x="443405" y="817314"/>
                </a:lnTo>
                <a:cubicBezTo>
                  <a:pt x="478659" y="852567"/>
                  <a:pt x="503825" y="897907"/>
                  <a:pt x="514205" y="948632"/>
                </a:cubicBezTo>
                <a:lnTo>
                  <a:pt x="518894" y="995147"/>
                </a:lnTo>
                <a:lnTo>
                  <a:pt x="1029190" y="995147"/>
                </a:lnTo>
                <a:lnTo>
                  <a:pt x="1032168" y="985551"/>
                </a:lnTo>
                <a:cubicBezTo>
                  <a:pt x="1063067" y="912498"/>
                  <a:pt x="1135404" y="861238"/>
                  <a:pt x="1219712" y="861238"/>
                </a:cubicBezTo>
                <a:cubicBezTo>
                  <a:pt x="1332123" y="861238"/>
                  <a:pt x="1423251" y="952366"/>
                  <a:pt x="1423251" y="1064777"/>
                </a:cubicBezTo>
                <a:cubicBezTo>
                  <a:pt x="1423251" y="1177188"/>
                  <a:pt x="1332123" y="1268316"/>
                  <a:pt x="1219712" y="1268316"/>
                </a:cubicBezTo>
                <a:cubicBezTo>
                  <a:pt x="1121353" y="1268316"/>
                  <a:pt x="1039288" y="1198546"/>
                  <a:pt x="1020308" y="1105797"/>
                </a:cubicBezTo>
                <a:lnTo>
                  <a:pt x="1018801" y="1090840"/>
                </a:lnTo>
                <a:lnTo>
                  <a:pt x="502560" y="1090840"/>
                </a:lnTo>
                <a:lnTo>
                  <a:pt x="499071" y="1102082"/>
                </a:lnTo>
                <a:cubicBezTo>
                  <a:pt x="459639" y="1195307"/>
                  <a:pt x="367329" y="1260720"/>
                  <a:pt x="259741" y="1260720"/>
                </a:cubicBezTo>
                <a:cubicBezTo>
                  <a:pt x="116290" y="1260720"/>
                  <a:pt x="0" y="1144430"/>
                  <a:pt x="0" y="1000979"/>
                </a:cubicBezTo>
                <a:cubicBezTo>
                  <a:pt x="0" y="857528"/>
                  <a:pt x="116290" y="741238"/>
                  <a:pt x="259741" y="741238"/>
                </a:cubicBezTo>
                <a:cubicBezTo>
                  <a:pt x="277672" y="741238"/>
                  <a:pt x="295179" y="743055"/>
                  <a:pt x="312088" y="746515"/>
                </a:cubicBezTo>
                <a:lnTo>
                  <a:pt x="319554" y="748833"/>
                </a:lnTo>
                <a:lnTo>
                  <a:pt x="559545" y="372173"/>
                </a:lnTo>
                <a:lnTo>
                  <a:pt x="522896" y="347463"/>
                </a:lnTo>
                <a:cubicBezTo>
                  <a:pt x="486062" y="310629"/>
                  <a:pt x="463280" y="259745"/>
                  <a:pt x="463280" y="203539"/>
                </a:cubicBezTo>
                <a:cubicBezTo>
                  <a:pt x="463280" y="91128"/>
                  <a:pt x="554408" y="0"/>
                  <a:pt x="6668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21"/>
          <p:cNvSpPr txBox="1"/>
          <p:nvPr/>
        </p:nvSpPr>
        <p:spPr>
          <a:xfrm>
            <a:off x="724535" y="147955"/>
            <a:ext cx="2894330" cy="375920"/>
          </a:xfrm>
          <a:prstGeom prst="rect">
            <a:avLst/>
          </a:prstGeom>
          <a:noFill/>
        </p:spPr>
        <p:txBody>
          <a:bodyPr wrap="square" lIns="68580" tIns="34290" rIns="68580" bIns="34290"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静态、动态演化优缺点</a:t>
            </a:r>
          </a:p>
        </p:txBody>
      </p:sp>
      <p:sp>
        <p:nvSpPr>
          <p:cNvPr id="7" name="AutoShape 11">
            <a:hlinkClick r:id="rId3"/>
          </p:cNvPr>
          <p:cNvSpPr>
            <a:spLocks noChangeArrowheads="1"/>
          </p:cNvSpPr>
          <p:nvPr/>
        </p:nvSpPr>
        <p:spPr bwMode="auto">
          <a:xfrm>
            <a:off x="4216400" y="2443374"/>
            <a:ext cx="962025" cy="592138"/>
          </a:xfrm>
          <a:prstGeom prst="rightArrow">
            <a:avLst>
              <a:gd name="adj1" fmla="val 50000"/>
              <a:gd name="adj2" fmla="val 40617"/>
            </a:avLst>
          </a:prstGeom>
          <a:gradFill>
            <a:gsLst>
              <a:gs pos="0">
                <a:srgbClr val="4BAF31"/>
              </a:gs>
              <a:gs pos="100000">
                <a:srgbClr val="004B7D"/>
              </a:gs>
            </a:gsLst>
            <a:lin ang="5400000" scaled="1"/>
          </a:gradFill>
          <a:ln>
            <a:noFill/>
          </a:ln>
          <a:effectLst>
            <a:outerShdw dist="35921" dir="2700000" algn="ctr" rotWithShape="0">
              <a:srgbClr val="5F5F5F">
                <a:alpha val="50000"/>
              </a:srgb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3600"/>
          </a:p>
        </p:txBody>
      </p:sp>
      <p:sp>
        <p:nvSpPr>
          <p:cNvPr id="11" name="AutoShape 12">
            <a:hlinkClick r:id="rId3"/>
          </p:cNvPr>
          <p:cNvSpPr>
            <a:spLocks noChangeArrowheads="1"/>
          </p:cNvSpPr>
          <p:nvPr/>
        </p:nvSpPr>
        <p:spPr bwMode="auto">
          <a:xfrm flipH="1">
            <a:off x="4216400" y="3478424"/>
            <a:ext cx="962025" cy="592138"/>
          </a:xfrm>
          <a:prstGeom prst="rightArrow">
            <a:avLst>
              <a:gd name="adj1" fmla="val 50000"/>
              <a:gd name="adj2" fmla="val 40617"/>
            </a:avLst>
          </a:prstGeom>
          <a:gradFill>
            <a:gsLst>
              <a:gs pos="0">
                <a:srgbClr val="4BAF31"/>
              </a:gs>
              <a:gs pos="100000">
                <a:srgbClr val="004B7D"/>
              </a:gs>
            </a:gsLst>
            <a:lin ang="5400000" scaled="1"/>
          </a:gradFill>
          <a:ln>
            <a:noFill/>
          </a:ln>
          <a:effectLst>
            <a:outerShdw dist="35921" dir="2700000" algn="ctr" rotWithShape="0">
              <a:schemeClr val="bg2"/>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3600"/>
          </a:p>
        </p:txBody>
      </p:sp>
      <p:sp>
        <p:nvSpPr>
          <p:cNvPr id="12" name="Rectangle 6">
            <a:hlinkClick r:id="rId3"/>
          </p:cNvPr>
          <p:cNvSpPr>
            <a:spLocks noChangeArrowheads="1"/>
          </p:cNvSpPr>
          <p:nvPr/>
        </p:nvSpPr>
        <p:spPr bwMode="auto">
          <a:xfrm>
            <a:off x="812800" y="1219238"/>
            <a:ext cx="3179763" cy="519113"/>
          </a:xfrm>
          <a:prstGeom prst="rect">
            <a:avLst/>
          </a:prstGeom>
          <a:gradFill flip="none" rotWithShape="1">
            <a:gsLst>
              <a:gs pos="0">
                <a:srgbClr val="4BAF31"/>
              </a:gs>
              <a:gs pos="100000">
                <a:srgbClr val="004B7D"/>
              </a:gs>
            </a:gsLst>
            <a:path path="circle">
              <a:fillToRect l="100000" t="100000"/>
            </a:path>
            <a:tileRect r="-100000" b="-100000"/>
          </a:gradFill>
          <a:ln>
            <a:noFill/>
          </a:ln>
          <a:effectLst>
            <a:outerShdw dist="35921"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静态演化</a:t>
            </a:r>
          </a:p>
        </p:txBody>
      </p:sp>
      <p:sp>
        <p:nvSpPr>
          <p:cNvPr id="13" name="Rectangle 7">
            <a:hlinkClick r:id="rId3"/>
          </p:cNvPr>
          <p:cNvSpPr>
            <a:spLocks noChangeArrowheads="1"/>
          </p:cNvSpPr>
          <p:nvPr/>
        </p:nvSpPr>
        <p:spPr bwMode="auto">
          <a:xfrm>
            <a:off x="812800" y="1738352"/>
            <a:ext cx="3179763" cy="2829594"/>
          </a:xfrm>
          <a:prstGeom prst="rect">
            <a:avLst/>
          </a:prstGeom>
          <a:solidFill>
            <a:schemeClr val="bg1">
              <a:lumMod val="85000"/>
            </a:schemeClr>
          </a:solidFill>
          <a:ln>
            <a:noFill/>
          </a:ln>
          <a:effectLst>
            <a:outerShdw dist="35921"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3600"/>
          </a:p>
        </p:txBody>
      </p:sp>
      <p:sp>
        <p:nvSpPr>
          <p:cNvPr id="14" name="Rectangle 5">
            <a:hlinkClick r:id="rId3"/>
          </p:cNvPr>
          <p:cNvSpPr>
            <a:spLocks noChangeArrowheads="1"/>
          </p:cNvSpPr>
          <p:nvPr/>
        </p:nvSpPr>
        <p:spPr bwMode="gray">
          <a:xfrm>
            <a:off x="899592" y="1939318"/>
            <a:ext cx="3041650" cy="237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08000" rIns="144000" bIns="720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spcAft>
                <a:spcPct val="40000"/>
              </a:spcAft>
              <a:buClr>
                <a:schemeClr val="tx1"/>
              </a:buClr>
              <a:buFont typeface="Wingdings" panose="05000000000000000000" pitchFamily="2" charset="2"/>
              <a:buChar char="§"/>
            </a:pPr>
            <a:r>
              <a:rPr lang="en-US" altLang="zh-CN" sz="1400" noProof="1">
                <a:solidFill>
                  <a:srgbClr val="333333"/>
                </a:solidFill>
                <a:latin typeface="微软雅黑" panose="020B0503020204020204" pitchFamily="34" charset="-122"/>
                <a:ea typeface="微软雅黑" panose="020B0503020204020204" pitchFamily="34" charset="-122"/>
                <a:cs typeface="Arial" panose="020B0604020202020204" pitchFamily="34" charset="0"/>
              </a:rPr>
              <a:t>优点是不用考虑运行状态的迁移</a:t>
            </a:r>
            <a:r>
              <a:rPr lang="zh-CN" altLang="en-US" sz="1400" noProof="1">
                <a:solidFill>
                  <a:srgbClr val="333333"/>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1400" noProof="1">
                <a:solidFill>
                  <a:srgbClr val="333333"/>
                </a:solidFill>
                <a:latin typeface="微软雅黑" panose="020B0503020204020204" pitchFamily="34" charset="-122"/>
                <a:ea typeface="微软雅黑" panose="020B0503020204020204" pitchFamily="34" charset="-122"/>
                <a:cs typeface="Arial" panose="020B0604020202020204" pitchFamily="34" charset="0"/>
              </a:rPr>
              <a:t>同时也没有活动的进程需要处理。</a:t>
            </a:r>
          </a:p>
          <a:p>
            <a:pPr eaLnBrk="1" hangingPunct="1">
              <a:lnSpc>
                <a:spcPct val="150000"/>
              </a:lnSpc>
              <a:spcBef>
                <a:spcPct val="0"/>
              </a:spcBef>
              <a:spcAft>
                <a:spcPct val="40000"/>
              </a:spcAft>
              <a:buClr>
                <a:schemeClr val="tx1"/>
              </a:buClr>
              <a:buFont typeface="Wingdings" panose="05000000000000000000" pitchFamily="2" charset="2"/>
              <a:buChar char="§"/>
            </a:pPr>
            <a:r>
              <a:rPr lang="en-US" altLang="zh-CN" sz="1400" noProof="1">
                <a:solidFill>
                  <a:srgbClr val="333333"/>
                </a:solidFill>
                <a:latin typeface="微软雅黑" panose="020B0503020204020204" pitchFamily="34" charset="-122"/>
                <a:ea typeface="微软雅黑" panose="020B0503020204020204" pitchFamily="34" charset="-122"/>
                <a:cs typeface="Arial" panose="020B0604020202020204" pitchFamily="34" charset="0"/>
              </a:rPr>
              <a:t>然而停止一个应用程序就意味着中断它提供的服务，造成软件暂时失效。</a:t>
            </a:r>
          </a:p>
        </p:txBody>
      </p:sp>
      <p:sp>
        <p:nvSpPr>
          <p:cNvPr id="15" name="Rectangle 8">
            <a:hlinkClick r:id="rId3"/>
          </p:cNvPr>
          <p:cNvSpPr>
            <a:spLocks noChangeArrowheads="1"/>
          </p:cNvSpPr>
          <p:nvPr/>
        </p:nvSpPr>
        <p:spPr bwMode="auto">
          <a:xfrm>
            <a:off x="5326063" y="1219238"/>
            <a:ext cx="3179762" cy="519113"/>
          </a:xfrm>
          <a:prstGeom prst="rect">
            <a:avLst/>
          </a:prstGeom>
          <a:gradFill flip="none" rotWithShape="1">
            <a:gsLst>
              <a:gs pos="0">
                <a:srgbClr val="4BAF31"/>
              </a:gs>
              <a:gs pos="100000">
                <a:srgbClr val="004B7D"/>
              </a:gs>
            </a:gsLst>
            <a:path path="circle">
              <a:fillToRect t="100000" r="100000"/>
            </a:path>
            <a:tileRect l="-100000" b="-100000"/>
          </a:gradFill>
          <a:ln>
            <a:noFill/>
          </a:ln>
          <a:effectLst>
            <a:outerShdw dist="35921"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auto" hangingPunct="1">
              <a:lnSpc>
                <a:spcPct val="12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rPr>
              <a:t>动态演化</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6" name="Rectangle 9">
            <a:hlinkClick r:id="rId3"/>
          </p:cNvPr>
          <p:cNvSpPr>
            <a:spLocks noChangeArrowheads="1"/>
          </p:cNvSpPr>
          <p:nvPr/>
        </p:nvSpPr>
        <p:spPr bwMode="auto">
          <a:xfrm>
            <a:off x="5326063" y="1738352"/>
            <a:ext cx="3179762" cy="2829594"/>
          </a:xfrm>
          <a:prstGeom prst="rect">
            <a:avLst/>
          </a:prstGeom>
          <a:solidFill>
            <a:schemeClr val="bg1">
              <a:lumMod val="85000"/>
            </a:schemeClr>
          </a:solidFill>
          <a:ln>
            <a:noFill/>
          </a:ln>
          <a:effectLst>
            <a:outerShdw dist="35921"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3600"/>
          </a:p>
        </p:txBody>
      </p:sp>
      <p:sp>
        <p:nvSpPr>
          <p:cNvPr id="17" name="Rectangle 5"/>
          <p:cNvSpPr>
            <a:spLocks noChangeArrowheads="1"/>
          </p:cNvSpPr>
          <p:nvPr/>
        </p:nvSpPr>
        <p:spPr bwMode="gray">
          <a:xfrm>
            <a:off x="5434013" y="1939318"/>
            <a:ext cx="3040062" cy="237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08000" rIns="144000" bIns="720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spcAft>
                <a:spcPct val="40000"/>
              </a:spcAft>
              <a:buClr>
                <a:schemeClr val="tx1"/>
              </a:buClr>
              <a:buFont typeface="Wingdings" panose="05000000000000000000" pitchFamily="2" charset="2"/>
              <a:buChar char="§"/>
            </a:pPr>
            <a:r>
              <a:rPr sz="1400" dirty="0">
                <a:solidFill>
                  <a:prstClr val="black">
                    <a:lumMod val="75000"/>
                    <a:lumOff val="25000"/>
                  </a:prstClr>
                </a:solidFill>
                <a:latin typeface="微软雅黑" panose="020B0503020204020204" pitchFamily="34" charset="-122"/>
                <a:ea typeface="微软雅黑" panose="020B0503020204020204" pitchFamily="34" charset="-122"/>
              </a:rPr>
              <a:t>优点是软件不会存在暂时的失效，具有不间断服务的有点</a:t>
            </a:r>
            <a:r>
              <a:rPr lang="zh-CN" sz="1400" dirty="0">
                <a:solidFill>
                  <a:prstClr val="black">
                    <a:lumMod val="75000"/>
                    <a:lumOff val="25000"/>
                  </a:prstClr>
                </a:solidFill>
                <a:latin typeface="微软雅黑" panose="020B0503020204020204" pitchFamily="34" charset="-122"/>
                <a:ea typeface="微软雅黑" panose="020B0503020204020204" pitchFamily="34" charset="-122"/>
              </a:rPr>
              <a:t>；</a:t>
            </a:r>
          </a:p>
          <a:p>
            <a:pPr eaLnBrk="1" hangingPunct="1">
              <a:lnSpc>
                <a:spcPct val="150000"/>
              </a:lnSpc>
              <a:spcBef>
                <a:spcPct val="0"/>
              </a:spcBef>
              <a:spcAft>
                <a:spcPct val="40000"/>
              </a:spcAft>
              <a:buClr>
                <a:schemeClr val="tx1"/>
              </a:buClr>
              <a:buFont typeface="Wingdings" panose="05000000000000000000" pitchFamily="2" charset="2"/>
              <a:buChar char="§"/>
            </a:pPr>
            <a:r>
              <a:rPr sz="1400" dirty="0">
                <a:solidFill>
                  <a:prstClr val="black">
                    <a:lumMod val="75000"/>
                    <a:lumOff val="25000"/>
                  </a:prstClr>
                </a:solidFill>
                <a:latin typeface="微软雅黑" panose="020B0503020204020204" pitchFamily="34" charset="-122"/>
                <a:ea typeface="微软雅黑" panose="020B0503020204020204" pitchFamily="34" charset="-122"/>
              </a:rPr>
              <a:t>但是由于涉及到状态迁移等问题，比静态演化从技术上更加错综复杂，包括动态更增加和删除构件，动态配置系统结构等问题。</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5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 by="(-#ppt_w*2)" calcmode="lin" valueType="num">
                                      <p:cBhvr rctx="PPT">
                                        <p:cTn id="17" dur="375" autoRev="1" fill="hold">
                                          <p:stCondLst>
                                            <p:cond delay="0"/>
                                          </p:stCondLst>
                                        </p:cTn>
                                        <p:tgtEl>
                                          <p:spTgt spid="10"/>
                                        </p:tgtEl>
                                        <p:attrNameLst>
                                          <p:attrName>ppt_w</p:attrName>
                                        </p:attrNameLst>
                                      </p:cBhvr>
                                    </p:anim>
                                    <p:anim by="(#ppt_w*0.50)" calcmode="lin" valueType="num">
                                      <p:cBhvr>
                                        <p:cTn id="18" dur="375" decel="50000" autoRev="1" fill="hold">
                                          <p:stCondLst>
                                            <p:cond delay="0"/>
                                          </p:stCondLst>
                                        </p:cTn>
                                        <p:tgtEl>
                                          <p:spTgt spid="10"/>
                                        </p:tgtEl>
                                        <p:attrNameLst>
                                          <p:attrName>ppt_x</p:attrName>
                                        </p:attrNameLst>
                                      </p:cBhvr>
                                    </p:anim>
                                    <p:anim from="(-#ppt_h/2)" to="(#ppt_y)" calcmode="lin" valueType="num">
                                      <p:cBhvr>
                                        <p:cTn id="19" dur="750" fill="hold">
                                          <p:stCondLst>
                                            <p:cond delay="0"/>
                                          </p:stCondLst>
                                        </p:cTn>
                                        <p:tgtEl>
                                          <p:spTgt spid="10"/>
                                        </p:tgtEl>
                                        <p:attrNameLst>
                                          <p:attrName>ppt_y</p:attrName>
                                        </p:attrNameLst>
                                      </p:cBhvr>
                                    </p:anim>
                                    <p:animRot by="21600000">
                                      <p:cBhvr>
                                        <p:cTn id="20" dur="750" fill="hold">
                                          <p:stCondLst>
                                            <p:cond delay="0"/>
                                          </p:stCondLst>
                                        </p:cTn>
                                        <p:tgtEl>
                                          <p:spTgt spid="10"/>
                                        </p:tgtEl>
                                        <p:attrNameLst>
                                          <p:attrName>r</p:attrName>
                                        </p:attrNameLst>
                                      </p:cBhvr>
                                    </p:animRot>
                                  </p:childTnLst>
                                </p:cTn>
                              </p:par>
                            </p:childTnLst>
                          </p:cTn>
                        </p:par>
                        <p:par>
                          <p:cTn id="21" fill="hold">
                            <p:stCondLst>
                              <p:cond delay="1924"/>
                            </p:stCondLst>
                            <p:childTnLst>
                              <p:par>
                                <p:cTn id="22" presetID="16" presetClass="entr" presetSubtype="37"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outVertical)">
                                      <p:cBhvr>
                                        <p:cTn id="24" dur="500"/>
                                        <p:tgtEl>
                                          <p:spTgt spid="12"/>
                                        </p:tgtEl>
                                      </p:cBhvr>
                                    </p:animEffect>
                                  </p:childTnLst>
                                </p:cTn>
                              </p:par>
                            </p:childTnLst>
                          </p:cTn>
                        </p:par>
                        <p:par>
                          <p:cTn id="25" fill="hold">
                            <p:stCondLst>
                              <p:cond delay="2424"/>
                            </p:stCondLst>
                            <p:childTnLst>
                              <p:par>
                                <p:cTn id="26" presetID="22" presetClass="entr" presetSubtype="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childTnLst>
                          </p:cTn>
                        </p:par>
                        <p:par>
                          <p:cTn id="29" fill="hold">
                            <p:stCondLst>
                              <p:cond delay="2924"/>
                            </p:stCondLst>
                            <p:childTnLst>
                              <p:par>
                                <p:cTn id="30" presetID="22" presetClass="entr" presetSubtype="4"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par>
                          <p:cTn id="33" fill="hold">
                            <p:stCondLst>
                              <p:cond delay="3424"/>
                            </p:stCondLst>
                            <p:childTnLst>
                              <p:par>
                                <p:cTn id="34" presetID="16" presetClass="entr" presetSubtype="37"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arn(outVertical)">
                                      <p:cBhvr>
                                        <p:cTn id="36" dur="500"/>
                                        <p:tgtEl>
                                          <p:spTgt spid="15"/>
                                        </p:tgtEl>
                                      </p:cBhvr>
                                    </p:animEffect>
                                  </p:childTnLst>
                                </p:cTn>
                              </p:par>
                            </p:childTnLst>
                          </p:cTn>
                        </p:par>
                        <p:par>
                          <p:cTn id="37" fill="hold">
                            <p:stCondLst>
                              <p:cond delay="3924"/>
                            </p:stCondLst>
                            <p:childTnLst>
                              <p:par>
                                <p:cTn id="38" presetID="22" presetClass="entr" presetSubtype="1"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par>
                          <p:cTn id="41" fill="hold">
                            <p:stCondLst>
                              <p:cond delay="4424"/>
                            </p:stCondLst>
                            <p:childTnLst>
                              <p:par>
                                <p:cTn id="42" presetID="22" presetClass="entr" presetSubtype="4"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500"/>
                                        <p:tgtEl>
                                          <p:spTgt spid="17"/>
                                        </p:tgtEl>
                                      </p:cBhvr>
                                    </p:animEffect>
                                  </p:childTnLst>
                                </p:cTn>
                              </p:par>
                            </p:childTnLst>
                          </p:cTn>
                        </p:par>
                        <p:par>
                          <p:cTn id="45" fill="hold">
                            <p:stCondLst>
                              <p:cond delay="4924"/>
                            </p:stCondLst>
                            <p:childTnLst>
                              <p:par>
                                <p:cTn id="46" presetID="22" presetClass="entr" presetSubtype="8"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right)">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7" grpId="0" animBg="1"/>
      <p:bldP spid="11" grpId="0" animBg="1"/>
      <p:bldP spid="12" grpId="0" animBg="1"/>
      <p:bldP spid="13" grpId="0" animBg="1"/>
      <p:bldP spid="14" grpId="0"/>
      <p:bldP spid="15" grpId="0" animBg="1"/>
      <p:bldP spid="16" grpId="0" animBg="1"/>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软</a:t>
            </a:r>
            <a:r>
              <a:rPr lang="zh-CN" altLang="en-US" dirty="0"/>
              <a:t>件演化生命周期模型</a:t>
            </a:r>
          </a:p>
        </p:txBody>
      </p:sp>
      <p:pic>
        <p:nvPicPr>
          <p:cNvPr id="4" name="内容占位符 3"/>
          <p:cNvPicPr>
            <a:picLocks noGrp="1" noChangeAspect="1"/>
          </p:cNvPicPr>
          <p:nvPr>
            <p:ph idx="1"/>
          </p:nvPr>
        </p:nvPicPr>
        <p:blipFill>
          <a:blip r:embed="rId2"/>
          <a:stretch>
            <a:fillRect/>
          </a:stretch>
        </p:blipFill>
        <p:spPr>
          <a:xfrm>
            <a:off x="2946559" y="916782"/>
            <a:ext cx="4210526" cy="4111466"/>
          </a:xfrm>
          <a:prstGeom prst="rect">
            <a:avLst/>
          </a:prstGeom>
        </p:spPr>
      </p:pic>
    </p:spTree>
    <p:extLst>
      <p:ext uri="{BB962C8B-B14F-4D97-AF65-F5344CB8AC3E}">
        <p14:creationId xmlns:p14="http://schemas.microsoft.com/office/powerpoint/2010/main" val="30067842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软</a:t>
            </a:r>
            <a:r>
              <a:rPr lang="zh-CN" altLang="en-US" dirty="0"/>
              <a:t>件生命周期模型</a:t>
            </a:r>
            <a:r>
              <a:rPr lang="en-US" altLang="zh-CN" dirty="0"/>
              <a:t>——</a:t>
            </a:r>
            <a:r>
              <a:rPr lang="zh-CN" altLang="en-US" dirty="0"/>
              <a:t>演化模型</a:t>
            </a:r>
          </a:p>
        </p:txBody>
      </p:sp>
      <p:pic>
        <p:nvPicPr>
          <p:cNvPr id="4" name="内容占位符 3"/>
          <p:cNvPicPr>
            <a:picLocks noGrp="1" noChangeAspect="1"/>
          </p:cNvPicPr>
          <p:nvPr>
            <p:ph idx="1"/>
          </p:nvPr>
        </p:nvPicPr>
        <p:blipFill>
          <a:blip r:embed="rId2"/>
          <a:stretch>
            <a:fillRect/>
          </a:stretch>
        </p:blipFill>
        <p:spPr>
          <a:xfrm>
            <a:off x="2267903" y="1428750"/>
            <a:ext cx="5936456" cy="3609499"/>
          </a:xfrm>
          <a:prstGeom prst="rect">
            <a:avLst/>
          </a:prstGeom>
        </p:spPr>
      </p:pic>
    </p:spTree>
    <p:extLst>
      <p:ext uri="{BB962C8B-B14F-4D97-AF65-F5344CB8AC3E}">
        <p14:creationId xmlns:p14="http://schemas.microsoft.com/office/powerpoint/2010/main" val="29384324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软件生命周期模型</a:t>
            </a:r>
            <a:r>
              <a:rPr lang="en-US" altLang="zh-CN" dirty="0"/>
              <a:t>——</a:t>
            </a:r>
            <a:r>
              <a:rPr lang="zh-CN" altLang="en-US" dirty="0"/>
              <a:t>演化模型</a:t>
            </a:r>
          </a:p>
        </p:txBody>
      </p:sp>
      <p:sp>
        <p:nvSpPr>
          <p:cNvPr id="3" name="内容占位符 2"/>
          <p:cNvSpPr>
            <a:spLocks noGrp="1"/>
          </p:cNvSpPr>
          <p:nvPr>
            <p:ph idx="1"/>
          </p:nvPr>
        </p:nvSpPr>
        <p:spPr>
          <a:xfrm>
            <a:off x="1072444" y="1600200"/>
            <a:ext cx="7556015" cy="3366911"/>
          </a:xfrm>
        </p:spPr>
        <p:txBody>
          <a:bodyPr>
            <a:normAutofit/>
          </a:bodyPr>
          <a:lstStyle/>
          <a:p>
            <a:r>
              <a:rPr lang="zh-CN" altLang="en-US" sz="2000" dirty="0"/>
              <a:t>演化模型是一种全局的软件周期模型，使用迭代的开发方法。根据用户的基本需求，通过快速分析构造出该软件的一个初始可运行版本，通常称之为原型，然后根据用户在使用原型的过程中提出的意见和建议对原型进行改进，获得原型的新版本。重复这个过程，直到产生令用户满意的软件产品。即从初始的原型逐步演化成最终的软件产品，每一次迭代可看成一个“瀑布模型”。</a:t>
            </a:r>
          </a:p>
        </p:txBody>
      </p:sp>
    </p:spTree>
    <p:extLst>
      <p:ext uri="{BB962C8B-B14F-4D97-AF65-F5344CB8AC3E}">
        <p14:creationId xmlns:p14="http://schemas.microsoft.com/office/powerpoint/2010/main" val="725361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开发</a:t>
            </a:r>
          </a:p>
        </p:txBody>
      </p:sp>
      <p:sp>
        <p:nvSpPr>
          <p:cNvPr id="3" name="内容占位符 2"/>
          <p:cNvSpPr>
            <a:spLocks noGrp="1"/>
          </p:cNvSpPr>
          <p:nvPr>
            <p:ph idx="1"/>
          </p:nvPr>
        </p:nvSpPr>
        <p:spPr>
          <a:xfrm>
            <a:off x="508005" y="1230493"/>
            <a:ext cx="8628459" cy="3552884"/>
          </a:xfrm>
        </p:spPr>
        <p:txBody>
          <a:bodyPr/>
          <a:lstStyle/>
          <a:p>
            <a:r>
              <a:rPr lang="zh-CN" altLang="en-US" sz="2000" dirty="0"/>
              <a:t>初始阶段的一个极其重要的工作是建立一个好的软件体系结构。</a:t>
            </a:r>
          </a:p>
          <a:p>
            <a:r>
              <a:rPr lang="en-US" altLang="zh-CN" sz="2000" dirty="0"/>
              <a:t>1.</a:t>
            </a:r>
            <a:r>
              <a:rPr lang="zh-CN" altLang="en-US" sz="2000" dirty="0"/>
              <a:t>具有很好的可扩展性，能够包容后续的演化增量。</a:t>
            </a:r>
          </a:p>
          <a:p>
            <a:r>
              <a:rPr lang="en-US" altLang="zh-CN" sz="2000" dirty="0"/>
              <a:t>2.</a:t>
            </a:r>
            <a:r>
              <a:rPr lang="zh-CN" altLang="en-US" sz="2000" dirty="0"/>
              <a:t>具有很好的可修改性，能够处理后续阶段中的预期变更请求和未预期变更请求。</a:t>
            </a:r>
          </a:p>
          <a:p>
            <a:r>
              <a:rPr lang="en-US" altLang="zh-CN" sz="2000" dirty="0"/>
              <a:t>3.</a:t>
            </a:r>
            <a:r>
              <a:rPr lang="zh-CN" altLang="en-US" sz="2000" dirty="0"/>
              <a:t>比较坚实、可靠，能够在后续演化保持稳定的表现。</a:t>
            </a:r>
          </a:p>
          <a:p>
            <a:r>
              <a:rPr lang="zh-CN" altLang="en-US" sz="2000" dirty="0" smtClean="0"/>
              <a:t>在</a:t>
            </a:r>
            <a:r>
              <a:rPr lang="zh-CN" altLang="en-US" sz="2000" dirty="0"/>
              <a:t>初始阶段的详细设计也要关注软件系统的可扩展性和可修改性，编程要关注程序的可读性以方便后续阶段的程序理解，技术文档的准备要充分以帮助后续阶段的程序理解</a:t>
            </a:r>
            <a:r>
              <a:rPr lang="zh-CN" altLang="en-US" dirty="0"/>
              <a:t>。</a:t>
            </a:r>
          </a:p>
        </p:txBody>
      </p:sp>
    </p:spTree>
    <p:extLst>
      <p:ext uri="{BB962C8B-B14F-4D97-AF65-F5344CB8AC3E}">
        <p14:creationId xmlns:p14="http://schemas.microsoft.com/office/powerpoint/2010/main" val="16729270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44694" y="61678"/>
            <a:ext cx="6683765" cy="960668"/>
          </a:xfrm>
        </p:spPr>
        <p:txBody>
          <a:bodyPr>
            <a:normAutofit/>
          </a:bodyPr>
          <a:lstStyle/>
          <a:p>
            <a:r>
              <a:rPr lang="zh-CN" altLang="en-US" sz="3600" dirty="0"/>
              <a:t>演化</a:t>
            </a:r>
          </a:p>
        </p:txBody>
      </p:sp>
      <p:sp>
        <p:nvSpPr>
          <p:cNvPr id="3" name="内容占位符 2"/>
          <p:cNvSpPr>
            <a:spLocks noGrp="1"/>
          </p:cNvSpPr>
          <p:nvPr>
            <p:ph idx="1"/>
          </p:nvPr>
        </p:nvSpPr>
        <p:spPr>
          <a:xfrm>
            <a:off x="485422" y="885775"/>
            <a:ext cx="8658578" cy="3965335"/>
          </a:xfrm>
        </p:spPr>
        <p:txBody>
          <a:bodyPr>
            <a:noAutofit/>
          </a:bodyPr>
          <a:lstStyle/>
          <a:p>
            <a:r>
              <a:rPr lang="zh-CN" altLang="en-US" sz="2000" dirty="0"/>
              <a:t>在完成初始开发之后，软件产品就进入演化阶段。该阶段可能会有预先安排的需求增量，也可能完全是对变更请求的处理，它们的共同点都是保持软件产品的持续增值，让软件产品能够满足用户越来越多的需要，实现更大的业务价值。</a:t>
            </a:r>
          </a:p>
          <a:p>
            <a:r>
              <a:rPr lang="zh-CN" altLang="en-US" sz="2000" dirty="0"/>
              <a:t>总的来说，该阶段可能的演化增量有：</a:t>
            </a:r>
          </a:p>
          <a:p>
            <a:r>
              <a:rPr lang="zh-CN" altLang="en-US" sz="2000" dirty="0"/>
              <a:t>预先安排的需求增量；</a:t>
            </a:r>
          </a:p>
          <a:p>
            <a:r>
              <a:rPr lang="en-US" altLang="zh-CN" sz="2000" dirty="0"/>
              <a:t>1.</a:t>
            </a:r>
            <a:r>
              <a:rPr lang="zh-CN" altLang="en-US" sz="2000" dirty="0"/>
              <a:t>因为问题变化或者环境变化产生的变更请求；</a:t>
            </a:r>
          </a:p>
          <a:p>
            <a:r>
              <a:rPr lang="en-US" altLang="zh-CN" sz="2000" dirty="0"/>
              <a:t>2.</a:t>
            </a:r>
            <a:r>
              <a:rPr lang="zh-CN" altLang="en-US" sz="2000" dirty="0"/>
              <a:t>修正已有的缺陷；</a:t>
            </a:r>
          </a:p>
          <a:p>
            <a:r>
              <a:rPr lang="en-US" altLang="zh-CN" sz="2000" dirty="0"/>
              <a:t>3.</a:t>
            </a:r>
            <a:r>
              <a:rPr lang="zh-CN" altLang="en-US" sz="2000" dirty="0"/>
              <a:t>随着用户与开发者之间越来越相互熟悉对方领域而新增加的需求</a:t>
            </a:r>
            <a:r>
              <a:rPr lang="zh-CN" altLang="en-US" sz="2800" dirty="0"/>
              <a:t>。</a:t>
            </a:r>
          </a:p>
        </p:txBody>
      </p:sp>
    </p:spTree>
    <p:extLst>
      <p:ext uri="{BB962C8B-B14F-4D97-AF65-F5344CB8AC3E}">
        <p14:creationId xmlns:p14="http://schemas.microsoft.com/office/powerpoint/2010/main" val="23734006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服务</a:t>
            </a:r>
          </a:p>
        </p:txBody>
      </p:sp>
      <p:sp>
        <p:nvSpPr>
          <p:cNvPr id="3" name="内容占位符 2"/>
          <p:cNvSpPr>
            <a:spLocks noGrp="1"/>
          </p:cNvSpPr>
          <p:nvPr>
            <p:ph idx="1"/>
          </p:nvPr>
        </p:nvSpPr>
        <p:spPr>
          <a:xfrm>
            <a:off x="1941909" y="1315402"/>
            <a:ext cx="6686550" cy="2833217"/>
          </a:xfrm>
        </p:spPr>
        <p:txBody>
          <a:bodyPr>
            <a:noAutofit/>
          </a:bodyPr>
          <a:lstStyle/>
          <a:p>
            <a:r>
              <a:rPr lang="zh-CN" altLang="en-US" sz="2100"/>
              <a:t>服务阶段的软件产品不再持续的增加自己的价值，而只是周期性的修正已有的缺陷。</a:t>
            </a:r>
          </a:p>
          <a:p>
            <a:r>
              <a:rPr lang="zh-CN" altLang="en-US" sz="2100"/>
              <a:t>一个软件产品被置于服务阶段可能是因为它的软件结构已经无法继续演化，也可能是开发团队出于市场考虑，不再重点关注该产品。</a:t>
            </a:r>
          </a:p>
          <a:p>
            <a:r>
              <a:rPr lang="zh-CN" altLang="en-US" sz="2100"/>
              <a:t>服务阶段的产品还仍然被用户使用，因为它仍然能够给用户提供一定的业务价值，所以开发团队仍然需要修正已有缺陷或者进行一些低程度的需求增量，保证用户的正常使用。</a:t>
            </a:r>
          </a:p>
        </p:txBody>
      </p:sp>
    </p:spTree>
    <p:extLst>
      <p:ext uri="{BB962C8B-B14F-4D97-AF65-F5344CB8AC3E}">
        <p14:creationId xmlns:p14="http://schemas.microsoft.com/office/powerpoint/2010/main" val="18389346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42"/>
          <p:cNvSpPr/>
          <p:nvPr/>
        </p:nvSpPr>
        <p:spPr>
          <a:xfrm rot="16200000">
            <a:off x="3837195" y="-3878783"/>
            <a:ext cx="1469609" cy="9144009"/>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rot="16200000">
            <a:off x="3880175" y="-3922705"/>
            <a:ext cx="1383644" cy="9144005"/>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33"/>
          <p:cNvSpPr/>
          <p:nvPr/>
        </p:nvSpPr>
        <p:spPr>
          <a:xfrm rot="16200000" flipH="1" flipV="1">
            <a:off x="3849373" y="-151131"/>
            <a:ext cx="1445257" cy="9144004"/>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a:grpSpLocks noChangeAspect="1"/>
          </p:cNvGrpSpPr>
          <p:nvPr/>
        </p:nvGrpSpPr>
        <p:grpSpPr>
          <a:xfrm>
            <a:off x="1627632" y="1254360"/>
            <a:ext cx="5504687" cy="1161180"/>
            <a:chOff x="3634622" y="2012950"/>
            <a:chExt cx="3426470" cy="756000"/>
          </a:xfrm>
        </p:grpSpPr>
        <p:grpSp>
          <p:nvGrpSpPr>
            <p:cNvPr id="21" name="组合 20"/>
            <p:cNvGrpSpPr/>
            <p:nvPr/>
          </p:nvGrpSpPr>
          <p:grpSpPr>
            <a:xfrm>
              <a:off x="3634622" y="2012950"/>
              <a:ext cx="756000" cy="756000"/>
              <a:chOff x="571500" y="1695450"/>
              <a:chExt cx="1238250" cy="1238250"/>
            </a:xfrm>
          </p:grpSpPr>
          <p:sp>
            <p:nvSpPr>
              <p:cNvPr id="26" name="矩形 25"/>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a:stCxn id="26" idx="0"/>
                <a:endCxn id="26"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6" idx="1"/>
                <a:endCxn id="26"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4524778" y="2012950"/>
              <a:ext cx="756000" cy="756000"/>
              <a:chOff x="571500" y="1695450"/>
              <a:chExt cx="1238250" cy="1238250"/>
            </a:xfrm>
          </p:grpSpPr>
          <p:sp>
            <p:nvSpPr>
              <p:cNvPr id="23" name="矩形 22"/>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a:stCxn id="23" idx="0"/>
                <a:endCxn id="23"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1"/>
                <a:endCxn id="23"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5414934" y="2012950"/>
              <a:ext cx="756000" cy="756000"/>
              <a:chOff x="571500" y="1695450"/>
              <a:chExt cx="1238250" cy="1238250"/>
            </a:xfrm>
          </p:grpSpPr>
          <p:sp>
            <p:nvSpPr>
              <p:cNvPr id="36" name="矩形 35"/>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a:stCxn id="36" idx="0"/>
                <a:endCxn id="36"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6" idx="1"/>
                <a:endCxn id="36"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6305092" y="2012950"/>
              <a:ext cx="756000" cy="756000"/>
              <a:chOff x="571500" y="1695450"/>
              <a:chExt cx="1238250" cy="1238250"/>
            </a:xfrm>
          </p:grpSpPr>
          <p:sp>
            <p:nvSpPr>
              <p:cNvPr id="40" name="矩形 39"/>
              <p:cNvSpPr/>
              <p:nvPr/>
            </p:nvSpPr>
            <p:spPr>
              <a:xfrm>
                <a:off x="571500" y="1695450"/>
                <a:ext cx="1238250" cy="1238250"/>
              </a:xfrm>
              <a:prstGeom prst="rect">
                <a:avLst/>
              </a:prstGeom>
              <a:noFill/>
              <a:ln w="635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40"/>
              <p:cNvCxnSpPr>
                <a:stCxn id="40" idx="0"/>
                <a:endCxn id="40" idx="2"/>
              </p:cNvCxnSpPr>
              <p:nvPr/>
            </p:nvCxnSpPr>
            <p:spPr>
              <a:xfrm>
                <a:off x="1190625" y="1695450"/>
                <a:ext cx="0" cy="123825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40" idx="1"/>
                <a:endCxn id="40" idx="3"/>
              </p:cNvCxnSpPr>
              <p:nvPr/>
            </p:nvCxnSpPr>
            <p:spPr>
              <a:xfrm>
                <a:off x="571500" y="2314575"/>
                <a:ext cx="1238250"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sp>
        <p:nvSpPr>
          <p:cNvPr id="45" name="Rectangle 3"/>
          <p:cNvSpPr txBox="1">
            <a:spLocks noChangeArrowheads="1"/>
          </p:cNvSpPr>
          <p:nvPr/>
        </p:nvSpPr>
        <p:spPr bwMode="auto">
          <a:xfrm>
            <a:off x="1743656" y="1428027"/>
            <a:ext cx="5256000" cy="7557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3" tIns="34277" rIns="68553" bIns="34277"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6600" b="1" dirty="0">
                <a:solidFill>
                  <a:srgbClr val="4BAF31"/>
                </a:solidFill>
                <a:latin typeface="黑体" panose="02010609060101010101" pitchFamily="49" charset="-122"/>
                <a:ea typeface="黑体" panose="02010609060101010101" pitchFamily="49" charset="-122"/>
              </a:rPr>
              <a:t>软件演化</a:t>
            </a:r>
          </a:p>
        </p:txBody>
      </p:sp>
      <p:sp>
        <p:nvSpPr>
          <p:cNvPr id="29" name="任意多边形 28"/>
          <p:cNvSpPr/>
          <p:nvPr/>
        </p:nvSpPr>
        <p:spPr>
          <a:xfrm rot="16200000" flipH="1" flipV="1">
            <a:off x="3976371" y="-24132"/>
            <a:ext cx="1191257" cy="9144005"/>
          </a:xfrm>
          <a:custGeom>
            <a:avLst/>
            <a:gdLst>
              <a:gd name="connsiteX0" fmla="*/ 0 w 2631090"/>
              <a:gd name="connsiteY0" fmla="*/ 0 h 5143499"/>
              <a:gd name="connsiteX1" fmla="*/ 2631090 w 2631090"/>
              <a:gd name="connsiteY1" fmla="*/ 0 h 5143499"/>
              <a:gd name="connsiteX2" fmla="*/ 2631090 w 2631090"/>
              <a:gd name="connsiteY2" fmla="*/ 5143499 h 5143499"/>
              <a:gd name="connsiteX3" fmla="*/ 1763889 w 2631090"/>
              <a:gd name="connsiteY3" fmla="*/ 5143499 h 5143499"/>
              <a:gd name="connsiteX4" fmla="*/ 1768023 w 2631090"/>
              <a:gd name="connsiteY4" fmla="*/ 5134218 h 5143499"/>
              <a:gd name="connsiteX5" fmla="*/ 18780 w 2631090"/>
              <a:gd name="connsiteY5" fmla="*/ 15468 h 514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090" h="5143499">
                <a:moveTo>
                  <a:pt x="0" y="0"/>
                </a:moveTo>
                <a:lnTo>
                  <a:pt x="2631090" y="0"/>
                </a:lnTo>
                <a:lnTo>
                  <a:pt x="2631090" y="5143499"/>
                </a:lnTo>
                <a:lnTo>
                  <a:pt x="1763889" y="5143499"/>
                </a:lnTo>
                <a:lnTo>
                  <a:pt x="1768023" y="5134218"/>
                </a:lnTo>
                <a:cubicBezTo>
                  <a:pt x="2677754" y="2869808"/>
                  <a:pt x="616618" y="527984"/>
                  <a:pt x="18780" y="15468"/>
                </a:cubicBezTo>
                <a:close/>
              </a:path>
            </a:pathLst>
          </a:custGeom>
          <a:solidFill>
            <a:srgbClr val="0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Rectangle 4"/>
          <p:cNvSpPr txBox="1">
            <a:spLocks noChangeArrowheads="1"/>
          </p:cNvSpPr>
          <p:nvPr/>
        </p:nvSpPr>
        <p:spPr bwMode="auto">
          <a:xfrm>
            <a:off x="3464560" y="3592830"/>
            <a:ext cx="1817370" cy="2755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defRPr sz="2400" b="1">
                <a:latin typeface="+mj-ea"/>
                <a:ea typeface="+mj-ea"/>
              </a:defRPr>
            </a:lvl1pPr>
          </a:lstStyle>
          <a:p>
            <a:r>
              <a:rPr 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Thanks for watching!</a:t>
            </a:r>
            <a:endParaRPr 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down)">
                                      <p:cBhvr>
                                        <p:cTn id="13" dur="500"/>
                                        <p:tgtEl>
                                          <p:spTgt spid="4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p:cTn id="20" dur="500" fill="hold"/>
                                        <p:tgtEl>
                                          <p:spTgt spid="44"/>
                                        </p:tgtEl>
                                        <p:attrNameLst>
                                          <p:attrName>ppt_w</p:attrName>
                                        </p:attrNameLst>
                                      </p:cBhvr>
                                      <p:tavLst>
                                        <p:tav tm="0">
                                          <p:val>
                                            <p:fltVal val="0"/>
                                          </p:val>
                                        </p:tav>
                                        <p:tav tm="100000">
                                          <p:val>
                                            <p:strVal val="#ppt_w"/>
                                          </p:val>
                                        </p:tav>
                                      </p:tavLst>
                                    </p:anim>
                                    <p:anim calcmode="lin" valueType="num">
                                      <p:cBhvr>
                                        <p:cTn id="21" dur="500" fill="hold"/>
                                        <p:tgtEl>
                                          <p:spTgt spid="44"/>
                                        </p:tgtEl>
                                        <p:attrNameLst>
                                          <p:attrName>ppt_h</p:attrName>
                                        </p:attrNameLst>
                                      </p:cBhvr>
                                      <p:tavLst>
                                        <p:tav tm="0">
                                          <p:val>
                                            <p:fltVal val="0"/>
                                          </p:val>
                                        </p:tav>
                                        <p:tav tm="100000">
                                          <p:val>
                                            <p:strVal val="#ppt_h"/>
                                          </p:val>
                                        </p:tav>
                                      </p:tavLst>
                                    </p:anim>
                                    <p:animEffect transition="in" filter="fade">
                                      <p:cBhvr>
                                        <p:cTn id="22" dur="500"/>
                                        <p:tgtEl>
                                          <p:spTgt spid="44"/>
                                        </p:tgtEl>
                                      </p:cBhvr>
                                    </p:animEffect>
                                  </p:childTnLst>
                                </p:cTn>
                              </p:par>
                            </p:childTnLst>
                          </p:cTn>
                        </p:par>
                        <p:par>
                          <p:cTn id="23" fill="hold">
                            <p:stCondLst>
                              <p:cond delay="1000"/>
                            </p:stCondLst>
                            <p:childTnLst>
                              <p:par>
                                <p:cTn id="24" presetID="56" presetClass="entr" presetSubtype="0" fill="hold" grpId="0" nodeType="afterEffect">
                                  <p:stCondLst>
                                    <p:cond delay="0"/>
                                  </p:stCondLst>
                                  <p:iterate type="lt">
                                    <p:tmPct val="10000"/>
                                  </p:iterate>
                                  <p:childTnLst>
                                    <p:set>
                                      <p:cBhvr>
                                        <p:cTn id="25" dur="1" fill="hold">
                                          <p:stCondLst>
                                            <p:cond delay="0"/>
                                          </p:stCondLst>
                                        </p:cTn>
                                        <p:tgtEl>
                                          <p:spTgt spid="45"/>
                                        </p:tgtEl>
                                        <p:attrNameLst>
                                          <p:attrName>style.visibility</p:attrName>
                                        </p:attrNameLst>
                                      </p:cBhvr>
                                      <p:to>
                                        <p:strVal val="visible"/>
                                      </p:to>
                                    </p:set>
                                    <p:anim by="(-#ppt_w*2)" calcmode="lin" valueType="num">
                                      <p:cBhvr rctx="PPT">
                                        <p:cTn id="26" dur="500" autoRev="1" fill="hold">
                                          <p:stCondLst>
                                            <p:cond delay="0"/>
                                          </p:stCondLst>
                                        </p:cTn>
                                        <p:tgtEl>
                                          <p:spTgt spid="45"/>
                                        </p:tgtEl>
                                        <p:attrNameLst>
                                          <p:attrName>ppt_w</p:attrName>
                                        </p:attrNameLst>
                                      </p:cBhvr>
                                    </p:anim>
                                    <p:anim by="(#ppt_w*0.50)" calcmode="lin" valueType="num">
                                      <p:cBhvr>
                                        <p:cTn id="27" dur="500" decel="50000" autoRev="1" fill="hold">
                                          <p:stCondLst>
                                            <p:cond delay="0"/>
                                          </p:stCondLst>
                                        </p:cTn>
                                        <p:tgtEl>
                                          <p:spTgt spid="45"/>
                                        </p:tgtEl>
                                        <p:attrNameLst>
                                          <p:attrName>ppt_x</p:attrName>
                                        </p:attrNameLst>
                                      </p:cBhvr>
                                    </p:anim>
                                    <p:anim from="(-#ppt_h/2)" to="(#ppt_y)" calcmode="lin" valueType="num">
                                      <p:cBhvr>
                                        <p:cTn id="28" dur="1000" fill="hold">
                                          <p:stCondLst>
                                            <p:cond delay="0"/>
                                          </p:stCondLst>
                                        </p:cTn>
                                        <p:tgtEl>
                                          <p:spTgt spid="45"/>
                                        </p:tgtEl>
                                        <p:attrNameLst>
                                          <p:attrName>ppt_y</p:attrName>
                                        </p:attrNameLst>
                                      </p:cBhvr>
                                    </p:anim>
                                    <p:animRot by="21600000">
                                      <p:cBhvr>
                                        <p:cTn id="29" dur="1000" fill="hold">
                                          <p:stCondLst>
                                            <p:cond delay="0"/>
                                          </p:stCondLst>
                                        </p:cTn>
                                        <p:tgtEl>
                                          <p:spTgt spid="45"/>
                                        </p:tgtEl>
                                        <p:attrNameLst>
                                          <p:attrName>r</p:attrName>
                                        </p:attrNameLst>
                                      </p:cBhvr>
                                    </p:animRot>
                                  </p:childTnLst>
                                </p:cTn>
                              </p:par>
                              <p:par>
                                <p:cTn id="30" presetID="22" presetClass="entr" presetSubtype="8"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6" grpId="0" animBg="1"/>
      <p:bldP spid="34" grpId="0" animBg="1"/>
      <p:bldP spid="45" grpId="0"/>
      <p:bldP spid="29" grpId="0" animBg="1"/>
      <p:bldP spid="32"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3"/>
</p:tagLst>
</file>

<file path=ppt/tags/tag4.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123113243"/>
  <p:tag name="MH_LIBRARY" val="GRAPHIC"/>
  <p:tag name="MH_TYPE" val="Other"/>
  <p:tag name="MH_ORDER" val="4"/>
</p:tagLst>
</file>

<file path=ppt/theme/_rels/theme5.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www.33ppt.com ​​">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ww.33ppt.com ​​">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丝状">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离子">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1636</TotalTime>
  <Words>4690</Words>
  <Application>Microsoft Office PowerPoint</Application>
  <PresentationFormat>全屏显示(16:9)</PresentationFormat>
  <Paragraphs>244</Paragraphs>
  <Slides>37</Slides>
  <Notes>22</Notes>
  <HiddenSlides>0</HiddenSlides>
  <MMClips>0</MMClips>
  <ScaleCrop>false</ScaleCrop>
  <HeadingPairs>
    <vt:vector size="8" baseType="variant">
      <vt:variant>
        <vt:lpstr>已用的字体</vt:lpstr>
      </vt:variant>
      <vt:variant>
        <vt:i4>14</vt:i4>
      </vt:variant>
      <vt:variant>
        <vt:lpstr>主题</vt:lpstr>
      </vt:variant>
      <vt:variant>
        <vt:i4>5</vt:i4>
      </vt:variant>
      <vt:variant>
        <vt:lpstr>嵌入 OLE 服务器</vt:lpstr>
      </vt:variant>
      <vt:variant>
        <vt:i4>1</vt:i4>
      </vt:variant>
      <vt:variant>
        <vt:lpstr>幻灯片标题</vt:lpstr>
      </vt:variant>
      <vt:variant>
        <vt:i4>37</vt:i4>
      </vt:variant>
    </vt:vector>
  </HeadingPairs>
  <TitlesOfParts>
    <vt:vector size="57" baseType="lpstr">
      <vt:lpstr>Century Gothic</vt:lpstr>
      <vt:lpstr>Open Sans Semibold</vt:lpstr>
      <vt:lpstr>等线</vt:lpstr>
      <vt:lpstr>等线 Light</vt:lpstr>
      <vt:lpstr>黑体</vt:lpstr>
      <vt:lpstr>经典特宋简</vt:lpstr>
      <vt:lpstr>宋体</vt:lpstr>
      <vt:lpstr>微软雅黑</vt:lpstr>
      <vt:lpstr>微软雅黑 Light</vt:lpstr>
      <vt:lpstr>幼圆</vt:lpstr>
      <vt:lpstr>Arial</vt:lpstr>
      <vt:lpstr>Calibri</vt:lpstr>
      <vt:lpstr>Wingdings</vt:lpstr>
      <vt:lpstr>Wingdings 3</vt:lpstr>
      <vt:lpstr>www.33ppt.com ​​</vt:lpstr>
      <vt:lpstr>1_www.33ppt.com ​​</vt:lpstr>
      <vt:lpstr>Office 主题</vt:lpstr>
      <vt:lpstr>丝状</vt:lpstr>
      <vt:lpstr>离子</vt:lpstr>
      <vt:lpstr>Microsoft Word Picture</vt:lpstr>
      <vt:lpstr>PowerPoint 演示文稿</vt:lpstr>
      <vt:lpstr>PowerPoint 演示文稿</vt:lpstr>
      <vt:lpstr>PowerPoint 演示文稿</vt:lpstr>
      <vt:lpstr>软件变更的问题</vt:lpstr>
      <vt:lpstr>软件演化概述</vt:lpstr>
      <vt:lpstr>软件演化概述</vt:lpstr>
      <vt:lpstr>PowerPoint 演示文稿</vt:lpstr>
      <vt:lpstr> 软件演化定义</vt:lpstr>
      <vt:lpstr>软件演化必要性</vt:lpstr>
      <vt:lpstr>软件演化过程</vt:lpstr>
      <vt:lpstr>PowerPoint 演示文稿</vt:lpstr>
      <vt:lpstr>PowerPoint 演示文稿</vt:lpstr>
      <vt:lpstr>软件演化分类 ——按演化发生时机分类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软件演化生命周期模型</vt:lpstr>
      <vt:lpstr>3 软件生命周期模型——演化模型</vt:lpstr>
      <vt:lpstr>软件生命周期模型——演化模型</vt:lpstr>
      <vt:lpstr>开发</vt:lpstr>
      <vt:lpstr>演化</vt:lpstr>
      <vt:lpstr>服务</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www.33ppt.com</dc:title>
  <dc:subject>www.33ppt.com</dc:subject>
  <dc:creator>nie</dc:creator>
  <cp:lastModifiedBy>nie</cp:lastModifiedBy>
  <cp:revision>16</cp:revision>
  <dcterms:created xsi:type="dcterms:W3CDTF">2016-06-14T12:17:00Z</dcterms:created>
  <dcterms:modified xsi:type="dcterms:W3CDTF">2020-07-01T06:41:25Z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