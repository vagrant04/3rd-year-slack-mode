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1"/>
    <p:sldMasterId id="2147483679" r:id="rId2"/>
    <p:sldMasterId id="2147483695" r:id="rId3"/>
    <p:sldMasterId id="2147483707" r:id="rId4"/>
  </p:sldMasterIdLst>
  <p:notesMasterIdLst>
    <p:notesMasterId r:id="rId29"/>
  </p:notesMasterIdLst>
  <p:handoutMasterIdLst>
    <p:handoutMasterId r:id="rId30"/>
  </p:handoutMasterIdLst>
  <p:sldIdLst>
    <p:sldId id="256" r:id="rId5"/>
    <p:sldId id="291" r:id="rId6"/>
    <p:sldId id="258" r:id="rId7"/>
    <p:sldId id="298" r:id="rId8"/>
    <p:sldId id="274" r:id="rId9"/>
    <p:sldId id="299" r:id="rId10"/>
    <p:sldId id="300" r:id="rId11"/>
    <p:sldId id="301" r:id="rId12"/>
    <p:sldId id="302" r:id="rId13"/>
    <p:sldId id="276"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262" r:id="rId28"/>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314" autoAdjust="0"/>
    <p:restoredTop sz="94213"/>
  </p:normalViewPr>
  <p:slideViewPr>
    <p:cSldViewPr snapToGrid="0" snapToObjects="1">
      <p:cViewPr varScale="1">
        <p:scale>
          <a:sx n="51" d="100"/>
          <a:sy n="51" d="100"/>
        </p:scale>
        <p:origin x="96" y="81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3" d="100"/>
          <a:sy n="83" d="100"/>
        </p:scale>
        <p:origin x="3284" y="8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5DB85C-D039-4247-A4C8-83DB7E809C38}"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0CD56BB8-2DBF-4BBF-A320-1436F0438074}">
      <dgm:prSet phldrT="[文本]"/>
      <dgm:spPr/>
      <dgm:t>
        <a:bodyPr/>
        <a:lstStyle/>
        <a:p>
          <a:r>
            <a:rPr lang="zh-CN" altLang="en-US" dirty="0" smtClean="0"/>
            <a:t>维护性</a:t>
          </a:r>
          <a:endParaRPr lang="zh-CN" altLang="en-US" dirty="0"/>
        </a:p>
      </dgm:t>
    </dgm:pt>
    <dgm:pt modelId="{738EF2FB-C505-4C03-8AFA-84A44556D848}" type="parTrans" cxnId="{83FFDB8B-4AB2-4C40-B919-BC9EFBC5CFBF}">
      <dgm:prSet/>
      <dgm:spPr/>
      <dgm:t>
        <a:bodyPr/>
        <a:lstStyle/>
        <a:p>
          <a:endParaRPr lang="zh-CN" altLang="en-US"/>
        </a:p>
      </dgm:t>
    </dgm:pt>
    <dgm:pt modelId="{783DC95F-5273-4F0D-9D32-202BA9A5528F}" type="sibTrans" cxnId="{83FFDB8B-4AB2-4C40-B919-BC9EFBC5CFBF}">
      <dgm:prSet/>
      <dgm:spPr/>
      <dgm:t>
        <a:bodyPr/>
        <a:lstStyle/>
        <a:p>
          <a:endParaRPr lang="zh-CN" altLang="en-US"/>
        </a:p>
      </dgm:t>
    </dgm:pt>
    <dgm:pt modelId="{4699EBBB-BC3E-4CE1-9397-9EC00AF121E8}">
      <dgm:prSet phldrT="[文本]"/>
      <dgm:spPr/>
      <dgm:t>
        <a:bodyPr/>
        <a:lstStyle/>
        <a:p>
          <a:r>
            <a:rPr lang="zh-CN" altLang="en-US" dirty="0" smtClean="0"/>
            <a:t>易分析性</a:t>
          </a:r>
          <a:endParaRPr lang="zh-CN" altLang="en-US" dirty="0"/>
        </a:p>
      </dgm:t>
    </dgm:pt>
    <dgm:pt modelId="{BAD3A3BD-73EE-406C-87CF-3DF7B4754DE5}" type="parTrans" cxnId="{D8E5EACB-825F-49CE-B223-B8C547D6888E}">
      <dgm:prSet/>
      <dgm:spPr/>
      <dgm:t>
        <a:bodyPr/>
        <a:lstStyle/>
        <a:p>
          <a:endParaRPr lang="zh-CN" altLang="en-US"/>
        </a:p>
      </dgm:t>
    </dgm:pt>
    <dgm:pt modelId="{9610F787-7645-4949-8C67-0B7098221BAB}" type="sibTrans" cxnId="{D8E5EACB-825F-49CE-B223-B8C547D6888E}">
      <dgm:prSet/>
      <dgm:spPr/>
      <dgm:t>
        <a:bodyPr/>
        <a:lstStyle/>
        <a:p>
          <a:endParaRPr lang="zh-CN" altLang="en-US"/>
        </a:p>
      </dgm:t>
    </dgm:pt>
    <dgm:pt modelId="{D6D261F0-0D9E-4EEB-B845-592EEA3EB8FA}">
      <dgm:prSet phldrT="[文本]"/>
      <dgm:spPr/>
      <dgm:t>
        <a:bodyPr/>
        <a:lstStyle/>
        <a:p>
          <a:r>
            <a:rPr lang="zh-CN" altLang="en-US" dirty="0" smtClean="0"/>
            <a:t>稳定性</a:t>
          </a:r>
          <a:endParaRPr lang="zh-CN" altLang="en-US" dirty="0"/>
        </a:p>
      </dgm:t>
    </dgm:pt>
    <dgm:pt modelId="{3D8C2383-7C46-4234-A4CD-AD0161270D17}" type="parTrans" cxnId="{C1D3415A-742F-4480-AABE-D79635EF105B}">
      <dgm:prSet/>
      <dgm:spPr/>
      <dgm:t>
        <a:bodyPr/>
        <a:lstStyle/>
        <a:p>
          <a:endParaRPr lang="zh-CN" altLang="en-US"/>
        </a:p>
      </dgm:t>
    </dgm:pt>
    <dgm:pt modelId="{997F0E9C-FF7E-4092-867C-F4232F8ED9EA}" type="sibTrans" cxnId="{C1D3415A-742F-4480-AABE-D79635EF105B}">
      <dgm:prSet/>
      <dgm:spPr/>
      <dgm:t>
        <a:bodyPr/>
        <a:lstStyle/>
        <a:p>
          <a:endParaRPr lang="zh-CN" altLang="en-US"/>
        </a:p>
      </dgm:t>
    </dgm:pt>
    <dgm:pt modelId="{CA319435-4CB6-49FE-9B5D-DA837CE81EFE}">
      <dgm:prSet phldrT="[文本]"/>
      <dgm:spPr/>
      <dgm:t>
        <a:bodyPr/>
        <a:lstStyle/>
        <a:p>
          <a:r>
            <a:rPr lang="zh-CN" altLang="en-US" dirty="0" smtClean="0"/>
            <a:t>易测试性</a:t>
          </a:r>
          <a:endParaRPr lang="zh-CN" altLang="en-US" dirty="0"/>
        </a:p>
      </dgm:t>
    </dgm:pt>
    <dgm:pt modelId="{5B4EE0EF-7C6D-4B10-BFFF-2DE820A593CA}" type="parTrans" cxnId="{69E3916E-36A5-4D10-A7D0-44394A9B6350}">
      <dgm:prSet/>
      <dgm:spPr/>
      <dgm:t>
        <a:bodyPr/>
        <a:lstStyle/>
        <a:p>
          <a:endParaRPr lang="zh-CN" altLang="en-US"/>
        </a:p>
      </dgm:t>
    </dgm:pt>
    <dgm:pt modelId="{663EE390-E843-494E-9F1F-FC05C6277DD9}" type="sibTrans" cxnId="{69E3916E-36A5-4D10-A7D0-44394A9B6350}">
      <dgm:prSet/>
      <dgm:spPr/>
      <dgm:t>
        <a:bodyPr/>
        <a:lstStyle/>
        <a:p>
          <a:endParaRPr lang="zh-CN" altLang="en-US"/>
        </a:p>
      </dgm:t>
    </dgm:pt>
    <dgm:pt modelId="{C3A0EE08-D428-420D-B7F3-42DBE04364DC}">
      <dgm:prSet phldrT="[文本]"/>
      <dgm:spPr/>
      <dgm:t>
        <a:bodyPr/>
        <a:lstStyle/>
        <a:p>
          <a:r>
            <a:rPr lang="zh-CN" altLang="en-US" dirty="0" smtClean="0"/>
            <a:t>易改动性</a:t>
          </a:r>
          <a:endParaRPr lang="zh-CN" altLang="en-US" dirty="0"/>
        </a:p>
      </dgm:t>
    </dgm:pt>
    <dgm:pt modelId="{D0E9C112-9513-47CD-97A9-EB15868D55B0}" type="parTrans" cxnId="{7B3F3604-94FE-46D5-B81C-E6EA911F0235}">
      <dgm:prSet/>
      <dgm:spPr/>
      <dgm:t>
        <a:bodyPr/>
        <a:lstStyle/>
        <a:p>
          <a:endParaRPr lang="zh-CN" altLang="en-US"/>
        </a:p>
      </dgm:t>
    </dgm:pt>
    <dgm:pt modelId="{17F41777-BBE2-4329-8274-63832FAC056E}" type="sibTrans" cxnId="{7B3F3604-94FE-46D5-B81C-E6EA911F0235}">
      <dgm:prSet/>
      <dgm:spPr/>
      <dgm:t>
        <a:bodyPr/>
        <a:lstStyle/>
        <a:p>
          <a:endParaRPr lang="zh-CN" altLang="en-US"/>
        </a:p>
      </dgm:t>
    </dgm:pt>
    <dgm:pt modelId="{79AF4E1C-11EF-4818-8911-10569BF61CD1}" type="pres">
      <dgm:prSet presAssocID="{CF5DB85C-D039-4247-A4C8-83DB7E809C38}" presName="Name0" presStyleCnt="0">
        <dgm:presLayoutVars>
          <dgm:chMax val="1"/>
          <dgm:dir/>
          <dgm:animLvl val="ctr"/>
          <dgm:resizeHandles val="exact"/>
        </dgm:presLayoutVars>
      </dgm:prSet>
      <dgm:spPr/>
      <dgm:t>
        <a:bodyPr/>
        <a:lstStyle/>
        <a:p>
          <a:endParaRPr lang="zh-CN" altLang="en-US"/>
        </a:p>
      </dgm:t>
    </dgm:pt>
    <dgm:pt modelId="{CC041271-4E24-4A23-9249-058822635078}" type="pres">
      <dgm:prSet presAssocID="{0CD56BB8-2DBF-4BBF-A320-1436F0438074}" presName="centerShape" presStyleLbl="node0" presStyleIdx="0" presStyleCnt="1"/>
      <dgm:spPr/>
      <dgm:t>
        <a:bodyPr/>
        <a:lstStyle/>
        <a:p>
          <a:endParaRPr lang="zh-CN" altLang="en-US"/>
        </a:p>
      </dgm:t>
    </dgm:pt>
    <dgm:pt modelId="{CA5260F0-FE31-40D4-87A4-99FC88F4309F}" type="pres">
      <dgm:prSet presAssocID="{BAD3A3BD-73EE-406C-87CF-3DF7B4754DE5}" presName="parTrans" presStyleLbl="sibTrans2D1" presStyleIdx="0" presStyleCnt="4"/>
      <dgm:spPr/>
      <dgm:t>
        <a:bodyPr/>
        <a:lstStyle/>
        <a:p>
          <a:endParaRPr lang="zh-CN" altLang="en-US"/>
        </a:p>
      </dgm:t>
    </dgm:pt>
    <dgm:pt modelId="{0F7F8E4D-832B-432B-9B6B-502FF330CC23}" type="pres">
      <dgm:prSet presAssocID="{BAD3A3BD-73EE-406C-87CF-3DF7B4754DE5}" presName="connectorText" presStyleLbl="sibTrans2D1" presStyleIdx="0" presStyleCnt="4"/>
      <dgm:spPr/>
      <dgm:t>
        <a:bodyPr/>
        <a:lstStyle/>
        <a:p>
          <a:endParaRPr lang="zh-CN" altLang="en-US"/>
        </a:p>
      </dgm:t>
    </dgm:pt>
    <dgm:pt modelId="{74BDCF4C-8AF9-4400-B111-252D8E1A32EF}" type="pres">
      <dgm:prSet presAssocID="{4699EBBB-BC3E-4CE1-9397-9EC00AF121E8}" presName="node" presStyleLbl="node1" presStyleIdx="0" presStyleCnt="4">
        <dgm:presLayoutVars>
          <dgm:bulletEnabled val="1"/>
        </dgm:presLayoutVars>
      </dgm:prSet>
      <dgm:spPr/>
      <dgm:t>
        <a:bodyPr/>
        <a:lstStyle/>
        <a:p>
          <a:endParaRPr lang="zh-CN" altLang="en-US"/>
        </a:p>
      </dgm:t>
    </dgm:pt>
    <dgm:pt modelId="{C2B7591F-DDFF-41AF-9417-ABA41B854F4D}" type="pres">
      <dgm:prSet presAssocID="{3D8C2383-7C46-4234-A4CD-AD0161270D17}" presName="parTrans" presStyleLbl="sibTrans2D1" presStyleIdx="1" presStyleCnt="4"/>
      <dgm:spPr/>
      <dgm:t>
        <a:bodyPr/>
        <a:lstStyle/>
        <a:p>
          <a:endParaRPr lang="zh-CN" altLang="en-US"/>
        </a:p>
      </dgm:t>
    </dgm:pt>
    <dgm:pt modelId="{AA600833-3B86-4164-9B03-C37A60D1BBAD}" type="pres">
      <dgm:prSet presAssocID="{3D8C2383-7C46-4234-A4CD-AD0161270D17}" presName="connectorText" presStyleLbl="sibTrans2D1" presStyleIdx="1" presStyleCnt="4"/>
      <dgm:spPr/>
      <dgm:t>
        <a:bodyPr/>
        <a:lstStyle/>
        <a:p>
          <a:endParaRPr lang="zh-CN" altLang="en-US"/>
        </a:p>
      </dgm:t>
    </dgm:pt>
    <dgm:pt modelId="{8DD69D21-04C4-42FD-B70D-CB09240017CB}" type="pres">
      <dgm:prSet presAssocID="{D6D261F0-0D9E-4EEB-B845-592EEA3EB8FA}" presName="node" presStyleLbl="node1" presStyleIdx="1" presStyleCnt="4">
        <dgm:presLayoutVars>
          <dgm:bulletEnabled val="1"/>
        </dgm:presLayoutVars>
      </dgm:prSet>
      <dgm:spPr/>
      <dgm:t>
        <a:bodyPr/>
        <a:lstStyle/>
        <a:p>
          <a:endParaRPr lang="zh-CN" altLang="en-US"/>
        </a:p>
      </dgm:t>
    </dgm:pt>
    <dgm:pt modelId="{A2585B6E-7753-4728-80E0-D4A69C955D3F}" type="pres">
      <dgm:prSet presAssocID="{5B4EE0EF-7C6D-4B10-BFFF-2DE820A593CA}" presName="parTrans" presStyleLbl="sibTrans2D1" presStyleIdx="2" presStyleCnt="4"/>
      <dgm:spPr/>
      <dgm:t>
        <a:bodyPr/>
        <a:lstStyle/>
        <a:p>
          <a:endParaRPr lang="zh-CN" altLang="en-US"/>
        </a:p>
      </dgm:t>
    </dgm:pt>
    <dgm:pt modelId="{D0DEF7B4-727B-4ACF-9DD7-6A34A99B4433}" type="pres">
      <dgm:prSet presAssocID="{5B4EE0EF-7C6D-4B10-BFFF-2DE820A593CA}" presName="connectorText" presStyleLbl="sibTrans2D1" presStyleIdx="2" presStyleCnt="4"/>
      <dgm:spPr/>
      <dgm:t>
        <a:bodyPr/>
        <a:lstStyle/>
        <a:p>
          <a:endParaRPr lang="zh-CN" altLang="en-US"/>
        </a:p>
      </dgm:t>
    </dgm:pt>
    <dgm:pt modelId="{BD865145-627F-491B-8217-DCEB179D4C49}" type="pres">
      <dgm:prSet presAssocID="{CA319435-4CB6-49FE-9B5D-DA837CE81EFE}" presName="node" presStyleLbl="node1" presStyleIdx="2" presStyleCnt="4">
        <dgm:presLayoutVars>
          <dgm:bulletEnabled val="1"/>
        </dgm:presLayoutVars>
      </dgm:prSet>
      <dgm:spPr/>
      <dgm:t>
        <a:bodyPr/>
        <a:lstStyle/>
        <a:p>
          <a:endParaRPr lang="zh-CN" altLang="en-US"/>
        </a:p>
      </dgm:t>
    </dgm:pt>
    <dgm:pt modelId="{C4CD36F1-A7D5-4441-8F9F-8B31C284D6F3}" type="pres">
      <dgm:prSet presAssocID="{D0E9C112-9513-47CD-97A9-EB15868D55B0}" presName="parTrans" presStyleLbl="sibTrans2D1" presStyleIdx="3" presStyleCnt="4"/>
      <dgm:spPr/>
      <dgm:t>
        <a:bodyPr/>
        <a:lstStyle/>
        <a:p>
          <a:endParaRPr lang="zh-CN" altLang="en-US"/>
        </a:p>
      </dgm:t>
    </dgm:pt>
    <dgm:pt modelId="{D6BF9CDF-3AE1-4C7F-B9B1-8A6707B19040}" type="pres">
      <dgm:prSet presAssocID="{D0E9C112-9513-47CD-97A9-EB15868D55B0}" presName="connectorText" presStyleLbl="sibTrans2D1" presStyleIdx="3" presStyleCnt="4"/>
      <dgm:spPr/>
      <dgm:t>
        <a:bodyPr/>
        <a:lstStyle/>
        <a:p>
          <a:endParaRPr lang="zh-CN" altLang="en-US"/>
        </a:p>
      </dgm:t>
    </dgm:pt>
    <dgm:pt modelId="{2645ABA7-7640-4F0C-A11E-0505FC74BD9E}" type="pres">
      <dgm:prSet presAssocID="{C3A0EE08-D428-420D-B7F3-42DBE04364DC}" presName="node" presStyleLbl="node1" presStyleIdx="3" presStyleCnt="4">
        <dgm:presLayoutVars>
          <dgm:bulletEnabled val="1"/>
        </dgm:presLayoutVars>
      </dgm:prSet>
      <dgm:spPr/>
      <dgm:t>
        <a:bodyPr/>
        <a:lstStyle/>
        <a:p>
          <a:endParaRPr lang="zh-CN" altLang="en-US"/>
        </a:p>
      </dgm:t>
    </dgm:pt>
  </dgm:ptLst>
  <dgm:cxnLst>
    <dgm:cxn modelId="{2FA43D3A-D3C7-4B78-AB31-0B8F350D7D9C}" type="presOf" srcId="{0CD56BB8-2DBF-4BBF-A320-1436F0438074}" destId="{CC041271-4E24-4A23-9249-058822635078}" srcOrd="0" destOrd="0" presId="urn:microsoft.com/office/officeart/2005/8/layout/radial5"/>
    <dgm:cxn modelId="{9FDBC697-5B10-42D2-8292-ED68A354614B}" type="presOf" srcId="{D0E9C112-9513-47CD-97A9-EB15868D55B0}" destId="{D6BF9CDF-3AE1-4C7F-B9B1-8A6707B19040}" srcOrd="1" destOrd="0" presId="urn:microsoft.com/office/officeart/2005/8/layout/radial5"/>
    <dgm:cxn modelId="{3619A00D-C2FA-4753-966C-0ED55CBC2ECD}" type="presOf" srcId="{D0E9C112-9513-47CD-97A9-EB15868D55B0}" destId="{C4CD36F1-A7D5-4441-8F9F-8B31C284D6F3}" srcOrd="0" destOrd="0" presId="urn:microsoft.com/office/officeart/2005/8/layout/radial5"/>
    <dgm:cxn modelId="{E4BB5E6E-45BB-4699-8F0D-6DF6AE1DD76A}" type="presOf" srcId="{3D8C2383-7C46-4234-A4CD-AD0161270D17}" destId="{C2B7591F-DDFF-41AF-9417-ABA41B854F4D}" srcOrd="0" destOrd="0" presId="urn:microsoft.com/office/officeart/2005/8/layout/radial5"/>
    <dgm:cxn modelId="{95074163-354E-46AD-8779-DB0D31DCB902}" type="presOf" srcId="{BAD3A3BD-73EE-406C-87CF-3DF7B4754DE5}" destId="{0F7F8E4D-832B-432B-9B6B-502FF330CC23}" srcOrd="1" destOrd="0" presId="urn:microsoft.com/office/officeart/2005/8/layout/radial5"/>
    <dgm:cxn modelId="{AEBCE905-A073-4692-B8DE-4E904938B5E6}" type="presOf" srcId="{BAD3A3BD-73EE-406C-87CF-3DF7B4754DE5}" destId="{CA5260F0-FE31-40D4-87A4-99FC88F4309F}" srcOrd="0" destOrd="0" presId="urn:microsoft.com/office/officeart/2005/8/layout/radial5"/>
    <dgm:cxn modelId="{69E3916E-36A5-4D10-A7D0-44394A9B6350}" srcId="{0CD56BB8-2DBF-4BBF-A320-1436F0438074}" destId="{CA319435-4CB6-49FE-9B5D-DA837CE81EFE}" srcOrd="2" destOrd="0" parTransId="{5B4EE0EF-7C6D-4B10-BFFF-2DE820A593CA}" sibTransId="{663EE390-E843-494E-9F1F-FC05C6277DD9}"/>
    <dgm:cxn modelId="{90DEB4A8-90F5-4EB9-849A-E99EF52661A8}" type="presOf" srcId="{5B4EE0EF-7C6D-4B10-BFFF-2DE820A593CA}" destId="{D0DEF7B4-727B-4ACF-9DD7-6A34A99B4433}" srcOrd="1" destOrd="0" presId="urn:microsoft.com/office/officeart/2005/8/layout/radial5"/>
    <dgm:cxn modelId="{83FFDB8B-4AB2-4C40-B919-BC9EFBC5CFBF}" srcId="{CF5DB85C-D039-4247-A4C8-83DB7E809C38}" destId="{0CD56BB8-2DBF-4BBF-A320-1436F0438074}" srcOrd="0" destOrd="0" parTransId="{738EF2FB-C505-4C03-8AFA-84A44556D848}" sibTransId="{783DC95F-5273-4F0D-9D32-202BA9A5528F}"/>
    <dgm:cxn modelId="{7B3F3604-94FE-46D5-B81C-E6EA911F0235}" srcId="{0CD56BB8-2DBF-4BBF-A320-1436F0438074}" destId="{C3A0EE08-D428-420D-B7F3-42DBE04364DC}" srcOrd="3" destOrd="0" parTransId="{D0E9C112-9513-47CD-97A9-EB15868D55B0}" sibTransId="{17F41777-BBE2-4329-8274-63832FAC056E}"/>
    <dgm:cxn modelId="{E52887A4-69AA-4487-B773-5E5F189EF135}" type="presOf" srcId="{CA319435-4CB6-49FE-9B5D-DA837CE81EFE}" destId="{BD865145-627F-491B-8217-DCEB179D4C49}" srcOrd="0" destOrd="0" presId="urn:microsoft.com/office/officeart/2005/8/layout/radial5"/>
    <dgm:cxn modelId="{AE931594-304C-4EB6-ADAB-F8C0264CEE1F}" type="presOf" srcId="{5B4EE0EF-7C6D-4B10-BFFF-2DE820A593CA}" destId="{A2585B6E-7753-4728-80E0-D4A69C955D3F}" srcOrd="0" destOrd="0" presId="urn:microsoft.com/office/officeart/2005/8/layout/radial5"/>
    <dgm:cxn modelId="{98DD70F6-2AB8-4ABE-A50F-0269EBA22630}" type="presOf" srcId="{D6D261F0-0D9E-4EEB-B845-592EEA3EB8FA}" destId="{8DD69D21-04C4-42FD-B70D-CB09240017CB}" srcOrd="0" destOrd="0" presId="urn:microsoft.com/office/officeart/2005/8/layout/radial5"/>
    <dgm:cxn modelId="{C1D3415A-742F-4480-AABE-D79635EF105B}" srcId="{0CD56BB8-2DBF-4BBF-A320-1436F0438074}" destId="{D6D261F0-0D9E-4EEB-B845-592EEA3EB8FA}" srcOrd="1" destOrd="0" parTransId="{3D8C2383-7C46-4234-A4CD-AD0161270D17}" sibTransId="{997F0E9C-FF7E-4092-867C-F4232F8ED9EA}"/>
    <dgm:cxn modelId="{A69D17DF-C533-46C2-8255-B1EE71082834}" type="presOf" srcId="{3D8C2383-7C46-4234-A4CD-AD0161270D17}" destId="{AA600833-3B86-4164-9B03-C37A60D1BBAD}" srcOrd="1" destOrd="0" presId="urn:microsoft.com/office/officeart/2005/8/layout/radial5"/>
    <dgm:cxn modelId="{B5579189-8939-4311-B8EA-67782D354441}" type="presOf" srcId="{4699EBBB-BC3E-4CE1-9397-9EC00AF121E8}" destId="{74BDCF4C-8AF9-4400-B111-252D8E1A32EF}" srcOrd="0" destOrd="0" presId="urn:microsoft.com/office/officeart/2005/8/layout/radial5"/>
    <dgm:cxn modelId="{EAE43114-ACF1-496E-B2E6-B1D25347C34B}" type="presOf" srcId="{CF5DB85C-D039-4247-A4C8-83DB7E809C38}" destId="{79AF4E1C-11EF-4818-8911-10569BF61CD1}" srcOrd="0" destOrd="0" presId="urn:microsoft.com/office/officeart/2005/8/layout/radial5"/>
    <dgm:cxn modelId="{10685303-DA7D-4E8A-857F-3FEEEA89CB98}" type="presOf" srcId="{C3A0EE08-D428-420D-B7F3-42DBE04364DC}" destId="{2645ABA7-7640-4F0C-A11E-0505FC74BD9E}" srcOrd="0" destOrd="0" presId="urn:microsoft.com/office/officeart/2005/8/layout/radial5"/>
    <dgm:cxn modelId="{D8E5EACB-825F-49CE-B223-B8C547D6888E}" srcId="{0CD56BB8-2DBF-4BBF-A320-1436F0438074}" destId="{4699EBBB-BC3E-4CE1-9397-9EC00AF121E8}" srcOrd="0" destOrd="0" parTransId="{BAD3A3BD-73EE-406C-87CF-3DF7B4754DE5}" sibTransId="{9610F787-7645-4949-8C67-0B7098221BAB}"/>
    <dgm:cxn modelId="{DD466C0A-1C69-45F5-8CB8-F9695C49845A}" type="presParOf" srcId="{79AF4E1C-11EF-4818-8911-10569BF61CD1}" destId="{CC041271-4E24-4A23-9249-058822635078}" srcOrd="0" destOrd="0" presId="urn:microsoft.com/office/officeart/2005/8/layout/radial5"/>
    <dgm:cxn modelId="{7B4DE752-3B41-47A1-8290-5073A651B14C}" type="presParOf" srcId="{79AF4E1C-11EF-4818-8911-10569BF61CD1}" destId="{CA5260F0-FE31-40D4-87A4-99FC88F4309F}" srcOrd="1" destOrd="0" presId="urn:microsoft.com/office/officeart/2005/8/layout/radial5"/>
    <dgm:cxn modelId="{5EAC0F54-8BD7-42E8-A53C-9A8D46159CED}" type="presParOf" srcId="{CA5260F0-FE31-40D4-87A4-99FC88F4309F}" destId="{0F7F8E4D-832B-432B-9B6B-502FF330CC23}" srcOrd="0" destOrd="0" presId="urn:microsoft.com/office/officeart/2005/8/layout/radial5"/>
    <dgm:cxn modelId="{D672C2D8-A18B-45A1-B484-6EE04783FAB2}" type="presParOf" srcId="{79AF4E1C-11EF-4818-8911-10569BF61CD1}" destId="{74BDCF4C-8AF9-4400-B111-252D8E1A32EF}" srcOrd="2" destOrd="0" presId="urn:microsoft.com/office/officeart/2005/8/layout/radial5"/>
    <dgm:cxn modelId="{88298D15-C0CE-4D87-A094-C48E487A42D1}" type="presParOf" srcId="{79AF4E1C-11EF-4818-8911-10569BF61CD1}" destId="{C2B7591F-DDFF-41AF-9417-ABA41B854F4D}" srcOrd="3" destOrd="0" presId="urn:microsoft.com/office/officeart/2005/8/layout/radial5"/>
    <dgm:cxn modelId="{FA702245-27F3-472F-98DE-21875A2B0923}" type="presParOf" srcId="{C2B7591F-DDFF-41AF-9417-ABA41B854F4D}" destId="{AA600833-3B86-4164-9B03-C37A60D1BBAD}" srcOrd="0" destOrd="0" presId="urn:microsoft.com/office/officeart/2005/8/layout/radial5"/>
    <dgm:cxn modelId="{C1115971-6791-4672-A266-4CE7241611F8}" type="presParOf" srcId="{79AF4E1C-11EF-4818-8911-10569BF61CD1}" destId="{8DD69D21-04C4-42FD-B70D-CB09240017CB}" srcOrd="4" destOrd="0" presId="urn:microsoft.com/office/officeart/2005/8/layout/radial5"/>
    <dgm:cxn modelId="{119F20E2-A274-435A-B762-110D2863D3F1}" type="presParOf" srcId="{79AF4E1C-11EF-4818-8911-10569BF61CD1}" destId="{A2585B6E-7753-4728-80E0-D4A69C955D3F}" srcOrd="5" destOrd="0" presId="urn:microsoft.com/office/officeart/2005/8/layout/radial5"/>
    <dgm:cxn modelId="{AFAD8B18-2AC1-48AF-A9B8-3F5162C1CE49}" type="presParOf" srcId="{A2585B6E-7753-4728-80E0-D4A69C955D3F}" destId="{D0DEF7B4-727B-4ACF-9DD7-6A34A99B4433}" srcOrd="0" destOrd="0" presId="urn:microsoft.com/office/officeart/2005/8/layout/radial5"/>
    <dgm:cxn modelId="{19F8E8F8-1CCF-469B-A6C3-4C3C164C269B}" type="presParOf" srcId="{79AF4E1C-11EF-4818-8911-10569BF61CD1}" destId="{BD865145-627F-491B-8217-DCEB179D4C49}" srcOrd="6" destOrd="0" presId="urn:microsoft.com/office/officeart/2005/8/layout/radial5"/>
    <dgm:cxn modelId="{9A3C1F5F-B29A-4C36-974E-F7F1206325AF}" type="presParOf" srcId="{79AF4E1C-11EF-4818-8911-10569BF61CD1}" destId="{C4CD36F1-A7D5-4441-8F9F-8B31C284D6F3}" srcOrd="7" destOrd="0" presId="urn:microsoft.com/office/officeart/2005/8/layout/radial5"/>
    <dgm:cxn modelId="{7B4EA5CF-8B6D-46A4-8E6A-ACCF3F35F580}" type="presParOf" srcId="{C4CD36F1-A7D5-4441-8F9F-8B31C284D6F3}" destId="{D6BF9CDF-3AE1-4C7F-B9B1-8A6707B19040}" srcOrd="0" destOrd="0" presId="urn:microsoft.com/office/officeart/2005/8/layout/radial5"/>
    <dgm:cxn modelId="{705B0962-00F3-4DE4-B454-F6890B2219DA}" type="presParOf" srcId="{79AF4E1C-11EF-4818-8911-10569BF61CD1}" destId="{2645ABA7-7640-4F0C-A11E-0505FC74BD9E}"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8BF53E-75DB-488C-99F3-7BBD14F9FF6D}"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DE951A81-0CEE-4D7D-A20F-078AAA51904F}">
      <dgm:prSet phldrT="[文本]" custT="1"/>
      <dgm:spPr/>
      <dgm:t>
        <a:bodyPr/>
        <a:lstStyle/>
        <a:p>
          <a:r>
            <a:rPr lang="zh-CN" altLang="en-US" sz="1200" dirty="0" smtClean="0"/>
            <a:t>软件都有自己运行的硬件环境和软件环境，在使用过程中，硬件环境、软件环境、数据环境</a:t>
          </a:r>
          <a:r>
            <a:rPr lang="en-US" altLang="en-US" sz="1200" dirty="0" smtClean="0"/>
            <a:t>(</a:t>
          </a:r>
          <a:r>
            <a:rPr lang="zh-CN" altLang="en-US" sz="1200" dirty="0" smtClean="0"/>
            <a:t>如数据库、数据输入</a:t>
          </a:r>
          <a:r>
            <a:rPr lang="en-US" altLang="en-US" sz="1200" dirty="0" smtClean="0"/>
            <a:t>/</a:t>
          </a:r>
          <a:r>
            <a:rPr lang="zh-CN" altLang="en-US" sz="1200" dirty="0" smtClean="0"/>
            <a:t>输出方式、数据存储介质</a:t>
          </a:r>
          <a:r>
            <a:rPr lang="en-US" altLang="en-US" sz="1200" dirty="0" smtClean="0"/>
            <a:t>)</a:t>
          </a:r>
          <a:r>
            <a:rPr lang="zh-CN" altLang="en-US" sz="1200" dirty="0" smtClean="0"/>
            <a:t>都是可能发生变化的。为使软件适应这种变化，而去修改软件的过程就叫做适应性维护。</a:t>
          </a:r>
          <a:endParaRPr lang="zh-CN" altLang="en-US" sz="1200" dirty="0"/>
        </a:p>
      </dgm:t>
    </dgm:pt>
    <dgm:pt modelId="{91D51FE1-88E7-451E-8DD3-0722BF63EEFC}" type="parTrans" cxnId="{636A03FD-3B6F-4ED8-900A-503F0C13ABB6}">
      <dgm:prSet/>
      <dgm:spPr/>
      <dgm:t>
        <a:bodyPr/>
        <a:lstStyle/>
        <a:p>
          <a:endParaRPr lang="zh-CN" altLang="en-US"/>
        </a:p>
      </dgm:t>
    </dgm:pt>
    <dgm:pt modelId="{D0082D81-9B16-4EC4-9320-384B3C0271BA}" type="sibTrans" cxnId="{636A03FD-3B6F-4ED8-900A-503F0C13ABB6}">
      <dgm:prSet/>
      <dgm:spPr/>
      <dgm:t>
        <a:bodyPr/>
        <a:lstStyle/>
        <a:p>
          <a:endParaRPr lang="zh-CN" altLang="en-US"/>
        </a:p>
      </dgm:t>
    </dgm:pt>
    <dgm:pt modelId="{B962CE8E-CF57-4036-A681-F63584F973F9}">
      <dgm:prSet phldrT="[文本]" custT="1"/>
      <dgm:spPr/>
      <dgm:t>
        <a:bodyPr/>
        <a:lstStyle/>
        <a:p>
          <a:r>
            <a:rPr lang="zh-CN" altLang="en-US" sz="1100" dirty="0" smtClean="0"/>
            <a:t>在软件的使用过程中，用户往往会对软件提出新的功能与性能要求，为了满足这些要求，需要修改或再开发软件。这种以扩充软件功能、增强软件性能、改进加工效率而进行的维护叫做完善性维护完善性维护是维护工作中最多的类型，占维护工作的</a:t>
          </a:r>
          <a:r>
            <a:rPr lang="en-US" altLang="en-US" sz="1100" dirty="0" smtClean="0"/>
            <a:t>50% </a:t>
          </a:r>
          <a:r>
            <a:rPr lang="zh-CN" altLang="en-US" sz="1100" dirty="0" smtClean="0"/>
            <a:t>左右。</a:t>
          </a:r>
          <a:endParaRPr lang="zh-CN" altLang="en-US" sz="1100" dirty="0"/>
        </a:p>
      </dgm:t>
    </dgm:pt>
    <dgm:pt modelId="{0346A355-B984-4607-960E-DF2FE5B1B0CF}" type="parTrans" cxnId="{10D4F9DF-53B3-46B8-95A8-E1F7430FB28B}">
      <dgm:prSet/>
      <dgm:spPr/>
      <dgm:t>
        <a:bodyPr/>
        <a:lstStyle/>
        <a:p>
          <a:endParaRPr lang="zh-CN" altLang="en-US"/>
        </a:p>
      </dgm:t>
    </dgm:pt>
    <dgm:pt modelId="{0252A6AF-5447-406F-A297-CC2835404E1E}" type="sibTrans" cxnId="{10D4F9DF-53B3-46B8-95A8-E1F7430FB28B}">
      <dgm:prSet/>
      <dgm:spPr/>
      <dgm:t>
        <a:bodyPr/>
        <a:lstStyle/>
        <a:p>
          <a:endParaRPr lang="zh-CN" altLang="en-US"/>
        </a:p>
      </dgm:t>
    </dgm:pt>
    <dgm:pt modelId="{A5BE895E-0EE5-4AD5-9F8C-03289EE5F694}">
      <dgm:prSet phldrT="[文本]" custT="1"/>
      <dgm:spPr/>
      <dgm:t>
        <a:bodyPr/>
        <a:lstStyle/>
        <a:p>
          <a:r>
            <a:rPr lang="zh-CN" altLang="en-US" sz="1200" dirty="0" smtClean="0"/>
            <a:t>为了识别和纠正软件错误、改正软件性能上的缺陷、排除实施中的错误使用，应当进行的诊断和改正错误的过程就叫做改正性维护</a:t>
          </a:r>
          <a:r>
            <a:rPr lang="zh-CN" altLang="en-US" sz="1300" dirty="0" smtClean="0"/>
            <a:t>。</a:t>
          </a:r>
          <a:endParaRPr lang="zh-CN" altLang="en-US" sz="1300" dirty="0"/>
        </a:p>
      </dgm:t>
    </dgm:pt>
    <dgm:pt modelId="{7DF8F032-3561-488D-8591-3750BDE3FA76}" type="parTrans" cxnId="{CDCB003A-DCDC-49A3-B565-FF7720288746}">
      <dgm:prSet/>
      <dgm:spPr/>
      <dgm:t>
        <a:bodyPr/>
        <a:lstStyle/>
        <a:p>
          <a:endParaRPr lang="zh-CN" altLang="en-US"/>
        </a:p>
      </dgm:t>
    </dgm:pt>
    <dgm:pt modelId="{C43E27AA-E853-49F7-B371-ADCC181C5ABD}" type="sibTrans" cxnId="{CDCB003A-DCDC-49A3-B565-FF7720288746}">
      <dgm:prSet/>
      <dgm:spPr/>
      <dgm:t>
        <a:bodyPr/>
        <a:lstStyle/>
        <a:p>
          <a:endParaRPr lang="zh-CN" altLang="en-US"/>
        </a:p>
      </dgm:t>
    </dgm:pt>
    <dgm:pt modelId="{16150611-8ADE-4140-9A0C-09678B60D625}">
      <dgm:prSet phldrT="[文本]" custT="1"/>
      <dgm:spPr/>
      <dgm:t>
        <a:bodyPr/>
        <a:lstStyle/>
        <a:p>
          <a:r>
            <a:rPr lang="zh-CN" altLang="en-US" sz="1200" dirty="0" smtClean="0"/>
            <a:t>即修改软件，为将来的维护活动预先做准备</a:t>
          </a:r>
          <a:r>
            <a:rPr lang="zh-CN" altLang="en-US" sz="2000" dirty="0" smtClean="0"/>
            <a:t>。</a:t>
          </a:r>
          <a:endParaRPr lang="zh-CN" altLang="en-US" sz="2000" dirty="0"/>
        </a:p>
      </dgm:t>
    </dgm:pt>
    <dgm:pt modelId="{32BB69C4-6C8A-48B2-9C1A-E01BF9E69AA6}" type="parTrans" cxnId="{851C5F08-4E87-483E-9B28-08AA22BF554E}">
      <dgm:prSet/>
      <dgm:spPr/>
      <dgm:t>
        <a:bodyPr/>
        <a:lstStyle/>
        <a:p>
          <a:endParaRPr lang="zh-CN" altLang="en-US"/>
        </a:p>
      </dgm:t>
    </dgm:pt>
    <dgm:pt modelId="{A35F5CC8-2D03-4F27-8794-241E55004F0F}" type="sibTrans" cxnId="{851C5F08-4E87-483E-9B28-08AA22BF554E}">
      <dgm:prSet/>
      <dgm:spPr/>
      <dgm:t>
        <a:bodyPr/>
        <a:lstStyle/>
        <a:p>
          <a:endParaRPr lang="zh-CN" altLang="en-US"/>
        </a:p>
      </dgm:t>
    </dgm:pt>
    <dgm:pt modelId="{C00E7302-29C1-4A7A-A37F-C738DBC932A3}" type="pres">
      <dgm:prSet presAssocID="{AA8BF53E-75DB-488C-99F3-7BBD14F9FF6D}" presName="matrix" presStyleCnt="0">
        <dgm:presLayoutVars>
          <dgm:chMax val="1"/>
          <dgm:dir/>
          <dgm:resizeHandles val="exact"/>
        </dgm:presLayoutVars>
      </dgm:prSet>
      <dgm:spPr/>
      <dgm:t>
        <a:bodyPr/>
        <a:lstStyle/>
        <a:p>
          <a:endParaRPr lang="zh-CN" altLang="en-US"/>
        </a:p>
      </dgm:t>
    </dgm:pt>
    <dgm:pt modelId="{D56C61F8-25A6-47E4-BDC6-DBCCBB198FBE}" type="pres">
      <dgm:prSet presAssocID="{AA8BF53E-75DB-488C-99F3-7BBD14F9FF6D}" presName="axisShape" presStyleLbl="bgShp" presStyleIdx="0" presStyleCnt="1"/>
      <dgm:spPr/>
    </dgm:pt>
    <dgm:pt modelId="{417D8D72-AB7E-4E33-9CF8-F0808E15A2A8}" type="pres">
      <dgm:prSet presAssocID="{AA8BF53E-75DB-488C-99F3-7BBD14F9FF6D}" presName="rect1" presStyleLbl="node1" presStyleIdx="0" presStyleCnt="4">
        <dgm:presLayoutVars>
          <dgm:chMax val="0"/>
          <dgm:chPref val="0"/>
          <dgm:bulletEnabled val="1"/>
        </dgm:presLayoutVars>
      </dgm:prSet>
      <dgm:spPr/>
      <dgm:t>
        <a:bodyPr/>
        <a:lstStyle/>
        <a:p>
          <a:endParaRPr lang="zh-CN" altLang="en-US"/>
        </a:p>
      </dgm:t>
    </dgm:pt>
    <dgm:pt modelId="{F959F3B8-D3B1-4689-8848-BDBCBD0B6332}" type="pres">
      <dgm:prSet presAssocID="{AA8BF53E-75DB-488C-99F3-7BBD14F9FF6D}" presName="rect2" presStyleLbl="node1" presStyleIdx="1" presStyleCnt="4">
        <dgm:presLayoutVars>
          <dgm:chMax val="0"/>
          <dgm:chPref val="0"/>
          <dgm:bulletEnabled val="1"/>
        </dgm:presLayoutVars>
      </dgm:prSet>
      <dgm:spPr/>
      <dgm:t>
        <a:bodyPr/>
        <a:lstStyle/>
        <a:p>
          <a:endParaRPr lang="zh-CN" altLang="en-US"/>
        </a:p>
      </dgm:t>
    </dgm:pt>
    <dgm:pt modelId="{4BD8CEAA-90DC-4FF0-B6DA-E923E2186D9F}" type="pres">
      <dgm:prSet presAssocID="{AA8BF53E-75DB-488C-99F3-7BBD14F9FF6D}" presName="rect3" presStyleLbl="node1" presStyleIdx="2" presStyleCnt="4">
        <dgm:presLayoutVars>
          <dgm:chMax val="0"/>
          <dgm:chPref val="0"/>
          <dgm:bulletEnabled val="1"/>
        </dgm:presLayoutVars>
      </dgm:prSet>
      <dgm:spPr/>
      <dgm:t>
        <a:bodyPr/>
        <a:lstStyle/>
        <a:p>
          <a:endParaRPr lang="zh-CN" altLang="en-US"/>
        </a:p>
      </dgm:t>
    </dgm:pt>
    <dgm:pt modelId="{78191A42-D9F7-4468-A10C-78E0B97B3135}" type="pres">
      <dgm:prSet presAssocID="{AA8BF53E-75DB-488C-99F3-7BBD14F9FF6D}" presName="rect4" presStyleLbl="node1" presStyleIdx="3" presStyleCnt="4">
        <dgm:presLayoutVars>
          <dgm:chMax val="0"/>
          <dgm:chPref val="0"/>
          <dgm:bulletEnabled val="1"/>
        </dgm:presLayoutVars>
      </dgm:prSet>
      <dgm:spPr/>
      <dgm:t>
        <a:bodyPr/>
        <a:lstStyle/>
        <a:p>
          <a:endParaRPr lang="zh-CN" altLang="en-US"/>
        </a:p>
      </dgm:t>
    </dgm:pt>
  </dgm:ptLst>
  <dgm:cxnLst>
    <dgm:cxn modelId="{89D337B1-F314-44D3-B6C8-F8CE1A2EEA03}" type="presOf" srcId="{AA8BF53E-75DB-488C-99F3-7BBD14F9FF6D}" destId="{C00E7302-29C1-4A7A-A37F-C738DBC932A3}" srcOrd="0" destOrd="0" presId="urn:microsoft.com/office/officeart/2005/8/layout/matrix2"/>
    <dgm:cxn modelId="{CDCB003A-DCDC-49A3-B565-FF7720288746}" srcId="{AA8BF53E-75DB-488C-99F3-7BBD14F9FF6D}" destId="{A5BE895E-0EE5-4AD5-9F8C-03289EE5F694}" srcOrd="2" destOrd="0" parTransId="{7DF8F032-3561-488D-8591-3750BDE3FA76}" sibTransId="{C43E27AA-E853-49F7-B371-ADCC181C5ABD}"/>
    <dgm:cxn modelId="{C36D9ABC-F11B-4194-BF39-258436729AA7}" type="presOf" srcId="{A5BE895E-0EE5-4AD5-9F8C-03289EE5F694}" destId="{4BD8CEAA-90DC-4FF0-B6DA-E923E2186D9F}" srcOrd="0" destOrd="0" presId="urn:microsoft.com/office/officeart/2005/8/layout/matrix2"/>
    <dgm:cxn modelId="{10D4F9DF-53B3-46B8-95A8-E1F7430FB28B}" srcId="{AA8BF53E-75DB-488C-99F3-7BBD14F9FF6D}" destId="{B962CE8E-CF57-4036-A681-F63584F973F9}" srcOrd="1" destOrd="0" parTransId="{0346A355-B984-4607-960E-DF2FE5B1B0CF}" sibTransId="{0252A6AF-5447-406F-A297-CC2835404E1E}"/>
    <dgm:cxn modelId="{444809B3-8D79-4D27-87EB-1D7D8478FA17}" type="presOf" srcId="{16150611-8ADE-4140-9A0C-09678B60D625}" destId="{78191A42-D9F7-4468-A10C-78E0B97B3135}" srcOrd="0" destOrd="0" presId="urn:microsoft.com/office/officeart/2005/8/layout/matrix2"/>
    <dgm:cxn modelId="{0A8D8628-97E0-409A-94B2-1FFE916A6BD9}" type="presOf" srcId="{DE951A81-0CEE-4D7D-A20F-078AAA51904F}" destId="{417D8D72-AB7E-4E33-9CF8-F0808E15A2A8}" srcOrd="0" destOrd="0" presId="urn:microsoft.com/office/officeart/2005/8/layout/matrix2"/>
    <dgm:cxn modelId="{851C5F08-4E87-483E-9B28-08AA22BF554E}" srcId="{AA8BF53E-75DB-488C-99F3-7BBD14F9FF6D}" destId="{16150611-8ADE-4140-9A0C-09678B60D625}" srcOrd="3" destOrd="0" parTransId="{32BB69C4-6C8A-48B2-9C1A-E01BF9E69AA6}" sibTransId="{A35F5CC8-2D03-4F27-8794-241E55004F0F}"/>
    <dgm:cxn modelId="{636A03FD-3B6F-4ED8-900A-503F0C13ABB6}" srcId="{AA8BF53E-75DB-488C-99F3-7BBD14F9FF6D}" destId="{DE951A81-0CEE-4D7D-A20F-078AAA51904F}" srcOrd="0" destOrd="0" parTransId="{91D51FE1-88E7-451E-8DD3-0722BF63EEFC}" sibTransId="{D0082D81-9B16-4EC4-9320-384B3C0271BA}"/>
    <dgm:cxn modelId="{B83ACD44-F6CF-4BC2-B21B-03491463CC2C}" type="presOf" srcId="{B962CE8E-CF57-4036-A681-F63584F973F9}" destId="{F959F3B8-D3B1-4689-8848-BDBCBD0B6332}" srcOrd="0" destOrd="0" presId="urn:microsoft.com/office/officeart/2005/8/layout/matrix2"/>
    <dgm:cxn modelId="{726CB838-2A8D-452F-825B-4BDB77EBDD00}" type="presParOf" srcId="{C00E7302-29C1-4A7A-A37F-C738DBC932A3}" destId="{D56C61F8-25A6-47E4-BDC6-DBCCBB198FBE}" srcOrd="0" destOrd="0" presId="urn:microsoft.com/office/officeart/2005/8/layout/matrix2"/>
    <dgm:cxn modelId="{D025FFD0-C9ED-42F5-B8DA-5F2826F519F1}" type="presParOf" srcId="{C00E7302-29C1-4A7A-A37F-C738DBC932A3}" destId="{417D8D72-AB7E-4E33-9CF8-F0808E15A2A8}" srcOrd="1" destOrd="0" presId="urn:microsoft.com/office/officeart/2005/8/layout/matrix2"/>
    <dgm:cxn modelId="{4752BBA8-A170-4138-B2DE-EE526604545E}" type="presParOf" srcId="{C00E7302-29C1-4A7A-A37F-C738DBC932A3}" destId="{F959F3B8-D3B1-4689-8848-BDBCBD0B6332}" srcOrd="2" destOrd="0" presId="urn:microsoft.com/office/officeart/2005/8/layout/matrix2"/>
    <dgm:cxn modelId="{41868EED-C04E-4A3C-A40F-D22ACD439ADB}" type="presParOf" srcId="{C00E7302-29C1-4A7A-A37F-C738DBC932A3}" destId="{4BD8CEAA-90DC-4FF0-B6DA-E923E2186D9F}" srcOrd="3" destOrd="0" presId="urn:microsoft.com/office/officeart/2005/8/layout/matrix2"/>
    <dgm:cxn modelId="{4CD31967-F0FA-48E4-B8AA-2BC4BE313FC1}" type="presParOf" srcId="{C00E7302-29C1-4A7A-A37F-C738DBC932A3}" destId="{78191A42-D9F7-4468-A10C-78E0B97B3135}"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041271-4E24-4A23-9249-058822635078}">
      <dsp:nvSpPr>
        <dsp:cNvPr id="0" name=""/>
        <dsp:cNvSpPr/>
      </dsp:nvSpPr>
      <dsp:spPr>
        <a:xfrm>
          <a:off x="2382717" y="1155614"/>
          <a:ext cx="824261" cy="8242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kern="1200" dirty="0" smtClean="0"/>
            <a:t>维护性</a:t>
          </a:r>
          <a:endParaRPr lang="zh-CN" altLang="en-US" sz="1400" kern="1200" dirty="0"/>
        </a:p>
      </dsp:txBody>
      <dsp:txXfrm>
        <a:off x="2503427" y="1276324"/>
        <a:ext cx="582841" cy="582841"/>
      </dsp:txXfrm>
    </dsp:sp>
    <dsp:sp modelId="{CA5260F0-FE31-40D4-87A4-99FC88F4309F}">
      <dsp:nvSpPr>
        <dsp:cNvPr id="0" name=""/>
        <dsp:cNvSpPr/>
      </dsp:nvSpPr>
      <dsp:spPr>
        <a:xfrm rot="16200000">
          <a:off x="2707514" y="855653"/>
          <a:ext cx="174666" cy="2802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733714" y="937903"/>
        <a:ext cx="122266" cy="168149"/>
      </dsp:txXfrm>
    </dsp:sp>
    <dsp:sp modelId="{74BDCF4C-8AF9-4400-B111-252D8E1A32EF}">
      <dsp:nvSpPr>
        <dsp:cNvPr id="0" name=""/>
        <dsp:cNvSpPr/>
      </dsp:nvSpPr>
      <dsp:spPr>
        <a:xfrm>
          <a:off x="2382717" y="1793"/>
          <a:ext cx="824261" cy="8242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zh-CN" altLang="en-US" sz="1300" kern="1200" dirty="0" smtClean="0"/>
            <a:t>易分析性</a:t>
          </a:r>
          <a:endParaRPr lang="zh-CN" altLang="en-US" sz="1300" kern="1200" dirty="0"/>
        </a:p>
      </dsp:txBody>
      <dsp:txXfrm>
        <a:off x="2503427" y="122503"/>
        <a:ext cx="582841" cy="582841"/>
      </dsp:txXfrm>
    </dsp:sp>
    <dsp:sp modelId="{C2B7591F-DDFF-41AF-9417-ABA41B854F4D}">
      <dsp:nvSpPr>
        <dsp:cNvPr id="0" name=""/>
        <dsp:cNvSpPr/>
      </dsp:nvSpPr>
      <dsp:spPr>
        <a:xfrm>
          <a:off x="3279481" y="1427620"/>
          <a:ext cx="174666" cy="2802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3279481" y="1483670"/>
        <a:ext cx="122266" cy="168149"/>
      </dsp:txXfrm>
    </dsp:sp>
    <dsp:sp modelId="{8DD69D21-04C4-42FD-B70D-CB09240017CB}">
      <dsp:nvSpPr>
        <dsp:cNvPr id="0" name=""/>
        <dsp:cNvSpPr/>
      </dsp:nvSpPr>
      <dsp:spPr>
        <a:xfrm>
          <a:off x="3536538" y="1155614"/>
          <a:ext cx="824261" cy="8242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zh-CN" altLang="en-US" sz="1300" kern="1200" dirty="0" smtClean="0"/>
            <a:t>稳定性</a:t>
          </a:r>
          <a:endParaRPr lang="zh-CN" altLang="en-US" sz="1300" kern="1200" dirty="0"/>
        </a:p>
      </dsp:txBody>
      <dsp:txXfrm>
        <a:off x="3657248" y="1276324"/>
        <a:ext cx="582841" cy="582841"/>
      </dsp:txXfrm>
    </dsp:sp>
    <dsp:sp modelId="{A2585B6E-7753-4728-80E0-D4A69C955D3F}">
      <dsp:nvSpPr>
        <dsp:cNvPr id="0" name=""/>
        <dsp:cNvSpPr/>
      </dsp:nvSpPr>
      <dsp:spPr>
        <a:xfrm rot="5400000">
          <a:off x="2707514" y="1999587"/>
          <a:ext cx="174666" cy="2802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733714" y="2029437"/>
        <a:ext cx="122266" cy="168149"/>
      </dsp:txXfrm>
    </dsp:sp>
    <dsp:sp modelId="{BD865145-627F-491B-8217-DCEB179D4C49}">
      <dsp:nvSpPr>
        <dsp:cNvPr id="0" name=""/>
        <dsp:cNvSpPr/>
      </dsp:nvSpPr>
      <dsp:spPr>
        <a:xfrm>
          <a:off x="2382717" y="2309435"/>
          <a:ext cx="824261" cy="8242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zh-CN" altLang="en-US" sz="1300" kern="1200" dirty="0" smtClean="0"/>
            <a:t>易测试性</a:t>
          </a:r>
          <a:endParaRPr lang="zh-CN" altLang="en-US" sz="1300" kern="1200" dirty="0"/>
        </a:p>
      </dsp:txBody>
      <dsp:txXfrm>
        <a:off x="2503427" y="2430145"/>
        <a:ext cx="582841" cy="582841"/>
      </dsp:txXfrm>
    </dsp:sp>
    <dsp:sp modelId="{C4CD36F1-A7D5-4441-8F9F-8B31C284D6F3}">
      <dsp:nvSpPr>
        <dsp:cNvPr id="0" name=""/>
        <dsp:cNvSpPr/>
      </dsp:nvSpPr>
      <dsp:spPr>
        <a:xfrm rot="10800000">
          <a:off x="2135547" y="1427620"/>
          <a:ext cx="174666" cy="2802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2187947" y="1483670"/>
        <a:ext cx="122266" cy="168149"/>
      </dsp:txXfrm>
    </dsp:sp>
    <dsp:sp modelId="{2645ABA7-7640-4F0C-A11E-0505FC74BD9E}">
      <dsp:nvSpPr>
        <dsp:cNvPr id="0" name=""/>
        <dsp:cNvSpPr/>
      </dsp:nvSpPr>
      <dsp:spPr>
        <a:xfrm>
          <a:off x="1228896" y="1155614"/>
          <a:ext cx="824261" cy="8242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zh-CN" altLang="en-US" sz="1300" kern="1200" dirty="0" smtClean="0"/>
            <a:t>易改动性</a:t>
          </a:r>
          <a:endParaRPr lang="zh-CN" altLang="en-US" sz="1300" kern="1200" dirty="0"/>
        </a:p>
      </dsp:txBody>
      <dsp:txXfrm>
        <a:off x="1349606" y="1276324"/>
        <a:ext cx="582841" cy="582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6C61F8-25A6-47E4-BDC6-DBCCBB198FBE}">
      <dsp:nvSpPr>
        <dsp:cNvPr id="0" name=""/>
        <dsp:cNvSpPr/>
      </dsp:nvSpPr>
      <dsp:spPr>
        <a:xfrm>
          <a:off x="1354666" y="0"/>
          <a:ext cx="5418667" cy="5418667"/>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D8D72-AB7E-4E33-9CF8-F0808E15A2A8}">
      <dsp:nvSpPr>
        <dsp:cNvPr id="0" name=""/>
        <dsp:cNvSpPr/>
      </dsp:nvSpPr>
      <dsp:spPr>
        <a:xfrm>
          <a:off x="1706879" y="352213"/>
          <a:ext cx="2167466"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软件都有自己运行的硬件环境和软件环境，在使用过程中，硬件环境、软件环境、数据环境</a:t>
          </a:r>
          <a:r>
            <a:rPr lang="en-US" altLang="en-US" sz="1200" kern="1200" dirty="0" smtClean="0"/>
            <a:t>(</a:t>
          </a:r>
          <a:r>
            <a:rPr lang="zh-CN" altLang="en-US" sz="1200" kern="1200" dirty="0" smtClean="0"/>
            <a:t>如数据库、数据输入</a:t>
          </a:r>
          <a:r>
            <a:rPr lang="en-US" altLang="en-US" sz="1200" kern="1200" dirty="0" smtClean="0"/>
            <a:t>/</a:t>
          </a:r>
          <a:r>
            <a:rPr lang="zh-CN" altLang="en-US" sz="1200" kern="1200" dirty="0" smtClean="0"/>
            <a:t>输出方式、数据存储介质</a:t>
          </a:r>
          <a:r>
            <a:rPr lang="en-US" altLang="en-US" sz="1200" kern="1200" dirty="0" smtClean="0"/>
            <a:t>)</a:t>
          </a:r>
          <a:r>
            <a:rPr lang="zh-CN" altLang="en-US" sz="1200" kern="1200" dirty="0" smtClean="0"/>
            <a:t>都是可能发生变化的。为使软件适应这种变化，而去修改软件的过程就叫做适应性维护。</a:t>
          </a:r>
          <a:endParaRPr lang="zh-CN" altLang="en-US" sz="1200" kern="1200" dirty="0"/>
        </a:p>
      </dsp:txBody>
      <dsp:txXfrm>
        <a:off x="1812686" y="458020"/>
        <a:ext cx="1955852" cy="1955852"/>
      </dsp:txXfrm>
    </dsp:sp>
    <dsp:sp modelId="{F959F3B8-D3B1-4689-8848-BDBCBD0B6332}">
      <dsp:nvSpPr>
        <dsp:cNvPr id="0" name=""/>
        <dsp:cNvSpPr/>
      </dsp:nvSpPr>
      <dsp:spPr>
        <a:xfrm>
          <a:off x="4253653" y="352213"/>
          <a:ext cx="2167466"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altLang="en-US" sz="1100" kern="1200" dirty="0" smtClean="0"/>
            <a:t>在软件的使用过程中，用户往往会对软件提出新的功能与性能要求，为了满足这些要求，需要修改或再开发软件。这种以扩充软件功能、增强软件性能、改进加工效率而进行的维护叫做完善性维护完善性维护是维护工作中最多的类型，占维护工作的</a:t>
          </a:r>
          <a:r>
            <a:rPr lang="en-US" altLang="en-US" sz="1100" kern="1200" dirty="0" smtClean="0"/>
            <a:t>50% </a:t>
          </a:r>
          <a:r>
            <a:rPr lang="zh-CN" altLang="en-US" sz="1100" kern="1200" dirty="0" smtClean="0"/>
            <a:t>左右。</a:t>
          </a:r>
          <a:endParaRPr lang="zh-CN" altLang="en-US" sz="1100" kern="1200" dirty="0"/>
        </a:p>
      </dsp:txBody>
      <dsp:txXfrm>
        <a:off x="4359460" y="458020"/>
        <a:ext cx="1955852" cy="1955852"/>
      </dsp:txXfrm>
    </dsp:sp>
    <dsp:sp modelId="{4BD8CEAA-90DC-4FF0-B6DA-E923E2186D9F}">
      <dsp:nvSpPr>
        <dsp:cNvPr id="0" name=""/>
        <dsp:cNvSpPr/>
      </dsp:nvSpPr>
      <dsp:spPr>
        <a:xfrm>
          <a:off x="1706879" y="2898986"/>
          <a:ext cx="2167466"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为了识别和纠正软件错误、改正软件性能上的缺陷、排除实施中的错误使用，应当进行的诊断和改正错误的过程就叫做改正性维护</a:t>
          </a:r>
          <a:r>
            <a:rPr lang="zh-CN" altLang="en-US" sz="1300" kern="1200" dirty="0" smtClean="0"/>
            <a:t>。</a:t>
          </a:r>
          <a:endParaRPr lang="zh-CN" altLang="en-US" sz="1300" kern="1200" dirty="0"/>
        </a:p>
      </dsp:txBody>
      <dsp:txXfrm>
        <a:off x="1812686" y="3004793"/>
        <a:ext cx="1955852" cy="1955852"/>
      </dsp:txXfrm>
    </dsp:sp>
    <dsp:sp modelId="{78191A42-D9F7-4468-A10C-78E0B97B3135}">
      <dsp:nvSpPr>
        <dsp:cNvPr id="0" name=""/>
        <dsp:cNvSpPr/>
      </dsp:nvSpPr>
      <dsp:spPr>
        <a:xfrm>
          <a:off x="4253653" y="2898986"/>
          <a:ext cx="2167466" cy="216746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即修改软件，为将来的维护活动预先做准备</a:t>
          </a:r>
          <a:r>
            <a:rPr lang="zh-CN" altLang="en-US" sz="2000" kern="1200" dirty="0" smtClean="0"/>
            <a:t>。</a:t>
          </a:r>
          <a:endParaRPr lang="zh-CN" altLang="en-US" sz="2000" kern="1200" dirty="0"/>
        </a:p>
      </dsp:txBody>
      <dsp:txXfrm>
        <a:off x="4359460" y="3004793"/>
        <a:ext cx="1955852" cy="1955852"/>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7871BB-FC01-4CE3-958D-FFFE2B3CD5FF}" type="datetimeFigureOut">
              <a:rPr lang="zh-CN" altLang="en-US" smtClean="0"/>
              <a:t>2019/10/22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D4B60B-396C-407B-993E-117D11CD672F}" type="slidenum">
              <a:rPr lang="zh-CN" altLang="en-US" smtClean="0"/>
              <a:t>‹#›</a:t>
            </a:fld>
            <a:endParaRPr lang="zh-CN" altLang="en-US"/>
          </a:p>
        </p:txBody>
      </p:sp>
    </p:spTree>
    <p:extLst>
      <p:ext uri="{BB962C8B-B14F-4D97-AF65-F5344CB8AC3E}">
        <p14:creationId xmlns:p14="http://schemas.microsoft.com/office/powerpoint/2010/main" val="2202365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E1E63-6347-BD4F-A808-7F54FA34CE72}" type="datetimeFigureOut">
              <a:rPr kumimoji="1" lang="zh-CN" altLang="en-US" smtClean="0"/>
              <a:t>2019/10/22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1EDE8F-5748-564A-B104-45C8D6344219}" type="slidenum">
              <a:rPr kumimoji="1" lang="zh-CN" altLang="en-US" smtClean="0"/>
              <a:t>‹#›</a:t>
            </a:fld>
            <a:endParaRPr kumimoji="1" lang="zh-CN" altLang="en-US"/>
          </a:p>
        </p:txBody>
      </p:sp>
    </p:spTree>
    <p:extLst>
      <p:ext uri="{BB962C8B-B14F-4D97-AF65-F5344CB8AC3E}">
        <p14:creationId xmlns:p14="http://schemas.microsoft.com/office/powerpoint/2010/main" val="912194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9%80%82%E5%BA%94%E6%80%A7%E7%BB%B4%E6%8A%A4" TargetMode="External"/><Relationship Id="rId7" Type="http://schemas.openxmlformats.org/officeDocument/2006/relationships/hyperlink" Target="https://baike.baidu.com/item/%E5%BA%94%E7%94%A8%E8%BD%AF%E4%BB%B6"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baike.baidu.com/item/%E9%A2%84%E9%98%B2%E6%80%A7%E7%BB%B4%E6%8A%A4" TargetMode="External"/><Relationship Id="rId5" Type="http://schemas.openxmlformats.org/officeDocument/2006/relationships/hyperlink" Target="https://baike.baidu.com/item/%E7%B3%BB%E7%BB%9F%E5%88%86%E6%9E%90" TargetMode="External"/><Relationship Id="rId4" Type="http://schemas.openxmlformats.org/officeDocument/2006/relationships/hyperlink" Target="https://baike.baidu.com/item/%E8%BD%AF%E4%BB%B6%E7%B3%BB%E7%BB%9F"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CCAC</a:t>
            </a:r>
          </a:p>
          <a:p>
            <a:r>
              <a:rPr lang="zh-CN" altLang="en-US" sz="1200" b="0" i="0" u="none" strike="noStrike" kern="1200" dirty="0" smtClean="0">
                <a:solidFill>
                  <a:schemeClr val="tx1"/>
                </a:solidFill>
                <a:effectLst/>
                <a:latin typeface="+mn-lt"/>
                <a:ea typeface="+mn-ea"/>
                <a:cs typeface="+mn-cs"/>
                <a:hlinkClick r:id="rId3"/>
              </a:rPr>
              <a:t>适应性维护</a:t>
            </a:r>
            <a:r>
              <a:rPr lang="zh-CN" altLang="en-US" sz="1200" b="0" i="0" kern="1200" dirty="0" smtClean="0">
                <a:solidFill>
                  <a:schemeClr val="tx1"/>
                </a:solidFill>
                <a:effectLst/>
                <a:latin typeface="+mn-lt"/>
                <a:ea typeface="+mn-ea"/>
                <a:cs typeface="+mn-cs"/>
              </a:rPr>
              <a:t>是指使用软件适应信息技术变化和管理需求变化而进行的修改</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完善性维护是为扩充功能和改善性能而进行的修改，主要是指对已有的</a:t>
            </a:r>
            <a:r>
              <a:rPr lang="zh-CN" altLang="en-US" sz="1200" b="0" i="0" u="none" strike="noStrike" kern="1200" dirty="0" smtClean="0">
                <a:solidFill>
                  <a:schemeClr val="tx1"/>
                </a:solidFill>
                <a:effectLst/>
                <a:latin typeface="+mn-lt"/>
                <a:ea typeface="+mn-ea"/>
                <a:cs typeface="+mn-cs"/>
                <a:hlinkClick r:id="rId4"/>
              </a:rPr>
              <a:t>软件系统</a:t>
            </a:r>
            <a:r>
              <a:rPr lang="zh-CN" altLang="en-US" sz="1200" b="0" i="0" kern="1200" dirty="0" smtClean="0">
                <a:solidFill>
                  <a:schemeClr val="tx1"/>
                </a:solidFill>
                <a:effectLst/>
                <a:latin typeface="+mn-lt"/>
                <a:ea typeface="+mn-ea"/>
                <a:cs typeface="+mn-cs"/>
              </a:rPr>
              <a:t>增加一些在</a:t>
            </a:r>
            <a:r>
              <a:rPr lang="zh-CN" altLang="en-US" sz="1200" b="0" i="0" u="none" strike="noStrike" kern="1200" dirty="0" smtClean="0">
                <a:solidFill>
                  <a:schemeClr val="tx1"/>
                </a:solidFill>
                <a:effectLst/>
                <a:latin typeface="+mn-lt"/>
                <a:ea typeface="+mn-ea"/>
                <a:cs typeface="+mn-cs"/>
                <a:hlinkClick r:id="rId5"/>
              </a:rPr>
              <a:t>系统分析</a:t>
            </a:r>
            <a:r>
              <a:rPr lang="zh-CN" altLang="en-US" sz="1200" b="0" i="0" kern="1200" dirty="0" smtClean="0">
                <a:solidFill>
                  <a:schemeClr val="tx1"/>
                </a:solidFill>
                <a:effectLst/>
                <a:latin typeface="+mn-lt"/>
                <a:ea typeface="+mn-ea"/>
                <a:cs typeface="+mn-cs"/>
              </a:rPr>
              <a:t>和设计阶段中没有规定的功能与性能特征。</a:t>
            </a:r>
            <a:endParaRPr lang="en-US" altLang="zh-CN" sz="1200" b="0" i="0" kern="1200" dirty="0" smtClean="0">
              <a:solidFill>
                <a:schemeClr val="tx1"/>
              </a:solidFill>
              <a:effectLst/>
              <a:latin typeface="+mn-lt"/>
              <a:ea typeface="+mn-ea"/>
              <a:cs typeface="+mn-cs"/>
            </a:endParaRPr>
          </a:p>
          <a:p>
            <a:r>
              <a:rPr lang="zh-CN" altLang="en-US" sz="1200" b="0" i="0" u="none" strike="noStrike" kern="1200" dirty="0" smtClean="0">
                <a:solidFill>
                  <a:schemeClr val="tx1"/>
                </a:solidFill>
                <a:effectLst/>
                <a:latin typeface="+mn-lt"/>
                <a:ea typeface="+mn-ea"/>
                <a:cs typeface="+mn-cs"/>
                <a:hlinkClick r:id="rId6"/>
              </a:rPr>
              <a:t>预防性维护</a:t>
            </a:r>
            <a:r>
              <a:rPr lang="zh-CN" altLang="en-US" sz="1200" b="0" i="0" kern="1200" dirty="0" smtClean="0">
                <a:solidFill>
                  <a:schemeClr val="tx1"/>
                </a:solidFill>
                <a:effectLst/>
                <a:latin typeface="+mn-lt"/>
                <a:ea typeface="+mn-ea"/>
                <a:cs typeface="+mn-cs"/>
              </a:rPr>
              <a:t>为了改进</a:t>
            </a:r>
            <a:r>
              <a:rPr lang="zh-CN" altLang="en-US" sz="1200" b="0" i="0" u="none" strike="noStrike" kern="1200" dirty="0" smtClean="0">
                <a:solidFill>
                  <a:schemeClr val="tx1"/>
                </a:solidFill>
                <a:effectLst/>
                <a:latin typeface="+mn-lt"/>
                <a:ea typeface="+mn-ea"/>
                <a:cs typeface="+mn-cs"/>
                <a:hlinkClick r:id="rId7"/>
              </a:rPr>
              <a:t>应用软件</a:t>
            </a:r>
            <a:r>
              <a:rPr lang="zh-CN" altLang="en-US" sz="1200" b="0" i="0" kern="1200" dirty="0" smtClean="0">
                <a:solidFill>
                  <a:schemeClr val="tx1"/>
                </a:solidFill>
                <a:effectLst/>
                <a:latin typeface="+mn-lt"/>
                <a:ea typeface="+mn-ea"/>
                <a:cs typeface="+mn-cs"/>
              </a:rPr>
              <a:t>的可靠性和可维护性，为了适应未来的软硬件环境的变化，应主动增加预防性的新的功能</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CE47F-1BFC-440A-A389-054C44D8021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90534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CE47F-1BFC-440A-A389-054C44D8021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01513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CE47F-1BFC-440A-A389-054C44D8021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62266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CE47F-1BFC-440A-A389-054C44D8021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15917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BCE47F-1BFC-440A-A389-054C44D8021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787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890CD-24B5-4BDB-BB23-BBAFA6FA8740}"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61619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3425DA-3362-42C4-A53A-15627BE0E07E}"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11102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D8E041-7F7C-4BFE-8D66-269392293A74}"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1730" name="Rectangle 2"/>
          <p:cNvSpPr>
            <a:spLocks noGrp="1" noRot="1" noChangeAspect="1" noChangeArrowheads="1" noTextEdit="1"/>
          </p:cNvSpPr>
          <p:nvPr>
            <p:ph type="sldImg"/>
          </p:nvPr>
        </p:nvSpPr>
        <p:spPr>
          <a:ln/>
        </p:spPr>
      </p:sp>
      <p:sp>
        <p:nvSpPr>
          <p:cNvPr id="2017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622584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9543E8-8C86-46C8-86D7-C947CDD17F75}"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04840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D7E060-97DA-4ED3-B807-C7A38168C503}"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8590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C904A-9EC4-448F-9B47-CC5156A10A22}"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32195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A3BAD-E2B3-4962-8831-CCC5644601FE}"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29987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office.msn.com.cn/" TargetMode="Externa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 name="等腰三角形 3"/>
          <p:cNvSpPr/>
          <p:nvPr userDrawn="1"/>
        </p:nvSpPr>
        <p:spPr>
          <a:xfrm flipH="1">
            <a:off x="2300385" y="2042694"/>
            <a:ext cx="1975981" cy="441731"/>
          </a:xfrm>
          <a:prstGeom prst="triangle">
            <a:avLst>
              <a:gd name="adj" fmla="val 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等腰三角形 4"/>
          <p:cNvSpPr/>
          <p:nvPr userDrawn="1"/>
        </p:nvSpPr>
        <p:spPr>
          <a:xfrm flipV="1">
            <a:off x="7918560" y="4382740"/>
            <a:ext cx="1975981" cy="441731"/>
          </a:xfrm>
          <a:prstGeom prst="triangle">
            <a:avLst>
              <a:gd name="adj" fmla="val 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pic>
        <p:nvPicPr>
          <p:cNvPr id="2" name="图片 1"/>
          <p:cNvPicPr>
            <a:picLocks noChangeAspect="1"/>
          </p:cNvPicPr>
          <p:nvPr userDrawn="1"/>
        </p:nvPicPr>
        <p:blipFill rotWithShape="1">
          <a:blip r:embed="rId2"/>
          <a:srcRect l="2266" t="12948" r="2266" b="10678"/>
          <a:stretch/>
        </p:blipFill>
        <p:spPr>
          <a:xfrm>
            <a:off x="2970144" y="393700"/>
            <a:ext cx="6070600" cy="6070600"/>
          </a:xfrm>
          <a:prstGeom prst="ellipse">
            <a:avLst/>
          </a:prstGeom>
        </p:spPr>
      </p:pic>
      <p:sp>
        <p:nvSpPr>
          <p:cNvPr id="3" name="矩形 2"/>
          <p:cNvSpPr/>
          <p:nvPr userDrawn="1"/>
        </p:nvSpPr>
        <p:spPr>
          <a:xfrm>
            <a:off x="2297458" y="2484425"/>
            <a:ext cx="7597083" cy="19198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quarter" idx="10"/>
          </p:nvPr>
        </p:nvSpPr>
        <p:spPr>
          <a:xfrm>
            <a:off x="2970213" y="2776538"/>
            <a:ext cx="6003925" cy="1312862"/>
          </a:xfrm>
          <a:prstGeom prst="rect">
            <a:avLst/>
          </a:prstGeom>
        </p:spPr>
        <p:txBody>
          <a:bodyPr/>
          <a:lstStyle>
            <a:lvl1pPr marL="0" indent="0" algn="ctr">
              <a:buNone/>
              <a:defRPr sz="4800"/>
            </a:lvl1pPr>
          </a:lstStyle>
          <a:p>
            <a:pPr algn="ctr"/>
            <a:endParaRPr lang="en-US" altLang="zh-CN" sz="4800" b="1" dirty="0"/>
          </a:p>
        </p:txBody>
      </p:sp>
      <p:sp>
        <p:nvSpPr>
          <p:cNvPr id="11" name="文本占位符 10"/>
          <p:cNvSpPr>
            <a:spLocks noGrp="1"/>
          </p:cNvSpPr>
          <p:nvPr>
            <p:ph type="body" sz="quarter" idx="11"/>
          </p:nvPr>
        </p:nvSpPr>
        <p:spPr>
          <a:xfrm>
            <a:off x="3704299" y="4477968"/>
            <a:ext cx="4783401" cy="305700"/>
          </a:xfrm>
          <a:prstGeom prst="rect">
            <a:avLst/>
          </a:prstGeom>
        </p:spPr>
        <p:txBody>
          <a:bodyPr/>
          <a:lstStyle>
            <a:lvl1pPr marL="0" indent="0" algn="ctr">
              <a:buNone/>
              <a:defRPr sz="1600" baseline="0">
                <a:solidFill>
                  <a:schemeClr val="bg1"/>
                </a:solidFill>
                <a:latin typeface="+mn-ea"/>
                <a:ea typeface="+mn-ea"/>
              </a:defRPr>
            </a:lvl1pPr>
          </a:lstStyle>
          <a:p>
            <a:pPr lvl="0"/>
            <a:endParaRPr lang="en-US" altLang="zh-CN" dirty="0"/>
          </a:p>
        </p:txBody>
      </p:sp>
      <p:sp>
        <p:nvSpPr>
          <p:cNvPr id="12" name="文本占位符 10"/>
          <p:cNvSpPr>
            <a:spLocks noGrp="1"/>
          </p:cNvSpPr>
          <p:nvPr>
            <p:ph type="body" sz="quarter" idx="12"/>
          </p:nvPr>
        </p:nvSpPr>
        <p:spPr>
          <a:xfrm>
            <a:off x="3704299" y="4789519"/>
            <a:ext cx="4783401" cy="305700"/>
          </a:xfrm>
          <a:prstGeom prst="rect">
            <a:avLst/>
          </a:prstGeom>
        </p:spPr>
        <p:txBody>
          <a:bodyPr/>
          <a:lstStyle>
            <a:lvl1pPr marL="0" indent="0" algn="ctr">
              <a:buNone/>
              <a:defRPr sz="1600" baseline="0">
                <a:solidFill>
                  <a:schemeClr val="bg1"/>
                </a:solidFill>
                <a:latin typeface="+mn-ea"/>
                <a:ea typeface="+mn-ea"/>
              </a:defRPr>
            </a:lvl1pPr>
          </a:lstStyle>
          <a:p>
            <a:pPr lvl="0"/>
            <a:endParaRPr lang="en-US" altLang="zh-CN" dirty="0"/>
          </a:p>
        </p:txBody>
      </p:sp>
    </p:spTree>
    <p:extLst>
      <p:ext uri="{BB962C8B-B14F-4D97-AF65-F5344CB8AC3E}">
        <p14:creationId xmlns:p14="http://schemas.microsoft.com/office/powerpoint/2010/main" val="772159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三项目录">
    <p:bg>
      <p:bgPr>
        <a:solidFill>
          <a:schemeClr val="bg1">
            <a:lumMod val="95000"/>
          </a:schemeClr>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1467630" y="880533"/>
            <a:ext cx="4512778" cy="4825852"/>
            <a:chOff x="896472" y="1429908"/>
            <a:chExt cx="3381368" cy="3615952"/>
          </a:xfrm>
        </p:grpSpPr>
        <p:grpSp>
          <p:nvGrpSpPr>
            <p:cNvPr id="3" name="组合 2"/>
            <p:cNvGrpSpPr/>
            <p:nvPr/>
          </p:nvGrpSpPr>
          <p:grpSpPr>
            <a:xfrm>
              <a:off x="896472" y="2699908"/>
              <a:ext cx="841368" cy="1075952"/>
              <a:chOff x="1706250" y="910167"/>
              <a:chExt cx="1435732" cy="1836033"/>
            </a:xfrm>
          </p:grpSpPr>
          <p:sp>
            <p:nvSpPr>
              <p:cNvPr id="239" name="等腰三角形 2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907337" y="2534140"/>
              <a:ext cx="841368" cy="1075952"/>
              <a:chOff x="1706250" y="910167"/>
              <a:chExt cx="1435732" cy="1836033"/>
            </a:xfrm>
          </p:grpSpPr>
          <p:sp>
            <p:nvSpPr>
              <p:cNvPr id="235" name="等腰三角形 2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939746" y="2371208"/>
              <a:ext cx="841368" cy="1075952"/>
              <a:chOff x="1706250" y="910167"/>
              <a:chExt cx="1435732" cy="1836033"/>
            </a:xfrm>
          </p:grpSpPr>
          <p:sp>
            <p:nvSpPr>
              <p:cNvPr id="231" name="等腰三角形 2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993145" y="2213900"/>
              <a:ext cx="841368" cy="1075952"/>
              <a:chOff x="1706250" y="910167"/>
              <a:chExt cx="1435732" cy="1836033"/>
            </a:xfrm>
          </p:grpSpPr>
          <p:sp>
            <p:nvSpPr>
              <p:cNvPr id="227" name="等腰三角形 2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066620" y="2064908"/>
              <a:ext cx="841368" cy="1075952"/>
              <a:chOff x="1706250" y="910167"/>
              <a:chExt cx="1435732" cy="1836033"/>
            </a:xfrm>
          </p:grpSpPr>
          <p:sp>
            <p:nvSpPr>
              <p:cNvPr id="223" name="等腰三角形 2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1158913" y="1926781"/>
              <a:ext cx="841368" cy="1075952"/>
              <a:chOff x="1706250" y="910167"/>
              <a:chExt cx="1435732" cy="1836033"/>
            </a:xfrm>
          </p:grpSpPr>
          <p:sp>
            <p:nvSpPr>
              <p:cNvPr id="219" name="等腰三角形 2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椭圆 2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1268446" y="1801882"/>
              <a:ext cx="841368" cy="1075952"/>
              <a:chOff x="1706250" y="910167"/>
              <a:chExt cx="1435732" cy="1836033"/>
            </a:xfrm>
          </p:grpSpPr>
          <p:sp>
            <p:nvSpPr>
              <p:cNvPr id="215" name="等腰三角形 2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1393345" y="1692349"/>
              <a:ext cx="841368" cy="1075952"/>
              <a:chOff x="1706250" y="910167"/>
              <a:chExt cx="1435732" cy="1836033"/>
            </a:xfrm>
          </p:grpSpPr>
          <p:sp>
            <p:nvSpPr>
              <p:cNvPr id="211" name="等腰三角形 2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531472" y="1600056"/>
              <a:ext cx="841368" cy="1075952"/>
              <a:chOff x="1706250" y="910167"/>
              <a:chExt cx="1435732" cy="1836033"/>
            </a:xfrm>
          </p:grpSpPr>
          <p:sp>
            <p:nvSpPr>
              <p:cNvPr id="207" name="等腰三角形 2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椭圆 2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680464" y="1526581"/>
              <a:ext cx="841368" cy="1075952"/>
              <a:chOff x="1706250" y="910167"/>
              <a:chExt cx="1435732" cy="1836033"/>
            </a:xfrm>
          </p:grpSpPr>
          <p:sp>
            <p:nvSpPr>
              <p:cNvPr id="203" name="等腰三角形 2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837772" y="1473182"/>
              <a:ext cx="841368" cy="1075952"/>
              <a:chOff x="1706250" y="910167"/>
              <a:chExt cx="1435732" cy="1836033"/>
            </a:xfrm>
          </p:grpSpPr>
          <p:sp>
            <p:nvSpPr>
              <p:cNvPr id="199" name="等腰三角形 1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椭圆 2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椭圆 2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2000704" y="1440773"/>
              <a:ext cx="841368" cy="1075952"/>
              <a:chOff x="1706250" y="910167"/>
              <a:chExt cx="1435732" cy="1836033"/>
            </a:xfrm>
          </p:grpSpPr>
          <p:sp>
            <p:nvSpPr>
              <p:cNvPr id="195" name="等腰三角形 1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2166472" y="1429908"/>
              <a:ext cx="841368" cy="1075952"/>
              <a:chOff x="1706250" y="910167"/>
              <a:chExt cx="1435732" cy="1836033"/>
            </a:xfrm>
          </p:grpSpPr>
          <p:sp>
            <p:nvSpPr>
              <p:cNvPr id="191" name="等腰三角形 1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32240" y="1440773"/>
              <a:ext cx="841368" cy="1075952"/>
              <a:chOff x="1706250" y="910167"/>
              <a:chExt cx="1435732" cy="1836033"/>
            </a:xfrm>
          </p:grpSpPr>
          <p:sp>
            <p:nvSpPr>
              <p:cNvPr id="187" name="等腰三角形 1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495172" y="1473182"/>
              <a:ext cx="841368" cy="1075952"/>
              <a:chOff x="1706250" y="910167"/>
              <a:chExt cx="1435732" cy="1836033"/>
            </a:xfrm>
          </p:grpSpPr>
          <p:sp>
            <p:nvSpPr>
              <p:cNvPr id="183" name="等腰三角形 1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2652480" y="1526581"/>
              <a:ext cx="841368" cy="1075952"/>
              <a:chOff x="1706250" y="910167"/>
              <a:chExt cx="1435732" cy="1836033"/>
            </a:xfrm>
          </p:grpSpPr>
          <p:sp>
            <p:nvSpPr>
              <p:cNvPr id="179" name="等腰三角形 1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2801472" y="1600056"/>
              <a:ext cx="841368" cy="1075952"/>
              <a:chOff x="1706250" y="910167"/>
              <a:chExt cx="1435732" cy="1836033"/>
            </a:xfrm>
          </p:grpSpPr>
          <p:sp>
            <p:nvSpPr>
              <p:cNvPr id="175" name="等腰三角形 1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2939599" y="1692349"/>
              <a:ext cx="841368" cy="1075952"/>
              <a:chOff x="1706250" y="910167"/>
              <a:chExt cx="1435732" cy="1836033"/>
            </a:xfrm>
          </p:grpSpPr>
          <p:sp>
            <p:nvSpPr>
              <p:cNvPr id="171" name="等腰三角形 1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3064498" y="1801882"/>
              <a:ext cx="841368" cy="1075952"/>
              <a:chOff x="1706250" y="910167"/>
              <a:chExt cx="1435732" cy="1836033"/>
            </a:xfrm>
          </p:grpSpPr>
          <p:sp>
            <p:nvSpPr>
              <p:cNvPr id="167" name="等腰三角形 1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174031" y="1926781"/>
              <a:ext cx="841368" cy="1075952"/>
              <a:chOff x="1706250" y="910167"/>
              <a:chExt cx="1435732" cy="1836033"/>
            </a:xfrm>
          </p:grpSpPr>
          <p:sp>
            <p:nvSpPr>
              <p:cNvPr id="163" name="等腰三角形 1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3266324" y="2064908"/>
              <a:ext cx="841368" cy="1075952"/>
              <a:chOff x="1706250" y="910167"/>
              <a:chExt cx="1435732" cy="1836033"/>
            </a:xfrm>
          </p:grpSpPr>
          <p:sp>
            <p:nvSpPr>
              <p:cNvPr id="159" name="等腰三角形 1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3339799" y="2213900"/>
              <a:ext cx="841368" cy="1075952"/>
              <a:chOff x="1706250" y="910167"/>
              <a:chExt cx="1435732" cy="1836033"/>
            </a:xfrm>
          </p:grpSpPr>
          <p:sp>
            <p:nvSpPr>
              <p:cNvPr id="155" name="等腰三角形 1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3393198" y="2371208"/>
              <a:ext cx="841368" cy="1075952"/>
              <a:chOff x="1706250" y="910167"/>
              <a:chExt cx="1435732" cy="1836033"/>
            </a:xfrm>
          </p:grpSpPr>
          <p:sp>
            <p:nvSpPr>
              <p:cNvPr id="151" name="等腰三角形 1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3425607" y="2534140"/>
              <a:ext cx="841368" cy="1075952"/>
              <a:chOff x="1706250" y="910167"/>
              <a:chExt cx="1435732" cy="1836033"/>
            </a:xfrm>
          </p:grpSpPr>
          <p:sp>
            <p:nvSpPr>
              <p:cNvPr id="147" name="等腰三角形 14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3436472" y="2699908"/>
              <a:ext cx="841368" cy="1075952"/>
              <a:chOff x="1706250" y="910167"/>
              <a:chExt cx="1435732" cy="1836033"/>
            </a:xfrm>
          </p:grpSpPr>
          <p:sp>
            <p:nvSpPr>
              <p:cNvPr id="143" name="等腰三角形 14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3425607" y="2865676"/>
              <a:ext cx="841368" cy="1075952"/>
              <a:chOff x="1706250" y="910167"/>
              <a:chExt cx="1435732" cy="1836033"/>
            </a:xfrm>
          </p:grpSpPr>
          <p:sp>
            <p:nvSpPr>
              <p:cNvPr id="139" name="等腰三角形 1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393198" y="3028609"/>
              <a:ext cx="841368" cy="1075952"/>
              <a:chOff x="1706250" y="910167"/>
              <a:chExt cx="1435732" cy="1836033"/>
            </a:xfrm>
          </p:grpSpPr>
          <p:sp>
            <p:nvSpPr>
              <p:cNvPr id="135" name="等腰三角形 1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3339799" y="3185916"/>
              <a:ext cx="841368" cy="1075952"/>
              <a:chOff x="1706250" y="910167"/>
              <a:chExt cx="1435732" cy="1836033"/>
            </a:xfrm>
          </p:grpSpPr>
          <p:sp>
            <p:nvSpPr>
              <p:cNvPr id="131" name="等腰三角形 1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3266324" y="3334908"/>
              <a:ext cx="841368" cy="1075952"/>
              <a:chOff x="1706250" y="910167"/>
              <a:chExt cx="1435732" cy="1836033"/>
            </a:xfrm>
          </p:grpSpPr>
          <p:sp>
            <p:nvSpPr>
              <p:cNvPr id="127" name="等腰三角形 1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3174031" y="3473035"/>
              <a:ext cx="841368" cy="1075952"/>
              <a:chOff x="1706250" y="910167"/>
              <a:chExt cx="1435732" cy="1836033"/>
            </a:xfrm>
          </p:grpSpPr>
          <p:sp>
            <p:nvSpPr>
              <p:cNvPr id="123" name="等腰三角形 1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064498" y="3597934"/>
              <a:ext cx="841368" cy="1075952"/>
              <a:chOff x="1706250" y="910167"/>
              <a:chExt cx="1435732" cy="1836033"/>
            </a:xfrm>
          </p:grpSpPr>
          <p:sp>
            <p:nvSpPr>
              <p:cNvPr id="119" name="等腰三角形 1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939599" y="3707467"/>
              <a:ext cx="841368" cy="1075952"/>
              <a:chOff x="1706250" y="910167"/>
              <a:chExt cx="1435732" cy="1836033"/>
            </a:xfrm>
          </p:grpSpPr>
          <p:sp>
            <p:nvSpPr>
              <p:cNvPr id="115" name="等腰三角形 1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801472" y="3799760"/>
              <a:ext cx="841368" cy="1075952"/>
              <a:chOff x="1706250" y="910167"/>
              <a:chExt cx="1435732" cy="1836033"/>
            </a:xfrm>
          </p:grpSpPr>
          <p:sp>
            <p:nvSpPr>
              <p:cNvPr id="111" name="等腰三角形 1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2652480" y="3873235"/>
              <a:ext cx="841368" cy="1075952"/>
              <a:chOff x="1706250" y="910167"/>
              <a:chExt cx="1435732" cy="1836033"/>
            </a:xfrm>
          </p:grpSpPr>
          <p:sp>
            <p:nvSpPr>
              <p:cNvPr id="107" name="等腰三角形 1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495172" y="3926634"/>
              <a:ext cx="841368" cy="1075952"/>
              <a:chOff x="1706250" y="910167"/>
              <a:chExt cx="1435732" cy="1836033"/>
            </a:xfrm>
          </p:grpSpPr>
          <p:sp>
            <p:nvSpPr>
              <p:cNvPr id="103" name="等腰三角形 1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p:nvGrpSpPr>
          <p:grpSpPr>
            <a:xfrm>
              <a:off x="2332240" y="3959043"/>
              <a:ext cx="841368" cy="1075952"/>
              <a:chOff x="1706250" y="910167"/>
              <a:chExt cx="1435732" cy="1836033"/>
            </a:xfrm>
          </p:grpSpPr>
          <p:sp>
            <p:nvSpPr>
              <p:cNvPr id="99" name="等腰三角形 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2166472" y="3969908"/>
              <a:ext cx="841368" cy="1075952"/>
              <a:chOff x="1706250" y="910167"/>
              <a:chExt cx="1435732" cy="1836033"/>
            </a:xfrm>
          </p:grpSpPr>
          <p:sp>
            <p:nvSpPr>
              <p:cNvPr id="95" name="等腰三角形 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2000704" y="3959043"/>
              <a:ext cx="841368" cy="1075952"/>
              <a:chOff x="1706250" y="910167"/>
              <a:chExt cx="1435732" cy="1836033"/>
            </a:xfrm>
          </p:grpSpPr>
          <p:sp>
            <p:nvSpPr>
              <p:cNvPr id="91" name="等腰三角形 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837772" y="3926634"/>
              <a:ext cx="841368" cy="1075952"/>
              <a:chOff x="1706250" y="910167"/>
              <a:chExt cx="1435732" cy="1836033"/>
            </a:xfrm>
          </p:grpSpPr>
          <p:sp>
            <p:nvSpPr>
              <p:cNvPr id="87" name="等腰三角形 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680464" y="3873235"/>
              <a:ext cx="841368" cy="1075952"/>
              <a:chOff x="1706250" y="910167"/>
              <a:chExt cx="1435732" cy="1836033"/>
            </a:xfrm>
          </p:grpSpPr>
          <p:sp>
            <p:nvSpPr>
              <p:cNvPr id="83" name="等腰三角形 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1531472" y="3799760"/>
              <a:ext cx="841368" cy="1075952"/>
              <a:chOff x="1706250" y="910167"/>
              <a:chExt cx="1435732" cy="1836033"/>
            </a:xfrm>
          </p:grpSpPr>
          <p:sp>
            <p:nvSpPr>
              <p:cNvPr id="79" name="等腰三角形 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393345" y="3707467"/>
              <a:ext cx="841368" cy="1075952"/>
              <a:chOff x="1706250" y="910167"/>
              <a:chExt cx="1435732" cy="1836033"/>
            </a:xfrm>
          </p:grpSpPr>
          <p:sp>
            <p:nvSpPr>
              <p:cNvPr id="75" name="等腰三角形 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268446" y="3597934"/>
              <a:ext cx="841368" cy="1075952"/>
              <a:chOff x="1706250" y="910167"/>
              <a:chExt cx="1435732" cy="1836033"/>
            </a:xfrm>
          </p:grpSpPr>
          <p:sp>
            <p:nvSpPr>
              <p:cNvPr id="71" name="等腰三角形 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1158913" y="3473035"/>
              <a:ext cx="841368" cy="1075952"/>
              <a:chOff x="1706250" y="910167"/>
              <a:chExt cx="1435732" cy="1836033"/>
            </a:xfrm>
          </p:grpSpPr>
          <p:sp>
            <p:nvSpPr>
              <p:cNvPr id="67" name="等腰三角形 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066620" y="3334908"/>
              <a:ext cx="841368" cy="1075952"/>
              <a:chOff x="1706250" y="910167"/>
              <a:chExt cx="1435732" cy="1836033"/>
            </a:xfrm>
          </p:grpSpPr>
          <p:sp>
            <p:nvSpPr>
              <p:cNvPr id="63" name="等腰三角形 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993145" y="3185916"/>
              <a:ext cx="841368" cy="1075952"/>
              <a:chOff x="1706250" y="910167"/>
              <a:chExt cx="1435732" cy="1836033"/>
            </a:xfrm>
          </p:grpSpPr>
          <p:sp>
            <p:nvSpPr>
              <p:cNvPr id="59" name="等腰三角形 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939746" y="3028609"/>
              <a:ext cx="841368" cy="1075952"/>
              <a:chOff x="1706250" y="910167"/>
              <a:chExt cx="1435732" cy="1836033"/>
            </a:xfrm>
          </p:grpSpPr>
          <p:sp>
            <p:nvSpPr>
              <p:cNvPr id="55" name="等腰三角形 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907337" y="2865676"/>
              <a:ext cx="841368" cy="1075952"/>
              <a:chOff x="1706250" y="910167"/>
              <a:chExt cx="1435732" cy="1836033"/>
            </a:xfrm>
          </p:grpSpPr>
          <p:sp>
            <p:nvSpPr>
              <p:cNvPr id="51" name="等腰三角形 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3" name="椭圆 242"/>
          <p:cNvSpPr/>
          <p:nvPr userDrawn="1"/>
        </p:nvSpPr>
        <p:spPr>
          <a:xfrm>
            <a:off x="2298847" y="2058270"/>
            <a:ext cx="2748046" cy="27480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占位符 244"/>
          <p:cNvSpPr>
            <a:spLocks noGrp="1"/>
          </p:cNvSpPr>
          <p:nvPr>
            <p:ph type="body" sz="quarter" idx="10"/>
          </p:nvPr>
        </p:nvSpPr>
        <p:spPr>
          <a:xfrm>
            <a:off x="2898775" y="2797175"/>
            <a:ext cx="1533525" cy="1344613"/>
          </a:xfrm>
          <a:prstGeom prst="rect">
            <a:avLst/>
          </a:prstGeom>
        </p:spPr>
        <p:txBody>
          <a:bodyPr/>
          <a:lstStyle>
            <a:lvl1pPr marL="0" indent="0">
              <a:buNone/>
              <a:defRPr/>
            </a:lvl1pPr>
          </a:lstStyle>
          <a:p>
            <a:pPr lvl="0"/>
            <a:endParaRPr lang="zh-CN" altLang="en-US" dirty="0"/>
          </a:p>
        </p:txBody>
      </p:sp>
      <p:sp>
        <p:nvSpPr>
          <p:cNvPr id="246" name="椭圆 245"/>
          <p:cNvSpPr/>
          <p:nvPr userDrawn="1"/>
        </p:nvSpPr>
        <p:spPr>
          <a:xfrm>
            <a:off x="6743053" y="2655614"/>
            <a:ext cx="211754" cy="21175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7" name="椭圆 246"/>
          <p:cNvSpPr/>
          <p:nvPr userDrawn="1"/>
        </p:nvSpPr>
        <p:spPr>
          <a:xfrm>
            <a:off x="6743053" y="3348787"/>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75000"/>
                  </a:schemeClr>
                </a:solidFill>
              </a:ln>
              <a:cs typeface="+mn-ea"/>
              <a:sym typeface="+mn-lt"/>
            </a:endParaRPr>
          </a:p>
        </p:txBody>
      </p:sp>
      <p:sp>
        <p:nvSpPr>
          <p:cNvPr id="248" name="椭圆 247"/>
          <p:cNvSpPr/>
          <p:nvPr userDrawn="1"/>
        </p:nvSpPr>
        <p:spPr>
          <a:xfrm>
            <a:off x="6743053" y="4041960"/>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2" name="文本占位符 251"/>
          <p:cNvSpPr>
            <a:spLocks noGrp="1"/>
          </p:cNvSpPr>
          <p:nvPr>
            <p:ph type="body" sz="quarter" idx="11"/>
          </p:nvPr>
        </p:nvSpPr>
        <p:spPr>
          <a:xfrm>
            <a:off x="7280709" y="2583581"/>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53" name="文本占位符 251"/>
          <p:cNvSpPr>
            <a:spLocks noGrp="1"/>
          </p:cNvSpPr>
          <p:nvPr>
            <p:ph type="body" sz="quarter" idx="12"/>
          </p:nvPr>
        </p:nvSpPr>
        <p:spPr>
          <a:xfrm>
            <a:off x="7280709" y="3260521"/>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54" name="文本占位符 251"/>
          <p:cNvSpPr>
            <a:spLocks noGrp="1"/>
          </p:cNvSpPr>
          <p:nvPr>
            <p:ph type="body" sz="quarter" idx="13"/>
          </p:nvPr>
        </p:nvSpPr>
        <p:spPr>
          <a:xfrm>
            <a:off x="7280709" y="3965206"/>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Tree>
    <p:extLst>
      <p:ext uri="{BB962C8B-B14F-4D97-AF65-F5344CB8AC3E}">
        <p14:creationId xmlns:p14="http://schemas.microsoft.com/office/powerpoint/2010/main" val="180235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四项目录">
    <p:bg>
      <p:bgPr>
        <a:solidFill>
          <a:schemeClr val="bg1">
            <a:lumMod val="95000"/>
          </a:schemeClr>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1467630" y="880533"/>
            <a:ext cx="4512778" cy="4825852"/>
            <a:chOff x="896472" y="1429908"/>
            <a:chExt cx="3381368" cy="3615952"/>
          </a:xfrm>
        </p:grpSpPr>
        <p:grpSp>
          <p:nvGrpSpPr>
            <p:cNvPr id="3" name="组合 2"/>
            <p:cNvGrpSpPr/>
            <p:nvPr/>
          </p:nvGrpSpPr>
          <p:grpSpPr>
            <a:xfrm>
              <a:off x="896472" y="2699908"/>
              <a:ext cx="841368" cy="1075952"/>
              <a:chOff x="1706250" y="910167"/>
              <a:chExt cx="1435732" cy="1836033"/>
            </a:xfrm>
          </p:grpSpPr>
          <p:sp>
            <p:nvSpPr>
              <p:cNvPr id="239" name="等腰三角形 2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907337" y="2534140"/>
              <a:ext cx="841368" cy="1075952"/>
              <a:chOff x="1706250" y="910167"/>
              <a:chExt cx="1435732" cy="1836033"/>
            </a:xfrm>
          </p:grpSpPr>
          <p:sp>
            <p:nvSpPr>
              <p:cNvPr id="235" name="等腰三角形 2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939746" y="2371208"/>
              <a:ext cx="841368" cy="1075952"/>
              <a:chOff x="1706250" y="910167"/>
              <a:chExt cx="1435732" cy="1836033"/>
            </a:xfrm>
          </p:grpSpPr>
          <p:sp>
            <p:nvSpPr>
              <p:cNvPr id="231" name="等腰三角形 2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993145" y="2213900"/>
              <a:ext cx="841368" cy="1075952"/>
              <a:chOff x="1706250" y="910167"/>
              <a:chExt cx="1435732" cy="1836033"/>
            </a:xfrm>
          </p:grpSpPr>
          <p:sp>
            <p:nvSpPr>
              <p:cNvPr id="227" name="等腰三角形 2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066620" y="2064908"/>
              <a:ext cx="841368" cy="1075952"/>
              <a:chOff x="1706250" y="910167"/>
              <a:chExt cx="1435732" cy="1836033"/>
            </a:xfrm>
          </p:grpSpPr>
          <p:sp>
            <p:nvSpPr>
              <p:cNvPr id="223" name="等腰三角形 2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1158913" y="1926781"/>
              <a:ext cx="841368" cy="1075952"/>
              <a:chOff x="1706250" y="910167"/>
              <a:chExt cx="1435732" cy="1836033"/>
            </a:xfrm>
          </p:grpSpPr>
          <p:sp>
            <p:nvSpPr>
              <p:cNvPr id="219" name="等腰三角形 2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椭圆 2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1268446" y="1801882"/>
              <a:ext cx="841368" cy="1075952"/>
              <a:chOff x="1706250" y="910167"/>
              <a:chExt cx="1435732" cy="1836033"/>
            </a:xfrm>
          </p:grpSpPr>
          <p:sp>
            <p:nvSpPr>
              <p:cNvPr id="215" name="等腰三角形 2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1393345" y="1692349"/>
              <a:ext cx="841368" cy="1075952"/>
              <a:chOff x="1706250" y="910167"/>
              <a:chExt cx="1435732" cy="1836033"/>
            </a:xfrm>
          </p:grpSpPr>
          <p:sp>
            <p:nvSpPr>
              <p:cNvPr id="211" name="等腰三角形 2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531472" y="1600056"/>
              <a:ext cx="841368" cy="1075952"/>
              <a:chOff x="1706250" y="910167"/>
              <a:chExt cx="1435732" cy="1836033"/>
            </a:xfrm>
          </p:grpSpPr>
          <p:sp>
            <p:nvSpPr>
              <p:cNvPr id="207" name="等腰三角形 2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椭圆 2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680464" y="1526581"/>
              <a:ext cx="841368" cy="1075952"/>
              <a:chOff x="1706250" y="910167"/>
              <a:chExt cx="1435732" cy="1836033"/>
            </a:xfrm>
          </p:grpSpPr>
          <p:sp>
            <p:nvSpPr>
              <p:cNvPr id="203" name="等腰三角形 2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837772" y="1473182"/>
              <a:ext cx="841368" cy="1075952"/>
              <a:chOff x="1706250" y="910167"/>
              <a:chExt cx="1435732" cy="1836033"/>
            </a:xfrm>
          </p:grpSpPr>
          <p:sp>
            <p:nvSpPr>
              <p:cNvPr id="199" name="等腰三角形 1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椭圆 2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椭圆 2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2000704" y="1440773"/>
              <a:ext cx="841368" cy="1075952"/>
              <a:chOff x="1706250" y="910167"/>
              <a:chExt cx="1435732" cy="1836033"/>
            </a:xfrm>
          </p:grpSpPr>
          <p:sp>
            <p:nvSpPr>
              <p:cNvPr id="195" name="等腰三角形 1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2166472" y="1429908"/>
              <a:ext cx="841368" cy="1075952"/>
              <a:chOff x="1706250" y="910167"/>
              <a:chExt cx="1435732" cy="1836033"/>
            </a:xfrm>
          </p:grpSpPr>
          <p:sp>
            <p:nvSpPr>
              <p:cNvPr id="191" name="等腰三角形 1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32240" y="1440773"/>
              <a:ext cx="841368" cy="1075952"/>
              <a:chOff x="1706250" y="910167"/>
              <a:chExt cx="1435732" cy="1836033"/>
            </a:xfrm>
          </p:grpSpPr>
          <p:sp>
            <p:nvSpPr>
              <p:cNvPr id="187" name="等腰三角形 1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495172" y="1473182"/>
              <a:ext cx="841368" cy="1075952"/>
              <a:chOff x="1706250" y="910167"/>
              <a:chExt cx="1435732" cy="1836033"/>
            </a:xfrm>
          </p:grpSpPr>
          <p:sp>
            <p:nvSpPr>
              <p:cNvPr id="183" name="等腰三角形 1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2652480" y="1526581"/>
              <a:ext cx="841368" cy="1075952"/>
              <a:chOff x="1706250" y="910167"/>
              <a:chExt cx="1435732" cy="1836033"/>
            </a:xfrm>
          </p:grpSpPr>
          <p:sp>
            <p:nvSpPr>
              <p:cNvPr id="179" name="等腰三角形 1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2801472" y="1600056"/>
              <a:ext cx="841368" cy="1075952"/>
              <a:chOff x="1706250" y="910167"/>
              <a:chExt cx="1435732" cy="1836033"/>
            </a:xfrm>
          </p:grpSpPr>
          <p:sp>
            <p:nvSpPr>
              <p:cNvPr id="175" name="等腰三角形 1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2939599" y="1692349"/>
              <a:ext cx="841368" cy="1075952"/>
              <a:chOff x="1706250" y="910167"/>
              <a:chExt cx="1435732" cy="1836033"/>
            </a:xfrm>
          </p:grpSpPr>
          <p:sp>
            <p:nvSpPr>
              <p:cNvPr id="171" name="等腰三角形 1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3064498" y="1801882"/>
              <a:ext cx="841368" cy="1075952"/>
              <a:chOff x="1706250" y="910167"/>
              <a:chExt cx="1435732" cy="1836033"/>
            </a:xfrm>
          </p:grpSpPr>
          <p:sp>
            <p:nvSpPr>
              <p:cNvPr id="167" name="等腰三角形 1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174031" y="1926781"/>
              <a:ext cx="841368" cy="1075952"/>
              <a:chOff x="1706250" y="910167"/>
              <a:chExt cx="1435732" cy="1836033"/>
            </a:xfrm>
          </p:grpSpPr>
          <p:sp>
            <p:nvSpPr>
              <p:cNvPr id="163" name="等腰三角形 1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3266324" y="2064908"/>
              <a:ext cx="841368" cy="1075952"/>
              <a:chOff x="1706250" y="910167"/>
              <a:chExt cx="1435732" cy="1836033"/>
            </a:xfrm>
          </p:grpSpPr>
          <p:sp>
            <p:nvSpPr>
              <p:cNvPr id="159" name="等腰三角形 1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3339799" y="2213900"/>
              <a:ext cx="841368" cy="1075952"/>
              <a:chOff x="1706250" y="910167"/>
              <a:chExt cx="1435732" cy="1836033"/>
            </a:xfrm>
          </p:grpSpPr>
          <p:sp>
            <p:nvSpPr>
              <p:cNvPr id="155" name="等腰三角形 1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3393198" y="2371208"/>
              <a:ext cx="841368" cy="1075952"/>
              <a:chOff x="1706250" y="910167"/>
              <a:chExt cx="1435732" cy="1836033"/>
            </a:xfrm>
          </p:grpSpPr>
          <p:sp>
            <p:nvSpPr>
              <p:cNvPr id="151" name="等腰三角形 1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3425607" y="2534140"/>
              <a:ext cx="841368" cy="1075952"/>
              <a:chOff x="1706250" y="910167"/>
              <a:chExt cx="1435732" cy="1836033"/>
            </a:xfrm>
          </p:grpSpPr>
          <p:sp>
            <p:nvSpPr>
              <p:cNvPr id="147" name="等腰三角形 14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3436472" y="2699908"/>
              <a:ext cx="841368" cy="1075952"/>
              <a:chOff x="1706250" y="910167"/>
              <a:chExt cx="1435732" cy="1836033"/>
            </a:xfrm>
          </p:grpSpPr>
          <p:sp>
            <p:nvSpPr>
              <p:cNvPr id="143" name="等腰三角形 14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3425607" y="2865676"/>
              <a:ext cx="841368" cy="1075952"/>
              <a:chOff x="1706250" y="910167"/>
              <a:chExt cx="1435732" cy="1836033"/>
            </a:xfrm>
          </p:grpSpPr>
          <p:sp>
            <p:nvSpPr>
              <p:cNvPr id="139" name="等腰三角形 1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393198" y="3028609"/>
              <a:ext cx="841368" cy="1075952"/>
              <a:chOff x="1706250" y="910167"/>
              <a:chExt cx="1435732" cy="1836033"/>
            </a:xfrm>
          </p:grpSpPr>
          <p:sp>
            <p:nvSpPr>
              <p:cNvPr id="135" name="等腰三角形 1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3339799" y="3185916"/>
              <a:ext cx="841368" cy="1075952"/>
              <a:chOff x="1706250" y="910167"/>
              <a:chExt cx="1435732" cy="1836033"/>
            </a:xfrm>
          </p:grpSpPr>
          <p:sp>
            <p:nvSpPr>
              <p:cNvPr id="131" name="等腰三角形 1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3266324" y="3334908"/>
              <a:ext cx="841368" cy="1075952"/>
              <a:chOff x="1706250" y="910167"/>
              <a:chExt cx="1435732" cy="1836033"/>
            </a:xfrm>
          </p:grpSpPr>
          <p:sp>
            <p:nvSpPr>
              <p:cNvPr id="127" name="等腰三角形 1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3174031" y="3473035"/>
              <a:ext cx="841368" cy="1075952"/>
              <a:chOff x="1706250" y="910167"/>
              <a:chExt cx="1435732" cy="1836033"/>
            </a:xfrm>
          </p:grpSpPr>
          <p:sp>
            <p:nvSpPr>
              <p:cNvPr id="123" name="等腰三角形 1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064498" y="3597934"/>
              <a:ext cx="841368" cy="1075952"/>
              <a:chOff x="1706250" y="910167"/>
              <a:chExt cx="1435732" cy="1836033"/>
            </a:xfrm>
          </p:grpSpPr>
          <p:sp>
            <p:nvSpPr>
              <p:cNvPr id="119" name="等腰三角形 1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939599" y="3707467"/>
              <a:ext cx="841368" cy="1075952"/>
              <a:chOff x="1706250" y="910167"/>
              <a:chExt cx="1435732" cy="1836033"/>
            </a:xfrm>
          </p:grpSpPr>
          <p:sp>
            <p:nvSpPr>
              <p:cNvPr id="115" name="等腰三角形 1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801472" y="3799760"/>
              <a:ext cx="841368" cy="1075952"/>
              <a:chOff x="1706250" y="910167"/>
              <a:chExt cx="1435732" cy="1836033"/>
            </a:xfrm>
          </p:grpSpPr>
          <p:sp>
            <p:nvSpPr>
              <p:cNvPr id="111" name="等腰三角形 1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2652480" y="3873235"/>
              <a:ext cx="841368" cy="1075952"/>
              <a:chOff x="1706250" y="910167"/>
              <a:chExt cx="1435732" cy="1836033"/>
            </a:xfrm>
          </p:grpSpPr>
          <p:sp>
            <p:nvSpPr>
              <p:cNvPr id="107" name="等腰三角形 1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495172" y="3926634"/>
              <a:ext cx="841368" cy="1075952"/>
              <a:chOff x="1706250" y="910167"/>
              <a:chExt cx="1435732" cy="1836033"/>
            </a:xfrm>
          </p:grpSpPr>
          <p:sp>
            <p:nvSpPr>
              <p:cNvPr id="103" name="等腰三角形 1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p:nvGrpSpPr>
          <p:grpSpPr>
            <a:xfrm>
              <a:off x="2332240" y="3959043"/>
              <a:ext cx="841368" cy="1075952"/>
              <a:chOff x="1706250" y="910167"/>
              <a:chExt cx="1435732" cy="1836033"/>
            </a:xfrm>
          </p:grpSpPr>
          <p:sp>
            <p:nvSpPr>
              <p:cNvPr id="99" name="等腰三角形 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2166472" y="3969908"/>
              <a:ext cx="841368" cy="1075952"/>
              <a:chOff x="1706250" y="910167"/>
              <a:chExt cx="1435732" cy="1836033"/>
            </a:xfrm>
          </p:grpSpPr>
          <p:sp>
            <p:nvSpPr>
              <p:cNvPr id="95" name="等腰三角形 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2000704" y="3959043"/>
              <a:ext cx="841368" cy="1075952"/>
              <a:chOff x="1706250" y="910167"/>
              <a:chExt cx="1435732" cy="1836033"/>
            </a:xfrm>
          </p:grpSpPr>
          <p:sp>
            <p:nvSpPr>
              <p:cNvPr id="91" name="等腰三角形 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837772" y="3926634"/>
              <a:ext cx="841368" cy="1075952"/>
              <a:chOff x="1706250" y="910167"/>
              <a:chExt cx="1435732" cy="1836033"/>
            </a:xfrm>
          </p:grpSpPr>
          <p:sp>
            <p:nvSpPr>
              <p:cNvPr id="87" name="等腰三角形 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680464" y="3873235"/>
              <a:ext cx="841368" cy="1075952"/>
              <a:chOff x="1706250" y="910167"/>
              <a:chExt cx="1435732" cy="1836033"/>
            </a:xfrm>
          </p:grpSpPr>
          <p:sp>
            <p:nvSpPr>
              <p:cNvPr id="83" name="等腰三角形 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1531472" y="3799760"/>
              <a:ext cx="841368" cy="1075952"/>
              <a:chOff x="1706250" y="910167"/>
              <a:chExt cx="1435732" cy="1836033"/>
            </a:xfrm>
          </p:grpSpPr>
          <p:sp>
            <p:nvSpPr>
              <p:cNvPr id="79" name="等腰三角形 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393345" y="3707467"/>
              <a:ext cx="841368" cy="1075952"/>
              <a:chOff x="1706250" y="910167"/>
              <a:chExt cx="1435732" cy="1836033"/>
            </a:xfrm>
          </p:grpSpPr>
          <p:sp>
            <p:nvSpPr>
              <p:cNvPr id="75" name="等腰三角形 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268446" y="3597934"/>
              <a:ext cx="841368" cy="1075952"/>
              <a:chOff x="1706250" y="910167"/>
              <a:chExt cx="1435732" cy="1836033"/>
            </a:xfrm>
          </p:grpSpPr>
          <p:sp>
            <p:nvSpPr>
              <p:cNvPr id="71" name="等腰三角形 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1158913" y="3473035"/>
              <a:ext cx="841368" cy="1075952"/>
              <a:chOff x="1706250" y="910167"/>
              <a:chExt cx="1435732" cy="1836033"/>
            </a:xfrm>
          </p:grpSpPr>
          <p:sp>
            <p:nvSpPr>
              <p:cNvPr id="67" name="等腰三角形 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066620" y="3334908"/>
              <a:ext cx="841368" cy="1075952"/>
              <a:chOff x="1706250" y="910167"/>
              <a:chExt cx="1435732" cy="1836033"/>
            </a:xfrm>
          </p:grpSpPr>
          <p:sp>
            <p:nvSpPr>
              <p:cNvPr id="63" name="等腰三角形 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993145" y="3185916"/>
              <a:ext cx="841368" cy="1075952"/>
              <a:chOff x="1706250" y="910167"/>
              <a:chExt cx="1435732" cy="1836033"/>
            </a:xfrm>
          </p:grpSpPr>
          <p:sp>
            <p:nvSpPr>
              <p:cNvPr id="59" name="等腰三角形 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939746" y="3028609"/>
              <a:ext cx="841368" cy="1075952"/>
              <a:chOff x="1706250" y="910167"/>
              <a:chExt cx="1435732" cy="1836033"/>
            </a:xfrm>
          </p:grpSpPr>
          <p:sp>
            <p:nvSpPr>
              <p:cNvPr id="55" name="等腰三角形 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907337" y="2865676"/>
              <a:ext cx="841368" cy="1075952"/>
              <a:chOff x="1706250" y="910167"/>
              <a:chExt cx="1435732" cy="1836033"/>
            </a:xfrm>
          </p:grpSpPr>
          <p:sp>
            <p:nvSpPr>
              <p:cNvPr id="51" name="等腰三角形 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3" name="椭圆 242"/>
          <p:cNvSpPr/>
          <p:nvPr userDrawn="1"/>
        </p:nvSpPr>
        <p:spPr>
          <a:xfrm>
            <a:off x="2298847" y="2058270"/>
            <a:ext cx="2748046" cy="27480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占位符 244"/>
          <p:cNvSpPr>
            <a:spLocks noGrp="1"/>
          </p:cNvSpPr>
          <p:nvPr>
            <p:ph type="body" sz="quarter" idx="10"/>
          </p:nvPr>
        </p:nvSpPr>
        <p:spPr>
          <a:xfrm>
            <a:off x="2898775" y="2797175"/>
            <a:ext cx="1533525" cy="1344613"/>
          </a:xfrm>
          <a:prstGeom prst="rect">
            <a:avLst/>
          </a:prstGeom>
        </p:spPr>
        <p:txBody>
          <a:bodyPr/>
          <a:lstStyle>
            <a:lvl1pPr marL="0" indent="0">
              <a:buNone/>
              <a:defRPr/>
            </a:lvl1pPr>
          </a:lstStyle>
          <a:p>
            <a:pPr lvl="0"/>
            <a:endParaRPr lang="zh-CN" altLang="en-US" dirty="0"/>
          </a:p>
        </p:txBody>
      </p:sp>
      <p:sp>
        <p:nvSpPr>
          <p:cNvPr id="246" name="椭圆 245"/>
          <p:cNvSpPr/>
          <p:nvPr userDrawn="1"/>
        </p:nvSpPr>
        <p:spPr>
          <a:xfrm>
            <a:off x="6743053" y="2300853"/>
            <a:ext cx="211754" cy="21175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7" name="椭圆 246"/>
          <p:cNvSpPr/>
          <p:nvPr userDrawn="1"/>
        </p:nvSpPr>
        <p:spPr>
          <a:xfrm>
            <a:off x="6743053" y="2994026"/>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75000"/>
                  </a:schemeClr>
                </a:solidFill>
              </a:ln>
              <a:cs typeface="+mn-ea"/>
              <a:sym typeface="+mn-lt"/>
            </a:endParaRPr>
          </a:p>
        </p:txBody>
      </p:sp>
      <p:sp>
        <p:nvSpPr>
          <p:cNvPr id="248" name="椭圆 247"/>
          <p:cNvSpPr/>
          <p:nvPr userDrawn="1"/>
        </p:nvSpPr>
        <p:spPr>
          <a:xfrm>
            <a:off x="6743053" y="3687199"/>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9" name="椭圆 248"/>
          <p:cNvSpPr/>
          <p:nvPr userDrawn="1"/>
        </p:nvSpPr>
        <p:spPr>
          <a:xfrm>
            <a:off x="6743053" y="4380372"/>
            <a:ext cx="211754" cy="21175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5" name="文本占位符 251"/>
          <p:cNvSpPr>
            <a:spLocks noGrp="1"/>
          </p:cNvSpPr>
          <p:nvPr>
            <p:ph type="body" sz="quarter" idx="11"/>
          </p:nvPr>
        </p:nvSpPr>
        <p:spPr>
          <a:xfrm>
            <a:off x="7280709" y="2238914"/>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6" name="文本占位符 251"/>
          <p:cNvSpPr>
            <a:spLocks noGrp="1"/>
          </p:cNvSpPr>
          <p:nvPr>
            <p:ph type="body" sz="quarter" idx="12"/>
          </p:nvPr>
        </p:nvSpPr>
        <p:spPr>
          <a:xfrm>
            <a:off x="7280709" y="2915854"/>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7" name="文本占位符 251"/>
          <p:cNvSpPr>
            <a:spLocks noGrp="1"/>
          </p:cNvSpPr>
          <p:nvPr>
            <p:ph type="body" sz="quarter" idx="13"/>
          </p:nvPr>
        </p:nvSpPr>
        <p:spPr>
          <a:xfrm>
            <a:off x="7280709" y="3620539"/>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8" name="文本占位符 251"/>
          <p:cNvSpPr>
            <a:spLocks noGrp="1"/>
          </p:cNvSpPr>
          <p:nvPr>
            <p:ph type="body" sz="quarter" idx="14"/>
          </p:nvPr>
        </p:nvSpPr>
        <p:spPr>
          <a:xfrm>
            <a:off x="7280709" y="4292938"/>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Tree>
    <p:extLst>
      <p:ext uri="{BB962C8B-B14F-4D97-AF65-F5344CB8AC3E}">
        <p14:creationId xmlns:p14="http://schemas.microsoft.com/office/powerpoint/2010/main" val="1622322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五项目录">
    <p:bg>
      <p:bgPr>
        <a:solidFill>
          <a:schemeClr val="bg1">
            <a:lumMod val="95000"/>
          </a:schemeClr>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1467630" y="880533"/>
            <a:ext cx="4512778" cy="4825852"/>
            <a:chOff x="896472" y="1429908"/>
            <a:chExt cx="3381368" cy="3615952"/>
          </a:xfrm>
        </p:grpSpPr>
        <p:grpSp>
          <p:nvGrpSpPr>
            <p:cNvPr id="3" name="组合 2"/>
            <p:cNvGrpSpPr/>
            <p:nvPr/>
          </p:nvGrpSpPr>
          <p:grpSpPr>
            <a:xfrm>
              <a:off x="896472" y="2699908"/>
              <a:ext cx="841368" cy="1075952"/>
              <a:chOff x="1706250" y="910167"/>
              <a:chExt cx="1435732" cy="1836033"/>
            </a:xfrm>
          </p:grpSpPr>
          <p:sp>
            <p:nvSpPr>
              <p:cNvPr id="239" name="等腰三角形 2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907337" y="2534140"/>
              <a:ext cx="841368" cy="1075952"/>
              <a:chOff x="1706250" y="910167"/>
              <a:chExt cx="1435732" cy="1836033"/>
            </a:xfrm>
          </p:grpSpPr>
          <p:sp>
            <p:nvSpPr>
              <p:cNvPr id="235" name="等腰三角形 2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939746" y="2371208"/>
              <a:ext cx="841368" cy="1075952"/>
              <a:chOff x="1706250" y="910167"/>
              <a:chExt cx="1435732" cy="1836033"/>
            </a:xfrm>
          </p:grpSpPr>
          <p:sp>
            <p:nvSpPr>
              <p:cNvPr id="231" name="等腰三角形 2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993145" y="2213900"/>
              <a:ext cx="841368" cy="1075952"/>
              <a:chOff x="1706250" y="910167"/>
              <a:chExt cx="1435732" cy="1836033"/>
            </a:xfrm>
          </p:grpSpPr>
          <p:sp>
            <p:nvSpPr>
              <p:cNvPr id="227" name="等腰三角形 2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066620" y="2064908"/>
              <a:ext cx="841368" cy="1075952"/>
              <a:chOff x="1706250" y="910167"/>
              <a:chExt cx="1435732" cy="1836033"/>
            </a:xfrm>
          </p:grpSpPr>
          <p:sp>
            <p:nvSpPr>
              <p:cNvPr id="223" name="等腰三角形 2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1158913" y="1926781"/>
              <a:ext cx="841368" cy="1075952"/>
              <a:chOff x="1706250" y="910167"/>
              <a:chExt cx="1435732" cy="1836033"/>
            </a:xfrm>
          </p:grpSpPr>
          <p:sp>
            <p:nvSpPr>
              <p:cNvPr id="219" name="等腰三角形 2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椭圆 2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1268446" y="1801882"/>
              <a:ext cx="841368" cy="1075952"/>
              <a:chOff x="1706250" y="910167"/>
              <a:chExt cx="1435732" cy="1836033"/>
            </a:xfrm>
          </p:grpSpPr>
          <p:sp>
            <p:nvSpPr>
              <p:cNvPr id="215" name="等腰三角形 2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1393345" y="1692349"/>
              <a:ext cx="841368" cy="1075952"/>
              <a:chOff x="1706250" y="910167"/>
              <a:chExt cx="1435732" cy="1836033"/>
            </a:xfrm>
          </p:grpSpPr>
          <p:sp>
            <p:nvSpPr>
              <p:cNvPr id="211" name="等腰三角形 2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531472" y="1600056"/>
              <a:ext cx="841368" cy="1075952"/>
              <a:chOff x="1706250" y="910167"/>
              <a:chExt cx="1435732" cy="1836033"/>
            </a:xfrm>
          </p:grpSpPr>
          <p:sp>
            <p:nvSpPr>
              <p:cNvPr id="207" name="等腰三角形 2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椭圆 2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680464" y="1526581"/>
              <a:ext cx="841368" cy="1075952"/>
              <a:chOff x="1706250" y="910167"/>
              <a:chExt cx="1435732" cy="1836033"/>
            </a:xfrm>
          </p:grpSpPr>
          <p:sp>
            <p:nvSpPr>
              <p:cNvPr id="203" name="等腰三角形 2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837772" y="1473182"/>
              <a:ext cx="841368" cy="1075952"/>
              <a:chOff x="1706250" y="910167"/>
              <a:chExt cx="1435732" cy="1836033"/>
            </a:xfrm>
          </p:grpSpPr>
          <p:sp>
            <p:nvSpPr>
              <p:cNvPr id="199" name="等腰三角形 1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椭圆 2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椭圆 2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2000704" y="1440773"/>
              <a:ext cx="841368" cy="1075952"/>
              <a:chOff x="1706250" y="910167"/>
              <a:chExt cx="1435732" cy="1836033"/>
            </a:xfrm>
          </p:grpSpPr>
          <p:sp>
            <p:nvSpPr>
              <p:cNvPr id="195" name="等腰三角形 1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2166472" y="1429908"/>
              <a:ext cx="841368" cy="1075952"/>
              <a:chOff x="1706250" y="910167"/>
              <a:chExt cx="1435732" cy="1836033"/>
            </a:xfrm>
          </p:grpSpPr>
          <p:sp>
            <p:nvSpPr>
              <p:cNvPr id="191" name="等腰三角形 1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32240" y="1440773"/>
              <a:ext cx="841368" cy="1075952"/>
              <a:chOff x="1706250" y="910167"/>
              <a:chExt cx="1435732" cy="1836033"/>
            </a:xfrm>
          </p:grpSpPr>
          <p:sp>
            <p:nvSpPr>
              <p:cNvPr id="187" name="等腰三角形 1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495172" y="1473182"/>
              <a:ext cx="841368" cy="1075952"/>
              <a:chOff x="1706250" y="910167"/>
              <a:chExt cx="1435732" cy="1836033"/>
            </a:xfrm>
          </p:grpSpPr>
          <p:sp>
            <p:nvSpPr>
              <p:cNvPr id="183" name="等腰三角形 1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2652480" y="1526581"/>
              <a:ext cx="841368" cy="1075952"/>
              <a:chOff x="1706250" y="910167"/>
              <a:chExt cx="1435732" cy="1836033"/>
            </a:xfrm>
          </p:grpSpPr>
          <p:sp>
            <p:nvSpPr>
              <p:cNvPr id="179" name="等腰三角形 1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2801472" y="1600056"/>
              <a:ext cx="841368" cy="1075952"/>
              <a:chOff x="1706250" y="910167"/>
              <a:chExt cx="1435732" cy="1836033"/>
            </a:xfrm>
          </p:grpSpPr>
          <p:sp>
            <p:nvSpPr>
              <p:cNvPr id="175" name="等腰三角形 1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2939599" y="1692349"/>
              <a:ext cx="841368" cy="1075952"/>
              <a:chOff x="1706250" y="910167"/>
              <a:chExt cx="1435732" cy="1836033"/>
            </a:xfrm>
          </p:grpSpPr>
          <p:sp>
            <p:nvSpPr>
              <p:cNvPr id="171" name="等腰三角形 1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3064498" y="1801882"/>
              <a:ext cx="841368" cy="1075952"/>
              <a:chOff x="1706250" y="910167"/>
              <a:chExt cx="1435732" cy="1836033"/>
            </a:xfrm>
          </p:grpSpPr>
          <p:sp>
            <p:nvSpPr>
              <p:cNvPr id="167" name="等腰三角形 1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174031" y="1926781"/>
              <a:ext cx="841368" cy="1075952"/>
              <a:chOff x="1706250" y="910167"/>
              <a:chExt cx="1435732" cy="1836033"/>
            </a:xfrm>
          </p:grpSpPr>
          <p:sp>
            <p:nvSpPr>
              <p:cNvPr id="163" name="等腰三角形 1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3266324" y="2064908"/>
              <a:ext cx="841368" cy="1075952"/>
              <a:chOff x="1706250" y="910167"/>
              <a:chExt cx="1435732" cy="1836033"/>
            </a:xfrm>
          </p:grpSpPr>
          <p:sp>
            <p:nvSpPr>
              <p:cNvPr id="159" name="等腰三角形 1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3339799" y="2213900"/>
              <a:ext cx="841368" cy="1075952"/>
              <a:chOff x="1706250" y="910167"/>
              <a:chExt cx="1435732" cy="1836033"/>
            </a:xfrm>
          </p:grpSpPr>
          <p:sp>
            <p:nvSpPr>
              <p:cNvPr id="155" name="等腰三角形 1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3393198" y="2371208"/>
              <a:ext cx="841368" cy="1075952"/>
              <a:chOff x="1706250" y="910167"/>
              <a:chExt cx="1435732" cy="1836033"/>
            </a:xfrm>
          </p:grpSpPr>
          <p:sp>
            <p:nvSpPr>
              <p:cNvPr id="151" name="等腰三角形 1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3425607" y="2534140"/>
              <a:ext cx="841368" cy="1075952"/>
              <a:chOff x="1706250" y="910167"/>
              <a:chExt cx="1435732" cy="1836033"/>
            </a:xfrm>
          </p:grpSpPr>
          <p:sp>
            <p:nvSpPr>
              <p:cNvPr id="147" name="等腰三角形 14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3436472" y="2699908"/>
              <a:ext cx="841368" cy="1075952"/>
              <a:chOff x="1706250" y="910167"/>
              <a:chExt cx="1435732" cy="1836033"/>
            </a:xfrm>
          </p:grpSpPr>
          <p:sp>
            <p:nvSpPr>
              <p:cNvPr id="143" name="等腰三角形 14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3425607" y="2865676"/>
              <a:ext cx="841368" cy="1075952"/>
              <a:chOff x="1706250" y="910167"/>
              <a:chExt cx="1435732" cy="1836033"/>
            </a:xfrm>
          </p:grpSpPr>
          <p:sp>
            <p:nvSpPr>
              <p:cNvPr id="139" name="等腰三角形 1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393198" y="3028609"/>
              <a:ext cx="841368" cy="1075952"/>
              <a:chOff x="1706250" y="910167"/>
              <a:chExt cx="1435732" cy="1836033"/>
            </a:xfrm>
          </p:grpSpPr>
          <p:sp>
            <p:nvSpPr>
              <p:cNvPr id="135" name="等腰三角形 1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3339799" y="3185916"/>
              <a:ext cx="841368" cy="1075952"/>
              <a:chOff x="1706250" y="910167"/>
              <a:chExt cx="1435732" cy="1836033"/>
            </a:xfrm>
          </p:grpSpPr>
          <p:sp>
            <p:nvSpPr>
              <p:cNvPr id="131" name="等腰三角形 1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3266324" y="3334908"/>
              <a:ext cx="841368" cy="1075952"/>
              <a:chOff x="1706250" y="910167"/>
              <a:chExt cx="1435732" cy="1836033"/>
            </a:xfrm>
          </p:grpSpPr>
          <p:sp>
            <p:nvSpPr>
              <p:cNvPr id="127" name="等腰三角形 1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3174031" y="3473035"/>
              <a:ext cx="841368" cy="1075952"/>
              <a:chOff x="1706250" y="910167"/>
              <a:chExt cx="1435732" cy="1836033"/>
            </a:xfrm>
          </p:grpSpPr>
          <p:sp>
            <p:nvSpPr>
              <p:cNvPr id="123" name="等腰三角形 1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064498" y="3597934"/>
              <a:ext cx="841368" cy="1075952"/>
              <a:chOff x="1706250" y="910167"/>
              <a:chExt cx="1435732" cy="1836033"/>
            </a:xfrm>
          </p:grpSpPr>
          <p:sp>
            <p:nvSpPr>
              <p:cNvPr id="119" name="等腰三角形 1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939599" y="3707467"/>
              <a:ext cx="841368" cy="1075952"/>
              <a:chOff x="1706250" y="910167"/>
              <a:chExt cx="1435732" cy="1836033"/>
            </a:xfrm>
          </p:grpSpPr>
          <p:sp>
            <p:nvSpPr>
              <p:cNvPr id="115" name="等腰三角形 1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801472" y="3799760"/>
              <a:ext cx="841368" cy="1075952"/>
              <a:chOff x="1706250" y="910167"/>
              <a:chExt cx="1435732" cy="1836033"/>
            </a:xfrm>
          </p:grpSpPr>
          <p:sp>
            <p:nvSpPr>
              <p:cNvPr id="111" name="等腰三角形 1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2652480" y="3873235"/>
              <a:ext cx="841368" cy="1075952"/>
              <a:chOff x="1706250" y="910167"/>
              <a:chExt cx="1435732" cy="1836033"/>
            </a:xfrm>
          </p:grpSpPr>
          <p:sp>
            <p:nvSpPr>
              <p:cNvPr id="107" name="等腰三角形 1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495172" y="3926634"/>
              <a:ext cx="841368" cy="1075952"/>
              <a:chOff x="1706250" y="910167"/>
              <a:chExt cx="1435732" cy="1836033"/>
            </a:xfrm>
          </p:grpSpPr>
          <p:sp>
            <p:nvSpPr>
              <p:cNvPr id="103" name="等腰三角形 1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p:nvGrpSpPr>
          <p:grpSpPr>
            <a:xfrm>
              <a:off x="2332240" y="3959043"/>
              <a:ext cx="841368" cy="1075952"/>
              <a:chOff x="1706250" y="910167"/>
              <a:chExt cx="1435732" cy="1836033"/>
            </a:xfrm>
          </p:grpSpPr>
          <p:sp>
            <p:nvSpPr>
              <p:cNvPr id="99" name="等腰三角形 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2166472" y="3969908"/>
              <a:ext cx="841368" cy="1075952"/>
              <a:chOff x="1706250" y="910167"/>
              <a:chExt cx="1435732" cy="1836033"/>
            </a:xfrm>
          </p:grpSpPr>
          <p:sp>
            <p:nvSpPr>
              <p:cNvPr id="95" name="等腰三角形 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2000704" y="3959043"/>
              <a:ext cx="841368" cy="1075952"/>
              <a:chOff x="1706250" y="910167"/>
              <a:chExt cx="1435732" cy="1836033"/>
            </a:xfrm>
          </p:grpSpPr>
          <p:sp>
            <p:nvSpPr>
              <p:cNvPr id="91" name="等腰三角形 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837772" y="3926634"/>
              <a:ext cx="841368" cy="1075952"/>
              <a:chOff x="1706250" y="910167"/>
              <a:chExt cx="1435732" cy="1836033"/>
            </a:xfrm>
          </p:grpSpPr>
          <p:sp>
            <p:nvSpPr>
              <p:cNvPr id="87" name="等腰三角形 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680464" y="3873235"/>
              <a:ext cx="841368" cy="1075952"/>
              <a:chOff x="1706250" y="910167"/>
              <a:chExt cx="1435732" cy="1836033"/>
            </a:xfrm>
          </p:grpSpPr>
          <p:sp>
            <p:nvSpPr>
              <p:cNvPr id="83" name="等腰三角形 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1531472" y="3799760"/>
              <a:ext cx="841368" cy="1075952"/>
              <a:chOff x="1706250" y="910167"/>
              <a:chExt cx="1435732" cy="1836033"/>
            </a:xfrm>
          </p:grpSpPr>
          <p:sp>
            <p:nvSpPr>
              <p:cNvPr id="79" name="等腰三角形 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393345" y="3707467"/>
              <a:ext cx="841368" cy="1075952"/>
              <a:chOff x="1706250" y="910167"/>
              <a:chExt cx="1435732" cy="1836033"/>
            </a:xfrm>
          </p:grpSpPr>
          <p:sp>
            <p:nvSpPr>
              <p:cNvPr id="75" name="等腰三角形 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268446" y="3597934"/>
              <a:ext cx="841368" cy="1075952"/>
              <a:chOff x="1706250" y="910167"/>
              <a:chExt cx="1435732" cy="1836033"/>
            </a:xfrm>
          </p:grpSpPr>
          <p:sp>
            <p:nvSpPr>
              <p:cNvPr id="71" name="等腰三角形 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1158913" y="3473035"/>
              <a:ext cx="841368" cy="1075952"/>
              <a:chOff x="1706250" y="910167"/>
              <a:chExt cx="1435732" cy="1836033"/>
            </a:xfrm>
          </p:grpSpPr>
          <p:sp>
            <p:nvSpPr>
              <p:cNvPr id="67" name="等腰三角形 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066620" y="3334908"/>
              <a:ext cx="841368" cy="1075952"/>
              <a:chOff x="1706250" y="910167"/>
              <a:chExt cx="1435732" cy="1836033"/>
            </a:xfrm>
          </p:grpSpPr>
          <p:sp>
            <p:nvSpPr>
              <p:cNvPr id="63" name="等腰三角形 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993145" y="3185916"/>
              <a:ext cx="841368" cy="1075952"/>
              <a:chOff x="1706250" y="910167"/>
              <a:chExt cx="1435732" cy="1836033"/>
            </a:xfrm>
          </p:grpSpPr>
          <p:sp>
            <p:nvSpPr>
              <p:cNvPr id="59" name="等腰三角形 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939746" y="3028609"/>
              <a:ext cx="841368" cy="1075952"/>
              <a:chOff x="1706250" y="910167"/>
              <a:chExt cx="1435732" cy="1836033"/>
            </a:xfrm>
          </p:grpSpPr>
          <p:sp>
            <p:nvSpPr>
              <p:cNvPr id="55" name="等腰三角形 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907337" y="2865676"/>
              <a:ext cx="841368" cy="1075952"/>
              <a:chOff x="1706250" y="910167"/>
              <a:chExt cx="1435732" cy="1836033"/>
            </a:xfrm>
          </p:grpSpPr>
          <p:sp>
            <p:nvSpPr>
              <p:cNvPr id="51" name="等腰三角形 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3" name="椭圆 242"/>
          <p:cNvSpPr/>
          <p:nvPr userDrawn="1"/>
        </p:nvSpPr>
        <p:spPr>
          <a:xfrm>
            <a:off x="2298847" y="2058270"/>
            <a:ext cx="2748046" cy="27480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占位符 244"/>
          <p:cNvSpPr>
            <a:spLocks noGrp="1"/>
          </p:cNvSpPr>
          <p:nvPr>
            <p:ph type="body" sz="quarter" idx="10"/>
          </p:nvPr>
        </p:nvSpPr>
        <p:spPr>
          <a:xfrm>
            <a:off x="2898775" y="2797175"/>
            <a:ext cx="1533525" cy="1344613"/>
          </a:xfrm>
          <a:prstGeom prst="rect">
            <a:avLst/>
          </a:prstGeom>
        </p:spPr>
        <p:txBody>
          <a:bodyPr/>
          <a:lstStyle>
            <a:lvl1pPr marL="0" indent="0">
              <a:buNone/>
              <a:defRPr/>
            </a:lvl1pPr>
          </a:lstStyle>
          <a:p>
            <a:pPr lvl="0"/>
            <a:endParaRPr lang="zh-CN" altLang="en-US" dirty="0"/>
          </a:p>
        </p:txBody>
      </p:sp>
      <p:sp>
        <p:nvSpPr>
          <p:cNvPr id="246" name="椭圆 245"/>
          <p:cNvSpPr/>
          <p:nvPr userDrawn="1"/>
        </p:nvSpPr>
        <p:spPr>
          <a:xfrm>
            <a:off x="6743053" y="2009661"/>
            <a:ext cx="211754" cy="21175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7" name="椭圆 246"/>
          <p:cNvSpPr/>
          <p:nvPr userDrawn="1"/>
        </p:nvSpPr>
        <p:spPr>
          <a:xfrm>
            <a:off x="6743053" y="2702834"/>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75000"/>
                  </a:schemeClr>
                </a:solidFill>
              </a:ln>
              <a:cs typeface="+mn-ea"/>
              <a:sym typeface="+mn-lt"/>
            </a:endParaRPr>
          </a:p>
        </p:txBody>
      </p:sp>
      <p:sp>
        <p:nvSpPr>
          <p:cNvPr id="248" name="椭圆 247"/>
          <p:cNvSpPr/>
          <p:nvPr userDrawn="1"/>
        </p:nvSpPr>
        <p:spPr>
          <a:xfrm>
            <a:off x="6743053" y="3396007"/>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9" name="椭圆 248"/>
          <p:cNvSpPr/>
          <p:nvPr userDrawn="1"/>
        </p:nvSpPr>
        <p:spPr>
          <a:xfrm>
            <a:off x="6743053" y="4089180"/>
            <a:ext cx="211754" cy="21175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0" name="椭圆 249"/>
          <p:cNvSpPr/>
          <p:nvPr userDrawn="1"/>
        </p:nvSpPr>
        <p:spPr>
          <a:xfrm>
            <a:off x="6743053" y="4782353"/>
            <a:ext cx="211754" cy="2117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8" name="文本占位符 251"/>
          <p:cNvSpPr>
            <a:spLocks noGrp="1"/>
          </p:cNvSpPr>
          <p:nvPr>
            <p:ph type="body" sz="quarter" idx="11"/>
          </p:nvPr>
        </p:nvSpPr>
        <p:spPr>
          <a:xfrm>
            <a:off x="7280709" y="1962982"/>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59" name="文本占位符 251"/>
          <p:cNvSpPr>
            <a:spLocks noGrp="1"/>
          </p:cNvSpPr>
          <p:nvPr>
            <p:ph type="body" sz="quarter" idx="12"/>
          </p:nvPr>
        </p:nvSpPr>
        <p:spPr>
          <a:xfrm>
            <a:off x="7280709" y="2639922"/>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0" name="文本占位符 251"/>
          <p:cNvSpPr>
            <a:spLocks noGrp="1"/>
          </p:cNvSpPr>
          <p:nvPr>
            <p:ph type="body" sz="quarter" idx="13"/>
          </p:nvPr>
        </p:nvSpPr>
        <p:spPr>
          <a:xfrm>
            <a:off x="7280709" y="3344607"/>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1" name="文本占位符 251"/>
          <p:cNvSpPr>
            <a:spLocks noGrp="1"/>
          </p:cNvSpPr>
          <p:nvPr>
            <p:ph type="body" sz="quarter" idx="14"/>
          </p:nvPr>
        </p:nvSpPr>
        <p:spPr>
          <a:xfrm>
            <a:off x="7280709" y="4017006"/>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2" name="文本占位符 251"/>
          <p:cNvSpPr>
            <a:spLocks noGrp="1"/>
          </p:cNvSpPr>
          <p:nvPr>
            <p:ph type="body" sz="quarter" idx="15"/>
          </p:nvPr>
        </p:nvSpPr>
        <p:spPr>
          <a:xfrm>
            <a:off x="7280709" y="4675804"/>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Tree>
    <p:extLst>
      <p:ext uri="{BB962C8B-B14F-4D97-AF65-F5344CB8AC3E}">
        <p14:creationId xmlns:p14="http://schemas.microsoft.com/office/powerpoint/2010/main" val="30828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六项目录">
    <p:bg>
      <p:bgPr>
        <a:solidFill>
          <a:schemeClr val="bg1">
            <a:lumMod val="95000"/>
          </a:schemeClr>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1467630" y="880533"/>
            <a:ext cx="4512778" cy="4825852"/>
            <a:chOff x="896472" y="1429908"/>
            <a:chExt cx="3381368" cy="3615952"/>
          </a:xfrm>
        </p:grpSpPr>
        <p:grpSp>
          <p:nvGrpSpPr>
            <p:cNvPr id="3" name="组合 2"/>
            <p:cNvGrpSpPr/>
            <p:nvPr/>
          </p:nvGrpSpPr>
          <p:grpSpPr>
            <a:xfrm>
              <a:off x="896472" y="2699908"/>
              <a:ext cx="841368" cy="1075952"/>
              <a:chOff x="1706250" y="910167"/>
              <a:chExt cx="1435732" cy="1836033"/>
            </a:xfrm>
          </p:grpSpPr>
          <p:sp>
            <p:nvSpPr>
              <p:cNvPr id="239" name="等腰三角形 2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907337" y="2534140"/>
              <a:ext cx="841368" cy="1075952"/>
              <a:chOff x="1706250" y="910167"/>
              <a:chExt cx="1435732" cy="1836033"/>
            </a:xfrm>
          </p:grpSpPr>
          <p:sp>
            <p:nvSpPr>
              <p:cNvPr id="235" name="等腰三角形 2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939746" y="2371208"/>
              <a:ext cx="841368" cy="1075952"/>
              <a:chOff x="1706250" y="910167"/>
              <a:chExt cx="1435732" cy="1836033"/>
            </a:xfrm>
          </p:grpSpPr>
          <p:sp>
            <p:nvSpPr>
              <p:cNvPr id="231" name="等腰三角形 2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993145" y="2213900"/>
              <a:ext cx="841368" cy="1075952"/>
              <a:chOff x="1706250" y="910167"/>
              <a:chExt cx="1435732" cy="1836033"/>
            </a:xfrm>
          </p:grpSpPr>
          <p:sp>
            <p:nvSpPr>
              <p:cNvPr id="227" name="等腰三角形 2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066620" y="2064908"/>
              <a:ext cx="841368" cy="1075952"/>
              <a:chOff x="1706250" y="910167"/>
              <a:chExt cx="1435732" cy="1836033"/>
            </a:xfrm>
          </p:grpSpPr>
          <p:sp>
            <p:nvSpPr>
              <p:cNvPr id="223" name="等腰三角形 2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1158913" y="1926781"/>
              <a:ext cx="841368" cy="1075952"/>
              <a:chOff x="1706250" y="910167"/>
              <a:chExt cx="1435732" cy="1836033"/>
            </a:xfrm>
          </p:grpSpPr>
          <p:sp>
            <p:nvSpPr>
              <p:cNvPr id="219" name="等腰三角形 2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椭圆 2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1268446" y="1801882"/>
              <a:ext cx="841368" cy="1075952"/>
              <a:chOff x="1706250" y="910167"/>
              <a:chExt cx="1435732" cy="1836033"/>
            </a:xfrm>
          </p:grpSpPr>
          <p:sp>
            <p:nvSpPr>
              <p:cNvPr id="215" name="等腰三角形 2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椭圆 2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1393345" y="1692349"/>
              <a:ext cx="841368" cy="1075952"/>
              <a:chOff x="1706250" y="910167"/>
              <a:chExt cx="1435732" cy="1836033"/>
            </a:xfrm>
          </p:grpSpPr>
          <p:sp>
            <p:nvSpPr>
              <p:cNvPr id="211" name="等腰三角形 2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531472" y="1600056"/>
              <a:ext cx="841368" cy="1075952"/>
              <a:chOff x="1706250" y="910167"/>
              <a:chExt cx="1435732" cy="1836033"/>
            </a:xfrm>
          </p:grpSpPr>
          <p:sp>
            <p:nvSpPr>
              <p:cNvPr id="207" name="等腰三角形 2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椭圆 2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680464" y="1526581"/>
              <a:ext cx="841368" cy="1075952"/>
              <a:chOff x="1706250" y="910167"/>
              <a:chExt cx="1435732" cy="1836033"/>
            </a:xfrm>
          </p:grpSpPr>
          <p:sp>
            <p:nvSpPr>
              <p:cNvPr id="203" name="等腰三角形 2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837772" y="1473182"/>
              <a:ext cx="841368" cy="1075952"/>
              <a:chOff x="1706250" y="910167"/>
              <a:chExt cx="1435732" cy="1836033"/>
            </a:xfrm>
          </p:grpSpPr>
          <p:sp>
            <p:nvSpPr>
              <p:cNvPr id="199" name="等腰三角形 1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椭圆 2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椭圆 2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2000704" y="1440773"/>
              <a:ext cx="841368" cy="1075952"/>
              <a:chOff x="1706250" y="910167"/>
              <a:chExt cx="1435732" cy="1836033"/>
            </a:xfrm>
          </p:grpSpPr>
          <p:sp>
            <p:nvSpPr>
              <p:cNvPr id="195" name="等腰三角形 1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2166472" y="1429908"/>
              <a:ext cx="841368" cy="1075952"/>
              <a:chOff x="1706250" y="910167"/>
              <a:chExt cx="1435732" cy="1836033"/>
            </a:xfrm>
          </p:grpSpPr>
          <p:sp>
            <p:nvSpPr>
              <p:cNvPr id="191" name="等腰三角形 1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32240" y="1440773"/>
              <a:ext cx="841368" cy="1075952"/>
              <a:chOff x="1706250" y="910167"/>
              <a:chExt cx="1435732" cy="1836033"/>
            </a:xfrm>
          </p:grpSpPr>
          <p:sp>
            <p:nvSpPr>
              <p:cNvPr id="187" name="等腰三角形 1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495172" y="1473182"/>
              <a:ext cx="841368" cy="1075952"/>
              <a:chOff x="1706250" y="910167"/>
              <a:chExt cx="1435732" cy="1836033"/>
            </a:xfrm>
          </p:grpSpPr>
          <p:sp>
            <p:nvSpPr>
              <p:cNvPr id="183" name="等腰三角形 1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2652480" y="1526581"/>
              <a:ext cx="841368" cy="1075952"/>
              <a:chOff x="1706250" y="910167"/>
              <a:chExt cx="1435732" cy="1836033"/>
            </a:xfrm>
          </p:grpSpPr>
          <p:sp>
            <p:nvSpPr>
              <p:cNvPr id="179" name="等腰三角形 1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2801472" y="1600056"/>
              <a:ext cx="841368" cy="1075952"/>
              <a:chOff x="1706250" y="910167"/>
              <a:chExt cx="1435732" cy="1836033"/>
            </a:xfrm>
          </p:grpSpPr>
          <p:sp>
            <p:nvSpPr>
              <p:cNvPr id="175" name="等腰三角形 1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2939599" y="1692349"/>
              <a:ext cx="841368" cy="1075952"/>
              <a:chOff x="1706250" y="910167"/>
              <a:chExt cx="1435732" cy="1836033"/>
            </a:xfrm>
          </p:grpSpPr>
          <p:sp>
            <p:nvSpPr>
              <p:cNvPr id="171" name="等腰三角形 1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3064498" y="1801882"/>
              <a:ext cx="841368" cy="1075952"/>
              <a:chOff x="1706250" y="910167"/>
              <a:chExt cx="1435732" cy="1836033"/>
            </a:xfrm>
          </p:grpSpPr>
          <p:sp>
            <p:nvSpPr>
              <p:cNvPr id="167" name="等腰三角形 1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椭圆 1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3174031" y="1926781"/>
              <a:ext cx="841368" cy="1075952"/>
              <a:chOff x="1706250" y="910167"/>
              <a:chExt cx="1435732" cy="1836033"/>
            </a:xfrm>
          </p:grpSpPr>
          <p:sp>
            <p:nvSpPr>
              <p:cNvPr id="163" name="等腰三角形 1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3266324" y="2064908"/>
              <a:ext cx="841368" cy="1075952"/>
              <a:chOff x="1706250" y="910167"/>
              <a:chExt cx="1435732" cy="1836033"/>
            </a:xfrm>
          </p:grpSpPr>
          <p:sp>
            <p:nvSpPr>
              <p:cNvPr id="159" name="等腰三角形 1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3339799" y="2213900"/>
              <a:ext cx="841368" cy="1075952"/>
              <a:chOff x="1706250" y="910167"/>
              <a:chExt cx="1435732" cy="1836033"/>
            </a:xfrm>
          </p:grpSpPr>
          <p:sp>
            <p:nvSpPr>
              <p:cNvPr id="155" name="等腰三角形 1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3393198" y="2371208"/>
              <a:ext cx="841368" cy="1075952"/>
              <a:chOff x="1706250" y="910167"/>
              <a:chExt cx="1435732" cy="1836033"/>
            </a:xfrm>
          </p:grpSpPr>
          <p:sp>
            <p:nvSpPr>
              <p:cNvPr id="151" name="等腰三角形 1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3425607" y="2534140"/>
              <a:ext cx="841368" cy="1075952"/>
              <a:chOff x="1706250" y="910167"/>
              <a:chExt cx="1435732" cy="1836033"/>
            </a:xfrm>
          </p:grpSpPr>
          <p:sp>
            <p:nvSpPr>
              <p:cNvPr id="147" name="等腰三角形 14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3436472" y="2699908"/>
              <a:ext cx="841368" cy="1075952"/>
              <a:chOff x="1706250" y="910167"/>
              <a:chExt cx="1435732" cy="1836033"/>
            </a:xfrm>
          </p:grpSpPr>
          <p:sp>
            <p:nvSpPr>
              <p:cNvPr id="143" name="等腰三角形 14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3425607" y="2865676"/>
              <a:ext cx="841368" cy="1075952"/>
              <a:chOff x="1706250" y="910167"/>
              <a:chExt cx="1435732" cy="1836033"/>
            </a:xfrm>
          </p:grpSpPr>
          <p:sp>
            <p:nvSpPr>
              <p:cNvPr id="139" name="等腰三角形 13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3393198" y="3028609"/>
              <a:ext cx="841368" cy="1075952"/>
              <a:chOff x="1706250" y="910167"/>
              <a:chExt cx="1435732" cy="1836033"/>
            </a:xfrm>
          </p:grpSpPr>
          <p:sp>
            <p:nvSpPr>
              <p:cNvPr id="135" name="等腰三角形 13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3339799" y="3185916"/>
              <a:ext cx="841368" cy="1075952"/>
              <a:chOff x="1706250" y="910167"/>
              <a:chExt cx="1435732" cy="1836033"/>
            </a:xfrm>
          </p:grpSpPr>
          <p:sp>
            <p:nvSpPr>
              <p:cNvPr id="131" name="等腰三角形 13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3266324" y="3334908"/>
              <a:ext cx="841368" cy="1075952"/>
              <a:chOff x="1706250" y="910167"/>
              <a:chExt cx="1435732" cy="1836033"/>
            </a:xfrm>
          </p:grpSpPr>
          <p:sp>
            <p:nvSpPr>
              <p:cNvPr id="127" name="等腰三角形 12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3174031" y="3473035"/>
              <a:ext cx="841368" cy="1075952"/>
              <a:chOff x="1706250" y="910167"/>
              <a:chExt cx="1435732" cy="1836033"/>
            </a:xfrm>
          </p:grpSpPr>
          <p:sp>
            <p:nvSpPr>
              <p:cNvPr id="123" name="等腰三角形 12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064498" y="3597934"/>
              <a:ext cx="841368" cy="1075952"/>
              <a:chOff x="1706250" y="910167"/>
              <a:chExt cx="1435732" cy="1836033"/>
            </a:xfrm>
          </p:grpSpPr>
          <p:sp>
            <p:nvSpPr>
              <p:cNvPr id="119" name="等腰三角形 11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939599" y="3707467"/>
              <a:ext cx="841368" cy="1075952"/>
              <a:chOff x="1706250" y="910167"/>
              <a:chExt cx="1435732" cy="1836033"/>
            </a:xfrm>
          </p:grpSpPr>
          <p:sp>
            <p:nvSpPr>
              <p:cNvPr id="115" name="等腰三角形 11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801472" y="3799760"/>
              <a:ext cx="841368" cy="1075952"/>
              <a:chOff x="1706250" y="910167"/>
              <a:chExt cx="1435732" cy="1836033"/>
            </a:xfrm>
          </p:grpSpPr>
          <p:sp>
            <p:nvSpPr>
              <p:cNvPr id="111" name="等腰三角形 11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2652480" y="3873235"/>
              <a:ext cx="841368" cy="1075952"/>
              <a:chOff x="1706250" y="910167"/>
              <a:chExt cx="1435732" cy="1836033"/>
            </a:xfrm>
          </p:grpSpPr>
          <p:sp>
            <p:nvSpPr>
              <p:cNvPr id="107" name="等腰三角形 10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495172" y="3926634"/>
              <a:ext cx="841368" cy="1075952"/>
              <a:chOff x="1706250" y="910167"/>
              <a:chExt cx="1435732" cy="1836033"/>
            </a:xfrm>
          </p:grpSpPr>
          <p:sp>
            <p:nvSpPr>
              <p:cNvPr id="103" name="等腰三角形 10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p:cNvGrpSpPr/>
            <p:nvPr/>
          </p:nvGrpSpPr>
          <p:grpSpPr>
            <a:xfrm>
              <a:off x="2332240" y="3959043"/>
              <a:ext cx="841368" cy="1075952"/>
              <a:chOff x="1706250" y="910167"/>
              <a:chExt cx="1435732" cy="1836033"/>
            </a:xfrm>
          </p:grpSpPr>
          <p:sp>
            <p:nvSpPr>
              <p:cNvPr id="99" name="等腰三角形 9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2166472" y="3969908"/>
              <a:ext cx="841368" cy="1075952"/>
              <a:chOff x="1706250" y="910167"/>
              <a:chExt cx="1435732" cy="1836033"/>
            </a:xfrm>
          </p:grpSpPr>
          <p:sp>
            <p:nvSpPr>
              <p:cNvPr id="95" name="等腰三角形 9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2000704" y="3959043"/>
              <a:ext cx="841368" cy="1075952"/>
              <a:chOff x="1706250" y="910167"/>
              <a:chExt cx="1435732" cy="1836033"/>
            </a:xfrm>
          </p:grpSpPr>
          <p:sp>
            <p:nvSpPr>
              <p:cNvPr id="91" name="等腰三角形 9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837772" y="3926634"/>
              <a:ext cx="841368" cy="1075952"/>
              <a:chOff x="1706250" y="910167"/>
              <a:chExt cx="1435732" cy="1836033"/>
            </a:xfrm>
          </p:grpSpPr>
          <p:sp>
            <p:nvSpPr>
              <p:cNvPr id="87" name="等腰三角形 8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680464" y="3873235"/>
              <a:ext cx="841368" cy="1075952"/>
              <a:chOff x="1706250" y="910167"/>
              <a:chExt cx="1435732" cy="1836033"/>
            </a:xfrm>
          </p:grpSpPr>
          <p:sp>
            <p:nvSpPr>
              <p:cNvPr id="83" name="等腰三角形 8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1531472" y="3799760"/>
              <a:ext cx="841368" cy="1075952"/>
              <a:chOff x="1706250" y="910167"/>
              <a:chExt cx="1435732" cy="1836033"/>
            </a:xfrm>
          </p:grpSpPr>
          <p:sp>
            <p:nvSpPr>
              <p:cNvPr id="79" name="等腰三角形 7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393345" y="3707467"/>
              <a:ext cx="841368" cy="1075952"/>
              <a:chOff x="1706250" y="910167"/>
              <a:chExt cx="1435732" cy="1836033"/>
            </a:xfrm>
          </p:grpSpPr>
          <p:sp>
            <p:nvSpPr>
              <p:cNvPr id="75" name="等腰三角形 7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268446" y="3597934"/>
              <a:ext cx="841368" cy="1075952"/>
              <a:chOff x="1706250" y="910167"/>
              <a:chExt cx="1435732" cy="1836033"/>
            </a:xfrm>
          </p:grpSpPr>
          <p:sp>
            <p:nvSpPr>
              <p:cNvPr id="71" name="等腰三角形 7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1158913" y="3473035"/>
              <a:ext cx="841368" cy="1075952"/>
              <a:chOff x="1706250" y="910167"/>
              <a:chExt cx="1435732" cy="1836033"/>
            </a:xfrm>
          </p:grpSpPr>
          <p:sp>
            <p:nvSpPr>
              <p:cNvPr id="67" name="等腰三角形 66"/>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066620" y="3334908"/>
              <a:ext cx="841368" cy="1075952"/>
              <a:chOff x="1706250" y="910167"/>
              <a:chExt cx="1435732" cy="1836033"/>
            </a:xfrm>
          </p:grpSpPr>
          <p:sp>
            <p:nvSpPr>
              <p:cNvPr id="63" name="等腰三角形 62"/>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993145" y="3185916"/>
              <a:ext cx="841368" cy="1075952"/>
              <a:chOff x="1706250" y="910167"/>
              <a:chExt cx="1435732" cy="1836033"/>
            </a:xfrm>
          </p:grpSpPr>
          <p:sp>
            <p:nvSpPr>
              <p:cNvPr id="59" name="等腰三角形 58"/>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p:cNvGrpSpPr/>
            <p:nvPr/>
          </p:nvGrpSpPr>
          <p:grpSpPr>
            <a:xfrm>
              <a:off x="939746" y="3028609"/>
              <a:ext cx="841368" cy="1075952"/>
              <a:chOff x="1706250" y="910167"/>
              <a:chExt cx="1435732" cy="1836033"/>
            </a:xfrm>
          </p:grpSpPr>
          <p:sp>
            <p:nvSpPr>
              <p:cNvPr id="55" name="等腰三角形 54"/>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p:nvGrpSpPr>
          <p:grpSpPr>
            <a:xfrm>
              <a:off x="907337" y="2865676"/>
              <a:ext cx="841368" cy="1075952"/>
              <a:chOff x="1706250" y="910167"/>
              <a:chExt cx="1435732" cy="1836033"/>
            </a:xfrm>
          </p:grpSpPr>
          <p:sp>
            <p:nvSpPr>
              <p:cNvPr id="51" name="等腰三角形 50"/>
              <p:cNvSpPr/>
              <p:nvPr/>
            </p:nvSpPr>
            <p:spPr>
              <a:xfrm>
                <a:off x="1785450" y="956733"/>
                <a:ext cx="1334833" cy="1710267"/>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flipH="1" flipV="1">
                <a:off x="2406300" y="910167"/>
                <a:ext cx="93132" cy="93132"/>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flipH="1" flipV="1">
                <a:off x="1706250" y="2587800"/>
                <a:ext cx="158400" cy="1584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flipV="1">
                <a:off x="3088424" y="2649848"/>
                <a:ext cx="53558" cy="5355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3" name="椭圆 242"/>
          <p:cNvSpPr/>
          <p:nvPr userDrawn="1"/>
        </p:nvSpPr>
        <p:spPr>
          <a:xfrm>
            <a:off x="2298847" y="2058270"/>
            <a:ext cx="2748046" cy="27480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占位符 244"/>
          <p:cNvSpPr>
            <a:spLocks noGrp="1"/>
          </p:cNvSpPr>
          <p:nvPr>
            <p:ph type="body" sz="quarter" idx="10"/>
          </p:nvPr>
        </p:nvSpPr>
        <p:spPr>
          <a:xfrm>
            <a:off x="2898775" y="2797175"/>
            <a:ext cx="1533525" cy="1344613"/>
          </a:xfrm>
          <a:prstGeom prst="rect">
            <a:avLst/>
          </a:prstGeom>
        </p:spPr>
        <p:txBody>
          <a:bodyPr/>
          <a:lstStyle>
            <a:lvl1pPr marL="0" indent="0">
              <a:buNone/>
              <a:defRPr/>
            </a:lvl1pPr>
          </a:lstStyle>
          <a:p>
            <a:pPr lvl="0"/>
            <a:endParaRPr lang="zh-CN" altLang="en-US" dirty="0"/>
          </a:p>
        </p:txBody>
      </p:sp>
      <p:sp>
        <p:nvSpPr>
          <p:cNvPr id="246" name="椭圆 245"/>
          <p:cNvSpPr/>
          <p:nvPr userDrawn="1"/>
        </p:nvSpPr>
        <p:spPr>
          <a:xfrm>
            <a:off x="6743053" y="1656429"/>
            <a:ext cx="211754" cy="211754"/>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7" name="椭圆 246"/>
          <p:cNvSpPr/>
          <p:nvPr userDrawn="1"/>
        </p:nvSpPr>
        <p:spPr>
          <a:xfrm>
            <a:off x="6743053" y="2349602"/>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75000"/>
                  </a:schemeClr>
                </a:solidFill>
              </a:ln>
              <a:cs typeface="+mn-ea"/>
              <a:sym typeface="+mn-lt"/>
            </a:endParaRPr>
          </a:p>
        </p:txBody>
      </p:sp>
      <p:sp>
        <p:nvSpPr>
          <p:cNvPr id="248" name="椭圆 247"/>
          <p:cNvSpPr/>
          <p:nvPr userDrawn="1"/>
        </p:nvSpPr>
        <p:spPr>
          <a:xfrm>
            <a:off x="6743053" y="3042775"/>
            <a:ext cx="211754" cy="21175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9" name="椭圆 248"/>
          <p:cNvSpPr/>
          <p:nvPr userDrawn="1"/>
        </p:nvSpPr>
        <p:spPr>
          <a:xfrm>
            <a:off x="6743053" y="3735948"/>
            <a:ext cx="211754" cy="21175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0" name="椭圆 249"/>
          <p:cNvSpPr/>
          <p:nvPr userDrawn="1"/>
        </p:nvSpPr>
        <p:spPr>
          <a:xfrm>
            <a:off x="6743053" y="4429121"/>
            <a:ext cx="211754" cy="2117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1" name="椭圆 250"/>
          <p:cNvSpPr/>
          <p:nvPr userDrawn="1"/>
        </p:nvSpPr>
        <p:spPr>
          <a:xfrm>
            <a:off x="6743053" y="5122293"/>
            <a:ext cx="211754" cy="21175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8" name="文本占位符 251"/>
          <p:cNvSpPr>
            <a:spLocks noGrp="1"/>
          </p:cNvSpPr>
          <p:nvPr>
            <p:ph type="body" sz="quarter" idx="11"/>
          </p:nvPr>
        </p:nvSpPr>
        <p:spPr>
          <a:xfrm>
            <a:off x="7280709" y="1610100"/>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59" name="文本占位符 251"/>
          <p:cNvSpPr>
            <a:spLocks noGrp="1"/>
          </p:cNvSpPr>
          <p:nvPr>
            <p:ph type="body" sz="quarter" idx="12"/>
          </p:nvPr>
        </p:nvSpPr>
        <p:spPr>
          <a:xfrm>
            <a:off x="7280709" y="2299551"/>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0" name="文本占位符 251"/>
          <p:cNvSpPr>
            <a:spLocks noGrp="1"/>
          </p:cNvSpPr>
          <p:nvPr>
            <p:ph type="body" sz="quarter" idx="13"/>
          </p:nvPr>
        </p:nvSpPr>
        <p:spPr>
          <a:xfrm>
            <a:off x="7280709" y="2989002"/>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1" name="文本占位符 251"/>
          <p:cNvSpPr>
            <a:spLocks noGrp="1"/>
          </p:cNvSpPr>
          <p:nvPr>
            <p:ph type="body" sz="quarter" idx="14"/>
          </p:nvPr>
        </p:nvSpPr>
        <p:spPr>
          <a:xfrm>
            <a:off x="7280709" y="3678453"/>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2" name="文本占位符 251"/>
          <p:cNvSpPr>
            <a:spLocks noGrp="1"/>
          </p:cNvSpPr>
          <p:nvPr>
            <p:ph type="body" sz="quarter" idx="15"/>
          </p:nvPr>
        </p:nvSpPr>
        <p:spPr>
          <a:xfrm>
            <a:off x="7280709" y="5057354"/>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
        <p:nvSpPr>
          <p:cNvPr id="263" name="文本占位符 251"/>
          <p:cNvSpPr>
            <a:spLocks noGrp="1"/>
          </p:cNvSpPr>
          <p:nvPr>
            <p:ph type="body" sz="quarter" idx="16"/>
          </p:nvPr>
        </p:nvSpPr>
        <p:spPr>
          <a:xfrm>
            <a:off x="7280709" y="4367904"/>
            <a:ext cx="2016760" cy="341632"/>
          </a:xfrm>
          <a:prstGeom prst="rect">
            <a:avLst/>
          </a:prstGeom>
        </p:spPr>
        <p:txBody>
          <a:bodyPr wrap="square">
            <a:spAutoFit/>
          </a:bodyPr>
          <a:lstStyle>
            <a:lvl1pPr marL="0" indent="0">
              <a:buNone/>
              <a:defRPr lang="zh-CN" altLang="en-US" sz="1800" smtClean="0">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defTabSz="914377"/>
            <a:endParaRPr lang="zh-CN" altLang="en-US" dirty="0"/>
          </a:p>
        </p:txBody>
      </p:sp>
    </p:spTree>
    <p:extLst>
      <p:ext uri="{BB962C8B-B14F-4D97-AF65-F5344CB8AC3E}">
        <p14:creationId xmlns:p14="http://schemas.microsoft.com/office/powerpoint/2010/main" val="1001711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副标题页">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srcRect t="868" b="92817"/>
          <a:stretch/>
        </p:blipFill>
        <p:spPr>
          <a:xfrm>
            <a:off x="3208866" y="541868"/>
            <a:ext cx="5774268" cy="5774264"/>
          </a:xfrm>
          <a:prstGeom prst="rect">
            <a:avLst/>
          </a:prstGeom>
        </p:spPr>
      </p:pic>
      <p:sp>
        <p:nvSpPr>
          <p:cNvPr id="6" name="文本占位符 5"/>
          <p:cNvSpPr>
            <a:spLocks noGrp="1"/>
          </p:cNvSpPr>
          <p:nvPr>
            <p:ph type="body" sz="quarter" idx="11"/>
          </p:nvPr>
        </p:nvSpPr>
        <p:spPr>
          <a:xfrm>
            <a:off x="4385865" y="2980266"/>
            <a:ext cx="3420269" cy="897467"/>
          </a:xfrm>
          <a:prstGeom prst="rect">
            <a:avLst/>
          </a:prstGeom>
          <a:ln>
            <a:noFill/>
          </a:ln>
        </p:spPr>
        <p:txBody>
          <a:bodyPr/>
          <a:lstStyle>
            <a:lvl1pPr marL="0" indent="0" algn="ctr">
              <a:buNone/>
              <a:defRPr sz="6000" b="1">
                <a:ln w="6350">
                  <a:solidFill>
                    <a:schemeClr val="tx1">
                      <a:lumMod val="75000"/>
                      <a:lumOff val="25000"/>
                    </a:schemeClr>
                  </a:solidFill>
                </a:ln>
                <a:solidFill>
                  <a:schemeClr val="accent1"/>
                </a:solidFill>
              </a:defRPr>
            </a:lvl1pPr>
          </a:lstStyle>
          <a:p>
            <a:pPr lvl="0"/>
            <a:endParaRPr lang="zh-CN" altLang="en-US" dirty="0"/>
          </a:p>
        </p:txBody>
      </p:sp>
    </p:spTree>
    <p:extLst>
      <p:ext uri="{BB962C8B-B14F-4D97-AF65-F5344CB8AC3E}">
        <p14:creationId xmlns:p14="http://schemas.microsoft.com/office/powerpoint/2010/main" val="1886374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lumMod val="95000"/>
          </a:schemeClr>
        </a:solidFill>
        <a:effectLst/>
      </p:bgPr>
    </p:bg>
    <p:spTree>
      <p:nvGrpSpPr>
        <p:cNvPr id="1" name=""/>
        <p:cNvGrpSpPr/>
        <p:nvPr/>
      </p:nvGrpSpPr>
      <p:grpSpPr>
        <a:xfrm>
          <a:off x="0" y="0"/>
          <a:ext cx="0" cy="0"/>
          <a:chOff x="0" y="0"/>
          <a:chExt cx="0" cy="0"/>
        </a:xfrm>
      </p:grpSpPr>
      <p:sp>
        <p:nvSpPr>
          <p:cNvPr id="7" name="矩形 6"/>
          <p:cNvSpPr/>
          <p:nvPr userDrawn="1"/>
        </p:nvSpPr>
        <p:spPr>
          <a:xfrm>
            <a:off x="762000" y="0"/>
            <a:ext cx="5079999" cy="54186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 name="文本占位符 5"/>
          <p:cNvSpPr>
            <a:spLocks noGrp="1"/>
          </p:cNvSpPr>
          <p:nvPr>
            <p:ph type="body" sz="quarter" idx="10"/>
          </p:nvPr>
        </p:nvSpPr>
        <p:spPr>
          <a:xfrm>
            <a:off x="833967" y="51718"/>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accent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1632621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_1">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srcRect l="2266" t="29452" r="25122" b="10679"/>
          <a:stretch/>
        </p:blipFill>
        <p:spPr>
          <a:xfrm>
            <a:off x="9152467" y="-1"/>
            <a:ext cx="3039533" cy="3132667"/>
          </a:xfrm>
          <a:prstGeom prst="rect">
            <a:avLst/>
          </a:prstGeom>
        </p:spPr>
      </p:pic>
      <p:sp>
        <p:nvSpPr>
          <p:cNvPr id="3" name="矩形 2"/>
          <p:cNvSpPr/>
          <p:nvPr userDrawn="1"/>
        </p:nvSpPr>
        <p:spPr>
          <a:xfrm>
            <a:off x="762000" y="0"/>
            <a:ext cx="5079999" cy="541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 name="文本占位符 5"/>
          <p:cNvSpPr>
            <a:spLocks noGrp="1"/>
          </p:cNvSpPr>
          <p:nvPr>
            <p:ph type="body" sz="quarter" idx="10"/>
          </p:nvPr>
        </p:nvSpPr>
        <p:spPr>
          <a:xfrm>
            <a:off x="833967" y="40216"/>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1755470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_2">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srcRect t="868" r="50000" b="92817"/>
          <a:stretch/>
        </p:blipFill>
        <p:spPr>
          <a:xfrm>
            <a:off x="8970432" y="207434"/>
            <a:ext cx="3221568" cy="6443132"/>
          </a:xfrm>
          <a:prstGeom prst="rect">
            <a:avLst/>
          </a:prstGeom>
        </p:spPr>
      </p:pic>
      <p:sp>
        <p:nvSpPr>
          <p:cNvPr id="6" name="矩形 5"/>
          <p:cNvSpPr/>
          <p:nvPr userDrawn="1"/>
        </p:nvSpPr>
        <p:spPr>
          <a:xfrm>
            <a:off x="762000" y="0"/>
            <a:ext cx="5079999" cy="541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 name="文本占位符 5"/>
          <p:cNvSpPr>
            <a:spLocks noGrp="1"/>
          </p:cNvSpPr>
          <p:nvPr>
            <p:ph type="body" sz="quarter" idx="10"/>
          </p:nvPr>
        </p:nvSpPr>
        <p:spPr>
          <a:xfrm>
            <a:off x="833967" y="40216"/>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189912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_3">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srcRect l="50000" t="12948" r="2266" b="10678"/>
          <a:stretch/>
        </p:blipFill>
        <p:spPr>
          <a:xfrm>
            <a:off x="-1" y="1388533"/>
            <a:ext cx="2269067" cy="4538134"/>
          </a:xfrm>
          <a:prstGeom prst="rect">
            <a:avLst/>
          </a:prstGeom>
        </p:spPr>
      </p:pic>
      <p:sp>
        <p:nvSpPr>
          <p:cNvPr id="4" name="矩形 3"/>
          <p:cNvSpPr/>
          <p:nvPr userDrawn="1"/>
        </p:nvSpPr>
        <p:spPr>
          <a:xfrm>
            <a:off x="762000" y="0"/>
            <a:ext cx="5079999" cy="541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文本占位符 5"/>
          <p:cNvSpPr>
            <a:spLocks noGrp="1"/>
          </p:cNvSpPr>
          <p:nvPr>
            <p:ph type="body" sz="quarter" idx="10"/>
          </p:nvPr>
        </p:nvSpPr>
        <p:spPr>
          <a:xfrm>
            <a:off x="833967" y="40216"/>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2677282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_4">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srcRect t="868" r="31950" b="94516"/>
          <a:stretch/>
        </p:blipFill>
        <p:spPr>
          <a:xfrm>
            <a:off x="9000067" y="3429000"/>
            <a:ext cx="3191933" cy="3429000"/>
          </a:xfrm>
          <a:prstGeom prst="rect">
            <a:avLst/>
          </a:prstGeom>
        </p:spPr>
      </p:pic>
      <p:sp>
        <p:nvSpPr>
          <p:cNvPr id="5" name="矩形 4"/>
          <p:cNvSpPr/>
          <p:nvPr userDrawn="1"/>
        </p:nvSpPr>
        <p:spPr>
          <a:xfrm>
            <a:off x="762000" y="0"/>
            <a:ext cx="5079999" cy="541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p:cNvSpPr>
            <a:spLocks noGrp="1"/>
          </p:cNvSpPr>
          <p:nvPr>
            <p:ph type="body" sz="quarter" idx="10"/>
          </p:nvPr>
        </p:nvSpPr>
        <p:spPr>
          <a:xfrm>
            <a:off x="833967" y="40216"/>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80517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_5">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矩形 4"/>
          <p:cNvSpPr/>
          <p:nvPr userDrawn="1"/>
        </p:nvSpPr>
        <p:spPr>
          <a:xfrm>
            <a:off x="762000" y="0"/>
            <a:ext cx="5079999" cy="541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p:cNvSpPr>
            <a:spLocks noGrp="1"/>
          </p:cNvSpPr>
          <p:nvPr>
            <p:ph type="body" sz="quarter" idx="10"/>
          </p:nvPr>
        </p:nvSpPr>
        <p:spPr>
          <a:xfrm>
            <a:off x="833967" y="40216"/>
            <a:ext cx="3424766" cy="46143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zh-CN" altLang="en-US" sz="2800" b="1" dirty="0"/>
          </a:p>
        </p:txBody>
      </p:sp>
    </p:spTree>
    <p:extLst>
      <p:ext uri="{BB962C8B-B14F-4D97-AF65-F5344CB8AC3E}">
        <p14:creationId xmlns:p14="http://schemas.microsoft.com/office/powerpoint/2010/main" val="2385462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699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rPr>
              <a:t>标注</a:t>
            </a:r>
          </a:p>
        </p:txBody>
      </p:sp>
      <p:sp>
        <p:nvSpPr>
          <p:cNvPr id="11" name="矩形 10"/>
          <p:cNvSpPr/>
          <p:nvPr userDrawn="1"/>
        </p:nvSpPr>
        <p:spPr>
          <a:xfrm>
            <a:off x="2572589" y="759873"/>
            <a:ext cx="1402001" cy="3453253"/>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字体使用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行距</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背景图片出处</a:t>
            </a: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4239879"/>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英文 </a:t>
            </a:r>
            <a:r>
              <a:rPr kumimoji="0" lang="en-US" altLang="zh-CN" sz="1400" b="0" i="0" u="none" strike="noStrike" kern="0" cap="none" spc="0" normalizeH="0" baseline="0" noProof="0" dirty="0">
                <a:ln>
                  <a:noFill/>
                </a:ln>
                <a:solidFill>
                  <a:srgbClr val="FFFFFF"/>
                </a:solidFill>
                <a:effectLst/>
                <a:uLnTx/>
                <a:uFillTx/>
                <a:latin typeface="Segoe UI Light"/>
                <a:cs typeface="Segoe UI Light"/>
              </a:rPr>
              <a:t>Century Gothic</a:t>
            </a: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中文 微软雅黑</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正文 </a:t>
            </a:r>
            <a:r>
              <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rPr>
              <a:t>1.3</a:t>
            </a: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FFFFFF"/>
                </a:solidFill>
                <a:effectLst/>
                <a:uLnTx/>
                <a:uFillTx/>
                <a:latin typeface="Segoe UI Light"/>
                <a:ea typeface="微软雅黑"/>
                <a:cs typeface="Segoe UI Light"/>
              </a:rPr>
              <a:t>cn.bing.com</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本网站所提供的任何信息内容（包括但不限于 </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PPT</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模板、</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Word</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文档、</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Excel</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图表、图片素材等）均受</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中华人民共和国著作权法</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信息网络传播权保护条例</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及其他适用的法律法规的保护，未经权利人书面明确授权，信息内容的任何部分</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包括图片或图表</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不得被全部或部分的复制、传播、销售，否则将承担法律责任。</a:t>
            </a: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57399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背景图片素材">
    <p:spTree>
      <p:nvGrpSpPr>
        <p:cNvPr id="1" name=""/>
        <p:cNvGrpSpPr/>
        <p:nvPr/>
      </p:nvGrpSpPr>
      <p:grpSpPr>
        <a:xfrm>
          <a:off x="0" y="0"/>
          <a:ext cx="0" cy="0"/>
          <a:chOff x="0" y="0"/>
          <a:chExt cx="0" cy="0"/>
        </a:xfrm>
      </p:grpSpPr>
      <p:sp>
        <p:nvSpPr>
          <p:cNvPr id="4" name="矩形 3"/>
          <p:cNvSpPr/>
          <p:nvPr userDrawn="1"/>
        </p:nvSpPr>
        <p:spPr>
          <a:xfrm>
            <a:off x="440603" y="759873"/>
            <a:ext cx="1569660" cy="369332"/>
          </a:xfrm>
          <a:prstGeom prst="rect">
            <a:avLst/>
          </a:prstGeom>
        </p:spPr>
        <p:txBody>
          <a:bodyPr wrap="none">
            <a:spAutoFit/>
          </a:bodyPr>
          <a:lstStyle/>
          <a:p>
            <a:pPr defTabSz="609585"/>
            <a:r>
              <a:rPr lang="zh-CN" altLang="en-US" sz="1800" dirty="0">
                <a:solidFill>
                  <a:schemeClr val="tx1">
                    <a:lumMod val="75000"/>
                    <a:lumOff val="25000"/>
                  </a:schemeClr>
                </a:solidFill>
                <a:latin typeface="Segoe UI Light"/>
                <a:ea typeface="微软雅黑"/>
                <a:cs typeface="Segoe UI Light"/>
              </a:rPr>
              <a:t>背景图片素材</a:t>
            </a:r>
          </a:p>
        </p:txBody>
      </p:sp>
      <p:sp>
        <p:nvSpPr>
          <p:cNvPr id="5" name="矩形 4"/>
          <p:cNvSpPr/>
          <p:nvPr userDrawn="1"/>
        </p:nvSpPr>
        <p:spPr>
          <a:xfrm>
            <a:off x="440603" y="182445"/>
            <a:ext cx="777777" cy="246221"/>
          </a:xfrm>
          <a:prstGeom prst="rect">
            <a:avLst/>
          </a:prstGeom>
        </p:spPr>
        <p:txBody>
          <a:bodyPr wrap="none">
            <a:spAutoFit/>
          </a:bodyPr>
          <a:lstStyle/>
          <a:p>
            <a:pPr defTabSz="609585"/>
            <a:r>
              <a:rPr kumimoji="1" lang="en-US" altLang="zh-CN" sz="1000" dirty="0">
                <a:solidFill>
                  <a:schemeClr val="tx1">
                    <a:lumMod val="75000"/>
                    <a:lumOff val="25000"/>
                  </a:schemeClr>
                </a:solidFill>
                <a:latin typeface="Segoe UI Light"/>
                <a:ea typeface="微软雅黑" charset="0"/>
                <a:cs typeface="Segoe UI Light"/>
              </a:rPr>
              <a:t>OfficePLUS</a:t>
            </a:r>
            <a:endParaRPr lang="zh-CN" altLang="en-US" sz="1000" dirty="0">
              <a:solidFill>
                <a:schemeClr val="tx1">
                  <a:lumMod val="75000"/>
                  <a:lumOff val="25000"/>
                </a:schemeClr>
              </a:solidFill>
              <a:latin typeface="Segoe UI Light"/>
              <a:ea typeface="微软雅黑" charset="0"/>
              <a:cs typeface="Segoe UI Light"/>
            </a:endParaRPr>
          </a:p>
        </p:txBody>
      </p:sp>
    </p:spTree>
    <p:extLst>
      <p:ext uri="{BB962C8B-B14F-4D97-AF65-F5344CB8AC3E}">
        <p14:creationId xmlns:p14="http://schemas.microsoft.com/office/powerpoint/2010/main" val="141874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fficePLUS">
    <p:spTree>
      <p:nvGrpSpPr>
        <p:cNvPr id="1" name=""/>
        <p:cNvGrpSpPr/>
        <p:nvPr/>
      </p:nvGrpSpPr>
      <p:grpSpPr>
        <a:xfrm>
          <a:off x="0" y="0"/>
          <a:ext cx="0" cy="0"/>
          <a:chOff x="0" y="0"/>
          <a:chExt cx="0" cy="0"/>
        </a:xfrm>
      </p:grpSpPr>
      <p:sp>
        <p:nvSpPr>
          <p:cNvPr id="7" name="文本框 6"/>
          <p:cNvSpPr txBox="1"/>
          <p:nvPr userDrawn="1"/>
        </p:nvSpPr>
        <p:spPr>
          <a:xfrm>
            <a:off x="4447955" y="4458724"/>
            <a:ext cx="3296095" cy="297454"/>
          </a:xfrm>
          <a:prstGeom prst="rect">
            <a:avLst/>
          </a:prstGeom>
          <a:noFill/>
        </p:spPr>
        <p:txBody>
          <a:bodyPr wrap="non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点击</a:t>
            </a:r>
            <a:r>
              <a:rPr kumimoji="1" lang="en-US" altLang="zh-CN" sz="1333" b="0" i="0" u="none" strike="noStrike" kern="0" cap="none" spc="0" normalizeH="0" baseline="0" noProof="0" dirty="0">
                <a:ln>
                  <a:noFill/>
                </a:ln>
                <a:solidFill>
                  <a:srgbClr val="000000"/>
                </a:solidFill>
                <a:effectLst/>
                <a:uLnTx/>
                <a:uFillTx/>
                <a:latin typeface="Segoe UI Light" charset="0"/>
                <a:ea typeface="Segoe UI Light" charset="0"/>
                <a:cs typeface="Segoe UI Light" charset="0"/>
              </a:rPr>
              <a:t>Logo</a:t>
            </a: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获取更多优质模板（放映模式）</a:t>
            </a: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0" y="3227832"/>
            <a:ext cx="3048000" cy="402336"/>
          </a:xfrm>
          <a:prstGeom prst="rect">
            <a:avLst/>
          </a:prstGeom>
        </p:spPr>
      </p:pic>
    </p:spTree>
    <p:extLst>
      <p:ext uri="{BB962C8B-B14F-4D97-AF65-F5344CB8AC3E}">
        <p14:creationId xmlns:p14="http://schemas.microsoft.com/office/powerpoint/2010/main" val="341732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123564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2219639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6"/>
          </a:xfrm>
        </p:spPr>
        <p:txBody>
          <a:bodyPr anchor="t"/>
          <a:lstStyle>
            <a:lvl1pPr algn="l">
              <a:defRPr sz="48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1063686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333500"/>
            <a:ext cx="5384800" cy="3771900"/>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346326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4"/>
            <a:ext cx="5386917"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19000214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281342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1660988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24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1"/>
            <a:ext cx="4011084" cy="469106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37222792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28959922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39122837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28600"/>
            <a:ext cx="27432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28600"/>
            <a:ext cx="8026400" cy="4876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35970545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338766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0032289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1145161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36863836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41199003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16825475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36458836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15153615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5101906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016323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5309633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7813"/>
            <a:ext cx="103632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219200" y="1600201"/>
            <a:ext cx="10363200" cy="4530725"/>
          </a:xfrm>
        </p:spPr>
        <p:txBody>
          <a:bodyPr/>
          <a:lstStyle/>
          <a:p>
            <a:endParaRPr lang="zh-CN" altLang="en-US"/>
          </a:p>
        </p:txBody>
      </p:sp>
      <p:sp>
        <p:nvSpPr>
          <p:cNvPr id="4" name="日期占位符 3"/>
          <p:cNvSpPr>
            <a:spLocks noGrp="1"/>
          </p:cNvSpPr>
          <p:nvPr>
            <p:ph type="dt" sz="half" idx="10"/>
          </p:nvPr>
        </p:nvSpPr>
        <p:spPr>
          <a:xfrm>
            <a:off x="1219200" y="6251575"/>
            <a:ext cx="2641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4470400" y="6248400"/>
            <a:ext cx="39624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9042400" y="6248400"/>
            <a:ext cx="2540000" cy="457200"/>
          </a:xfrm>
        </p:spPr>
        <p:txBody>
          <a:bodyPr/>
          <a:lstStyle>
            <a:lvl1pPr>
              <a:defRPr/>
            </a:lvl1pPr>
          </a:lstStyle>
          <a:p>
            <a:fld id="{393A93C3-EEDA-4048-95FC-7732EAD84F13}" type="slidenum">
              <a:rPr lang="en-US" altLang="zh-CN"/>
              <a:pPr/>
              <a:t>‹#›</a:t>
            </a:fld>
            <a:endParaRPr lang="en-US" altLang="zh-CN"/>
          </a:p>
        </p:txBody>
      </p:sp>
    </p:spTree>
    <p:extLst>
      <p:ext uri="{BB962C8B-B14F-4D97-AF65-F5344CB8AC3E}">
        <p14:creationId xmlns:p14="http://schemas.microsoft.com/office/powerpoint/2010/main" val="18330157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7813"/>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219200" y="1600201"/>
            <a:ext cx="5080000" cy="45307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联机映像占位符 3"/>
          <p:cNvSpPr>
            <a:spLocks noGrp="1"/>
          </p:cNvSpPr>
          <p:nvPr>
            <p:ph type="clipArt" sz="half" idx="2"/>
          </p:nvPr>
        </p:nvSpPr>
        <p:spPr>
          <a:xfrm>
            <a:off x="6502400" y="1600201"/>
            <a:ext cx="5080000" cy="4530725"/>
          </a:xfrm>
        </p:spPr>
        <p:txBody>
          <a:bodyPr/>
          <a:lstStyle/>
          <a:p>
            <a:endParaRPr lang="zh-CN" altLang="en-US"/>
          </a:p>
        </p:txBody>
      </p:sp>
      <p:sp>
        <p:nvSpPr>
          <p:cNvPr id="5" name="日期占位符 4"/>
          <p:cNvSpPr>
            <a:spLocks noGrp="1"/>
          </p:cNvSpPr>
          <p:nvPr>
            <p:ph type="dt" sz="half" idx="10"/>
          </p:nvPr>
        </p:nvSpPr>
        <p:spPr>
          <a:xfrm>
            <a:off x="1219200" y="6251575"/>
            <a:ext cx="26416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470400" y="6248400"/>
            <a:ext cx="39624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042400" y="6248400"/>
            <a:ext cx="2540000" cy="457200"/>
          </a:xfrm>
        </p:spPr>
        <p:txBody>
          <a:bodyPr/>
          <a:lstStyle>
            <a:lvl1pPr>
              <a:defRPr/>
            </a:lvl1pPr>
          </a:lstStyle>
          <a:p>
            <a:fld id="{8856E53E-BC24-4D6F-880C-8D73A40B5E65}" type="slidenum">
              <a:rPr lang="en-US" altLang="zh-CN"/>
              <a:pPr/>
              <a:t>‹#›</a:t>
            </a:fld>
            <a:endParaRPr lang="en-US" altLang="zh-CN"/>
          </a:p>
        </p:txBody>
      </p:sp>
    </p:spTree>
    <p:extLst>
      <p:ext uri="{BB962C8B-B14F-4D97-AF65-F5344CB8AC3E}">
        <p14:creationId xmlns:p14="http://schemas.microsoft.com/office/powerpoint/2010/main" val="734371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4150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92" r:id="rId3"/>
    <p:sldLayoutId id="2147483693" r:id="rId4"/>
    <p:sldLayoutId id="2147483694" r:id="rId5"/>
    <p:sldLayoutId id="2147483684" r:id="rId6"/>
    <p:sldLayoutId id="2147483662" r:id="rId7"/>
    <p:sldLayoutId id="2147483687" r:id="rId8"/>
    <p:sldLayoutId id="2147483688" r:id="rId9"/>
    <p:sldLayoutId id="2147483689" r:id="rId10"/>
    <p:sldLayoutId id="2147483690" r:id="rId11"/>
    <p:sldLayoutId id="2147483691"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087259"/>
      </p:ext>
    </p:extLst>
  </p:cSld>
  <p:clrMap bg1="lt1" tx1="dk1" bg2="lt2" tx2="dk2" accent1="accent1" accent2="accent2" accent3="accent3" accent4="accent4" accent5="accent5" accent6="accent6" hlink="hlink" folHlink="folHlink"/>
  <p:sldLayoutIdLst>
    <p:sldLayoutId id="2147483680" r:id="rId1"/>
    <p:sldLayoutId id="2147483685" r:id="rId2"/>
    <p:sldLayoutId id="214748368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440">
                <a:solidFill>
                  <a:schemeClr val="tx1">
                    <a:tint val="75000"/>
                  </a:schemeClr>
                </a:solidFill>
              </a:defRPr>
            </a:lvl1pPr>
          </a:lstStyle>
          <a:p>
            <a:fld id="{D9587364-380A-41FE-BB48-1FC1A56876DD}" type="datetimeFigureOut">
              <a:rPr lang="zh-CN" altLang="en-US" smtClean="0"/>
              <a:t>2019/10/22</a:t>
            </a:fld>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440">
                <a:solidFill>
                  <a:schemeClr val="tx1">
                    <a:tint val="75000"/>
                  </a:schemeClr>
                </a:solidFill>
              </a:defRPr>
            </a:lvl1pPr>
          </a:lstStyle>
          <a:p>
            <a:fld id="{6012BEBC-482A-4280-9789-2DA40BC88126}" type="slidenum">
              <a:rPr lang="zh-CN" altLang="en-US" smtClean="0"/>
              <a:t>‹#›</a:t>
            </a:fld>
            <a:endParaRPr lang="zh-CN" altLang="en-US"/>
          </a:p>
        </p:txBody>
      </p:sp>
    </p:spTree>
    <p:extLst>
      <p:ext uri="{BB962C8B-B14F-4D97-AF65-F5344CB8AC3E}">
        <p14:creationId xmlns:p14="http://schemas.microsoft.com/office/powerpoint/2010/main" val="307205861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1097280"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1097280" rtl="0" eaLnBrk="1" latinLnBrk="0" hangingPunct="1">
        <a:spcBef>
          <a:spcPct val="20000"/>
        </a:spcBef>
        <a:buFont typeface="Arial" pitchFamily="34" charset="0"/>
        <a:buChar char="•"/>
        <a:defRPr sz="3840" kern="1200">
          <a:solidFill>
            <a:schemeClr val="tx1"/>
          </a:solidFill>
          <a:latin typeface="+mn-lt"/>
          <a:ea typeface="+mn-ea"/>
          <a:cs typeface="+mn-cs"/>
        </a:defRPr>
      </a:lvl1pPr>
      <a:lvl2pPr marL="891540" indent="-342900" algn="l" defTabSz="1097280" rtl="0" eaLnBrk="1" latinLnBrk="0" hangingPunct="1">
        <a:spcBef>
          <a:spcPct val="20000"/>
        </a:spcBef>
        <a:buFont typeface="Arial" pitchFamily="34" charset="0"/>
        <a:buChar char="–"/>
        <a:defRPr sz="3360" kern="1200">
          <a:solidFill>
            <a:schemeClr val="tx1"/>
          </a:solidFill>
          <a:latin typeface="+mn-lt"/>
          <a:ea typeface="+mn-ea"/>
          <a:cs typeface="+mn-cs"/>
        </a:defRPr>
      </a:lvl2pPr>
      <a:lvl3pPr marL="1371600" indent="-274320" algn="l" defTabSz="1097280" rtl="0" eaLnBrk="1" latinLnBrk="0" hangingPunct="1">
        <a:spcBef>
          <a:spcPct val="20000"/>
        </a:spcBef>
        <a:buFont typeface="Arial" pitchFamily="34" charset="0"/>
        <a:buChar char="•"/>
        <a:defRPr sz="2880" kern="1200">
          <a:solidFill>
            <a:schemeClr val="tx1"/>
          </a:solidFill>
          <a:latin typeface="+mn-lt"/>
          <a:ea typeface="+mn-ea"/>
          <a:cs typeface="+mn-cs"/>
        </a:defRPr>
      </a:lvl3pPr>
      <a:lvl4pPr marL="19202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4pPr>
      <a:lvl5pPr marL="246888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F59C3-E956-41A1-AB56-F64CFAC318E3}" type="datetimeFigureOut">
              <a:rPr lang="zh-CN" altLang="en-US" smtClean="0"/>
              <a:pPr/>
              <a:t>2019/10/22</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D2245A-6BA9-4D33-A1ED-6A96EC9B394B}" type="slidenum">
              <a:rPr lang="zh-CN" altLang="en-US" smtClean="0"/>
              <a:pPr/>
              <a:t>‹#›</a:t>
            </a:fld>
            <a:endParaRPr lang="zh-CN" altLang="en-US"/>
          </a:p>
        </p:txBody>
      </p:sp>
    </p:spTree>
    <p:extLst>
      <p:ext uri="{BB962C8B-B14F-4D97-AF65-F5344CB8AC3E}">
        <p14:creationId xmlns:p14="http://schemas.microsoft.com/office/powerpoint/2010/main" val="279972407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solidFill>
                  <a:schemeClr val="tx1">
                    <a:lumMod val="85000"/>
                    <a:lumOff val="15000"/>
                  </a:schemeClr>
                </a:solidFill>
                <a:cs typeface="+mn-ea"/>
                <a:sym typeface="+mn-lt"/>
              </a:rPr>
              <a:t>软件维护的质量</a:t>
            </a:r>
            <a:endParaRPr lang="en-US" altLang="zh-CN" b="1" dirty="0">
              <a:solidFill>
                <a:schemeClr val="tx1">
                  <a:lumMod val="85000"/>
                  <a:lumOff val="15000"/>
                </a:schemeClr>
              </a:solidFill>
              <a:cs typeface="+mn-ea"/>
              <a:sym typeface="+mn-lt"/>
            </a:endParaRPr>
          </a:p>
        </p:txBody>
      </p:sp>
      <p:sp>
        <p:nvSpPr>
          <p:cNvPr id="3" name="文本占位符 2"/>
          <p:cNvSpPr>
            <a:spLocks noGrp="1"/>
          </p:cNvSpPr>
          <p:nvPr>
            <p:ph type="body" sz="quarter" idx="11"/>
          </p:nvPr>
        </p:nvSpPr>
        <p:spPr>
          <a:xfrm>
            <a:off x="3704299" y="4477968"/>
            <a:ext cx="4783401" cy="1732332"/>
          </a:xfrm>
        </p:spPr>
        <p:txBody>
          <a:bodyPr/>
          <a:lstStyle/>
          <a:p>
            <a:r>
              <a:rPr lang="en-US" altLang="zh-CN" sz="2400" dirty="0" smtClean="0">
                <a:latin typeface="+mn-lt"/>
                <a:cs typeface="+mn-ea"/>
                <a:sym typeface="+mn-lt"/>
              </a:rPr>
              <a:t>151220018 </a:t>
            </a:r>
            <a:r>
              <a:rPr lang="zh-CN" altLang="en-US" sz="2400" dirty="0" smtClean="0">
                <a:latin typeface="+mn-lt"/>
                <a:cs typeface="+mn-ea"/>
                <a:sym typeface="+mn-lt"/>
              </a:rPr>
              <a:t>储宏程</a:t>
            </a:r>
            <a:endParaRPr lang="en-US" altLang="zh-CN" sz="2400" dirty="0" smtClean="0">
              <a:latin typeface="+mn-lt"/>
              <a:cs typeface="+mn-ea"/>
              <a:sym typeface="+mn-lt"/>
            </a:endParaRPr>
          </a:p>
          <a:p>
            <a:r>
              <a:rPr lang="en-US" altLang="zh-CN" sz="240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161220122  </a:t>
            </a:r>
            <a:r>
              <a:rPr lang="zh-CN" altLang="en-US" sz="240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万泽钰</a:t>
            </a:r>
            <a:endParaRPr lang="en-US" altLang="zh-CN" sz="240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a:p>
            <a:endParaRPr lang="en-US" altLang="zh-CN" sz="2400" dirty="0">
              <a:latin typeface="+mn-lt"/>
              <a:cs typeface="+mn-ea"/>
              <a:sym typeface="+mn-lt"/>
            </a:endParaRPr>
          </a:p>
        </p:txBody>
      </p:sp>
    </p:spTree>
    <p:extLst>
      <p:ext uri="{BB962C8B-B14F-4D97-AF65-F5344CB8AC3E}">
        <p14:creationId xmlns:p14="http://schemas.microsoft.com/office/powerpoint/2010/main" val="118468704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lvl="0" algn="ctr" defTabSz="914377">
              <a:lnSpc>
                <a:spcPct val="100000"/>
              </a:lnSpc>
              <a:spcBef>
                <a:spcPts val="0"/>
              </a:spcBef>
            </a:pPr>
            <a:r>
              <a:rPr lang="zh-CN" altLang="en-US" sz="4800" b="1" dirty="0" smtClean="0">
                <a:ln w="3175">
                  <a:solidFill>
                    <a:srgbClr val="000000">
                      <a:lumMod val="50000"/>
                      <a:lumOff val="50000"/>
                    </a:srgbClr>
                  </a:solidFill>
                </a:ln>
                <a:solidFill>
                  <a:srgbClr val="FFFFFF"/>
                </a:solidFill>
                <a:cs typeface="+mn-ea"/>
                <a:sym typeface="+mn-lt"/>
              </a:rPr>
              <a:t>目录</a:t>
            </a:r>
            <a:endParaRPr lang="en-US" altLang="zh-CN" sz="4800" b="1" dirty="0" smtClean="0">
              <a:ln w="3175">
                <a:solidFill>
                  <a:srgbClr val="000000">
                    <a:lumMod val="50000"/>
                    <a:lumOff val="50000"/>
                  </a:srgbClr>
                </a:solidFill>
              </a:ln>
              <a:solidFill>
                <a:srgbClr val="FFFFFF"/>
              </a:solidFill>
              <a:cs typeface="+mn-ea"/>
              <a:sym typeface="+mn-lt"/>
            </a:endParaRPr>
          </a:p>
          <a:p>
            <a:pPr lvl="0" algn="ctr" defTabSz="914377">
              <a:lnSpc>
                <a:spcPct val="100000"/>
              </a:lnSpc>
              <a:spcBef>
                <a:spcPts val="0"/>
              </a:spcBef>
            </a:pPr>
            <a:r>
              <a:rPr lang="en-US" altLang="zh-CN" sz="2400" b="1" dirty="0" smtClean="0">
                <a:ln>
                  <a:solidFill>
                    <a:srgbClr val="000000">
                      <a:lumMod val="50000"/>
                      <a:lumOff val="50000"/>
                    </a:srgbClr>
                  </a:solidFill>
                </a:ln>
                <a:solidFill>
                  <a:srgbClr val="FFFFFF"/>
                </a:solidFill>
                <a:cs typeface="+mn-ea"/>
                <a:sym typeface="+mn-lt"/>
              </a:rPr>
              <a:t>Content</a:t>
            </a:r>
            <a:endParaRPr lang="zh-CN" altLang="en-US" sz="2400" b="1" dirty="0">
              <a:ln>
                <a:solidFill>
                  <a:srgbClr val="000000">
                    <a:lumMod val="50000"/>
                    <a:lumOff val="50000"/>
                  </a:srgbClr>
                </a:solidFill>
              </a:ln>
              <a:solidFill>
                <a:srgbClr val="FFFFFF"/>
              </a:solidFill>
              <a:cs typeface="+mn-ea"/>
              <a:sym typeface="+mn-lt"/>
            </a:endParaRPr>
          </a:p>
          <a:p>
            <a:pPr lvl="0" algn="ctr" defTabSz="914377">
              <a:lnSpc>
                <a:spcPct val="100000"/>
              </a:lnSpc>
              <a:spcBef>
                <a:spcPts val="0"/>
              </a:spcBef>
            </a:pPr>
            <a:endParaRPr lang="zh-CN" altLang="en-US" b="1" dirty="0">
              <a:ln>
                <a:solidFill>
                  <a:srgbClr val="000000">
                    <a:lumMod val="50000"/>
                    <a:lumOff val="50000"/>
                  </a:srgbClr>
                </a:solidFill>
              </a:ln>
              <a:solidFill>
                <a:srgbClr val="FFFFFF"/>
              </a:solidFill>
              <a:cs typeface="+mn-ea"/>
              <a:sym typeface="+mn-lt"/>
            </a:endParaRPr>
          </a:p>
          <a:p>
            <a:endParaRPr lang="zh-CN" altLang="en-US" dirty="0"/>
          </a:p>
        </p:txBody>
      </p:sp>
      <p:sp>
        <p:nvSpPr>
          <p:cNvPr id="3" name="文本占位符 2"/>
          <p:cNvSpPr>
            <a:spLocks noGrp="1"/>
          </p:cNvSpPr>
          <p:nvPr>
            <p:ph type="body" sz="quarter" idx="11"/>
          </p:nvPr>
        </p:nvSpPr>
        <p:spPr/>
        <p:txBody>
          <a:bodyPr/>
          <a:lstStyle/>
          <a:p>
            <a:r>
              <a:rPr lang="zh-CN" altLang="en-US" dirty="0" smtClean="0">
                <a:latin typeface="Adobe Myungjo Std M" panose="02020600000000000000" pitchFamily="18" charset="-128"/>
              </a:rPr>
              <a:t>软件维护</a:t>
            </a:r>
            <a:endParaRPr lang="zh-CN" altLang="en-US" dirty="0">
              <a:latin typeface="Adobe Myungjo Std M" panose="02020600000000000000" pitchFamily="18" charset="-128"/>
            </a:endParaRPr>
          </a:p>
        </p:txBody>
      </p:sp>
      <p:sp>
        <p:nvSpPr>
          <p:cNvPr id="4" name="文本占位符 3"/>
          <p:cNvSpPr>
            <a:spLocks noGrp="1"/>
          </p:cNvSpPr>
          <p:nvPr>
            <p:ph type="body" sz="quarter" idx="12"/>
          </p:nvPr>
        </p:nvSpPr>
        <p:spPr>
          <a:xfrm>
            <a:off x="7280708" y="2569879"/>
            <a:ext cx="2912863" cy="341632"/>
          </a:xfrm>
        </p:spPr>
        <p:txBody>
          <a:bodyPr/>
          <a:lstStyle/>
          <a:p>
            <a:r>
              <a:rPr lang="en-US" altLang="zh-CN" dirty="0" smtClean="0"/>
              <a:t>Part1  </a:t>
            </a:r>
            <a:r>
              <a:rPr lang="zh-CN" altLang="en-US" dirty="0" smtClean="0"/>
              <a:t>软件维护概述</a:t>
            </a:r>
            <a:endParaRPr lang="zh-CN" altLang="en-US" dirty="0"/>
          </a:p>
        </p:txBody>
      </p:sp>
      <p:sp>
        <p:nvSpPr>
          <p:cNvPr id="5" name="文本占位符 4"/>
          <p:cNvSpPr>
            <a:spLocks noGrp="1"/>
          </p:cNvSpPr>
          <p:nvPr>
            <p:ph type="body" sz="quarter" idx="13"/>
          </p:nvPr>
        </p:nvSpPr>
        <p:spPr>
          <a:xfrm>
            <a:off x="7280709" y="3344607"/>
            <a:ext cx="2912862" cy="341632"/>
          </a:xfrm>
        </p:spPr>
        <p:txBody>
          <a:bodyPr/>
          <a:lstStyle/>
          <a:p>
            <a:r>
              <a:rPr lang="en-US" altLang="zh-CN" dirty="0" smtClean="0"/>
              <a:t>Part2  </a:t>
            </a:r>
            <a:r>
              <a:rPr lang="zh-CN" altLang="en-US" dirty="0" smtClean="0"/>
              <a:t>软件维护的分类</a:t>
            </a:r>
            <a:endParaRPr lang="zh-CN" altLang="en-US" dirty="0"/>
          </a:p>
        </p:txBody>
      </p:sp>
      <p:sp>
        <p:nvSpPr>
          <p:cNvPr id="6" name="文本占位符 5"/>
          <p:cNvSpPr>
            <a:spLocks noGrp="1"/>
          </p:cNvSpPr>
          <p:nvPr>
            <p:ph type="body" sz="quarter" idx="14"/>
          </p:nvPr>
        </p:nvSpPr>
        <p:spPr>
          <a:xfrm>
            <a:off x="7280708" y="4017006"/>
            <a:ext cx="4049901" cy="590931"/>
          </a:xfrm>
        </p:spPr>
        <p:txBody>
          <a:bodyPr/>
          <a:lstStyle/>
          <a:p>
            <a:r>
              <a:rPr lang="en-US" altLang="zh-CN" dirty="0" smtClean="0"/>
              <a:t>Part3  </a:t>
            </a:r>
            <a:r>
              <a:rPr lang="zh-CN" altLang="en-US" dirty="0" smtClean="0"/>
              <a:t>软件维护的困难以及影响因素</a:t>
            </a:r>
            <a:endParaRPr lang="zh-CN" altLang="en-US" dirty="0"/>
          </a:p>
        </p:txBody>
      </p:sp>
      <p:sp>
        <p:nvSpPr>
          <p:cNvPr id="7" name="文本占位符 6"/>
          <p:cNvSpPr>
            <a:spLocks noGrp="1"/>
          </p:cNvSpPr>
          <p:nvPr>
            <p:ph type="body" sz="quarter" idx="15"/>
          </p:nvPr>
        </p:nvSpPr>
        <p:spPr>
          <a:xfrm>
            <a:off x="7280709" y="4791734"/>
            <a:ext cx="3334282" cy="341632"/>
          </a:xfrm>
        </p:spPr>
        <p:txBody>
          <a:bodyPr/>
          <a:lstStyle/>
          <a:p>
            <a:r>
              <a:rPr lang="en-US" altLang="zh-CN" dirty="0" smtClean="0"/>
              <a:t>Part4  </a:t>
            </a:r>
            <a:r>
              <a:rPr lang="zh-CN" altLang="en-US" dirty="0" smtClean="0"/>
              <a:t>软件维护的策略与模型</a:t>
            </a:r>
            <a:endParaRPr lang="zh-CN" altLang="en-US" dirty="0"/>
          </a:p>
        </p:txBody>
      </p:sp>
    </p:spTree>
    <p:extLst>
      <p:ext uri="{BB962C8B-B14F-4D97-AF65-F5344CB8AC3E}">
        <p14:creationId xmlns:p14="http://schemas.microsoft.com/office/powerpoint/2010/main" val="35541268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72936" y="1174536"/>
            <a:ext cx="2169184" cy="4508927"/>
          </a:xfrm>
          <a:prstGeom prst="rect">
            <a:avLst/>
          </a:prstGeom>
          <a:noFill/>
        </p:spPr>
        <p:txBody>
          <a:bodyPr wrap="none" rtlCol="0">
            <a:spAutoFit/>
          </a:bodyPr>
          <a:lstStyle/>
          <a:p>
            <a:r>
              <a:rPr lang="en-US" altLang="zh-CN" sz="28700" dirty="0">
                <a:solidFill>
                  <a:schemeClr val="bg1"/>
                </a:solidFill>
                <a:cs typeface="+mn-ea"/>
                <a:sym typeface="+mn-lt"/>
              </a:rPr>
              <a:t>1</a:t>
            </a:r>
            <a:endParaRPr lang="zh-CN" altLang="en-US" sz="28700" dirty="0">
              <a:solidFill>
                <a:schemeClr val="bg1"/>
              </a:solidFill>
              <a:cs typeface="+mn-ea"/>
              <a:sym typeface="+mn-lt"/>
            </a:endParaRPr>
          </a:p>
        </p:txBody>
      </p:sp>
      <p:sp>
        <p:nvSpPr>
          <p:cNvPr id="2" name="文本占位符 1"/>
          <p:cNvSpPr>
            <a:spLocks noGrp="1"/>
          </p:cNvSpPr>
          <p:nvPr>
            <p:ph type="body" sz="quarter" idx="11"/>
          </p:nvPr>
        </p:nvSpPr>
        <p:spPr/>
        <p:txBody>
          <a:bodyPr/>
          <a:lstStyle/>
          <a:p>
            <a:r>
              <a:rPr lang="zh-CN" altLang="en-US" dirty="0" smtClean="0">
                <a:cs typeface="+mn-ea"/>
                <a:sym typeface="+mn-lt"/>
              </a:rPr>
              <a:t>软件维护</a:t>
            </a:r>
            <a:endParaRPr lang="zh-CN" altLang="en-US" dirty="0">
              <a:cs typeface="+mn-ea"/>
              <a:sym typeface="+mn-lt"/>
            </a:endParaRPr>
          </a:p>
        </p:txBody>
      </p:sp>
    </p:spTree>
    <p:extLst>
      <p:ext uri="{BB962C8B-B14F-4D97-AF65-F5344CB8AC3E}">
        <p14:creationId xmlns:p14="http://schemas.microsoft.com/office/powerpoint/2010/main" val="266167394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t>软件维护概述</a:t>
            </a:r>
            <a:endParaRPr lang="zh-CN" altLang="en-US" b="1" dirty="0"/>
          </a:p>
        </p:txBody>
      </p:sp>
      <p:sp>
        <p:nvSpPr>
          <p:cNvPr id="5" name="文本框 4"/>
          <p:cNvSpPr txBox="1"/>
          <p:nvPr/>
        </p:nvSpPr>
        <p:spPr>
          <a:xfrm>
            <a:off x="3938953" y="852854"/>
            <a:ext cx="8062547" cy="1815882"/>
          </a:xfrm>
          <a:prstGeom prst="rect">
            <a:avLst/>
          </a:prstGeom>
          <a:noFill/>
        </p:spPr>
        <p:txBody>
          <a:bodyPr wrap="square" rtlCol="0">
            <a:spAutoFit/>
          </a:bodyPr>
          <a:lstStyle/>
          <a:p>
            <a:r>
              <a:rPr lang="zh-CN" altLang="en-US" sz="1600" dirty="0">
                <a:solidFill>
                  <a:schemeClr val="bg1"/>
                </a:solidFill>
              </a:rPr>
              <a:t>随着时间的推移和计算机技术的飞速发展，现代社会</a:t>
            </a:r>
            <a:r>
              <a:rPr lang="zh-CN" altLang="en-US" sz="1600" dirty="0" smtClean="0">
                <a:solidFill>
                  <a:schemeClr val="bg1"/>
                </a:solidFill>
              </a:rPr>
              <a:t>产生</a:t>
            </a:r>
            <a:r>
              <a:rPr lang="zh-CN" altLang="en-US" sz="1600" dirty="0">
                <a:solidFill>
                  <a:schemeClr val="bg1"/>
                </a:solidFill>
              </a:rPr>
              <a:t>了越来越多的软件，这些软件都面临着维护和更新换代</a:t>
            </a:r>
            <a:r>
              <a:rPr lang="zh-CN" altLang="en-US" sz="1600" dirty="0" smtClean="0">
                <a:solidFill>
                  <a:schemeClr val="bg1"/>
                </a:solidFill>
              </a:rPr>
              <a:t>，软件维护</a:t>
            </a:r>
            <a:r>
              <a:rPr lang="zh-CN" altLang="en-US" sz="1600" dirty="0">
                <a:solidFill>
                  <a:schemeClr val="bg1"/>
                </a:solidFill>
              </a:rPr>
              <a:t>水平的优劣直接影响着软件产品的生命周期 </a:t>
            </a:r>
            <a:r>
              <a:rPr lang="zh-CN" altLang="en-US" sz="1600" dirty="0" smtClean="0">
                <a:solidFill>
                  <a:schemeClr val="bg1"/>
                </a:solidFill>
              </a:rPr>
              <a:t>。</a:t>
            </a:r>
            <a:r>
              <a:rPr lang="zh-CN" altLang="en-US" sz="1600" dirty="0">
                <a:solidFill>
                  <a:schemeClr val="bg1"/>
                </a:solidFill>
              </a:rPr>
              <a:t>软件</a:t>
            </a:r>
          </a:p>
          <a:p>
            <a:r>
              <a:rPr lang="zh-CN" altLang="en-US" sz="1600" dirty="0">
                <a:solidFill>
                  <a:schemeClr val="bg1"/>
                </a:solidFill>
              </a:rPr>
              <a:t>产品开发结束后，该产品就进入了运行维护阶段，在这个</a:t>
            </a:r>
            <a:r>
              <a:rPr lang="zh-CN" altLang="en-US" sz="1600" dirty="0" smtClean="0">
                <a:solidFill>
                  <a:schemeClr val="bg1"/>
                </a:solidFill>
              </a:rPr>
              <a:t>阶段</a:t>
            </a:r>
            <a:r>
              <a:rPr lang="zh-CN" altLang="en-US" sz="1600" dirty="0">
                <a:solidFill>
                  <a:schemeClr val="bg1"/>
                </a:solidFill>
              </a:rPr>
              <a:t>中常常由于各种原因需要对已完成的软件产品根据用户</a:t>
            </a:r>
            <a:r>
              <a:rPr lang="zh-CN" altLang="en-US" sz="1600" dirty="0" smtClean="0">
                <a:solidFill>
                  <a:schemeClr val="bg1"/>
                </a:solidFill>
              </a:rPr>
              <a:t>和实际</a:t>
            </a:r>
            <a:r>
              <a:rPr lang="zh-CN" altLang="en-US" sz="1600" dirty="0">
                <a:solidFill>
                  <a:schemeClr val="bg1"/>
                </a:solidFill>
              </a:rPr>
              <a:t>中工作的新需求进行修改和维护，软件维护过程的</a:t>
            </a:r>
            <a:r>
              <a:rPr lang="zh-CN" altLang="en-US" sz="1600" dirty="0" smtClean="0">
                <a:solidFill>
                  <a:schemeClr val="bg1"/>
                </a:solidFill>
              </a:rPr>
              <a:t>工作量</a:t>
            </a:r>
            <a:r>
              <a:rPr lang="zh-CN" altLang="en-US" sz="1600" dirty="0">
                <a:solidFill>
                  <a:schemeClr val="bg1"/>
                </a:solidFill>
              </a:rPr>
              <a:t>非常大，据统计，软件维护成本已经远远超过了系统的</a:t>
            </a:r>
            <a:r>
              <a:rPr lang="zh-CN" altLang="en-US" sz="1600" dirty="0" smtClean="0">
                <a:solidFill>
                  <a:schemeClr val="bg1"/>
                </a:solidFill>
              </a:rPr>
              <a:t>软件开发</a:t>
            </a:r>
            <a:r>
              <a:rPr lang="zh-CN" altLang="en-US" sz="1600" dirty="0">
                <a:solidFill>
                  <a:schemeClr val="bg1"/>
                </a:solidFill>
              </a:rPr>
              <a:t>成本，占系统总投资的</a:t>
            </a:r>
            <a:r>
              <a:rPr lang="en-US" altLang="zh-CN" sz="1600" dirty="0">
                <a:solidFill>
                  <a:schemeClr val="bg1"/>
                </a:solidFill>
              </a:rPr>
              <a:t>70% </a:t>
            </a:r>
            <a:r>
              <a:rPr lang="zh-CN" altLang="en-US" sz="1600" dirty="0">
                <a:solidFill>
                  <a:schemeClr val="bg1"/>
                </a:solidFill>
              </a:rPr>
              <a:t>以上，为了使软件的寿命</a:t>
            </a:r>
            <a:r>
              <a:rPr lang="zh-CN" altLang="en-US" sz="1600" dirty="0" smtClean="0">
                <a:solidFill>
                  <a:schemeClr val="bg1"/>
                </a:solidFill>
              </a:rPr>
              <a:t>更长</a:t>
            </a:r>
            <a:r>
              <a:rPr lang="zh-CN" altLang="en-US" sz="1600" dirty="0">
                <a:solidFill>
                  <a:schemeClr val="bg1"/>
                </a:solidFill>
              </a:rPr>
              <a:t>，这方面的工作量会越来越高，维护成本也会逐步增加</a:t>
            </a:r>
            <a:r>
              <a:rPr lang="zh-CN" altLang="en-US" sz="1600" dirty="0" smtClean="0">
                <a:solidFill>
                  <a:schemeClr val="bg1"/>
                </a:solidFill>
              </a:rPr>
              <a:t>，因此</a:t>
            </a:r>
            <a:r>
              <a:rPr lang="zh-CN" altLang="en-US" sz="1600" dirty="0">
                <a:solidFill>
                  <a:schemeClr val="bg1"/>
                </a:solidFill>
              </a:rPr>
              <a:t>软件维护活动的研究越来越受到人们的</a:t>
            </a:r>
            <a:r>
              <a:rPr lang="zh-CN" altLang="en-US" sz="1600" dirty="0" smtClean="0">
                <a:solidFill>
                  <a:schemeClr val="bg1"/>
                </a:solidFill>
              </a:rPr>
              <a:t>关注。</a:t>
            </a:r>
            <a:endParaRPr lang="zh-CN" altLang="en-US" sz="1600" dirty="0">
              <a:solidFill>
                <a:schemeClr val="bg1"/>
              </a:solidFill>
            </a:endParaRPr>
          </a:p>
        </p:txBody>
      </p:sp>
      <p:sp>
        <p:nvSpPr>
          <p:cNvPr id="6" name="矩形 5"/>
          <p:cNvSpPr/>
          <p:nvPr/>
        </p:nvSpPr>
        <p:spPr>
          <a:xfrm>
            <a:off x="1257020" y="1510035"/>
            <a:ext cx="1415772" cy="584775"/>
          </a:xfrm>
          <a:prstGeom prst="rect">
            <a:avLst/>
          </a:prstGeom>
          <a:noFill/>
        </p:spPr>
        <p:txBody>
          <a:bodyPr wrap="none" lIns="91440" tIns="45720" rIns="91440" bIns="45720">
            <a:spAutoFit/>
          </a:bodyPr>
          <a:lstStyle/>
          <a:p>
            <a:pPr algn="ctr"/>
            <a:r>
              <a:rPr lang="zh-CN" altLang="en-US" sz="3200" b="0" cap="none" spc="0" dirty="0" smtClean="0">
                <a:ln w="0"/>
                <a:solidFill>
                  <a:schemeClr val="accent1"/>
                </a:solidFill>
                <a:effectLst>
                  <a:outerShdw blurRad="38100" dist="25400" dir="5400000" algn="ctr" rotWithShape="0">
                    <a:srgbClr val="6E747A">
                      <a:alpha val="43000"/>
                    </a:srgbClr>
                  </a:outerShdw>
                </a:effectLst>
              </a:rPr>
              <a:t>必要性</a:t>
            </a:r>
            <a:endParaRPr lang="zh-CN" altLang="en-US" sz="3200" b="0" cap="none" spc="0" dirty="0">
              <a:ln w="0"/>
              <a:solidFill>
                <a:schemeClr val="accent1"/>
              </a:solidFill>
              <a:effectLst>
                <a:outerShdw blurRad="38100" dist="25400" dir="5400000" algn="ctr" rotWithShape="0">
                  <a:srgbClr val="6E747A">
                    <a:alpha val="43000"/>
                  </a:srgbClr>
                </a:outerShdw>
              </a:effectLst>
            </a:endParaRPr>
          </a:p>
        </p:txBody>
      </p:sp>
      <p:sp>
        <p:nvSpPr>
          <p:cNvPr id="7" name="右箭头 6"/>
          <p:cNvSpPr/>
          <p:nvPr/>
        </p:nvSpPr>
        <p:spPr>
          <a:xfrm>
            <a:off x="3096126" y="1661746"/>
            <a:ext cx="842827" cy="28135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6914" y="3429000"/>
            <a:ext cx="2646878" cy="584775"/>
          </a:xfrm>
          <a:prstGeom prst="rect">
            <a:avLst/>
          </a:prstGeom>
          <a:noFill/>
        </p:spPr>
        <p:txBody>
          <a:bodyPr wrap="none" lIns="91440" tIns="45720" rIns="91440" bIns="45720">
            <a:spAutoFit/>
          </a:bodyPr>
          <a:lstStyle/>
          <a:p>
            <a:pPr algn="ctr"/>
            <a:r>
              <a:rPr lang="zh-CN" altLang="en-US" sz="3200" b="0" cap="none" spc="0" dirty="0" smtClean="0">
                <a:ln w="0"/>
                <a:solidFill>
                  <a:schemeClr val="accent1"/>
                </a:solidFill>
                <a:effectLst>
                  <a:outerShdw blurRad="38100" dist="25400" dir="5400000" algn="ctr" rotWithShape="0">
                    <a:srgbClr val="6E747A">
                      <a:alpha val="43000"/>
                    </a:srgbClr>
                  </a:outerShdw>
                </a:effectLst>
              </a:rPr>
              <a:t>软件的维护性</a:t>
            </a:r>
            <a:endParaRPr lang="zh-CN" altLang="en-US" sz="3200" b="0" cap="none" spc="0" dirty="0">
              <a:ln w="0"/>
              <a:solidFill>
                <a:schemeClr val="accent1"/>
              </a:solidFill>
              <a:effectLst>
                <a:outerShdw blurRad="38100" dist="25400" dir="5400000" algn="ctr" rotWithShape="0">
                  <a:srgbClr val="6E747A">
                    <a:alpha val="43000"/>
                  </a:srgbClr>
                </a:outerShdw>
              </a:effectLst>
            </a:endParaRPr>
          </a:p>
        </p:txBody>
      </p:sp>
      <p:sp>
        <p:nvSpPr>
          <p:cNvPr id="10" name="右箭头 9"/>
          <p:cNvSpPr/>
          <p:nvPr/>
        </p:nvSpPr>
        <p:spPr>
          <a:xfrm>
            <a:off x="3096126" y="3575193"/>
            <a:ext cx="842827" cy="29238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034543" y="3437792"/>
            <a:ext cx="4002603" cy="1661993"/>
          </a:xfrm>
          <a:prstGeom prst="rect">
            <a:avLst/>
          </a:prstGeom>
          <a:noFill/>
        </p:spPr>
        <p:txBody>
          <a:bodyPr wrap="square" rtlCol="0">
            <a:spAutoFit/>
          </a:bodyPr>
          <a:lstStyle/>
          <a:p>
            <a:r>
              <a:rPr lang="zh-CN" altLang="en-US" sz="1400" dirty="0" smtClean="0">
                <a:solidFill>
                  <a:schemeClr val="bg1"/>
                </a:solidFill>
              </a:rPr>
              <a:t>软件维护性是指软件产品能够被修改的能力。</a:t>
            </a:r>
            <a:endParaRPr lang="zh-CN" altLang="en-US" sz="1400" dirty="0">
              <a:solidFill>
                <a:schemeClr val="bg1"/>
              </a:solidFill>
            </a:endParaRPr>
          </a:p>
          <a:p>
            <a:r>
              <a:rPr lang="en-US" altLang="zh-CN" sz="1400" dirty="0" smtClean="0">
                <a:solidFill>
                  <a:schemeClr val="bg1"/>
                </a:solidFill>
              </a:rPr>
              <a:t>ISO/IEC 9126 1991</a:t>
            </a:r>
            <a:r>
              <a:rPr lang="zh-CN" altLang="en-US" sz="1400" dirty="0" smtClean="0">
                <a:solidFill>
                  <a:schemeClr val="bg1"/>
                </a:solidFill>
              </a:rPr>
              <a:t>标准中指出维护性是与</a:t>
            </a:r>
            <a:r>
              <a:rPr lang="zh-CN" altLang="en-US" sz="1400" dirty="0">
                <a:solidFill>
                  <a:schemeClr val="bg1"/>
                </a:solidFill>
              </a:rPr>
              <a:t>进行</a:t>
            </a:r>
            <a:r>
              <a:rPr lang="zh-CN" altLang="en-US" sz="1400" dirty="0" smtClean="0">
                <a:solidFill>
                  <a:schemeClr val="bg1"/>
                </a:solidFill>
              </a:rPr>
              <a:t>指定的修改所需的努力有关的</a:t>
            </a:r>
            <a:r>
              <a:rPr lang="zh-CN" altLang="en-US" sz="1400" dirty="0">
                <a:solidFill>
                  <a:schemeClr val="bg1"/>
                </a:solidFill>
              </a:rPr>
              <a:t>一组</a:t>
            </a:r>
            <a:r>
              <a:rPr lang="zh-CN" altLang="en-US" sz="1400" dirty="0" smtClean="0">
                <a:solidFill>
                  <a:schemeClr val="bg1"/>
                </a:solidFill>
              </a:rPr>
              <a:t>属性</a:t>
            </a:r>
            <a:endParaRPr lang="zh-CN" altLang="en-US" sz="1400" dirty="0">
              <a:solidFill>
                <a:schemeClr val="bg1"/>
              </a:solidFill>
            </a:endParaRPr>
          </a:p>
          <a:p>
            <a:r>
              <a:rPr lang="zh-CN" altLang="en-US" sz="1400" dirty="0" smtClean="0">
                <a:solidFill>
                  <a:schemeClr val="bg1"/>
                </a:solidFill>
              </a:rPr>
              <a:t>并且修改可包括为了适应环境的变化以及需求和功能规化说明书的变化对软件进行修正、改进或更改</a:t>
            </a:r>
            <a:endParaRPr lang="zh-CN" altLang="en-US" sz="1400" dirty="0">
              <a:solidFill>
                <a:schemeClr val="bg1"/>
              </a:solidFill>
            </a:endParaRPr>
          </a:p>
          <a:p>
            <a:r>
              <a:rPr lang="en-US" altLang="zh-CN" dirty="0"/>
              <a:t>,</a:t>
            </a:r>
            <a:endParaRPr lang="zh-CN" altLang="en-US" dirty="0"/>
          </a:p>
        </p:txBody>
      </p:sp>
      <p:graphicFrame>
        <p:nvGraphicFramePr>
          <p:cNvPr id="12" name="图示 11"/>
          <p:cNvGraphicFramePr/>
          <p:nvPr>
            <p:extLst>
              <p:ext uri="{D42A27DB-BD31-4B8C-83A1-F6EECF244321}">
                <p14:modId xmlns:p14="http://schemas.microsoft.com/office/powerpoint/2010/main" val="1589993646"/>
              </p:ext>
            </p:extLst>
          </p:nvPr>
        </p:nvGraphicFramePr>
        <p:xfrm>
          <a:off x="7254631" y="2668737"/>
          <a:ext cx="5589696" cy="3135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9841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solidFill>
                  <a:schemeClr val="accent1"/>
                </a:solidFill>
                <a:cs typeface="+mn-ea"/>
                <a:sym typeface="+mn-lt"/>
              </a:rPr>
              <a:t>软件维护的分类</a:t>
            </a:r>
            <a:endParaRPr lang="zh-CN" altLang="en-US" b="1" dirty="0">
              <a:solidFill>
                <a:schemeClr val="accent1"/>
              </a:solidFill>
              <a:cs typeface="+mn-ea"/>
              <a:sym typeface="+mn-lt"/>
            </a:endParaRPr>
          </a:p>
        </p:txBody>
      </p:sp>
      <p:grpSp>
        <p:nvGrpSpPr>
          <p:cNvPr id="9" name="Group 27"/>
          <p:cNvGrpSpPr/>
          <p:nvPr/>
        </p:nvGrpSpPr>
        <p:grpSpPr>
          <a:xfrm>
            <a:off x="1265081" y="1013440"/>
            <a:ext cx="1373925" cy="5032787"/>
            <a:chOff x="2897280" y="214999"/>
            <a:chExt cx="1065120" cy="4867342"/>
          </a:xfrm>
        </p:grpSpPr>
        <p:grpSp>
          <p:nvGrpSpPr>
            <p:cNvPr id="10" name="Group 18"/>
            <p:cNvGrpSpPr/>
            <p:nvPr/>
          </p:nvGrpSpPr>
          <p:grpSpPr>
            <a:xfrm>
              <a:off x="2897280" y="214999"/>
              <a:ext cx="1065120" cy="2439102"/>
              <a:chOff x="2897280" y="204839"/>
              <a:chExt cx="1065120" cy="2439102"/>
            </a:xfrm>
          </p:grpSpPr>
          <p:sp>
            <p:nvSpPr>
              <p:cNvPr id="14" name="Manual Input 10"/>
              <p:cNvSpPr/>
              <p:nvPr/>
            </p:nvSpPr>
            <p:spPr>
              <a:xfrm flipH="1">
                <a:off x="2897280" y="204839"/>
                <a:ext cx="1065120" cy="24391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8 w 10000"/>
                  <a:gd name="connsiteY0" fmla="*/ 4474 h 10000"/>
                  <a:gd name="connsiteX1" fmla="*/ 10000 w 10000"/>
                  <a:gd name="connsiteY1" fmla="*/ 0 h 10000"/>
                  <a:gd name="connsiteX2" fmla="*/ 10000 w 10000"/>
                  <a:gd name="connsiteY2" fmla="*/ 10000 h 10000"/>
                  <a:gd name="connsiteX3" fmla="*/ 0 w 10000"/>
                  <a:gd name="connsiteY3" fmla="*/ 10000 h 10000"/>
                  <a:gd name="connsiteX4" fmla="*/ 18 w 10000"/>
                  <a:gd name="connsiteY4" fmla="*/ 447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8" y="4474"/>
                    </a:moveTo>
                    <a:lnTo>
                      <a:pt x="10000" y="0"/>
                    </a:lnTo>
                    <a:lnTo>
                      <a:pt x="10000" y="10000"/>
                    </a:lnTo>
                    <a:lnTo>
                      <a:pt x="0" y="10000"/>
                    </a:lnTo>
                    <a:lnTo>
                      <a:pt x="18" y="4474"/>
                    </a:lnTo>
                    <a:close/>
                  </a:path>
                </a:pathLst>
              </a:cu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cs typeface="+mn-ea"/>
                  <a:sym typeface="+mn-lt"/>
                </a:endParaRPr>
              </a:p>
            </p:txBody>
          </p:sp>
          <p:sp>
            <p:nvSpPr>
              <p:cNvPr id="15" name="Manual Input 10"/>
              <p:cNvSpPr/>
              <p:nvPr/>
            </p:nvSpPr>
            <p:spPr>
              <a:xfrm flipH="1">
                <a:off x="2897280" y="1424459"/>
                <a:ext cx="1065120" cy="121948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8 w 10000"/>
                  <a:gd name="connsiteY0" fmla="*/ 4474 h 10000"/>
                  <a:gd name="connsiteX1" fmla="*/ 10000 w 10000"/>
                  <a:gd name="connsiteY1" fmla="*/ 0 h 10000"/>
                  <a:gd name="connsiteX2" fmla="*/ 10000 w 10000"/>
                  <a:gd name="connsiteY2" fmla="*/ 10000 h 10000"/>
                  <a:gd name="connsiteX3" fmla="*/ 0 w 10000"/>
                  <a:gd name="connsiteY3" fmla="*/ 10000 h 10000"/>
                  <a:gd name="connsiteX4" fmla="*/ 18 w 10000"/>
                  <a:gd name="connsiteY4" fmla="*/ 447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8" y="4474"/>
                    </a:moveTo>
                    <a:lnTo>
                      <a:pt x="10000" y="0"/>
                    </a:lnTo>
                    <a:lnTo>
                      <a:pt x="10000" y="10000"/>
                    </a:lnTo>
                    <a:lnTo>
                      <a:pt x="0" y="10000"/>
                    </a:lnTo>
                    <a:lnTo>
                      <a:pt x="18" y="4474"/>
                    </a:lnTo>
                    <a:close/>
                  </a:path>
                </a:pathLst>
              </a:cu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grpSp>
        <p:grpSp>
          <p:nvGrpSpPr>
            <p:cNvPr id="11" name="Group 19"/>
            <p:cNvGrpSpPr/>
            <p:nvPr/>
          </p:nvGrpSpPr>
          <p:grpSpPr>
            <a:xfrm flipV="1">
              <a:off x="2897280" y="2643239"/>
              <a:ext cx="1065120" cy="2439102"/>
              <a:chOff x="2897280" y="204839"/>
              <a:chExt cx="1065120" cy="2439102"/>
            </a:xfrm>
          </p:grpSpPr>
          <p:sp>
            <p:nvSpPr>
              <p:cNvPr id="12" name="Manual Input 10"/>
              <p:cNvSpPr/>
              <p:nvPr/>
            </p:nvSpPr>
            <p:spPr>
              <a:xfrm flipH="1">
                <a:off x="2897280" y="204839"/>
                <a:ext cx="1065120" cy="24391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8 w 10000"/>
                  <a:gd name="connsiteY0" fmla="*/ 4474 h 10000"/>
                  <a:gd name="connsiteX1" fmla="*/ 10000 w 10000"/>
                  <a:gd name="connsiteY1" fmla="*/ 0 h 10000"/>
                  <a:gd name="connsiteX2" fmla="*/ 10000 w 10000"/>
                  <a:gd name="connsiteY2" fmla="*/ 10000 h 10000"/>
                  <a:gd name="connsiteX3" fmla="*/ 0 w 10000"/>
                  <a:gd name="connsiteY3" fmla="*/ 10000 h 10000"/>
                  <a:gd name="connsiteX4" fmla="*/ 18 w 10000"/>
                  <a:gd name="connsiteY4" fmla="*/ 447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8" y="4474"/>
                    </a:moveTo>
                    <a:lnTo>
                      <a:pt x="10000" y="0"/>
                    </a:lnTo>
                    <a:lnTo>
                      <a:pt x="10000" y="10000"/>
                    </a:lnTo>
                    <a:lnTo>
                      <a:pt x="0" y="10000"/>
                    </a:lnTo>
                    <a:lnTo>
                      <a:pt x="18" y="4474"/>
                    </a:lnTo>
                    <a:close/>
                  </a:path>
                </a:pathLst>
              </a:custGeom>
              <a:solidFill>
                <a:schemeClr val="accent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13" name="Manual Input 10"/>
              <p:cNvSpPr/>
              <p:nvPr/>
            </p:nvSpPr>
            <p:spPr>
              <a:xfrm flipH="1">
                <a:off x="2897280" y="1424459"/>
                <a:ext cx="1065120" cy="121948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8 w 10000"/>
                  <a:gd name="connsiteY0" fmla="*/ 4474 h 10000"/>
                  <a:gd name="connsiteX1" fmla="*/ 10000 w 10000"/>
                  <a:gd name="connsiteY1" fmla="*/ 0 h 10000"/>
                  <a:gd name="connsiteX2" fmla="*/ 10000 w 10000"/>
                  <a:gd name="connsiteY2" fmla="*/ 10000 h 10000"/>
                  <a:gd name="connsiteX3" fmla="*/ 0 w 10000"/>
                  <a:gd name="connsiteY3" fmla="*/ 10000 h 10000"/>
                  <a:gd name="connsiteX4" fmla="*/ 18 w 10000"/>
                  <a:gd name="connsiteY4" fmla="*/ 447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8" y="4474"/>
                    </a:moveTo>
                    <a:lnTo>
                      <a:pt x="10000" y="0"/>
                    </a:lnTo>
                    <a:lnTo>
                      <a:pt x="10000" y="10000"/>
                    </a:lnTo>
                    <a:lnTo>
                      <a:pt x="0" y="10000"/>
                    </a:lnTo>
                    <a:lnTo>
                      <a:pt x="18" y="4474"/>
                    </a:lnTo>
                    <a:close/>
                  </a:path>
                </a:pathLst>
              </a:custGeom>
              <a:solidFill>
                <a:schemeClr val="tx1">
                  <a:lumMod val="95000"/>
                  <a:lumOff val="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grpSp>
      </p:grpSp>
      <p:sp>
        <p:nvSpPr>
          <p:cNvPr id="16" name="Rectangle 22"/>
          <p:cNvSpPr/>
          <p:nvPr/>
        </p:nvSpPr>
        <p:spPr>
          <a:xfrm>
            <a:off x="0" y="2263559"/>
            <a:ext cx="1275181" cy="1279780"/>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cs typeface="+mn-ea"/>
                <a:sym typeface="+mn-lt"/>
              </a:rPr>
              <a:t>02</a:t>
            </a:r>
          </a:p>
        </p:txBody>
      </p:sp>
      <p:sp>
        <p:nvSpPr>
          <p:cNvPr id="17" name="Rectangle 23"/>
          <p:cNvSpPr/>
          <p:nvPr/>
        </p:nvSpPr>
        <p:spPr>
          <a:xfrm>
            <a:off x="0" y="3500769"/>
            <a:ext cx="1275181" cy="1279780"/>
          </a:xfrm>
          <a:prstGeom prst="rect">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cs typeface="+mn-ea"/>
                <a:sym typeface="+mn-lt"/>
              </a:rPr>
              <a:t>03</a:t>
            </a:r>
          </a:p>
        </p:txBody>
      </p:sp>
      <p:sp>
        <p:nvSpPr>
          <p:cNvPr id="18" name="Rectangle 24"/>
          <p:cNvSpPr/>
          <p:nvPr/>
        </p:nvSpPr>
        <p:spPr>
          <a:xfrm>
            <a:off x="0" y="4773075"/>
            <a:ext cx="1275181" cy="12797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solidFill>
                  <a:schemeClr val="tx1">
                    <a:lumMod val="85000"/>
                    <a:lumOff val="15000"/>
                  </a:schemeClr>
                </a:solidFill>
                <a:cs typeface="+mn-ea"/>
                <a:sym typeface="+mn-lt"/>
              </a:rPr>
              <a:t>04</a:t>
            </a:r>
          </a:p>
        </p:txBody>
      </p:sp>
      <p:sp>
        <p:nvSpPr>
          <p:cNvPr id="19" name="Rectangle 25"/>
          <p:cNvSpPr/>
          <p:nvPr/>
        </p:nvSpPr>
        <p:spPr>
          <a:xfrm>
            <a:off x="0" y="1013440"/>
            <a:ext cx="1275181" cy="127978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cs typeface="+mn-ea"/>
                <a:sym typeface="+mn-lt"/>
              </a:rPr>
              <a:t>01</a:t>
            </a:r>
          </a:p>
        </p:txBody>
      </p:sp>
      <p:grpSp>
        <p:nvGrpSpPr>
          <p:cNvPr id="21" name="组合 20"/>
          <p:cNvGrpSpPr/>
          <p:nvPr/>
        </p:nvGrpSpPr>
        <p:grpSpPr>
          <a:xfrm>
            <a:off x="2633533" y="2142599"/>
            <a:ext cx="8297390" cy="709111"/>
            <a:chOff x="2633533" y="2142599"/>
            <a:chExt cx="8297390" cy="709111"/>
          </a:xfrm>
        </p:grpSpPr>
        <p:sp>
          <p:nvSpPr>
            <p:cNvPr id="8" name="Pentagon 16"/>
            <p:cNvSpPr/>
            <p:nvPr/>
          </p:nvSpPr>
          <p:spPr>
            <a:xfrm>
              <a:off x="2633533" y="2142599"/>
              <a:ext cx="8297390" cy="709111"/>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33" name="矩形 32"/>
            <p:cNvSpPr/>
            <p:nvPr/>
          </p:nvSpPr>
          <p:spPr>
            <a:xfrm>
              <a:off x="3740063" y="2215496"/>
              <a:ext cx="1210588" cy="338554"/>
            </a:xfrm>
            <a:prstGeom prst="rect">
              <a:avLst/>
            </a:prstGeom>
          </p:spPr>
          <p:txBody>
            <a:bodyPr wrap="none">
              <a:spAutoFit/>
            </a:bodyPr>
            <a:lstStyle/>
            <a:p>
              <a:pPr algn="ctr" defTabSz="609585"/>
              <a:r>
                <a:rPr lang="zh-CN" altLang="en-US" sz="1600" b="1" dirty="0" smtClean="0">
                  <a:solidFill>
                    <a:schemeClr val="bg1"/>
                  </a:solidFill>
                  <a:cs typeface="+mn-ea"/>
                  <a:sym typeface="+mn-lt"/>
                </a:rPr>
                <a:t>适应性维护</a:t>
              </a:r>
              <a:endParaRPr lang="zh-CN" altLang="en-US" sz="1600" b="1" dirty="0">
                <a:solidFill>
                  <a:schemeClr val="bg1"/>
                </a:solidFill>
                <a:cs typeface="+mn-ea"/>
                <a:sym typeface="+mn-lt"/>
              </a:endParaRPr>
            </a:p>
          </p:txBody>
        </p:sp>
        <p:grpSp>
          <p:nvGrpSpPr>
            <p:cNvPr id="47" name="组合 46"/>
            <p:cNvGrpSpPr/>
            <p:nvPr/>
          </p:nvGrpSpPr>
          <p:grpSpPr>
            <a:xfrm>
              <a:off x="2878667" y="2338672"/>
              <a:ext cx="399188" cy="307522"/>
              <a:chOff x="2486025" y="3619500"/>
              <a:chExt cx="1500188" cy="1155700"/>
            </a:xfrm>
            <a:solidFill>
              <a:schemeClr val="bg1"/>
            </a:solidFill>
          </p:grpSpPr>
          <p:sp>
            <p:nvSpPr>
              <p:cNvPr id="48" name="Freeform 26"/>
              <p:cNvSpPr>
                <a:spLocks noEditPoints="1"/>
              </p:cNvSpPr>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27"/>
              <p:cNvSpPr>
                <a:spLocks/>
              </p:cNvSpPr>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grpSp>
        <p:nvGrpSpPr>
          <p:cNvPr id="22" name="组合 21"/>
          <p:cNvGrpSpPr/>
          <p:nvPr/>
        </p:nvGrpSpPr>
        <p:grpSpPr>
          <a:xfrm>
            <a:off x="2633535" y="2835276"/>
            <a:ext cx="6368634" cy="709111"/>
            <a:chOff x="2633535" y="2835276"/>
            <a:chExt cx="6368634" cy="709111"/>
          </a:xfrm>
        </p:grpSpPr>
        <p:sp>
          <p:nvSpPr>
            <p:cNvPr id="5" name="Pentagon 7"/>
            <p:cNvSpPr/>
            <p:nvPr/>
          </p:nvSpPr>
          <p:spPr>
            <a:xfrm>
              <a:off x="2633535" y="2835276"/>
              <a:ext cx="6368634" cy="709111"/>
            </a:xfrm>
            <a:prstGeom prst="homePlate">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35" name="矩形 34"/>
            <p:cNvSpPr/>
            <p:nvPr/>
          </p:nvSpPr>
          <p:spPr>
            <a:xfrm>
              <a:off x="3740063" y="2897301"/>
              <a:ext cx="1210588" cy="338554"/>
            </a:xfrm>
            <a:prstGeom prst="rect">
              <a:avLst/>
            </a:prstGeom>
          </p:spPr>
          <p:txBody>
            <a:bodyPr wrap="none">
              <a:spAutoFit/>
            </a:bodyPr>
            <a:lstStyle/>
            <a:p>
              <a:pPr algn="ctr" defTabSz="609585"/>
              <a:r>
                <a:rPr lang="zh-CN" altLang="en-US" sz="1600" b="1" dirty="0" smtClean="0">
                  <a:solidFill>
                    <a:schemeClr val="bg1"/>
                  </a:solidFill>
                  <a:cs typeface="+mn-ea"/>
                  <a:sym typeface="+mn-lt"/>
                </a:rPr>
                <a:t>完善性维护</a:t>
              </a:r>
              <a:endParaRPr lang="zh-CN" altLang="en-US" sz="1600" b="1" dirty="0">
                <a:solidFill>
                  <a:schemeClr val="bg1"/>
                </a:solidFill>
                <a:cs typeface="+mn-ea"/>
                <a:sym typeface="+mn-lt"/>
              </a:endParaRPr>
            </a:p>
          </p:txBody>
        </p:sp>
        <p:grpSp>
          <p:nvGrpSpPr>
            <p:cNvPr id="50" name="组合 49"/>
            <p:cNvGrpSpPr/>
            <p:nvPr/>
          </p:nvGrpSpPr>
          <p:grpSpPr>
            <a:xfrm>
              <a:off x="2878667" y="2990428"/>
              <a:ext cx="399188" cy="307522"/>
              <a:chOff x="2486025" y="3619500"/>
              <a:chExt cx="1500188" cy="1155700"/>
            </a:xfrm>
            <a:solidFill>
              <a:schemeClr val="bg1"/>
            </a:solidFill>
          </p:grpSpPr>
          <p:sp>
            <p:nvSpPr>
              <p:cNvPr id="51" name="Freeform 26"/>
              <p:cNvSpPr>
                <a:spLocks noEditPoints="1"/>
              </p:cNvSpPr>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2" name="Freeform 27"/>
              <p:cNvSpPr>
                <a:spLocks/>
              </p:cNvSpPr>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grpSp>
        <p:nvGrpSpPr>
          <p:cNvPr id="23" name="组合 22"/>
          <p:cNvGrpSpPr/>
          <p:nvPr/>
        </p:nvGrpSpPr>
        <p:grpSpPr>
          <a:xfrm>
            <a:off x="2633533" y="3512774"/>
            <a:ext cx="7077046" cy="709111"/>
            <a:chOff x="2633533" y="3512774"/>
            <a:chExt cx="7077046" cy="709111"/>
          </a:xfrm>
        </p:grpSpPr>
        <p:sp>
          <p:nvSpPr>
            <p:cNvPr id="6" name="Pentagon 8"/>
            <p:cNvSpPr/>
            <p:nvPr/>
          </p:nvSpPr>
          <p:spPr>
            <a:xfrm>
              <a:off x="2633533" y="3512774"/>
              <a:ext cx="7077046" cy="709111"/>
            </a:xfrm>
            <a:prstGeom prst="homePlate">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43" name="矩形 42"/>
            <p:cNvSpPr/>
            <p:nvPr/>
          </p:nvSpPr>
          <p:spPr>
            <a:xfrm>
              <a:off x="3740063" y="3589978"/>
              <a:ext cx="1210588" cy="338554"/>
            </a:xfrm>
            <a:prstGeom prst="rect">
              <a:avLst/>
            </a:prstGeom>
          </p:spPr>
          <p:txBody>
            <a:bodyPr wrap="none">
              <a:spAutoFit/>
            </a:bodyPr>
            <a:lstStyle/>
            <a:p>
              <a:pPr algn="ctr" defTabSz="609585"/>
              <a:r>
                <a:rPr lang="zh-CN" altLang="en-US" sz="1600" b="1" dirty="0" smtClean="0">
                  <a:solidFill>
                    <a:schemeClr val="bg1"/>
                  </a:solidFill>
                  <a:cs typeface="+mn-ea"/>
                  <a:sym typeface="+mn-lt"/>
                </a:rPr>
                <a:t>纠错性维护</a:t>
              </a:r>
              <a:endParaRPr lang="zh-CN" altLang="en-US" sz="1600" b="1" dirty="0">
                <a:solidFill>
                  <a:schemeClr val="bg1"/>
                </a:solidFill>
                <a:cs typeface="+mn-ea"/>
                <a:sym typeface="+mn-lt"/>
              </a:endParaRPr>
            </a:p>
          </p:txBody>
        </p:sp>
        <p:grpSp>
          <p:nvGrpSpPr>
            <p:cNvPr id="53" name="组合 52"/>
            <p:cNvGrpSpPr/>
            <p:nvPr/>
          </p:nvGrpSpPr>
          <p:grpSpPr>
            <a:xfrm>
              <a:off x="2878667" y="3698186"/>
              <a:ext cx="399188" cy="307522"/>
              <a:chOff x="2486025" y="3619500"/>
              <a:chExt cx="1500188" cy="1155700"/>
            </a:xfrm>
            <a:solidFill>
              <a:schemeClr val="bg1"/>
            </a:solidFill>
          </p:grpSpPr>
          <p:sp>
            <p:nvSpPr>
              <p:cNvPr id="54" name="Freeform 26"/>
              <p:cNvSpPr>
                <a:spLocks noEditPoints="1"/>
              </p:cNvSpPr>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5" name="Freeform 27"/>
              <p:cNvSpPr>
                <a:spLocks/>
              </p:cNvSpPr>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grpSp>
      <p:grpSp>
        <p:nvGrpSpPr>
          <p:cNvPr id="25" name="组合 24"/>
          <p:cNvGrpSpPr/>
          <p:nvPr/>
        </p:nvGrpSpPr>
        <p:grpSpPr>
          <a:xfrm>
            <a:off x="2633533" y="4213482"/>
            <a:ext cx="9558467" cy="752484"/>
            <a:chOff x="2633533" y="4213482"/>
            <a:chExt cx="9558467" cy="752484"/>
          </a:xfrm>
        </p:grpSpPr>
        <p:sp>
          <p:nvSpPr>
            <p:cNvPr id="7" name="Pentagon 9"/>
            <p:cNvSpPr/>
            <p:nvPr/>
          </p:nvSpPr>
          <p:spPr>
            <a:xfrm>
              <a:off x="2633533" y="4213482"/>
              <a:ext cx="5111200" cy="70911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cs typeface="+mn-ea"/>
                <a:sym typeface="+mn-lt"/>
              </a:endParaRPr>
            </a:p>
          </p:txBody>
        </p:sp>
        <p:sp>
          <p:nvSpPr>
            <p:cNvPr id="45" name="矩形 44"/>
            <p:cNvSpPr/>
            <p:nvPr/>
          </p:nvSpPr>
          <p:spPr>
            <a:xfrm>
              <a:off x="2935357" y="4275525"/>
              <a:ext cx="2820003" cy="338554"/>
            </a:xfrm>
            <a:prstGeom prst="rect">
              <a:avLst/>
            </a:prstGeom>
          </p:spPr>
          <p:txBody>
            <a:bodyPr wrap="none">
              <a:spAutoFit/>
            </a:bodyPr>
            <a:lstStyle/>
            <a:p>
              <a:pPr algn="ctr" defTabSz="609585"/>
              <a:r>
                <a:rPr lang="en-US" altLang="zh-CN" sz="1600" b="1" dirty="0" smtClean="0">
                  <a:solidFill>
                    <a:schemeClr val="bg1"/>
                  </a:solidFill>
                  <a:cs typeface="+mn-ea"/>
                  <a:sym typeface="+mn-lt"/>
                </a:rPr>
                <a:t>		   </a:t>
              </a:r>
              <a:r>
                <a:rPr lang="zh-CN" altLang="en-US" sz="1600" b="1" dirty="0" smtClean="0">
                  <a:solidFill>
                    <a:schemeClr val="bg1"/>
                  </a:solidFill>
                  <a:cs typeface="+mn-ea"/>
                  <a:sym typeface="+mn-lt"/>
                </a:rPr>
                <a:t>预防性维护或再工程</a:t>
              </a:r>
              <a:endParaRPr lang="zh-CN" altLang="en-US" sz="1600" b="1" dirty="0">
                <a:solidFill>
                  <a:schemeClr val="bg1"/>
                </a:solidFill>
                <a:cs typeface="+mn-ea"/>
                <a:sym typeface="+mn-lt"/>
              </a:endParaRPr>
            </a:p>
          </p:txBody>
        </p:sp>
        <p:grpSp>
          <p:nvGrpSpPr>
            <p:cNvPr id="56" name="组合 55"/>
            <p:cNvGrpSpPr/>
            <p:nvPr/>
          </p:nvGrpSpPr>
          <p:grpSpPr>
            <a:xfrm>
              <a:off x="2878667" y="4426305"/>
              <a:ext cx="399188" cy="307522"/>
              <a:chOff x="2486025" y="3619500"/>
              <a:chExt cx="1500188" cy="1155700"/>
            </a:xfrm>
            <a:solidFill>
              <a:schemeClr val="bg1"/>
            </a:solidFill>
          </p:grpSpPr>
          <p:sp>
            <p:nvSpPr>
              <p:cNvPr id="57" name="Freeform 26"/>
              <p:cNvSpPr>
                <a:spLocks noEditPoints="1"/>
              </p:cNvSpPr>
              <p:nvPr/>
            </p:nvSpPr>
            <p:spPr bwMode="auto">
              <a:xfrm>
                <a:off x="2486025" y="3619500"/>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8" name="Freeform 27"/>
              <p:cNvSpPr>
                <a:spLocks/>
              </p:cNvSpPr>
              <p:nvPr/>
            </p:nvSpPr>
            <p:spPr bwMode="auto">
              <a:xfrm>
                <a:off x="2955925" y="3987800"/>
                <a:ext cx="560388" cy="565150"/>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cxnSp>
          <p:nvCxnSpPr>
            <p:cNvPr id="59" name="直接连接符 58"/>
            <p:cNvCxnSpPr/>
            <p:nvPr/>
          </p:nvCxnSpPr>
          <p:spPr>
            <a:xfrm>
              <a:off x="7829486" y="4965966"/>
              <a:ext cx="4362514" cy="0"/>
            </a:xfrm>
            <a:prstGeom prst="line">
              <a:avLst/>
            </a:prstGeom>
            <a:ln>
              <a:solidFill>
                <a:schemeClr val="tx1">
                  <a:lumMod val="75000"/>
                  <a:lumOff val="25000"/>
                </a:schemeClr>
              </a:solidFill>
              <a:prstDash val="dash"/>
              <a:headEnd type="ova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0924478"/>
      </p:ext>
    </p:extLst>
  </p:cSld>
  <p:clrMapOvr>
    <a:masterClrMapping/>
  </p:clrMapOvr>
  <p:transition spd="slow">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t>软件维护的分类</a:t>
            </a:r>
            <a:endParaRPr lang="zh-CN" altLang="en-US" b="1" dirty="0"/>
          </a:p>
        </p:txBody>
      </p:sp>
      <p:sp>
        <p:nvSpPr>
          <p:cNvPr id="7" name="矩形 6"/>
          <p:cNvSpPr/>
          <p:nvPr/>
        </p:nvSpPr>
        <p:spPr>
          <a:xfrm>
            <a:off x="691406" y="892351"/>
            <a:ext cx="1723549" cy="461665"/>
          </a:xfrm>
          <a:prstGeom prst="rect">
            <a:avLst/>
          </a:prstGeom>
          <a:noFill/>
        </p:spPr>
        <p:txBody>
          <a:bodyPr wrap="none" lIns="91440" tIns="45720" rIns="91440" bIns="45720">
            <a:spAutoFit/>
          </a:bodyPr>
          <a:lstStyle/>
          <a:p>
            <a:pPr algn="ctr"/>
            <a:r>
              <a:rPr lang="zh-CN" altLang="en-US" sz="2400" b="0" cap="none" spc="0" dirty="0" smtClean="0">
                <a:ln w="0"/>
                <a:solidFill>
                  <a:schemeClr val="accent1"/>
                </a:solidFill>
                <a:effectLst>
                  <a:outerShdw blurRad="38100" dist="25400" dir="5400000" algn="ctr" rotWithShape="0">
                    <a:srgbClr val="6E747A">
                      <a:alpha val="43000"/>
                    </a:srgbClr>
                  </a:outerShdw>
                </a:effectLst>
              </a:rPr>
              <a:t>适应性维护</a:t>
            </a:r>
            <a:endParaRPr lang="zh-CN" altLang="en-US" sz="24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8" name="图示 7"/>
          <p:cNvGraphicFramePr/>
          <p:nvPr>
            <p:extLst>
              <p:ext uri="{D42A27DB-BD31-4B8C-83A1-F6EECF244321}">
                <p14:modId xmlns:p14="http://schemas.microsoft.com/office/powerpoint/2010/main" val="995420002"/>
              </p:ext>
            </p:extLst>
          </p:nvPr>
        </p:nvGraphicFramePr>
        <p:xfrm>
          <a:off x="1249485" y="88225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8378814" y="930452"/>
            <a:ext cx="1723549" cy="461665"/>
          </a:xfrm>
          <a:prstGeom prst="rect">
            <a:avLst/>
          </a:prstGeom>
          <a:noFill/>
        </p:spPr>
        <p:txBody>
          <a:bodyPr wrap="none" lIns="91440" tIns="45720" rIns="91440" bIns="45720">
            <a:spAutoFit/>
          </a:bodyPr>
          <a:lstStyle/>
          <a:p>
            <a:pPr algn="ctr"/>
            <a:r>
              <a:rPr lang="zh-CN" altLang="en-US" sz="2400" b="0" cap="none" spc="0" dirty="0" smtClean="0">
                <a:ln w="0"/>
                <a:solidFill>
                  <a:schemeClr val="accent1"/>
                </a:solidFill>
                <a:effectLst>
                  <a:outerShdw blurRad="38100" dist="25400" dir="5400000" algn="ctr" rotWithShape="0">
                    <a:srgbClr val="6E747A">
                      <a:alpha val="43000"/>
                    </a:srgbClr>
                  </a:outerShdw>
                </a:effectLst>
              </a:rPr>
              <a:t>完善性维护</a:t>
            </a:r>
            <a:endParaRPr lang="zh-CN" altLang="en-US" sz="2400" b="0" cap="none" spc="0" dirty="0">
              <a:ln w="0"/>
              <a:solidFill>
                <a:schemeClr val="accent1"/>
              </a:solidFill>
              <a:effectLst>
                <a:outerShdw blurRad="38100" dist="25400" dir="5400000" algn="ctr" rotWithShape="0">
                  <a:srgbClr val="6E747A">
                    <a:alpha val="43000"/>
                  </a:srgbClr>
                </a:outerShdw>
              </a:effectLst>
            </a:endParaRPr>
          </a:p>
        </p:txBody>
      </p:sp>
      <p:sp>
        <p:nvSpPr>
          <p:cNvPr id="10" name="矩形 9"/>
          <p:cNvSpPr/>
          <p:nvPr/>
        </p:nvSpPr>
        <p:spPr>
          <a:xfrm>
            <a:off x="691405" y="5546413"/>
            <a:ext cx="1723550" cy="461665"/>
          </a:xfrm>
          <a:prstGeom prst="rect">
            <a:avLst/>
          </a:prstGeom>
          <a:noFill/>
        </p:spPr>
        <p:txBody>
          <a:bodyPr wrap="none" lIns="91440" tIns="45720" rIns="91440" bIns="45720">
            <a:spAutoFit/>
          </a:bodyPr>
          <a:lstStyle/>
          <a:p>
            <a:pPr algn="ctr"/>
            <a:r>
              <a:rPr lang="zh-CN" altLang="en-US" sz="2400" b="0" cap="none" spc="0" dirty="0" smtClean="0">
                <a:ln w="0"/>
                <a:solidFill>
                  <a:schemeClr val="accent1"/>
                </a:solidFill>
                <a:effectLst>
                  <a:outerShdw blurRad="38100" dist="25400" dir="5400000" algn="ctr" rotWithShape="0">
                    <a:srgbClr val="6E747A">
                      <a:alpha val="43000"/>
                    </a:srgbClr>
                  </a:outerShdw>
                </a:effectLst>
              </a:rPr>
              <a:t>纠错性维护</a:t>
            </a:r>
            <a:endParaRPr lang="zh-CN" altLang="en-US" sz="2400" b="0" cap="none" spc="0" dirty="0">
              <a:ln w="0"/>
              <a:solidFill>
                <a:schemeClr val="accent1"/>
              </a:solidFill>
              <a:effectLst>
                <a:outerShdw blurRad="38100" dist="25400" dir="5400000" algn="ctr" rotWithShape="0">
                  <a:srgbClr val="6E747A">
                    <a:alpha val="43000"/>
                  </a:srgbClr>
                </a:outerShdw>
              </a:effectLst>
            </a:endParaRPr>
          </a:p>
        </p:txBody>
      </p:sp>
      <p:sp>
        <p:nvSpPr>
          <p:cNvPr id="11" name="矩形 10"/>
          <p:cNvSpPr/>
          <p:nvPr/>
        </p:nvSpPr>
        <p:spPr>
          <a:xfrm>
            <a:off x="8378812" y="5546413"/>
            <a:ext cx="1723549" cy="461665"/>
          </a:xfrm>
          <a:prstGeom prst="rect">
            <a:avLst/>
          </a:prstGeom>
          <a:noFill/>
        </p:spPr>
        <p:txBody>
          <a:bodyPr wrap="none" lIns="91440" tIns="45720" rIns="91440" bIns="45720">
            <a:spAutoFit/>
          </a:bodyPr>
          <a:lstStyle/>
          <a:p>
            <a:pPr algn="ctr"/>
            <a:r>
              <a:rPr lang="zh-CN" altLang="en-US" sz="2400" b="0" cap="none" spc="0" dirty="0" smtClean="0">
                <a:ln w="0"/>
                <a:solidFill>
                  <a:schemeClr val="accent1"/>
                </a:solidFill>
                <a:effectLst>
                  <a:outerShdw blurRad="38100" dist="25400" dir="5400000" algn="ctr" rotWithShape="0">
                    <a:srgbClr val="6E747A">
                      <a:alpha val="43000"/>
                    </a:srgbClr>
                  </a:outerShdw>
                </a:effectLst>
              </a:rPr>
              <a:t>预防性维护</a:t>
            </a:r>
            <a:endParaRPr lang="zh-CN" alt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792407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33967" y="40216"/>
            <a:ext cx="4177648" cy="461434"/>
          </a:xfrm>
        </p:spPr>
        <p:txBody>
          <a:bodyPr/>
          <a:lstStyle/>
          <a:p>
            <a:r>
              <a:rPr lang="zh-CN" altLang="en-US" b="1" dirty="0" smtClean="0"/>
              <a:t>软件维护类型之间的关系</a:t>
            </a:r>
            <a:endParaRPr lang="zh-CN" altLang="en-US" b="1" dirty="0"/>
          </a:p>
        </p:txBody>
      </p:sp>
      <p:sp>
        <p:nvSpPr>
          <p:cNvPr id="3" name="矩形 2"/>
          <p:cNvSpPr/>
          <p:nvPr/>
        </p:nvSpPr>
        <p:spPr>
          <a:xfrm>
            <a:off x="833967" y="1424354"/>
            <a:ext cx="1548748" cy="5099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适应性维护</a:t>
            </a:r>
            <a:endParaRPr lang="zh-CN" altLang="en-US" dirty="0"/>
          </a:p>
        </p:txBody>
      </p:sp>
      <p:sp>
        <p:nvSpPr>
          <p:cNvPr id="4" name="矩形 3"/>
          <p:cNvSpPr/>
          <p:nvPr/>
        </p:nvSpPr>
        <p:spPr>
          <a:xfrm>
            <a:off x="4415368" y="1424354"/>
            <a:ext cx="1548748" cy="5099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完善性维护</a:t>
            </a:r>
            <a:endParaRPr lang="zh-CN" altLang="en-US" dirty="0"/>
          </a:p>
        </p:txBody>
      </p:sp>
      <p:sp>
        <p:nvSpPr>
          <p:cNvPr id="5" name="矩形 4"/>
          <p:cNvSpPr/>
          <p:nvPr/>
        </p:nvSpPr>
        <p:spPr>
          <a:xfrm>
            <a:off x="2640622" y="3563815"/>
            <a:ext cx="1548748" cy="5099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纠错性维护</a:t>
            </a:r>
            <a:endParaRPr lang="zh-CN" altLang="en-US" dirty="0"/>
          </a:p>
        </p:txBody>
      </p:sp>
      <p:sp>
        <p:nvSpPr>
          <p:cNvPr id="6" name="矩形 5"/>
          <p:cNvSpPr/>
          <p:nvPr/>
        </p:nvSpPr>
        <p:spPr>
          <a:xfrm>
            <a:off x="2640622" y="5023338"/>
            <a:ext cx="1548748" cy="5099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预防性维护</a:t>
            </a:r>
            <a:endParaRPr lang="zh-CN" altLang="en-US" dirty="0"/>
          </a:p>
        </p:txBody>
      </p:sp>
      <p:cxnSp>
        <p:nvCxnSpPr>
          <p:cNvPr id="8" name="直接箭头连接符 7"/>
          <p:cNvCxnSpPr>
            <a:stCxn id="3" idx="2"/>
          </p:cNvCxnSpPr>
          <p:nvPr/>
        </p:nvCxnSpPr>
        <p:spPr>
          <a:xfrm>
            <a:off x="1608341" y="1934308"/>
            <a:ext cx="1032281" cy="162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3" idx="2"/>
          </p:cNvCxnSpPr>
          <p:nvPr/>
        </p:nvCxnSpPr>
        <p:spPr>
          <a:xfrm>
            <a:off x="1608341" y="1934308"/>
            <a:ext cx="1032281" cy="3089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4" idx="2"/>
          </p:cNvCxnSpPr>
          <p:nvPr/>
        </p:nvCxnSpPr>
        <p:spPr>
          <a:xfrm flipH="1">
            <a:off x="4189370" y="1934308"/>
            <a:ext cx="1000372" cy="162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4" idx="2"/>
          </p:cNvCxnSpPr>
          <p:nvPr/>
        </p:nvCxnSpPr>
        <p:spPr>
          <a:xfrm flipH="1">
            <a:off x="4189370" y="1934308"/>
            <a:ext cx="1000372" cy="3089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5" idx="2"/>
            <a:endCxn id="6" idx="0"/>
          </p:cNvCxnSpPr>
          <p:nvPr/>
        </p:nvCxnSpPr>
        <p:spPr>
          <a:xfrm>
            <a:off x="3414996" y="4073769"/>
            <a:ext cx="0" cy="9495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365631" y="1679331"/>
            <a:ext cx="5073161" cy="2062103"/>
          </a:xfrm>
          <a:prstGeom prst="rect">
            <a:avLst/>
          </a:prstGeom>
          <a:noFill/>
        </p:spPr>
        <p:txBody>
          <a:bodyPr wrap="square" rtlCol="0">
            <a:spAutoFit/>
          </a:bodyPr>
          <a:lstStyle/>
          <a:p>
            <a:r>
              <a:rPr lang="zh-CN" altLang="en-US" sz="1600" dirty="0">
                <a:solidFill>
                  <a:schemeClr val="bg1"/>
                </a:solidFill>
              </a:rPr>
              <a:t>在实际的维护工作中，软件维护类型并不是</a:t>
            </a:r>
            <a:r>
              <a:rPr lang="zh-CN" altLang="en-US" sz="1600" dirty="0" smtClean="0">
                <a:solidFill>
                  <a:schemeClr val="bg1"/>
                </a:solidFill>
              </a:rPr>
              <a:t>相互独立</a:t>
            </a:r>
            <a:r>
              <a:rPr lang="zh-CN" altLang="en-US" sz="1600" dirty="0">
                <a:solidFill>
                  <a:schemeClr val="bg1"/>
                </a:solidFill>
              </a:rPr>
              <a:t>单</a:t>
            </a:r>
          </a:p>
          <a:p>
            <a:r>
              <a:rPr lang="zh-CN" altLang="en-US" sz="1600" dirty="0">
                <a:solidFill>
                  <a:schemeClr val="bg1"/>
                </a:solidFill>
              </a:rPr>
              <a:t>独进行的，而是各种维护类型交织在一起进行的。例如在</a:t>
            </a:r>
            <a:r>
              <a:rPr lang="zh-CN" altLang="en-US" sz="1600" dirty="0" smtClean="0">
                <a:solidFill>
                  <a:schemeClr val="bg1"/>
                </a:solidFill>
              </a:rPr>
              <a:t>引入新</a:t>
            </a:r>
            <a:r>
              <a:rPr lang="zh-CN" altLang="en-US" sz="1600" dirty="0">
                <a:solidFill>
                  <a:schemeClr val="bg1"/>
                </a:solidFill>
              </a:rPr>
              <a:t>的功能模块进行适应性维护的过程中，就有可能引入</a:t>
            </a:r>
            <a:r>
              <a:rPr lang="zh-CN" altLang="en-US" sz="1600" dirty="0" smtClean="0">
                <a:solidFill>
                  <a:schemeClr val="bg1"/>
                </a:solidFill>
              </a:rPr>
              <a:t>不明显</a:t>
            </a:r>
            <a:r>
              <a:rPr lang="zh-CN" altLang="en-US" sz="1600" dirty="0">
                <a:solidFill>
                  <a:schemeClr val="bg1"/>
                </a:solidFill>
              </a:rPr>
              <a:t>的程序错误，这就需要跟踪和处理这些程序错误进行</a:t>
            </a:r>
            <a:r>
              <a:rPr lang="zh-CN" altLang="en-US" sz="1600" dirty="0" smtClean="0">
                <a:solidFill>
                  <a:schemeClr val="bg1"/>
                </a:solidFill>
              </a:rPr>
              <a:t>纠错</a:t>
            </a:r>
            <a:r>
              <a:rPr lang="zh-CN" altLang="en-US" sz="1600" dirty="0">
                <a:solidFill>
                  <a:schemeClr val="bg1"/>
                </a:solidFill>
              </a:rPr>
              <a:t>性维护。类似的在进行完善性维护的过程中，可能需要</a:t>
            </a:r>
            <a:r>
              <a:rPr lang="zh-CN" altLang="en-US" sz="1600" dirty="0" smtClean="0">
                <a:solidFill>
                  <a:schemeClr val="bg1"/>
                </a:solidFill>
              </a:rPr>
              <a:t>重新</a:t>
            </a:r>
            <a:r>
              <a:rPr lang="zh-CN" altLang="en-US" sz="1600" dirty="0">
                <a:solidFill>
                  <a:schemeClr val="bg1"/>
                </a:solidFill>
              </a:rPr>
              <a:t>调整代码结构从而引入了预防性维护</a:t>
            </a:r>
            <a:r>
              <a:rPr lang="zh-CN" altLang="en-US" sz="1600" dirty="0" smtClean="0">
                <a:solidFill>
                  <a:schemeClr val="bg1"/>
                </a:solidFill>
              </a:rPr>
              <a:t>。</a:t>
            </a:r>
            <a:endParaRPr lang="en-US" altLang="zh-CN" sz="1600" dirty="0" smtClean="0">
              <a:solidFill>
                <a:schemeClr val="bg1"/>
              </a:solidFill>
            </a:endParaRPr>
          </a:p>
          <a:p>
            <a:r>
              <a:rPr lang="zh-CN" altLang="en-US" sz="1600" dirty="0" smtClean="0">
                <a:solidFill>
                  <a:schemeClr val="bg1"/>
                </a:solidFill>
              </a:rPr>
              <a:t>不同</a:t>
            </a:r>
            <a:r>
              <a:rPr lang="zh-CN" altLang="en-US" sz="1600" dirty="0">
                <a:solidFill>
                  <a:schemeClr val="bg1"/>
                </a:solidFill>
              </a:rPr>
              <a:t>类型的</a:t>
            </a:r>
            <a:r>
              <a:rPr lang="zh-CN" altLang="en-US" sz="1600" dirty="0" smtClean="0">
                <a:solidFill>
                  <a:schemeClr val="bg1"/>
                </a:solidFill>
              </a:rPr>
              <a:t>软件维护</a:t>
            </a:r>
            <a:r>
              <a:rPr lang="zh-CN" altLang="en-US" sz="1600" dirty="0">
                <a:solidFill>
                  <a:schemeClr val="bg1"/>
                </a:solidFill>
              </a:rPr>
              <a:t>之间的关系，如</a:t>
            </a:r>
            <a:r>
              <a:rPr lang="zh-CN" altLang="en-US" sz="1600" dirty="0" smtClean="0">
                <a:solidFill>
                  <a:schemeClr val="bg1"/>
                </a:solidFill>
              </a:rPr>
              <a:t>图所</a:t>
            </a:r>
            <a:r>
              <a:rPr lang="zh-CN" altLang="en-US" sz="1600" dirty="0">
                <a:solidFill>
                  <a:schemeClr val="bg1"/>
                </a:solidFill>
              </a:rPr>
              <a:t>示。</a:t>
            </a:r>
          </a:p>
        </p:txBody>
      </p:sp>
    </p:spTree>
    <p:extLst>
      <p:ext uri="{BB962C8B-B14F-4D97-AF65-F5344CB8AC3E}">
        <p14:creationId xmlns:p14="http://schemas.microsoft.com/office/powerpoint/2010/main" val="837147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t>软件维护的困难</a:t>
            </a:r>
            <a:endParaRPr lang="zh-CN" altLang="en-US" b="1" dirty="0"/>
          </a:p>
        </p:txBody>
      </p:sp>
      <p:sp>
        <p:nvSpPr>
          <p:cNvPr id="3" name="椭圆 2"/>
          <p:cNvSpPr/>
          <p:nvPr/>
        </p:nvSpPr>
        <p:spPr>
          <a:xfrm>
            <a:off x="1934308" y="1063869"/>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工作繁琐</a:t>
            </a:r>
            <a:endParaRPr lang="zh-CN" altLang="en-US" dirty="0"/>
          </a:p>
        </p:txBody>
      </p:sp>
      <p:sp>
        <p:nvSpPr>
          <p:cNvPr id="4" name="椭圆 3"/>
          <p:cNvSpPr/>
          <p:nvPr/>
        </p:nvSpPr>
        <p:spPr>
          <a:xfrm>
            <a:off x="5923084" y="4750776"/>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文档同步</a:t>
            </a:r>
            <a:endParaRPr lang="zh-CN" altLang="en-US" dirty="0"/>
          </a:p>
        </p:txBody>
      </p:sp>
      <p:sp>
        <p:nvSpPr>
          <p:cNvPr id="5" name="椭圆 4"/>
          <p:cNvSpPr/>
          <p:nvPr/>
        </p:nvSpPr>
        <p:spPr>
          <a:xfrm>
            <a:off x="1934308" y="4850423"/>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人员变动</a:t>
            </a:r>
            <a:endParaRPr lang="zh-CN" altLang="en-US" dirty="0"/>
          </a:p>
        </p:txBody>
      </p:sp>
      <p:sp>
        <p:nvSpPr>
          <p:cNvPr id="6" name="椭圆 5"/>
          <p:cNvSpPr/>
          <p:nvPr/>
        </p:nvSpPr>
        <p:spPr>
          <a:xfrm>
            <a:off x="6884377" y="2804746"/>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时间紧迫</a:t>
            </a:r>
            <a:endParaRPr lang="zh-CN" altLang="en-US" dirty="0"/>
          </a:p>
        </p:txBody>
      </p:sp>
      <p:sp>
        <p:nvSpPr>
          <p:cNvPr id="7" name="椭圆 6"/>
          <p:cNvSpPr/>
          <p:nvPr/>
        </p:nvSpPr>
        <p:spPr>
          <a:xfrm>
            <a:off x="1063869" y="2957146"/>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系统使用年限</a:t>
            </a:r>
            <a:endParaRPr lang="zh-CN" altLang="en-US" dirty="0"/>
          </a:p>
        </p:txBody>
      </p:sp>
      <p:sp>
        <p:nvSpPr>
          <p:cNvPr id="8" name="椭圆 7"/>
          <p:cNvSpPr/>
          <p:nvPr/>
        </p:nvSpPr>
        <p:spPr>
          <a:xfrm>
            <a:off x="5923085" y="1022838"/>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系统规模</a:t>
            </a:r>
            <a:endParaRPr lang="zh-CN" altLang="en-US" dirty="0"/>
          </a:p>
        </p:txBody>
      </p:sp>
      <p:sp>
        <p:nvSpPr>
          <p:cNvPr id="9" name="椭圆 8"/>
          <p:cNvSpPr/>
          <p:nvPr/>
        </p:nvSpPr>
        <p:spPr>
          <a:xfrm>
            <a:off x="3934109" y="2988965"/>
            <a:ext cx="1740877" cy="1283677"/>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影响因素</a:t>
            </a:r>
            <a:endParaRPr lang="zh-CN" altLang="en-US" dirty="0"/>
          </a:p>
        </p:txBody>
      </p:sp>
      <p:cxnSp>
        <p:nvCxnSpPr>
          <p:cNvPr id="11" name="直接箭头连接符 10"/>
          <p:cNvCxnSpPr>
            <a:stCxn id="3" idx="4"/>
            <a:endCxn id="9" idx="1"/>
          </p:cNvCxnSpPr>
          <p:nvPr/>
        </p:nvCxnSpPr>
        <p:spPr>
          <a:xfrm>
            <a:off x="2804747" y="2347546"/>
            <a:ext cx="1384308" cy="829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6"/>
            <a:endCxn id="9" idx="2"/>
          </p:cNvCxnSpPr>
          <p:nvPr/>
        </p:nvCxnSpPr>
        <p:spPr>
          <a:xfrm>
            <a:off x="2804746" y="3598985"/>
            <a:ext cx="1129363" cy="31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5" idx="6"/>
            <a:endCxn id="9" idx="3"/>
          </p:cNvCxnSpPr>
          <p:nvPr/>
        </p:nvCxnSpPr>
        <p:spPr>
          <a:xfrm flipV="1">
            <a:off x="3675185" y="4084652"/>
            <a:ext cx="513870" cy="1407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4"/>
            <a:endCxn id="9" idx="7"/>
          </p:cNvCxnSpPr>
          <p:nvPr/>
        </p:nvCxnSpPr>
        <p:spPr>
          <a:xfrm flipH="1">
            <a:off x="5420040" y="2306515"/>
            <a:ext cx="1373484" cy="870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6" idx="2"/>
            <a:endCxn id="9" idx="6"/>
          </p:cNvCxnSpPr>
          <p:nvPr/>
        </p:nvCxnSpPr>
        <p:spPr>
          <a:xfrm flipH="1">
            <a:off x="5674986" y="3446585"/>
            <a:ext cx="1209391" cy="184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4" idx="2"/>
            <a:endCxn id="9" idx="5"/>
          </p:cNvCxnSpPr>
          <p:nvPr/>
        </p:nvCxnSpPr>
        <p:spPr>
          <a:xfrm flipH="1" flipV="1">
            <a:off x="5420040" y="4084652"/>
            <a:ext cx="503044" cy="1307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610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t>软件维护策略以及模型</a:t>
            </a:r>
            <a:endParaRPr lang="zh-CN" altLang="en-US" b="1" dirty="0"/>
          </a:p>
        </p:txBody>
      </p:sp>
      <p:sp>
        <p:nvSpPr>
          <p:cNvPr id="3" name="文本框 2"/>
          <p:cNvSpPr txBox="1"/>
          <p:nvPr/>
        </p:nvSpPr>
        <p:spPr>
          <a:xfrm>
            <a:off x="833967" y="1134208"/>
            <a:ext cx="5127218" cy="1754326"/>
          </a:xfrm>
          <a:prstGeom prst="rect">
            <a:avLst/>
          </a:prstGeom>
          <a:noFill/>
        </p:spPr>
        <p:txBody>
          <a:bodyPr wrap="square" rtlCol="0">
            <a:spAutoFit/>
          </a:bodyPr>
          <a:lstStyle/>
          <a:p>
            <a:r>
              <a:rPr lang="zh-CN" altLang="en-US" dirty="0">
                <a:solidFill>
                  <a:schemeClr val="bg1"/>
                </a:solidFill>
              </a:rPr>
              <a:t>软件维护工作必须在一定的监控下进行，任何人不得</a:t>
            </a:r>
            <a:r>
              <a:rPr lang="zh-CN" altLang="en-US" dirty="0" smtClean="0">
                <a:solidFill>
                  <a:schemeClr val="bg1"/>
                </a:solidFill>
              </a:rPr>
              <a:t>私自</a:t>
            </a:r>
            <a:r>
              <a:rPr lang="zh-CN" altLang="en-US" dirty="0">
                <a:solidFill>
                  <a:schemeClr val="bg1"/>
                </a:solidFill>
              </a:rPr>
              <a:t>进行软件维护，维护工作必须按照规定的步骤开展，</a:t>
            </a:r>
            <a:r>
              <a:rPr lang="zh-CN" altLang="en-US" dirty="0" smtClean="0">
                <a:solidFill>
                  <a:schemeClr val="bg1"/>
                </a:solidFill>
              </a:rPr>
              <a:t>否则一旦</a:t>
            </a:r>
            <a:r>
              <a:rPr lang="zh-CN" altLang="en-US" dirty="0">
                <a:solidFill>
                  <a:schemeClr val="bg1"/>
                </a:solidFill>
              </a:rPr>
              <a:t>失控就有可能造成整个软件系统的</a:t>
            </a:r>
            <a:r>
              <a:rPr lang="zh-CN" altLang="en-US" dirty="0" smtClean="0">
                <a:solidFill>
                  <a:schemeClr val="bg1"/>
                </a:solidFill>
              </a:rPr>
              <a:t>报废。所以必须为维护工作制定流程。</a:t>
            </a:r>
            <a:endParaRPr lang="en-US" altLang="zh-CN" dirty="0" smtClean="0">
              <a:solidFill>
                <a:schemeClr val="bg1"/>
              </a:solidFill>
            </a:endParaRPr>
          </a:p>
          <a:p>
            <a:endParaRPr lang="en-US" altLang="zh-CN" dirty="0">
              <a:solidFill>
                <a:schemeClr val="bg1"/>
              </a:solidFill>
            </a:endParaRPr>
          </a:p>
          <a:p>
            <a:r>
              <a:rPr lang="zh-CN" altLang="en-US" dirty="0" smtClean="0">
                <a:solidFill>
                  <a:schemeClr val="bg1"/>
                </a:solidFill>
              </a:rPr>
              <a:t>右图是</a:t>
            </a:r>
            <a:r>
              <a:rPr lang="en-US" altLang="zh-CN" dirty="0" smtClean="0">
                <a:solidFill>
                  <a:schemeClr val="bg1"/>
                </a:solidFill>
              </a:rPr>
              <a:t>IEEE</a:t>
            </a:r>
            <a:r>
              <a:rPr lang="zh-CN" altLang="en-US" dirty="0" smtClean="0">
                <a:solidFill>
                  <a:schemeClr val="bg1"/>
                </a:solidFill>
              </a:rPr>
              <a:t>维护模型</a:t>
            </a:r>
            <a:endParaRPr lang="zh-CN" altLang="en-US" dirty="0">
              <a:solidFill>
                <a:schemeClr val="bg1"/>
              </a:solidFill>
            </a:endParaRPr>
          </a:p>
        </p:txBody>
      </p:sp>
      <p:sp>
        <p:nvSpPr>
          <p:cNvPr id="4" name="椭圆 3"/>
          <p:cNvSpPr/>
          <p:nvPr/>
        </p:nvSpPr>
        <p:spPr>
          <a:xfrm>
            <a:off x="7816362" y="641838"/>
            <a:ext cx="1679330" cy="77372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sp>
        <p:nvSpPr>
          <p:cNvPr id="5" name="矩形 4"/>
          <p:cNvSpPr/>
          <p:nvPr/>
        </p:nvSpPr>
        <p:spPr>
          <a:xfrm>
            <a:off x="7658100" y="1734372"/>
            <a:ext cx="2110154" cy="50766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确定维护目标</a:t>
            </a:r>
            <a:endParaRPr lang="zh-CN" altLang="en-US" dirty="0"/>
          </a:p>
        </p:txBody>
      </p:sp>
      <p:sp>
        <p:nvSpPr>
          <p:cNvPr id="6" name="矩形 5"/>
          <p:cNvSpPr/>
          <p:nvPr/>
        </p:nvSpPr>
        <p:spPr>
          <a:xfrm>
            <a:off x="7658100" y="4648633"/>
            <a:ext cx="2110154" cy="50766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系统测试</a:t>
            </a:r>
            <a:endParaRPr lang="zh-CN" altLang="en-US" dirty="0"/>
          </a:p>
        </p:txBody>
      </p:sp>
      <p:sp>
        <p:nvSpPr>
          <p:cNvPr id="7" name="矩形 6"/>
          <p:cNvSpPr/>
          <p:nvPr/>
        </p:nvSpPr>
        <p:spPr>
          <a:xfrm>
            <a:off x="7658100" y="3867471"/>
            <a:ext cx="2110154" cy="50766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实现</a:t>
            </a:r>
            <a:endParaRPr lang="zh-CN" altLang="en-US" dirty="0"/>
          </a:p>
        </p:txBody>
      </p:sp>
      <p:sp>
        <p:nvSpPr>
          <p:cNvPr id="8" name="矩形 7"/>
          <p:cNvSpPr/>
          <p:nvPr/>
        </p:nvSpPr>
        <p:spPr>
          <a:xfrm>
            <a:off x="7658100" y="3156438"/>
            <a:ext cx="2110154" cy="50766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设计</a:t>
            </a:r>
            <a:endParaRPr lang="zh-CN" altLang="en-US" dirty="0"/>
          </a:p>
        </p:txBody>
      </p:sp>
      <p:sp>
        <p:nvSpPr>
          <p:cNvPr id="9" name="矩形 8"/>
          <p:cNvSpPr/>
          <p:nvPr/>
        </p:nvSpPr>
        <p:spPr>
          <a:xfrm>
            <a:off x="7658100" y="2445405"/>
            <a:ext cx="2110154" cy="50766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分析</a:t>
            </a:r>
            <a:endParaRPr lang="zh-CN" altLang="en-US" dirty="0"/>
          </a:p>
        </p:txBody>
      </p:sp>
      <p:sp>
        <p:nvSpPr>
          <p:cNvPr id="10" name="菱形 9"/>
          <p:cNvSpPr/>
          <p:nvPr/>
        </p:nvSpPr>
        <p:spPr>
          <a:xfrm>
            <a:off x="7563717" y="5475686"/>
            <a:ext cx="2298920" cy="559837"/>
          </a:xfrm>
          <a:prstGeom prst="diamond">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验收测试</a:t>
            </a:r>
            <a:endParaRPr lang="zh-CN" altLang="en-US" dirty="0"/>
          </a:p>
        </p:txBody>
      </p:sp>
      <p:sp>
        <p:nvSpPr>
          <p:cNvPr id="11" name="矩形 10"/>
          <p:cNvSpPr/>
          <p:nvPr/>
        </p:nvSpPr>
        <p:spPr>
          <a:xfrm>
            <a:off x="5309118" y="5156299"/>
            <a:ext cx="1399592" cy="52604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修改文档</a:t>
            </a:r>
            <a:endParaRPr lang="zh-CN" altLang="en-US" dirty="0"/>
          </a:p>
        </p:txBody>
      </p:sp>
      <p:sp>
        <p:nvSpPr>
          <p:cNvPr id="12" name="矩形 11"/>
          <p:cNvSpPr/>
          <p:nvPr/>
        </p:nvSpPr>
        <p:spPr>
          <a:xfrm>
            <a:off x="8013381" y="6263128"/>
            <a:ext cx="1399592" cy="52604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交付使用</a:t>
            </a:r>
            <a:endParaRPr lang="zh-CN" altLang="en-US" dirty="0"/>
          </a:p>
        </p:txBody>
      </p:sp>
      <p:cxnSp>
        <p:nvCxnSpPr>
          <p:cNvPr id="14" name="直接连接符 13"/>
          <p:cNvCxnSpPr>
            <a:stCxn id="4" idx="4"/>
          </p:cNvCxnSpPr>
          <p:nvPr/>
        </p:nvCxnSpPr>
        <p:spPr>
          <a:xfrm>
            <a:off x="8656027" y="1415561"/>
            <a:ext cx="0" cy="3188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5" idx="2"/>
            <a:endCxn id="9" idx="0"/>
          </p:cNvCxnSpPr>
          <p:nvPr/>
        </p:nvCxnSpPr>
        <p:spPr>
          <a:xfrm>
            <a:off x="8713177" y="2242038"/>
            <a:ext cx="0" cy="203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9" idx="2"/>
            <a:endCxn id="8" idx="0"/>
          </p:cNvCxnSpPr>
          <p:nvPr/>
        </p:nvCxnSpPr>
        <p:spPr>
          <a:xfrm>
            <a:off x="8713177" y="2953071"/>
            <a:ext cx="0" cy="203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8" idx="2"/>
            <a:endCxn id="7" idx="0"/>
          </p:cNvCxnSpPr>
          <p:nvPr/>
        </p:nvCxnSpPr>
        <p:spPr>
          <a:xfrm>
            <a:off x="8713177" y="3664104"/>
            <a:ext cx="0" cy="203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7" idx="2"/>
            <a:endCxn id="6" idx="0"/>
          </p:cNvCxnSpPr>
          <p:nvPr/>
        </p:nvCxnSpPr>
        <p:spPr>
          <a:xfrm>
            <a:off x="8713177" y="4375137"/>
            <a:ext cx="0" cy="273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6" idx="2"/>
            <a:endCxn id="10" idx="0"/>
          </p:cNvCxnSpPr>
          <p:nvPr/>
        </p:nvCxnSpPr>
        <p:spPr>
          <a:xfrm>
            <a:off x="8713177" y="5156299"/>
            <a:ext cx="0" cy="3193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0" idx="2"/>
            <a:endCxn id="12" idx="0"/>
          </p:cNvCxnSpPr>
          <p:nvPr/>
        </p:nvCxnSpPr>
        <p:spPr>
          <a:xfrm>
            <a:off x="8713177" y="6035523"/>
            <a:ext cx="0" cy="227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肘形连接符 32"/>
          <p:cNvCxnSpPr>
            <a:stCxn id="10" idx="1"/>
            <a:endCxn id="11" idx="3"/>
          </p:cNvCxnSpPr>
          <p:nvPr/>
        </p:nvCxnSpPr>
        <p:spPr>
          <a:xfrm rot="10800000">
            <a:off x="6708711" y="5419321"/>
            <a:ext cx="855007" cy="3362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肘形连接符 34"/>
          <p:cNvCxnSpPr>
            <a:stCxn id="10" idx="3"/>
            <a:endCxn id="4" idx="6"/>
          </p:cNvCxnSpPr>
          <p:nvPr/>
        </p:nvCxnSpPr>
        <p:spPr>
          <a:xfrm flipH="1" flipV="1">
            <a:off x="9495692" y="1028700"/>
            <a:ext cx="366945" cy="4726905"/>
          </a:xfrm>
          <a:prstGeom prst="bentConnector3">
            <a:avLst>
              <a:gd name="adj1" fmla="val -62298"/>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6818435" y="5833962"/>
            <a:ext cx="839665" cy="369332"/>
          </a:xfrm>
          <a:prstGeom prst="rect">
            <a:avLst/>
          </a:prstGeom>
          <a:noFill/>
        </p:spPr>
        <p:txBody>
          <a:bodyPr wrap="square" rtlCol="0">
            <a:spAutoFit/>
          </a:bodyPr>
          <a:lstStyle/>
          <a:p>
            <a:r>
              <a:rPr lang="zh-CN" altLang="en-US" dirty="0" smtClean="0">
                <a:solidFill>
                  <a:schemeClr val="bg1"/>
                </a:solidFill>
              </a:rPr>
              <a:t>通过</a:t>
            </a:r>
            <a:endParaRPr lang="zh-CN" altLang="en-US" dirty="0">
              <a:solidFill>
                <a:schemeClr val="bg1"/>
              </a:solidFill>
            </a:endParaRPr>
          </a:p>
        </p:txBody>
      </p:sp>
      <p:sp>
        <p:nvSpPr>
          <p:cNvPr id="37" name="文本框 36"/>
          <p:cNvSpPr txBox="1"/>
          <p:nvPr/>
        </p:nvSpPr>
        <p:spPr>
          <a:xfrm>
            <a:off x="10130935" y="2685422"/>
            <a:ext cx="1175973" cy="369332"/>
          </a:xfrm>
          <a:prstGeom prst="rect">
            <a:avLst/>
          </a:prstGeom>
          <a:noFill/>
        </p:spPr>
        <p:txBody>
          <a:bodyPr wrap="square" rtlCol="0">
            <a:spAutoFit/>
          </a:bodyPr>
          <a:lstStyle/>
          <a:p>
            <a:r>
              <a:rPr lang="zh-CN" altLang="en-US" dirty="0" smtClean="0">
                <a:solidFill>
                  <a:schemeClr val="bg1"/>
                </a:solidFill>
              </a:rPr>
              <a:t>未通过</a:t>
            </a:r>
            <a:endParaRPr lang="zh-CN" altLang="en-US" dirty="0">
              <a:solidFill>
                <a:schemeClr val="bg1"/>
              </a:solidFill>
            </a:endParaRPr>
          </a:p>
        </p:txBody>
      </p:sp>
      <p:sp>
        <p:nvSpPr>
          <p:cNvPr id="38" name="文本框 37"/>
          <p:cNvSpPr txBox="1"/>
          <p:nvPr/>
        </p:nvSpPr>
        <p:spPr>
          <a:xfrm>
            <a:off x="9075859" y="5894781"/>
            <a:ext cx="839665" cy="369332"/>
          </a:xfrm>
          <a:prstGeom prst="rect">
            <a:avLst/>
          </a:prstGeom>
          <a:noFill/>
        </p:spPr>
        <p:txBody>
          <a:bodyPr wrap="square" rtlCol="0">
            <a:spAutoFit/>
          </a:bodyPr>
          <a:lstStyle/>
          <a:p>
            <a:r>
              <a:rPr lang="zh-CN" altLang="en-US" dirty="0" smtClean="0">
                <a:solidFill>
                  <a:schemeClr val="bg1"/>
                </a:solidFill>
              </a:rPr>
              <a:t>通过</a:t>
            </a:r>
            <a:endParaRPr lang="zh-CN" altLang="en-US" dirty="0">
              <a:solidFill>
                <a:schemeClr val="bg1"/>
              </a:solidFill>
            </a:endParaRPr>
          </a:p>
        </p:txBody>
      </p:sp>
    </p:spTree>
    <p:extLst>
      <p:ext uri="{BB962C8B-B14F-4D97-AF65-F5344CB8AC3E}">
        <p14:creationId xmlns:p14="http://schemas.microsoft.com/office/powerpoint/2010/main" val="25015413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cs typeface="+mn-ea"/>
                <a:sym typeface="+mn-lt"/>
              </a:rPr>
              <a:t>软件维护模型</a:t>
            </a:r>
            <a:endParaRPr lang="zh-CN" altLang="en-US" b="1" dirty="0">
              <a:cs typeface="+mn-ea"/>
              <a:sym typeface="+mn-lt"/>
            </a:endParaRPr>
          </a:p>
        </p:txBody>
      </p:sp>
      <p:sp>
        <p:nvSpPr>
          <p:cNvPr id="9" name="任意多边形 8"/>
          <p:cNvSpPr/>
          <p:nvPr/>
        </p:nvSpPr>
        <p:spPr>
          <a:xfrm>
            <a:off x="5560482" y="3194119"/>
            <a:ext cx="2502590" cy="2502590"/>
          </a:xfrm>
          <a:custGeom>
            <a:avLst/>
            <a:gdLst>
              <a:gd name="connsiteX0" fmla="*/ 1776349 w 2502590"/>
              <a:gd name="connsiteY0" fmla="*/ 399009 h 2502590"/>
              <a:gd name="connsiteX1" fmla="*/ 1971011 w 2502590"/>
              <a:gd name="connsiteY1" fmla="*/ 235660 h 2502590"/>
              <a:gd name="connsiteX2" fmla="*/ 2126523 w 2502590"/>
              <a:gd name="connsiteY2" fmla="*/ 366150 h 2502590"/>
              <a:gd name="connsiteX3" fmla="*/ 1999458 w 2502590"/>
              <a:gd name="connsiteY3" fmla="*/ 586220 h 2502590"/>
              <a:gd name="connsiteX4" fmla="*/ 2201349 w 2502590"/>
              <a:gd name="connsiteY4" fmla="*/ 935905 h 2502590"/>
              <a:gd name="connsiteX5" fmla="*/ 2455467 w 2502590"/>
              <a:gd name="connsiteY5" fmla="*/ 935898 h 2502590"/>
              <a:gd name="connsiteX6" fmla="*/ 2490719 w 2502590"/>
              <a:gd name="connsiteY6" fmla="*/ 1135820 h 2502590"/>
              <a:gd name="connsiteX7" fmla="*/ 2251923 w 2502590"/>
              <a:gd name="connsiteY7" fmla="*/ 1222728 h 2502590"/>
              <a:gd name="connsiteX8" fmla="*/ 2181807 w 2502590"/>
              <a:gd name="connsiteY8" fmla="*/ 1620375 h 2502590"/>
              <a:gd name="connsiteX9" fmla="*/ 2376478 w 2502590"/>
              <a:gd name="connsiteY9" fmla="*/ 1783714 h 2502590"/>
              <a:gd name="connsiteX10" fmla="*/ 2274974 w 2502590"/>
              <a:gd name="connsiteY10" fmla="*/ 1959523 h 2502590"/>
              <a:gd name="connsiteX11" fmla="*/ 2036183 w 2502590"/>
              <a:gd name="connsiteY11" fmla="*/ 1872603 h 2502590"/>
              <a:gd name="connsiteX12" fmla="*/ 1726869 w 2502590"/>
              <a:gd name="connsiteY12" fmla="*/ 2132148 h 2502590"/>
              <a:gd name="connsiteX13" fmla="*/ 1771003 w 2502590"/>
              <a:gd name="connsiteY13" fmla="*/ 2382405 h 2502590"/>
              <a:gd name="connsiteX14" fmla="*/ 1580239 w 2502590"/>
              <a:gd name="connsiteY14" fmla="*/ 2451837 h 2502590"/>
              <a:gd name="connsiteX15" fmla="*/ 1453186 w 2502590"/>
              <a:gd name="connsiteY15" fmla="*/ 2231761 h 2502590"/>
              <a:gd name="connsiteX16" fmla="*/ 1049405 w 2502590"/>
              <a:gd name="connsiteY16" fmla="*/ 2231761 h 2502590"/>
              <a:gd name="connsiteX17" fmla="*/ 922351 w 2502590"/>
              <a:gd name="connsiteY17" fmla="*/ 2451837 h 2502590"/>
              <a:gd name="connsiteX18" fmla="*/ 731587 w 2502590"/>
              <a:gd name="connsiteY18" fmla="*/ 2382405 h 2502590"/>
              <a:gd name="connsiteX19" fmla="*/ 775721 w 2502590"/>
              <a:gd name="connsiteY19" fmla="*/ 2132148 h 2502590"/>
              <a:gd name="connsiteX20" fmla="*/ 466407 w 2502590"/>
              <a:gd name="connsiteY20" fmla="*/ 1872603 h 2502590"/>
              <a:gd name="connsiteX21" fmla="*/ 227616 w 2502590"/>
              <a:gd name="connsiteY21" fmla="*/ 1959523 h 2502590"/>
              <a:gd name="connsiteX22" fmla="*/ 126112 w 2502590"/>
              <a:gd name="connsiteY22" fmla="*/ 1783714 h 2502590"/>
              <a:gd name="connsiteX23" fmla="*/ 320783 w 2502590"/>
              <a:gd name="connsiteY23" fmla="*/ 1620374 h 2502590"/>
              <a:gd name="connsiteX24" fmla="*/ 250667 w 2502590"/>
              <a:gd name="connsiteY24" fmla="*/ 1222727 h 2502590"/>
              <a:gd name="connsiteX25" fmla="*/ 11871 w 2502590"/>
              <a:gd name="connsiteY25" fmla="*/ 1135820 h 2502590"/>
              <a:gd name="connsiteX26" fmla="*/ 47123 w 2502590"/>
              <a:gd name="connsiteY26" fmla="*/ 935898 h 2502590"/>
              <a:gd name="connsiteX27" fmla="*/ 301241 w 2502590"/>
              <a:gd name="connsiteY27" fmla="*/ 935904 h 2502590"/>
              <a:gd name="connsiteX28" fmla="*/ 503131 w 2502590"/>
              <a:gd name="connsiteY28" fmla="*/ 586219 h 2502590"/>
              <a:gd name="connsiteX29" fmla="*/ 376067 w 2502590"/>
              <a:gd name="connsiteY29" fmla="*/ 366150 h 2502590"/>
              <a:gd name="connsiteX30" fmla="*/ 531579 w 2502590"/>
              <a:gd name="connsiteY30" fmla="*/ 235660 h 2502590"/>
              <a:gd name="connsiteX31" fmla="*/ 726241 w 2502590"/>
              <a:gd name="connsiteY31" fmla="*/ 399009 h 2502590"/>
              <a:gd name="connsiteX32" fmla="*/ 1105671 w 2502590"/>
              <a:gd name="connsiteY32" fmla="*/ 260908 h 2502590"/>
              <a:gd name="connsiteX33" fmla="*/ 1149792 w 2502590"/>
              <a:gd name="connsiteY33" fmla="*/ 10649 h 2502590"/>
              <a:gd name="connsiteX34" fmla="*/ 1352798 w 2502590"/>
              <a:gd name="connsiteY34" fmla="*/ 10649 h 2502590"/>
              <a:gd name="connsiteX35" fmla="*/ 1396919 w 2502590"/>
              <a:gd name="connsiteY35" fmla="*/ 260908 h 2502590"/>
              <a:gd name="connsiteX36" fmla="*/ 1776349 w 2502590"/>
              <a:gd name="connsiteY36" fmla="*/ 399009 h 250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02590" h="2502590">
                <a:moveTo>
                  <a:pt x="1776349" y="399009"/>
                </a:moveTo>
                <a:lnTo>
                  <a:pt x="1971011" y="235660"/>
                </a:lnTo>
                <a:lnTo>
                  <a:pt x="2126523" y="366150"/>
                </a:lnTo>
                <a:lnTo>
                  <a:pt x="1999458" y="586220"/>
                </a:lnTo>
                <a:cubicBezTo>
                  <a:pt x="2089809" y="687858"/>
                  <a:pt x="2158503" y="806840"/>
                  <a:pt x="2201349" y="935905"/>
                </a:cubicBezTo>
                <a:lnTo>
                  <a:pt x="2455467" y="935898"/>
                </a:lnTo>
                <a:lnTo>
                  <a:pt x="2490719" y="1135820"/>
                </a:lnTo>
                <a:lnTo>
                  <a:pt x="2251923" y="1222728"/>
                </a:lnTo>
                <a:cubicBezTo>
                  <a:pt x="2255804" y="1358663"/>
                  <a:pt x="2231947" y="1493964"/>
                  <a:pt x="2181807" y="1620375"/>
                </a:cubicBezTo>
                <a:lnTo>
                  <a:pt x="2376478" y="1783714"/>
                </a:lnTo>
                <a:lnTo>
                  <a:pt x="2274974" y="1959523"/>
                </a:lnTo>
                <a:lnTo>
                  <a:pt x="2036183" y="1872603"/>
                </a:lnTo>
                <a:cubicBezTo>
                  <a:pt x="1951778" y="1979230"/>
                  <a:pt x="1846533" y="2067542"/>
                  <a:pt x="1726869" y="2132148"/>
                </a:cubicBezTo>
                <a:lnTo>
                  <a:pt x="1771003" y="2382405"/>
                </a:lnTo>
                <a:lnTo>
                  <a:pt x="1580239" y="2451837"/>
                </a:lnTo>
                <a:lnTo>
                  <a:pt x="1453186" y="2231761"/>
                </a:lnTo>
                <a:cubicBezTo>
                  <a:pt x="1319990" y="2259188"/>
                  <a:pt x="1182601" y="2259188"/>
                  <a:pt x="1049405" y="2231761"/>
                </a:cubicBezTo>
                <a:lnTo>
                  <a:pt x="922351" y="2451837"/>
                </a:lnTo>
                <a:lnTo>
                  <a:pt x="731587" y="2382405"/>
                </a:lnTo>
                <a:lnTo>
                  <a:pt x="775721" y="2132148"/>
                </a:lnTo>
                <a:cubicBezTo>
                  <a:pt x="656057" y="2067541"/>
                  <a:pt x="550812" y="1979230"/>
                  <a:pt x="466407" y="1872603"/>
                </a:cubicBezTo>
                <a:lnTo>
                  <a:pt x="227616" y="1959523"/>
                </a:lnTo>
                <a:lnTo>
                  <a:pt x="126112" y="1783714"/>
                </a:lnTo>
                <a:lnTo>
                  <a:pt x="320783" y="1620374"/>
                </a:lnTo>
                <a:cubicBezTo>
                  <a:pt x="270643" y="1493964"/>
                  <a:pt x="246786" y="1358663"/>
                  <a:pt x="250667" y="1222727"/>
                </a:cubicBezTo>
                <a:lnTo>
                  <a:pt x="11871" y="1135820"/>
                </a:lnTo>
                <a:lnTo>
                  <a:pt x="47123" y="935898"/>
                </a:lnTo>
                <a:lnTo>
                  <a:pt x="301241" y="935904"/>
                </a:lnTo>
                <a:cubicBezTo>
                  <a:pt x="344087" y="806839"/>
                  <a:pt x="412781" y="687857"/>
                  <a:pt x="503131" y="586219"/>
                </a:cubicBezTo>
                <a:lnTo>
                  <a:pt x="376067" y="366150"/>
                </a:lnTo>
                <a:lnTo>
                  <a:pt x="531579" y="235660"/>
                </a:lnTo>
                <a:lnTo>
                  <a:pt x="726241" y="399009"/>
                </a:lnTo>
                <a:cubicBezTo>
                  <a:pt x="842024" y="327680"/>
                  <a:pt x="971127" y="280691"/>
                  <a:pt x="1105671" y="260908"/>
                </a:cubicBezTo>
                <a:lnTo>
                  <a:pt x="1149792" y="10649"/>
                </a:lnTo>
                <a:lnTo>
                  <a:pt x="1352798" y="10649"/>
                </a:lnTo>
                <a:lnTo>
                  <a:pt x="1396919" y="260908"/>
                </a:lnTo>
                <a:cubicBezTo>
                  <a:pt x="1531463" y="280691"/>
                  <a:pt x="1660566" y="327681"/>
                  <a:pt x="1776349" y="399009"/>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61552" tIns="644640" rIns="561552" bIns="688407" numCol="1" spcCol="1270" anchor="ctr" anchorCtr="0">
            <a:noAutofit/>
          </a:bodyPr>
          <a:lstStyle/>
          <a:p>
            <a:pPr lvl="0" algn="ctr" defTabSz="2044700">
              <a:lnSpc>
                <a:spcPct val="90000"/>
              </a:lnSpc>
              <a:spcBef>
                <a:spcPct val="0"/>
              </a:spcBef>
              <a:spcAft>
                <a:spcPct val="35000"/>
              </a:spcAft>
            </a:pPr>
            <a:endParaRPr lang="zh-CN" altLang="en-US" sz="4600" kern="1200">
              <a:cs typeface="+mn-ea"/>
              <a:sym typeface="+mn-lt"/>
            </a:endParaRPr>
          </a:p>
        </p:txBody>
      </p:sp>
      <p:sp>
        <p:nvSpPr>
          <p:cNvPr id="10" name="任意多边形 9"/>
          <p:cNvSpPr/>
          <p:nvPr/>
        </p:nvSpPr>
        <p:spPr>
          <a:xfrm>
            <a:off x="4104429" y="2602597"/>
            <a:ext cx="1820066" cy="1820066"/>
          </a:xfrm>
          <a:custGeom>
            <a:avLst/>
            <a:gdLst>
              <a:gd name="connsiteX0" fmla="*/ 1361859 w 1820066"/>
              <a:gd name="connsiteY0" fmla="*/ 460976 h 1820066"/>
              <a:gd name="connsiteX1" fmla="*/ 1630380 w 1820066"/>
              <a:gd name="connsiteY1" fmla="*/ 380049 h 1820066"/>
              <a:gd name="connsiteX2" fmla="*/ 1729186 w 1820066"/>
              <a:gd name="connsiteY2" fmla="*/ 551186 h 1820066"/>
              <a:gd name="connsiteX3" fmla="*/ 1524840 w 1820066"/>
              <a:gd name="connsiteY3" fmla="*/ 743269 h 1820066"/>
              <a:gd name="connsiteX4" fmla="*/ 1524840 w 1820066"/>
              <a:gd name="connsiteY4" fmla="*/ 1076798 h 1820066"/>
              <a:gd name="connsiteX5" fmla="*/ 1729186 w 1820066"/>
              <a:gd name="connsiteY5" fmla="*/ 1268880 h 1820066"/>
              <a:gd name="connsiteX6" fmla="*/ 1630380 w 1820066"/>
              <a:gd name="connsiteY6" fmla="*/ 1440017 h 1820066"/>
              <a:gd name="connsiteX7" fmla="*/ 1361859 w 1820066"/>
              <a:gd name="connsiteY7" fmla="*/ 1359090 h 1820066"/>
              <a:gd name="connsiteX8" fmla="*/ 1073014 w 1820066"/>
              <a:gd name="connsiteY8" fmla="*/ 1525854 h 1820066"/>
              <a:gd name="connsiteX9" fmla="*/ 1008839 w 1820066"/>
              <a:gd name="connsiteY9" fmla="*/ 1798864 h 1820066"/>
              <a:gd name="connsiteX10" fmla="*/ 811227 w 1820066"/>
              <a:gd name="connsiteY10" fmla="*/ 1798864 h 1820066"/>
              <a:gd name="connsiteX11" fmla="*/ 747052 w 1820066"/>
              <a:gd name="connsiteY11" fmla="*/ 1525854 h 1820066"/>
              <a:gd name="connsiteX12" fmla="*/ 458207 w 1820066"/>
              <a:gd name="connsiteY12" fmla="*/ 1359090 h 1820066"/>
              <a:gd name="connsiteX13" fmla="*/ 189686 w 1820066"/>
              <a:gd name="connsiteY13" fmla="*/ 1440017 h 1820066"/>
              <a:gd name="connsiteX14" fmla="*/ 90880 w 1820066"/>
              <a:gd name="connsiteY14" fmla="*/ 1268880 h 1820066"/>
              <a:gd name="connsiteX15" fmla="*/ 295226 w 1820066"/>
              <a:gd name="connsiteY15" fmla="*/ 1076797 h 1820066"/>
              <a:gd name="connsiteX16" fmla="*/ 295226 w 1820066"/>
              <a:gd name="connsiteY16" fmla="*/ 743268 h 1820066"/>
              <a:gd name="connsiteX17" fmla="*/ 90880 w 1820066"/>
              <a:gd name="connsiteY17" fmla="*/ 551186 h 1820066"/>
              <a:gd name="connsiteX18" fmla="*/ 189686 w 1820066"/>
              <a:gd name="connsiteY18" fmla="*/ 380049 h 1820066"/>
              <a:gd name="connsiteX19" fmla="*/ 458207 w 1820066"/>
              <a:gd name="connsiteY19" fmla="*/ 460976 h 1820066"/>
              <a:gd name="connsiteX20" fmla="*/ 747052 w 1820066"/>
              <a:gd name="connsiteY20" fmla="*/ 294212 h 1820066"/>
              <a:gd name="connsiteX21" fmla="*/ 811227 w 1820066"/>
              <a:gd name="connsiteY21" fmla="*/ 21202 h 1820066"/>
              <a:gd name="connsiteX22" fmla="*/ 1008839 w 1820066"/>
              <a:gd name="connsiteY22" fmla="*/ 21202 h 1820066"/>
              <a:gd name="connsiteX23" fmla="*/ 1073014 w 1820066"/>
              <a:gd name="connsiteY23" fmla="*/ 294212 h 1820066"/>
              <a:gd name="connsiteX24" fmla="*/ 1361859 w 1820066"/>
              <a:gd name="connsiteY24" fmla="*/ 460976 h 182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20066" h="1820066">
                <a:moveTo>
                  <a:pt x="1361859" y="460976"/>
                </a:moveTo>
                <a:lnTo>
                  <a:pt x="1630380" y="380049"/>
                </a:lnTo>
                <a:lnTo>
                  <a:pt x="1729186" y="551186"/>
                </a:lnTo>
                <a:lnTo>
                  <a:pt x="1524840" y="743269"/>
                </a:lnTo>
                <a:cubicBezTo>
                  <a:pt x="1554461" y="852472"/>
                  <a:pt x="1554461" y="967595"/>
                  <a:pt x="1524840" y="1076798"/>
                </a:cubicBezTo>
                <a:lnTo>
                  <a:pt x="1729186" y="1268880"/>
                </a:lnTo>
                <a:lnTo>
                  <a:pt x="1630380" y="1440017"/>
                </a:lnTo>
                <a:lnTo>
                  <a:pt x="1361859" y="1359090"/>
                </a:lnTo>
                <a:cubicBezTo>
                  <a:pt x="1282097" y="1439344"/>
                  <a:pt x="1182398" y="1496905"/>
                  <a:pt x="1073014" y="1525854"/>
                </a:cubicBezTo>
                <a:lnTo>
                  <a:pt x="1008839" y="1798864"/>
                </a:lnTo>
                <a:lnTo>
                  <a:pt x="811227" y="1798864"/>
                </a:lnTo>
                <a:lnTo>
                  <a:pt x="747052" y="1525854"/>
                </a:lnTo>
                <a:cubicBezTo>
                  <a:pt x="637669" y="1496905"/>
                  <a:pt x="537970" y="1439344"/>
                  <a:pt x="458207" y="1359090"/>
                </a:cubicBezTo>
                <a:lnTo>
                  <a:pt x="189686" y="1440017"/>
                </a:lnTo>
                <a:lnTo>
                  <a:pt x="90880" y="1268880"/>
                </a:lnTo>
                <a:lnTo>
                  <a:pt x="295226" y="1076797"/>
                </a:lnTo>
                <a:cubicBezTo>
                  <a:pt x="265605" y="967594"/>
                  <a:pt x="265605" y="852471"/>
                  <a:pt x="295226" y="743268"/>
                </a:cubicBezTo>
                <a:lnTo>
                  <a:pt x="90880" y="551186"/>
                </a:lnTo>
                <a:lnTo>
                  <a:pt x="189686" y="380049"/>
                </a:lnTo>
                <a:lnTo>
                  <a:pt x="458207" y="460976"/>
                </a:lnTo>
                <a:cubicBezTo>
                  <a:pt x="537969" y="380722"/>
                  <a:pt x="637668" y="323161"/>
                  <a:pt x="747052" y="294212"/>
                </a:cubicBezTo>
                <a:lnTo>
                  <a:pt x="811227" y="21202"/>
                </a:lnTo>
                <a:lnTo>
                  <a:pt x="1008839" y="21202"/>
                </a:lnTo>
                <a:lnTo>
                  <a:pt x="1073014" y="294212"/>
                </a:lnTo>
                <a:cubicBezTo>
                  <a:pt x="1182397" y="323161"/>
                  <a:pt x="1282096" y="380722"/>
                  <a:pt x="1361859" y="460976"/>
                </a:cubicBezTo>
                <a:close/>
              </a:path>
            </a:pathLst>
          </a:custGeom>
          <a:solidFill>
            <a:schemeClr val="tx1">
              <a:lumMod val="65000"/>
              <a:lumOff val="3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2497" tIns="495266" rIns="492497" bIns="495266" numCol="1" spcCol="1270" anchor="ctr" anchorCtr="0">
            <a:noAutofit/>
          </a:bodyPr>
          <a:lstStyle/>
          <a:p>
            <a:pPr lvl="0" algn="ctr" defTabSz="1200150">
              <a:lnSpc>
                <a:spcPct val="90000"/>
              </a:lnSpc>
              <a:spcBef>
                <a:spcPct val="0"/>
              </a:spcBef>
              <a:spcAft>
                <a:spcPct val="35000"/>
              </a:spcAft>
            </a:pPr>
            <a:endParaRPr lang="zh-CN" altLang="en-US" sz="2700" kern="1200">
              <a:cs typeface="+mn-ea"/>
              <a:sym typeface="+mn-lt"/>
            </a:endParaRPr>
          </a:p>
        </p:txBody>
      </p:sp>
      <p:sp>
        <p:nvSpPr>
          <p:cNvPr id="11" name="任意多边形 10"/>
          <p:cNvSpPr/>
          <p:nvPr/>
        </p:nvSpPr>
        <p:spPr>
          <a:xfrm>
            <a:off x="4923459" y="1146545"/>
            <a:ext cx="2184079" cy="2184079"/>
          </a:xfrm>
          <a:custGeom>
            <a:avLst/>
            <a:gdLst>
              <a:gd name="connsiteX0" fmla="*/ 1334344 w 1783293"/>
              <a:gd name="connsiteY0" fmla="*/ 451663 h 1783293"/>
              <a:gd name="connsiteX1" fmla="*/ 1597440 w 1783293"/>
              <a:gd name="connsiteY1" fmla="*/ 372371 h 1783293"/>
              <a:gd name="connsiteX2" fmla="*/ 1694249 w 1783293"/>
              <a:gd name="connsiteY2" fmla="*/ 540050 h 1783293"/>
              <a:gd name="connsiteX3" fmla="*/ 1494032 w 1783293"/>
              <a:gd name="connsiteY3" fmla="*/ 728251 h 1783293"/>
              <a:gd name="connsiteX4" fmla="*/ 1494032 w 1783293"/>
              <a:gd name="connsiteY4" fmla="*/ 1055042 h 1783293"/>
              <a:gd name="connsiteX5" fmla="*/ 1694249 w 1783293"/>
              <a:gd name="connsiteY5" fmla="*/ 1243243 h 1783293"/>
              <a:gd name="connsiteX6" fmla="*/ 1597440 w 1783293"/>
              <a:gd name="connsiteY6" fmla="*/ 1410922 h 1783293"/>
              <a:gd name="connsiteX7" fmla="*/ 1334344 w 1783293"/>
              <a:gd name="connsiteY7" fmla="*/ 1331630 h 1783293"/>
              <a:gd name="connsiteX8" fmla="*/ 1051335 w 1783293"/>
              <a:gd name="connsiteY8" fmla="*/ 1495025 h 1783293"/>
              <a:gd name="connsiteX9" fmla="*/ 988456 w 1783293"/>
              <a:gd name="connsiteY9" fmla="*/ 1762519 h 1783293"/>
              <a:gd name="connsiteX10" fmla="*/ 794837 w 1783293"/>
              <a:gd name="connsiteY10" fmla="*/ 1762519 h 1783293"/>
              <a:gd name="connsiteX11" fmla="*/ 731958 w 1783293"/>
              <a:gd name="connsiteY11" fmla="*/ 1495025 h 1783293"/>
              <a:gd name="connsiteX12" fmla="*/ 448949 w 1783293"/>
              <a:gd name="connsiteY12" fmla="*/ 1331630 h 1783293"/>
              <a:gd name="connsiteX13" fmla="*/ 185853 w 1783293"/>
              <a:gd name="connsiteY13" fmla="*/ 1410922 h 1783293"/>
              <a:gd name="connsiteX14" fmla="*/ 89044 w 1783293"/>
              <a:gd name="connsiteY14" fmla="*/ 1243243 h 1783293"/>
              <a:gd name="connsiteX15" fmla="*/ 289261 w 1783293"/>
              <a:gd name="connsiteY15" fmla="*/ 1055042 h 1783293"/>
              <a:gd name="connsiteX16" fmla="*/ 289261 w 1783293"/>
              <a:gd name="connsiteY16" fmla="*/ 728251 h 1783293"/>
              <a:gd name="connsiteX17" fmla="*/ 89044 w 1783293"/>
              <a:gd name="connsiteY17" fmla="*/ 540050 h 1783293"/>
              <a:gd name="connsiteX18" fmla="*/ 185853 w 1783293"/>
              <a:gd name="connsiteY18" fmla="*/ 372371 h 1783293"/>
              <a:gd name="connsiteX19" fmla="*/ 448949 w 1783293"/>
              <a:gd name="connsiteY19" fmla="*/ 451663 h 1783293"/>
              <a:gd name="connsiteX20" fmla="*/ 731958 w 1783293"/>
              <a:gd name="connsiteY20" fmla="*/ 288268 h 1783293"/>
              <a:gd name="connsiteX21" fmla="*/ 794837 w 1783293"/>
              <a:gd name="connsiteY21" fmla="*/ 20774 h 1783293"/>
              <a:gd name="connsiteX22" fmla="*/ 988456 w 1783293"/>
              <a:gd name="connsiteY22" fmla="*/ 20774 h 1783293"/>
              <a:gd name="connsiteX23" fmla="*/ 1051335 w 1783293"/>
              <a:gd name="connsiteY23" fmla="*/ 288268 h 1783293"/>
              <a:gd name="connsiteX24" fmla="*/ 1334344 w 1783293"/>
              <a:gd name="connsiteY24" fmla="*/ 451663 h 178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83293" h="1783293">
                <a:moveTo>
                  <a:pt x="1147812" y="451089"/>
                </a:moveTo>
                <a:lnTo>
                  <a:pt x="1338552" y="332955"/>
                </a:lnTo>
                <a:lnTo>
                  <a:pt x="1450338" y="444741"/>
                </a:lnTo>
                <a:lnTo>
                  <a:pt x="1332203" y="635482"/>
                </a:lnTo>
                <a:cubicBezTo>
                  <a:pt x="1377704" y="713734"/>
                  <a:pt x="1401541" y="802693"/>
                  <a:pt x="1401262" y="893213"/>
                </a:cubicBezTo>
                <a:lnTo>
                  <a:pt x="1598940" y="999332"/>
                </a:lnTo>
                <a:lnTo>
                  <a:pt x="1558024" y="1152034"/>
                </a:lnTo>
                <a:lnTo>
                  <a:pt x="1333770" y="1145098"/>
                </a:lnTo>
                <a:cubicBezTo>
                  <a:pt x="1288752" y="1223629"/>
                  <a:pt x="1223629" y="1288751"/>
                  <a:pt x="1145098" y="1333770"/>
                </a:cubicBezTo>
                <a:lnTo>
                  <a:pt x="1152035" y="1558024"/>
                </a:lnTo>
                <a:lnTo>
                  <a:pt x="999332" y="1598940"/>
                </a:lnTo>
                <a:lnTo>
                  <a:pt x="893213" y="1401262"/>
                </a:lnTo>
                <a:cubicBezTo>
                  <a:pt x="802694" y="1401541"/>
                  <a:pt x="713734" y="1377704"/>
                  <a:pt x="635481" y="1332204"/>
                </a:cubicBezTo>
                <a:lnTo>
                  <a:pt x="444741" y="1450338"/>
                </a:lnTo>
                <a:lnTo>
                  <a:pt x="332955" y="1338552"/>
                </a:lnTo>
                <a:lnTo>
                  <a:pt x="451090" y="1147811"/>
                </a:lnTo>
                <a:cubicBezTo>
                  <a:pt x="405589" y="1069559"/>
                  <a:pt x="381752" y="980600"/>
                  <a:pt x="382031" y="890080"/>
                </a:cubicBezTo>
                <a:lnTo>
                  <a:pt x="184353" y="783961"/>
                </a:lnTo>
                <a:lnTo>
                  <a:pt x="225269" y="631259"/>
                </a:lnTo>
                <a:lnTo>
                  <a:pt x="449523" y="638195"/>
                </a:lnTo>
                <a:cubicBezTo>
                  <a:pt x="494541" y="559664"/>
                  <a:pt x="559664" y="494542"/>
                  <a:pt x="638195" y="449523"/>
                </a:cubicBezTo>
                <a:lnTo>
                  <a:pt x="631258" y="225269"/>
                </a:lnTo>
                <a:lnTo>
                  <a:pt x="783961" y="184353"/>
                </a:lnTo>
                <a:lnTo>
                  <a:pt x="890080" y="382031"/>
                </a:lnTo>
                <a:cubicBezTo>
                  <a:pt x="980599" y="381752"/>
                  <a:pt x="1069559" y="405589"/>
                  <a:pt x="1147812" y="451089"/>
                </a:cubicBezTo>
                <a:close/>
              </a:path>
            </a:pathLst>
          </a:custGeom>
          <a:solidFill>
            <a:schemeClr val="bg1">
              <a:lumMod val="5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29622" tIns="629621" rIns="629621" bIns="629622" numCol="1" spcCol="1270" anchor="ctr" anchorCtr="0">
            <a:noAutofit/>
          </a:bodyPr>
          <a:lstStyle/>
          <a:p>
            <a:pPr lvl="0" algn="ctr" defTabSz="1333500">
              <a:lnSpc>
                <a:spcPct val="90000"/>
              </a:lnSpc>
              <a:spcBef>
                <a:spcPct val="0"/>
              </a:spcBef>
              <a:spcAft>
                <a:spcPct val="35000"/>
              </a:spcAft>
            </a:pPr>
            <a:endParaRPr lang="zh-CN" altLang="en-US" sz="3000" kern="1200">
              <a:cs typeface="+mn-ea"/>
              <a:sym typeface="+mn-lt"/>
            </a:endParaRPr>
          </a:p>
        </p:txBody>
      </p:sp>
      <p:sp>
        <p:nvSpPr>
          <p:cNvPr id="12" name="环形箭头 11"/>
          <p:cNvSpPr/>
          <p:nvPr/>
        </p:nvSpPr>
        <p:spPr>
          <a:xfrm>
            <a:off x="5371972" y="2814248"/>
            <a:ext cx="3203316" cy="3203316"/>
          </a:xfrm>
          <a:prstGeom prst="circularArrow">
            <a:avLst>
              <a:gd name="adj1" fmla="val 4688"/>
              <a:gd name="adj2" fmla="val 299029"/>
              <a:gd name="adj3" fmla="val 2524070"/>
              <a:gd name="adj4" fmla="val 15844352"/>
              <a:gd name="adj5" fmla="val 5469"/>
            </a:avLst>
          </a:prstGeom>
          <a:solidFill>
            <a:schemeClr val="accent1"/>
          </a:solidFill>
          <a:ln>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13" name="形状 12"/>
          <p:cNvSpPr/>
          <p:nvPr/>
        </p:nvSpPr>
        <p:spPr>
          <a:xfrm>
            <a:off x="3782099" y="2198358"/>
            <a:ext cx="2327409" cy="2327409"/>
          </a:xfrm>
          <a:prstGeom prst="leftCircularArrow">
            <a:avLst>
              <a:gd name="adj1" fmla="val 6452"/>
              <a:gd name="adj2" fmla="val 429999"/>
              <a:gd name="adj3" fmla="val 10489124"/>
              <a:gd name="adj4" fmla="val 14837806"/>
              <a:gd name="adj5" fmla="val 7527"/>
            </a:avLst>
          </a:prstGeom>
          <a:solidFill>
            <a:schemeClr val="tx1">
              <a:lumMod val="50000"/>
              <a:lumOff val="50000"/>
            </a:schemeClr>
          </a:solidFill>
          <a:ln>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14" name="环形箭头 13"/>
          <p:cNvSpPr/>
          <p:nvPr/>
        </p:nvSpPr>
        <p:spPr>
          <a:xfrm>
            <a:off x="4711358" y="954803"/>
            <a:ext cx="2509415" cy="2509415"/>
          </a:xfrm>
          <a:prstGeom prst="circularArrow">
            <a:avLst>
              <a:gd name="adj1" fmla="val 5984"/>
              <a:gd name="adj2" fmla="val 394124"/>
              <a:gd name="adj3" fmla="val 13313824"/>
              <a:gd name="adj4" fmla="val 10508221"/>
              <a:gd name="adj5" fmla="val 6981"/>
            </a:avLst>
          </a:prstGeom>
          <a:solidFill>
            <a:schemeClr val="bg1">
              <a:lumMod val="6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15" name="矩形 14"/>
          <p:cNvSpPr/>
          <p:nvPr/>
        </p:nvSpPr>
        <p:spPr>
          <a:xfrm>
            <a:off x="7754167" y="1166935"/>
            <a:ext cx="1568058" cy="400110"/>
          </a:xfrm>
          <a:prstGeom prst="rect">
            <a:avLst/>
          </a:prstGeom>
        </p:spPr>
        <p:txBody>
          <a:bodyPr wrap="none">
            <a:spAutoFit/>
          </a:bodyPr>
          <a:lstStyle/>
          <a:p>
            <a:pPr algn="ctr" defTabSz="609585"/>
            <a:r>
              <a:rPr lang="en-US" altLang="zh-CN" sz="2000" b="1" dirty="0" smtClean="0">
                <a:solidFill>
                  <a:schemeClr val="tx1">
                    <a:lumMod val="85000"/>
                    <a:lumOff val="15000"/>
                  </a:schemeClr>
                </a:solidFill>
                <a:cs typeface="+mn-ea"/>
                <a:sym typeface="+mn-lt"/>
              </a:rPr>
              <a:t>Boehm</a:t>
            </a:r>
            <a:r>
              <a:rPr lang="zh-CN" altLang="en-US" sz="2000" b="1" dirty="0" smtClean="0">
                <a:solidFill>
                  <a:schemeClr val="tx1">
                    <a:lumMod val="85000"/>
                    <a:lumOff val="15000"/>
                  </a:schemeClr>
                </a:solidFill>
                <a:cs typeface="+mn-ea"/>
                <a:sym typeface="+mn-lt"/>
              </a:rPr>
              <a:t>模型</a:t>
            </a:r>
            <a:endParaRPr lang="zh-CN" altLang="en-US" sz="2000" b="1" dirty="0">
              <a:solidFill>
                <a:schemeClr val="tx1">
                  <a:lumMod val="85000"/>
                  <a:lumOff val="15000"/>
                </a:schemeClr>
              </a:solidFill>
              <a:cs typeface="+mn-ea"/>
              <a:sym typeface="+mn-lt"/>
            </a:endParaRPr>
          </a:p>
        </p:txBody>
      </p:sp>
      <p:sp>
        <p:nvSpPr>
          <p:cNvPr id="16" name="矩形 15"/>
          <p:cNvSpPr/>
          <p:nvPr/>
        </p:nvSpPr>
        <p:spPr>
          <a:xfrm>
            <a:off x="7419940" y="1507155"/>
            <a:ext cx="2519993" cy="2512996"/>
          </a:xfrm>
          <a:prstGeom prst="rect">
            <a:avLst/>
          </a:prstGeom>
        </p:spPr>
        <p:txBody>
          <a:bodyPr wrap="square">
            <a:spAutoFit/>
          </a:bodyPr>
          <a:lstStyle/>
          <a:p>
            <a:pPr algn="just" defTabSz="609585">
              <a:lnSpc>
                <a:spcPct val="130000"/>
              </a:lnSpc>
            </a:pPr>
            <a:r>
              <a:rPr lang="en-US" altLang="zh-CN" sz="1100" b="1" dirty="0">
                <a:solidFill>
                  <a:schemeClr val="tx1">
                    <a:lumMod val="50000"/>
                    <a:lumOff val="50000"/>
                  </a:schemeClr>
                </a:solidFill>
                <a:cs typeface="+mn-ea"/>
                <a:sym typeface="+mn-lt"/>
              </a:rPr>
              <a:t>Boehm</a:t>
            </a:r>
            <a:r>
              <a:rPr lang="zh-CN" altLang="en-US" sz="1100" b="1" dirty="0" smtClean="0">
                <a:solidFill>
                  <a:schemeClr val="tx1">
                    <a:lumMod val="50000"/>
                    <a:lumOff val="50000"/>
                  </a:schemeClr>
                </a:solidFill>
                <a:cs typeface="+mn-ea"/>
                <a:sym typeface="+mn-lt"/>
              </a:rPr>
              <a:t>的</a:t>
            </a:r>
            <a:r>
              <a:rPr lang="zh-CN" altLang="en-US" sz="1100" b="1" dirty="0">
                <a:solidFill>
                  <a:schemeClr val="tx1">
                    <a:lumMod val="50000"/>
                    <a:lumOff val="50000"/>
                  </a:schemeClr>
                </a:solidFill>
                <a:cs typeface="+mn-ea"/>
                <a:sym typeface="+mn-lt"/>
              </a:rPr>
              <a:t>理论是</a:t>
            </a:r>
            <a:r>
              <a:rPr lang="zh-CN" altLang="en-US" sz="1100" b="1" dirty="0" smtClean="0">
                <a:solidFill>
                  <a:schemeClr val="tx1">
                    <a:lumMod val="50000"/>
                    <a:lumOff val="50000"/>
                  </a:schemeClr>
                </a:solidFill>
                <a:cs typeface="+mn-ea"/>
                <a:sym typeface="+mn-lt"/>
              </a:rPr>
              <a:t>经济学</a:t>
            </a:r>
            <a:r>
              <a:rPr lang="zh-CN" altLang="en-US" sz="1100" b="1" dirty="0">
                <a:solidFill>
                  <a:schemeClr val="tx1">
                    <a:lumMod val="50000"/>
                    <a:lumOff val="50000"/>
                  </a:schemeClr>
                </a:solidFill>
                <a:cs typeface="+mn-ea"/>
                <a:sym typeface="+mn-lt"/>
              </a:rPr>
              <a:t>模型和原理不仅可以改进维护的生产率</a:t>
            </a:r>
            <a:r>
              <a:rPr lang="en-US" altLang="zh-CN" sz="1100" b="1" dirty="0">
                <a:solidFill>
                  <a:schemeClr val="tx1">
                    <a:lumMod val="50000"/>
                    <a:lumOff val="50000"/>
                  </a:schemeClr>
                </a:solidFill>
                <a:cs typeface="+mn-ea"/>
                <a:sym typeface="+mn-lt"/>
              </a:rPr>
              <a:t>,</a:t>
            </a:r>
            <a:r>
              <a:rPr lang="zh-CN" altLang="en-US" sz="1100" b="1" dirty="0">
                <a:solidFill>
                  <a:schemeClr val="tx1">
                    <a:lumMod val="50000"/>
                    <a:lumOff val="50000"/>
                  </a:schemeClr>
                </a:solidFill>
                <a:cs typeface="+mn-ea"/>
                <a:sym typeface="+mn-lt"/>
              </a:rPr>
              <a:t>而且还有助于理解维护过程。</a:t>
            </a:r>
          </a:p>
          <a:p>
            <a:pPr algn="just" defTabSz="609585">
              <a:lnSpc>
                <a:spcPct val="130000"/>
              </a:lnSpc>
            </a:pPr>
            <a:r>
              <a:rPr lang="en-US" altLang="zh-CN" sz="1100" b="1" dirty="0">
                <a:solidFill>
                  <a:schemeClr val="tx1">
                    <a:lumMod val="50000"/>
                    <a:lumOff val="50000"/>
                  </a:schemeClr>
                </a:solidFill>
                <a:cs typeface="+mn-ea"/>
                <a:sym typeface="+mn-lt"/>
              </a:rPr>
              <a:t>Boehm</a:t>
            </a:r>
            <a:r>
              <a:rPr lang="zh-CN" altLang="en-US" sz="1100" b="1" dirty="0" smtClean="0">
                <a:solidFill>
                  <a:schemeClr val="tx1">
                    <a:lumMod val="50000"/>
                    <a:lumOff val="50000"/>
                  </a:schemeClr>
                </a:solidFill>
                <a:cs typeface="+mn-ea"/>
                <a:sym typeface="+mn-lt"/>
              </a:rPr>
              <a:t>把</a:t>
            </a:r>
            <a:r>
              <a:rPr lang="zh-CN" altLang="en-US" sz="1100" b="1" dirty="0">
                <a:solidFill>
                  <a:schemeClr val="tx1">
                    <a:lumMod val="50000"/>
                    <a:lumOff val="50000"/>
                  </a:schemeClr>
                </a:solidFill>
                <a:cs typeface="+mn-ea"/>
                <a:sym typeface="+mn-lt"/>
              </a:rPr>
              <a:t>维护过程表示为闭合环路。此模型正是做出管理决策的阶段推动了</a:t>
            </a:r>
            <a:r>
              <a:rPr lang="zh-CN" altLang="en-US" sz="1100" b="1" dirty="0" smtClean="0">
                <a:solidFill>
                  <a:schemeClr val="tx1">
                    <a:lumMod val="50000"/>
                    <a:lumOff val="50000"/>
                  </a:schemeClr>
                </a:solidFill>
                <a:cs typeface="+mn-ea"/>
                <a:sym typeface="+mn-lt"/>
              </a:rPr>
              <a:t>维护</a:t>
            </a:r>
            <a:r>
              <a:rPr lang="zh-CN" altLang="en-US" sz="1100" b="1" dirty="0">
                <a:solidFill>
                  <a:schemeClr val="tx1">
                    <a:lumMod val="50000"/>
                    <a:lumOff val="50000"/>
                  </a:schemeClr>
                </a:solidFill>
                <a:cs typeface="+mn-ea"/>
                <a:sym typeface="+mn-lt"/>
              </a:rPr>
              <a:t>过程。在这种阶段中</a:t>
            </a:r>
            <a:r>
              <a:rPr lang="en-US" altLang="zh-CN" sz="1100" b="1" dirty="0">
                <a:solidFill>
                  <a:schemeClr val="tx1">
                    <a:lumMod val="50000"/>
                    <a:lumOff val="50000"/>
                  </a:schemeClr>
                </a:solidFill>
                <a:cs typeface="+mn-ea"/>
                <a:sym typeface="+mn-lt"/>
              </a:rPr>
              <a:t>,</a:t>
            </a:r>
            <a:r>
              <a:rPr lang="zh-CN" altLang="en-US" sz="1100" b="1" dirty="0">
                <a:solidFill>
                  <a:schemeClr val="tx1">
                    <a:lumMod val="50000"/>
                    <a:lumOff val="50000"/>
                  </a:schemeClr>
                </a:solidFill>
                <a:cs typeface="+mn-ea"/>
                <a:sym typeface="+mn-lt"/>
              </a:rPr>
              <a:t>通过运用具体策略并对所提出的一组更改进行费效评估</a:t>
            </a:r>
            <a:r>
              <a:rPr lang="en-US" altLang="zh-CN" sz="1100" b="1" dirty="0" smtClean="0">
                <a:solidFill>
                  <a:schemeClr val="tx1">
                    <a:lumMod val="50000"/>
                    <a:lumOff val="50000"/>
                  </a:schemeClr>
                </a:solidFill>
                <a:cs typeface="+mn-ea"/>
                <a:sym typeface="+mn-lt"/>
              </a:rPr>
              <a:t>,</a:t>
            </a:r>
            <a:r>
              <a:rPr lang="zh-CN" altLang="en-US" sz="1100" b="1" dirty="0" smtClean="0">
                <a:solidFill>
                  <a:schemeClr val="tx1">
                    <a:lumMod val="50000"/>
                    <a:lumOff val="50000"/>
                  </a:schemeClr>
                </a:solidFill>
                <a:cs typeface="+mn-ea"/>
                <a:sym typeface="+mn-lt"/>
              </a:rPr>
              <a:t>确定</a:t>
            </a:r>
            <a:r>
              <a:rPr lang="zh-CN" altLang="en-US" sz="1100" b="1" dirty="0">
                <a:solidFill>
                  <a:schemeClr val="tx1">
                    <a:lumMod val="50000"/>
                    <a:lumOff val="50000"/>
                  </a:schemeClr>
                </a:solidFill>
                <a:cs typeface="+mn-ea"/>
                <a:sym typeface="+mn-lt"/>
              </a:rPr>
              <a:t>一组经过批准的更改。和通过批准的更改一起</a:t>
            </a:r>
            <a:r>
              <a:rPr lang="en-US" altLang="zh-CN" sz="1100" b="1" dirty="0">
                <a:solidFill>
                  <a:schemeClr val="tx1">
                    <a:lumMod val="50000"/>
                    <a:lumOff val="50000"/>
                  </a:schemeClr>
                </a:solidFill>
                <a:cs typeface="+mn-ea"/>
                <a:sym typeface="+mn-lt"/>
              </a:rPr>
              <a:t>,</a:t>
            </a:r>
            <a:r>
              <a:rPr lang="zh-CN" altLang="en-US" sz="1100" b="1" dirty="0">
                <a:solidFill>
                  <a:schemeClr val="tx1">
                    <a:lumMod val="50000"/>
                    <a:lumOff val="50000"/>
                  </a:schemeClr>
                </a:solidFill>
                <a:cs typeface="+mn-ea"/>
                <a:sym typeface="+mn-lt"/>
              </a:rPr>
              <a:t>还有实施更改的专用预算</a:t>
            </a:r>
            <a:r>
              <a:rPr lang="en-US" altLang="zh-CN" sz="1100" b="1" dirty="0">
                <a:solidFill>
                  <a:schemeClr val="tx1">
                    <a:lumMod val="50000"/>
                    <a:lumOff val="50000"/>
                  </a:schemeClr>
                </a:solidFill>
                <a:cs typeface="+mn-ea"/>
                <a:sym typeface="+mn-lt"/>
              </a:rPr>
              <a:t>,</a:t>
            </a:r>
            <a:r>
              <a:rPr lang="zh-CN" altLang="en-US" sz="1100" b="1" dirty="0" smtClean="0">
                <a:solidFill>
                  <a:schemeClr val="tx1">
                    <a:lumMod val="50000"/>
                    <a:lumOff val="50000"/>
                  </a:schemeClr>
                </a:solidFill>
                <a:cs typeface="+mn-ea"/>
                <a:sym typeface="+mn-lt"/>
              </a:rPr>
              <a:t>这种</a:t>
            </a:r>
            <a:r>
              <a:rPr lang="zh-CN" altLang="en-US" sz="1100" b="1" dirty="0">
                <a:solidFill>
                  <a:schemeClr val="tx1">
                    <a:lumMod val="50000"/>
                    <a:lumOff val="50000"/>
                  </a:schemeClr>
                </a:solidFill>
                <a:cs typeface="+mn-ea"/>
                <a:sym typeface="+mn-lt"/>
              </a:rPr>
              <a:t>预算在很大程度上决定了资源投入的范围和类型。</a:t>
            </a:r>
          </a:p>
        </p:txBody>
      </p:sp>
      <p:sp>
        <p:nvSpPr>
          <p:cNvPr id="17" name="椭圆 16"/>
          <p:cNvSpPr/>
          <p:nvPr/>
        </p:nvSpPr>
        <p:spPr>
          <a:xfrm>
            <a:off x="7093024" y="1261113"/>
            <a:ext cx="211754" cy="2117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a:off x="1234569" y="3194119"/>
            <a:ext cx="1723550" cy="400110"/>
          </a:xfrm>
          <a:prstGeom prst="rect">
            <a:avLst/>
          </a:prstGeom>
        </p:spPr>
        <p:txBody>
          <a:bodyPr wrap="none">
            <a:spAutoFit/>
          </a:bodyPr>
          <a:lstStyle/>
          <a:p>
            <a:pPr algn="ctr" defTabSz="609585"/>
            <a:r>
              <a:rPr lang="zh-CN" altLang="en-US" sz="2000" b="1" dirty="0" smtClean="0">
                <a:solidFill>
                  <a:schemeClr val="tx1">
                    <a:lumMod val="85000"/>
                    <a:lumOff val="15000"/>
                  </a:schemeClr>
                </a:solidFill>
                <a:cs typeface="+mn-ea"/>
                <a:sym typeface="+mn-lt"/>
              </a:rPr>
              <a:t>快速修改模型</a:t>
            </a:r>
            <a:endParaRPr lang="zh-CN" altLang="en-US" sz="2000" b="1" dirty="0">
              <a:solidFill>
                <a:schemeClr val="tx1">
                  <a:lumMod val="85000"/>
                  <a:lumOff val="15000"/>
                </a:schemeClr>
              </a:solidFill>
              <a:cs typeface="+mn-ea"/>
              <a:sym typeface="+mn-lt"/>
            </a:endParaRPr>
          </a:p>
        </p:txBody>
      </p:sp>
      <p:sp>
        <p:nvSpPr>
          <p:cNvPr id="19" name="矩形 18"/>
          <p:cNvSpPr/>
          <p:nvPr/>
        </p:nvSpPr>
        <p:spPr>
          <a:xfrm>
            <a:off x="978088" y="3534339"/>
            <a:ext cx="2688849" cy="1744901"/>
          </a:xfrm>
          <a:prstGeom prst="rect">
            <a:avLst/>
          </a:prstGeom>
        </p:spPr>
        <p:txBody>
          <a:bodyPr wrap="square">
            <a:spAutoFit/>
          </a:bodyPr>
          <a:lstStyle/>
          <a:p>
            <a:pPr algn="just" defTabSz="609585">
              <a:lnSpc>
                <a:spcPct val="130000"/>
              </a:lnSpc>
            </a:pPr>
            <a:r>
              <a:rPr lang="zh-CN" altLang="en-US" sz="1400" dirty="0">
                <a:solidFill>
                  <a:schemeClr val="tx1">
                    <a:lumMod val="50000"/>
                    <a:lumOff val="50000"/>
                  </a:schemeClr>
                </a:solidFill>
                <a:cs typeface="+mn-ea"/>
                <a:sym typeface="+mn-lt"/>
              </a:rPr>
              <a:t>是一种软件维护的临时定制方法</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是一种救火方法。在快速</a:t>
            </a:r>
            <a:r>
              <a:rPr lang="zh-CN" altLang="en-US" sz="1400" dirty="0" smtClean="0">
                <a:solidFill>
                  <a:schemeClr val="tx1">
                    <a:lumMod val="50000"/>
                    <a:lumOff val="50000"/>
                  </a:schemeClr>
                </a:solidFill>
                <a:cs typeface="+mn-ea"/>
                <a:sym typeface="+mn-lt"/>
              </a:rPr>
              <a:t>修改模型</a:t>
            </a:r>
            <a:r>
              <a:rPr lang="zh-CN" altLang="en-US" sz="1400" dirty="0">
                <a:solidFill>
                  <a:schemeClr val="tx1">
                    <a:lumMod val="50000"/>
                    <a:lumOff val="50000"/>
                  </a:schemeClr>
                </a:solidFill>
                <a:cs typeface="+mn-ea"/>
                <a:sym typeface="+mn-lt"/>
              </a:rPr>
              <a:t>中</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不对长期效应进行分析就实施修改</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例如对软件的波及效应会对代码</a:t>
            </a:r>
            <a:r>
              <a:rPr lang="zh-CN" altLang="en-US" sz="1400" dirty="0" smtClean="0">
                <a:solidFill>
                  <a:schemeClr val="tx1">
                    <a:lumMod val="50000"/>
                    <a:lumOff val="50000"/>
                  </a:schemeClr>
                </a:solidFill>
                <a:cs typeface="+mn-ea"/>
                <a:sym typeface="+mn-lt"/>
              </a:rPr>
              <a:t>结构的</a:t>
            </a:r>
            <a:r>
              <a:rPr lang="zh-CN" altLang="en-US" sz="1400" dirty="0">
                <a:solidFill>
                  <a:schemeClr val="tx1">
                    <a:lumMod val="50000"/>
                    <a:lumOff val="50000"/>
                  </a:schemeClr>
                </a:solidFill>
                <a:cs typeface="+mn-ea"/>
                <a:sym typeface="+mn-lt"/>
              </a:rPr>
              <a:t>影响</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这种分析即使有也极少被写入文档。</a:t>
            </a:r>
          </a:p>
        </p:txBody>
      </p:sp>
      <p:sp>
        <p:nvSpPr>
          <p:cNvPr id="20" name="椭圆 19"/>
          <p:cNvSpPr/>
          <p:nvPr/>
        </p:nvSpPr>
        <p:spPr>
          <a:xfrm>
            <a:off x="651172" y="3288297"/>
            <a:ext cx="211754" cy="21175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9280282" y="4041368"/>
            <a:ext cx="1723549" cy="400110"/>
          </a:xfrm>
          <a:prstGeom prst="rect">
            <a:avLst/>
          </a:prstGeom>
        </p:spPr>
        <p:txBody>
          <a:bodyPr wrap="none">
            <a:spAutoFit/>
          </a:bodyPr>
          <a:lstStyle/>
          <a:p>
            <a:pPr algn="ctr" defTabSz="609585"/>
            <a:r>
              <a:rPr lang="zh-CN" altLang="en-US" sz="2000" b="1" dirty="0" smtClean="0">
                <a:solidFill>
                  <a:schemeClr val="tx1">
                    <a:lumMod val="85000"/>
                    <a:lumOff val="15000"/>
                  </a:schemeClr>
                </a:solidFill>
                <a:cs typeface="+mn-ea"/>
                <a:sym typeface="+mn-lt"/>
              </a:rPr>
              <a:t>迭代增强模型</a:t>
            </a:r>
            <a:endParaRPr lang="zh-CN" altLang="en-US" sz="2000" b="1" dirty="0">
              <a:solidFill>
                <a:schemeClr val="tx1">
                  <a:lumMod val="85000"/>
                  <a:lumOff val="15000"/>
                </a:schemeClr>
              </a:solidFill>
              <a:cs typeface="+mn-ea"/>
              <a:sym typeface="+mn-lt"/>
            </a:endParaRPr>
          </a:p>
        </p:txBody>
      </p:sp>
      <p:sp>
        <p:nvSpPr>
          <p:cNvPr id="22" name="矩形 21"/>
          <p:cNvSpPr/>
          <p:nvPr/>
        </p:nvSpPr>
        <p:spPr>
          <a:xfrm>
            <a:off x="9023802" y="4381588"/>
            <a:ext cx="2613142" cy="2012859"/>
          </a:xfrm>
          <a:prstGeom prst="rect">
            <a:avLst/>
          </a:prstGeom>
        </p:spPr>
        <p:txBody>
          <a:bodyPr wrap="square">
            <a:spAutoFit/>
          </a:bodyPr>
          <a:lstStyle/>
          <a:p>
            <a:pPr algn="just" defTabSz="609585">
              <a:lnSpc>
                <a:spcPct val="130000"/>
              </a:lnSpc>
            </a:pPr>
            <a:r>
              <a:rPr lang="zh-CN" altLang="en-US" sz="1200" dirty="0">
                <a:solidFill>
                  <a:schemeClr val="tx1">
                    <a:lumMod val="50000"/>
                    <a:lumOff val="50000"/>
                  </a:schemeClr>
                </a:solidFill>
                <a:cs typeface="+mn-ea"/>
                <a:sym typeface="+mn-lt"/>
              </a:rPr>
              <a:t>迭代增强模型针对维护进行修改后假设有完备的文档这种情形</a:t>
            </a:r>
            <a:r>
              <a:rPr lang="en-US" altLang="zh-CN" sz="1200" dirty="0">
                <a:solidFill>
                  <a:schemeClr val="tx1">
                    <a:lumMod val="50000"/>
                    <a:lumOff val="50000"/>
                  </a:schemeClr>
                </a:solidFill>
                <a:cs typeface="+mn-ea"/>
                <a:sym typeface="+mn-lt"/>
              </a:rPr>
              <a:t>,</a:t>
            </a:r>
            <a:r>
              <a:rPr lang="zh-CN" altLang="en-US" sz="1200" dirty="0">
                <a:solidFill>
                  <a:schemeClr val="tx1">
                    <a:lumMod val="50000"/>
                    <a:lumOff val="50000"/>
                  </a:schemeClr>
                </a:solidFill>
                <a:cs typeface="+mn-ea"/>
                <a:sym typeface="+mn-lt"/>
              </a:rPr>
              <a:t>因为这种</a:t>
            </a:r>
            <a:r>
              <a:rPr lang="zh-CN" altLang="en-US" sz="1200" dirty="0" smtClean="0">
                <a:solidFill>
                  <a:schemeClr val="tx1">
                    <a:lumMod val="50000"/>
                    <a:lumOff val="50000"/>
                  </a:schemeClr>
                </a:solidFill>
                <a:cs typeface="+mn-ea"/>
                <a:sym typeface="+mn-lt"/>
              </a:rPr>
              <a:t>模型把</a:t>
            </a:r>
            <a:r>
              <a:rPr lang="zh-CN" altLang="en-US" sz="1200" dirty="0">
                <a:solidFill>
                  <a:schemeClr val="tx1">
                    <a:lumMod val="50000"/>
                    <a:lumOff val="50000"/>
                  </a:schemeClr>
                </a:solidFill>
                <a:cs typeface="+mn-ea"/>
                <a:sym typeface="+mn-lt"/>
              </a:rPr>
              <a:t>对这些文档的修改作为每轮迭代开始。迭代增强模型实际上是三个阶段的</a:t>
            </a:r>
            <a:r>
              <a:rPr lang="zh-CN" altLang="en-US" sz="1200" dirty="0" smtClean="0">
                <a:solidFill>
                  <a:schemeClr val="tx1">
                    <a:lumMod val="50000"/>
                    <a:lumOff val="50000"/>
                  </a:schemeClr>
                </a:solidFill>
                <a:cs typeface="+mn-ea"/>
                <a:sym typeface="+mn-lt"/>
              </a:rPr>
              <a:t>循环：</a:t>
            </a:r>
            <a:endParaRPr lang="zh-CN" altLang="en-US" sz="1200" dirty="0">
              <a:solidFill>
                <a:schemeClr val="tx1">
                  <a:lumMod val="50000"/>
                  <a:lumOff val="50000"/>
                </a:schemeClr>
              </a:solidFill>
              <a:cs typeface="+mn-ea"/>
              <a:sym typeface="+mn-lt"/>
            </a:endParaRPr>
          </a:p>
          <a:p>
            <a:pPr algn="just" defTabSz="609585">
              <a:lnSpc>
                <a:spcPct val="130000"/>
              </a:lnSpc>
            </a:pPr>
            <a:r>
              <a:rPr lang="zh-CN" altLang="en-US" sz="1200" dirty="0">
                <a:solidFill>
                  <a:schemeClr val="tx1">
                    <a:lumMod val="50000"/>
                    <a:lumOff val="50000"/>
                  </a:schemeClr>
                </a:solidFill>
                <a:cs typeface="+mn-ea"/>
                <a:sym typeface="+mn-lt"/>
              </a:rPr>
              <a:t>分析</a:t>
            </a:r>
          </a:p>
          <a:p>
            <a:pPr algn="just" defTabSz="609585">
              <a:lnSpc>
                <a:spcPct val="130000"/>
              </a:lnSpc>
            </a:pPr>
            <a:r>
              <a:rPr lang="zh-CN" altLang="en-US" sz="1200" dirty="0">
                <a:solidFill>
                  <a:schemeClr val="tx1">
                    <a:lumMod val="50000"/>
                    <a:lumOff val="50000"/>
                  </a:schemeClr>
                </a:solidFill>
                <a:cs typeface="+mn-ea"/>
                <a:sym typeface="+mn-lt"/>
              </a:rPr>
              <a:t>所提出更改的描述</a:t>
            </a:r>
          </a:p>
          <a:p>
            <a:pPr algn="just" defTabSz="609585">
              <a:lnSpc>
                <a:spcPct val="130000"/>
              </a:lnSpc>
            </a:pPr>
            <a:r>
              <a:rPr lang="zh-CN" altLang="en-US" sz="1200" dirty="0">
                <a:solidFill>
                  <a:schemeClr val="tx1">
                    <a:lumMod val="50000"/>
                    <a:lumOff val="50000"/>
                  </a:schemeClr>
                </a:solidFill>
                <a:cs typeface="+mn-ea"/>
                <a:sym typeface="+mn-lt"/>
              </a:rPr>
              <a:t>重新设计和</a:t>
            </a:r>
            <a:r>
              <a:rPr lang="zh-CN" altLang="en-US" sz="1200" dirty="0" smtClean="0">
                <a:solidFill>
                  <a:schemeClr val="tx1">
                    <a:lumMod val="50000"/>
                    <a:lumOff val="50000"/>
                  </a:schemeClr>
                </a:solidFill>
                <a:cs typeface="+mn-ea"/>
                <a:sym typeface="+mn-lt"/>
              </a:rPr>
              <a:t>实现</a:t>
            </a:r>
            <a:endParaRPr lang="zh-CN" altLang="en-US" sz="1200" dirty="0">
              <a:solidFill>
                <a:schemeClr val="tx1">
                  <a:lumMod val="50000"/>
                  <a:lumOff val="50000"/>
                </a:schemeClr>
              </a:solidFill>
              <a:cs typeface="+mn-ea"/>
              <a:sym typeface="+mn-lt"/>
            </a:endParaRPr>
          </a:p>
        </p:txBody>
      </p:sp>
      <p:sp>
        <p:nvSpPr>
          <p:cNvPr id="23" name="椭圆 22"/>
          <p:cNvSpPr/>
          <p:nvPr/>
        </p:nvSpPr>
        <p:spPr>
          <a:xfrm>
            <a:off x="8696885" y="4135546"/>
            <a:ext cx="211754" cy="2117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657133192"/>
      </p:ext>
    </p:extLst>
  </p:cSld>
  <p:clrMapOvr>
    <a:masterClrMapping/>
  </p:clrMapOvr>
  <p:transition spd="slow">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smtClean="0">
                <a:cs typeface="+mn-ea"/>
                <a:sym typeface="+mn-lt"/>
              </a:rPr>
              <a:t>总结</a:t>
            </a:r>
            <a:endParaRPr lang="zh-CN" altLang="en-US" b="1" dirty="0">
              <a:cs typeface="+mn-ea"/>
              <a:sym typeface="+mn-lt"/>
            </a:endParaRPr>
          </a:p>
        </p:txBody>
      </p:sp>
      <p:grpSp>
        <p:nvGrpSpPr>
          <p:cNvPr id="9" name="组合 8"/>
          <p:cNvGrpSpPr/>
          <p:nvPr/>
        </p:nvGrpSpPr>
        <p:grpSpPr>
          <a:xfrm>
            <a:off x="3323965" y="3942883"/>
            <a:ext cx="5547518" cy="591395"/>
            <a:chOff x="3323965" y="3942883"/>
            <a:chExt cx="5547518" cy="591395"/>
          </a:xfrm>
        </p:grpSpPr>
        <p:cxnSp>
          <p:nvCxnSpPr>
            <p:cNvPr id="103" name="Elbow Connector 72"/>
            <p:cNvCxnSpPr/>
            <p:nvPr/>
          </p:nvCxnSpPr>
          <p:spPr>
            <a:xfrm rot="5400000" flipH="1" flipV="1">
              <a:off x="6091374" y="1754169"/>
              <a:ext cx="12700" cy="5547518"/>
            </a:xfrm>
            <a:prstGeom prst="bentConnector3">
              <a:avLst>
                <a:gd name="adj1" fmla="val 1800000"/>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104" name="Straight Connector 73"/>
            <p:cNvCxnSpPr>
              <a:stCxn id="89" idx="4"/>
            </p:cNvCxnSpPr>
            <p:nvPr/>
          </p:nvCxnSpPr>
          <p:spPr>
            <a:xfrm>
              <a:off x="6096000" y="3942883"/>
              <a:ext cx="0" cy="352892"/>
            </a:xfrm>
            <a:prstGeom prst="line">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cxnSp>
      </p:grpSp>
      <p:grpSp>
        <p:nvGrpSpPr>
          <p:cNvPr id="8" name="组合 7"/>
          <p:cNvGrpSpPr/>
          <p:nvPr/>
        </p:nvGrpSpPr>
        <p:grpSpPr>
          <a:xfrm>
            <a:off x="4763356" y="1277595"/>
            <a:ext cx="2665288" cy="2665288"/>
            <a:chOff x="4763356" y="1277595"/>
            <a:chExt cx="2665288" cy="2665288"/>
          </a:xfrm>
        </p:grpSpPr>
        <p:sp>
          <p:nvSpPr>
            <p:cNvPr id="89" name="Oval 50"/>
            <p:cNvSpPr/>
            <p:nvPr/>
          </p:nvSpPr>
          <p:spPr>
            <a:xfrm>
              <a:off x="4763356" y="1277595"/>
              <a:ext cx="2665288" cy="2665288"/>
            </a:xfrm>
            <a:prstGeom prst="ellipse">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grpSp>
          <p:nvGrpSpPr>
            <p:cNvPr id="90" name="Group 51"/>
            <p:cNvGrpSpPr/>
            <p:nvPr/>
          </p:nvGrpSpPr>
          <p:grpSpPr>
            <a:xfrm>
              <a:off x="5152704" y="1384249"/>
              <a:ext cx="1876783" cy="2512804"/>
              <a:chOff x="3578894" y="932283"/>
              <a:chExt cx="2041163" cy="2732892"/>
            </a:xfrm>
          </p:grpSpPr>
          <p:sp>
            <p:nvSpPr>
              <p:cNvPr id="91" name="Arc 52"/>
              <p:cNvSpPr/>
              <p:nvPr/>
            </p:nvSpPr>
            <p:spPr>
              <a:xfrm rot="7200000">
                <a:off x="3578894" y="1251916"/>
                <a:ext cx="2041163" cy="2041163"/>
              </a:xfrm>
              <a:prstGeom prst="arc">
                <a:avLst>
                  <a:gd name="adj1" fmla="val 8709740"/>
                  <a:gd name="adj2" fmla="val 20385626"/>
                </a:avLst>
              </a:prstGeom>
              <a:ln w="307975">
                <a:solidFill>
                  <a:schemeClr val="accent1">
                    <a:lumMod val="20000"/>
                    <a:lumOff val="80000"/>
                  </a:schemeClr>
                </a:solidFill>
                <a:tailEnd type="non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FFFFFF"/>
                  </a:solidFill>
                  <a:cs typeface="+mn-ea"/>
                  <a:sym typeface="+mn-lt"/>
                </a:endParaRPr>
              </a:p>
            </p:txBody>
          </p:sp>
          <p:sp>
            <p:nvSpPr>
              <p:cNvPr id="92" name="Arc 53"/>
              <p:cNvSpPr/>
              <p:nvPr/>
            </p:nvSpPr>
            <p:spPr>
              <a:xfrm>
                <a:off x="3578894" y="1251915"/>
                <a:ext cx="2041163" cy="2041163"/>
              </a:xfrm>
              <a:prstGeom prst="arc">
                <a:avLst>
                  <a:gd name="adj1" fmla="val 5589548"/>
                  <a:gd name="adj2" fmla="val 15840859"/>
                </a:avLst>
              </a:prstGeom>
              <a:ln w="307975">
                <a:gradFill flip="none" rotWithShape="1">
                  <a:gsLst>
                    <a:gs pos="65000">
                      <a:schemeClr val="accent1"/>
                    </a:gs>
                    <a:gs pos="100000">
                      <a:schemeClr val="accent1">
                        <a:lumMod val="75000"/>
                      </a:schemeClr>
                    </a:gs>
                  </a:gsLst>
                  <a:lin ang="1200000" scaled="0"/>
                  <a:tileRect/>
                </a:gradFill>
                <a:tailEnd type="non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FFFF"/>
                  </a:solidFill>
                  <a:cs typeface="+mn-ea"/>
                  <a:sym typeface="+mn-lt"/>
                </a:endParaRPr>
              </a:p>
            </p:txBody>
          </p:sp>
          <p:sp>
            <p:nvSpPr>
              <p:cNvPr id="93" name="Isosceles Triangle 61"/>
              <p:cNvSpPr/>
              <p:nvPr/>
            </p:nvSpPr>
            <p:spPr>
              <a:xfrm rot="5400000">
                <a:off x="4227698" y="1061378"/>
                <a:ext cx="754226" cy="496035"/>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sp>
            <p:nvSpPr>
              <p:cNvPr id="94" name="Isosceles Triangle 62"/>
              <p:cNvSpPr/>
              <p:nvPr/>
            </p:nvSpPr>
            <p:spPr>
              <a:xfrm rot="16200000">
                <a:off x="4086009" y="3040044"/>
                <a:ext cx="754226" cy="496035"/>
              </a:xfrm>
              <a:prstGeom prst="triangle">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cs typeface="+mn-ea"/>
                  <a:sym typeface="+mn-lt"/>
                </a:endParaRPr>
              </a:p>
            </p:txBody>
          </p:sp>
        </p:grpSp>
        <p:sp>
          <p:nvSpPr>
            <p:cNvPr id="118" name="矩形 117"/>
            <p:cNvSpPr/>
            <p:nvPr/>
          </p:nvSpPr>
          <p:spPr>
            <a:xfrm>
              <a:off x="5578489" y="2339949"/>
              <a:ext cx="1005403" cy="584775"/>
            </a:xfrm>
            <a:prstGeom prst="rect">
              <a:avLst/>
            </a:prstGeom>
          </p:spPr>
          <p:txBody>
            <a:bodyPr wrap="none">
              <a:spAutoFit/>
            </a:bodyPr>
            <a:lstStyle/>
            <a:p>
              <a:r>
                <a:rPr lang="zh-CN" altLang="en-US" sz="3200" b="1" dirty="0" smtClean="0">
                  <a:solidFill>
                    <a:schemeClr val="bg1"/>
                  </a:solidFill>
                  <a:cs typeface="+mn-ea"/>
                  <a:sym typeface="+mn-lt"/>
                </a:rPr>
                <a:t>总结</a:t>
              </a:r>
              <a:endParaRPr lang="zh-CN" altLang="en-US" sz="3200" b="1" dirty="0">
                <a:solidFill>
                  <a:schemeClr val="bg1"/>
                </a:solidFill>
                <a:cs typeface="+mn-ea"/>
                <a:sym typeface="+mn-lt"/>
              </a:endParaRPr>
            </a:p>
          </p:txBody>
        </p:sp>
      </p:grpSp>
      <p:grpSp>
        <p:nvGrpSpPr>
          <p:cNvPr id="5" name="组合 4"/>
          <p:cNvGrpSpPr/>
          <p:nvPr/>
        </p:nvGrpSpPr>
        <p:grpSpPr>
          <a:xfrm>
            <a:off x="7372962" y="2020877"/>
            <a:ext cx="4786231" cy="1152751"/>
            <a:chOff x="7405768" y="2020877"/>
            <a:chExt cx="4786231" cy="1152751"/>
          </a:xfrm>
        </p:grpSpPr>
        <p:sp>
          <p:nvSpPr>
            <p:cNvPr id="114" name="Oval 62"/>
            <p:cNvSpPr>
              <a:spLocks noChangeArrowheads="1"/>
            </p:cNvSpPr>
            <p:nvPr/>
          </p:nvSpPr>
          <p:spPr bwMode="auto">
            <a:xfrm>
              <a:off x="7472043" y="2437248"/>
              <a:ext cx="738739" cy="736380"/>
            </a:xfrm>
            <a:prstGeom prst="ellipse">
              <a:avLst/>
            </a:pr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cs typeface="+mn-ea"/>
                <a:sym typeface="+mn-lt"/>
              </a:endParaRPr>
            </a:p>
          </p:txBody>
        </p:sp>
        <p:grpSp>
          <p:nvGrpSpPr>
            <p:cNvPr id="115" name="组合 46"/>
            <p:cNvGrpSpPr/>
            <p:nvPr/>
          </p:nvGrpSpPr>
          <p:grpSpPr>
            <a:xfrm>
              <a:off x="7659095" y="2606966"/>
              <a:ext cx="364633" cy="280902"/>
              <a:chOff x="2021013" y="4165991"/>
              <a:chExt cx="1500188" cy="1155700"/>
            </a:xfrm>
            <a:solidFill>
              <a:schemeClr val="tx1">
                <a:lumMod val="75000"/>
                <a:lumOff val="25000"/>
              </a:schemeClr>
            </a:solidFill>
          </p:grpSpPr>
          <p:sp>
            <p:nvSpPr>
              <p:cNvPr id="116" name="Freeform 26"/>
              <p:cNvSpPr>
                <a:spLocks noEditPoints="1"/>
              </p:cNvSpPr>
              <p:nvPr/>
            </p:nvSpPr>
            <p:spPr bwMode="auto">
              <a:xfrm>
                <a:off x="2021013" y="4165991"/>
                <a:ext cx="1500188"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7" name="Freeform 27"/>
              <p:cNvSpPr>
                <a:spLocks/>
              </p:cNvSpPr>
              <p:nvPr/>
            </p:nvSpPr>
            <p:spPr bwMode="auto">
              <a:xfrm>
                <a:off x="2490909" y="4492622"/>
                <a:ext cx="560388" cy="565149"/>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19" name="矩形 118"/>
            <p:cNvSpPr/>
            <p:nvPr/>
          </p:nvSpPr>
          <p:spPr>
            <a:xfrm>
              <a:off x="7405768" y="2020877"/>
              <a:ext cx="4786231" cy="400110"/>
            </a:xfrm>
            <a:prstGeom prst="rect">
              <a:avLst/>
            </a:prstGeom>
          </p:spPr>
          <p:txBody>
            <a:bodyPr wrap="square">
              <a:spAutoFit/>
            </a:bodyPr>
            <a:lstStyle/>
            <a:p>
              <a:pPr algn="ctr" defTabSz="609585"/>
              <a:r>
                <a:rPr lang="zh-CN" altLang="en-US" sz="2000" b="1" dirty="0" smtClean="0">
                  <a:solidFill>
                    <a:schemeClr val="tx1">
                      <a:lumMod val="85000"/>
                      <a:lumOff val="15000"/>
                    </a:schemeClr>
                  </a:solidFill>
                  <a:cs typeface="+mn-ea"/>
                  <a:sym typeface="+mn-lt"/>
                </a:rPr>
                <a:t>软件维护的困难、策略以及模型</a:t>
              </a:r>
              <a:endParaRPr lang="zh-CN" altLang="en-US" sz="2000" b="1" dirty="0">
                <a:solidFill>
                  <a:schemeClr val="tx1">
                    <a:lumMod val="85000"/>
                    <a:lumOff val="15000"/>
                  </a:schemeClr>
                </a:solidFill>
                <a:cs typeface="+mn-ea"/>
                <a:sym typeface="+mn-lt"/>
              </a:endParaRPr>
            </a:p>
          </p:txBody>
        </p:sp>
      </p:grpSp>
      <p:grpSp>
        <p:nvGrpSpPr>
          <p:cNvPr id="4" name="组合 3"/>
          <p:cNvGrpSpPr/>
          <p:nvPr/>
        </p:nvGrpSpPr>
        <p:grpSpPr>
          <a:xfrm>
            <a:off x="466582" y="2020877"/>
            <a:ext cx="4288354" cy="1144063"/>
            <a:chOff x="420200" y="2020877"/>
            <a:chExt cx="4288354" cy="1144063"/>
          </a:xfrm>
        </p:grpSpPr>
        <p:sp>
          <p:nvSpPr>
            <p:cNvPr id="73" name="Oval 62"/>
            <p:cNvSpPr>
              <a:spLocks noChangeArrowheads="1"/>
            </p:cNvSpPr>
            <p:nvPr/>
          </p:nvSpPr>
          <p:spPr bwMode="auto">
            <a:xfrm>
              <a:off x="3884709" y="2428560"/>
              <a:ext cx="738739" cy="73638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cs typeface="+mn-ea"/>
                <a:sym typeface="+mn-lt"/>
              </a:endParaRPr>
            </a:p>
          </p:txBody>
        </p:sp>
        <p:grpSp>
          <p:nvGrpSpPr>
            <p:cNvPr id="111" name="组合 46"/>
            <p:cNvGrpSpPr/>
            <p:nvPr/>
          </p:nvGrpSpPr>
          <p:grpSpPr>
            <a:xfrm>
              <a:off x="4075822" y="2606966"/>
              <a:ext cx="343524" cy="280902"/>
              <a:chOff x="2570671" y="4165991"/>
              <a:chExt cx="1413340" cy="1155700"/>
            </a:xfrm>
            <a:solidFill>
              <a:schemeClr val="tx1">
                <a:lumMod val="75000"/>
                <a:lumOff val="25000"/>
              </a:schemeClr>
            </a:solidFill>
          </p:grpSpPr>
          <p:sp>
            <p:nvSpPr>
              <p:cNvPr id="112" name="Freeform 26"/>
              <p:cNvSpPr>
                <a:spLocks noEditPoints="1"/>
              </p:cNvSpPr>
              <p:nvPr/>
            </p:nvSpPr>
            <p:spPr bwMode="auto">
              <a:xfrm>
                <a:off x="2570671" y="4165991"/>
                <a:ext cx="1413340" cy="1155700"/>
              </a:xfrm>
              <a:custGeom>
                <a:avLst/>
                <a:gdLst>
                  <a:gd name="T0" fmla="*/ 408 w 815"/>
                  <a:gd name="T1" fmla="*/ 553 h 627"/>
                  <a:gd name="T2" fmla="*/ 408 w 815"/>
                  <a:gd name="T3" fmla="*/ 553 h 627"/>
                  <a:gd name="T4" fmla="*/ 207 w 815"/>
                  <a:gd name="T5" fmla="*/ 353 h 627"/>
                  <a:gd name="T6" fmla="*/ 408 w 815"/>
                  <a:gd name="T7" fmla="*/ 152 h 627"/>
                  <a:gd name="T8" fmla="*/ 608 w 815"/>
                  <a:gd name="T9" fmla="*/ 353 h 627"/>
                  <a:gd name="T10" fmla="*/ 408 w 815"/>
                  <a:gd name="T11" fmla="*/ 553 h 627"/>
                  <a:gd name="T12" fmla="*/ 156 w 815"/>
                  <a:gd name="T13" fmla="*/ 176 h 627"/>
                  <a:gd name="T14" fmla="*/ 156 w 815"/>
                  <a:gd name="T15" fmla="*/ 176 h 627"/>
                  <a:gd name="T16" fmla="*/ 54 w 815"/>
                  <a:gd name="T17" fmla="*/ 176 h 627"/>
                  <a:gd name="T18" fmla="*/ 54 w 815"/>
                  <a:gd name="T19" fmla="*/ 118 h 627"/>
                  <a:gd name="T20" fmla="*/ 156 w 815"/>
                  <a:gd name="T21" fmla="*/ 118 h 627"/>
                  <a:gd name="T22" fmla="*/ 156 w 815"/>
                  <a:gd name="T23" fmla="*/ 176 h 627"/>
                  <a:gd name="T24" fmla="*/ 601 w 815"/>
                  <a:gd name="T25" fmla="*/ 79 h 627"/>
                  <a:gd name="T26" fmla="*/ 601 w 815"/>
                  <a:gd name="T27" fmla="*/ 79 h 627"/>
                  <a:gd name="T28" fmla="*/ 530 w 815"/>
                  <a:gd name="T29" fmla="*/ 0 h 627"/>
                  <a:gd name="T30" fmla="*/ 285 w 815"/>
                  <a:gd name="T31" fmla="*/ 0 h 627"/>
                  <a:gd name="T32" fmla="*/ 214 w 815"/>
                  <a:gd name="T33" fmla="*/ 79 h 627"/>
                  <a:gd name="T34" fmla="*/ 0 w 815"/>
                  <a:gd name="T35" fmla="*/ 79 h 627"/>
                  <a:gd name="T36" fmla="*/ 0 w 815"/>
                  <a:gd name="T37" fmla="*/ 627 h 627"/>
                  <a:gd name="T38" fmla="*/ 815 w 815"/>
                  <a:gd name="T39" fmla="*/ 627 h 627"/>
                  <a:gd name="T40" fmla="*/ 815 w 815"/>
                  <a:gd name="T41" fmla="*/ 79 h 627"/>
                  <a:gd name="T42" fmla="*/ 601 w 815"/>
                  <a:gd name="T43" fmla="*/ 79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5" h="627">
                    <a:moveTo>
                      <a:pt x="408" y="553"/>
                    </a:moveTo>
                    <a:lnTo>
                      <a:pt x="408" y="553"/>
                    </a:lnTo>
                    <a:cubicBezTo>
                      <a:pt x="297" y="553"/>
                      <a:pt x="207" y="463"/>
                      <a:pt x="207" y="353"/>
                    </a:cubicBezTo>
                    <a:cubicBezTo>
                      <a:pt x="207" y="242"/>
                      <a:pt x="297" y="152"/>
                      <a:pt x="408" y="152"/>
                    </a:cubicBezTo>
                    <a:cubicBezTo>
                      <a:pt x="518" y="152"/>
                      <a:pt x="608" y="242"/>
                      <a:pt x="608" y="353"/>
                    </a:cubicBezTo>
                    <a:cubicBezTo>
                      <a:pt x="608" y="463"/>
                      <a:pt x="518" y="553"/>
                      <a:pt x="408" y="553"/>
                    </a:cubicBezTo>
                    <a:close/>
                    <a:moveTo>
                      <a:pt x="156" y="176"/>
                    </a:moveTo>
                    <a:lnTo>
                      <a:pt x="156" y="176"/>
                    </a:lnTo>
                    <a:lnTo>
                      <a:pt x="54" y="176"/>
                    </a:lnTo>
                    <a:lnTo>
                      <a:pt x="54" y="118"/>
                    </a:lnTo>
                    <a:lnTo>
                      <a:pt x="156" y="118"/>
                    </a:lnTo>
                    <a:lnTo>
                      <a:pt x="156" y="176"/>
                    </a:lnTo>
                    <a:close/>
                    <a:moveTo>
                      <a:pt x="601" y="79"/>
                    </a:moveTo>
                    <a:lnTo>
                      <a:pt x="601" y="79"/>
                    </a:lnTo>
                    <a:lnTo>
                      <a:pt x="530" y="0"/>
                    </a:lnTo>
                    <a:lnTo>
                      <a:pt x="285" y="0"/>
                    </a:lnTo>
                    <a:lnTo>
                      <a:pt x="214" y="79"/>
                    </a:lnTo>
                    <a:lnTo>
                      <a:pt x="0" y="79"/>
                    </a:lnTo>
                    <a:lnTo>
                      <a:pt x="0" y="627"/>
                    </a:lnTo>
                    <a:lnTo>
                      <a:pt x="815" y="627"/>
                    </a:lnTo>
                    <a:lnTo>
                      <a:pt x="815" y="79"/>
                    </a:lnTo>
                    <a:lnTo>
                      <a:pt x="601" y="7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3" name="Freeform 27"/>
              <p:cNvSpPr>
                <a:spLocks/>
              </p:cNvSpPr>
              <p:nvPr/>
            </p:nvSpPr>
            <p:spPr bwMode="auto">
              <a:xfrm>
                <a:off x="2994067" y="4507943"/>
                <a:ext cx="560388" cy="565149"/>
              </a:xfrm>
              <a:custGeom>
                <a:avLst/>
                <a:gdLst>
                  <a:gd name="T0" fmla="*/ 153 w 305"/>
                  <a:gd name="T1" fmla="*/ 0 h 306"/>
                  <a:gd name="T2" fmla="*/ 153 w 305"/>
                  <a:gd name="T3" fmla="*/ 0 h 306"/>
                  <a:gd name="T4" fmla="*/ 0 w 305"/>
                  <a:gd name="T5" fmla="*/ 153 h 306"/>
                  <a:gd name="T6" fmla="*/ 153 w 305"/>
                  <a:gd name="T7" fmla="*/ 306 h 306"/>
                  <a:gd name="T8" fmla="*/ 305 w 305"/>
                  <a:gd name="T9" fmla="*/ 153 h 306"/>
                  <a:gd name="T10" fmla="*/ 153 w 305"/>
                  <a:gd name="T11" fmla="*/ 0 h 306"/>
                </a:gdLst>
                <a:ahLst/>
                <a:cxnLst>
                  <a:cxn ang="0">
                    <a:pos x="T0" y="T1"/>
                  </a:cxn>
                  <a:cxn ang="0">
                    <a:pos x="T2" y="T3"/>
                  </a:cxn>
                  <a:cxn ang="0">
                    <a:pos x="T4" y="T5"/>
                  </a:cxn>
                  <a:cxn ang="0">
                    <a:pos x="T6" y="T7"/>
                  </a:cxn>
                  <a:cxn ang="0">
                    <a:pos x="T8" y="T9"/>
                  </a:cxn>
                  <a:cxn ang="0">
                    <a:pos x="T10" y="T11"/>
                  </a:cxn>
                </a:cxnLst>
                <a:rect l="0" t="0" r="r" b="b"/>
                <a:pathLst>
                  <a:path w="305" h="306">
                    <a:moveTo>
                      <a:pt x="153" y="0"/>
                    </a:moveTo>
                    <a:lnTo>
                      <a:pt x="153" y="0"/>
                    </a:lnTo>
                    <a:cubicBezTo>
                      <a:pt x="68" y="0"/>
                      <a:pt x="0" y="68"/>
                      <a:pt x="0" y="153"/>
                    </a:cubicBezTo>
                    <a:cubicBezTo>
                      <a:pt x="0" y="237"/>
                      <a:pt x="68" y="306"/>
                      <a:pt x="153" y="306"/>
                    </a:cubicBezTo>
                    <a:cubicBezTo>
                      <a:pt x="237" y="306"/>
                      <a:pt x="305" y="237"/>
                      <a:pt x="305" y="153"/>
                    </a:cubicBezTo>
                    <a:cubicBezTo>
                      <a:pt x="305" y="68"/>
                      <a:pt x="237" y="0"/>
                      <a:pt x="15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21" name="矩形 120"/>
            <p:cNvSpPr/>
            <p:nvPr/>
          </p:nvSpPr>
          <p:spPr>
            <a:xfrm>
              <a:off x="420200" y="2020877"/>
              <a:ext cx="4288354" cy="400110"/>
            </a:xfrm>
            <a:prstGeom prst="rect">
              <a:avLst/>
            </a:prstGeom>
          </p:spPr>
          <p:txBody>
            <a:bodyPr wrap="none">
              <a:spAutoFit/>
            </a:bodyPr>
            <a:lstStyle/>
            <a:p>
              <a:pPr algn="ctr" defTabSz="609585"/>
              <a:r>
                <a:rPr lang="zh-CN" altLang="en-US" sz="2000" b="1" dirty="0" smtClean="0">
                  <a:solidFill>
                    <a:schemeClr val="tx1">
                      <a:lumMod val="85000"/>
                      <a:lumOff val="15000"/>
                    </a:schemeClr>
                  </a:solidFill>
                  <a:cs typeface="+mn-ea"/>
                  <a:sym typeface="+mn-lt"/>
                </a:rPr>
                <a:t>软件维护的重要性和软件的可维护性</a:t>
              </a:r>
              <a:endParaRPr lang="zh-CN" altLang="en-US" sz="2000" b="1" dirty="0">
                <a:solidFill>
                  <a:schemeClr val="tx1">
                    <a:lumMod val="85000"/>
                    <a:lumOff val="15000"/>
                  </a:schemeClr>
                </a:solidFill>
                <a:cs typeface="+mn-ea"/>
                <a:sym typeface="+mn-lt"/>
              </a:endParaRPr>
            </a:p>
          </p:txBody>
        </p:sp>
      </p:grpSp>
      <p:sp>
        <p:nvSpPr>
          <p:cNvPr id="123" name="矩形 122"/>
          <p:cNvSpPr/>
          <p:nvPr/>
        </p:nvSpPr>
        <p:spPr>
          <a:xfrm>
            <a:off x="1340149" y="4565504"/>
            <a:ext cx="3378481" cy="4229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85000"/>
                    <a:lumOff val="15000"/>
                  </a:schemeClr>
                </a:solidFill>
                <a:cs typeface="+mn-ea"/>
                <a:sym typeface="+mn-lt"/>
              </a:rPr>
              <a:t>软件维护的分类</a:t>
            </a:r>
            <a:endParaRPr lang="zh-CN" altLang="en-US" dirty="0">
              <a:solidFill>
                <a:schemeClr val="tx1">
                  <a:lumMod val="85000"/>
                  <a:lumOff val="15000"/>
                </a:schemeClr>
              </a:solidFill>
              <a:cs typeface="+mn-ea"/>
              <a:sym typeface="+mn-lt"/>
            </a:endParaRPr>
          </a:p>
        </p:txBody>
      </p:sp>
      <p:sp>
        <p:nvSpPr>
          <p:cNvPr id="124" name="矩形 123"/>
          <p:cNvSpPr/>
          <p:nvPr/>
        </p:nvSpPr>
        <p:spPr>
          <a:xfrm>
            <a:off x="7182242" y="4513956"/>
            <a:ext cx="3579543" cy="42295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lumMod val="85000"/>
                    <a:lumOff val="15000"/>
                  </a:schemeClr>
                </a:solidFill>
                <a:cs typeface="+mn-ea"/>
                <a:sym typeface="+mn-lt"/>
              </a:rPr>
              <a:t>软件维护的</a:t>
            </a:r>
            <a:r>
              <a:rPr lang="en-US" altLang="zh-CN" dirty="0" smtClean="0">
                <a:solidFill>
                  <a:schemeClr val="tx1">
                    <a:lumMod val="85000"/>
                    <a:lumOff val="15000"/>
                  </a:schemeClr>
                </a:solidFill>
                <a:cs typeface="+mn-ea"/>
                <a:sym typeface="+mn-lt"/>
              </a:rPr>
              <a:t>IEEE</a:t>
            </a:r>
            <a:r>
              <a:rPr lang="zh-CN" altLang="en-US" dirty="0" smtClean="0">
                <a:solidFill>
                  <a:schemeClr val="tx1">
                    <a:lumMod val="85000"/>
                    <a:lumOff val="15000"/>
                  </a:schemeClr>
                </a:solidFill>
                <a:cs typeface="+mn-ea"/>
                <a:sym typeface="+mn-lt"/>
              </a:rPr>
              <a:t>模型以及其他模型</a:t>
            </a:r>
            <a:endParaRPr lang="zh-CN" altLang="en-US" dirty="0">
              <a:solidFill>
                <a:schemeClr val="tx1">
                  <a:lumMod val="85000"/>
                  <a:lumOff val="15000"/>
                </a:schemeClr>
              </a:solidFill>
              <a:cs typeface="+mn-ea"/>
              <a:sym typeface="+mn-lt"/>
            </a:endParaRPr>
          </a:p>
        </p:txBody>
      </p:sp>
    </p:spTree>
    <p:extLst>
      <p:ext uri="{BB962C8B-B14F-4D97-AF65-F5344CB8AC3E}">
        <p14:creationId xmlns:p14="http://schemas.microsoft.com/office/powerpoint/2010/main" val="3444109866"/>
      </p:ext>
    </p:extLst>
  </p:cSld>
  <p:clrMapOvr>
    <a:masterClrMapping/>
  </p:clrMapOvr>
  <p:transition spd="slow">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34" y="941"/>
            <a:ext cx="10974306" cy="6857059"/>
          </a:xfrm>
          <a:prstGeom prst="rect">
            <a:avLst/>
          </a:prstGeom>
        </p:spPr>
      </p:pic>
      <p:sp>
        <p:nvSpPr>
          <p:cNvPr id="6" name="标题 1"/>
          <p:cNvSpPr txBox="1">
            <a:spLocks/>
          </p:cNvSpPr>
          <p:nvPr/>
        </p:nvSpPr>
        <p:spPr>
          <a:xfrm>
            <a:off x="1516291" y="404664"/>
            <a:ext cx="3369974" cy="518458"/>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1097280">
              <a:defRPr/>
            </a:pPr>
            <a:r>
              <a:rPr lang="zh-CN" altLang="en-US"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软件维护</a:t>
            </a:r>
            <a:endParaRPr lang="en-US" altLang="zh-CN"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p:txBody>
      </p:sp>
      <p:sp>
        <p:nvSpPr>
          <p:cNvPr id="2" name="文本框 1"/>
          <p:cNvSpPr txBox="1"/>
          <p:nvPr/>
        </p:nvSpPr>
        <p:spPr>
          <a:xfrm>
            <a:off x="1516291" y="1960037"/>
            <a:ext cx="8554550" cy="757130"/>
          </a:xfrm>
          <a:prstGeom prst="rect">
            <a:avLst/>
          </a:prstGeom>
          <a:noFill/>
        </p:spPr>
        <p:txBody>
          <a:bodyPr wrap="square" rtlCol="0">
            <a:spAutoFit/>
          </a:bodyPr>
          <a:lstStyle/>
          <a:p>
            <a:pPr defTabSz="1097280"/>
            <a:r>
              <a:rPr lang="zh-CN" altLang="en-US" sz="2160" dirty="0">
                <a:solidFill>
                  <a:prstClr val="black"/>
                </a:solidFill>
                <a:latin typeface="Calibri"/>
                <a:ea typeface="宋体" panose="02010600030101010101" pitchFamily="2" charset="-122"/>
              </a:rPr>
              <a:t>软件维护是指在软件产品发布后，因修正错误、提升性能或其他属性而进行的软件修改。</a:t>
            </a:r>
          </a:p>
        </p:txBody>
      </p:sp>
      <p:sp>
        <p:nvSpPr>
          <p:cNvPr id="8" name="文本框 7"/>
          <p:cNvSpPr txBox="1"/>
          <p:nvPr/>
        </p:nvSpPr>
        <p:spPr>
          <a:xfrm>
            <a:off x="1516291" y="2986273"/>
            <a:ext cx="8468141" cy="757130"/>
          </a:xfrm>
          <a:prstGeom prst="rect">
            <a:avLst/>
          </a:prstGeom>
          <a:noFill/>
        </p:spPr>
        <p:txBody>
          <a:bodyPr wrap="square" rtlCol="0">
            <a:spAutoFit/>
          </a:bodyPr>
          <a:lstStyle/>
          <a:p>
            <a:pPr defTabSz="1097280"/>
            <a:r>
              <a:rPr lang="zh-CN" altLang="en-US" sz="2160" dirty="0">
                <a:solidFill>
                  <a:prstClr val="black"/>
                </a:solidFill>
                <a:latin typeface="Calibri"/>
                <a:ea typeface="宋体" panose="02010600030101010101" pitchFamily="2" charset="-122"/>
              </a:rPr>
              <a:t>维护的类型：改正性维护（</a:t>
            </a:r>
            <a:r>
              <a:rPr lang="en-US" altLang="zh-CN" sz="2160" dirty="0">
                <a:solidFill>
                  <a:prstClr val="black"/>
                </a:solidFill>
                <a:latin typeface="Calibri"/>
                <a:ea typeface="宋体" panose="02010600030101010101" pitchFamily="2" charset="-122"/>
              </a:rPr>
              <a:t>17%</a:t>
            </a:r>
            <a:r>
              <a:rPr lang="zh-CN" altLang="en-US" sz="2160" dirty="0">
                <a:solidFill>
                  <a:prstClr val="black"/>
                </a:solidFill>
                <a:latin typeface="Calibri"/>
                <a:ea typeface="宋体" panose="02010600030101010101" pitchFamily="2" charset="-122"/>
              </a:rPr>
              <a:t>～</a:t>
            </a:r>
            <a:r>
              <a:rPr lang="en-US" altLang="zh-CN" sz="2160" dirty="0">
                <a:solidFill>
                  <a:prstClr val="black"/>
                </a:solidFill>
                <a:latin typeface="Calibri"/>
                <a:ea typeface="宋体" panose="02010600030101010101" pitchFamily="2" charset="-122"/>
              </a:rPr>
              <a:t>21%</a:t>
            </a:r>
            <a:r>
              <a:rPr lang="zh-CN" altLang="en-US" sz="2160" dirty="0">
                <a:solidFill>
                  <a:prstClr val="black"/>
                </a:solidFill>
                <a:latin typeface="Calibri"/>
                <a:ea typeface="宋体" panose="02010600030101010101" pitchFamily="2" charset="-122"/>
              </a:rPr>
              <a:t>）、适应性维护（</a:t>
            </a:r>
            <a:r>
              <a:rPr lang="en-US" altLang="zh-CN" sz="2160" dirty="0">
                <a:solidFill>
                  <a:prstClr val="black"/>
                </a:solidFill>
                <a:latin typeface="Calibri"/>
                <a:ea typeface="宋体" panose="02010600030101010101" pitchFamily="2" charset="-122"/>
              </a:rPr>
              <a:t>18%</a:t>
            </a:r>
            <a:r>
              <a:rPr lang="zh-CN" altLang="en-US" sz="2160" dirty="0">
                <a:solidFill>
                  <a:prstClr val="black"/>
                </a:solidFill>
                <a:latin typeface="Calibri"/>
                <a:ea typeface="宋体" panose="02010600030101010101" pitchFamily="2" charset="-122"/>
              </a:rPr>
              <a:t>～</a:t>
            </a:r>
            <a:r>
              <a:rPr lang="en-US" altLang="zh-CN" sz="2160" dirty="0">
                <a:solidFill>
                  <a:prstClr val="black"/>
                </a:solidFill>
                <a:latin typeface="Calibri"/>
                <a:ea typeface="宋体" panose="02010600030101010101" pitchFamily="2" charset="-122"/>
              </a:rPr>
              <a:t>25%</a:t>
            </a:r>
            <a:r>
              <a:rPr lang="zh-CN" altLang="en-US" sz="2160" dirty="0">
                <a:solidFill>
                  <a:prstClr val="black"/>
                </a:solidFill>
                <a:latin typeface="Calibri"/>
                <a:ea typeface="宋体" panose="02010600030101010101" pitchFamily="2" charset="-122"/>
              </a:rPr>
              <a:t>）、完善性维护（</a:t>
            </a:r>
            <a:r>
              <a:rPr lang="en-US" altLang="zh-CN" sz="2160" dirty="0">
                <a:solidFill>
                  <a:prstClr val="black"/>
                </a:solidFill>
                <a:latin typeface="Calibri"/>
                <a:ea typeface="宋体" panose="02010600030101010101" pitchFamily="2" charset="-122"/>
              </a:rPr>
              <a:t>50%</a:t>
            </a:r>
            <a:r>
              <a:rPr lang="zh-CN" altLang="en-US" sz="2160" dirty="0">
                <a:solidFill>
                  <a:prstClr val="black"/>
                </a:solidFill>
                <a:latin typeface="Calibri"/>
                <a:ea typeface="宋体" panose="02010600030101010101" pitchFamily="2" charset="-122"/>
              </a:rPr>
              <a:t>～</a:t>
            </a:r>
            <a:r>
              <a:rPr lang="en-US" altLang="zh-CN" sz="2160" dirty="0">
                <a:solidFill>
                  <a:prstClr val="black"/>
                </a:solidFill>
                <a:latin typeface="Calibri"/>
                <a:ea typeface="宋体" panose="02010600030101010101" pitchFamily="2" charset="-122"/>
              </a:rPr>
              <a:t>60%</a:t>
            </a:r>
            <a:r>
              <a:rPr lang="zh-CN" altLang="en-US" sz="2160" dirty="0">
                <a:solidFill>
                  <a:prstClr val="black"/>
                </a:solidFill>
                <a:latin typeface="Calibri"/>
                <a:ea typeface="宋体" panose="02010600030101010101" pitchFamily="2" charset="-122"/>
              </a:rPr>
              <a:t>）、预防性维护（</a:t>
            </a:r>
            <a:r>
              <a:rPr lang="en-US" altLang="zh-CN" sz="2160" dirty="0">
                <a:solidFill>
                  <a:prstClr val="black"/>
                </a:solidFill>
                <a:latin typeface="Calibri"/>
                <a:ea typeface="宋体" panose="02010600030101010101" pitchFamily="2" charset="-122"/>
              </a:rPr>
              <a:t>4%</a:t>
            </a:r>
            <a:r>
              <a:rPr lang="zh-CN" altLang="en-US" sz="2160" dirty="0">
                <a:solidFill>
                  <a:prstClr val="black"/>
                </a:solidFill>
                <a:latin typeface="Calibri"/>
                <a:ea typeface="宋体" panose="02010600030101010101" pitchFamily="2" charset="-122"/>
              </a:rPr>
              <a:t>）。</a:t>
            </a:r>
          </a:p>
        </p:txBody>
      </p:sp>
      <p:sp>
        <p:nvSpPr>
          <p:cNvPr id="9" name="文本框 8"/>
          <p:cNvSpPr txBox="1"/>
          <p:nvPr/>
        </p:nvSpPr>
        <p:spPr>
          <a:xfrm>
            <a:off x="1516292" y="4120277"/>
            <a:ext cx="8468141" cy="1089529"/>
          </a:xfrm>
          <a:prstGeom prst="rect">
            <a:avLst/>
          </a:prstGeom>
          <a:noFill/>
        </p:spPr>
        <p:txBody>
          <a:bodyPr wrap="square" rtlCol="0">
            <a:spAutoFit/>
          </a:bodyPr>
          <a:lstStyle/>
          <a:p>
            <a:pPr defTabSz="1097280"/>
            <a:r>
              <a:rPr lang="zh-CN" altLang="en-US" sz="2160" dirty="0">
                <a:solidFill>
                  <a:prstClr val="black"/>
                </a:solidFill>
                <a:latin typeface="Calibri"/>
                <a:ea typeface="宋体" panose="02010600030101010101" pitchFamily="2" charset="-122"/>
              </a:rPr>
              <a:t>大型软件产品开发过程漫长、开销巨大，然而产品发布后的维护周期比开发周期还要漫长。控制软件维护成本，开展有效的软件维护活动，对于软件产品开发意义重大。</a:t>
            </a:r>
          </a:p>
        </p:txBody>
      </p:sp>
    </p:spTree>
    <p:extLst>
      <p:ext uri="{BB962C8B-B14F-4D97-AF65-F5344CB8AC3E}">
        <p14:creationId xmlns:p14="http://schemas.microsoft.com/office/powerpoint/2010/main" val="16479045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620" y="-188296"/>
            <a:ext cx="10974306" cy="6857059"/>
          </a:xfrm>
          <a:prstGeom prst="rect">
            <a:avLst/>
          </a:prstGeom>
        </p:spPr>
      </p:pic>
      <p:sp>
        <p:nvSpPr>
          <p:cNvPr id="6" name="标题 1"/>
          <p:cNvSpPr txBox="1">
            <a:spLocks/>
          </p:cNvSpPr>
          <p:nvPr/>
        </p:nvSpPr>
        <p:spPr>
          <a:xfrm>
            <a:off x="1655378" y="404664"/>
            <a:ext cx="3888432" cy="236755"/>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1097280">
              <a:defRPr/>
            </a:pPr>
            <a:r>
              <a:rPr lang="zh-CN" altLang="en-US"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软件维护的典型问题</a:t>
            </a:r>
            <a:endParaRPr lang="en-US" altLang="zh-CN"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p:txBody>
      </p:sp>
      <p:sp>
        <p:nvSpPr>
          <p:cNvPr id="2" name="文本框 1"/>
          <p:cNvSpPr txBox="1"/>
          <p:nvPr/>
        </p:nvSpPr>
        <p:spPr>
          <a:xfrm>
            <a:off x="1516291" y="1960037"/>
            <a:ext cx="8554550"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8" name="文本框 7"/>
          <p:cNvSpPr txBox="1"/>
          <p:nvPr/>
        </p:nvSpPr>
        <p:spPr>
          <a:xfrm>
            <a:off x="1516291" y="2986272"/>
            <a:ext cx="8468141"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9" name="文本框 8"/>
          <p:cNvSpPr txBox="1"/>
          <p:nvPr/>
        </p:nvSpPr>
        <p:spPr>
          <a:xfrm>
            <a:off x="1715912" y="3552725"/>
            <a:ext cx="8468141" cy="424732"/>
          </a:xfrm>
          <a:prstGeom prst="rect">
            <a:avLst/>
          </a:prstGeom>
          <a:noFill/>
        </p:spPr>
        <p:txBody>
          <a:bodyPr wrap="square" rtlCol="0">
            <a:spAutoFit/>
          </a:bodyPr>
          <a:lstStyle/>
          <a:p>
            <a:pPr defTabSz="1097280"/>
            <a:r>
              <a:rPr lang="en-US" altLang="zh-CN" sz="2160" dirty="0">
                <a:solidFill>
                  <a:prstClr val="black"/>
                </a:solidFill>
                <a:latin typeface="Calibri"/>
                <a:ea typeface="宋体" panose="02010600030101010101" pitchFamily="2" charset="-122"/>
              </a:rPr>
              <a:t>3.</a:t>
            </a:r>
            <a:r>
              <a:rPr lang="zh-CN" altLang="en-US" sz="2160" dirty="0">
                <a:solidFill>
                  <a:prstClr val="black"/>
                </a:solidFill>
                <a:latin typeface="Calibri"/>
                <a:ea typeface="宋体" panose="02010600030101010101" pitchFamily="2" charset="-122"/>
              </a:rPr>
              <a:t>设计时未考虑修改需要，难以修改。</a:t>
            </a:r>
          </a:p>
        </p:txBody>
      </p:sp>
      <p:sp>
        <p:nvSpPr>
          <p:cNvPr id="4" name="文本框 3"/>
          <p:cNvSpPr txBox="1"/>
          <p:nvPr/>
        </p:nvSpPr>
        <p:spPr>
          <a:xfrm>
            <a:off x="1689110" y="2403235"/>
            <a:ext cx="7051930" cy="424732"/>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1.</a:t>
            </a:r>
            <a:r>
              <a:rPr lang="zh-CN" altLang="en-US" sz="2160" dirty="0">
                <a:solidFill>
                  <a:prstClr val="black"/>
                </a:solidFill>
                <a:latin typeface="Calibri"/>
                <a:ea typeface="宋体" panose="02010600030101010101" pitchFamily="2" charset="-122"/>
              </a:rPr>
              <a:t>难以跟踪版本更新过程，软件变化难以在文档中反应。</a:t>
            </a:r>
          </a:p>
        </p:txBody>
      </p:sp>
      <p:sp>
        <p:nvSpPr>
          <p:cNvPr id="5" name="文本框 4"/>
          <p:cNvSpPr txBox="1"/>
          <p:nvPr/>
        </p:nvSpPr>
        <p:spPr>
          <a:xfrm>
            <a:off x="1689111" y="3018635"/>
            <a:ext cx="4556055" cy="424732"/>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2.</a:t>
            </a:r>
            <a:r>
              <a:rPr lang="zh-CN" altLang="en-US" sz="2160" dirty="0">
                <a:solidFill>
                  <a:prstClr val="black"/>
                </a:solidFill>
                <a:latin typeface="Calibri"/>
                <a:ea typeface="宋体" panose="02010600030101010101" pitchFamily="2" charset="-122"/>
              </a:rPr>
              <a:t>缺少相应文档，程序易读性较差。</a:t>
            </a:r>
          </a:p>
        </p:txBody>
      </p:sp>
      <p:sp>
        <p:nvSpPr>
          <p:cNvPr id="7" name="文本框 6"/>
          <p:cNvSpPr txBox="1"/>
          <p:nvPr/>
        </p:nvSpPr>
        <p:spPr>
          <a:xfrm>
            <a:off x="1689111" y="4119178"/>
            <a:ext cx="4556055" cy="424732"/>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4.</a:t>
            </a:r>
            <a:r>
              <a:rPr lang="zh-CN" altLang="en-US" sz="2160" dirty="0">
                <a:solidFill>
                  <a:prstClr val="black"/>
                </a:solidFill>
                <a:latin typeface="Calibri"/>
                <a:ea typeface="宋体" panose="02010600030101010101" pitchFamily="2" charset="-122"/>
              </a:rPr>
              <a:t>维护工作缺乏成就感，无吸引力。</a:t>
            </a:r>
          </a:p>
        </p:txBody>
      </p:sp>
      <p:sp>
        <p:nvSpPr>
          <p:cNvPr id="10" name="文本框 9"/>
          <p:cNvSpPr txBox="1"/>
          <p:nvPr/>
        </p:nvSpPr>
        <p:spPr>
          <a:xfrm>
            <a:off x="1689111" y="4709855"/>
            <a:ext cx="6221491" cy="424732"/>
          </a:xfrm>
          <a:prstGeom prst="rect">
            <a:avLst/>
          </a:prstGeom>
          <a:noFill/>
        </p:spPr>
        <p:txBody>
          <a:bodyPr wrap="square" rtlCol="0">
            <a:spAutoFit/>
          </a:bodyPr>
          <a:lstStyle/>
          <a:p>
            <a:pPr defTabSz="1097280"/>
            <a:r>
              <a:rPr lang="en-US" altLang="zh-CN" sz="2160" dirty="0">
                <a:solidFill>
                  <a:prstClr val="black"/>
                </a:solidFill>
                <a:latin typeface="Calibri"/>
                <a:ea typeface="宋体" panose="02010600030101010101" pitchFamily="2" charset="-122"/>
              </a:rPr>
              <a:t>5.</a:t>
            </a:r>
            <a:r>
              <a:rPr lang="zh-CN" altLang="en-US" sz="2160" dirty="0">
                <a:solidFill>
                  <a:prstClr val="black"/>
                </a:solidFill>
                <a:latin typeface="Calibri"/>
                <a:ea typeface="宋体" panose="02010600030101010101" pitchFamily="2" charset="-122"/>
              </a:rPr>
              <a:t>人员流动性大，理解易产生断层。</a:t>
            </a:r>
          </a:p>
        </p:txBody>
      </p:sp>
    </p:spTree>
    <p:extLst>
      <p:ext uri="{BB962C8B-B14F-4D97-AF65-F5344CB8AC3E}">
        <p14:creationId xmlns:p14="http://schemas.microsoft.com/office/powerpoint/2010/main" val="2182778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34" y="941"/>
            <a:ext cx="10974306" cy="6857059"/>
          </a:xfrm>
          <a:prstGeom prst="rect">
            <a:avLst/>
          </a:prstGeom>
        </p:spPr>
      </p:pic>
      <p:sp>
        <p:nvSpPr>
          <p:cNvPr id="6" name="标题 1"/>
          <p:cNvSpPr txBox="1">
            <a:spLocks/>
          </p:cNvSpPr>
          <p:nvPr/>
        </p:nvSpPr>
        <p:spPr>
          <a:xfrm>
            <a:off x="1602701" y="231845"/>
            <a:ext cx="3369974" cy="518458"/>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1097280">
              <a:defRPr/>
            </a:pPr>
            <a:r>
              <a:rPr lang="zh-CN" altLang="en-US"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软件维护过程</a:t>
            </a:r>
            <a:endParaRPr lang="en-US" altLang="zh-CN"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p:txBody>
      </p:sp>
      <p:sp>
        <p:nvSpPr>
          <p:cNvPr id="2" name="文本框 1"/>
          <p:cNvSpPr txBox="1"/>
          <p:nvPr/>
        </p:nvSpPr>
        <p:spPr>
          <a:xfrm>
            <a:off x="1516291" y="1960037"/>
            <a:ext cx="8554550"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8" name="文本框 7"/>
          <p:cNvSpPr txBox="1"/>
          <p:nvPr/>
        </p:nvSpPr>
        <p:spPr>
          <a:xfrm>
            <a:off x="1516291" y="2986272"/>
            <a:ext cx="8468141"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9" name="文本框 8"/>
          <p:cNvSpPr txBox="1"/>
          <p:nvPr/>
        </p:nvSpPr>
        <p:spPr>
          <a:xfrm>
            <a:off x="1689110" y="3942077"/>
            <a:ext cx="8468141" cy="424732"/>
          </a:xfrm>
          <a:prstGeom prst="rect">
            <a:avLst/>
          </a:prstGeom>
          <a:noFill/>
        </p:spPr>
        <p:txBody>
          <a:bodyPr wrap="square" rtlCol="0">
            <a:spAutoFit/>
          </a:bodyPr>
          <a:lstStyle/>
          <a:p>
            <a:pPr defTabSz="1097280"/>
            <a:r>
              <a:rPr lang="en-US" altLang="zh-CN" sz="2160" dirty="0">
                <a:solidFill>
                  <a:prstClr val="black"/>
                </a:solidFill>
                <a:latin typeface="Calibri"/>
                <a:ea typeface="宋体" panose="02010600030101010101" pitchFamily="2" charset="-122"/>
              </a:rPr>
              <a:t>3.</a:t>
            </a:r>
            <a:r>
              <a:rPr lang="zh-CN" altLang="en-US" sz="2160" dirty="0">
                <a:solidFill>
                  <a:prstClr val="black"/>
                </a:solidFill>
                <a:latin typeface="Calibri"/>
                <a:ea typeface="宋体" panose="02010600030101010101" pitchFamily="2" charset="-122"/>
              </a:rPr>
              <a:t>为维护申请规定标准的处理步骤。</a:t>
            </a:r>
          </a:p>
        </p:txBody>
      </p:sp>
      <p:sp>
        <p:nvSpPr>
          <p:cNvPr id="4" name="文本框 3"/>
          <p:cNvSpPr txBox="1"/>
          <p:nvPr/>
        </p:nvSpPr>
        <p:spPr>
          <a:xfrm>
            <a:off x="1689111" y="2403235"/>
            <a:ext cx="7829387" cy="757130"/>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1.</a:t>
            </a:r>
            <a:r>
              <a:rPr lang="zh-CN" altLang="en-US" sz="2160" dirty="0">
                <a:solidFill>
                  <a:prstClr val="black"/>
                </a:solidFill>
                <a:latin typeface="Calibri"/>
                <a:ea typeface="宋体" panose="02010600030101010101" pitchFamily="2" charset="-122"/>
              </a:rPr>
              <a:t>计算维护成本，考察影响因素</a:t>
            </a:r>
            <a:r>
              <a:rPr lang="en-US" altLang="zh-CN" sz="2160" dirty="0">
                <a:solidFill>
                  <a:prstClr val="black"/>
                </a:solidFill>
                <a:latin typeface="Calibri"/>
                <a:ea typeface="宋体" panose="02010600030101010101" pitchFamily="2" charset="-122"/>
              </a:rPr>
              <a:t>——</a:t>
            </a:r>
            <a:r>
              <a:rPr lang="zh-CN" altLang="en-US" sz="2160" dirty="0">
                <a:solidFill>
                  <a:prstClr val="black"/>
                </a:solidFill>
                <a:latin typeface="Calibri"/>
                <a:ea typeface="宋体" panose="02010600030101010101" pitchFamily="2" charset="-122"/>
              </a:rPr>
              <a:t>当前系统大小、系统年龄、</a:t>
            </a:r>
            <a:endParaRPr lang="en-US" altLang="zh-CN" sz="2160" dirty="0">
              <a:solidFill>
                <a:prstClr val="black"/>
              </a:solidFill>
              <a:latin typeface="Calibri"/>
              <a:ea typeface="宋体" panose="02010600030101010101" pitchFamily="2" charset="-122"/>
            </a:endParaRPr>
          </a:p>
          <a:p>
            <a:pPr defTabSz="1097280"/>
            <a:r>
              <a:rPr lang="zh-CN" altLang="en-US" sz="2160" dirty="0">
                <a:solidFill>
                  <a:prstClr val="black"/>
                </a:solidFill>
                <a:latin typeface="Calibri"/>
                <a:ea typeface="宋体" panose="02010600030101010101" pitchFamily="2" charset="-122"/>
              </a:rPr>
              <a:t>程序语言、开发技术等。维护成本过高，不如重新设计。</a:t>
            </a:r>
          </a:p>
        </p:txBody>
      </p:sp>
      <p:sp>
        <p:nvSpPr>
          <p:cNvPr id="5" name="文本框 4"/>
          <p:cNvSpPr txBox="1"/>
          <p:nvPr/>
        </p:nvSpPr>
        <p:spPr>
          <a:xfrm>
            <a:off x="1689110" y="3306153"/>
            <a:ext cx="5110694" cy="424732"/>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2.</a:t>
            </a:r>
            <a:r>
              <a:rPr lang="zh-CN" altLang="en-US" sz="2160" dirty="0">
                <a:solidFill>
                  <a:prstClr val="black"/>
                </a:solidFill>
                <a:latin typeface="Calibri"/>
                <a:ea typeface="宋体" panose="02010600030101010101" pitchFamily="2" charset="-122"/>
              </a:rPr>
              <a:t>建立维护机构，提出维护申请和评价。</a:t>
            </a:r>
          </a:p>
        </p:txBody>
      </p:sp>
      <p:sp>
        <p:nvSpPr>
          <p:cNvPr id="7" name="文本框 6"/>
          <p:cNvSpPr txBox="1"/>
          <p:nvPr/>
        </p:nvSpPr>
        <p:spPr>
          <a:xfrm>
            <a:off x="1689111" y="4562377"/>
            <a:ext cx="6219972" cy="424732"/>
          </a:xfrm>
          <a:prstGeom prst="rect">
            <a:avLst/>
          </a:prstGeom>
          <a:noFill/>
        </p:spPr>
        <p:txBody>
          <a:bodyPr wrap="none" rtlCol="0">
            <a:spAutoFit/>
          </a:bodyPr>
          <a:lstStyle/>
          <a:p>
            <a:pPr defTabSz="1097280"/>
            <a:r>
              <a:rPr lang="en-US" altLang="zh-CN" sz="2160" dirty="0">
                <a:solidFill>
                  <a:prstClr val="black"/>
                </a:solidFill>
                <a:latin typeface="Calibri"/>
                <a:ea typeface="宋体" panose="02010600030101010101" pitchFamily="2" charset="-122"/>
              </a:rPr>
              <a:t>4.</a:t>
            </a:r>
            <a:r>
              <a:rPr lang="zh-CN" altLang="en-US" sz="2160" dirty="0">
                <a:solidFill>
                  <a:prstClr val="black"/>
                </a:solidFill>
                <a:latin typeface="Calibri"/>
                <a:ea typeface="宋体" panose="02010600030101010101" pitchFamily="2" charset="-122"/>
              </a:rPr>
              <a:t>建立维护活动的记录报告，并规定复审的标准。</a:t>
            </a:r>
          </a:p>
        </p:txBody>
      </p:sp>
      <p:sp>
        <p:nvSpPr>
          <p:cNvPr id="10" name="文本框 9"/>
          <p:cNvSpPr txBox="1"/>
          <p:nvPr/>
        </p:nvSpPr>
        <p:spPr>
          <a:xfrm>
            <a:off x="1737384" y="5182678"/>
            <a:ext cx="6221491" cy="424732"/>
          </a:xfrm>
          <a:prstGeom prst="rect">
            <a:avLst/>
          </a:prstGeom>
          <a:noFill/>
        </p:spPr>
        <p:txBody>
          <a:bodyPr wrap="square" rtlCol="0">
            <a:spAutoFit/>
          </a:bodyPr>
          <a:lstStyle/>
          <a:p>
            <a:pPr defTabSz="1097280"/>
            <a:r>
              <a:rPr lang="en-US" altLang="zh-CN" sz="2160" dirty="0">
                <a:solidFill>
                  <a:prstClr val="black"/>
                </a:solidFill>
                <a:latin typeface="Calibri"/>
                <a:ea typeface="宋体" panose="02010600030101010101" pitchFamily="2" charset="-122"/>
              </a:rPr>
              <a:t>5.</a:t>
            </a:r>
            <a:r>
              <a:rPr lang="zh-CN" altLang="en-US" sz="2160" dirty="0">
                <a:solidFill>
                  <a:prstClr val="black"/>
                </a:solidFill>
                <a:latin typeface="Calibri"/>
                <a:ea typeface="宋体" panose="02010600030101010101" pitchFamily="2" charset="-122"/>
              </a:rPr>
              <a:t>进行维护评价</a:t>
            </a:r>
          </a:p>
        </p:txBody>
      </p:sp>
    </p:spTree>
    <p:extLst>
      <p:ext uri="{BB962C8B-B14F-4D97-AF65-F5344CB8AC3E}">
        <p14:creationId xmlns:p14="http://schemas.microsoft.com/office/powerpoint/2010/main" val="32017936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34" y="941"/>
            <a:ext cx="10974306" cy="6857059"/>
          </a:xfrm>
          <a:prstGeom prst="rect">
            <a:avLst/>
          </a:prstGeom>
        </p:spPr>
      </p:pic>
      <p:sp>
        <p:nvSpPr>
          <p:cNvPr id="6" name="标题 1"/>
          <p:cNvSpPr txBox="1">
            <a:spLocks/>
          </p:cNvSpPr>
          <p:nvPr/>
        </p:nvSpPr>
        <p:spPr>
          <a:xfrm>
            <a:off x="1602701" y="231845"/>
            <a:ext cx="3369974" cy="518458"/>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1097280">
              <a:defRPr/>
            </a:pPr>
            <a:r>
              <a:rPr lang="zh-CN" altLang="en-US"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软件可维护性</a:t>
            </a:r>
            <a:endParaRPr lang="en-US" altLang="zh-CN"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p:txBody>
      </p:sp>
      <p:sp>
        <p:nvSpPr>
          <p:cNvPr id="2" name="文本框 1"/>
          <p:cNvSpPr txBox="1"/>
          <p:nvPr/>
        </p:nvSpPr>
        <p:spPr>
          <a:xfrm>
            <a:off x="1516291" y="1960037"/>
            <a:ext cx="8554550"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8" name="文本框 7"/>
          <p:cNvSpPr txBox="1"/>
          <p:nvPr/>
        </p:nvSpPr>
        <p:spPr>
          <a:xfrm>
            <a:off x="1516291" y="2986272"/>
            <a:ext cx="8468141"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4" name="文本框 3"/>
          <p:cNvSpPr txBox="1"/>
          <p:nvPr/>
        </p:nvSpPr>
        <p:spPr>
          <a:xfrm>
            <a:off x="1720902" y="2217220"/>
            <a:ext cx="8727368" cy="2751522"/>
          </a:xfrm>
          <a:prstGeom prst="rect">
            <a:avLst/>
          </a:prstGeom>
          <a:noFill/>
        </p:spPr>
        <p:txBody>
          <a:bodyPr wrap="square" rtlCol="0">
            <a:spAutoFit/>
          </a:bodyPr>
          <a:lstStyle/>
          <a:p>
            <a:pPr defTabSz="1097280"/>
            <a:r>
              <a:rPr lang="zh-CN" altLang="en-US" sz="2160" dirty="0">
                <a:solidFill>
                  <a:prstClr val="black"/>
                </a:solidFill>
                <a:latin typeface="Calibri"/>
                <a:ea typeface="宋体" panose="02010600030101010101" pitchFamily="2" charset="-122"/>
              </a:rPr>
              <a:t>软件可维护性是指纠正软件系统出现的错误和缺陷，以及为满足新的要求进行修改或扩充的容易程度。</a:t>
            </a:r>
            <a:endParaRPr lang="en-US" altLang="zh-CN" sz="2160" dirty="0">
              <a:solidFill>
                <a:prstClr val="black"/>
              </a:solidFill>
              <a:latin typeface="Calibri"/>
              <a:ea typeface="宋体" panose="02010600030101010101" pitchFamily="2" charset="-122"/>
            </a:endParaRPr>
          </a:p>
          <a:p>
            <a:pPr defTabSz="1097280"/>
            <a:endParaRPr lang="en-US" altLang="zh-CN" sz="2160" dirty="0">
              <a:solidFill>
                <a:prstClr val="black"/>
              </a:solidFill>
              <a:latin typeface="Calibri"/>
              <a:ea typeface="宋体" panose="02010600030101010101" pitchFamily="2" charset="-122"/>
            </a:endParaRPr>
          </a:p>
          <a:p>
            <a:pPr defTabSz="1097280"/>
            <a:r>
              <a:rPr lang="zh-CN" altLang="en-US" sz="2160" dirty="0">
                <a:solidFill>
                  <a:prstClr val="black"/>
                </a:solidFill>
                <a:latin typeface="Calibri"/>
                <a:ea typeface="宋体" panose="02010600030101010101" pitchFamily="2" charset="-122"/>
              </a:rPr>
              <a:t>许多软件的维护十分困难，正是因为软件缺乏可维护性，表现在文档缺失、忽视设计编码风格、开发方法不规范等。</a:t>
            </a:r>
            <a:endParaRPr lang="en-US" altLang="zh-CN" sz="2160" dirty="0">
              <a:solidFill>
                <a:prstClr val="black"/>
              </a:solidFill>
              <a:latin typeface="Calibri"/>
              <a:ea typeface="宋体" panose="02010600030101010101" pitchFamily="2" charset="-122"/>
            </a:endParaRPr>
          </a:p>
          <a:p>
            <a:pPr defTabSz="1097280"/>
            <a:endParaRPr lang="en-US" altLang="zh-CN" sz="2160" dirty="0">
              <a:solidFill>
                <a:prstClr val="black"/>
              </a:solidFill>
              <a:latin typeface="Calibri"/>
              <a:ea typeface="宋体" panose="02010600030101010101" pitchFamily="2" charset="-122"/>
            </a:endParaRPr>
          </a:p>
          <a:p>
            <a:pPr defTabSz="1097280"/>
            <a:r>
              <a:rPr lang="zh-CN" altLang="en-US" sz="2160" dirty="0">
                <a:solidFill>
                  <a:prstClr val="black"/>
                </a:solidFill>
                <a:latin typeface="Calibri"/>
                <a:ea typeface="宋体" panose="02010600030101010101" pitchFamily="2" charset="-122"/>
              </a:rPr>
              <a:t>决定软件可维护性的因素：可理解性、可测试性、可修改性、可移植性、可重用性。</a:t>
            </a:r>
          </a:p>
        </p:txBody>
      </p:sp>
    </p:spTree>
    <p:extLst>
      <p:ext uri="{BB962C8B-B14F-4D97-AF65-F5344CB8AC3E}">
        <p14:creationId xmlns:p14="http://schemas.microsoft.com/office/powerpoint/2010/main" val="36170758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34" y="941"/>
            <a:ext cx="10974306" cy="6857059"/>
          </a:xfrm>
          <a:prstGeom prst="rect">
            <a:avLst/>
          </a:prstGeom>
        </p:spPr>
      </p:pic>
      <p:sp>
        <p:nvSpPr>
          <p:cNvPr id="6" name="标题 1"/>
          <p:cNvSpPr txBox="1">
            <a:spLocks/>
          </p:cNvSpPr>
          <p:nvPr/>
        </p:nvSpPr>
        <p:spPr>
          <a:xfrm>
            <a:off x="1602701" y="231845"/>
            <a:ext cx="3369974" cy="518458"/>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1097280">
              <a:defRPr/>
            </a:pPr>
            <a:r>
              <a:rPr lang="zh-CN" altLang="en-US"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rPr>
              <a:t>软件可维护性</a:t>
            </a:r>
            <a:endParaRPr lang="en-US" altLang="zh-CN" sz="2880" b="1" dirty="0">
              <a:ln w="12700">
                <a:solidFill>
                  <a:srgbClr val="1F497D">
                    <a:tint val="1000"/>
                  </a:srgbClr>
                </a:solidFill>
                <a:prstDash val="solid"/>
              </a:ln>
              <a:solidFill>
                <a:sysClr val="windowText" lastClr="000000"/>
              </a:solidFill>
              <a:effectLst>
                <a:outerShdw blurRad="50000" dist="50800" dir="7500000" algn="tl">
                  <a:srgbClr val="000000">
                    <a:shade val="5000"/>
                    <a:alpha val="35000"/>
                  </a:srgbClr>
                </a:outerShdw>
              </a:effectLst>
              <a:latin typeface="微软雅黑" pitchFamily="34" charset="-122"/>
              <a:ea typeface="微软雅黑" pitchFamily="34" charset="-122"/>
            </a:endParaRPr>
          </a:p>
        </p:txBody>
      </p:sp>
      <p:sp>
        <p:nvSpPr>
          <p:cNvPr id="2" name="文本框 1"/>
          <p:cNvSpPr txBox="1"/>
          <p:nvPr/>
        </p:nvSpPr>
        <p:spPr>
          <a:xfrm>
            <a:off x="1516291" y="1960037"/>
            <a:ext cx="8554550"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8" name="文本框 7"/>
          <p:cNvSpPr txBox="1"/>
          <p:nvPr/>
        </p:nvSpPr>
        <p:spPr>
          <a:xfrm>
            <a:off x="1516291" y="2986272"/>
            <a:ext cx="8468141" cy="424732"/>
          </a:xfrm>
          <a:prstGeom prst="rect">
            <a:avLst/>
          </a:prstGeom>
          <a:noFill/>
        </p:spPr>
        <p:txBody>
          <a:bodyPr wrap="square" rtlCol="0">
            <a:spAutoFit/>
          </a:bodyPr>
          <a:lstStyle/>
          <a:p>
            <a:pPr defTabSz="1097280"/>
            <a:endParaRPr lang="zh-CN" altLang="en-US" sz="2160" dirty="0">
              <a:solidFill>
                <a:prstClr val="black"/>
              </a:solidFill>
              <a:latin typeface="Calibri"/>
              <a:ea typeface="宋体" panose="02010600030101010101" pitchFamily="2" charset="-122"/>
            </a:endParaRPr>
          </a:p>
        </p:txBody>
      </p:sp>
      <p:sp>
        <p:nvSpPr>
          <p:cNvPr id="4" name="文本框 3"/>
          <p:cNvSpPr txBox="1"/>
          <p:nvPr/>
        </p:nvSpPr>
        <p:spPr>
          <a:xfrm>
            <a:off x="1720902" y="2217220"/>
            <a:ext cx="8727368" cy="3748719"/>
          </a:xfrm>
          <a:prstGeom prst="rect">
            <a:avLst/>
          </a:prstGeom>
          <a:noFill/>
        </p:spPr>
        <p:txBody>
          <a:bodyPr wrap="square" rtlCol="0">
            <a:spAutoFit/>
          </a:bodyPr>
          <a:lstStyle/>
          <a:p>
            <a:pPr defTabSz="1097280"/>
            <a:r>
              <a:rPr lang="zh-CN" altLang="en-US" sz="2160" dirty="0">
                <a:solidFill>
                  <a:prstClr val="black"/>
                </a:solidFill>
                <a:latin typeface="Calibri"/>
                <a:ea typeface="宋体" panose="02010600030101010101" pitchFamily="2" charset="-122"/>
              </a:rPr>
              <a:t>提高可维护性的方法：</a:t>
            </a:r>
            <a:endParaRPr lang="en-US" altLang="zh-CN" sz="2160" dirty="0">
              <a:solidFill>
                <a:prstClr val="black"/>
              </a:solidFill>
              <a:latin typeface="Calibri"/>
              <a:ea typeface="宋体" panose="02010600030101010101" pitchFamily="2" charset="-122"/>
            </a:endParaRPr>
          </a:p>
          <a:p>
            <a:pPr defTabSz="1097280"/>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r>
              <a:rPr lang="zh-CN" altLang="en-US" sz="2160" dirty="0">
                <a:solidFill>
                  <a:prstClr val="black"/>
                </a:solidFill>
                <a:latin typeface="Calibri"/>
                <a:ea typeface="宋体" panose="02010600030101010101" pitchFamily="2" charset="-122"/>
              </a:rPr>
              <a:t>建立明确的软件质量目标和优先级</a:t>
            </a: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r>
              <a:rPr lang="zh-CN" altLang="en-US" sz="2160" dirty="0">
                <a:solidFill>
                  <a:prstClr val="black"/>
                </a:solidFill>
                <a:latin typeface="Calibri"/>
                <a:ea typeface="宋体" panose="02010600030101010101" pitchFamily="2" charset="-122"/>
              </a:rPr>
              <a:t>使用提高软件质量的技术和工具</a:t>
            </a: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r>
              <a:rPr lang="zh-CN" altLang="en-US" sz="2160" dirty="0">
                <a:solidFill>
                  <a:prstClr val="black"/>
                </a:solidFill>
                <a:latin typeface="Calibri"/>
                <a:ea typeface="宋体" panose="02010600030101010101" pitchFamily="2" charset="-122"/>
              </a:rPr>
              <a:t>进行明确的质量保证审查</a:t>
            </a: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r>
              <a:rPr lang="zh-CN" altLang="en-US" sz="2160" dirty="0">
                <a:solidFill>
                  <a:prstClr val="black"/>
                </a:solidFill>
                <a:latin typeface="Calibri"/>
                <a:ea typeface="宋体" panose="02010600030101010101" pitchFamily="2" charset="-122"/>
              </a:rPr>
              <a:t>选择可维护的程序设计语言</a:t>
            </a: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endParaRPr lang="en-US" altLang="zh-CN" sz="2160" dirty="0">
              <a:solidFill>
                <a:prstClr val="black"/>
              </a:solidFill>
              <a:latin typeface="Calibri"/>
              <a:ea typeface="宋体" panose="02010600030101010101" pitchFamily="2" charset="-122"/>
            </a:endParaRPr>
          </a:p>
          <a:p>
            <a:pPr marL="342900" indent="-342900" defTabSz="1097280">
              <a:buFont typeface="Wingdings" panose="05000000000000000000" pitchFamily="2" charset="2"/>
              <a:buChar char="l"/>
            </a:pPr>
            <a:r>
              <a:rPr lang="zh-CN" altLang="en-US" sz="2160" dirty="0">
                <a:solidFill>
                  <a:prstClr val="black"/>
                </a:solidFill>
                <a:latin typeface="Calibri"/>
                <a:ea typeface="宋体" panose="02010600030101010101" pitchFamily="2" charset="-122"/>
              </a:rPr>
              <a:t>完善程序的文档</a:t>
            </a:r>
          </a:p>
        </p:txBody>
      </p:sp>
    </p:spTree>
    <p:extLst>
      <p:ext uri="{BB962C8B-B14F-4D97-AF65-F5344CB8AC3E}">
        <p14:creationId xmlns:p14="http://schemas.microsoft.com/office/powerpoint/2010/main" val="29121763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zh-CN" altLang="en-US"/>
              <a:t>软件维护</a:t>
            </a:r>
          </a:p>
        </p:txBody>
      </p:sp>
      <p:sp>
        <p:nvSpPr>
          <p:cNvPr id="172035"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a:p>
            <a:pPr marL="838200" lvl="1" indent="-381000">
              <a:buFont typeface="Wingdings" panose="05000000000000000000" pitchFamily="2" charset="2"/>
              <a:buChar char="n"/>
            </a:pPr>
            <a:r>
              <a:rPr lang="zh-CN" altLang="en-US" b="1"/>
              <a:t>软件维护的作用和分类</a:t>
            </a:r>
          </a:p>
          <a:p>
            <a:pPr marL="838200" lvl="1" indent="-381000">
              <a:buFont typeface="Wingdings" panose="05000000000000000000" pitchFamily="2" charset="2"/>
              <a:buChar char="n"/>
            </a:pPr>
            <a:r>
              <a:rPr lang="zh-CN" altLang="en-US" b="1"/>
              <a:t>软件维护的框架和计划</a:t>
            </a:r>
          </a:p>
          <a:p>
            <a:pPr marL="838200" lvl="1" indent="-381000">
              <a:buFont typeface="Wingdings" panose="05000000000000000000" pitchFamily="2" charset="2"/>
              <a:buChar char="n"/>
            </a:pPr>
            <a:r>
              <a:rPr lang="zh-CN" altLang="en-US" b="1"/>
              <a:t>软件产品的维护质量</a:t>
            </a:r>
          </a:p>
          <a:p>
            <a:pPr marL="838200" lvl="1" indent="-381000">
              <a:buFont typeface="Wingdings" panose="05000000000000000000" pitchFamily="2" charset="2"/>
              <a:buChar char="n"/>
            </a:pPr>
            <a:r>
              <a:rPr lang="zh-CN" altLang="en-US" b="1"/>
              <a:t>软件部署的维护质量</a:t>
            </a:r>
          </a:p>
          <a:p>
            <a:pPr marL="838200" lvl="1" indent="-381000">
              <a:buFont typeface="Wingdings" panose="05000000000000000000" pitchFamily="2" charset="2"/>
              <a:buChar char="n"/>
            </a:pPr>
            <a:r>
              <a:rPr lang="zh-CN" altLang="en-US" b="1"/>
              <a:t>软件技术支持</a:t>
            </a:r>
          </a:p>
          <a:p>
            <a:pPr marL="838200" lvl="1" indent="-381000">
              <a:buFont typeface="Wingdings" panose="05000000000000000000" pitchFamily="2" charset="2"/>
              <a:buChar char="n"/>
            </a:pPr>
            <a:r>
              <a:rPr lang="zh-CN" altLang="en-US" b="1"/>
              <a:t>软件维护的管理性控制</a:t>
            </a:r>
          </a:p>
        </p:txBody>
      </p:sp>
      <p:pic>
        <p:nvPicPr>
          <p:cNvPr id="172036" name="Picture 4" descr="PE0183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6476" y="3500439"/>
            <a:ext cx="2697163" cy="258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6629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zh-CN" altLang="en-US"/>
              <a:t>软件维护的作用和分类</a:t>
            </a:r>
          </a:p>
        </p:txBody>
      </p:sp>
      <p:sp>
        <p:nvSpPr>
          <p:cNvPr id="198659"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198660" name="Rectangle 4"/>
          <p:cNvSpPr>
            <a:spLocks noChangeArrowheads="1"/>
          </p:cNvSpPr>
          <p:nvPr/>
        </p:nvSpPr>
        <p:spPr bwMode="auto">
          <a:xfrm>
            <a:off x="3000376" y="1952625"/>
            <a:ext cx="5580063" cy="3633788"/>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722313" indent="-722313" algn="l">
              <a:tabLst>
                <a:tab pos="808038" algn="l"/>
              </a:tabLst>
              <a:defRPr>
                <a:solidFill>
                  <a:schemeClr val="tx1"/>
                </a:solidFill>
                <a:latin typeface="Arial" panose="020B0604020202020204" pitchFamily="34" charset="0"/>
                <a:ea typeface="宋体" panose="02010600030101010101" pitchFamily="2" charset="-122"/>
              </a:defRPr>
            </a:lvl1pPr>
            <a:lvl2pPr marL="1244600" indent="-342900" algn="l">
              <a:tabLst>
                <a:tab pos="808038" algn="l"/>
              </a:tabLst>
              <a:defRPr>
                <a:solidFill>
                  <a:schemeClr val="tx1"/>
                </a:solidFill>
                <a:latin typeface="Arial" panose="020B0604020202020204" pitchFamily="34" charset="0"/>
                <a:ea typeface="宋体" panose="02010600030101010101" pitchFamily="2" charset="-122"/>
              </a:defRPr>
            </a:lvl2pPr>
            <a:lvl3pPr marL="1766888" indent="-342900" algn="l">
              <a:tabLst>
                <a:tab pos="808038" algn="l"/>
              </a:tabLst>
              <a:defRPr>
                <a:solidFill>
                  <a:schemeClr val="tx1"/>
                </a:solidFill>
                <a:latin typeface="Arial" panose="020B0604020202020204" pitchFamily="34" charset="0"/>
                <a:ea typeface="宋体" panose="02010600030101010101" pitchFamily="2" charset="-122"/>
              </a:defRPr>
            </a:lvl3pPr>
            <a:lvl4pPr marL="2289175" indent="-342900" algn="l">
              <a:tabLst>
                <a:tab pos="808038" algn="l"/>
              </a:tabLst>
              <a:defRPr>
                <a:solidFill>
                  <a:schemeClr val="tx1"/>
                </a:solidFill>
                <a:latin typeface="Arial" panose="020B0604020202020204" pitchFamily="34" charset="0"/>
                <a:ea typeface="宋体" panose="02010600030101010101" pitchFamily="2" charset="-122"/>
              </a:defRPr>
            </a:lvl4pPr>
            <a:lvl5pPr marL="2811463" indent="-342900" algn="l">
              <a:tabLst>
                <a:tab pos="808038" algn="l"/>
              </a:tabLst>
              <a:defRPr>
                <a:solidFill>
                  <a:schemeClr val="tx1"/>
                </a:solidFill>
                <a:latin typeface="Arial" panose="020B0604020202020204" pitchFamily="34" charset="0"/>
                <a:ea typeface="宋体" panose="02010600030101010101" pitchFamily="2" charset="-122"/>
              </a:defRPr>
            </a:lvl5pPr>
            <a:lvl6pPr marL="3268663" indent="-342900" fontAlgn="base">
              <a:spcBef>
                <a:spcPct val="0"/>
              </a:spcBef>
              <a:spcAft>
                <a:spcPct val="0"/>
              </a:spcAft>
              <a:tabLst>
                <a:tab pos="808038" algn="l"/>
              </a:tabLst>
              <a:defRPr>
                <a:solidFill>
                  <a:schemeClr val="tx1"/>
                </a:solidFill>
                <a:latin typeface="Arial" panose="020B0604020202020204" pitchFamily="34" charset="0"/>
                <a:ea typeface="宋体" panose="02010600030101010101" pitchFamily="2" charset="-122"/>
              </a:defRPr>
            </a:lvl6pPr>
            <a:lvl7pPr marL="3725863" indent="-342900" fontAlgn="base">
              <a:spcBef>
                <a:spcPct val="0"/>
              </a:spcBef>
              <a:spcAft>
                <a:spcPct val="0"/>
              </a:spcAft>
              <a:tabLst>
                <a:tab pos="808038" algn="l"/>
              </a:tabLst>
              <a:defRPr>
                <a:solidFill>
                  <a:schemeClr val="tx1"/>
                </a:solidFill>
                <a:latin typeface="Arial" panose="020B0604020202020204" pitchFamily="34" charset="0"/>
                <a:ea typeface="宋体" panose="02010600030101010101" pitchFamily="2" charset="-122"/>
              </a:defRPr>
            </a:lvl7pPr>
            <a:lvl8pPr marL="4183063" indent="-342900" fontAlgn="base">
              <a:spcBef>
                <a:spcPct val="0"/>
              </a:spcBef>
              <a:spcAft>
                <a:spcPct val="0"/>
              </a:spcAft>
              <a:tabLst>
                <a:tab pos="808038" algn="l"/>
              </a:tabLst>
              <a:defRPr>
                <a:solidFill>
                  <a:schemeClr val="tx1"/>
                </a:solidFill>
                <a:latin typeface="Arial" panose="020B0604020202020204" pitchFamily="34" charset="0"/>
                <a:ea typeface="宋体" panose="02010600030101010101" pitchFamily="2" charset="-122"/>
              </a:defRPr>
            </a:lvl8pPr>
            <a:lvl9pPr marL="4640263" indent="-342900" fontAlgn="base">
              <a:spcBef>
                <a:spcPct val="0"/>
              </a:spcBef>
              <a:spcAft>
                <a:spcPct val="0"/>
              </a:spcAft>
              <a:tabLst>
                <a:tab pos="808038" algn="l"/>
              </a:tabLst>
              <a:defRPr>
                <a:solidFill>
                  <a:schemeClr val="tx1"/>
                </a:solidFill>
                <a:latin typeface="Arial" panose="020B0604020202020204" pitchFamily="34" charset="0"/>
                <a:ea typeface="宋体" panose="02010600030101010101" pitchFamily="2" charset="-122"/>
              </a:defRPr>
            </a:lvl9pPr>
          </a:lstStyle>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改正性或纠错性维护</a:t>
            </a:r>
          </a:p>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适应性维护 </a:t>
            </a:r>
          </a:p>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完善性维护 </a:t>
            </a:r>
          </a:p>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预防性维护</a:t>
            </a:r>
          </a:p>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运行环境（部署）维护</a:t>
            </a:r>
          </a:p>
          <a:p>
            <a:pPr lvl="1" defTabSz="914400">
              <a:spcBef>
                <a:spcPct val="50000"/>
              </a:spcBef>
              <a:buFontTx/>
              <a:buAutoNum type="arabicPeriod"/>
            </a:pPr>
            <a:r>
              <a:rPr lang="zh-CN" altLang="en-US" sz="2800" b="1">
                <a:solidFill>
                  <a:prstClr val="black"/>
                </a:solidFill>
                <a:latin typeface="楷体_GB2312" pitchFamily="49" charset="-122"/>
                <a:ea typeface="楷体_GB2312" pitchFamily="49" charset="-122"/>
              </a:rPr>
              <a:t>客户技术支持 </a:t>
            </a:r>
          </a:p>
        </p:txBody>
      </p:sp>
    </p:spTree>
    <p:extLst>
      <p:ext uri="{BB962C8B-B14F-4D97-AF65-F5344CB8AC3E}">
        <p14:creationId xmlns:p14="http://schemas.microsoft.com/office/powerpoint/2010/main" val="1386567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8660">
                                            <p:txEl>
                                              <p:pRg st="1" end="1"/>
                                            </p:txEl>
                                          </p:spTgt>
                                        </p:tgtEl>
                                        <p:attrNameLst>
                                          <p:attrName>style.visibility</p:attrName>
                                        </p:attrNameLst>
                                      </p:cBhvr>
                                      <p:to>
                                        <p:strVal val="visible"/>
                                      </p:to>
                                    </p:set>
                                    <p:animEffect transition="in" filter="wipe(left)">
                                      <p:cBhvr>
                                        <p:cTn id="7" dur="500"/>
                                        <p:tgtEl>
                                          <p:spTgt spid="19866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8660">
                                            <p:txEl>
                                              <p:pRg st="2" end="2"/>
                                            </p:txEl>
                                          </p:spTgt>
                                        </p:tgtEl>
                                        <p:attrNameLst>
                                          <p:attrName>style.visibility</p:attrName>
                                        </p:attrNameLst>
                                      </p:cBhvr>
                                      <p:to>
                                        <p:strVal val="visible"/>
                                      </p:to>
                                    </p:set>
                                    <p:animEffect transition="in" filter="wipe(left)">
                                      <p:cBhvr>
                                        <p:cTn id="12" dur="500"/>
                                        <p:tgtEl>
                                          <p:spTgt spid="19866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8660">
                                            <p:txEl>
                                              <p:pRg st="3" end="3"/>
                                            </p:txEl>
                                          </p:spTgt>
                                        </p:tgtEl>
                                        <p:attrNameLst>
                                          <p:attrName>style.visibility</p:attrName>
                                        </p:attrNameLst>
                                      </p:cBhvr>
                                      <p:to>
                                        <p:strVal val="visible"/>
                                      </p:to>
                                    </p:set>
                                    <p:animEffect transition="in" filter="wipe(left)">
                                      <p:cBhvr>
                                        <p:cTn id="17" dur="500"/>
                                        <p:tgtEl>
                                          <p:spTgt spid="19866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8660">
                                            <p:txEl>
                                              <p:pRg st="4" end="4"/>
                                            </p:txEl>
                                          </p:spTgt>
                                        </p:tgtEl>
                                        <p:attrNameLst>
                                          <p:attrName>style.visibility</p:attrName>
                                        </p:attrNameLst>
                                      </p:cBhvr>
                                      <p:to>
                                        <p:strVal val="visible"/>
                                      </p:to>
                                    </p:set>
                                    <p:animEffect transition="in" filter="wipe(left)">
                                      <p:cBhvr>
                                        <p:cTn id="22" dur="500"/>
                                        <p:tgtEl>
                                          <p:spTgt spid="19866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8660">
                                            <p:txEl>
                                              <p:pRg st="5" end="5"/>
                                            </p:txEl>
                                          </p:spTgt>
                                        </p:tgtEl>
                                        <p:attrNameLst>
                                          <p:attrName>style.visibility</p:attrName>
                                        </p:attrNameLst>
                                      </p:cBhvr>
                                      <p:to>
                                        <p:strVal val="visible"/>
                                      </p:to>
                                    </p:set>
                                    <p:animEffect transition="in" filter="wipe(left)">
                                      <p:cBhvr>
                                        <p:cTn id="27" dur="500"/>
                                        <p:tgtEl>
                                          <p:spTgt spid="19866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zh-CN" altLang="en-US"/>
              <a:t>软件维护的框架和计划</a:t>
            </a:r>
          </a:p>
        </p:txBody>
      </p:sp>
      <p:sp>
        <p:nvSpPr>
          <p:cNvPr id="200707"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200708" name="Rectangle 4"/>
          <p:cNvSpPr>
            <a:spLocks noChangeArrowheads="1"/>
          </p:cNvSpPr>
          <p:nvPr/>
        </p:nvSpPr>
        <p:spPr bwMode="auto">
          <a:xfrm>
            <a:off x="2674938" y="1916113"/>
            <a:ext cx="730885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spcBef>
                <a:spcPct val="50000"/>
              </a:spcBef>
              <a:buClr>
                <a:srgbClr val="800080"/>
              </a:buClr>
            </a:pPr>
            <a:endParaRPr lang="zh-CN" altLang="zh-CN" sz="2400">
              <a:solidFill>
                <a:prstClr val="black"/>
              </a:solidFill>
            </a:endParaRPr>
          </a:p>
        </p:txBody>
      </p:sp>
      <p:sp>
        <p:nvSpPr>
          <p:cNvPr id="200709" name="Rectangle 5"/>
          <p:cNvSpPr>
            <a:spLocks noChangeArrowheads="1"/>
          </p:cNvSpPr>
          <p:nvPr/>
        </p:nvSpPr>
        <p:spPr bwMode="auto">
          <a:xfrm>
            <a:off x="2459039" y="1736726"/>
            <a:ext cx="7704137" cy="133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1001713"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6192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2179638"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740025"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31972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6544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41116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5688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spcBef>
                <a:spcPct val="50000"/>
              </a:spcBef>
              <a:buClr>
                <a:srgbClr val="800080"/>
              </a:buClr>
            </a:pPr>
            <a:r>
              <a:rPr lang="zh-CN" altLang="en-US" sz="2400" i="0">
                <a:solidFill>
                  <a:srgbClr val="0066FF"/>
                </a:solidFill>
                <a:latin typeface="楷体_GB2312" pitchFamily="49" charset="-122"/>
                <a:ea typeface="楷体_GB2312" pitchFamily="49" charset="-122"/>
              </a:rPr>
              <a:t>一般由用户需求、软件产品、组织环境、维护人员、系统运行和操作环境、系统变更的过程等组成，它们之间存在着相辅相成的关系，构成完整的一个维护框架 </a:t>
            </a:r>
          </a:p>
        </p:txBody>
      </p:sp>
      <p:sp>
        <p:nvSpPr>
          <p:cNvPr id="200710" name="Rectangle 6"/>
          <p:cNvSpPr>
            <a:spLocks noChangeArrowheads="1"/>
          </p:cNvSpPr>
          <p:nvPr/>
        </p:nvSpPr>
        <p:spPr bwMode="auto">
          <a:xfrm>
            <a:off x="3287714" y="3141664"/>
            <a:ext cx="6048375" cy="324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1001713"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6192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2179638"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740025"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31972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6544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41116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568825"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系统应用时间</a:t>
            </a:r>
          </a:p>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软件维护任务和功能</a:t>
            </a:r>
          </a:p>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软件维护策略</a:t>
            </a:r>
          </a:p>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软件维护流程</a:t>
            </a:r>
          </a:p>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软件配置管理</a:t>
            </a:r>
          </a:p>
          <a:p>
            <a:pPr defTabSz="914400">
              <a:buClr>
                <a:srgbClr val="800080"/>
              </a:buClr>
              <a:buFont typeface="Wingdings" panose="05000000000000000000" pitchFamily="2" charset="2"/>
              <a:buChar char="n"/>
            </a:pPr>
            <a:r>
              <a:rPr lang="zh-CN" altLang="en-US" i="0">
                <a:solidFill>
                  <a:prstClr val="black"/>
                </a:solidFill>
                <a:ea typeface="楷体_GB2312" pitchFamily="49" charset="-122"/>
              </a:rPr>
              <a:t>专业领域的维护标准、维护工具等</a:t>
            </a:r>
          </a:p>
        </p:txBody>
      </p:sp>
    </p:spTree>
    <p:extLst>
      <p:ext uri="{BB962C8B-B14F-4D97-AF65-F5344CB8AC3E}">
        <p14:creationId xmlns:p14="http://schemas.microsoft.com/office/powerpoint/2010/main" val="1871223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0710"/>
                                        </p:tgtEl>
                                        <p:attrNameLst>
                                          <p:attrName>style.visibility</p:attrName>
                                        </p:attrNameLst>
                                      </p:cBhvr>
                                      <p:to>
                                        <p:strVal val="visible"/>
                                      </p:to>
                                    </p:set>
                                    <p:anim calcmode="lin" valueType="num">
                                      <p:cBhvr>
                                        <p:cTn id="7" dur="1000" fill="hold"/>
                                        <p:tgtEl>
                                          <p:spTgt spid="200710"/>
                                        </p:tgtEl>
                                        <p:attrNameLst>
                                          <p:attrName>ppt_w</p:attrName>
                                        </p:attrNameLst>
                                      </p:cBhvr>
                                      <p:tavLst>
                                        <p:tav tm="0">
                                          <p:val>
                                            <p:fltVal val="0"/>
                                          </p:val>
                                        </p:tav>
                                        <p:tav tm="100000">
                                          <p:val>
                                            <p:strVal val="#ppt_w"/>
                                          </p:val>
                                        </p:tav>
                                      </p:tavLst>
                                    </p:anim>
                                    <p:anim calcmode="lin" valueType="num">
                                      <p:cBhvr>
                                        <p:cTn id="8" dur="1000" fill="hold"/>
                                        <p:tgtEl>
                                          <p:spTgt spid="2007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zh-CN" altLang="en-US"/>
              <a:t>软件产品的维护质量</a:t>
            </a:r>
          </a:p>
        </p:txBody>
      </p:sp>
      <p:sp>
        <p:nvSpPr>
          <p:cNvPr id="202755"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202756" name="Rectangle 4"/>
          <p:cNvSpPr>
            <a:spLocks noChangeArrowheads="1"/>
          </p:cNvSpPr>
          <p:nvPr/>
        </p:nvSpPr>
        <p:spPr bwMode="auto">
          <a:xfrm>
            <a:off x="3395663" y="1773239"/>
            <a:ext cx="5040312" cy="424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buClr>
                <a:srgbClr val="800080"/>
              </a:buClr>
            </a:pPr>
            <a:endParaRPr lang="zh-CN" altLang="zh-CN">
              <a:solidFill>
                <a:prstClr val="black"/>
              </a:solidFill>
            </a:endParaRPr>
          </a:p>
        </p:txBody>
      </p:sp>
      <p:sp>
        <p:nvSpPr>
          <p:cNvPr id="202757" name="Rectangle 5"/>
          <p:cNvSpPr>
            <a:spLocks noChangeArrowheads="1"/>
          </p:cNvSpPr>
          <p:nvPr/>
        </p:nvSpPr>
        <p:spPr bwMode="auto">
          <a:xfrm>
            <a:off x="2316164" y="1773238"/>
            <a:ext cx="7920037"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spcBef>
                <a:spcPct val="50000"/>
              </a:spcBef>
              <a:buClr>
                <a:srgbClr val="800080"/>
              </a:buClr>
              <a:buFont typeface="Wingdings" panose="05000000000000000000" pitchFamily="2" charset="2"/>
              <a:buAutoNum type="arabicPeriod"/>
            </a:pPr>
            <a:r>
              <a:rPr lang="zh-CN" altLang="en-US">
                <a:solidFill>
                  <a:prstClr val="black"/>
                </a:solidFill>
              </a:rPr>
              <a:t>良好的质量文化和方针，以客户需求为中心</a:t>
            </a:r>
          </a:p>
          <a:p>
            <a:pPr defTabSz="914400">
              <a:spcBef>
                <a:spcPct val="50000"/>
              </a:spcBef>
              <a:buClr>
                <a:srgbClr val="800080"/>
              </a:buClr>
              <a:buFont typeface="Wingdings" panose="05000000000000000000" pitchFamily="2" charset="2"/>
              <a:buAutoNum type="arabicPeriod"/>
            </a:pPr>
            <a:r>
              <a:rPr lang="zh-CN" altLang="en-US">
                <a:solidFill>
                  <a:prstClr val="black"/>
                </a:solidFill>
              </a:rPr>
              <a:t>有效的软件发布策略</a:t>
            </a:r>
          </a:p>
          <a:p>
            <a:pPr defTabSz="914400">
              <a:spcBef>
                <a:spcPct val="50000"/>
              </a:spcBef>
              <a:buClr>
                <a:srgbClr val="800080"/>
              </a:buClr>
              <a:buFont typeface="Wingdings" panose="05000000000000000000" pitchFamily="2" charset="2"/>
              <a:buAutoNum type="arabicPeriod"/>
            </a:pPr>
            <a:r>
              <a:rPr lang="zh-CN" altLang="en-US">
                <a:solidFill>
                  <a:prstClr val="black"/>
                </a:solidFill>
              </a:rPr>
              <a:t>需求变化的控制流程</a:t>
            </a:r>
          </a:p>
          <a:p>
            <a:pPr defTabSz="914400">
              <a:spcBef>
                <a:spcPct val="50000"/>
              </a:spcBef>
              <a:buClr>
                <a:srgbClr val="800080"/>
              </a:buClr>
              <a:buFont typeface="Wingdings" panose="05000000000000000000" pitchFamily="2" charset="2"/>
              <a:buAutoNum type="arabicPeriod"/>
            </a:pPr>
            <a:r>
              <a:rPr lang="zh-CN" altLang="en-US">
                <a:solidFill>
                  <a:prstClr val="black"/>
                </a:solidFill>
              </a:rPr>
              <a:t>有一套软件需求、软件配置的管理数据库系统</a:t>
            </a:r>
          </a:p>
          <a:p>
            <a:pPr defTabSz="914400">
              <a:spcBef>
                <a:spcPct val="50000"/>
              </a:spcBef>
              <a:buClr>
                <a:srgbClr val="800080"/>
              </a:buClr>
              <a:buFont typeface="Wingdings" panose="05000000000000000000" pitchFamily="2" charset="2"/>
              <a:buAutoNum type="arabicPeriod"/>
            </a:pPr>
            <a:r>
              <a:rPr lang="zh-CN" altLang="en-US">
                <a:solidFill>
                  <a:prstClr val="black"/>
                </a:solidFill>
              </a:rPr>
              <a:t>和客户的有效沟通</a:t>
            </a:r>
          </a:p>
          <a:p>
            <a:pPr defTabSz="914400">
              <a:spcBef>
                <a:spcPct val="50000"/>
              </a:spcBef>
              <a:buClr>
                <a:srgbClr val="800080"/>
              </a:buClr>
              <a:buFont typeface="Wingdings" panose="05000000000000000000" pitchFamily="2" charset="2"/>
              <a:buAutoNum type="arabicPeriod"/>
            </a:pPr>
            <a:r>
              <a:rPr lang="zh-CN" altLang="en-US">
                <a:solidFill>
                  <a:prstClr val="black"/>
                </a:solidFill>
              </a:rPr>
              <a:t>软件文档的不断完善</a:t>
            </a:r>
          </a:p>
        </p:txBody>
      </p:sp>
    </p:spTree>
    <p:extLst>
      <p:ext uri="{BB962C8B-B14F-4D97-AF65-F5344CB8AC3E}">
        <p14:creationId xmlns:p14="http://schemas.microsoft.com/office/powerpoint/2010/main" val="621523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2757">
                                            <p:txEl>
                                              <p:pRg st="1" end="1"/>
                                            </p:txEl>
                                          </p:spTgt>
                                        </p:tgtEl>
                                        <p:attrNameLst>
                                          <p:attrName>style.visibility</p:attrName>
                                        </p:attrNameLst>
                                      </p:cBhvr>
                                      <p:to>
                                        <p:strVal val="visible"/>
                                      </p:to>
                                    </p:set>
                                    <p:animEffect transition="in" filter="wipe(left)">
                                      <p:cBhvr>
                                        <p:cTn id="7" dur="500"/>
                                        <p:tgtEl>
                                          <p:spTgt spid="20275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2757">
                                            <p:txEl>
                                              <p:pRg st="2" end="2"/>
                                            </p:txEl>
                                          </p:spTgt>
                                        </p:tgtEl>
                                        <p:attrNameLst>
                                          <p:attrName>style.visibility</p:attrName>
                                        </p:attrNameLst>
                                      </p:cBhvr>
                                      <p:to>
                                        <p:strVal val="visible"/>
                                      </p:to>
                                    </p:set>
                                    <p:animEffect transition="in" filter="wipe(left)">
                                      <p:cBhvr>
                                        <p:cTn id="12" dur="500"/>
                                        <p:tgtEl>
                                          <p:spTgt spid="20275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2757">
                                            <p:txEl>
                                              <p:pRg st="3" end="3"/>
                                            </p:txEl>
                                          </p:spTgt>
                                        </p:tgtEl>
                                        <p:attrNameLst>
                                          <p:attrName>style.visibility</p:attrName>
                                        </p:attrNameLst>
                                      </p:cBhvr>
                                      <p:to>
                                        <p:strVal val="visible"/>
                                      </p:to>
                                    </p:set>
                                    <p:animEffect transition="in" filter="wipe(left)">
                                      <p:cBhvr>
                                        <p:cTn id="17" dur="500"/>
                                        <p:tgtEl>
                                          <p:spTgt spid="20275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2757">
                                            <p:txEl>
                                              <p:pRg st="4" end="4"/>
                                            </p:txEl>
                                          </p:spTgt>
                                        </p:tgtEl>
                                        <p:attrNameLst>
                                          <p:attrName>style.visibility</p:attrName>
                                        </p:attrNameLst>
                                      </p:cBhvr>
                                      <p:to>
                                        <p:strVal val="visible"/>
                                      </p:to>
                                    </p:set>
                                    <p:animEffect transition="in" filter="wipe(left)">
                                      <p:cBhvr>
                                        <p:cTn id="22" dur="500"/>
                                        <p:tgtEl>
                                          <p:spTgt spid="20275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2757">
                                            <p:txEl>
                                              <p:pRg st="5" end="5"/>
                                            </p:txEl>
                                          </p:spTgt>
                                        </p:tgtEl>
                                        <p:attrNameLst>
                                          <p:attrName>style.visibility</p:attrName>
                                        </p:attrNameLst>
                                      </p:cBhvr>
                                      <p:to>
                                        <p:strVal val="visible"/>
                                      </p:to>
                                    </p:set>
                                    <p:animEffect transition="in" filter="wipe(left)">
                                      <p:cBhvr>
                                        <p:cTn id="27" dur="500"/>
                                        <p:tgtEl>
                                          <p:spTgt spid="20275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zh-CN" altLang="en-US"/>
              <a:t>软件部署的维护质量</a:t>
            </a:r>
          </a:p>
        </p:txBody>
      </p:sp>
      <p:sp>
        <p:nvSpPr>
          <p:cNvPr id="204803"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204804" name="Rectangle 4"/>
          <p:cNvSpPr>
            <a:spLocks noChangeArrowheads="1"/>
          </p:cNvSpPr>
          <p:nvPr/>
        </p:nvSpPr>
        <p:spPr bwMode="auto">
          <a:xfrm>
            <a:off x="2279651" y="1665288"/>
            <a:ext cx="7993063" cy="482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专业的、独立的维护团队</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完整的操作流程和规范</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对于出现的紧急事件，制定相应的应急方案</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安装有运行环境的监控程序，随时监控运行环境的情况，形成预警机制。</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保证</a:t>
            </a:r>
            <a:r>
              <a:rPr lang="en-US" altLang="zh-CN" sz="2400" i="0">
                <a:solidFill>
                  <a:prstClr val="black"/>
                </a:solidFill>
                <a:latin typeface="楷体_GB2312" pitchFamily="49" charset="-122"/>
                <a:ea typeface="楷体_GB2312" pitchFamily="49" charset="-122"/>
              </a:rPr>
              <a:t>7×24</a:t>
            </a:r>
            <a:r>
              <a:rPr lang="zh-CN" altLang="en-US" sz="2400" i="0">
                <a:solidFill>
                  <a:prstClr val="black"/>
                </a:solidFill>
                <a:latin typeface="楷体_GB2312" pitchFamily="49" charset="-122"/>
                <a:ea typeface="楷体_GB2312" pitchFamily="49" charset="-122"/>
              </a:rPr>
              <a:t>任何时间内有人值班或保持被呼叫状态。</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有一套系统报告系统问题，并能及时得到响应和处理。</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除了故障转移机制之外，有冗余的设备或系统运行能力。</a:t>
            </a:r>
          </a:p>
          <a:p>
            <a:pPr defTabSz="914400">
              <a:spcBef>
                <a:spcPct val="40000"/>
              </a:spcBef>
              <a:buClr>
                <a:srgbClr val="800080"/>
              </a:buClr>
              <a:buFont typeface="Wingdings" panose="05000000000000000000" pitchFamily="2" charset="2"/>
              <a:buAutoNum type="arabicPeriod"/>
            </a:pPr>
            <a:r>
              <a:rPr lang="zh-CN" altLang="en-US" sz="2400" i="0">
                <a:solidFill>
                  <a:prstClr val="black"/>
                </a:solidFill>
                <a:latin typeface="楷体_GB2312" pitchFamily="49" charset="-122"/>
                <a:ea typeface="楷体_GB2312" pitchFamily="49" charset="-122"/>
              </a:rPr>
              <a:t>做好软件部署的维护记录。 </a:t>
            </a:r>
          </a:p>
        </p:txBody>
      </p:sp>
    </p:spTree>
    <p:extLst>
      <p:ext uri="{BB962C8B-B14F-4D97-AF65-F5344CB8AC3E}">
        <p14:creationId xmlns:p14="http://schemas.microsoft.com/office/powerpoint/2010/main" val="176424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4804">
                                            <p:txEl>
                                              <p:pRg st="1" end="1"/>
                                            </p:txEl>
                                          </p:spTgt>
                                        </p:tgtEl>
                                        <p:attrNameLst>
                                          <p:attrName>style.visibility</p:attrName>
                                        </p:attrNameLst>
                                      </p:cBhvr>
                                      <p:to>
                                        <p:strVal val="visible"/>
                                      </p:to>
                                    </p:set>
                                    <p:animEffect transition="in" filter="wipe(left)">
                                      <p:cBhvr>
                                        <p:cTn id="7" dur="500"/>
                                        <p:tgtEl>
                                          <p:spTgt spid="20480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4804">
                                            <p:txEl>
                                              <p:pRg st="2" end="2"/>
                                            </p:txEl>
                                          </p:spTgt>
                                        </p:tgtEl>
                                        <p:attrNameLst>
                                          <p:attrName>style.visibility</p:attrName>
                                        </p:attrNameLst>
                                      </p:cBhvr>
                                      <p:to>
                                        <p:strVal val="visible"/>
                                      </p:to>
                                    </p:set>
                                    <p:animEffect transition="in" filter="wipe(left)">
                                      <p:cBhvr>
                                        <p:cTn id="12" dur="500"/>
                                        <p:tgtEl>
                                          <p:spTgt spid="20480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4804">
                                            <p:txEl>
                                              <p:pRg st="3" end="3"/>
                                            </p:txEl>
                                          </p:spTgt>
                                        </p:tgtEl>
                                        <p:attrNameLst>
                                          <p:attrName>style.visibility</p:attrName>
                                        </p:attrNameLst>
                                      </p:cBhvr>
                                      <p:to>
                                        <p:strVal val="visible"/>
                                      </p:to>
                                    </p:set>
                                    <p:animEffect transition="in" filter="wipe(left)">
                                      <p:cBhvr>
                                        <p:cTn id="17" dur="500"/>
                                        <p:tgtEl>
                                          <p:spTgt spid="20480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4804">
                                            <p:txEl>
                                              <p:pRg st="4" end="4"/>
                                            </p:txEl>
                                          </p:spTgt>
                                        </p:tgtEl>
                                        <p:attrNameLst>
                                          <p:attrName>style.visibility</p:attrName>
                                        </p:attrNameLst>
                                      </p:cBhvr>
                                      <p:to>
                                        <p:strVal val="visible"/>
                                      </p:to>
                                    </p:set>
                                    <p:animEffect transition="in" filter="wipe(left)">
                                      <p:cBhvr>
                                        <p:cTn id="22" dur="500"/>
                                        <p:tgtEl>
                                          <p:spTgt spid="204804">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4804">
                                            <p:txEl>
                                              <p:pRg st="5" end="5"/>
                                            </p:txEl>
                                          </p:spTgt>
                                        </p:tgtEl>
                                        <p:attrNameLst>
                                          <p:attrName>style.visibility</p:attrName>
                                        </p:attrNameLst>
                                      </p:cBhvr>
                                      <p:to>
                                        <p:strVal val="visible"/>
                                      </p:to>
                                    </p:set>
                                    <p:animEffect transition="in" filter="wipe(left)">
                                      <p:cBhvr>
                                        <p:cTn id="27" dur="500"/>
                                        <p:tgtEl>
                                          <p:spTgt spid="20480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04804">
                                            <p:txEl>
                                              <p:pRg st="6" end="6"/>
                                            </p:txEl>
                                          </p:spTgt>
                                        </p:tgtEl>
                                        <p:attrNameLst>
                                          <p:attrName>style.visibility</p:attrName>
                                        </p:attrNameLst>
                                      </p:cBhvr>
                                      <p:to>
                                        <p:strVal val="visible"/>
                                      </p:to>
                                    </p:set>
                                    <p:animEffect transition="in" filter="wipe(left)">
                                      <p:cBhvr>
                                        <p:cTn id="32" dur="500"/>
                                        <p:tgtEl>
                                          <p:spTgt spid="204804">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4804">
                                            <p:txEl>
                                              <p:pRg st="7" end="7"/>
                                            </p:txEl>
                                          </p:spTgt>
                                        </p:tgtEl>
                                        <p:attrNameLst>
                                          <p:attrName>style.visibility</p:attrName>
                                        </p:attrNameLst>
                                      </p:cBhvr>
                                      <p:to>
                                        <p:strVal val="visible"/>
                                      </p:to>
                                    </p:set>
                                    <p:animEffect transition="in" filter="wipe(left)">
                                      <p:cBhvr>
                                        <p:cTn id="37" dur="500"/>
                                        <p:tgtEl>
                                          <p:spTgt spid="20480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zh-CN" altLang="en-US"/>
              <a:t>软件技术支持</a:t>
            </a:r>
          </a:p>
        </p:txBody>
      </p:sp>
      <p:sp>
        <p:nvSpPr>
          <p:cNvPr id="206851"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206854" name="Rectangle 6"/>
          <p:cNvSpPr>
            <a:spLocks noChangeArrowheads="1"/>
          </p:cNvSpPr>
          <p:nvPr/>
        </p:nvSpPr>
        <p:spPr bwMode="auto">
          <a:xfrm>
            <a:off x="2927351" y="1922077"/>
            <a:ext cx="65" cy="276999"/>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defTabSz="914400"/>
            <a:endParaRPr lang="zh-CN" altLang="en-US">
              <a:solidFill>
                <a:prstClr val="black"/>
              </a:solidFill>
              <a:latin typeface="Calibri"/>
              <a:ea typeface="宋体" panose="02010600030101010101" pitchFamily="2" charset="-122"/>
            </a:endParaRPr>
          </a:p>
        </p:txBody>
      </p:sp>
      <p:pic>
        <p:nvPicPr>
          <p:cNvPr id="206853" name="Picture 5" descr="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6" y="1557339"/>
            <a:ext cx="6157913" cy="4270375"/>
          </a:xfrm>
          <a:prstGeom prst="rect">
            <a:avLst/>
          </a:prstGeom>
          <a:noFill/>
          <a:extLst>
            <a:ext uri="{909E8E84-426E-40DD-AFC4-6F175D3DCCD1}">
              <a14:hiddenFill xmlns:a14="http://schemas.microsoft.com/office/drawing/2010/main">
                <a:solidFill>
                  <a:srgbClr val="FFFFFF"/>
                </a:solidFill>
              </a14:hiddenFill>
            </a:ext>
          </a:extLst>
        </p:spPr>
      </p:pic>
      <p:sp>
        <p:nvSpPr>
          <p:cNvPr id="206852" name="Rectangle 4"/>
          <p:cNvSpPr>
            <a:spLocks noChangeArrowheads="1"/>
          </p:cNvSpPr>
          <p:nvPr/>
        </p:nvSpPr>
        <p:spPr bwMode="auto">
          <a:xfrm>
            <a:off x="4116389" y="5624513"/>
            <a:ext cx="4249737"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buClr>
                <a:srgbClr val="800080"/>
              </a:buClr>
              <a:buFont typeface="Wingdings" panose="05000000000000000000" pitchFamily="2" charset="2"/>
              <a:buAutoNum type="arabicPeriod"/>
            </a:pPr>
            <a:r>
              <a:rPr lang="zh-CN" altLang="en-US" sz="2400">
                <a:solidFill>
                  <a:srgbClr val="0066FF"/>
                </a:solidFill>
                <a:latin typeface="楷体_GB2312" pitchFamily="49" charset="-122"/>
                <a:ea typeface="楷体_GB2312" pitchFamily="49" charset="-122"/>
              </a:rPr>
              <a:t>自助式呼叫中心</a:t>
            </a:r>
          </a:p>
          <a:p>
            <a:pPr defTabSz="914400">
              <a:buClr>
                <a:srgbClr val="800080"/>
              </a:buClr>
              <a:buFont typeface="Wingdings" panose="05000000000000000000" pitchFamily="2" charset="2"/>
              <a:buAutoNum type="arabicPeriod"/>
            </a:pPr>
            <a:r>
              <a:rPr lang="zh-CN" altLang="en-US" sz="2400">
                <a:solidFill>
                  <a:srgbClr val="0066FF"/>
                </a:solidFill>
                <a:latin typeface="楷体_GB2312" pitchFamily="49" charset="-122"/>
                <a:ea typeface="楷体_GB2312" pitchFamily="49" charset="-122"/>
              </a:rPr>
              <a:t>网络远程服务模式 </a:t>
            </a:r>
          </a:p>
        </p:txBody>
      </p:sp>
      <p:sp>
        <p:nvSpPr>
          <p:cNvPr id="206856" name="Line 8"/>
          <p:cNvSpPr>
            <a:spLocks noChangeShapeType="1"/>
          </p:cNvSpPr>
          <p:nvPr/>
        </p:nvSpPr>
        <p:spPr bwMode="auto">
          <a:xfrm flipV="1">
            <a:off x="3648075" y="2528889"/>
            <a:ext cx="0" cy="2879725"/>
          </a:xfrm>
          <a:prstGeom prst="line">
            <a:avLst/>
          </a:prstGeom>
          <a:noFill/>
          <a:ln w="38100" cmpd="dbl">
            <a:solidFill>
              <a:srgbClr val="0066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defTabSz="914400"/>
            <a:endParaRPr lang="zh-CN" altLang="en-US">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22418626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zh-CN" altLang="en-US"/>
              <a:t>软件维护的管理性控制</a:t>
            </a:r>
          </a:p>
        </p:txBody>
      </p:sp>
      <p:sp>
        <p:nvSpPr>
          <p:cNvPr id="208899" name="Rectangle 3"/>
          <p:cNvSpPr>
            <a:spLocks noGrp="1" noChangeArrowheads="1"/>
          </p:cNvSpPr>
          <p:nvPr>
            <p:ph type="body" idx="1"/>
          </p:nvPr>
        </p:nvSpPr>
        <p:spPr>
          <a:xfrm>
            <a:off x="2438400" y="1600201"/>
            <a:ext cx="5710238" cy="3844925"/>
          </a:xfrm>
        </p:spPr>
        <p:txBody>
          <a:bodyPr/>
          <a:lstStyle/>
          <a:p>
            <a:pPr marL="533400" indent="-533400"/>
            <a:r>
              <a:rPr lang="en-US" altLang="zh-CN"/>
              <a:t> </a:t>
            </a:r>
          </a:p>
        </p:txBody>
      </p:sp>
      <p:sp>
        <p:nvSpPr>
          <p:cNvPr id="208900" name="Rectangle 4"/>
          <p:cNvSpPr>
            <a:spLocks noChangeArrowheads="1"/>
          </p:cNvSpPr>
          <p:nvPr/>
        </p:nvSpPr>
        <p:spPr bwMode="auto">
          <a:xfrm>
            <a:off x="2351089" y="1952625"/>
            <a:ext cx="716597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90000"/>
              <a:buFont typeface="Wingdings" panose="05000000000000000000" pitchFamily="2" charset="2"/>
              <a:defRPr sz="2800" b="1" i="1">
                <a:solidFill>
                  <a:schemeClr val="tx1"/>
                </a:solidFill>
                <a:latin typeface="Arial" panose="020B0604020202020204" pitchFamily="34" charset="0"/>
                <a:ea typeface="宋体" panose="02010600030101010101" pitchFamily="2" charset="-122"/>
              </a:defRPr>
            </a:lvl1pPr>
            <a:lvl2pPr marL="838200" indent="-381000" algn="l">
              <a:spcBef>
                <a:spcPct val="20000"/>
              </a:spcBef>
              <a:buClr>
                <a:schemeClr val="accent1"/>
              </a:buClr>
              <a:buSzPct val="75000"/>
              <a:buFont typeface="Wingdings" panose="05000000000000000000" pitchFamily="2" charset="2"/>
              <a:defRPr sz="2000" i="1">
                <a:solidFill>
                  <a:schemeClr val="tx1"/>
                </a:solidFill>
                <a:latin typeface="Arial" panose="020B0604020202020204" pitchFamily="34" charset="0"/>
                <a:ea typeface="宋体" panose="02010600030101010101" pitchFamily="2" charset="-122"/>
              </a:defRPr>
            </a:lvl2pPr>
            <a:lvl3pPr marL="1352550" indent="-438150" algn="l">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7526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209800" indent="-381000" algn="l">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defTabSz="914400">
              <a:buClr>
                <a:srgbClr val="800080"/>
              </a:buClr>
              <a:buFont typeface="Wingdings" panose="05000000000000000000" pitchFamily="2" charset="2"/>
              <a:buAutoNum type="arabicPeriod"/>
            </a:pPr>
            <a:r>
              <a:rPr lang="zh-CN" altLang="en-US">
                <a:solidFill>
                  <a:srgbClr val="0066FF"/>
                </a:solidFill>
              </a:rPr>
              <a:t>面向过程的模型 </a:t>
            </a:r>
          </a:p>
          <a:p>
            <a:pPr defTabSz="914400">
              <a:buClr>
                <a:srgbClr val="800080"/>
              </a:buClr>
              <a:buFont typeface="Wingdings" panose="05000000000000000000" pitchFamily="2" charset="2"/>
              <a:buAutoNum type="arabicPeriod"/>
            </a:pPr>
            <a:r>
              <a:rPr lang="zh-CN" altLang="en-US">
                <a:solidFill>
                  <a:srgbClr val="0066FF"/>
                </a:solidFill>
              </a:rPr>
              <a:t>面向维护机构或事物</a:t>
            </a:r>
            <a:r>
              <a:rPr lang="zh-CN" altLang="en-US">
                <a:solidFill>
                  <a:prstClr val="black"/>
                </a:solidFill>
              </a:rPr>
              <a:t> </a:t>
            </a:r>
          </a:p>
          <a:p>
            <a:pPr defTabSz="914400">
              <a:buClr>
                <a:srgbClr val="800080"/>
              </a:buClr>
            </a:pPr>
            <a:endParaRPr lang="zh-CN" altLang="en-US">
              <a:solidFill>
                <a:prstClr val="black"/>
              </a:solidFill>
            </a:endParaRPr>
          </a:p>
          <a:p>
            <a:pPr defTabSz="914400">
              <a:buClr>
                <a:srgbClr val="800080"/>
              </a:buClr>
            </a:pPr>
            <a:r>
              <a:rPr lang="en-US" altLang="zh-CN">
                <a:solidFill>
                  <a:prstClr val="black"/>
                </a:solidFill>
              </a:rPr>
              <a:t>IEEE1219</a:t>
            </a:r>
            <a:r>
              <a:rPr lang="zh-CN" altLang="en-US">
                <a:solidFill>
                  <a:prstClr val="black"/>
                </a:solidFill>
              </a:rPr>
              <a:t>即</a:t>
            </a:r>
            <a:r>
              <a:rPr lang="en-US" altLang="zh-CN">
                <a:solidFill>
                  <a:prstClr val="black"/>
                </a:solidFill>
              </a:rPr>
              <a:t>《</a:t>
            </a:r>
            <a:r>
              <a:rPr lang="zh-CN" altLang="en-US">
                <a:solidFill>
                  <a:prstClr val="black"/>
                </a:solidFill>
              </a:rPr>
              <a:t>软件维护标准</a:t>
            </a:r>
            <a:r>
              <a:rPr lang="en-US" altLang="zh-CN">
                <a:solidFill>
                  <a:prstClr val="black"/>
                </a:solidFill>
              </a:rPr>
              <a:t>》 </a:t>
            </a:r>
          </a:p>
          <a:p>
            <a:pPr defTabSz="914400">
              <a:buClr>
                <a:srgbClr val="800080"/>
              </a:buClr>
            </a:pPr>
            <a:r>
              <a:rPr lang="zh-CN" altLang="en-US">
                <a:solidFill>
                  <a:srgbClr val="0000FF"/>
                </a:solidFill>
              </a:rPr>
              <a:t>修改请求、分类与鉴别、分析、设计、实现、系统测试、验收试验、交付 </a:t>
            </a:r>
          </a:p>
        </p:txBody>
      </p:sp>
    </p:spTree>
    <p:extLst>
      <p:ext uri="{BB962C8B-B14F-4D97-AF65-F5344CB8AC3E}">
        <p14:creationId xmlns:p14="http://schemas.microsoft.com/office/powerpoint/2010/main" val="19776056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b="1" dirty="0">
                <a:cs typeface="+mn-ea"/>
                <a:sym typeface="+mn-lt"/>
              </a:rPr>
              <a:t>THANK YOU FOR WATCHING</a:t>
            </a:r>
          </a:p>
        </p:txBody>
      </p:sp>
      <p:sp>
        <p:nvSpPr>
          <p:cNvPr id="4" name="文本占位符 3"/>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87643505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模板页面">
  <a:themeElements>
    <a:clrScheme name="自定义 2">
      <a:dk1>
        <a:srgbClr val="000000"/>
      </a:dk1>
      <a:lt1>
        <a:srgbClr val="FFFFFF"/>
      </a:lt1>
      <a:dk2>
        <a:srgbClr val="010101"/>
      </a:dk2>
      <a:lt2>
        <a:srgbClr val="FFFFFF"/>
      </a:lt2>
      <a:accent1>
        <a:srgbClr val="FFC000"/>
      </a:accent1>
      <a:accent2>
        <a:srgbClr val="B2A32B"/>
      </a:accent2>
      <a:accent3>
        <a:srgbClr val="6EA8CC"/>
      </a:accent3>
      <a:accent4>
        <a:srgbClr val="BDE6FF"/>
      </a:accent4>
      <a:accent5>
        <a:srgbClr val="000000"/>
      </a:accent5>
      <a:accent6>
        <a:srgbClr val="FFE93D"/>
      </a:accent6>
      <a:hlink>
        <a:srgbClr val="0563C1"/>
      </a:hlink>
      <a:folHlink>
        <a:srgbClr val="954F72"/>
      </a:folHlink>
    </a:clrScheme>
    <a:fontScheme name="Temp">
      <a:majorFont>
        <a:latin typeface="Century Gothic"/>
        <a:ea typeface="微软雅黑"/>
        <a:cs typeface=""/>
      </a:majorFont>
      <a:minorFont>
        <a:latin typeface="Century Gothic"/>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2056</TotalTime>
  <Words>2943</Words>
  <Application>Microsoft Office PowerPoint</Application>
  <PresentationFormat>宽屏</PresentationFormat>
  <Paragraphs>199</Paragraphs>
  <Slides>24</Slides>
  <Notes>12</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24</vt:i4>
      </vt:variant>
    </vt:vector>
  </HeadingPairs>
  <TitlesOfParts>
    <vt:vector size="38" baseType="lpstr">
      <vt:lpstr>Adobe Myungjo Std M</vt:lpstr>
      <vt:lpstr>Century Gothic</vt:lpstr>
      <vt:lpstr>等线</vt:lpstr>
      <vt:lpstr>楷体_GB2312</vt:lpstr>
      <vt:lpstr>宋体</vt:lpstr>
      <vt:lpstr>微软雅黑</vt:lpstr>
      <vt:lpstr>Arial</vt:lpstr>
      <vt:lpstr>Calibri</vt:lpstr>
      <vt:lpstr>Segoe UI Light</vt:lpstr>
      <vt:lpstr>Wingdings</vt:lpstr>
      <vt:lpstr>模板页面</vt:lpstr>
      <vt:lpstr>OfficePLUS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软件维护</vt:lpstr>
      <vt:lpstr>软件维护的作用和分类</vt:lpstr>
      <vt:lpstr>软件维护的框架和计划</vt:lpstr>
      <vt:lpstr>软件产品的维护质量</vt:lpstr>
      <vt:lpstr>软件部署的维护质量</vt:lpstr>
      <vt:lpstr>软件技术支持</vt:lpstr>
      <vt:lpstr>软件维护的管理性控制</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OfficePLUS</dc:creator>
  <cp:keywords/>
  <dc:description/>
  <cp:lastModifiedBy>nie</cp:lastModifiedBy>
  <cp:revision>100</cp:revision>
  <dcterms:created xsi:type="dcterms:W3CDTF">2015-08-18T02:51:41Z</dcterms:created>
  <dcterms:modified xsi:type="dcterms:W3CDTF">2019-10-22T01:13:30Z</dcterms:modified>
  <cp:category/>
</cp:coreProperties>
</file>