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6" r:id="rId3"/>
    <p:sldId id="266" r:id="rId4"/>
    <p:sldId id="257" r:id="rId5"/>
    <p:sldId id="258" r:id="rId7"/>
    <p:sldId id="259" r:id="rId8"/>
    <p:sldId id="261" r:id="rId9"/>
    <p:sldId id="260" r:id="rId10"/>
    <p:sldId id="262" r:id="rId11"/>
    <p:sldId id="271" r:id="rId12"/>
    <p:sldId id="272" r:id="rId13"/>
    <p:sldId id="273" r:id="rId14"/>
    <p:sldId id="267" r:id="rId15"/>
    <p:sldId id="268" r:id="rId16"/>
    <p:sldId id="263" r:id="rId17"/>
    <p:sldId id="269" r:id="rId18"/>
    <p:sldId id="274" r:id="rId19"/>
    <p:sldId id="264" r:id="rId20"/>
    <p:sldId id="276" r:id="rId21"/>
    <p:sldId id="275" r:id="rId22"/>
    <p:sldId id="265" r:id="rId23"/>
    <p:sldId id="270"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64" d="100"/>
          <a:sy n="64" d="100"/>
        </p:scale>
        <p:origin x="90"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DD8B99-ECCB-3742-8E0B-4EF6C2E25AD7}"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DF86A8-7709-314F-8795-94052471C5E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smtClean="0"/>
              <a:t>我们将首先给出程序分析的定义，说明程序分析的困难所在，具体剖析程序分析的技术细节，阐述程序分析的应用场景，并预测程序分析的可能发展方向</a:t>
            </a:r>
            <a:endParaRPr kumimoji="1" lang="zh-CN" altLang="en-US" dirty="0"/>
          </a:p>
        </p:txBody>
      </p:sp>
      <p:sp>
        <p:nvSpPr>
          <p:cNvPr id="4" name="幻灯片编号占位符 3"/>
          <p:cNvSpPr>
            <a:spLocks noGrp="1"/>
          </p:cNvSpPr>
          <p:nvPr>
            <p:ph type="sldNum" sz="quarter" idx="10"/>
          </p:nvPr>
        </p:nvSpPr>
        <p:spPr/>
        <p:txBody>
          <a:bodyPr/>
          <a:lstStyle/>
          <a:p>
            <a:fld id="{27DF86A8-7709-314F-8795-94052471C5E6}"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smtClean="0"/>
              <a:t>我们将以控制流、数据流分析为例来说明程序分析的细节，并介绍符号执行技术</a:t>
            </a:r>
            <a:endParaRPr kumimoji="1" lang="zh-CN" altLang="en-US" dirty="0"/>
          </a:p>
        </p:txBody>
      </p:sp>
      <p:sp>
        <p:nvSpPr>
          <p:cNvPr id="4" name="幻灯片编号占位符 3"/>
          <p:cNvSpPr>
            <a:spLocks noGrp="1"/>
          </p:cNvSpPr>
          <p:nvPr>
            <p:ph type="sldNum" sz="quarter" idx="10"/>
          </p:nvPr>
        </p:nvSpPr>
        <p:spPr/>
        <p:txBody>
          <a:bodyPr/>
          <a:lstStyle/>
          <a:p>
            <a:fld id="{27DF86A8-7709-314F-8795-94052471C5E6}"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smtClean="0"/>
              <a:t>单击此处编辑母版文本样式</a:t>
            </a:r>
            <a:endParaRPr kumimoji="1" lang="zh-CN" altLang="en-US" smtClean="0"/>
          </a:p>
        </p:txBody>
      </p:sp>
      <p:sp>
        <p:nvSpPr>
          <p:cNvPr id="4" name="日期占位符 3"/>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5710B21B-F314-9145-99C2-855A2556C6C6}"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1CCCF94-D577-9446-BF16-23027208FFCC}"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390652" y="1027113"/>
            <a:ext cx="9366249" cy="4805362"/>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日期占位符 2"/>
          <p:cNvSpPr>
            <a:spLocks noGrp="1"/>
          </p:cNvSpPr>
          <p:nvPr>
            <p:ph type="dt" sz="half" idx="10"/>
          </p:nvPr>
        </p:nvSpPr>
        <p:spPr/>
        <p:txBody>
          <a:bodyPr/>
          <a:lstStyle/>
          <a:p>
            <a:pPr algn="r" fontAlgn="base">
              <a:spcBef>
                <a:spcPct val="0"/>
              </a:spcBef>
              <a:spcAft>
                <a:spcPct val="0"/>
              </a:spcAft>
              <a:defRPr/>
            </a:pPr>
            <a:fld id="{8A7224ED-8DD5-40E6-813E-2CA29140405C}" type="datetime4">
              <a:rPr lang="zh-CN" altLang="en-US" smtClean="0">
                <a:solidFill>
                  <a:srgbClr val="FEFEFE"/>
                </a:solidFill>
                <a:latin typeface="Arial" panose="020B0604020202020204" pitchFamily="34" charset="0"/>
              </a:rPr>
            </a:fld>
            <a:endParaRPr lang="en-US" sz="1800">
              <a:solidFill>
                <a:schemeClr val="tx1"/>
              </a:solidFill>
              <a:latin typeface="Arial" panose="020B0604020202020204" pitchFamily="34" charset="0"/>
              <a:ea typeface="宋体" panose="02010600030101010101" pitchFamily="2" charset="-122"/>
            </a:endParaRPr>
          </a:p>
        </p:txBody>
      </p:sp>
      <p:sp>
        <p:nvSpPr>
          <p:cNvPr id="4" name="页脚占位符 3"/>
          <p:cNvSpPr>
            <a:spLocks noGrp="1"/>
          </p:cNvSpPr>
          <p:nvPr>
            <p:ph type="ftr" sz="quarter" idx="11"/>
          </p:nvPr>
        </p:nvSpPr>
        <p:spPr/>
        <p:txBody>
          <a:bodyPr/>
          <a:lstStyle/>
          <a:p>
            <a:pPr algn="r" fontAlgn="base">
              <a:spcBef>
                <a:spcPct val="0"/>
              </a:spcBef>
              <a:spcAft>
                <a:spcPct val="0"/>
              </a:spcAft>
              <a:defRPr/>
            </a:pPr>
            <a:endParaRPr lang="zh-CN" altLang="zh-CN">
              <a:solidFill>
                <a:schemeClr val="accent1"/>
              </a:solidFill>
              <a:latin typeface="Arial" panose="020B0604020202020204" pitchFamily="34" charset="0"/>
            </a:endParaRPr>
          </a:p>
        </p:txBody>
      </p:sp>
      <p:sp>
        <p:nvSpPr>
          <p:cNvPr id="5" name="灯片编号占位符 4"/>
          <p:cNvSpPr>
            <a:spLocks noGrp="1"/>
          </p:cNvSpPr>
          <p:nvPr>
            <p:ph type="sldNum" sz="quarter" idx="12"/>
          </p:nvPr>
        </p:nvSpPr>
        <p:spPr/>
        <p:txBody>
          <a:bodyPr/>
          <a:lstStyle/>
          <a:p>
            <a:pPr algn="l" fontAlgn="base">
              <a:spcBef>
                <a:spcPct val="0"/>
              </a:spcBef>
              <a:spcAft>
                <a:spcPct val="0"/>
              </a:spcAft>
              <a:defRPr/>
            </a:pPr>
            <a:fld id="{7F13344D-4725-4894-AD50-CF95EF892647}" type="slidenum">
              <a:rPr lang="zh-CN" altLang="en-US" smtClean="0">
                <a:solidFill>
                  <a:srgbClr val="FEFEFE"/>
                </a:solidFill>
                <a:latin typeface="Arial" panose="020B0604020202020204" pitchFamily="34" charset="0"/>
              </a:rPr>
            </a:fld>
            <a:endParaRPr lang="en-US" altLang="zh-CN" sz="1800">
              <a:solidFill>
                <a:schemeClr val="tx1"/>
              </a:solidFill>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0B21B-F314-9145-99C2-855A2556C6C6}"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CCCF94-D577-9446-BF16-23027208FFCC}"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image" Target="../media/image2.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dirty="0" smtClean="0"/>
              <a:t>程序分析</a:t>
            </a:r>
            <a:endParaRPr kumimoji="1" lang="zh-CN" altLang="en-US" dirty="0"/>
          </a:p>
        </p:txBody>
      </p:sp>
      <p:sp>
        <p:nvSpPr>
          <p:cNvPr id="3" name="副标题 2"/>
          <p:cNvSpPr>
            <a:spLocks noGrp="1"/>
          </p:cNvSpPr>
          <p:nvPr>
            <p:ph type="subTitle" idx="1"/>
          </p:nvPr>
        </p:nvSpPr>
        <p:spPr/>
        <p:txBody>
          <a:bodyPr/>
          <a:lstStyle/>
          <a:p>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开场白</a:t>
            </a:r>
            <a:endParaRPr kumimoji="1" lang="zh-CN" altLang="en-US" dirty="0"/>
          </a:p>
        </p:txBody>
      </p:sp>
      <p:sp>
        <p:nvSpPr>
          <p:cNvPr id="3" name="内容占位符 2"/>
          <p:cNvSpPr>
            <a:spLocks noGrp="1"/>
          </p:cNvSpPr>
          <p:nvPr>
            <p:ph idx="1"/>
          </p:nvPr>
        </p:nvSpPr>
        <p:spPr/>
        <p:txBody>
          <a:bodyPr/>
          <a:lstStyle/>
          <a:p>
            <a:r>
              <a:rPr lang="zh-CN" altLang="en-US" dirty="0" smtClean="0"/>
              <a:t>在</a:t>
            </a:r>
            <a:r>
              <a:rPr lang="zh-CN" altLang="en-US" dirty="0"/>
              <a:t>计算机软件界</a:t>
            </a:r>
            <a:r>
              <a:rPr lang="zh-CN" altLang="en-US" dirty="0" smtClean="0"/>
              <a:t>，一个好的程序员不仅需要</a:t>
            </a:r>
            <a:endParaRPr lang="zh-CN" altLang="en-US" dirty="0" smtClean="0"/>
          </a:p>
          <a:p>
            <a:pPr lvl="1"/>
            <a:r>
              <a:rPr lang="zh-CN" altLang="en-US" dirty="0" smtClean="0"/>
              <a:t>脚踏实地</a:t>
            </a:r>
            <a:r>
              <a:rPr lang="zh-CN" altLang="en-US" dirty="0"/>
              <a:t>掌握高超的编程</a:t>
            </a:r>
            <a:r>
              <a:rPr lang="zh-CN" altLang="en-US" dirty="0" smtClean="0"/>
              <a:t>能力</a:t>
            </a:r>
            <a:endParaRPr lang="zh-CN" altLang="en-US" dirty="0" smtClean="0"/>
          </a:p>
          <a:p>
            <a:pPr lvl="1"/>
            <a:r>
              <a:rPr lang="zh-CN" altLang="en-US" dirty="0" smtClean="0"/>
              <a:t>在</a:t>
            </a:r>
            <a:r>
              <a:rPr lang="zh-CN" altLang="en-US" dirty="0"/>
              <a:t>工作实践</a:t>
            </a:r>
            <a:r>
              <a:rPr lang="zh-CN" altLang="en-US" dirty="0" smtClean="0"/>
              <a:t>中，应用</a:t>
            </a:r>
            <a:r>
              <a:rPr lang="zh-CN" altLang="en-US" dirty="0"/>
              <a:t>数据结构实现高质量程序和选择好的</a:t>
            </a:r>
            <a:r>
              <a:rPr lang="zh-CN" altLang="en-US" dirty="0" smtClean="0"/>
              <a:t>算法，以提高</a:t>
            </a:r>
            <a:r>
              <a:rPr lang="zh-CN" altLang="en-US" dirty="0"/>
              <a:t>程序</a:t>
            </a:r>
            <a:r>
              <a:rPr lang="zh-CN" altLang="en-US" dirty="0" smtClean="0"/>
              <a:t>效率</a:t>
            </a:r>
            <a:endParaRPr lang="zh-CN" altLang="en-US" dirty="0" smtClean="0"/>
          </a:p>
          <a:p>
            <a:pPr lvl="1"/>
            <a:r>
              <a:rPr lang="zh-CN" altLang="en-US" dirty="0" smtClean="0"/>
              <a:t>在</a:t>
            </a:r>
            <a:r>
              <a:rPr lang="zh-CN" altLang="en-US" dirty="0"/>
              <a:t>项目开发的软件工程</a:t>
            </a:r>
            <a:r>
              <a:rPr lang="zh-CN" altLang="en-US" dirty="0" smtClean="0"/>
              <a:t>中，对</a:t>
            </a:r>
            <a:r>
              <a:rPr lang="zh-CN" altLang="en-US" dirty="0"/>
              <a:t>总体设计、详细设计和软件测试能熟练掌握和</a:t>
            </a:r>
            <a:r>
              <a:rPr lang="zh-CN" altLang="en-US" dirty="0" smtClean="0"/>
              <a:t>应用</a:t>
            </a:r>
            <a:endParaRPr lang="zh-CN" altLang="en-US" dirty="0" smtClean="0"/>
          </a:p>
          <a:p>
            <a:r>
              <a:rPr lang="zh-CN" altLang="en-US" dirty="0" smtClean="0"/>
              <a:t>而且非常有</a:t>
            </a:r>
            <a:r>
              <a:rPr lang="zh-CN" altLang="en-US" dirty="0"/>
              <a:t>必要掌握程序分析</a:t>
            </a:r>
            <a:r>
              <a:rPr lang="zh-CN" altLang="en-US" dirty="0" smtClean="0"/>
              <a:t>技术</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大纲</a:t>
            </a:r>
            <a:endParaRPr kumimoji="1" lang="zh-CN" altLang="en-US" dirty="0"/>
          </a:p>
        </p:txBody>
      </p:sp>
      <p:sp>
        <p:nvSpPr>
          <p:cNvPr id="3" name="内容占位符 2"/>
          <p:cNvSpPr>
            <a:spLocks noGrp="1"/>
          </p:cNvSpPr>
          <p:nvPr>
            <p:ph idx="1"/>
          </p:nvPr>
        </p:nvSpPr>
        <p:spPr/>
        <p:txBody>
          <a:bodyPr/>
          <a:lstStyle/>
          <a:p>
            <a:r>
              <a:rPr kumimoji="1" lang="zh-CN" altLang="en-US" dirty="0" smtClean="0"/>
              <a:t>定义</a:t>
            </a:r>
            <a:endParaRPr kumimoji="1" lang="zh-CN" altLang="en-US" dirty="0" smtClean="0"/>
          </a:p>
          <a:p>
            <a:r>
              <a:rPr kumimoji="1" lang="zh-CN" altLang="en-US" dirty="0" smtClean="0"/>
              <a:t>困难</a:t>
            </a:r>
            <a:endParaRPr kumimoji="1" lang="zh-CN" altLang="en-US" dirty="0" smtClean="0"/>
          </a:p>
          <a:p>
            <a:r>
              <a:rPr kumimoji="1" lang="zh-CN" altLang="en-US" dirty="0" smtClean="0"/>
              <a:t>技术</a:t>
            </a:r>
            <a:endParaRPr kumimoji="1" lang="zh-CN" altLang="en-US" dirty="0" smtClean="0"/>
          </a:p>
          <a:p>
            <a:pPr lvl="1"/>
            <a:r>
              <a:rPr kumimoji="1" lang="zh-CN" altLang="en-US" dirty="0" smtClean="0"/>
              <a:t>静态分析</a:t>
            </a:r>
            <a:endParaRPr kumimoji="1" lang="zh-CN" altLang="en-US" dirty="0" smtClean="0"/>
          </a:p>
          <a:p>
            <a:pPr lvl="1"/>
            <a:r>
              <a:rPr kumimoji="1" lang="zh-CN" altLang="en-US" dirty="0" smtClean="0"/>
              <a:t>动态分析</a:t>
            </a:r>
            <a:endParaRPr kumimoji="1" lang="zh-CN" altLang="en-US" dirty="0" smtClean="0"/>
          </a:p>
          <a:p>
            <a:r>
              <a:rPr kumimoji="1" lang="zh-CN" altLang="en-US" dirty="0" smtClean="0"/>
              <a:t>应用</a:t>
            </a:r>
            <a:endParaRPr kumimoji="1" lang="zh-CN" altLang="en-US" dirty="0" smtClean="0"/>
          </a:p>
          <a:p>
            <a:r>
              <a:rPr kumimoji="1" lang="zh-CN" altLang="en-US" dirty="0" smtClean="0"/>
              <a:t>发展</a:t>
            </a:r>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定义</a:t>
            </a:r>
            <a:endParaRPr kumimoji="1" lang="zh-CN" altLang="en-US" dirty="0"/>
          </a:p>
        </p:txBody>
      </p:sp>
      <p:sp>
        <p:nvSpPr>
          <p:cNvPr id="3" name="内容占位符 2"/>
          <p:cNvSpPr>
            <a:spLocks noGrp="1"/>
          </p:cNvSpPr>
          <p:nvPr>
            <p:ph idx="1"/>
          </p:nvPr>
        </p:nvSpPr>
        <p:spPr/>
        <p:txBody>
          <a:bodyPr>
            <a:normAutofit/>
          </a:bodyPr>
          <a:lstStyle/>
          <a:p>
            <a:r>
              <a:rPr lang="zh-CN" altLang="en-US" dirty="0"/>
              <a:t>程序</a:t>
            </a:r>
            <a:r>
              <a:rPr lang="zh-CN" altLang="en-US" dirty="0" smtClean="0"/>
              <a:t>分析是对</a:t>
            </a:r>
            <a:r>
              <a:rPr lang="zh-CN" altLang="en-US" dirty="0"/>
              <a:t>计算机程序进行自动化的处理</a:t>
            </a:r>
            <a:r>
              <a:rPr lang="en-US" altLang="zh-CN" dirty="0"/>
              <a:t>, </a:t>
            </a:r>
            <a:r>
              <a:rPr lang="zh-CN" altLang="en-US" dirty="0"/>
              <a:t>以确认或发现其特性</a:t>
            </a:r>
            <a:r>
              <a:rPr lang="en-US" altLang="zh-CN" dirty="0"/>
              <a:t>, </a:t>
            </a:r>
            <a:r>
              <a:rPr lang="zh-CN" altLang="en-US" dirty="0"/>
              <a:t>比如性能、正确性、</a:t>
            </a:r>
            <a:r>
              <a:rPr lang="zh-CN" altLang="en-US" dirty="0" smtClean="0"/>
              <a:t>安全性等。</a:t>
            </a:r>
            <a:endParaRPr lang="zh-CN" altLang="en-US" dirty="0" smtClean="0"/>
          </a:p>
          <a:p>
            <a:r>
              <a:rPr lang="zh-CN" altLang="en-US" dirty="0" smtClean="0"/>
              <a:t>程序</a:t>
            </a:r>
            <a:r>
              <a:rPr lang="zh-CN" altLang="en-US" dirty="0"/>
              <a:t>分析的结果可用于编译优化、提供警告信息等</a:t>
            </a:r>
            <a:r>
              <a:rPr lang="en-US" altLang="zh-CN" dirty="0"/>
              <a:t>, </a:t>
            </a:r>
            <a:r>
              <a:rPr lang="zh-CN" altLang="en-US" dirty="0"/>
              <a:t>比如被分析程序在某处可能出现指针为空、数组下标越界的情形等</a:t>
            </a:r>
            <a:r>
              <a:rPr lang="en-US" altLang="zh-CN" dirty="0"/>
              <a:t>.</a:t>
            </a:r>
            <a:endParaRPr lang="en-US" altLang="zh-CN" dirty="0"/>
          </a:p>
          <a:p>
            <a:r>
              <a:rPr lang="zh-CN" altLang="en-US" dirty="0" smtClean="0"/>
              <a:t>与</a:t>
            </a:r>
            <a:r>
              <a:rPr lang="zh-CN" altLang="en-US" dirty="0"/>
              <a:t>程序分析密切相关的两类方法是形式验证及</a:t>
            </a:r>
            <a:r>
              <a:rPr lang="zh-CN" altLang="en-US" dirty="0" smtClean="0"/>
              <a:t>测试</a:t>
            </a:r>
            <a:endParaRPr lang="zh-CN" altLang="en-US" dirty="0" smtClean="0"/>
          </a:p>
          <a:p>
            <a:pPr lvl="1"/>
            <a:r>
              <a:rPr lang="zh-CN" altLang="en-US" dirty="0" smtClean="0"/>
              <a:t>前者</a:t>
            </a:r>
            <a:r>
              <a:rPr lang="zh-CN" altLang="en-US" dirty="0"/>
              <a:t>试图通过形式化方法</a:t>
            </a:r>
            <a:r>
              <a:rPr lang="en-US" altLang="zh-CN" dirty="0"/>
              <a:t>, </a:t>
            </a:r>
            <a:r>
              <a:rPr lang="zh-CN" altLang="en-US" dirty="0"/>
              <a:t>严格证明程序具有某种性质</a:t>
            </a:r>
            <a:r>
              <a:rPr lang="en-US" altLang="zh-CN" dirty="0"/>
              <a:t>, </a:t>
            </a:r>
            <a:r>
              <a:rPr lang="zh-CN" altLang="en-US" dirty="0"/>
              <a:t>目前</a:t>
            </a:r>
            <a:r>
              <a:rPr lang="en-US" altLang="zh-CN" dirty="0"/>
              <a:t>, </a:t>
            </a:r>
            <a:r>
              <a:rPr lang="zh-CN" altLang="en-US" dirty="0"/>
              <a:t>其自动化程度尚有不足</a:t>
            </a:r>
            <a:r>
              <a:rPr lang="en-US" altLang="zh-CN" dirty="0"/>
              <a:t>, </a:t>
            </a:r>
            <a:r>
              <a:rPr lang="zh-CN" altLang="en-US" dirty="0"/>
              <a:t>难于实用</a:t>
            </a:r>
            <a:r>
              <a:rPr lang="en-US" altLang="zh-CN" dirty="0"/>
              <a:t>; </a:t>
            </a:r>
            <a:endParaRPr lang="zh-CN" altLang="en-US" dirty="0" smtClean="0"/>
          </a:p>
          <a:p>
            <a:pPr lvl="1"/>
            <a:r>
              <a:rPr lang="zh-CN" altLang="en-US" dirty="0" smtClean="0"/>
              <a:t>测试</a:t>
            </a:r>
            <a:r>
              <a:rPr lang="zh-CN" altLang="en-US" dirty="0"/>
              <a:t>方法多种多样</a:t>
            </a:r>
            <a:r>
              <a:rPr lang="en-US" altLang="zh-CN" dirty="0"/>
              <a:t>, </a:t>
            </a:r>
            <a:r>
              <a:rPr lang="zh-CN" altLang="en-US" dirty="0"/>
              <a:t>在实际工程中广泛使用</a:t>
            </a:r>
            <a:r>
              <a:rPr lang="en-US" altLang="zh-CN" dirty="0"/>
              <a:t>, </a:t>
            </a:r>
            <a:r>
              <a:rPr lang="zh-CN" altLang="en-US" dirty="0"/>
              <a:t>这些方法也是以发现程序中的缺陷为目的</a:t>
            </a:r>
            <a:r>
              <a:rPr lang="en-US" altLang="zh-CN" dirty="0"/>
              <a:t>, </a:t>
            </a:r>
            <a:r>
              <a:rPr lang="zh-CN" altLang="en-US" dirty="0"/>
              <a:t>它们一般都需要人们提供输入数据</a:t>
            </a:r>
            <a:r>
              <a:rPr lang="en-US" altLang="zh-CN" dirty="0"/>
              <a:t>, </a:t>
            </a:r>
            <a:r>
              <a:rPr lang="zh-CN" altLang="en-US" dirty="0"/>
              <a:t>以便运行程序</a:t>
            </a:r>
            <a:r>
              <a:rPr lang="en-US" altLang="zh-CN" dirty="0"/>
              <a:t>, </a:t>
            </a:r>
            <a:r>
              <a:rPr lang="zh-CN" altLang="en-US" dirty="0"/>
              <a:t>观察其输出结果</a:t>
            </a:r>
            <a:r>
              <a:rPr lang="en-US" altLang="zh-CN" dirty="0"/>
              <a:t>.</a:t>
            </a:r>
            <a:endParaRPr lang="en-US" altLang="zh-CN" dirty="0"/>
          </a:p>
          <a:p>
            <a:endParaRPr kumimoji="1" lang="zh-CN" altLang="en-US" dirty="0"/>
          </a:p>
        </p:txBody>
      </p:sp>
      <p:pic>
        <p:nvPicPr>
          <p:cNvPr id="4" name="Picture 4" descr="2"/>
          <p:cNvPicPr>
            <a:picLocks noChangeAspect="1"/>
          </p:cNvPicPr>
          <p:nvPr/>
        </p:nvPicPr>
        <p:blipFill>
          <a:blip r:embed="rId1"/>
          <a:stretch>
            <a:fillRect/>
          </a:stretch>
        </p:blipFill>
        <p:spPr>
          <a:xfrm>
            <a:off x="7335945" y="0"/>
            <a:ext cx="3523839" cy="1786982"/>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困难</a:t>
            </a:r>
            <a:endParaRPr kumimoji="1" lang="zh-CN" altLang="en-US" dirty="0"/>
          </a:p>
        </p:txBody>
      </p:sp>
      <p:sp>
        <p:nvSpPr>
          <p:cNvPr id="3" name="内容占位符 2"/>
          <p:cNvSpPr>
            <a:spLocks noGrp="1"/>
          </p:cNvSpPr>
          <p:nvPr>
            <p:ph idx="1"/>
          </p:nvPr>
        </p:nvSpPr>
        <p:spPr/>
        <p:txBody>
          <a:bodyPr>
            <a:normAutofit lnSpcReduction="10000"/>
          </a:bodyPr>
          <a:lstStyle/>
          <a:p>
            <a:r>
              <a:rPr lang="zh-CN" altLang="en-US" dirty="0"/>
              <a:t>由于程序语言的复杂性、程序性质的多样性</a:t>
            </a:r>
            <a:r>
              <a:rPr lang="en-US" altLang="zh-CN" dirty="0"/>
              <a:t>, </a:t>
            </a:r>
            <a:r>
              <a:rPr lang="zh-CN" altLang="en-US" dirty="0"/>
              <a:t>自动化的程序分析往往具有相当大的</a:t>
            </a:r>
            <a:r>
              <a:rPr lang="zh-CN" altLang="en-US" dirty="0" smtClean="0"/>
              <a:t>难度</a:t>
            </a:r>
            <a:endParaRPr lang="zh-CN" altLang="en-US" dirty="0" smtClean="0"/>
          </a:p>
          <a:p>
            <a:pPr lvl="1"/>
            <a:r>
              <a:rPr lang="zh-CN" altLang="en-US" dirty="0"/>
              <a:t>程序分析的对象既可以是源代码</a:t>
            </a:r>
            <a:r>
              <a:rPr lang="en-US" altLang="zh-CN" dirty="0"/>
              <a:t>, </a:t>
            </a:r>
            <a:r>
              <a:rPr lang="zh-CN" altLang="en-US" dirty="0"/>
              <a:t>也可以是二进制可执行</a:t>
            </a:r>
            <a:r>
              <a:rPr lang="zh-CN" altLang="en-US" dirty="0" smtClean="0"/>
              <a:t>代码</a:t>
            </a:r>
            <a:endParaRPr lang="zh-CN" altLang="en-US" dirty="0" smtClean="0"/>
          </a:p>
          <a:p>
            <a:pPr lvl="1"/>
            <a:r>
              <a:rPr lang="zh-CN" altLang="en-US" dirty="0" smtClean="0"/>
              <a:t>不同的实现语言可能</a:t>
            </a:r>
            <a:r>
              <a:rPr lang="zh-CN" altLang="en-US" dirty="0"/>
              <a:t>需要不同的分析</a:t>
            </a:r>
            <a:r>
              <a:rPr lang="zh-CN" altLang="en-US" dirty="0" smtClean="0"/>
              <a:t>技术</a:t>
            </a:r>
            <a:endParaRPr lang="zh-CN" altLang="en-US" dirty="0" smtClean="0"/>
          </a:p>
          <a:p>
            <a:pPr lvl="1"/>
            <a:r>
              <a:rPr lang="zh-CN" altLang="en-US" dirty="0" smtClean="0"/>
              <a:t>同一种语言</a:t>
            </a:r>
            <a:r>
              <a:rPr lang="zh-CN" altLang="en-US" dirty="0"/>
              <a:t>编写的</a:t>
            </a:r>
            <a:r>
              <a:rPr lang="zh-CN" altLang="en-US" dirty="0" smtClean="0"/>
              <a:t>程序也</a:t>
            </a:r>
            <a:r>
              <a:rPr lang="zh-CN" altLang="en-US" dirty="0"/>
              <a:t>可能具有不同的</a:t>
            </a:r>
            <a:r>
              <a:rPr lang="zh-CN" altLang="en-US" dirty="0" smtClean="0"/>
              <a:t>特性</a:t>
            </a:r>
            <a:endParaRPr lang="zh-CN" altLang="en-US" dirty="0" smtClean="0"/>
          </a:p>
          <a:p>
            <a:pPr lvl="1"/>
            <a:r>
              <a:rPr lang="zh-CN" altLang="en-US" dirty="0" smtClean="0"/>
              <a:t>从</a:t>
            </a:r>
            <a:r>
              <a:rPr lang="zh-CN" altLang="en-US" dirty="0"/>
              <a:t>规模看</a:t>
            </a:r>
            <a:r>
              <a:rPr lang="en-US" altLang="zh-CN" dirty="0"/>
              <a:t>, </a:t>
            </a:r>
            <a:r>
              <a:rPr lang="zh-CN" altLang="en-US" dirty="0"/>
              <a:t>被分析的程序可以是几百行的代码</a:t>
            </a:r>
            <a:r>
              <a:rPr lang="en-US" altLang="zh-CN" dirty="0"/>
              <a:t>, </a:t>
            </a:r>
            <a:r>
              <a:rPr lang="zh-CN" altLang="en-US" dirty="0"/>
              <a:t>也可以是几十万行乃至于上千万行</a:t>
            </a:r>
            <a:r>
              <a:rPr lang="zh-CN" altLang="en-US" dirty="0" smtClean="0"/>
              <a:t>代码</a:t>
            </a:r>
            <a:endParaRPr lang="zh-CN" altLang="en-US" dirty="0" smtClean="0"/>
          </a:p>
          <a:p>
            <a:pPr lvl="1"/>
            <a:r>
              <a:rPr lang="zh-CN" altLang="en-US" dirty="0"/>
              <a:t>对不同类型的程序</a:t>
            </a:r>
            <a:r>
              <a:rPr lang="en-US" altLang="zh-CN" dirty="0"/>
              <a:t>, </a:t>
            </a:r>
            <a:r>
              <a:rPr lang="zh-CN" altLang="en-US" dirty="0"/>
              <a:t>在不同的应用环境下</a:t>
            </a:r>
            <a:r>
              <a:rPr lang="en-US" altLang="zh-CN" dirty="0"/>
              <a:t>, </a:t>
            </a:r>
            <a:r>
              <a:rPr lang="zh-CN" altLang="en-US" dirty="0"/>
              <a:t>人们关注的性质也不</a:t>
            </a:r>
            <a:r>
              <a:rPr lang="zh-CN" altLang="en-US" dirty="0" smtClean="0"/>
              <a:t>一样</a:t>
            </a:r>
            <a:endParaRPr lang="zh-CN" altLang="en-US" dirty="0" smtClean="0"/>
          </a:p>
          <a:p>
            <a:pPr lvl="2"/>
            <a:r>
              <a:rPr lang="zh-CN" altLang="en-US" dirty="0" smtClean="0"/>
              <a:t>以</a:t>
            </a:r>
            <a:r>
              <a:rPr lang="en-US" altLang="zh-CN" dirty="0"/>
              <a:t>C</a:t>
            </a:r>
            <a:r>
              <a:rPr lang="zh-CN" altLang="en-US" dirty="0"/>
              <a:t>程序为例</a:t>
            </a:r>
            <a:r>
              <a:rPr lang="en-US" altLang="zh-CN" dirty="0"/>
              <a:t>, </a:t>
            </a:r>
            <a:r>
              <a:rPr lang="zh-CN" altLang="en-US" dirty="0"/>
              <a:t>很多</a:t>
            </a:r>
            <a:r>
              <a:rPr lang="en-US" altLang="zh-CN" dirty="0"/>
              <a:t>C</a:t>
            </a:r>
            <a:r>
              <a:rPr lang="zh-CN" altLang="en-US" dirty="0"/>
              <a:t>程序会用到指针</a:t>
            </a:r>
            <a:r>
              <a:rPr lang="en-US" altLang="zh-CN" dirty="0"/>
              <a:t>, </a:t>
            </a:r>
            <a:r>
              <a:rPr lang="zh-CN" altLang="en-US" dirty="0"/>
              <a:t>用于动态分配、释放内存</a:t>
            </a:r>
            <a:r>
              <a:rPr lang="en-US" altLang="zh-CN" dirty="0"/>
              <a:t>.</a:t>
            </a:r>
            <a:r>
              <a:rPr lang="zh-CN" altLang="en-US" dirty="0"/>
              <a:t>对这样的程序</a:t>
            </a:r>
            <a:r>
              <a:rPr lang="en-US" altLang="zh-CN" dirty="0"/>
              <a:t>, </a:t>
            </a:r>
            <a:r>
              <a:rPr lang="zh-CN" altLang="en-US" dirty="0"/>
              <a:t>人们会关注空指针、内存泄漏等</a:t>
            </a:r>
            <a:r>
              <a:rPr lang="zh-CN" altLang="en-US" dirty="0" smtClean="0"/>
              <a:t>问题</a:t>
            </a:r>
            <a:endParaRPr lang="zh-CN" altLang="en-US" dirty="0" smtClean="0"/>
          </a:p>
          <a:p>
            <a:pPr lvl="2"/>
            <a:r>
              <a:rPr lang="zh-CN" altLang="en-US" dirty="0" smtClean="0"/>
              <a:t>对</a:t>
            </a:r>
            <a:r>
              <a:rPr lang="zh-CN" altLang="en-US" dirty="0"/>
              <a:t>某些嵌入式系统来说</a:t>
            </a:r>
            <a:r>
              <a:rPr lang="en-US" altLang="zh-CN" dirty="0"/>
              <a:t>, </a:t>
            </a:r>
            <a:r>
              <a:rPr lang="zh-CN" altLang="en-US" dirty="0"/>
              <a:t>程序中很少动态分配内存空间</a:t>
            </a:r>
            <a:r>
              <a:rPr lang="en-US" altLang="zh-CN" dirty="0"/>
              <a:t>, </a:t>
            </a:r>
            <a:r>
              <a:rPr lang="zh-CN" altLang="en-US" dirty="0"/>
              <a:t>却可能要处理</a:t>
            </a:r>
            <a:r>
              <a:rPr lang="zh-CN" altLang="en-US" dirty="0" smtClean="0"/>
              <a:t>中断</a:t>
            </a:r>
            <a:endParaRPr lang="zh-CN" altLang="en-US" dirty="0" smtClean="0"/>
          </a:p>
          <a:p>
            <a:pPr lvl="2"/>
            <a:r>
              <a:rPr lang="zh-CN" altLang="en-US" dirty="0" smtClean="0"/>
              <a:t>一些</a:t>
            </a:r>
            <a:r>
              <a:rPr lang="en-US" altLang="zh-CN" dirty="0"/>
              <a:t>C</a:t>
            </a:r>
            <a:r>
              <a:rPr lang="zh-CN" altLang="en-US" dirty="0"/>
              <a:t>程序可能有大量的数值</a:t>
            </a:r>
            <a:r>
              <a:rPr lang="en-US" altLang="zh-CN" dirty="0"/>
              <a:t>(</a:t>
            </a:r>
            <a:r>
              <a:rPr lang="zh-CN" altLang="en-US" dirty="0"/>
              <a:t>浮点数</a:t>
            </a:r>
            <a:r>
              <a:rPr lang="en-US" altLang="zh-CN" dirty="0"/>
              <a:t>)</a:t>
            </a:r>
            <a:r>
              <a:rPr lang="zh-CN" altLang="en-US" dirty="0"/>
              <a:t>计算</a:t>
            </a:r>
            <a:r>
              <a:rPr lang="en-US" altLang="zh-CN" dirty="0"/>
              <a:t>, </a:t>
            </a:r>
            <a:r>
              <a:rPr lang="zh-CN" altLang="en-US" dirty="0"/>
              <a:t>程序员可能更关注其中是否存在溢出</a:t>
            </a:r>
            <a:r>
              <a:rPr lang="zh-CN" altLang="en-US" dirty="0" smtClean="0"/>
              <a:t>问题</a:t>
            </a:r>
            <a:endParaRPr lang="zh-CN" altLang="en-US"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困难</a:t>
            </a:r>
            <a:endParaRPr kumimoji="1" lang="zh-CN" altLang="en-US" dirty="0"/>
          </a:p>
        </p:txBody>
      </p:sp>
      <p:sp>
        <p:nvSpPr>
          <p:cNvPr id="3" name="内容占位符 2"/>
          <p:cNvSpPr>
            <a:spLocks noGrp="1"/>
          </p:cNvSpPr>
          <p:nvPr>
            <p:ph idx="1"/>
          </p:nvPr>
        </p:nvSpPr>
        <p:spPr/>
        <p:txBody>
          <a:bodyPr>
            <a:normAutofit lnSpcReduction="10000"/>
          </a:bodyPr>
          <a:lstStyle/>
          <a:p>
            <a:r>
              <a:rPr lang="zh-CN" altLang="en-US" dirty="0" smtClean="0"/>
              <a:t>根据</a:t>
            </a:r>
            <a:r>
              <a:rPr lang="en-US" altLang="zh-CN" dirty="0"/>
              <a:t>Rice</a:t>
            </a:r>
            <a:r>
              <a:rPr lang="zh-CN" altLang="en-US" dirty="0"/>
              <a:t>定理</a:t>
            </a:r>
            <a:r>
              <a:rPr lang="en-US" altLang="zh-CN" dirty="0"/>
              <a:t>:</a:t>
            </a:r>
            <a:r>
              <a:rPr lang="zh-CN" altLang="en-US" dirty="0"/>
              <a:t>对于程序行为的任何非平凡属性</a:t>
            </a:r>
            <a:r>
              <a:rPr lang="en-US" altLang="zh-CN" dirty="0"/>
              <a:t>, </a:t>
            </a:r>
            <a:r>
              <a:rPr lang="zh-CN" altLang="en-US" dirty="0"/>
              <a:t>都不存在可以检查该属性的通用</a:t>
            </a:r>
            <a:r>
              <a:rPr lang="zh-CN" altLang="en-US" dirty="0" smtClean="0"/>
              <a:t>算法</a:t>
            </a:r>
            <a:r>
              <a:rPr lang="en-US" altLang="zh-CN" dirty="0" smtClean="0"/>
              <a:t>.</a:t>
            </a:r>
            <a:r>
              <a:rPr lang="zh-CN" altLang="en-US" dirty="0" smtClean="0"/>
              <a:t>即大量</a:t>
            </a:r>
            <a:r>
              <a:rPr lang="zh-CN" altLang="en-US" dirty="0"/>
              <a:t>的程序分析问题都是不可判定的</a:t>
            </a:r>
            <a:r>
              <a:rPr lang="en-US" altLang="zh-CN" dirty="0" smtClean="0"/>
              <a:t>.</a:t>
            </a:r>
            <a:endParaRPr lang="zh-CN" altLang="en-US" dirty="0" smtClean="0"/>
          </a:p>
          <a:p>
            <a:pPr lvl="1"/>
            <a:r>
              <a:rPr lang="zh-CN" altLang="en-US" dirty="0" smtClean="0"/>
              <a:t>比如</a:t>
            </a:r>
            <a:r>
              <a:rPr lang="en-US" altLang="zh-CN" dirty="0"/>
              <a:t>, </a:t>
            </a:r>
            <a:r>
              <a:rPr lang="zh-CN" altLang="en-US" dirty="0"/>
              <a:t>一般情况下</a:t>
            </a:r>
            <a:r>
              <a:rPr lang="en-US" altLang="zh-CN" dirty="0"/>
              <a:t>, </a:t>
            </a:r>
            <a:r>
              <a:rPr lang="zh-CN" altLang="en-US" dirty="0"/>
              <a:t>程序的终止性就是不可判定的</a:t>
            </a:r>
            <a:r>
              <a:rPr lang="en-US" altLang="zh-CN" dirty="0"/>
              <a:t>.</a:t>
            </a:r>
            <a:r>
              <a:rPr lang="zh-CN" altLang="en-US" dirty="0"/>
              <a:t>也就是说</a:t>
            </a:r>
            <a:r>
              <a:rPr lang="en-US" altLang="zh-CN" dirty="0"/>
              <a:t>, </a:t>
            </a:r>
            <a:r>
              <a:rPr lang="zh-CN" altLang="en-US" dirty="0"/>
              <a:t>不存在一种算法</a:t>
            </a:r>
            <a:r>
              <a:rPr lang="en-US" altLang="zh-CN" dirty="0"/>
              <a:t>, </a:t>
            </a:r>
            <a:r>
              <a:rPr lang="zh-CN" altLang="en-US" dirty="0"/>
              <a:t>它能判断任何给定的程序是否总能终止</a:t>
            </a:r>
            <a:r>
              <a:rPr lang="en-US" altLang="zh-CN" dirty="0" smtClean="0"/>
              <a:t>.</a:t>
            </a:r>
            <a:endParaRPr lang="zh-CN" altLang="en-US" dirty="0" smtClean="0"/>
          </a:p>
          <a:p>
            <a:pPr lvl="1"/>
            <a:r>
              <a:rPr lang="zh-CN" altLang="en-US" dirty="0" smtClean="0"/>
              <a:t>程序</a:t>
            </a:r>
            <a:r>
              <a:rPr lang="zh-CN" altLang="en-US" dirty="0"/>
              <a:t>路径的可行性</a:t>
            </a:r>
            <a:r>
              <a:rPr lang="en-US" altLang="zh-CN" dirty="0"/>
              <a:t>(path feasibility)</a:t>
            </a:r>
            <a:r>
              <a:rPr lang="zh-CN" altLang="en-US" dirty="0"/>
              <a:t>也是不可判定</a:t>
            </a:r>
            <a:r>
              <a:rPr lang="zh-CN" altLang="en-US" dirty="0" smtClean="0"/>
              <a:t>的</a:t>
            </a:r>
            <a:r>
              <a:rPr lang="en-US" altLang="zh-CN" dirty="0" smtClean="0"/>
              <a:t>.</a:t>
            </a:r>
            <a:r>
              <a:rPr lang="zh-CN" altLang="en-US" dirty="0"/>
              <a:t>如果存在输入数据使得程序沿着一条路径执行</a:t>
            </a:r>
            <a:r>
              <a:rPr lang="en-US" altLang="zh-CN" dirty="0"/>
              <a:t>, </a:t>
            </a:r>
            <a:r>
              <a:rPr lang="zh-CN" altLang="en-US" dirty="0"/>
              <a:t>程序中该路径被称为是可行的</a:t>
            </a:r>
            <a:r>
              <a:rPr lang="en-US" altLang="zh-CN" dirty="0"/>
              <a:t>(feasible).</a:t>
            </a:r>
            <a:r>
              <a:rPr lang="zh-CN" altLang="en-US" dirty="0"/>
              <a:t>没有一种算法</a:t>
            </a:r>
            <a:r>
              <a:rPr lang="en-US" altLang="zh-CN" dirty="0"/>
              <a:t>, </a:t>
            </a:r>
            <a:r>
              <a:rPr lang="zh-CN" altLang="en-US" dirty="0"/>
              <a:t>它能判断程序中某条给定路径是否可行</a:t>
            </a:r>
            <a:r>
              <a:rPr lang="en-US" altLang="zh-CN" dirty="0" smtClean="0"/>
              <a:t>.</a:t>
            </a:r>
            <a:endParaRPr lang="zh-CN" altLang="en-US" dirty="0" smtClean="0"/>
          </a:p>
          <a:p>
            <a:r>
              <a:rPr lang="zh-CN" altLang="en-US" dirty="0"/>
              <a:t>鉴于程序分析的理论难度以及被分析程序的复杂度</a:t>
            </a:r>
            <a:r>
              <a:rPr lang="en-US" altLang="zh-CN" dirty="0"/>
              <a:t>, </a:t>
            </a:r>
            <a:r>
              <a:rPr lang="zh-CN" altLang="en-US" dirty="0"/>
              <a:t>我们往往不要求对程序进行完全精确的分析</a:t>
            </a:r>
            <a:r>
              <a:rPr lang="en-US" altLang="zh-CN" dirty="0"/>
              <a:t>.</a:t>
            </a:r>
            <a:r>
              <a:rPr lang="zh-CN" altLang="en-US" dirty="0"/>
              <a:t>这就可能带来误报</a:t>
            </a:r>
            <a:r>
              <a:rPr lang="en-US" altLang="zh-CN" dirty="0"/>
              <a:t>(false positive)</a:t>
            </a:r>
            <a:r>
              <a:rPr lang="zh-CN" altLang="en-US" dirty="0"/>
              <a:t>、漏报</a:t>
            </a:r>
            <a:r>
              <a:rPr lang="en-US" altLang="zh-CN" dirty="0"/>
              <a:t>(false negative)</a:t>
            </a:r>
            <a:r>
              <a:rPr lang="zh-CN" altLang="en-US" dirty="0"/>
              <a:t>等</a:t>
            </a:r>
            <a:r>
              <a:rPr lang="zh-CN" altLang="en-US" dirty="0" smtClean="0"/>
              <a:t>问题</a:t>
            </a:r>
            <a:endParaRPr lang="zh-CN" altLang="en-US" dirty="0" smtClean="0"/>
          </a:p>
          <a:p>
            <a:pPr lvl="1"/>
            <a:r>
              <a:rPr lang="zh-CN" altLang="en-US" dirty="0" smtClean="0"/>
              <a:t>前者</a:t>
            </a:r>
            <a:r>
              <a:rPr lang="zh-CN" altLang="en-US" dirty="0"/>
              <a:t>指的是报警信息指出的缺陷实际上不存在、不可能</a:t>
            </a:r>
            <a:r>
              <a:rPr lang="zh-CN" altLang="en-US" dirty="0" smtClean="0"/>
              <a:t>发生</a:t>
            </a:r>
            <a:endParaRPr lang="zh-CN" altLang="en-US" dirty="0" smtClean="0"/>
          </a:p>
          <a:p>
            <a:pPr lvl="1"/>
            <a:r>
              <a:rPr lang="zh-CN" altLang="en-US" dirty="0" smtClean="0"/>
              <a:t>后者</a:t>
            </a:r>
            <a:r>
              <a:rPr lang="zh-CN" altLang="en-US" dirty="0"/>
              <a:t>指的是程序中存在的某个缺陷</a:t>
            </a:r>
            <a:r>
              <a:rPr lang="en-US" altLang="zh-CN" dirty="0"/>
              <a:t>, </a:t>
            </a:r>
            <a:r>
              <a:rPr lang="zh-CN" altLang="en-US" dirty="0"/>
              <a:t>没有被程序分析工具所</a:t>
            </a:r>
            <a:r>
              <a:rPr lang="zh-CN" altLang="en-US" dirty="0" smtClean="0"/>
              <a:t>发现</a:t>
            </a:r>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技术</a:t>
            </a:r>
            <a:endParaRPr kumimoji="1" lang="zh-CN" altLang="en-US" dirty="0"/>
          </a:p>
        </p:txBody>
      </p:sp>
      <p:sp>
        <p:nvSpPr>
          <p:cNvPr id="3" name="内容占位符 2"/>
          <p:cNvSpPr>
            <a:spLocks noGrp="1"/>
          </p:cNvSpPr>
          <p:nvPr>
            <p:ph idx="1"/>
          </p:nvPr>
        </p:nvSpPr>
        <p:spPr>
          <a:xfrm>
            <a:off x="838200" y="3264007"/>
            <a:ext cx="10515600" cy="3434744"/>
          </a:xfrm>
        </p:spPr>
        <p:txBody>
          <a:bodyPr>
            <a:normAutofit/>
          </a:bodyPr>
          <a:lstStyle/>
          <a:p>
            <a:r>
              <a:rPr lang="zh-CN" altLang="en-US" sz="2400" dirty="0" smtClean="0"/>
              <a:t>传统上</a:t>
            </a:r>
            <a:r>
              <a:rPr lang="en-US" altLang="zh-CN" sz="2400" dirty="0" smtClean="0"/>
              <a:t>, </a:t>
            </a:r>
            <a:r>
              <a:rPr lang="zh-CN" altLang="en-US" sz="2400" dirty="0" smtClean="0"/>
              <a:t>程序分析包括各种静态分析技术与动态分析技术</a:t>
            </a:r>
            <a:endParaRPr lang="zh-CN" altLang="en-US" sz="2400" dirty="0" smtClean="0"/>
          </a:p>
          <a:p>
            <a:pPr lvl="1"/>
            <a:r>
              <a:rPr lang="zh-CN" altLang="en-US" sz="2000" dirty="0" smtClean="0"/>
              <a:t>静态分析是指对程序代码进行自动化的扫描、分析</a:t>
            </a:r>
            <a:r>
              <a:rPr lang="en-US" altLang="zh-CN" sz="2000" dirty="0" smtClean="0"/>
              <a:t>, </a:t>
            </a:r>
            <a:r>
              <a:rPr lang="zh-CN" altLang="en-US" sz="2000" dirty="0" smtClean="0"/>
              <a:t>而不必运行程序</a:t>
            </a:r>
            <a:r>
              <a:rPr lang="zh-CN" altLang="en-US" sz="2000" dirty="0"/>
              <a:t>；</a:t>
            </a:r>
            <a:endParaRPr lang="zh-CN" altLang="en-US" sz="2000" dirty="0" smtClean="0"/>
          </a:p>
          <a:p>
            <a:pPr lvl="1"/>
            <a:r>
              <a:rPr lang="zh-CN" altLang="en-US" sz="2000" dirty="0" smtClean="0"/>
              <a:t>动态分析是指利用程序运行过程中的动态信息</a:t>
            </a:r>
            <a:r>
              <a:rPr lang="en-US" altLang="zh-CN" sz="2000" dirty="0" smtClean="0"/>
              <a:t>, </a:t>
            </a:r>
            <a:r>
              <a:rPr lang="zh-CN" altLang="en-US" sz="2000" dirty="0" smtClean="0"/>
              <a:t>分析其行为和特性。</a:t>
            </a:r>
            <a:endParaRPr lang="zh-CN" altLang="en-US" sz="2000" dirty="0" smtClean="0"/>
          </a:p>
          <a:p>
            <a:pPr lvl="0"/>
            <a:r>
              <a:rPr lang="zh-CN" altLang="en-US" sz="2400" dirty="0"/>
              <a:t>静态</a:t>
            </a:r>
            <a:r>
              <a:rPr lang="zh-CN" altLang="en-US" sz="2400" dirty="0" smtClean="0"/>
              <a:t>分析是</a:t>
            </a:r>
            <a:r>
              <a:rPr lang="zh-CN" altLang="en-US" sz="2400" dirty="0"/>
              <a:t>指以文本、语法树等形式解析源代码，在无需实际运行程序的情况下直接对程序进行分析，以检查程序源代码是否满足某种性质，证明有关程序的运行时行为的属性，如模块间的依赖关系、未被捕获的异常</a:t>
            </a:r>
            <a:r>
              <a:rPr lang="zh-CN" altLang="en-US" sz="2400" dirty="0" smtClean="0"/>
              <a:t>等</a:t>
            </a:r>
            <a:r>
              <a:rPr lang="zh-CN" altLang="en-US" sz="2400" dirty="0"/>
              <a:t>。</a:t>
            </a:r>
            <a:endParaRPr lang="zh-CN" altLang="en-US" sz="2400" dirty="0"/>
          </a:p>
          <a:p>
            <a:pPr lvl="0"/>
            <a:r>
              <a:rPr lang="zh-CN" altLang="en-US" sz="2400" dirty="0"/>
              <a:t>动态程序分析执行程序，搜集程序的运行时信息，解析程序的执行流，来验证或者发现软件性质。例如跟踪实参的传递流程、确定程序某个模块的执行时间等。</a:t>
            </a:r>
            <a:endParaRPr lang="zh-CN" altLang="en-US" sz="2400" dirty="0"/>
          </a:p>
          <a:p>
            <a:pPr lvl="1"/>
            <a:endParaRPr kumimoji="1" lang="zh-CN" altLang="en-US" dirty="0"/>
          </a:p>
        </p:txBody>
      </p:sp>
      <p:grpSp>
        <p:nvGrpSpPr>
          <p:cNvPr id="4" name="Group 4"/>
          <p:cNvGrpSpPr>
            <a:grpSpLocks noChangeAspect="1"/>
          </p:cNvGrpSpPr>
          <p:nvPr/>
        </p:nvGrpSpPr>
        <p:grpSpPr>
          <a:xfrm>
            <a:off x="4834776" y="29004"/>
            <a:ext cx="6785295" cy="3235003"/>
            <a:chOff x="3038" y="2442"/>
            <a:chExt cx="7380" cy="3588"/>
          </a:xfrm>
        </p:grpSpPr>
        <p:sp>
          <p:nvSpPr>
            <p:cNvPr id="5" name="AutoShape 5"/>
            <p:cNvSpPr>
              <a:spLocks noChangeAspect="1" noTextEdit="1"/>
            </p:cNvSpPr>
            <p:nvPr/>
          </p:nvSpPr>
          <p:spPr>
            <a:xfrm>
              <a:off x="3038" y="2442"/>
              <a:ext cx="7380" cy="3588"/>
            </a:xfrm>
            <a:prstGeom prst="rect">
              <a:avLst/>
            </a:prstGeom>
            <a:noFill/>
            <a:ln w="9525">
              <a:noFill/>
            </a:ln>
          </p:spPr>
          <p:txBody>
            <a:bodyPr anchor="t"/>
            <a:lstStyle/>
            <a:p>
              <a:pPr eaLnBrk="0" hangingPunct="0"/>
              <a:endParaRPr lang="zh-CN" altLang="en-US">
                <a:latin typeface="Arial" panose="020B0604020202020204" pitchFamily="34" charset="0"/>
                <a:ea typeface="宋体" panose="02010600030101010101" pitchFamily="2" charset="-122"/>
              </a:endParaRPr>
            </a:p>
          </p:txBody>
        </p:sp>
        <p:sp>
          <p:nvSpPr>
            <p:cNvPr id="6" name="Line 6"/>
            <p:cNvSpPr/>
            <p:nvPr/>
          </p:nvSpPr>
          <p:spPr>
            <a:xfrm>
              <a:off x="3038" y="4158"/>
              <a:ext cx="7380" cy="0"/>
            </a:xfrm>
            <a:prstGeom prst="line">
              <a:avLst/>
            </a:prstGeom>
            <a:ln w="9525" cap="flat" cmpd="sng">
              <a:solidFill>
                <a:srgbClr val="000000"/>
              </a:solidFill>
              <a:prstDash val="dash"/>
              <a:round/>
              <a:headEnd type="none" w="med" len="med"/>
              <a:tailEnd type="none" w="med" len="med"/>
            </a:ln>
          </p:spPr>
        </p:sp>
        <p:sp>
          <p:nvSpPr>
            <p:cNvPr id="7" name="Text Box 7"/>
            <p:cNvSpPr txBox="1"/>
            <p:nvPr/>
          </p:nvSpPr>
          <p:spPr>
            <a:xfrm>
              <a:off x="7898" y="2598"/>
              <a:ext cx="12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分析</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nvGrpSpPr>
            <p:cNvPr id="8" name="Group 8"/>
            <p:cNvGrpSpPr/>
            <p:nvPr/>
          </p:nvGrpSpPr>
          <p:grpSpPr>
            <a:xfrm>
              <a:off x="7510" y="3690"/>
              <a:ext cx="2090" cy="1092"/>
              <a:chOff x="7608" y="3534"/>
              <a:chExt cx="2090" cy="1092"/>
            </a:xfrm>
          </p:grpSpPr>
          <p:sp>
            <p:nvSpPr>
              <p:cNvPr id="41" name="AutoShape 9"/>
              <p:cNvSpPr/>
              <p:nvPr/>
            </p:nvSpPr>
            <p:spPr>
              <a:xfrm>
                <a:off x="7718" y="3534"/>
                <a:ext cx="1980" cy="1092"/>
              </a:xfrm>
              <a:prstGeom prst="flowChartMultidocument">
                <a:avLst/>
              </a:prstGeom>
              <a:solidFill>
                <a:srgbClr val="FFFFFF"/>
              </a:solidFill>
              <a:ln w="9525" cap="flat" cmpd="sng">
                <a:solidFill>
                  <a:srgbClr val="000000"/>
                </a:solidFill>
                <a:prstDash val="solid"/>
                <a:miter/>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42" name="Text Box 10"/>
              <p:cNvSpPr txBox="1"/>
              <p:nvPr/>
            </p:nvSpPr>
            <p:spPr>
              <a:xfrm>
                <a:off x="7608" y="3723"/>
                <a:ext cx="1980" cy="780"/>
              </a:xfrm>
              <a:prstGeom prst="rect">
                <a:avLst/>
              </a:prstGeom>
              <a:noFill/>
              <a:ln w="9525">
                <a:noFill/>
              </a:ln>
            </p:spPr>
            <p:txBody>
              <a:bodyPr lIns="54000" rIns="54000"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系统性质</a:t>
                </a:r>
                <a:endParaRPr lang="zh-CN" altLang="en-US" dirty="0">
                  <a:solidFill>
                    <a:srgbClr val="000000"/>
                  </a:solidFill>
                  <a:latin typeface="Arial" panose="020B0604020202020204" pitchFamily="34" charset="0"/>
                  <a:ea typeface="宋体" panose="02010600030101010101" pitchFamily="2" charset="-122"/>
                </a:endParaRPr>
              </a:p>
              <a:p>
                <a:pPr algn="ctr" eaLnBrk="0" hangingPunct="0"/>
                <a:r>
                  <a:rPr lang="zh-CN" altLang="en-US" dirty="0">
                    <a:solidFill>
                      <a:srgbClr val="000000"/>
                    </a:solidFill>
                    <a:latin typeface="Times New Roman" panose="02020603050405020304" pitchFamily="18" charset="0"/>
                    <a:ea typeface="宋体" panose="02010600030101010101" pitchFamily="2" charset="-122"/>
                  </a:rPr>
                  <a:t>（规约、约束）</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sp>
          <p:nvSpPr>
            <p:cNvPr id="9" name="Text Box 11"/>
            <p:cNvSpPr txBox="1"/>
            <p:nvPr/>
          </p:nvSpPr>
          <p:spPr>
            <a:xfrm>
              <a:off x="4478" y="5250"/>
              <a:ext cx="1080"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执行</a:t>
              </a:r>
              <a:endParaRPr lang="zh-CN" altLang="en-US" dirty="0">
                <a:solidFill>
                  <a:srgbClr val="000000"/>
                </a:solidFill>
                <a:latin typeface="Arial" panose="020B0604020202020204" pitchFamily="34" charset="0"/>
                <a:ea typeface="宋体" panose="02010600030101010101" pitchFamily="2" charset="-122"/>
              </a:endParaRPr>
            </a:p>
            <a:p>
              <a:pPr algn="ctr" eaLnBrk="0" hangingPunct="0"/>
              <a:r>
                <a:rPr lang="zh-CN" altLang="en-US" dirty="0">
                  <a:solidFill>
                    <a:srgbClr val="000000"/>
                  </a:solidFill>
                  <a:latin typeface="Times New Roman" panose="02020603050405020304" pitchFamily="18" charset="0"/>
                  <a:ea typeface="宋体" panose="02010600030101010101" pitchFamily="2" charset="-122"/>
                </a:rPr>
                <a:t>程序</a:t>
              </a:r>
              <a:endParaRPr lang="zh-CN" altLang="en-US" dirty="0">
                <a:solidFill>
                  <a:srgbClr val="000000"/>
                </a:solidFill>
                <a:latin typeface="Times New Roman" panose="02020603050405020304" pitchFamily="18" charset="0"/>
                <a:ea typeface="Times New Roman" panose="02020603050405020304" pitchFamily="18" charset="0"/>
              </a:endParaRPr>
            </a:p>
          </p:txBody>
        </p:sp>
        <p:sp>
          <p:nvSpPr>
            <p:cNvPr id="10" name="Text Box 12"/>
            <p:cNvSpPr txBox="1"/>
            <p:nvPr/>
          </p:nvSpPr>
          <p:spPr>
            <a:xfrm>
              <a:off x="6098" y="5250"/>
              <a:ext cx="1260"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收集</a:t>
              </a:r>
              <a:endParaRPr lang="zh-CN" altLang="en-US" dirty="0">
                <a:solidFill>
                  <a:srgbClr val="000000"/>
                </a:solidFill>
                <a:latin typeface="Arial" panose="020B0604020202020204" pitchFamily="34" charset="0"/>
                <a:ea typeface="宋体" panose="02010600030101010101" pitchFamily="2" charset="-122"/>
              </a:endParaRPr>
            </a:p>
            <a:p>
              <a:pPr algn="ctr" eaLnBrk="0" hangingPunct="0"/>
              <a:r>
                <a:rPr lang="zh-CN" altLang="en-US" dirty="0">
                  <a:solidFill>
                    <a:srgbClr val="000000"/>
                  </a:solidFill>
                  <a:latin typeface="Times New Roman" panose="02020603050405020304" pitchFamily="18" charset="0"/>
                  <a:ea typeface="宋体" panose="02010600030101010101" pitchFamily="2" charset="-122"/>
                </a:rPr>
                <a:t>执行信息</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nvGrpSpPr>
            <p:cNvPr id="11" name="Group 13"/>
            <p:cNvGrpSpPr/>
            <p:nvPr/>
          </p:nvGrpSpPr>
          <p:grpSpPr>
            <a:xfrm>
              <a:off x="4580" y="4314"/>
              <a:ext cx="900" cy="468"/>
              <a:chOff x="4658" y="4470"/>
              <a:chExt cx="900" cy="468"/>
            </a:xfrm>
          </p:grpSpPr>
          <p:sp>
            <p:nvSpPr>
              <p:cNvPr id="39" name="AutoShape 14"/>
              <p:cNvSpPr/>
              <p:nvPr/>
            </p:nvSpPr>
            <p:spPr>
              <a:xfrm>
                <a:off x="4658" y="4470"/>
                <a:ext cx="900" cy="468"/>
              </a:xfrm>
              <a:prstGeom prst="flowChartAlternateProcess">
                <a:avLst/>
              </a:prstGeom>
              <a:solidFill>
                <a:srgbClr val="FFFFFF"/>
              </a:solidFill>
              <a:ln w="9525" cap="flat" cmpd="sng">
                <a:solidFill>
                  <a:srgbClr val="000000"/>
                </a:solidFill>
                <a:prstDash val="solid"/>
                <a:miter/>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40" name="Text Box 15"/>
              <p:cNvSpPr txBox="1"/>
              <p:nvPr/>
            </p:nvSpPr>
            <p:spPr>
              <a:xfrm>
                <a:off x="4658" y="4470"/>
                <a:ext cx="900" cy="468"/>
              </a:xfrm>
              <a:prstGeom prst="rect">
                <a:avLst/>
              </a:prstGeom>
              <a:noFill/>
              <a:ln w="9525">
                <a:noFill/>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插桩</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sp>
          <p:nvSpPr>
            <p:cNvPr id="12" name="Text Box 16"/>
            <p:cNvSpPr txBox="1"/>
            <p:nvPr/>
          </p:nvSpPr>
          <p:spPr>
            <a:xfrm>
              <a:off x="6098" y="2442"/>
              <a:ext cx="1260"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解析</a:t>
              </a:r>
              <a:endParaRPr lang="zh-CN" altLang="en-US" dirty="0">
                <a:solidFill>
                  <a:srgbClr val="000000"/>
                </a:solidFill>
                <a:latin typeface="Arial" panose="020B0604020202020204" pitchFamily="34" charset="0"/>
                <a:ea typeface="宋体" panose="02010600030101010101" pitchFamily="2" charset="-122"/>
              </a:endParaRPr>
            </a:p>
            <a:p>
              <a:pPr algn="ctr" eaLnBrk="0" hangingPunct="0"/>
              <a:r>
                <a:rPr lang="zh-CN" altLang="en-US" dirty="0">
                  <a:solidFill>
                    <a:srgbClr val="000000"/>
                  </a:solidFill>
                  <a:latin typeface="Times New Roman" panose="02020603050405020304" pitchFamily="18" charset="0"/>
                  <a:ea typeface="宋体" panose="02010600030101010101" pitchFamily="2" charset="-122"/>
                </a:rPr>
                <a:t>中间表示</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nvGrpSpPr>
            <p:cNvPr id="13" name="Group 17"/>
            <p:cNvGrpSpPr/>
            <p:nvPr/>
          </p:nvGrpSpPr>
          <p:grpSpPr>
            <a:xfrm>
              <a:off x="4324" y="2526"/>
              <a:ext cx="1234" cy="540"/>
              <a:chOff x="4324" y="2526"/>
              <a:chExt cx="1234" cy="540"/>
            </a:xfrm>
          </p:grpSpPr>
          <p:sp>
            <p:nvSpPr>
              <p:cNvPr id="37" name="Rectangle 18"/>
              <p:cNvSpPr/>
              <p:nvPr/>
            </p:nvSpPr>
            <p:spPr>
              <a:xfrm>
                <a:off x="4324" y="2526"/>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38" name="Text Box 19"/>
              <p:cNvSpPr txBox="1"/>
              <p:nvPr/>
            </p:nvSpPr>
            <p:spPr>
              <a:xfrm>
                <a:off x="4478" y="2598"/>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eaLnBrk="0" hangingPunct="0"/>
                <a:r>
                  <a:rPr lang="zh-CN" altLang="en-US" dirty="0">
                    <a:solidFill>
                      <a:srgbClr val="000000"/>
                    </a:solidFill>
                    <a:latin typeface="Times New Roman" panose="02020603050405020304" pitchFamily="18" charset="0"/>
                    <a:ea typeface="宋体" panose="02010600030101010101" pitchFamily="2" charset="-122"/>
                  </a:rPr>
                  <a:t>源程序</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sp>
          <p:nvSpPr>
            <p:cNvPr id="14" name="Text Box 20"/>
            <p:cNvSpPr txBox="1"/>
            <p:nvPr/>
          </p:nvSpPr>
          <p:spPr>
            <a:xfrm>
              <a:off x="7898" y="5406"/>
              <a:ext cx="1260" cy="46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分析</a:t>
              </a:r>
              <a:endParaRPr lang="zh-CN" altLang="en-US" dirty="0">
                <a:solidFill>
                  <a:srgbClr val="000000"/>
                </a:solidFill>
                <a:latin typeface="Times New Roman" panose="02020603050405020304" pitchFamily="18" charset="0"/>
                <a:ea typeface="Times New Roman" panose="02020603050405020304" pitchFamily="18" charset="0"/>
              </a:endParaRPr>
            </a:p>
          </p:txBody>
        </p:sp>
        <p:cxnSp>
          <p:nvCxnSpPr>
            <p:cNvPr id="15" name="AutoShape 21"/>
            <p:cNvCxnSpPr/>
            <p:nvPr/>
          </p:nvCxnSpPr>
          <p:spPr>
            <a:xfrm>
              <a:off x="5558" y="2832"/>
              <a:ext cx="540" cy="1"/>
            </a:xfrm>
            <a:prstGeom prst="straightConnector1">
              <a:avLst/>
            </a:prstGeom>
            <a:ln w="9525" cap="flat" cmpd="sng">
              <a:solidFill>
                <a:srgbClr val="000000"/>
              </a:solidFill>
              <a:prstDash val="solid"/>
              <a:round/>
              <a:headEnd type="none" w="med" len="med"/>
              <a:tailEnd type="triangle" w="med" len="med"/>
            </a:ln>
          </p:spPr>
        </p:cxnSp>
        <p:cxnSp>
          <p:nvCxnSpPr>
            <p:cNvPr id="16" name="AutoShape 22"/>
            <p:cNvCxnSpPr/>
            <p:nvPr/>
          </p:nvCxnSpPr>
          <p:spPr>
            <a:xfrm>
              <a:off x="7358" y="2832"/>
              <a:ext cx="540" cy="1"/>
            </a:xfrm>
            <a:prstGeom prst="straightConnector1">
              <a:avLst/>
            </a:prstGeom>
            <a:ln w="9525" cap="flat" cmpd="sng">
              <a:solidFill>
                <a:srgbClr val="000000"/>
              </a:solidFill>
              <a:prstDash val="solid"/>
              <a:round/>
              <a:headEnd type="none" w="med" len="med"/>
              <a:tailEnd type="triangle" w="med" len="med"/>
            </a:ln>
          </p:spPr>
        </p:cxnSp>
        <p:cxnSp>
          <p:nvCxnSpPr>
            <p:cNvPr id="17" name="AutoShape 23"/>
            <p:cNvCxnSpPr/>
            <p:nvPr/>
          </p:nvCxnSpPr>
          <p:spPr>
            <a:xfrm>
              <a:off x="5018" y="3066"/>
              <a:ext cx="12" cy="1248"/>
            </a:xfrm>
            <a:prstGeom prst="straightConnector1">
              <a:avLst/>
            </a:prstGeom>
            <a:ln w="9525" cap="flat" cmpd="sng">
              <a:solidFill>
                <a:srgbClr val="000000"/>
              </a:solidFill>
              <a:prstDash val="solid"/>
              <a:round/>
              <a:headEnd type="none" w="med" len="med"/>
              <a:tailEnd type="triangle" w="med" len="med"/>
            </a:ln>
          </p:spPr>
        </p:cxnSp>
        <p:cxnSp>
          <p:nvCxnSpPr>
            <p:cNvPr id="18" name="AutoShape 24"/>
            <p:cNvCxnSpPr/>
            <p:nvPr/>
          </p:nvCxnSpPr>
          <p:spPr>
            <a:xfrm flipH="1">
              <a:off x="5018" y="4782"/>
              <a:ext cx="12" cy="468"/>
            </a:xfrm>
            <a:prstGeom prst="straightConnector1">
              <a:avLst/>
            </a:prstGeom>
            <a:ln w="9525" cap="flat" cmpd="sng">
              <a:solidFill>
                <a:srgbClr val="000000"/>
              </a:solidFill>
              <a:prstDash val="solid"/>
              <a:round/>
              <a:headEnd type="none" w="med" len="med"/>
              <a:tailEnd type="triangle" w="med" len="med"/>
            </a:ln>
          </p:spPr>
        </p:cxnSp>
        <p:cxnSp>
          <p:nvCxnSpPr>
            <p:cNvPr id="19" name="AutoShape 25"/>
            <p:cNvCxnSpPr/>
            <p:nvPr/>
          </p:nvCxnSpPr>
          <p:spPr>
            <a:xfrm>
              <a:off x="3951" y="5629"/>
              <a:ext cx="527" cy="11"/>
            </a:xfrm>
            <a:prstGeom prst="straightConnector1">
              <a:avLst/>
            </a:prstGeom>
            <a:ln w="9525" cap="flat" cmpd="sng">
              <a:solidFill>
                <a:srgbClr val="000000"/>
              </a:solidFill>
              <a:prstDash val="solid"/>
              <a:round/>
              <a:headEnd type="none" w="med" len="med"/>
              <a:tailEnd type="triangle" w="med" len="med"/>
            </a:ln>
          </p:spPr>
        </p:cxnSp>
        <p:grpSp>
          <p:nvGrpSpPr>
            <p:cNvPr id="20" name="Group 26"/>
            <p:cNvGrpSpPr/>
            <p:nvPr/>
          </p:nvGrpSpPr>
          <p:grpSpPr>
            <a:xfrm>
              <a:off x="3038" y="5250"/>
              <a:ext cx="1080" cy="780"/>
              <a:chOff x="3218" y="6030"/>
              <a:chExt cx="1277" cy="804"/>
            </a:xfrm>
          </p:grpSpPr>
          <p:sp>
            <p:nvSpPr>
              <p:cNvPr id="35" name="AutoShape 27"/>
              <p:cNvSpPr/>
              <p:nvPr/>
            </p:nvSpPr>
            <p:spPr>
              <a:xfrm>
                <a:off x="3218" y="6030"/>
                <a:ext cx="1277" cy="804"/>
              </a:xfrm>
              <a:prstGeom prst="flowChartInputOutput">
                <a:avLst/>
              </a:prstGeom>
              <a:solidFill>
                <a:srgbClr val="FFFFFF"/>
              </a:solidFill>
              <a:ln w="9525" cap="flat" cmpd="sng">
                <a:solidFill>
                  <a:srgbClr val="000000"/>
                </a:solidFill>
                <a:prstDash val="solid"/>
                <a:miter/>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36" name="Text Box 28"/>
              <p:cNvSpPr txBox="1"/>
              <p:nvPr/>
            </p:nvSpPr>
            <p:spPr>
              <a:xfrm>
                <a:off x="3398" y="6030"/>
                <a:ext cx="900" cy="780"/>
              </a:xfrm>
              <a:prstGeom prst="rect">
                <a:avLst/>
              </a:prstGeom>
              <a:noFill/>
              <a:ln w="9525">
                <a:noFill/>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输入</a:t>
                </a:r>
                <a:endParaRPr lang="zh-CN" altLang="en-US" dirty="0">
                  <a:solidFill>
                    <a:srgbClr val="000000"/>
                  </a:solidFill>
                  <a:latin typeface="Arial" panose="020B0604020202020204" pitchFamily="34" charset="0"/>
                  <a:ea typeface="宋体" panose="02010600030101010101" pitchFamily="2" charset="-122"/>
                </a:endParaRPr>
              </a:p>
              <a:p>
                <a:pPr algn="ctr" eaLnBrk="0" hangingPunct="0"/>
                <a:r>
                  <a:rPr lang="zh-CN" altLang="en-US" dirty="0">
                    <a:solidFill>
                      <a:srgbClr val="000000"/>
                    </a:solidFill>
                    <a:latin typeface="Times New Roman" panose="02020603050405020304" pitchFamily="18" charset="0"/>
                    <a:ea typeface="宋体" panose="02010600030101010101" pitchFamily="2" charset="-122"/>
                  </a:rPr>
                  <a:t>数据</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cxnSp>
          <p:nvCxnSpPr>
            <p:cNvPr id="21" name="AutoShape 29"/>
            <p:cNvCxnSpPr/>
            <p:nvPr/>
          </p:nvCxnSpPr>
          <p:spPr>
            <a:xfrm>
              <a:off x="5558" y="5640"/>
              <a:ext cx="540" cy="1"/>
            </a:xfrm>
            <a:prstGeom prst="straightConnector1">
              <a:avLst/>
            </a:prstGeom>
            <a:ln w="9525" cap="flat" cmpd="sng">
              <a:solidFill>
                <a:srgbClr val="000000"/>
              </a:solidFill>
              <a:prstDash val="solid"/>
              <a:round/>
              <a:headEnd type="none" w="med" len="med"/>
              <a:tailEnd type="triangle" w="med" len="med"/>
            </a:ln>
          </p:spPr>
        </p:cxnSp>
        <p:cxnSp>
          <p:nvCxnSpPr>
            <p:cNvPr id="22" name="AutoShape 30"/>
            <p:cNvCxnSpPr/>
            <p:nvPr/>
          </p:nvCxnSpPr>
          <p:spPr>
            <a:xfrm>
              <a:off x="7358" y="5640"/>
              <a:ext cx="540" cy="1"/>
            </a:xfrm>
            <a:prstGeom prst="straightConnector1">
              <a:avLst/>
            </a:prstGeom>
            <a:ln w="9525" cap="flat" cmpd="sng">
              <a:solidFill>
                <a:srgbClr val="000000"/>
              </a:solidFill>
              <a:prstDash val="solid"/>
              <a:round/>
              <a:headEnd type="none" w="med" len="med"/>
              <a:tailEnd type="triangle" w="med" len="med"/>
            </a:ln>
          </p:spPr>
        </p:cxnSp>
        <p:cxnSp>
          <p:nvCxnSpPr>
            <p:cNvPr id="23" name="AutoShape 31"/>
            <p:cNvCxnSpPr/>
            <p:nvPr/>
          </p:nvCxnSpPr>
          <p:spPr>
            <a:xfrm flipV="1">
              <a:off x="8520" y="3066"/>
              <a:ext cx="8" cy="780"/>
            </a:xfrm>
            <a:prstGeom prst="straightConnector1">
              <a:avLst/>
            </a:prstGeom>
            <a:ln w="9525" cap="flat" cmpd="sng">
              <a:solidFill>
                <a:srgbClr val="000000"/>
              </a:solidFill>
              <a:prstDash val="solid"/>
              <a:round/>
              <a:headEnd type="none" w="med" len="med"/>
              <a:tailEnd type="triangle" w="med" len="med"/>
            </a:ln>
          </p:spPr>
        </p:cxnSp>
        <p:cxnSp>
          <p:nvCxnSpPr>
            <p:cNvPr id="24" name="AutoShape 32"/>
            <p:cNvCxnSpPr/>
            <p:nvPr/>
          </p:nvCxnSpPr>
          <p:spPr>
            <a:xfrm>
              <a:off x="8520" y="4626"/>
              <a:ext cx="8" cy="780"/>
            </a:xfrm>
            <a:prstGeom prst="straightConnector1">
              <a:avLst/>
            </a:prstGeom>
            <a:ln w="9525" cap="flat" cmpd="sng">
              <a:solidFill>
                <a:srgbClr val="000000"/>
              </a:solidFill>
              <a:prstDash val="solid"/>
              <a:round/>
              <a:headEnd type="none" w="med" len="med"/>
              <a:tailEnd type="triangle" w="med" len="med"/>
            </a:ln>
          </p:spPr>
        </p:cxnSp>
        <p:grpSp>
          <p:nvGrpSpPr>
            <p:cNvPr id="25" name="Group 33"/>
            <p:cNvGrpSpPr/>
            <p:nvPr/>
          </p:nvGrpSpPr>
          <p:grpSpPr>
            <a:xfrm>
              <a:off x="9518" y="2598"/>
              <a:ext cx="720" cy="480"/>
              <a:chOff x="9338" y="3066"/>
              <a:chExt cx="900" cy="480"/>
            </a:xfrm>
          </p:grpSpPr>
          <p:sp>
            <p:nvSpPr>
              <p:cNvPr id="33" name="AutoShape 34"/>
              <p:cNvSpPr/>
              <p:nvPr/>
            </p:nvSpPr>
            <p:spPr>
              <a:xfrm>
                <a:off x="9338" y="3066"/>
                <a:ext cx="900" cy="480"/>
              </a:xfrm>
              <a:prstGeom prst="flowChartTerminator">
                <a:avLst/>
              </a:prstGeom>
              <a:solidFill>
                <a:srgbClr val="FFFFFF"/>
              </a:solidFill>
              <a:ln w="9525" cap="flat" cmpd="sng">
                <a:solidFill>
                  <a:srgbClr val="000000"/>
                </a:solidFill>
                <a:prstDash val="solid"/>
                <a:miter/>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34" name="Text Box 35"/>
              <p:cNvSpPr txBox="1"/>
              <p:nvPr/>
            </p:nvSpPr>
            <p:spPr>
              <a:xfrm>
                <a:off x="9338" y="3066"/>
                <a:ext cx="900" cy="468"/>
              </a:xfrm>
              <a:prstGeom prst="rect">
                <a:avLst/>
              </a:prstGeom>
              <a:noFill/>
              <a:ln w="9525">
                <a:noFill/>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结果</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grpSp>
          <p:nvGrpSpPr>
            <p:cNvPr id="26" name="Group 36"/>
            <p:cNvGrpSpPr/>
            <p:nvPr/>
          </p:nvGrpSpPr>
          <p:grpSpPr>
            <a:xfrm>
              <a:off x="9518" y="5394"/>
              <a:ext cx="720" cy="480"/>
              <a:chOff x="9338" y="3066"/>
              <a:chExt cx="900" cy="480"/>
            </a:xfrm>
          </p:grpSpPr>
          <p:sp>
            <p:nvSpPr>
              <p:cNvPr id="31" name="AutoShape 37"/>
              <p:cNvSpPr/>
              <p:nvPr/>
            </p:nvSpPr>
            <p:spPr>
              <a:xfrm>
                <a:off x="9338" y="3066"/>
                <a:ext cx="900" cy="480"/>
              </a:xfrm>
              <a:prstGeom prst="flowChartTerminator">
                <a:avLst/>
              </a:prstGeom>
              <a:solidFill>
                <a:srgbClr val="FFFFFF"/>
              </a:solidFill>
              <a:ln w="9525" cap="flat" cmpd="sng">
                <a:solidFill>
                  <a:srgbClr val="000000"/>
                </a:solidFill>
                <a:prstDash val="solid"/>
                <a:miter/>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32" name="Text Box 38"/>
              <p:cNvSpPr txBox="1"/>
              <p:nvPr/>
            </p:nvSpPr>
            <p:spPr>
              <a:xfrm>
                <a:off x="9338" y="3066"/>
                <a:ext cx="900" cy="468"/>
              </a:xfrm>
              <a:prstGeom prst="rect">
                <a:avLst/>
              </a:prstGeom>
              <a:noFill/>
              <a:ln w="9525">
                <a:noFill/>
              </a:ln>
            </p:spPr>
            <p:txBody>
              <a:bodyPr anchor="t"/>
              <a:lstStyle/>
              <a:p>
                <a:pPr algn="ctr" eaLnBrk="0" hangingPunct="0"/>
                <a:r>
                  <a:rPr lang="zh-CN" altLang="en-US" dirty="0">
                    <a:solidFill>
                      <a:srgbClr val="000000"/>
                    </a:solidFill>
                    <a:latin typeface="Times New Roman" panose="02020603050405020304" pitchFamily="18" charset="0"/>
                    <a:ea typeface="宋体" panose="02010600030101010101" pitchFamily="2" charset="-122"/>
                  </a:rPr>
                  <a:t>结果</a:t>
                </a:r>
                <a:endParaRPr lang="zh-CN" altLang="en-US" dirty="0">
                  <a:solidFill>
                    <a:srgbClr val="000000"/>
                  </a:solidFill>
                  <a:latin typeface="Times New Roman" panose="02020603050405020304" pitchFamily="18" charset="0"/>
                  <a:ea typeface="Times New Roman" panose="02020603050405020304" pitchFamily="18" charset="0"/>
                </a:endParaRPr>
              </a:p>
            </p:txBody>
          </p:sp>
        </p:grpSp>
        <p:cxnSp>
          <p:nvCxnSpPr>
            <p:cNvPr id="27" name="AutoShape 39"/>
            <p:cNvCxnSpPr/>
            <p:nvPr/>
          </p:nvCxnSpPr>
          <p:spPr>
            <a:xfrm>
              <a:off x="9158" y="2832"/>
              <a:ext cx="360" cy="1"/>
            </a:xfrm>
            <a:prstGeom prst="straightConnector1">
              <a:avLst/>
            </a:prstGeom>
            <a:ln w="9525" cap="flat" cmpd="sng">
              <a:solidFill>
                <a:srgbClr val="000000"/>
              </a:solidFill>
              <a:prstDash val="solid"/>
              <a:round/>
              <a:headEnd type="none" w="med" len="med"/>
              <a:tailEnd type="triangle" w="med" len="med"/>
            </a:ln>
          </p:spPr>
        </p:cxnSp>
        <p:cxnSp>
          <p:nvCxnSpPr>
            <p:cNvPr id="28" name="AutoShape 40"/>
            <p:cNvCxnSpPr/>
            <p:nvPr/>
          </p:nvCxnSpPr>
          <p:spPr>
            <a:xfrm flipV="1">
              <a:off x="9158" y="5628"/>
              <a:ext cx="360" cy="12"/>
            </a:xfrm>
            <a:prstGeom prst="straightConnector1">
              <a:avLst/>
            </a:prstGeom>
            <a:ln w="9525" cap="flat" cmpd="sng">
              <a:solidFill>
                <a:srgbClr val="000000"/>
              </a:solidFill>
              <a:prstDash val="solid"/>
              <a:round/>
              <a:headEnd type="none" w="med" len="med"/>
              <a:tailEnd type="triangle" w="med" len="med"/>
            </a:ln>
          </p:spPr>
        </p:cxnSp>
        <p:sp>
          <p:nvSpPr>
            <p:cNvPr id="29" name="Text Box 41"/>
            <p:cNvSpPr txBox="1"/>
            <p:nvPr/>
          </p:nvSpPr>
          <p:spPr>
            <a:xfrm>
              <a:off x="3038" y="2442"/>
              <a:ext cx="900" cy="780"/>
            </a:xfrm>
            <a:prstGeom prst="rect">
              <a:avLst/>
            </a:prstGeom>
            <a:noFill/>
            <a:ln w="9525">
              <a:noFill/>
            </a:ln>
          </p:spPr>
          <p:txBody>
            <a:bodyPr anchor="t"/>
            <a:lstStyle/>
            <a:p>
              <a:pPr eaLnBrk="0" hangingPunct="0"/>
              <a:r>
                <a:rPr lang="zh-CN" altLang="en-US" dirty="0">
                  <a:solidFill>
                    <a:srgbClr val="FF0000"/>
                  </a:solidFill>
                  <a:latin typeface="Times New Roman" panose="02020603050405020304" pitchFamily="18" charset="0"/>
                  <a:ea typeface="宋体" panose="02010600030101010101" pitchFamily="2" charset="-122"/>
                </a:rPr>
                <a:t>静态</a:t>
              </a:r>
              <a:endParaRPr lang="zh-CN" altLang="en-US" dirty="0">
                <a:solidFill>
                  <a:srgbClr val="FF0000"/>
                </a:solidFill>
                <a:latin typeface="Arial" panose="020B0604020202020204" pitchFamily="34" charset="0"/>
                <a:ea typeface="宋体" panose="02010600030101010101" pitchFamily="2" charset="-122"/>
              </a:endParaRPr>
            </a:p>
            <a:p>
              <a:pPr eaLnBrk="0" hangingPunct="0"/>
              <a:r>
                <a:rPr lang="zh-CN" altLang="en-US" dirty="0">
                  <a:solidFill>
                    <a:srgbClr val="FF0000"/>
                  </a:solidFill>
                  <a:latin typeface="Times New Roman" panose="02020603050405020304" pitchFamily="18" charset="0"/>
                  <a:ea typeface="宋体" panose="02010600030101010101" pitchFamily="2" charset="-122"/>
                </a:rPr>
                <a:t>分析</a:t>
              </a:r>
              <a:endParaRPr lang="zh-CN" altLang="en-US" dirty="0">
                <a:solidFill>
                  <a:srgbClr val="FF0000"/>
                </a:solidFill>
                <a:latin typeface="Times New Roman" panose="02020603050405020304" pitchFamily="18" charset="0"/>
                <a:ea typeface="Times New Roman" panose="02020603050405020304" pitchFamily="18" charset="0"/>
              </a:endParaRPr>
            </a:p>
          </p:txBody>
        </p:sp>
        <p:sp>
          <p:nvSpPr>
            <p:cNvPr id="30" name="Text Box 42"/>
            <p:cNvSpPr txBox="1"/>
            <p:nvPr/>
          </p:nvSpPr>
          <p:spPr>
            <a:xfrm>
              <a:off x="3038" y="4158"/>
              <a:ext cx="900" cy="780"/>
            </a:xfrm>
            <a:prstGeom prst="rect">
              <a:avLst/>
            </a:prstGeom>
            <a:noFill/>
            <a:ln w="9525">
              <a:noFill/>
            </a:ln>
          </p:spPr>
          <p:txBody>
            <a:bodyPr anchor="t"/>
            <a:lstStyle/>
            <a:p>
              <a:pPr eaLnBrk="0" hangingPunct="0"/>
              <a:r>
                <a:rPr lang="zh-CN" altLang="en-US" dirty="0">
                  <a:solidFill>
                    <a:srgbClr val="FF0000"/>
                  </a:solidFill>
                  <a:latin typeface="Times New Roman" panose="02020603050405020304" pitchFamily="18" charset="0"/>
                  <a:ea typeface="宋体" panose="02010600030101010101" pitchFamily="2" charset="-122"/>
                </a:rPr>
                <a:t>动态</a:t>
              </a:r>
              <a:endParaRPr lang="zh-CN" altLang="en-US" dirty="0">
                <a:solidFill>
                  <a:srgbClr val="FF0000"/>
                </a:solidFill>
                <a:latin typeface="Arial" panose="020B0604020202020204" pitchFamily="34" charset="0"/>
                <a:ea typeface="宋体" panose="02010600030101010101" pitchFamily="2" charset="-122"/>
              </a:endParaRPr>
            </a:p>
            <a:p>
              <a:pPr eaLnBrk="0" hangingPunct="0"/>
              <a:r>
                <a:rPr lang="zh-CN" altLang="en-US" dirty="0">
                  <a:solidFill>
                    <a:srgbClr val="FF0000"/>
                  </a:solidFill>
                  <a:latin typeface="Times New Roman" panose="02020603050405020304" pitchFamily="18" charset="0"/>
                  <a:ea typeface="宋体" panose="02010600030101010101" pitchFamily="2" charset="-122"/>
                </a:rPr>
                <a:t>分析</a:t>
              </a:r>
              <a:endParaRPr lang="zh-CN" altLang="en-US" dirty="0">
                <a:solidFill>
                  <a:srgbClr val="FF0000"/>
                </a:solidFill>
                <a:latin typeface="Times New Roman" panose="02020603050405020304" pitchFamily="18" charset="0"/>
                <a:ea typeface="Times New Roman" panose="02020603050405020304" pitchFamily="18"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静态分析</a:t>
            </a:r>
            <a:endParaRPr kumimoji="1" lang="zh-CN" altLang="en-US" dirty="0"/>
          </a:p>
        </p:txBody>
      </p:sp>
      <p:sp>
        <p:nvSpPr>
          <p:cNvPr id="3" name="内容占位符 2"/>
          <p:cNvSpPr>
            <a:spLocks noGrp="1"/>
          </p:cNvSpPr>
          <p:nvPr>
            <p:ph idx="1"/>
          </p:nvPr>
        </p:nvSpPr>
        <p:spPr/>
        <p:txBody>
          <a:bodyPr>
            <a:normAutofit fontScale="92500" lnSpcReduction="10000"/>
          </a:bodyPr>
          <a:lstStyle/>
          <a:p>
            <a:r>
              <a:rPr kumimoji="1" lang="zh-CN" altLang="en-US" dirty="0" smtClean="0"/>
              <a:t>中间表示</a:t>
            </a:r>
            <a:endParaRPr kumimoji="1" lang="zh-CN" altLang="en-US" dirty="0" smtClean="0"/>
          </a:p>
          <a:p>
            <a:pPr lvl="1"/>
            <a:r>
              <a:rPr kumimoji="1" lang="en-US" altLang="zh-CN" dirty="0" smtClean="0"/>
              <a:t>AST, 3AC, CFG, DFG, PDG</a:t>
            </a:r>
            <a:endParaRPr kumimoji="1" lang="zh-CN" altLang="en-US" dirty="0" smtClean="0"/>
          </a:p>
          <a:p>
            <a:r>
              <a:rPr kumimoji="1" lang="zh-CN" altLang="en-US" dirty="0" smtClean="0"/>
              <a:t>基本分析</a:t>
            </a:r>
            <a:endParaRPr kumimoji="1" lang="en-US" altLang="zh-CN" dirty="0" smtClean="0"/>
          </a:p>
          <a:p>
            <a:pPr lvl="1"/>
            <a:r>
              <a:rPr kumimoji="1" lang="zh-CN" altLang="en-US" dirty="0" smtClean="0"/>
              <a:t>语法分析</a:t>
            </a:r>
            <a:endParaRPr kumimoji="1" lang="zh-CN" altLang="en-US" dirty="0" smtClean="0"/>
          </a:p>
          <a:p>
            <a:pPr lvl="1"/>
            <a:r>
              <a:rPr kumimoji="1" lang="zh-CN" altLang="en-US" dirty="0" smtClean="0"/>
              <a:t>类型分析</a:t>
            </a:r>
            <a:endParaRPr kumimoji="1" lang="zh-CN" altLang="en-US" dirty="0" smtClean="0"/>
          </a:p>
          <a:p>
            <a:pPr lvl="1"/>
            <a:r>
              <a:rPr kumimoji="1" lang="zh-CN" altLang="en-US" dirty="0" smtClean="0"/>
              <a:t>控制流分析</a:t>
            </a:r>
            <a:endParaRPr kumimoji="1" lang="zh-CN" altLang="en-US" dirty="0" smtClean="0"/>
          </a:p>
          <a:p>
            <a:pPr lvl="1"/>
            <a:r>
              <a:rPr kumimoji="1" lang="zh-CN" altLang="en-US" dirty="0" smtClean="0"/>
              <a:t>数据流分析</a:t>
            </a:r>
            <a:endParaRPr kumimoji="1" lang="zh-CN" altLang="en-US" dirty="0" smtClean="0"/>
          </a:p>
          <a:p>
            <a:r>
              <a:rPr kumimoji="1" lang="zh-CN" altLang="en-US" dirty="0" smtClean="0"/>
              <a:t>其它分析</a:t>
            </a:r>
            <a:endParaRPr kumimoji="1" lang="zh-CN" altLang="en-US" dirty="0" smtClean="0"/>
          </a:p>
          <a:p>
            <a:pPr lvl="1"/>
            <a:r>
              <a:rPr kumimoji="1" lang="zh-CN" altLang="en-US" dirty="0" smtClean="0"/>
              <a:t>指向分析</a:t>
            </a:r>
            <a:endParaRPr kumimoji="1" lang="zh-CN" altLang="en-US" dirty="0" smtClean="0"/>
          </a:p>
          <a:p>
            <a:pPr lvl="1"/>
            <a:r>
              <a:rPr kumimoji="1" lang="zh-CN" altLang="en-US" dirty="0" smtClean="0"/>
              <a:t>过程间分析</a:t>
            </a:r>
            <a:endParaRPr kumimoji="1" lang="zh-CN" altLang="en-US" dirty="0" smtClean="0"/>
          </a:p>
          <a:p>
            <a:pPr lvl="1"/>
            <a:r>
              <a:rPr kumimoji="1" lang="zh-CN" altLang="en-US" dirty="0" smtClean="0"/>
              <a:t>切片</a:t>
            </a:r>
            <a:endParaRPr kumimoji="1" lang="zh-CN" altLang="en-US" dirty="0" smtClean="0"/>
          </a:p>
          <a:p>
            <a:pPr lvl="1"/>
            <a:r>
              <a:rPr kumimoji="1" lang="zh-CN" altLang="en-US" dirty="0" smtClean="0"/>
              <a:t>符号执行</a:t>
            </a:r>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控制流分析</a:t>
            </a:r>
            <a:endParaRPr kumimoji="1" lang="zh-CN" altLang="en-US" dirty="0"/>
          </a:p>
        </p:txBody>
      </p:sp>
      <p:sp>
        <p:nvSpPr>
          <p:cNvPr id="3" name="内容占位符 2"/>
          <p:cNvSpPr>
            <a:spLocks noGrp="1"/>
          </p:cNvSpPr>
          <p:nvPr>
            <p:ph idx="1"/>
          </p:nvPr>
        </p:nvSpPr>
        <p:spPr/>
        <p:txBody>
          <a:bodyPr/>
          <a:lstStyle/>
          <a:p>
            <a:r>
              <a:rPr kumimoji="1" lang="zh-CN" altLang="en-US" dirty="0" smtClean="0"/>
              <a:t>程序的基本结构包括顺序、分支、循环三种</a:t>
            </a:r>
            <a:endParaRPr kumimoji="1" lang="zh-CN" altLang="en-US" dirty="0" smtClean="0"/>
          </a:p>
          <a:p>
            <a:r>
              <a:rPr kumimoji="1" lang="zh-CN" altLang="en-US" dirty="0" smtClean="0"/>
              <a:t>以源程序的每行语句或者基本块为节点、以节点间的结构关系为边，构造程序的控制流图</a:t>
            </a:r>
            <a:endParaRPr kumimoji="1" lang="zh-CN" altLang="en-US" dirty="0" smtClean="0"/>
          </a:p>
          <a:p>
            <a:endParaRPr kumimoji="1" lang="zh-CN" altLang="en-US" dirty="0"/>
          </a:p>
        </p:txBody>
      </p:sp>
      <p:grpSp>
        <p:nvGrpSpPr>
          <p:cNvPr id="4" name="Group 5"/>
          <p:cNvGrpSpPr>
            <a:grpSpLocks noChangeAspect="1"/>
          </p:cNvGrpSpPr>
          <p:nvPr/>
        </p:nvGrpSpPr>
        <p:grpSpPr>
          <a:xfrm>
            <a:off x="3321454" y="3298004"/>
            <a:ext cx="8174252" cy="3109360"/>
            <a:chOff x="1238" y="5479"/>
            <a:chExt cx="7380" cy="2808"/>
          </a:xfrm>
        </p:grpSpPr>
        <p:sp>
          <p:nvSpPr>
            <p:cNvPr id="5" name="AutoShape 6"/>
            <p:cNvSpPr>
              <a:spLocks noChangeAspect="1"/>
            </p:cNvSpPr>
            <p:nvPr/>
          </p:nvSpPr>
          <p:spPr>
            <a:xfrm>
              <a:off x="1238" y="5479"/>
              <a:ext cx="7380" cy="2808"/>
            </a:xfrm>
            <a:prstGeom prst="rect">
              <a:avLst/>
            </a:prstGeom>
            <a:noFill/>
            <a:ln w="9525">
              <a:noFill/>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grpSp>
          <p:nvGrpSpPr>
            <p:cNvPr id="6" name="Group 7"/>
            <p:cNvGrpSpPr/>
            <p:nvPr/>
          </p:nvGrpSpPr>
          <p:grpSpPr>
            <a:xfrm>
              <a:off x="2318" y="6495"/>
              <a:ext cx="1211" cy="388"/>
              <a:chOff x="6930" y="2775"/>
              <a:chExt cx="625" cy="271"/>
            </a:xfrm>
          </p:grpSpPr>
          <p:sp>
            <p:nvSpPr>
              <p:cNvPr id="49" name="Oval 8"/>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50" name="Text Box 9"/>
              <p:cNvSpPr txBox="1"/>
              <p:nvPr/>
            </p:nvSpPr>
            <p:spPr>
              <a:xfrm>
                <a:off x="6930" y="2781"/>
                <a:ext cx="590" cy="255"/>
              </a:xfrm>
              <a:prstGeom prst="rect">
                <a:avLst/>
              </a:prstGeom>
              <a:noFill/>
              <a:ln w="9525">
                <a:noFill/>
              </a:ln>
            </p:spPr>
            <p:txBody>
              <a:bodyPr lIns="0" tIns="0" rIns="0" bIns="0" anchor="t"/>
              <a:lstStyle/>
              <a:p>
                <a:pPr algn="ctr" eaLnBrk="0" hangingPunct="0"/>
                <a:r>
                  <a:rPr lang="en-US" altLang="zh-CN" sz="2000" dirty="0">
                    <a:latin typeface="Times New Roman" panose="02020603050405020304" pitchFamily="18" charset="0"/>
                    <a:ea typeface="宋体" panose="02010600030101010101" pitchFamily="2" charset="-122"/>
                  </a:rPr>
                  <a:t>1:int y=x</a:t>
                </a:r>
                <a:r>
                  <a:rPr lang="fr-FR" altLang="zh-CN" sz="2000" dirty="0">
                    <a:latin typeface="Times New Roman" panose="02020603050405020304" pitchFamily="18"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p:txBody>
          </p:sp>
        </p:grpSp>
        <p:grpSp>
          <p:nvGrpSpPr>
            <p:cNvPr id="7" name="Group 10"/>
            <p:cNvGrpSpPr/>
            <p:nvPr/>
          </p:nvGrpSpPr>
          <p:grpSpPr>
            <a:xfrm>
              <a:off x="3578" y="6495"/>
              <a:ext cx="1264" cy="388"/>
              <a:chOff x="6930" y="2775"/>
              <a:chExt cx="625" cy="271"/>
            </a:xfrm>
          </p:grpSpPr>
          <p:sp>
            <p:nvSpPr>
              <p:cNvPr id="47" name="Oval 11"/>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48" name="Text Box 12"/>
              <p:cNvSpPr txBox="1"/>
              <p:nvPr/>
            </p:nvSpPr>
            <p:spPr>
              <a:xfrm>
                <a:off x="6930" y="2781"/>
                <a:ext cx="590" cy="255"/>
              </a:xfrm>
              <a:prstGeom prst="rect">
                <a:avLst/>
              </a:prstGeom>
              <a:noFill/>
              <a:ln w="9525">
                <a:noFill/>
              </a:ln>
            </p:spPr>
            <p:txBody>
              <a:bodyPr lIns="0" tIns="0" rIns="0" bIns="0" anchor="t"/>
              <a:lstStyle/>
              <a:p>
                <a:pPr algn="ctr" eaLnBrk="0" hangingPunct="0"/>
                <a:r>
                  <a:rPr lang="fr-FR" altLang="zh-CN" sz="2000" dirty="0">
                    <a:latin typeface="Times New Roman" panose="02020603050405020304" pitchFamily="18" charset="0"/>
                    <a:ea typeface="宋体" panose="02010600030101010101" pitchFamily="2" charset="-122"/>
                  </a:rPr>
                  <a:t>2 :int z = 1;</a:t>
                </a:r>
                <a:endParaRPr lang="en-US" altLang="zh-CN" sz="2000" dirty="0">
                  <a:latin typeface="Arial" panose="020B0604020202020204" pitchFamily="34" charset="0"/>
                  <a:ea typeface="宋体" panose="02010600030101010101" pitchFamily="2" charset="-122"/>
                </a:endParaRPr>
              </a:p>
            </p:txBody>
          </p:sp>
        </p:grpSp>
        <p:grpSp>
          <p:nvGrpSpPr>
            <p:cNvPr id="8" name="Group 13"/>
            <p:cNvGrpSpPr/>
            <p:nvPr/>
          </p:nvGrpSpPr>
          <p:grpSpPr>
            <a:xfrm>
              <a:off x="4523" y="6883"/>
              <a:ext cx="1800" cy="388"/>
              <a:chOff x="6930" y="2775"/>
              <a:chExt cx="625" cy="271"/>
            </a:xfrm>
          </p:grpSpPr>
          <p:sp>
            <p:nvSpPr>
              <p:cNvPr id="45" name="Oval 14"/>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46" name="Text Box 15"/>
              <p:cNvSpPr txBox="1"/>
              <p:nvPr/>
            </p:nvSpPr>
            <p:spPr>
              <a:xfrm>
                <a:off x="6930" y="2781"/>
                <a:ext cx="590" cy="255"/>
              </a:xfrm>
              <a:prstGeom prst="rect">
                <a:avLst/>
              </a:prstGeom>
              <a:noFill/>
              <a:ln w="9525">
                <a:noFill/>
              </a:ln>
            </p:spPr>
            <p:txBody>
              <a:bodyPr lIns="0" tIns="0" rIns="0" bIns="0" anchor="t"/>
              <a:lstStyle/>
              <a:p>
                <a:pPr algn="ctr" eaLnBrk="0" hangingPunct="0"/>
                <a:r>
                  <a:rPr lang="fr-FR" altLang="zh-CN" sz="2000" dirty="0">
                    <a:latin typeface="Times New Roman" panose="02020603050405020304" pitchFamily="18" charset="0"/>
                    <a:ea typeface="宋体" panose="02010600030101010101" pitchFamily="2" charset="-122"/>
                  </a:rPr>
                  <a:t>3 :while (y &gt; 0)</a:t>
                </a:r>
                <a:endParaRPr lang="en-US" altLang="zh-CN" sz="2000" dirty="0">
                  <a:latin typeface="Arial" panose="020B0604020202020204" pitchFamily="34" charset="0"/>
                  <a:ea typeface="宋体" panose="02010600030101010101" pitchFamily="2" charset="-122"/>
                </a:endParaRPr>
              </a:p>
            </p:txBody>
          </p:sp>
        </p:grpSp>
        <p:grpSp>
          <p:nvGrpSpPr>
            <p:cNvPr id="9" name="Group 16"/>
            <p:cNvGrpSpPr/>
            <p:nvPr/>
          </p:nvGrpSpPr>
          <p:grpSpPr>
            <a:xfrm>
              <a:off x="4163" y="7507"/>
              <a:ext cx="1215" cy="387"/>
              <a:chOff x="6930" y="2775"/>
              <a:chExt cx="625" cy="271"/>
            </a:xfrm>
          </p:grpSpPr>
          <p:sp>
            <p:nvSpPr>
              <p:cNvPr id="43" name="Oval 17"/>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44" name="Text Box 18"/>
              <p:cNvSpPr txBox="1"/>
              <p:nvPr/>
            </p:nvSpPr>
            <p:spPr>
              <a:xfrm>
                <a:off x="6930" y="2781"/>
                <a:ext cx="590" cy="255"/>
              </a:xfrm>
              <a:prstGeom prst="rect">
                <a:avLst/>
              </a:prstGeom>
              <a:noFill/>
              <a:ln w="9525">
                <a:noFill/>
              </a:ln>
            </p:spPr>
            <p:txBody>
              <a:bodyPr lIns="0" tIns="0" rIns="0" bIns="0" anchor="t"/>
              <a:lstStyle/>
              <a:p>
                <a:pPr algn="ctr" eaLnBrk="0" hangingPunct="0"/>
                <a:r>
                  <a:rPr lang="en-US" altLang="zh-CN" sz="2000" dirty="0">
                    <a:latin typeface="Times New Roman" panose="02020603050405020304" pitchFamily="18" charset="0"/>
                    <a:ea typeface="宋体" panose="02010600030101010101" pitchFamily="2" charset="-122"/>
                  </a:rPr>
                  <a:t>4:z = z * y;</a:t>
                </a:r>
                <a:endParaRPr lang="en-US" altLang="zh-CN" sz="2000" dirty="0">
                  <a:latin typeface="Arial" panose="020B0604020202020204" pitchFamily="34" charset="0"/>
                  <a:ea typeface="宋体" panose="02010600030101010101" pitchFamily="2" charset="-122"/>
                </a:endParaRPr>
              </a:p>
            </p:txBody>
          </p:sp>
        </p:grpSp>
        <p:grpSp>
          <p:nvGrpSpPr>
            <p:cNvPr id="10" name="Group 19"/>
            <p:cNvGrpSpPr/>
            <p:nvPr/>
          </p:nvGrpSpPr>
          <p:grpSpPr>
            <a:xfrm>
              <a:off x="5603" y="7507"/>
              <a:ext cx="1215" cy="388"/>
              <a:chOff x="6930" y="2775"/>
              <a:chExt cx="625" cy="271"/>
            </a:xfrm>
          </p:grpSpPr>
          <p:sp>
            <p:nvSpPr>
              <p:cNvPr id="41" name="Oval 20"/>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42" name="Text Box 21"/>
              <p:cNvSpPr txBox="1"/>
              <p:nvPr/>
            </p:nvSpPr>
            <p:spPr>
              <a:xfrm>
                <a:off x="6930" y="2781"/>
                <a:ext cx="590" cy="255"/>
              </a:xfrm>
              <a:prstGeom prst="rect">
                <a:avLst/>
              </a:prstGeom>
              <a:noFill/>
              <a:ln w="9525">
                <a:noFill/>
              </a:ln>
            </p:spPr>
            <p:txBody>
              <a:bodyPr lIns="0" tIns="0" rIns="0" bIns="0" anchor="t"/>
              <a:lstStyle/>
              <a:p>
                <a:pPr algn="ctr" eaLnBrk="0" hangingPunct="0"/>
                <a:r>
                  <a:rPr lang="en-US" altLang="zh-CN" sz="2000" dirty="0">
                    <a:latin typeface="Times New Roman" panose="02020603050405020304" pitchFamily="18" charset="0"/>
                    <a:ea typeface="宋体" panose="02010600030101010101" pitchFamily="2" charset="-122"/>
                  </a:rPr>
                  <a:t>5:y = y - 1;</a:t>
                </a:r>
                <a:endParaRPr lang="en-US" altLang="zh-CN" sz="2000" dirty="0">
                  <a:latin typeface="Arial" panose="020B0604020202020204" pitchFamily="34" charset="0"/>
                  <a:ea typeface="宋体" panose="02010600030101010101" pitchFamily="2" charset="-122"/>
                </a:endParaRPr>
              </a:p>
            </p:txBody>
          </p:sp>
        </p:grpSp>
        <p:grpSp>
          <p:nvGrpSpPr>
            <p:cNvPr id="11" name="Group 22"/>
            <p:cNvGrpSpPr/>
            <p:nvPr/>
          </p:nvGrpSpPr>
          <p:grpSpPr>
            <a:xfrm>
              <a:off x="5738" y="6415"/>
              <a:ext cx="939" cy="387"/>
              <a:chOff x="6930" y="2775"/>
              <a:chExt cx="625" cy="271"/>
            </a:xfrm>
          </p:grpSpPr>
          <p:sp>
            <p:nvSpPr>
              <p:cNvPr id="39" name="Oval 23"/>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40" name="Text Box 24"/>
              <p:cNvSpPr txBox="1"/>
              <p:nvPr/>
            </p:nvSpPr>
            <p:spPr>
              <a:xfrm>
                <a:off x="6930" y="2781"/>
                <a:ext cx="590" cy="255"/>
              </a:xfrm>
              <a:prstGeom prst="rect">
                <a:avLst/>
              </a:prstGeom>
              <a:noFill/>
              <a:ln w="9525">
                <a:noFill/>
              </a:ln>
            </p:spPr>
            <p:txBody>
              <a:bodyPr lIns="0" tIns="0" rIns="0" bIns="0" anchor="t"/>
              <a:lstStyle/>
              <a:p>
                <a:pPr algn="ctr" eaLnBrk="0" hangingPunct="0"/>
                <a:r>
                  <a:rPr lang="en-US" altLang="zh-CN" sz="2000" dirty="0">
                    <a:latin typeface="Times New Roman" panose="02020603050405020304" pitchFamily="18" charset="0"/>
                    <a:ea typeface="宋体" panose="02010600030101010101" pitchFamily="2" charset="-122"/>
                  </a:rPr>
                  <a:t>6:y = 0;</a:t>
                </a:r>
                <a:endParaRPr lang="en-US" altLang="zh-CN" sz="2000" dirty="0">
                  <a:latin typeface="Arial" panose="020B0604020202020204" pitchFamily="34" charset="0"/>
                  <a:ea typeface="宋体" panose="02010600030101010101" pitchFamily="2" charset="-122"/>
                </a:endParaRPr>
              </a:p>
            </p:txBody>
          </p:sp>
        </p:grpSp>
        <p:cxnSp>
          <p:nvCxnSpPr>
            <p:cNvPr id="12" name="AutoShape 25"/>
            <p:cNvCxnSpPr/>
            <p:nvPr/>
          </p:nvCxnSpPr>
          <p:spPr>
            <a:xfrm flipH="1">
              <a:off x="2890" y="5867"/>
              <a:ext cx="1738" cy="637"/>
            </a:xfrm>
            <a:prstGeom prst="straightConnector1">
              <a:avLst/>
            </a:prstGeom>
            <a:ln w="9525" cap="flat" cmpd="sng">
              <a:solidFill>
                <a:srgbClr val="000000"/>
              </a:solidFill>
              <a:prstDash val="solid"/>
              <a:round/>
              <a:headEnd type="none" w="med" len="med"/>
              <a:tailEnd type="triangle" w="med" len="med"/>
            </a:ln>
          </p:spPr>
        </p:cxnSp>
        <p:grpSp>
          <p:nvGrpSpPr>
            <p:cNvPr id="13" name="Group 26"/>
            <p:cNvGrpSpPr/>
            <p:nvPr/>
          </p:nvGrpSpPr>
          <p:grpSpPr>
            <a:xfrm>
              <a:off x="6818" y="6415"/>
              <a:ext cx="1440" cy="387"/>
              <a:chOff x="6930" y="2775"/>
              <a:chExt cx="625" cy="271"/>
            </a:xfrm>
          </p:grpSpPr>
          <p:sp>
            <p:nvSpPr>
              <p:cNvPr id="37" name="Oval 27"/>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38" name="Text Box 28"/>
              <p:cNvSpPr txBox="1"/>
              <p:nvPr/>
            </p:nvSpPr>
            <p:spPr>
              <a:xfrm>
                <a:off x="6930" y="2781"/>
                <a:ext cx="590" cy="255"/>
              </a:xfrm>
              <a:prstGeom prst="rect">
                <a:avLst/>
              </a:prstGeom>
              <a:noFill/>
              <a:ln w="9525">
                <a:noFill/>
              </a:ln>
            </p:spPr>
            <p:txBody>
              <a:bodyPr lIns="0" tIns="0" rIns="0" bIns="0" anchor="t"/>
              <a:lstStyle/>
              <a:p>
                <a:pPr algn="ctr" eaLnBrk="0" hangingPunct="0"/>
                <a:r>
                  <a:rPr lang="en-US" altLang="zh-CN" sz="2000" dirty="0">
                    <a:latin typeface="Times New Roman" panose="02020603050405020304" pitchFamily="18" charset="0"/>
                    <a:ea typeface="宋体" panose="02010600030101010101" pitchFamily="2" charset="-122"/>
                  </a:rPr>
                  <a:t>7:printf(y,z)</a:t>
                </a:r>
                <a:endParaRPr lang="en-US" altLang="zh-CN" sz="2000" dirty="0">
                  <a:latin typeface="Arial" panose="020B0604020202020204" pitchFamily="34" charset="0"/>
                  <a:ea typeface="宋体" panose="02010600030101010101" pitchFamily="2" charset="-122"/>
                </a:endParaRPr>
              </a:p>
            </p:txBody>
          </p:sp>
        </p:grpSp>
        <p:grpSp>
          <p:nvGrpSpPr>
            <p:cNvPr id="14" name="Group 29"/>
            <p:cNvGrpSpPr/>
            <p:nvPr/>
          </p:nvGrpSpPr>
          <p:grpSpPr>
            <a:xfrm>
              <a:off x="1238" y="6495"/>
              <a:ext cx="971" cy="388"/>
              <a:chOff x="6930" y="2775"/>
              <a:chExt cx="625" cy="271"/>
            </a:xfrm>
          </p:grpSpPr>
          <p:sp>
            <p:nvSpPr>
              <p:cNvPr id="35" name="Oval 30"/>
              <p:cNvSpPr/>
              <p:nvPr/>
            </p:nvSpPr>
            <p:spPr>
              <a:xfrm>
                <a:off x="6930" y="2775"/>
                <a:ext cx="62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36" name="Text Box 31"/>
              <p:cNvSpPr txBox="1"/>
              <p:nvPr/>
            </p:nvSpPr>
            <p:spPr>
              <a:xfrm>
                <a:off x="6930" y="2781"/>
                <a:ext cx="590" cy="255"/>
              </a:xfrm>
              <a:prstGeom prst="rect">
                <a:avLst/>
              </a:prstGeom>
              <a:noFill/>
              <a:ln w="9525">
                <a:noFill/>
              </a:ln>
            </p:spPr>
            <p:txBody>
              <a:bodyPr lIns="0" tIns="0" rIns="0" bIns="0" anchor="t"/>
              <a:lstStyle/>
              <a:p>
                <a:pPr algn="ctr" eaLnBrk="0" hangingPunct="0"/>
                <a:r>
                  <a:rPr lang="en-US" altLang="zh-CN" sz="2000" dirty="0">
                    <a:latin typeface="Times New Roman" panose="02020603050405020304" pitchFamily="18" charset="0"/>
                    <a:ea typeface="宋体" panose="02010600030101010101" pitchFamily="2" charset="-122"/>
                  </a:rPr>
                  <a:t>int x</a:t>
                </a:r>
                <a:r>
                  <a:rPr lang="fr-FR" altLang="zh-CN" sz="2000" dirty="0">
                    <a:latin typeface="Times New Roman" panose="02020603050405020304" pitchFamily="18"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p:txBody>
          </p:sp>
        </p:grpSp>
        <p:cxnSp>
          <p:nvCxnSpPr>
            <p:cNvPr id="15" name="AutoShape 32"/>
            <p:cNvCxnSpPr/>
            <p:nvPr/>
          </p:nvCxnSpPr>
          <p:spPr>
            <a:xfrm flipH="1">
              <a:off x="1697" y="5867"/>
              <a:ext cx="2931" cy="637"/>
            </a:xfrm>
            <a:prstGeom prst="straightConnector1">
              <a:avLst/>
            </a:prstGeom>
            <a:ln w="9525" cap="flat" cmpd="sng">
              <a:solidFill>
                <a:srgbClr val="000000"/>
              </a:solidFill>
              <a:prstDash val="solid"/>
              <a:round/>
              <a:headEnd type="none" w="med" len="med"/>
              <a:tailEnd type="triangle" w="med" len="med"/>
            </a:ln>
          </p:spPr>
        </p:cxnSp>
        <p:cxnSp>
          <p:nvCxnSpPr>
            <p:cNvPr id="16" name="AutoShape 33"/>
            <p:cNvCxnSpPr/>
            <p:nvPr/>
          </p:nvCxnSpPr>
          <p:spPr>
            <a:xfrm flipH="1">
              <a:off x="4175" y="5867"/>
              <a:ext cx="453" cy="637"/>
            </a:xfrm>
            <a:prstGeom prst="straightConnector1">
              <a:avLst/>
            </a:prstGeom>
            <a:ln w="9525" cap="flat" cmpd="sng">
              <a:solidFill>
                <a:srgbClr val="000000"/>
              </a:solidFill>
              <a:prstDash val="solid"/>
              <a:round/>
              <a:headEnd type="none" w="med" len="med"/>
              <a:tailEnd type="triangle" w="med" len="med"/>
            </a:ln>
          </p:spPr>
        </p:cxnSp>
        <p:cxnSp>
          <p:nvCxnSpPr>
            <p:cNvPr id="17" name="AutoShape 34"/>
            <p:cNvCxnSpPr/>
            <p:nvPr/>
          </p:nvCxnSpPr>
          <p:spPr>
            <a:xfrm>
              <a:off x="4628" y="5867"/>
              <a:ext cx="1553" cy="557"/>
            </a:xfrm>
            <a:prstGeom prst="straightConnector1">
              <a:avLst/>
            </a:prstGeom>
            <a:ln w="9525" cap="flat" cmpd="sng">
              <a:solidFill>
                <a:srgbClr val="000000"/>
              </a:solidFill>
              <a:prstDash val="solid"/>
              <a:round/>
              <a:headEnd type="none" w="med" len="med"/>
              <a:tailEnd type="triangle" w="med" len="med"/>
            </a:ln>
          </p:spPr>
        </p:cxnSp>
        <p:cxnSp>
          <p:nvCxnSpPr>
            <p:cNvPr id="18" name="AutoShape 35"/>
            <p:cNvCxnSpPr/>
            <p:nvPr/>
          </p:nvCxnSpPr>
          <p:spPr>
            <a:xfrm>
              <a:off x="4628" y="5867"/>
              <a:ext cx="2870" cy="557"/>
            </a:xfrm>
            <a:prstGeom prst="straightConnector1">
              <a:avLst/>
            </a:prstGeom>
            <a:ln w="9525" cap="flat" cmpd="sng">
              <a:solidFill>
                <a:srgbClr val="000000"/>
              </a:solidFill>
              <a:prstDash val="solid"/>
              <a:round/>
              <a:headEnd type="none" w="med" len="med"/>
              <a:tailEnd type="triangle" w="med" len="med"/>
            </a:ln>
          </p:spPr>
        </p:cxnSp>
        <p:cxnSp>
          <p:nvCxnSpPr>
            <p:cNvPr id="19" name="AutoShape 36"/>
            <p:cNvCxnSpPr/>
            <p:nvPr/>
          </p:nvCxnSpPr>
          <p:spPr>
            <a:xfrm>
              <a:off x="4628" y="5867"/>
              <a:ext cx="745" cy="1025"/>
            </a:xfrm>
            <a:prstGeom prst="straightConnector1">
              <a:avLst/>
            </a:prstGeom>
            <a:ln w="9525" cap="flat" cmpd="sng">
              <a:solidFill>
                <a:srgbClr val="000000"/>
              </a:solidFill>
              <a:prstDash val="solid"/>
              <a:round/>
              <a:headEnd type="none" w="med" len="med"/>
              <a:tailEnd type="triangle" w="med" len="med"/>
            </a:ln>
          </p:spPr>
        </p:cxnSp>
        <p:cxnSp>
          <p:nvCxnSpPr>
            <p:cNvPr id="20" name="AutoShape 37"/>
            <p:cNvCxnSpPr/>
            <p:nvPr/>
          </p:nvCxnSpPr>
          <p:spPr>
            <a:xfrm flipH="1">
              <a:off x="4737" y="7257"/>
              <a:ext cx="636" cy="259"/>
            </a:xfrm>
            <a:prstGeom prst="straightConnector1">
              <a:avLst/>
            </a:prstGeom>
            <a:ln w="9525" cap="flat" cmpd="sng">
              <a:solidFill>
                <a:srgbClr val="000000"/>
              </a:solidFill>
              <a:prstDash val="solid"/>
              <a:round/>
              <a:headEnd type="none" w="med" len="med"/>
              <a:tailEnd type="triangle" w="med" len="med"/>
            </a:ln>
          </p:spPr>
        </p:cxnSp>
        <p:cxnSp>
          <p:nvCxnSpPr>
            <p:cNvPr id="21" name="AutoShape 38"/>
            <p:cNvCxnSpPr/>
            <p:nvPr/>
          </p:nvCxnSpPr>
          <p:spPr>
            <a:xfrm>
              <a:off x="5373" y="7257"/>
              <a:ext cx="804" cy="259"/>
            </a:xfrm>
            <a:prstGeom prst="straightConnector1">
              <a:avLst/>
            </a:prstGeom>
            <a:ln w="9525" cap="flat" cmpd="sng">
              <a:solidFill>
                <a:srgbClr val="000000"/>
              </a:solidFill>
              <a:prstDash val="solid"/>
              <a:round/>
              <a:headEnd type="none" w="med" len="med"/>
              <a:tailEnd type="triangle" w="med" len="med"/>
            </a:ln>
          </p:spPr>
        </p:cxnSp>
        <p:grpSp>
          <p:nvGrpSpPr>
            <p:cNvPr id="22" name="Group 39"/>
            <p:cNvGrpSpPr/>
            <p:nvPr/>
          </p:nvGrpSpPr>
          <p:grpSpPr>
            <a:xfrm>
              <a:off x="4118" y="5479"/>
              <a:ext cx="1080" cy="393"/>
              <a:chOff x="5602" y="5635"/>
              <a:chExt cx="2116" cy="393"/>
            </a:xfrm>
          </p:grpSpPr>
          <p:sp>
            <p:nvSpPr>
              <p:cNvPr id="33" name="Oval 40"/>
              <p:cNvSpPr/>
              <p:nvPr/>
            </p:nvSpPr>
            <p:spPr>
              <a:xfrm>
                <a:off x="5602" y="5642"/>
                <a:ext cx="2116" cy="386"/>
              </a:xfrm>
              <a:prstGeom prst="ellipse">
                <a:avLst/>
              </a:prstGeom>
              <a:solidFill>
                <a:srgbClr val="FFFFFF"/>
              </a:solidFill>
              <a:ln w="9525" cap="flat" cmpd="sng">
                <a:solidFill>
                  <a:srgbClr val="000000"/>
                </a:solidFill>
                <a:prstDash val="solid"/>
                <a:round/>
                <a:headEnd type="none" w="med" len="med"/>
                <a:tailEnd type="none" w="med" len="med"/>
              </a:ln>
            </p:spPr>
            <p:txBody>
              <a:bodyPr anchor="t"/>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sp>
            <p:nvSpPr>
              <p:cNvPr id="34" name="Text Box 41"/>
              <p:cNvSpPr txBox="1"/>
              <p:nvPr/>
            </p:nvSpPr>
            <p:spPr>
              <a:xfrm>
                <a:off x="5602" y="5635"/>
                <a:ext cx="1998" cy="388"/>
              </a:xfrm>
              <a:prstGeom prst="rect">
                <a:avLst/>
              </a:prstGeom>
              <a:noFill/>
              <a:ln w="9525">
                <a:noFill/>
              </a:ln>
            </p:spPr>
            <p:txBody>
              <a:bodyPr tIns="0" bIns="0" anchor="t"/>
              <a:lstStyle/>
              <a:p>
                <a:pPr algn="ctr" eaLnBrk="0" hangingPunct="0"/>
                <a:r>
                  <a:rPr lang="en-US" altLang="zh-CN" sz="2000" dirty="0">
                    <a:latin typeface="Times New Roman" panose="02020603050405020304" pitchFamily="18" charset="0"/>
                    <a:ea typeface="宋体" panose="02010600030101010101" pitchFamily="2" charset="-122"/>
                  </a:rPr>
                  <a:t>entry</a:t>
                </a:r>
                <a:endParaRPr lang="en-US" altLang="zh-CN" sz="2000" dirty="0">
                  <a:latin typeface="Arial" panose="020B0604020202020204" pitchFamily="34" charset="0"/>
                  <a:ea typeface="宋体" panose="02010600030101010101" pitchFamily="2" charset="-122"/>
                </a:endParaRPr>
              </a:p>
            </p:txBody>
          </p:sp>
        </p:grpSp>
        <p:cxnSp>
          <p:nvCxnSpPr>
            <p:cNvPr id="23" name="AutoShape 42"/>
            <p:cNvCxnSpPr/>
            <p:nvPr/>
          </p:nvCxnSpPr>
          <p:spPr>
            <a:xfrm rot="-5400000" flipH="1">
              <a:off x="2291" y="6271"/>
              <a:ext cx="1" cy="1193"/>
            </a:xfrm>
            <a:prstGeom prst="curvedConnector3">
              <a:avLst>
                <a:gd name="adj1" fmla="val 35900000"/>
              </a:avLst>
            </a:prstGeom>
            <a:ln w="9525" cap="flat" cmpd="sng">
              <a:solidFill>
                <a:srgbClr val="000000"/>
              </a:solidFill>
              <a:prstDash val="dash"/>
              <a:round/>
              <a:headEnd type="none" w="med" len="med"/>
              <a:tailEnd type="arrow" w="sm" len="sm"/>
            </a:ln>
          </p:spPr>
        </p:cxnSp>
        <p:cxnSp>
          <p:nvCxnSpPr>
            <p:cNvPr id="24" name="AutoShape 43"/>
            <p:cNvCxnSpPr/>
            <p:nvPr/>
          </p:nvCxnSpPr>
          <p:spPr>
            <a:xfrm>
              <a:off x="2890" y="6869"/>
              <a:ext cx="1273" cy="829"/>
            </a:xfrm>
            <a:prstGeom prst="straightConnector1">
              <a:avLst/>
            </a:prstGeom>
            <a:ln w="9525" cap="flat" cmpd="sng">
              <a:solidFill>
                <a:srgbClr val="000000"/>
              </a:solidFill>
              <a:prstDash val="dash"/>
              <a:round/>
              <a:headEnd type="none" w="med" len="med"/>
              <a:tailEnd type="arrow" w="sm" len="sm"/>
            </a:ln>
          </p:spPr>
        </p:cxnSp>
        <p:cxnSp>
          <p:nvCxnSpPr>
            <p:cNvPr id="25" name="AutoShape 44"/>
            <p:cNvCxnSpPr/>
            <p:nvPr/>
          </p:nvCxnSpPr>
          <p:spPr>
            <a:xfrm>
              <a:off x="4175" y="6869"/>
              <a:ext cx="562" cy="647"/>
            </a:xfrm>
            <a:prstGeom prst="straightConnector1">
              <a:avLst/>
            </a:prstGeom>
            <a:ln w="9525" cap="flat" cmpd="sng">
              <a:solidFill>
                <a:srgbClr val="000000"/>
              </a:solidFill>
              <a:prstDash val="dash"/>
              <a:round/>
              <a:headEnd type="none" w="med" len="med"/>
              <a:tailEnd type="arrow" w="sm" len="sm"/>
            </a:ln>
          </p:spPr>
        </p:cxnSp>
        <p:cxnSp>
          <p:nvCxnSpPr>
            <p:cNvPr id="26" name="AutoShape 45"/>
            <p:cNvCxnSpPr/>
            <p:nvPr/>
          </p:nvCxnSpPr>
          <p:spPr>
            <a:xfrm rot="-5400000" flipH="1">
              <a:off x="6837" y="6128"/>
              <a:ext cx="1" cy="1317"/>
            </a:xfrm>
            <a:prstGeom prst="curvedConnector3">
              <a:avLst>
                <a:gd name="adj1" fmla="val 36000000"/>
              </a:avLst>
            </a:prstGeom>
            <a:ln w="9525" cap="flat" cmpd="sng">
              <a:solidFill>
                <a:srgbClr val="000000"/>
              </a:solidFill>
              <a:prstDash val="dash"/>
              <a:round/>
              <a:headEnd type="none" w="med" len="med"/>
              <a:tailEnd type="arrow" w="sm" len="sm"/>
            </a:ln>
          </p:spPr>
        </p:cxnSp>
        <p:cxnSp>
          <p:nvCxnSpPr>
            <p:cNvPr id="27" name="AutoShape 46"/>
            <p:cNvCxnSpPr/>
            <p:nvPr/>
          </p:nvCxnSpPr>
          <p:spPr>
            <a:xfrm rot="5400000" flipH="1" flipV="1">
              <a:off x="5820" y="5523"/>
              <a:ext cx="1274" cy="3440"/>
            </a:xfrm>
            <a:prstGeom prst="curvedConnector4">
              <a:avLst>
                <a:gd name="adj1" fmla="val -28259"/>
                <a:gd name="adj2" fmla="val 110435"/>
              </a:avLst>
            </a:prstGeom>
            <a:ln w="9525" cap="flat" cmpd="sng">
              <a:solidFill>
                <a:srgbClr val="000000"/>
              </a:solidFill>
              <a:prstDash val="dash"/>
              <a:round/>
              <a:headEnd type="none" w="med" len="med"/>
              <a:tailEnd type="arrow" w="sm" len="sm"/>
            </a:ln>
          </p:spPr>
        </p:cxnSp>
        <p:cxnSp>
          <p:nvCxnSpPr>
            <p:cNvPr id="28" name="AutoShape 47"/>
            <p:cNvCxnSpPr/>
            <p:nvPr/>
          </p:nvCxnSpPr>
          <p:spPr>
            <a:xfrm rot="-5400000" flipH="1">
              <a:off x="4024" y="5728"/>
              <a:ext cx="1012" cy="3287"/>
            </a:xfrm>
            <a:prstGeom prst="curvedConnector3">
              <a:avLst>
                <a:gd name="adj1" fmla="val 135472"/>
              </a:avLst>
            </a:prstGeom>
            <a:ln w="9525" cap="flat" cmpd="sng">
              <a:solidFill>
                <a:srgbClr val="000000"/>
              </a:solidFill>
              <a:prstDash val="dash"/>
              <a:round/>
              <a:headEnd type="none" w="med" len="med"/>
              <a:tailEnd type="arrow" w="sm" len="sm"/>
            </a:ln>
          </p:spPr>
        </p:cxnSp>
        <p:cxnSp>
          <p:nvCxnSpPr>
            <p:cNvPr id="29" name="AutoShape 48"/>
            <p:cNvCxnSpPr/>
            <p:nvPr/>
          </p:nvCxnSpPr>
          <p:spPr>
            <a:xfrm flipH="1">
              <a:off x="5378" y="7699"/>
              <a:ext cx="225" cy="2"/>
            </a:xfrm>
            <a:prstGeom prst="straightConnector1">
              <a:avLst/>
            </a:prstGeom>
            <a:ln w="9525" cap="flat" cmpd="sng">
              <a:solidFill>
                <a:srgbClr val="000000"/>
              </a:solidFill>
              <a:prstDash val="dash"/>
              <a:round/>
              <a:headEnd type="none" w="med" len="med"/>
              <a:tailEnd type="arrow" w="sm" len="sm"/>
            </a:ln>
          </p:spPr>
        </p:cxnSp>
        <p:cxnSp>
          <p:nvCxnSpPr>
            <p:cNvPr id="30" name="AutoShape 49"/>
            <p:cNvCxnSpPr/>
            <p:nvPr/>
          </p:nvCxnSpPr>
          <p:spPr>
            <a:xfrm>
              <a:off x="2890" y="6869"/>
              <a:ext cx="1633" cy="206"/>
            </a:xfrm>
            <a:prstGeom prst="straightConnector1">
              <a:avLst/>
            </a:prstGeom>
            <a:ln w="9525" cap="flat" cmpd="sng">
              <a:solidFill>
                <a:srgbClr val="000000"/>
              </a:solidFill>
              <a:prstDash val="dash"/>
              <a:round/>
              <a:headEnd type="none" w="med" len="med"/>
              <a:tailEnd type="arrow" w="sm" len="sm"/>
            </a:ln>
          </p:spPr>
        </p:cxnSp>
        <p:cxnSp>
          <p:nvCxnSpPr>
            <p:cNvPr id="31" name="AutoShape 50"/>
            <p:cNvCxnSpPr/>
            <p:nvPr/>
          </p:nvCxnSpPr>
          <p:spPr>
            <a:xfrm flipH="1" flipV="1">
              <a:off x="6222" y="7075"/>
              <a:ext cx="596" cy="626"/>
            </a:xfrm>
            <a:prstGeom prst="curvedConnector3">
              <a:avLst>
                <a:gd name="adj1" fmla="val -60236"/>
              </a:avLst>
            </a:prstGeom>
            <a:ln w="9525" cap="flat" cmpd="sng">
              <a:solidFill>
                <a:srgbClr val="000000"/>
              </a:solidFill>
              <a:prstDash val="dash"/>
              <a:round/>
              <a:headEnd type="none" w="med" len="med"/>
              <a:tailEnd type="arrow" w="sm" len="sm"/>
            </a:ln>
          </p:spPr>
        </p:cxnSp>
        <p:cxnSp>
          <p:nvCxnSpPr>
            <p:cNvPr id="32" name="AutoShape 51"/>
            <p:cNvCxnSpPr/>
            <p:nvPr/>
          </p:nvCxnSpPr>
          <p:spPr>
            <a:xfrm rot="-5400000">
              <a:off x="5793" y="4799"/>
              <a:ext cx="80" cy="3323"/>
            </a:xfrm>
            <a:prstGeom prst="curvedConnector3">
              <a:avLst>
                <a:gd name="adj1" fmla="val 550000"/>
              </a:avLst>
            </a:prstGeom>
            <a:ln w="9525" cap="flat" cmpd="sng">
              <a:solidFill>
                <a:srgbClr val="000000"/>
              </a:solidFill>
              <a:prstDash val="dash"/>
              <a:round/>
              <a:headEnd type="none" w="med" len="med"/>
              <a:tailEnd type="arrow" w="sm" len="sm"/>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数据流分析</a:t>
            </a:r>
            <a:endParaRPr kumimoji="1" lang="zh-CN" altLang="en-US" dirty="0"/>
          </a:p>
        </p:txBody>
      </p:sp>
      <p:sp>
        <p:nvSpPr>
          <p:cNvPr id="3" name="内容占位符 2"/>
          <p:cNvSpPr>
            <a:spLocks noGrp="1"/>
          </p:cNvSpPr>
          <p:nvPr>
            <p:ph idx="1"/>
          </p:nvPr>
        </p:nvSpPr>
        <p:spPr/>
        <p:txBody>
          <a:bodyPr/>
          <a:lstStyle/>
          <a:p>
            <a:pPr marL="228600" lvl="1">
              <a:spcBef>
                <a:spcPts val="1000"/>
              </a:spcBef>
            </a:pPr>
            <a:r>
              <a:rPr lang="zh-CN" altLang="en-US" sz="2800" dirty="0">
                <a:latin typeface="Times New Roman" panose="02020603050405020304" pitchFamily="18" charset="0"/>
                <a:ea typeface="宋体" panose="02010600030101010101" pitchFamily="2" charset="-122"/>
                <a:sym typeface="+mn-ea"/>
              </a:rPr>
              <a:t>指的是一组用来获取有关</a:t>
            </a:r>
            <a:r>
              <a:rPr lang="zh-CN" altLang="en-US" sz="2800" dirty="0">
                <a:solidFill>
                  <a:srgbClr val="000099"/>
                </a:solidFill>
                <a:latin typeface="Times New Roman" panose="02020603050405020304" pitchFamily="18" charset="0"/>
                <a:ea typeface="宋体" panose="02010600030101010101" pitchFamily="2" charset="-122"/>
                <a:sym typeface="+mn-ea"/>
              </a:rPr>
              <a:t>数据</a:t>
            </a:r>
            <a:r>
              <a:rPr lang="zh-CN" altLang="en-US" sz="2800" dirty="0">
                <a:latin typeface="Times New Roman" panose="02020603050405020304" pitchFamily="18" charset="0"/>
                <a:ea typeface="宋体" panose="02010600030101010101" pitchFamily="2" charset="-122"/>
                <a:sym typeface="+mn-ea"/>
              </a:rPr>
              <a:t>如何沿着程序执行路径（control-flow graph）</a:t>
            </a:r>
            <a:r>
              <a:rPr lang="zh-CN" altLang="en-US" sz="2800" dirty="0">
                <a:solidFill>
                  <a:srgbClr val="000099"/>
                </a:solidFill>
                <a:latin typeface="Times New Roman" panose="02020603050405020304" pitchFamily="18" charset="0"/>
                <a:ea typeface="宋体" panose="02010600030101010101" pitchFamily="2" charset="-122"/>
                <a:sym typeface="+mn-ea"/>
              </a:rPr>
              <a:t>流动</a:t>
            </a:r>
            <a:r>
              <a:rPr lang="zh-CN" altLang="en-US" sz="2800" dirty="0">
                <a:latin typeface="Times New Roman" panose="02020603050405020304" pitchFamily="18" charset="0"/>
                <a:ea typeface="宋体" panose="02010600030101010101" pitchFamily="2" charset="-122"/>
                <a:sym typeface="+mn-ea"/>
              </a:rPr>
              <a:t>的相关信息的技术。</a:t>
            </a:r>
            <a:endParaRPr lang="zh-CN" altLang="en-US" sz="2800" dirty="0">
              <a:solidFill>
                <a:srgbClr val="003399"/>
              </a:solidFill>
              <a:latin typeface="Times New Roman" panose="02020603050405020304" pitchFamily="18" charset="0"/>
              <a:ea typeface="宋体" panose="02010600030101010101" pitchFamily="2" charset="-122"/>
            </a:endParaRPr>
          </a:p>
          <a:p>
            <a:r>
              <a:rPr kumimoji="1" lang="zh-CN" altLang="en-US" dirty="0" smtClean="0"/>
              <a:t>变量的定义</a:t>
            </a:r>
            <a:r>
              <a:rPr kumimoji="1" lang="en-US" altLang="zh-CN" dirty="0" smtClean="0"/>
              <a:t>-</a:t>
            </a:r>
            <a:r>
              <a:rPr kumimoji="1" lang="zh-CN" altLang="en-US" dirty="0" smtClean="0"/>
              <a:t>使用关系</a:t>
            </a:r>
            <a:endParaRPr kumimoji="1" lang="zh-CN" altLang="en-US" dirty="0" smtClean="0"/>
          </a:p>
        </p:txBody>
      </p:sp>
      <p:sp>
        <p:nvSpPr>
          <p:cNvPr id="4" name="Rectangle 4"/>
          <p:cNvSpPr/>
          <p:nvPr/>
        </p:nvSpPr>
        <p:spPr>
          <a:xfrm>
            <a:off x="944319" y="4185959"/>
            <a:ext cx="9329837" cy="1200329"/>
          </a:xfrm>
          <a:prstGeom prst="rect">
            <a:avLst/>
          </a:prstGeom>
          <a:noFill/>
          <a:ln w="9525">
            <a:noFill/>
          </a:ln>
        </p:spPr>
        <p:txBody>
          <a:bodyPr wrap="square" anchor="ctr">
            <a:spAutoFit/>
          </a:bodyPr>
          <a:lstStyle/>
          <a:p>
            <a:pPr marL="342900" indent="-342900" eaLnBrk="0" hangingPunct="0">
              <a:buFont typeface="Arial" panose="020B0604020202020204" pitchFamily="34" charset="0"/>
              <a:buChar char="•"/>
            </a:pPr>
            <a:r>
              <a:rPr lang="zh-CN" altLang="en-US" sz="2400" dirty="0">
                <a:solidFill>
                  <a:srgbClr val="000099"/>
                </a:solidFill>
              </a:rPr>
              <a:t>数据依赖</a:t>
            </a:r>
            <a:r>
              <a:rPr lang="zh-CN" altLang="en-US" sz="2400" dirty="0" smtClean="0">
                <a:solidFill>
                  <a:srgbClr val="292929"/>
                </a:solidFill>
                <a:latin typeface="Arial" panose="020B0604020202020204" pitchFamily="34" charset="0"/>
                <a:ea typeface="宋体" panose="02010600030101010101" pitchFamily="2" charset="-122"/>
              </a:rPr>
              <a:t>：</a:t>
            </a:r>
            <a:r>
              <a:rPr lang="zh-CN" altLang="en-US" sz="2400" dirty="0">
                <a:solidFill>
                  <a:srgbClr val="292929"/>
                </a:solidFill>
                <a:latin typeface="Arial" panose="020B0604020202020204" pitchFamily="34" charset="0"/>
                <a:ea typeface="宋体" panose="02010600030101010101" pitchFamily="2" charset="-122"/>
              </a:rPr>
              <a:t>如果有一条从</a:t>
            </a:r>
            <a:r>
              <a:rPr lang="en-US" altLang="zh-CN" sz="2400" dirty="0">
                <a:solidFill>
                  <a:srgbClr val="292929"/>
                </a:solidFill>
                <a:latin typeface="Arial" panose="020B0604020202020204" pitchFamily="34" charset="0"/>
                <a:ea typeface="宋体" panose="02010600030101010101" pitchFamily="2" charset="-122"/>
              </a:rPr>
              <a:t>v1</a:t>
            </a:r>
            <a:r>
              <a:rPr lang="zh-CN" altLang="en-US" sz="2400" dirty="0">
                <a:solidFill>
                  <a:srgbClr val="CC0000"/>
                </a:solidFill>
                <a:latin typeface="Arial" panose="020B0604020202020204" pitchFamily="34" charset="0"/>
                <a:ea typeface="宋体" panose="02010600030101010101" pitchFamily="2" charset="-122"/>
              </a:rPr>
              <a:t>到达</a:t>
            </a:r>
            <a:r>
              <a:rPr lang="en-US" altLang="zh-CN" sz="2400" dirty="0">
                <a:solidFill>
                  <a:srgbClr val="292929"/>
                </a:solidFill>
                <a:latin typeface="Arial" panose="020B0604020202020204" pitchFamily="34" charset="0"/>
                <a:ea typeface="宋体" panose="02010600030101010101" pitchFamily="2" charset="-122"/>
              </a:rPr>
              <a:t>v2</a:t>
            </a:r>
            <a:r>
              <a:rPr lang="zh-CN" altLang="en-US" sz="2400" dirty="0">
                <a:solidFill>
                  <a:srgbClr val="292929"/>
                </a:solidFill>
                <a:latin typeface="Arial" panose="020B0604020202020204" pitchFamily="34" charset="0"/>
                <a:ea typeface="宋体" panose="02010600030101010101" pitchFamily="2" charset="-122"/>
              </a:rPr>
              <a:t>的路径，且存在一个在</a:t>
            </a:r>
            <a:r>
              <a:rPr lang="en-US" altLang="zh-CN" sz="2400" dirty="0">
                <a:solidFill>
                  <a:srgbClr val="292929"/>
                </a:solidFill>
                <a:latin typeface="Arial" panose="020B0604020202020204" pitchFamily="34" charset="0"/>
                <a:ea typeface="宋体" panose="02010600030101010101" pitchFamily="2" charset="-122"/>
              </a:rPr>
              <a:t>v2</a:t>
            </a:r>
            <a:r>
              <a:rPr lang="zh-CN" altLang="en-US" sz="2400" dirty="0">
                <a:solidFill>
                  <a:srgbClr val="292929"/>
                </a:solidFill>
                <a:latin typeface="Arial" panose="020B0604020202020204" pitchFamily="34" charset="0"/>
                <a:ea typeface="宋体" panose="02010600030101010101" pitchFamily="2" charset="-122"/>
              </a:rPr>
              <a:t>中定值并在</a:t>
            </a:r>
            <a:r>
              <a:rPr lang="en-US" altLang="zh-CN" sz="2400" dirty="0">
                <a:solidFill>
                  <a:srgbClr val="292929"/>
                </a:solidFill>
                <a:latin typeface="Arial" panose="020B0604020202020204" pitchFamily="34" charset="0"/>
                <a:ea typeface="宋体" panose="02010600030101010101" pitchFamily="2" charset="-122"/>
              </a:rPr>
              <a:t>v1</a:t>
            </a:r>
            <a:r>
              <a:rPr lang="zh-CN" altLang="en-US" sz="2400" dirty="0">
                <a:solidFill>
                  <a:srgbClr val="292929"/>
                </a:solidFill>
                <a:latin typeface="Arial" panose="020B0604020202020204" pitchFamily="34" charset="0"/>
                <a:ea typeface="宋体" panose="02010600030101010101" pitchFamily="2" charset="-122"/>
              </a:rPr>
              <a:t>中</a:t>
            </a:r>
            <a:r>
              <a:rPr lang="zh-CN" altLang="en-US" sz="2400" dirty="0">
                <a:solidFill>
                  <a:srgbClr val="CC0000"/>
                </a:solidFill>
                <a:latin typeface="Arial" panose="020B0604020202020204" pitchFamily="34" charset="0"/>
                <a:ea typeface="宋体" panose="02010600030101010101" pitchFamily="2" charset="-122"/>
              </a:rPr>
              <a:t>引用</a:t>
            </a:r>
            <a:r>
              <a:rPr lang="zh-CN" altLang="en-US" sz="2400" dirty="0">
                <a:solidFill>
                  <a:srgbClr val="292929"/>
                </a:solidFill>
                <a:latin typeface="Arial" panose="020B0604020202020204" pitchFamily="34" charset="0"/>
                <a:ea typeface="宋体" panose="02010600030101010101" pitchFamily="2" charset="-122"/>
              </a:rPr>
              <a:t>的变量，且该变量在从</a:t>
            </a:r>
            <a:r>
              <a:rPr lang="en-US" altLang="zh-CN" sz="2400" dirty="0">
                <a:solidFill>
                  <a:srgbClr val="292929"/>
                </a:solidFill>
                <a:latin typeface="Arial" panose="020B0604020202020204" pitchFamily="34" charset="0"/>
                <a:ea typeface="宋体" panose="02010600030101010101" pitchFamily="2" charset="-122"/>
              </a:rPr>
              <a:t>v1</a:t>
            </a:r>
            <a:r>
              <a:rPr lang="zh-CN" altLang="en-US" sz="2400" dirty="0">
                <a:solidFill>
                  <a:srgbClr val="292929"/>
                </a:solidFill>
                <a:latin typeface="Arial" panose="020B0604020202020204" pitchFamily="34" charset="0"/>
                <a:ea typeface="宋体" panose="02010600030101010101" pitchFamily="2" charset="-122"/>
              </a:rPr>
              <a:t>到</a:t>
            </a:r>
            <a:r>
              <a:rPr lang="en-US" altLang="zh-CN" sz="2400" dirty="0">
                <a:solidFill>
                  <a:srgbClr val="292929"/>
                </a:solidFill>
                <a:latin typeface="Arial" panose="020B0604020202020204" pitchFamily="34" charset="0"/>
                <a:ea typeface="宋体" panose="02010600030101010101" pitchFamily="2" charset="-122"/>
              </a:rPr>
              <a:t>v2</a:t>
            </a:r>
            <a:r>
              <a:rPr lang="zh-CN" altLang="en-US" sz="2400" dirty="0">
                <a:solidFill>
                  <a:srgbClr val="292929"/>
                </a:solidFill>
                <a:latin typeface="Arial" panose="020B0604020202020204" pitchFamily="34" charset="0"/>
                <a:ea typeface="宋体" panose="02010600030101010101" pitchFamily="2" charset="-122"/>
              </a:rPr>
              <a:t>的路径上其它任何地方没有被</a:t>
            </a:r>
            <a:r>
              <a:rPr lang="zh-CN" altLang="en-US" sz="2400" dirty="0">
                <a:solidFill>
                  <a:srgbClr val="CC0000"/>
                </a:solidFill>
                <a:latin typeface="Arial" panose="020B0604020202020204" pitchFamily="34" charset="0"/>
                <a:ea typeface="宋体" panose="02010600030101010101" pitchFamily="2" charset="-122"/>
              </a:rPr>
              <a:t>重新定值</a:t>
            </a:r>
            <a:r>
              <a:rPr lang="zh-CN" altLang="en-US" sz="2400" dirty="0">
                <a:solidFill>
                  <a:srgbClr val="292929"/>
                </a:solidFill>
                <a:latin typeface="Arial" panose="020B0604020202020204" pitchFamily="34" charset="0"/>
                <a:ea typeface="宋体" panose="02010600030101010101" pitchFamily="2" charset="-122"/>
              </a:rPr>
              <a:t>，则称</a:t>
            </a:r>
            <a:r>
              <a:rPr lang="en-US" altLang="zh-CN" sz="2400" dirty="0">
                <a:solidFill>
                  <a:srgbClr val="292929"/>
                </a:solidFill>
                <a:latin typeface="Arial" panose="020B0604020202020204" pitchFamily="34" charset="0"/>
                <a:ea typeface="宋体" panose="02010600030101010101" pitchFamily="2" charset="-122"/>
              </a:rPr>
              <a:t>v2</a:t>
            </a:r>
            <a:r>
              <a:rPr lang="zh-CN" altLang="en-US" sz="2400" dirty="0">
                <a:solidFill>
                  <a:srgbClr val="292929"/>
                </a:solidFill>
                <a:latin typeface="Arial" panose="020B0604020202020204" pitchFamily="34" charset="0"/>
                <a:ea typeface="宋体" panose="02010600030101010101" pitchFamily="2" charset="-122"/>
              </a:rPr>
              <a:t>数据依赖于</a:t>
            </a:r>
            <a:r>
              <a:rPr lang="en-US" altLang="zh-CN" sz="2400" dirty="0">
                <a:solidFill>
                  <a:srgbClr val="292929"/>
                </a:solidFill>
                <a:latin typeface="Arial" panose="020B0604020202020204" pitchFamily="34" charset="0"/>
                <a:ea typeface="宋体" panose="02010600030101010101" pitchFamily="2" charset="-122"/>
              </a:rPr>
              <a:t>v1</a:t>
            </a:r>
            <a:r>
              <a:rPr lang="zh-CN" altLang="en-US" sz="2400" dirty="0">
                <a:solidFill>
                  <a:srgbClr val="292929"/>
                </a:solidFill>
                <a:latin typeface="Arial" panose="020B0604020202020204" pitchFamily="34" charset="0"/>
                <a:ea typeface="宋体" panose="02010600030101010101" pitchFamily="2" charset="-122"/>
              </a:rPr>
              <a:t>。</a:t>
            </a:r>
            <a:endParaRPr lang="zh-CN" altLang="en-US" sz="2400" dirty="0">
              <a:solidFill>
                <a:srgbClr val="292929"/>
              </a:solidFill>
              <a:latin typeface="Arial" panose="020B0604020202020204" pitchFamily="34" charset="0"/>
              <a:ea typeface="宋体" panose="02010600030101010101" pitchFamily="2" charset="-122"/>
            </a:endParaRPr>
          </a:p>
        </p:txBody>
      </p:sp>
      <p:sp>
        <p:nvSpPr>
          <p:cNvPr id="5" name="文本框 4"/>
          <p:cNvSpPr txBox="1"/>
          <p:nvPr/>
        </p:nvSpPr>
        <p:spPr>
          <a:xfrm>
            <a:off x="944319" y="3245739"/>
            <a:ext cx="9329837" cy="830997"/>
          </a:xfrm>
          <a:prstGeom prst="rect">
            <a:avLst/>
          </a:prstGeom>
          <a:noFill/>
        </p:spPr>
        <p:txBody>
          <a:bodyPr wrap="square" rtlCol="0">
            <a:spAutoFit/>
          </a:bodyPr>
          <a:lstStyle/>
          <a:p>
            <a:pPr marL="342900" indent="-342900">
              <a:buFont typeface="Arial" panose="020B0604020202020204" pitchFamily="34" charset="0"/>
              <a:buChar char="•"/>
            </a:pPr>
            <a:r>
              <a:rPr lang="zh-CN" altLang="zh-CN" sz="2400" dirty="0" smtClean="0">
                <a:solidFill>
                  <a:srgbClr val="000099"/>
                </a:solidFill>
              </a:rPr>
              <a:t>到达</a:t>
            </a:r>
            <a:r>
              <a:rPr lang="zh-CN" altLang="zh-CN" sz="2400" dirty="0">
                <a:solidFill>
                  <a:srgbClr val="000099"/>
                </a:solidFill>
              </a:rPr>
              <a:t>定值</a:t>
            </a:r>
            <a:r>
              <a:rPr lang="zh-CN" altLang="zh-CN" sz="2400" dirty="0" smtClean="0">
                <a:solidFill>
                  <a:srgbClr val="000099"/>
                </a:solidFill>
              </a:rPr>
              <a:t>分析</a:t>
            </a:r>
            <a:r>
              <a:rPr lang="zh-CN" altLang="en-US" sz="2400" dirty="0" smtClean="0"/>
              <a:t>：</a:t>
            </a:r>
            <a:r>
              <a:rPr lang="zh-CN" altLang="zh-CN" sz="2400" dirty="0" smtClean="0"/>
              <a:t>对</a:t>
            </a:r>
            <a:r>
              <a:rPr lang="zh-CN" altLang="zh-CN" sz="2400" dirty="0"/>
              <a:t>程序中的任意语句分析运行该语句后每个变量的值是由哪些语句赋值的，给出这些</a:t>
            </a:r>
            <a:r>
              <a:rPr lang="zh-CN" altLang="zh-CN" sz="2400" dirty="0" smtClean="0"/>
              <a:t>语句</a:t>
            </a:r>
            <a:r>
              <a:rPr lang="zh-CN" altLang="en-US" sz="2400" dirty="0" smtClean="0"/>
              <a:t>的</a:t>
            </a:r>
            <a:r>
              <a:rPr lang="zh-CN" altLang="zh-CN" sz="2400" dirty="0" smtClean="0"/>
              <a:t>标号</a:t>
            </a:r>
            <a:r>
              <a:rPr lang="zh-CN" altLang="zh-CN" sz="2400" dirty="0"/>
              <a:t>。</a:t>
            </a:r>
            <a:endParaRPr lang="zh-CN" altLang="zh-C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idx="1"/>
          </p:nvPr>
        </p:nvSpPr>
        <p:spPr>
          <a:xfrm>
            <a:off x="976045" y="1530350"/>
            <a:ext cx="10335801" cy="1007367"/>
          </a:xfrm>
        </p:spPr>
        <p:txBody>
          <a:bodyPr vert="horz" wrap="square" lIns="91440" tIns="45720" rIns="91440" bIns="45720" rtlCol="0" anchor="t">
            <a:normAutofit/>
          </a:bodyPr>
          <a:lstStyle/>
          <a:p>
            <a:r>
              <a:rPr lang="zh-CN" altLang="en-US" b="1" dirty="0">
                <a:solidFill>
                  <a:srgbClr val="003399"/>
                </a:solidFill>
                <a:latin typeface="Times New Roman" panose="02020603050405020304" pitchFamily="18" charset="0"/>
                <a:ea typeface="宋体" panose="02010600030101010101" pitchFamily="2" charset="-122"/>
              </a:rPr>
              <a:t>数据流分析的应用</a:t>
            </a:r>
            <a:endParaRPr lang="zh-CN" altLang="en-US" b="1" dirty="0">
              <a:solidFill>
                <a:srgbClr val="003399"/>
              </a:solidFill>
              <a:latin typeface="Times New Roman" panose="02020603050405020304" pitchFamily="18" charset="0"/>
              <a:ea typeface="宋体" panose="02010600030101010101" pitchFamily="2" charset="-122"/>
            </a:endParaRPr>
          </a:p>
          <a:p>
            <a:pPr lvl="1"/>
            <a:r>
              <a:rPr lang="zh-CN" altLang="en-US" b="1" dirty="0">
                <a:solidFill>
                  <a:srgbClr val="292929"/>
                </a:solidFill>
                <a:latin typeface="Times New Roman" panose="02020603050405020304" pitchFamily="18" charset="0"/>
                <a:ea typeface="宋体" panose="02010600030101010101" pitchFamily="2" charset="-122"/>
              </a:rPr>
              <a:t>是支持</a:t>
            </a:r>
            <a:r>
              <a:rPr lang="zh-CN" altLang="en-US" b="1" dirty="0">
                <a:solidFill>
                  <a:srgbClr val="003399"/>
                </a:solidFill>
                <a:latin typeface="Times New Roman" panose="02020603050405020304" pitchFamily="18" charset="0"/>
                <a:ea typeface="宋体" panose="02010600030101010101" pitchFamily="2" charset="-122"/>
              </a:rPr>
              <a:t>编译器优化</a:t>
            </a:r>
            <a:r>
              <a:rPr lang="zh-CN" altLang="en-US" b="1" dirty="0">
                <a:solidFill>
                  <a:srgbClr val="292929"/>
                </a:solidFill>
                <a:latin typeface="Times New Roman" panose="02020603050405020304" pitchFamily="18" charset="0"/>
                <a:ea typeface="宋体" panose="02010600030101010101" pitchFamily="2" charset="-122"/>
              </a:rPr>
              <a:t>的一类主要分析方法，去除冗余代码、常量传播等。</a:t>
            </a:r>
            <a:endParaRPr lang="en-US" altLang="zh-CN" b="1" dirty="0">
              <a:solidFill>
                <a:srgbClr val="292929"/>
              </a:solidFill>
              <a:latin typeface="Times New Roman" panose="02020603050405020304" pitchFamily="18" charset="0"/>
              <a:ea typeface="宋体" panose="02010600030101010101" pitchFamily="2" charset="-122"/>
            </a:endParaRPr>
          </a:p>
        </p:txBody>
      </p:sp>
      <p:sp>
        <p:nvSpPr>
          <p:cNvPr id="13314" name="Text Box 3"/>
          <p:cNvSpPr txBox="1"/>
          <p:nvPr/>
        </p:nvSpPr>
        <p:spPr>
          <a:xfrm>
            <a:off x="2730500" y="549275"/>
            <a:ext cx="6985000" cy="645160"/>
          </a:xfrm>
          <a:prstGeom prst="rect">
            <a:avLst/>
          </a:prstGeom>
          <a:noFill/>
          <a:ln w="9525">
            <a:noFill/>
          </a:ln>
        </p:spPr>
        <p:txBody>
          <a:bodyPr anchor="t">
            <a:spAutoFit/>
          </a:bodyPr>
          <a:lstStyle/>
          <a:p>
            <a:pPr algn="ctr" eaLnBrk="0" hangingPunct="0">
              <a:spcBef>
                <a:spcPct val="50000"/>
              </a:spcBef>
            </a:pPr>
            <a:r>
              <a:rPr lang="zh-CN" altLang="en-US" sz="3600" dirty="0" smtClean="0">
                <a:latin typeface="隶书" panose="02010509060101010101" pitchFamily="49" charset="-122"/>
                <a:ea typeface="隶书" panose="02010509060101010101" pitchFamily="49" charset="-122"/>
                <a:sym typeface="+mn-ea"/>
              </a:rPr>
              <a:t>数据</a:t>
            </a:r>
            <a:r>
              <a:rPr lang="zh-CN" altLang="en-US" sz="3600" dirty="0">
                <a:latin typeface="隶书" panose="02010509060101010101" pitchFamily="49" charset="-122"/>
                <a:ea typeface="隶书" panose="02010509060101010101" pitchFamily="49" charset="-122"/>
                <a:sym typeface="+mn-ea"/>
              </a:rPr>
              <a:t>流分析</a:t>
            </a:r>
            <a:r>
              <a:rPr lang="zh-CN" altLang="en-US" sz="3600" dirty="0">
                <a:latin typeface="隶书" panose="02010509060101010101" pitchFamily="49" charset="-122"/>
                <a:ea typeface="隶书" panose="02010509060101010101" pitchFamily="49" charset="-122"/>
              </a:rPr>
              <a:t> </a:t>
            </a:r>
            <a:endParaRPr lang="zh-CN" altLang="en-US" sz="3600" dirty="0">
              <a:latin typeface="隶书" panose="02010509060101010101" pitchFamily="49" charset="-122"/>
              <a:ea typeface="隶书" panose="02010509060101010101" pitchFamily="49" charset="-122"/>
            </a:endParaRPr>
          </a:p>
        </p:txBody>
      </p:sp>
      <p:sp>
        <p:nvSpPr>
          <p:cNvPr id="13315" name="文本框 1"/>
          <p:cNvSpPr txBox="1"/>
          <p:nvPr/>
        </p:nvSpPr>
        <p:spPr>
          <a:xfrm>
            <a:off x="3017839" y="3088958"/>
            <a:ext cx="2562225" cy="831850"/>
          </a:xfrm>
          <a:prstGeom prst="rect">
            <a:avLst/>
          </a:prstGeom>
          <a:noFill/>
          <a:ln w="9525">
            <a:solidFill>
              <a:schemeClr val="accent1"/>
            </a:solidFill>
          </a:ln>
        </p:spPr>
        <p:txBody>
          <a:bodyPr anchor="t">
            <a:spAutoFit/>
          </a:bodyPr>
          <a:lstStyle/>
          <a:p>
            <a:pPr eaLnBrk="0" hangingPunct="0"/>
            <a:r>
              <a:rPr lang="en-US" altLang="zh-CN" sz="2400" dirty="0">
                <a:latin typeface="Arial" panose="020B0604020202020204" pitchFamily="34" charset="0"/>
                <a:ea typeface="宋体" panose="02010600030101010101" pitchFamily="2" charset="-122"/>
              </a:rPr>
              <a:t>int x = 3, z = 1;</a:t>
            </a:r>
            <a:endParaRPr lang="en-US" altLang="zh-CN" sz="2400" dirty="0">
              <a:latin typeface="Arial" panose="020B0604020202020204" pitchFamily="34" charset="0"/>
              <a:ea typeface="宋体" panose="02010600030101010101" pitchFamily="2" charset="-122"/>
            </a:endParaRPr>
          </a:p>
          <a:p>
            <a:pPr eaLnBrk="0" hangingPunct="0"/>
            <a:r>
              <a:rPr lang="en-US" altLang="zh-CN" sz="2400" dirty="0">
                <a:latin typeface="Arial" panose="020B0604020202020204" pitchFamily="34" charset="0"/>
                <a:ea typeface="宋体" panose="02010600030101010101" pitchFamily="2" charset="-122"/>
              </a:rPr>
              <a:t>int y = z + x;</a:t>
            </a:r>
            <a:endParaRPr lang="zh-CN" altLang="en-US" sz="2400" dirty="0">
              <a:latin typeface="Arial" panose="020B0604020202020204" pitchFamily="34" charset="0"/>
              <a:ea typeface="宋体" panose="02010600030101010101" pitchFamily="2" charset="-122"/>
            </a:endParaRPr>
          </a:p>
        </p:txBody>
      </p:sp>
      <p:sp>
        <p:nvSpPr>
          <p:cNvPr id="13316" name="文本框 4"/>
          <p:cNvSpPr txBox="1"/>
          <p:nvPr/>
        </p:nvSpPr>
        <p:spPr>
          <a:xfrm>
            <a:off x="6270626" y="3088958"/>
            <a:ext cx="2854325" cy="831850"/>
          </a:xfrm>
          <a:prstGeom prst="rect">
            <a:avLst/>
          </a:prstGeom>
          <a:noFill/>
          <a:ln w="9525">
            <a:solidFill>
              <a:schemeClr val="accent1"/>
            </a:solidFill>
          </a:ln>
        </p:spPr>
        <p:txBody>
          <a:bodyPr anchor="t">
            <a:spAutoFit/>
          </a:bodyPr>
          <a:lstStyle/>
          <a:p>
            <a:pPr eaLnBrk="0" hangingPunct="0"/>
            <a:r>
              <a:rPr lang="en-US" altLang="zh-CN" sz="2400" dirty="0">
                <a:latin typeface="Arial" panose="020B0604020202020204" pitchFamily="34" charset="0"/>
                <a:ea typeface="宋体" panose="02010600030101010101" pitchFamily="2" charset="-122"/>
              </a:rPr>
              <a:t>int x = 3, z = 1;</a:t>
            </a:r>
            <a:endParaRPr lang="en-US" altLang="zh-CN" sz="2400" dirty="0">
              <a:latin typeface="Arial" panose="020B0604020202020204" pitchFamily="34" charset="0"/>
              <a:ea typeface="宋体" panose="02010600030101010101" pitchFamily="2" charset="-122"/>
            </a:endParaRPr>
          </a:p>
          <a:p>
            <a:pPr eaLnBrk="0" hangingPunct="0"/>
            <a:r>
              <a:rPr lang="en-US" altLang="zh-CN" sz="2400" dirty="0">
                <a:solidFill>
                  <a:srgbClr val="00B050"/>
                </a:solidFill>
                <a:latin typeface="Arial" panose="020B0604020202020204" pitchFamily="34" charset="0"/>
                <a:ea typeface="宋体" panose="02010600030101010101" pitchFamily="2" charset="-122"/>
              </a:rPr>
              <a:t>int y = 4;</a:t>
            </a:r>
            <a:endParaRPr lang="zh-CN" altLang="en-US" sz="2400" dirty="0">
              <a:solidFill>
                <a:srgbClr val="00B050"/>
              </a:solidFill>
              <a:latin typeface="Arial" panose="020B0604020202020204" pitchFamily="34" charset="0"/>
              <a:ea typeface="宋体" panose="02010600030101010101" pitchFamily="2" charset="-122"/>
            </a:endParaRPr>
          </a:p>
        </p:txBody>
      </p:sp>
      <p:sp>
        <p:nvSpPr>
          <p:cNvPr id="3" name="矩形 2"/>
          <p:cNvSpPr/>
          <p:nvPr/>
        </p:nvSpPr>
        <p:spPr>
          <a:xfrm>
            <a:off x="1171255" y="4334193"/>
            <a:ext cx="9616610" cy="904863"/>
          </a:xfrm>
          <a:prstGeom prst="rect">
            <a:avLst/>
          </a:prstGeom>
        </p:spPr>
        <p:txBody>
          <a:bodyPr wrap="square">
            <a:spAutoFit/>
          </a:bodyPr>
          <a:lstStyle/>
          <a:p>
            <a:pPr marL="640080" lvl="1" indent="-273050" eaLnBrk="0" fontAlgn="base" hangingPunct="0">
              <a:spcBef>
                <a:spcPct val="20000"/>
              </a:spcBef>
              <a:spcAft>
                <a:spcPct val="0"/>
              </a:spcAft>
              <a:buClr>
                <a:schemeClr val="accent1"/>
              </a:buClr>
              <a:buSzPct val="76000"/>
              <a:buFont typeface="Wingdings 2" panose="05020102010507070707" pitchFamily="18" charset="2"/>
              <a:buChar char=""/>
              <a:defRPr/>
            </a:pPr>
            <a:r>
              <a:rPr lang="zh-CN" altLang="zh-CN" sz="2400" b="1" dirty="0">
                <a:solidFill>
                  <a:srgbClr val="292929"/>
                </a:solidFill>
                <a:ea typeface="宋体" panose="02010600030101010101" pitchFamily="2" charset="-122"/>
                <a:sym typeface="Century Gothic" panose="020B0502020202020204" pitchFamily="34" charset="0"/>
              </a:rPr>
              <a:t>可以应用于软件缺陷检测，如空指针解引用、未初始化变量。</a:t>
            </a:r>
            <a:endParaRPr lang="zh-CN" altLang="zh-CN" sz="2400" b="1" dirty="0">
              <a:solidFill>
                <a:srgbClr val="292929"/>
              </a:solidFill>
              <a:ea typeface="宋体" panose="02010600030101010101" pitchFamily="2" charset="-122"/>
              <a:sym typeface="Century Gothic" panose="020B0502020202020204" pitchFamily="34" charset="0"/>
            </a:endParaRPr>
          </a:p>
          <a:p>
            <a:pPr marL="640080" lvl="1" indent="-273050" eaLnBrk="0" fontAlgn="base" hangingPunct="0">
              <a:spcBef>
                <a:spcPct val="20000"/>
              </a:spcBef>
              <a:spcAft>
                <a:spcPct val="0"/>
              </a:spcAft>
              <a:buClr>
                <a:schemeClr val="accent1"/>
              </a:buClr>
              <a:buSzPct val="76000"/>
              <a:buFont typeface="Wingdings 2" panose="05020102010507070707" pitchFamily="18" charset="2"/>
              <a:buChar char=""/>
              <a:defRPr/>
            </a:pPr>
            <a:r>
              <a:rPr lang="zh-CN" altLang="en-US" sz="2400" b="1" dirty="0">
                <a:solidFill>
                  <a:srgbClr val="292929"/>
                </a:solidFill>
                <a:ea typeface="宋体" panose="02010600030101010101" pitchFamily="2" charset="-122"/>
                <a:sym typeface="Century Gothic" panose="020B0502020202020204" pitchFamily="34" charset="0"/>
              </a:rPr>
              <a:t>也是</a:t>
            </a:r>
            <a:r>
              <a:rPr lang="zh-CN" altLang="en-US" sz="2400" b="1" dirty="0">
                <a:solidFill>
                  <a:srgbClr val="0000CC"/>
                </a:solidFill>
                <a:ea typeface="宋体" panose="02010600030101010101" pitchFamily="2" charset="-122"/>
                <a:sym typeface="Century Gothic" panose="020B0502020202020204" pitchFamily="34" charset="0"/>
              </a:rPr>
              <a:t>程序切片</a:t>
            </a:r>
            <a:r>
              <a:rPr lang="zh-CN" altLang="en-US" sz="2400" b="1" dirty="0">
                <a:solidFill>
                  <a:srgbClr val="292929"/>
                </a:solidFill>
                <a:ea typeface="宋体" panose="02010600030101010101" pitchFamily="2" charset="-122"/>
                <a:sym typeface="Century Gothic" panose="020B0502020202020204" pitchFamily="34" charset="0"/>
              </a:rPr>
              <a:t>和其他诸多</a:t>
            </a:r>
            <a:r>
              <a:rPr lang="zh-CN" altLang="en-US" sz="2400" b="1" dirty="0">
                <a:solidFill>
                  <a:srgbClr val="000099"/>
                </a:solidFill>
                <a:ea typeface="宋体" panose="02010600030101010101" pitchFamily="2" charset="-122"/>
                <a:sym typeface="Century Gothic" panose="020B0502020202020204" pitchFamily="34" charset="0"/>
              </a:rPr>
              <a:t>程序调试</a:t>
            </a:r>
            <a:r>
              <a:rPr lang="zh-CN" altLang="en-US" sz="2400" b="1" dirty="0">
                <a:solidFill>
                  <a:srgbClr val="292929"/>
                </a:solidFill>
                <a:ea typeface="宋体" panose="02010600030101010101" pitchFamily="2" charset="-122"/>
                <a:sym typeface="Century Gothic" panose="020B0502020202020204" pitchFamily="34" charset="0"/>
              </a:rPr>
              <a:t>方法的基础技术。</a:t>
            </a:r>
            <a:endParaRPr lang="en-US" altLang="zh-CN" sz="2400" b="1" dirty="0">
              <a:solidFill>
                <a:srgbClr val="292929"/>
              </a:solidFill>
              <a:ea typeface="宋体" panose="02010600030101010101" pitchFamily="2" charset="-122"/>
              <a:sym typeface="Century Gothic" panose="020B0502020202020204"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符号执行</a:t>
            </a:r>
            <a:endParaRPr kumimoji="1" lang="zh-CN" altLang="en-US" dirty="0"/>
          </a:p>
        </p:txBody>
      </p:sp>
      <p:sp>
        <p:nvSpPr>
          <p:cNvPr id="3" name="内容占位符 2"/>
          <p:cNvSpPr>
            <a:spLocks noGrp="1"/>
          </p:cNvSpPr>
          <p:nvPr>
            <p:ph idx="1"/>
          </p:nvPr>
        </p:nvSpPr>
        <p:spPr/>
        <p:txBody>
          <a:bodyPr>
            <a:normAutofit/>
          </a:bodyPr>
          <a:lstStyle/>
          <a:p>
            <a:r>
              <a:rPr lang="zh-CN" altLang="en-US" dirty="0"/>
              <a:t>符号</a:t>
            </a:r>
            <a:r>
              <a:rPr lang="zh-CN" altLang="en-US" dirty="0" smtClean="0"/>
              <a:t>执行是</a:t>
            </a:r>
            <a:r>
              <a:rPr lang="zh-CN" altLang="en-US" dirty="0"/>
              <a:t>一种相对精确的程序分析技术</a:t>
            </a:r>
            <a:r>
              <a:rPr lang="en-US" altLang="zh-CN" dirty="0" smtClean="0"/>
              <a:t>.</a:t>
            </a:r>
            <a:endParaRPr lang="zh-CN" altLang="en-US" dirty="0" smtClean="0"/>
          </a:p>
          <a:p>
            <a:r>
              <a:rPr lang="zh-CN" altLang="en-US" dirty="0" smtClean="0"/>
              <a:t>传统</a:t>
            </a:r>
            <a:r>
              <a:rPr lang="zh-CN" altLang="en-US" dirty="0"/>
              <a:t>的符号执行技术使用符号化输入代替实际输入以模拟执行</a:t>
            </a:r>
            <a:r>
              <a:rPr lang="en-US" altLang="zh-CN" dirty="0"/>
              <a:t>(</a:t>
            </a:r>
            <a:r>
              <a:rPr lang="zh-CN" altLang="en-US" dirty="0"/>
              <a:t>不实际执行</a:t>
            </a:r>
            <a:r>
              <a:rPr lang="en-US" altLang="zh-CN" dirty="0"/>
              <a:t>)</a:t>
            </a:r>
            <a:r>
              <a:rPr lang="zh-CN" altLang="en-US" dirty="0"/>
              <a:t>被分析程序</a:t>
            </a:r>
            <a:r>
              <a:rPr lang="en-US" altLang="zh-CN" dirty="0"/>
              <a:t>, </a:t>
            </a:r>
            <a:r>
              <a:rPr lang="zh-CN" altLang="en-US" dirty="0"/>
              <a:t>程序中的操作被转化为相应的符号表达式操作</a:t>
            </a:r>
            <a:r>
              <a:rPr lang="en-US" altLang="zh-CN" dirty="0" smtClean="0"/>
              <a:t>.</a:t>
            </a:r>
            <a:endParaRPr lang="zh-CN" altLang="en-US" dirty="0" smtClean="0"/>
          </a:p>
          <a:p>
            <a:r>
              <a:rPr lang="zh-CN" altLang="en-US" dirty="0" smtClean="0"/>
              <a:t>在</a:t>
            </a:r>
            <a:r>
              <a:rPr lang="zh-CN" altLang="en-US" dirty="0"/>
              <a:t>遇到条件语句时</a:t>
            </a:r>
            <a:r>
              <a:rPr lang="en-US" altLang="zh-CN" dirty="0"/>
              <a:t>, </a:t>
            </a:r>
            <a:r>
              <a:rPr lang="zh-CN" altLang="en-US" dirty="0"/>
              <a:t>程序的执行也相应地分叉以探索每个分支</a:t>
            </a:r>
            <a:r>
              <a:rPr lang="en-US" altLang="zh-CN" dirty="0"/>
              <a:t>, </a:t>
            </a:r>
            <a:r>
              <a:rPr lang="zh-CN" altLang="en-US" dirty="0"/>
              <a:t>分支条件则被加入到当前路径的路径条件</a:t>
            </a:r>
            <a:r>
              <a:rPr lang="en-US" altLang="zh-CN" dirty="0"/>
              <a:t>(path condition)</a:t>
            </a:r>
            <a:r>
              <a:rPr lang="zh-CN" altLang="en-US" dirty="0"/>
              <a:t>中</a:t>
            </a:r>
            <a:r>
              <a:rPr lang="en-US" altLang="zh-CN" dirty="0" smtClean="0"/>
              <a:t>.</a:t>
            </a:r>
            <a:endParaRPr lang="zh-CN" altLang="en-US" dirty="0" smtClean="0"/>
          </a:p>
          <a:p>
            <a:r>
              <a:rPr lang="zh-CN" altLang="en-US" dirty="0" smtClean="0"/>
              <a:t>通过</a:t>
            </a:r>
            <a:r>
              <a:rPr lang="zh-CN" altLang="en-US" dirty="0"/>
              <a:t>调用</a:t>
            </a:r>
            <a:r>
              <a:rPr lang="en-US" altLang="zh-CN" dirty="0"/>
              <a:t>SAT/ SMT</a:t>
            </a:r>
            <a:r>
              <a:rPr lang="zh-CN" altLang="en-US" dirty="0"/>
              <a:t>求解器</a:t>
            </a:r>
            <a:r>
              <a:rPr lang="en-US" altLang="zh-CN" dirty="0"/>
              <a:t>, </a:t>
            </a:r>
            <a:r>
              <a:rPr lang="zh-CN" altLang="en-US" dirty="0"/>
              <a:t>对路径条件的可满足性进行求解来加以判断</a:t>
            </a:r>
            <a:r>
              <a:rPr lang="en-US" altLang="zh-CN" dirty="0"/>
              <a:t>:</a:t>
            </a:r>
            <a:r>
              <a:rPr lang="zh-CN" altLang="en-US" dirty="0"/>
              <a:t>如果判定结果为可满足</a:t>
            </a:r>
            <a:r>
              <a:rPr lang="en-US" altLang="zh-CN" dirty="0"/>
              <a:t>, </a:t>
            </a:r>
            <a:r>
              <a:rPr lang="zh-CN" altLang="en-US" dirty="0"/>
              <a:t>则说明路径实际可行</a:t>
            </a:r>
            <a:r>
              <a:rPr lang="en-US" altLang="zh-CN" dirty="0"/>
              <a:t>(</a:t>
            </a:r>
            <a:r>
              <a:rPr lang="zh-CN" altLang="en-US" dirty="0"/>
              <a:t>存在具体输入能够让程序产生此路径</a:t>
            </a:r>
            <a:r>
              <a:rPr lang="en-US" altLang="zh-CN" dirty="0"/>
              <a:t>); </a:t>
            </a:r>
            <a:r>
              <a:rPr lang="zh-CN" altLang="en-US" dirty="0"/>
              <a:t>如果判定结果为不可满足</a:t>
            </a:r>
            <a:r>
              <a:rPr lang="en-US" altLang="zh-CN" dirty="0"/>
              <a:t>, </a:t>
            </a:r>
            <a:r>
              <a:rPr lang="zh-CN" altLang="en-US" dirty="0"/>
              <a:t>则表明此路径不可行</a:t>
            </a:r>
            <a:r>
              <a:rPr lang="en-US" altLang="zh-CN" dirty="0"/>
              <a:t>, </a:t>
            </a:r>
            <a:r>
              <a:rPr lang="zh-CN" altLang="en-US" dirty="0"/>
              <a:t>终止对该路径的分析</a:t>
            </a:r>
            <a:r>
              <a:rPr lang="en-US" altLang="zh-CN" dirty="0" smtClean="0"/>
              <a:t>.</a:t>
            </a:r>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符号执行</a:t>
            </a:r>
            <a:endParaRPr kumimoji="1"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在</a:t>
            </a:r>
            <a:r>
              <a:rPr lang="zh-CN" altLang="en-US" dirty="0"/>
              <a:t>约束条件可被判定的情况下</a:t>
            </a:r>
            <a:r>
              <a:rPr lang="en-US" altLang="zh-CN" dirty="0"/>
              <a:t>, </a:t>
            </a:r>
            <a:r>
              <a:rPr lang="zh-CN" altLang="en-US" dirty="0"/>
              <a:t>符号执行提供了一种系统遍历程序路径空间的手段</a:t>
            </a:r>
            <a:r>
              <a:rPr lang="en-US" altLang="zh-CN" dirty="0" smtClean="0"/>
              <a:t>.</a:t>
            </a:r>
            <a:endParaRPr lang="zh-CN" altLang="en-US" dirty="0" smtClean="0"/>
          </a:p>
          <a:p>
            <a:r>
              <a:rPr lang="zh-CN" altLang="en-US" dirty="0" smtClean="0"/>
              <a:t>符号</a:t>
            </a:r>
            <a:r>
              <a:rPr lang="zh-CN" altLang="en-US" dirty="0"/>
              <a:t>执行中的程序路径精确刻画了程序路径上的信息</a:t>
            </a:r>
            <a:r>
              <a:rPr lang="en-US" altLang="zh-CN" dirty="0"/>
              <a:t>, </a:t>
            </a:r>
            <a:r>
              <a:rPr lang="zh-CN" altLang="en-US" dirty="0"/>
              <a:t>可基于路径信息开展多种软件验证确认阶段的活动</a:t>
            </a:r>
            <a:r>
              <a:rPr lang="en-US" altLang="zh-CN" dirty="0"/>
              <a:t>, </a:t>
            </a:r>
            <a:r>
              <a:rPr lang="zh-CN" altLang="en-US" dirty="0"/>
              <a:t>包括自动测试、缺陷查找以及部分的程序验证</a:t>
            </a:r>
            <a:r>
              <a:rPr lang="zh-CN" altLang="en-US" dirty="0" smtClean="0"/>
              <a:t>等</a:t>
            </a:r>
            <a:r>
              <a:rPr lang="en-US" altLang="zh-CN" dirty="0" smtClean="0"/>
              <a:t>.</a:t>
            </a:r>
            <a:endParaRPr lang="zh-CN" altLang="en-US" dirty="0" smtClean="0"/>
          </a:p>
          <a:p>
            <a:r>
              <a:rPr lang="zh-CN" altLang="en-US" dirty="0" smtClean="0"/>
              <a:t>理论</a:t>
            </a:r>
            <a:r>
              <a:rPr lang="zh-CN" altLang="en-US" dirty="0"/>
              <a:t>上</a:t>
            </a:r>
            <a:r>
              <a:rPr lang="en-US" altLang="zh-CN" dirty="0"/>
              <a:t>, </a:t>
            </a:r>
            <a:r>
              <a:rPr lang="zh-CN" altLang="en-US" dirty="0"/>
              <a:t>相比于需要固定程序输入的分析方法</a:t>
            </a:r>
            <a:r>
              <a:rPr lang="en-US" altLang="zh-CN" dirty="0"/>
              <a:t>, </a:t>
            </a:r>
            <a:r>
              <a:rPr lang="zh-CN" altLang="en-US" dirty="0"/>
              <a:t>符号执行通过符号分析</a:t>
            </a:r>
            <a:r>
              <a:rPr lang="en-US" altLang="zh-CN" dirty="0"/>
              <a:t>, </a:t>
            </a:r>
            <a:r>
              <a:rPr lang="zh-CN" altLang="en-US" dirty="0"/>
              <a:t>可覆盖更多的程序行为</a:t>
            </a:r>
            <a:r>
              <a:rPr lang="en-US" altLang="zh-CN" dirty="0" smtClean="0"/>
              <a:t>.</a:t>
            </a:r>
            <a:endParaRPr lang="zh-CN" altLang="en-US" dirty="0" smtClean="0"/>
          </a:p>
          <a:p>
            <a:r>
              <a:rPr lang="zh-CN" altLang="en-US" dirty="0" smtClean="0"/>
              <a:t>另一方面</a:t>
            </a:r>
            <a:r>
              <a:rPr lang="en-US" altLang="zh-CN" dirty="0"/>
              <a:t>, </a:t>
            </a:r>
            <a:r>
              <a:rPr lang="zh-CN" altLang="en-US" dirty="0"/>
              <a:t>符号执行技术依赖于</a:t>
            </a:r>
            <a:r>
              <a:rPr lang="en-US" altLang="zh-CN" dirty="0"/>
              <a:t>SAT/SMT</a:t>
            </a:r>
            <a:r>
              <a:rPr lang="zh-CN" altLang="en-US" dirty="0"/>
              <a:t>技术</a:t>
            </a:r>
            <a:r>
              <a:rPr lang="en-US" altLang="zh-CN" dirty="0"/>
              <a:t>, </a:t>
            </a:r>
            <a:r>
              <a:rPr lang="zh-CN" altLang="en-US" dirty="0"/>
              <a:t>求解器的能力是决定符号执行效果的关键因素</a:t>
            </a:r>
            <a:r>
              <a:rPr lang="en-US" altLang="zh-CN" dirty="0" smtClean="0"/>
              <a:t>.</a:t>
            </a:r>
            <a:endParaRPr lang="zh-CN" altLang="en-US" dirty="0" smtClean="0"/>
          </a:p>
          <a:p>
            <a:pPr lvl="1"/>
            <a:r>
              <a:rPr lang="zh-CN" altLang="en-US" dirty="0" smtClean="0"/>
              <a:t>符号</a:t>
            </a:r>
            <a:r>
              <a:rPr lang="zh-CN" altLang="en-US" dirty="0"/>
              <a:t>执行中</a:t>
            </a:r>
            <a:r>
              <a:rPr lang="en-US" altLang="zh-CN" dirty="0"/>
              <a:t>, </a:t>
            </a:r>
            <a:r>
              <a:rPr lang="zh-CN" altLang="en-US" dirty="0"/>
              <a:t>程序路径空间大小随着程序规模的扩大而呈指数级增长</a:t>
            </a:r>
            <a:r>
              <a:rPr lang="en-US" altLang="zh-CN" dirty="0" smtClean="0"/>
              <a:t>.</a:t>
            </a:r>
            <a:endParaRPr lang="zh-CN" altLang="en-US" dirty="0" smtClean="0"/>
          </a:p>
          <a:p>
            <a:pPr lvl="1"/>
            <a:r>
              <a:rPr lang="zh-CN" altLang="en-US" dirty="0" smtClean="0"/>
              <a:t>例如</a:t>
            </a:r>
            <a:r>
              <a:rPr lang="en-US" altLang="zh-CN" dirty="0"/>
              <a:t>:</a:t>
            </a:r>
            <a:r>
              <a:rPr lang="zh-CN" altLang="en-US" dirty="0"/>
              <a:t>单就串行程序而言</a:t>
            </a:r>
            <a:r>
              <a:rPr lang="en-US" altLang="zh-CN" dirty="0"/>
              <a:t>, </a:t>
            </a:r>
            <a:r>
              <a:rPr lang="zh-CN" altLang="en-US" dirty="0"/>
              <a:t>一个具有</a:t>
            </a:r>
            <a:r>
              <a:rPr lang="en-US" altLang="zh-CN" i="1" dirty="0"/>
              <a:t>n</a:t>
            </a:r>
            <a:r>
              <a:rPr lang="zh-CN" altLang="en-US" dirty="0"/>
              <a:t>个条件语句的程序段就有可能包含</a:t>
            </a:r>
            <a:r>
              <a:rPr lang="en-US" altLang="zh-CN" dirty="0"/>
              <a:t>2</a:t>
            </a:r>
            <a:r>
              <a:rPr lang="en-US" altLang="zh-CN" i="1" baseline="30000" dirty="0"/>
              <a:t>n</a:t>
            </a:r>
            <a:r>
              <a:rPr lang="zh-CN" altLang="en-US" dirty="0"/>
              <a:t>条路径</a:t>
            </a:r>
            <a:r>
              <a:rPr lang="en-US" altLang="zh-CN" dirty="0"/>
              <a:t>, </a:t>
            </a:r>
            <a:r>
              <a:rPr lang="zh-CN" altLang="en-US" dirty="0"/>
              <a:t>这也是制约符号执行能力的关键因素</a:t>
            </a:r>
            <a:r>
              <a:rPr lang="en-US" altLang="zh-CN" dirty="0"/>
              <a:t>.</a:t>
            </a:r>
            <a:endParaRPr lang="en-US" altLang="zh-CN" dirty="0"/>
          </a:p>
          <a:p>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动态分析</a:t>
            </a:r>
            <a:endParaRPr kumimoji="1" lang="zh-CN" altLang="en-US" dirty="0"/>
          </a:p>
        </p:txBody>
      </p:sp>
      <p:sp>
        <p:nvSpPr>
          <p:cNvPr id="4" name="矩形 3"/>
          <p:cNvSpPr/>
          <p:nvPr/>
        </p:nvSpPr>
        <p:spPr>
          <a:xfrm>
            <a:off x="325348" y="1690688"/>
            <a:ext cx="6096000" cy="3416320"/>
          </a:xfrm>
          <a:prstGeom prst="rect">
            <a:avLst/>
          </a:prstGeom>
        </p:spPr>
        <p:txBody>
          <a:bodyPr>
            <a:spAutoFit/>
          </a:bodyPr>
          <a:lstStyle/>
          <a:p>
            <a:pPr marL="285750" indent="-285750">
              <a:buFont typeface="Arial" panose="020B0604020202020204" pitchFamily="34" charset="0"/>
              <a:buChar char="•"/>
            </a:pPr>
            <a:r>
              <a:rPr lang="zh-CN" altLang="en-US" sz="2400" dirty="0"/>
              <a:t>动态分析是指通过在指定测试用例下运行给定的程序</a:t>
            </a:r>
            <a:r>
              <a:rPr lang="en-US" altLang="zh-CN" sz="2400" dirty="0"/>
              <a:t>, </a:t>
            </a:r>
            <a:r>
              <a:rPr lang="zh-CN" altLang="en-US" sz="2400" dirty="0"/>
              <a:t>并分析程序运行过程或结果</a:t>
            </a:r>
            <a:r>
              <a:rPr lang="en-US" altLang="zh-CN" sz="2400" dirty="0"/>
              <a:t>, </a:t>
            </a:r>
            <a:r>
              <a:rPr lang="zh-CN" altLang="en-US" sz="2400" dirty="0"/>
              <a:t>用于缺陷检测等</a:t>
            </a:r>
            <a:endParaRPr lang="zh-CN" altLang="en-US" sz="2400" dirty="0"/>
          </a:p>
          <a:p>
            <a:pPr marL="742950" lvl="1" indent="-285750">
              <a:buFont typeface="Arial" panose="020B0604020202020204" pitchFamily="34" charset="0"/>
              <a:buChar char="•"/>
            </a:pPr>
            <a:r>
              <a:rPr lang="zh-CN" altLang="en-US" sz="2400" dirty="0"/>
              <a:t>与静态分析相比</a:t>
            </a:r>
            <a:r>
              <a:rPr lang="en-US" altLang="zh-CN" sz="2400" dirty="0"/>
              <a:t>, </a:t>
            </a:r>
            <a:r>
              <a:rPr lang="zh-CN" altLang="en-US" sz="2400" dirty="0"/>
              <a:t>动态分析能够更好地处理编程语言中的动态属性</a:t>
            </a:r>
            <a:r>
              <a:rPr lang="en-US" altLang="zh-CN" sz="2400" dirty="0"/>
              <a:t>, </a:t>
            </a:r>
            <a:r>
              <a:rPr lang="zh-CN" altLang="en-US" sz="2400" dirty="0"/>
              <a:t>例如指针、动态绑定、面向对象语言中的多态与继承、线程交替等</a:t>
            </a:r>
            <a:r>
              <a:rPr lang="en-US" altLang="zh-CN" sz="2400" dirty="0"/>
              <a:t>.</a:t>
            </a:r>
            <a:endParaRPr lang="zh-CN" altLang="en-US" sz="2400" dirty="0"/>
          </a:p>
          <a:p>
            <a:pPr marL="742950" lvl="1" indent="-285750">
              <a:buFont typeface="Arial" panose="020B0604020202020204" pitchFamily="34" charset="0"/>
              <a:buChar char="•"/>
            </a:pPr>
            <a:r>
              <a:rPr lang="zh-CN" altLang="en-US" sz="2400" dirty="0"/>
              <a:t>动态分析在一定程度上弥补了静态分析的不足之处</a:t>
            </a:r>
            <a:r>
              <a:rPr lang="en-US" altLang="zh-CN" sz="2400" dirty="0"/>
              <a:t>.</a:t>
            </a:r>
            <a:endParaRPr lang="en-US" altLang="zh-CN" sz="2400" dirty="0"/>
          </a:p>
        </p:txBody>
      </p:sp>
      <p:sp>
        <p:nvSpPr>
          <p:cNvPr id="5" name="Text Box 5"/>
          <p:cNvSpPr txBox="1"/>
          <p:nvPr/>
        </p:nvSpPr>
        <p:spPr>
          <a:xfrm>
            <a:off x="7756988" y="1690688"/>
            <a:ext cx="2956467" cy="148111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eaLnBrk="0" hangingPunct="0"/>
            <a:r>
              <a:rPr lang="fr-FR" altLang="zh-CN" sz="2000" b="0" dirty="0">
                <a:latin typeface="Helvetica" charset="0"/>
                <a:ea typeface="宋体" panose="02010600030101010101" pitchFamily="2" charset="-122"/>
              </a:rPr>
              <a:t>int x, y, z;</a:t>
            </a:r>
            <a:endParaRPr lang="fr-FR" altLang="zh-CN" sz="2000" b="0" dirty="0">
              <a:latin typeface="Helvetica" charset="0"/>
              <a:ea typeface="宋体" panose="02010600030101010101" pitchFamily="2" charset="-122"/>
            </a:endParaRPr>
          </a:p>
          <a:p>
            <a:pPr eaLnBrk="0" hangingPunct="0"/>
            <a:r>
              <a:rPr lang="fr-FR" altLang="zh-CN" sz="2000" b="0" dirty="0">
                <a:latin typeface="Helvetica" charset="0"/>
                <a:ea typeface="宋体" panose="02010600030101010101" pitchFamily="2" charset="-122"/>
              </a:rPr>
              <a:t>read(&amp;x);</a:t>
            </a:r>
            <a:endParaRPr lang="fr-FR" altLang="zh-CN" sz="2000" b="0" dirty="0">
              <a:latin typeface="Helvetica" charset="0"/>
              <a:ea typeface="宋体" panose="02010600030101010101" pitchFamily="2" charset="-122"/>
            </a:endParaRPr>
          </a:p>
          <a:p>
            <a:pPr eaLnBrk="0" hangingPunct="0"/>
            <a:r>
              <a:rPr lang="en-US" altLang="zh-CN" sz="2000" b="0" dirty="0">
                <a:latin typeface="Helvetica" charset="0"/>
                <a:ea typeface="宋体" panose="02010600030101010101" pitchFamily="2" charset="-122"/>
              </a:rPr>
              <a:t>if (x&gt;0) { y=x; z = 1}</a:t>
            </a:r>
            <a:endParaRPr lang="en-US" altLang="zh-CN" sz="2000" b="0" dirty="0">
              <a:latin typeface="Helvetica" charset="0"/>
              <a:ea typeface="宋体" panose="02010600030101010101" pitchFamily="2" charset="-122"/>
            </a:endParaRPr>
          </a:p>
          <a:p>
            <a:pPr eaLnBrk="0" hangingPunct="0"/>
            <a:r>
              <a:rPr lang="en-US" altLang="zh-CN" sz="2000" b="0" dirty="0">
                <a:latin typeface="Helvetica" charset="0"/>
                <a:ea typeface="宋体" panose="02010600030101010101" pitchFamily="2" charset="-122"/>
              </a:rPr>
              <a:t>else { y= - x; z = 2}</a:t>
            </a:r>
            <a:endParaRPr lang="en-US" altLang="zh-CN" sz="2000" dirty="0">
              <a:latin typeface="Arial" panose="020B0604020202020204" pitchFamily="34" charset="0"/>
              <a:ea typeface="宋体" panose="02010600030101010101" pitchFamily="2" charset="-122"/>
            </a:endParaRPr>
          </a:p>
        </p:txBody>
      </p:sp>
      <p:sp>
        <p:nvSpPr>
          <p:cNvPr id="6" name="Rectangle 4"/>
          <p:cNvSpPr/>
          <p:nvPr/>
        </p:nvSpPr>
        <p:spPr>
          <a:xfrm>
            <a:off x="6976153" y="3573337"/>
            <a:ext cx="5034338" cy="1200329"/>
          </a:xfrm>
          <a:prstGeom prst="rect">
            <a:avLst/>
          </a:prstGeom>
          <a:noFill/>
          <a:ln w="9525">
            <a:noFill/>
          </a:ln>
        </p:spPr>
        <p:txBody>
          <a:bodyPr wrap="square" anchor="ctr">
            <a:spAutoFit/>
          </a:bodyPr>
          <a:lstStyle/>
          <a:p>
            <a:pPr eaLnBrk="0" hangingPunct="0"/>
            <a:r>
              <a:rPr lang="zh-CN" altLang="en-US" sz="2400" dirty="0">
                <a:latin typeface="Arial" panose="020B0604020202020204" pitchFamily="34" charset="0"/>
                <a:ea typeface="宋体" panose="02010600030101010101" pitchFamily="2" charset="-122"/>
              </a:rPr>
              <a:t>对于示例程序，如果输入</a:t>
            </a:r>
            <a:r>
              <a:rPr lang="en-US" altLang="zh-CN" sz="2400" dirty="0">
                <a:latin typeface="Arial" panose="020B0604020202020204" pitchFamily="34" charset="0"/>
                <a:ea typeface="宋体" panose="02010600030101010101" pitchFamily="2" charset="-122"/>
              </a:rPr>
              <a:t>x=1</a:t>
            </a:r>
            <a:r>
              <a:rPr lang="zh-CN" altLang="en-US" sz="2400" dirty="0">
                <a:latin typeface="Arial" panose="020B0604020202020204" pitchFamily="34" charset="0"/>
                <a:ea typeface="宋体" panose="02010600030101010101" pitchFamily="2" charset="-122"/>
              </a:rPr>
              <a:t>，则可获得程序的执行信息，程序执行了</a:t>
            </a:r>
            <a:r>
              <a:rPr lang="en-US" altLang="zh-CN" sz="2400" dirty="0">
                <a:latin typeface="Arial" panose="020B0604020202020204" pitchFamily="34" charset="0"/>
                <a:ea typeface="宋体" panose="02010600030101010101" pitchFamily="2" charset="-122"/>
              </a:rPr>
              <a:t>if</a:t>
            </a:r>
            <a:r>
              <a:rPr lang="zh-CN" altLang="en-US" sz="2400" dirty="0">
                <a:latin typeface="Arial" panose="020B0604020202020204" pitchFamily="34" charset="0"/>
                <a:ea typeface="宋体" panose="02010600030101010101" pitchFamily="2" charset="-122"/>
              </a:rPr>
              <a:t>分支，</a:t>
            </a:r>
            <a:r>
              <a:rPr lang="en-US" altLang="zh-CN" sz="2400" dirty="0">
                <a:latin typeface="Arial" panose="020B0604020202020204" pitchFamily="34" charset="0"/>
                <a:ea typeface="宋体" panose="02010600030101010101" pitchFamily="2" charset="-122"/>
              </a:rPr>
              <a:t>y</a:t>
            </a:r>
            <a:r>
              <a:rPr lang="zh-CN" altLang="en-US" sz="2400" dirty="0">
                <a:latin typeface="Arial" panose="020B0604020202020204" pitchFamily="34" charset="0"/>
                <a:ea typeface="宋体" panose="02010600030101010101" pitchFamily="2" charset="-122"/>
              </a:rPr>
              <a:t>的值为</a:t>
            </a:r>
            <a:r>
              <a:rPr lang="en-US" altLang="zh-CN" sz="2400" dirty="0">
                <a:latin typeface="Arial" panose="020B0604020202020204" pitchFamily="34" charset="0"/>
                <a:ea typeface="宋体" panose="02010600030101010101" pitchFamily="2" charset="-122"/>
              </a:rPr>
              <a:t>1,z</a:t>
            </a:r>
            <a:r>
              <a:rPr lang="zh-CN" altLang="en-US" sz="2400" dirty="0">
                <a:latin typeface="Arial" panose="020B0604020202020204" pitchFamily="34" charset="0"/>
                <a:ea typeface="宋体" panose="02010600030101010101" pitchFamily="2" charset="-122"/>
              </a:rPr>
              <a:t>的值为</a:t>
            </a:r>
            <a:r>
              <a:rPr lang="en-US" altLang="zh-CN" sz="2400" dirty="0">
                <a:latin typeface="Arial" panose="020B0604020202020204" pitchFamily="34" charset="0"/>
                <a:ea typeface="宋体" panose="02010600030101010101" pitchFamily="2" charset="-122"/>
              </a:rPr>
              <a:t>1 </a:t>
            </a:r>
            <a:endParaRPr lang="en-US" altLang="zh-CN" sz="2400" dirty="0">
              <a:latin typeface="Arial" panose="020B060402020202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动态分析</a:t>
            </a:r>
            <a:endParaRPr kumimoji="1" lang="zh-CN" altLang="en-US" dirty="0"/>
          </a:p>
        </p:txBody>
      </p:sp>
      <p:sp>
        <p:nvSpPr>
          <p:cNvPr id="3" name="内容占位符 2"/>
          <p:cNvSpPr>
            <a:spLocks noGrp="1"/>
          </p:cNvSpPr>
          <p:nvPr>
            <p:ph idx="1"/>
          </p:nvPr>
        </p:nvSpPr>
        <p:spPr>
          <a:xfrm>
            <a:off x="838200" y="1825624"/>
            <a:ext cx="10515600" cy="4729287"/>
          </a:xfrm>
        </p:spPr>
        <p:txBody>
          <a:bodyPr>
            <a:normAutofit fontScale="92500" lnSpcReduction="20000"/>
          </a:bodyPr>
          <a:lstStyle/>
          <a:p>
            <a:r>
              <a:rPr lang="zh-CN" altLang="en-US" smtClean="0"/>
              <a:t>程序</a:t>
            </a:r>
            <a:r>
              <a:rPr lang="zh-CN" altLang="en-US" dirty="0"/>
              <a:t>动态</a:t>
            </a:r>
            <a:r>
              <a:rPr lang="zh-CN" altLang="en-US" dirty="0" smtClean="0"/>
              <a:t>分析分为</a:t>
            </a:r>
            <a:r>
              <a:rPr lang="zh-CN" altLang="en-US" dirty="0"/>
              <a:t>在线</a:t>
            </a:r>
            <a:r>
              <a:rPr lang="en-US" altLang="zh-CN" dirty="0"/>
              <a:t>(online)</a:t>
            </a:r>
            <a:r>
              <a:rPr lang="zh-CN" altLang="en-US" dirty="0"/>
              <a:t>动态分析与离线</a:t>
            </a:r>
            <a:r>
              <a:rPr lang="en-US" altLang="zh-CN" dirty="0"/>
              <a:t>(offline)</a:t>
            </a:r>
            <a:r>
              <a:rPr lang="zh-CN" altLang="en-US" dirty="0"/>
              <a:t>动态</a:t>
            </a:r>
            <a:r>
              <a:rPr lang="zh-CN" altLang="en-US" dirty="0" smtClean="0"/>
              <a:t>分析</a:t>
            </a:r>
            <a:endParaRPr lang="zh-CN" altLang="en-US" dirty="0" smtClean="0"/>
          </a:p>
          <a:p>
            <a:pPr lvl="1"/>
            <a:r>
              <a:rPr kumimoji="1" lang="zh-CN" altLang="en-US" dirty="0" smtClean="0"/>
              <a:t>在线分析（</a:t>
            </a:r>
            <a:r>
              <a:rPr lang="zh-CN" altLang="en-US" dirty="0"/>
              <a:t>在程序的运行过程中分析当前程序行为</a:t>
            </a:r>
            <a:r>
              <a:rPr kumimoji="1" lang="zh-CN" altLang="en-US" dirty="0"/>
              <a:t>）</a:t>
            </a:r>
            <a:endParaRPr kumimoji="1" lang="zh-CN" altLang="en-US" dirty="0"/>
          </a:p>
          <a:p>
            <a:pPr lvl="2"/>
            <a:r>
              <a:rPr kumimoji="1" lang="zh-CN" altLang="en-US" dirty="0"/>
              <a:t>交互消息</a:t>
            </a:r>
            <a:endParaRPr kumimoji="1" lang="zh-CN" altLang="en-US" dirty="0"/>
          </a:p>
          <a:p>
            <a:pPr lvl="2"/>
            <a:r>
              <a:rPr kumimoji="1" lang="zh-CN" altLang="en-US" dirty="0"/>
              <a:t>内部状态</a:t>
            </a:r>
            <a:endParaRPr kumimoji="1" lang="zh-CN" altLang="en-US" dirty="0"/>
          </a:p>
          <a:p>
            <a:pPr lvl="2"/>
            <a:r>
              <a:rPr kumimoji="1" lang="zh-CN" altLang="en-US" dirty="0"/>
              <a:t>运行环境</a:t>
            </a:r>
            <a:endParaRPr kumimoji="1" lang="zh-CN" altLang="en-US" dirty="0"/>
          </a:p>
          <a:p>
            <a:pPr lvl="2"/>
            <a:r>
              <a:rPr kumimoji="1" lang="zh-CN" altLang="en-US" dirty="0"/>
              <a:t>剖面</a:t>
            </a:r>
            <a:r>
              <a:rPr kumimoji="1" lang="zh-CN" altLang="en-US" dirty="0" smtClean="0"/>
              <a:t>分析</a:t>
            </a:r>
            <a:endParaRPr lang="zh-CN" altLang="en-US" dirty="0" smtClean="0"/>
          </a:p>
          <a:p>
            <a:pPr lvl="1"/>
            <a:r>
              <a:rPr kumimoji="1" lang="zh-CN" altLang="en-US" dirty="0"/>
              <a:t>离线分析（</a:t>
            </a:r>
            <a:r>
              <a:rPr lang="zh-CN" altLang="en-US" dirty="0"/>
              <a:t>需要记录程序的运行行为</a:t>
            </a:r>
            <a:r>
              <a:rPr lang="en-US" altLang="zh-CN" dirty="0"/>
              <a:t>, </a:t>
            </a:r>
            <a:r>
              <a:rPr lang="zh-CN" altLang="en-US" dirty="0"/>
              <a:t>在程序运行结束后再进行分析</a:t>
            </a:r>
            <a:r>
              <a:rPr kumimoji="1" lang="zh-CN" altLang="en-US" dirty="0"/>
              <a:t>）</a:t>
            </a:r>
            <a:endParaRPr kumimoji="1" lang="zh-CN" altLang="en-US" dirty="0"/>
          </a:p>
          <a:p>
            <a:pPr lvl="2"/>
            <a:r>
              <a:rPr kumimoji="1" lang="zh-CN" altLang="en-US" dirty="0"/>
              <a:t>生成测试数据</a:t>
            </a:r>
            <a:endParaRPr kumimoji="1" lang="zh-CN" altLang="en-US" dirty="0"/>
          </a:p>
          <a:p>
            <a:pPr lvl="2"/>
            <a:r>
              <a:rPr kumimoji="1" lang="zh-CN" altLang="en-US" dirty="0"/>
              <a:t>执行轨迹分析</a:t>
            </a:r>
            <a:endParaRPr kumimoji="1" lang="zh-CN" altLang="en-US" dirty="0"/>
          </a:p>
          <a:p>
            <a:r>
              <a:rPr lang="zh-CN" altLang="en-US" dirty="0" smtClean="0"/>
              <a:t>两者都</a:t>
            </a:r>
            <a:r>
              <a:rPr lang="zh-CN" altLang="en-US" dirty="0"/>
              <a:t>是通过对程序运行过程或者结果的分析</a:t>
            </a:r>
            <a:r>
              <a:rPr lang="en-US" altLang="zh-CN" dirty="0"/>
              <a:t>, </a:t>
            </a:r>
            <a:r>
              <a:rPr lang="zh-CN" altLang="en-US" dirty="0"/>
              <a:t>查找定位</a:t>
            </a:r>
            <a:r>
              <a:rPr lang="zh-CN" altLang="en-US" dirty="0" smtClean="0"/>
              <a:t>缺陷</a:t>
            </a:r>
            <a:endParaRPr lang="zh-CN" altLang="en-US" dirty="0" smtClean="0"/>
          </a:p>
          <a:p>
            <a:pPr lvl="1"/>
            <a:r>
              <a:rPr lang="zh-CN" altLang="en-US" dirty="0" smtClean="0"/>
              <a:t>一方面</a:t>
            </a:r>
            <a:r>
              <a:rPr lang="zh-CN" altLang="en-US" dirty="0"/>
              <a:t>可以将程序运行结果和预知结果对比</a:t>
            </a:r>
            <a:r>
              <a:rPr lang="en-US" altLang="zh-CN" dirty="0"/>
              <a:t>, </a:t>
            </a:r>
            <a:r>
              <a:rPr lang="zh-CN" altLang="en-US" dirty="0"/>
              <a:t>确定程序中是否含有</a:t>
            </a:r>
            <a:r>
              <a:rPr lang="zh-CN" altLang="en-US" dirty="0" smtClean="0"/>
              <a:t>缺陷。很直观</a:t>
            </a:r>
            <a:r>
              <a:rPr lang="en-US" altLang="zh-CN" dirty="0" smtClean="0"/>
              <a:t>, </a:t>
            </a:r>
            <a:r>
              <a:rPr lang="zh-CN" altLang="en-US" dirty="0" smtClean="0"/>
              <a:t>但是对于被触发了却没有反映在输出中的缺陷无法检测。</a:t>
            </a:r>
            <a:r>
              <a:rPr lang="en-US" altLang="zh-CN" dirty="0" smtClean="0"/>
              <a:t> </a:t>
            </a:r>
            <a:endParaRPr lang="zh-CN" altLang="en-US" dirty="0" smtClean="0"/>
          </a:p>
          <a:p>
            <a:pPr lvl="1"/>
            <a:r>
              <a:rPr lang="zh-CN" altLang="en-US" dirty="0" smtClean="0"/>
              <a:t>另一方面</a:t>
            </a:r>
            <a:r>
              <a:rPr lang="en-US" altLang="zh-CN" dirty="0"/>
              <a:t>, </a:t>
            </a:r>
            <a:r>
              <a:rPr lang="zh-CN" altLang="en-US" dirty="0"/>
              <a:t>可以通过插桩或其他监控技术分析程序的运行行为</a:t>
            </a:r>
            <a:r>
              <a:rPr lang="en-US" altLang="zh-CN" dirty="0"/>
              <a:t>, </a:t>
            </a:r>
            <a:r>
              <a:rPr lang="zh-CN" altLang="en-US" dirty="0"/>
              <a:t>查找错误的</a:t>
            </a:r>
            <a:r>
              <a:rPr lang="zh-CN" altLang="en-US" dirty="0" smtClean="0"/>
              <a:t>行为。可以</a:t>
            </a:r>
            <a:r>
              <a:rPr lang="zh-CN" altLang="en-US" dirty="0"/>
              <a:t>直接观察到程序中缺陷的触发</a:t>
            </a:r>
            <a:r>
              <a:rPr lang="en-US" altLang="zh-CN" dirty="0"/>
              <a:t>, </a:t>
            </a:r>
            <a:r>
              <a:rPr lang="zh-CN" altLang="en-US" dirty="0"/>
              <a:t>即使该次触发并没有导致错误的</a:t>
            </a:r>
            <a:r>
              <a:rPr lang="zh-CN" altLang="en-US" dirty="0" smtClean="0"/>
              <a:t>输出。需要</a:t>
            </a:r>
            <a:r>
              <a:rPr lang="zh-CN" altLang="en-US" dirty="0"/>
              <a:t>提前定义错误的行为</a:t>
            </a:r>
            <a:r>
              <a:rPr lang="en-US" altLang="zh-CN" dirty="0"/>
              <a:t>, </a:t>
            </a:r>
            <a:r>
              <a:rPr lang="zh-CN" altLang="en-US" dirty="0"/>
              <a:t>其对于非常见的缺陷无法</a:t>
            </a:r>
            <a:r>
              <a:rPr lang="zh-CN" altLang="en-US" dirty="0" smtClean="0"/>
              <a:t>检。</a:t>
            </a:r>
            <a:endParaRPr lang="en-US" altLang="zh-CN" dirty="0"/>
          </a:p>
          <a:p>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ext Box 2"/>
          <p:cNvSpPr txBox="1"/>
          <p:nvPr/>
        </p:nvSpPr>
        <p:spPr>
          <a:xfrm>
            <a:off x="2620964" y="549275"/>
            <a:ext cx="7272337" cy="645160"/>
          </a:xfrm>
          <a:prstGeom prst="rect">
            <a:avLst/>
          </a:prstGeom>
          <a:noFill/>
          <a:ln w="9525">
            <a:noFill/>
          </a:ln>
        </p:spPr>
        <p:txBody>
          <a:bodyPr anchor="t">
            <a:spAutoFit/>
          </a:bodyPr>
          <a:lstStyle/>
          <a:p>
            <a:pPr algn="ctr" eaLnBrk="0" hangingPunct="0">
              <a:spcBef>
                <a:spcPct val="50000"/>
              </a:spcBef>
            </a:pPr>
            <a:r>
              <a:rPr lang="zh-CN" altLang="en-US" sz="3600" dirty="0">
                <a:latin typeface="隶书" panose="02010509060101010101" pitchFamily="49" charset="-122"/>
                <a:ea typeface="隶书" panose="02010509060101010101" pitchFamily="49" charset="-122"/>
              </a:rPr>
              <a:t>静态和动态程序分析技术比较 </a:t>
            </a:r>
            <a:endParaRPr lang="zh-CN" altLang="en-US" sz="3600" dirty="0">
              <a:latin typeface="隶书" panose="02010509060101010101" pitchFamily="49" charset="-122"/>
              <a:ea typeface="隶书" panose="02010509060101010101" pitchFamily="49" charset="-122"/>
            </a:endParaRPr>
          </a:p>
        </p:txBody>
      </p:sp>
      <p:sp>
        <p:nvSpPr>
          <p:cNvPr id="74754" name="Rectangle 3"/>
          <p:cNvSpPr/>
          <p:nvPr/>
        </p:nvSpPr>
        <p:spPr>
          <a:xfrm>
            <a:off x="1524001" y="2525197"/>
            <a:ext cx="184731" cy="369332"/>
          </a:xfrm>
          <a:prstGeom prst="rect">
            <a:avLst/>
          </a:prstGeom>
          <a:noFill/>
          <a:ln w="9525">
            <a:noFill/>
          </a:ln>
        </p:spPr>
        <p:txBody>
          <a:bodyPr wrap="none" anchor="ctr">
            <a:spAutoFit/>
          </a:bodyPr>
          <a:lstStyle/>
          <a:p>
            <a:pPr>
              <a:buFont typeface="Arial" panose="020B0604020202020204" pitchFamily="34" charset="0"/>
              <a:buNone/>
            </a:pPr>
            <a:endParaRPr lang="zh-CN" altLang="en-US" dirty="0">
              <a:latin typeface="Arial" panose="020B0604020202020204" pitchFamily="34" charset="0"/>
              <a:ea typeface="宋体" panose="02010600030101010101" pitchFamily="2" charset="-122"/>
            </a:endParaRPr>
          </a:p>
        </p:txBody>
      </p:sp>
      <p:graphicFrame>
        <p:nvGraphicFramePr>
          <p:cNvPr id="460822" name="Group 22"/>
          <p:cNvGraphicFramePr>
            <a:graphicFrameLocks noGrp="1"/>
          </p:cNvGraphicFramePr>
          <p:nvPr>
            <p:ph idx="4294967295"/>
          </p:nvPr>
        </p:nvGraphicFramePr>
        <p:xfrm>
          <a:off x="2779714" y="1831976"/>
          <a:ext cx="7113587" cy="2547939"/>
        </p:xfrm>
        <a:graphic>
          <a:graphicData uri="http://schemas.openxmlformats.org/drawingml/2006/table">
            <a:tbl>
              <a:tblPr/>
              <a:tblGrid>
                <a:gridCol w="3557587"/>
                <a:gridCol w="3556000"/>
              </a:tblGrid>
              <a:tr h="396289">
                <a:tc>
                  <a:txBody>
                    <a:bodyPr/>
                    <a:lstStyle>
                      <a:lvl1pPr marL="342900" indent="-2730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640080" indent="-2730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123950" indent="-22733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1325880" indent="-22733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17830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2402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26974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1546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27305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静态程序分析</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2730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640080" indent="-2730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123950" indent="-22733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1325880" indent="-22733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17830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2402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26974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154680" indent="-22733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27305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动态执行分析</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49394">
                <a:tc>
                  <a:txBody>
                    <a:bodyPr/>
                    <a:lstStyle>
                      <a:lvl1pPr marL="342900" indent="-7620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742950" indent="-2857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marL="1143000"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600200" indent="-22860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2057400" indent="-22860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分析时间长：</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    需对程序进行抽象</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7620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742950" indent="-2857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marL="1143000"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600200" indent="-22860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2057400" indent="-22860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分析速度快：</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    简单的执行程序</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128">
                <a:tc>
                  <a:txBody>
                    <a:bodyPr/>
                    <a:lstStyle>
                      <a:lvl1pPr marL="342900" indent="-7620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742950" indent="-2857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marL="1143000"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600200" indent="-22860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2057400" indent="-22860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稳妥的分析：</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    程序抽象引起</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7620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742950" indent="-2857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marL="1143000"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600200" indent="-22860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2057400" indent="-22860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精确的分析：</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    没有近似</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128">
                <a:tc>
                  <a:txBody>
                    <a:bodyPr/>
                    <a:lstStyle>
                      <a:lvl1pPr marL="342900" indent="-7620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742950" indent="-2857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marL="1143000"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600200" indent="-22860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2057400" indent="-22860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分析结果完整：</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    稳妥地考虑所有情况</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7620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1pPr>
                      <a:lvl2pPr marL="742950" indent="-285750" eaLnBrk="0" hangingPunct="0">
                        <a:spcBef>
                          <a:spcPct val="20000"/>
                        </a:spcBef>
                        <a:buClr>
                          <a:schemeClr val="accent1"/>
                        </a:buClr>
                        <a:buSzPct val="76000"/>
                        <a:buFont typeface="Wingdings 2" panose="05020102010507070707" pitchFamily="18" charset="2"/>
                        <a:defRPr sz="2000">
                          <a:solidFill>
                            <a:schemeClr val="tx2"/>
                          </a:solidFill>
                          <a:latin typeface="Century Gothic" panose="020B0502020202020204" pitchFamily="34" charset="0"/>
                          <a:ea typeface="微软雅黑" panose="020B0503020204020204" charset="-122"/>
                          <a:sym typeface="Century Gothic" panose="020B0502020202020204" pitchFamily="34" charset="0"/>
                        </a:defRPr>
                      </a:lvl2pPr>
                      <a:lvl3pPr marL="1143000" indent="-228600" eaLnBrk="0" hangingPunct="0">
                        <a:spcBef>
                          <a:spcPct val="20000"/>
                        </a:spcBef>
                        <a:buClr>
                          <a:schemeClr val="accent1"/>
                        </a:buClr>
                        <a:buSzPct val="76000"/>
                        <a:buFont typeface="Wingdings 2" panose="05020102010507070707" pitchFamily="18" charset="2"/>
                        <a:defRPr>
                          <a:solidFill>
                            <a:schemeClr val="tx2"/>
                          </a:solidFill>
                          <a:latin typeface="Century Gothic" panose="020B0502020202020204" pitchFamily="34" charset="0"/>
                          <a:ea typeface="微软雅黑" panose="020B0503020204020204" charset="-122"/>
                          <a:sym typeface="Century Gothic" panose="020B0502020202020204" pitchFamily="34" charset="0"/>
                        </a:defRPr>
                      </a:lvl3pPr>
                      <a:lvl4pPr marL="1600200" indent="-228600" eaLnBrk="0" hangingPunct="0">
                        <a:spcBef>
                          <a:spcPct val="20000"/>
                        </a:spcBef>
                        <a:buClr>
                          <a:schemeClr val="accent1"/>
                        </a:buClr>
                        <a:buSzPct val="76000"/>
                        <a:buFont typeface="Wingdings 2" panose="05020102010507070707" pitchFamily="18" charset="2"/>
                        <a:defRPr sz="1600">
                          <a:solidFill>
                            <a:schemeClr val="tx2"/>
                          </a:solidFill>
                          <a:latin typeface="Century Gothic" panose="020B0502020202020204" pitchFamily="34" charset="0"/>
                          <a:ea typeface="微软雅黑" panose="020B0503020204020204" charset="-122"/>
                          <a:sym typeface="Century Gothic" panose="020B0502020202020204" pitchFamily="34" charset="0"/>
                        </a:defRPr>
                      </a:lvl4pPr>
                      <a:lvl5pPr marL="2057400" indent="-228600" eaLnBrk="0" hangingPunct="0">
                        <a:spcBef>
                          <a:spcPct val="20000"/>
                        </a:spcBef>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defRPr sz="1400">
                          <a:solidFill>
                            <a:schemeClr val="tx2"/>
                          </a:solidFill>
                          <a:latin typeface="Century Gothic" panose="020B0502020202020204" pitchFamily="34" charset="0"/>
                          <a:ea typeface="微软雅黑" panose="020B0503020204020204" charset="-122"/>
                          <a:sym typeface="Century Gothic" panose="020B0502020202020204" pitchFamily="34" charset="0"/>
                        </a:defRPr>
                      </a:lvl9pPr>
                    </a:lstStyle>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分析结果不完整：</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p>
                      <a:pPr marL="342900" marR="0" lvl="0" indent="-7620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rPr>
                        <a:t>   只代表一次执行</a:t>
                      </a:r>
                      <a:endParaRPr kumimoji="0" lang="zh-CN" altLang="en-US" sz="2000" b="1" i="0" u="none" strike="noStrike" cap="none" normalizeH="0" baseline="0" smtClean="0">
                        <a:ln>
                          <a:noFill/>
                        </a:ln>
                        <a:solidFill>
                          <a:srgbClr val="292929"/>
                        </a:solidFill>
                        <a:effectLst/>
                        <a:latin typeface="Times New Roman" panose="02020603050405020304" pitchFamily="18" charset="0"/>
                        <a:ea typeface="宋体" panose="02010600030101010101" pitchFamily="2" charset="-122"/>
                        <a:cs typeface="Times New Roman" panose="02020603050405020304" pitchFamily="18" charset="0"/>
                        <a:sym typeface="Century Gothic" panose="020B0502020202020204" pitchFamily="34" charset="0"/>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4772" name="Rectangle 21"/>
          <p:cNvSpPr/>
          <p:nvPr/>
        </p:nvSpPr>
        <p:spPr>
          <a:xfrm>
            <a:off x="3168651" y="4864101"/>
            <a:ext cx="6335713" cy="650875"/>
          </a:xfrm>
          <a:prstGeom prst="rect">
            <a:avLst/>
          </a:prstGeom>
          <a:noFill/>
          <a:ln w="9525" cap="flat" cmpd="sng">
            <a:solidFill>
              <a:srgbClr val="000080"/>
            </a:solidFill>
            <a:prstDash val="solid"/>
            <a:miter/>
            <a:headEnd type="none" w="med" len="med"/>
            <a:tailEnd type="none" w="med" len="med"/>
          </a:ln>
        </p:spPr>
        <p:txBody>
          <a:bodyPr anchor="ctr">
            <a:spAutoFit/>
          </a:bodyPr>
          <a:lstStyle/>
          <a:p>
            <a:pPr eaLnBrk="0" hangingPunct="0"/>
            <a:r>
              <a:rPr lang="zh-CN" altLang="en-US" dirty="0">
                <a:latin typeface="Arial" panose="020B0604020202020204" pitchFamily="34" charset="0"/>
                <a:ea typeface="宋体" panose="02010600030101010101" pitchFamily="2" charset="-122"/>
              </a:rPr>
              <a:t>在应用程序分析时应同时考虑使用静态分析和动态分析的可能性，以获得更好的分析结果。 </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应用</a:t>
            </a:r>
            <a:endParaRPr kumimoji="1" lang="zh-CN" altLang="en-US" dirty="0"/>
          </a:p>
        </p:txBody>
      </p:sp>
      <p:sp>
        <p:nvSpPr>
          <p:cNvPr id="3" name="内容占位符 2"/>
          <p:cNvSpPr>
            <a:spLocks noGrp="1"/>
          </p:cNvSpPr>
          <p:nvPr>
            <p:ph idx="1"/>
          </p:nvPr>
        </p:nvSpPr>
        <p:spPr/>
        <p:txBody>
          <a:bodyPr/>
          <a:lstStyle/>
          <a:p>
            <a:r>
              <a:rPr kumimoji="1" lang="zh-CN" altLang="en-US" dirty="0" smtClean="0"/>
              <a:t>测试用例的设计</a:t>
            </a:r>
            <a:endParaRPr kumimoji="1" lang="zh-CN" altLang="en-US" dirty="0" smtClean="0"/>
          </a:p>
          <a:p>
            <a:r>
              <a:rPr kumimoji="1" lang="zh-CN" altLang="en-US" dirty="0" smtClean="0"/>
              <a:t>错误定位</a:t>
            </a:r>
            <a:endParaRPr kumimoji="1" lang="zh-CN" altLang="en-US" dirty="0" smtClean="0"/>
          </a:p>
          <a:p>
            <a:r>
              <a:rPr kumimoji="1" lang="zh-CN" altLang="en-US" dirty="0" smtClean="0"/>
              <a:t>故障修复</a:t>
            </a:r>
            <a:endParaRPr kumimoji="1" lang="zh-CN" altLang="en-US" dirty="0" smtClean="0"/>
          </a:p>
          <a:p>
            <a:r>
              <a:rPr kumimoji="1" lang="zh-CN" altLang="en-US" dirty="0" smtClean="0"/>
              <a:t>程序自动生成</a:t>
            </a:r>
            <a:endParaRPr kumimoji="1"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kumimoji="1" lang="zh-CN" altLang="en-US" dirty="0" smtClean="0"/>
              <a:t>基于不同覆盖率准则的测</a:t>
            </a:r>
            <a:r>
              <a:rPr kumimoji="1" lang="zh-CN" altLang="en-US" dirty="0"/>
              <a:t>试用</a:t>
            </a:r>
            <a:r>
              <a:rPr kumimoji="1" lang="zh-CN" altLang="en-US" dirty="0" smtClean="0"/>
              <a:t>例设计生成</a:t>
            </a:r>
            <a:endParaRPr kumimoji="1" lang="zh-CN" altLang="en-US" dirty="0" smtClean="0"/>
          </a:p>
          <a:p>
            <a:pPr lvl="1"/>
            <a:r>
              <a:rPr kumimoji="1" lang="zh-CN" altLang="en-US" dirty="0" smtClean="0"/>
              <a:t>白盒测试</a:t>
            </a:r>
            <a:endParaRPr kumimoji="1" lang="zh-CN" altLang="en-US" dirty="0" smtClean="0"/>
          </a:p>
          <a:p>
            <a:pPr lvl="1"/>
            <a:r>
              <a:rPr kumimoji="1" lang="zh-CN" altLang="en-US" dirty="0" smtClean="0"/>
              <a:t>静态分析</a:t>
            </a:r>
            <a:endParaRPr kumimoji="1" lang="zh-CN" altLang="en-US" dirty="0" smtClean="0"/>
          </a:p>
          <a:p>
            <a:pPr lvl="1"/>
            <a:r>
              <a:rPr kumimoji="1" lang="zh-CN" altLang="en-US" dirty="0" smtClean="0"/>
              <a:t>语句覆盖、分支覆盖、路径覆盖</a:t>
            </a:r>
            <a:endParaRPr kumimoji="1" lang="zh-CN" altLang="en-US" dirty="0" smtClean="0"/>
          </a:p>
          <a:p>
            <a:pPr lvl="1"/>
            <a:r>
              <a:rPr kumimoji="1" lang="zh-CN" altLang="en-US" dirty="0" smtClean="0"/>
              <a:t>条件约束的表达和求解</a:t>
            </a:r>
            <a:endParaRPr kumimoji="1" lang="zh-CN" altLang="en-US" dirty="0" smtClean="0"/>
          </a:p>
          <a:p>
            <a:pPr lvl="1"/>
            <a:endParaRPr kumimoji="1"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lgn="r" fontAlgn="base">
              <a:spcBef>
                <a:spcPct val="0"/>
              </a:spcBef>
              <a:spcAft>
                <a:spcPct val="0"/>
              </a:spcAft>
              <a:defRPr/>
            </a:pPr>
            <a:fld id="{8A7224ED-8DD5-40E6-813E-2CA29140405C}" type="datetime4">
              <a:rPr lang="zh-CN" altLang="en-US">
                <a:solidFill>
                  <a:srgbClr val="FEFEFE"/>
                </a:solidFill>
                <a:latin typeface="Arial" panose="020B0604020202020204" pitchFamily="34" charset="0"/>
                <a:ea typeface="宋体" panose="02010600030101010101" pitchFamily="2" charset="-122"/>
              </a:rPr>
            </a:fld>
            <a:endParaRPr lang="en-US" sz="1800">
              <a:solidFill>
                <a:schemeClr val="tx1"/>
              </a:solidFill>
              <a:latin typeface="Arial" panose="020B0604020202020204" pitchFamily="34" charset="0"/>
              <a:ea typeface="宋体" panose="02010600030101010101" pitchFamily="2" charset="-122"/>
            </a:endParaRPr>
          </a:p>
        </p:txBody>
      </p:sp>
      <p:sp>
        <p:nvSpPr>
          <p:cNvPr id="5" name="文本框 4"/>
          <p:cNvSpPr txBox="1"/>
          <p:nvPr/>
        </p:nvSpPr>
        <p:spPr>
          <a:xfrm>
            <a:off x="2532381" y="1529715"/>
            <a:ext cx="7122795" cy="922020"/>
          </a:xfrm>
          <a:prstGeom prst="rect">
            <a:avLst/>
          </a:prstGeom>
          <a:noFill/>
        </p:spPr>
        <p:txBody>
          <a:bodyPr wrap="square" rtlCol="0" anchor="t">
            <a:spAutoFit/>
          </a:bodyPr>
          <a:lstStyle/>
          <a:p>
            <a:r>
              <a:rPr lang="en-US" altLang="zh-CN" dirty="0">
                <a:solidFill>
                  <a:srgbClr val="000000"/>
                </a:solidFill>
                <a:sym typeface="+mn-ea"/>
              </a:rPr>
              <a:t>Zeller</a:t>
            </a:r>
            <a:r>
              <a:rPr lang="zh-CN" altLang="en-US" dirty="0">
                <a:solidFill>
                  <a:srgbClr val="000000"/>
                </a:solidFill>
                <a:sym typeface="+mn-ea"/>
              </a:rPr>
              <a:t>等人提出的一种基于程序状态变更的错误定位技术</a:t>
            </a:r>
            <a:r>
              <a:rPr lang="en-US" altLang="zh-CN" dirty="0">
                <a:solidFill>
                  <a:srgbClr val="000000"/>
                </a:solidFill>
                <a:sym typeface="+mn-ea"/>
              </a:rPr>
              <a:t>Delta debugging</a:t>
            </a:r>
            <a:r>
              <a:rPr lang="zh-CN" altLang="en-US" dirty="0">
                <a:solidFill>
                  <a:srgbClr val="000000"/>
                </a:solidFill>
                <a:sym typeface="+mn-ea"/>
              </a:rPr>
              <a:t>，开发了工具</a:t>
            </a:r>
            <a:r>
              <a:rPr lang="en-US" altLang="zh-CN" dirty="0">
                <a:solidFill>
                  <a:srgbClr val="000000"/>
                </a:solidFill>
                <a:sym typeface="+mn-ea"/>
              </a:rPr>
              <a:t>igor</a:t>
            </a:r>
            <a:r>
              <a:rPr lang="zh-CN" altLang="en-US" dirty="0">
                <a:solidFill>
                  <a:srgbClr val="000000"/>
                </a:solidFill>
                <a:sym typeface="+mn-ea"/>
              </a:rPr>
              <a:t>，自动缩小程序成功执行和失效执行过程之间的区别，</a:t>
            </a:r>
            <a:r>
              <a:rPr lang="zh-CN" altLang="en-US" dirty="0" smtClean="0">
                <a:solidFill>
                  <a:srgbClr val="000000"/>
                </a:solidFill>
                <a:sym typeface="+mn-ea"/>
              </a:rPr>
              <a:t>辅助错误定位</a:t>
            </a:r>
            <a:r>
              <a:rPr lang="zh-CN" altLang="en-US" dirty="0">
                <a:solidFill>
                  <a:srgbClr val="000000"/>
                </a:solidFill>
                <a:sym typeface="+mn-ea"/>
              </a:rPr>
              <a:t>。</a:t>
            </a:r>
            <a:endParaRPr lang="zh-CN" altLang="en-US" dirty="0"/>
          </a:p>
        </p:txBody>
      </p:sp>
      <p:pic>
        <p:nvPicPr>
          <p:cNvPr id="6" name="图片 5" descr="DELTA"/>
          <p:cNvPicPr>
            <a:picLocks noChangeAspect="1"/>
          </p:cNvPicPr>
          <p:nvPr/>
        </p:nvPicPr>
        <p:blipFill>
          <a:blip r:embed="rId1"/>
          <a:stretch>
            <a:fillRect/>
          </a:stretch>
        </p:blipFill>
        <p:spPr>
          <a:xfrm>
            <a:off x="6286501" y="2573656"/>
            <a:ext cx="3289935" cy="1711325"/>
          </a:xfrm>
          <a:prstGeom prst="rect">
            <a:avLst/>
          </a:prstGeom>
        </p:spPr>
      </p:pic>
      <p:pic>
        <p:nvPicPr>
          <p:cNvPr id="7" name="图片 6" descr="debugloop2"/>
          <p:cNvPicPr>
            <a:picLocks noChangeAspect="1"/>
          </p:cNvPicPr>
          <p:nvPr/>
        </p:nvPicPr>
        <p:blipFill>
          <a:blip r:embed="rId2"/>
          <a:stretch>
            <a:fillRect/>
          </a:stretch>
        </p:blipFill>
        <p:spPr>
          <a:xfrm>
            <a:off x="2331086" y="2776856"/>
            <a:ext cx="3670935" cy="1603375"/>
          </a:xfrm>
          <a:prstGeom prst="rect">
            <a:avLst/>
          </a:prstGeom>
        </p:spPr>
      </p:pic>
      <p:sp>
        <p:nvSpPr>
          <p:cNvPr id="8" name="文本框 7"/>
          <p:cNvSpPr txBox="1"/>
          <p:nvPr/>
        </p:nvSpPr>
        <p:spPr>
          <a:xfrm>
            <a:off x="2413000" y="770256"/>
            <a:ext cx="5545108" cy="461665"/>
          </a:xfrm>
          <a:prstGeom prst="rect">
            <a:avLst/>
          </a:prstGeom>
          <a:noFill/>
        </p:spPr>
        <p:txBody>
          <a:bodyPr wrap="none" rtlCol="0" anchor="t">
            <a:spAutoFit/>
          </a:bodyPr>
          <a:lstStyle/>
          <a:p>
            <a:r>
              <a:rPr lang="zh-CN" altLang="en-US" sz="2400" dirty="0">
                <a:solidFill>
                  <a:srgbClr val="000099"/>
                </a:solidFill>
                <a:latin typeface="Times New Roman" panose="02020603050405020304" pitchFamily="18" charset="0"/>
                <a:sym typeface="+mn-ea"/>
              </a:rPr>
              <a:t>动态程序分析</a:t>
            </a:r>
            <a:r>
              <a:rPr lang="zh-CN" altLang="en-US" sz="2400" dirty="0" smtClean="0">
                <a:solidFill>
                  <a:srgbClr val="000099"/>
                </a:solidFill>
                <a:latin typeface="Times New Roman" panose="02020603050405020304" pitchFamily="18" charset="0"/>
                <a:sym typeface="+mn-ea"/>
              </a:rPr>
              <a:t>在错误定位</a:t>
            </a:r>
            <a:r>
              <a:rPr lang="zh-CN" altLang="en-US" sz="2400" dirty="0">
                <a:solidFill>
                  <a:srgbClr val="000099"/>
                </a:solidFill>
                <a:latin typeface="Times New Roman" panose="02020603050405020304" pitchFamily="18" charset="0"/>
                <a:sym typeface="+mn-ea"/>
              </a:rPr>
              <a:t>中的应用实例</a:t>
            </a:r>
            <a:endParaRPr lang="zh-CN" altLang="en-US" sz="2400" dirty="0">
              <a:solidFill>
                <a:srgbClr val="000099"/>
              </a:solidFill>
              <a:latin typeface="Times New Roman" panose="02020603050405020304" pitchFamily="18" charset="0"/>
              <a:sym typeface="+mn-ea"/>
            </a:endParaRPr>
          </a:p>
        </p:txBody>
      </p:sp>
      <p:pic>
        <p:nvPicPr>
          <p:cNvPr id="9" name="图片 8"/>
          <p:cNvPicPr>
            <a:picLocks noChangeAspect="1"/>
          </p:cNvPicPr>
          <p:nvPr/>
        </p:nvPicPr>
        <p:blipFill>
          <a:blip r:embed="rId3"/>
          <a:stretch>
            <a:fillRect/>
          </a:stretch>
        </p:blipFill>
        <p:spPr>
          <a:xfrm>
            <a:off x="4597400" y="4579620"/>
            <a:ext cx="4866640" cy="1200150"/>
          </a:xfrm>
          <a:prstGeom prst="rect">
            <a:avLst/>
          </a:prstGeom>
        </p:spPr>
      </p:pic>
      <p:sp>
        <p:nvSpPr>
          <p:cNvPr id="10" name="文本框 9"/>
          <p:cNvSpPr txBox="1"/>
          <p:nvPr/>
        </p:nvSpPr>
        <p:spPr>
          <a:xfrm>
            <a:off x="4597401" y="5855970"/>
            <a:ext cx="5059045" cy="368300"/>
          </a:xfrm>
          <a:prstGeom prst="rect">
            <a:avLst/>
          </a:prstGeom>
          <a:noFill/>
        </p:spPr>
        <p:txBody>
          <a:bodyPr wrap="square" rtlCol="0" anchor="t">
            <a:spAutoFit/>
          </a:bodyPr>
          <a:lstStyle/>
          <a:p>
            <a:r>
              <a:rPr lang="zh-CN" altLang="en-US"/>
              <a:t>https://www.st.cs.uni-saarland.de/dd/</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发展</a:t>
            </a:r>
            <a:endParaRPr kumimoji="1" lang="zh-CN" altLang="en-US" dirty="0"/>
          </a:p>
        </p:txBody>
      </p:sp>
      <p:sp>
        <p:nvSpPr>
          <p:cNvPr id="3" name="内容占位符 2"/>
          <p:cNvSpPr>
            <a:spLocks noGrp="1"/>
          </p:cNvSpPr>
          <p:nvPr>
            <p:ph idx="1"/>
          </p:nvPr>
        </p:nvSpPr>
        <p:spPr/>
        <p:txBody>
          <a:bodyPr/>
          <a:lstStyle/>
          <a:p>
            <a:r>
              <a:rPr kumimoji="1" lang="zh-CN" altLang="en-US" dirty="0" smtClean="0"/>
              <a:t>精度</a:t>
            </a:r>
            <a:endParaRPr kumimoji="1" lang="zh-CN" altLang="en-US" dirty="0" smtClean="0"/>
          </a:p>
          <a:p>
            <a:pPr lvl="1"/>
            <a:r>
              <a:rPr kumimoji="1" lang="zh-CN" altLang="en-US" dirty="0" smtClean="0"/>
              <a:t>减少静态分析中的误报</a:t>
            </a:r>
            <a:endParaRPr kumimoji="1" lang="zh-CN" altLang="en-US" dirty="0" smtClean="0"/>
          </a:p>
          <a:p>
            <a:pPr lvl="2"/>
            <a:r>
              <a:rPr kumimoji="1" lang="zh-CN" altLang="en-US" dirty="0" smtClean="0"/>
              <a:t>别名分析</a:t>
            </a:r>
            <a:r>
              <a:rPr kumimoji="1" lang="en-US" altLang="zh-CN" dirty="0" smtClean="0"/>
              <a:t>/</a:t>
            </a:r>
            <a:r>
              <a:rPr kumimoji="1" lang="zh-CN" altLang="en-US" dirty="0" smtClean="0"/>
              <a:t>指向分析</a:t>
            </a:r>
            <a:endParaRPr kumimoji="1" lang="zh-CN" altLang="en-US" dirty="0" smtClean="0"/>
          </a:p>
          <a:p>
            <a:pPr lvl="2"/>
            <a:r>
              <a:rPr kumimoji="1" lang="zh-CN" altLang="en-US" dirty="0" smtClean="0"/>
              <a:t>过程间调用分析</a:t>
            </a:r>
            <a:endParaRPr kumimoji="1" lang="zh-CN" altLang="en-US" dirty="0" smtClean="0"/>
          </a:p>
          <a:p>
            <a:pPr lvl="2"/>
            <a:r>
              <a:rPr kumimoji="1" lang="zh-CN" altLang="en-US" dirty="0" smtClean="0"/>
              <a:t>概率化约束</a:t>
            </a:r>
            <a:endParaRPr kumimoji="1" lang="zh-CN" altLang="en-US" dirty="0" smtClean="0"/>
          </a:p>
          <a:p>
            <a:pPr lvl="1"/>
            <a:r>
              <a:rPr kumimoji="1" lang="zh-CN" altLang="en-US" dirty="0" smtClean="0"/>
              <a:t>减少动态分析中的漏报</a:t>
            </a:r>
            <a:endParaRPr kumimoji="1" lang="zh-CN" altLang="en-US" dirty="0" smtClean="0"/>
          </a:p>
          <a:p>
            <a:pPr lvl="2"/>
            <a:r>
              <a:rPr kumimoji="1" lang="zh-CN" altLang="en-US" dirty="0" smtClean="0"/>
              <a:t>结合符号执行</a:t>
            </a:r>
            <a:endParaRPr kumimoji="1" lang="zh-CN" altLang="en-US" dirty="0" smtClean="0"/>
          </a:p>
          <a:p>
            <a:r>
              <a:rPr kumimoji="1" lang="zh-CN" altLang="en-US" dirty="0" smtClean="0"/>
              <a:t>效率</a:t>
            </a:r>
            <a:endParaRPr kumimoji="1" lang="zh-CN" altLang="en-US" dirty="0" smtClean="0"/>
          </a:p>
          <a:p>
            <a:pPr lvl="1"/>
            <a:r>
              <a:rPr kumimoji="1" lang="zh-CN" altLang="en-US" dirty="0" smtClean="0"/>
              <a:t>降低运行开销</a:t>
            </a:r>
            <a:endParaRPr kumimoji="1" lang="zh-CN" altLang="en-US" dirty="0" smtClean="0"/>
          </a:p>
          <a:p>
            <a:r>
              <a:rPr kumimoji="1" lang="zh-CN" altLang="en-US" dirty="0" smtClean="0"/>
              <a:t>智能化</a:t>
            </a:r>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智能化</a:t>
            </a:r>
            <a:endParaRPr kumimoji="1"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近年来</a:t>
            </a:r>
            <a:r>
              <a:rPr lang="en-US" altLang="zh-CN" dirty="0"/>
              <a:t>, </a:t>
            </a:r>
            <a:r>
              <a:rPr lang="zh-CN" altLang="en-US" dirty="0"/>
              <a:t>机器学习及其他智能技术在行业软件中得到了广泛的应用</a:t>
            </a:r>
            <a:r>
              <a:rPr lang="en-US" altLang="zh-CN" dirty="0"/>
              <a:t>, </a:t>
            </a:r>
            <a:r>
              <a:rPr lang="zh-CN" altLang="en-US" dirty="0"/>
              <a:t>尤其是深度学习技术与工具在语音识别、图像检索、自动驾驶等领域取得了较大</a:t>
            </a:r>
            <a:r>
              <a:rPr lang="zh-CN" altLang="en-US" dirty="0" smtClean="0"/>
              <a:t>突破</a:t>
            </a:r>
            <a:endParaRPr lang="zh-CN" altLang="en-US" dirty="0" smtClean="0"/>
          </a:p>
          <a:p>
            <a:r>
              <a:rPr lang="zh-CN" altLang="en-US" dirty="0" smtClean="0"/>
              <a:t>由于</a:t>
            </a:r>
            <a:r>
              <a:rPr lang="zh-CN" altLang="en-US" dirty="0"/>
              <a:t>广泛存在的概率模型、多层传播的复杂网络结构、黑盒形式的用户接口等特性</a:t>
            </a:r>
            <a:r>
              <a:rPr lang="en-US" altLang="zh-CN" dirty="0"/>
              <a:t>, </a:t>
            </a:r>
            <a:r>
              <a:rPr lang="zh-CN" altLang="en-US" dirty="0"/>
              <a:t>深度学习工具的质量难以度量</a:t>
            </a:r>
            <a:r>
              <a:rPr lang="en-US" altLang="zh-CN" dirty="0"/>
              <a:t>.</a:t>
            </a:r>
            <a:r>
              <a:rPr lang="zh-CN" altLang="en-US" dirty="0"/>
              <a:t>现有的软件分析技术难以直接应用</a:t>
            </a:r>
            <a:r>
              <a:rPr lang="en-US" altLang="zh-CN" dirty="0" smtClean="0"/>
              <a:t>.</a:t>
            </a:r>
            <a:endParaRPr lang="zh-CN" altLang="en-US" dirty="0" smtClean="0"/>
          </a:p>
          <a:p>
            <a:r>
              <a:rPr lang="zh-CN" altLang="en-US" dirty="0" smtClean="0"/>
              <a:t>研究者</a:t>
            </a:r>
            <a:r>
              <a:rPr lang="zh-CN" altLang="en-US" dirty="0"/>
              <a:t>提出了一系列程序分析方案用以发现机器学习系统的潜在风险和程序错误</a:t>
            </a:r>
            <a:r>
              <a:rPr lang="en-US" altLang="zh-CN" dirty="0"/>
              <a:t>, </a:t>
            </a:r>
            <a:r>
              <a:rPr lang="zh-CN" altLang="en-US" dirty="0"/>
              <a:t>提升机器学习系统的</a:t>
            </a:r>
            <a:r>
              <a:rPr lang="zh-CN" altLang="en-US" dirty="0" smtClean="0"/>
              <a:t>质量</a:t>
            </a:r>
            <a:endParaRPr lang="zh-CN" altLang="en-US" baseline="30000" dirty="0" smtClean="0"/>
          </a:p>
          <a:p>
            <a:pPr lvl="1"/>
            <a:r>
              <a:rPr lang="zh-CN" altLang="en-US" dirty="0" smtClean="0"/>
              <a:t>基于</a:t>
            </a:r>
            <a:r>
              <a:rPr lang="zh-CN" altLang="en-US" dirty="0"/>
              <a:t>程序合成的机器学习系统的功能评估方法</a:t>
            </a:r>
            <a:r>
              <a:rPr lang="en-US" altLang="zh-CN" dirty="0" err="1"/>
              <a:t>SynEva</a:t>
            </a:r>
            <a:r>
              <a:rPr lang="en-US" altLang="zh-CN" dirty="0"/>
              <a:t>, </a:t>
            </a:r>
            <a:r>
              <a:rPr lang="zh-CN" altLang="en-US" dirty="0" smtClean="0"/>
              <a:t>通过</a:t>
            </a:r>
            <a:r>
              <a:rPr lang="zh-CN" altLang="en-US" dirty="0"/>
              <a:t>学习场景的程序合成</a:t>
            </a:r>
            <a:r>
              <a:rPr lang="en-US" altLang="zh-CN" dirty="0"/>
              <a:t>, </a:t>
            </a:r>
            <a:r>
              <a:rPr lang="zh-CN" altLang="en-US" dirty="0"/>
              <a:t>用于评估机器学习</a:t>
            </a:r>
            <a:r>
              <a:rPr lang="zh-CN" altLang="en-US" dirty="0" smtClean="0"/>
              <a:t>系统</a:t>
            </a:r>
            <a:endParaRPr lang="zh-CN" altLang="en-US" dirty="0" smtClean="0"/>
          </a:p>
          <a:p>
            <a:pPr lvl="1"/>
            <a:r>
              <a:rPr lang="zh-CN" altLang="en-US" dirty="0" smtClean="0"/>
              <a:t>面向</a:t>
            </a:r>
            <a:r>
              <a:rPr lang="zh-CN" altLang="en-US" dirty="0"/>
              <a:t>深度学习的动态符号执行方法</a:t>
            </a:r>
            <a:r>
              <a:rPr lang="en-US" altLang="zh-CN" dirty="0"/>
              <a:t>, </a:t>
            </a:r>
            <a:r>
              <a:rPr lang="zh-CN" altLang="en-US" dirty="0" smtClean="0"/>
              <a:t>将</a:t>
            </a:r>
            <a:r>
              <a:rPr lang="zh-CN" altLang="en-US" dirty="0"/>
              <a:t>测试需求表示为量化线性运算</a:t>
            </a:r>
            <a:r>
              <a:rPr lang="en-US" altLang="zh-CN" dirty="0"/>
              <a:t>(quantified linear arithmetic), </a:t>
            </a:r>
            <a:r>
              <a:rPr lang="zh-CN" altLang="en-US" dirty="0"/>
              <a:t>以神经元覆盖为目标测试深度神经网络的鲁棒性</a:t>
            </a:r>
            <a:r>
              <a:rPr lang="en-US" altLang="zh-CN" dirty="0"/>
              <a:t>.</a:t>
            </a:r>
            <a:endParaRPr kumimoji="1"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3858</Words>
  <Application>WPS 演示</Application>
  <PresentationFormat>宽屏</PresentationFormat>
  <Paragraphs>269</Paragraphs>
  <Slides>21</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宋体</vt:lpstr>
      <vt:lpstr>Wingdings</vt:lpstr>
      <vt:lpstr>Arial</vt:lpstr>
      <vt:lpstr>Times New Roman</vt:lpstr>
      <vt:lpstr>Calibri Light</vt:lpstr>
      <vt:lpstr>Calibri</vt:lpstr>
      <vt:lpstr>微软雅黑</vt:lpstr>
      <vt:lpstr>Arial Unicode MS</vt:lpstr>
      <vt:lpstr>隶书</vt:lpstr>
      <vt:lpstr>Wingdings 2</vt:lpstr>
      <vt:lpstr>Century Gothic</vt:lpstr>
      <vt:lpstr>Helvetica</vt:lpstr>
      <vt:lpstr>Office 主题</vt:lpstr>
      <vt:lpstr>程序分析</vt:lpstr>
      <vt:lpstr>开场白</vt:lpstr>
      <vt:lpstr>大纲</vt:lpstr>
      <vt:lpstr>定义</vt:lpstr>
      <vt:lpstr>困难</vt:lpstr>
      <vt:lpstr>困难</vt:lpstr>
      <vt:lpstr>技术</vt:lpstr>
      <vt:lpstr>静态分析</vt:lpstr>
      <vt:lpstr>控制流分析</vt:lpstr>
      <vt:lpstr>数据流分析</vt:lpstr>
      <vt:lpstr>PowerPoint 演示文稿</vt:lpstr>
      <vt:lpstr>符号执行</vt:lpstr>
      <vt:lpstr>符号执行</vt:lpstr>
      <vt:lpstr>动态分析</vt:lpstr>
      <vt:lpstr>动态分析</vt:lpstr>
      <vt:lpstr>PowerPoint 演示文稿</vt:lpstr>
      <vt:lpstr>应用</vt:lpstr>
      <vt:lpstr>PowerPoint 演示文稿</vt:lpstr>
      <vt:lpstr>PowerPoint 演示文稿</vt:lpstr>
      <vt:lpstr>发展</vt:lpstr>
      <vt:lpstr>智能化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程序分析</dc:title>
  <dc:creator>Microsoft Office 用户</dc:creator>
  <cp:lastModifiedBy>Mr Nie</cp:lastModifiedBy>
  <cp:revision>28</cp:revision>
  <dcterms:created xsi:type="dcterms:W3CDTF">2019-06-20T06:47:00Z</dcterms:created>
  <dcterms:modified xsi:type="dcterms:W3CDTF">2020-07-01T07:48:23Z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