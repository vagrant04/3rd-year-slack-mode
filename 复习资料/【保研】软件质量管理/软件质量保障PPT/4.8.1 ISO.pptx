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71"/>
  </p:notesMasterIdLst>
  <p:sldIdLst>
    <p:sldId id="256" r:id="rId5"/>
    <p:sldId id="257" r:id="rId6"/>
    <p:sldId id="258" r:id="rId7"/>
    <p:sldId id="259" r:id="rId8"/>
    <p:sldId id="260" r:id="rId9"/>
    <p:sldId id="261" r:id="rId10"/>
    <p:sldId id="282" r:id="rId11"/>
    <p:sldId id="317" r:id="rId12"/>
    <p:sldId id="263" r:id="rId13"/>
    <p:sldId id="283" r:id="rId14"/>
    <p:sldId id="265" r:id="rId15"/>
    <p:sldId id="264" r:id="rId16"/>
    <p:sldId id="284" r:id="rId17"/>
    <p:sldId id="285" r:id="rId18"/>
    <p:sldId id="286" r:id="rId19"/>
    <p:sldId id="266" r:id="rId20"/>
    <p:sldId id="287" r:id="rId21"/>
    <p:sldId id="288" r:id="rId22"/>
    <p:sldId id="268" r:id="rId23"/>
    <p:sldId id="262" r:id="rId24"/>
    <p:sldId id="267" r:id="rId25"/>
    <p:sldId id="271" r:id="rId26"/>
    <p:sldId id="289" r:id="rId27"/>
    <p:sldId id="290" r:id="rId28"/>
    <p:sldId id="291" r:id="rId29"/>
    <p:sldId id="292" r:id="rId30"/>
    <p:sldId id="293" r:id="rId31"/>
    <p:sldId id="273" r:id="rId32"/>
    <p:sldId id="294" r:id="rId33"/>
    <p:sldId id="295" r:id="rId34"/>
    <p:sldId id="272" r:id="rId35"/>
    <p:sldId id="274" r:id="rId36"/>
    <p:sldId id="27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279" r:id="rId59"/>
    <p:sldId id="280" r:id="rId60"/>
    <p:sldId id="281" r:id="rId61"/>
    <p:sldId id="318" r:id="rId62"/>
    <p:sldId id="319" r:id="rId63"/>
    <p:sldId id="320" r:id="rId64"/>
    <p:sldId id="321" r:id="rId65"/>
    <p:sldId id="322" r:id="rId66"/>
    <p:sldId id="323" r:id="rId67"/>
    <p:sldId id="324" r:id="rId68"/>
    <p:sldId id="325" r:id="rId69"/>
    <p:sldId id="276" r:id="rId70"/>
  </p:sldIdLst>
  <p:sldSz cx="12192000" cy="6858000"/>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napToGrid="0" showGuides="1">
      <p:cViewPr varScale="1">
        <p:scale>
          <a:sx n="64" d="100"/>
          <a:sy n="64" d="100"/>
        </p:scale>
        <p:origin x="90" y="420"/>
      </p:cViewPr>
      <p:guideLst>
        <p:guide orient="horz" pos="2160"/>
        <p:guide pos="3840"/>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8CE98B-DECB-436C-B25C-3FFBF147848D}" type="doc">
      <dgm:prSet loTypeId="urn:microsoft.com/office/officeart/2005/8/layout/cycle2" loCatId="cycle" qsTypeId="urn:microsoft.com/office/officeart/2005/8/quickstyle/simple4" qsCatId="simple" csTypeId="urn:microsoft.com/office/officeart/2005/8/colors/accent0_3" csCatId="mainScheme" phldr="1"/>
      <dgm:spPr/>
      <dgm:t>
        <a:bodyPr/>
        <a:lstStyle/>
        <a:p>
          <a:endParaRPr lang="zh-CN" altLang="en-US"/>
        </a:p>
      </dgm:t>
    </dgm:pt>
    <dgm:pt modelId="{F003E4F2-56B7-4FC6-B731-E3BA389E392B}">
      <dgm:prSet phldrT="[文本]"/>
      <dgm:spPr>
        <a:solidFill>
          <a:schemeClr val="tx1">
            <a:alpha val="50000"/>
          </a:schemeClr>
        </a:solidFill>
      </dgm:spPr>
      <dgm:t>
        <a:bodyPr/>
        <a:lstStyle/>
        <a:p>
          <a:r>
            <a:rPr lang="zh-CN" altLang="en-US" dirty="0" smtClean="0"/>
            <a:t>内部质量审计</a:t>
          </a:r>
          <a:endParaRPr lang="zh-CN" altLang="en-US" dirty="0"/>
        </a:p>
      </dgm:t>
    </dgm:pt>
    <dgm:pt modelId="{1E6591FB-BD88-4037-BA34-7B77667A780E}" type="parTrans" cxnId="{891EDDC5-C2CB-44BB-A6AC-FEF6266CBA44}">
      <dgm:prSet/>
      <dgm:spPr/>
      <dgm:t>
        <a:bodyPr/>
        <a:lstStyle/>
        <a:p>
          <a:endParaRPr lang="zh-CN" altLang="en-US"/>
        </a:p>
      </dgm:t>
    </dgm:pt>
    <dgm:pt modelId="{A04702E0-8201-42BC-B06B-C5EFA02C3F00}" type="sibTrans" cxnId="{891EDDC5-C2CB-44BB-A6AC-FEF6266CBA44}">
      <dgm:prSet/>
      <dgm:spPr/>
      <dgm:t>
        <a:bodyPr/>
        <a:lstStyle/>
        <a:p>
          <a:endParaRPr lang="zh-CN" altLang="en-US"/>
        </a:p>
      </dgm:t>
    </dgm:pt>
    <dgm:pt modelId="{EB915DF5-C5A5-46F0-A1AE-6F5911CEE13C}">
      <dgm:prSet phldrT="[文本]"/>
      <dgm:spPr>
        <a:solidFill>
          <a:schemeClr val="tx1">
            <a:alpha val="50000"/>
          </a:schemeClr>
        </a:solidFill>
      </dgm:spPr>
      <dgm:t>
        <a:bodyPr/>
        <a:lstStyle/>
        <a:p>
          <a:r>
            <a:rPr lang="zh-CN" altLang="en-US" dirty="0" smtClean="0"/>
            <a:t>纠错活动</a:t>
          </a:r>
          <a:endParaRPr lang="zh-CN" altLang="en-US" dirty="0"/>
        </a:p>
      </dgm:t>
    </dgm:pt>
    <dgm:pt modelId="{C670515C-BAC0-4931-8C3B-9802E536D398}" type="parTrans" cxnId="{363F7D7D-4B6E-4D51-8BD6-3D548CFD7C06}">
      <dgm:prSet/>
      <dgm:spPr/>
      <dgm:t>
        <a:bodyPr/>
        <a:lstStyle/>
        <a:p>
          <a:endParaRPr lang="zh-CN" altLang="en-US"/>
        </a:p>
      </dgm:t>
    </dgm:pt>
    <dgm:pt modelId="{C942E7CB-CF99-432C-9E2E-C23327384574}" type="sibTrans" cxnId="{363F7D7D-4B6E-4D51-8BD6-3D548CFD7C06}">
      <dgm:prSet/>
      <dgm:spPr/>
      <dgm:t>
        <a:bodyPr/>
        <a:lstStyle/>
        <a:p>
          <a:endParaRPr lang="zh-CN" altLang="en-US"/>
        </a:p>
      </dgm:t>
    </dgm:pt>
    <dgm:pt modelId="{57FBEB24-3F99-4331-8AE3-492E3EA7CF80}">
      <dgm:prSet phldrT="[文本]"/>
      <dgm:spPr>
        <a:solidFill>
          <a:schemeClr val="tx1">
            <a:alpha val="50000"/>
          </a:schemeClr>
        </a:solidFill>
      </dgm:spPr>
      <dgm:t>
        <a:bodyPr/>
        <a:lstStyle/>
        <a:p>
          <a:r>
            <a:rPr lang="zh-CN" altLang="en-US" dirty="0" smtClean="0"/>
            <a:t>管理审查</a:t>
          </a:r>
          <a:r>
            <a:rPr lang="en-US" altLang="zh-CN" dirty="0" smtClean="0"/>
            <a:t>&amp;</a:t>
          </a:r>
          <a:r>
            <a:rPr lang="zh-CN" altLang="en-US" dirty="0" smtClean="0"/>
            <a:t>系统变更</a:t>
          </a:r>
          <a:endParaRPr lang="zh-CN" altLang="en-US" dirty="0"/>
        </a:p>
      </dgm:t>
    </dgm:pt>
    <dgm:pt modelId="{6EACD697-B9FD-4AAF-B48F-4603CE08C6C5}" type="parTrans" cxnId="{D4E6B586-866D-4B27-83DE-3EB6AF9120A0}">
      <dgm:prSet/>
      <dgm:spPr/>
      <dgm:t>
        <a:bodyPr/>
        <a:lstStyle/>
        <a:p>
          <a:endParaRPr lang="zh-CN" altLang="en-US"/>
        </a:p>
      </dgm:t>
    </dgm:pt>
    <dgm:pt modelId="{FF5B5136-72B4-4165-9F72-50EBC45D027B}" type="sibTrans" cxnId="{D4E6B586-866D-4B27-83DE-3EB6AF9120A0}">
      <dgm:prSet/>
      <dgm:spPr/>
      <dgm:t>
        <a:bodyPr/>
        <a:lstStyle/>
        <a:p>
          <a:endParaRPr lang="zh-CN" altLang="en-US"/>
        </a:p>
      </dgm:t>
    </dgm:pt>
    <dgm:pt modelId="{74ABC0F1-A6F5-4DC0-9819-5863B8518C98}" type="pres">
      <dgm:prSet presAssocID="{C98CE98B-DECB-436C-B25C-3FFBF147848D}" presName="cycle" presStyleCnt="0">
        <dgm:presLayoutVars>
          <dgm:dir/>
          <dgm:resizeHandles val="exact"/>
        </dgm:presLayoutVars>
      </dgm:prSet>
      <dgm:spPr/>
      <dgm:t>
        <a:bodyPr/>
        <a:lstStyle/>
        <a:p>
          <a:endParaRPr lang="zh-CN" altLang="en-US"/>
        </a:p>
      </dgm:t>
    </dgm:pt>
    <dgm:pt modelId="{588AF766-08B7-4DE0-A1B5-0612EBE321D5}" type="pres">
      <dgm:prSet presAssocID="{F003E4F2-56B7-4FC6-B731-E3BA389E392B}" presName="node" presStyleLbl="node1" presStyleIdx="0" presStyleCnt="3">
        <dgm:presLayoutVars>
          <dgm:bulletEnabled val="1"/>
        </dgm:presLayoutVars>
      </dgm:prSet>
      <dgm:spPr/>
      <dgm:t>
        <a:bodyPr/>
        <a:lstStyle/>
        <a:p>
          <a:endParaRPr lang="zh-CN" altLang="en-US"/>
        </a:p>
      </dgm:t>
    </dgm:pt>
    <dgm:pt modelId="{039ED11C-7A14-4A84-BA87-D158F73FA25B}" type="pres">
      <dgm:prSet presAssocID="{A04702E0-8201-42BC-B06B-C5EFA02C3F00}" presName="sibTrans" presStyleLbl="sibTrans2D1" presStyleIdx="0" presStyleCnt="3"/>
      <dgm:spPr/>
      <dgm:t>
        <a:bodyPr/>
        <a:lstStyle/>
        <a:p>
          <a:endParaRPr lang="zh-CN" altLang="en-US"/>
        </a:p>
      </dgm:t>
    </dgm:pt>
    <dgm:pt modelId="{08237F7A-0651-4BDB-B2F5-A630C3548ED7}" type="pres">
      <dgm:prSet presAssocID="{A04702E0-8201-42BC-B06B-C5EFA02C3F00}" presName="connectorText" presStyleLbl="sibTrans2D1" presStyleIdx="0" presStyleCnt="3"/>
      <dgm:spPr/>
      <dgm:t>
        <a:bodyPr/>
        <a:lstStyle/>
        <a:p>
          <a:endParaRPr lang="zh-CN" altLang="en-US"/>
        </a:p>
      </dgm:t>
    </dgm:pt>
    <dgm:pt modelId="{37C887F7-581E-4471-83FC-CADE8F373392}" type="pres">
      <dgm:prSet presAssocID="{EB915DF5-C5A5-46F0-A1AE-6F5911CEE13C}" presName="node" presStyleLbl="node1" presStyleIdx="1" presStyleCnt="3" custRadScaleRad="142168" custRadScaleInc="-7650">
        <dgm:presLayoutVars>
          <dgm:bulletEnabled val="1"/>
        </dgm:presLayoutVars>
      </dgm:prSet>
      <dgm:spPr/>
      <dgm:t>
        <a:bodyPr/>
        <a:lstStyle/>
        <a:p>
          <a:endParaRPr lang="zh-CN" altLang="en-US"/>
        </a:p>
      </dgm:t>
    </dgm:pt>
    <dgm:pt modelId="{66D97AAD-BAC9-4796-9365-7C33E5880AB8}" type="pres">
      <dgm:prSet presAssocID="{C942E7CB-CF99-432C-9E2E-C23327384574}" presName="sibTrans" presStyleLbl="sibTrans2D1" presStyleIdx="1" presStyleCnt="3"/>
      <dgm:spPr/>
      <dgm:t>
        <a:bodyPr/>
        <a:lstStyle/>
        <a:p>
          <a:endParaRPr lang="zh-CN" altLang="en-US"/>
        </a:p>
      </dgm:t>
    </dgm:pt>
    <dgm:pt modelId="{C0DE243D-6684-45E3-890F-26CE2A47DAB3}" type="pres">
      <dgm:prSet presAssocID="{C942E7CB-CF99-432C-9E2E-C23327384574}" presName="connectorText" presStyleLbl="sibTrans2D1" presStyleIdx="1" presStyleCnt="3"/>
      <dgm:spPr/>
      <dgm:t>
        <a:bodyPr/>
        <a:lstStyle/>
        <a:p>
          <a:endParaRPr lang="zh-CN" altLang="en-US"/>
        </a:p>
      </dgm:t>
    </dgm:pt>
    <dgm:pt modelId="{1D5FD0A8-CCB8-44DF-9C58-D2E3AC222E0B}" type="pres">
      <dgm:prSet presAssocID="{57FBEB24-3F99-4331-8AE3-492E3EA7CF80}" presName="node" presStyleLbl="node1" presStyleIdx="2" presStyleCnt="3" custRadScaleRad="128424" custRadScaleInc="2733">
        <dgm:presLayoutVars>
          <dgm:bulletEnabled val="1"/>
        </dgm:presLayoutVars>
      </dgm:prSet>
      <dgm:spPr/>
      <dgm:t>
        <a:bodyPr/>
        <a:lstStyle/>
        <a:p>
          <a:endParaRPr lang="zh-CN" altLang="en-US"/>
        </a:p>
      </dgm:t>
    </dgm:pt>
    <dgm:pt modelId="{CB9E7BA4-126F-45C6-8BF5-23B05587ADDE}" type="pres">
      <dgm:prSet presAssocID="{FF5B5136-72B4-4165-9F72-50EBC45D027B}" presName="sibTrans" presStyleLbl="sibTrans2D1" presStyleIdx="2" presStyleCnt="3"/>
      <dgm:spPr/>
      <dgm:t>
        <a:bodyPr/>
        <a:lstStyle/>
        <a:p>
          <a:endParaRPr lang="zh-CN" altLang="en-US"/>
        </a:p>
      </dgm:t>
    </dgm:pt>
    <dgm:pt modelId="{B32B0A01-4182-4FF0-8587-303AFAF69E48}" type="pres">
      <dgm:prSet presAssocID="{FF5B5136-72B4-4165-9F72-50EBC45D027B}" presName="connectorText" presStyleLbl="sibTrans2D1" presStyleIdx="2" presStyleCnt="3"/>
      <dgm:spPr/>
      <dgm:t>
        <a:bodyPr/>
        <a:lstStyle/>
        <a:p>
          <a:endParaRPr lang="zh-CN" altLang="en-US"/>
        </a:p>
      </dgm:t>
    </dgm:pt>
  </dgm:ptLst>
  <dgm:cxnLst>
    <dgm:cxn modelId="{8CC06149-D633-4EBC-80DD-6987F751223C}" type="presOf" srcId="{FF5B5136-72B4-4165-9F72-50EBC45D027B}" destId="{B32B0A01-4182-4FF0-8587-303AFAF69E48}" srcOrd="1" destOrd="0" presId="urn:microsoft.com/office/officeart/2005/8/layout/cycle2"/>
    <dgm:cxn modelId="{FFA54AF4-D090-47A3-953E-E27FEC6781CC}" type="presOf" srcId="{EB915DF5-C5A5-46F0-A1AE-6F5911CEE13C}" destId="{37C887F7-581E-4471-83FC-CADE8F373392}" srcOrd="0" destOrd="0" presId="urn:microsoft.com/office/officeart/2005/8/layout/cycle2"/>
    <dgm:cxn modelId="{62E1D05E-A19D-4BA8-A832-9256D67BC229}" type="presOf" srcId="{A04702E0-8201-42BC-B06B-C5EFA02C3F00}" destId="{08237F7A-0651-4BDB-B2F5-A630C3548ED7}" srcOrd="1" destOrd="0" presId="urn:microsoft.com/office/officeart/2005/8/layout/cycle2"/>
    <dgm:cxn modelId="{1324309E-D0FD-4C59-8B7F-BEB4929798EC}" type="presOf" srcId="{FF5B5136-72B4-4165-9F72-50EBC45D027B}" destId="{CB9E7BA4-126F-45C6-8BF5-23B05587ADDE}" srcOrd="0" destOrd="0" presId="urn:microsoft.com/office/officeart/2005/8/layout/cycle2"/>
    <dgm:cxn modelId="{8681D6B4-2E99-4628-B535-28074B83BFE7}" type="presOf" srcId="{C942E7CB-CF99-432C-9E2E-C23327384574}" destId="{C0DE243D-6684-45E3-890F-26CE2A47DAB3}" srcOrd="1" destOrd="0" presId="urn:microsoft.com/office/officeart/2005/8/layout/cycle2"/>
    <dgm:cxn modelId="{3260941A-DD15-42F2-AB5A-62B623B4FBF0}" type="presOf" srcId="{A04702E0-8201-42BC-B06B-C5EFA02C3F00}" destId="{039ED11C-7A14-4A84-BA87-D158F73FA25B}" srcOrd="0" destOrd="0" presId="urn:microsoft.com/office/officeart/2005/8/layout/cycle2"/>
    <dgm:cxn modelId="{891EDDC5-C2CB-44BB-A6AC-FEF6266CBA44}" srcId="{C98CE98B-DECB-436C-B25C-3FFBF147848D}" destId="{F003E4F2-56B7-4FC6-B731-E3BA389E392B}" srcOrd="0" destOrd="0" parTransId="{1E6591FB-BD88-4037-BA34-7B77667A780E}" sibTransId="{A04702E0-8201-42BC-B06B-C5EFA02C3F00}"/>
    <dgm:cxn modelId="{D2FB105B-A9B6-40BB-B49E-2288C9398057}" type="presOf" srcId="{C98CE98B-DECB-436C-B25C-3FFBF147848D}" destId="{74ABC0F1-A6F5-4DC0-9819-5863B8518C98}" srcOrd="0" destOrd="0" presId="urn:microsoft.com/office/officeart/2005/8/layout/cycle2"/>
    <dgm:cxn modelId="{D4E6B586-866D-4B27-83DE-3EB6AF9120A0}" srcId="{C98CE98B-DECB-436C-B25C-3FFBF147848D}" destId="{57FBEB24-3F99-4331-8AE3-492E3EA7CF80}" srcOrd="2" destOrd="0" parTransId="{6EACD697-B9FD-4AAF-B48F-4603CE08C6C5}" sibTransId="{FF5B5136-72B4-4165-9F72-50EBC45D027B}"/>
    <dgm:cxn modelId="{EB7947BF-57D0-4A8C-9EEE-ED570540574B}" type="presOf" srcId="{F003E4F2-56B7-4FC6-B731-E3BA389E392B}" destId="{588AF766-08B7-4DE0-A1B5-0612EBE321D5}" srcOrd="0" destOrd="0" presId="urn:microsoft.com/office/officeart/2005/8/layout/cycle2"/>
    <dgm:cxn modelId="{297F3050-BD2B-4CC5-AAFB-30D4391BEA17}" type="presOf" srcId="{57FBEB24-3F99-4331-8AE3-492E3EA7CF80}" destId="{1D5FD0A8-CCB8-44DF-9C58-D2E3AC222E0B}" srcOrd="0" destOrd="0" presId="urn:microsoft.com/office/officeart/2005/8/layout/cycle2"/>
    <dgm:cxn modelId="{363F7D7D-4B6E-4D51-8BD6-3D548CFD7C06}" srcId="{C98CE98B-DECB-436C-B25C-3FFBF147848D}" destId="{EB915DF5-C5A5-46F0-A1AE-6F5911CEE13C}" srcOrd="1" destOrd="0" parTransId="{C670515C-BAC0-4931-8C3B-9802E536D398}" sibTransId="{C942E7CB-CF99-432C-9E2E-C23327384574}"/>
    <dgm:cxn modelId="{DE3CAB9A-5265-4A3B-9861-FDD5C1D25EAB}" type="presOf" srcId="{C942E7CB-CF99-432C-9E2E-C23327384574}" destId="{66D97AAD-BAC9-4796-9365-7C33E5880AB8}" srcOrd="0" destOrd="0" presId="urn:microsoft.com/office/officeart/2005/8/layout/cycle2"/>
    <dgm:cxn modelId="{90F25D24-9A9C-491F-92CD-49AF3EC6CB73}" type="presParOf" srcId="{74ABC0F1-A6F5-4DC0-9819-5863B8518C98}" destId="{588AF766-08B7-4DE0-A1B5-0612EBE321D5}" srcOrd="0" destOrd="0" presId="urn:microsoft.com/office/officeart/2005/8/layout/cycle2"/>
    <dgm:cxn modelId="{AE659857-81F7-4B89-A344-021220382679}" type="presParOf" srcId="{74ABC0F1-A6F5-4DC0-9819-5863B8518C98}" destId="{039ED11C-7A14-4A84-BA87-D158F73FA25B}" srcOrd="1" destOrd="0" presId="urn:microsoft.com/office/officeart/2005/8/layout/cycle2"/>
    <dgm:cxn modelId="{833885E1-A28D-493C-ACB4-4400326C9259}" type="presParOf" srcId="{039ED11C-7A14-4A84-BA87-D158F73FA25B}" destId="{08237F7A-0651-4BDB-B2F5-A630C3548ED7}" srcOrd="0" destOrd="0" presId="urn:microsoft.com/office/officeart/2005/8/layout/cycle2"/>
    <dgm:cxn modelId="{CCFB7082-0447-41F7-A4E0-12FF938A8124}" type="presParOf" srcId="{74ABC0F1-A6F5-4DC0-9819-5863B8518C98}" destId="{37C887F7-581E-4471-83FC-CADE8F373392}" srcOrd="2" destOrd="0" presId="urn:microsoft.com/office/officeart/2005/8/layout/cycle2"/>
    <dgm:cxn modelId="{3AC9E005-30FD-4257-A7E7-BDFBC02553B7}" type="presParOf" srcId="{74ABC0F1-A6F5-4DC0-9819-5863B8518C98}" destId="{66D97AAD-BAC9-4796-9365-7C33E5880AB8}" srcOrd="3" destOrd="0" presId="urn:microsoft.com/office/officeart/2005/8/layout/cycle2"/>
    <dgm:cxn modelId="{672E1E0B-3253-4AD6-B3BE-7AB2E161E98A}" type="presParOf" srcId="{66D97AAD-BAC9-4796-9365-7C33E5880AB8}" destId="{C0DE243D-6684-45E3-890F-26CE2A47DAB3}" srcOrd="0" destOrd="0" presId="urn:microsoft.com/office/officeart/2005/8/layout/cycle2"/>
    <dgm:cxn modelId="{09F7F7EE-C50C-4DE3-970F-66C93D1C397D}" type="presParOf" srcId="{74ABC0F1-A6F5-4DC0-9819-5863B8518C98}" destId="{1D5FD0A8-CCB8-44DF-9C58-D2E3AC222E0B}" srcOrd="4" destOrd="0" presId="urn:microsoft.com/office/officeart/2005/8/layout/cycle2"/>
    <dgm:cxn modelId="{DD26CB37-7953-4839-A371-6FCDED873064}" type="presParOf" srcId="{74ABC0F1-A6F5-4DC0-9819-5863B8518C98}" destId="{CB9E7BA4-126F-45C6-8BF5-23B05587ADDE}" srcOrd="5" destOrd="0" presId="urn:microsoft.com/office/officeart/2005/8/layout/cycle2"/>
    <dgm:cxn modelId="{0BCBA333-CC3E-44A5-A4EA-CF3D494FE900}" type="presParOf" srcId="{CB9E7BA4-126F-45C6-8BF5-23B05587ADDE}" destId="{B32B0A01-4182-4FF0-8587-303AFAF69E48}"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8AF766-08B7-4DE0-A1B5-0612EBE321D5}">
      <dsp:nvSpPr>
        <dsp:cNvPr id="0" name=""/>
        <dsp:cNvSpPr/>
      </dsp:nvSpPr>
      <dsp:spPr>
        <a:xfrm>
          <a:off x="2416400" y="127"/>
          <a:ext cx="1683049" cy="1683049"/>
        </a:xfrm>
        <a:prstGeom prst="ellipse">
          <a:avLst/>
        </a:prstGeom>
        <a:solidFill>
          <a:schemeClr val="tx1">
            <a:alpha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zh-CN" altLang="en-US" sz="2500" kern="1200" dirty="0" smtClean="0"/>
            <a:t>内部质量审计</a:t>
          </a:r>
          <a:endParaRPr lang="zh-CN" altLang="en-US" sz="2500" kern="1200" dirty="0"/>
        </a:p>
      </dsp:txBody>
      <dsp:txXfrm>
        <a:off x="2662877" y="246604"/>
        <a:ext cx="1190095" cy="1190095"/>
      </dsp:txXfrm>
    </dsp:sp>
    <dsp:sp modelId="{039ED11C-7A14-4A84-BA87-D158F73FA25B}">
      <dsp:nvSpPr>
        <dsp:cNvPr id="0" name=""/>
        <dsp:cNvSpPr/>
      </dsp:nvSpPr>
      <dsp:spPr>
        <a:xfrm rot="2966093">
          <a:off x="3865455" y="1637542"/>
          <a:ext cx="633841" cy="568029"/>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endParaRPr lang="zh-CN" altLang="en-US" sz="2000" kern="1200"/>
        </a:p>
      </dsp:txBody>
      <dsp:txXfrm>
        <a:off x="3895250" y="1686421"/>
        <a:ext cx="463432" cy="340817"/>
      </dsp:txXfrm>
    </dsp:sp>
    <dsp:sp modelId="{37C887F7-581E-4471-83FC-CADE8F373392}">
      <dsp:nvSpPr>
        <dsp:cNvPr id="0" name=""/>
        <dsp:cNvSpPr/>
      </dsp:nvSpPr>
      <dsp:spPr>
        <a:xfrm>
          <a:off x="4288633" y="2187191"/>
          <a:ext cx="1683049" cy="1683049"/>
        </a:xfrm>
        <a:prstGeom prst="ellipse">
          <a:avLst/>
        </a:prstGeom>
        <a:solidFill>
          <a:schemeClr val="tx1">
            <a:alpha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zh-CN" altLang="en-US" sz="2500" kern="1200" dirty="0" smtClean="0"/>
            <a:t>纠错活动</a:t>
          </a:r>
          <a:endParaRPr lang="zh-CN" altLang="en-US" sz="2500" kern="1200" dirty="0"/>
        </a:p>
      </dsp:txBody>
      <dsp:txXfrm>
        <a:off x="4535110" y="2433668"/>
        <a:ext cx="1190095" cy="1190095"/>
      </dsp:txXfrm>
    </dsp:sp>
    <dsp:sp modelId="{66D97AAD-BAC9-4796-9365-7C33E5880AB8}">
      <dsp:nvSpPr>
        <dsp:cNvPr id="0" name=""/>
        <dsp:cNvSpPr/>
      </dsp:nvSpPr>
      <dsp:spPr>
        <a:xfrm rot="10800000">
          <a:off x="2911013" y="2744701"/>
          <a:ext cx="973518" cy="568029"/>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endParaRPr lang="zh-CN" altLang="en-US" sz="2000" kern="1200"/>
        </a:p>
      </dsp:txBody>
      <dsp:txXfrm rot="10800000">
        <a:off x="3081422" y="2858307"/>
        <a:ext cx="803109" cy="340817"/>
      </dsp:txXfrm>
    </dsp:sp>
    <dsp:sp modelId="{1D5FD0A8-CCB8-44DF-9C58-D2E3AC222E0B}">
      <dsp:nvSpPr>
        <dsp:cNvPr id="0" name=""/>
        <dsp:cNvSpPr/>
      </dsp:nvSpPr>
      <dsp:spPr>
        <a:xfrm>
          <a:off x="768757" y="2187191"/>
          <a:ext cx="1683049" cy="1683049"/>
        </a:xfrm>
        <a:prstGeom prst="ellipse">
          <a:avLst/>
        </a:prstGeom>
        <a:solidFill>
          <a:schemeClr val="tx1">
            <a:alpha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zh-CN" altLang="en-US" sz="2500" kern="1200" dirty="0" smtClean="0"/>
            <a:t>管理审查</a:t>
          </a:r>
          <a:r>
            <a:rPr lang="en-US" altLang="zh-CN" sz="2500" kern="1200" dirty="0" smtClean="0"/>
            <a:t>&amp;</a:t>
          </a:r>
          <a:r>
            <a:rPr lang="zh-CN" altLang="en-US" sz="2500" kern="1200" dirty="0" smtClean="0"/>
            <a:t>系统变更</a:t>
          </a:r>
          <a:endParaRPr lang="zh-CN" altLang="en-US" sz="2500" kern="1200" dirty="0"/>
        </a:p>
      </dsp:txBody>
      <dsp:txXfrm>
        <a:off x="1015234" y="2433668"/>
        <a:ext cx="1190095" cy="1190095"/>
      </dsp:txXfrm>
    </dsp:sp>
    <dsp:sp modelId="{CB9E7BA4-126F-45C6-8BF5-23B05587ADDE}">
      <dsp:nvSpPr>
        <dsp:cNvPr id="0" name=""/>
        <dsp:cNvSpPr/>
      </dsp:nvSpPr>
      <dsp:spPr>
        <a:xfrm rot="18419572">
          <a:off x="2144953" y="1663811"/>
          <a:ext cx="559253" cy="568029"/>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endParaRPr lang="zh-CN" altLang="en-US" sz="2000" kern="1200"/>
        </a:p>
      </dsp:txBody>
      <dsp:txXfrm>
        <a:off x="2178364" y="1844419"/>
        <a:ext cx="391477" cy="340817"/>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EFD8AD-8A7A-4B38-9412-0C3F3A9061D8}" type="datetimeFigureOut">
              <a:rPr lang="zh-CN" altLang="en-US" smtClean="0"/>
              <a:t>2020/6/29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90333-D4E6-4F93-96E5-62999A0BBD54}" type="slidenum">
              <a:rPr lang="zh-CN" altLang="en-US" smtClean="0"/>
              <a:t>‹#›</a:t>
            </a:fld>
            <a:endParaRPr lang="zh-CN" altLang="en-US"/>
          </a:p>
        </p:txBody>
      </p:sp>
    </p:spTree>
    <p:extLst>
      <p:ext uri="{BB962C8B-B14F-4D97-AF65-F5344CB8AC3E}">
        <p14:creationId xmlns:p14="http://schemas.microsoft.com/office/powerpoint/2010/main" val="4271079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iso.org/obp/ui/#iso:std:iso:9001:ed-5:v1:en:fig:1"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490333-D4E6-4F93-96E5-62999A0BBD54}" type="slidenum">
              <a:rPr lang="zh-CN" altLang="en-US" smtClean="0"/>
              <a:t>4</a:t>
            </a:fld>
            <a:endParaRPr lang="zh-CN" altLang="en-US"/>
          </a:p>
        </p:txBody>
      </p:sp>
    </p:spTree>
    <p:extLst>
      <p:ext uri="{BB962C8B-B14F-4D97-AF65-F5344CB8AC3E}">
        <p14:creationId xmlns:p14="http://schemas.microsoft.com/office/powerpoint/2010/main" val="2606752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为什么不是</a:t>
            </a:r>
            <a:r>
              <a:rPr lang="en-US" altLang="zh-CN" dirty="0" smtClean="0"/>
              <a:t>“IOS”</a:t>
            </a:r>
            <a:r>
              <a:rPr lang="zh-CN" altLang="en-US" dirty="0" smtClean="0"/>
              <a:t>呢？其实，</a:t>
            </a:r>
            <a:r>
              <a:rPr lang="en-US" altLang="zh-CN" dirty="0" smtClean="0"/>
              <a:t>“ISO”</a:t>
            </a:r>
            <a:r>
              <a:rPr lang="zh-CN" altLang="en-US" dirty="0" smtClean="0"/>
              <a:t>并不是其全称首字母的缩写，而是一个词，它来源于希腊语</a:t>
            </a:r>
            <a:r>
              <a:rPr lang="en-US" altLang="zh-CN" dirty="0" err="1" smtClean="0"/>
              <a:t>isos</a:t>
            </a:r>
            <a:r>
              <a:rPr lang="zh-CN" altLang="en-US" dirty="0" smtClean="0"/>
              <a:t>，意为“相等”</a:t>
            </a:r>
            <a:r>
              <a:rPr lang="zh-CN" altLang="en-US" sz="1200" b="0" i="0" kern="1200" dirty="0" smtClean="0">
                <a:solidFill>
                  <a:schemeClr val="tx1"/>
                </a:solidFill>
                <a:effectLst/>
                <a:latin typeface="+mn-lt"/>
                <a:ea typeface="+mn-ea"/>
                <a:cs typeface="+mn-cs"/>
              </a:rPr>
              <a:t>从“相等”到“标准”，内涵上的联系使</a:t>
            </a:r>
            <a:r>
              <a:rPr lang="en-US" altLang="zh-CN" sz="1200" b="0" i="0" kern="1200" dirty="0" smtClean="0">
                <a:solidFill>
                  <a:schemeClr val="tx1"/>
                </a:solidFill>
                <a:effectLst/>
                <a:latin typeface="+mn-lt"/>
                <a:ea typeface="+mn-ea"/>
                <a:cs typeface="+mn-cs"/>
              </a:rPr>
              <a:t>“ISO”</a:t>
            </a:r>
            <a:r>
              <a:rPr lang="zh-CN" altLang="en-US" sz="1200" b="0" i="0" kern="1200" dirty="0" smtClean="0">
                <a:solidFill>
                  <a:schemeClr val="tx1"/>
                </a:solidFill>
                <a:effectLst/>
                <a:latin typeface="+mn-lt"/>
                <a:ea typeface="+mn-ea"/>
                <a:cs typeface="+mn-cs"/>
              </a:rPr>
              <a:t>成为组织的名称。战争年代弹药和装备有一点缺陷都是生死攸关的，最终导致了对国防承包商要求的质量管理标准的产生。</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191757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E6CF1A-E888-4A07-B96A-456D0CF6948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03813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中国国家标准化管理委员会</a:t>
            </a:r>
            <a:r>
              <a:rPr lang="zh-CN" altLang="en-US" sz="1200" b="1" i="0" kern="1200" dirty="0" smtClean="0">
                <a:solidFill>
                  <a:schemeClr val="tx1"/>
                </a:solidFill>
                <a:effectLst/>
                <a:latin typeface="+mn-lt"/>
                <a:ea typeface="+mn-ea"/>
                <a:cs typeface="+mn-cs"/>
              </a:rPr>
              <a:t>国家标准委</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850179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中国国家标准化管理委员会 国家标准委</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906777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技术委员会在产生一个</a:t>
            </a:r>
            <a:r>
              <a:rPr lang="en-US" altLang="zh-CN" dirty="0" smtClean="0"/>
              <a:t>ISO</a:t>
            </a:r>
            <a:r>
              <a:rPr lang="zh-CN" altLang="en-US" dirty="0" smtClean="0"/>
              <a:t>标准时的开发过程我将在稍后向大家介绍</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7268788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29991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1.TC/SC</a:t>
            </a:r>
            <a:r>
              <a:rPr lang="zh-CN" altLang="en-US" baseline="0" dirty="0" smtClean="0"/>
              <a:t>投票，</a:t>
            </a:r>
            <a:r>
              <a:rPr lang="en-US" altLang="zh-CN" baseline="0" dirty="0" smtClean="0"/>
              <a:t>5</a:t>
            </a:r>
            <a:r>
              <a:rPr lang="zh-CN" altLang="en-US" baseline="0" dirty="0" smtClean="0"/>
              <a:t>个</a:t>
            </a:r>
            <a:r>
              <a:rPr lang="en-US" altLang="zh-CN" baseline="0" dirty="0" smtClean="0"/>
              <a:t>P</a:t>
            </a:r>
            <a:r>
              <a:rPr lang="zh-CN" altLang="en-US" baseline="0" dirty="0" smtClean="0"/>
              <a:t>愿意参与项目，项目领导者。</a:t>
            </a:r>
            <a:r>
              <a:rPr lang="en-US" altLang="zh-CN" baseline="0" dirty="0" smtClean="0"/>
              <a:t>2.</a:t>
            </a:r>
            <a:r>
              <a:rPr lang="zh-CN" altLang="en-US" baseline="0" dirty="0" smtClean="0"/>
              <a:t>许多草案直到满意</a:t>
            </a:r>
            <a:r>
              <a:rPr lang="en-US" altLang="zh-CN" baseline="0" dirty="0" smtClean="0"/>
              <a:t>3</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464826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4.</a:t>
            </a:r>
            <a:r>
              <a:rPr lang="zh-CN" altLang="en-US" dirty="0" smtClean="0"/>
              <a:t>多于</a:t>
            </a:r>
            <a:r>
              <a:rPr lang="en-US" altLang="zh-CN" dirty="0" smtClean="0"/>
              <a:t>2/3</a:t>
            </a:r>
            <a:r>
              <a:rPr lang="zh-CN" altLang="en-US" dirty="0" smtClean="0"/>
              <a:t>设为</a:t>
            </a:r>
            <a:r>
              <a:rPr lang="en-US" altLang="zh-CN" dirty="0" smtClean="0"/>
              <a:t>TC/</a:t>
            </a:r>
            <a:r>
              <a:rPr lang="en-US" altLang="zh-CN" dirty="0" err="1" smtClean="0"/>
              <a:t>Sc</a:t>
            </a:r>
            <a:r>
              <a:rPr lang="zh-CN" altLang="en-US" dirty="0" smtClean="0"/>
              <a:t>的</a:t>
            </a:r>
            <a:r>
              <a:rPr lang="en-US" altLang="zh-CN" dirty="0" smtClean="0"/>
              <a:t>p</a:t>
            </a:r>
            <a:r>
              <a:rPr lang="zh-CN" altLang="en-US" dirty="0" smtClean="0"/>
              <a:t>成员投赞成，反对不超</a:t>
            </a:r>
            <a:r>
              <a:rPr lang="en-US" altLang="zh-CN" dirty="0" smtClean="0"/>
              <a:t>1/4</a:t>
            </a:r>
            <a:r>
              <a:rPr lang="zh-CN" altLang="en-US" dirty="0" smtClean="0"/>
              <a:t>，则批准。修改后的文件再提交上面的批准过程</a:t>
            </a:r>
            <a:endParaRPr lang="en-US" altLang="zh-CN" dirty="0" smtClean="0"/>
          </a:p>
          <a:p>
            <a:r>
              <a:rPr lang="en-US" altLang="zh-CN" dirty="0" smtClean="0"/>
              <a:t>5.</a:t>
            </a:r>
            <a:r>
              <a:rPr lang="zh-CN" altLang="en-US" dirty="0" smtClean="0"/>
              <a:t>若有技术意见则登记并延至国际标准的下一次修改进行解决。通过规则同</a:t>
            </a:r>
            <a:r>
              <a:rPr lang="en-US" altLang="zh-CN" dirty="0" smtClean="0"/>
              <a:t>4</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761365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书上有</a:t>
            </a:r>
            <a:r>
              <a:rPr lang="en-US" altLang="zh-CN" dirty="0" smtClean="0"/>
              <a:t>ISO9001:2000</a:t>
            </a:r>
            <a:r>
              <a:rPr lang="zh-CN" altLang="en-US" dirty="0" smtClean="0"/>
              <a:t>，这里看新版</a:t>
            </a:r>
            <a:r>
              <a:rPr lang="en-US" altLang="zh-CN" dirty="0" smtClean="0"/>
              <a:t>PDF</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0021152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一个</a:t>
            </a:r>
            <a:r>
              <a:rPr lang="en-US" altLang="zh-CN" dirty="0" smtClean="0"/>
              <a:t>process</a:t>
            </a:r>
          </a:p>
          <a:p>
            <a:r>
              <a:rPr lang="en-US" altLang="zh-CN" sz="1200" b="0" i="0" u="none" strike="noStrike" kern="1200" dirty="0" smtClean="0">
                <a:solidFill>
                  <a:schemeClr val="tx1"/>
                </a:solidFill>
                <a:effectLst/>
                <a:latin typeface="+mn-lt"/>
                <a:ea typeface="+mn-ea"/>
                <a:cs typeface="+mn-cs"/>
                <a:hlinkClick r:id="rId3"/>
              </a:rPr>
              <a:t>Figure 1</a:t>
            </a:r>
            <a:r>
              <a:rPr lang="en-US" altLang="zh-CN" sz="1200" b="0" i="0" kern="1200" dirty="0" smtClean="0">
                <a:solidFill>
                  <a:schemeClr val="tx1"/>
                </a:solidFill>
                <a:effectLst/>
                <a:latin typeface="+mn-lt"/>
                <a:ea typeface="+mn-ea"/>
                <a:cs typeface="+mn-cs"/>
              </a:rPr>
              <a:t> gives a schematic representation of any process and shows the interaction of its elements. The monitoring and measuring check points, which are necessary for control, are specific to each process and will vary depending on the related risks.</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575017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PDCA</a:t>
            </a:r>
            <a:r>
              <a:rPr lang="zh-CN" altLang="en-US" dirty="0" smtClean="0"/>
              <a:t>可运用到任何一个过程中。实现过程的方法。作为一个整体运用到质量管理体系。</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4457979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负责审计领域的管理部门应该确保及时采取行动搞清楚所发现的不一致及其原因。随后应该对采取的行动进行验证并报告验证结果。</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3352507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可能需要参考英文课本做出补充</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216386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可能需要参考英文课本做出补充</a:t>
            </a:r>
            <a:endParaRPr lang="en-US" altLang="zh-CN" dirty="0" smtClean="0"/>
          </a:p>
          <a:p>
            <a:r>
              <a:rPr lang="zh-CN" altLang="en-US" dirty="0" smtClean="0"/>
              <a:t>第</a:t>
            </a:r>
            <a:r>
              <a:rPr lang="en-US" altLang="zh-CN" dirty="0" smtClean="0"/>
              <a:t>2 </a:t>
            </a:r>
            <a:r>
              <a:rPr lang="zh-CN" altLang="en-US" dirty="0" smtClean="0"/>
              <a:t>外部评估者 实现特定合同要求的能力</a:t>
            </a:r>
            <a:endParaRPr lang="en-US" altLang="zh-CN" dirty="0" smtClean="0"/>
          </a:p>
          <a:p>
            <a:r>
              <a:rPr lang="en-US" altLang="zh-CN" dirty="0" smtClean="0"/>
              <a:t>3 </a:t>
            </a:r>
            <a:r>
              <a:rPr lang="zh-CN" altLang="en-US" dirty="0" smtClean="0"/>
              <a:t>第三方组织   验证组织订立合同的能力和生产软件产品的能力</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461991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（讲解区别：</a:t>
            </a:r>
            <a:r>
              <a:rPr lang="zh-CN" altLang="en-US" sz="1200" kern="1200" dirty="0" smtClean="0">
                <a:solidFill>
                  <a:schemeClr val="tx1"/>
                </a:solidFill>
                <a:effectLst/>
                <a:latin typeface="+mn-lt"/>
                <a:ea typeface="+mn-ea"/>
                <a:cs typeface="+mn-cs"/>
              </a:rPr>
              <a:t>用</a:t>
            </a:r>
            <a:r>
              <a:rPr lang="zh-CN" altLang="zh-CN" sz="1200" kern="1200" dirty="0" smtClean="0">
                <a:solidFill>
                  <a:schemeClr val="tx1"/>
                </a:solidFill>
                <a:effectLst/>
                <a:latin typeface="+mn-lt"/>
                <a:ea typeface="+mn-ea"/>
                <a:cs typeface="+mn-cs"/>
              </a:rPr>
              <a:t>前者</a:t>
            </a:r>
            <a:r>
              <a:rPr lang="zh-CN" altLang="en-US" sz="1200" kern="1200" dirty="0" smtClean="0">
                <a:solidFill>
                  <a:schemeClr val="tx1"/>
                </a:solidFill>
                <a:effectLst/>
                <a:latin typeface="+mn-lt"/>
                <a:ea typeface="+mn-ea"/>
                <a:cs typeface="+mn-cs"/>
              </a:rPr>
              <a:t>不如</a:t>
            </a:r>
            <a:r>
              <a:rPr lang="zh-CN" altLang="zh-CN" sz="1200" kern="1200" dirty="0" smtClean="0">
                <a:solidFill>
                  <a:schemeClr val="tx1"/>
                </a:solidFill>
                <a:effectLst/>
                <a:latin typeface="+mn-lt"/>
                <a:ea typeface="+mn-ea"/>
                <a:cs typeface="+mn-cs"/>
              </a:rPr>
              <a:t>花钱培训</a:t>
            </a:r>
            <a:r>
              <a:rPr lang="zh-CN" altLang="en-US" sz="1200" kern="1200" dirty="0" smtClean="0">
                <a:solidFill>
                  <a:schemeClr val="tx1"/>
                </a:solidFill>
                <a:effectLst/>
                <a:latin typeface="+mn-lt"/>
                <a:ea typeface="+mn-ea"/>
                <a:cs typeface="+mn-cs"/>
              </a:rPr>
              <a:t>提高内部评审的质量</a:t>
            </a:r>
            <a:r>
              <a:rPr lang="zh-CN"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预评估最好使用实施最终评估的外部团体。尤其适用于没有外界帮助的组织。</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后者降低成本，但可能打击信心</a:t>
            </a:r>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另一个反对预评估的原因是，或者花钱在内部人员培训上，内部可以帮你预评估</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4970239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2870874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1943517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回顾前文：</a:t>
            </a:r>
            <a:r>
              <a:rPr lang="zh-CN" altLang="en-US" sz="1200" kern="1200" dirty="0" smtClean="0">
                <a:solidFill>
                  <a:schemeClr val="tx1"/>
                </a:solidFill>
                <a:effectLst/>
                <a:latin typeface="+mn-lt"/>
                <a:ea typeface="+mn-ea"/>
                <a:cs typeface="+mn-cs"/>
              </a:rPr>
              <a:t>为什么评估？如何为</a:t>
            </a:r>
            <a:r>
              <a:rPr lang="zh-CN" altLang="zh-CN" sz="1200" kern="1200" dirty="0" smtClean="0">
                <a:solidFill>
                  <a:schemeClr val="tx1"/>
                </a:solidFill>
                <a:effectLst/>
                <a:latin typeface="+mn-lt"/>
                <a:ea typeface="+mn-ea"/>
                <a:cs typeface="+mn-cs"/>
              </a:rPr>
              <a:t>评估准备</a:t>
            </a:r>
            <a:r>
              <a:rPr lang="zh-CN" altLang="en-US" sz="1200" kern="1200" dirty="0" smtClean="0">
                <a:solidFill>
                  <a:schemeClr val="tx1"/>
                </a:solidFill>
                <a:effectLst/>
                <a:latin typeface="+mn-lt"/>
                <a:ea typeface="+mn-ea"/>
                <a:cs typeface="+mn-cs"/>
              </a:rPr>
              <a:t>？概念区分评估审计的三种类型？</a:t>
            </a:r>
            <a:r>
              <a:rPr lang="zh-CN" altLang="zh-CN" sz="1200" kern="1200" dirty="0" smtClean="0">
                <a:solidFill>
                  <a:schemeClr val="tx1"/>
                </a:solidFill>
                <a:effectLst/>
                <a:latin typeface="+mn-lt"/>
                <a:ea typeface="+mn-ea"/>
                <a:cs typeface="+mn-cs"/>
              </a:rPr>
              <a:t>评估过程</a:t>
            </a:r>
            <a:r>
              <a:rPr lang="zh-CN" altLang="en-US"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三个角色：用户</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客户组织，主管注册者（授予</a:t>
            </a:r>
            <a:r>
              <a:rPr lang="en-US" altLang="zh-CN" sz="1200" kern="1200" dirty="0" smtClean="0">
                <a:solidFill>
                  <a:schemeClr val="tx1"/>
                </a:solidFill>
                <a:effectLst/>
                <a:latin typeface="+mn-lt"/>
                <a:ea typeface="+mn-ea"/>
                <a:cs typeface="+mn-cs"/>
              </a:rPr>
              <a:t>ISO</a:t>
            </a:r>
            <a:r>
              <a:rPr lang="zh-CN" altLang="zh-CN" sz="1200" kern="1200" dirty="0" smtClean="0">
                <a:solidFill>
                  <a:schemeClr val="tx1"/>
                </a:solidFill>
                <a:effectLst/>
                <a:latin typeface="+mn-lt"/>
                <a:ea typeface="+mn-ea"/>
                <a:cs typeface="+mn-cs"/>
              </a:rPr>
              <a:t>认证的外部团体），</a:t>
            </a:r>
            <a:r>
              <a:rPr lang="en-US" altLang="zh-CN" sz="1200" kern="1200" dirty="0" smtClean="0">
                <a:solidFill>
                  <a:schemeClr val="tx1"/>
                </a:solidFill>
                <a:effectLst/>
                <a:latin typeface="+mn-lt"/>
                <a:ea typeface="+mn-ea"/>
                <a:cs typeface="+mn-cs"/>
              </a:rPr>
              <a:t>ISO9001:2000</a:t>
            </a:r>
            <a:r>
              <a:rPr lang="zh-CN" altLang="zh-CN" sz="1200" kern="1200" dirty="0" smtClean="0">
                <a:solidFill>
                  <a:schemeClr val="tx1"/>
                </a:solidFill>
                <a:effectLst/>
                <a:latin typeface="+mn-lt"/>
                <a:ea typeface="+mn-ea"/>
                <a:cs typeface="+mn-cs"/>
              </a:rPr>
              <a:t>标准。</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9744620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0747169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0159734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3926634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2267028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smtClean="0">
                <a:solidFill>
                  <a:schemeClr val="tx1"/>
                </a:solidFill>
                <a:effectLst/>
                <a:latin typeface="+mn-lt"/>
                <a:ea typeface="+mn-ea"/>
                <a:cs typeface="+mn-cs"/>
              </a:rPr>
              <a:t>讲解原因</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1504418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smtClean="0">
                <a:solidFill>
                  <a:schemeClr val="tx1"/>
                </a:solidFill>
                <a:effectLst/>
                <a:latin typeface="+mn-lt"/>
                <a:ea typeface="+mn-ea"/>
                <a:cs typeface="+mn-cs"/>
              </a:rPr>
              <a:t>讲解原因</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53061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smtClean="0">
                <a:solidFill>
                  <a:schemeClr val="tx1"/>
                </a:solidFill>
                <a:effectLst/>
                <a:latin typeface="+mn-lt"/>
                <a:ea typeface="+mn-ea"/>
                <a:cs typeface="+mn-cs"/>
              </a:rPr>
              <a:t>根据参与程度收费</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21F6-363D-4628-BCE2-78C9C82E3B8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138668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zh-CN" altLang="en-US" noProof="1"/>
          </a:p>
        </p:txBody>
      </p:sp>
      <p:sp>
        <p:nvSpPr>
          <p:cNvPr id="4" name="日期占位符 3"/>
          <p:cNvSpPr>
            <a:spLocks noGrp="1"/>
          </p:cNvSpPr>
          <p:nvPr>
            <p:ph type="dt" sz="half" idx="10"/>
          </p:nvPr>
        </p:nvSpPr>
        <p:spPr>
          <a:ln/>
        </p:spPr>
        <p:txBody>
          <a:bodyPr/>
          <a:lstStyle>
            <a:lvl1pPr>
              <a:defRPr/>
            </a:lvl1pPr>
          </a:lstStyle>
          <a:p>
            <a:fld id="{7C4007FC-7049-45F5-B501-843231AA84E4}" type="datetime1">
              <a:rPr lang="zh-CN" altLang="en-US"/>
              <a:pPr/>
              <a:t>2020/6/29</a:t>
            </a:fld>
            <a:endParaRPr lang="zh-CN" altLang="en-US"/>
          </a:p>
        </p:txBody>
      </p:sp>
      <p:sp>
        <p:nvSpPr>
          <p:cNvPr id="5" name="页脚占位符 4"/>
          <p:cNvSpPr>
            <a:spLocks noGrp="1"/>
          </p:cNvSpPr>
          <p:nvPr>
            <p:ph type="ftr" sz="quarter" idx="11"/>
          </p:nvPr>
        </p:nvSpPr>
        <p:spPr>
          <a:ln/>
        </p:spPr>
        <p:txBody>
          <a:bodyPr/>
          <a:lstStyle>
            <a:lvl1pPr>
              <a:defRPr/>
            </a:lvl1pPr>
          </a:lstStyle>
          <a:p>
            <a:endParaRPr/>
          </a:p>
        </p:txBody>
      </p:sp>
      <p:sp>
        <p:nvSpPr>
          <p:cNvPr id="6" name="灯片编号占位符 5"/>
          <p:cNvSpPr>
            <a:spLocks noGrp="1"/>
          </p:cNvSpPr>
          <p:nvPr>
            <p:ph type="sldNum" sz="quarter" idx="12"/>
          </p:nvPr>
        </p:nvSpPr>
        <p:spPr>
          <a:ln/>
        </p:spPr>
        <p:txBody>
          <a:bodyPr/>
          <a:lstStyle>
            <a:lvl1pPr>
              <a:defRPr/>
            </a:lvl1pPr>
          </a:lstStyle>
          <a:p>
            <a:fld id="{2442D225-6189-4789-824C-6BD379A68736}" type="slidenum">
              <a:rPr lang="zh-CN" altLang="en-US"/>
              <a:pPr/>
              <a:t>‹#›</a:t>
            </a:fld>
            <a:endParaRPr lang="zh-CN" altLang="en-US"/>
          </a:p>
        </p:txBody>
      </p:sp>
    </p:spTree>
    <p:extLst>
      <p:ext uri="{BB962C8B-B14F-4D97-AF65-F5344CB8AC3E}">
        <p14:creationId xmlns:p14="http://schemas.microsoft.com/office/powerpoint/2010/main" val="530392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a:ln/>
        </p:spPr>
        <p:txBody>
          <a:bodyPr/>
          <a:lstStyle>
            <a:lvl1pPr>
              <a:defRPr/>
            </a:lvl1pPr>
          </a:lstStyle>
          <a:p>
            <a:fld id="{7C4007FC-7049-45F5-B501-843231AA84E4}" type="datetime1">
              <a:rPr lang="zh-CN" altLang="en-US"/>
              <a:pPr/>
              <a:t>2020/6/29</a:t>
            </a:fld>
            <a:endParaRPr lang="zh-CN" altLang="en-US"/>
          </a:p>
        </p:txBody>
      </p:sp>
      <p:sp>
        <p:nvSpPr>
          <p:cNvPr id="5" name="页脚占位符 4"/>
          <p:cNvSpPr>
            <a:spLocks noGrp="1"/>
          </p:cNvSpPr>
          <p:nvPr>
            <p:ph type="ftr" sz="quarter" idx="11"/>
          </p:nvPr>
        </p:nvSpPr>
        <p:spPr>
          <a:ln/>
        </p:spPr>
        <p:txBody>
          <a:bodyPr/>
          <a:lstStyle>
            <a:lvl1pPr>
              <a:defRPr/>
            </a:lvl1pPr>
          </a:lstStyle>
          <a:p>
            <a:endParaRPr/>
          </a:p>
        </p:txBody>
      </p:sp>
      <p:sp>
        <p:nvSpPr>
          <p:cNvPr id="6" name="灯片编号占位符 5"/>
          <p:cNvSpPr>
            <a:spLocks noGrp="1"/>
          </p:cNvSpPr>
          <p:nvPr>
            <p:ph type="sldNum" sz="quarter" idx="12"/>
          </p:nvPr>
        </p:nvSpPr>
        <p:spPr>
          <a:ln/>
        </p:spPr>
        <p:txBody>
          <a:bodyPr/>
          <a:lstStyle>
            <a:lvl1pPr>
              <a:defRPr/>
            </a:lvl1pPr>
          </a:lstStyle>
          <a:p>
            <a:fld id="{E5935ABD-B96A-44DA-8E48-462146579696}" type="slidenum">
              <a:rPr lang="zh-CN" altLang="en-US"/>
              <a:pPr/>
              <a:t>‹#›</a:t>
            </a:fld>
            <a:endParaRPr lang="zh-CN" altLang="en-US"/>
          </a:p>
        </p:txBody>
      </p:sp>
    </p:spTree>
    <p:extLst>
      <p:ext uri="{BB962C8B-B14F-4D97-AF65-F5344CB8AC3E}">
        <p14:creationId xmlns:p14="http://schemas.microsoft.com/office/powerpoint/2010/main" val="4085214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smtClean="0"/>
              <a:t>单击此处编辑母版文本样式</a:t>
            </a:r>
          </a:p>
        </p:txBody>
      </p:sp>
      <p:sp>
        <p:nvSpPr>
          <p:cNvPr id="4" name="日期占位符 3"/>
          <p:cNvSpPr>
            <a:spLocks noGrp="1"/>
          </p:cNvSpPr>
          <p:nvPr>
            <p:ph type="dt" sz="half" idx="10"/>
          </p:nvPr>
        </p:nvSpPr>
        <p:spPr>
          <a:ln/>
        </p:spPr>
        <p:txBody>
          <a:bodyPr/>
          <a:lstStyle>
            <a:lvl1pPr>
              <a:defRPr/>
            </a:lvl1pPr>
          </a:lstStyle>
          <a:p>
            <a:fld id="{7C4007FC-7049-45F5-B501-843231AA84E4}" type="datetime1">
              <a:rPr lang="zh-CN" altLang="en-US"/>
              <a:pPr/>
              <a:t>2020/6/29</a:t>
            </a:fld>
            <a:endParaRPr lang="zh-CN" altLang="en-US"/>
          </a:p>
        </p:txBody>
      </p:sp>
      <p:sp>
        <p:nvSpPr>
          <p:cNvPr id="5" name="页脚占位符 4"/>
          <p:cNvSpPr>
            <a:spLocks noGrp="1"/>
          </p:cNvSpPr>
          <p:nvPr>
            <p:ph type="ftr" sz="quarter" idx="11"/>
          </p:nvPr>
        </p:nvSpPr>
        <p:spPr>
          <a:ln/>
        </p:spPr>
        <p:txBody>
          <a:bodyPr/>
          <a:lstStyle>
            <a:lvl1pPr>
              <a:defRPr/>
            </a:lvl1pPr>
          </a:lstStyle>
          <a:p>
            <a:endParaRPr/>
          </a:p>
        </p:txBody>
      </p:sp>
      <p:sp>
        <p:nvSpPr>
          <p:cNvPr id="6" name="灯片编号占位符 5"/>
          <p:cNvSpPr>
            <a:spLocks noGrp="1"/>
          </p:cNvSpPr>
          <p:nvPr>
            <p:ph type="sldNum" sz="quarter" idx="12"/>
          </p:nvPr>
        </p:nvSpPr>
        <p:spPr>
          <a:ln/>
        </p:spPr>
        <p:txBody>
          <a:bodyPr/>
          <a:lstStyle>
            <a:lvl1pPr>
              <a:defRPr/>
            </a:lvl1pPr>
          </a:lstStyle>
          <a:p>
            <a:fld id="{00F7F004-F28E-42E7-A6E0-2733D3C34C47}" type="slidenum">
              <a:rPr lang="zh-CN" altLang="en-US"/>
              <a:pPr/>
              <a:t>‹#›</a:t>
            </a:fld>
            <a:endParaRPr lang="zh-CN" altLang="en-US"/>
          </a:p>
        </p:txBody>
      </p:sp>
    </p:spTree>
    <p:extLst>
      <p:ext uri="{BB962C8B-B14F-4D97-AF65-F5344CB8AC3E}">
        <p14:creationId xmlns:p14="http://schemas.microsoft.com/office/powerpoint/2010/main" val="1603941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838200" y="1825625"/>
            <a:ext cx="5181600" cy="435133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3"/>
          <p:cNvSpPr>
            <a:spLocks noGrp="1"/>
          </p:cNvSpPr>
          <p:nvPr>
            <p:ph type="dt" sz="half" idx="10"/>
          </p:nvPr>
        </p:nvSpPr>
        <p:spPr>
          <a:ln/>
        </p:spPr>
        <p:txBody>
          <a:bodyPr/>
          <a:lstStyle>
            <a:lvl1pPr>
              <a:defRPr/>
            </a:lvl1pPr>
          </a:lstStyle>
          <a:p>
            <a:fld id="{7C4007FC-7049-45F5-B501-843231AA84E4}" type="datetime1">
              <a:rPr lang="zh-CN" altLang="en-US"/>
              <a:pPr/>
              <a:t>2020/6/29</a:t>
            </a:fld>
            <a:endParaRPr lang="zh-CN" altLang="en-US"/>
          </a:p>
        </p:txBody>
      </p:sp>
      <p:sp>
        <p:nvSpPr>
          <p:cNvPr id="6" name="页脚占位符 4"/>
          <p:cNvSpPr>
            <a:spLocks noGrp="1"/>
          </p:cNvSpPr>
          <p:nvPr>
            <p:ph type="ftr" sz="quarter" idx="11"/>
          </p:nvPr>
        </p:nvSpPr>
        <p:spPr>
          <a:ln/>
        </p:spPr>
        <p:txBody>
          <a:bodyPr/>
          <a:lstStyle>
            <a:lvl1pPr>
              <a:defRPr/>
            </a:lvl1pPr>
          </a:lstStyle>
          <a:p>
            <a:endParaRPr/>
          </a:p>
        </p:txBody>
      </p:sp>
      <p:sp>
        <p:nvSpPr>
          <p:cNvPr id="7" name="灯片编号占位符 5"/>
          <p:cNvSpPr>
            <a:spLocks noGrp="1"/>
          </p:cNvSpPr>
          <p:nvPr>
            <p:ph type="sldNum" sz="quarter" idx="12"/>
          </p:nvPr>
        </p:nvSpPr>
        <p:spPr>
          <a:ln/>
        </p:spPr>
        <p:txBody>
          <a:bodyPr/>
          <a:lstStyle>
            <a:lvl1pPr>
              <a:defRPr/>
            </a:lvl1pPr>
          </a:lstStyle>
          <a:p>
            <a:fld id="{3A5A36BF-8D29-4051-8E45-E7FF661C69FE}" type="slidenum">
              <a:rPr lang="zh-CN" altLang="en-US"/>
              <a:pPr/>
              <a:t>‹#›</a:t>
            </a:fld>
            <a:endParaRPr lang="zh-CN" altLang="en-US"/>
          </a:p>
        </p:txBody>
      </p:sp>
    </p:spTree>
    <p:extLst>
      <p:ext uri="{BB962C8B-B14F-4D97-AF65-F5344CB8AC3E}">
        <p14:creationId xmlns:p14="http://schemas.microsoft.com/office/powerpoint/2010/main" val="2470890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日期占位符 3"/>
          <p:cNvSpPr>
            <a:spLocks noGrp="1"/>
          </p:cNvSpPr>
          <p:nvPr>
            <p:ph type="dt" sz="half" idx="10"/>
          </p:nvPr>
        </p:nvSpPr>
        <p:spPr>
          <a:ln/>
        </p:spPr>
        <p:txBody>
          <a:bodyPr/>
          <a:lstStyle>
            <a:lvl1pPr>
              <a:defRPr/>
            </a:lvl1pPr>
          </a:lstStyle>
          <a:p>
            <a:fld id="{7C4007FC-7049-45F5-B501-843231AA84E4}" type="datetime1">
              <a:rPr lang="zh-CN" altLang="en-US"/>
              <a:pPr/>
              <a:t>2020/6/29</a:t>
            </a:fld>
            <a:endParaRPr lang="zh-CN" altLang="en-US"/>
          </a:p>
        </p:txBody>
      </p:sp>
      <p:sp>
        <p:nvSpPr>
          <p:cNvPr id="8" name="页脚占位符 4"/>
          <p:cNvSpPr>
            <a:spLocks noGrp="1"/>
          </p:cNvSpPr>
          <p:nvPr>
            <p:ph type="ftr" sz="quarter" idx="11"/>
          </p:nvPr>
        </p:nvSpPr>
        <p:spPr>
          <a:ln/>
        </p:spPr>
        <p:txBody>
          <a:bodyPr/>
          <a:lstStyle>
            <a:lvl1pPr>
              <a:defRPr/>
            </a:lvl1pPr>
          </a:lstStyle>
          <a:p>
            <a:endParaRPr/>
          </a:p>
        </p:txBody>
      </p:sp>
      <p:sp>
        <p:nvSpPr>
          <p:cNvPr id="9" name="灯片编号占位符 5"/>
          <p:cNvSpPr>
            <a:spLocks noGrp="1"/>
          </p:cNvSpPr>
          <p:nvPr>
            <p:ph type="sldNum" sz="quarter" idx="12"/>
          </p:nvPr>
        </p:nvSpPr>
        <p:spPr>
          <a:ln/>
        </p:spPr>
        <p:txBody>
          <a:bodyPr/>
          <a:lstStyle>
            <a:lvl1pPr>
              <a:defRPr/>
            </a:lvl1pPr>
          </a:lstStyle>
          <a:p>
            <a:fld id="{B6E47DE9-3CA9-442B-A783-D83ED642BA6C}" type="slidenum">
              <a:rPr lang="zh-CN" altLang="en-US"/>
              <a:pPr/>
              <a:t>‹#›</a:t>
            </a:fld>
            <a:endParaRPr lang="zh-CN" altLang="en-US"/>
          </a:p>
        </p:txBody>
      </p:sp>
    </p:spTree>
    <p:extLst>
      <p:ext uri="{BB962C8B-B14F-4D97-AF65-F5344CB8AC3E}">
        <p14:creationId xmlns:p14="http://schemas.microsoft.com/office/powerpoint/2010/main" val="2749586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3"/>
          <p:cNvSpPr>
            <a:spLocks noGrp="1"/>
          </p:cNvSpPr>
          <p:nvPr>
            <p:ph type="dt" sz="half" idx="10"/>
          </p:nvPr>
        </p:nvSpPr>
        <p:spPr>
          <a:ln/>
        </p:spPr>
        <p:txBody>
          <a:bodyPr/>
          <a:lstStyle>
            <a:lvl1pPr>
              <a:defRPr/>
            </a:lvl1pPr>
          </a:lstStyle>
          <a:p>
            <a:fld id="{7C4007FC-7049-45F5-B501-843231AA84E4}" type="datetime1">
              <a:rPr lang="zh-CN" altLang="en-US"/>
              <a:pPr/>
              <a:t>2020/6/29</a:t>
            </a:fld>
            <a:endParaRPr lang="zh-CN" altLang="en-US"/>
          </a:p>
        </p:txBody>
      </p:sp>
      <p:sp>
        <p:nvSpPr>
          <p:cNvPr id="4" name="页脚占位符 4"/>
          <p:cNvSpPr>
            <a:spLocks noGrp="1"/>
          </p:cNvSpPr>
          <p:nvPr>
            <p:ph type="ftr" sz="quarter" idx="11"/>
          </p:nvPr>
        </p:nvSpPr>
        <p:spPr>
          <a:ln/>
        </p:spPr>
        <p:txBody>
          <a:bodyPr/>
          <a:lstStyle>
            <a:lvl1pPr>
              <a:defRPr/>
            </a:lvl1pPr>
          </a:lstStyle>
          <a:p>
            <a:endParaRPr/>
          </a:p>
        </p:txBody>
      </p:sp>
      <p:sp>
        <p:nvSpPr>
          <p:cNvPr id="5" name="灯片编号占位符 5"/>
          <p:cNvSpPr>
            <a:spLocks noGrp="1"/>
          </p:cNvSpPr>
          <p:nvPr>
            <p:ph type="sldNum" sz="quarter" idx="12"/>
          </p:nvPr>
        </p:nvSpPr>
        <p:spPr>
          <a:ln/>
        </p:spPr>
        <p:txBody>
          <a:bodyPr/>
          <a:lstStyle>
            <a:lvl1pPr>
              <a:defRPr/>
            </a:lvl1pPr>
          </a:lstStyle>
          <a:p>
            <a:fld id="{42C80BD6-4269-470B-B8A1-99013296E4A8}" type="slidenum">
              <a:rPr lang="zh-CN" altLang="en-US"/>
              <a:pPr/>
              <a:t>‹#›</a:t>
            </a:fld>
            <a:endParaRPr lang="zh-CN" altLang="en-US"/>
          </a:p>
        </p:txBody>
      </p:sp>
    </p:spTree>
    <p:extLst>
      <p:ext uri="{BB962C8B-B14F-4D97-AF65-F5344CB8AC3E}">
        <p14:creationId xmlns:p14="http://schemas.microsoft.com/office/powerpoint/2010/main" val="1870140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a:ln/>
        </p:spPr>
        <p:txBody>
          <a:bodyPr/>
          <a:lstStyle>
            <a:lvl1pPr>
              <a:defRPr/>
            </a:lvl1pPr>
          </a:lstStyle>
          <a:p>
            <a:fld id="{7C4007FC-7049-45F5-B501-843231AA84E4}" type="datetime1">
              <a:rPr lang="zh-CN" altLang="en-US"/>
              <a:pPr/>
              <a:t>2020/6/29</a:t>
            </a:fld>
            <a:endParaRPr lang="zh-CN" altLang="en-US"/>
          </a:p>
        </p:txBody>
      </p:sp>
      <p:sp>
        <p:nvSpPr>
          <p:cNvPr id="3" name="页脚占位符 4"/>
          <p:cNvSpPr>
            <a:spLocks noGrp="1"/>
          </p:cNvSpPr>
          <p:nvPr>
            <p:ph type="ftr" sz="quarter" idx="11"/>
          </p:nvPr>
        </p:nvSpPr>
        <p:spPr>
          <a:ln/>
        </p:spPr>
        <p:txBody>
          <a:bodyPr/>
          <a:lstStyle>
            <a:lvl1pPr>
              <a:defRPr/>
            </a:lvl1pPr>
          </a:lstStyle>
          <a:p>
            <a:endParaRPr/>
          </a:p>
        </p:txBody>
      </p:sp>
      <p:sp>
        <p:nvSpPr>
          <p:cNvPr id="4" name="灯片编号占位符 5"/>
          <p:cNvSpPr>
            <a:spLocks noGrp="1"/>
          </p:cNvSpPr>
          <p:nvPr>
            <p:ph type="sldNum" sz="quarter" idx="12"/>
          </p:nvPr>
        </p:nvSpPr>
        <p:spPr>
          <a:ln/>
        </p:spPr>
        <p:txBody>
          <a:bodyPr/>
          <a:lstStyle>
            <a:lvl1pPr>
              <a:defRPr/>
            </a:lvl1pPr>
          </a:lstStyle>
          <a:p>
            <a:fld id="{980B8D0D-7F4B-4D19-8C83-B9F5725056BF}" type="slidenum">
              <a:rPr lang="zh-CN" altLang="en-US"/>
              <a:pPr/>
              <a:t>‹#›</a:t>
            </a:fld>
            <a:endParaRPr lang="zh-CN" altLang="en-US"/>
          </a:p>
        </p:txBody>
      </p:sp>
    </p:spTree>
    <p:extLst>
      <p:ext uri="{BB962C8B-B14F-4D97-AF65-F5344CB8AC3E}">
        <p14:creationId xmlns:p14="http://schemas.microsoft.com/office/powerpoint/2010/main" val="3718297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p>
        </p:txBody>
      </p:sp>
      <p:sp>
        <p:nvSpPr>
          <p:cNvPr id="5" name="日期占位符 3"/>
          <p:cNvSpPr>
            <a:spLocks noGrp="1"/>
          </p:cNvSpPr>
          <p:nvPr>
            <p:ph type="dt" sz="half" idx="10"/>
          </p:nvPr>
        </p:nvSpPr>
        <p:spPr>
          <a:ln/>
        </p:spPr>
        <p:txBody>
          <a:bodyPr/>
          <a:lstStyle>
            <a:lvl1pPr>
              <a:defRPr/>
            </a:lvl1pPr>
          </a:lstStyle>
          <a:p>
            <a:fld id="{7C4007FC-7049-45F5-B501-843231AA84E4}" type="datetime1">
              <a:rPr lang="zh-CN" altLang="en-US"/>
              <a:pPr/>
              <a:t>2020/6/29</a:t>
            </a:fld>
            <a:endParaRPr lang="zh-CN" altLang="en-US"/>
          </a:p>
        </p:txBody>
      </p:sp>
      <p:sp>
        <p:nvSpPr>
          <p:cNvPr id="6" name="页脚占位符 4"/>
          <p:cNvSpPr>
            <a:spLocks noGrp="1"/>
          </p:cNvSpPr>
          <p:nvPr>
            <p:ph type="ftr" sz="quarter" idx="11"/>
          </p:nvPr>
        </p:nvSpPr>
        <p:spPr>
          <a:ln/>
        </p:spPr>
        <p:txBody>
          <a:bodyPr/>
          <a:lstStyle>
            <a:lvl1pPr>
              <a:defRPr/>
            </a:lvl1pPr>
          </a:lstStyle>
          <a:p>
            <a:endParaRPr/>
          </a:p>
        </p:txBody>
      </p:sp>
      <p:sp>
        <p:nvSpPr>
          <p:cNvPr id="7" name="灯片编号占位符 5"/>
          <p:cNvSpPr>
            <a:spLocks noGrp="1"/>
          </p:cNvSpPr>
          <p:nvPr>
            <p:ph type="sldNum" sz="quarter" idx="12"/>
          </p:nvPr>
        </p:nvSpPr>
        <p:spPr>
          <a:ln/>
        </p:spPr>
        <p:txBody>
          <a:bodyPr/>
          <a:lstStyle>
            <a:lvl1pPr>
              <a:defRPr/>
            </a:lvl1pPr>
          </a:lstStyle>
          <a:p>
            <a:fld id="{0B20CB37-8587-41F2-8AA0-39C1437D500E}" type="slidenum">
              <a:rPr lang="zh-CN" altLang="en-US"/>
              <a:pPr/>
              <a:t>‹#›</a:t>
            </a:fld>
            <a:endParaRPr lang="zh-CN" altLang="en-US"/>
          </a:p>
        </p:txBody>
      </p:sp>
    </p:spTree>
    <p:extLst>
      <p:ext uri="{BB962C8B-B14F-4D97-AF65-F5344CB8AC3E}">
        <p14:creationId xmlns:p14="http://schemas.microsoft.com/office/powerpoint/2010/main" val="2489960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noProof="1"/>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5" name="日期占位符 3"/>
          <p:cNvSpPr>
            <a:spLocks noGrp="1"/>
          </p:cNvSpPr>
          <p:nvPr>
            <p:ph type="dt" sz="half" idx="10"/>
          </p:nvPr>
        </p:nvSpPr>
        <p:spPr>
          <a:ln/>
        </p:spPr>
        <p:txBody>
          <a:bodyPr/>
          <a:lstStyle>
            <a:lvl1pPr>
              <a:defRPr/>
            </a:lvl1pPr>
          </a:lstStyle>
          <a:p>
            <a:fld id="{7C4007FC-7049-45F5-B501-843231AA84E4}" type="datetime1">
              <a:rPr lang="zh-CN" altLang="en-US"/>
              <a:pPr/>
              <a:t>2020/6/29</a:t>
            </a:fld>
            <a:endParaRPr lang="zh-CN" altLang="en-US"/>
          </a:p>
        </p:txBody>
      </p:sp>
      <p:sp>
        <p:nvSpPr>
          <p:cNvPr id="6" name="页脚占位符 4"/>
          <p:cNvSpPr>
            <a:spLocks noGrp="1"/>
          </p:cNvSpPr>
          <p:nvPr>
            <p:ph type="ftr" sz="quarter" idx="11"/>
          </p:nvPr>
        </p:nvSpPr>
        <p:spPr>
          <a:ln/>
        </p:spPr>
        <p:txBody>
          <a:bodyPr/>
          <a:lstStyle>
            <a:lvl1pPr>
              <a:defRPr/>
            </a:lvl1pPr>
          </a:lstStyle>
          <a:p>
            <a:endParaRPr/>
          </a:p>
        </p:txBody>
      </p:sp>
      <p:sp>
        <p:nvSpPr>
          <p:cNvPr id="7" name="灯片编号占位符 5"/>
          <p:cNvSpPr>
            <a:spLocks noGrp="1"/>
          </p:cNvSpPr>
          <p:nvPr>
            <p:ph type="sldNum" sz="quarter" idx="12"/>
          </p:nvPr>
        </p:nvSpPr>
        <p:spPr>
          <a:ln/>
        </p:spPr>
        <p:txBody>
          <a:bodyPr/>
          <a:lstStyle>
            <a:lvl1pPr>
              <a:defRPr/>
            </a:lvl1pPr>
          </a:lstStyle>
          <a:p>
            <a:fld id="{BF563557-A055-4998-95BC-2EE3B79499C8}" type="slidenum">
              <a:rPr lang="zh-CN" altLang="en-US"/>
              <a:pPr/>
              <a:t>‹#›</a:t>
            </a:fld>
            <a:endParaRPr lang="zh-CN" altLang="en-US"/>
          </a:p>
        </p:txBody>
      </p:sp>
    </p:spTree>
    <p:extLst>
      <p:ext uri="{BB962C8B-B14F-4D97-AF65-F5344CB8AC3E}">
        <p14:creationId xmlns:p14="http://schemas.microsoft.com/office/powerpoint/2010/main" val="2735432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a:ln/>
        </p:spPr>
        <p:txBody>
          <a:bodyPr/>
          <a:lstStyle>
            <a:lvl1pPr>
              <a:defRPr/>
            </a:lvl1pPr>
          </a:lstStyle>
          <a:p>
            <a:fld id="{7C4007FC-7049-45F5-B501-843231AA84E4}" type="datetime1">
              <a:rPr lang="zh-CN" altLang="en-US"/>
              <a:pPr/>
              <a:t>2020/6/29</a:t>
            </a:fld>
            <a:endParaRPr lang="zh-CN" altLang="en-US"/>
          </a:p>
        </p:txBody>
      </p:sp>
      <p:sp>
        <p:nvSpPr>
          <p:cNvPr id="5" name="页脚占位符 4"/>
          <p:cNvSpPr>
            <a:spLocks noGrp="1"/>
          </p:cNvSpPr>
          <p:nvPr>
            <p:ph type="ftr" sz="quarter" idx="11"/>
          </p:nvPr>
        </p:nvSpPr>
        <p:spPr>
          <a:ln/>
        </p:spPr>
        <p:txBody>
          <a:bodyPr/>
          <a:lstStyle>
            <a:lvl1pPr>
              <a:defRPr/>
            </a:lvl1pPr>
          </a:lstStyle>
          <a:p>
            <a:endParaRPr/>
          </a:p>
        </p:txBody>
      </p:sp>
      <p:sp>
        <p:nvSpPr>
          <p:cNvPr id="6" name="灯片编号占位符 5"/>
          <p:cNvSpPr>
            <a:spLocks noGrp="1"/>
          </p:cNvSpPr>
          <p:nvPr>
            <p:ph type="sldNum" sz="quarter" idx="12"/>
          </p:nvPr>
        </p:nvSpPr>
        <p:spPr>
          <a:ln/>
        </p:spPr>
        <p:txBody>
          <a:bodyPr/>
          <a:lstStyle>
            <a:lvl1pPr>
              <a:defRPr/>
            </a:lvl1pPr>
          </a:lstStyle>
          <a:p>
            <a:fld id="{8CB0F5E2-6811-4578-859C-0040E4E61AAE}" type="slidenum">
              <a:rPr lang="zh-CN" altLang="en-US"/>
              <a:pPr/>
              <a:t>‹#›</a:t>
            </a:fld>
            <a:endParaRPr lang="zh-CN" altLang="en-US"/>
          </a:p>
        </p:txBody>
      </p:sp>
    </p:spTree>
    <p:extLst>
      <p:ext uri="{BB962C8B-B14F-4D97-AF65-F5344CB8AC3E}">
        <p14:creationId xmlns:p14="http://schemas.microsoft.com/office/powerpoint/2010/main" val="914459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a:ln/>
        </p:spPr>
        <p:txBody>
          <a:bodyPr/>
          <a:lstStyle>
            <a:lvl1pPr>
              <a:defRPr/>
            </a:lvl1pPr>
          </a:lstStyle>
          <a:p>
            <a:fld id="{7C4007FC-7049-45F5-B501-843231AA84E4}" type="datetime1">
              <a:rPr lang="zh-CN" altLang="en-US"/>
              <a:pPr/>
              <a:t>2020/6/29</a:t>
            </a:fld>
            <a:endParaRPr lang="zh-CN" altLang="en-US"/>
          </a:p>
        </p:txBody>
      </p:sp>
      <p:sp>
        <p:nvSpPr>
          <p:cNvPr id="5" name="页脚占位符 4"/>
          <p:cNvSpPr>
            <a:spLocks noGrp="1"/>
          </p:cNvSpPr>
          <p:nvPr>
            <p:ph type="ftr" sz="quarter" idx="11"/>
          </p:nvPr>
        </p:nvSpPr>
        <p:spPr>
          <a:ln/>
        </p:spPr>
        <p:txBody>
          <a:bodyPr/>
          <a:lstStyle>
            <a:lvl1pPr>
              <a:defRPr/>
            </a:lvl1pPr>
          </a:lstStyle>
          <a:p>
            <a:endParaRPr/>
          </a:p>
        </p:txBody>
      </p:sp>
      <p:sp>
        <p:nvSpPr>
          <p:cNvPr id="6" name="灯片编号占位符 5"/>
          <p:cNvSpPr>
            <a:spLocks noGrp="1"/>
          </p:cNvSpPr>
          <p:nvPr>
            <p:ph type="sldNum" sz="quarter" idx="12"/>
          </p:nvPr>
        </p:nvSpPr>
        <p:spPr>
          <a:ln/>
        </p:spPr>
        <p:txBody>
          <a:bodyPr/>
          <a:lstStyle>
            <a:lvl1pPr>
              <a:defRPr/>
            </a:lvl1pPr>
          </a:lstStyle>
          <a:p>
            <a:fld id="{FE6F7495-2A05-43AD-A094-62A009A05345}" type="slidenum">
              <a:rPr lang="zh-CN" altLang="en-US"/>
              <a:pPr/>
              <a:t>‹#›</a:t>
            </a:fld>
            <a:endParaRPr lang="zh-CN" altLang="en-US"/>
          </a:p>
        </p:txBody>
      </p:sp>
    </p:spTree>
    <p:extLst>
      <p:ext uri="{BB962C8B-B14F-4D97-AF65-F5344CB8AC3E}">
        <p14:creationId xmlns:p14="http://schemas.microsoft.com/office/powerpoint/2010/main" val="2702681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45695B95-FF0C-418F-BA6E-C8A9F64C5066}" type="datetimeFigureOut">
              <a:rPr lang="zh-CN" altLang="en-US" smtClean="0"/>
              <a:t>2020/6/29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3638EE1-5CF4-476F-8DDD-0D8DD27A06CA}" type="slidenum">
              <a:rPr lang="zh-CN" altLang="en-US" smtClean="0"/>
              <a:t>‹#›</a:t>
            </a:fld>
            <a:endParaRPr lang="zh-CN" altLang="en-US"/>
          </a:p>
        </p:txBody>
      </p:sp>
    </p:spTree>
    <p:extLst>
      <p:ext uri="{BB962C8B-B14F-4D97-AF65-F5344CB8AC3E}">
        <p14:creationId xmlns:p14="http://schemas.microsoft.com/office/powerpoint/2010/main" val="29717724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5695B95-FF0C-418F-BA6E-C8A9F64C5066}" type="datetimeFigureOut">
              <a:rPr lang="zh-CN" altLang="en-US" smtClean="0"/>
              <a:t>2020/6/29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3638EE1-5CF4-476F-8DDD-0D8DD27A06CA}" type="slidenum">
              <a:rPr lang="zh-CN" altLang="en-US" smtClean="0"/>
              <a:t>‹#›</a:t>
            </a:fld>
            <a:endParaRPr lang="zh-CN" altLang="en-US"/>
          </a:p>
        </p:txBody>
      </p:sp>
    </p:spTree>
    <p:extLst>
      <p:ext uri="{BB962C8B-B14F-4D97-AF65-F5344CB8AC3E}">
        <p14:creationId xmlns:p14="http://schemas.microsoft.com/office/powerpoint/2010/main" val="11799615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45695B95-FF0C-418F-BA6E-C8A9F64C5066}" type="datetimeFigureOut">
              <a:rPr lang="zh-CN" altLang="en-US" smtClean="0"/>
              <a:t>2020/6/29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3638EE1-5CF4-476F-8DDD-0D8DD27A06CA}" type="slidenum">
              <a:rPr lang="zh-CN" altLang="en-US" smtClean="0"/>
              <a:t>‹#›</a:t>
            </a:fld>
            <a:endParaRPr lang="zh-CN" altLang="en-US"/>
          </a:p>
        </p:txBody>
      </p:sp>
    </p:spTree>
    <p:extLst>
      <p:ext uri="{BB962C8B-B14F-4D97-AF65-F5344CB8AC3E}">
        <p14:creationId xmlns:p14="http://schemas.microsoft.com/office/powerpoint/2010/main" val="276789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45695B95-FF0C-418F-BA6E-C8A9F64C5066}" type="datetimeFigureOut">
              <a:rPr lang="zh-CN" altLang="en-US" smtClean="0"/>
              <a:t>2020/6/29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3638EE1-5CF4-476F-8DDD-0D8DD27A06CA}" type="slidenum">
              <a:rPr lang="zh-CN" altLang="en-US" smtClean="0"/>
              <a:t>‹#›</a:t>
            </a:fld>
            <a:endParaRPr lang="zh-CN" altLang="en-US"/>
          </a:p>
        </p:txBody>
      </p:sp>
    </p:spTree>
    <p:extLst>
      <p:ext uri="{BB962C8B-B14F-4D97-AF65-F5344CB8AC3E}">
        <p14:creationId xmlns:p14="http://schemas.microsoft.com/office/powerpoint/2010/main" val="40628663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1"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45695B95-FF0C-418F-BA6E-C8A9F64C5066}" type="datetimeFigureOut">
              <a:rPr lang="zh-CN" altLang="en-US" smtClean="0"/>
              <a:t>2020/6/29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3638EE1-5CF4-476F-8DDD-0D8DD27A06CA}" type="slidenum">
              <a:rPr lang="zh-CN" altLang="en-US" smtClean="0"/>
              <a:t>‹#›</a:t>
            </a:fld>
            <a:endParaRPr lang="zh-CN" altLang="en-US"/>
          </a:p>
        </p:txBody>
      </p:sp>
    </p:spTree>
    <p:extLst>
      <p:ext uri="{BB962C8B-B14F-4D97-AF65-F5344CB8AC3E}">
        <p14:creationId xmlns:p14="http://schemas.microsoft.com/office/powerpoint/2010/main" val="986666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45695B95-FF0C-418F-BA6E-C8A9F64C5066}" type="datetimeFigureOut">
              <a:rPr lang="zh-CN" altLang="en-US" smtClean="0"/>
              <a:t>2020/6/29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3638EE1-5CF4-476F-8DDD-0D8DD27A06CA}" type="slidenum">
              <a:rPr lang="zh-CN" altLang="en-US" smtClean="0"/>
              <a:t>‹#›</a:t>
            </a:fld>
            <a:endParaRPr lang="zh-CN" altLang="en-US"/>
          </a:p>
        </p:txBody>
      </p:sp>
    </p:spTree>
    <p:extLst>
      <p:ext uri="{BB962C8B-B14F-4D97-AF65-F5344CB8AC3E}">
        <p14:creationId xmlns:p14="http://schemas.microsoft.com/office/powerpoint/2010/main" val="38065689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695B95-FF0C-418F-BA6E-C8A9F64C5066}" type="datetimeFigureOut">
              <a:rPr lang="zh-CN" altLang="en-US" smtClean="0"/>
              <a:t>2020/6/29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3638EE1-5CF4-476F-8DDD-0D8DD27A06CA}" type="slidenum">
              <a:rPr lang="zh-CN" altLang="en-US" smtClean="0"/>
              <a:t>‹#›</a:t>
            </a:fld>
            <a:endParaRPr lang="zh-CN" altLang="en-US"/>
          </a:p>
        </p:txBody>
      </p:sp>
    </p:spTree>
    <p:extLst>
      <p:ext uri="{BB962C8B-B14F-4D97-AF65-F5344CB8AC3E}">
        <p14:creationId xmlns:p14="http://schemas.microsoft.com/office/powerpoint/2010/main" val="26917922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45695B95-FF0C-418F-BA6E-C8A9F64C5066}" type="datetimeFigureOut">
              <a:rPr lang="zh-CN" altLang="en-US" smtClean="0"/>
              <a:t>2020/6/29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3638EE1-5CF4-476F-8DDD-0D8DD27A06CA}" type="slidenum">
              <a:rPr lang="zh-CN" altLang="en-US" smtClean="0"/>
              <a:t>‹#›</a:t>
            </a:fld>
            <a:endParaRPr lang="zh-CN" altLang="en-US"/>
          </a:p>
        </p:txBody>
      </p:sp>
    </p:spTree>
    <p:extLst>
      <p:ext uri="{BB962C8B-B14F-4D97-AF65-F5344CB8AC3E}">
        <p14:creationId xmlns:p14="http://schemas.microsoft.com/office/powerpoint/2010/main" val="21586572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45695B95-FF0C-418F-BA6E-C8A9F64C5066}" type="datetimeFigureOut">
              <a:rPr lang="zh-CN" altLang="en-US" smtClean="0"/>
              <a:t>2020/6/29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3638EE1-5CF4-476F-8DDD-0D8DD27A06CA}" type="slidenum">
              <a:rPr lang="zh-CN" altLang="en-US" smtClean="0"/>
              <a:t>‹#›</a:t>
            </a:fld>
            <a:endParaRPr lang="zh-CN" altLang="en-US"/>
          </a:p>
        </p:txBody>
      </p:sp>
    </p:spTree>
    <p:extLst>
      <p:ext uri="{BB962C8B-B14F-4D97-AF65-F5344CB8AC3E}">
        <p14:creationId xmlns:p14="http://schemas.microsoft.com/office/powerpoint/2010/main" val="42340911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5695B95-FF0C-418F-BA6E-C8A9F64C5066}" type="datetimeFigureOut">
              <a:rPr lang="zh-CN" altLang="en-US" smtClean="0"/>
              <a:t>2020/6/29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3638EE1-5CF4-476F-8DDD-0D8DD27A06CA}" type="slidenum">
              <a:rPr lang="zh-CN" altLang="en-US" smtClean="0"/>
              <a:t>‹#›</a:t>
            </a:fld>
            <a:endParaRPr lang="zh-CN" altLang="en-US"/>
          </a:p>
        </p:txBody>
      </p:sp>
    </p:spTree>
    <p:extLst>
      <p:ext uri="{BB962C8B-B14F-4D97-AF65-F5344CB8AC3E}">
        <p14:creationId xmlns:p14="http://schemas.microsoft.com/office/powerpoint/2010/main" val="31778299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5695B95-FF0C-418F-BA6E-C8A9F64C5066}" type="datetimeFigureOut">
              <a:rPr lang="zh-CN" altLang="en-US" smtClean="0"/>
              <a:t>2020/6/29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3638EE1-5CF4-476F-8DDD-0D8DD27A06CA}" type="slidenum">
              <a:rPr lang="zh-CN" altLang="en-US" smtClean="0"/>
              <a:t>‹#›</a:t>
            </a:fld>
            <a:endParaRPr lang="zh-CN" altLang="en-US"/>
          </a:p>
        </p:txBody>
      </p:sp>
    </p:spTree>
    <p:extLst>
      <p:ext uri="{BB962C8B-B14F-4D97-AF65-F5344CB8AC3E}">
        <p14:creationId xmlns:p14="http://schemas.microsoft.com/office/powerpoint/2010/main" val="19932075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6D4B1069-3899-470A-8AB1-734237277644}" type="datetimeFigureOut">
              <a:rPr lang="zh-CN" altLang="en-US" smtClean="0"/>
              <a:t>2020/6/29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420525205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D4B1069-3899-470A-8AB1-734237277644}" type="datetimeFigureOut">
              <a:rPr lang="zh-CN" altLang="en-US" smtClean="0"/>
              <a:t>2020/6/29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2827376101"/>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3999"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1999">
                <a:solidFill>
                  <a:schemeClr val="tx1">
                    <a:tint val="7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6D4B1069-3899-470A-8AB1-734237277644}" type="datetimeFigureOut">
              <a:rPr lang="zh-CN" altLang="en-US" smtClean="0"/>
              <a:t>2020/6/29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3780642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2"/>
            <a:ext cx="5384800" cy="4525963"/>
          </a:xfrm>
        </p:spPr>
        <p:txBody>
          <a:bodyPr/>
          <a:lstStyle>
            <a:lvl1pPr>
              <a:defRPr sz="2799"/>
            </a:lvl1pPr>
            <a:lvl2pPr>
              <a:defRPr sz="2399"/>
            </a:lvl2pPr>
            <a:lvl3pPr>
              <a:defRPr sz="1999"/>
            </a:lvl3pPr>
            <a:lvl4pPr>
              <a:defRPr sz="1799"/>
            </a:lvl4pPr>
            <a:lvl5pPr>
              <a:defRPr sz="1799"/>
            </a:lvl5pPr>
            <a:lvl6pPr>
              <a:defRPr sz="1799"/>
            </a:lvl6pPr>
            <a:lvl7pPr>
              <a:defRPr sz="1799"/>
            </a:lvl7pPr>
            <a:lvl8pPr>
              <a:defRPr sz="1799"/>
            </a:lvl8pPr>
            <a:lvl9pPr>
              <a:defRPr sz="1799"/>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2"/>
            <a:ext cx="5384800" cy="4525963"/>
          </a:xfrm>
        </p:spPr>
        <p:txBody>
          <a:bodyPr/>
          <a:lstStyle>
            <a:lvl1pPr>
              <a:defRPr sz="2799"/>
            </a:lvl1pPr>
            <a:lvl2pPr>
              <a:defRPr sz="2399"/>
            </a:lvl2pPr>
            <a:lvl3pPr>
              <a:defRPr sz="1999"/>
            </a:lvl3pPr>
            <a:lvl4pPr>
              <a:defRPr sz="1799"/>
            </a:lvl4pPr>
            <a:lvl5pPr>
              <a:defRPr sz="1799"/>
            </a:lvl5pPr>
            <a:lvl6pPr>
              <a:defRPr sz="1799"/>
            </a:lvl6pPr>
            <a:lvl7pPr>
              <a:defRPr sz="1799"/>
            </a:lvl7pPr>
            <a:lvl8pPr>
              <a:defRPr sz="1799"/>
            </a:lvl8pPr>
            <a:lvl9pPr>
              <a:defRPr sz="1799"/>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D4B1069-3899-470A-8AB1-734237277644}" type="datetimeFigureOut">
              <a:rPr lang="zh-CN" altLang="en-US" smtClean="0"/>
              <a:t>2020/6/29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20885834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399"/>
            </a:lvl1pPr>
            <a:lvl2pPr>
              <a:defRPr sz="1999"/>
            </a:lvl2pPr>
            <a:lvl3pPr>
              <a:defRPr sz="1799"/>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7" y="1535113"/>
            <a:ext cx="5389034" cy="63976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7" y="2174875"/>
            <a:ext cx="5389034" cy="3951288"/>
          </a:xfrm>
        </p:spPr>
        <p:txBody>
          <a:bodyPr/>
          <a:lstStyle>
            <a:lvl1pPr>
              <a:defRPr sz="2399"/>
            </a:lvl1pPr>
            <a:lvl2pPr>
              <a:defRPr sz="1999"/>
            </a:lvl2pPr>
            <a:lvl3pPr>
              <a:defRPr sz="1799"/>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D4B1069-3899-470A-8AB1-734237277644}" type="datetimeFigureOut">
              <a:rPr lang="zh-CN" altLang="en-US" smtClean="0"/>
              <a:t>2020/6/29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1195467350"/>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D4B1069-3899-470A-8AB1-734237277644}" type="datetimeFigureOut">
              <a:rPr lang="zh-CN" altLang="en-US" smtClean="0"/>
              <a:t>2020/6/29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5154231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D4B1069-3899-470A-8AB1-734237277644}" type="datetimeFigureOut">
              <a:rPr lang="zh-CN" altLang="en-US" smtClean="0"/>
              <a:t>2020/6/29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3365007563"/>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1999"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2"/>
            <a:ext cx="6815667" cy="5853113"/>
          </a:xfrm>
        </p:spPr>
        <p:txBody>
          <a:bodyPr/>
          <a:lstStyle>
            <a:lvl1pPr>
              <a:defRPr sz="3199"/>
            </a:lvl1pPr>
            <a:lvl2pPr>
              <a:defRPr sz="2799"/>
            </a:lvl2pPr>
            <a:lvl3pPr>
              <a:defRPr sz="2399"/>
            </a:lvl3pPr>
            <a:lvl4pPr>
              <a:defRPr sz="1999"/>
            </a:lvl4pPr>
            <a:lvl5pPr>
              <a:defRPr sz="1999"/>
            </a:lvl5pPr>
            <a:lvl6pPr>
              <a:defRPr sz="1999"/>
            </a:lvl6pPr>
            <a:lvl7pPr>
              <a:defRPr sz="1999"/>
            </a:lvl7pPr>
            <a:lvl8pPr>
              <a:defRPr sz="1999"/>
            </a:lvl8pPr>
            <a:lvl9pPr>
              <a:defRPr sz="1999"/>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2"/>
            <a:ext cx="4011084" cy="4691063"/>
          </a:xfrm>
        </p:spPr>
        <p:txBody>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6D4B1069-3899-470A-8AB1-734237277644}" type="datetimeFigureOut">
              <a:rPr lang="zh-CN" altLang="en-US" smtClean="0"/>
              <a:t>2020/6/29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1930610775"/>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8" y="4800600"/>
            <a:ext cx="7315200" cy="566738"/>
          </a:xfrm>
        </p:spPr>
        <p:txBody>
          <a:bodyPr anchor="b"/>
          <a:lstStyle>
            <a:lvl1pPr algn="l">
              <a:defRPr sz="1999"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8" y="612775"/>
            <a:ext cx="7315200" cy="4114800"/>
          </a:xfrm>
        </p:spPr>
        <p:txBody>
          <a:bodyPr/>
          <a:lstStyle>
            <a:lvl1pPr marL="0" indent="0">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endParaRPr lang="zh-CN" altLang="en-US"/>
          </a:p>
        </p:txBody>
      </p:sp>
      <p:sp>
        <p:nvSpPr>
          <p:cNvPr id="4" name="文本占位符 3"/>
          <p:cNvSpPr>
            <a:spLocks noGrp="1"/>
          </p:cNvSpPr>
          <p:nvPr>
            <p:ph type="body" sz="half" idx="2"/>
          </p:nvPr>
        </p:nvSpPr>
        <p:spPr>
          <a:xfrm>
            <a:off x="2389718" y="5367338"/>
            <a:ext cx="7315200" cy="804862"/>
          </a:xfrm>
        </p:spPr>
        <p:txBody>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6D4B1069-3899-470A-8AB1-734237277644}" type="datetimeFigureOut">
              <a:rPr lang="zh-CN" altLang="en-US" smtClean="0"/>
              <a:t>2020/6/29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4005294057"/>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D4B1069-3899-470A-8AB1-734237277644}" type="datetimeFigureOut">
              <a:rPr lang="zh-CN" altLang="en-US" smtClean="0"/>
              <a:t>2020/6/29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40207156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40"/>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D4B1069-3899-470A-8AB1-734237277644}" type="datetimeFigureOut">
              <a:rPr lang="zh-CN" altLang="en-US" smtClean="0"/>
              <a:t>2020/6/29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17608045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t>2020/6/29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13009841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t>2020/6/29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91667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2020/6/29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15131698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t>2020/6/29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20298890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t>2020/6/29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327166154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t>2020/6/29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167397416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2020/6/29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2215717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2020/6/29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71686934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t>2020/6/29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17182558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t>2020/6/29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3532122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2.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microsoft.com/office/2007/relationships/hdphoto" Target="../media/hdphoto1.wdp"/></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theme" Target="../theme/theme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sym typeface="等线 Light" panose="02010600030101010101" pitchFamily="2" charset="-122"/>
              </a:rPr>
              <a:t>单击此处编辑母版标题样式</a:t>
            </a:r>
          </a:p>
        </p:txBody>
      </p:sp>
      <p:sp>
        <p:nvSpPr>
          <p:cNvPr id="1027" name="文本占位符 2"/>
          <p:cNvSpPr>
            <a:spLocks noGrp="1" noChangeArrowheads="1"/>
          </p:cNvSpPr>
          <p:nvPr>
            <p:ph type="body" idx="4294967295"/>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sym typeface="等线" panose="02010600030101010101" pitchFamily="2" charset="-122"/>
              </a:rPr>
              <a:t>编辑母版文本样式</a:t>
            </a:r>
          </a:p>
          <a:p>
            <a:pPr lvl="1"/>
            <a:r>
              <a:rPr lang="zh-CN" altLang="en-US" smtClean="0">
                <a:sym typeface="等线" panose="02010600030101010101" pitchFamily="2" charset="-122"/>
              </a:rPr>
              <a:t>第二级</a:t>
            </a:r>
          </a:p>
          <a:p>
            <a:pPr lvl="2"/>
            <a:r>
              <a:rPr lang="zh-CN" altLang="en-US" smtClean="0">
                <a:sym typeface="等线" panose="02010600030101010101" pitchFamily="2" charset="-122"/>
              </a:rPr>
              <a:t>第三级</a:t>
            </a:r>
          </a:p>
          <a:p>
            <a:pPr lvl="3"/>
            <a:r>
              <a:rPr lang="zh-CN" altLang="en-US" smtClean="0">
                <a:sym typeface="等线" panose="02010600030101010101" pitchFamily="2" charset="-122"/>
              </a:rPr>
              <a:t>第四级</a:t>
            </a:r>
          </a:p>
          <a:p>
            <a:pPr lvl="4"/>
            <a:r>
              <a:rPr lang="zh-CN" altLang="en-US" smtClean="0">
                <a:sym typeface="等线" panose="02010600030101010101" pitchFamily="2" charset="-122"/>
              </a:rPr>
              <a:t>第五级</a:t>
            </a:r>
          </a:p>
        </p:txBody>
      </p:sp>
      <p:sp>
        <p:nvSpPr>
          <p:cNvPr id="1028" name="日期占位符 3"/>
          <p:cNvSpPr>
            <a:spLocks noGrp="1"/>
          </p:cNvSpPr>
          <p:nvPr>
            <p:ph type="dt" sz="half" idx="2"/>
          </p:nvPr>
        </p:nvSpPr>
        <p:spPr>
          <a:xfrm>
            <a:off x="838200" y="6356350"/>
            <a:ext cx="2743200" cy="365125"/>
          </a:xfrm>
          <a:prstGeom prst="rect">
            <a:avLst/>
          </a:prstGeom>
          <a:noFill/>
          <a:ln w="9525">
            <a:noFill/>
          </a:ln>
        </p:spPr>
        <p:txBody>
          <a:bodyPr vert="horz" wrap="square" lIns="91440" tIns="45720" rIns="91440" bIns="45720" numCol="1" anchor="ctr" anchorCtr="0" compatLnSpc="1">
            <a:prstTxWarp prst="textNoShape">
              <a:avLst/>
            </a:prstTxWarp>
          </a:bodyPr>
          <a:lstStyle>
            <a:lvl1pPr>
              <a:defRPr sz="1200">
                <a:solidFill>
                  <a:srgbClr val="898989"/>
                </a:solidFill>
                <a:ea typeface="宋体" panose="02010600030101010101" pitchFamily="2" charset="-122"/>
              </a:defRPr>
            </a:lvl1pPr>
          </a:lstStyle>
          <a:p>
            <a:fld id="{7C4007FC-7049-45F5-B501-843231AA84E4}" type="datetime1">
              <a:rPr lang="zh-CN" altLang="en-US"/>
              <a:pPr/>
              <a:t>2020/6/29</a:t>
            </a:fld>
            <a:endParaRPr lang="zh-CN" altLang="en-US"/>
          </a:p>
        </p:txBody>
      </p:sp>
      <p:sp>
        <p:nvSpPr>
          <p:cNvPr id="1029" name="页脚占位符 4"/>
          <p:cNvSpPr>
            <a:spLocks noGrp="1"/>
          </p:cNvSpPr>
          <p:nvPr>
            <p:ph type="ftr" sz="quarter" idx="3"/>
          </p:nvPr>
        </p:nvSpPr>
        <p:spPr>
          <a:xfrm>
            <a:off x="4038600" y="6356350"/>
            <a:ext cx="4114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endParaRPr/>
          </a:p>
        </p:txBody>
      </p:sp>
      <p:sp>
        <p:nvSpPr>
          <p:cNvPr id="1030" name="灯片编号占位符 5"/>
          <p:cNvSpPr>
            <a:spLocks noGrp="1"/>
          </p:cNvSpPr>
          <p:nvPr>
            <p:ph type="sldNum" sz="quarter" idx="4"/>
          </p:nvPr>
        </p:nvSpPr>
        <p:spPr>
          <a:xfrm>
            <a:off x="8610600" y="6356350"/>
            <a:ext cx="2743200" cy="365125"/>
          </a:xfrm>
          <a:prstGeom prst="rect">
            <a:avLst/>
          </a:prstGeom>
          <a:noFill/>
          <a:ln w="9525">
            <a:noFill/>
          </a:ln>
        </p:spPr>
        <p:txBody>
          <a:bodyPr vert="horz" wrap="square" lIns="91440" tIns="45720" rIns="91440" bIns="45720" numCol="1" anchor="ctr" anchorCtr="0" compatLnSpc="1">
            <a:prstTxWarp prst="textNoShape">
              <a:avLst/>
            </a:prstTxWarp>
          </a:bodyPr>
          <a:lstStyle>
            <a:lvl1pPr algn="r">
              <a:defRPr sz="1200">
                <a:solidFill>
                  <a:srgbClr val="898989"/>
                </a:solidFill>
                <a:ea typeface="宋体" panose="02010600030101010101" pitchFamily="2" charset="-122"/>
              </a:defRPr>
            </a:lvl1pPr>
          </a:lstStyle>
          <a:p>
            <a:fld id="{7C2F6E32-FB13-4BDA-AB60-02C5A9ADE4BF}"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marL="914400" indent="-914400" algn="l" rtl="0" fontAlgn="base">
        <a:lnSpc>
          <a:spcPct val="90000"/>
        </a:lnSpc>
        <a:spcBef>
          <a:spcPct val="0"/>
        </a:spcBef>
        <a:spcAft>
          <a:spcPct val="0"/>
        </a:spcAft>
        <a:buFont typeface="Arial" panose="020B0604020202020204" pitchFamily="34" charset="0"/>
        <a:defRPr sz="4400" kern="1200">
          <a:solidFill>
            <a:schemeClr val="tx1"/>
          </a:solidFill>
          <a:latin typeface="+mj-lt"/>
          <a:ea typeface="+mj-ea"/>
          <a:cs typeface="+mj-cs"/>
          <a:sym typeface="等线 Light" panose="02010600030101010101" pitchFamily="2" charset="-122"/>
        </a:defRPr>
      </a:lvl1pPr>
      <a:lvl2pPr marL="914400" indent="-914400" algn="l" rtl="0" fontAlgn="base">
        <a:lnSpc>
          <a:spcPct val="90000"/>
        </a:lnSpc>
        <a:spcBef>
          <a:spcPct val="0"/>
        </a:spcBef>
        <a:spcAft>
          <a:spcPct val="0"/>
        </a:spcAft>
        <a:buFont typeface="Arial" panose="020B0604020202020204" pitchFamily="34" charset="0"/>
        <a:defRPr sz="4400">
          <a:solidFill>
            <a:schemeClr val="tx1"/>
          </a:solidFill>
          <a:latin typeface="等线 Light" panose="02010600030101010101" pitchFamily="2" charset="-122"/>
          <a:ea typeface="等线 Light" panose="02010600030101010101" pitchFamily="2" charset="-122"/>
          <a:sym typeface="等线 Light" panose="02010600030101010101" pitchFamily="2" charset="-122"/>
        </a:defRPr>
      </a:lvl2pPr>
      <a:lvl3pPr marL="914400" indent="-914400" algn="l" rtl="0" fontAlgn="base">
        <a:lnSpc>
          <a:spcPct val="90000"/>
        </a:lnSpc>
        <a:spcBef>
          <a:spcPct val="0"/>
        </a:spcBef>
        <a:spcAft>
          <a:spcPct val="0"/>
        </a:spcAft>
        <a:buFont typeface="Arial" panose="020B0604020202020204" pitchFamily="34" charset="0"/>
        <a:defRPr sz="4400">
          <a:solidFill>
            <a:schemeClr val="tx1"/>
          </a:solidFill>
          <a:latin typeface="等线 Light" panose="02010600030101010101" pitchFamily="2" charset="-122"/>
          <a:ea typeface="等线 Light" panose="02010600030101010101" pitchFamily="2" charset="-122"/>
          <a:sym typeface="等线 Light" panose="02010600030101010101" pitchFamily="2" charset="-122"/>
        </a:defRPr>
      </a:lvl3pPr>
      <a:lvl4pPr marL="914400" indent="-914400" algn="l" rtl="0" fontAlgn="base">
        <a:lnSpc>
          <a:spcPct val="90000"/>
        </a:lnSpc>
        <a:spcBef>
          <a:spcPct val="0"/>
        </a:spcBef>
        <a:spcAft>
          <a:spcPct val="0"/>
        </a:spcAft>
        <a:buFont typeface="Arial" panose="020B0604020202020204" pitchFamily="34" charset="0"/>
        <a:defRPr sz="4400">
          <a:solidFill>
            <a:schemeClr val="tx1"/>
          </a:solidFill>
          <a:latin typeface="等线 Light" panose="02010600030101010101" pitchFamily="2" charset="-122"/>
          <a:ea typeface="等线 Light" panose="02010600030101010101" pitchFamily="2" charset="-122"/>
          <a:sym typeface="等线 Light" panose="02010600030101010101" pitchFamily="2" charset="-122"/>
        </a:defRPr>
      </a:lvl4pPr>
      <a:lvl5pPr marL="914400" indent="-914400" algn="l" rtl="0" fontAlgn="base">
        <a:lnSpc>
          <a:spcPct val="90000"/>
        </a:lnSpc>
        <a:spcBef>
          <a:spcPct val="0"/>
        </a:spcBef>
        <a:spcAft>
          <a:spcPct val="0"/>
        </a:spcAft>
        <a:buFont typeface="Arial" panose="020B0604020202020204" pitchFamily="34" charset="0"/>
        <a:defRPr sz="4400">
          <a:solidFill>
            <a:schemeClr val="tx1"/>
          </a:solidFill>
          <a:latin typeface="等线 Light" panose="02010600030101010101" pitchFamily="2" charset="-122"/>
          <a:ea typeface="等线 Light" panose="02010600030101010101" pitchFamily="2" charset="-122"/>
          <a:sym typeface="等线 Light" panose="02010600030101010101" pitchFamily="2" charset="-122"/>
        </a:defRPr>
      </a:lvl5pPr>
      <a:lvl6pPr marL="1371600" indent="-914400" algn="l" rtl="0" fontAlgn="base">
        <a:lnSpc>
          <a:spcPct val="90000"/>
        </a:lnSpc>
        <a:spcBef>
          <a:spcPct val="0"/>
        </a:spcBef>
        <a:spcAft>
          <a:spcPct val="0"/>
        </a:spcAft>
        <a:buFont typeface="Arial" panose="020B0604020202020204" pitchFamily="34" charset="0"/>
        <a:defRPr sz="4400">
          <a:solidFill>
            <a:schemeClr val="tx1"/>
          </a:solidFill>
          <a:latin typeface="等线 Light" panose="02010600030101010101" pitchFamily="2" charset="-122"/>
          <a:ea typeface="等线 Light" panose="02010600030101010101" pitchFamily="2" charset="-122"/>
          <a:sym typeface="等线 Light" panose="02010600030101010101" pitchFamily="2" charset="-122"/>
        </a:defRPr>
      </a:lvl6pPr>
      <a:lvl7pPr marL="1828800" indent="-914400" algn="l" rtl="0" fontAlgn="base">
        <a:lnSpc>
          <a:spcPct val="90000"/>
        </a:lnSpc>
        <a:spcBef>
          <a:spcPct val="0"/>
        </a:spcBef>
        <a:spcAft>
          <a:spcPct val="0"/>
        </a:spcAft>
        <a:buFont typeface="Arial" panose="020B0604020202020204" pitchFamily="34" charset="0"/>
        <a:defRPr sz="4400">
          <a:solidFill>
            <a:schemeClr val="tx1"/>
          </a:solidFill>
          <a:latin typeface="等线 Light" panose="02010600030101010101" pitchFamily="2" charset="-122"/>
          <a:ea typeface="等线 Light" panose="02010600030101010101" pitchFamily="2" charset="-122"/>
          <a:sym typeface="等线 Light" panose="02010600030101010101" pitchFamily="2" charset="-122"/>
        </a:defRPr>
      </a:lvl7pPr>
      <a:lvl8pPr marL="2286000" indent="-914400" algn="l" rtl="0" fontAlgn="base">
        <a:lnSpc>
          <a:spcPct val="90000"/>
        </a:lnSpc>
        <a:spcBef>
          <a:spcPct val="0"/>
        </a:spcBef>
        <a:spcAft>
          <a:spcPct val="0"/>
        </a:spcAft>
        <a:buFont typeface="Arial" panose="020B0604020202020204" pitchFamily="34" charset="0"/>
        <a:defRPr sz="4400">
          <a:solidFill>
            <a:schemeClr val="tx1"/>
          </a:solidFill>
          <a:latin typeface="等线 Light" panose="02010600030101010101" pitchFamily="2" charset="-122"/>
          <a:ea typeface="等线 Light" panose="02010600030101010101" pitchFamily="2" charset="-122"/>
          <a:sym typeface="等线 Light" panose="02010600030101010101" pitchFamily="2" charset="-122"/>
        </a:defRPr>
      </a:lvl8pPr>
      <a:lvl9pPr marL="2743200" indent="-914400" algn="l" rtl="0" fontAlgn="base">
        <a:lnSpc>
          <a:spcPct val="90000"/>
        </a:lnSpc>
        <a:spcBef>
          <a:spcPct val="0"/>
        </a:spcBef>
        <a:spcAft>
          <a:spcPct val="0"/>
        </a:spcAft>
        <a:buFont typeface="Arial" panose="020B0604020202020204" pitchFamily="34" charset="0"/>
        <a:defRPr sz="4400">
          <a:solidFill>
            <a:schemeClr val="tx1"/>
          </a:solidFill>
          <a:latin typeface="等线 Light" panose="02010600030101010101" pitchFamily="2" charset="-122"/>
          <a:ea typeface="等线 Light" panose="02010600030101010101" pitchFamily="2" charset="-122"/>
          <a:sym typeface="等线 Light"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sym typeface="等线" panose="02010600030101010101" pitchFamily="2" charset="-122"/>
        </a:defRPr>
      </a:lvl1pPr>
      <a:lvl2pPr marL="685800" lvl="1"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sym typeface="等线" panose="02010600030101010101" pitchFamily="2" charset="-122"/>
        </a:defRPr>
      </a:lvl2pPr>
      <a:lvl3pPr marL="1143000" lvl="2"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sym typeface="等线" panose="02010600030101010101" pitchFamily="2" charset="-122"/>
        </a:defRPr>
      </a:lvl3pPr>
      <a:lvl4pPr marL="1600200" lvl="3"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等线" panose="02010600030101010101" pitchFamily="2" charset="-122"/>
        </a:defRPr>
      </a:lvl4pPr>
      <a:lvl5pPr marL="2057400" lvl="4"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等线" panose="02010600030101010101" pitchFamily="2" charset="-122"/>
        </a:defRPr>
      </a:lvl5pPr>
      <a:lvl6pPr marL="2514600" lvl="5" indent="-228600" algn="l" defTabSz="914400" eaLnBrk="1" fontAlgn="base"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sym typeface="等线" panose="02010600030101010101" charset="-122"/>
        </a:defRPr>
      </a:lvl6pPr>
      <a:lvl7pPr marL="2971800" lvl="6" indent="-228600" algn="l" defTabSz="914400" eaLnBrk="1" fontAlgn="base"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sym typeface="等线" panose="02010600030101010101" charset="-122"/>
        </a:defRPr>
      </a:lvl7pPr>
      <a:lvl8pPr marL="3429000" lvl="7" indent="-228600" algn="l" defTabSz="914400" eaLnBrk="1" fontAlgn="base"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sym typeface="等线" panose="02010600030101010101" charset="-122"/>
        </a:defRPr>
      </a:lvl8pPr>
      <a:lvl9pPr marL="3886200" lvl="8" indent="-228600" algn="l" defTabSz="914400" eaLnBrk="1" fontAlgn="base"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sym typeface="等线" panose="02010600030101010101" charset="-122"/>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3000">
              <a:schemeClr val="tx1">
                <a:lumMod val="65000"/>
                <a:lumOff val="35000"/>
              </a:schemeClr>
            </a:gs>
            <a:gs pos="100000">
              <a:schemeClr val="tx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695B95-FF0C-418F-BA6E-C8A9F64C5066}" type="datetimeFigureOut">
              <a:rPr lang="zh-CN" altLang="en-US" smtClean="0"/>
              <a:t>2020/6/29</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638EE1-5CF4-476F-8DDD-0D8DD27A06CA}" type="slidenum">
              <a:rPr lang="zh-CN" altLang="en-US" smtClean="0"/>
              <a:t>‹#›</a:t>
            </a:fld>
            <a:endParaRPr lang="zh-CN" altLang="en-US"/>
          </a:p>
        </p:txBody>
      </p:sp>
    </p:spTree>
    <p:extLst>
      <p:ext uri="{BB962C8B-B14F-4D97-AF65-F5344CB8AC3E}">
        <p14:creationId xmlns:p14="http://schemas.microsoft.com/office/powerpoint/2010/main" val="6865710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brightnessContrast bright="-1000" contrast="11000"/>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14" name="Picture 11" descr="NJU2"/>
          <p:cNvPicPr>
            <a:picLocks noChangeAspect="1" noChangeArrowheads="1"/>
          </p:cNvPicPr>
          <p:nvPr userDrawn="1"/>
        </p:nvPicPr>
        <p:blipFill>
          <a:blip r:embed="rId15" cstate="print"/>
          <a:srcRect/>
          <a:stretch>
            <a:fillRect/>
          </a:stretch>
        </p:blipFill>
        <p:spPr bwMode="auto">
          <a:xfrm>
            <a:off x="51297" y="72411"/>
            <a:ext cx="1725347" cy="677950"/>
          </a:xfrm>
          <a:prstGeom prst="rect">
            <a:avLst/>
          </a:prstGeom>
          <a:noFill/>
          <a:ln w="9525">
            <a:noFill/>
            <a:miter lim="800000"/>
            <a:headEnd/>
            <a:tailEnd/>
          </a:ln>
        </p:spPr>
      </p:pic>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2"/>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1" y="6356352"/>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4B1069-3899-470A-8AB1-734237277644}" type="datetimeFigureOut">
              <a:rPr lang="zh-CN" altLang="en-US" smtClean="0"/>
              <a:t>2020/6/29</a:t>
            </a:fld>
            <a:endParaRPr lang="zh-CN" altLang="en-US"/>
          </a:p>
        </p:txBody>
      </p:sp>
      <p:sp>
        <p:nvSpPr>
          <p:cNvPr id="5" name="页脚占位符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14791898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txStyles>
    <p:titleStyle>
      <a:lvl1pPr algn="ctr" defTabSz="914126" rtl="0" eaLnBrk="1" latinLnBrk="0" hangingPunct="1">
        <a:spcBef>
          <a:spcPct val="0"/>
        </a:spcBef>
        <a:buNone/>
        <a:defRPr sz="4399" kern="1200">
          <a:solidFill>
            <a:schemeClr val="tx1"/>
          </a:solidFill>
          <a:latin typeface="+mj-lt"/>
          <a:ea typeface="+mj-ea"/>
          <a:cs typeface="+mj-cs"/>
        </a:defRPr>
      </a:lvl1pPr>
    </p:titleStyle>
    <p:bodyStyle>
      <a:lvl1pPr marL="342797" indent="-342797" algn="l" defTabSz="914126" rtl="0" eaLnBrk="1" latinLnBrk="0" hangingPunct="1">
        <a:spcBef>
          <a:spcPct val="20000"/>
        </a:spcBef>
        <a:buFont typeface="Arial" panose="020B0604020202020204" pitchFamily="34" charset="0"/>
        <a:buChar char="•"/>
        <a:defRPr sz="3199" kern="1200">
          <a:solidFill>
            <a:schemeClr val="tx1"/>
          </a:solidFill>
          <a:latin typeface="+mn-lt"/>
          <a:ea typeface="+mn-ea"/>
          <a:cs typeface="+mn-cs"/>
        </a:defRPr>
      </a:lvl1pPr>
      <a:lvl2pPr marL="742727" indent="-285664" algn="l" defTabSz="914126" rtl="0" eaLnBrk="1" latinLnBrk="0" hangingPunct="1">
        <a:spcBef>
          <a:spcPct val="20000"/>
        </a:spcBef>
        <a:buFont typeface="Arial" panose="020B0604020202020204" pitchFamily="34" charset="0"/>
        <a:buChar char="–"/>
        <a:defRPr sz="2799" kern="1200">
          <a:solidFill>
            <a:schemeClr val="tx1"/>
          </a:solidFill>
          <a:latin typeface="+mn-lt"/>
          <a:ea typeface="+mn-ea"/>
          <a:cs typeface="+mn-cs"/>
        </a:defRPr>
      </a:lvl2pPr>
      <a:lvl3pPr marL="1142657" indent="-228531" algn="l" defTabSz="914126" rtl="0" eaLnBrk="1" latinLnBrk="0" hangingPunct="1">
        <a:spcBef>
          <a:spcPct val="20000"/>
        </a:spcBef>
        <a:buFont typeface="Arial" panose="020B0604020202020204" pitchFamily="34" charset="0"/>
        <a:buChar char="•"/>
        <a:defRPr sz="2399" kern="1200">
          <a:solidFill>
            <a:schemeClr val="tx1"/>
          </a:solidFill>
          <a:latin typeface="+mn-lt"/>
          <a:ea typeface="+mn-ea"/>
          <a:cs typeface="+mn-cs"/>
        </a:defRPr>
      </a:lvl3pPr>
      <a:lvl4pPr marL="1599720" indent="-228531" algn="l" defTabSz="914126" rtl="0" eaLnBrk="1" latinLnBrk="0" hangingPunct="1">
        <a:spcBef>
          <a:spcPct val="20000"/>
        </a:spcBef>
        <a:buFont typeface="Arial" panose="020B0604020202020204" pitchFamily="34" charset="0"/>
        <a:buChar char="–"/>
        <a:defRPr sz="1999" kern="1200">
          <a:solidFill>
            <a:schemeClr val="tx1"/>
          </a:solidFill>
          <a:latin typeface="+mn-lt"/>
          <a:ea typeface="+mn-ea"/>
          <a:cs typeface="+mn-cs"/>
        </a:defRPr>
      </a:lvl4pPr>
      <a:lvl5pPr marL="2056783" indent="-228531" algn="l" defTabSz="914126" rtl="0" eaLnBrk="1" latinLnBrk="0" hangingPunct="1">
        <a:spcBef>
          <a:spcPct val="20000"/>
        </a:spcBef>
        <a:buFont typeface="Arial" panose="020B0604020202020204" pitchFamily="34" charset="0"/>
        <a:buChar char="»"/>
        <a:defRPr sz="1999" kern="1200">
          <a:solidFill>
            <a:schemeClr val="tx1"/>
          </a:solidFill>
          <a:latin typeface="+mn-lt"/>
          <a:ea typeface="+mn-ea"/>
          <a:cs typeface="+mn-cs"/>
        </a:defRPr>
      </a:lvl5pPr>
      <a:lvl6pPr marL="2513846" indent="-228531" algn="l" defTabSz="914126" rtl="0" eaLnBrk="1" latinLnBrk="0" hangingPunct="1">
        <a:spcBef>
          <a:spcPct val="20000"/>
        </a:spcBef>
        <a:buFont typeface="Arial" panose="020B0604020202020204" pitchFamily="34" charset="0"/>
        <a:buChar char="•"/>
        <a:defRPr sz="1999" kern="1200">
          <a:solidFill>
            <a:schemeClr val="tx1"/>
          </a:solidFill>
          <a:latin typeface="+mn-lt"/>
          <a:ea typeface="+mn-ea"/>
          <a:cs typeface="+mn-cs"/>
        </a:defRPr>
      </a:lvl6pPr>
      <a:lvl7pPr marL="2970908" indent="-228531" algn="l" defTabSz="914126" rtl="0" eaLnBrk="1" latinLnBrk="0" hangingPunct="1">
        <a:spcBef>
          <a:spcPct val="20000"/>
        </a:spcBef>
        <a:buFont typeface="Arial" panose="020B0604020202020204" pitchFamily="34" charset="0"/>
        <a:buChar char="•"/>
        <a:defRPr sz="1999" kern="1200">
          <a:solidFill>
            <a:schemeClr val="tx1"/>
          </a:solidFill>
          <a:latin typeface="+mn-lt"/>
          <a:ea typeface="+mn-ea"/>
          <a:cs typeface="+mn-cs"/>
        </a:defRPr>
      </a:lvl7pPr>
      <a:lvl8pPr marL="3427971" indent="-228531" algn="l" defTabSz="914126" rtl="0" eaLnBrk="1" latinLnBrk="0" hangingPunct="1">
        <a:spcBef>
          <a:spcPct val="20000"/>
        </a:spcBef>
        <a:buFont typeface="Arial" panose="020B0604020202020204" pitchFamily="34" charset="0"/>
        <a:buChar char="•"/>
        <a:defRPr sz="1999" kern="1200">
          <a:solidFill>
            <a:schemeClr val="tx1"/>
          </a:solidFill>
          <a:latin typeface="+mn-lt"/>
          <a:ea typeface="+mn-ea"/>
          <a:cs typeface="+mn-cs"/>
        </a:defRPr>
      </a:lvl8pPr>
      <a:lvl9pPr marL="3885034" indent="-228531" algn="l" defTabSz="914126" rtl="0" eaLnBrk="1" latinLnBrk="0" hangingPunct="1">
        <a:spcBef>
          <a:spcPct val="20000"/>
        </a:spcBef>
        <a:buFont typeface="Arial" panose="020B0604020202020204" pitchFamily="34" charset="0"/>
        <a:buChar char="•"/>
        <a:defRPr sz="1999" kern="1200">
          <a:solidFill>
            <a:schemeClr val="tx1"/>
          </a:solidFill>
          <a:latin typeface="+mn-lt"/>
          <a:ea typeface="+mn-ea"/>
          <a:cs typeface="+mn-cs"/>
        </a:defRPr>
      </a:lvl9pPr>
    </p:bodyStyle>
    <p:otherStyle>
      <a:defPPr>
        <a:defRPr lang="zh-CN"/>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2020/6/29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277496731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image" Target="../media/image8.png"/><Relationship Id="rId7" Type="http://schemas.openxmlformats.org/officeDocument/2006/relationships/image" Target="../media/image15.emf"/><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4.emf"/><Relationship Id="rId11" Type="http://schemas.openxmlformats.org/officeDocument/2006/relationships/image" Target="../media/image19.emf"/><Relationship Id="rId5" Type="http://schemas.openxmlformats.org/officeDocument/2006/relationships/image" Target="../media/image13.emf"/><Relationship Id="rId10" Type="http://schemas.openxmlformats.org/officeDocument/2006/relationships/image" Target="../media/image18.emf"/><Relationship Id="rId4" Type="http://schemas.openxmlformats.org/officeDocument/2006/relationships/image" Target="../media/image12.emf"/><Relationship Id="rId9" Type="http://schemas.openxmlformats.org/officeDocument/2006/relationships/image" Target="../media/image17.emf"/></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image" Target="../media/image8.png"/><Relationship Id="rId7" Type="http://schemas.openxmlformats.org/officeDocument/2006/relationships/image" Target="../media/image27.emf"/><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emf"/></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30.jpe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33.emf"/><Relationship Id="rId5" Type="http://schemas.openxmlformats.org/officeDocument/2006/relationships/image" Target="../media/image32.emf"/><Relationship Id="rId4" Type="http://schemas.openxmlformats.org/officeDocument/2006/relationships/image" Target="../media/image31.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1.emf"/><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40.emf"/><Relationship Id="rId5" Type="http://schemas.openxmlformats.org/officeDocument/2006/relationships/image" Target="../media/image39.emf"/><Relationship Id="rId4" Type="http://schemas.openxmlformats.org/officeDocument/2006/relationships/image" Target="../media/image38.emf"/></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image" Target="../media/image8.png"/><Relationship Id="rId7" Type="http://schemas.openxmlformats.org/officeDocument/2006/relationships/image" Target="../media/image46.emf"/><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45.emf"/><Relationship Id="rId5" Type="http://schemas.openxmlformats.org/officeDocument/2006/relationships/image" Target="../media/image44.emf"/><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4.xml"/></Relationships>
</file>

<file path=ppt/slides/_rels/slide6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9" name="组合 27"/>
          <p:cNvGrpSpPr>
            <a:grpSpLocks/>
          </p:cNvGrpSpPr>
          <p:nvPr/>
        </p:nvGrpSpPr>
        <p:grpSpPr bwMode="auto">
          <a:xfrm>
            <a:off x="942974" y="2025650"/>
            <a:ext cx="7369752" cy="3311235"/>
            <a:chOff x="-1" y="0"/>
            <a:chExt cx="7368309" cy="3313866"/>
          </a:xfrm>
        </p:grpSpPr>
        <p:sp>
          <p:nvSpPr>
            <p:cNvPr id="2050" name="文本框 7"/>
            <p:cNvSpPr>
              <a:spLocks noChangeArrowheads="1"/>
            </p:cNvSpPr>
            <p:nvPr/>
          </p:nvSpPr>
          <p:spPr bwMode="auto">
            <a:xfrm>
              <a:off x="0" y="0"/>
              <a:ext cx="516887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4000" dirty="0" smtClean="0">
                  <a:solidFill>
                    <a:srgbClr val="707029"/>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软件质量保障</a:t>
              </a:r>
              <a:endParaRPr lang="zh-CN" altLang="en-US" sz="4000" dirty="0">
                <a:solidFill>
                  <a:srgbClr val="707029"/>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2051" name="文本框 8"/>
            <p:cNvSpPr>
              <a:spLocks noChangeArrowheads="1"/>
            </p:cNvSpPr>
            <p:nvPr/>
          </p:nvSpPr>
          <p:spPr bwMode="auto">
            <a:xfrm>
              <a:off x="0" y="707886"/>
              <a:ext cx="7368308" cy="1509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en-US" altLang="zh-CN" sz="6000" b="1" dirty="0" smtClean="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ISO</a:t>
              </a:r>
              <a:r>
                <a:rPr lang="en-US" altLang="zh-CN" sz="3200" b="1" dirty="0" smtClean="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(International Organization     		for Standardization)</a:t>
              </a:r>
              <a:endParaRPr lang="zh-CN" altLang="en-US" sz="3200" b="1" dirty="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2052" name="文本框 9"/>
            <p:cNvSpPr>
              <a:spLocks noChangeArrowheads="1"/>
            </p:cNvSpPr>
            <p:nvPr/>
          </p:nvSpPr>
          <p:spPr bwMode="auto">
            <a:xfrm>
              <a:off x="-1" y="2667021"/>
              <a:ext cx="7368309" cy="646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en-US" altLang="zh-CN" sz="2400" dirty="0" smtClean="0">
                  <a:solidFill>
                    <a:srgbClr val="000000"/>
                  </a:solidFill>
                  <a:latin typeface="等线" panose="02010600030101010101" pitchFamily="2" charset="-122"/>
                  <a:sym typeface="等线" panose="02010600030101010101" pitchFamily="2" charset="-122"/>
                </a:rPr>
                <a:t>				</a:t>
              </a:r>
              <a:endParaRPr lang="en-US" altLang="en-US" sz="2400" dirty="0">
                <a:ea typeface="宋体" panose="02010600030101010101" pitchFamily="2" charset="-122"/>
              </a:endParaRPr>
            </a:p>
          </p:txBody>
        </p:sp>
      </p:grpSp>
      <p:sp>
        <p:nvSpPr>
          <p:cNvPr id="2053" name="等腰三角形 15"/>
          <p:cNvSpPr>
            <a:spLocks noChangeArrowheads="1"/>
          </p:cNvSpPr>
          <p:nvPr/>
        </p:nvSpPr>
        <p:spPr bwMode="auto">
          <a:xfrm>
            <a:off x="2371725" y="5984875"/>
            <a:ext cx="1177925" cy="1016000"/>
          </a:xfrm>
          <a:prstGeom prst="triangle">
            <a:avLst>
              <a:gd name="adj" fmla="val 50000"/>
            </a:avLst>
          </a:prstGeom>
          <a:noFill/>
          <a:ln w="12700">
            <a:solidFill>
              <a:srgbClr val="B2AD4E"/>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2054" name="等腰三角形 18"/>
          <p:cNvSpPr>
            <a:spLocks noChangeArrowheads="1"/>
          </p:cNvSpPr>
          <p:nvPr/>
        </p:nvSpPr>
        <p:spPr bwMode="auto">
          <a:xfrm>
            <a:off x="6619875" y="5348288"/>
            <a:ext cx="1873250" cy="1614487"/>
          </a:xfrm>
          <a:prstGeom prst="triangle">
            <a:avLst>
              <a:gd name="adj" fmla="val 50000"/>
            </a:avLst>
          </a:prstGeom>
          <a:noFill/>
          <a:ln w="28575">
            <a:solidFill>
              <a:srgbClr val="707029"/>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2055" name="等腰三角形 19"/>
          <p:cNvSpPr>
            <a:spLocks noChangeArrowheads="1"/>
          </p:cNvSpPr>
          <p:nvPr/>
        </p:nvSpPr>
        <p:spPr bwMode="auto">
          <a:xfrm>
            <a:off x="5984875" y="5722938"/>
            <a:ext cx="1441450" cy="1243012"/>
          </a:xfrm>
          <a:prstGeom prst="triangle">
            <a:avLst>
              <a:gd name="adj" fmla="val 50000"/>
            </a:avLst>
          </a:prstGeom>
          <a:noFill/>
          <a:ln w="19050">
            <a:solidFill>
              <a:srgbClr val="0498A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2056" name="图片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1050" y="0"/>
            <a:ext cx="50387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7" name="图片 26"/>
          <p:cNvPicPr>
            <a:picLocks noChangeAspect="1" noChangeArrowheads="1"/>
          </p:cNvPicPr>
          <p:nvPr/>
        </p:nvPicPr>
        <p:blipFill>
          <a:blip r:embed="rId3">
            <a:extLst>
              <a:ext uri="{28A0092B-C50C-407E-A947-70E740481C1C}">
                <a14:useLocalDpi xmlns:a14="http://schemas.microsoft.com/office/drawing/2010/main" val="0"/>
              </a:ext>
            </a:extLst>
          </a:blip>
          <a:srcRect t="5646"/>
          <a:stretch>
            <a:fillRect/>
          </a:stretch>
        </p:blipFill>
        <p:spPr bwMode="auto">
          <a:xfrm>
            <a:off x="476250" y="0"/>
            <a:ext cx="202882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8" name="等腰三角形 28"/>
          <p:cNvSpPr>
            <a:spLocks noChangeArrowheads="1"/>
          </p:cNvSpPr>
          <p:nvPr/>
        </p:nvSpPr>
        <p:spPr bwMode="auto">
          <a:xfrm flipV="1">
            <a:off x="446088" y="0"/>
            <a:ext cx="1125537" cy="873125"/>
          </a:xfrm>
          <a:prstGeom prst="triangle">
            <a:avLst>
              <a:gd name="adj" fmla="val 50000"/>
            </a:avLst>
          </a:prstGeom>
          <a:solidFill>
            <a:srgbClr val="2A555B"/>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1026" name="Picture 2" descr="ISO Logo (Red square).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9691" y="969878"/>
            <a:ext cx="1246069" cy="11497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等腰三角形 6"/>
          <p:cNvSpPr>
            <a:spLocks noChangeArrowheads="1"/>
          </p:cNvSpPr>
          <p:nvPr/>
        </p:nvSpPr>
        <p:spPr bwMode="auto">
          <a:xfrm flipV="1">
            <a:off x="139700" y="2882900"/>
            <a:ext cx="1536700" cy="1239838"/>
          </a:xfrm>
          <a:prstGeom prst="triangle">
            <a:avLst>
              <a:gd name="adj" fmla="val 50000"/>
            </a:avLst>
          </a:prstGeom>
          <a:noFill/>
          <a:ln w="38100">
            <a:solidFill>
              <a:srgbClr val="B2AD4E"/>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3074" name="等腰三角形 7"/>
          <p:cNvSpPr>
            <a:spLocks noChangeArrowheads="1"/>
          </p:cNvSpPr>
          <p:nvPr/>
        </p:nvSpPr>
        <p:spPr bwMode="auto">
          <a:xfrm flipV="1">
            <a:off x="139700" y="1504950"/>
            <a:ext cx="4565650" cy="4514850"/>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3075" name="等腰三角形 8"/>
          <p:cNvSpPr>
            <a:spLocks noChangeArrowheads="1"/>
          </p:cNvSpPr>
          <p:nvPr/>
        </p:nvSpPr>
        <p:spPr bwMode="auto">
          <a:xfrm flipV="1">
            <a:off x="3101975" y="4121150"/>
            <a:ext cx="1350963" cy="1165225"/>
          </a:xfrm>
          <a:prstGeom prst="triangle">
            <a:avLst>
              <a:gd name="adj" fmla="val 50000"/>
            </a:avLst>
          </a:prstGeom>
          <a:noFill/>
          <a:ln w="28575">
            <a:solidFill>
              <a:srgbClr val="0498A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3076" name="图片 5"/>
          <p:cNvPicPr>
            <a:picLocks noChangeAspect="1" noChangeArrowheads="1"/>
          </p:cNvPicPr>
          <p:nvPr/>
        </p:nvPicPr>
        <p:blipFill>
          <a:blip r:embed="rId2">
            <a:extLst>
              <a:ext uri="{28A0092B-C50C-407E-A947-70E740481C1C}">
                <a14:useLocalDpi xmlns:a14="http://schemas.microsoft.com/office/drawing/2010/main" val="0"/>
              </a:ext>
            </a:extLst>
          </a:blip>
          <a:srcRect t="15021" r="10030"/>
          <a:stretch>
            <a:fillRect/>
          </a:stretch>
        </p:blipFill>
        <p:spPr bwMode="auto">
          <a:xfrm>
            <a:off x="-881063" y="0"/>
            <a:ext cx="5334001"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文本框 9"/>
          <p:cNvSpPr>
            <a:spLocks noChangeArrowheads="1"/>
          </p:cNvSpPr>
          <p:nvPr/>
        </p:nvSpPr>
        <p:spPr bwMode="auto">
          <a:xfrm>
            <a:off x="1314450" y="2362200"/>
            <a:ext cx="110807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60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目录</a:t>
            </a:r>
            <a:endParaRPr lang="zh-CN" altLang="en-US">
              <a:ea typeface="宋体" panose="02010600030101010101" pitchFamily="2" charset="-122"/>
            </a:endParaRPr>
          </a:p>
        </p:txBody>
      </p:sp>
      <p:sp>
        <p:nvSpPr>
          <p:cNvPr id="3078" name="文本框 10"/>
          <p:cNvSpPr>
            <a:spLocks noChangeArrowheads="1"/>
          </p:cNvSpPr>
          <p:nvPr/>
        </p:nvSpPr>
        <p:spPr bwMode="auto">
          <a:xfrm rot="5400000">
            <a:off x="852488" y="3732213"/>
            <a:ext cx="33909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en-US" altLang="zh-CN" sz="360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rPr>
              <a:t>CONTENT</a:t>
            </a:r>
            <a:endParaRPr lang="zh-CN" altLang="en-US" sz="360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79" name="椭圆 11"/>
          <p:cNvSpPr>
            <a:spLocks noChangeAspect="1" noChangeArrowheads="1"/>
          </p:cNvSpPr>
          <p:nvPr/>
        </p:nvSpPr>
        <p:spPr bwMode="auto">
          <a:xfrm>
            <a:off x="5935663" y="1666875"/>
            <a:ext cx="576262" cy="576263"/>
          </a:xfrm>
          <a:prstGeom prst="ellipse">
            <a:avLst/>
          </a:prstGeom>
          <a:noFill/>
          <a:ln w="3810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200">
                <a:latin typeface="方正兰亭粗黑_GBK" panose="02000000000000000000" pitchFamily="2" charset="-122"/>
                <a:ea typeface="方正兰亭粗黑_GBK" panose="02000000000000000000" pitchFamily="2" charset="-122"/>
                <a:sym typeface="方正兰亭粗黑_GBK" panose="02000000000000000000" pitchFamily="2" charset="-122"/>
              </a:rPr>
              <a:t>1</a:t>
            </a:r>
            <a:endParaRPr lang="zh-CN" altLang="en-US" sz="3200">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3080" name="文本框 12"/>
          <p:cNvSpPr>
            <a:spLocks noChangeArrowheads="1"/>
          </p:cNvSpPr>
          <p:nvPr/>
        </p:nvSpPr>
        <p:spPr bwMode="auto">
          <a:xfrm>
            <a:off x="6710363" y="1724025"/>
            <a:ext cx="39671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400" dirty="0" smtClean="0">
                <a:ea typeface="方正兰亭黑简体" panose="02000000000000000000"/>
              </a:rPr>
              <a:t>成立与宗旨</a:t>
            </a:r>
            <a:endParaRPr lang="zh-CN" altLang="en-US" sz="2400" dirty="0">
              <a:ea typeface="方正兰亭黑简体" panose="02000000000000000000"/>
            </a:endParaRPr>
          </a:p>
        </p:txBody>
      </p:sp>
      <p:sp>
        <p:nvSpPr>
          <p:cNvPr id="3081" name="椭圆 15"/>
          <p:cNvSpPr>
            <a:spLocks noChangeAspect="1" noChangeArrowheads="1"/>
          </p:cNvSpPr>
          <p:nvPr/>
        </p:nvSpPr>
        <p:spPr bwMode="auto">
          <a:xfrm>
            <a:off x="5935663" y="2719388"/>
            <a:ext cx="576262" cy="576262"/>
          </a:xfrm>
          <a:prstGeom prst="ellipse">
            <a:avLst/>
          </a:prstGeom>
          <a:noFill/>
          <a:ln w="3810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200">
                <a:latin typeface="方正兰亭粗黑_GBK" panose="02000000000000000000" pitchFamily="2" charset="-122"/>
                <a:ea typeface="方正兰亭粗黑_GBK" panose="02000000000000000000" pitchFamily="2" charset="-122"/>
                <a:sym typeface="方正兰亭粗黑_GBK" panose="02000000000000000000" pitchFamily="2" charset="-122"/>
              </a:rPr>
              <a:t>2</a:t>
            </a:r>
            <a:endParaRPr lang="zh-CN" altLang="en-US" sz="3200">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3082" name="文本框 16"/>
          <p:cNvSpPr>
            <a:spLocks noChangeArrowheads="1"/>
          </p:cNvSpPr>
          <p:nvPr/>
        </p:nvSpPr>
        <p:spPr bwMode="auto">
          <a:xfrm>
            <a:off x="6710363" y="2776538"/>
            <a:ext cx="39671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400" dirty="0" smtClean="0">
                <a:solidFill>
                  <a:srgbClr val="000000"/>
                </a:solidFill>
                <a:ea typeface="方正兰亭黑简体" panose="02000000000000000000" pitchFamily="2" charset="-122"/>
                <a:sym typeface="方正兰亭黑简体" panose="02000000000000000000" pitchFamily="2" charset="-122"/>
              </a:rPr>
              <a:t>组织结构</a:t>
            </a:r>
            <a:endParaRPr lang="zh-CN" altLang="en-US" dirty="0">
              <a:ea typeface="宋体" panose="02010600030101010101" pitchFamily="2" charset="-122"/>
            </a:endParaRPr>
          </a:p>
        </p:txBody>
      </p:sp>
      <p:sp>
        <p:nvSpPr>
          <p:cNvPr id="3083" name="椭圆 17"/>
          <p:cNvSpPr>
            <a:spLocks noChangeAspect="1" noChangeArrowheads="1"/>
          </p:cNvSpPr>
          <p:nvPr/>
        </p:nvSpPr>
        <p:spPr bwMode="auto">
          <a:xfrm>
            <a:off x="5935663" y="3771900"/>
            <a:ext cx="576262" cy="574675"/>
          </a:xfrm>
          <a:prstGeom prst="ellipse">
            <a:avLst/>
          </a:prstGeom>
          <a:noFill/>
          <a:ln w="3810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200">
                <a:latin typeface="方正兰亭粗黑_GBK" panose="02000000000000000000" pitchFamily="2" charset="-122"/>
                <a:ea typeface="方正兰亭粗黑_GBK" panose="02000000000000000000" pitchFamily="2" charset="-122"/>
                <a:sym typeface="方正兰亭粗黑_GBK" panose="02000000000000000000" pitchFamily="2" charset="-122"/>
              </a:rPr>
              <a:t>3</a:t>
            </a:r>
            <a:endParaRPr lang="zh-CN" altLang="en-US" sz="3200">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3084" name="文本框 18"/>
          <p:cNvSpPr>
            <a:spLocks noChangeArrowheads="1"/>
          </p:cNvSpPr>
          <p:nvPr/>
        </p:nvSpPr>
        <p:spPr bwMode="auto">
          <a:xfrm>
            <a:off x="6710363" y="3829050"/>
            <a:ext cx="39671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400" dirty="0" smtClean="0">
                <a:ea typeface="方正兰亭黑简体" panose="02000000000000000000"/>
              </a:rPr>
              <a:t>标准分类</a:t>
            </a:r>
            <a:endParaRPr lang="zh-CN" altLang="en-US" sz="2400" dirty="0">
              <a:ea typeface="方正兰亭黑简体" panose="02000000000000000000"/>
            </a:endParaRPr>
          </a:p>
        </p:txBody>
      </p:sp>
      <p:sp>
        <p:nvSpPr>
          <p:cNvPr id="3085" name="椭圆 19"/>
          <p:cNvSpPr>
            <a:spLocks noChangeAspect="1" noChangeArrowheads="1"/>
          </p:cNvSpPr>
          <p:nvPr/>
        </p:nvSpPr>
        <p:spPr bwMode="auto">
          <a:xfrm>
            <a:off x="5935663" y="4879975"/>
            <a:ext cx="576262" cy="576263"/>
          </a:xfrm>
          <a:prstGeom prst="ellipse">
            <a:avLst/>
          </a:prstGeom>
          <a:noFill/>
          <a:ln w="3810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200">
                <a:latin typeface="方正兰亭粗黑_GBK" panose="02000000000000000000" pitchFamily="2" charset="-122"/>
                <a:ea typeface="方正兰亭粗黑_GBK" panose="02000000000000000000" pitchFamily="2" charset="-122"/>
                <a:sym typeface="方正兰亭粗黑_GBK" panose="02000000000000000000" pitchFamily="2" charset="-122"/>
              </a:rPr>
              <a:t>4</a:t>
            </a:r>
            <a:endParaRPr lang="zh-CN" altLang="en-US" sz="3200">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3086" name="文本框 20"/>
          <p:cNvSpPr>
            <a:spLocks noChangeArrowheads="1"/>
          </p:cNvSpPr>
          <p:nvPr/>
        </p:nvSpPr>
        <p:spPr bwMode="auto">
          <a:xfrm>
            <a:off x="6710363" y="4937125"/>
            <a:ext cx="3967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质量体系认证</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等腰三角形 6"/>
          <p:cNvSpPr>
            <a:spLocks noChangeArrowheads="1"/>
          </p:cNvSpPr>
          <p:nvPr/>
        </p:nvSpPr>
        <p:spPr bwMode="auto">
          <a:xfrm flipV="1">
            <a:off x="9783763" y="2325688"/>
            <a:ext cx="2008187" cy="1731962"/>
          </a:xfrm>
          <a:prstGeom prst="triangle">
            <a:avLst>
              <a:gd name="adj" fmla="val 50000"/>
            </a:avLst>
          </a:prstGeom>
          <a:noFill/>
          <a:ln w="38100">
            <a:solidFill>
              <a:srgbClr val="0498A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4098" name="等腰三角形 5"/>
          <p:cNvSpPr>
            <a:spLocks noChangeArrowheads="1"/>
          </p:cNvSpPr>
          <p:nvPr/>
        </p:nvSpPr>
        <p:spPr bwMode="auto">
          <a:xfrm flipV="1">
            <a:off x="6826250" y="1449388"/>
            <a:ext cx="4565650" cy="4514850"/>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4099" name="等腰三角形 7"/>
          <p:cNvSpPr>
            <a:spLocks noChangeArrowheads="1"/>
          </p:cNvSpPr>
          <p:nvPr/>
        </p:nvSpPr>
        <p:spPr bwMode="auto">
          <a:xfrm flipV="1">
            <a:off x="9036050" y="4508500"/>
            <a:ext cx="2555875" cy="2201863"/>
          </a:xfrm>
          <a:prstGeom prst="triangle">
            <a:avLst>
              <a:gd name="adj" fmla="val 50000"/>
            </a:avLst>
          </a:prstGeom>
          <a:noFill/>
          <a:ln w="12700">
            <a:solidFill>
              <a:srgbClr val="B2AD4E"/>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4100" name="图片 4"/>
          <p:cNvPicPr>
            <a:picLocks noChangeAspect="1" noChangeArrowheads="1"/>
          </p:cNvPicPr>
          <p:nvPr/>
        </p:nvPicPr>
        <p:blipFill>
          <a:blip r:embed="rId2">
            <a:extLst>
              <a:ext uri="{28A0092B-C50C-407E-A947-70E740481C1C}">
                <a14:useLocalDpi xmlns:a14="http://schemas.microsoft.com/office/drawing/2010/main" val="0"/>
              </a:ext>
            </a:extLst>
          </a:blip>
          <a:srcRect l="15926" t="4375" r="32281"/>
          <a:stretch>
            <a:fillRect/>
          </a:stretch>
        </p:blipFill>
        <p:spPr bwMode="auto">
          <a:xfrm>
            <a:off x="6610350" y="0"/>
            <a:ext cx="55816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1" name="文本框 8"/>
          <p:cNvSpPr>
            <a:spLocks noChangeArrowheads="1"/>
          </p:cNvSpPr>
          <p:nvPr/>
        </p:nvSpPr>
        <p:spPr bwMode="auto">
          <a:xfrm>
            <a:off x="8636000" y="1543050"/>
            <a:ext cx="2555875" cy="377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3900">
                <a:solidFill>
                  <a:schemeClr val="bg1"/>
                </a:solidFill>
                <a:latin typeface="方正兰亭粗黑_GBK" panose="02000000000000000000" pitchFamily="2" charset="-122"/>
                <a:ea typeface="方正兰亭粗黑_GBK" panose="02000000000000000000" pitchFamily="2" charset="-122"/>
                <a:sym typeface="经典繁毛楷" pitchFamily="1" charset="-122"/>
              </a:rPr>
              <a:t>1</a:t>
            </a:r>
            <a:endParaRPr lang="zh-CN" altLang="en-US" sz="23900">
              <a:solidFill>
                <a:schemeClr val="bg1"/>
              </a:solidFill>
              <a:latin typeface="方正兰亭粗黑_GBK" panose="02000000000000000000" pitchFamily="2" charset="-122"/>
              <a:ea typeface="方正兰亭粗黑_GBK" panose="02000000000000000000" pitchFamily="2" charset="-122"/>
              <a:sym typeface="经典繁毛楷" pitchFamily="1" charset="-122"/>
            </a:endParaRPr>
          </a:p>
        </p:txBody>
      </p:sp>
      <p:grpSp>
        <p:nvGrpSpPr>
          <p:cNvPr id="4102" name="组合 19"/>
          <p:cNvGrpSpPr>
            <a:grpSpLocks/>
          </p:cNvGrpSpPr>
          <p:nvPr/>
        </p:nvGrpSpPr>
        <p:grpSpPr bwMode="auto">
          <a:xfrm>
            <a:off x="630238" y="2397125"/>
            <a:ext cx="5795962" cy="2063751"/>
            <a:chOff x="0" y="0"/>
            <a:chExt cx="5795831" cy="2063386"/>
          </a:xfrm>
        </p:grpSpPr>
        <p:sp>
          <p:nvSpPr>
            <p:cNvPr id="4103" name="直接连接符 10"/>
            <p:cNvSpPr>
              <a:spLocks noChangeShapeType="1"/>
            </p:cNvSpPr>
            <p:nvPr/>
          </p:nvSpPr>
          <p:spPr bwMode="auto">
            <a:xfrm>
              <a:off x="400050" y="0"/>
              <a:ext cx="4981666" cy="1"/>
            </a:xfrm>
            <a:prstGeom prst="line">
              <a:avLst/>
            </a:prstGeom>
            <a:noFill/>
            <a:ln w="6350">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4" name="文本框 14"/>
            <p:cNvSpPr>
              <a:spLocks noChangeArrowheads="1"/>
            </p:cNvSpPr>
            <p:nvPr/>
          </p:nvSpPr>
          <p:spPr bwMode="auto">
            <a:xfrm>
              <a:off x="0" y="621757"/>
              <a:ext cx="5795831" cy="769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zh-CN" altLang="en-US" sz="4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成立与宗旨</a:t>
              </a:r>
              <a:endParaRPr lang="zh-CN" altLang="en-US" sz="4400" dirty="0">
                <a:ea typeface="宋体" panose="02010600030101010101" pitchFamily="2" charset="-122"/>
              </a:endParaRPr>
            </a:p>
          </p:txBody>
        </p:sp>
        <p:sp>
          <p:nvSpPr>
            <p:cNvPr id="4105" name="直接连接符 17"/>
            <p:cNvSpPr>
              <a:spLocks noChangeShapeType="1"/>
            </p:cNvSpPr>
            <p:nvPr/>
          </p:nvSpPr>
          <p:spPr bwMode="auto">
            <a:xfrm>
              <a:off x="400050" y="2063385"/>
              <a:ext cx="4981666" cy="1"/>
            </a:xfrm>
            <a:prstGeom prst="line">
              <a:avLst/>
            </a:prstGeom>
            <a:noFill/>
            <a:ln w="6350">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6" name="文本框 18"/>
            <p:cNvSpPr>
              <a:spLocks noChangeArrowheads="1"/>
            </p:cNvSpPr>
            <p:nvPr/>
          </p:nvSpPr>
          <p:spPr bwMode="auto">
            <a:xfrm>
              <a:off x="313479" y="778183"/>
              <a:ext cx="5168871" cy="456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endParaRPr lang="zh-CN" altLang="en-US" dirty="0">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1" name="图片 4"/>
          <p:cNvPicPr>
            <a:picLocks noChangeAspect="1" noChangeArrowheads="1"/>
          </p:cNvPicPr>
          <p:nvPr/>
        </p:nvPicPr>
        <p:blipFill>
          <a:blip r:embed="rId3">
            <a:extLst>
              <a:ext uri="{28A0092B-C50C-407E-A947-70E740481C1C}">
                <a14:useLocalDpi xmlns:a14="http://schemas.microsoft.com/office/drawing/2010/main" val="0"/>
              </a:ext>
            </a:extLst>
          </a:blip>
          <a:srcRect t="16125" b="21051"/>
          <a:stretch>
            <a:fillRect/>
          </a:stretch>
        </p:blipFill>
        <p:spPr bwMode="auto">
          <a:xfrm>
            <a:off x="6578600" y="1447800"/>
            <a:ext cx="5672138"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2" name="组合 15"/>
          <p:cNvGrpSpPr>
            <a:grpSpLocks/>
          </p:cNvGrpSpPr>
          <p:nvPr/>
        </p:nvGrpSpPr>
        <p:grpSpPr bwMode="auto">
          <a:xfrm>
            <a:off x="596900" y="2219325"/>
            <a:ext cx="5189538" cy="3344369"/>
            <a:chOff x="0" y="0"/>
            <a:chExt cx="5189641" cy="3343534"/>
          </a:xfrm>
        </p:grpSpPr>
        <p:sp>
          <p:nvSpPr>
            <p:cNvPr id="5123" name="文本框 9"/>
            <p:cNvSpPr>
              <a:spLocks noChangeArrowheads="1"/>
            </p:cNvSpPr>
            <p:nvPr/>
          </p:nvSpPr>
          <p:spPr bwMode="auto">
            <a:xfrm>
              <a:off x="0" y="0"/>
              <a:ext cx="376545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endParaRPr lang="zh-CN" altLang="en-US" sz="3600" dirty="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5124" name="矩形 10"/>
            <p:cNvSpPr>
              <a:spLocks noChangeArrowheads="1"/>
            </p:cNvSpPr>
            <p:nvPr/>
          </p:nvSpPr>
          <p:spPr bwMode="auto">
            <a:xfrm>
              <a:off x="133095" y="742488"/>
              <a:ext cx="1037771" cy="379772"/>
            </a:xfrm>
            <a:prstGeom prst="rect">
              <a:avLst/>
            </a:prstGeom>
            <a:solidFill>
              <a:srgbClr val="2A555B"/>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dirty="0" smtClean="0">
                  <a:solidFill>
                    <a:srgbClr val="FFFFFF"/>
                  </a:solidFill>
                  <a:latin typeface="方正兰亭黑简体" panose="02000000000000000000" pitchFamily="2" charset="-122"/>
                  <a:ea typeface="方正兰亭黑简体" panose="02000000000000000000" pitchFamily="2" charset="-122"/>
                  <a:sym typeface="方正兰亭黑简体" panose="02000000000000000000" pitchFamily="2" charset="-122"/>
                </a:rPr>
                <a:t>1946</a:t>
              </a:r>
              <a:endParaRPr lang="zh-CN" altLang="en-US" dirty="0">
                <a:solidFill>
                  <a:srgbClr val="FFFFFF"/>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5125" name="矩形 11"/>
            <p:cNvSpPr>
              <a:spLocks noChangeArrowheads="1"/>
            </p:cNvSpPr>
            <p:nvPr/>
          </p:nvSpPr>
          <p:spPr bwMode="auto">
            <a:xfrm>
              <a:off x="1360053" y="742488"/>
              <a:ext cx="1037771" cy="379772"/>
            </a:xfrm>
            <a:prstGeom prst="rect">
              <a:avLst/>
            </a:prstGeom>
            <a:solidFill>
              <a:srgbClr val="707029"/>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dirty="0" smtClean="0">
                  <a:solidFill>
                    <a:srgbClr val="FFFFFF"/>
                  </a:solidFill>
                  <a:latin typeface="方正兰亭黑简体" panose="02000000000000000000" pitchFamily="2" charset="-122"/>
                  <a:ea typeface="方正兰亭黑简体" panose="02000000000000000000" pitchFamily="2" charset="-122"/>
                  <a:sym typeface="方正兰亭黑简体" panose="02000000000000000000" pitchFamily="2" charset="-122"/>
                </a:rPr>
                <a:t>10</a:t>
              </a:r>
              <a:r>
                <a:rPr lang="zh-CN" altLang="en-US" dirty="0" smtClean="0">
                  <a:solidFill>
                    <a:srgbClr val="FFFFFF"/>
                  </a:solidFill>
                  <a:latin typeface="方正兰亭黑简体" panose="02000000000000000000" pitchFamily="2" charset="-122"/>
                  <a:ea typeface="方正兰亭黑简体" panose="02000000000000000000" pitchFamily="2" charset="-122"/>
                  <a:sym typeface="方正兰亭黑简体" panose="02000000000000000000" pitchFamily="2" charset="-122"/>
                </a:rPr>
                <a:t>月</a:t>
              </a:r>
              <a:endParaRPr lang="zh-CN" altLang="en-US" dirty="0">
                <a:solidFill>
                  <a:srgbClr val="FFFFFF"/>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5126" name="矩形 12"/>
            <p:cNvSpPr>
              <a:spLocks noChangeArrowheads="1"/>
            </p:cNvSpPr>
            <p:nvPr/>
          </p:nvSpPr>
          <p:spPr bwMode="auto">
            <a:xfrm>
              <a:off x="2575203" y="742488"/>
              <a:ext cx="1435724" cy="379772"/>
            </a:xfrm>
            <a:prstGeom prst="rect">
              <a:avLst/>
            </a:prstGeom>
            <a:solidFill>
              <a:srgbClr val="0498A5"/>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dirty="0" smtClean="0">
                  <a:solidFill>
                    <a:srgbClr val="FFFFFF"/>
                  </a:solidFill>
                  <a:latin typeface="方正兰亭黑简体" panose="02000000000000000000" pitchFamily="2" charset="-122"/>
                  <a:ea typeface="方正兰亭黑简体" panose="02000000000000000000" pitchFamily="2" charset="-122"/>
                  <a:sym typeface="方正兰亭黑简体" panose="02000000000000000000" pitchFamily="2" charset="-122"/>
                </a:rPr>
                <a:t>25</a:t>
              </a:r>
              <a:r>
                <a:rPr lang="zh-CN" altLang="en-US" dirty="0" smtClean="0">
                  <a:solidFill>
                    <a:srgbClr val="FFFFFF"/>
                  </a:solidFill>
                  <a:latin typeface="方正兰亭黑简体" panose="02000000000000000000" pitchFamily="2" charset="-122"/>
                  <a:ea typeface="方正兰亭黑简体" panose="02000000000000000000" pitchFamily="2" charset="-122"/>
                  <a:sym typeface="方正兰亭黑简体" panose="02000000000000000000" pitchFamily="2" charset="-122"/>
                </a:rPr>
                <a:t>个国家</a:t>
              </a:r>
              <a:endParaRPr lang="zh-CN" altLang="en-US" dirty="0">
                <a:solidFill>
                  <a:srgbClr val="FFFFFF"/>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5127" name="文本框 13"/>
            <p:cNvSpPr>
              <a:spLocks noChangeArrowheads="1"/>
            </p:cNvSpPr>
            <p:nvPr/>
          </p:nvSpPr>
          <p:spPr bwMode="auto">
            <a:xfrm>
              <a:off x="20770" y="1218417"/>
              <a:ext cx="5168871" cy="2125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en-US" altLang="zh-CN" sz="1600" dirty="0">
                  <a:solidFill>
                    <a:srgbClr val="000000"/>
                  </a:solidFill>
                  <a:latin typeface="等线" panose="02010600030101010101" pitchFamily="2" charset="-122"/>
                  <a:sym typeface="等线" panose="02010600030101010101" pitchFamily="2" charset="-122"/>
                </a:rPr>
                <a:t> </a:t>
              </a:r>
              <a:r>
                <a:rPr lang="en-US" altLang="zh-CN" sz="1600" dirty="0" smtClean="0">
                  <a:solidFill>
                    <a:srgbClr val="000000"/>
                  </a:solidFill>
                  <a:latin typeface="等线" panose="02010600030101010101" pitchFamily="2" charset="-122"/>
                  <a:sym typeface="等线" panose="02010600030101010101" pitchFamily="2" charset="-122"/>
                </a:rPr>
                <a:t>   </a:t>
              </a:r>
              <a:r>
                <a:rPr lang="zh-CN" altLang="en-US" dirty="0" smtClean="0">
                  <a:solidFill>
                    <a:srgbClr val="000000"/>
                  </a:solidFill>
                  <a:latin typeface="等线" panose="02010600030101010101" pitchFamily="2" charset="-122"/>
                  <a:sym typeface="等线" panose="02010600030101010101" pitchFamily="2" charset="-122"/>
                </a:rPr>
                <a:t>国际标准化组织的前身是国家标准化协会国际联合会和联合国标准协调委员会。由</a:t>
              </a:r>
              <a:r>
                <a:rPr lang="en-US" altLang="zh-CN" dirty="0" smtClean="0">
                  <a:solidFill>
                    <a:srgbClr val="000000"/>
                  </a:solidFill>
                  <a:latin typeface="等线" panose="02010600030101010101" pitchFamily="2" charset="-122"/>
                  <a:sym typeface="等线" panose="02010600030101010101" pitchFamily="2" charset="-122"/>
                </a:rPr>
                <a:t>25</a:t>
              </a:r>
              <a:r>
                <a:rPr lang="zh-CN" altLang="en-US" dirty="0" smtClean="0">
                  <a:solidFill>
                    <a:srgbClr val="000000"/>
                  </a:solidFill>
                  <a:latin typeface="等线" panose="02010600030101010101" pitchFamily="2" charset="-122"/>
                  <a:sym typeface="等线" panose="02010600030101010101" pitchFamily="2" charset="-122"/>
                </a:rPr>
                <a:t>个国家标准化机构的代表，在</a:t>
              </a:r>
              <a:r>
                <a:rPr lang="en-US" altLang="zh-CN" dirty="0" smtClean="0">
                  <a:solidFill>
                    <a:srgbClr val="000000"/>
                  </a:solidFill>
                  <a:latin typeface="等线" panose="02010600030101010101" pitchFamily="2" charset="-122"/>
                  <a:sym typeface="等线" panose="02010600030101010101" pitchFamily="2" charset="-122"/>
                </a:rPr>
                <a:t>1946</a:t>
              </a:r>
              <a:r>
                <a:rPr lang="zh-CN" altLang="en-US" dirty="0" smtClean="0">
                  <a:solidFill>
                    <a:srgbClr val="000000"/>
                  </a:solidFill>
                  <a:latin typeface="等线" panose="02010600030101010101" pitchFamily="2" charset="-122"/>
                  <a:sym typeface="等线" panose="02010600030101010101" pitchFamily="2" charset="-122"/>
                </a:rPr>
                <a:t>年</a:t>
              </a:r>
              <a:r>
                <a:rPr lang="en-US" altLang="zh-CN" dirty="0" smtClean="0">
                  <a:solidFill>
                    <a:srgbClr val="000000"/>
                  </a:solidFill>
                  <a:latin typeface="等线" panose="02010600030101010101" pitchFamily="2" charset="-122"/>
                  <a:sym typeface="等线" panose="02010600030101010101" pitchFamily="2" charset="-122"/>
                </a:rPr>
                <a:t>10</a:t>
              </a:r>
              <a:r>
                <a:rPr lang="zh-CN" altLang="en-US" dirty="0" smtClean="0">
                  <a:solidFill>
                    <a:srgbClr val="000000"/>
                  </a:solidFill>
                  <a:latin typeface="等线" panose="02010600030101010101" pitchFamily="2" charset="-122"/>
                  <a:sym typeface="等线" panose="02010600030101010101" pitchFamily="2" charset="-122"/>
                </a:rPr>
                <a:t>月，于伦敦，决定成立新的国际标准化机构，并定名为</a:t>
              </a:r>
              <a:r>
                <a:rPr lang="en-US" altLang="zh-CN" dirty="0" smtClean="0">
                  <a:solidFill>
                    <a:srgbClr val="000000"/>
                  </a:solidFill>
                  <a:latin typeface="等线" panose="02010600030101010101" pitchFamily="2" charset="-122"/>
                  <a:sym typeface="等线" panose="02010600030101010101" pitchFamily="2" charset="-122"/>
                </a:rPr>
                <a:t>ISO</a:t>
              </a:r>
              <a:r>
                <a:rPr lang="zh-CN" altLang="en-US" dirty="0">
                  <a:solidFill>
                    <a:srgbClr val="000000"/>
                  </a:solidFill>
                  <a:latin typeface="等线" panose="02010600030101010101" pitchFamily="2" charset="-122"/>
                  <a:sym typeface="等线" panose="02010600030101010101" pitchFamily="2" charset="-122"/>
                </a:rPr>
                <a:t>。</a:t>
              </a:r>
              <a:r>
                <a:rPr lang="en-US" altLang="zh-CN" dirty="0" smtClean="0">
                  <a:solidFill>
                    <a:srgbClr val="000000"/>
                  </a:solidFill>
                  <a:latin typeface="等线" panose="02010600030101010101" pitchFamily="2" charset="-122"/>
                  <a:sym typeface="等线" panose="02010600030101010101" pitchFamily="2" charset="-122"/>
                </a:rPr>
                <a:t>1947</a:t>
              </a:r>
              <a:r>
                <a:rPr lang="zh-CN" altLang="en-US" dirty="0" smtClean="0">
                  <a:solidFill>
                    <a:srgbClr val="000000"/>
                  </a:solidFill>
                  <a:latin typeface="等线" panose="02010600030101010101" pitchFamily="2" charset="-122"/>
                  <a:sym typeface="等线" panose="02010600030101010101" pitchFamily="2" charset="-122"/>
                </a:rPr>
                <a:t>年，</a:t>
              </a:r>
              <a:r>
                <a:rPr lang="en-US" altLang="zh-CN" dirty="0" smtClean="0">
                  <a:solidFill>
                    <a:srgbClr val="000000"/>
                  </a:solidFill>
                  <a:latin typeface="等线" panose="02010600030101010101" pitchFamily="2" charset="-122"/>
                  <a:sym typeface="等线" panose="02010600030101010101" pitchFamily="2" charset="-122"/>
                </a:rPr>
                <a:t>2</a:t>
              </a:r>
              <a:r>
                <a:rPr lang="zh-CN" altLang="en-US" dirty="0" smtClean="0">
                  <a:solidFill>
                    <a:srgbClr val="000000"/>
                  </a:solidFill>
                  <a:latin typeface="等线" panose="02010600030101010101" pitchFamily="2" charset="-122"/>
                  <a:sym typeface="等线" panose="02010600030101010101" pitchFamily="2" charset="-122"/>
                </a:rPr>
                <a:t>月</a:t>
              </a:r>
              <a:r>
                <a:rPr lang="en-US" altLang="zh-CN" dirty="0" smtClean="0">
                  <a:solidFill>
                    <a:srgbClr val="000000"/>
                  </a:solidFill>
                  <a:latin typeface="等线" panose="02010600030101010101" pitchFamily="2" charset="-122"/>
                  <a:sym typeface="等线" panose="02010600030101010101" pitchFamily="2" charset="-122"/>
                </a:rPr>
                <a:t>23</a:t>
              </a:r>
              <a:r>
                <a:rPr lang="zh-CN" altLang="en-US" dirty="0" smtClean="0">
                  <a:solidFill>
                    <a:srgbClr val="000000"/>
                  </a:solidFill>
                  <a:latin typeface="等线" panose="02010600030101010101" pitchFamily="2" charset="-122"/>
                  <a:sym typeface="等线" panose="02010600030101010101" pitchFamily="2" charset="-122"/>
                </a:rPr>
                <a:t>日，国际标准化组织正式成立。</a:t>
              </a:r>
              <a:endParaRPr lang="zh-CN" altLang="en-US" dirty="0">
                <a:ea typeface="宋体" panose="02010600030101010101" pitchFamily="2" charset="-122"/>
              </a:endParaRPr>
            </a:p>
          </p:txBody>
        </p:sp>
      </p:grpSp>
      <p:sp>
        <p:nvSpPr>
          <p:cNvPr id="5128" name="矩形 14"/>
          <p:cNvSpPr>
            <a:spLocks noChangeArrowheads="1"/>
          </p:cNvSpPr>
          <p:nvPr/>
        </p:nvSpPr>
        <p:spPr bwMode="auto">
          <a:xfrm>
            <a:off x="5975350" y="1336675"/>
            <a:ext cx="5791200" cy="418306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grpSp>
        <p:nvGrpSpPr>
          <p:cNvPr id="5130" name="组合 20"/>
          <p:cNvGrpSpPr>
            <a:grpSpLocks/>
          </p:cNvGrpSpPr>
          <p:nvPr/>
        </p:nvGrpSpPr>
        <p:grpSpPr bwMode="auto">
          <a:xfrm>
            <a:off x="0" y="-41275"/>
            <a:ext cx="6669088" cy="1303338"/>
            <a:chOff x="0" y="0"/>
            <a:chExt cx="6669552" cy="1304243"/>
          </a:xfrm>
        </p:grpSpPr>
        <p:sp>
          <p:nvSpPr>
            <p:cNvPr id="5131" name="等腰三角形 6"/>
            <p:cNvSpPr>
              <a:spLocks noChangeArrowheads="1"/>
            </p:cNvSpPr>
            <p:nvPr/>
          </p:nvSpPr>
          <p:spPr bwMode="auto">
            <a:xfrm flipV="1">
              <a:off x="7496" y="261610"/>
              <a:ext cx="832662" cy="823414"/>
            </a:xfrm>
            <a:prstGeom prst="triangle">
              <a:avLst>
                <a:gd name="adj" fmla="val 50000"/>
              </a:avLst>
            </a:prstGeom>
            <a:noFill/>
            <a:ln w="5715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2A555B"/>
                </a:solidFill>
                <a:latin typeface="等线" panose="02010600030101010101" pitchFamily="2" charset="-122"/>
                <a:sym typeface="等线" panose="02010600030101010101" pitchFamily="2" charset="-122"/>
              </a:endParaRPr>
            </a:p>
          </p:txBody>
        </p:sp>
        <p:sp>
          <p:nvSpPr>
            <p:cNvPr id="5132" name="等腰三角形 7"/>
            <p:cNvSpPr>
              <a:spLocks noChangeArrowheads="1"/>
            </p:cNvSpPr>
            <p:nvPr/>
          </p:nvSpPr>
          <p:spPr bwMode="auto">
            <a:xfrm flipV="1">
              <a:off x="278685" y="480829"/>
              <a:ext cx="832662" cy="823414"/>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5133" name="图片 5"/>
            <p:cNvPicPr>
              <a:picLocks noChangeAspect="1" noChangeArrowheads="1"/>
            </p:cNvPicPr>
            <p:nvPr/>
          </p:nvPicPr>
          <p:blipFill>
            <a:blip r:embed="rId4">
              <a:extLst>
                <a:ext uri="{28A0092B-C50C-407E-A947-70E740481C1C}">
                  <a14:useLocalDpi xmlns:a14="http://schemas.microsoft.com/office/drawing/2010/main" val="0"/>
                </a:ext>
              </a:extLst>
            </a:blip>
            <a:srcRect l="28754" t="50206" r="23984"/>
            <a:stretch>
              <a:fillRect/>
            </a:stretch>
          </p:blipFill>
          <p:spPr bwMode="auto">
            <a:xfrm>
              <a:off x="0" y="0"/>
              <a:ext cx="1799771" cy="126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4" name="文本框 8"/>
            <p:cNvSpPr>
              <a:spLocks noChangeArrowheads="1"/>
            </p:cNvSpPr>
            <p:nvPr/>
          </p:nvSpPr>
          <p:spPr bwMode="auto">
            <a:xfrm>
              <a:off x="1807267" y="203737"/>
              <a:ext cx="4862285" cy="523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800" dirty="0" smtClean="0">
                  <a:ea typeface="方正兰亭黑简体" panose="02000000000000000000"/>
                </a:rPr>
                <a:t>组织的成立</a:t>
              </a:r>
              <a:endParaRPr lang="zh-CN" altLang="en-US" sz="2800" dirty="0">
                <a:ea typeface="方正兰亭黑简体" panose="02000000000000000000"/>
              </a:endParaRPr>
            </a:p>
          </p:txBody>
        </p:sp>
        <p:sp>
          <p:nvSpPr>
            <p:cNvPr id="5135" name="文本框 19"/>
            <p:cNvSpPr>
              <a:spLocks noChangeArrowheads="1"/>
            </p:cNvSpPr>
            <p:nvPr/>
          </p:nvSpPr>
          <p:spPr bwMode="auto">
            <a:xfrm>
              <a:off x="596997" y="109585"/>
              <a:ext cx="8326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01</a:t>
              </a:r>
              <a:endParaRPr lang="zh-CN" altLang="en-US"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pic>
        <p:nvPicPr>
          <p:cNvPr id="1026" name="Picture 2" descr="https://gss2.bdstatic.com/9fo3dSag_xI4khGkpoWK1HF6hhy/baike/crop%3D0%2C0%2C500%2C375%3Bc0%3Dbaike80%2C5%2C5%2C80%2C26/sign=aab0f39956e736d14c5cd648a66063f2/9825bc315c6034a84c6105c4c9134954082376f7.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8600" y="1566207"/>
            <a:ext cx="4762500" cy="357187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7227801" y="5138082"/>
            <a:ext cx="4538749" cy="369332"/>
          </a:xfrm>
          <a:prstGeom prst="rect">
            <a:avLst/>
          </a:prstGeom>
          <a:noFill/>
        </p:spPr>
        <p:txBody>
          <a:bodyPr wrap="square" rtlCol="0">
            <a:spAutoFit/>
          </a:bodyPr>
          <a:lstStyle/>
          <a:p>
            <a:r>
              <a:rPr lang="en-US" altLang="zh-CN" dirty="0" smtClean="0"/>
              <a:t>ISO</a:t>
            </a:r>
            <a:r>
              <a:rPr lang="zh-CN" altLang="en-US" dirty="0" smtClean="0"/>
              <a:t>建立组织者，</a:t>
            </a:r>
            <a:r>
              <a:rPr lang="en-US" altLang="zh-CN" dirty="0" smtClean="0"/>
              <a:t>1946</a:t>
            </a:r>
            <a:r>
              <a:rPr lang="zh-CN" altLang="en-US" dirty="0" smtClean="0"/>
              <a:t>，伦敦</a:t>
            </a:r>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5" name="组合 5"/>
          <p:cNvGrpSpPr>
            <a:grpSpLocks/>
          </p:cNvGrpSpPr>
          <p:nvPr/>
        </p:nvGrpSpPr>
        <p:grpSpPr bwMode="auto">
          <a:xfrm>
            <a:off x="0" y="-41275"/>
            <a:ext cx="6669088" cy="1303338"/>
            <a:chOff x="0" y="0"/>
            <a:chExt cx="6669552" cy="1304243"/>
          </a:xfrm>
        </p:grpSpPr>
        <p:sp>
          <p:nvSpPr>
            <p:cNvPr id="6146" name="等腰三角形 6"/>
            <p:cNvSpPr>
              <a:spLocks noChangeArrowheads="1"/>
            </p:cNvSpPr>
            <p:nvPr/>
          </p:nvSpPr>
          <p:spPr bwMode="auto">
            <a:xfrm flipV="1">
              <a:off x="7496" y="261610"/>
              <a:ext cx="832662" cy="823414"/>
            </a:xfrm>
            <a:prstGeom prst="triangle">
              <a:avLst>
                <a:gd name="adj" fmla="val 50000"/>
              </a:avLst>
            </a:prstGeom>
            <a:noFill/>
            <a:ln w="5715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2A555B"/>
                </a:solidFill>
                <a:latin typeface="等线" panose="02010600030101010101" pitchFamily="2" charset="-122"/>
                <a:sym typeface="等线" panose="02010600030101010101" pitchFamily="2" charset="-122"/>
              </a:endParaRPr>
            </a:p>
          </p:txBody>
        </p:sp>
        <p:sp>
          <p:nvSpPr>
            <p:cNvPr id="6147" name="等腰三角形 7"/>
            <p:cNvSpPr>
              <a:spLocks noChangeArrowheads="1"/>
            </p:cNvSpPr>
            <p:nvPr/>
          </p:nvSpPr>
          <p:spPr bwMode="auto">
            <a:xfrm flipV="1">
              <a:off x="278685" y="480829"/>
              <a:ext cx="832662" cy="823414"/>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6148" name="图片 8"/>
            <p:cNvPicPr>
              <a:picLocks noChangeAspect="1" noChangeArrowheads="1"/>
            </p:cNvPicPr>
            <p:nvPr/>
          </p:nvPicPr>
          <p:blipFill>
            <a:blip r:embed="rId2">
              <a:extLst>
                <a:ext uri="{28A0092B-C50C-407E-A947-70E740481C1C}">
                  <a14:useLocalDpi xmlns:a14="http://schemas.microsoft.com/office/drawing/2010/main" val="0"/>
                </a:ext>
              </a:extLst>
            </a:blip>
            <a:srcRect l="28754" t="50206" r="23984"/>
            <a:stretch>
              <a:fillRect/>
            </a:stretch>
          </p:blipFill>
          <p:spPr bwMode="auto">
            <a:xfrm>
              <a:off x="0" y="0"/>
              <a:ext cx="1799771" cy="126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文本框 9"/>
            <p:cNvSpPr>
              <a:spLocks noChangeArrowheads="1"/>
            </p:cNvSpPr>
            <p:nvPr/>
          </p:nvSpPr>
          <p:spPr bwMode="auto">
            <a:xfrm>
              <a:off x="1807267" y="203737"/>
              <a:ext cx="48622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800" dirty="0" smtClean="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宗旨与任务</a:t>
              </a:r>
              <a:endParaRPr lang="zh-CN" altLang="en-US" dirty="0">
                <a:ea typeface="宋体" panose="02010600030101010101" pitchFamily="2" charset="-122"/>
              </a:endParaRPr>
            </a:p>
          </p:txBody>
        </p:sp>
        <p:sp>
          <p:nvSpPr>
            <p:cNvPr id="6150" name="文本框 10"/>
            <p:cNvSpPr>
              <a:spLocks noChangeArrowheads="1"/>
            </p:cNvSpPr>
            <p:nvPr/>
          </p:nvSpPr>
          <p:spPr bwMode="auto">
            <a:xfrm>
              <a:off x="596997" y="109585"/>
              <a:ext cx="8326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01</a:t>
              </a:r>
              <a:endParaRPr lang="zh-CN" altLang="en-US"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pic>
        <p:nvPicPr>
          <p:cNvPr id="6151" name="图片 13"/>
          <p:cNvPicPr>
            <a:picLocks noChangeAspect="1" noChangeArrowheads="1"/>
          </p:cNvPicPr>
          <p:nvPr/>
        </p:nvPicPr>
        <p:blipFill>
          <a:blip r:embed="rId3">
            <a:extLst>
              <a:ext uri="{28A0092B-C50C-407E-A947-70E740481C1C}">
                <a14:useLocalDpi xmlns:a14="http://schemas.microsoft.com/office/drawing/2010/main" val="0"/>
              </a:ext>
            </a:extLst>
          </a:blip>
          <a:srcRect t="16125" r="50000" b="21051"/>
          <a:stretch>
            <a:fillRect/>
          </a:stretch>
        </p:blipFill>
        <p:spPr bwMode="auto">
          <a:xfrm>
            <a:off x="9356725" y="1400175"/>
            <a:ext cx="28352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52" name="组合 36"/>
          <p:cNvGrpSpPr>
            <a:grpSpLocks/>
          </p:cNvGrpSpPr>
          <p:nvPr/>
        </p:nvGrpSpPr>
        <p:grpSpPr bwMode="auto">
          <a:xfrm>
            <a:off x="1193653" y="1797050"/>
            <a:ext cx="9678370" cy="3963460"/>
            <a:chOff x="15728" y="0"/>
            <a:chExt cx="9678387" cy="3963609"/>
          </a:xfrm>
        </p:grpSpPr>
        <p:grpSp>
          <p:nvGrpSpPr>
            <p:cNvPr id="6153" name="组合 20"/>
            <p:cNvGrpSpPr>
              <a:grpSpLocks/>
            </p:cNvGrpSpPr>
            <p:nvPr/>
          </p:nvGrpSpPr>
          <p:grpSpPr bwMode="auto">
            <a:xfrm>
              <a:off x="3524898" y="225367"/>
              <a:ext cx="2786372" cy="2814877"/>
              <a:chOff x="0" y="0"/>
              <a:chExt cx="2786372" cy="2814877"/>
            </a:xfrm>
          </p:grpSpPr>
          <p:sp>
            <p:nvSpPr>
              <p:cNvPr id="6154" name="圆角矩形 15"/>
              <p:cNvSpPr>
                <a:spLocks noChangeArrowheads="1"/>
              </p:cNvSpPr>
              <p:nvPr/>
            </p:nvSpPr>
            <p:spPr bwMode="auto">
              <a:xfrm>
                <a:off x="1489051" y="0"/>
                <a:ext cx="1297321" cy="1297321"/>
              </a:xfrm>
              <a:prstGeom prst="roundRect">
                <a:avLst>
                  <a:gd name="adj" fmla="val 24667"/>
                </a:avLst>
              </a:prstGeom>
              <a:solidFill>
                <a:srgbClr val="2A555B"/>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4800">
                    <a:solidFill>
                      <a:srgbClr val="FFFFFF"/>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W</a:t>
                </a:r>
                <a:endParaRPr lang="zh-CN" altLang="en-US" sz="4800">
                  <a:solidFill>
                    <a:srgbClr val="FFFFFF"/>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6155" name="圆角矩形 16"/>
              <p:cNvSpPr>
                <a:spLocks noChangeArrowheads="1"/>
              </p:cNvSpPr>
              <p:nvPr/>
            </p:nvSpPr>
            <p:spPr bwMode="auto">
              <a:xfrm>
                <a:off x="0" y="0"/>
                <a:ext cx="1297321" cy="1297321"/>
              </a:xfrm>
              <a:prstGeom prst="roundRect">
                <a:avLst>
                  <a:gd name="adj" fmla="val 24667"/>
                </a:avLst>
              </a:prstGeom>
              <a:solidFill>
                <a:srgbClr val="0498A5"/>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4800">
                    <a:solidFill>
                      <a:srgbClr val="FFFFFF"/>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S</a:t>
                </a:r>
                <a:endParaRPr lang="zh-CN" altLang="en-US" sz="4800">
                  <a:solidFill>
                    <a:srgbClr val="FFFFFF"/>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6156" name="圆角矩形 17"/>
              <p:cNvSpPr>
                <a:spLocks noChangeArrowheads="1"/>
              </p:cNvSpPr>
              <p:nvPr/>
            </p:nvSpPr>
            <p:spPr bwMode="auto">
              <a:xfrm>
                <a:off x="1470279" y="1517556"/>
                <a:ext cx="1297321" cy="1297321"/>
              </a:xfrm>
              <a:prstGeom prst="roundRect">
                <a:avLst>
                  <a:gd name="adj" fmla="val 24667"/>
                </a:avLst>
              </a:prstGeom>
              <a:solidFill>
                <a:srgbClr val="0498A5"/>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4800" dirty="0">
                    <a:solidFill>
                      <a:srgbClr val="FFFFFF"/>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O</a:t>
                </a:r>
                <a:endParaRPr lang="zh-CN" altLang="en-US" sz="4800" dirty="0">
                  <a:solidFill>
                    <a:srgbClr val="FFFFFF"/>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6157" name="圆角矩形 18"/>
              <p:cNvSpPr>
                <a:spLocks noChangeArrowheads="1"/>
              </p:cNvSpPr>
              <p:nvPr/>
            </p:nvSpPr>
            <p:spPr bwMode="auto">
              <a:xfrm>
                <a:off x="0" y="1517556"/>
                <a:ext cx="1297321" cy="1297321"/>
              </a:xfrm>
              <a:prstGeom prst="roundRect">
                <a:avLst>
                  <a:gd name="adj" fmla="val 24667"/>
                </a:avLst>
              </a:prstGeom>
              <a:solidFill>
                <a:srgbClr val="2A555B"/>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4800">
                    <a:solidFill>
                      <a:srgbClr val="FFFFFF"/>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T</a:t>
                </a:r>
                <a:endParaRPr lang="zh-CN" altLang="en-US" sz="4800">
                  <a:solidFill>
                    <a:srgbClr val="FFFFFF"/>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grpSp>
          <p:nvGrpSpPr>
            <p:cNvPr id="6159" name="组合 23"/>
            <p:cNvGrpSpPr>
              <a:grpSpLocks/>
            </p:cNvGrpSpPr>
            <p:nvPr/>
          </p:nvGrpSpPr>
          <p:grpSpPr bwMode="auto">
            <a:xfrm>
              <a:off x="15728" y="0"/>
              <a:ext cx="2985579" cy="3095134"/>
              <a:chOff x="15728" y="0"/>
              <a:chExt cx="2985579" cy="3095134"/>
            </a:xfrm>
          </p:grpSpPr>
          <p:sp>
            <p:nvSpPr>
              <p:cNvPr id="6160" name="文本框 21"/>
              <p:cNvSpPr>
                <a:spLocks noChangeArrowheads="1"/>
              </p:cNvSpPr>
              <p:nvPr/>
            </p:nvSpPr>
            <p:spPr bwMode="auto">
              <a:xfrm>
                <a:off x="15728" y="0"/>
                <a:ext cx="1996017" cy="523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8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目的和宗旨</a:t>
                </a:r>
                <a:endParaRPr lang="zh-CN" altLang="en-US" sz="2800" dirty="0">
                  <a:ea typeface="宋体" panose="02010600030101010101" pitchFamily="2" charset="-122"/>
                </a:endParaRPr>
              </a:p>
            </p:txBody>
          </p:sp>
          <p:sp>
            <p:nvSpPr>
              <p:cNvPr id="6161" name="文本框 22"/>
              <p:cNvSpPr>
                <a:spLocks noChangeArrowheads="1"/>
              </p:cNvSpPr>
              <p:nvPr/>
            </p:nvSpPr>
            <p:spPr bwMode="auto">
              <a:xfrm>
                <a:off x="15728" y="694386"/>
                <a:ext cx="2985579" cy="2400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en-US" altLang="zh-CN" sz="2000" dirty="0">
                    <a:ea typeface="方正兰亭黑简体" panose="02000000000000000000"/>
                  </a:rPr>
                  <a:t> </a:t>
                </a:r>
                <a:r>
                  <a:rPr lang="en-US" altLang="zh-CN" sz="2000" dirty="0" smtClean="0">
                    <a:ea typeface="方正兰亭黑简体" panose="02000000000000000000"/>
                  </a:rPr>
                  <a:t>      </a:t>
                </a:r>
                <a:r>
                  <a:rPr lang="zh-CN" altLang="en-US" sz="2000" dirty="0" smtClean="0">
                    <a:ea typeface="方正兰亭黑简体" panose="02000000000000000000"/>
                  </a:rPr>
                  <a:t>在</a:t>
                </a:r>
                <a:r>
                  <a:rPr lang="zh-CN" altLang="en-US" sz="2000" dirty="0">
                    <a:ea typeface="方正兰亭黑简体" panose="02000000000000000000"/>
                  </a:rPr>
                  <a:t>全世界范围内促进标准化工作的开展，以便于国际物资交流和服务，并扩大在知识、科学、技术和经济方面的合作</a:t>
                </a:r>
              </a:p>
            </p:txBody>
          </p:sp>
        </p:grpSp>
        <p:grpSp>
          <p:nvGrpSpPr>
            <p:cNvPr id="6166" name="组合 30"/>
            <p:cNvGrpSpPr>
              <a:grpSpLocks/>
            </p:cNvGrpSpPr>
            <p:nvPr/>
          </p:nvGrpSpPr>
          <p:grpSpPr bwMode="auto">
            <a:xfrm>
              <a:off x="6708536" y="0"/>
              <a:ext cx="2985579" cy="3963609"/>
              <a:chOff x="-199202" y="0"/>
              <a:chExt cx="2985579" cy="3963609"/>
            </a:xfrm>
          </p:grpSpPr>
          <p:sp>
            <p:nvSpPr>
              <p:cNvPr id="6167" name="文本框 34"/>
              <p:cNvSpPr>
                <a:spLocks noChangeArrowheads="1"/>
              </p:cNvSpPr>
              <p:nvPr/>
            </p:nvSpPr>
            <p:spPr bwMode="auto">
              <a:xfrm>
                <a:off x="-175105" y="0"/>
                <a:ext cx="1996017" cy="523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r>
                  <a:rPr lang="zh-CN" altLang="en-US" sz="2800" dirty="0" smtClean="0">
                    <a:ea typeface="方正兰亭黑简体" panose="02000000000000000000"/>
                  </a:rPr>
                  <a:t>主要活动</a:t>
                </a:r>
                <a:endParaRPr lang="zh-CN" altLang="en-US" sz="2800" dirty="0">
                  <a:ea typeface="方正兰亭黑简体" panose="02000000000000000000"/>
                </a:endParaRPr>
              </a:p>
            </p:txBody>
          </p:sp>
          <p:sp>
            <p:nvSpPr>
              <p:cNvPr id="6168" name="文本框 35"/>
              <p:cNvSpPr>
                <a:spLocks noChangeArrowheads="1"/>
              </p:cNvSpPr>
              <p:nvPr/>
            </p:nvSpPr>
            <p:spPr bwMode="auto">
              <a:xfrm>
                <a:off x="-199202" y="694386"/>
                <a:ext cx="2985579" cy="3269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zh-CN" altLang="en-US" sz="2000" dirty="0" smtClean="0">
                    <a:ea typeface="方正兰亭黑简体" panose="02000000000000000000"/>
                  </a:rPr>
                  <a:t>    主要</a:t>
                </a:r>
                <a:r>
                  <a:rPr lang="zh-CN" altLang="en-US" sz="2000" dirty="0">
                    <a:ea typeface="方正兰亭黑简体" panose="02000000000000000000"/>
                  </a:rPr>
                  <a:t>活动是制定国际标准，协调世界范围的标准化工作，组织各成员国和技术委员会进行情报交流，与其他国际组织进行合作，共同研究有关标准化问题</a:t>
                </a:r>
              </a:p>
            </p:txBody>
          </p:sp>
        </p:gr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9" name="组合 4"/>
          <p:cNvGrpSpPr>
            <a:grpSpLocks/>
          </p:cNvGrpSpPr>
          <p:nvPr/>
        </p:nvGrpSpPr>
        <p:grpSpPr bwMode="auto">
          <a:xfrm>
            <a:off x="0" y="-41275"/>
            <a:ext cx="6669088" cy="1303338"/>
            <a:chOff x="0" y="0"/>
            <a:chExt cx="6669552" cy="1304243"/>
          </a:xfrm>
        </p:grpSpPr>
        <p:sp>
          <p:nvSpPr>
            <p:cNvPr id="7170" name="等腰三角形 5"/>
            <p:cNvSpPr>
              <a:spLocks noChangeArrowheads="1"/>
            </p:cNvSpPr>
            <p:nvPr/>
          </p:nvSpPr>
          <p:spPr bwMode="auto">
            <a:xfrm flipV="1">
              <a:off x="7496" y="261610"/>
              <a:ext cx="832662" cy="823414"/>
            </a:xfrm>
            <a:prstGeom prst="triangle">
              <a:avLst>
                <a:gd name="adj" fmla="val 50000"/>
              </a:avLst>
            </a:prstGeom>
            <a:noFill/>
            <a:ln w="5715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2A555B"/>
                </a:solidFill>
                <a:latin typeface="等线" panose="02010600030101010101" pitchFamily="2" charset="-122"/>
                <a:sym typeface="等线" panose="02010600030101010101" pitchFamily="2" charset="-122"/>
              </a:endParaRPr>
            </a:p>
          </p:txBody>
        </p:sp>
        <p:sp>
          <p:nvSpPr>
            <p:cNvPr id="7171" name="等腰三角形 6"/>
            <p:cNvSpPr>
              <a:spLocks noChangeArrowheads="1"/>
            </p:cNvSpPr>
            <p:nvPr/>
          </p:nvSpPr>
          <p:spPr bwMode="auto">
            <a:xfrm flipV="1">
              <a:off x="278685" y="480829"/>
              <a:ext cx="832662" cy="823414"/>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7172" name="图片 7"/>
            <p:cNvPicPr>
              <a:picLocks noChangeAspect="1" noChangeArrowheads="1"/>
            </p:cNvPicPr>
            <p:nvPr/>
          </p:nvPicPr>
          <p:blipFill>
            <a:blip r:embed="rId2">
              <a:extLst>
                <a:ext uri="{28A0092B-C50C-407E-A947-70E740481C1C}">
                  <a14:useLocalDpi xmlns:a14="http://schemas.microsoft.com/office/drawing/2010/main" val="0"/>
                </a:ext>
              </a:extLst>
            </a:blip>
            <a:srcRect l="28754" t="50206" r="23984"/>
            <a:stretch>
              <a:fillRect/>
            </a:stretch>
          </p:blipFill>
          <p:spPr bwMode="auto">
            <a:xfrm>
              <a:off x="0" y="0"/>
              <a:ext cx="1799771" cy="126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文本框 8"/>
            <p:cNvSpPr>
              <a:spLocks noChangeArrowheads="1"/>
            </p:cNvSpPr>
            <p:nvPr/>
          </p:nvSpPr>
          <p:spPr bwMode="auto">
            <a:xfrm>
              <a:off x="1807267" y="203737"/>
              <a:ext cx="4862285" cy="523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800" dirty="0" smtClean="0">
                  <a:ea typeface="方正兰亭粗黑_GBK" panose="02000000000000000000"/>
                </a:rPr>
                <a:t>含义</a:t>
              </a:r>
              <a:endParaRPr lang="zh-CN" altLang="en-US" sz="2800" dirty="0">
                <a:ea typeface="方正兰亭粗黑_GBK" panose="02000000000000000000"/>
              </a:endParaRPr>
            </a:p>
          </p:txBody>
        </p:sp>
        <p:sp>
          <p:nvSpPr>
            <p:cNvPr id="7174" name="文本框 9"/>
            <p:cNvSpPr>
              <a:spLocks noChangeArrowheads="1"/>
            </p:cNvSpPr>
            <p:nvPr/>
          </p:nvSpPr>
          <p:spPr bwMode="auto">
            <a:xfrm>
              <a:off x="596997" y="109585"/>
              <a:ext cx="8326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01</a:t>
              </a:r>
              <a:endParaRPr lang="zh-CN" altLang="en-US"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pic>
        <p:nvPicPr>
          <p:cNvPr id="7175" name="图片 10"/>
          <p:cNvPicPr>
            <a:picLocks noChangeAspect="1" noChangeArrowheads="1"/>
          </p:cNvPicPr>
          <p:nvPr/>
        </p:nvPicPr>
        <p:blipFill>
          <a:blip r:embed="rId3">
            <a:extLst>
              <a:ext uri="{28A0092B-C50C-407E-A947-70E740481C1C}">
                <a14:useLocalDpi xmlns:a14="http://schemas.microsoft.com/office/drawing/2010/main" val="0"/>
              </a:ext>
            </a:extLst>
          </a:blip>
          <a:srcRect t="16125" r="50000" b="21051"/>
          <a:stretch>
            <a:fillRect/>
          </a:stretch>
        </p:blipFill>
        <p:spPr bwMode="auto">
          <a:xfrm>
            <a:off x="9356725" y="1400175"/>
            <a:ext cx="28352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对角圆角矩形 11"/>
          <p:cNvSpPr>
            <a:spLocks noChangeArrowheads="1"/>
          </p:cNvSpPr>
          <p:nvPr/>
        </p:nvSpPr>
        <p:spPr bwMode="auto">
          <a:xfrm flipH="1">
            <a:off x="1190625" y="1995488"/>
            <a:ext cx="2019300" cy="2019300"/>
          </a:xfrm>
          <a:custGeom>
            <a:avLst/>
            <a:gdLst>
              <a:gd name="T0" fmla="*/ 1390 w 3180"/>
              <a:gd name="T1" fmla="*/ 0 h 3180"/>
              <a:gd name="T2" fmla="*/ 3180 w 3180"/>
              <a:gd name="T3" fmla="*/ 0 h 3180"/>
              <a:gd name="T4" fmla="*/ 3180 w 3180"/>
              <a:gd name="T5" fmla="*/ 0 h 3180"/>
              <a:gd name="T6" fmla="*/ 3180 w 3180"/>
              <a:gd name="T7" fmla="*/ 1789 h 3180"/>
              <a:gd name="T8" fmla="*/ 1790 w 3180"/>
              <a:gd name="T9" fmla="*/ 3179 h 3180"/>
              <a:gd name="T10" fmla="*/ 0 w 3180"/>
              <a:gd name="T11" fmla="*/ 3180 h 3180"/>
              <a:gd name="T12" fmla="*/ 0 w 3180"/>
              <a:gd name="T13" fmla="*/ 3180 h 3180"/>
              <a:gd name="T14" fmla="*/ 0 w 3180"/>
              <a:gd name="T15" fmla="*/ 1390 h 3180"/>
              <a:gd name="T16" fmla="*/ 1390 w 3180"/>
              <a:gd name="T17" fmla="*/ 0 h 3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80" h="3180">
                <a:moveTo>
                  <a:pt x="1390" y="0"/>
                </a:moveTo>
                <a:lnTo>
                  <a:pt x="3180" y="0"/>
                </a:lnTo>
                <a:lnTo>
                  <a:pt x="3180" y="1789"/>
                </a:lnTo>
                <a:cubicBezTo>
                  <a:pt x="3180" y="2557"/>
                  <a:pt x="2558" y="3179"/>
                  <a:pt x="1790" y="3179"/>
                </a:cubicBezTo>
                <a:lnTo>
                  <a:pt x="0" y="3180"/>
                </a:lnTo>
                <a:lnTo>
                  <a:pt x="0" y="1390"/>
                </a:lnTo>
                <a:cubicBezTo>
                  <a:pt x="0" y="622"/>
                  <a:pt x="622" y="0"/>
                  <a:pt x="1390" y="0"/>
                </a:cubicBezTo>
                <a:close/>
              </a:path>
            </a:pathLst>
          </a:custGeom>
          <a:solidFill>
            <a:srgbClr val="2A555B"/>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7177" name="对角圆角矩形 12"/>
          <p:cNvSpPr>
            <a:spLocks noChangeArrowheads="1"/>
          </p:cNvSpPr>
          <p:nvPr/>
        </p:nvSpPr>
        <p:spPr bwMode="auto">
          <a:xfrm flipH="1">
            <a:off x="3756025" y="1995488"/>
            <a:ext cx="2019300" cy="2019300"/>
          </a:xfrm>
          <a:custGeom>
            <a:avLst/>
            <a:gdLst>
              <a:gd name="T0" fmla="*/ 1390 w 3180"/>
              <a:gd name="T1" fmla="*/ 0 h 3180"/>
              <a:gd name="T2" fmla="*/ 3180 w 3180"/>
              <a:gd name="T3" fmla="*/ 0 h 3180"/>
              <a:gd name="T4" fmla="*/ 3180 w 3180"/>
              <a:gd name="T5" fmla="*/ 0 h 3180"/>
              <a:gd name="T6" fmla="*/ 3180 w 3180"/>
              <a:gd name="T7" fmla="*/ 1789 h 3180"/>
              <a:gd name="T8" fmla="*/ 1790 w 3180"/>
              <a:gd name="T9" fmla="*/ 3179 h 3180"/>
              <a:gd name="T10" fmla="*/ 0 w 3180"/>
              <a:gd name="T11" fmla="*/ 3180 h 3180"/>
              <a:gd name="T12" fmla="*/ 0 w 3180"/>
              <a:gd name="T13" fmla="*/ 3180 h 3180"/>
              <a:gd name="T14" fmla="*/ 0 w 3180"/>
              <a:gd name="T15" fmla="*/ 1390 h 3180"/>
              <a:gd name="T16" fmla="*/ 1390 w 3180"/>
              <a:gd name="T17" fmla="*/ 0 h 3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80" h="3180">
                <a:moveTo>
                  <a:pt x="1390" y="0"/>
                </a:moveTo>
                <a:lnTo>
                  <a:pt x="3180" y="0"/>
                </a:lnTo>
                <a:lnTo>
                  <a:pt x="3180" y="1789"/>
                </a:lnTo>
                <a:cubicBezTo>
                  <a:pt x="3180" y="2557"/>
                  <a:pt x="2558" y="3179"/>
                  <a:pt x="1790" y="3179"/>
                </a:cubicBezTo>
                <a:lnTo>
                  <a:pt x="0" y="3180"/>
                </a:lnTo>
                <a:lnTo>
                  <a:pt x="0" y="1390"/>
                </a:lnTo>
                <a:cubicBezTo>
                  <a:pt x="0" y="622"/>
                  <a:pt x="622" y="0"/>
                  <a:pt x="1390" y="0"/>
                </a:cubicBezTo>
                <a:close/>
              </a:path>
            </a:pathLst>
          </a:custGeom>
          <a:solidFill>
            <a:srgbClr val="0498A5"/>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7178" name="对角圆角矩形 13"/>
          <p:cNvSpPr>
            <a:spLocks noChangeArrowheads="1"/>
          </p:cNvSpPr>
          <p:nvPr/>
        </p:nvSpPr>
        <p:spPr bwMode="auto">
          <a:xfrm flipH="1">
            <a:off x="6324600" y="1995488"/>
            <a:ext cx="2019300" cy="2019300"/>
          </a:xfrm>
          <a:custGeom>
            <a:avLst/>
            <a:gdLst>
              <a:gd name="T0" fmla="*/ 1390 w 3180"/>
              <a:gd name="T1" fmla="*/ 0 h 3180"/>
              <a:gd name="T2" fmla="*/ 3180 w 3180"/>
              <a:gd name="T3" fmla="*/ 0 h 3180"/>
              <a:gd name="T4" fmla="*/ 3180 w 3180"/>
              <a:gd name="T5" fmla="*/ 0 h 3180"/>
              <a:gd name="T6" fmla="*/ 3180 w 3180"/>
              <a:gd name="T7" fmla="*/ 1789 h 3180"/>
              <a:gd name="T8" fmla="*/ 1790 w 3180"/>
              <a:gd name="T9" fmla="*/ 3179 h 3180"/>
              <a:gd name="T10" fmla="*/ 0 w 3180"/>
              <a:gd name="T11" fmla="*/ 3180 h 3180"/>
              <a:gd name="T12" fmla="*/ 0 w 3180"/>
              <a:gd name="T13" fmla="*/ 3180 h 3180"/>
              <a:gd name="T14" fmla="*/ 0 w 3180"/>
              <a:gd name="T15" fmla="*/ 1390 h 3180"/>
              <a:gd name="T16" fmla="*/ 1390 w 3180"/>
              <a:gd name="T17" fmla="*/ 0 h 3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80" h="3180">
                <a:moveTo>
                  <a:pt x="1390" y="0"/>
                </a:moveTo>
                <a:lnTo>
                  <a:pt x="3180" y="0"/>
                </a:lnTo>
                <a:lnTo>
                  <a:pt x="3180" y="1789"/>
                </a:lnTo>
                <a:cubicBezTo>
                  <a:pt x="3180" y="2557"/>
                  <a:pt x="2558" y="3179"/>
                  <a:pt x="1790" y="3179"/>
                </a:cubicBezTo>
                <a:lnTo>
                  <a:pt x="0" y="3180"/>
                </a:lnTo>
                <a:lnTo>
                  <a:pt x="0" y="1390"/>
                </a:lnTo>
                <a:cubicBezTo>
                  <a:pt x="0" y="622"/>
                  <a:pt x="622" y="0"/>
                  <a:pt x="1390" y="0"/>
                </a:cubicBezTo>
                <a:close/>
              </a:path>
            </a:pathLst>
          </a:custGeom>
          <a:solidFill>
            <a:srgbClr val="2A555B"/>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7179" name="对角圆角矩形 14"/>
          <p:cNvSpPr>
            <a:spLocks noChangeArrowheads="1"/>
          </p:cNvSpPr>
          <p:nvPr/>
        </p:nvSpPr>
        <p:spPr bwMode="auto">
          <a:xfrm flipH="1">
            <a:off x="8890000" y="1995488"/>
            <a:ext cx="2019300" cy="2019300"/>
          </a:xfrm>
          <a:custGeom>
            <a:avLst/>
            <a:gdLst>
              <a:gd name="T0" fmla="*/ 1390 w 3180"/>
              <a:gd name="T1" fmla="*/ 0 h 3180"/>
              <a:gd name="T2" fmla="*/ 3180 w 3180"/>
              <a:gd name="T3" fmla="*/ 0 h 3180"/>
              <a:gd name="T4" fmla="*/ 3180 w 3180"/>
              <a:gd name="T5" fmla="*/ 0 h 3180"/>
              <a:gd name="T6" fmla="*/ 3180 w 3180"/>
              <a:gd name="T7" fmla="*/ 1789 h 3180"/>
              <a:gd name="T8" fmla="*/ 1790 w 3180"/>
              <a:gd name="T9" fmla="*/ 3179 h 3180"/>
              <a:gd name="T10" fmla="*/ 0 w 3180"/>
              <a:gd name="T11" fmla="*/ 3180 h 3180"/>
              <a:gd name="T12" fmla="*/ 0 w 3180"/>
              <a:gd name="T13" fmla="*/ 3180 h 3180"/>
              <a:gd name="T14" fmla="*/ 0 w 3180"/>
              <a:gd name="T15" fmla="*/ 1390 h 3180"/>
              <a:gd name="T16" fmla="*/ 1390 w 3180"/>
              <a:gd name="T17" fmla="*/ 0 h 3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80" h="3180">
                <a:moveTo>
                  <a:pt x="1390" y="0"/>
                </a:moveTo>
                <a:lnTo>
                  <a:pt x="3180" y="0"/>
                </a:lnTo>
                <a:lnTo>
                  <a:pt x="3180" y="1789"/>
                </a:lnTo>
                <a:cubicBezTo>
                  <a:pt x="3180" y="2557"/>
                  <a:pt x="2558" y="3179"/>
                  <a:pt x="1790" y="3179"/>
                </a:cubicBezTo>
                <a:lnTo>
                  <a:pt x="0" y="3180"/>
                </a:lnTo>
                <a:lnTo>
                  <a:pt x="0" y="1390"/>
                </a:lnTo>
                <a:cubicBezTo>
                  <a:pt x="0" y="622"/>
                  <a:pt x="622" y="0"/>
                  <a:pt x="1390" y="0"/>
                </a:cubicBezTo>
                <a:close/>
              </a:path>
            </a:pathLst>
          </a:custGeom>
          <a:solidFill>
            <a:srgbClr val="2A555B"/>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7180" name="文本框 15"/>
          <p:cNvSpPr>
            <a:spLocks noChangeArrowheads="1"/>
          </p:cNvSpPr>
          <p:nvPr/>
        </p:nvSpPr>
        <p:spPr bwMode="auto">
          <a:xfrm>
            <a:off x="1457325" y="2176463"/>
            <a:ext cx="14859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4000" dirty="0" smtClean="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ISO</a:t>
            </a:r>
            <a:endParaRPr lang="zh-CN" altLang="en-US" sz="4000" dirty="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7181" name="文本框 16"/>
          <p:cNvSpPr>
            <a:spLocks noChangeArrowheads="1"/>
          </p:cNvSpPr>
          <p:nvPr/>
        </p:nvSpPr>
        <p:spPr bwMode="auto">
          <a:xfrm>
            <a:off x="3727450" y="2176463"/>
            <a:ext cx="178117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zh-CN" altLang="en-US" sz="4000" dirty="0" smtClean="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全球性</a:t>
            </a:r>
            <a:endParaRPr lang="zh-CN" altLang="en-US" sz="4000" dirty="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7182" name="文本框 17"/>
          <p:cNvSpPr>
            <a:spLocks noChangeArrowheads="1"/>
          </p:cNvSpPr>
          <p:nvPr/>
        </p:nvSpPr>
        <p:spPr bwMode="auto">
          <a:xfrm>
            <a:off x="6242050" y="2176463"/>
            <a:ext cx="2032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zh-CN" altLang="en-US" sz="2800" dirty="0" smtClean="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非政府组织</a:t>
            </a:r>
            <a:endParaRPr lang="zh-CN" altLang="en-US" sz="2800" dirty="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7183" name="文本框 18"/>
          <p:cNvSpPr>
            <a:spLocks noChangeArrowheads="1"/>
          </p:cNvSpPr>
          <p:nvPr/>
        </p:nvSpPr>
        <p:spPr bwMode="auto">
          <a:xfrm>
            <a:off x="9177338" y="2176463"/>
            <a:ext cx="14859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zh-CN" altLang="en-US" sz="4000" dirty="0" smtClean="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中国</a:t>
            </a:r>
            <a:endParaRPr lang="zh-CN" altLang="en-US" sz="4000" dirty="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7184" name="直接连接符 20"/>
          <p:cNvSpPr>
            <a:spLocks noChangeShapeType="1"/>
          </p:cNvSpPr>
          <p:nvPr/>
        </p:nvSpPr>
        <p:spPr bwMode="auto">
          <a:xfrm>
            <a:off x="1562100" y="2981325"/>
            <a:ext cx="1485900" cy="0"/>
          </a:xfrm>
          <a:prstGeom prst="line">
            <a:avLst/>
          </a:prstGeom>
          <a:noFill/>
          <a:ln w="6350">
            <a:solidFill>
              <a:srgbClr val="FFFFFF">
                <a:alpha val="35999"/>
              </a:srgbClr>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5" name="直接连接符 21"/>
          <p:cNvSpPr>
            <a:spLocks noChangeShapeType="1"/>
          </p:cNvSpPr>
          <p:nvPr/>
        </p:nvSpPr>
        <p:spPr bwMode="auto">
          <a:xfrm>
            <a:off x="4095750" y="2981325"/>
            <a:ext cx="1485900" cy="0"/>
          </a:xfrm>
          <a:prstGeom prst="line">
            <a:avLst/>
          </a:prstGeom>
          <a:noFill/>
          <a:ln w="6350">
            <a:solidFill>
              <a:srgbClr val="FFFFFF">
                <a:alpha val="35999"/>
              </a:srgbClr>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6" name="直接连接符 22"/>
          <p:cNvSpPr>
            <a:spLocks noChangeShapeType="1"/>
          </p:cNvSpPr>
          <p:nvPr/>
        </p:nvSpPr>
        <p:spPr bwMode="auto">
          <a:xfrm>
            <a:off x="6678613" y="2981325"/>
            <a:ext cx="1484312" cy="0"/>
          </a:xfrm>
          <a:prstGeom prst="line">
            <a:avLst/>
          </a:prstGeom>
          <a:noFill/>
          <a:ln w="6350">
            <a:solidFill>
              <a:srgbClr val="FFFFFF">
                <a:alpha val="35999"/>
              </a:srgbClr>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7" name="直接连接符 23"/>
          <p:cNvSpPr>
            <a:spLocks noChangeShapeType="1"/>
          </p:cNvSpPr>
          <p:nvPr/>
        </p:nvSpPr>
        <p:spPr bwMode="auto">
          <a:xfrm>
            <a:off x="9212263" y="2981325"/>
            <a:ext cx="1484312" cy="0"/>
          </a:xfrm>
          <a:prstGeom prst="line">
            <a:avLst/>
          </a:prstGeom>
          <a:noFill/>
          <a:ln w="6350">
            <a:solidFill>
              <a:srgbClr val="FFFFFF">
                <a:alpha val="35999"/>
              </a:srgbClr>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8" name="文本框 24"/>
          <p:cNvSpPr>
            <a:spLocks noChangeArrowheads="1"/>
          </p:cNvSpPr>
          <p:nvPr/>
        </p:nvSpPr>
        <p:spPr bwMode="auto">
          <a:xfrm>
            <a:off x="1256954" y="2915442"/>
            <a:ext cx="200377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zh-CN" altLang="en-US" dirty="0" smtClean="0">
                <a:solidFill>
                  <a:schemeClr val="bg1"/>
                </a:solidFill>
                <a:ea typeface="宋体" panose="02010600030101010101" pitchFamily="2" charset="-122"/>
              </a:rPr>
              <a:t>来源于希腊语</a:t>
            </a:r>
            <a:r>
              <a:rPr lang="en-US" altLang="zh-CN" dirty="0" err="1" smtClean="0">
                <a:solidFill>
                  <a:schemeClr val="bg1"/>
                </a:solidFill>
                <a:ea typeface="宋体" panose="02010600030101010101" pitchFamily="2" charset="-122"/>
              </a:rPr>
              <a:t>isos</a:t>
            </a:r>
            <a:r>
              <a:rPr lang="zh-CN" altLang="en-US" dirty="0" smtClean="0">
                <a:solidFill>
                  <a:schemeClr val="bg1"/>
                </a:solidFill>
                <a:ea typeface="宋体" panose="02010600030101010101" pitchFamily="2" charset="-122"/>
              </a:rPr>
              <a:t>，意为“相等”</a:t>
            </a:r>
            <a:endParaRPr lang="zh-CN" altLang="en-US" dirty="0">
              <a:solidFill>
                <a:schemeClr val="bg1"/>
              </a:solidFill>
              <a:ea typeface="宋体" panose="02010600030101010101" pitchFamily="2" charset="-122"/>
            </a:endParaRPr>
          </a:p>
        </p:txBody>
      </p:sp>
      <p:sp>
        <p:nvSpPr>
          <p:cNvPr id="7189" name="文本框 25"/>
          <p:cNvSpPr>
            <a:spLocks noChangeArrowheads="1"/>
          </p:cNvSpPr>
          <p:nvPr/>
        </p:nvSpPr>
        <p:spPr bwMode="auto">
          <a:xfrm>
            <a:off x="3806825" y="2821217"/>
            <a:ext cx="2114549"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zh-CN" altLang="en-US" dirty="0" smtClean="0">
                <a:solidFill>
                  <a:schemeClr val="bg1"/>
                </a:solidFill>
                <a:ea typeface="宋体" panose="02010600030101010101" pitchFamily="2" charset="-122"/>
              </a:rPr>
              <a:t>是国际标准化领域中一个十分重要的   </a:t>
            </a:r>
            <a:r>
              <a:rPr lang="en-US" altLang="zh-CN" dirty="0" smtClean="0">
                <a:solidFill>
                  <a:schemeClr val="bg1"/>
                </a:solidFill>
                <a:ea typeface="宋体" panose="02010600030101010101" pitchFamily="2" charset="-122"/>
              </a:rPr>
              <a:t>	</a:t>
            </a:r>
            <a:r>
              <a:rPr lang="zh-CN" altLang="en-US" dirty="0" smtClean="0">
                <a:solidFill>
                  <a:schemeClr val="bg1"/>
                </a:solidFill>
                <a:ea typeface="宋体" panose="02010600030101010101" pitchFamily="2" charset="-122"/>
              </a:rPr>
              <a:t>组织</a:t>
            </a:r>
            <a:endParaRPr lang="zh-CN" altLang="en-US" dirty="0">
              <a:solidFill>
                <a:schemeClr val="bg1"/>
              </a:solidFill>
              <a:ea typeface="宋体" panose="02010600030101010101" pitchFamily="2" charset="-122"/>
            </a:endParaRPr>
          </a:p>
        </p:txBody>
      </p:sp>
      <p:sp>
        <p:nvSpPr>
          <p:cNvPr id="7190" name="文本框 26"/>
          <p:cNvSpPr>
            <a:spLocks noChangeArrowheads="1"/>
          </p:cNvSpPr>
          <p:nvPr/>
        </p:nvSpPr>
        <p:spPr bwMode="auto">
          <a:xfrm>
            <a:off x="6511925" y="2952750"/>
            <a:ext cx="176212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zh-CN" altLang="en-US" dirty="0" smtClean="0">
                <a:solidFill>
                  <a:schemeClr val="bg1"/>
                </a:solidFill>
                <a:latin typeface="等线" panose="02010600030101010101" pitchFamily="2" charset="-122"/>
                <a:sym typeface="等线" panose="02010600030101010101" pitchFamily="2" charset="-122"/>
              </a:rPr>
              <a:t>成员来自世界上</a:t>
            </a:r>
            <a:r>
              <a:rPr lang="en-US" altLang="zh-CN" dirty="0" smtClean="0">
                <a:solidFill>
                  <a:schemeClr val="bg1"/>
                </a:solidFill>
                <a:latin typeface="等线" panose="02010600030101010101" pitchFamily="2" charset="-122"/>
                <a:sym typeface="等线" panose="02010600030101010101" pitchFamily="2" charset="-122"/>
              </a:rPr>
              <a:t>100</a:t>
            </a:r>
            <a:r>
              <a:rPr lang="zh-CN" altLang="en-US" dirty="0" smtClean="0">
                <a:solidFill>
                  <a:schemeClr val="bg1"/>
                </a:solidFill>
                <a:latin typeface="等线" panose="02010600030101010101" pitchFamily="2" charset="-122"/>
                <a:sym typeface="等线" panose="02010600030101010101" pitchFamily="2" charset="-122"/>
              </a:rPr>
              <a:t>多个国家</a:t>
            </a:r>
            <a:endParaRPr lang="zh-CN" altLang="en-US" dirty="0">
              <a:ea typeface="宋体" panose="02010600030101010101" pitchFamily="2" charset="-122"/>
            </a:endParaRPr>
          </a:p>
        </p:txBody>
      </p:sp>
      <p:sp>
        <p:nvSpPr>
          <p:cNvPr id="7191" name="文本框 27"/>
          <p:cNvSpPr>
            <a:spLocks noChangeArrowheads="1"/>
          </p:cNvSpPr>
          <p:nvPr/>
        </p:nvSpPr>
        <p:spPr bwMode="auto">
          <a:xfrm>
            <a:off x="9061452" y="2970213"/>
            <a:ext cx="1711324"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lnSpc>
                <a:spcPct val="150000"/>
              </a:lnSpc>
            </a:pPr>
            <a:r>
              <a:rPr lang="zh-CN" altLang="en-US" sz="1400" dirty="0" smtClean="0">
                <a:solidFill>
                  <a:schemeClr val="bg1"/>
                </a:solidFill>
                <a:latin typeface="等线" panose="02010600030101010101" pitchFamily="2" charset="-122"/>
                <a:sym typeface="等线" panose="02010600030101010101" pitchFamily="2" charset="-122"/>
              </a:rPr>
              <a:t>代表中国参加</a:t>
            </a:r>
            <a:r>
              <a:rPr lang="en-US" altLang="zh-CN" sz="1400" dirty="0" smtClean="0">
                <a:solidFill>
                  <a:schemeClr val="bg1"/>
                </a:solidFill>
                <a:latin typeface="等线" panose="02010600030101010101" pitchFamily="2" charset="-122"/>
                <a:sym typeface="等线" panose="02010600030101010101" pitchFamily="2" charset="-122"/>
              </a:rPr>
              <a:t>ISO</a:t>
            </a:r>
            <a:r>
              <a:rPr lang="zh-CN" altLang="en-US" sz="1400" dirty="0" smtClean="0">
                <a:solidFill>
                  <a:schemeClr val="bg1"/>
                </a:solidFill>
                <a:latin typeface="等线" panose="02010600030101010101" pitchFamily="2" charset="-122"/>
                <a:sym typeface="等线" panose="02010600030101010101" pitchFamily="2" charset="-122"/>
              </a:rPr>
              <a:t>的国家机构是中国国家技术监督局</a:t>
            </a:r>
            <a:endParaRPr lang="zh-CN" altLang="en-US" dirty="0">
              <a:ea typeface="宋体" panose="02010600030101010101" pitchFamily="2" charset="-122"/>
            </a:endParaRPr>
          </a:p>
        </p:txBody>
      </p:sp>
      <p:sp>
        <p:nvSpPr>
          <p:cNvPr id="7196" name="文本框 35"/>
          <p:cNvSpPr>
            <a:spLocks noChangeArrowheads="1"/>
          </p:cNvSpPr>
          <p:nvPr/>
        </p:nvSpPr>
        <p:spPr bwMode="auto">
          <a:xfrm>
            <a:off x="1190625" y="5100638"/>
            <a:ext cx="8810625" cy="129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en-US" altLang="zh-CN" dirty="0" smtClean="0">
                <a:solidFill>
                  <a:srgbClr val="000000"/>
                </a:solidFill>
                <a:latin typeface="等线" panose="02010600030101010101" pitchFamily="2" charset="-122"/>
                <a:sym typeface="等线" panose="02010600030101010101" pitchFamily="2" charset="-122"/>
              </a:rPr>
              <a:t>ISO</a:t>
            </a:r>
            <a:r>
              <a:rPr lang="zh-CN" altLang="en-US" dirty="0" smtClean="0">
                <a:solidFill>
                  <a:srgbClr val="000000"/>
                </a:solidFill>
                <a:latin typeface="等线" panose="02010600030101010101" pitchFamily="2" charset="-122"/>
                <a:sym typeface="等线" panose="02010600030101010101" pitchFamily="2" charset="-122"/>
              </a:rPr>
              <a:t>与国际电工委员会</a:t>
            </a:r>
            <a:r>
              <a:rPr lang="en-US" altLang="zh-CN" dirty="0" smtClean="0">
                <a:solidFill>
                  <a:srgbClr val="000000"/>
                </a:solidFill>
                <a:latin typeface="等线" panose="02010600030101010101" pitchFamily="2" charset="-122"/>
                <a:sym typeface="等线" panose="02010600030101010101" pitchFamily="2" charset="-122"/>
              </a:rPr>
              <a:t>(IEC)</a:t>
            </a:r>
            <a:r>
              <a:rPr lang="zh-CN" altLang="en-US" dirty="0" smtClean="0">
                <a:solidFill>
                  <a:srgbClr val="000000"/>
                </a:solidFill>
                <a:latin typeface="等线" panose="02010600030101010101" pitchFamily="2" charset="-122"/>
                <a:sym typeface="等线" panose="02010600030101010101" pitchFamily="2" charset="-122"/>
              </a:rPr>
              <a:t>有密切联系。</a:t>
            </a:r>
            <a:r>
              <a:rPr lang="en-US" altLang="zh-CN" dirty="0" smtClean="0">
                <a:solidFill>
                  <a:srgbClr val="000000"/>
                </a:solidFill>
                <a:latin typeface="等线" panose="02010600030101010101" pitchFamily="2" charset="-122"/>
                <a:sym typeface="等线" panose="02010600030101010101" pitchFamily="2" charset="-122"/>
              </a:rPr>
              <a:t>ISO</a:t>
            </a:r>
            <a:r>
              <a:rPr lang="zh-CN" altLang="en-US" dirty="0" smtClean="0">
                <a:solidFill>
                  <a:srgbClr val="000000"/>
                </a:solidFill>
                <a:latin typeface="等线" panose="02010600030101010101" pitchFamily="2" charset="-122"/>
                <a:sym typeface="等线" panose="02010600030101010101" pitchFamily="2" charset="-122"/>
              </a:rPr>
              <a:t>与</a:t>
            </a:r>
            <a:r>
              <a:rPr lang="en-US" altLang="zh-CN" dirty="0" smtClean="0">
                <a:solidFill>
                  <a:srgbClr val="000000"/>
                </a:solidFill>
                <a:latin typeface="等线" panose="02010600030101010101" pitchFamily="2" charset="-122"/>
                <a:sym typeface="等线" panose="02010600030101010101" pitchFamily="2" charset="-122"/>
              </a:rPr>
              <a:t>IEC</a:t>
            </a:r>
            <a:r>
              <a:rPr lang="zh-CN" altLang="en-US" dirty="0" smtClean="0">
                <a:solidFill>
                  <a:srgbClr val="000000"/>
                </a:solidFill>
                <a:latin typeface="等线" panose="02010600030101010101" pitchFamily="2" charset="-122"/>
                <a:sym typeface="等线" panose="02010600030101010101" pitchFamily="2" charset="-122"/>
              </a:rPr>
              <a:t>都是非政府机构，它们指定的标准实质上是自愿性的，这就意味着这些标准必须是优秀的标准。</a:t>
            </a:r>
            <a:r>
              <a:rPr lang="en-US" altLang="zh-CN" dirty="0" smtClean="0">
                <a:solidFill>
                  <a:srgbClr val="000000"/>
                </a:solidFill>
                <a:latin typeface="等线" panose="02010600030101010101" pitchFamily="2" charset="-122"/>
                <a:sym typeface="等线" panose="02010600030101010101" pitchFamily="2" charset="-122"/>
              </a:rPr>
              <a:t>ISO</a:t>
            </a:r>
            <a:r>
              <a:rPr lang="zh-CN" altLang="en-US" dirty="0" smtClean="0">
                <a:solidFill>
                  <a:srgbClr val="000000"/>
                </a:solidFill>
                <a:latin typeface="等线" panose="02010600030101010101" pitchFamily="2" charset="-122"/>
                <a:sym typeface="等线" panose="02010600030101010101" pitchFamily="2" charset="-122"/>
              </a:rPr>
              <a:t>和</a:t>
            </a:r>
            <a:r>
              <a:rPr lang="en-US" altLang="zh-CN" dirty="0" smtClean="0">
                <a:solidFill>
                  <a:srgbClr val="000000"/>
                </a:solidFill>
                <a:latin typeface="等线" panose="02010600030101010101" pitchFamily="2" charset="-122"/>
                <a:sym typeface="等线" panose="02010600030101010101" pitchFamily="2" charset="-122"/>
              </a:rPr>
              <a:t>IEC</a:t>
            </a:r>
            <a:r>
              <a:rPr lang="zh-CN" altLang="en-US" dirty="0" smtClean="0">
                <a:solidFill>
                  <a:srgbClr val="000000"/>
                </a:solidFill>
                <a:latin typeface="等线" panose="02010600030101010101" pitchFamily="2" charset="-122"/>
                <a:sym typeface="等线" panose="02010600030101010101" pitchFamily="2" charset="-122"/>
              </a:rPr>
              <a:t>有约</a:t>
            </a:r>
            <a:r>
              <a:rPr lang="en-US" altLang="zh-CN" dirty="0" smtClean="0">
                <a:solidFill>
                  <a:srgbClr val="000000"/>
                </a:solidFill>
                <a:latin typeface="等线" panose="02010600030101010101" pitchFamily="2" charset="-122"/>
                <a:sym typeface="等线" panose="02010600030101010101" pitchFamily="2" charset="-122"/>
              </a:rPr>
              <a:t>1000</a:t>
            </a:r>
            <a:r>
              <a:rPr lang="zh-CN" altLang="en-US" dirty="0" smtClean="0">
                <a:solidFill>
                  <a:srgbClr val="000000"/>
                </a:solidFill>
                <a:latin typeface="等线" panose="02010600030101010101" pitchFamily="2" charset="-122"/>
                <a:sym typeface="等线" panose="02010600030101010101" pitchFamily="2" charset="-122"/>
              </a:rPr>
              <a:t>个专业技术委员会和分委员会。</a:t>
            </a:r>
            <a:endParaRPr lang="zh-CN" altLang="en-US" dirty="0">
              <a:solidFill>
                <a:srgbClr val="000000"/>
              </a:solidFill>
              <a:latin typeface="等线" panose="02010600030101010101" pitchFamily="2" charset="-122"/>
              <a:sym typeface="等线" panose="02010600030101010101"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52650" y="754870"/>
            <a:ext cx="7886700" cy="1433766"/>
          </a:xfrm>
        </p:spPr>
        <p:txBody>
          <a:bodyPr/>
          <a:lstStyle/>
          <a:p>
            <a:r>
              <a:rPr lang="en-US" altLang="zh-CN" dirty="0" smtClean="0">
                <a:solidFill>
                  <a:schemeClr val="bg1"/>
                </a:solidFill>
                <a:latin typeface="方正兰亭黑_YS_GB18030" panose="03000502000000000000" pitchFamily="66" charset="-122"/>
                <a:ea typeface="方正兰亭黑_YS_GB18030" panose="03000502000000000000" pitchFamily="66" charset="-122"/>
              </a:rPr>
              <a:t>ISO</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是什么？</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2152650" y="2320301"/>
            <a:ext cx="7886700" cy="3990559"/>
          </a:xfrm>
        </p:spPr>
        <p:txBody>
          <a:bodyPr>
            <a:normAutofit/>
          </a:bodyPr>
          <a:lstStyle/>
          <a:p>
            <a:pPr>
              <a:buClr>
                <a:srgbClr val="BFEF74"/>
              </a:buClr>
              <a:buFont typeface="Wingdings" panose="05000000000000000000" pitchFamily="2" charset="2"/>
              <a:buChar char="u"/>
            </a:pPr>
            <a:r>
              <a:rPr lang="zh-CN" altLang="en-US" dirty="0">
                <a:solidFill>
                  <a:schemeClr val="bg1"/>
                </a:solidFill>
                <a:latin typeface="微软雅黑" panose="020B0503020204020204" pitchFamily="34" charset="-122"/>
                <a:ea typeface="微软雅黑" panose="020B0503020204020204" pitchFamily="34" charset="-122"/>
              </a:rPr>
              <a:t>国际标准化组织（</a:t>
            </a:r>
            <a:r>
              <a:rPr lang="en-US" altLang="zh-CN" dirty="0">
                <a:solidFill>
                  <a:schemeClr val="bg1"/>
                </a:solidFill>
                <a:latin typeface="微软雅黑" panose="020B0503020204020204" pitchFamily="34" charset="-122"/>
                <a:ea typeface="微软雅黑" panose="020B0503020204020204" pitchFamily="34" charset="-122"/>
              </a:rPr>
              <a:t>International Organization for Standardization</a:t>
            </a:r>
            <a:r>
              <a:rPr lang="zh-CN" altLang="en-US"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ISO</a:t>
            </a:r>
            <a:r>
              <a:rPr lang="zh-CN" altLang="en-US" dirty="0">
                <a:solidFill>
                  <a:schemeClr val="bg1"/>
                </a:solidFill>
                <a:latin typeface="微软雅黑" panose="020B0503020204020204" pitchFamily="34" charset="-122"/>
                <a:ea typeface="微软雅黑" panose="020B0503020204020204" pitchFamily="34" charset="-122"/>
              </a:rPr>
              <a:t>）简称</a:t>
            </a:r>
            <a:r>
              <a:rPr lang="en-US" altLang="zh-CN" dirty="0">
                <a:solidFill>
                  <a:schemeClr val="bg1"/>
                </a:solidFill>
                <a:latin typeface="微软雅黑" panose="020B0503020204020204" pitchFamily="34" charset="-122"/>
                <a:ea typeface="微软雅黑" panose="020B0503020204020204" pitchFamily="34" charset="-122"/>
              </a:rPr>
              <a:t>ISO</a:t>
            </a:r>
            <a:r>
              <a:rPr lang="zh-CN" altLang="en-US" dirty="0">
                <a:solidFill>
                  <a:schemeClr val="bg1"/>
                </a:solidFill>
                <a:latin typeface="微软雅黑" panose="020B0503020204020204" pitchFamily="34" charset="-122"/>
                <a:ea typeface="微软雅黑" panose="020B0503020204020204" pitchFamily="34" charset="-122"/>
              </a:rPr>
              <a:t>，是一个全球性的非政府组织，目标是推动标准化及其相关活动的发展。它致力于达成国际协议，并颁布成为国际标准。</a:t>
            </a:r>
          </a:p>
          <a:p>
            <a:pPr>
              <a:buClr>
                <a:srgbClr val="BFEF74"/>
              </a:buClr>
              <a:buFont typeface="Wingdings" panose="05000000000000000000" pitchFamily="2" charset="2"/>
              <a:buChar char="u"/>
            </a:pPr>
            <a:r>
              <a:rPr lang="en-US" altLang="zh-CN" dirty="0">
                <a:solidFill>
                  <a:schemeClr val="bg1"/>
                </a:solidFill>
                <a:latin typeface="微软雅黑" panose="020B0503020204020204" pitchFamily="34" charset="-122"/>
                <a:ea typeface="微软雅黑" panose="020B0503020204020204" pitchFamily="34" charset="-122"/>
              </a:rPr>
              <a:t>ISO</a:t>
            </a:r>
            <a:r>
              <a:rPr lang="zh-CN" altLang="en-US" dirty="0">
                <a:solidFill>
                  <a:schemeClr val="bg1"/>
                </a:solidFill>
                <a:latin typeface="微软雅黑" panose="020B0503020204020204" pitchFamily="34" charset="-122"/>
                <a:ea typeface="微软雅黑" panose="020B0503020204020204" pitchFamily="34" charset="-122"/>
              </a:rPr>
              <a:t>起源于战争年代的国防工业，前身是</a:t>
            </a:r>
            <a:r>
              <a:rPr lang="en-US" altLang="zh-CN" dirty="0">
                <a:solidFill>
                  <a:schemeClr val="bg1"/>
                </a:solidFill>
                <a:latin typeface="微软雅黑" panose="020B0503020204020204" pitchFamily="34" charset="-122"/>
                <a:ea typeface="微软雅黑" panose="020B0503020204020204" pitchFamily="34" charset="-122"/>
              </a:rPr>
              <a:t>IEC</a:t>
            </a:r>
            <a:r>
              <a:rPr lang="zh-CN" altLang="en-US" dirty="0">
                <a:solidFill>
                  <a:schemeClr val="bg1"/>
                </a:solidFill>
                <a:latin typeface="微软雅黑" panose="020B0503020204020204" pitchFamily="34" charset="-122"/>
                <a:ea typeface="微软雅黑" panose="020B0503020204020204" pitchFamily="34" charset="-122"/>
              </a:rPr>
              <a:t>（国际电工委员会），二战中断工作，</a:t>
            </a:r>
            <a:r>
              <a:rPr lang="en-US" altLang="zh-CN" dirty="0">
                <a:solidFill>
                  <a:schemeClr val="bg1"/>
                </a:solidFill>
                <a:latin typeface="微软雅黑" panose="020B0503020204020204" pitchFamily="34" charset="-122"/>
                <a:ea typeface="微软雅黑" panose="020B0503020204020204" pitchFamily="34" charset="-122"/>
              </a:rPr>
              <a:t>1946</a:t>
            </a:r>
            <a:r>
              <a:rPr lang="zh-CN" altLang="en-US" dirty="0">
                <a:solidFill>
                  <a:schemeClr val="bg1"/>
                </a:solidFill>
                <a:latin typeface="微软雅黑" panose="020B0503020204020204" pitchFamily="34" charset="-122"/>
                <a:ea typeface="微软雅黑" panose="020B0503020204020204" pitchFamily="34" charset="-122"/>
              </a:rPr>
              <a:t>年一个</a:t>
            </a:r>
            <a:r>
              <a:rPr lang="en-US" altLang="zh-CN" dirty="0">
                <a:solidFill>
                  <a:schemeClr val="bg1"/>
                </a:solidFill>
                <a:latin typeface="微软雅黑" panose="020B0503020204020204" pitchFamily="34" charset="-122"/>
                <a:ea typeface="微软雅黑" panose="020B0503020204020204" pitchFamily="34" charset="-122"/>
              </a:rPr>
              <a:t>25</a:t>
            </a:r>
            <a:r>
              <a:rPr lang="zh-CN" altLang="en-US" dirty="0">
                <a:solidFill>
                  <a:schemeClr val="bg1"/>
                </a:solidFill>
                <a:latin typeface="微软雅黑" panose="020B0503020204020204" pitchFamily="34" charset="-122"/>
                <a:ea typeface="微软雅黑" panose="020B0503020204020204" pitchFamily="34" charset="-122"/>
              </a:rPr>
              <a:t>个国家参与的会议后，成立了</a:t>
            </a:r>
            <a:r>
              <a:rPr lang="en-US" altLang="zh-CN" dirty="0">
                <a:solidFill>
                  <a:schemeClr val="bg1"/>
                </a:solidFill>
                <a:latin typeface="微软雅黑" panose="020B0503020204020204" pitchFamily="34" charset="-122"/>
                <a:ea typeface="微软雅黑" panose="020B0503020204020204" pitchFamily="34" charset="-122"/>
              </a:rPr>
              <a:t>ISO</a:t>
            </a:r>
            <a:r>
              <a:rPr lang="zh-CN" altLang="en-US"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1947</a:t>
            </a:r>
            <a:r>
              <a:rPr lang="zh-CN" altLang="en-US" dirty="0">
                <a:solidFill>
                  <a:schemeClr val="bg1"/>
                </a:solidFill>
                <a:latin typeface="微软雅黑" panose="020B0503020204020204" pitchFamily="34" charset="-122"/>
                <a:ea typeface="微软雅黑" panose="020B0503020204020204" pitchFamily="34" charset="-122"/>
              </a:rPr>
              <a:t>年</a:t>
            </a:r>
            <a:r>
              <a:rPr lang="en-US" altLang="zh-CN" dirty="0">
                <a:solidFill>
                  <a:schemeClr val="bg1"/>
                </a:solidFill>
                <a:latin typeface="微软雅黑" panose="020B0503020204020204" pitchFamily="34" charset="-122"/>
                <a:ea typeface="微软雅黑" panose="020B0503020204020204" pitchFamily="34" charset="-122"/>
              </a:rPr>
              <a:t>2</a:t>
            </a:r>
            <a:r>
              <a:rPr lang="zh-CN" altLang="en-US" dirty="0">
                <a:solidFill>
                  <a:schemeClr val="bg1"/>
                </a:solidFill>
                <a:latin typeface="微软雅黑" panose="020B0503020204020204" pitchFamily="34" charset="-122"/>
                <a:ea typeface="微软雅黑" panose="020B0503020204020204" pitchFamily="34" charset="-122"/>
              </a:rPr>
              <a:t>月</a:t>
            </a:r>
            <a:r>
              <a:rPr lang="en-US" altLang="zh-CN" dirty="0">
                <a:solidFill>
                  <a:schemeClr val="bg1"/>
                </a:solidFill>
                <a:latin typeface="微软雅黑" panose="020B0503020204020204" pitchFamily="34" charset="-122"/>
                <a:ea typeface="微软雅黑" panose="020B0503020204020204" pitchFamily="34" charset="-122"/>
              </a:rPr>
              <a:t>23</a:t>
            </a:r>
            <a:r>
              <a:rPr lang="zh-CN" altLang="en-US" dirty="0">
                <a:solidFill>
                  <a:schemeClr val="bg1"/>
                </a:solidFill>
                <a:latin typeface="微软雅黑" panose="020B0503020204020204" pitchFamily="34" charset="-122"/>
                <a:ea typeface="微软雅黑" panose="020B0503020204020204" pitchFamily="34" charset="-122"/>
              </a:rPr>
              <a:t>日正式开始运作。</a:t>
            </a:r>
          </a:p>
          <a:p>
            <a:endParaRPr lang="zh-CN" altLang="en-US" dirty="0"/>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3875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4"/>
          <p:cNvSpPr txBox="1">
            <a:spLocks noChangeArrowheads="1"/>
          </p:cNvSpPr>
          <p:nvPr/>
        </p:nvSpPr>
        <p:spPr bwMode="auto">
          <a:xfrm>
            <a:off x="5232129" y="1464035"/>
            <a:ext cx="1655753" cy="342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914126" fontAlgn="auto">
              <a:spcBef>
                <a:spcPts val="0"/>
              </a:spcBef>
              <a:spcAft>
                <a:spcPts val="0"/>
              </a:spcAft>
            </a:pPr>
            <a:r>
              <a:rPr lang="zh-CN" altLang="en-US" sz="2799" dirty="0">
                <a:solidFill>
                  <a:srgbClr val="C00000"/>
                </a:solidFill>
                <a:latin typeface="微软雅黑" panose="020B0503020204020204" pitchFamily="34" charset="-122"/>
                <a:ea typeface="微软雅黑" panose="020B0503020204020204" pitchFamily="34" charset="-122"/>
              </a:rPr>
              <a:t>标准</a:t>
            </a:r>
          </a:p>
        </p:txBody>
      </p:sp>
      <p:cxnSp>
        <p:nvCxnSpPr>
          <p:cNvPr id="31" name="直接连接符 30"/>
          <p:cNvCxnSpPr/>
          <p:nvPr/>
        </p:nvCxnSpPr>
        <p:spPr>
          <a:xfrm>
            <a:off x="4901210" y="1950024"/>
            <a:ext cx="2375645" cy="0"/>
          </a:xfrm>
          <a:prstGeom prst="line">
            <a:avLst/>
          </a:prstGeom>
          <a:ln w="19050">
            <a:solidFill>
              <a:srgbClr val="414455"/>
            </a:solidFill>
            <a:prstDash val="sysDash"/>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2712505" y="2421151"/>
            <a:ext cx="6982958" cy="1384634"/>
          </a:xfrm>
          <a:prstGeom prst="rect">
            <a:avLst/>
          </a:prstGeom>
        </p:spPr>
        <p:txBody>
          <a:bodyPr wrap="square">
            <a:spAutoFit/>
          </a:bodyPr>
          <a:lstStyle/>
          <a:p>
            <a:pPr defTabSz="914126" fontAlgn="auto">
              <a:lnSpc>
                <a:spcPct val="150000"/>
              </a:lnSpc>
              <a:spcBef>
                <a:spcPts val="0"/>
              </a:spcBef>
              <a:spcAft>
                <a:spcPts val="0"/>
              </a:spcAft>
            </a:pPr>
            <a:r>
              <a:rPr lang="zh-CN" altLang="en-US" sz="1999" b="1" dirty="0">
                <a:solidFill>
                  <a:srgbClr val="414455"/>
                </a:solidFill>
                <a:latin typeface="微软雅黑" panose="020B0503020204020204" pitchFamily="34" charset="-122"/>
                <a:ea typeface="微软雅黑" panose="020B0503020204020204" pitchFamily="34" charset="-122"/>
                <a:cs typeface="+mn-cs"/>
              </a:rPr>
              <a:t>标准</a:t>
            </a:r>
            <a:r>
              <a:rPr lang="zh-CN" altLang="en-US" sz="1799" dirty="0">
                <a:solidFill>
                  <a:srgbClr val="414455"/>
                </a:solidFill>
                <a:latin typeface="微软雅黑" panose="020B0503020204020204" pitchFamily="34" charset="-122"/>
                <a:ea typeface="微软雅黑" panose="020B0503020204020204" pitchFamily="34" charset="-122"/>
                <a:cs typeface="+mn-cs"/>
              </a:rPr>
              <a:t>是“为了在一定的范围内获得最佳秩序，经协商一致制定并由公认机构批准，共同使用的和重复使用的一种规范性文件。”</a:t>
            </a:r>
            <a:endParaRPr lang="en-US" altLang="zh-CN" sz="1799" dirty="0">
              <a:solidFill>
                <a:srgbClr val="414455"/>
              </a:solidFill>
              <a:latin typeface="微软雅黑" panose="020B0503020204020204" pitchFamily="34" charset="-122"/>
              <a:ea typeface="微软雅黑" panose="020B0503020204020204" pitchFamily="34" charset="-122"/>
              <a:cs typeface="+mn-cs"/>
            </a:endParaRPr>
          </a:p>
          <a:p>
            <a:pPr algn="r" defTabSz="914126" fontAlgn="auto">
              <a:lnSpc>
                <a:spcPct val="150000"/>
              </a:lnSpc>
              <a:spcBef>
                <a:spcPts val="0"/>
              </a:spcBef>
              <a:spcAft>
                <a:spcPts val="0"/>
              </a:spcAft>
            </a:pPr>
            <a:r>
              <a:rPr lang="en-US" altLang="zh-CN" sz="1799" dirty="0">
                <a:solidFill>
                  <a:srgbClr val="414455"/>
                </a:solidFill>
                <a:latin typeface="微软雅黑" panose="020B0503020204020204" pitchFamily="34" charset="-122"/>
                <a:ea typeface="微软雅黑" panose="020B0503020204020204" pitchFamily="34" charset="-122"/>
                <a:cs typeface="+mn-cs"/>
              </a:rPr>
              <a:t>——</a:t>
            </a:r>
            <a:r>
              <a:rPr lang="en-US" altLang="zh-CN" sz="1799" b="1" dirty="0">
                <a:solidFill>
                  <a:srgbClr val="414455"/>
                </a:solidFill>
                <a:latin typeface="宋体" panose="02010600030101010101" pitchFamily="2" charset="-122"/>
                <a:ea typeface="宋体" panose="02010600030101010101" pitchFamily="2" charset="-122"/>
                <a:cs typeface="+mn-cs"/>
              </a:rPr>
              <a:t>Wikipedia</a:t>
            </a:r>
            <a:endParaRPr lang="zh-CN" altLang="en-US" sz="1799" b="1" dirty="0">
              <a:solidFill>
                <a:srgbClr val="414455"/>
              </a:solidFill>
              <a:latin typeface="宋体" panose="02010600030101010101" pitchFamily="2" charset="-122"/>
              <a:ea typeface="宋体" panose="02010600030101010101" pitchFamily="2" charset="-122"/>
              <a:cs typeface="+mn-cs"/>
            </a:endParaRPr>
          </a:p>
        </p:txBody>
      </p:sp>
      <p:sp>
        <p:nvSpPr>
          <p:cNvPr id="33" name="TextBox 32"/>
          <p:cNvSpPr txBox="1"/>
          <p:nvPr/>
        </p:nvSpPr>
        <p:spPr>
          <a:xfrm>
            <a:off x="15670570" y="8397151"/>
            <a:ext cx="876935" cy="369236"/>
          </a:xfrm>
          <a:prstGeom prst="rect">
            <a:avLst/>
          </a:prstGeom>
          <a:noFill/>
        </p:spPr>
        <p:txBody>
          <a:bodyPr wrap="none" rtlCol="0">
            <a:spAutoFit/>
          </a:bodyPr>
          <a:lstStyle/>
          <a:p>
            <a:pPr defTabSz="914126" fontAlgn="auto">
              <a:spcBef>
                <a:spcPts val="0"/>
              </a:spcBef>
              <a:spcAft>
                <a:spcPts val="0"/>
              </a:spcAft>
            </a:pPr>
            <a:r>
              <a:rPr lang="zh-CN" altLang="en-US" sz="1799" dirty="0">
                <a:solidFill>
                  <a:prstClr val="black"/>
                </a:solidFill>
                <a:latin typeface="Calibri"/>
                <a:ea typeface="宋体" panose="02010600030101010101" pitchFamily="2" charset="-122"/>
                <a:cs typeface="+mn-cs"/>
              </a:rPr>
              <a:t>延时符</a:t>
            </a:r>
          </a:p>
        </p:txBody>
      </p:sp>
      <p:sp>
        <p:nvSpPr>
          <p:cNvPr id="40" name="矩形 39"/>
          <p:cNvSpPr/>
          <p:nvPr/>
        </p:nvSpPr>
        <p:spPr>
          <a:xfrm>
            <a:off x="2536283" y="4095899"/>
            <a:ext cx="7486882" cy="1338479"/>
          </a:xfrm>
          <a:prstGeom prst="rect">
            <a:avLst/>
          </a:prstGeom>
        </p:spPr>
        <p:txBody>
          <a:bodyPr wrap="square">
            <a:spAutoFit/>
          </a:bodyPr>
          <a:lstStyle/>
          <a:p>
            <a:pPr defTabSz="914126" fontAlgn="auto">
              <a:lnSpc>
                <a:spcPct val="150000"/>
              </a:lnSpc>
              <a:spcBef>
                <a:spcPts val="0"/>
              </a:spcBef>
              <a:spcAft>
                <a:spcPts val="0"/>
              </a:spcAft>
            </a:pPr>
            <a:r>
              <a:rPr lang="en-US" altLang="zh-CN" sz="1799" dirty="0">
                <a:solidFill>
                  <a:srgbClr val="414455"/>
                </a:solidFill>
                <a:latin typeface="微软雅黑" panose="020B0503020204020204" pitchFamily="34" charset="-122"/>
                <a:ea typeface="微软雅黑" panose="020B0503020204020204" pitchFamily="34" charset="-122"/>
                <a:cs typeface="+mn-cs"/>
              </a:rPr>
              <a:t>A </a:t>
            </a:r>
            <a:r>
              <a:rPr lang="en-US" altLang="zh-CN" sz="1799" b="1" dirty="0">
                <a:solidFill>
                  <a:srgbClr val="414455"/>
                </a:solidFill>
                <a:latin typeface="微软雅黑" panose="020B0503020204020204" pitchFamily="34" charset="-122"/>
                <a:ea typeface="微软雅黑" panose="020B0503020204020204" pitchFamily="34" charset="-122"/>
                <a:cs typeface="+mn-cs"/>
              </a:rPr>
              <a:t>standard</a:t>
            </a:r>
            <a:r>
              <a:rPr lang="en-US" altLang="zh-CN" sz="1799" dirty="0">
                <a:solidFill>
                  <a:srgbClr val="414455"/>
                </a:solidFill>
                <a:latin typeface="微软雅黑" panose="020B0503020204020204" pitchFamily="34" charset="-122"/>
                <a:ea typeface="微软雅黑" panose="020B0503020204020204" pitchFamily="34" charset="-122"/>
                <a:cs typeface="+mn-cs"/>
              </a:rPr>
              <a:t> is a document, established by consensus that provides rules, guidelines or characteristics for activities or their results.</a:t>
            </a:r>
          </a:p>
          <a:p>
            <a:pPr algn="r" defTabSz="914126" fontAlgn="auto">
              <a:lnSpc>
                <a:spcPct val="150000"/>
              </a:lnSpc>
              <a:spcBef>
                <a:spcPts val="0"/>
              </a:spcBef>
              <a:spcAft>
                <a:spcPts val="0"/>
              </a:spcAft>
            </a:pPr>
            <a:r>
              <a:rPr lang="en-US" altLang="zh-CN" sz="1799" dirty="0">
                <a:solidFill>
                  <a:srgbClr val="414455"/>
                </a:solidFill>
                <a:latin typeface="微软雅黑" panose="020B0503020204020204" pitchFamily="34" charset="-122"/>
                <a:ea typeface="微软雅黑" panose="020B0503020204020204" pitchFamily="34" charset="-122"/>
                <a:cs typeface="+mn-cs"/>
              </a:rPr>
              <a:t>——</a:t>
            </a:r>
            <a:r>
              <a:rPr lang="en-US" altLang="zh-CN" sz="1799" b="1" dirty="0">
                <a:solidFill>
                  <a:srgbClr val="414455"/>
                </a:solidFill>
                <a:latin typeface="宋体" panose="02010600030101010101" pitchFamily="2" charset="-122"/>
                <a:ea typeface="宋体" panose="02010600030101010101" pitchFamily="2" charset="-122"/>
                <a:cs typeface="+mn-cs"/>
              </a:rPr>
              <a:t>ISO/IEC Guide 2:2004</a:t>
            </a:r>
            <a:endParaRPr lang="zh-CN" altLang="en-US" sz="1799" b="1" dirty="0">
              <a:solidFill>
                <a:srgbClr val="414455"/>
              </a:solidFill>
              <a:latin typeface="宋体" panose="02010600030101010101" pitchFamily="2" charset="-122"/>
              <a:ea typeface="宋体" panose="02010600030101010101" pitchFamily="2" charset="-122"/>
              <a:cs typeface="+mn-cs"/>
            </a:endParaRPr>
          </a:p>
        </p:txBody>
      </p:sp>
    </p:spTree>
    <p:extLst>
      <p:ext uri="{BB962C8B-B14F-4D97-AF65-F5344CB8AC3E}">
        <p14:creationId xmlns:p14="http://schemas.microsoft.com/office/powerpoint/2010/main" val="1936031038"/>
      </p:ext>
    </p:extLst>
  </p:cSld>
  <p:clrMapOvr>
    <a:masterClrMapping/>
  </p:clrMapOvr>
  <p:transition spd="med">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等腰三角形 6"/>
          <p:cNvSpPr>
            <a:spLocks noChangeArrowheads="1"/>
          </p:cNvSpPr>
          <p:nvPr/>
        </p:nvSpPr>
        <p:spPr bwMode="auto">
          <a:xfrm flipV="1">
            <a:off x="9783763" y="2325688"/>
            <a:ext cx="2008187" cy="1731962"/>
          </a:xfrm>
          <a:prstGeom prst="triangle">
            <a:avLst>
              <a:gd name="adj" fmla="val 50000"/>
            </a:avLst>
          </a:prstGeom>
          <a:noFill/>
          <a:ln w="38100">
            <a:solidFill>
              <a:srgbClr val="0498A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8194" name="等腰三角形 5"/>
          <p:cNvSpPr>
            <a:spLocks noChangeArrowheads="1"/>
          </p:cNvSpPr>
          <p:nvPr/>
        </p:nvSpPr>
        <p:spPr bwMode="auto">
          <a:xfrm flipV="1">
            <a:off x="6826250" y="1449388"/>
            <a:ext cx="4565650" cy="4514850"/>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8195" name="等腰三角形 7"/>
          <p:cNvSpPr>
            <a:spLocks noChangeArrowheads="1"/>
          </p:cNvSpPr>
          <p:nvPr/>
        </p:nvSpPr>
        <p:spPr bwMode="auto">
          <a:xfrm flipV="1">
            <a:off x="9036050" y="4508500"/>
            <a:ext cx="2555875" cy="2201863"/>
          </a:xfrm>
          <a:prstGeom prst="triangle">
            <a:avLst>
              <a:gd name="adj" fmla="val 50000"/>
            </a:avLst>
          </a:prstGeom>
          <a:noFill/>
          <a:ln w="12700">
            <a:solidFill>
              <a:srgbClr val="B2AD4E"/>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8196" name="图片 4"/>
          <p:cNvPicPr>
            <a:picLocks noChangeAspect="1" noChangeArrowheads="1"/>
          </p:cNvPicPr>
          <p:nvPr/>
        </p:nvPicPr>
        <p:blipFill>
          <a:blip r:embed="rId2">
            <a:extLst>
              <a:ext uri="{28A0092B-C50C-407E-A947-70E740481C1C}">
                <a14:useLocalDpi xmlns:a14="http://schemas.microsoft.com/office/drawing/2010/main" val="0"/>
              </a:ext>
            </a:extLst>
          </a:blip>
          <a:srcRect l="15926" t="4375" r="32281"/>
          <a:stretch>
            <a:fillRect/>
          </a:stretch>
        </p:blipFill>
        <p:spPr bwMode="auto">
          <a:xfrm>
            <a:off x="6610350" y="0"/>
            <a:ext cx="55816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文本框 8"/>
          <p:cNvSpPr>
            <a:spLocks noChangeArrowheads="1"/>
          </p:cNvSpPr>
          <p:nvPr/>
        </p:nvSpPr>
        <p:spPr bwMode="auto">
          <a:xfrm>
            <a:off x="8636000" y="1543050"/>
            <a:ext cx="2555875" cy="377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3900">
                <a:solidFill>
                  <a:schemeClr val="bg1"/>
                </a:solidFill>
                <a:latin typeface="方正兰亭粗黑_GBK" panose="02000000000000000000" pitchFamily="2" charset="-122"/>
                <a:ea typeface="方正兰亭粗黑_GBK" panose="02000000000000000000" pitchFamily="2" charset="-122"/>
                <a:sym typeface="经典繁毛楷" pitchFamily="1" charset="-122"/>
              </a:rPr>
              <a:t>2</a:t>
            </a:r>
            <a:endParaRPr lang="zh-CN" altLang="en-US" sz="23900">
              <a:solidFill>
                <a:schemeClr val="bg1"/>
              </a:solidFill>
              <a:latin typeface="方正兰亭粗黑_GBK" panose="02000000000000000000" pitchFamily="2" charset="-122"/>
              <a:ea typeface="方正兰亭粗黑_GBK" panose="02000000000000000000" pitchFamily="2" charset="-122"/>
              <a:sym typeface="经典繁毛楷" pitchFamily="1" charset="-122"/>
            </a:endParaRPr>
          </a:p>
        </p:txBody>
      </p:sp>
      <p:grpSp>
        <p:nvGrpSpPr>
          <p:cNvPr id="8198" name="组合 19"/>
          <p:cNvGrpSpPr>
            <a:grpSpLocks/>
          </p:cNvGrpSpPr>
          <p:nvPr/>
        </p:nvGrpSpPr>
        <p:grpSpPr bwMode="auto">
          <a:xfrm>
            <a:off x="614363" y="2397125"/>
            <a:ext cx="5795962" cy="2063751"/>
            <a:chOff x="-15875" y="0"/>
            <a:chExt cx="5795831" cy="2063386"/>
          </a:xfrm>
        </p:grpSpPr>
        <p:sp>
          <p:nvSpPr>
            <p:cNvPr id="8199" name="直接连接符 10"/>
            <p:cNvSpPr>
              <a:spLocks noChangeShapeType="1"/>
            </p:cNvSpPr>
            <p:nvPr/>
          </p:nvSpPr>
          <p:spPr bwMode="auto">
            <a:xfrm>
              <a:off x="400050" y="0"/>
              <a:ext cx="4981666" cy="1"/>
            </a:xfrm>
            <a:prstGeom prst="line">
              <a:avLst/>
            </a:prstGeom>
            <a:noFill/>
            <a:ln w="6350">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 name="文本框 14"/>
            <p:cNvSpPr>
              <a:spLocks noChangeArrowheads="1"/>
            </p:cNvSpPr>
            <p:nvPr/>
          </p:nvSpPr>
          <p:spPr bwMode="auto">
            <a:xfrm>
              <a:off x="-15875" y="588307"/>
              <a:ext cx="5795831" cy="769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zh-CN" altLang="en-US" sz="4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组织结构</a:t>
              </a:r>
              <a:endParaRPr lang="zh-CN" altLang="en-US" sz="4400" dirty="0">
                <a:ea typeface="宋体" panose="02010600030101010101" pitchFamily="2" charset="-122"/>
              </a:endParaRPr>
            </a:p>
          </p:txBody>
        </p:sp>
        <p:sp>
          <p:nvSpPr>
            <p:cNvPr id="8201" name="直接连接符 17"/>
            <p:cNvSpPr>
              <a:spLocks noChangeShapeType="1"/>
            </p:cNvSpPr>
            <p:nvPr/>
          </p:nvSpPr>
          <p:spPr bwMode="auto">
            <a:xfrm>
              <a:off x="400050" y="2063385"/>
              <a:ext cx="4981666" cy="1"/>
            </a:xfrm>
            <a:prstGeom prst="line">
              <a:avLst/>
            </a:prstGeom>
            <a:noFill/>
            <a:ln w="6350">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 name="文本框 18"/>
            <p:cNvSpPr>
              <a:spLocks noChangeArrowheads="1"/>
            </p:cNvSpPr>
            <p:nvPr/>
          </p:nvSpPr>
          <p:spPr bwMode="auto">
            <a:xfrm>
              <a:off x="313479" y="778183"/>
              <a:ext cx="5168871" cy="456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endParaRPr lang="zh-CN" altLang="en-US" dirty="0">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52650" y="754870"/>
            <a:ext cx="7886700" cy="1433766"/>
          </a:xfrm>
        </p:spPr>
        <p:txBody>
          <a:bodyPr/>
          <a:lstStyle/>
          <a:p>
            <a:r>
              <a:rPr lang="en-US" altLang="zh-CN" dirty="0" smtClean="0">
                <a:solidFill>
                  <a:schemeClr val="bg1"/>
                </a:solidFill>
                <a:latin typeface="方正兰亭黑_YS_GB18030" panose="03000502000000000000" pitchFamily="66" charset="-122"/>
                <a:ea typeface="方正兰亭黑_YS_GB18030" panose="03000502000000000000" pitchFamily="66" charset="-122"/>
              </a:rPr>
              <a:t>ISO</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的组成结构是什么样的？</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pic>
        <p:nvPicPr>
          <p:cNvPr id="5" name="内容占位符 4" descr="http://www.mlr.gov.cn/kj/tzgg_8225/201310/W020131014385469413738.jpg"/>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52651" y="2212048"/>
            <a:ext cx="7809875" cy="4198798"/>
          </a:xfrm>
          <a:prstGeom prst="rect">
            <a:avLst/>
          </a:prstGeom>
          <a:noFill/>
          <a:ln>
            <a:noFill/>
          </a:ln>
        </p:spPr>
      </p:pic>
      <p:sp>
        <p:nvSpPr>
          <p:cNvPr id="6" name="文本框 5"/>
          <p:cNvSpPr txBox="1"/>
          <p:nvPr/>
        </p:nvSpPr>
        <p:spPr>
          <a:xfrm>
            <a:off x="4663620" y="6434259"/>
            <a:ext cx="3609523" cy="369332"/>
          </a:xfrm>
          <a:prstGeom prst="rect">
            <a:avLst/>
          </a:prstGeom>
          <a:noFill/>
        </p:spPr>
        <p:txBody>
          <a:bodyPr wrap="square" rtlCol="0">
            <a:spAutoFit/>
          </a:bodyPr>
          <a:lstStyle/>
          <a:p>
            <a:pPr fontAlgn="auto">
              <a:spcBef>
                <a:spcPts val="0"/>
              </a:spcBef>
              <a:spcAft>
                <a:spcPts val="0"/>
              </a:spcAft>
            </a:pPr>
            <a:r>
              <a:rPr lang="en-US" altLang="zh-CN" dirty="0">
                <a:solidFill>
                  <a:prstClr val="white"/>
                </a:solidFill>
                <a:latin typeface="微软雅黑" panose="020B0503020204020204" pitchFamily="34" charset="-122"/>
                <a:ea typeface="微软雅黑" panose="020B0503020204020204" pitchFamily="34" charset="-122"/>
                <a:cs typeface="+mn-cs"/>
              </a:rPr>
              <a:t>Figure0:ISO</a:t>
            </a:r>
            <a:r>
              <a:rPr lang="zh-CN" altLang="en-US" dirty="0">
                <a:solidFill>
                  <a:prstClr val="white"/>
                </a:solidFill>
                <a:latin typeface="微软雅黑" panose="020B0503020204020204" pitchFamily="34" charset="-122"/>
                <a:ea typeface="微软雅黑" panose="020B0503020204020204" pitchFamily="34" charset="-122"/>
                <a:cs typeface="+mn-cs"/>
              </a:rPr>
              <a:t>组成结构</a:t>
            </a:r>
          </a:p>
        </p:txBody>
      </p:sp>
    </p:spTree>
    <p:extLst>
      <p:ext uri="{BB962C8B-B14F-4D97-AF65-F5344CB8AC3E}">
        <p14:creationId xmlns:p14="http://schemas.microsoft.com/office/powerpoint/2010/main" val="24641199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5" name="组合 4"/>
          <p:cNvGrpSpPr>
            <a:grpSpLocks/>
          </p:cNvGrpSpPr>
          <p:nvPr/>
        </p:nvGrpSpPr>
        <p:grpSpPr bwMode="auto">
          <a:xfrm>
            <a:off x="0" y="-41275"/>
            <a:ext cx="6669088" cy="1303338"/>
            <a:chOff x="0" y="0"/>
            <a:chExt cx="6669552" cy="1304243"/>
          </a:xfrm>
        </p:grpSpPr>
        <p:sp>
          <p:nvSpPr>
            <p:cNvPr id="11266" name="等腰三角形 5"/>
            <p:cNvSpPr>
              <a:spLocks noChangeArrowheads="1"/>
            </p:cNvSpPr>
            <p:nvPr/>
          </p:nvSpPr>
          <p:spPr bwMode="auto">
            <a:xfrm flipV="1">
              <a:off x="7496" y="261610"/>
              <a:ext cx="832662" cy="823414"/>
            </a:xfrm>
            <a:prstGeom prst="triangle">
              <a:avLst>
                <a:gd name="adj" fmla="val 50000"/>
              </a:avLst>
            </a:prstGeom>
            <a:noFill/>
            <a:ln w="5715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2A555B"/>
                </a:solidFill>
                <a:latin typeface="等线" panose="02010600030101010101" pitchFamily="2" charset="-122"/>
                <a:sym typeface="等线" panose="02010600030101010101" pitchFamily="2" charset="-122"/>
              </a:endParaRPr>
            </a:p>
          </p:txBody>
        </p:sp>
        <p:sp>
          <p:nvSpPr>
            <p:cNvPr id="11267" name="等腰三角形 6"/>
            <p:cNvSpPr>
              <a:spLocks noChangeArrowheads="1"/>
            </p:cNvSpPr>
            <p:nvPr/>
          </p:nvSpPr>
          <p:spPr bwMode="auto">
            <a:xfrm flipV="1">
              <a:off x="278685" y="480829"/>
              <a:ext cx="832662" cy="823414"/>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11268" name="图片 7"/>
            <p:cNvPicPr>
              <a:picLocks noChangeAspect="1" noChangeArrowheads="1"/>
            </p:cNvPicPr>
            <p:nvPr/>
          </p:nvPicPr>
          <p:blipFill>
            <a:blip r:embed="rId2">
              <a:extLst>
                <a:ext uri="{28A0092B-C50C-407E-A947-70E740481C1C}">
                  <a14:useLocalDpi xmlns:a14="http://schemas.microsoft.com/office/drawing/2010/main" val="0"/>
                </a:ext>
              </a:extLst>
            </a:blip>
            <a:srcRect l="28754" t="50206" r="23984"/>
            <a:stretch>
              <a:fillRect/>
            </a:stretch>
          </p:blipFill>
          <p:spPr bwMode="auto">
            <a:xfrm>
              <a:off x="0" y="0"/>
              <a:ext cx="1799771" cy="126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文本框 8"/>
            <p:cNvSpPr>
              <a:spLocks noChangeArrowheads="1"/>
            </p:cNvSpPr>
            <p:nvPr/>
          </p:nvSpPr>
          <p:spPr bwMode="auto">
            <a:xfrm>
              <a:off x="1807267" y="203737"/>
              <a:ext cx="48622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800" dirty="0" smtClean="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组织机构</a:t>
              </a:r>
              <a:endParaRPr lang="zh-CN" altLang="en-US" dirty="0">
                <a:ea typeface="宋体" panose="02010600030101010101" pitchFamily="2" charset="-122"/>
              </a:endParaRPr>
            </a:p>
          </p:txBody>
        </p:sp>
        <p:sp>
          <p:nvSpPr>
            <p:cNvPr id="11270" name="文本框 9"/>
            <p:cNvSpPr>
              <a:spLocks noChangeArrowheads="1"/>
            </p:cNvSpPr>
            <p:nvPr/>
          </p:nvSpPr>
          <p:spPr bwMode="auto">
            <a:xfrm>
              <a:off x="596997" y="109585"/>
              <a:ext cx="8326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02</a:t>
              </a:r>
              <a:endParaRPr lang="zh-CN" altLang="en-US"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pic>
        <p:nvPicPr>
          <p:cNvPr id="11271" name="图片 10"/>
          <p:cNvPicPr>
            <a:picLocks noChangeAspect="1" noChangeArrowheads="1"/>
          </p:cNvPicPr>
          <p:nvPr/>
        </p:nvPicPr>
        <p:blipFill>
          <a:blip r:embed="rId3">
            <a:extLst>
              <a:ext uri="{28A0092B-C50C-407E-A947-70E740481C1C}">
                <a14:useLocalDpi xmlns:a14="http://schemas.microsoft.com/office/drawing/2010/main" val="0"/>
              </a:ext>
            </a:extLst>
          </a:blip>
          <a:srcRect t="16125" r="50000" b="21051"/>
          <a:stretch>
            <a:fillRect/>
          </a:stretch>
        </p:blipFill>
        <p:spPr bwMode="auto">
          <a:xfrm>
            <a:off x="9356725" y="1400175"/>
            <a:ext cx="28352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2" name="椭圆 11"/>
          <p:cNvSpPr>
            <a:spLocks noChangeArrowheads="1"/>
          </p:cNvSpPr>
          <p:nvPr/>
        </p:nvSpPr>
        <p:spPr bwMode="auto">
          <a:xfrm>
            <a:off x="1524000" y="1600200"/>
            <a:ext cx="800100" cy="800100"/>
          </a:xfrm>
          <a:prstGeom prst="ellipse">
            <a:avLst/>
          </a:prstGeom>
          <a:solidFill>
            <a:srgbClr val="0498A5"/>
          </a:solidFill>
          <a:ln w="12700">
            <a:solidFill>
              <a:srgbClr val="42719B"/>
            </a:solidFill>
            <a:round/>
            <a:headEnd/>
            <a:tailEnd/>
          </a:ln>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1273" name="椭圆 12"/>
          <p:cNvSpPr>
            <a:spLocks noChangeArrowheads="1"/>
          </p:cNvSpPr>
          <p:nvPr/>
        </p:nvSpPr>
        <p:spPr bwMode="auto">
          <a:xfrm>
            <a:off x="1524000" y="2665413"/>
            <a:ext cx="800100" cy="800100"/>
          </a:xfrm>
          <a:prstGeom prst="ellipse">
            <a:avLst/>
          </a:prstGeom>
          <a:solidFill>
            <a:srgbClr val="0498A5"/>
          </a:solidFill>
          <a:ln w="12700">
            <a:solidFill>
              <a:srgbClr val="42719B"/>
            </a:solidFill>
            <a:round/>
            <a:headEnd/>
            <a:tailEnd/>
          </a:ln>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1274" name="椭圆 13"/>
          <p:cNvSpPr>
            <a:spLocks noChangeArrowheads="1"/>
          </p:cNvSpPr>
          <p:nvPr/>
        </p:nvSpPr>
        <p:spPr bwMode="auto">
          <a:xfrm>
            <a:off x="1524000" y="3730625"/>
            <a:ext cx="800100" cy="800100"/>
          </a:xfrm>
          <a:prstGeom prst="ellipse">
            <a:avLst/>
          </a:prstGeom>
          <a:solidFill>
            <a:srgbClr val="0498A5"/>
          </a:solidFill>
          <a:ln w="12700">
            <a:solidFill>
              <a:srgbClr val="42719B"/>
            </a:solidFill>
            <a:round/>
            <a:headEnd/>
            <a:tailEnd/>
          </a:ln>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1275" name="椭圆 14"/>
          <p:cNvSpPr>
            <a:spLocks noChangeArrowheads="1"/>
          </p:cNvSpPr>
          <p:nvPr/>
        </p:nvSpPr>
        <p:spPr bwMode="auto">
          <a:xfrm>
            <a:off x="1524000" y="4797425"/>
            <a:ext cx="800100" cy="800100"/>
          </a:xfrm>
          <a:prstGeom prst="ellipse">
            <a:avLst/>
          </a:prstGeom>
          <a:solidFill>
            <a:srgbClr val="0498A5"/>
          </a:solidFill>
          <a:ln w="12700">
            <a:solidFill>
              <a:srgbClr val="42719B"/>
            </a:solidFill>
            <a:round/>
            <a:headEnd/>
            <a:tailEnd/>
          </a:ln>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1276" name="椭圆 16"/>
          <p:cNvSpPr>
            <a:spLocks noChangeArrowheads="1"/>
          </p:cNvSpPr>
          <p:nvPr/>
        </p:nvSpPr>
        <p:spPr bwMode="auto">
          <a:xfrm>
            <a:off x="6096000" y="1600200"/>
            <a:ext cx="800100" cy="800100"/>
          </a:xfrm>
          <a:prstGeom prst="ellipse">
            <a:avLst/>
          </a:prstGeom>
          <a:solidFill>
            <a:srgbClr val="2A555B"/>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1277" name="椭圆 17"/>
          <p:cNvSpPr>
            <a:spLocks noChangeArrowheads="1"/>
          </p:cNvSpPr>
          <p:nvPr/>
        </p:nvSpPr>
        <p:spPr bwMode="auto">
          <a:xfrm>
            <a:off x="6096000" y="2665413"/>
            <a:ext cx="800100" cy="800100"/>
          </a:xfrm>
          <a:prstGeom prst="ellipse">
            <a:avLst/>
          </a:prstGeom>
          <a:solidFill>
            <a:srgbClr val="2A555B"/>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1278" name="椭圆 18"/>
          <p:cNvSpPr>
            <a:spLocks noChangeArrowheads="1"/>
          </p:cNvSpPr>
          <p:nvPr/>
        </p:nvSpPr>
        <p:spPr bwMode="auto">
          <a:xfrm>
            <a:off x="6096000" y="3730625"/>
            <a:ext cx="800100" cy="800100"/>
          </a:xfrm>
          <a:prstGeom prst="ellipse">
            <a:avLst/>
          </a:prstGeom>
          <a:solidFill>
            <a:srgbClr val="2A555B"/>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1279" name="椭圆 19"/>
          <p:cNvSpPr>
            <a:spLocks noChangeArrowheads="1"/>
          </p:cNvSpPr>
          <p:nvPr/>
        </p:nvSpPr>
        <p:spPr bwMode="auto">
          <a:xfrm>
            <a:off x="6096000" y="4797425"/>
            <a:ext cx="800100" cy="800100"/>
          </a:xfrm>
          <a:prstGeom prst="ellipse">
            <a:avLst/>
          </a:prstGeom>
          <a:solidFill>
            <a:srgbClr val="2A555B"/>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grpSp>
        <p:nvGrpSpPr>
          <p:cNvPr id="11280" name="组合 36"/>
          <p:cNvGrpSpPr>
            <a:grpSpLocks/>
          </p:cNvGrpSpPr>
          <p:nvPr/>
        </p:nvGrpSpPr>
        <p:grpSpPr bwMode="auto">
          <a:xfrm>
            <a:off x="2493962" y="1600200"/>
            <a:ext cx="3602037" cy="4519777"/>
            <a:chOff x="-1" y="0"/>
            <a:chExt cx="3602464" cy="4520282"/>
          </a:xfrm>
        </p:grpSpPr>
        <p:sp>
          <p:nvSpPr>
            <p:cNvPr id="11282" name="文本框 20"/>
            <p:cNvSpPr>
              <a:spLocks noChangeArrowheads="1"/>
            </p:cNvSpPr>
            <p:nvPr/>
          </p:nvSpPr>
          <p:spPr bwMode="auto">
            <a:xfrm>
              <a:off x="-1" y="0"/>
              <a:ext cx="3602464" cy="707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000" dirty="0"/>
                <a:t>全体大会 主要官员 成员团体 通信成员</a:t>
              </a:r>
              <a:endParaRPr lang="zh-CN" altLang="en-US" sz="2000" dirty="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11285" name="文本框 28"/>
            <p:cNvSpPr>
              <a:spLocks noChangeArrowheads="1"/>
            </p:cNvSpPr>
            <p:nvPr/>
          </p:nvSpPr>
          <p:spPr bwMode="auto">
            <a:xfrm>
              <a:off x="0" y="1065565"/>
              <a:ext cx="3091228" cy="707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000" dirty="0"/>
                <a:t>捐助成员 政策发展委员会 理事会 </a:t>
              </a:r>
              <a:r>
                <a:rPr lang="en-US" altLang="zh-CN" sz="2000" dirty="0"/>
                <a:t>ISO</a:t>
              </a:r>
              <a:r>
                <a:rPr lang="zh-CN" altLang="en-US" sz="2000" dirty="0"/>
                <a:t>中央秘书处</a:t>
              </a:r>
              <a:endParaRPr lang="zh-CN" altLang="en-US" sz="2000" dirty="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11288" name="文本框 31"/>
            <p:cNvSpPr>
              <a:spLocks noChangeArrowheads="1"/>
            </p:cNvSpPr>
            <p:nvPr/>
          </p:nvSpPr>
          <p:spPr bwMode="auto">
            <a:xfrm>
              <a:off x="11347" y="2156133"/>
              <a:ext cx="2911587" cy="707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000" dirty="0"/>
                <a:t>特别咨询组 技术管理处 标</a:t>
              </a:r>
              <a:r>
                <a:rPr lang="zh-CN" altLang="en-US" sz="2000" dirty="0" smtClean="0"/>
                <a:t>样委员会</a:t>
              </a:r>
              <a:r>
                <a:rPr lang="zh-CN" altLang="en-US" sz="2000" dirty="0"/>
                <a:t> 技术咨询组</a:t>
              </a:r>
              <a:endParaRPr lang="zh-CN" altLang="en-US" sz="2000" dirty="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11291" name="文本框 34"/>
            <p:cNvSpPr>
              <a:spLocks noChangeArrowheads="1"/>
            </p:cNvSpPr>
            <p:nvPr/>
          </p:nvSpPr>
          <p:spPr bwMode="auto">
            <a:xfrm>
              <a:off x="-1" y="3196695"/>
              <a:ext cx="3365506" cy="13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000" dirty="0"/>
                <a:t>技术委员 </a:t>
              </a:r>
              <a:endParaRPr lang="en-US" altLang="zh-CN" sz="2000" dirty="0" smtClean="0"/>
            </a:p>
            <a:p>
              <a:r>
                <a:rPr lang="zh-CN" altLang="en-US" sz="2000" dirty="0" smtClean="0"/>
                <a:t>合格</a:t>
              </a:r>
              <a:r>
                <a:rPr lang="zh-CN" altLang="en-US" sz="2000" dirty="0"/>
                <a:t>评定委员会（</a:t>
              </a:r>
              <a:r>
                <a:rPr lang="en-US" altLang="zh-CN" sz="2000" dirty="0"/>
                <a:t>CASCO</a:t>
              </a:r>
              <a:r>
                <a:rPr lang="zh-CN" altLang="en-US" sz="2000" dirty="0"/>
                <a:t>）</a:t>
              </a:r>
            </a:p>
            <a:p>
              <a:r>
                <a:rPr lang="zh-CN" altLang="en-US" sz="2000" dirty="0"/>
                <a:t/>
              </a:r>
              <a:br>
                <a:rPr lang="zh-CN" altLang="en-US" sz="2000" dirty="0"/>
              </a:br>
              <a:endParaRPr lang="zh-CN" altLang="en-US" sz="2000" dirty="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grpSp>
        <p:nvGrpSpPr>
          <p:cNvPr id="11293" name="组合 37"/>
          <p:cNvGrpSpPr>
            <a:grpSpLocks/>
          </p:cNvGrpSpPr>
          <p:nvPr/>
        </p:nvGrpSpPr>
        <p:grpSpPr bwMode="auto">
          <a:xfrm>
            <a:off x="7110412" y="1600200"/>
            <a:ext cx="3892317" cy="3904224"/>
            <a:chOff x="-1" y="0"/>
            <a:chExt cx="3892778" cy="3904660"/>
          </a:xfrm>
        </p:grpSpPr>
        <p:sp>
          <p:nvSpPr>
            <p:cNvPr id="11295" name="文本框 48"/>
            <p:cNvSpPr>
              <a:spLocks noChangeArrowheads="1"/>
            </p:cNvSpPr>
            <p:nvPr/>
          </p:nvSpPr>
          <p:spPr bwMode="auto">
            <a:xfrm>
              <a:off x="-1" y="0"/>
              <a:ext cx="3392889" cy="707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000" dirty="0"/>
                <a:t>消费者政策</a:t>
              </a:r>
              <a:r>
                <a:rPr lang="zh-CN" altLang="en-US" sz="2000" dirty="0" smtClean="0"/>
                <a:t>委员会（</a:t>
              </a:r>
              <a:r>
                <a:rPr lang="en-US" altLang="zh-CN" sz="2000" dirty="0" smtClean="0"/>
                <a:t>COPOLCO</a:t>
              </a:r>
              <a:r>
                <a:rPr lang="zh-CN" altLang="en-US" sz="2000" dirty="0"/>
                <a:t>）</a:t>
              </a:r>
              <a:endParaRPr lang="zh-CN" altLang="en-US" sz="2000" dirty="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11298" name="文本框 46"/>
            <p:cNvSpPr>
              <a:spLocks noChangeArrowheads="1"/>
            </p:cNvSpPr>
            <p:nvPr/>
          </p:nvSpPr>
          <p:spPr bwMode="auto">
            <a:xfrm>
              <a:off x="-1" y="1065565"/>
              <a:ext cx="3283732" cy="707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000" dirty="0"/>
                <a:t>发展中国家事务委员会（</a:t>
              </a:r>
              <a:r>
                <a:rPr lang="en-US" altLang="zh-CN" sz="2000" dirty="0"/>
                <a:t>DEVCO</a:t>
              </a:r>
              <a:r>
                <a:rPr lang="zh-CN" altLang="en-US" sz="2000" dirty="0"/>
                <a:t>）</a:t>
              </a:r>
              <a:endParaRPr lang="zh-CN" altLang="en-US" sz="2000" dirty="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11301" name="文本框 44"/>
            <p:cNvSpPr>
              <a:spLocks noChangeArrowheads="1"/>
            </p:cNvSpPr>
            <p:nvPr/>
          </p:nvSpPr>
          <p:spPr bwMode="auto">
            <a:xfrm>
              <a:off x="11347" y="2156133"/>
              <a:ext cx="3881430" cy="707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000" dirty="0" smtClean="0"/>
                <a:t>信息系统和</a:t>
              </a:r>
              <a:r>
                <a:rPr lang="zh-CN" altLang="en-US" sz="2000" dirty="0"/>
                <a:t>服务</a:t>
              </a:r>
              <a:r>
                <a:rPr lang="zh-CN" altLang="en-US" sz="2000" dirty="0" smtClean="0"/>
                <a:t>委员会（</a:t>
              </a:r>
              <a:r>
                <a:rPr lang="en-US" altLang="zh-CN" sz="2000" dirty="0" smtClean="0"/>
                <a:t>INFCO</a:t>
              </a:r>
              <a:r>
                <a:rPr lang="zh-CN" altLang="en-US" sz="2000" dirty="0"/>
                <a:t>） 特别咨询小组技术管理局</a:t>
              </a:r>
              <a:endParaRPr lang="zh-CN" altLang="en-US" sz="2000" dirty="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11304" name="文本框 42"/>
            <p:cNvSpPr>
              <a:spLocks noChangeArrowheads="1"/>
            </p:cNvSpPr>
            <p:nvPr/>
          </p:nvSpPr>
          <p:spPr bwMode="auto">
            <a:xfrm>
              <a:off x="-1" y="3196695"/>
              <a:ext cx="3558008" cy="707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000" dirty="0"/>
                <a:t>技术委员会</a:t>
              </a:r>
              <a:r>
                <a:rPr lang="en-US" altLang="zh-CN" sz="2000" dirty="0"/>
                <a:t>TC </a:t>
              </a:r>
              <a:r>
                <a:rPr lang="zh-CN" altLang="en-US" sz="2000" dirty="0"/>
                <a:t>理事会</a:t>
              </a:r>
              <a:endParaRPr lang="en-US" altLang="zh-CN" sz="2000" dirty="0" smtClean="0"/>
            </a:p>
            <a:p>
              <a:r>
                <a:rPr lang="zh-CN" altLang="en-US" sz="2000" dirty="0" smtClean="0"/>
                <a:t>中央秘书处 </a:t>
              </a:r>
              <a:r>
                <a:rPr lang="en-US" altLang="zh-CN" sz="2000" dirty="0" smtClean="0"/>
                <a:t>ISO</a:t>
              </a:r>
              <a:r>
                <a:rPr lang="zh-CN" altLang="en-US" sz="2000" dirty="0" smtClean="0"/>
                <a:t>全体大会</a:t>
              </a:r>
              <a:endParaRPr lang="zh-CN" altLang="en-US" sz="2000" dirty="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pic>
        <p:nvPicPr>
          <p:cNvPr id="11306" name="图片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5450" y="1812925"/>
            <a:ext cx="46037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07" name="图片 5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5613" y="2827338"/>
            <a:ext cx="4048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08" name="图片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3388" y="3916363"/>
            <a:ext cx="45243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09" name="图片 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3225" y="5032375"/>
            <a:ext cx="503238"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10" name="图片 5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61100" y="1768475"/>
            <a:ext cx="4699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11" name="图片 5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96025" y="2851150"/>
            <a:ext cx="4016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12" name="图片 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05550" y="3944938"/>
            <a:ext cx="382588"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13" name="图片 5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73800" y="5019675"/>
            <a:ext cx="4460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1" name="组合 4"/>
          <p:cNvGrpSpPr>
            <a:grpSpLocks/>
          </p:cNvGrpSpPr>
          <p:nvPr/>
        </p:nvGrpSpPr>
        <p:grpSpPr bwMode="auto">
          <a:xfrm>
            <a:off x="0" y="-41275"/>
            <a:ext cx="6669088" cy="1303338"/>
            <a:chOff x="0" y="0"/>
            <a:chExt cx="6669552" cy="1304243"/>
          </a:xfrm>
        </p:grpSpPr>
        <p:sp>
          <p:nvSpPr>
            <p:cNvPr id="10242" name="等腰三角形 5"/>
            <p:cNvSpPr>
              <a:spLocks noChangeArrowheads="1"/>
            </p:cNvSpPr>
            <p:nvPr/>
          </p:nvSpPr>
          <p:spPr bwMode="auto">
            <a:xfrm flipV="1">
              <a:off x="7496" y="261610"/>
              <a:ext cx="832662" cy="823414"/>
            </a:xfrm>
            <a:prstGeom prst="triangle">
              <a:avLst>
                <a:gd name="adj" fmla="val 50000"/>
              </a:avLst>
            </a:prstGeom>
            <a:noFill/>
            <a:ln w="5715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2A555B"/>
                </a:solidFill>
                <a:latin typeface="等线" panose="02010600030101010101" pitchFamily="2" charset="-122"/>
                <a:sym typeface="等线" panose="02010600030101010101" pitchFamily="2" charset="-122"/>
              </a:endParaRPr>
            </a:p>
          </p:txBody>
        </p:sp>
        <p:sp>
          <p:nvSpPr>
            <p:cNvPr id="10243" name="等腰三角形 6"/>
            <p:cNvSpPr>
              <a:spLocks noChangeArrowheads="1"/>
            </p:cNvSpPr>
            <p:nvPr/>
          </p:nvSpPr>
          <p:spPr bwMode="auto">
            <a:xfrm flipV="1">
              <a:off x="278685" y="480829"/>
              <a:ext cx="832662" cy="823414"/>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10244" name="图片 7"/>
            <p:cNvPicPr>
              <a:picLocks noChangeAspect="1" noChangeArrowheads="1"/>
            </p:cNvPicPr>
            <p:nvPr/>
          </p:nvPicPr>
          <p:blipFill>
            <a:blip r:embed="rId2">
              <a:extLst>
                <a:ext uri="{28A0092B-C50C-407E-A947-70E740481C1C}">
                  <a14:useLocalDpi xmlns:a14="http://schemas.microsoft.com/office/drawing/2010/main" val="0"/>
                </a:ext>
              </a:extLst>
            </a:blip>
            <a:srcRect l="28754" t="50206" r="23984"/>
            <a:stretch>
              <a:fillRect/>
            </a:stretch>
          </p:blipFill>
          <p:spPr bwMode="auto">
            <a:xfrm>
              <a:off x="0" y="0"/>
              <a:ext cx="1799771" cy="126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文本框 8"/>
            <p:cNvSpPr>
              <a:spLocks noChangeArrowheads="1"/>
            </p:cNvSpPr>
            <p:nvPr/>
          </p:nvSpPr>
          <p:spPr bwMode="auto">
            <a:xfrm>
              <a:off x="1807267" y="203737"/>
              <a:ext cx="4862285" cy="36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endParaRPr lang="zh-CN" altLang="en-US" dirty="0">
                <a:ea typeface="宋体" panose="02010600030101010101" pitchFamily="2" charset="-122"/>
              </a:endParaRPr>
            </a:p>
          </p:txBody>
        </p:sp>
        <p:sp>
          <p:nvSpPr>
            <p:cNvPr id="10246" name="文本框 9"/>
            <p:cNvSpPr>
              <a:spLocks noChangeArrowheads="1"/>
            </p:cNvSpPr>
            <p:nvPr/>
          </p:nvSpPr>
          <p:spPr bwMode="auto">
            <a:xfrm>
              <a:off x="596997" y="109585"/>
              <a:ext cx="8326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02</a:t>
              </a:r>
              <a:endParaRPr lang="zh-CN" altLang="en-US"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pic>
        <p:nvPicPr>
          <p:cNvPr id="10247" name="图片 10"/>
          <p:cNvPicPr>
            <a:picLocks noChangeAspect="1" noChangeArrowheads="1"/>
          </p:cNvPicPr>
          <p:nvPr/>
        </p:nvPicPr>
        <p:blipFill>
          <a:blip r:embed="rId3">
            <a:extLst>
              <a:ext uri="{28A0092B-C50C-407E-A947-70E740481C1C}">
                <a14:useLocalDpi xmlns:a14="http://schemas.microsoft.com/office/drawing/2010/main" val="0"/>
              </a:ext>
            </a:extLst>
          </a:blip>
          <a:srcRect t="16125" r="50000" b="21051"/>
          <a:stretch>
            <a:fillRect/>
          </a:stretch>
        </p:blipFill>
        <p:spPr bwMode="auto">
          <a:xfrm>
            <a:off x="9356725" y="1400175"/>
            <a:ext cx="28352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48" name="组合 20"/>
          <p:cNvGrpSpPr>
            <a:grpSpLocks/>
          </p:cNvGrpSpPr>
          <p:nvPr/>
        </p:nvGrpSpPr>
        <p:grpSpPr bwMode="auto">
          <a:xfrm>
            <a:off x="1412875" y="1835150"/>
            <a:ext cx="9195849" cy="3568700"/>
            <a:chOff x="0" y="0"/>
            <a:chExt cx="9194703" cy="3568700"/>
          </a:xfrm>
        </p:grpSpPr>
        <p:pic>
          <p:nvPicPr>
            <p:cNvPr id="10249" name="图片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5172258" cy="35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矩形 16"/>
            <p:cNvSpPr>
              <a:spLocks noChangeArrowheads="1"/>
            </p:cNvSpPr>
            <p:nvPr/>
          </p:nvSpPr>
          <p:spPr bwMode="auto">
            <a:xfrm>
              <a:off x="5172258" y="0"/>
              <a:ext cx="4022445" cy="3568700"/>
            </a:xfrm>
            <a:prstGeom prst="rect">
              <a:avLst/>
            </a:prstGeom>
            <a:solidFill>
              <a:srgbClr val="0498A5"/>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0251" name="文本框 17"/>
            <p:cNvSpPr>
              <a:spLocks noChangeArrowheads="1"/>
            </p:cNvSpPr>
            <p:nvPr/>
          </p:nvSpPr>
          <p:spPr bwMode="auto">
            <a:xfrm>
              <a:off x="5373495" y="121603"/>
              <a:ext cx="26862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3200" dirty="0" smtClean="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主要官员</a:t>
              </a:r>
              <a:endParaRPr lang="zh-CN" altLang="en-US" sz="3200" dirty="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10253" name="矩形 19"/>
            <p:cNvSpPr>
              <a:spLocks noChangeArrowheads="1"/>
            </p:cNvSpPr>
            <p:nvPr/>
          </p:nvSpPr>
          <p:spPr bwMode="auto">
            <a:xfrm>
              <a:off x="5172258" y="706378"/>
              <a:ext cx="3850995"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en-US" altLang="zh-CN" dirty="0"/>
                <a:t>ISO</a:t>
              </a:r>
              <a:r>
                <a:rPr lang="zh-CN" altLang="en-US" dirty="0"/>
                <a:t>的主要官员有</a:t>
              </a:r>
              <a:r>
                <a:rPr lang="en-US" altLang="zh-CN" dirty="0"/>
                <a:t>5</a:t>
              </a:r>
              <a:r>
                <a:rPr lang="zh-CN" altLang="en-US" dirty="0"/>
                <a:t>位，他们是：</a:t>
              </a:r>
              <a:r>
                <a:rPr lang="en-US" altLang="zh-CN" dirty="0" smtClean="0"/>
                <a:t>ISO</a:t>
              </a:r>
              <a:r>
                <a:rPr lang="zh-CN" altLang="en-US" dirty="0" smtClean="0"/>
                <a:t>主席（</a:t>
              </a:r>
              <a:r>
                <a:rPr lang="en-US" altLang="zh-CN" dirty="0"/>
                <a:t>President</a:t>
              </a:r>
              <a:r>
                <a:rPr lang="zh-CN" altLang="en-US" dirty="0"/>
                <a:t>）；</a:t>
              </a:r>
              <a:r>
                <a:rPr lang="en-US" altLang="zh-CN" dirty="0"/>
                <a:t>ISO</a:t>
              </a:r>
              <a:r>
                <a:rPr lang="zh-CN" altLang="en-US" dirty="0"/>
                <a:t>副主席（政策）（</a:t>
              </a:r>
              <a:r>
                <a:rPr lang="en-US" altLang="zh-CN" dirty="0"/>
                <a:t>Vice President</a:t>
              </a:r>
              <a:r>
                <a:rPr lang="zh-CN" altLang="en-US" dirty="0"/>
                <a:t>，</a:t>
              </a:r>
              <a:r>
                <a:rPr lang="en-US" altLang="zh-CN" dirty="0"/>
                <a:t>Policy</a:t>
              </a:r>
              <a:r>
                <a:rPr lang="zh-CN" altLang="en-US" dirty="0"/>
                <a:t>），</a:t>
              </a:r>
              <a:r>
                <a:rPr lang="en-US" altLang="zh-CN" dirty="0"/>
                <a:t>ISO</a:t>
              </a:r>
              <a:r>
                <a:rPr lang="zh-CN" altLang="en-US" dirty="0"/>
                <a:t>副主席（技术）（</a:t>
              </a:r>
              <a:r>
                <a:rPr lang="en-US" altLang="zh-CN" dirty="0"/>
                <a:t>Vice President</a:t>
              </a:r>
              <a:r>
                <a:rPr lang="zh-CN" altLang="en-US" dirty="0"/>
                <a:t>，</a:t>
              </a:r>
              <a:r>
                <a:rPr lang="en-US" altLang="zh-CN" dirty="0"/>
                <a:t>Technical Management</a:t>
              </a:r>
              <a:r>
                <a:rPr lang="zh-CN" altLang="en-US" dirty="0"/>
                <a:t>）；</a:t>
              </a:r>
              <a:r>
                <a:rPr lang="en-US" altLang="zh-CN" dirty="0"/>
                <a:t>ISO</a:t>
              </a:r>
              <a:r>
                <a:rPr lang="zh-CN" altLang="en-US" dirty="0"/>
                <a:t>司库（</a:t>
              </a:r>
              <a:r>
                <a:rPr lang="en-US" altLang="zh-CN" dirty="0"/>
                <a:t>Treasurer</a:t>
              </a:r>
              <a:r>
                <a:rPr lang="zh-CN" altLang="en-US" dirty="0"/>
                <a:t>）；</a:t>
              </a:r>
              <a:r>
                <a:rPr lang="en-US" altLang="zh-CN" dirty="0"/>
                <a:t>ISO</a:t>
              </a:r>
              <a:r>
                <a:rPr lang="zh-CN" altLang="en-US" dirty="0"/>
                <a:t>秘书长（</a:t>
              </a:r>
              <a:r>
                <a:rPr lang="en-US" altLang="zh-CN" dirty="0"/>
                <a:t>Secretary—General</a:t>
              </a:r>
              <a:r>
                <a:rPr lang="zh-CN" altLang="en-US" dirty="0"/>
                <a:t>），所有主要官员由理事会任命，享有终身任期；</a:t>
              </a:r>
              <a:r>
                <a:rPr lang="en-US" altLang="zh-CN" dirty="0"/>
                <a:t>ISO</a:t>
              </a:r>
              <a:r>
                <a:rPr lang="zh-CN" altLang="en-US" dirty="0"/>
                <a:t>秘书长负责主持</a:t>
              </a:r>
              <a:r>
                <a:rPr lang="en-US" altLang="zh-CN" dirty="0"/>
                <a:t>ISO</a:t>
              </a:r>
              <a:r>
                <a:rPr lang="zh-CN" altLang="en-US" dirty="0"/>
                <a:t>的日常工作。</a:t>
              </a:r>
              <a:endParaRPr lang="zh-CN" altLang="en-US" dirty="0">
                <a:solidFill>
                  <a:schemeClr val="bg1"/>
                </a:solidFill>
                <a:latin typeface="等线" panose="02010600030101010101" pitchFamily="2" charset="-122"/>
                <a:sym typeface="等线" panose="02010600030101010101" pitchFamily="2" charset="-122"/>
              </a:endParaRP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52650" y="754870"/>
            <a:ext cx="7886700" cy="1433766"/>
          </a:xfrm>
        </p:spPr>
        <p:txBody>
          <a:bodyPr/>
          <a:lstStyle/>
          <a:p>
            <a:r>
              <a:rPr lang="en-US" altLang="zh-CN" dirty="0" smtClean="0">
                <a:solidFill>
                  <a:schemeClr val="bg1"/>
                </a:solidFill>
                <a:latin typeface="方正兰亭黑_YS_GB18030" panose="03000502000000000000" pitchFamily="66" charset="-122"/>
                <a:ea typeface="方正兰亭黑_YS_GB18030" panose="03000502000000000000" pitchFamily="66" charset="-122"/>
              </a:rPr>
              <a:t>ISO</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全体大会包含哪几种成员？</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2152650" y="2320301"/>
            <a:ext cx="7886700" cy="4211129"/>
          </a:xfrm>
        </p:spPr>
        <p:txBody>
          <a:bodyPr vert="horz" lIns="91440" tIns="45720" rIns="91440" bIns="46800" rtlCol="0">
            <a:normAutofit/>
          </a:bodyPr>
          <a:lstStyle/>
          <a:p>
            <a:pPr>
              <a:lnSpc>
                <a:spcPct val="120000"/>
              </a:lnSpc>
              <a:buClr>
                <a:srgbClr val="BFEF74"/>
              </a:buClr>
              <a:buFont typeface="Wingdings" panose="05000000000000000000" pitchFamily="2" charset="2"/>
              <a:buChar char="u"/>
            </a:pPr>
            <a:r>
              <a:rPr lang="zh-CN" altLang="zh-CN" dirty="0" smtClean="0">
                <a:solidFill>
                  <a:schemeClr val="accent1">
                    <a:lumMod val="60000"/>
                    <a:lumOff val="40000"/>
                  </a:schemeClr>
                </a:solidFill>
                <a:latin typeface="微软雅黑" panose="020B0503020204020204" pitchFamily="34" charset="-122"/>
                <a:ea typeface="微软雅黑" panose="020B0503020204020204" pitchFamily="34" charset="-122"/>
              </a:rPr>
              <a:t>团体</a:t>
            </a:r>
            <a:r>
              <a:rPr lang="zh-CN" altLang="zh-CN" dirty="0">
                <a:solidFill>
                  <a:schemeClr val="accent1">
                    <a:lumMod val="60000"/>
                    <a:lumOff val="40000"/>
                  </a:schemeClr>
                </a:solidFill>
                <a:latin typeface="微软雅黑" panose="020B0503020204020204" pitchFamily="34" charset="-122"/>
                <a:ea typeface="微软雅黑" panose="020B0503020204020204" pitchFamily="34" charset="-122"/>
              </a:rPr>
              <a:t>成员</a:t>
            </a:r>
            <a:r>
              <a:rPr lang="zh-CN" altLang="zh-CN"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P-</a:t>
            </a:r>
            <a:r>
              <a:rPr lang="zh-CN" altLang="zh-CN" dirty="0">
                <a:solidFill>
                  <a:schemeClr val="bg1"/>
                </a:solidFill>
                <a:latin typeface="微软雅黑" panose="020B0503020204020204" pitchFamily="34" charset="-122"/>
                <a:ea typeface="微软雅黑" panose="020B0503020204020204" pitchFamily="34" charset="-122"/>
              </a:rPr>
              <a:t>成员</a:t>
            </a:r>
            <a:r>
              <a:rPr lang="zh-CN"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：代表来自国家标准化组织的国家性团体，每个国家只有一个。享有投票权</a:t>
            </a:r>
            <a:endParaRPr lang="en-US" altLang="zh-CN" dirty="0" smtClean="0">
              <a:solidFill>
                <a:schemeClr val="bg1"/>
              </a:solidFill>
              <a:latin typeface="微软雅黑" panose="020B0503020204020204" pitchFamily="34" charset="-122"/>
              <a:ea typeface="微软雅黑" panose="020B0503020204020204" pitchFamily="34" charset="-122"/>
            </a:endParaRPr>
          </a:p>
          <a:p>
            <a:pPr>
              <a:lnSpc>
                <a:spcPct val="120000"/>
              </a:lnSpc>
              <a:buClr>
                <a:srgbClr val="BFEF74"/>
              </a:buClr>
              <a:buFont typeface="Wingdings" panose="05000000000000000000" pitchFamily="2" charset="2"/>
              <a:buChar char="u"/>
            </a:pPr>
            <a:r>
              <a:rPr lang="zh-CN" altLang="zh-CN" dirty="0" smtClean="0">
                <a:solidFill>
                  <a:schemeClr val="accent1">
                    <a:lumMod val="60000"/>
                    <a:lumOff val="40000"/>
                  </a:schemeClr>
                </a:solidFill>
                <a:latin typeface="微软雅黑" panose="020B0503020204020204" pitchFamily="34" charset="-122"/>
                <a:ea typeface="微软雅黑" panose="020B0503020204020204" pitchFamily="34" charset="-122"/>
              </a:rPr>
              <a:t>通信</a:t>
            </a:r>
            <a:r>
              <a:rPr lang="zh-CN" altLang="zh-CN" dirty="0">
                <a:solidFill>
                  <a:schemeClr val="accent1">
                    <a:lumMod val="60000"/>
                    <a:lumOff val="40000"/>
                  </a:schemeClr>
                </a:solidFill>
                <a:latin typeface="微软雅黑" panose="020B0503020204020204" pitchFamily="34" charset="-122"/>
                <a:ea typeface="微软雅黑" panose="020B0503020204020204" pitchFamily="34" charset="-122"/>
              </a:rPr>
              <a:t>成员</a:t>
            </a:r>
            <a:r>
              <a:rPr lang="zh-CN" altLang="zh-CN"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O-</a:t>
            </a:r>
            <a:r>
              <a:rPr lang="zh-CN" altLang="zh-CN" dirty="0">
                <a:solidFill>
                  <a:schemeClr val="bg1"/>
                </a:solidFill>
                <a:latin typeface="微软雅黑" panose="020B0503020204020204" pitchFamily="34" charset="-122"/>
                <a:ea typeface="微软雅黑" panose="020B0503020204020204" pitchFamily="34" charset="-122"/>
              </a:rPr>
              <a:t>成员</a:t>
            </a:r>
            <a:r>
              <a:rPr lang="zh-CN"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：不参与决策或开发工作</a:t>
            </a:r>
            <a:endParaRPr lang="en-US" altLang="zh-CN" dirty="0" smtClean="0">
              <a:solidFill>
                <a:schemeClr val="bg1"/>
              </a:solidFill>
              <a:latin typeface="微软雅黑" panose="020B0503020204020204" pitchFamily="34" charset="-122"/>
              <a:ea typeface="微软雅黑" panose="020B0503020204020204" pitchFamily="34" charset="-122"/>
            </a:endParaRPr>
          </a:p>
          <a:p>
            <a:pPr>
              <a:lnSpc>
                <a:spcPct val="120000"/>
              </a:lnSpc>
              <a:buClr>
                <a:srgbClr val="BFEF74"/>
              </a:buClr>
              <a:buFont typeface="Wingdings" panose="05000000000000000000" pitchFamily="2" charset="2"/>
              <a:buChar char="u"/>
            </a:pPr>
            <a:r>
              <a:rPr lang="zh-CN" altLang="zh-CN" dirty="0" smtClean="0">
                <a:solidFill>
                  <a:schemeClr val="accent1">
                    <a:lumMod val="60000"/>
                    <a:lumOff val="40000"/>
                  </a:schemeClr>
                </a:solidFill>
                <a:latin typeface="微软雅黑" panose="020B0503020204020204" pitchFamily="34" charset="-122"/>
                <a:ea typeface="微软雅黑" panose="020B0503020204020204" pitchFamily="34" charset="-122"/>
              </a:rPr>
              <a:t>注册成员</a:t>
            </a:r>
            <a:r>
              <a:rPr lang="zh-CN" altLang="en-US" dirty="0" smtClean="0">
                <a:solidFill>
                  <a:schemeClr val="bg1"/>
                </a:solidFill>
                <a:latin typeface="微软雅黑" panose="020B0503020204020204" pitchFamily="34" charset="-122"/>
                <a:ea typeface="微软雅黑" panose="020B0503020204020204" pitchFamily="34" charset="-122"/>
              </a:rPr>
              <a:t>：不参与国际标准化工作</a:t>
            </a:r>
            <a:endParaRPr lang="en-US" altLang="zh-CN" dirty="0" smtClean="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46752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52650" y="754870"/>
            <a:ext cx="7886700" cy="1433766"/>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技术委员会是做什么？</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
        <p:nvSpPr>
          <p:cNvPr id="3" name="内容占位符 2"/>
          <p:cNvSpPr>
            <a:spLocks noGrp="1"/>
          </p:cNvSpPr>
          <p:nvPr>
            <p:ph idx="1"/>
          </p:nvPr>
        </p:nvSpPr>
        <p:spPr>
          <a:xfrm>
            <a:off x="2148114" y="2188636"/>
            <a:ext cx="7886700" cy="4351338"/>
          </a:xfrm>
        </p:spPr>
        <p:txBody>
          <a:bodyPr/>
          <a:lstStyle/>
          <a:p>
            <a:pPr>
              <a:buClr>
                <a:srgbClr val="BFEF74"/>
              </a:buClr>
              <a:buFont typeface="Wingdings" panose="05000000000000000000" pitchFamily="2" charset="2"/>
              <a:buChar char="u"/>
            </a:pPr>
            <a:r>
              <a:rPr lang="en-US" altLang="zh-CN" dirty="0">
                <a:solidFill>
                  <a:schemeClr val="bg1"/>
                </a:solidFill>
                <a:latin typeface="微软雅黑" panose="020B0503020204020204" pitchFamily="34" charset="-122"/>
                <a:ea typeface="微软雅黑" panose="020B0503020204020204" pitchFamily="34" charset="-122"/>
              </a:rPr>
              <a:t>ISO</a:t>
            </a:r>
            <a:r>
              <a:rPr lang="zh-CN" altLang="zh-CN" dirty="0">
                <a:solidFill>
                  <a:schemeClr val="bg1"/>
                </a:solidFill>
                <a:latin typeface="微软雅黑" panose="020B0503020204020204" pitchFamily="34" charset="-122"/>
                <a:ea typeface="微软雅黑" panose="020B0503020204020204" pitchFamily="34" charset="-122"/>
              </a:rPr>
              <a:t>工作通过</a:t>
            </a:r>
            <a:r>
              <a:rPr lang="zh-CN" altLang="zh-CN" i="1" dirty="0">
                <a:solidFill>
                  <a:schemeClr val="accent1">
                    <a:lumMod val="60000"/>
                    <a:lumOff val="40000"/>
                  </a:schemeClr>
                </a:solidFill>
                <a:latin typeface="微软雅黑" panose="020B0503020204020204" pitchFamily="34" charset="-122"/>
                <a:ea typeface="微软雅黑" panose="020B0503020204020204" pitchFamily="34" charset="-122"/>
              </a:rPr>
              <a:t>技术委员会</a:t>
            </a:r>
            <a:r>
              <a:rPr lang="zh-CN" altLang="zh-CN"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TCs Technical committees</a:t>
            </a:r>
            <a:r>
              <a:rPr lang="zh-CN" altLang="zh-CN" dirty="0">
                <a:solidFill>
                  <a:schemeClr val="bg1"/>
                </a:solidFill>
                <a:latin typeface="微软雅黑" panose="020B0503020204020204" pitchFamily="34" charset="-122"/>
                <a:ea typeface="微软雅黑" panose="020B0503020204020204" pitchFamily="34" charset="-122"/>
              </a:rPr>
              <a:t>），</a:t>
            </a:r>
            <a:r>
              <a:rPr lang="zh-CN" altLang="zh-CN" i="1" dirty="0">
                <a:solidFill>
                  <a:schemeClr val="accent1">
                    <a:lumMod val="60000"/>
                    <a:lumOff val="40000"/>
                  </a:schemeClr>
                </a:solidFill>
                <a:latin typeface="微软雅黑" panose="020B0503020204020204" pitchFamily="34" charset="-122"/>
                <a:ea typeface="微软雅黑" panose="020B0503020204020204" pitchFamily="34" charset="-122"/>
              </a:rPr>
              <a:t>子委员会</a:t>
            </a:r>
            <a:r>
              <a:rPr lang="zh-CN" altLang="zh-CN"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SCs sub-</a:t>
            </a:r>
            <a:r>
              <a:rPr lang="en-US" altLang="zh-CN" dirty="0" err="1">
                <a:solidFill>
                  <a:schemeClr val="bg1"/>
                </a:solidFill>
                <a:latin typeface="微软雅黑" panose="020B0503020204020204" pitchFamily="34" charset="-122"/>
                <a:ea typeface="微软雅黑" panose="020B0503020204020204" pitchFamily="34" charset="-122"/>
              </a:rPr>
              <a:t>committtees</a:t>
            </a:r>
            <a:r>
              <a:rPr lang="zh-CN" altLang="zh-CN" dirty="0">
                <a:solidFill>
                  <a:schemeClr val="bg1"/>
                </a:solidFill>
                <a:latin typeface="微软雅黑" panose="020B0503020204020204" pitchFamily="34" charset="-122"/>
                <a:ea typeface="微软雅黑" panose="020B0503020204020204" pitchFamily="34" charset="-122"/>
              </a:rPr>
              <a:t>），</a:t>
            </a:r>
            <a:r>
              <a:rPr lang="zh-CN" altLang="zh-CN" i="1" dirty="0">
                <a:solidFill>
                  <a:schemeClr val="accent1">
                    <a:lumMod val="60000"/>
                    <a:lumOff val="40000"/>
                  </a:schemeClr>
                </a:solidFill>
                <a:latin typeface="微软雅黑" panose="020B0503020204020204" pitchFamily="34" charset="-122"/>
                <a:ea typeface="微软雅黑" panose="020B0503020204020204" pitchFamily="34" charset="-122"/>
              </a:rPr>
              <a:t>工作小组</a:t>
            </a:r>
            <a:r>
              <a:rPr lang="zh-CN" altLang="zh-CN"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WGs working groups</a:t>
            </a:r>
            <a:r>
              <a:rPr lang="zh-CN" altLang="zh-CN" dirty="0">
                <a:solidFill>
                  <a:schemeClr val="bg1"/>
                </a:solidFill>
                <a:latin typeface="微软雅黑" panose="020B0503020204020204" pitchFamily="34" charset="-122"/>
                <a:ea typeface="微软雅黑" panose="020B0503020204020204" pitchFamily="34" charset="-122"/>
              </a:rPr>
              <a:t>）层次进行。超过</a:t>
            </a:r>
            <a:r>
              <a:rPr lang="en-US" altLang="zh-CN" dirty="0">
                <a:solidFill>
                  <a:schemeClr val="bg1"/>
                </a:solidFill>
                <a:latin typeface="微软雅黑" panose="020B0503020204020204" pitchFamily="34" charset="-122"/>
                <a:ea typeface="微软雅黑" panose="020B0503020204020204" pitchFamily="34" charset="-122"/>
              </a:rPr>
              <a:t>2500</a:t>
            </a:r>
            <a:r>
              <a:rPr lang="zh-CN" altLang="zh-CN" dirty="0">
                <a:solidFill>
                  <a:schemeClr val="bg1"/>
                </a:solidFill>
                <a:latin typeface="微软雅黑" panose="020B0503020204020204" pitchFamily="34" charset="-122"/>
                <a:ea typeface="微软雅黑" panose="020B0503020204020204" pitchFamily="34" charset="-122"/>
              </a:rPr>
              <a:t>个小组</a:t>
            </a:r>
            <a:r>
              <a:rPr lang="zh-CN" altLang="zh-CN"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通过</a:t>
            </a:r>
            <a:r>
              <a:rPr lang="zh-CN" altLang="zh-CN" dirty="0">
                <a:solidFill>
                  <a:schemeClr val="bg1"/>
                </a:solidFill>
                <a:latin typeface="微软雅黑" panose="020B0503020204020204" pitchFamily="34" charset="-122"/>
                <a:ea typeface="微软雅黑" panose="020B0503020204020204" pitchFamily="34" charset="-122"/>
              </a:rPr>
              <a:t>这些委员会产生旨在解决全球有关标准问题合格的产业代表，研究组织，消费团体，政府当局和国际组织。他们在一个小组内有同等地位，据估计每年有超过</a:t>
            </a:r>
            <a:r>
              <a:rPr lang="en-US" altLang="zh-CN" dirty="0">
                <a:solidFill>
                  <a:schemeClr val="bg1"/>
                </a:solidFill>
                <a:latin typeface="微软雅黑" panose="020B0503020204020204" pitchFamily="34" charset="-122"/>
                <a:ea typeface="微软雅黑" panose="020B0503020204020204" pitchFamily="34" charset="-122"/>
              </a:rPr>
              <a:t>30000</a:t>
            </a:r>
            <a:r>
              <a:rPr lang="zh-CN" altLang="zh-CN" dirty="0">
                <a:solidFill>
                  <a:schemeClr val="bg1"/>
                </a:solidFill>
                <a:latin typeface="微软雅黑" panose="020B0503020204020204" pitchFamily="34" charset="-122"/>
                <a:ea typeface="微软雅黑" panose="020B0503020204020204" pitchFamily="34" charset="-122"/>
              </a:rPr>
              <a:t>名专家出席会议。</a:t>
            </a:r>
          </a:p>
          <a:p>
            <a:endParaRPr lang="zh-CN" altLang="en-US" dirty="0"/>
          </a:p>
        </p:txBody>
      </p:sp>
    </p:spTree>
    <p:extLst>
      <p:ext uri="{BB962C8B-B14F-4D97-AF65-F5344CB8AC3E}">
        <p14:creationId xmlns:p14="http://schemas.microsoft.com/office/powerpoint/2010/main" val="36540699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52650" y="754870"/>
            <a:ext cx="7886700" cy="1433766"/>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中央秘书处的工作是什么？</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
        <p:nvSpPr>
          <p:cNvPr id="3" name="内容占位符 2"/>
          <p:cNvSpPr>
            <a:spLocks noGrp="1"/>
          </p:cNvSpPr>
          <p:nvPr>
            <p:ph idx="1"/>
          </p:nvPr>
        </p:nvSpPr>
        <p:spPr>
          <a:xfrm>
            <a:off x="3214914" y="2869648"/>
            <a:ext cx="5762172" cy="2108753"/>
          </a:xfrm>
        </p:spPr>
        <p:txBody>
          <a:bodyPr/>
          <a:lstStyle/>
          <a:p>
            <a:pPr>
              <a:lnSpc>
                <a:spcPct val="100000"/>
              </a:lnSpc>
              <a:buClr>
                <a:srgbClr val="BFEF74"/>
              </a:buClr>
              <a:buFont typeface="Wingdings" panose="05000000000000000000" pitchFamily="2" charset="2"/>
              <a:buChar char="u"/>
            </a:pPr>
            <a:r>
              <a:rPr lang="en-US" altLang="zh-CN" dirty="0">
                <a:solidFill>
                  <a:schemeClr val="bg1"/>
                </a:solidFill>
                <a:latin typeface="微软雅黑" panose="020B0503020204020204" pitchFamily="34" charset="-122"/>
                <a:ea typeface="微软雅黑" panose="020B0503020204020204" pitchFamily="34" charset="-122"/>
              </a:rPr>
              <a:t>ISO</a:t>
            </a:r>
            <a:r>
              <a:rPr lang="zh-CN" altLang="zh-CN" dirty="0">
                <a:solidFill>
                  <a:schemeClr val="bg1"/>
                </a:solidFill>
                <a:latin typeface="微软雅黑" panose="020B0503020204020204" pitchFamily="34" charset="-122"/>
                <a:ea typeface="微软雅黑" panose="020B0503020204020204" pitchFamily="34" charset="-122"/>
              </a:rPr>
              <a:t>的中央秘书处位于日内瓦，负责统筹文档分发，对主席说明，为委员会对技术内容的协议提供便利，统筹会议安排以及提供各种支持等</a:t>
            </a:r>
            <a:r>
              <a:rPr lang="zh-CN" altLang="zh-CN" dirty="0" smtClean="0">
                <a:solidFill>
                  <a:schemeClr val="bg1"/>
                </a:solidFill>
                <a:latin typeface="微软雅黑" panose="020B0503020204020204" pitchFamily="34" charset="-122"/>
                <a:ea typeface="微软雅黑" panose="020B0503020204020204" pitchFamily="34" charset="-122"/>
              </a:rPr>
              <a:t>。</a:t>
            </a:r>
            <a:endParaRPr lang="zh-CN" altLang="zh-CN"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022218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89" name="组合 4"/>
          <p:cNvGrpSpPr>
            <a:grpSpLocks/>
          </p:cNvGrpSpPr>
          <p:nvPr/>
        </p:nvGrpSpPr>
        <p:grpSpPr bwMode="auto">
          <a:xfrm>
            <a:off x="0" y="-41275"/>
            <a:ext cx="6669088" cy="1303338"/>
            <a:chOff x="0" y="0"/>
            <a:chExt cx="6669552" cy="1304243"/>
          </a:xfrm>
        </p:grpSpPr>
        <p:sp>
          <p:nvSpPr>
            <p:cNvPr id="12290" name="等腰三角形 5"/>
            <p:cNvSpPr>
              <a:spLocks noChangeArrowheads="1"/>
            </p:cNvSpPr>
            <p:nvPr/>
          </p:nvSpPr>
          <p:spPr bwMode="auto">
            <a:xfrm flipV="1">
              <a:off x="7496" y="261610"/>
              <a:ext cx="832662" cy="823414"/>
            </a:xfrm>
            <a:prstGeom prst="triangle">
              <a:avLst>
                <a:gd name="adj" fmla="val 50000"/>
              </a:avLst>
            </a:prstGeom>
            <a:noFill/>
            <a:ln w="5715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2A555B"/>
                </a:solidFill>
                <a:latin typeface="等线" panose="02010600030101010101" pitchFamily="2" charset="-122"/>
                <a:sym typeface="等线" panose="02010600030101010101" pitchFamily="2" charset="-122"/>
              </a:endParaRPr>
            </a:p>
          </p:txBody>
        </p:sp>
        <p:sp>
          <p:nvSpPr>
            <p:cNvPr id="12291" name="等腰三角形 6"/>
            <p:cNvSpPr>
              <a:spLocks noChangeArrowheads="1"/>
            </p:cNvSpPr>
            <p:nvPr/>
          </p:nvSpPr>
          <p:spPr bwMode="auto">
            <a:xfrm flipV="1">
              <a:off x="278685" y="480829"/>
              <a:ext cx="832662" cy="823414"/>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12292" name="图片 7"/>
            <p:cNvPicPr>
              <a:picLocks noChangeAspect="1" noChangeArrowheads="1"/>
            </p:cNvPicPr>
            <p:nvPr/>
          </p:nvPicPr>
          <p:blipFill>
            <a:blip r:embed="rId2">
              <a:extLst>
                <a:ext uri="{28A0092B-C50C-407E-A947-70E740481C1C}">
                  <a14:useLocalDpi xmlns:a14="http://schemas.microsoft.com/office/drawing/2010/main" val="0"/>
                </a:ext>
              </a:extLst>
            </a:blip>
            <a:srcRect l="28754" t="50206" r="23984"/>
            <a:stretch>
              <a:fillRect/>
            </a:stretch>
          </p:blipFill>
          <p:spPr bwMode="auto">
            <a:xfrm>
              <a:off x="0" y="0"/>
              <a:ext cx="1799771" cy="126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文本框 8"/>
            <p:cNvSpPr>
              <a:spLocks noChangeArrowheads="1"/>
            </p:cNvSpPr>
            <p:nvPr/>
          </p:nvSpPr>
          <p:spPr bwMode="auto">
            <a:xfrm>
              <a:off x="1807267" y="203737"/>
              <a:ext cx="48622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800" dirty="0" smtClean="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国际标准形成过程（六个阶段）</a:t>
              </a:r>
              <a:endParaRPr lang="zh-CN" altLang="en-US" dirty="0">
                <a:ea typeface="宋体" panose="02010600030101010101" pitchFamily="2" charset="-122"/>
              </a:endParaRPr>
            </a:p>
          </p:txBody>
        </p:sp>
        <p:sp>
          <p:nvSpPr>
            <p:cNvPr id="12294" name="文本框 9"/>
            <p:cNvSpPr>
              <a:spLocks noChangeArrowheads="1"/>
            </p:cNvSpPr>
            <p:nvPr/>
          </p:nvSpPr>
          <p:spPr bwMode="auto">
            <a:xfrm>
              <a:off x="596997" y="109585"/>
              <a:ext cx="8326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02</a:t>
              </a:r>
              <a:endParaRPr lang="zh-CN" altLang="en-US"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pic>
        <p:nvPicPr>
          <p:cNvPr id="12295" name="图片 10"/>
          <p:cNvPicPr>
            <a:picLocks noChangeAspect="1" noChangeArrowheads="1"/>
          </p:cNvPicPr>
          <p:nvPr/>
        </p:nvPicPr>
        <p:blipFill>
          <a:blip r:embed="rId3">
            <a:extLst>
              <a:ext uri="{28A0092B-C50C-407E-A947-70E740481C1C}">
                <a14:useLocalDpi xmlns:a14="http://schemas.microsoft.com/office/drawing/2010/main" val="0"/>
              </a:ext>
            </a:extLst>
          </a:blip>
          <a:srcRect t="16125" r="50000" b="21051"/>
          <a:stretch>
            <a:fillRect/>
          </a:stretch>
        </p:blipFill>
        <p:spPr bwMode="auto">
          <a:xfrm>
            <a:off x="9356725" y="1400175"/>
            <a:ext cx="28352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296" name="组合 20"/>
          <p:cNvGrpSpPr>
            <a:grpSpLocks/>
          </p:cNvGrpSpPr>
          <p:nvPr/>
        </p:nvGrpSpPr>
        <p:grpSpPr bwMode="auto">
          <a:xfrm>
            <a:off x="3476625" y="2095500"/>
            <a:ext cx="5238750" cy="3257550"/>
            <a:chOff x="0" y="0"/>
            <a:chExt cx="5238751" cy="3257551"/>
          </a:xfrm>
        </p:grpSpPr>
        <p:pic>
          <p:nvPicPr>
            <p:cNvPr id="12297" name="图片 12"/>
            <p:cNvPicPr>
              <a:picLocks noChangeAspect="1" noChangeArrowheads="1"/>
            </p:cNvPicPr>
            <p:nvPr/>
          </p:nvPicPr>
          <p:blipFill>
            <a:blip r:embed="rId4">
              <a:extLst>
                <a:ext uri="{28A0092B-C50C-407E-A947-70E740481C1C}">
                  <a14:useLocalDpi xmlns:a14="http://schemas.microsoft.com/office/drawing/2010/main" val="0"/>
                </a:ext>
              </a:extLst>
            </a:blip>
            <a:srcRect l="43663" t="39359" r="4253" b="7645"/>
            <a:stretch>
              <a:fillRect/>
            </a:stretch>
          </p:blipFill>
          <p:spPr bwMode="auto">
            <a:xfrm>
              <a:off x="0" y="0"/>
              <a:ext cx="5238751" cy="32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8" name="矩形 13"/>
            <p:cNvSpPr>
              <a:spLocks noChangeArrowheads="1"/>
            </p:cNvSpPr>
            <p:nvPr/>
          </p:nvSpPr>
          <p:spPr bwMode="auto">
            <a:xfrm>
              <a:off x="724339" y="376897"/>
              <a:ext cx="3733800" cy="23241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12299" name="图片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0637" y="376897"/>
              <a:ext cx="1707502"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0" name="图片 1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7401" y="1126159"/>
              <a:ext cx="2035385" cy="1005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301" name="组合 29"/>
          <p:cNvGrpSpPr>
            <a:grpSpLocks/>
          </p:cNvGrpSpPr>
          <p:nvPr/>
        </p:nvGrpSpPr>
        <p:grpSpPr bwMode="auto">
          <a:xfrm>
            <a:off x="596955" y="2203450"/>
            <a:ext cx="2986088" cy="3140492"/>
            <a:chOff x="55" y="0"/>
            <a:chExt cx="2985579" cy="3139085"/>
          </a:xfrm>
        </p:grpSpPr>
        <p:sp>
          <p:nvSpPr>
            <p:cNvPr id="12302" name="文本框 21"/>
            <p:cNvSpPr>
              <a:spLocks noChangeArrowheads="1"/>
            </p:cNvSpPr>
            <p:nvPr/>
          </p:nvSpPr>
          <p:spPr bwMode="auto">
            <a:xfrm>
              <a:off x="15728" y="0"/>
              <a:ext cx="19960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申请阶段</a:t>
              </a:r>
              <a:endParaRPr lang="zh-CN" altLang="en-US" dirty="0">
                <a:ea typeface="宋体" panose="02010600030101010101" pitchFamily="2" charset="-122"/>
              </a:endParaRPr>
            </a:p>
          </p:txBody>
        </p:sp>
        <p:sp>
          <p:nvSpPr>
            <p:cNvPr id="12303" name="文本框 22"/>
            <p:cNvSpPr>
              <a:spLocks noChangeArrowheads="1"/>
            </p:cNvSpPr>
            <p:nvPr/>
          </p:nvSpPr>
          <p:spPr bwMode="auto">
            <a:xfrm>
              <a:off x="55" y="1154607"/>
              <a:ext cx="2985579" cy="580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zh-CN" altLang="en-US" sz="2400" dirty="0" smtClean="0">
                  <a:solidFill>
                    <a:srgbClr val="000000"/>
                  </a:solidFill>
                  <a:latin typeface="方正黑体简体" panose="02000000000000000000" pitchFamily="2" charset="-122"/>
                  <a:ea typeface="方正兰亭黑简体" panose="02000000000000000000"/>
                  <a:sym typeface="等线" panose="02010600030101010101" pitchFamily="2" charset="-122"/>
                </a:rPr>
                <a:t>预备阶段</a:t>
              </a:r>
              <a:endParaRPr lang="zh-CN" altLang="en-US" sz="2400" dirty="0">
                <a:latin typeface="方正黑体简体" panose="02000000000000000000" pitchFamily="2" charset="-122"/>
                <a:ea typeface="方正兰亭黑简体" panose="02000000000000000000"/>
              </a:endParaRPr>
            </a:p>
          </p:txBody>
        </p:sp>
        <p:sp>
          <p:nvSpPr>
            <p:cNvPr id="12304" name="文本框 23"/>
            <p:cNvSpPr>
              <a:spLocks noChangeArrowheads="1"/>
            </p:cNvSpPr>
            <p:nvPr/>
          </p:nvSpPr>
          <p:spPr bwMode="auto">
            <a:xfrm>
              <a:off x="15728" y="2677420"/>
              <a:ext cx="19960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委员会阶段</a:t>
              </a:r>
              <a:endParaRPr lang="zh-CN" altLang="en-US" dirty="0">
                <a:ea typeface="宋体" panose="02010600030101010101" pitchFamily="2" charset="-122"/>
              </a:endParaRPr>
            </a:p>
          </p:txBody>
        </p:sp>
      </p:grpSp>
      <p:grpSp>
        <p:nvGrpSpPr>
          <p:cNvPr id="12306" name="组合 30"/>
          <p:cNvGrpSpPr>
            <a:grpSpLocks/>
          </p:cNvGrpSpPr>
          <p:nvPr/>
        </p:nvGrpSpPr>
        <p:grpSpPr bwMode="auto">
          <a:xfrm>
            <a:off x="9356726" y="2203450"/>
            <a:ext cx="2284830" cy="3127125"/>
            <a:chOff x="698382" y="0"/>
            <a:chExt cx="2284441" cy="3126837"/>
          </a:xfrm>
        </p:grpSpPr>
        <p:sp>
          <p:nvSpPr>
            <p:cNvPr id="12307" name="文本框 25"/>
            <p:cNvSpPr>
              <a:spLocks noChangeArrowheads="1"/>
            </p:cNvSpPr>
            <p:nvPr/>
          </p:nvSpPr>
          <p:spPr bwMode="auto">
            <a:xfrm>
              <a:off x="986806" y="0"/>
              <a:ext cx="19960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审查阶段</a:t>
              </a:r>
              <a:endParaRPr lang="zh-CN" altLang="en-US" dirty="0">
                <a:ea typeface="宋体" panose="02010600030101010101" pitchFamily="2" charset="-122"/>
              </a:endParaRPr>
            </a:p>
          </p:txBody>
        </p:sp>
        <p:sp>
          <p:nvSpPr>
            <p:cNvPr id="12309" name="文本框 27"/>
            <p:cNvSpPr>
              <a:spLocks noChangeArrowheads="1"/>
            </p:cNvSpPr>
            <p:nvPr/>
          </p:nvSpPr>
          <p:spPr bwMode="auto">
            <a:xfrm>
              <a:off x="698382" y="2665172"/>
              <a:ext cx="19960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发布阶段</a:t>
              </a:r>
              <a:endParaRPr lang="zh-CN" altLang="en-US" dirty="0">
                <a:ea typeface="宋体" panose="02010600030101010101" pitchFamily="2" charset="-122"/>
              </a:endParaRPr>
            </a:p>
          </p:txBody>
        </p:sp>
      </p:grpSp>
      <p:sp>
        <p:nvSpPr>
          <p:cNvPr id="24" name="文本框 25"/>
          <p:cNvSpPr>
            <a:spLocks noChangeArrowheads="1"/>
          </p:cNvSpPr>
          <p:nvPr/>
        </p:nvSpPr>
        <p:spPr bwMode="auto">
          <a:xfrm>
            <a:off x="9700431" y="3477861"/>
            <a:ext cx="1996357" cy="461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批准阶段</a:t>
            </a:r>
            <a:endParaRPr lang="zh-CN" altLang="en-US" dirty="0">
              <a:ea typeface="宋体" panose="02010600030101010101" pitchFamily="2" charset="-122"/>
            </a:endParaRPr>
          </a:p>
        </p:txBody>
      </p:sp>
      <p:sp>
        <p:nvSpPr>
          <p:cNvPr id="2" name="文本框 1"/>
          <p:cNvSpPr txBox="1"/>
          <p:nvPr/>
        </p:nvSpPr>
        <p:spPr>
          <a:xfrm>
            <a:off x="4368800" y="2992582"/>
            <a:ext cx="1910611" cy="1366982"/>
          </a:xfrm>
          <a:prstGeom prst="rect">
            <a:avLst/>
          </a:prstGeom>
          <a:solidFill>
            <a:schemeClr val="bg1"/>
          </a:solidFill>
        </p:spPr>
        <p:txBody>
          <a:bodyPr wrap="square" rtlCol="0">
            <a:spAutoFit/>
          </a:bodyPr>
          <a:lstStyle/>
          <a:p>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52650" y="754870"/>
            <a:ext cx="7886700" cy="1433766"/>
          </a:xfrm>
        </p:spPr>
        <p:txBody>
          <a:bodyPr/>
          <a:lstStyle/>
          <a:p>
            <a:r>
              <a:rPr lang="en-US" altLang="zh-CN" dirty="0" smtClean="0">
                <a:solidFill>
                  <a:schemeClr val="bg1"/>
                </a:solidFill>
                <a:latin typeface="方正兰亭黑_YS_GB18030" panose="03000502000000000000" pitchFamily="66" charset="-122"/>
                <a:ea typeface="方正兰亭黑_YS_GB18030" panose="03000502000000000000" pitchFamily="66" charset="-122"/>
              </a:rPr>
              <a:t>ISO</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标准是怎样开发的？</a:t>
            </a:r>
            <a:r>
              <a:rPr lang="en-US" altLang="zh-CN" dirty="0" smtClean="0">
                <a:solidFill>
                  <a:schemeClr val="bg1"/>
                </a:solidFill>
                <a:latin typeface="方正兰亭黑_YS_GB18030" panose="03000502000000000000" pitchFamily="66" charset="-122"/>
                <a:ea typeface="方正兰亭黑_YS_GB18030" panose="03000502000000000000" pitchFamily="66" charset="-122"/>
              </a:rPr>
              <a:t>(1)</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
        <p:nvSpPr>
          <p:cNvPr id="3" name="内容占位符 2"/>
          <p:cNvSpPr>
            <a:spLocks noGrp="1"/>
          </p:cNvSpPr>
          <p:nvPr>
            <p:ph idx="1"/>
          </p:nvPr>
        </p:nvSpPr>
        <p:spPr>
          <a:xfrm>
            <a:off x="2256971" y="2347133"/>
            <a:ext cx="8120743" cy="4213324"/>
          </a:xfrm>
        </p:spPr>
        <p:txBody>
          <a:bodyPr>
            <a:normAutofit/>
          </a:bodyPr>
          <a:lstStyle/>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第一</a:t>
            </a:r>
            <a:r>
              <a:rPr lang="zh-CN" altLang="zh-CN" dirty="0">
                <a:solidFill>
                  <a:schemeClr val="bg1"/>
                </a:solidFill>
                <a:latin typeface="微软雅黑" panose="020B0503020204020204" pitchFamily="34" charset="-122"/>
                <a:ea typeface="微软雅黑" panose="020B0503020204020204" pitchFamily="34" charset="-122"/>
              </a:rPr>
              <a:t>阶段：</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申请</a:t>
            </a:r>
            <a:r>
              <a:rPr lang="zh-CN" altLang="zh-CN" dirty="0">
                <a:solidFill>
                  <a:schemeClr val="bg1"/>
                </a:solidFill>
                <a:latin typeface="微软雅黑" panose="020B0503020204020204" pitchFamily="34" charset="-122"/>
                <a:ea typeface="微软雅黑" panose="020B0503020204020204" pitchFamily="34" charset="-122"/>
              </a:rPr>
              <a:t>阶段；</a:t>
            </a:r>
          </a:p>
          <a:p>
            <a:pPr marL="0" indent="0">
              <a:buClr>
                <a:srgbClr val="BFEF74"/>
              </a:buClr>
              <a:buNone/>
            </a:pPr>
            <a:r>
              <a:rPr lang="en-US" altLang="zh-CN" dirty="0" smtClean="0">
                <a:solidFill>
                  <a:schemeClr val="bg1"/>
                </a:solidFill>
                <a:latin typeface="微软雅黑" panose="020B0503020204020204" pitchFamily="34" charset="-122"/>
                <a:ea typeface="微软雅黑" panose="020B0503020204020204" pitchFamily="34" charset="-122"/>
              </a:rPr>
              <a:t>    </a:t>
            </a:r>
            <a:r>
              <a:rPr lang="zh-CN" altLang="zh-CN" dirty="0" smtClean="0">
                <a:solidFill>
                  <a:schemeClr val="bg1"/>
                </a:solidFill>
                <a:latin typeface="微软雅黑" panose="020B0503020204020204" pitchFamily="34" charset="-122"/>
                <a:ea typeface="微软雅黑" panose="020B0503020204020204" pitchFamily="34" charset="-122"/>
              </a:rPr>
              <a:t>确定</a:t>
            </a:r>
            <a:r>
              <a:rPr lang="zh-CN" altLang="zh-CN" dirty="0">
                <a:solidFill>
                  <a:schemeClr val="bg1"/>
                </a:solidFill>
                <a:latin typeface="微软雅黑" panose="020B0503020204020204" pitchFamily="34" charset="-122"/>
                <a:ea typeface="微软雅黑" panose="020B0503020204020204" pitchFamily="34" charset="-122"/>
              </a:rPr>
              <a:t>提议标准的必要性</a:t>
            </a: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第二</a:t>
            </a:r>
            <a:r>
              <a:rPr lang="zh-CN" altLang="zh-CN" dirty="0">
                <a:solidFill>
                  <a:schemeClr val="bg1"/>
                </a:solidFill>
                <a:latin typeface="微软雅黑" panose="020B0503020204020204" pitchFamily="34" charset="-122"/>
                <a:ea typeface="微软雅黑" panose="020B0503020204020204" pitchFamily="34" charset="-122"/>
              </a:rPr>
              <a:t>阶段：</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预备</a:t>
            </a:r>
            <a:r>
              <a:rPr lang="zh-CN" altLang="zh-CN" dirty="0">
                <a:solidFill>
                  <a:schemeClr val="bg1"/>
                </a:solidFill>
                <a:latin typeface="微软雅黑" panose="020B0503020204020204" pitchFamily="34" charset="-122"/>
                <a:ea typeface="微软雅黑" panose="020B0503020204020204" pitchFamily="34" charset="-122"/>
              </a:rPr>
              <a:t>阶段；</a:t>
            </a:r>
          </a:p>
          <a:p>
            <a:pPr marL="0" indent="0">
              <a:buClr>
                <a:srgbClr val="BFEF74"/>
              </a:buClr>
              <a:buNone/>
            </a:pPr>
            <a:r>
              <a:rPr lang="en-US" altLang="zh-CN" dirty="0">
                <a:solidFill>
                  <a:schemeClr val="bg1"/>
                </a:solidFill>
                <a:latin typeface="微软雅黑" panose="020B0503020204020204" pitchFamily="34" charset="-122"/>
                <a:ea typeface="微软雅黑" panose="020B0503020204020204" pitchFamily="34" charset="-122"/>
              </a:rPr>
              <a:t> </a:t>
            </a:r>
            <a:r>
              <a:rPr lang="en-US" altLang="zh-CN" dirty="0" smtClean="0">
                <a:solidFill>
                  <a:schemeClr val="bg1"/>
                </a:solidFill>
                <a:latin typeface="微软雅黑" panose="020B0503020204020204" pitchFamily="34" charset="-122"/>
                <a:ea typeface="微软雅黑" panose="020B0503020204020204" pitchFamily="34" charset="-122"/>
              </a:rPr>
              <a:t>   </a:t>
            </a:r>
            <a:r>
              <a:rPr lang="zh-CN" altLang="zh-CN" dirty="0" smtClean="0">
                <a:solidFill>
                  <a:schemeClr val="bg1"/>
                </a:solidFill>
                <a:latin typeface="微软雅黑" panose="020B0503020204020204" pitchFamily="34" charset="-122"/>
                <a:ea typeface="微软雅黑" panose="020B0503020204020204" pitchFamily="34" charset="-122"/>
              </a:rPr>
              <a:t>组建</a:t>
            </a:r>
            <a:r>
              <a:rPr lang="zh-CN" altLang="zh-CN" dirty="0">
                <a:solidFill>
                  <a:schemeClr val="bg1"/>
                </a:solidFill>
                <a:latin typeface="微软雅黑" panose="020B0503020204020204" pitchFamily="34" charset="-122"/>
                <a:ea typeface="微软雅黑" panose="020B0503020204020204" pitchFamily="34" charset="-122"/>
              </a:rPr>
              <a:t>专家组，准备工作草案作为委员会草案发布。</a:t>
            </a: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第三</a:t>
            </a:r>
            <a:r>
              <a:rPr lang="zh-CN" altLang="zh-CN" dirty="0">
                <a:solidFill>
                  <a:schemeClr val="bg1"/>
                </a:solidFill>
                <a:latin typeface="微软雅黑" panose="020B0503020204020204" pitchFamily="34" charset="-122"/>
                <a:ea typeface="微软雅黑" panose="020B0503020204020204" pitchFamily="34" charset="-122"/>
              </a:rPr>
              <a:t>阶段：</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委员会</a:t>
            </a:r>
            <a:r>
              <a:rPr lang="zh-CN" altLang="zh-CN" dirty="0">
                <a:solidFill>
                  <a:schemeClr val="bg1"/>
                </a:solidFill>
                <a:latin typeface="微软雅黑" panose="020B0503020204020204" pitchFamily="34" charset="-122"/>
                <a:ea typeface="微软雅黑" panose="020B0503020204020204" pitchFamily="34" charset="-122"/>
              </a:rPr>
              <a:t>阶段；</a:t>
            </a:r>
          </a:p>
          <a:p>
            <a:pPr marL="0" indent="0">
              <a:buClr>
                <a:srgbClr val="BFEF74"/>
              </a:buClr>
              <a:buNone/>
            </a:pPr>
            <a:r>
              <a:rPr lang="en-US" altLang="zh-CN" dirty="0" smtClean="0">
                <a:solidFill>
                  <a:schemeClr val="bg1"/>
                </a:solidFill>
                <a:latin typeface="微软雅黑" panose="020B0503020204020204" pitchFamily="34" charset="-122"/>
                <a:ea typeface="微软雅黑" panose="020B0503020204020204" pitchFamily="34" charset="-122"/>
              </a:rPr>
              <a:t>    </a:t>
            </a:r>
            <a:r>
              <a:rPr lang="zh-CN" altLang="zh-CN" dirty="0" smtClean="0">
                <a:solidFill>
                  <a:schemeClr val="bg1"/>
                </a:solidFill>
                <a:latin typeface="微软雅黑" panose="020B0503020204020204" pitchFamily="34" charset="-122"/>
                <a:ea typeface="微软雅黑" panose="020B0503020204020204" pitchFamily="34" charset="-122"/>
              </a:rPr>
              <a:t>中央</a:t>
            </a:r>
            <a:r>
              <a:rPr lang="zh-CN" altLang="zh-CN" dirty="0">
                <a:solidFill>
                  <a:schemeClr val="bg1"/>
                </a:solidFill>
                <a:latin typeface="微软雅黑" panose="020B0503020204020204" pitchFamily="34" charset="-122"/>
                <a:ea typeface="微软雅黑" panose="020B0503020204020204" pitchFamily="34" charset="-122"/>
              </a:rPr>
              <a:t>秘书处登记，</a:t>
            </a:r>
            <a:r>
              <a:rPr lang="en-US" altLang="zh-CN" dirty="0">
                <a:solidFill>
                  <a:schemeClr val="bg1"/>
                </a:solidFill>
                <a:latin typeface="微软雅黑" panose="020B0503020204020204" pitchFamily="34" charset="-122"/>
                <a:ea typeface="微软雅黑" panose="020B0503020204020204" pitchFamily="34" charset="-122"/>
              </a:rPr>
              <a:t>P</a:t>
            </a:r>
            <a:r>
              <a:rPr lang="zh-CN" altLang="zh-CN" dirty="0">
                <a:solidFill>
                  <a:schemeClr val="bg1"/>
                </a:solidFill>
                <a:latin typeface="微软雅黑" panose="020B0503020204020204" pitchFamily="34" charset="-122"/>
                <a:ea typeface="微软雅黑" panose="020B0503020204020204" pitchFamily="34" charset="-122"/>
              </a:rPr>
              <a:t>成员评论，直到达成一致。最终定稿作为草稿版国际标准（</a:t>
            </a:r>
            <a:r>
              <a:rPr lang="en-US" altLang="zh-CN" dirty="0">
                <a:solidFill>
                  <a:schemeClr val="bg1"/>
                </a:solidFill>
                <a:latin typeface="微软雅黑" panose="020B0503020204020204" pitchFamily="34" charset="-122"/>
                <a:ea typeface="微软雅黑" panose="020B0503020204020204" pitchFamily="34" charset="-122"/>
              </a:rPr>
              <a:t>DIS</a:t>
            </a:r>
            <a:r>
              <a:rPr lang="zh-CN" altLang="zh-CN" dirty="0">
                <a:solidFill>
                  <a:schemeClr val="bg1"/>
                </a:solidFill>
                <a:latin typeface="微软雅黑" panose="020B0503020204020204" pitchFamily="34" charset="-122"/>
                <a:ea typeface="微软雅黑" panose="020B0503020204020204" pitchFamily="34" charset="-122"/>
              </a:rPr>
              <a:t>）</a:t>
            </a:r>
            <a:r>
              <a:rPr lang="zh-CN" altLang="zh-CN" dirty="0" smtClean="0">
                <a:solidFill>
                  <a:schemeClr val="bg1"/>
                </a:solidFill>
                <a:latin typeface="微软雅黑" panose="020B0503020204020204" pitchFamily="34" charset="-122"/>
                <a:ea typeface="微软雅黑" panose="020B0503020204020204" pitchFamily="34" charset="-122"/>
              </a:rPr>
              <a:t>提交</a:t>
            </a:r>
            <a:endParaRPr lang="zh-CN" altLang="zh-CN"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617592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52650" y="754870"/>
            <a:ext cx="7886700" cy="1433766"/>
          </a:xfrm>
        </p:spPr>
        <p:txBody>
          <a:bodyPr/>
          <a:lstStyle/>
          <a:p>
            <a:r>
              <a:rPr lang="en-US" altLang="zh-CN" dirty="0" smtClean="0">
                <a:solidFill>
                  <a:schemeClr val="bg1"/>
                </a:solidFill>
                <a:latin typeface="方正兰亭黑_YS_GB18030" panose="03000502000000000000" pitchFamily="66" charset="-122"/>
                <a:ea typeface="方正兰亭黑_YS_GB18030" panose="03000502000000000000" pitchFamily="66" charset="-122"/>
              </a:rPr>
              <a:t>ISO</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标准是怎样开发的？</a:t>
            </a:r>
            <a:r>
              <a:rPr lang="en-US" altLang="zh-CN" dirty="0" smtClean="0">
                <a:solidFill>
                  <a:schemeClr val="bg1"/>
                </a:solidFill>
                <a:latin typeface="方正兰亭黑_YS_GB18030" panose="03000502000000000000" pitchFamily="66" charset="-122"/>
                <a:ea typeface="方正兰亭黑_YS_GB18030" panose="03000502000000000000" pitchFamily="66" charset="-122"/>
              </a:rPr>
              <a:t>(2)</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
        <p:nvSpPr>
          <p:cNvPr id="3" name="内容占位符 2"/>
          <p:cNvSpPr>
            <a:spLocks noGrp="1"/>
          </p:cNvSpPr>
          <p:nvPr>
            <p:ph idx="1"/>
          </p:nvPr>
        </p:nvSpPr>
        <p:spPr>
          <a:xfrm>
            <a:off x="2256971" y="2347133"/>
            <a:ext cx="8120743" cy="4213324"/>
          </a:xfrm>
        </p:spPr>
        <p:txBody>
          <a:bodyPr>
            <a:normAutofit lnSpcReduction="10000"/>
          </a:bodyPr>
          <a:lstStyle/>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第四</a:t>
            </a:r>
            <a:r>
              <a:rPr lang="zh-CN" altLang="zh-CN" dirty="0">
                <a:solidFill>
                  <a:schemeClr val="bg1"/>
                </a:solidFill>
                <a:latin typeface="微软雅黑" panose="020B0503020204020204" pitchFamily="34" charset="-122"/>
                <a:ea typeface="微软雅黑" panose="020B0503020204020204" pitchFamily="34" charset="-122"/>
              </a:rPr>
              <a:t>阶段：</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审查</a:t>
            </a:r>
            <a:r>
              <a:rPr lang="zh-CN" altLang="zh-CN" dirty="0">
                <a:solidFill>
                  <a:schemeClr val="bg1"/>
                </a:solidFill>
                <a:latin typeface="微软雅黑" panose="020B0503020204020204" pitchFamily="34" charset="-122"/>
                <a:ea typeface="微软雅黑" panose="020B0503020204020204" pitchFamily="34" charset="-122"/>
              </a:rPr>
              <a:t>阶段；</a:t>
            </a:r>
          </a:p>
          <a:p>
            <a:pPr marL="0" indent="0">
              <a:buClr>
                <a:srgbClr val="BFEF74"/>
              </a:buClr>
              <a:buNone/>
            </a:pPr>
            <a:r>
              <a:rPr lang="en-US" altLang="zh-CN" dirty="0" smtClean="0">
                <a:solidFill>
                  <a:schemeClr val="bg1"/>
                </a:solidFill>
                <a:latin typeface="微软雅黑" panose="020B0503020204020204" pitchFamily="34" charset="-122"/>
                <a:ea typeface="微软雅黑" panose="020B0503020204020204" pitchFamily="34" charset="-122"/>
              </a:rPr>
              <a:t>    DIS</a:t>
            </a:r>
            <a:r>
              <a:rPr lang="zh-CN" altLang="zh-CN" dirty="0">
                <a:solidFill>
                  <a:schemeClr val="bg1"/>
                </a:solidFill>
                <a:latin typeface="微软雅黑" panose="020B0503020204020204" pitchFamily="34" charset="-122"/>
                <a:ea typeface="微软雅黑" panose="020B0503020204020204" pitchFamily="34" charset="-122"/>
              </a:rPr>
              <a:t>在所有成员间传播供投票与参阅，为期</a:t>
            </a:r>
            <a:r>
              <a:rPr lang="en-US" altLang="zh-CN" dirty="0">
                <a:solidFill>
                  <a:schemeClr val="bg1"/>
                </a:solidFill>
                <a:latin typeface="微软雅黑" panose="020B0503020204020204" pitchFamily="34" charset="-122"/>
                <a:ea typeface="微软雅黑" panose="020B0503020204020204" pitchFamily="34" charset="-122"/>
              </a:rPr>
              <a:t>5</a:t>
            </a:r>
            <a:r>
              <a:rPr lang="zh-CN" altLang="zh-CN" dirty="0">
                <a:solidFill>
                  <a:schemeClr val="bg1"/>
                </a:solidFill>
                <a:latin typeface="微软雅黑" panose="020B0503020204020204" pitchFamily="34" charset="-122"/>
                <a:ea typeface="微软雅黑" panose="020B0503020204020204" pitchFamily="34" charset="-122"/>
              </a:rPr>
              <a:t>个月。批准后作为最终国际标准草案（</a:t>
            </a:r>
            <a:r>
              <a:rPr lang="en-US" altLang="zh-CN" dirty="0">
                <a:solidFill>
                  <a:schemeClr val="bg1"/>
                </a:solidFill>
                <a:latin typeface="微软雅黑" panose="020B0503020204020204" pitchFamily="34" charset="-122"/>
                <a:ea typeface="微软雅黑" panose="020B0503020204020204" pitchFamily="34" charset="-122"/>
              </a:rPr>
              <a:t>FIDS</a:t>
            </a:r>
            <a:r>
              <a:rPr lang="zh-CN" altLang="zh-CN" dirty="0">
                <a:solidFill>
                  <a:schemeClr val="bg1"/>
                </a:solidFill>
                <a:latin typeface="微软雅黑" panose="020B0503020204020204" pitchFamily="34" charset="-122"/>
                <a:ea typeface="微软雅黑" panose="020B0503020204020204" pitchFamily="34" charset="-122"/>
              </a:rPr>
              <a:t>）提交。未批准则返回</a:t>
            </a:r>
            <a:r>
              <a:rPr lang="en-US" altLang="zh-CN" dirty="0">
                <a:solidFill>
                  <a:schemeClr val="bg1"/>
                </a:solidFill>
                <a:latin typeface="微软雅黑" panose="020B0503020204020204" pitchFamily="34" charset="-122"/>
                <a:ea typeface="微软雅黑" panose="020B0503020204020204" pitchFamily="34" charset="-122"/>
              </a:rPr>
              <a:t>TC/SC</a:t>
            </a:r>
            <a:r>
              <a:rPr lang="zh-CN" altLang="zh-CN" dirty="0">
                <a:solidFill>
                  <a:schemeClr val="bg1"/>
                </a:solidFill>
                <a:latin typeface="微软雅黑" panose="020B0503020204020204" pitchFamily="34" charset="-122"/>
                <a:ea typeface="微软雅黑" panose="020B0503020204020204" pitchFamily="34" charset="-122"/>
              </a:rPr>
              <a:t>作进一步评估研究</a:t>
            </a: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第五</a:t>
            </a:r>
            <a:r>
              <a:rPr lang="zh-CN" altLang="zh-CN" dirty="0">
                <a:solidFill>
                  <a:schemeClr val="bg1"/>
                </a:solidFill>
                <a:latin typeface="微软雅黑" panose="020B0503020204020204" pitchFamily="34" charset="-122"/>
                <a:ea typeface="微软雅黑" panose="020B0503020204020204" pitchFamily="34" charset="-122"/>
              </a:rPr>
              <a:t>阶段：</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批准</a:t>
            </a:r>
            <a:r>
              <a:rPr lang="zh-CN" altLang="zh-CN" dirty="0">
                <a:solidFill>
                  <a:schemeClr val="bg1"/>
                </a:solidFill>
                <a:latin typeface="微软雅黑" panose="020B0503020204020204" pitchFamily="34" charset="-122"/>
                <a:ea typeface="微软雅黑" panose="020B0503020204020204" pitchFamily="34" charset="-122"/>
              </a:rPr>
              <a:t>阶段；</a:t>
            </a:r>
          </a:p>
          <a:p>
            <a:pPr marL="0" indent="0">
              <a:buClr>
                <a:srgbClr val="BFEF74"/>
              </a:buClr>
              <a:buNone/>
            </a:pPr>
            <a:r>
              <a:rPr lang="en-US" altLang="zh-CN" dirty="0" smtClean="0">
                <a:solidFill>
                  <a:schemeClr val="bg1"/>
                </a:solidFill>
                <a:latin typeface="微软雅黑" panose="020B0503020204020204" pitchFamily="34" charset="-122"/>
                <a:ea typeface="微软雅黑" panose="020B0503020204020204" pitchFamily="34" charset="-122"/>
              </a:rPr>
              <a:t>    FIDS</a:t>
            </a:r>
            <a:r>
              <a:rPr lang="zh-CN" altLang="zh-CN" dirty="0">
                <a:solidFill>
                  <a:schemeClr val="bg1"/>
                </a:solidFill>
                <a:latin typeface="微软雅黑" panose="020B0503020204020204" pitchFamily="34" charset="-122"/>
                <a:ea typeface="微软雅黑" panose="020B0503020204020204" pitchFamily="34" charset="-122"/>
              </a:rPr>
              <a:t>在</a:t>
            </a:r>
            <a:r>
              <a:rPr lang="en-US" altLang="zh-CN" dirty="0">
                <a:solidFill>
                  <a:schemeClr val="bg1"/>
                </a:solidFill>
                <a:latin typeface="微软雅黑" panose="020B0503020204020204" pitchFamily="34" charset="-122"/>
                <a:ea typeface="微软雅黑" panose="020B0503020204020204" pitchFamily="34" charset="-122"/>
              </a:rPr>
              <a:t>ISO</a:t>
            </a:r>
            <a:r>
              <a:rPr lang="zh-CN" altLang="zh-CN" dirty="0">
                <a:solidFill>
                  <a:schemeClr val="bg1"/>
                </a:solidFill>
                <a:latin typeface="微软雅黑" panose="020B0503020204020204" pitchFamily="34" charset="-122"/>
                <a:ea typeface="微软雅黑" panose="020B0503020204020204" pitchFamily="34" charset="-122"/>
              </a:rPr>
              <a:t>所有成员间传播以供最终投票表决，为期</a:t>
            </a:r>
            <a:r>
              <a:rPr lang="en-US" altLang="zh-CN" dirty="0">
                <a:solidFill>
                  <a:schemeClr val="bg1"/>
                </a:solidFill>
                <a:latin typeface="微软雅黑" panose="020B0503020204020204" pitchFamily="34" charset="-122"/>
                <a:ea typeface="微软雅黑" panose="020B0503020204020204" pitchFamily="34" charset="-122"/>
              </a:rPr>
              <a:t>2</a:t>
            </a:r>
            <a:r>
              <a:rPr lang="zh-CN" altLang="zh-CN" dirty="0">
                <a:solidFill>
                  <a:schemeClr val="bg1"/>
                </a:solidFill>
                <a:latin typeface="微软雅黑" panose="020B0503020204020204" pitchFamily="34" charset="-122"/>
                <a:ea typeface="微软雅黑" panose="020B0503020204020204" pitchFamily="34" charset="-122"/>
              </a:rPr>
              <a:t>个月。</a:t>
            </a: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第六</a:t>
            </a:r>
            <a:r>
              <a:rPr lang="zh-CN" altLang="zh-CN" dirty="0">
                <a:solidFill>
                  <a:schemeClr val="bg1"/>
                </a:solidFill>
                <a:latin typeface="微软雅黑" panose="020B0503020204020204" pitchFamily="34" charset="-122"/>
                <a:ea typeface="微软雅黑" panose="020B0503020204020204" pitchFamily="34" charset="-122"/>
              </a:rPr>
              <a:t>阶段：</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发布</a:t>
            </a:r>
            <a:r>
              <a:rPr lang="zh-CN" altLang="zh-CN" dirty="0">
                <a:solidFill>
                  <a:schemeClr val="bg1"/>
                </a:solidFill>
                <a:latin typeface="微软雅黑" panose="020B0503020204020204" pitchFamily="34" charset="-122"/>
                <a:ea typeface="微软雅黑" panose="020B0503020204020204" pitchFamily="34" charset="-122"/>
              </a:rPr>
              <a:t>阶段。</a:t>
            </a:r>
          </a:p>
          <a:p>
            <a:pPr marL="0" indent="0">
              <a:buClr>
                <a:srgbClr val="BFEF74"/>
              </a:buClr>
              <a:buNone/>
            </a:pPr>
            <a:r>
              <a:rPr lang="en-US" altLang="zh-CN" dirty="0" smtClean="0">
                <a:solidFill>
                  <a:schemeClr val="bg1"/>
                </a:solidFill>
                <a:latin typeface="微软雅黑" panose="020B0503020204020204" pitchFamily="34" charset="-122"/>
                <a:ea typeface="微软雅黑" panose="020B0503020204020204" pitchFamily="34" charset="-122"/>
              </a:rPr>
              <a:t>    </a:t>
            </a:r>
            <a:r>
              <a:rPr lang="zh-CN" altLang="zh-CN" dirty="0" smtClean="0">
                <a:solidFill>
                  <a:schemeClr val="bg1"/>
                </a:solidFill>
                <a:latin typeface="微软雅黑" panose="020B0503020204020204" pitchFamily="34" charset="-122"/>
                <a:ea typeface="微软雅黑" panose="020B0503020204020204" pitchFamily="34" charset="-122"/>
              </a:rPr>
              <a:t>批准</a:t>
            </a:r>
            <a:r>
              <a:rPr lang="zh-CN" altLang="zh-CN" dirty="0">
                <a:solidFill>
                  <a:schemeClr val="bg1"/>
                </a:solidFill>
                <a:latin typeface="微软雅黑" panose="020B0503020204020204" pitchFamily="34" charset="-122"/>
                <a:ea typeface="微软雅黑" panose="020B0503020204020204" pitchFamily="34" charset="-122"/>
              </a:rPr>
              <a:t>后，除了小编辑修正，不允许其他修改。提交中央秘书处作为国际标准发布</a:t>
            </a:r>
          </a:p>
        </p:txBody>
      </p:sp>
    </p:spTree>
    <p:extLst>
      <p:ext uri="{BB962C8B-B14F-4D97-AF65-F5344CB8AC3E}">
        <p14:creationId xmlns:p14="http://schemas.microsoft.com/office/powerpoint/2010/main" val="18711096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等腰三角形 6"/>
          <p:cNvSpPr>
            <a:spLocks noChangeArrowheads="1"/>
          </p:cNvSpPr>
          <p:nvPr/>
        </p:nvSpPr>
        <p:spPr bwMode="auto">
          <a:xfrm flipV="1">
            <a:off x="9783763" y="2325688"/>
            <a:ext cx="2008187" cy="1731962"/>
          </a:xfrm>
          <a:prstGeom prst="triangle">
            <a:avLst>
              <a:gd name="adj" fmla="val 50000"/>
            </a:avLst>
          </a:prstGeom>
          <a:noFill/>
          <a:ln w="38100">
            <a:solidFill>
              <a:srgbClr val="0498A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3314" name="等腰三角形 5"/>
          <p:cNvSpPr>
            <a:spLocks noChangeArrowheads="1"/>
          </p:cNvSpPr>
          <p:nvPr/>
        </p:nvSpPr>
        <p:spPr bwMode="auto">
          <a:xfrm flipV="1">
            <a:off x="6826250" y="1449388"/>
            <a:ext cx="4565650" cy="4514850"/>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3315" name="等腰三角形 7"/>
          <p:cNvSpPr>
            <a:spLocks noChangeArrowheads="1"/>
          </p:cNvSpPr>
          <p:nvPr/>
        </p:nvSpPr>
        <p:spPr bwMode="auto">
          <a:xfrm flipV="1">
            <a:off x="9036050" y="4508500"/>
            <a:ext cx="2555875" cy="2201863"/>
          </a:xfrm>
          <a:prstGeom prst="triangle">
            <a:avLst>
              <a:gd name="adj" fmla="val 50000"/>
            </a:avLst>
          </a:prstGeom>
          <a:noFill/>
          <a:ln w="12700">
            <a:solidFill>
              <a:srgbClr val="B2AD4E"/>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13316" name="图片 4"/>
          <p:cNvPicPr>
            <a:picLocks noChangeAspect="1" noChangeArrowheads="1"/>
          </p:cNvPicPr>
          <p:nvPr/>
        </p:nvPicPr>
        <p:blipFill>
          <a:blip r:embed="rId2">
            <a:extLst>
              <a:ext uri="{28A0092B-C50C-407E-A947-70E740481C1C}">
                <a14:useLocalDpi xmlns:a14="http://schemas.microsoft.com/office/drawing/2010/main" val="0"/>
              </a:ext>
            </a:extLst>
          </a:blip>
          <a:srcRect l="15926" t="4375" r="32281"/>
          <a:stretch>
            <a:fillRect/>
          </a:stretch>
        </p:blipFill>
        <p:spPr bwMode="auto">
          <a:xfrm>
            <a:off x="6610350" y="0"/>
            <a:ext cx="55816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文本框 8"/>
          <p:cNvSpPr>
            <a:spLocks noChangeArrowheads="1"/>
          </p:cNvSpPr>
          <p:nvPr/>
        </p:nvSpPr>
        <p:spPr bwMode="auto">
          <a:xfrm>
            <a:off x="8636000" y="1543050"/>
            <a:ext cx="2555875" cy="377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3900">
                <a:solidFill>
                  <a:schemeClr val="bg1"/>
                </a:solidFill>
                <a:latin typeface="方正兰亭粗黑_GBK" panose="02000000000000000000" pitchFamily="2" charset="-122"/>
                <a:ea typeface="方正兰亭粗黑_GBK" panose="02000000000000000000" pitchFamily="2" charset="-122"/>
                <a:sym typeface="经典繁毛楷" pitchFamily="1" charset="-122"/>
              </a:rPr>
              <a:t>3</a:t>
            </a:r>
            <a:endParaRPr lang="zh-CN" altLang="en-US" sz="23900">
              <a:solidFill>
                <a:schemeClr val="bg1"/>
              </a:solidFill>
              <a:latin typeface="方正兰亭粗黑_GBK" panose="02000000000000000000" pitchFamily="2" charset="-122"/>
              <a:ea typeface="方正兰亭粗黑_GBK" panose="02000000000000000000" pitchFamily="2" charset="-122"/>
              <a:sym typeface="经典繁毛楷" pitchFamily="1" charset="-122"/>
            </a:endParaRPr>
          </a:p>
        </p:txBody>
      </p:sp>
      <p:grpSp>
        <p:nvGrpSpPr>
          <p:cNvPr id="13318" name="组合 19"/>
          <p:cNvGrpSpPr>
            <a:grpSpLocks/>
          </p:cNvGrpSpPr>
          <p:nvPr/>
        </p:nvGrpSpPr>
        <p:grpSpPr bwMode="auto">
          <a:xfrm>
            <a:off x="630238" y="2397125"/>
            <a:ext cx="5795962" cy="2063751"/>
            <a:chOff x="0" y="0"/>
            <a:chExt cx="5795831" cy="2063386"/>
          </a:xfrm>
        </p:grpSpPr>
        <p:sp>
          <p:nvSpPr>
            <p:cNvPr id="13319" name="直接连接符 10"/>
            <p:cNvSpPr>
              <a:spLocks noChangeShapeType="1"/>
            </p:cNvSpPr>
            <p:nvPr/>
          </p:nvSpPr>
          <p:spPr bwMode="auto">
            <a:xfrm>
              <a:off x="400050" y="0"/>
              <a:ext cx="4981666" cy="1"/>
            </a:xfrm>
            <a:prstGeom prst="line">
              <a:avLst/>
            </a:prstGeom>
            <a:noFill/>
            <a:ln w="6350">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0" name="文本框 14"/>
            <p:cNvSpPr>
              <a:spLocks noChangeArrowheads="1"/>
            </p:cNvSpPr>
            <p:nvPr/>
          </p:nvSpPr>
          <p:spPr bwMode="auto">
            <a:xfrm>
              <a:off x="0" y="663126"/>
              <a:ext cx="5795831" cy="769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zh-CN" altLang="en-US" sz="4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标准分类</a:t>
              </a:r>
              <a:endParaRPr lang="zh-CN" altLang="en-US" sz="4400" dirty="0">
                <a:ea typeface="宋体" panose="02010600030101010101" pitchFamily="2" charset="-122"/>
              </a:endParaRPr>
            </a:p>
          </p:txBody>
        </p:sp>
        <p:sp>
          <p:nvSpPr>
            <p:cNvPr id="13321" name="直接连接符 17"/>
            <p:cNvSpPr>
              <a:spLocks noChangeShapeType="1"/>
            </p:cNvSpPr>
            <p:nvPr/>
          </p:nvSpPr>
          <p:spPr bwMode="auto">
            <a:xfrm>
              <a:off x="400050" y="2063385"/>
              <a:ext cx="4981666" cy="1"/>
            </a:xfrm>
            <a:prstGeom prst="line">
              <a:avLst/>
            </a:prstGeom>
            <a:noFill/>
            <a:ln w="6350">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7" name="组合 5"/>
          <p:cNvGrpSpPr>
            <a:grpSpLocks/>
          </p:cNvGrpSpPr>
          <p:nvPr/>
        </p:nvGrpSpPr>
        <p:grpSpPr bwMode="auto">
          <a:xfrm>
            <a:off x="0" y="-41275"/>
            <a:ext cx="6669088" cy="1303338"/>
            <a:chOff x="0" y="0"/>
            <a:chExt cx="6669552" cy="1304243"/>
          </a:xfrm>
        </p:grpSpPr>
        <p:sp>
          <p:nvSpPr>
            <p:cNvPr id="9218" name="等腰三角形 6"/>
            <p:cNvSpPr>
              <a:spLocks noChangeArrowheads="1"/>
            </p:cNvSpPr>
            <p:nvPr/>
          </p:nvSpPr>
          <p:spPr bwMode="auto">
            <a:xfrm flipV="1">
              <a:off x="7496" y="261610"/>
              <a:ext cx="832662" cy="823414"/>
            </a:xfrm>
            <a:prstGeom prst="triangle">
              <a:avLst>
                <a:gd name="adj" fmla="val 50000"/>
              </a:avLst>
            </a:prstGeom>
            <a:noFill/>
            <a:ln w="5715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2A555B"/>
                </a:solidFill>
                <a:latin typeface="等线" panose="02010600030101010101" pitchFamily="2" charset="-122"/>
                <a:sym typeface="等线" panose="02010600030101010101" pitchFamily="2" charset="-122"/>
              </a:endParaRPr>
            </a:p>
          </p:txBody>
        </p:sp>
        <p:sp>
          <p:nvSpPr>
            <p:cNvPr id="9219" name="等腰三角形 7"/>
            <p:cNvSpPr>
              <a:spLocks noChangeArrowheads="1"/>
            </p:cNvSpPr>
            <p:nvPr/>
          </p:nvSpPr>
          <p:spPr bwMode="auto">
            <a:xfrm flipV="1">
              <a:off x="278685" y="480829"/>
              <a:ext cx="832662" cy="823414"/>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9220" name="图片 8"/>
            <p:cNvPicPr>
              <a:picLocks noChangeAspect="1" noChangeArrowheads="1"/>
            </p:cNvPicPr>
            <p:nvPr/>
          </p:nvPicPr>
          <p:blipFill>
            <a:blip r:embed="rId2">
              <a:extLst>
                <a:ext uri="{28A0092B-C50C-407E-A947-70E740481C1C}">
                  <a14:useLocalDpi xmlns:a14="http://schemas.microsoft.com/office/drawing/2010/main" val="0"/>
                </a:ext>
              </a:extLst>
            </a:blip>
            <a:srcRect l="28754" t="50206" r="23984"/>
            <a:stretch>
              <a:fillRect/>
            </a:stretch>
          </p:blipFill>
          <p:spPr bwMode="auto">
            <a:xfrm>
              <a:off x="0" y="0"/>
              <a:ext cx="1799771" cy="126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文本框 9"/>
            <p:cNvSpPr>
              <a:spLocks noChangeArrowheads="1"/>
            </p:cNvSpPr>
            <p:nvPr/>
          </p:nvSpPr>
          <p:spPr bwMode="auto">
            <a:xfrm>
              <a:off x="1807267" y="203737"/>
              <a:ext cx="48622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800" smtClean="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主要体系标准</a:t>
              </a:r>
              <a:endParaRPr lang="zh-CN" altLang="en-US" dirty="0">
                <a:ea typeface="宋体" panose="02010600030101010101" pitchFamily="2" charset="-122"/>
              </a:endParaRPr>
            </a:p>
          </p:txBody>
        </p:sp>
        <p:sp>
          <p:nvSpPr>
            <p:cNvPr id="9222" name="文本框 10"/>
            <p:cNvSpPr>
              <a:spLocks noChangeArrowheads="1"/>
            </p:cNvSpPr>
            <p:nvPr/>
          </p:nvSpPr>
          <p:spPr bwMode="auto">
            <a:xfrm>
              <a:off x="596997" y="109585"/>
              <a:ext cx="8326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02</a:t>
              </a:r>
              <a:endParaRPr lang="zh-CN" altLang="en-US"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pic>
        <p:nvPicPr>
          <p:cNvPr id="9223" name="图片 11"/>
          <p:cNvPicPr>
            <a:picLocks noChangeAspect="1" noChangeArrowheads="1"/>
          </p:cNvPicPr>
          <p:nvPr/>
        </p:nvPicPr>
        <p:blipFill>
          <a:blip r:embed="rId3">
            <a:extLst>
              <a:ext uri="{28A0092B-C50C-407E-A947-70E740481C1C}">
                <a14:useLocalDpi xmlns:a14="http://schemas.microsoft.com/office/drawing/2010/main" val="0"/>
              </a:ext>
            </a:extLst>
          </a:blip>
          <a:srcRect t="16125" r="50000" b="21051"/>
          <a:stretch>
            <a:fillRect/>
          </a:stretch>
        </p:blipFill>
        <p:spPr bwMode="auto">
          <a:xfrm>
            <a:off x="9356725" y="1400175"/>
            <a:ext cx="28352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224" name="组合 39"/>
          <p:cNvGrpSpPr>
            <a:grpSpLocks/>
          </p:cNvGrpSpPr>
          <p:nvPr/>
        </p:nvGrpSpPr>
        <p:grpSpPr bwMode="auto">
          <a:xfrm>
            <a:off x="901700" y="1082675"/>
            <a:ext cx="10388600" cy="3257467"/>
            <a:chOff x="0" y="0"/>
            <a:chExt cx="10387851" cy="3257588"/>
          </a:xfrm>
        </p:grpSpPr>
        <p:pic>
          <p:nvPicPr>
            <p:cNvPr id="9225" name="图表 1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
              <a:ext cx="3893265" cy="256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6" name="图表 1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7293" y="1"/>
              <a:ext cx="3893265" cy="256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7" name="图表 1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94586" y="0"/>
              <a:ext cx="3893265" cy="256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8" name="椭圆 19"/>
            <p:cNvSpPr>
              <a:spLocks noChangeArrowheads="1"/>
            </p:cNvSpPr>
            <p:nvPr/>
          </p:nvSpPr>
          <p:spPr bwMode="auto">
            <a:xfrm>
              <a:off x="718004" y="58056"/>
              <a:ext cx="2457256" cy="2457256"/>
            </a:xfrm>
            <a:prstGeom prst="ellipse">
              <a:avLst/>
            </a:prstGeom>
            <a:noFill/>
            <a:ln w="12700">
              <a:solidFill>
                <a:srgbClr val="A5A5A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9229" name="椭圆 20"/>
            <p:cNvSpPr>
              <a:spLocks noChangeArrowheads="1"/>
            </p:cNvSpPr>
            <p:nvPr/>
          </p:nvSpPr>
          <p:spPr bwMode="auto">
            <a:xfrm>
              <a:off x="1209207" y="532105"/>
              <a:ext cx="1474850" cy="1474850"/>
            </a:xfrm>
            <a:prstGeom prst="ellipse">
              <a:avLst/>
            </a:prstGeom>
            <a:noFill/>
            <a:ln w="12700">
              <a:solidFill>
                <a:srgbClr val="A5A5A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9230" name="椭圆 21"/>
            <p:cNvSpPr>
              <a:spLocks noChangeArrowheads="1"/>
            </p:cNvSpPr>
            <p:nvPr/>
          </p:nvSpPr>
          <p:spPr bwMode="auto">
            <a:xfrm>
              <a:off x="3962552" y="58056"/>
              <a:ext cx="2457256" cy="2457256"/>
            </a:xfrm>
            <a:prstGeom prst="ellipse">
              <a:avLst/>
            </a:prstGeom>
            <a:noFill/>
            <a:ln w="12700">
              <a:solidFill>
                <a:srgbClr val="A5A5A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9231" name="椭圆 22"/>
            <p:cNvSpPr>
              <a:spLocks noChangeArrowheads="1"/>
            </p:cNvSpPr>
            <p:nvPr/>
          </p:nvSpPr>
          <p:spPr bwMode="auto">
            <a:xfrm>
              <a:off x="4453755" y="532105"/>
              <a:ext cx="1474850" cy="1474850"/>
            </a:xfrm>
            <a:prstGeom prst="ellipse">
              <a:avLst/>
            </a:prstGeom>
            <a:noFill/>
            <a:ln w="12700">
              <a:solidFill>
                <a:srgbClr val="A5A5A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9232" name="椭圆 23"/>
            <p:cNvSpPr>
              <a:spLocks noChangeArrowheads="1"/>
            </p:cNvSpPr>
            <p:nvPr/>
          </p:nvSpPr>
          <p:spPr bwMode="auto">
            <a:xfrm>
              <a:off x="7209845" y="58056"/>
              <a:ext cx="2457256" cy="2457256"/>
            </a:xfrm>
            <a:prstGeom prst="ellipse">
              <a:avLst/>
            </a:prstGeom>
            <a:noFill/>
            <a:ln w="12700">
              <a:solidFill>
                <a:srgbClr val="A5A5A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9233" name="椭圆 24"/>
            <p:cNvSpPr>
              <a:spLocks noChangeArrowheads="1"/>
            </p:cNvSpPr>
            <p:nvPr/>
          </p:nvSpPr>
          <p:spPr bwMode="auto">
            <a:xfrm>
              <a:off x="7701048" y="532105"/>
              <a:ext cx="1474850" cy="1474850"/>
            </a:xfrm>
            <a:prstGeom prst="ellipse">
              <a:avLst/>
            </a:prstGeom>
            <a:noFill/>
            <a:ln w="12700">
              <a:solidFill>
                <a:srgbClr val="A5A5A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9234" name="图片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6131" y="829996"/>
              <a:ext cx="625407" cy="449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5" name="文本框 26"/>
            <p:cNvSpPr>
              <a:spLocks noChangeArrowheads="1"/>
            </p:cNvSpPr>
            <p:nvPr/>
          </p:nvSpPr>
          <p:spPr bwMode="auto">
            <a:xfrm>
              <a:off x="1436707" y="1362785"/>
              <a:ext cx="9642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00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60%</a:t>
              </a:r>
              <a:endParaRPr lang="zh-CN" altLang="en-US" sz="200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pic>
          <p:nvPicPr>
            <p:cNvPr id="9236" name="图片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5320" y="829996"/>
              <a:ext cx="520041" cy="532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7" name="文本框 28"/>
            <p:cNvSpPr>
              <a:spLocks noChangeArrowheads="1"/>
            </p:cNvSpPr>
            <p:nvPr/>
          </p:nvSpPr>
          <p:spPr bwMode="auto">
            <a:xfrm>
              <a:off x="4727044" y="1362785"/>
              <a:ext cx="9642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00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80%</a:t>
              </a:r>
              <a:endParaRPr lang="zh-CN" altLang="en-US" sz="200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pic>
          <p:nvPicPr>
            <p:cNvPr id="9238" name="图片 31"/>
            <p:cNvPicPr>
              <a:picLocks noChangeAspect="1" noChangeArrowheads="1"/>
            </p:cNvPicPr>
            <p:nvPr/>
          </p:nvPicPr>
          <p:blipFill>
            <a:blip r:embed="rId9">
              <a:lum bright="-100000"/>
              <a:extLst>
                <a:ext uri="{28A0092B-C50C-407E-A947-70E740481C1C}">
                  <a14:useLocalDpi xmlns:a14="http://schemas.microsoft.com/office/drawing/2010/main" val="0"/>
                </a:ext>
              </a:extLst>
            </a:blip>
            <a:srcRect/>
            <a:stretch>
              <a:fillRect/>
            </a:stretch>
          </p:blipFill>
          <p:spPr bwMode="auto">
            <a:xfrm>
              <a:off x="8191021" y="829996"/>
              <a:ext cx="533908" cy="532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9" name="文本框 32"/>
            <p:cNvSpPr>
              <a:spLocks noChangeArrowheads="1"/>
            </p:cNvSpPr>
            <p:nvPr/>
          </p:nvSpPr>
          <p:spPr bwMode="auto">
            <a:xfrm>
              <a:off x="7975848" y="1362785"/>
              <a:ext cx="9642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00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70%</a:t>
              </a:r>
              <a:endParaRPr lang="zh-CN" altLang="en-US" sz="200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9240" name="文本框 33"/>
            <p:cNvSpPr>
              <a:spLocks noChangeArrowheads="1"/>
            </p:cNvSpPr>
            <p:nvPr/>
          </p:nvSpPr>
          <p:spPr bwMode="auto">
            <a:xfrm>
              <a:off x="820042" y="2795923"/>
              <a:ext cx="23096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400" dirty="0" smtClean="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ISO9000</a:t>
              </a:r>
              <a:endParaRPr lang="zh-CN" altLang="en-US" sz="2400" dirty="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9241" name="文本框 34"/>
            <p:cNvSpPr>
              <a:spLocks noChangeArrowheads="1"/>
            </p:cNvSpPr>
            <p:nvPr/>
          </p:nvSpPr>
          <p:spPr bwMode="auto">
            <a:xfrm>
              <a:off x="4051836" y="2795923"/>
              <a:ext cx="23096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400" dirty="0" smtClean="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ISO9001</a:t>
              </a:r>
              <a:endParaRPr lang="zh-CN" altLang="en-US" sz="2400" dirty="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9242" name="文本框 35"/>
            <p:cNvSpPr>
              <a:spLocks noChangeArrowheads="1"/>
            </p:cNvSpPr>
            <p:nvPr/>
          </p:nvSpPr>
          <p:spPr bwMode="auto">
            <a:xfrm>
              <a:off x="7283631" y="2795923"/>
              <a:ext cx="23096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400" dirty="0" smtClean="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ISO9004</a:t>
              </a:r>
              <a:endParaRPr lang="zh-CN" altLang="en-US" sz="2400" dirty="0">
                <a:solidFill>
                  <a:srgbClr val="000000"/>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7" name="组合 4"/>
          <p:cNvGrpSpPr>
            <a:grpSpLocks/>
          </p:cNvGrpSpPr>
          <p:nvPr/>
        </p:nvGrpSpPr>
        <p:grpSpPr bwMode="auto">
          <a:xfrm>
            <a:off x="0" y="-41275"/>
            <a:ext cx="1799646" cy="1303338"/>
            <a:chOff x="0" y="0"/>
            <a:chExt cx="1799771" cy="1304243"/>
          </a:xfrm>
        </p:grpSpPr>
        <p:sp>
          <p:nvSpPr>
            <p:cNvPr id="14338" name="等腰三角形 5"/>
            <p:cNvSpPr>
              <a:spLocks noChangeArrowheads="1"/>
            </p:cNvSpPr>
            <p:nvPr/>
          </p:nvSpPr>
          <p:spPr bwMode="auto">
            <a:xfrm flipV="1">
              <a:off x="7496" y="261610"/>
              <a:ext cx="832662" cy="823414"/>
            </a:xfrm>
            <a:prstGeom prst="triangle">
              <a:avLst>
                <a:gd name="adj" fmla="val 50000"/>
              </a:avLst>
            </a:prstGeom>
            <a:noFill/>
            <a:ln w="5715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2A555B"/>
                </a:solidFill>
                <a:latin typeface="等线" panose="02010600030101010101" pitchFamily="2" charset="-122"/>
                <a:sym typeface="等线" panose="02010600030101010101" pitchFamily="2" charset="-122"/>
              </a:endParaRPr>
            </a:p>
          </p:txBody>
        </p:sp>
        <p:sp>
          <p:nvSpPr>
            <p:cNvPr id="14339" name="等腰三角形 6"/>
            <p:cNvSpPr>
              <a:spLocks noChangeArrowheads="1"/>
            </p:cNvSpPr>
            <p:nvPr/>
          </p:nvSpPr>
          <p:spPr bwMode="auto">
            <a:xfrm flipV="1">
              <a:off x="278685" y="480829"/>
              <a:ext cx="832662" cy="823414"/>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14340" name="图片 7"/>
            <p:cNvPicPr>
              <a:picLocks noChangeAspect="1" noChangeArrowheads="1"/>
            </p:cNvPicPr>
            <p:nvPr/>
          </p:nvPicPr>
          <p:blipFill>
            <a:blip r:embed="rId2">
              <a:extLst>
                <a:ext uri="{28A0092B-C50C-407E-A947-70E740481C1C}">
                  <a14:useLocalDpi xmlns:a14="http://schemas.microsoft.com/office/drawing/2010/main" val="0"/>
                </a:ext>
              </a:extLst>
            </a:blip>
            <a:srcRect l="28754" t="50206" r="23984"/>
            <a:stretch>
              <a:fillRect/>
            </a:stretch>
          </p:blipFill>
          <p:spPr bwMode="auto">
            <a:xfrm>
              <a:off x="0" y="0"/>
              <a:ext cx="1799771" cy="126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文本框 9"/>
            <p:cNvSpPr>
              <a:spLocks noChangeArrowheads="1"/>
            </p:cNvSpPr>
            <p:nvPr/>
          </p:nvSpPr>
          <p:spPr bwMode="auto">
            <a:xfrm>
              <a:off x="596997" y="109585"/>
              <a:ext cx="8326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03</a:t>
              </a:r>
              <a:endParaRPr lang="zh-CN" altLang="en-US"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pic>
        <p:nvPicPr>
          <p:cNvPr id="14343" name="图片 10"/>
          <p:cNvPicPr>
            <a:picLocks noChangeAspect="1" noChangeArrowheads="1"/>
          </p:cNvPicPr>
          <p:nvPr/>
        </p:nvPicPr>
        <p:blipFill>
          <a:blip r:embed="rId3">
            <a:extLst>
              <a:ext uri="{28A0092B-C50C-407E-A947-70E740481C1C}">
                <a14:useLocalDpi xmlns:a14="http://schemas.microsoft.com/office/drawing/2010/main" val="0"/>
              </a:ext>
            </a:extLst>
          </a:blip>
          <a:srcRect t="16125" r="50000" b="21051"/>
          <a:stretch>
            <a:fillRect/>
          </a:stretch>
        </p:blipFill>
        <p:spPr bwMode="auto">
          <a:xfrm>
            <a:off x="9356725" y="1400175"/>
            <a:ext cx="28352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https://gss0.bdstatic.com/94o3dSag_xI4khGkpoWK1HF6hhy/baike/c0%3Dbaike150%2C5%2C5%2C150%2C50/sign=2e1f3e06d0160924c828aa49b56e5e9f/1f178a82b9014a906ee11feda9773912b21bee87.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27449" y="162321"/>
            <a:ext cx="4551153" cy="597338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3857106" y="6488668"/>
            <a:ext cx="3291840" cy="369332"/>
          </a:xfrm>
          <a:prstGeom prst="rect">
            <a:avLst/>
          </a:prstGeom>
          <a:noFill/>
        </p:spPr>
        <p:txBody>
          <a:bodyPr wrap="square" rtlCol="0">
            <a:spAutoFit/>
          </a:bodyPr>
          <a:lstStyle/>
          <a:p>
            <a:r>
              <a:rPr lang="en-US" altLang="zh-CN" dirty="0" smtClean="0"/>
              <a:t>ISO9001-2000</a:t>
            </a:r>
            <a:r>
              <a:rPr lang="zh-CN" altLang="en-US" dirty="0" smtClean="0"/>
              <a:t>认证证书示例</a:t>
            </a:r>
            <a:endParaRPr lang="zh-CN" alt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09" name="组合 2"/>
          <p:cNvGrpSpPr>
            <a:grpSpLocks/>
          </p:cNvGrpSpPr>
          <p:nvPr/>
        </p:nvGrpSpPr>
        <p:grpSpPr bwMode="auto">
          <a:xfrm>
            <a:off x="0" y="-41275"/>
            <a:ext cx="6669088" cy="1303338"/>
            <a:chOff x="0" y="0"/>
            <a:chExt cx="6669552" cy="1304243"/>
          </a:xfrm>
        </p:grpSpPr>
        <p:sp>
          <p:nvSpPr>
            <p:cNvPr id="17410" name="等腰三角形 3"/>
            <p:cNvSpPr>
              <a:spLocks noChangeArrowheads="1"/>
            </p:cNvSpPr>
            <p:nvPr/>
          </p:nvSpPr>
          <p:spPr bwMode="auto">
            <a:xfrm flipV="1">
              <a:off x="7496" y="261610"/>
              <a:ext cx="832662" cy="823414"/>
            </a:xfrm>
            <a:prstGeom prst="triangle">
              <a:avLst>
                <a:gd name="adj" fmla="val 50000"/>
              </a:avLst>
            </a:prstGeom>
            <a:noFill/>
            <a:ln w="5715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2A555B"/>
                </a:solidFill>
                <a:latin typeface="等线" panose="02010600030101010101" pitchFamily="2" charset="-122"/>
                <a:sym typeface="等线" panose="02010600030101010101" pitchFamily="2" charset="-122"/>
              </a:endParaRPr>
            </a:p>
          </p:txBody>
        </p:sp>
        <p:sp>
          <p:nvSpPr>
            <p:cNvPr id="17411" name="等腰三角形 4"/>
            <p:cNvSpPr>
              <a:spLocks noChangeArrowheads="1"/>
            </p:cNvSpPr>
            <p:nvPr/>
          </p:nvSpPr>
          <p:spPr bwMode="auto">
            <a:xfrm flipV="1">
              <a:off x="278685" y="480829"/>
              <a:ext cx="832662" cy="823414"/>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17412" name="图片 5"/>
            <p:cNvPicPr>
              <a:picLocks noChangeAspect="1" noChangeArrowheads="1"/>
            </p:cNvPicPr>
            <p:nvPr/>
          </p:nvPicPr>
          <p:blipFill>
            <a:blip r:embed="rId2">
              <a:extLst>
                <a:ext uri="{28A0092B-C50C-407E-A947-70E740481C1C}">
                  <a14:useLocalDpi xmlns:a14="http://schemas.microsoft.com/office/drawing/2010/main" val="0"/>
                </a:ext>
              </a:extLst>
            </a:blip>
            <a:srcRect l="28754" t="50206" r="23984"/>
            <a:stretch>
              <a:fillRect/>
            </a:stretch>
          </p:blipFill>
          <p:spPr bwMode="auto">
            <a:xfrm>
              <a:off x="0" y="0"/>
              <a:ext cx="1799771" cy="126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文本框 6"/>
            <p:cNvSpPr>
              <a:spLocks noChangeArrowheads="1"/>
            </p:cNvSpPr>
            <p:nvPr/>
          </p:nvSpPr>
          <p:spPr bwMode="auto">
            <a:xfrm>
              <a:off x="1807267" y="203737"/>
              <a:ext cx="48622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800" dirty="0" smtClean="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标准分类</a:t>
              </a:r>
              <a:endParaRPr lang="zh-CN" altLang="en-US" dirty="0">
                <a:ea typeface="宋体" panose="02010600030101010101" pitchFamily="2" charset="-122"/>
              </a:endParaRPr>
            </a:p>
          </p:txBody>
        </p:sp>
        <p:sp>
          <p:nvSpPr>
            <p:cNvPr id="17414" name="文本框 7"/>
            <p:cNvSpPr>
              <a:spLocks noChangeArrowheads="1"/>
            </p:cNvSpPr>
            <p:nvPr/>
          </p:nvSpPr>
          <p:spPr bwMode="auto">
            <a:xfrm>
              <a:off x="596997" y="109585"/>
              <a:ext cx="8326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03</a:t>
              </a:r>
              <a:endParaRPr lang="zh-CN" altLang="en-US"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pic>
        <p:nvPicPr>
          <p:cNvPr id="17415" name="图片 8"/>
          <p:cNvPicPr>
            <a:picLocks noChangeAspect="1" noChangeArrowheads="1"/>
          </p:cNvPicPr>
          <p:nvPr/>
        </p:nvPicPr>
        <p:blipFill>
          <a:blip r:embed="rId3">
            <a:extLst>
              <a:ext uri="{28A0092B-C50C-407E-A947-70E740481C1C}">
                <a14:useLocalDpi xmlns:a14="http://schemas.microsoft.com/office/drawing/2010/main" val="0"/>
              </a:ext>
            </a:extLst>
          </a:blip>
          <a:srcRect t="16125" r="50000" b="21051"/>
          <a:stretch>
            <a:fillRect/>
          </a:stretch>
        </p:blipFill>
        <p:spPr bwMode="auto">
          <a:xfrm>
            <a:off x="9356725" y="1400175"/>
            <a:ext cx="28352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矩形 9"/>
          <p:cNvSpPr>
            <a:spLocks noChangeArrowheads="1"/>
          </p:cNvSpPr>
          <p:nvPr/>
        </p:nvSpPr>
        <p:spPr bwMode="auto">
          <a:xfrm>
            <a:off x="1192213" y="1736725"/>
            <a:ext cx="679450" cy="949325"/>
          </a:xfrm>
          <a:prstGeom prst="rect">
            <a:avLst/>
          </a:prstGeom>
          <a:solidFill>
            <a:srgbClr val="2A555B"/>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7417" name="矩形 10"/>
          <p:cNvSpPr>
            <a:spLocks noChangeArrowheads="1"/>
          </p:cNvSpPr>
          <p:nvPr/>
        </p:nvSpPr>
        <p:spPr bwMode="auto">
          <a:xfrm>
            <a:off x="1189038" y="3089275"/>
            <a:ext cx="679450" cy="949325"/>
          </a:xfrm>
          <a:prstGeom prst="rect">
            <a:avLst/>
          </a:prstGeom>
          <a:solidFill>
            <a:srgbClr val="2A555B"/>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7418" name="矩形 11"/>
          <p:cNvSpPr>
            <a:spLocks noChangeArrowheads="1"/>
          </p:cNvSpPr>
          <p:nvPr/>
        </p:nvSpPr>
        <p:spPr bwMode="auto">
          <a:xfrm>
            <a:off x="1181100" y="4441825"/>
            <a:ext cx="679450" cy="949325"/>
          </a:xfrm>
          <a:prstGeom prst="rect">
            <a:avLst/>
          </a:prstGeom>
          <a:solidFill>
            <a:srgbClr val="2A555B"/>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7419" name="椭圆 12"/>
          <p:cNvSpPr>
            <a:spLocks noChangeArrowheads="1"/>
          </p:cNvSpPr>
          <p:nvPr/>
        </p:nvSpPr>
        <p:spPr bwMode="auto">
          <a:xfrm>
            <a:off x="6491288" y="2686050"/>
            <a:ext cx="1217612" cy="1217613"/>
          </a:xfrm>
          <a:prstGeom prst="ellipse">
            <a:avLst/>
          </a:prstGeom>
          <a:solidFill>
            <a:srgbClr val="2A555B"/>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7420" name="椭圆 14"/>
          <p:cNvSpPr>
            <a:spLocks noChangeArrowheads="1"/>
          </p:cNvSpPr>
          <p:nvPr/>
        </p:nvSpPr>
        <p:spPr bwMode="auto">
          <a:xfrm>
            <a:off x="7261225" y="2112963"/>
            <a:ext cx="1146175" cy="1146175"/>
          </a:xfrm>
          <a:prstGeom prst="ellipse">
            <a:avLst/>
          </a:prstGeom>
          <a:solidFill>
            <a:srgbClr val="707029"/>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7421" name="椭圆 15"/>
          <p:cNvSpPr>
            <a:spLocks noChangeArrowheads="1"/>
          </p:cNvSpPr>
          <p:nvPr/>
        </p:nvSpPr>
        <p:spPr bwMode="auto">
          <a:xfrm>
            <a:off x="9261475" y="2459038"/>
            <a:ext cx="1444625" cy="1444625"/>
          </a:xfrm>
          <a:prstGeom prst="ellipse">
            <a:avLst/>
          </a:prstGeom>
          <a:solidFill>
            <a:srgbClr val="3A3838"/>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7422" name="椭圆 16"/>
          <p:cNvSpPr>
            <a:spLocks noChangeArrowheads="1"/>
          </p:cNvSpPr>
          <p:nvPr/>
        </p:nvSpPr>
        <p:spPr bwMode="auto">
          <a:xfrm>
            <a:off x="10372725" y="1957388"/>
            <a:ext cx="1173163" cy="1174750"/>
          </a:xfrm>
          <a:prstGeom prst="ellipse">
            <a:avLst/>
          </a:prstGeom>
          <a:solidFill>
            <a:srgbClr val="42BAC8"/>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7423" name="椭圆 17"/>
          <p:cNvSpPr>
            <a:spLocks noChangeArrowheads="1"/>
          </p:cNvSpPr>
          <p:nvPr/>
        </p:nvSpPr>
        <p:spPr bwMode="auto">
          <a:xfrm>
            <a:off x="9959975" y="3594100"/>
            <a:ext cx="1203325" cy="1203325"/>
          </a:xfrm>
          <a:prstGeom prst="ellipse">
            <a:avLst/>
          </a:prstGeom>
          <a:solidFill>
            <a:srgbClr val="222A35"/>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7424" name="椭圆 13"/>
          <p:cNvSpPr>
            <a:spLocks noChangeArrowheads="1"/>
          </p:cNvSpPr>
          <p:nvPr/>
        </p:nvSpPr>
        <p:spPr bwMode="auto">
          <a:xfrm>
            <a:off x="7834313" y="2678113"/>
            <a:ext cx="1817687" cy="1817687"/>
          </a:xfrm>
          <a:prstGeom prst="ellipse">
            <a:avLst/>
          </a:prstGeom>
          <a:solidFill>
            <a:srgbClr val="0498A5"/>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7425" name="矩形 19"/>
          <p:cNvSpPr>
            <a:spLocks noChangeArrowheads="1"/>
          </p:cNvSpPr>
          <p:nvPr/>
        </p:nvSpPr>
        <p:spPr bwMode="auto">
          <a:xfrm>
            <a:off x="1187450" y="2306638"/>
            <a:ext cx="679450" cy="379412"/>
          </a:xfrm>
          <a:prstGeom prst="rect">
            <a:avLst/>
          </a:prstGeom>
          <a:solidFill>
            <a:srgbClr val="222A35"/>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7426" name="矩形 20"/>
          <p:cNvSpPr>
            <a:spLocks noChangeArrowheads="1"/>
          </p:cNvSpPr>
          <p:nvPr/>
        </p:nvSpPr>
        <p:spPr bwMode="auto">
          <a:xfrm>
            <a:off x="1187450" y="3659188"/>
            <a:ext cx="679450" cy="379412"/>
          </a:xfrm>
          <a:prstGeom prst="rect">
            <a:avLst/>
          </a:prstGeom>
          <a:solidFill>
            <a:srgbClr val="222A35"/>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7427" name="矩形 21"/>
          <p:cNvSpPr>
            <a:spLocks noChangeArrowheads="1"/>
          </p:cNvSpPr>
          <p:nvPr/>
        </p:nvSpPr>
        <p:spPr bwMode="auto">
          <a:xfrm>
            <a:off x="1181100" y="5013325"/>
            <a:ext cx="679450" cy="381000"/>
          </a:xfrm>
          <a:prstGeom prst="rect">
            <a:avLst/>
          </a:prstGeom>
          <a:solidFill>
            <a:srgbClr val="222A35"/>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7428" name="直接连接符 23"/>
          <p:cNvSpPr>
            <a:spLocks noChangeShapeType="1"/>
          </p:cNvSpPr>
          <p:nvPr/>
        </p:nvSpPr>
        <p:spPr bwMode="auto">
          <a:xfrm>
            <a:off x="1187450" y="2876550"/>
            <a:ext cx="5027613" cy="0"/>
          </a:xfrm>
          <a:prstGeom prst="line">
            <a:avLst/>
          </a:prstGeom>
          <a:noFill/>
          <a:ln w="6350">
            <a:solidFill>
              <a:srgbClr val="A5A5A5"/>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9" name="直接连接符 24"/>
          <p:cNvSpPr>
            <a:spLocks noChangeShapeType="1"/>
          </p:cNvSpPr>
          <p:nvPr/>
        </p:nvSpPr>
        <p:spPr bwMode="auto">
          <a:xfrm>
            <a:off x="1187450" y="4202113"/>
            <a:ext cx="5027613" cy="0"/>
          </a:xfrm>
          <a:prstGeom prst="line">
            <a:avLst/>
          </a:prstGeom>
          <a:noFill/>
          <a:ln w="6350">
            <a:solidFill>
              <a:srgbClr val="A5A5A5"/>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3" name="文本框 28"/>
          <p:cNvSpPr>
            <a:spLocks noChangeArrowheads="1"/>
          </p:cNvSpPr>
          <p:nvPr/>
        </p:nvSpPr>
        <p:spPr bwMode="auto">
          <a:xfrm>
            <a:off x="1198563" y="1758950"/>
            <a:ext cx="666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800" dirty="0" smtClean="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rPr>
              <a:t>01</a:t>
            </a:r>
            <a:endParaRPr lang="zh-CN" altLang="en-US" sz="2800" dirty="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7434" name="文本框 29"/>
          <p:cNvSpPr>
            <a:spLocks noChangeArrowheads="1"/>
          </p:cNvSpPr>
          <p:nvPr/>
        </p:nvSpPr>
        <p:spPr bwMode="auto">
          <a:xfrm>
            <a:off x="1195388" y="3121025"/>
            <a:ext cx="666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800" dirty="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rPr>
              <a:t>0</a:t>
            </a:r>
            <a:r>
              <a:rPr lang="en-US" altLang="zh-CN" sz="2800" dirty="0" smtClean="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rPr>
              <a:t>2</a:t>
            </a:r>
            <a:endParaRPr lang="zh-CN" altLang="en-US" sz="2800" dirty="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7435" name="文本框 30"/>
          <p:cNvSpPr>
            <a:spLocks noChangeArrowheads="1"/>
          </p:cNvSpPr>
          <p:nvPr/>
        </p:nvSpPr>
        <p:spPr bwMode="auto">
          <a:xfrm>
            <a:off x="1185863" y="4492625"/>
            <a:ext cx="666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800" dirty="0" smtClean="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rPr>
              <a:t>03</a:t>
            </a:r>
            <a:endParaRPr lang="zh-CN" altLang="en-US" sz="2800" dirty="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7436" name="文本框 31"/>
          <p:cNvSpPr>
            <a:spLocks noChangeArrowheads="1"/>
          </p:cNvSpPr>
          <p:nvPr/>
        </p:nvSpPr>
        <p:spPr bwMode="auto">
          <a:xfrm>
            <a:off x="1892300" y="1400175"/>
            <a:ext cx="4413250" cy="1530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en-US" altLang="zh-CN" sz="1600" dirty="0"/>
              <a:t>ISO9000</a:t>
            </a:r>
            <a:r>
              <a:rPr lang="zh-CN" altLang="en-US" sz="1600" dirty="0"/>
              <a:t>质量体系标准包括了</a:t>
            </a:r>
            <a:r>
              <a:rPr lang="en-US" altLang="zh-CN" sz="1600" dirty="0"/>
              <a:t>3</a:t>
            </a:r>
            <a:r>
              <a:rPr lang="zh-CN" altLang="en-US" sz="1600" dirty="0"/>
              <a:t>个体系标准和</a:t>
            </a:r>
            <a:r>
              <a:rPr lang="en-US" altLang="zh-CN" sz="1600" dirty="0"/>
              <a:t>8</a:t>
            </a:r>
            <a:r>
              <a:rPr lang="zh-CN" altLang="en-US" sz="1600" dirty="0"/>
              <a:t>条指导方针。</a:t>
            </a:r>
            <a:r>
              <a:rPr lang="en-US" altLang="zh-CN" sz="1600" dirty="0"/>
              <a:t>3</a:t>
            </a:r>
            <a:r>
              <a:rPr lang="zh-CN" altLang="en-US" sz="1600" dirty="0"/>
              <a:t>个体系标准分别是</a:t>
            </a:r>
            <a:r>
              <a:rPr lang="en-US" altLang="zh-CN" sz="1600" dirty="0"/>
              <a:t>ISO9001</a:t>
            </a:r>
            <a:r>
              <a:rPr lang="zh-CN" altLang="en-US" sz="1600" dirty="0"/>
              <a:t>、</a:t>
            </a:r>
            <a:r>
              <a:rPr lang="en-US" altLang="zh-CN" sz="1600" dirty="0"/>
              <a:t>9002</a:t>
            </a:r>
            <a:r>
              <a:rPr lang="zh-CN" altLang="en-US" sz="1600" dirty="0"/>
              <a:t>和</a:t>
            </a:r>
            <a:r>
              <a:rPr lang="en-US" altLang="zh-CN" sz="1600" dirty="0"/>
              <a:t>9003</a:t>
            </a:r>
            <a:r>
              <a:rPr lang="zh-CN" altLang="en-US" sz="1600" dirty="0"/>
              <a:t>；</a:t>
            </a:r>
            <a:r>
              <a:rPr lang="en-US" altLang="zh-CN" sz="1600" dirty="0"/>
              <a:t>8</a:t>
            </a:r>
            <a:r>
              <a:rPr lang="zh-CN" altLang="en-US" sz="1600" dirty="0"/>
              <a:t>个指导方针是</a:t>
            </a:r>
            <a:r>
              <a:rPr lang="en-US" altLang="zh-CN" sz="1600" dirty="0"/>
              <a:t>ISO9000-1</a:t>
            </a:r>
            <a:r>
              <a:rPr lang="zh-CN" altLang="en-US" sz="1600" dirty="0"/>
              <a:t>至</a:t>
            </a:r>
            <a:r>
              <a:rPr lang="en-US" altLang="zh-CN" sz="1600" dirty="0"/>
              <a:t>4</a:t>
            </a:r>
            <a:r>
              <a:rPr lang="zh-CN" altLang="en-US" sz="1600" dirty="0"/>
              <a:t>和</a:t>
            </a:r>
            <a:r>
              <a:rPr lang="en-US" altLang="zh-CN" sz="1600" dirty="0"/>
              <a:t>ISO9004-1</a:t>
            </a:r>
            <a:r>
              <a:rPr lang="zh-CN" altLang="en-US" sz="1600" dirty="0"/>
              <a:t>至</a:t>
            </a:r>
            <a:r>
              <a:rPr lang="en-US" altLang="zh-CN" sz="1600" dirty="0"/>
              <a:t>4</a:t>
            </a:r>
            <a:r>
              <a:rPr lang="zh-CN" altLang="en-US" sz="1600" dirty="0"/>
              <a:t>。</a:t>
            </a:r>
            <a:endParaRPr lang="zh-CN" altLang="en-US" sz="1600" dirty="0">
              <a:solidFill>
                <a:srgbClr val="000000"/>
              </a:solidFill>
              <a:latin typeface="等线" panose="02010600030101010101" pitchFamily="2" charset="-122"/>
              <a:sym typeface="等线" panose="02010600030101010101" pitchFamily="2" charset="-122"/>
            </a:endParaRPr>
          </a:p>
        </p:txBody>
      </p:sp>
      <p:sp>
        <p:nvSpPr>
          <p:cNvPr id="17437" name="文本框 32"/>
          <p:cNvSpPr>
            <a:spLocks noChangeArrowheads="1"/>
          </p:cNvSpPr>
          <p:nvPr/>
        </p:nvSpPr>
        <p:spPr bwMode="auto">
          <a:xfrm>
            <a:off x="1936750" y="2928938"/>
            <a:ext cx="44132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en-US" altLang="zh-CN" sz="1600" dirty="0" smtClean="0"/>
              <a:t>ISO9000</a:t>
            </a:r>
            <a:r>
              <a:rPr lang="zh-CN" altLang="en-US" sz="1600" dirty="0" smtClean="0"/>
              <a:t>认证需要</a:t>
            </a:r>
            <a:r>
              <a:rPr lang="zh-CN" altLang="en-US" sz="1600" dirty="0"/>
              <a:t>一个同</a:t>
            </a:r>
            <a:r>
              <a:rPr lang="en-US" altLang="zh-CN" sz="1600" dirty="0"/>
              <a:t>ISO9001</a:t>
            </a:r>
            <a:r>
              <a:rPr lang="zh-CN" altLang="en-US" sz="1600" dirty="0"/>
              <a:t>相一致的正在运行的质量体系，由注册团体所作的成功且独立的评估</a:t>
            </a:r>
            <a:endParaRPr lang="zh-CN" altLang="en-US" sz="1600" dirty="0">
              <a:solidFill>
                <a:srgbClr val="000000"/>
              </a:solidFill>
              <a:latin typeface="等线" panose="02010600030101010101" pitchFamily="2" charset="-122"/>
              <a:sym typeface="等线" panose="02010600030101010101" pitchFamily="2" charset="-122"/>
            </a:endParaRPr>
          </a:p>
        </p:txBody>
      </p:sp>
      <p:sp>
        <p:nvSpPr>
          <p:cNvPr id="17438" name="文本框 33"/>
          <p:cNvSpPr>
            <a:spLocks noChangeArrowheads="1"/>
          </p:cNvSpPr>
          <p:nvPr/>
        </p:nvSpPr>
        <p:spPr bwMode="auto">
          <a:xfrm>
            <a:off x="1924050" y="4273550"/>
            <a:ext cx="4413250" cy="190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en-US" altLang="zh-CN" sz="1600" dirty="0"/>
              <a:t>ISO9000</a:t>
            </a:r>
            <a:r>
              <a:rPr lang="zh-CN" altLang="en-US" sz="1600" dirty="0"/>
              <a:t>系列</a:t>
            </a:r>
            <a:r>
              <a:rPr lang="en-US" altLang="zh-CN" sz="1600" dirty="0"/>
              <a:t>2000</a:t>
            </a:r>
            <a:r>
              <a:rPr lang="zh-CN" altLang="en-US" sz="1600" dirty="0"/>
              <a:t>版以后的版本，将</a:t>
            </a:r>
            <a:r>
              <a:rPr lang="en-US" altLang="zh-CN" sz="1600" dirty="0"/>
              <a:t>9002</a:t>
            </a:r>
            <a:r>
              <a:rPr lang="zh-CN" altLang="en-US" sz="1600" dirty="0"/>
              <a:t>和</a:t>
            </a:r>
            <a:r>
              <a:rPr lang="en-US" altLang="zh-CN" sz="1600" dirty="0"/>
              <a:t>9003</a:t>
            </a:r>
            <a:r>
              <a:rPr lang="zh-CN" altLang="en-US" sz="1600" dirty="0"/>
              <a:t>融合到</a:t>
            </a:r>
            <a:r>
              <a:rPr lang="en-US" altLang="zh-CN" sz="1600" dirty="0"/>
              <a:t>ISO9001:2000</a:t>
            </a:r>
            <a:r>
              <a:rPr lang="zh-CN" altLang="en-US" sz="1600" dirty="0"/>
              <a:t>标准中。所以用于认证的只有</a:t>
            </a:r>
            <a:r>
              <a:rPr lang="en-US" altLang="zh-CN" sz="1600" dirty="0"/>
              <a:t>ISO9001</a:t>
            </a:r>
            <a:r>
              <a:rPr lang="zh-CN" altLang="en-US" sz="1600" dirty="0"/>
              <a:t>，</a:t>
            </a:r>
            <a:r>
              <a:rPr lang="en-US" altLang="zh-CN" sz="1600" dirty="0"/>
              <a:t>ISO9002</a:t>
            </a:r>
            <a:r>
              <a:rPr lang="zh-CN" altLang="en-US" sz="1600" dirty="0"/>
              <a:t>和</a:t>
            </a:r>
            <a:r>
              <a:rPr lang="en-US" altLang="zh-CN" sz="1600" dirty="0"/>
              <a:t>ISO9003</a:t>
            </a:r>
            <a:r>
              <a:rPr lang="zh-CN" altLang="en-US" sz="1600" dirty="0"/>
              <a:t>已经退出历史舞台。</a:t>
            </a:r>
            <a:r>
              <a:rPr lang="en-US" altLang="zh-CN" sz="1600" dirty="0"/>
              <a:t>ISO9004</a:t>
            </a:r>
            <a:r>
              <a:rPr lang="zh-CN" altLang="en-US" sz="1600" dirty="0"/>
              <a:t>是业绩改进指南，不用于认证，只用于组织内部综合绩效改进指南。</a:t>
            </a:r>
            <a:endParaRPr lang="zh-CN" altLang="en-US" sz="1600" dirty="0">
              <a:solidFill>
                <a:srgbClr val="000000"/>
              </a:solidFill>
              <a:latin typeface="等线" panose="02010600030101010101" pitchFamily="2" charset="-122"/>
              <a:sym typeface="等线" panose="02010600030101010101" pitchFamily="2" charset="-122"/>
            </a:endParaRPr>
          </a:p>
        </p:txBody>
      </p:sp>
      <p:pic>
        <p:nvPicPr>
          <p:cNvPr id="17440" name="图片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9350" y="2351088"/>
            <a:ext cx="66992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42" name="图片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26600" y="2759075"/>
            <a:ext cx="715963"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43" name="图片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29900" y="2325688"/>
            <a:ext cx="658813"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7886700" cy="1325563"/>
          </a:xfrm>
        </p:spPr>
        <p:txBody>
          <a:bodyPr/>
          <a:lstStyle/>
          <a:p>
            <a:r>
              <a:rPr lang="en-US" altLang="zh-CN" dirty="0" smtClean="0">
                <a:solidFill>
                  <a:schemeClr val="bg1"/>
                </a:solidFill>
                <a:latin typeface="方正兰亭黑_YS_GB18030" panose="03000502000000000000" pitchFamily="66" charset="-122"/>
                <a:ea typeface="方正兰亭黑_YS_GB18030" panose="03000502000000000000" pitchFamily="66" charset="-122"/>
              </a:rPr>
              <a:t>ISO9000</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系列标准包括什么？</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2152651" y="2101396"/>
            <a:ext cx="7528379" cy="3980090"/>
          </a:xfrm>
        </p:spPr>
        <p:txBody>
          <a:bodyPr/>
          <a:lstStyle/>
          <a:p>
            <a:pPr>
              <a:buClr>
                <a:srgbClr val="BFEF74"/>
              </a:buClr>
              <a:buFont typeface="Wingdings" panose="05000000000000000000" pitchFamily="2" charset="2"/>
              <a:buChar char="u"/>
            </a:pPr>
            <a:r>
              <a:rPr lang="en-US" altLang="zh-CN" dirty="0" smtClean="0">
                <a:solidFill>
                  <a:schemeClr val="bg1"/>
                </a:solidFill>
                <a:latin typeface="微软雅黑" panose="020B0503020204020204" pitchFamily="34" charset="-122"/>
                <a:ea typeface="微软雅黑" panose="020B0503020204020204" pitchFamily="34" charset="-122"/>
              </a:rPr>
              <a:t>ISO9000</a:t>
            </a:r>
            <a:r>
              <a:rPr lang="zh-CN" altLang="en-US" dirty="0">
                <a:solidFill>
                  <a:schemeClr val="bg1"/>
                </a:solidFill>
                <a:latin typeface="微软雅黑" panose="020B0503020204020204" pitchFamily="34" charset="-122"/>
                <a:ea typeface="微软雅黑" panose="020B0503020204020204" pitchFamily="34" charset="-122"/>
              </a:rPr>
              <a:t>质量管理体系（基础和</a:t>
            </a:r>
            <a:r>
              <a:rPr lang="zh-CN" altLang="en-US" dirty="0" smtClean="0">
                <a:solidFill>
                  <a:schemeClr val="bg1"/>
                </a:solidFill>
                <a:latin typeface="微软雅黑" panose="020B0503020204020204" pitchFamily="34" charset="-122"/>
                <a:ea typeface="微软雅黑" panose="020B0503020204020204" pitchFamily="34" charset="-122"/>
              </a:rPr>
              <a:t>术语）</a:t>
            </a:r>
            <a:endParaRPr lang="en-US" altLang="zh-CN" dirty="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en-US" altLang="zh-CN" dirty="0" smtClean="0">
                <a:solidFill>
                  <a:schemeClr val="bg1"/>
                </a:solidFill>
                <a:latin typeface="微软雅黑" panose="020B0503020204020204" pitchFamily="34" charset="-122"/>
                <a:ea typeface="微软雅黑" panose="020B0503020204020204" pitchFamily="34" charset="-122"/>
              </a:rPr>
              <a:t>ISO9001</a:t>
            </a:r>
            <a:r>
              <a:rPr lang="zh-CN" altLang="en-US" dirty="0">
                <a:solidFill>
                  <a:schemeClr val="bg1"/>
                </a:solidFill>
                <a:latin typeface="微软雅黑" panose="020B0503020204020204" pitchFamily="34" charset="-122"/>
                <a:ea typeface="微软雅黑" panose="020B0503020204020204" pitchFamily="34" charset="-122"/>
              </a:rPr>
              <a:t>质量管理体系（要求</a:t>
            </a:r>
            <a:r>
              <a:rPr lang="zh-CN" altLang="en-US"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en-US" altLang="zh-CN" dirty="0" smtClean="0">
                <a:solidFill>
                  <a:schemeClr val="bg1"/>
                </a:solidFill>
                <a:latin typeface="微软雅黑" panose="020B0503020204020204" pitchFamily="34" charset="-122"/>
                <a:ea typeface="微软雅黑" panose="020B0503020204020204" pitchFamily="34" charset="-122"/>
              </a:rPr>
              <a:t>ISO9004</a:t>
            </a:r>
            <a:r>
              <a:rPr lang="zh-CN" altLang="en-US" dirty="0">
                <a:solidFill>
                  <a:schemeClr val="bg1"/>
                </a:solidFill>
                <a:latin typeface="微软雅黑" panose="020B0503020204020204" pitchFamily="34" charset="-122"/>
                <a:ea typeface="微软雅黑" panose="020B0503020204020204" pitchFamily="34" charset="-122"/>
              </a:rPr>
              <a:t>质量管理体系（业绩改进指南</a:t>
            </a:r>
            <a:r>
              <a:rPr lang="zh-CN" altLang="en-US"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en-US" altLang="zh-CN" dirty="0" smtClean="0">
                <a:solidFill>
                  <a:schemeClr val="bg1"/>
                </a:solidFill>
                <a:latin typeface="微软雅黑" panose="020B0503020204020204" pitchFamily="34" charset="-122"/>
                <a:ea typeface="微软雅黑" panose="020B0503020204020204" pitchFamily="34" charset="-122"/>
              </a:rPr>
              <a:t>ISO9011</a:t>
            </a:r>
            <a:r>
              <a:rPr lang="zh-CN" altLang="en-US" dirty="0">
                <a:solidFill>
                  <a:schemeClr val="bg1"/>
                </a:solidFill>
                <a:latin typeface="微软雅黑" panose="020B0503020204020204" pitchFamily="34" charset="-122"/>
                <a:ea typeface="微软雅黑" panose="020B0503020204020204" pitchFamily="34" charset="-122"/>
              </a:rPr>
              <a:t>质量和环境审核</a:t>
            </a:r>
            <a:r>
              <a:rPr lang="zh-CN" altLang="en-US" dirty="0" smtClean="0">
                <a:solidFill>
                  <a:schemeClr val="bg1"/>
                </a:solidFill>
                <a:latin typeface="微软雅黑" panose="020B0503020204020204" pitchFamily="34" charset="-122"/>
                <a:ea typeface="微软雅黑" panose="020B0503020204020204" pitchFamily="34" charset="-122"/>
              </a:rPr>
              <a:t>指南</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en-US" altLang="zh-CN" dirty="0" smtClean="0">
                <a:solidFill>
                  <a:schemeClr val="bg1"/>
                </a:solidFill>
                <a:latin typeface="微软雅黑" panose="020B0503020204020204" pitchFamily="34" charset="-122"/>
                <a:ea typeface="微软雅黑" panose="020B0503020204020204" pitchFamily="34" charset="-122"/>
              </a:rPr>
              <a:t>ISO10012</a:t>
            </a:r>
            <a:r>
              <a:rPr lang="zh-CN" altLang="en-US" dirty="0">
                <a:solidFill>
                  <a:schemeClr val="bg1"/>
                </a:solidFill>
                <a:latin typeface="微软雅黑" panose="020B0503020204020204" pitchFamily="34" charset="-122"/>
                <a:ea typeface="微软雅黑" panose="020B0503020204020204" pitchFamily="34" charset="-122"/>
              </a:rPr>
              <a:t>测量</a:t>
            </a:r>
            <a:r>
              <a:rPr lang="zh-CN" altLang="en-US" dirty="0" smtClean="0">
                <a:solidFill>
                  <a:schemeClr val="bg1"/>
                </a:solidFill>
                <a:latin typeface="微软雅黑" panose="020B0503020204020204" pitchFamily="34" charset="-122"/>
                <a:ea typeface="微软雅黑" panose="020B0503020204020204" pitchFamily="34" charset="-122"/>
              </a:rPr>
              <a:t>控制系统</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0" indent="0">
              <a:buClr>
                <a:srgbClr val="BFEF74"/>
              </a:buClr>
              <a:buNone/>
            </a:pP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其中</a:t>
            </a:r>
            <a:r>
              <a:rPr lang="en-US" altLang="zh-CN" dirty="0">
                <a:solidFill>
                  <a:schemeClr val="bg1"/>
                </a:solidFill>
                <a:latin typeface="微软雅黑" panose="020B0503020204020204" pitchFamily="34" charset="-122"/>
                <a:ea typeface="微软雅黑" panose="020B0503020204020204" pitchFamily="34" charset="-122"/>
              </a:rPr>
              <a:t>ISO9001</a:t>
            </a:r>
            <a:r>
              <a:rPr lang="zh-CN" altLang="en-US" dirty="0">
                <a:solidFill>
                  <a:schemeClr val="bg1"/>
                </a:solidFill>
                <a:latin typeface="微软雅黑" panose="020B0503020204020204" pitchFamily="34" charset="-122"/>
                <a:ea typeface="微软雅黑" panose="020B0503020204020204" pitchFamily="34" charset="-122"/>
              </a:rPr>
              <a:t>和</a:t>
            </a:r>
            <a:r>
              <a:rPr lang="en-US" altLang="zh-CN" dirty="0">
                <a:solidFill>
                  <a:schemeClr val="bg1"/>
                </a:solidFill>
                <a:latin typeface="微软雅黑" panose="020B0503020204020204" pitchFamily="34" charset="-122"/>
                <a:ea typeface="微软雅黑" panose="020B0503020204020204" pitchFamily="34" charset="-122"/>
              </a:rPr>
              <a:t>ISO9004</a:t>
            </a:r>
            <a:r>
              <a:rPr lang="zh-CN" altLang="en-US" dirty="0">
                <a:solidFill>
                  <a:schemeClr val="bg1"/>
                </a:solidFill>
                <a:latin typeface="微软雅黑" panose="020B0503020204020204" pitchFamily="34" charset="-122"/>
                <a:ea typeface="微软雅黑" panose="020B0503020204020204" pitchFamily="34" charset="-122"/>
              </a:rPr>
              <a:t>是其核心。</a:t>
            </a: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2260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7886700"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什么是</a:t>
            </a:r>
            <a:r>
              <a:rPr lang="en-US" altLang="zh-CN" dirty="0">
                <a:solidFill>
                  <a:schemeClr val="bg1"/>
                </a:solidFill>
                <a:latin typeface="冬青黑体简体中文 W3" panose="020B0300000000000000" pitchFamily="34" charset="-122"/>
                <a:ea typeface="冬青黑体简体中文 W3" panose="020B0300000000000000" pitchFamily="34" charset="-122"/>
              </a:rPr>
              <a:t>QMS</a:t>
            </a:r>
            <a:r>
              <a:rPr lang="en-US" altLang="zh-CN" dirty="0" smtClean="0">
                <a:solidFill>
                  <a:schemeClr val="bg1"/>
                </a:solidFill>
                <a:latin typeface="方正兰亭黑_YS_GB18030" panose="03000502000000000000" pitchFamily="66" charset="-122"/>
                <a:ea typeface="方正兰亭黑_YS_GB18030" panose="03000502000000000000" pitchFamily="66" charset="-122"/>
              </a:rPr>
              <a:t>?(1)</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pic>
        <p:nvPicPr>
          <p:cNvPr id="1026" name="Picture 2" descr="http://www.swapnaconsultancy.com/images/What-is-ISO-90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0865" y="1925199"/>
            <a:ext cx="7700165" cy="439242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4299116" y="6430567"/>
            <a:ext cx="3620443" cy="369332"/>
          </a:xfrm>
          <a:prstGeom prst="rect">
            <a:avLst/>
          </a:prstGeom>
          <a:noFill/>
        </p:spPr>
        <p:txBody>
          <a:bodyPr wrap="square" rtlCol="0">
            <a:spAutoFit/>
          </a:bodyPr>
          <a:lstStyle/>
          <a:p>
            <a:pPr fontAlgn="auto">
              <a:spcBef>
                <a:spcPts val="0"/>
              </a:spcBef>
              <a:spcAft>
                <a:spcPts val="0"/>
              </a:spcAft>
            </a:pPr>
            <a:r>
              <a:rPr lang="en-US" altLang="zh-CN" dirty="0">
                <a:solidFill>
                  <a:prstClr val="white"/>
                </a:solidFill>
                <a:latin typeface="微软雅黑" panose="020B0503020204020204" pitchFamily="34" charset="-122"/>
                <a:ea typeface="微软雅黑" panose="020B0503020204020204" pitchFamily="34" charset="-122"/>
                <a:cs typeface="+mn-cs"/>
              </a:rPr>
              <a:t>Figure1:QMS</a:t>
            </a:r>
            <a:r>
              <a:rPr lang="zh-CN" altLang="en-US" dirty="0">
                <a:solidFill>
                  <a:prstClr val="white"/>
                </a:solidFill>
                <a:latin typeface="微软雅黑" panose="020B0503020204020204" pitchFamily="34" charset="-122"/>
                <a:ea typeface="微软雅黑" panose="020B0503020204020204" pitchFamily="34" charset="-122"/>
                <a:cs typeface="+mn-cs"/>
              </a:rPr>
              <a:t>概念模型</a:t>
            </a:r>
          </a:p>
        </p:txBody>
      </p:sp>
    </p:spTree>
    <p:extLst>
      <p:ext uri="{BB962C8B-B14F-4D97-AF65-F5344CB8AC3E}">
        <p14:creationId xmlns:p14="http://schemas.microsoft.com/office/powerpoint/2010/main" val="48337199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7886700"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什么是</a:t>
            </a:r>
            <a:r>
              <a:rPr lang="en-US" altLang="zh-CN" dirty="0" smtClean="0">
                <a:solidFill>
                  <a:schemeClr val="bg1"/>
                </a:solidFill>
                <a:latin typeface="冬青黑体简体中文 W3" panose="020B0300000000000000" pitchFamily="34" charset="-122"/>
                <a:ea typeface="冬青黑体简体中文 W3" panose="020B0300000000000000" pitchFamily="34" charset="-122"/>
              </a:rPr>
              <a:t>QMS</a:t>
            </a:r>
            <a:r>
              <a:rPr lang="en-US" altLang="zh-CN" dirty="0" smtClean="0">
                <a:solidFill>
                  <a:schemeClr val="bg1"/>
                </a:solidFill>
                <a:latin typeface="方正兰亭黑_YS_GB18030" panose="03000502000000000000" pitchFamily="66" charset="-122"/>
                <a:ea typeface="方正兰亭黑_YS_GB18030" panose="03000502000000000000" pitchFamily="66" charset="-122"/>
              </a:rPr>
              <a:t>?(2)</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pic>
        <p:nvPicPr>
          <p:cNvPr id="5" name="图片 4" descr="fig_1"/>
          <p:cNvPicPr/>
          <p:nvPr/>
        </p:nvPicPr>
        <p:blipFill>
          <a:blip r:embed="rId3">
            <a:extLst>
              <a:ext uri="{28A0092B-C50C-407E-A947-70E740481C1C}">
                <a14:useLocalDpi xmlns:a14="http://schemas.microsoft.com/office/drawing/2010/main" val="0"/>
              </a:ext>
            </a:extLst>
          </a:blip>
          <a:srcRect/>
          <a:stretch>
            <a:fillRect/>
          </a:stretch>
        </p:blipFill>
        <p:spPr bwMode="auto">
          <a:xfrm>
            <a:off x="2429078" y="2048382"/>
            <a:ext cx="7581900" cy="4347377"/>
          </a:xfrm>
          <a:prstGeom prst="rect">
            <a:avLst/>
          </a:prstGeom>
          <a:noFill/>
          <a:ln>
            <a:noFill/>
          </a:ln>
        </p:spPr>
      </p:pic>
      <p:sp>
        <p:nvSpPr>
          <p:cNvPr id="3" name="文本框 2"/>
          <p:cNvSpPr txBox="1"/>
          <p:nvPr/>
        </p:nvSpPr>
        <p:spPr>
          <a:xfrm>
            <a:off x="4663620" y="6434259"/>
            <a:ext cx="3609523" cy="369332"/>
          </a:xfrm>
          <a:prstGeom prst="rect">
            <a:avLst/>
          </a:prstGeom>
          <a:noFill/>
        </p:spPr>
        <p:txBody>
          <a:bodyPr wrap="square" rtlCol="0">
            <a:spAutoFit/>
          </a:bodyPr>
          <a:lstStyle/>
          <a:p>
            <a:pPr fontAlgn="auto">
              <a:spcBef>
                <a:spcPts val="0"/>
              </a:spcBef>
              <a:spcAft>
                <a:spcPts val="0"/>
              </a:spcAft>
            </a:pPr>
            <a:r>
              <a:rPr lang="en-US" altLang="zh-CN" dirty="0">
                <a:solidFill>
                  <a:prstClr val="white"/>
                </a:solidFill>
                <a:latin typeface="微软雅黑" panose="020B0503020204020204" pitchFamily="34" charset="-122"/>
                <a:ea typeface="微软雅黑" panose="020B0503020204020204" pitchFamily="34" charset="-122"/>
                <a:cs typeface="+mn-cs"/>
              </a:rPr>
              <a:t>Figure2:</a:t>
            </a:r>
            <a:r>
              <a:rPr lang="zh-CN" altLang="en-US" dirty="0">
                <a:solidFill>
                  <a:prstClr val="white"/>
                </a:solidFill>
                <a:latin typeface="微软雅黑" panose="020B0503020204020204" pitchFamily="34" charset="-122"/>
                <a:ea typeface="微软雅黑" panose="020B0503020204020204" pitchFamily="34" charset="-122"/>
                <a:cs typeface="+mn-cs"/>
              </a:rPr>
              <a:t>单个进程的示意图</a:t>
            </a:r>
          </a:p>
        </p:txBody>
      </p:sp>
    </p:spTree>
    <p:extLst>
      <p:ext uri="{BB962C8B-B14F-4D97-AF65-F5344CB8AC3E}">
        <p14:creationId xmlns:p14="http://schemas.microsoft.com/office/powerpoint/2010/main" val="386979319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7886700" cy="1325563"/>
          </a:xfrm>
        </p:spPr>
        <p:txBody>
          <a:bodyPr/>
          <a:lstStyle/>
          <a:p>
            <a:r>
              <a:rPr lang="zh-CN" altLang="en-US" dirty="0">
                <a:solidFill>
                  <a:schemeClr val="bg1"/>
                </a:solidFill>
                <a:latin typeface="方正兰亭黑_YS_GB18030" panose="03000502000000000000" pitchFamily="66" charset="-122"/>
                <a:ea typeface="方正兰亭黑_YS_GB18030" panose="03000502000000000000" pitchFamily="66" charset="-122"/>
              </a:rPr>
              <a:t>什么</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是</a:t>
            </a:r>
            <a:r>
              <a:rPr lang="en-US" altLang="zh-CN" dirty="0">
                <a:solidFill>
                  <a:prstClr val="white"/>
                </a:solidFill>
                <a:latin typeface="冬青黑体简体中文 W3" panose="020B0300000000000000" pitchFamily="34" charset="-122"/>
                <a:ea typeface="冬青黑体简体中文 W3" panose="020B0300000000000000" pitchFamily="34" charset="-122"/>
              </a:rPr>
              <a:t>QMS</a:t>
            </a:r>
            <a:r>
              <a:rPr lang="en-US" altLang="zh-CN" dirty="0" smtClean="0">
                <a:solidFill>
                  <a:schemeClr val="bg1"/>
                </a:solidFill>
                <a:latin typeface="方正兰亭黑_YS_GB18030" panose="03000502000000000000" pitchFamily="66" charset="-122"/>
                <a:ea typeface="方正兰亭黑_YS_GB18030" panose="03000502000000000000" pitchFamily="66" charset="-122"/>
              </a:rPr>
              <a:t>?(2)</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2281247" y="2558596"/>
            <a:ext cx="7399782" cy="3110684"/>
          </a:xfrm>
        </p:spPr>
        <p:txBody>
          <a:bodyPr/>
          <a:lstStyle/>
          <a:p>
            <a:pPr>
              <a:buClr>
                <a:srgbClr val="BFEF74"/>
              </a:buClr>
              <a:buFont typeface="Wingdings" panose="05000000000000000000" pitchFamily="2" charset="2"/>
              <a:buChar char="u"/>
            </a:pPr>
            <a:r>
              <a:rPr lang="en-US" altLang="zh-CN" dirty="0">
                <a:solidFill>
                  <a:schemeClr val="bg1"/>
                </a:solidFill>
                <a:latin typeface="微软雅黑" panose="020B0503020204020204" pitchFamily="34" charset="-122"/>
                <a:ea typeface="微软雅黑" panose="020B0503020204020204" pitchFamily="34" charset="-122"/>
              </a:rPr>
              <a:t>Figure </a:t>
            </a:r>
            <a:r>
              <a:rPr lang="en-US" altLang="zh-CN" dirty="0" smtClean="0">
                <a:solidFill>
                  <a:schemeClr val="bg1"/>
                </a:solidFill>
                <a:latin typeface="微软雅黑" panose="020B0503020204020204" pitchFamily="34" charset="-122"/>
                <a:ea typeface="微软雅黑" panose="020B0503020204020204" pitchFamily="34" charset="-122"/>
              </a:rPr>
              <a:t>2</a:t>
            </a:r>
            <a:r>
              <a:rPr lang="en-US" altLang="zh-CN" dirty="0">
                <a:solidFill>
                  <a:schemeClr val="bg1"/>
                </a:solidFill>
                <a:latin typeface="微软雅黑" panose="020B0503020204020204" pitchFamily="34" charset="-122"/>
                <a:ea typeface="微软雅黑" panose="020B0503020204020204" pitchFamily="34" charset="-122"/>
              </a:rPr>
              <a:t> gives a schematic representation </a:t>
            </a:r>
            <a:r>
              <a:rPr lang="en-US" altLang="zh-CN" dirty="0" smtClean="0">
                <a:solidFill>
                  <a:schemeClr val="bg1"/>
                </a:solidFill>
                <a:latin typeface="微软雅黑" panose="020B0503020204020204" pitchFamily="34" charset="-122"/>
                <a:ea typeface="微软雅黑" panose="020B0503020204020204" pitchFamily="34" charset="-122"/>
              </a:rPr>
              <a:t>of any</a:t>
            </a:r>
            <a:r>
              <a:rPr lang="en-US" altLang="zh-CN" dirty="0" smtClean="0">
                <a:solidFill>
                  <a:schemeClr val="tx2">
                    <a:lumMod val="60000"/>
                    <a:lumOff val="40000"/>
                  </a:schemeClr>
                </a:solidFill>
                <a:latin typeface="微软雅黑" panose="020B0503020204020204" pitchFamily="34" charset="-122"/>
                <a:ea typeface="微软雅黑" panose="020B0503020204020204" pitchFamily="34" charset="-122"/>
              </a:rPr>
              <a:t> process </a:t>
            </a:r>
            <a:r>
              <a:rPr lang="en-US" altLang="zh-CN" dirty="0" smtClean="0">
                <a:solidFill>
                  <a:schemeClr val="bg1"/>
                </a:solidFill>
                <a:latin typeface="微软雅黑" panose="020B0503020204020204" pitchFamily="34" charset="-122"/>
                <a:ea typeface="微软雅黑" panose="020B0503020204020204" pitchFamily="34" charset="-122"/>
              </a:rPr>
              <a:t>and </a:t>
            </a:r>
            <a:r>
              <a:rPr lang="en-US" altLang="zh-CN" dirty="0">
                <a:solidFill>
                  <a:schemeClr val="bg1"/>
                </a:solidFill>
                <a:latin typeface="微软雅黑" panose="020B0503020204020204" pitchFamily="34" charset="-122"/>
                <a:ea typeface="微软雅黑" panose="020B0503020204020204" pitchFamily="34" charset="-122"/>
              </a:rPr>
              <a:t>shows the interaction of its </a:t>
            </a:r>
            <a:r>
              <a:rPr lang="en-US" altLang="zh-CN" dirty="0" smtClean="0">
                <a:solidFill>
                  <a:schemeClr val="bg1"/>
                </a:solidFill>
                <a:latin typeface="微软雅黑" panose="020B0503020204020204" pitchFamily="34" charset="-122"/>
                <a:ea typeface="微软雅黑" panose="020B0503020204020204" pitchFamily="34" charset="-122"/>
              </a:rPr>
              <a:t>elements</a:t>
            </a:r>
            <a:r>
              <a:rPr lang="en-US" altLang="zh-CN" dirty="0">
                <a:solidFill>
                  <a:schemeClr val="bg1"/>
                </a:solidFill>
                <a:latin typeface="微软雅黑" panose="020B0503020204020204" pitchFamily="34" charset="-122"/>
                <a:ea typeface="微软雅黑" panose="020B0503020204020204" pitchFamily="34" charset="-122"/>
              </a:rPr>
              <a:t>. The </a:t>
            </a:r>
            <a:r>
              <a:rPr lang="en-US" altLang="zh-CN" dirty="0">
                <a:solidFill>
                  <a:schemeClr val="tx2">
                    <a:lumMod val="60000"/>
                    <a:lumOff val="40000"/>
                  </a:schemeClr>
                </a:solidFill>
                <a:latin typeface="微软雅黑" panose="020B0503020204020204" pitchFamily="34" charset="-122"/>
                <a:ea typeface="微软雅黑" panose="020B0503020204020204" pitchFamily="34" charset="-122"/>
              </a:rPr>
              <a:t>monitoring and measuring check points</a:t>
            </a:r>
            <a:r>
              <a:rPr lang="en-US" altLang="zh-CN" dirty="0">
                <a:solidFill>
                  <a:schemeClr val="bg1"/>
                </a:solidFill>
                <a:latin typeface="微软雅黑" panose="020B0503020204020204" pitchFamily="34" charset="-122"/>
                <a:ea typeface="微软雅黑" panose="020B0503020204020204" pitchFamily="34" charset="-122"/>
              </a:rPr>
              <a:t>, which are </a:t>
            </a:r>
            <a:r>
              <a:rPr lang="en-US" altLang="zh-CN" dirty="0" smtClean="0">
                <a:solidFill>
                  <a:schemeClr val="bg1"/>
                </a:solidFill>
                <a:latin typeface="微软雅黑" panose="020B0503020204020204" pitchFamily="34" charset="-122"/>
                <a:ea typeface="微软雅黑" panose="020B0503020204020204" pitchFamily="34" charset="-122"/>
              </a:rPr>
              <a:t>necessary for </a:t>
            </a:r>
            <a:r>
              <a:rPr lang="en-US" altLang="zh-CN" dirty="0" smtClean="0">
                <a:solidFill>
                  <a:schemeClr val="tx2">
                    <a:lumMod val="60000"/>
                    <a:lumOff val="40000"/>
                  </a:schemeClr>
                </a:solidFill>
                <a:latin typeface="微软雅黑" panose="020B0503020204020204" pitchFamily="34" charset="-122"/>
                <a:ea typeface="微软雅黑" panose="020B0503020204020204" pitchFamily="34" charset="-122"/>
              </a:rPr>
              <a:t>control</a:t>
            </a:r>
            <a:r>
              <a:rPr lang="en-US" altLang="zh-CN" dirty="0" smtClean="0">
                <a:solidFill>
                  <a:schemeClr val="bg1"/>
                </a:solidFill>
                <a:latin typeface="微软雅黑" panose="020B0503020204020204" pitchFamily="34" charset="-122"/>
                <a:ea typeface="微软雅黑" panose="020B0503020204020204" pitchFamily="34" charset="-122"/>
              </a:rPr>
              <a:t>, </a:t>
            </a:r>
            <a:r>
              <a:rPr lang="en-US" altLang="zh-CN" dirty="0">
                <a:solidFill>
                  <a:schemeClr val="bg1"/>
                </a:solidFill>
                <a:latin typeface="微软雅黑" panose="020B0503020204020204" pitchFamily="34" charset="-122"/>
                <a:ea typeface="微软雅黑" panose="020B0503020204020204" pitchFamily="34" charset="-122"/>
              </a:rPr>
              <a:t>are specific to each process </a:t>
            </a:r>
            <a:r>
              <a:rPr lang="en-US" altLang="zh-CN" dirty="0" smtClean="0">
                <a:solidFill>
                  <a:schemeClr val="bg1"/>
                </a:solidFill>
                <a:latin typeface="微软雅黑" panose="020B0503020204020204" pitchFamily="34" charset="-122"/>
                <a:ea typeface="微软雅黑" panose="020B0503020204020204" pitchFamily="34" charset="-122"/>
              </a:rPr>
              <a:t>and </a:t>
            </a:r>
            <a:r>
              <a:rPr lang="en-US" altLang="zh-CN" dirty="0">
                <a:solidFill>
                  <a:schemeClr val="bg1"/>
                </a:solidFill>
                <a:latin typeface="微软雅黑" panose="020B0503020204020204" pitchFamily="34" charset="-122"/>
                <a:ea typeface="微软雅黑" panose="020B0503020204020204" pitchFamily="34" charset="-122"/>
              </a:rPr>
              <a:t>will vary depending on the related risks </a:t>
            </a:r>
            <a:r>
              <a:rPr lang="zh-CN" altLang="en-US" dirty="0" smtClean="0">
                <a:solidFill>
                  <a:schemeClr val="bg1"/>
                </a:solidFill>
                <a:latin typeface="微软雅黑" panose="020B0503020204020204" pitchFamily="34" charset="-122"/>
                <a:ea typeface="微软雅黑" panose="020B0503020204020204" pitchFamily="34" charset="-122"/>
              </a:rPr>
              <a:t>。</a:t>
            </a:r>
            <a:endParaRPr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819527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7886700"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什么是</a:t>
            </a:r>
            <a:r>
              <a:rPr lang="en-US" altLang="zh-CN" dirty="0">
                <a:solidFill>
                  <a:prstClr val="white"/>
                </a:solidFill>
                <a:latin typeface="冬青黑体简体中文 W3" panose="020B0300000000000000" pitchFamily="34" charset="-122"/>
                <a:ea typeface="冬青黑体简体中文 W3" panose="020B0300000000000000" pitchFamily="34" charset="-122"/>
              </a:rPr>
              <a:t>QMS</a:t>
            </a:r>
            <a:r>
              <a:rPr lang="en-US" altLang="zh-CN" dirty="0" smtClean="0">
                <a:solidFill>
                  <a:schemeClr val="bg1"/>
                </a:solidFill>
                <a:latin typeface="方正兰亭黑_YS_GB18030" panose="03000502000000000000" pitchFamily="66" charset="-122"/>
                <a:ea typeface="方正兰亭黑_YS_GB18030" panose="03000502000000000000" pitchFamily="66" charset="-122"/>
              </a:rPr>
              <a:t>?(3)</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pic>
        <p:nvPicPr>
          <p:cNvPr id="2050" name="Picture 2" descr="fig_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2359" y="1939681"/>
            <a:ext cx="6102260" cy="4384482"/>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4684127" y="6451585"/>
            <a:ext cx="3620443" cy="369332"/>
          </a:xfrm>
          <a:prstGeom prst="rect">
            <a:avLst/>
          </a:prstGeom>
          <a:noFill/>
        </p:spPr>
        <p:txBody>
          <a:bodyPr wrap="square" rtlCol="0">
            <a:spAutoFit/>
          </a:bodyPr>
          <a:lstStyle/>
          <a:p>
            <a:pPr fontAlgn="auto">
              <a:spcBef>
                <a:spcPts val="0"/>
              </a:spcBef>
              <a:spcAft>
                <a:spcPts val="0"/>
              </a:spcAft>
            </a:pPr>
            <a:r>
              <a:rPr lang="en-US" altLang="zh-CN" dirty="0">
                <a:solidFill>
                  <a:prstClr val="white"/>
                </a:solidFill>
                <a:latin typeface="微软雅黑" panose="020B0503020204020204" pitchFamily="34" charset="-122"/>
                <a:ea typeface="微软雅黑" panose="020B0503020204020204" pitchFamily="34" charset="-122"/>
                <a:cs typeface="+mn-cs"/>
              </a:rPr>
              <a:t>Figure3:PDCA</a:t>
            </a:r>
            <a:r>
              <a:rPr lang="zh-CN" altLang="en-US" dirty="0">
                <a:solidFill>
                  <a:prstClr val="white"/>
                </a:solidFill>
                <a:latin typeface="微软雅黑" panose="020B0503020204020204" pitchFamily="34" charset="-122"/>
                <a:ea typeface="微软雅黑" panose="020B0503020204020204" pitchFamily="34" charset="-122"/>
                <a:cs typeface="+mn-cs"/>
              </a:rPr>
              <a:t>循环结构</a:t>
            </a:r>
          </a:p>
        </p:txBody>
      </p:sp>
    </p:spTree>
    <p:extLst>
      <p:ext uri="{BB962C8B-B14F-4D97-AF65-F5344CB8AC3E}">
        <p14:creationId xmlns:p14="http://schemas.microsoft.com/office/powerpoint/2010/main" val="65855627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等腰三角形 6"/>
          <p:cNvSpPr>
            <a:spLocks noChangeArrowheads="1"/>
          </p:cNvSpPr>
          <p:nvPr/>
        </p:nvSpPr>
        <p:spPr bwMode="auto">
          <a:xfrm flipV="1">
            <a:off x="9783763" y="2325688"/>
            <a:ext cx="2008187" cy="1731962"/>
          </a:xfrm>
          <a:prstGeom prst="triangle">
            <a:avLst>
              <a:gd name="adj" fmla="val 50000"/>
            </a:avLst>
          </a:prstGeom>
          <a:noFill/>
          <a:ln w="38100">
            <a:solidFill>
              <a:srgbClr val="0498A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8434" name="等腰三角形 5"/>
          <p:cNvSpPr>
            <a:spLocks noChangeArrowheads="1"/>
          </p:cNvSpPr>
          <p:nvPr/>
        </p:nvSpPr>
        <p:spPr bwMode="auto">
          <a:xfrm flipV="1">
            <a:off x="6826250" y="1449388"/>
            <a:ext cx="4565650" cy="4514850"/>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8435" name="等腰三角形 7"/>
          <p:cNvSpPr>
            <a:spLocks noChangeArrowheads="1"/>
          </p:cNvSpPr>
          <p:nvPr/>
        </p:nvSpPr>
        <p:spPr bwMode="auto">
          <a:xfrm flipV="1">
            <a:off x="9036050" y="4508500"/>
            <a:ext cx="2555875" cy="2201863"/>
          </a:xfrm>
          <a:prstGeom prst="triangle">
            <a:avLst>
              <a:gd name="adj" fmla="val 50000"/>
            </a:avLst>
          </a:prstGeom>
          <a:noFill/>
          <a:ln w="12700">
            <a:solidFill>
              <a:srgbClr val="B2AD4E"/>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18436" name="图片 4"/>
          <p:cNvPicPr>
            <a:picLocks noChangeAspect="1" noChangeArrowheads="1"/>
          </p:cNvPicPr>
          <p:nvPr/>
        </p:nvPicPr>
        <p:blipFill>
          <a:blip r:embed="rId2">
            <a:extLst>
              <a:ext uri="{28A0092B-C50C-407E-A947-70E740481C1C}">
                <a14:useLocalDpi xmlns:a14="http://schemas.microsoft.com/office/drawing/2010/main" val="0"/>
              </a:ext>
            </a:extLst>
          </a:blip>
          <a:srcRect l="15926" t="4375" r="32281"/>
          <a:stretch>
            <a:fillRect/>
          </a:stretch>
        </p:blipFill>
        <p:spPr bwMode="auto">
          <a:xfrm>
            <a:off x="6610350" y="0"/>
            <a:ext cx="55816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文本框 8"/>
          <p:cNvSpPr>
            <a:spLocks noChangeArrowheads="1"/>
          </p:cNvSpPr>
          <p:nvPr/>
        </p:nvSpPr>
        <p:spPr bwMode="auto">
          <a:xfrm>
            <a:off x="8636000" y="1543050"/>
            <a:ext cx="2555875" cy="377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3900">
                <a:solidFill>
                  <a:schemeClr val="bg1"/>
                </a:solidFill>
                <a:latin typeface="方正兰亭粗黑_GBK" panose="02000000000000000000" pitchFamily="2" charset="-122"/>
                <a:ea typeface="方正兰亭粗黑_GBK" panose="02000000000000000000" pitchFamily="2" charset="-122"/>
                <a:sym typeface="经典繁毛楷" pitchFamily="1" charset="-122"/>
              </a:rPr>
              <a:t>4</a:t>
            </a:r>
            <a:endParaRPr lang="zh-CN" altLang="en-US" sz="23900">
              <a:solidFill>
                <a:schemeClr val="bg1"/>
              </a:solidFill>
              <a:latin typeface="方正兰亭粗黑_GBK" panose="02000000000000000000" pitchFamily="2" charset="-122"/>
              <a:ea typeface="方正兰亭粗黑_GBK" panose="02000000000000000000" pitchFamily="2" charset="-122"/>
              <a:sym typeface="经典繁毛楷" pitchFamily="1" charset="-122"/>
            </a:endParaRPr>
          </a:p>
        </p:txBody>
      </p:sp>
      <p:grpSp>
        <p:nvGrpSpPr>
          <p:cNvPr id="18438" name="组合 19"/>
          <p:cNvGrpSpPr>
            <a:grpSpLocks/>
          </p:cNvGrpSpPr>
          <p:nvPr/>
        </p:nvGrpSpPr>
        <p:grpSpPr bwMode="auto">
          <a:xfrm>
            <a:off x="614363" y="2397125"/>
            <a:ext cx="5795962" cy="2063751"/>
            <a:chOff x="-15875" y="0"/>
            <a:chExt cx="5795831" cy="2063386"/>
          </a:xfrm>
        </p:grpSpPr>
        <p:sp>
          <p:nvSpPr>
            <p:cNvPr id="18439" name="直接连接符 10"/>
            <p:cNvSpPr>
              <a:spLocks noChangeShapeType="1"/>
            </p:cNvSpPr>
            <p:nvPr/>
          </p:nvSpPr>
          <p:spPr bwMode="auto">
            <a:xfrm>
              <a:off x="400050" y="0"/>
              <a:ext cx="4981666" cy="1"/>
            </a:xfrm>
            <a:prstGeom prst="line">
              <a:avLst/>
            </a:prstGeom>
            <a:noFill/>
            <a:ln w="6350">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0" name="文本框 14"/>
            <p:cNvSpPr>
              <a:spLocks noChangeArrowheads="1"/>
            </p:cNvSpPr>
            <p:nvPr/>
          </p:nvSpPr>
          <p:spPr bwMode="auto">
            <a:xfrm>
              <a:off x="-15875" y="663126"/>
              <a:ext cx="5795831" cy="769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zh-CN" altLang="en-US" sz="4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质量体系认证</a:t>
              </a:r>
              <a:endParaRPr lang="zh-CN" altLang="en-US" sz="4400" dirty="0">
                <a:ea typeface="宋体" panose="02010600030101010101" pitchFamily="2" charset="-122"/>
              </a:endParaRPr>
            </a:p>
          </p:txBody>
        </p:sp>
        <p:sp>
          <p:nvSpPr>
            <p:cNvPr id="18441" name="直接连接符 17"/>
            <p:cNvSpPr>
              <a:spLocks noChangeShapeType="1"/>
            </p:cNvSpPr>
            <p:nvPr/>
          </p:nvSpPr>
          <p:spPr bwMode="auto">
            <a:xfrm>
              <a:off x="400050" y="2063385"/>
              <a:ext cx="4981666" cy="1"/>
            </a:xfrm>
            <a:prstGeom prst="line">
              <a:avLst/>
            </a:prstGeom>
            <a:noFill/>
            <a:ln w="6350">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7886700"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组织为什么需要</a:t>
            </a:r>
            <a:r>
              <a:rPr lang="en-US" altLang="zh-CN" dirty="0" smtClean="0">
                <a:solidFill>
                  <a:schemeClr val="bg1"/>
                </a:solidFill>
                <a:latin typeface="方正兰亭黑_YS_GB18030" panose="03000502000000000000" pitchFamily="66" charset="-122"/>
                <a:ea typeface="方正兰亭黑_YS_GB18030" panose="03000502000000000000" pitchFamily="66" charset="-122"/>
              </a:rPr>
              <a:t>ISO9000</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5737680" y="3137822"/>
            <a:ext cx="4117521" cy="2159893"/>
          </a:xfrm>
        </p:spPr>
        <p:txBody>
          <a:bodyPr>
            <a:noAutofit/>
          </a:bodyPr>
          <a:lstStyle/>
          <a:p>
            <a:pPr marL="0" indent="0">
              <a:buClr>
                <a:srgbClr val="BFEF74"/>
              </a:buClr>
              <a:buNone/>
            </a:pPr>
            <a:r>
              <a:rPr lang="zh-CN" altLang="en-US" sz="3600" dirty="0">
                <a:solidFill>
                  <a:schemeClr val="bg1"/>
                </a:solidFill>
                <a:latin typeface="微软雅黑" panose="020B0503020204020204" pitchFamily="34" charset="-122"/>
                <a:ea typeface="微软雅黑" panose="020B0503020204020204" pitchFamily="34" charset="-122"/>
              </a:rPr>
              <a:t>你怎么向企业或组织宣传</a:t>
            </a:r>
            <a:r>
              <a:rPr lang="en-US" altLang="zh-CN" sz="3600" dirty="0">
                <a:solidFill>
                  <a:schemeClr val="bg1"/>
                </a:solidFill>
                <a:latin typeface="微软雅黑" panose="020B0503020204020204" pitchFamily="34" charset="-122"/>
                <a:ea typeface="微软雅黑" panose="020B0503020204020204" pitchFamily="34" charset="-122"/>
              </a:rPr>
              <a:t>ISO9000</a:t>
            </a:r>
            <a:r>
              <a:rPr lang="zh-CN" altLang="en-US" sz="3600" dirty="0">
                <a:solidFill>
                  <a:schemeClr val="bg1"/>
                </a:solidFill>
                <a:latin typeface="微软雅黑" panose="020B0503020204020204" pitchFamily="34" charset="-122"/>
                <a:ea typeface="微软雅黑" panose="020B0503020204020204" pitchFamily="34" charset="-122"/>
              </a:rPr>
              <a:t>标准？他们为什么需要</a:t>
            </a:r>
            <a:r>
              <a:rPr lang="en-US" altLang="zh-CN" sz="3600" dirty="0">
                <a:solidFill>
                  <a:schemeClr val="bg1"/>
                </a:solidFill>
                <a:latin typeface="微软雅黑" panose="020B0503020204020204" pitchFamily="34" charset="-122"/>
                <a:ea typeface="微软雅黑" panose="020B0503020204020204" pitchFamily="34" charset="-122"/>
              </a:rPr>
              <a:t>ISO9000</a:t>
            </a:r>
            <a:r>
              <a:rPr lang="zh-CN" altLang="en-US" sz="3600" dirty="0">
                <a:solidFill>
                  <a:schemeClr val="bg1"/>
                </a:solidFill>
                <a:latin typeface="微软雅黑" panose="020B0503020204020204" pitchFamily="34" charset="-122"/>
                <a:ea typeface="微软雅黑" panose="020B0503020204020204" pitchFamily="34" charset="-122"/>
              </a:rPr>
              <a:t>？</a:t>
            </a:r>
            <a:endParaRPr lang="zh-CN" altLang="zh-CN" sz="3600"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2"/>
          <a:stretch>
            <a:fillRect/>
          </a:stretch>
        </p:blipFill>
        <p:spPr>
          <a:xfrm>
            <a:off x="2243366" y="2848684"/>
            <a:ext cx="2996293" cy="2708188"/>
          </a:xfrm>
          <a:prstGeom prst="rect">
            <a:avLst/>
          </a:prstGeom>
        </p:spPr>
      </p:pic>
    </p:spTree>
    <p:extLst>
      <p:ext uri="{BB962C8B-B14F-4D97-AF65-F5344CB8AC3E}">
        <p14:creationId xmlns:p14="http://schemas.microsoft.com/office/powerpoint/2010/main" val="228609853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7886700"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组织为什么需要</a:t>
            </a:r>
            <a:r>
              <a:rPr lang="en-US" altLang="zh-CN" dirty="0" smtClean="0">
                <a:solidFill>
                  <a:schemeClr val="bg1"/>
                </a:solidFill>
                <a:latin typeface="方正兰亭黑_YS_GB18030" panose="03000502000000000000" pitchFamily="66" charset="-122"/>
                <a:ea typeface="方正兰亭黑_YS_GB18030" panose="03000502000000000000" pitchFamily="66" charset="-122"/>
              </a:rPr>
              <a:t>ISO9000</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1957958" y="2268310"/>
            <a:ext cx="8187528" cy="3972833"/>
          </a:xfrm>
        </p:spPr>
        <p:txBody>
          <a:bodyPr>
            <a:noAutofit/>
          </a:bodyPr>
          <a:lstStyle/>
          <a:p>
            <a:pPr>
              <a:buClr>
                <a:srgbClr val="BFEF74"/>
              </a:buClr>
              <a:buFont typeface="Wingdings" panose="05000000000000000000" pitchFamily="2" charset="2"/>
              <a:buChar char="u"/>
            </a:pPr>
            <a:r>
              <a:rPr lang="en-US" altLang="zh-CN" dirty="0">
                <a:solidFill>
                  <a:schemeClr val="bg1"/>
                </a:solidFill>
                <a:latin typeface="微软雅黑" panose="020B0503020204020204" pitchFamily="34" charset="-122"/>
                <a:ea typeface="微软雅黑" panose="020B0503020204020204" pitchFamily="34" charset="-122"/>
              </a:rPr>
              <a:t>ISO9000</a:t>
            </a:r>
            <a:r>
              <a:rPr lang="zh-CN" altLang="zh-CN" dirty="0">
                <a:solidFill>
                  <a:schemeClr val="bg1"/>
                </a:solidFill>
                <a:latin typeface="微软雅黑" panose="020B0503020204020204" pitchFamily="34" charset="-122"/>
                <a:ea typeface="微软雅黑" panose="020B0503020204020204" pitchFamily="34" charset="-122"/>
              </a:rPr>
              <a:t>标准体系代表了对良好管理实践的国际</a:t>
            </a:r>
            <a:r>
              <a:rPr lang="zh-CN" altLang="zh-CN" dirty="0" smtClean="0">
                <a:solidFill>
                  <a:schemeClr val="bg1"/>
                </a:solidFill>
                <a:latin typeface="微软雅黑" panose="020B0503020204020204" pitchFamily="34" charset="-122"/>
                <a:ea typeface="微软雅黑" panose="020B0503020204020204" pitchFamily="34" charset="-122"/>
              </a:rPr>
              <a:t>共识</a:t>
            </a:r>
            <a:r>
              <a:rPr lang="zh-CN" altLang="en-US" dirty="0" smtClean="0">
                <a:solidFill>
                  <a:schemeClr val="bg1"/>
                </a:solidFill>
                <a:latin typeface="微软雅黑" panose="020B0503020204020204" pitchFamily="34" charset="-122"/>
                <a:ea typeface="微软雅黑" panose="020B0503020204020204" pitchFamily="34" charset="-122"/>
              </a:rPr>
              <a:t>，目标是确保组织能够一再提供满足客户质量要求的产品或服务</a:t>
            </a:r>
            <a:r>
              <a:rPr lang="zh-CN" altLang="zh-CN" dirty="0" smtClean="0">
                <a:solidFill>
                  <a:schemeClr val="bg1"/>
                </a:solidFill>
                <a:latin typeface="微软雅黑" panose="020B0503020204020204" pitchFamily="34" charset="-122"/>
                <a:ea typeface="微软雅黑" panose="020B0503020204020204" pitchFamily="34" charset="-122"/>
              </a:rPr>
              <a:t>。</a:t>
            </a:r>
            <a:endParaRPr lang="zh-CN" altLang="zh-CN" dirty="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一</a:t>
            </a:r>
            <a:r>
              <a:rPr lang="zh-CN" altLang="zh-CN" dirty="0">
                <a:solidFill>
                  <a:schemeClr val="bg1"/>
                </a:solidFill>
                <a:latin typeface="微软雅黑" panose="020B0503020204020204" pitchFamily="34" charset="-122"/>
                <a:ea typeface="微软雅黑" panose="020B0503020204020204" pitchFamily="34" charset="-122"/>
              </a:rPr>
              <a:t>个没有客户或者客户对其不满意的组织一定处境不妙。为了保住客户并让他们满意，你的产品（实际可能是服务）需要满足他们的要求。</a:t>
            </a:r>
            <a:r>
              <a:rPr lang="en-US" altLang="zh-CN" dirty="0">
                <a:solidFill>
                  <a:schemeClr val="bg1"/>
                </a:solidFill>
                <a:latin typeface="微软雅黑" panose="020B0503020204020204" pitchFamily="34" charset="-122"/>
                <a:ea typeface="微软雅黑" panose="020B0503020204020204" pitchFamily="34" charset="-122"/>
              </a:rPr>
              <a:t>ISO</a:t>
            </a:r>
            <a:r>
              <a:rPr lang="zh-CN" altLang="zh-CN" dirty="0">
                <a:solidFill>
                  <a:schemeClr val="bg1"/>
                </a:solidFill>
                <a:latin typeface="微软雅黑" panose="020B0503020204020204" pitchFamily="34" charset="-122"/>
                <a:ea typeface="微软雅黑" panose="020B0503020204020204" pitchFamily="34" charset="-122"/>
              </a:rPr>
              <a:t>为你提供了一</a:t>
            </a:r>
            <a:r>
              <a:rPr lang="zh-CN" altLang="zh-CN" dirty="0" smtClean="0">
                <a:solidFill>
                  <a:schemeClr val="bg1"/>
                </a:solidFill>
                <a:latin typeface="微软雅黑" panose="020B0503020204020204" pitchFamily="34" charset="-122"/>
                <a:ea typeface="微软雅黑" panose="020B0503020204020204" pitchFamily="34" charset="-122"/>
              </a:rPr>
              <a:t>个</a:t>
            </a:r>
            <a:r>
              <a:rPr lang="zh-CN" altLang="en-US" dirty="0">
                <a:solidFill>
                  <a:schemeClr val="bg1"/>
                </a:solidFill>
                <a:latin typeface="微软雅黑" panose="020B0503020204020204" pitchFamily="34" charset="-122"/>
                <a:ea typeface="微软雅黑" panose="020B0503020204020204" pitchFamily="34" charset="-122"/>
              </a:rPr>
              <a:t>经过</a:t>
            </a:r>
            <a:r>
              <a:rPr lang="zh-CN" altLang="zh-CN" dirty="0" smtClean="0">
                <a:solidFill>
                  <a:schemeClr val="bg1"/>
                </a:solidFill>
                <a:latin typeface="微软雅黑" panose="020B0503020204020204" pitchFamily="34" charset="-122"/>
                <a:ea typeface="微软雅黑" panose="020B0503020204020204" pitchFamily="34" charset="-122"/>
              </a:rPr>
              <a:t>不断</a:t>
            </a:r>
            <a:r>
              <a:rPr lang="zh-CN" altLang="zh-CN" dirty="0">
                <a:solidFill>
                  <a:schemeClr val="bg1"/>
                </a:solidFill>
                <a:latin typeface="微软雅黑" panose="020B0503020204020204" pitchFamily="34" charset="-122"/>
                <a:ea typeface="微软雅黑" panose="020B0503020204020204" pitchFamily="34" charset="-122"/>
              </a:rPr>
              <a:t>尝试和测试的框架，该框架采用</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系统化的方法</a:t>
            </a:r>
            <a:r>
              <a:rPr lang="zh-CN" altLang="zh-CN" dirty="0">
                <a:solidFill>
                  <a:schemeClr val="bg1"/>
                </a:solidFill>
                <a:latin typeface="微软雅黑" panose="020B0503020204020204" pitchFamily="34" charset="-122"/>
                <a:ea typeface="微软雅黑" panose="020B0503020204020204" pitchFamily="34" charset="-122"/>
              </a:rPr>
              <a:t>来管理你的业务过程（组织活动）以使它们一贯的产生</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符合客户期望</a:t>
            </a:r>
            <a:r>
              <a:rPr lang="zh-CN" altLang="zh-CN" dirty="0">
                <a:solidFill>
                  <a:schemeClr val="bg1"/>
                </a:solidFill>
                <a:latin typeface="微软雅黑" panose="020B0503020204020204" pitchFamily="34" charset="-122"/>
                <a:ea typeface="微软雅黑" panose="020B0503020204020204" pitchFamily="34" charset="-122"/>
              </a:rPr>
              <a:t>的产品。这就意味</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长期满意的客户</a:t>
            </a:r>
            <a:r>
              <a:rPr lang="zh-CN" altLang="zh-CN" dirty="0" smtClean="0">
                <a:solidFill>
                  <a:schemeClr val="bg1"/>
                </a:solidFill>
                <a:latin typeface="微软雅黑" panose="020B0503020204020204" pitchFamily="34" charset="-122"/>
                <a:ea typeface="微软雅黑" panose="020B0503020204020204" pitchFamily="34" charset="-122"/>
              </a:rPr>
              <a:t>。</a:t>
            </a:r>
            <a:endParaRPr lang="zh-CN" altLang="zh-CN"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08690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7" name="组合 5"/>
          <p:cNvGrpSpPr>
            <a:grpSpLocks/>
          </p:cNvGrpSpPr>
          <p:nvPr/>
        </p:nvGrpSpPr>
        <p:grpSpPr bwMode="auto">
          <a:xfrm>
            <a:off x="0" y="-41275"/>
            <a:ext cx="6669088" cy="1303338"/>
            <a:chOff x="0" y="0"/>
            <a:chExt cx="6669552" cy="1304243"/>
          </a:xfrm>
        </p:grpSpPr>
        <p:sp>
          <p:nvSpPr>
            <p:cNvPr id="19458" name="等腰三角形 6"/>
            <p:cNvSpPr>
              <a:spLocks noChangeArrowheads="1"/>
            </p:cNvSpPr>
            <p:nvPr/>
          </p:nvSpPr>
          <p:spPr bwMode="auto">
            <a:xfrm flipV="1">
              <a:off x="7496" y="261610"/>
              <a:ext cx="832662" cy="823414"/>
            </a:xfrm>
            <a:prstGeom prst="triangle">
              <a:avLst>
                <a:gd name="adj" fmla="val 50000"/>
              </a:avLst>
            </a:prstGeom>
            <a:noFill/>
            <a:ln w="5715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2A555B"/>
                </a:solidFill>
                <a:latin typeface="等线" panose="02010600030101010101" pitchFamily="2" charset="-122"/>
                <a:sym typeface="等线" panose="02010600030101010101" pitchFamily="2" charset="-122"/>
              </a:endParaRPr>
            </a:p>
          </p:txBody>
        </p:sp>
        <p:sp>
          <p:nvSpPr>
            <p:cNvPr id="19459" name="等腰三角形 7"/>
            <p:cNvSpPr>
              <a:spLocks noChangeArrowheads="1"/>
            </p:cNvSpPr>
            <p:nvPr/>
          </p:nvSpPr>
          <p:spPr bwMode="auto">
            <a:xfrm flipV="1">
              <a:off x="278685" y="480829"/>
              <a:ext cx="832662" cy="823414"/>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19460" name="图片 8"/>
            <p:cNvPicPr>
              <a:picLocks noChangeAspect="1" noChangeArrowheads="1"/>
            </p:cNvPicPr>
            <p:nvPr/>
          </p:nvPicPr>
          <p:blipFill>
            <a:blip r:embed="rId2">
              <a:extLst>
                <a:ext uri="{28A0092B-C50C-407E-A947-70E740481C1C}">
                  <a14:useLocalDpi xmlns:a14="http://schemas.microsoft.com/office/drawing/2010/main" val="0"/>
                </a:ext>
              </a:extLst>
            </a:blip>
            <a:srcRect l="28754" t="50206" r="23984"/>
            <a:stretch>
              <a:fillRect/>
            </a:stretch>
          </p:blipFill>
          <p:spPr bwMode="auto">
            <a:xfrm>
              <a:off x="0" y="0"/>
              <a:ext cx="1799771" cy="126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文本框 9"/>
            <p:cNvSpPr>
              <a:spLocks noChangeArrowheads="1"/>
            </p:cNvSpPr>
            <p:nvPr/>
          </p:nvSpPr>
          <p:spPr bwMode="auto">
            <a:xfrm>
              <a:off x="1807267" y="203737"/>
              <a:ext cx="4862285" cy="523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800" dirty="0" smtClean="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认证步骤</a:t>
              </a:r>
              <a:endParaRPr lang="en-US" altLang="zh-CN" sz="2800" dirty="0" smtClean="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19462" name="文本框 10"/>
            <p:cNvSpPr>
              <a:spLocks noChangeArrowheads="1"/>
            </p:cNvSpPr>
            <p:nvPr/>
          </p:nvSpPr>
          <p:spPr bwMode="auto">
            <a:xfrm>
              <a:off x="596997" y="109585"/>
              <a:ext cx="8326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04</a:t>
              </a:r>
              <a:endParaRPr lang="zh-CN" altLang="en-US"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pic>
        <p:nvPicPr>
          <p:cNvPr id="19463" name="图片 11"/>
          <p:cNvPicPr>
            <a:picLocks noChangeAspect="1" noChangeArrowheads="1"/>
          </p:cNvPicPr>
          <p:nvPr/>
        </p:nvPicPr>
        <p:blipFill>
          <a:blip r:embed="rId3">
            <a:extLst>
              <a:ext uri="{28A0092B-C50C-407E-A947-70E740481C1C}">
                <a14:useLocalDpi xmlns:a14="http://schemas.microsoft.com/office/drawing/2010/main" val="0"/>
              </a:ext>
            </a:extLst>
          </a:blip>
          <a:srcRect t="16125" r="50000" b="21051"/>
          <a:stretch>
            <a:fillRect/>
          </a:stretch>
        </p:blipFill>
        <p:spPr bwMode="auto">
          <a:xfrm>
            <a:off x="9356725" y="1400175"/>
            <a:ext cx="28352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4" name="椭圆 20"/>
          <p:cNvSpPr>
            <a:spLocks noChangeArrowheads="1"/>
          </p:cNvSpPr>
          <p:nvPr/>
        </p:nvSpPr>
        <p:spPr bwMode="auto">
          <a:xfrm>
            <a:off x="2247900" y="2990850"/>
            <a:ext cx="1047750" cy="1047750"/>
          </a:xfrm>
          <a:prstGeom prst="ellipse">
            <a:avLst/>
          </a:prstGeom>
          <a:solidFill>
            <a:srgbClr val="2A555B"/>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9465" name="椭圆 21"/>
          <p:cNvSpPr>
            <a:spLocks noChangeArrowheads="1"/>
          </p:cNvSpPr>
          <p:nvPr/>
        </p:nvSpPr>
        <p:spPr bwMode="auto">
          <a:xfrm>
            <a:off x="4400550" y="2990850"/>
            <a:ext cx="1047750" cy="1047750"/>
          </a:xfrm>
          <a:prstGeom prst="ellipse">
            <a:avLst/>
          </a:prstGeom>
          <a:solidFill>
            <a:srgbClr val="42BAC8"/>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9466" name="椭圆 22"/>
          <p:cNvSpPr>
            <a:spLocks noChangeArrowheads="1"/>
          </p:cNvSpPr>
          <p:nvPr/>
        </p:nvSpPr>
        <p:spPr bwMode="auto">
          <a:xfrm>
            <a:off x="6553200" y="2990850"/>
            <a:ext cx="1047750" cy="1047750"/>
          </a:xfrm>
          <a:prstGeom prst="ellipse">
            <a:avLst/>
          </a:prstGeom>
          <a:solidFill>
            <a:srgbClr val="2A555B"/>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9467" name="椭圆 23"/>
          <p:cNvSpPr>
            <a:spLocks noChangeArrowheads="1"/>
          </p:cNvSpPr>
          <p:nvPr/>
        </p:nvSpPr>
        <p:spPr bwMode="auto">
          <a:xfrm>
            <a:off x="8705850" y="2990850"/>
            <a:ext cx="1047750" cy="1047750"/>
          </a:xfrm>
          <a:prstGeom prst="ellipse">
            <a:avLst/>
          </a:prstGeom>
          <a:solidFill>
            <a:srgbClr val="42BAC8"/>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19468" name="直接连接符 25"/>
          <p:cNvSpPr>
            <a:spLocks noChangeShapeType="1"/>
          </p:cNvSpPr>
          <p:nvPr/>
        </p:nvSpPr>
        <p:spPr bwMode="auto">
          <a:xfrm>
            <a:off x="3295650" y="3514725"/>
            <a:ext cx="1104900" cy="0"/>
          </a:xfrm>
          <a:prstGeom prst="line">
            <a:avLst/>
          </a:prstGeom>
          <a:noFill/>
          <a:ln w="6350">
            <a:solidFill>
              <a:srgbClr val="A5A5A5"/>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9" name="直接连接符 26"/>
          <p:cNvSpPr>
            <a:spLocks noChangeShapeType="1"/>
          </p:cNvSpPr>
          <p:nvPr/>
        </p:nvSpPr>
        <p:spPr bwMode="auto">
          <a:xfrm>
            <a:off x="5448300" y="3524250"/>
            <a:ext cx="1104900" cy="0"/>
          </a:xfrm>
          <a:prstGeom prst="line">
            <a:avLst/>
          </a:prstGeom>
          <a:noFill/>
          <a:ln w="6350">
            <a:solidFill>
              <a:srgbClr val="A5A5A5"/>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70" name="直接连接符 27"/>
          <p:cNvSpPr>
            <a:spLocks noChangeShapeType="1"/>
          </p:cNvSpPr>
          <p:nvPr/>
        </p:nvSpPr>
        <p:spPr bwMode="auto">
          <a:xfrm>
            <a:off x="7600950" y="3524250"/>
            <a:ext cx="1098550" cy="9525"/>
          </a:xfrm>
          <a:prstGeom prst="line">
            <a:avLst/>
          </a:prstGeom>
          <a:noFill/>
          <a:ln w="6350">
            <a:solidFill>
              <a:srgbClr val="A5A5A5"/>
            </a:solidFill>
            <a:bevel/>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9471" name="图片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8088" y="3295650"/>
            <a:ext cx="58578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2" name="图片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6300" y="3284538"/>
            <a:ext cx="476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3" name="图片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16725" y="3328988"/>
            <a:ext cx="5207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4" name="图片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97950" y="3267075"/>
            <a:ext cx="46355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5" name="文本框 38"/>
          <p:cNvSpPr>
            <a:spLocks noChangeArrowheads="1"/>
          </p:cNvSpPr>
          <p:nvPr/>
        </p:nvSpPr>
        <p:spPr bwMode="auto">
          <a:xfrm>
            <a:off x="1773238" y="4176713"/>
            <a:ext cx="19954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第</a:t>
            </a:r>
            <a:r>
              <a:rPr lang="en-US" altLang="zh-CN"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1</a:t>
            </a: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步</a:t>
            </a:r>
            <a:endParaRPr lang="zh-CN" altLang="en-US" dirty="0">
              <a:ea typeface="宋体" panose="02010600030101010101" pitchFamily="2" charset="-122"/>
            </a:endParaRPr>
          </a:p>
        </p:txBody>
      </p:sp>
      <p:sp>
        <p:nvSpPr>
          <p:cNvPr id="19476" name="文本框 39"/>
          <p:cNvSpPr>
            <a:spLocks noChangeArrowheads="1"/>
          </p:cNvSpPr>
          <p:nvPr/>
        </p:nvSpPr>
        <p:spPr bwMode="auto">
          <a:xfrm>
            <a:off x="1454150" y="4638675"/>
            <a:ext cx="2635250" cy="79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lnSpc>
                <a:spcPct val="150000"/>
              </a:lnSpc>
            </a:pPr>
            <a:r>
              <a:rPr lang="zh-CN" altLang="en-US" sz="1600" dirty="0"/>
              <a:t>制定一项实施</a:t>
            </a:r>
            <a:r>
              <a:rPr lang="en-US" altLang="zh-CN" sz="1600" dirty="0"/>
              <a:t>ISO</a:t>
            </a:r>
            <a:r>
              <a:rPr lang="zh-CN" altLang="en-US" sz="1600" dirty="0"/>
              <a:t>质量体系标准的计划</a:t>
            </a:r>
            <a:endParaRPr lang="zh-CN" altLang="en-US" dirty="0">
              <a:ea typeface="宋体" panose="02010600030101010101" pitchFamily="2" charset="-122"/>
            </a:endParaRPr>
          </a:p>
        </p:txBody>
      </p:sp>
      <p:sp>
        <p:nvSpPr>
          <p:cNvPr id="19477" name="文本框 40"/>
          <p:cNvSpPr>
            <a:spLocks noChangeArrowheads="1"/>
          </p:cNvSpPr>
          <p:nvPr/>
        </p:nvSpPr>
        <p:spPr bwMode="auto">
          <a:xfrm>
            <a:off x="4010025" y="1254125"/>
            <a:ext cx="1997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第</a:t>
            </a:r>
            <a:r>
              <a:rPr lang="en-US" altLang="zh-CN"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2</a:t>
            </a: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步</a:t>
            </a:r>
            <a:endParaRPr lang="zh-CN" altLang="en-US" dirty="0">
              <a:ea typeface="宋体" panose="02010600030101010101" pitchFamily="2" charset="-122"/>
            </a:endParaRPr>
          </a:p>
        </p:txBody>
      </p:sp>
      <p:sp>
        <p:nvSpPr>
          <p:cNvPr id="19478" name="文本框 41"/>
          <p:cNvSpPr>
            <a:spLocks noChangeArrowheads="1"/>
          </p:cNvSpPr>
          <p:nvPr/>
        </p:nvSpPr>
        <p:spPr bwMode="auto">
          <a:xfrm>
            <a:off x="3690938" y="1714500"/>
            <a:ext cx="2635250" cy="79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lnSpc>
                <a:spcPct val="150000"/>
              </a:lnSpc>
            </a:pPr>
            <a:r>
              <a:rPr lang="zh-CN" altLang="en-US" sz="1600" dirty="0"/>
              <a:t>参照</a:t>
            </a:r>
            <a:r>
              <a:rPr lang="en-US" altLang="zh-CN" sz="1600" dirty="0"/>
              <a:t>ISO</a:t>
            </a:r>
            <a:r>
              <a:rPr lang="zh-CN" altLang="en-US" sz="1600" dirty="0"/>
              <a:t>质量体系标准对现存的质量体系进行评价</a:t>
            </a:r>
            <a:endParaRPr lang="zh-CN" altLang="en-US" dirty="0">
              <a:ea typeface="宋体" panose="02010600030101010101" pitchFamily="2" charset="-122"/>
            </a:endParaRPr>
          </a:p>
        </p:txBody>
      </p:sp>
      <p:sp>
        <p:nvSpPr>
          <p:cNvPr id="19479" name="文本框 42"/>
          <p:cNvSpPr>
            <a:spLocks noChangeArrowheads="1"/>
          </p:cNvSpPr>
          <p:nvPr/>
        </p:nvSpPr>
        <p:spPr bwMode="auto">
          <a:xfrm>
            <a:off x="6084888" y="4176713"/>
            <a:ext cx="19954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第</a:t>
            </a:r>
            <a:r>
              <a:rPr lang="en-US" altLang="zh-CN"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3</a:t>
            </a: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步</a:t>
            </a:r>
            <a:endParaRPr lang="zh-CN" altLang="en-US" dirty="0">
              <a:ea typeface="宋体" panose="02010600030101010101" pitchFamily="2" charset="-122"/>
            </a:endParaRPr>
          </a:p>
        </p:txBody>
      </p:sp>
      <p:sp>
        <p:nvSpPr>
          <p:cNvPr id="19480" name="文本框 43"/>
          <p:cNvSpPr>
            <a:spLocks noChangeArrowheads="1"/>
          </p:cNvSpPr>
          <p:nvPr/>
        </p:nvSpPr>
        <p:spPr bwMode="auto">
          <a:xfrm>
            <a:off x="5765800" y="4638675"/>
            <a:ext cx="2635250" cy="79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lnSpc>
                <a:spcPct val="150000"/>
              </a:lnSpc>
            </a:pPr>
            <a:r>
              <a:rPr lang="zh-CN" altLang="en-US" sz="1600" dirty="0"/>
              <a:t>采取正确行动来遵守所有</a:t>
            </a:r>
            <a:r>
              <a:rPr lang="en-US" altLang="zh-CN" sz="1600" dirty="0"/>
              <a:t>ISO</a:t>
            </a:r>
            <a:r>
              <a:rPr lang="zh-CN" altLang="en-US" sz="1600" dirty="0"/>
              <a:t>质量体系要求</a:t>
            </a:r>
            <a:endParaRPr lang="zh-CN" altLang="en-US" dirty="0">
              <a:ea typeface="宋体" panose="02010600030101010101" pitchFamily="2" charset="-122"/>
            </a:endParaRPr>
          </a:p>
        </p:txBody>
      </p:sp>
      <p:sp>
        <p:nvSpPr>
          <p:cNvPr id="19481" name="文本框 44"/>
          <p:cNvSpPr>
            <a:spLocks noChangeArrowheads="1"/>
          </p:cNvSpPr>
          <p:nvPr/>
        </p:nvSpPr>
        <p:spPr bwMode="auto">
          <a:xfrm>
            <a:off x="8153400" y="1219200"/>
            <a:ext cx="1995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第</a:t>
            </a:r>
            <a:r>
              <a:rPr lang="en-US" altLang="zh-CN"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4</a:t>
            </a: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步</a:t>
            </a:r>
            <a:endParaRPr lang="zh-CN" altLang="en-US" dirty="0">
              <a:ea typeface="宋体" panose="02010600030101010101" pitchFamily="2" charset="-122"/>
            </a:endParaRPr>
          </a:p>
        </p:txBody>
      </p:sp>
      <p:sp>
        <p:nvSpPr>
          <p:cNvPr id="19482" name="文本框 45"/>
          <p:cNvSpPr>
            <a:spLocks noChangeArrowheads="1"/>
          </p:cNvSpPr>
          <p:nvPr/>
        </p:nvSpPr>
        <p:spPr bwMode="auto">
          <a:xfrm>
            <a:off x="7832725" y="1681163"/>
            <a:ext cx="2635250" cy="42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lnSpc>
                <a:spcPct val="150000"/>
              </a:lnSpc>
            </a:pPr>
            <a:r>
              <a:rPr lang="zh-CN" altLang="en-US" sz="1600" dirty="0"/>
              <a:t>建立文件和记录系统</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组合 4"/>
          <p:cNvGrpSpPr>
            <a:grpSpLocks/>
          </p:cNvGrpSpPr>
          <p:nvPr/>
        </p:nvGrpSpPr>
        <p:grpSpPr bwMode="auto">
          <a:xfrm>
            <a:off x="0" y="-41275"/>
            <a:ext cx="6669088" cy="1303338"/>
            <a:chOff x="0" y="0"/>
            <a:chExt cx="6669552" cy="1304243"/>
          </a:xfrm>
        </p:grpSpPr>
        <p:sp>
          <p:nvSpPr>
            <p:cNvPr id="20482" name="等腰三角形 5"/>
            <p:cNvSpPr>
              <a:spLocks noChangeArrowheads="1"/>
            </p:cNvSpPr>
            <p:nvPr/>
          </p:nvSpPr>
          <p:spPr bwMode="auto">
            <a:xfrm flipV="1">
              <a:off x="7496" y="261610"/>
              <a:ext cx="832662" cy="823414"/>
            </a:xfrm>
            <a:prstGeom prst="triangle">
              <a:avLst>
                <a:gd name="adj" fmla="val 50000"/>
              </a:avLst>
            </a:prstGeom>
            <a:noFill/>
            <a:ln w="5715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2A555B"/>
                </a:solidFill>
                <a:latin typeface="等线" panose="02010600030101010101" pitchFamily="2" charset="-122"/>
                <a:sym typeface="等线" panose="02010600030101010101" pitchFamily="2" charset="-122"/>
              </a:endParaRPr>
            </a:p>
          </p:txBody>
        </p:sp>
        <p:sp>
          <p:nvSpPr>
            <p:cNvPr id="20483" name="等腰三角形 6"/>
            <p:cNvSpPr>
              <a:spLocks noChangeArrowheads="1"/>
            </p:cNvSpPr>
            <p:nvPr/>
          </p:nvSpPr>
          <p:spPr bwMode="auto">
            <a:xfrm flipV="1">
              <a:off x="278685" y="480829"/>
              <a:ext cx="832662" cy="823414"/>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20484" name="图片 7"/>
            <p:cNvPicPr>
              <a:picLocks noChangeAspect="1" noChangeArrowheads="1"/>
            </p:cNvPicPr>
            <p:nvPr/>
          </p:nvPicPr>
          <p:blipFill>
            <a:blip r:embed="rId2">
              <a:extLst>
                <a:ext uri="{28A0092B-C50C-407E-A947-70E740481C1C}">
                  <a14:useLocalDpi xmlns:a14="http://schemas.microsoft.com/office/drawing/2010/main" val="0"/>
                </a:ext>
              </a:extLst>
            </a:blip>
            <a:srcRect l="28754" t="50206" r="23984"/>
            <a:stretch>
              <a:fillRect/>
            </a:stretch>
          </p:blipFill>
          <p:spPr bwMode="auto">
            <a:xfrm>
              <a:off x="0" y="0"/>
              <a:ext cx="1799771" cy="126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文本框 8"/>
            <p:cNvSpPr>
              <a:spLocks noChangeArrowheads="1"/>
            </p:cNvSpPr>
            <p:nvPr/>
          </p:nvSpPr>
          <p:spPr bwMode="auto">
            <a:xfrm>
              <a:off x="1807267" y="203737"/>
              <a:ext cx="48622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800" dirty="0" smtClean="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认证步骤</a:t>
              </a:r>
              <a:endParaRPr lang="zh-CN" altLang="en-US" dirty="0">
                <a:ea typeface="宋体" panose="02010600030101010101" pitchFamily="2" charset="-122"/>
              </a:endParaRPr>
            </a:p>
          </p:txBody>
        </p:sp>
        <p:sp>
          <p:nvSpPr>
            <p:cNvPr id="20486" name="文本框 9"/>
            <p:cNvSpPr>
              <a:spLocks noChangeArrowheads="1"/>
            </p:cNvSpPr>
            <p:nvPr/>
          </p:nvSpPr>
          <p:spPr bwMode="auto">
            <a:xfrm>
              <a:off x="596997" y="109585"/>
              <a:ext cx="8326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04</a:t>
              </a:r>
              <a:endParaRPr lang="zh-CN" altLang="en-US"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pic>
        <p:nvPicPr>
          <p:cNvPr id="20487" name="图片 10"/>
          <p:cNvPicPr>
            <a:picLocks noChangeAspect="1" noChangeArrowheads="1"/>
          </p:cNvPicPr>
          <p:nvPr/>
        </p:nvPicPr>
        <p:blipFill>
          <a:blip r:embed="rId3">
            <a:extLst>
              <a:ext uri="{28A0092B-C50C-407E-A947-70E740481C1C}">
                <a14:useLocalDpi xmlns:a14="http://schemas.microsoft.com/office/drawing/2010/main" val="0"/>
              </a:ext>
            </a:extLst>
          </a:blip>
          <a:srcRect t="16125" r="50000" b="21051"/>
          <a:stretch>
            <a:fillRect/>
          </a:stretch>
        </p:blipFill>
        <p:spPr bwMode="auto">
          <a:xfrm>
            <a:off x="9356725" y="1400175"/>
            <a:ext cx="28352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488" name="组合 21"/>
          <p:cNvGrpSpPr>
            <a:grpSpLocks/>
          </p:cNvGrpSpPr>
          <p:nvPr/>
        </p:nvGrpSpPr>
        <p:grpSpPr bwMode="auto">
          <a:xfrm>
            <a:off x="4738688" y="2232025"/>
            <a:ext cx="2714625" cy="2714625"/>
            <a:chOff x="0" y="0"/>
            <a:chExt cx="2714171" cy="2714171"/>
          </a:xfrm>
        </p:grpSpPr>
        <p:sp>
          <p:nvSpPr>
            <p:cNvPr id="20489" name="椭圆 11"/>
            <p:cNvSpPr>
              <a:spLocks noChangeArrowheads="1"/>
            </p:cNvSpPr>
            <p:nvPr/>
          </p:nvSpPr>
          <p:spPr bwMode="auto">
            <a:xfrm>
              <a:off x="0" y="0"/>
              <a:ext cx="2714171" cy="2714171"/>
            </a:xfrm>
            <a:prstGeom prst="ellipse">
              <a:avLst/>
            </a:prstGeom>
            <a:noFill/>
            <a:ln w="57150">
              <a:solidFill>
                <a:srgbClr val="222A3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20490" name="图片 13"/>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748614" y="305143"/>
              <a:ext cx="1216939" cy="106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1" name="文本框 14"/>
            <p:cNvSpPr>
              <a:spLocks noChangeArrowheads="1"/>
            </p:cNvSpPr>
            <p:nvPr/>
          </p:nvSpPr>
          <p:spPr bwMode="auto">
            <a:xfrm>
              <a:off x="624939" y="1525987"/>
              <a:ext cx="1464287" cy="759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lnSpc>
                  <a:spcPts val="2600"/>
                </a:lnSpc>
              </a:pPr>
              <a:r>
                <a:rPr lang="en-US" altLang="zh-CN" sz="2000">
                  <a:solidFill>
                    <a:srgbClr val="222A35"/>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LOREM</a:t>
              </a:r>
              <a:endParaRPr lang="zh-CN" altLang="en-US" sz="2000">
                <a:solidFill>
                  <a:srgbClr val="222A35"/>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a:p>
              <a:pPr algn="ctr">
                <a:lnSpc>
                  <a:spcPts val="2600"/>
                </a:lnSpc>
              </a:pPr>
              <a:r>
                <a:rPr lang="en-US" altLang="zh-CN" sz="2000">
                  <a:solidFill>
                    <a:srgbClr val="222A35"/>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IPSUM</a:t>
              </a:r>
              <a:endParaRPr lang="zh-CN" altLang="en-US" sz="2000">
                <a:solidFill>
                  <a:srgbClr val="222A35"/>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sp>
        <p:nvSpPr>
          <p:cNvPr id="20492" name="椭圆 16"/>
          <p:cNvSpPr>
            <a:spLocks noChangeArrowheads="1"/>
          </p:cNvSpPr>
          <p:nvPr/>
        </p:nvSpPr>
        <p:spPr bwMode="auto">
          <a:xfrm>
            <a:off x="7489825" y="2039938"/>
            <a:ext cx="633413" cy="633412"/>
          </a:xfrm>
          <a:prstGeom prst="ellipse">
            <a:avLst/>
          </a:prstGeom>
          <a:solidFill>
            <a:srgbClr val="42BAC8"/>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20493" name="椭圆 18"/>
          <p:cNvSpPr>
            <a:spLocks noChangeArrowheads="1"/>
          </p:cNvSpPr>
          <p:nvPr/>
        </p:nvSpPr>
        <p:spPr bwMode="auto">
          <a:xfrm>
            <a:off x="7489825" y="4381500"/>
            <a:ext cx="633413" cy="633413"/>
          </a:xfrm>
          <a:prstGeom prst="ellipse">
            <a:avLst/>
          </a:prstGeom>
          <a:solidFill>
            <a:srgbClr val="2A555B"/>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grpSp>
        <p:nvGrpSpPr>
          <p:cNvPr id="20494" name="组合 22"/>
          <p:cNvGrpSpPr>
            <a:grpSpLocks/>
          </p:cNvGrpSpPr>
          <p:nvPr/>
        </p:nvGrpSpPr>
        <p:grpSpPr bwMode="auto">
          <a:xfrm>
            <a:off x="4103688" y="1724025"/>
            <a:ext cx="3021012" cy="3295650"/>
            <a:chOff x="0" y="0"/>
            <a:chExt cx="3019750" cy="3296085"/>
          </a:xfrm>
        </p:grpSpPr>
        <p:sp>
          <p:nvSpPr>
            <p:cNvPr id="20495" name="椭圆 15"/>
            <p:cNvSpPr>
              <a:spLocks noChangeArrowheads="1"/>
            </p:cNvSpPr>
            <p:nvPr/>
          </p:nvSpPr>
          <p:spPr bwMode="auto">
            <a:xfrm>
              <a:off x="0" y="316521"/>
              <a:ext cx="633251" cy="633251"/>
            </a:xfrm>
            <a:prstGeom prst="ellipse">
              <a:avLst/>
            </a:prstGeom>
            <a:solidFill>
              <a:srgbClr val="2A555B"/>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20496" name="椭圆 17"/>
            <p:cNvSpPr>
              <a:spLocks noChangeArrowheads="1"/>
            </p:cNvSpPr>
            <p:nvPr/>
          </p:nvSpPr>
          <p:spPr bwMode="auto">
            <a:xfrm>
              <a:off x="0" y="2657419"/>
              <a:ext cx="633251" cy="633251"/>
            </a:xfrm>
            <a:prstGeom prst="ellipse">
              <a:avLst/>
            </a:prstGeom>
            <a:solidFill>
              <a:srgbClr val="42BAC8"/>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20497" name="弧形 19"/>
            <p:cNvSpPr>
              <a:spLocks noChangeArrowheads="1"/>
            </p:cNvSpPr>
            <p:nvPr/>
          </p:nvSpPr>
          <p:spPr bwMode="auto">
            <a:xfrm rot="-8184208">
              <a:off x="64564" y="0"/>
              <a:ext cx="2955186" cy="3296085"/>
            </a:xfrm>
            <a:custGeom>
              <a:avLst/>
              <a:gdLst>
                <a:gd name="T0" fmla="*/ 1714891 w 2955186"/>
                <a:gd name="T1" fmla="*/ 21391 h 3296085"/>
                <a:gd name="T2" fmla="*/ 2917810 w 2955186"/>
                <a:gd name="T3" fmla="*/ 1278084 h 3296085"/>
                <a:gd name="T4" fmla="*/ 1477593 w 2955186"/>
                <a:gd name="T5" fmla="*/ 1648042 h 3296085"/>
                <a:gd name="T6" fmla="*/ 1714891 w 2955186"/>
                <a:gd name="T7" fmla="*/ 21391 h 3296085"/>
                <a:gd name="T8" fmla="*/ 2917810 w 2955186"/>
                <a:gd name="T9" fmla="*/ 1278084 h 3296085"/>
              </a:gdLst>
              <a:ahLst/>
              <a:cxnLst>
                <a:cxn ang="0">
                  <a:pos x="T0" y="T1"/>
                </a:cxn>
                <a:cxn ang="0">
                  <a:pos x="T2" y="T3"/>
                </a:cxn>
                <a:cxn ang="0">
                  <a:pos x="T4" y="T5"/>
                </a:cxn>
                <a:cxn ang="0">
                  <a:pos x="T6" y="T7"/>
                </a:cxn>
                <a:cxn ang="0">
                  <a:pos x="T8" y="T9"/>
                </a:cxn>
              </a:cxnLst>
              <a:rect l="0" t="0" r="r" b="b"/>
              <a:pathLst>
                <a:path w="2955186" h="3296085" stroke="0">
                  <a:moveTo>
                    <a:pt x="1714891" y="21391"/>
                  </a:moveTo>
                  <a:cubicBezTo>
                    <a:pt x="2309571" y="128542"/>
                    <a:pt x="2784871" y="630763"/>
                    <a:pt x="2917810" y="1278084"/>
                  </a:cubicBezTo>
                  <a:lnTo>
                    <a:pt x="1477593" y="1648042"/>
                  </a:lnTo>
                  <a:close/>
                </a:path>
                <a:path w="2955186" h="3296085" fill="none">
                  <a:moveTo>
                    <a:pt x="1714891" y="21391"/>
                  </a:moveTo>
                  <a:cubicBezTo>
                    <a:pt x="2309571" y="128542"/>
                    <a:pt x="2784871" y="630763"/>
                    <a:pt x="2917810" y="1278084"/>
                  </a:cubicBezTo>
                </a:path>
              </a:pathLst>
            </a:custGeom>
            <a:noFill/>
            <a:ln w="6350">
              <a:solidFill>
                <a:srgbClr val="222A35"/>
              </a:solidFill>
              <a:prstDash val="dash"/>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latin typeface="等线" panose="02010600030101010101" pitchFamily="2" charset="-122"/>
                <a:sym typeface="等线" panose="02010600030101010101" pitchFamily="2" charset="-122"/>
              </a:endParaRPr>
            </a:p>
          </p:txBody>
        </p:sp>
      </p:grpSp>
      <p:sp>
        <p:nvSpPr>
          <p:cNvPr id="20498" name="弧形 20"/>
          <p:cNvSpPr>
            <a:spLocks noChangeArrowheads="1"/>
          </p:cNvSpPr>
          <p:nvPr/>
        </p:nvSpPr>
        <p:spPr bwMode="auto">
          <a:xfrm rot="8184208" flipH="1">
            <a:off x="5054600" y="1724025"/>
            <a:ext cx="2955925" cy="3295650"/>
          </a:xfrm>
          <a:custGeom>
            <a:avLst/>
            <a:gdLst>
              <a:gd name="T0" fmla="*/ 2700 w 4654"/>
              <a:gd name="T1" fmla="*/ 33 h 5191"/>
              <a:gd name="T2" fmla="*/ 4595 w 4654"/>
              <a:gd name="T3" fmla="*/ 2011 h 5191"/>
              <a:gd name="T4" fmla="*/ 2327 w 4654"/>
              <a:gd name="T5" fmla="*/ 2595 h 5191"/>
              <a:gd name="T6" fmla="*/ 2700 w 4654"/>
              <a:gd name="T7" fmla="*/ 33 h 5191"/>
              <a:gd name="T8" fmla="*/ 4595 w 4654"/>
              <a:gd name="T9" fmla="*/ 2011 h 5191"/>
            </a:gdLst>
            <a:ahLst/>
            <a:cxnLst>
              <a:cxn ang="0">
                <a:pos x="T0" y="T1"/>
              </a:cxn>
              <a:cxn ang="0">
                <a:pos x="T2" y="T3"/>
              </a:cxn>
              <a:cxn ang="0">
                <a:pos x="T4" y="T5"/>
              </a:cxn>
              <a:cxn ang="0">
                <a:pos x="T6" y="T7"/>
              </a:cxn>
              <a:cxn ang="0">
                <a:pos x="T8" y="T9"/>
              </a:cxn>
            </a:cxnLst>
            <a:rect l="0" t="0" r="r" b="b"/>
            <a:pathLst>
              <a:path w="4654" h="5191" stroke="0">
                <a:moveTo>
                  <a:pt x="2700" y="33"/>
                </a:moveTo>
                <a:cubicBezTo>
                  <a:pt x="3637" y="201"/>
                  <a:pt x="4386" y="992"/>
                  <a:pt x="4595" y="2011"/>
                </a:cubicBezTo>
                <a:lnTo>
                  <a:pt x="2327" y="2595"/>
                </a:lnTo>
                <a:close/>
              </a:path>
              <a:path w="4654" h="5191" fill="none">
                <a:moveTo>
                  <a:pt x="2700" y="33"/>
                </a:moveTo>
                <a:cubicBezTo>
                  <a:pt x="3637" y="201"/>
                  <a:pt x="4386" y="992"/>
                  <a:pt x="4595" y="2011"/>
                </a:cubicBezTo>
              </a:path>
            </a:pathLst>
          </a:custGeom>
          <a:noFill/>
          <a:ln w="6350">
            <a:solidFill>
              <a:srgbClr val="222A35"/>
            </a:solidFill>
            <a:prstDash val="dash"/>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latin typeface="等线" panose="02010600030101010101" pitchFamily="2" charset="-122"/>
              <a:sym typeface="等线" panose="02010600030101010101" pitchFamily="2" charset="-122"/>
            </a:endParaRPr>
          </a:p>
        </p:txBody>
      </p:sp>
      <p:sp>
        <p:nvSpPr>
          <p:cNvPr id="20499" name="文本框 23"/>
          <p:cNvSpPr>
            <a:spLocks noChangeArrowheads="1"/>
          </p:cNvSpPr>
          <p:nvPr/>
        </p:nvSpPr>
        <p:spPr bwMode="auto">
          <a:xfrm>
            <a:off x="4041775" y="2125663"/>
            <a:ext cx="7588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400" dirty="0" smtClean="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rPr>
              <a:t>05</a:t>
            </a:r>
            <a:endParaRPr lang="zh-CN" altLang="en-US" sz="2400" dirty="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500" name="文本框 24"/>
          <p:cNvSpPr>
            <a:spLocks noChangeArrowheads="1"/>
          </p:cNvSpPr>
          <p:nvPr/>
        </p:nvSpPr>
        <p:spPr bwMode="auto">
          <a:xfrm>
            <a:off x="7448550" y="2127250"/>
            <a:ext cx="758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400" dirty="0" smtClean="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rPr>
              <a:t>07</a:t>
            </a:r>
            <a:endParaRPr lang="zh-CN" altLang="en-US" sz="2400" dirty="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501" name="文本框 25"/>
          <p:cNvSpPr>
            <a:spLocks noChangeArrowheads="1"/>
          </p:cNvSpPr>
          <p:nvPr/>
        </p:nvSpPr>
        <p:spPr bwMode="auto">
          <a:xfrm>
            <a:off x="4038600" y="4467225"/>
            <a:ext cx="758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400" dirty="0" smtClean="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rPr>
              <a:t>06</a:t>
            </a:r>
            <a:endParaRPr lang="zh-CN" altLang="en-US" sz="2400" dirty="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502" name="文本框 26"/>
          <p:cNvSpPr>
            <a:spLocks noChangeArrowheads="1"/>
          </p:cNvSpPr>
          <p:nvPr/>
        </p:nvSpPr>
        <p:spPr bwMode="auto">
          <a:xfrm>
            <a:off x="7429500" y="4467225"/>
            <a:ext cx="758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2400" dirty="0" smtClean="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rPr>
              <a:t>08</a:t>
            </a:r>
            <a:endParaRPr lang="zh-CN" altLang="en-US" sz="2400" dirty="0">
              <a:solidFill>
                <a:schemeClr val="bg1"/>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503" name="文本框 27"/>
          <p:cNvSpPr>
            <a:spLocks noChangeArrowheads="1"/>
          </p:cNvSpPr>
          <p:nvPr/>
        </p:nvSpPr>
        <p:spPr bwMode="auto">
          <a:xfrm>
            <a:off x="1193800" y="1797050"/>
            <a:ext cx="1995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第</a:t>
            </a:r>
            <a:r>
              <a:rPr lang="en-US" altLang="zh-CN"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5</a:t>
            </a: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步</a:t>
            </a:r>
            <a:endParaRPr lang="zh-CN" altLang="en-US" dirty="0">
              <a:ea typeface="宋体" panose="02010600030101010101" pitchFamily="2" charset="-122"/>
            </a:endParaRPr>
          </a:p>
        </p:txBody>
      </p:sp>
      <p:sp>
        <p:nvSpPr>
          <p:cNvPr id="20504" name="文本框 28"/>
          <p:cNvSpPr>
            <a:spLocks noChangeArrowheads="1"/>
          </p:cNvSpPr>
          <p:nvPr/>
        </p:nvSpPr>
        <p:spPr bwMode="auto">
          <a:xfrm>
            <a:off x="1177925" y="2195513"/>
            <a:ext cx="2986088" cy="42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zh-CN" altLang="en-US" sz="1600" dirty="0"/>
              <a:t>完成质量手册并使之行之有效</a:t>
            </a:r>
            <a:endParaRPr lang="zh-CN" altLang="en-US" dirty="0">
              <a:ea typeface="宋体" panose="02010600030101010101" pitchFamily="2" charset="-122"/>
            </a:endParaRPr>
          </a:p>
        </p:txBody>
      </p:sp>
      <p:sp>
        <p:nvSpPr>
          <p:cNvPr id="20505" name="文本框 29"/>
          <p:cNvSpPr>
            <a:spLocks noChangeArrowheads="1"/>
          </p:cNvSpPr>
          <p:nvPr/>
        </p:nvSpPr>
        <p:spPr bwMode="auto">
          <a:xfrm>
            <a:off x="1193800" y="3462338"/>
            <a:ext cx="19954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第</a:t>
            </a:r>
            <a:r>
              <a:rPr lang="en-US" altLang="zh-CN"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6</a:t>
            </a: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步</a:t>
            </a:r>
            <a:endParaRPr lang="zh-CN" altLang="en-US" dirty="0">
              <a:ea typeface="宋体" panose="02010600030101010101" pitchFamily="2" charset="-122"/>
            </a:endParaRPr>
          </a:p>
        </p:txBody>
      </p:sp>
      <p:sp>
        <p:nvSpPr>
          <p:cNvPr id="20506" name="文本框 30"/>
          <p:cNvSpPr>
            <a:spLocks noChangeArrowheads="1"/>
          </p:cNvSpPr>
          <p:nvPr/>
        </p:nvSpPr>
        <p:spPr bwMode="auto">
          <a:xfrm>
            <a:off x="1177925" y="3860800"/>
            <a:ext cx="2986088" cy="79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zh-CN" altLang="en-US" sz="1600" dirty="0"/>
              <a:t>让注册团体安排一次评估前的审核</a:t>
            </a:r>
            <a:endParaRPr lang="zh-CN" altLang="en-US" dirty="0">
              <a:ea typeface="宋体" panose="02010600030101010101" pitchFamily="2" charset="-122"/>
            </a:endParaRPr>
          </a:p>
        </p:txBody>
      </p:sp>
      <p:sp>
        <p:nvSpPr>
          <p:cNvPr id="20507" name="文本框 31"/>
          <p:cNvSpPr>
            <a:spLocks noChangeArrowheads="1"/>
          </p:cNvSpPr>
          <p:nvPr/>
        </p:nvSpPr>
        <p:spPr bwMode="auto">
          <a:xfrm>
            <a:off x="9107488" y="1797050"/>
            <a:ext cx="19954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第</a:t>
            </a:r>
            <a:r>
              <a:rPr lang="en-US" altLang="zh-CN" sz="2400" dirty="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7</a:t>
            </a: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步</a:t>
            </a:r>
            <a:endParaRPr lang="zh-CN" altLang="en-US" dirty="0">
              <a:ea typeface="宋体" panose="02010600030101010101" pitchFamily="2" charset="-122"/>
            </a:endParaRPr>
          </a:p>
        </p:txBody>
      </p:sp>
      <p:sp>
        <p:nvSpPr>
          <p:cNvPr id="20508" name="文本框 32"/>
          <p:cNvSpPr>
            <a:spLocks noChangeArrowheads="1"/>
          </p:cNvSpPr>
          <p:nvPr/>
        </p:nvSpPr>
        <p:spPr bwMode="auto">
          <a:xfrm>
            <a:off x="8121650" y="2160588"/>
            <a:ext cx="2984500" cy="42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lnSpc>
                <a:spcPct val="150000"/>
              </a:lnSpc>
            </a:pPr>
            <a:r>
              <a:rPr lang="zh-CN" altLang="en-US" sz="1600" dirty="0"/>
              <a:t>被认证组织为正式评估做准备</a:t>
            </a:r>
            <a:endParaRPr lang="zh-CN" altLang="en-US" dirty="0">
              <a:ea typeface="宋体" panose="02010600030101010101" pitchFamily="2" charset="-122"/>
            </a:endParaRPr>
          </a:p>
        </p:txBody>
      </p:sp>
      <p:sp>
        <p:nvSpPr>
          <p:cNvPr id="20509" name="文本框 33"/>
          <p:cNvSpPr>
            <a:spLocks noChangeArrowheads="1"/>
          </p:cNvSpPr>
          <p:nvPr/>
        </p:nvSpPr>
        <p:spPr bwMode="auto">
          <a:xfrm>
            <a:off x="9107488" y="3462338"/>
            <a:ext cx="19954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第</a:t>
            </a:r>
            <a:r>
              <a:rPr lang="en-US" altLang="zh-CN"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8</a:t>
            </a:r>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步</a:t>
            </a:r>
            <a:endParaRPr lang="zh-CN" altLang="en-US" dirty="0">
              <a:ea typeface="宋体" panose="02010600030101010101" pitchFamily="2" charset="-122"/>
            </a:endParaRPr>
          </a:p>
        </p:txBody>
      </p:sp>
      <p:sp>
        <p:nvSpPr>
          <p:cNvPr id="20510" name="文本框 34"/>
          <p:cNvSpPr>
            <a:spLocks noChangeArrowheads="1"/>
          </p:cNvSpPr>
          <p:nvPr/>
        </p:nvSpPr>
        <p:spPr bwMode="auto">
          <a:xfrm>
            <a:off x="8121650" y="3827463"/>
            <a:ext cx="2984500" cy="42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lnSpc>
                <a:spcPct val="150000"/>
              </a:lnSpc>
            </a:pPr>
            <a:r>
              <a:rPr lang="zh-CN" altLang="en-US" sz="1600" dirty="0"/>
              <a:t>注册团体实行评估审核</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5" name="组合 4"/>
          <p:cNvGrpSpPr>
            <a:grpSpLocks/>
          </p:cNvGrpSpPr>
          <p:nvPr/>
        </p:nvGrpSpPr>
        <p:grpSpPr bwMode="auto">
          <a:xfrm>
            <a:off x="0" y="-41275"/>
            <a:ext cx="6669088" cy="1303338"/>
            <a:chOff x="0" y="0"/>
            <a:chExt cx="6669552" cy="1304243"/>
          </a:xfrm>
        </p:grpSpPr>
        <p:sp>
          <p:nvSpPr>
            <p:cNvPr id="21506" name="等腰三角形 5"/>
            <p:cNvSpPr>
              <a:spLocks noChangeArrowheads="1"/>
            </p:cNvSpPr>
            <p:nvPr/>
          </p:nvSpPr>
          <p:spPr bwMode="auto">
            <a:xfrm flipV="1">
              <a:off x="7496" y="261610"/>
              <a:ext cx="832662" cy="823414"/>
            </a:xfrm>
            <a:prstGeom prst="triangle">
              <a:avLst>
                <a:gd name="adj" fmla="val 50000"/>
              </a:avLst>
            </a:prstGeom>
            <a:noFill/>
            <a:ln w="5715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2A555B"/>
                </a:solidFill>
                <a:latin typeface="等线" panose="02010600030101010101" pitchFamily="2" charset="-122"/>
                <a:sym typeface="等线" panose="02010600030101010101" pitchFamily="2" charset="-122"/>
              </a:endParaRPr>
            </a:p>
          </p:txBody>
        </p:sp>
        <p:sp>
          <p:nvSpPr>
            <p:cNvPr id="21507" name="等腰三角形 6"/>
            <p:cNvSpPr>
              <a:spLocks noChangeArrowheads="1"/>
            </p:cNvSpPr>
            <p:nvPr/>
          </p:nvSpPr>
          <p:spPr bwMode="auto">
            <a:xfrm flipV="1">
              <a:off x="278685" y="480829"/>
              <a:ext cx="832662" cy="823414"/>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21508" name="图片 7"/>
            <p:cNvPicPr>
              <a:picLocks noChangeAspect="1" noChangeArrowheads="1"/>
            </p:cNvPicPr>
            <p:nvPr/>
          </p:nvPicPr>
          <p:blipFill>
            <a:blip r:embed="rId2">
              <a:extLst>
                <a:ext uri="{28A0092B-C50C-407E-A947-70E740481C1C}">
                  <a14:useLocalDpi xmlns:a14="http://schemas.microsoft.com/office/drawing/2010/main" val="0"/>
                </a:ext>
              </a:extLst>
            </a:blip>
            <a:srcRect l="28754" t="50206" r="23984"/>
            <a:stretch>
              <a:fillRect/>
            </a:stretch>
          </p:blipFill>
          <p:spPr bwMode="auto">
            <a:xfrm>
              <a:off x="0" y="0"/>
              <a:ext cx="1799771" cy="126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文本框 8"/>
            <p:cNvSpPr>
              <a:spLocks noChangeArrowheads="1"/>
            </p:cNvSpPr>
            <p:nvPr/>
          </p:nvSpPr>
          <p:spPr bwMode="auto">
            <a:xfrm>
              <a:off x="1807267" y="203737"/>
              <a:ext cx="48622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800" dirty="0" smtClean="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经营利益</a:t>
              </a:r>
              <a:endParaRPr lang="zh-CN" altLang="en-US" dirty="0">
                <a:ea typeface="宋体" panose="02010600030101010101" pitchFamily="2" charset="-122"/>
              </a:endParaRPr>
            </a:p>
          </p:txBody>
        </p:sp>
        <p:sp>
          <p:nvSpPr>
            <p:cNvPr id="21510" name="文本框 9"/>
            <p:cNvSpPr>
              <a:spLocks noChangeArrowheads="1"/>
            </p:cNvSpPr>
            <p:nvPr/>
          </p:nvSpPr>
          <p:spPr bwMode="auto">
            <a:xfrm>
              <a:off x="596997" y="109585"/>
              <a:ext cx="8326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r>
                <a:rPr lang="en-US" altLang="zh-CN"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04</a:t>
              </a:r>
              <a:endParaRPr lang="zh-CN" altLang="en-US" sz="3600">
                <a:solidFill>
                  <a:schemeClr val="bg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pic>
        <p:nvPicPr>
          <p:cNvPr id="21511" name="图片 10"/>
          <p:cNvPicPr>
            <a:picLocks noChangeAspect="1" noChangeArrowheads="1"/>
          </p:cNvPicPr>
          <p:nvPr/>
        </p:nvPicPr>
        <p:blipFill>
          <a:blip r:embed="rId3">
            <a:extLst>
              <a:ext uri="{28A0092B-C50C-407E-A947-70E740481C1C}">
                <a14:useLocalDpi xmlns:a14="http://schemas.microsoft.com/office/drawing/2010/main" val="0"/>
              </a:ext>
            </a:extLst>
          </a:blip>
          <a:srcRect t="16125" r="50000" b="21051"/>
          <a:stretch>
            <a:fillRect/>
          </a:stretch>
        </p:blipFill>
        <p:spPr bwMode="auto">
          <a:xfrm>
            <a:off x="9356725" y="1400175"/>
            <a:ext cx="28352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512" name="组合 21"/>
          <p:cNvGrpSpPr>
            <a:grpSpLocks/>
          </p:cNvGrpSpPr>
          <p:nvPr/>
        </p:nvGrpSpPr>
        <p:grpSpPr bwMode="auto">
          <a:xfrm>
            <a:off x="3165475" y="2473325"/>
            <a:ext cx="5146675" cy="5070475"/>
            <a:chOff x="0" y="0"/>
            <a:chExt cx="5147622" cy="5070977"/>
          </a:xfrm>
        </p:grpSpPr>
        <p:pic>
          <p:nvPicPr>
            <p:cNvPr id="21513" name="图片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882" y="0"/>
              <a:ext cx="4768943" cy="5070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4" name="椭圆 12"/>
            <p:cNvSpPr>
              <a:spLocks noChangeArrowheads="1"/>
            </p:cNvSpPr>
            <p:nvPr/>
          </p:nvSpPr>
          <p:spPr bwMode="auto">
            <a:xfrm>
              <a:off x="0" y="2296925"/>
              <a:ext cx="1199252" cy="1199252"/>
            </a:xfrm>
            <a:prstGeom prst="ellipse">
              <a:avLst/>
            </a:prstGeom>
            <a:solidFill>
              <a:srgbClr val="2A555B">
                <a:alpha val="84999"/>
              </a:srgbClr>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21515" name="椭圆 13"/>
            <p:cNvSpPr>
              <a:spLocks noChangeArrowheads="1"/>
            </p:cNvSpPr>
            <p:nvPr/>
          </p:nvSpPr>
          <p:spPr bwMode="auto">
            <a:xfrm>
              <a:off x="1707252" y="587877"/>
              <a:ext cx="812800" cy="812800"/>
            </a:xfrm>
            <a:prstGeom prst="ellipse">
              <a:avLst/>
            </a:prstGeom>
            <a:solidFill>
              <a:srgbClr val="42BAC8">
                <a:alpha val="84999"/>
              </a:srgbClr>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21516" name="椭圆 14"/>
            <p:cNvSpPr>
              <a:spLocks noChangeArrowheads="1"/>
            </p:cNvSpPr>
            <p:nvPr/>
          </p:nvSpPr>
          <p:spPr bwMode="auto">
            <a:xfrm>
              <a:off x="3358010" y="1185247"/>
              <a:ext cx="1111678" cy="1111678"/>
            </a:xfrm>
            <a:prstGeom prst="ellipse">
              <a:avLst/>
            </a:prstGeom>
            <a:solidFill>
              <a:srgbClr val="0498A5">
                <a:alpha val="84999"/>
              </a:srgbClr>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21517" name="椭圆 15"/>
            <p:cNvSpPr>
              <a:spLocks noChangeArrowheads="1"/>
            </p:cNvSpPr>
            <p:nvPr/>
          </p:nvSpPr>
          <p:spPr bwMode="auto">
            <a:xfrm>
              <a:off x="4334822" y="2535488"/>
              <a:ext cx="812800" cy="812800"/>
            </a:xfrm>
            <a:prstGeom prst="ellipse">
              <a:avLst/>
            </a:prstGeom>
            <a:solidFill>
              <a:srgbClr val="707029">
                <a:alpha val="84999"/>
              </a:srgbClr>
            </a:solidFill>
            <a:ln>
              <a:noFill/>
            </a:ln>
            <a:extLst>
              <a:ext uri="{91240B29-F687-4F45-9708-019B960494DF}">
                <a14:hiddenLine xmlns:a14="http://schemas.microsoft.com/office/drawing/2010/main" w="12700">
                  <a:solidFill>
                    <a:srgbClr val="000000"/>
                  </a:solidFill>
                  <a:round/>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21518" name="图片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408" y="2600369"/>
              <a:ext cx="676437" cy="592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9" name="图片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93609" y="790722"/>
              <a:ext cx="444228" cy="407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0" name="图片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42007" y="1529494"/>
              <a:ext cx="543683" cy="423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1" name="图片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90968" y="2738333"/>
              <a:ext cx="344504" cy="407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523" name="文本框 23"/>
          <p:cNvSpPr>
            <a:spLocks noChangeArrowheads="1"/>
          </p:cNvSpPr>
          <p:nvPr/>
        </p:nvSpPr>
        <p:spPr bwMode="auto">
          <a:xfrm>
            <a:off x="407988" y="4010025"/>
            <a:ext cx="2986087" cy="832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zh-CN" altLang="en-US" sz="1600" dirty="0"/>
              <a:t>更好的文件提供，雇员中更加浓厚的质量</a:t>
            </a:r>
            <a:r>
              <a:rPr lang="zh-CN" altLang="en-US" sz="1600" dirty="0" smtClean="0"/>
              <a:t>意识</a:t>
            </a:r>
            <a:r>
              <a:rPr lang="zh-CN" altLang="en-US" dirty="0" smtClean="0"/>
              <a:t>。</a:t>
            </a:r>
            <a:endParaRPr lang="zh-CN" altLang="en-US" dirty="0">
              <a:ea typeface="宋体" panose="02010600030101010101" pitchFamily="2" charset="-122"/>
            </a:endParaRPr>
          </a:p>
        </p:txBody>
      </p:sp>
      <p:sp>
        <p:nvSpPr>
          <p:cNvPr id="21524" name="文本框 24"/>
          <p:cNvSpPr>
            <a:spLocks noChangeArrowheads="1"/>
          </p:cNvSpPr>
          <p:nvPr/>
        </p:nvSpPr>
        <p:spPr bwMode="auto">
          <a:xfrm>
            <a:off x="2876550" y="1519238"/>
            <a:ext cx="26263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对于公司和组织</a:t>
            </a:r>
            <a:endParaRPr lang="zh-CN" altLang="en-US" dirty="0">
              <a:ea typeface="宋体" panose="02010600030101010101" pitchFamily="2" charset="-122"/>
            </a:endParaRPr>
          </a:p>
        </p:txBody>
      </p:sp>
      <p:sp>
        <p:nvSpPr>
          <p:cNvPr id="21525" name="文本框 25"/>
          <p:cNvSpPr>
            <a:spLocks noChangeArrowheads="1"/>
          </p:cNvSpPr>
          <p:nvPr/>
        </p:nvSpPr>
        <p:spPr bwMode="auto">
          <a:xfrm>
            <a:off x="2860675" y="1917700"/>
            <a:ext cx="29860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zh-CN" altLang="en-US" sz="1600" dirty="0"/>
              <a:t>办公效率及和生产率的</a:t>
            </a:r>
            <a:r>
              <a:rPr lang="zh-CN" altLang="en-US" sz="1600" dirty="0" smtClean="0"/>
              <a:t>提高</a:t>
            </a:r>
            <a:r>
              <a:rPr lang="zh-CN" altLang="en-US" sz="1600" dirty="0"/>
              <a:t>，公司内部联系的增加</a:t>
            </a:r>
            <a:r>
              <a:rPr lang="zh-CN" altLang="en-US" sz="1600" dirty="0" smtClean="0"/>
              <a:t>。</a:t>
            </a:r>
            <a:endParaRPr lang="zh-CN" altLang="en-US" dirty="0">
              <a:ea typeface="宋体" panose="02010600030101010101" pitchFamily="2" charset="-122"/>
            </a:endParaRPr>
          </a:p>
        </p:txBody>
      </p:sp>
      <p:sp>
        <p:nvSpPr>
          <p:cNvPr id="21526" name="文本框 26"/>
          <p:cNvSpPr>
            <a:spLocks noChangeArrowheads="1"/>
          </p:cNvSpPr>
          <p:nvPr/>
        </p:nvSpPr>
        <p:spPr bwMode="auto">
          <a:xfrm>
            <a:off x="7515225" y="1982788"/>
            <a:ext cx="19954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2400" dirty="0" smtClean="0">
                <a:solidFill>
                  <a:srgbClr val="000000"/>
                </a:solidFill>
                <a:latin typeface="方正兰亭黑简体" panose="02000000000000000000" pitchFamily="2" charset="-122"/>
                <a:ea typeface="方正兰亭黑简体" panose="02000000000000000000" pitchFamily="2" charset="-122"/>
                <a:sym typeface="方正兰亭黑简体" panose="02000000000000000000" pitchFamily="2" charset="-122"/>
              </a:rPr>
              <a:t>对于消费者</a:t>
            </a:r>
            <a:endParaRPr lang="zh-CN" altLang="en-US" dirty="0">
              <a:ea typeface="宋体" panose="02010600030101010101" pitchFamily="2" charset="-122"/>
            </a:endParaRPr>
          </a:p>
        </p:txBody>
      </p:sp>
      <p:sp>
        <p:nvSpPr>
          <p:cNvPr id="21527" name="文本框 27"/>
          <p:cNvSpPr>
            <a:spLocks noChangeArrowheads="1"/>
          </p:cNvSpPr>
          <p:nvPr/>
        </p:nvSpPr>
        <p:spPr bwMode="auto">
          <a:xfrm>
            <a:off x="7499350" y="2381250"/>
            <a:ext cx="2986088" cy="116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nSpc>
                <a:spcPct val="150000"/>
              </a:lnSpc>
            </a:pPr>
            <a:r>
              <a:rPr lang="zh-CN" altLang="en-US" sz="1600" dirty="0"/>
              <a:t>顾客对质量劣好的领悟，竞争优势是提高及顾客对质量审查的减少。</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224315" y="2036763"/>
            <a:ext cx="7772400" cy="2387600"/>
          </a:xfrm>
        </p:spPr>
        <p:txBody>
          <a:bodyPr/>
          <a:lstStyle/>
          <a:p>
            <a:r>
              <a:rPr lang="en-US" altLang="zh-CN" dirty="0" smtClean="0">
                <a:solidFill>
                  <a:srgbClr val="BFEF74"/>
                </a:solidFill>
                <a:latin typeface="方正兰亭黑_YS_GB18030" panose="03000502000000000000" pitchFamily="66" charset="-122"/>
                <a:ea typeface="方正兰亭黑_YS_GB18030" panose="03000502000000000000" pitchFamily="66" charset="-122"/>
              </a:rPr>
              <a:t>ISO</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认证</a:t>
            </a:r>
            <a:r>
              <a:rPr lang="en-US" altLang="zh-CN" dirty="0" smtClean="0">
                <a:solidFill>
                  <a:schemeClr val="bg1"/>
                </a:solidFill>
                <a:latin typeface="方正兰亭黑_YS_GB18030" panose="03000502000000000000" pitchFamily="66" charset="-122"/>
                <a:ea typeface="方正兰亭黑_YS_GB18030" panose="03000502000000000000" pitchFamily="66" charset="-122"/>
              </a:rPr>
              <a:t/>
            </a:r>
            <a:br>
              <a:rPr lang="en-US" altLang="zh-CN" dirty="0" smtClean="0">
                <a:solidFill>
                  <a:schemeClr val="bg1"/>
                </a:solidFill>
                <a:latin typeface="方正兰亭黑_YS_GB18030" panose="03000502000000000000" pitchFamily="66" charset="-122"/>
                <a:ea typeface="方正兰亭黑_YS_GB18030" panose="03000502000000000000" pitchFamily="66" charset="-122"/>
              </a:rPr>
            </a:b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cxnSp>
        <p:nvCxnSpPr>
          <p:cNvPr id="4" name="直接连接符 3"/>
          <p:cNvCxnSpPr/>
          <p:nvPr/>
        </p:nvCxnSpPr>
        <p:spPr>
          <a:xfrm>
            <a:off x="1524000" y="369681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385014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en-US" altLang="zh-CN" dirty="0" smtClean="0">
                <a:solidFill>
                  <a:schemeClr val="bg1"/>
                </a:solidFill>
                <a:latin typeface="方正兰亭黑_YS_GB18030" panose="03000502000000000000" pitchFamily="66" charset="-122"/>
                <a:ea typeface="方正兰亭黑_YS_GB18030" panose="03000502000000000000" pitchFamily="66" charset="-122"/>
              </a:rPr>
              <a:t>ISO</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认证的重要性体现在哪里？</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1957958" y="2268310"/>
            <a:ext cx="8187528" cy="3972833"/>
          </a:xfrm>
        </p:spPr>
        <p:txBody>
          <a:bodyPr>
            <a:noAutofit/>
          </a:bodyPr>
          <a:lstStyle/>
          <a:p>
            <a:pPr marL="0" indent="0">
              <a:buNone/>
            </a:pPr>
            <a:r>
              <a:rPr lang="zh-CN" altLang="en-US" dirty="0" smtClean="0">
                <a:solidFill>
                  <a:schemeClr val="bg1"/>
                </a:solidFill>
                <a:latin typeface="微软雅黑" panose="020B0503020204020204" pitchFamily="34" charset="-122"/>
                <a:ea typeface="微软雅黑" panose="020B0503020204020204" pitchFamily="34" charset="-122"/>
              </a:rPr>
              <a:t>对比质量系统审计的三种做法：</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en-US" altLang="zh-CN" dirty="0" smtClean="0">
                <a:solidFill>
                  <a:schemeClr val="bg1"/>
                </a:solidFill>
                <a:latin typeface="微软雅黑" panose="020B0503020204020204" pitchFamily="34" charset="-122"/>
                <a:ea typeface="微软雅黑" panose="020B0503020204020204" pitchFamily="34" charset="-122"/>
              </a:rPr>
              <a:t>1</a:t>
            </a:r>
            <a:r>
              <a:rPr lang="en-US" altLang="zh-CN" dirty="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组织对其基于</a:t>
            </a:r>
            <a:r>
              <a:rPr lang="en-US" altLang="zh-CN" dirty="0">
                <a:solidFill>
                  <a:schemeClr val="bg1"/>
                </a:solidFill>
                <a:latin typeface="微软雅黑" panose="020B0503020204020204" pitchFamily="34" charset="-122"/>
                <a:ea typeface="微软雅黑" panose="020B0503020204020204" pitchFamily="34" charset="-122"/>
              </a:rPr>
              <a:t>ISO9000</a:t>
            </a:r>
            <a:r>
              <a:rPr lang="zh-CN" altLang="zh-CN" dirty="0">
                <a:solidFill>
                  <a:schemeClr val="bg1"/>
                </a:solidFill>
                <a:latin typeface="微软雅黑" panose="020B0503020204020204" pitchFamily="34" charset="-122"/>
                <a:ea typeface="微软雅黑" panose="020B0503020204020204" pitchFamily="34" charset="-122"/>
              </a:rPr>
              <a:t>的质量系统进行审计。意义：以验证质量过程管理是有效的。换句话说，</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验证</a:t>
            </a:r>
            <a:r>
              <a:rPr lang="zh-CN" altLang="zh-CN" dirty="0">
                <a:solidFill>
                  <a:schemeClr val="bg1"/>
                </a:solidFill>
                <a:latin typeface="微软雅黑" panose="020B0503020204020204" pitchFamily="34" charset="-122"/>
                <a:ea typeface="微软雅黑" panose="020B0503020204020204" pitchFamily="34" charset="-122"/>
              </a:rPr>
              <a:t>组织是能够完全控制其活动的。</a:t>
            </a:r>
          </a:p>
          <a:p>
            <a:pPr>
              <a:buClr>
                <a:srgbClr val="BFEF74"/>
              </a:buClr>
              <a:buFont typeface="Wingdings" panose="05000000000000000000" pitchFamily="2" charset="2"/>
              <a:buChar char="u"/>
            </a:pPr>
            <a:r>
              <a:rPr lang="en-US" altLang="zh-CN" dirty="0">
                <a:solidFill>
                  <a:schemeClr val="bg1"/>
                </a:solidFill>
                <a:latin typeface="微软雅黑" panose="020B0503020204020204" pitchFamily="34" charset="-122"/>
                <a:ea typeface="微软雅黑" panose="020B0503020204020204" pitchFamily="34" charset="-122"/>
              </a:rPr>
              <a:t>2.</a:t>
            </a:r>
            <a:r>
              <a:rPr lang="zh-CN" altLang="zh-CN" dirty="0">
                <a:solidFill>
                  <a:schemeClr val="bg1"/>
                </a:solidFill>
                <a:latin typeface="微软雅黑" panose="020B0503020204020204" pitchFamily="34" charset="-122"/>
                <a:ea typeface="微软雅黑" panose="020B0503020204020204" pitchFamily="34" charset="-122"/>
              </a:rPr>
              <a:t>邀请客户参与质量系统</a:t>
            </a:r>
            <a:r>
              <a:rPr lang="zh-CN" altLang="zh-CN" dirty="0" smtClean="0">
                <a:solidFill>
                  <a:schemeClr val="bg1"/>
                </a:solidFill>
                <a:latin typeface="微软雅黑" panose="020B0503020204020204" pitchFamily="34" charset="-122"/>
                <a:ea typeface="微软雅黑" panose="020B0503020204020204" pitchFamily="34" charset="-122"/>
              </a:rPr>
              <a:t>审计</a:t>
            </a: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zh-CN" dirty="0" smtClean="0">
                <a:solidFill>
                  <a:schemeClr val="bg1"/>
                </a:solidFill>
                <a:latin typeface="微软雅黑" panose="020B0503020204020204" pitchFamily="34" charset="-122"/>
                <a:ea typeface="微软雅黑" panose="020B0503020204020204" pitchFamily="34" charset="-122"/>
              </a:rPr>
              <a:t>意义</a:t>
            </a:r>
            <a:r>
              <a:rPr lang="zh-CN" altLang="zh-CN" dirty="0">
                <a:solidFill>
                  <a:schemeClr val="bg1"/>
                </a:solidFill>
                <a:latin typeface="微软雅黑" panose="020B0503020204020204" pitchFamily="34" charset="-122"/>
                <a:ea typeface="微软雅黑" panose="020B0503020204020204" pitchFamily="34" charset="-122"/>
              </a:rPr>
              <a:t>：让客户</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相信</a:t>
            </a:r>
            <a:r>
              <a:rPr lang="zh-CN" altLang="zh-CN" dirty="0">
                <a:solidFill>
                  <a:schemeClr val="bg1"/>
                </a:solidFill>
                <a:latin typeface="微软雅黑" panose="020B0503020204020204" pitchFamily="34" charset="-122"/>
                <a:ea typeface="微软雅黑" panose="020B0503020204020204" pitchFamily="34" charset="-122"/>
              </a:rPr>
              <a:t>他们能够提供满足其要求的产品或服务</a:t>
            </a:r>
          </a:p>
          <a:p>
            <a:pPr>
              <a:buClr>
                <a:srgbClr val="BFEF74"/>
              </a:buClr>
              <a:buFont typeface="Wingdings" panose="05000000000000000000" pitchFamily="2" charset="2"/>
              <a:buChar char="u"/>
            </a:pPr>
            <a:r>
              <a:rPr lang="en-US" altLang="zh-CN" dirty="0">
                <a:solidFill>
                  <a:schemeClr val="bg1"/>
                </a:solidFill>
                <a:latin typeface="微软雅黑" panose="020B0503020204020204" pitchFamily="34" charset="-122"/>
                <a:ea typeface="微软雅黑" panose="020B0503020204020204" pitchFamily="34" charset="-122"/>
              </a:rPr>
              <a:t>3.</a:t>
            </a:r>
            <a:r>
              <a:rPr lang="zh-CN" altLang="zh-CN" dirty="0">
                <a:solidFill>
                  <a:schemeClr val="bg1"/>
                </a:solidFill>
                <a:latin typeface="微软雅黑" panose="020B0503020204020204" pitchFamily="34" charset="-122"/>
                <a:ea typeface="微软雅黑" panose="020B0503020204020204" pitchFamily="34" charset="-122"/>
              </a:rPr>
              <a:t>使用独立质量系统认证实体的服务，以获取符合</a:t>
            </a:r>
            <a:r>
              <a:rPr lang="en-US" altLang="zh-CN" dirty="0">
                <a:solidFill>
                  <a:schemeClr val="bg1"/>
                </a:solidFill>
                <a:latin typeface="微软雅黑" panose="020B0503020204020204" pitchFamily="34" charset="-122"/>
                <a:ea typeface="微软雅黑" panose="020B0503020204020204" pitchFamily="34" charset="-122"/>
              </a:rPr>
              <a:t>ISO9000</a:t>
            </a:r>
            <a:r>
              <a:rPr lang="zh-CN" altLang="zh-CN" dirty="0">
                <a:solidFill>
                  <a:schemeClr val="bg1"/>
                </a:solidFill>
                <a:latin typeface="微软雅黑" panose="020B0503020204020204" pitchFamily="34" charset="-122"/>
                <a:ea typeface="微软雅黑" panose="020B0503020204020204" pitchFamily="34" charset="-122"/>
              </a:rPr>
              <a:t>的认证。意义：</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避免</a:t>
            </a:r>
            <a:r>
              <a:rPr lang="zh-CN" altLang="zh-CN" dirty="0">
                <a:solidFill>
                  <a:schemeClr val="bg1"/>
                </a:solidFill>
                <a:latin typeface="微软雅黑" panose="020B0503020204020204" pitchFamily="34" charset="-122"/>
                <a:ea typeface="微软雅黑" panose="020B0503020204020204" pitchFamily="34" charset="-122"/>
              </a:rPr>
              <a:t>了组织客户的多重审计，</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减少</a:t>
            </a:r>
            <a:r>
              <a:rPr lang="zh-CN" altLang="zh-CN" dirty="0">
                <a:solidFill>
                  <a:schemeClr val="bg1"/>
                </a:solidFill>
                <a:latin typeface="微软雅黑" panose="020B0503020204020204" pitchFamily="34" charset="-122"/>
                <a:ea typeface="微软雅黑" panose="020B0503020204020204" pitchFamily="34" charset="-122"/>
              </a:rPr>
              <a:t>了对客户审计的频率和时间</a:t>
            </a:r>
            <a:r>
              <a:rPr lang="zh-CN" altLang="zh-CN" dirty="0" smtClean="0">
                <a:solidFill>
                  <a:schemeClr val="bg1"/>
                </a:solidFill>
                <a:latin typeface="微软雅黑" panose="020B0503020204020204" pitchFamily="34" charset="-122"/>
                <a:ea typeface="微软雅黑" panose="020B0503020204020204" pitchFamily="34" charset="-122"/>
              </a:rPr>
              <a:t>。</a:t>
            </a:r>
            <a:endParaRPr lang="zh-CN" altLang="zh-CN"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907664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en-US" altLang="zh-CN" dirty="0" smtClean="0">
                <a:solidFill>
                  <a:schemeClr val="bg1"/>
                </a:solidFill>
                <a:latin typeface="方正兰亭黑_YS_GB18030" panose="03000502000000000000" pitchFamily="66" charset="-122"/>
                <a:ea typeface="方正兰亭黑_YS_GB18030" panose="03000502000000000000" pitchFamily="66" charset="-122"/>
              </a:rPr>
              <a:t>ISO</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认证的重要性体现在哪里？</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2"/>
          <a:stretch>
            <a:fillRect/>
          </a:stretch>
        </p:blipFill>
        <p:spPr>
          <a:xfrm>
            <a:off x="2362655" y="2848684"/>
            <a:ext cx="2996293" cy="2708188"/>
          </a:xfrm>
          <a:prstGeom prst="rect">
            <a:avLst/>
          </a:prstGeom>
        </p:spPr>
      </p:pic>
      <p:sp>
        <p:nvSpPr>
          <p:cNvPr id="6" name="内容占位符 5"/>
          <p:cNvSpPr>
            <a:spLocks noGrp="1"/>
          </p:cNvSpPr>
          <p:nvPr>
            <p:ph idx="1"/>
          </p:nvPr>
        </p:nvSpPr>
        <p:spPr>
          <a:xfrm>
            <a:off x="6049737" y="3442146"/>
            <a:ext cx="3486150" cy="1521265"/>
          </a:xfrm>
        </p:spPr>
        <p:txBody>
          <a:bodyPr>
            <a:normAutofit/>
          </a:bodyPr>
          <a:lstStyle/>
          <a:p>
            <a:pPr marL="0" indent="0">
              <a:buNone/>
            </a:pPr>
            <a:r>
              <a:rPr lang="zh-CN" altLang="en-US" dirty="0" smtClean="0">
                <a:solidFill>
                  <a:schemeClr val="bg1"/>
                </a:solidFill>
                <a:latin typeface="微软雅黑" panose="020B0503020204020204" pitchFamily="34" charset="-122"/>
                <a:ea typeface="微软雅黑" panose="020B0503020204020204" pitchFamily="34" charset="-122"/>
              </a:rPr>
              <a:t>相比组织审计与邀请客户一起审计，获得</a:t>
            </a:r>
            <a:r>
              <a:rPr lang="en-US" altLang="zh-CN" dirty="0" smtClean="0">
                <a:solidFill>
                  <a:schemeClr val="bg1"/>
                </a:solidFill>
                <a:latin typeface="微软雅黑" panose="020B0503020204020204" pitchFamily="34" charset="-122"/>
                <a:ea typeface="微软雅黑" panose="020B0503020204020204" pitchFamily="34" charset="-122"/>
              </a:rPr>
              <a:t>ISO</a:t>
            </a:r>
            <a:r>
              <a:rPr lang="zh-CN" altLang="en-US" smtClean="0">
                <a:solidFill>
                  <a:schemeClr val="bg1"/>
                </a:solidFill>
                <a:latin typeface="微软雅黑" panose="020B0503020204020204" pitchFamily="34" charset="-122"/>
                <a:ea typeface="微软雅黑" panose="020B0503020204020204" pitchFamily="34" charset="-122"/>
              </a:rPr>
              <a:t>认证有</a:t>
            </a:r>
            <a:r>
              <a:rPr lang="zh-CN" altLang="en-US" dirty="0" smtClean="0">
                <a:solidFill>
                  <a:schemeClr val="bg1"/>
                </a:solidFill>
                <a:latin typeface="微软雅黑" panose="020B0503020204020204" pitchFamily="34" charset="-122"/>
                <a:ea typeface="微软雅黑" panose="020B0503020204020204" pitchFamily="34" charset="-122"/>
              </a:rPr>
              <a:t>哪些优势？</a:t>
            </a:r>
            <a:endParaRPr lang="zh-CN" altLang="en-US"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0585827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en-US" altLang="zh-CN" dirty="0" smtClean="0">
                <a:solidFill>
                  <a:schemeClr val="bg1"/>
                </a:solidFill>
                <a:latin typeface="方正兰亭黑_YS_GB18030" panose="03000502000000000000" pitchFamily="66" charset="-122"/>
                <a:ea typeface="方正兰亭黑_YS_GB18030" panose="03000502000000000000" pitchFamily="66" charset="-122"/>
              </a:rPr>
              <a:t>ISO</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认证的重要性体现在哪里？</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1957958" y="2268310"/>
            <a:ext cx="8187528" cy="3972833"/>
          </a:xfrm>
        </p:spPr>
        <p:txBody>
          <a:bodyPr>
            <a:noAutofit/>
          </a:bodyPr>
          <a:lstStyle/>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可用作组织和潜在客户之间的业务参照</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缓解</a:t>
            </a:r>
            <a:r>
              <a:rPr lang="zh-CN" altLang="zh-CN" dirty="0">
                <a:solidFill>
                  <a:schemeClr val="bg1"/>
                </a:solidFill>
                <a:latin typeface="微软雅黑" panose="020B0503020204020204" pitchFamily="34" charset="-122"/>
                <a:ea typeface="微软雅黑" panose="020B0503020204020204" pitchFamily="34" charset="-122"/>
              </a:rPr>
              <a:t>风险。</a:t>
            </a:r>
            <a:r>
              <a:rPr lang="zh-CN" altLang="zh-CN" dirty="0" smtClean="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客户</a:t>
            </a:r>
            <a:r>
              <a:rPr lang="zh-CN" altLang="zh-CN" dirty="0" smtClean="0">
                <a:solidFill>
                  <a:schemeClr val="bg1"/>
                </a:solidFill>
                <a:latin typeface="微软雅黑" panose="020B0503020204020204" pitchFamily="34" charset="-122"/>
                <a:ea typeface="微软雅黑" panose="020B0503020204020204" pitchFamily="34" charset="-122"/>
              </a:rPr>
              <a:t>购买</a:t>
            </a:r>
            <a:r>
              <a:rPr lang="zh-CN" altLang="zh-CN" dirty="0">
                <a:solidFill>
                  <a:schemeClr val="bg1"/>
                </a:solidFill>
                <a:latin typeface="微软雅黑" panose="020B0503020204020204" pitchFamily="34" charset="-122"/>
                <a:ea typeface="微软雅黑" panose="020B0503020204020204" pitchFamily="34" charset="-122"/>
              </a:rPr>
              <a:t>或者商家提供的产品</a:t>
            </a:r>
            <a:r>
              <a:rPr lang="en-US" altLang="zh-CN" dirty="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服务不能满足质量要求</a:t>
            </a:r>
            <a:r>
              <a:rPr lang="zh-CN" altLang="zh-CN"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长期反复使用，对客户没有高要求。</a:t>
            </a:r>
            <a:endParaRPr lang="zh-CN" altLang="zh-CN"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880722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bg>
      <p:bgPr>
        <a:gradFill>
          <a:gsLst>
            <a:gs pos="3000">
              <a:schemeClr val="tx1">
                <a:lumMod val="65000"/>
                <a:lumOff val="35000"/>
              </a:schemeClr>
            </a:gs>
            <a:gs pos="100000">
              <a:schemeClr val="tx1"/>
            </a:gs>
          </a:gsLst>
          <a:path path="circle">
            <a:fillToRect l="50000" t="50000" r="50000" b="50000"/>
          </a:path>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怎么为</a:t>
            </a:r>
            <a:r>
              <a:rPr lang="en-US" altLang="zh-CN" dirty="0" smtClean="0">
                <a:solidFill>
                  <a:schemeClr val="bg1"/>
                </a:solidFill>
                <a:latin typeface="方正兰亭黑_YS_GB18030" panose="03000502000000000000" pitchFamily="66" charset="-122"/>
                <a:ea typeface="方正兰亭黑_YS_GB18030" panose="03000502000000000000" pitchFamily="66" charset="-122"/>
              </a:rPr>
              <a:t>ISO</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认证做准备？</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3461580" y="3284310"/>
            <a:ext cx="5188935" cy="1374776"/>
          </a:xfrm>
          <a:noFill/>
          <a:effectLst>
            <a:softEdge rad="0"/>
          </a:effectLst>
        </p:spPr>
        <p:txBody>
          <a:bodyPr>
            <a:noAutofit/>
          </a:bodyPr>
          <a:lstStyle/>
          <a:p>
            <a:pPr marL="0" indent="0">
              <a:buNone/>
            </a:pPr>
            <a:r>
              <a:rPr lang="zh-CN" altLang="en-US" sz="9600" dirty="0">
                <a:solidFill>
                  <a:schemeClr val="bg1"/>
                </a:solidFill>
                <a:latin typeface="Adobe 宋体 Std L" panose="02020300000000000000" pitchFamily="18" charset="-122"/>
                <a:ea typeface="Adobe 宋体 Std L" panose="02020300000000000000" pitchFamily="18" charset="-122"/>
              </a:rPr>
              <a:t>内部审计</a:t>
            </a:r>
            <a:endParaRPr lang="zh-CN" altLang="zh-CN" sz="9600" dirty="0">
              <a:solidFill>
                <a:schemeClr val="bg1"/>
              </a:solidFill>
              <a:latin typeface="Adobe 宋体 Std L" panose="02020300000000000000" pitchFamily="18" charset="-122"/>
              <a:ea typeface="Adobe 宋体 Std L" panose="02020300000000000000" pitchFamily="18"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3336759" y="3160296"/>
            <a:ext cx="5309937" cy="1475873"/>
          </a:xfrm>
          <a:prstGeom prst="rect">
            <a:avLst/>
          </a:prstGeom>
          <a:noFill/>
          <a:ln w="28575">
            <a:solidFill>
              <a:srgbClr val="BFEF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a:solidFill>
                <a:prstClr val="white"/>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6736640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3000">
              <a:schemeClr val="tx1">
                <a:lumMod val="65000"/>
                <a:lumOff val="35000"/>
              </a:schemeClr>
            </a:gs>
            <a:gs pos="100000">
              <a:schemeClr val="tx1"/>
            </a:gs>
          </a:gsLst>
          <a:path path="circle">
            <a:fillToRect l="50000" t="50000" r="50000" b="50000"/>
          </a:path>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怎么为</a:t>
            </a:r>
            <a:r>
              <a:rPr lang="en-US" altLang="zh-CN" dirty="0" smtClean="0">
                <a:solidFill>
                  <a:schemeClr val="bg1"/>
                </a:solidFill>
                <a:latin typeface="方正兰亭黑_YS_GB18030" panose="03000502000000000000" pitchFamily="66" charset="-122"/>
                <a:ea typeface="方正兰亭黑_YS_GB18030" panose="03000502000000000000" pitchFamily="66" charset="-122"/>
              </a:rPr>
              <a:t>ISO</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认证做准备？</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graphicFrame>
        <p:nvGraphicFramePr>
          <p:cNvPr id="5" name="内容占位符 4"/>
          <p:cNvGraphicFramePr>
            <a:graphicFrameLocks noGrp="1"/>
          </p:cNvGraphicFramePr>
          <p:nvPr>
            <p:ph idx="1"/>
            <p:extLst/>
          </p:nvPr>
        </p:nvGraphicFramePr>
        <p:xfrm>
          <a:off x="2676275" y="2273885"/>
          <a:ext cx="6515851" cy="38702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4684127" y="6451585"/>
            <a:ext cx="3620443" cy="369332"/>
          </a:xfrm>
          <a:prstGeom prst="rect">
            <a:avLst/>
          </a:prstGeom>
          <a:noFill/>
        </p:spPr>
        <p:txBody>
          <a:bodyPr wrap="square" rtlCol="0">
            <a:spAutoFit/>
          </a:bodyPr>
          <a:lstStyle/>
          <a:p>
            <a:pPr fontAlgn="auto">
              <a:spcBef>
                <a:spcPts val="0"/>
              </a:spcBef>
              <a:spcAft>
                <a:spcPts val="0"/>
              </a:spcAft>
            </a:pPr>
            <a:r>
              <a:rPr lang="en-US" altLang="zh-CN" dirty="0">
                <a:solidFill>
                  <a:prstClr val="white"/>
                </a:solidFill>
                <a:latin typeface="微软雅黑" panose="020B0503020204020204" pitchFamily="34" charset="-122"/>
                <a:ea typeface="微软雅黑" panose="020B0503020204020204" pitchFamily="34" charset="-122"/>
                <a:cs typeface="+mn-cs"/>
              </a:rPr>
              <a:t>Figure4:</a:t>
            </a:r>
            <a:r>
              <a:rPr lang="zh-CN" altLang="en-US" dirty="0">
                <a:solidFill>
                  <a:prstClr val="white"/>
                </a:solidFill>
                <a:latin typeface="微软雅黑" panose="020B0503020204020204" pitchFamily="34" charset="-122"/>
                <a:ea typeface="微软雅黑" panose="020B0503020204020204" pitchFamily="34" charset="-122"/>
                <a:cs typeface="+mn-cs"/>
              </a:rPr>
              <a:t>质量三角</a:t>
            </a:r>
          </a:p>
        </p:txBody>
      </p:sp>
    </p:spTree>
    <p:extLst>
      <p:ext uri="{BB962C8B-B14F-4D97-AF65-F5344CB8AC3E}">
        <p14:creationId xmlns:p14="http://schemas.microsoft.com/office/powerpoint/2010/main" val="286108093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为什么要内部审计？</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1957958" y="2268310"/>
            <a:ext cx="8187528" cy="3972833"/>
          </a:xfrm>
        </p:spPr>
        <p:txBody>
          <a:bodyPr>
            <a:noAutofit/>
          </a:bodyPr>
          <a:lstStyle/>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内部审计的目的是覆盖从实施到最终评估的整个系统。</a:t>
            </a:r>
            <a:r>
              <a:rPr lang="zh-CN" altLang="zh-CN" dirty="0" smtClean="0">
                <a:solidFill>
                  <a:schemeClr val="bg1"/>
                </a:solidFill>
                <a:latin typeface="微软雅黑" panose="020B0503020204020204" pitchFamily="34" charset="-122"/>
                <a:ea typeface="微软雅黑" panose="020B0503020204020204" pitchFamily="34" charset="-122"/>
              </a:rPr>
              <a:t>审计</a:t>
            </a:r>
            <a:r>
              <a:rPr lang="zh-CN" altLang="zh-CN" dirty="0">
                <a:solidFill>
                  <a:schemeClr val="bg1"/>
                </a:solidFill>
                <a:latin typeface="微软雅黑" panose="020B0503020204020204" pitchFamily="34" charset="-122"/>
                <a:ea typeface="微软雅黑" panose="020B0503020204020204" pitchFamily="34" charset="-122"/>
              </a:rPr>
              <a:t>对质量系统的有效运作是很重要的，即使不要求审计，如果没有该过程，质量系统会失去作用。</a:t>
            </a: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内部</a:t>
            </a:r>
            <a:r>
              <a:rPr lang="zh-CN" altLang="zh-CN" dirty="0">
                <a:solidFill>
                  <a:schemeClr val="bg1"/>
                </a:solidFill>
                <a:latin typeface="微软雅黑" panose="020B0503020204020204" pitchFamily="34" charset="-122"/>
                <a:ea typeface="微软雅黑" panose="020B0503020204020204" pitchFamily="34" charset="-122"/>
              </a:rPr>
              <a:t>审计能够反映外部评估员</a:t>
            </a:r>
            <a:r>
              <a:rPr lang="en-US" altLang="zh-CN" dirty="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审计员的工作，从而使公司可以较好为最终的评估</a:t>
            </a:r>
            <a:r>
              <a:rPr lang="en-US" altLang="zh-CN" dirty="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审计做好准备。内部审计与外部审计唯一不同之</a:t>
            </a:r>
            <a:r>
              <a:rPr lang="zh-CN" altLang="zh-CN" dirty="0" smtClean="0">
                <a:solidFill>
                  <a:schemeClr val="bg1"/>
                </a:solidFill>
                <a:latin typeface="微软雅黑" panose="020B0503020204020204" pitchFamily="34" charset="-122"/>
                <a:ea typeface="微软雅黑" panose="020B0503020204020204" pitchFamily="34" charset="-122"/>
              </a:rPr>
              <a:t>处</a:t>
            </a:r>
            <a:r>
              <a:rPr lang="zh-CN" altLang="en-US" dirty="0" smtClean="0">
                <a:solidFill>
                  <a:schemeClr val="bg1"/>
                </a:solidFill>
                <a:latin typeface="微软雅黑" panose="020B0503020204020204" pitchFamily="34" charset="-122"/>
                <a:ea typeface="微软雅黑" panose="020B0503020204020204" pitchFamily="34" charset="-122"/>
              </a:rPr>
              <a:t>可能</a:t>
            </a:r>
            <a:r>
              <a:rPr lang="zh-CN" altLang="zh-CN" dirty="0" smtClean="0">
                <a:solidFill>
                  <a:schemeClr val="bg1"/>
                </a:solidFill>
                <a:latin typeface="微软雅黑" panose="020B0503020204020204" pitchFamily="34" charset="-122"/>
                <a:ea typeface="微软雅黑" panose="020B0503020204020204" pitchFamily="34" charset="-122"/>
              </a:rPr>
              <a:t>是</a:t>
            </a:r>
            <a:r>
              <a:rPr lang="zh-CN" altLang="zh-CN" dirty="0">
                <a:solidFill>
                  <a:schemeClr val="bg1"/>
                </a:solidFill>
                <a:latin typeface="微软雅黑" panose="020B0503020204020204" pitchFamily="34" charset="-122"/>
                <a:ea typeface="微软雅黑" panose="020B0503020204020204" pitchFamily="34" charset="-122"/>
              </a:rPr>
              <a:t>内部审计通常更彻底全面严格。</a:t>
            </a: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267742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如何进行内部审计？</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pic>
        <p:nvPicPr>
          <p:cNvPr id="5" name="内容占位符 4"/>
          <p:cNvPicPr>
            <a:picLocks noGrp="1"/>
          </p:cNvPicPr>
          <p:nvPr>
            <p:ph idx="1"/>
          </p:nvPr>
        </p:nvPicPr>
        <p:blipFill>
          <a:blip r:embed="rId3"/>
          <a:stretch>
            <a:fillRect/>
          </a:stretch>
        </p:blipFill>
        <p:spPr>
          <a:xfrm>
            <a:off x="2078773" y="2101397"/>
            <a:ext cx="7941927" cy="4171067"/>
          </a:xfrm>
          <a:prstGeom prst="rect">
            <a:avLst/>
          </a:prstGeom>
        </p:spPr>
      </p:pic>
      <p:sp>
        <p:nvSpPr>
          <p:cNvPr id="6" name="文本框 5"/>
          <p:cNvSpPr txBox="1"/>
          <p:nvPr/>
        </p:nvSpPr>
        <p:spPr>
          <a:xfrm>
            <a:off x="4663620" y="6434259"/>
            <a:ext cx="3609523" cy="369332"/>
          </a:xfrm>
          <a:prstGeom prst="rect">
            <a:avLst/>
          </a:prstGeom>
          <a:noFill/>
        </p:spPr>
        <p:txBody>
          <a:bodyPr wrap="square" rtlCol="0">
            <a:spAutoFit/>
          </a:bodyPr>
          <a:lstStyle/>
          <a:p>
            <a:pPr fontAlgn="auto">
              <a:spcBef>
                <a:spcPts val="0"/>
              </a:spcBef>
              <a:spcAft>
                <a:spcPts val="0"/>
              </a:spcAft>
            </a:pPr>
            <a:r>
              <a:rPr lang="en-US" altLang="zh-CN" dirty="0">
                <a:solidFill>
                  <a:prstClr val="white"/>
                </a:solidFill>
                <a:latin typeface="微软雅黑" panose="020B0503020204020204" pitchFamily="34" charset="-122"/>
                <a:ea typeface="微软雅黑" panose="020B0503020204020204" pitchFamily="34" charset="-122"/>
                <a:cs typeface="+mn-cs"/>
              </a:rPr>
              <a:t>Figure5:ISO</a:t>
            </a:r>
            <a:r>
              <a:rPr lang="zh-CN" altLang="en-US" dirty="0">
                <a:solidFill>
                  <a:prstClr val="white"/>
                </a:solidFill>
                <a:latin typeface="微软雅黑" panose="020B0503020204020204" pitchFamily="34" charset="-122"/>
                <a:ea typeface="微软雅黑" panose="020B0503020204020204" pitchFamily="34" charset="-122"/>
                <a:cs typeface="+mn-cs"/>
              </a:rPr>
              <a:t>中对内部审计的说明</a:t>
            </a:r>
          </a:p>
        </p:txBody>
      </p:sp>
    </p:spTree>
    <p:extLst>
      <p:ext uri="{BB962C8B-B14F-4D97-AF65-F5344CB8AC3E}">
        <p14:creationId xmlns:p14="http://schemas.microsoft.com/office/powerpoint/2010/main" val="212075062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认证、评估和审计有什么区别？</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1957958" y="2268310"/>
            <a:ext cx="8187528" cy="3972833"/>
          </a:xfrm>
        </p:spPr>
        <p:txBody>
          <a:bodyPr>
            <a:noAutofit/>
          </a:bodyPr>
          <a:lstStyle/>
          <a:p>
            <a:pPr>
              <a:buClr>
                <a:srgbClr val="BFEF74"/>
              </a:buClr>
              <a:buFont typeface="Wingdings" panose="05000000000000000000" pitchFamily="2" charset="2"/>
              <a:buChar char="u"/>
            </a:pPr>
            <a:r>
              <a:rPr lang="zh-CN" altLang="en-US" dirty="0">
                <a:solidFill>
                  <a:schemeClr val="bg1"/>
                </a:solidFill>
                <a:latin typeface="微软雅黑" panose="020B0503020204020204" pitchFamily="34" charset="-122"/>
                <a:ea typeface="微软雅黑" panose="020B0503020204020204" pitchFamily="34" charset="-122"/>
              </a:rPr>
              <a:t>评估是将对感兴趣特性的实际测量与规格说明书中的这些特性进行比较的过程</a:t>
            </a:r>
            <a:r>
              <a:rPr lang="zh-CN" altLang="en-US" dirty="0" smtClean="0">
                <a:solidFill>
                  <a:schemeClr val="bg1"/>
                </a:solidFill>
                <a:latin typeface="微软雅黑" panose="020B0503020204020204" pitchFamily="34" charset="-122"/>
                <a:ea typeface="微软雅黑" panose="020B0503020204020204" pitchFamily="34" charset="-122"/>
              </a:rPr>
              <a:t>。评估不是审计，是</a:t>
            </a:r>
            <a:r>
              <a:rPr lang="zh-CN" altLang="en-US" dirty="0" smtClean="0">
                <a:solidFill>
                  <a:schemeClr val="tx2">
                    <a:lumMod val="60000"/>
                    <a:lumOff val="40000"/>
                  </a:schemeClr>
                </a:solidFill>
                <a:latin typeface="微软雅黑" panose="020B0503020204020204" pitchFamily="34" charset="-122"/>
                <a:ea typeface="微软雅黑" panose="020B0503020204020204" pitchFamily="34" charset="-122"/>
              </a:rPr>
              <a:t>评审和建议</a:t>
            </a:r>
            <a:r>
              <a:rPr lang="zh-CN" altLang="en-US" dirty="0" smtClean="0">
                <a:solidFill>
                  <a:schemeClr val="bg1"/>
                </a:solidFill>
                <a:latin typeface="微软雅黑" panose="020B0503020204020204" pitchFamily="34" charset="-122"/>
                <a:ea typeface="微软雅黑" panose="020B0503020204020204" pitchFamily="34" charset="-122"/>
              </a:rPr>
              <a:t>。</a:t>
            </a:r>
            <a:endParaRPr lang="zh-CN" altLang="en-US" dirty="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en-US" dirty="0">
                <a:solidFill>
                  <a:schemeClr val="bg1"/>
                </a:solidFill>
                <a:latin typeface="微软雅黑" panose="020B0503020204020204" pitchFamily="34" charset="-122"/>
                <a:ea typeface="微软雅黑" panose="020B0503020204020204" pitchFamily="34" charset="-122"/>
              </a:rPr>
              <a:t>审计（</a:t>
            </a:r>
            <a:r>
              <a:rPr lang="en-US" altLang="zh-CN" dirty="0">
                <a:solidFill>
                  <a:schemeClr val="bg1"/>
                </a:solidFill>
                <a:latin typeface="微软雅黑" panose="020B0503020204020204" pitchFamily="34" charset="-122"/>
                <a:ea typeface="微软雅黑" panose="020B0503020204020204" pitchFamily="34" charset="-122"/>
              </a:rPr>
              <a:t>IEEE</a:t>
            </a:r>
            <a:r>
              <a:rPr lang="zh-CN" altLang="en-US" dirty="0">
                <a:solidFill>
                  <a:schemeClr val="bg1"/>
                </a:solidFill>
                <a:latin typeface="微软雅黑" panose="020B0503020204020204" pitchFamily="34" charset="-122"/>
                <a:ea typeface="微软雅黑" panose="020B0503020204020204" pitchFamily="34" charset="-122"/>
              </a:rPr>
              <a:t>）：对一个或一组工作产品的独立检查，以评估她们与规格说明，标准，合同契约或其他准则的一致性。与外部人员实施的</a:t>
            </a:r>
            <a:r>
              <a:rPr lang="zh-CN" altLang="en-US" dirty="0">
                <a:solidFill>
                  <a:schemeClr val="tx2">
                    <a:lumMod val="60000"/>
                    <a:lumOff val="40000"/>
                  </a:schemeClr>
                </a:solidFill>
                <a:latin typeface="微软雅黑" panose="020B0503020204020204" pitchFamily="34" charset="-122"/>
                <a:ea typeface="微软雅黑" panose="020B0503020204020204" pitchFamily="34" charset="-122"/>
              </a:rPr>
              <a:t>正式审查</a:t>
            </a:r>
            <a:r>
              <a:rPr lang="zh-CN" altLang="en-US" dirty="0">
                <a:solidFill>
                  <a:schemeClr val="bg1"/>
                </a:solidFill>
                <a:latin typeface="微软雅黑" panose="020B0503020204020204" pitchFamily="34" charset="-122"/>
                <a:ea typeface="微软雅黑" panose="020B0503020204020204" pitchFamily="34" charset="-122"/>
              </a:rPr>
              <a:t>联系。</a:t>
            </a:r>
          </a:p>
          <a:p>
            <a:pPr>
              <a:buClr>
                <a:srgbClr val="BFEF74"/>
              </a:buClr>
              <a:buFont typeface="Wingdings" panose="05000000000000000000" pitchFamily="2" charset="2"/>
              <a:buChar char="u"/>
            </a:pPr>
            <a:r>
              <a:rPr lang="zh-CN" altLang="en-US" dirty="0">
                <a:solidFill>
                  <a:schemeClr val="bg1"/>
                </a:solidFill>
                <a:latin typeface="微软雅黑" panose="020B0503020204020204" pitchFamily="34" charset="-122"/>
                <a:ea typeface="微软雅黑" panose="020B0503020204020204" pitchFamily="34" charset="-122"/>
              </a:rPr>
              <a:t>认证：第三方对产品，过程，或服务符合指定特性的给出书面</a:t>
            </a:r>
            <a:r>
              <a:rPr lang="zh-CN" altLang="en-US" dirty="0">
                <a:solidFill>
                  <a:schemeClr val="tx2">
                    <a:lumMod val="60000"/>
                    <a:lumOff val="40000"/>
                  </a:schemeClr>
                </a:solidFill>
                <a:latin typeface="微软雅黑" panose="020B0503020204020204" pitchFamily="34" charset="-122"/>
                <a:ea typeface="微软雅黑" panose="020B0503020204020204" pitchFamily="34" charset="-122"/>
              </a:rPr>
              <a:t>保证</a:t>
            </a:r>
            <a:r>
              <a:rPr lang="zh-CN" altLang="en-US" dirty="0">
                <a:solidFill>
                  <a:schemeClr val="bg1"/>
                </a:solidFill>
                <a:latin typeface="微软雅黑" panose="020B0503020204020204" pitchFamily="34" charset="-122"/>
                <a:ea typeface="微软雅黑" panose="020B0503020204020204" pitchFamily="34" charset="-122"/>
              </a:rPr>
              <a:t>的过程。</a:t>
            </a:r>
          </a:p>
          <a:p>
            <a:pPr>
              <a:buClr>
                <a:srgbClr val="BFEF74"/>
              </a:buClr>
              <a:buFont typeface="Wingdings" panose="05000000000000000000" pitchFamily="2" charset="2"/>
              <a:buChar char="u"/>
            </a:pPr>
            <a:endParaRPr lang="zh-CN" altLang="en-US" dirty="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endParaRPr lang="zh-CN" altLang="zh-CN"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060592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评估和审计有哪些类型？</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1957958" y="2268310"/>
            <a:ext cx="8187528" cy="3972833"/>
          </a:xfrm>
        </p:spPr>
        <p:txBody>
          <a:bodyPr>
            <a:noAutofit/>
          </a:bodyPr>
          <a:lstStyle/>
          <a:p>
            <a:pPr>
              <a:buClr>
                <a:srgbClr val="BFEF74"/>
              </a:buClr>
              <a:buFont typeface="Wingdings" panose="05000000000000000000" pitchFamily="2" charset="2"/>
              <a:buChar char="u"/>
            </a:pPr>
            <a:r>
              <a:rPr lang="zh-CN" altLang="zh-CN" dirty="0">
                <a:solidFill>
                  <a:schemeClr val="bg1"/>
                </a:solidFill>
                <a:latin typeface="微软雅黑" panose="020B0503020204020204" pitchFamily="34" charset="-122"/>
                <a:ea typeface="微软雅黑" panose="020B0503020204020204" pitchFamily="34" charset="-122"/>
              </a:rPr>
              <a:t>自</a:t>
            </a:r>
            <a:r>
              <a:rPr lang="zh-CN" altLang="zh-CN" dirty="0" smtClean="0">
                <a:solidFill>
                  <a:schemeClr val="bg1"/>
                </a:solidFill>
                <a:latin typeface="微软雅黑" panose="020B0503020204020204" pitchFamily="34" charset="-122"/>
                <a:ea typeface="微软雅黑" panose="020B0503020204020204" pitchFamily="34" charset="-122"/>
              </a:rPr>
              <a:t>评估</a:t>
            </a: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zh-CN" dirty="0" smtClean="0">
                <a:solidFill>
                  <a:schemeClr val="bg1"/>
                </a:solidFill>
                <a:latin typeface="微软雅黑" panose="020B0503020204020204" pitchFamily="34" charset="-122"/>
                <a:ea typeface="微软雅黑" panose="020B0503020204020204" pitchFamily="34" charset="-122"/>
              </a:rPr>
              <a:t>第二</a:t>
            </a:r>
            <a:r>
              <a:rPr lang="zh-CN" altLang="zh-CN" dirty="0">
                <a:solidFill>
                  <a:schemeClr val="bg1"/>
                </a:solidFill>
                <a:latin typeface="微软雅黑" panose="020B0503020204020204" pitchFamily="34" charset="-122"/>
                <a:ea typeface="微软雅黑" panose="020B0503020204020204" pitchFamily="34" charset="-122"/>
              </a:rPr>
              <a:t>方评估（能力确定</a:t>
            </a:r>
            <a:r>
              <a:rPr lang="zh-CN"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zh-CN" dirty="0" smtClean="0">
                <a:solidFill>
                  <a:schemeClr val="bg1"/>
                </a:solidFill>
                <a:latin typeface="微软雅黑" panose="020B0503020204020204" pitchFamily="34" charset="-122"/>
                <a:ea typeface="微软雅黑" panose="020B0503020204020204" pitchFamily="34" charset="-122"/>
              </a:rPr>
              <a:t>第三</a:t>
            </a:r>
            <a:r>
              <a:rPr lang="zh-CN" altLang="zh-CN" dirty="0">
                <a:solidFill>
                  <a:schemeClr val="bg1"/>
                </a:solidFill>
                <a:latin typeface="微软雅黑" panose="020B0503020204020204" pitchFamily="34" charset="-122"/>
                <a:ea typeface="微软雅黑" panose="020B0503020204020204" pitchFamily="34" charset="-122"/>
              </a:rPr>
              <a:t>方评估（能力决定</a:t>
            </a:r>
            <a:r>
              <a:rPr lang="zh-CN" altLang="zh-CN"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a:solidFill>
                  <a:schemeClr val="bg1"/>
                </a:solidFill>
                <a:latin typeface="微软雅黑" panose="020B0503020204020204" pitchFamily="34" charset="-122"/>
                <a:ea typeface="微软雅黑" panose="020B0503020204020204" pitchFamily="34" charset="-122"/>
              </a:rPr>
              <a:t>审计类型：第一方审计（内部</a:t>
            </a:r>
            <a:r>
              <a:rPr lang="zh-CN"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zh-CN" dirty="0" smtClean="0">
                <a:solidFill>
                  <a:schemeClr val="bg1"/>
                </a:solidFill>
                <a:latin typeface="微软雅黑" panose="020B0503020204020204" pitchFamily="34" charset="-122"/>
                <a:ea typeface="微软雅黑" panose="020B0503020204020204" pitchFamily="34" charset="-122"/>
              </a:rPr>
              <a:t>第二</a:t>
            </a:r>
            <a:r>
              <a:rPr lang="zh-CN" altLang="zh-CN" dirty="0">
                <a:solidFill>
                  <a:schemeClr val="bg1"/>
                </a:solidFill>
                <a:latin typeface="微软雅黑" panose="020B0503020204020204" pitchFamily="34" charset="-122"/>
                <a:ea typeface="微软雅黑" panose="020B0503020204020204" pitchFamily="34" charset="-122"/>
              </a:rPr>
              <a:t>方审计（客户</a:t>
            </a:r>
            <a:r>
              <a:rPr lang="zh-CN"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zh-CN" dirty="0" smtClean="0">
                <a:solidFill>
                  <a:schemeClr val="bg1"/>
                </a:solidFill>
                <a:latin typeface="微软雅黑" panose="020B0503020204020204" pitchFamily="34" charset="-122"/>
                <a:ea typeface="微软雅黑" panose="020B0503020204020204" pitchFamily="34" charset="-122"/>
              </a:rPr>
              <a:t>第三</a:t>
            </a:r>
            <a:r>
              <a:rPr lang="zh-CN" altLang="zh-CN" dirty="0">
                <a:solidFill>
                  <a:schemeClr val="bg1"/>
                </a:solidFill>
                <a:latin typeface="微软雅黑" panose="020B0503020204020204" pitchFamily="34" charset="-122"/>
                <a:ea typeface="微软雅黑" panose="020B0503020204020204" pitchFamily="34" charset="-122"/>
              </a:rPr>
              <a:t>方审计（外部中立团体</a:t>
            </a:r>
            <a:r>
              <a:rPr lang="zh-CN" altLang="zh-CN"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endParaRPr lang="en-US" altLang="zh-CN" dirty="0">
              <a:solidFill>
                <a:schemeClr val="bg1"/>
              </a:solidFill>
              <a:latin typeface="微软雅黑" panose="020B0503020204020204" pitchFamily="34" charset="-122"/>
              <a:ea typeface="微软雅黑" panose="020B0503020204020204" pitchFamily="34" charset="-122"/>
            </a:endParaRPr>
          </a:p>
          <a:p>
            <a:pPr marL="0" indent="0" algn="ctr">
              <a:buClr>
                <a:srgbClr val="BFEF74"/>
              </a:buClr>
              <a:buNone/>
            </a:pPr>
            <a:endParaRPr lang="zh-CN" altLang="zh-CN" dirty="0">
              <a:solidFill>
                <a:schemeClr val="tx2">
                  <a:lumMod val="60000"/>
                  <a:lumOff val="40000"/>
                </a:schemeClr>
              </a:solidFill>
              <a:latin typeface="汉仪南宫体简" panose="02010106010101010101" pitchFamily="2" charset="-122"/>
              <a:ea typeface="汉仪南宫体简" panose="02010106010101010101" pitchFamily="2" charset="-122"/>
            </a:endParaRPr>
          </a:p>
          <a:p>
            <a:pPr algn="ctr">
              <a:buClr>
                <a:srgbClr val="BFEF74"/>
              </a:buClr>
              <a:buFont typeface="Wingdings" panose="05000000000000000000" pitchFamily="2" charset="2"/>
              <a:buChar char="u"/>
            </a:pPr>
            <a:endParaRPr lang="zh-CN" altLang="en-US"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endParaRPr lang="zh-CN" altLang="zh-CN"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986186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评估</a:t>
            </a:r>
            <a:r>
              <a:rPr lang="en-US" altLang="zh-CN" dirty="0" smtClean="0">
                <a:solidFill>
                  <a:schemeClr val="bg1"/>
                </a:solidFill>
                <a:latin typeface="方正兰亭黑_YS_GB18030" panose="03000502000000000000" pitchFamily="66" charset="-122"/>
                <a:ea typeface="方正兰亭黑_YS_GB18030" panose="03000502000000000000" pitchFamily="66" charset="-122"/>
              </a:rPr>
              <a:t>/</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审计准备如何进行？</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1957958" y="2268310"/>
            <a:ext cx="8187528" cy="3972833"/>
          </a:xfrm>
        </p:spPr>
        <p:txBody>
          <a:bodyPr>
            <a:noAutofit/>
          </a:bodyPr>
          <a:lstStyle/>
          <a:p>
            <a:pPr marL="0" indent="0">
              <a:buClr>
                <a:srgbClr val="BFEF74"/>
              </a:buClr>
              <a:buNone/>
            </a:pPr>
            <a:endParaRPr lang="zh-CN" altLang="en-US" dirty="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酝酿期：</a:t>
            </a:r>
            <a:r>
              <a:rPr lang="en-US" altLang="zh-CN" dirty="0" smtClean="0">
                <a:solidFill>
                  <a:schemeClr val="bg1"/>
                </a:solidFill>
                <a:latin typeface="微软雅黑" panose="020B0503020204020204" pitchFamily="34" charset="-122"/>
                <a:ea typeface="微软雅黑" panose="020B0503020204020204" pitchFamily="34" charset="-122"/>
              </a:rPr>
              <a:t>3</a:t>
            </a:r>
            <a:r>
              <a:rPr lang="zh-CN" altLang="en-US" dirty="0">
                <a:solidFill>
                  <a:schemeClr val="bg1"/>
                </a:solidFill>
                <a:latin typeface="微软雅黑" panose="020B0503020204020204" pitchFamily="34" charset="-122"/>
                <a:ea typeface="微软雅黑" panose="020B0503020204020204" pitchFamily="34" charset="-122"/>
              </a:rPr>
              <a:t>个</a:t>
            </a:r>
            <a:r>
              <a:rPr lang="zh-CN" altLang="en-US" dirty="0" smtClean="0">
                <a:solidFill>
                  <a:schemeClr val="bg1"/>
                </a:solidFill>
                <a:latin typeface="微软雅黑" panose="020B0503020204020204" pitchFamily="34" charset="-122"/>
                <a:ea typeface="微软雅黑" panose="020B0503020204020204" pitchFamily="34" charset="-122"/>
              </a:rPr>
              <a:t>月 建立</a:t>
            </a:r>
            <a:r>
              <a:rPr lang="zh-CN" altLang="en-US" dirty="0">
                <a:solidFill>
                  <a:schemeClr val="bg1"/>
                </a:solidFill>
                <a:latin typeface="微软雅黑" panose="020B0503020204020204" pitchFamily="34" charset="-122"/>
                <a:ea typeface="微软雅黑" panose="020B0503020204020204" pitchFamily="34" charset="-122"/>
              </a:rPr>
              <a:t>数据集：如观察员工，与之谈话。</a:t>
            </a:r>
          </a:p>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评估过程：</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0" indent="0">
              <a:buClr>
                <a:srgbClr val="BFEF74"/>
              </a:buClr>
              <a:buNone/>
            </a:pPr>
            <a:r>
              <a:rPr lang="en-US" altLang="zh-CN" dirty="0">
                <a:solidFill>
                  <a:schemeClr val="bg1"/>
                </a:solidFill>
                <a:latin typeface="微软雅黑" panose="020B0503020204020204" pitchFamily="34" charset="-122"/>
                <a:ea typeface="微软雅黑" panose="020B0503020204020204" pitchFamily="34" charset="-122"/>
              </a:rPr>
              <a:t> </a:t>
            </a:r>
            <a:r>
              <a:rPr lang="en-US" altLang="zh-CN" dirty="0" smtClean="0">
                <a:solidFill>
                  <a:schemeClr val="bg1"/>
                </a:solidFill>
                <a:latin typeface="微软雅黑" panose="020B0503020204020204" pitchFamily="34" charset="-122"/>
                <a:ea typeface="微软雅黑" panose="020B0503020204020204" pitchFamily="34" charset="-122"/>
              </a:rPr>
              <a:t>   </a:t>
            </a:r>
            <a:r>
              <a:rPr lang="zh-CN" altLang="en-US" dirty="0" smtClean="0">
                <a:solidFill>
                  <a:schemeClr val="bg1"/>
                </a:solidFill>
                <a:latin typeface="微软雅黑" panose="020B0503020204020204" pitchFamily="34" charset="-122"/>
                <a:ea typeface="微软雅黑" panose="020B0503020204020204" pitchFamily="34" charset="-122"/>
              </a:rPr>
              <a:t>首先进行内部</a:t>
            </a:r>
            <a:r>
              <a:rPr lang="zh-CN" altLang="en-US" dirty="0">
                <a:solidFill>
                  <a:schemeClr val="bg1"/>
                </a:solidFill>
                <a:latin typeface="微软雅黑" panose="020B0503020204020204" pitchFamily="34" charset="-122"/>
                <a:ea typeface="微软雅黑" panose="020B0503020204020204" pitchFamily="34" charset="-122"/>
              </a:rPr>
              <a:t>审计人员</a:t>
            </a:r>
            <a:r>
              <a:rPr lang="zh-CN" altLang="en-US" dirty="0" smtClean="0">
                <a:solidFill>
                  <a:schemeClr val="bg1"/>
                </a:solidFill>
                <a:latin typeface="微软雅黑" panose="020B0503020204020204" pitchFamily="34" charset="-122"/>
                <a:ea typeface="微软雅黑" panose="020B0503020204020204" pitchFamily="34" charset="-122"/>
              </a:rPr>
              <a:t>评估</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0" indent="0">
              <a:buClr>
                <a:srgbClr val="BFEF74"/>
              </a:buClr>
              <a:buNone/>
            </a:pPr>
            <a:r>
              <a:rPr lang="zh-CN" altLang="en-US" dirty="0" smtClean="0">
                <a:solidFill>
                  <a:schemeClr val="bg1"/>
                </a:solidFill>
                <a:latin typeface="微软雅黑" panose="020B0503020204020204" pitchFamily="34" charset="-122"/>
                <a:ea typeface="微软雅黑" panose="020B0503020204020204" pitchFamily="34" charset="-122"/>
              </a:rPr>
              <a:t>    此后两个选择：外部</a:t>
            </a:r>
            <a:r>
              <a:rPr lang="zh-CN" altLang="en-US" dirty="0">
                <a:solidFill>
                  <a:schemeClr val="bg1"/>
                </a:solidFill>
                <a:latin typeface="微软雅黑" panose="020B0503020204020204" pitchFamily="34" charset="-122"/>
                <a:ea typeface="微软雅黑" panose="020B0503020204020204" pitchFamily="34" charset="-122"/>
              </a:rPr>
              <a:t>人员进行预评估（提出更多诊断性因素）</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直接最终评估</a:t>
            </a:r>
          </a:p>
          <a:p>
            <a:pPr>
              <a:buClr>
                <a:srgbClr val="BFEF74"/>
              </a:buClr>
              <a:buFont typeface="Wingdings" panose="05000000000000000000" pitchFamily="2" charset="2"/>
              <a:buChar char="u"/>
            </a:pPr>
            <a:endParaRPr lang="zh-CN" altLang="zh-CN"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85182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评估过程是怎样的？</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1934354" y="2101396"/>
            <a:ext cx="8075921" cy="4315446"/>
          </a:xfrm>
        </p:spPr>
        <p:txBody>
          <a:bodyPr>
            <a:noAutofit/>
          </a:bodyPr>
          <a:lstStyle/>
          <a:p>
            <a:pPr>
              <a:buClr>
                <a:srgbClr val="BFEF74"/>
              </a:buClr>
              <a:buFont typeface="Wingdings" panose="05000000000000000000" pitchFamily="2" charset="2"/>
              <a:buChar char="u"/>
            </a:pPr>
            <a:r>
              <a:rPr lang="en-US" altLang="zh-CN" dirty="0" smtClean="0">
                <a:solidFill>
                  <a:schemeClr val="bg1"/>
                </a:solidFill>
                <a:latin typeface="微软雅黑" panose="020B0503020204020204" pitchFamily="34" charset="-122"/>
                <a:ea typeface="微软雅黑" panose="020B0503020204020204" pitchFamily="34" charset="-122"/>
              </a:rPr>
              <a:t>1.</a:t>
            </a:r>
            <a:r>
              <a:rPr lang="zh-CN" altLang="en-US" dirty="0" smtClean="0">
                <a:solidFill>
                  <a:schemeClr val="bg1"/>
                </a:solidFill>
                <a:latin typeface="微软雅黑" panose="020B0503020204020204" pitchFamily="34" charset="-122"/>
                <a:ea typeface="微软雅黑" panose="020B0503020204020204" pitchFamily="34" charset="-122"/>
              </a:rPr>
              <a:t>签订合同后，与</a:t>
            </a:r>
            <a:r>
              <a:rPr lang="en-US" altLang="zh-CN" dirty="0" smtClean="0">
                <a:solidFill>
                  <a:schemeClr val="bg1"/>
                </a:solidFill>
                <a:latin typeface="微软雅黑" panose="020B0503020204020204" pitchFamily="34" charset="-122"/>
                <a:ea typeface="微软雅黑" panose="020B0503020204020204" pitchFamily="34" charset="-122"/>
              </a:rPr>
              <a:t>MR</a:t>
            </a:r>
            <a:r>
              <a:rPr lang="zh-CN" altLang="en-US" dirty="0" smtClean="0">
                <a:solidFill>
                  <a:schemeClr val="bg1"/>
                </a:solidFill>
                <a:latin typeface="微软雅黑" panose="020B0503020204020204" pitchFamily="34" charset="-122"/>
                <a:ea typeface="微软雅黑" panose="020B0503020204020204" pitchFamily="34" charset="-122"/>
              </a:rPr>
              <a:t>（客户</a:t>
            </a:r>
            <a:r>
              <a:rPr lang="zh-CN" altLang="en-US" dirty="0">
                <a:solidFill>
                  <a:schemeClr val="bg1"/>
                </a:solidFill>
                <a:latin typeface="微软雅黑" panose="020B0503020204020204" pitchFamily="34" charset="-122"/>
                <a:ea typeface="微软雅黑" panose="020B0503020204020204" pitchFamily="34" charset="-122"/>
              </a:rPr>
              <a:t>组织任命的与</a:t>
            </a:r>
            <a:r>
              <a:rPr lang="zh-CN" altLang="en-US" dirty="0" smtClean="0">
                <a:solidFill>
                  <a:schemeClr val="bg1"/>
                </a:solidFill>
                <a:latin typeface="微软雅黑" panose="020B0503020204020204" pitchFamily="34" charset="-122"/>
                <a:ea typeface="微软雅黑" panose="020B0503020204020204" pitchFamily="34" charset="-122"/>
              </a:rPr>
              <a:t>外部评估</a:t>
            </a:r>
            <a:r>
              <a:rPr lang="zh-CN" altLang="en-US" dirty="0">
                <a:solidFill>
                  <a:schemeClr val="bg1"/>
                </a:solidFill>
                <a:latin typeface="微软雅黑" panose="020B0503020204020204" pitchFamily="34" charset="-122"/>
                <a:ea typeface="微软雅黑" panose="020B0503020204020204" pitchFamily="34" charset="-122"/>
              </a:rPr>
              <a:t>人员联络的管理</a:t>
            </a:r>
            <a:r>
              <a:rPr lang="zh-CN" altLang="en-US" dirty="0" smtClean="0">
                <a:solidFill>
                  <a:schemeClr val="bg1"/>
                </a:solidFill>
                <a:latin typeface="微软雅黑" panose="020B0503020204020204" pitchFamily="34" charset="-122"/>
                <a:ea typeface="微软雅黑" panose="020B0503020204020204" pitchFamily="34" charset="-122"/>
              </a:rPr>
              <a:t>代表）就细节</a:t>
            </a:r>
            <a:r>
              <a:rPr lang="zh-CN" altLang="en-US" dirty="0" smtClean="0">
                <a:solidFill>
                  <a:schemeClr val="tx2">
                    <a:lumMod val="60000"/>
                    <a:lumOff val="40000"/>
                  </a:schemeClr>
                </a:solidFill>
                <a:latin typeface="微软雅黑" panose="020B0503020204020204" pitchFamily="34" charset="-122"/>
                <a:ea typeface="微软雅黑" panose="020B0503020204020204" pitchFamily="34" charset="-122"/>
              </a:rPr>
              <a:t>达成一致</a:t>
            </a:r>
            <a:r>
              <a:rPr lang="zh-CN" altLang="en-US" dirty="0" smtClean="0">
                <a:solidFill>
                  <a:schemeClr val="bg1"/>
                </a:solidFill>
                <a:latin typeface="微软雅黑" panose="020B0503020204020204" pitchFamily="34" charset="-122"/>
                <a:ea typeface="微软雅黑" panose="020B0503020204020204" pitchFamily="34" charset="-122"/>
              </a:rPr>
              <a:t>：如确定时间表。</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en-US" altLang="zh-CN" dirty="0" smtClean="0">
                <a:solidFill>
                  <a:schemeClr val="bg1"/>
                </a:solidFill>
                <a:latin typeface="微软雅黑" panose="020B0503020204020204" pitchFamily="34" charset="-122"/>
                <a:ea typeface="微软雅黑" panose="020B0503020204020204" pitchFamily="34" charset="-122"/>
              </a:rPr>
              <a:t>2.</a:t>
            </a:r>
            <a:r>
              <a:rPr lang="zh-CN" altLang="en-US" dirty="0">
                <a:solidFill>
                  <a:schemeClr val="tx2">
                    <a:lumMod val="60000"/>
                    <a:lumOff val="40000"/>
                  </a:schemeClr>
                </a:solidFill>
                <a:latin typeface="微软雅黑" panose="020B0503020204020204" pitchFamily="34" charset="-122"/>
                <a:ea typeface="微软雅黑" panose="020B0503020204020204" pitchFamily="34" charset="-122"/>
              </a:rPr>
              <a:t>文档</a:t>
            </a:r>
            <a:r>
              <a:rPr lang="zh-CN" altLang="en-US" dirty="0">
                <a:solidFill>
                  <a:schemeClr val="bg1"/>
                </a:solidFill>
                <a:latin typeface="微软雅黑" panose="020B0503020204020204" pitchFamily="34" charset="-122"/>
                <a:ea typeface="微软雅黑" panose="020B0503020204020204" pitchFamily="34" charset="-122"/>
              </a:rPr>
              <a:t>审查：确定质量系统的文档是否满足</a:t>
            </a:r>
            <a:r>
              <a:rPr lang="en-US" altLang="zh-CN" dirty="0">
                <a:solidFill>
                  <a:schemeClr val="bg1"/>
                </a:solidFill>
                <a:latin typeface="微软雅黑" panose="020B0503020204020204" pitchFamily="34" charset="-122"/>
                <a:ea typeface="微软雅黑" panose="020B0503020204020204" pitchFamily="34" charset="-122"/>
              </a:rPr>
              <a:t>ISO</a:t>
            </a:r>
            <a:r>
              <a:rPr lang="zh-CN" altLang="en-US" dirty="0">
                <a:solidFill>
                  <a:schemeClr val="bg1"/>
                </a:solidFill>
                <a:latin typeface="微软雅黑" panose="020B0503020204020204" pitchFamily="34" charset="-122"/>
                <a:ea typeface="微软雅黑" panose="020B0503020204020204" pitchFamily="34" charset="-122"/>
              </a:rPr>
              <a:t>标准要求</a:t>
            </a:r>
            <a:r>
              <a:rPr lang="zh-CN" altLang="en-US"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0" indent="0">
              <a:buClr>
                <a:srgbClr val="BFEF74"/>
              </a:buClr>
              <a:buNone/>
            </a:pPr>
            <a:r>
              <a:rPr lang="zh-CN" altLang="en-US" dirty="0" smtClean="0">
                <a:solidFill>
                  <a:schemeClr val="bg1"/>
                </a:solidFill>
                <a:latin typeface="微软雅黑" panose="020B0503020204020204" pitchFamily="34" charset="-122"/>
                <a:ea typeface="微软雅黑" panose="020B0503020204020204" pitchFamily="34" charset="-122"/>
              </a:rPr>
              <a:t>   方法</a:t>
            </a:r>
            <a:r>
              <a:rPr lang="zh-CN" altLang="en-US" dirty="0">
                <a:solidFill>
                  <a:schemeClr val="bg1"/>
                </a:solidFill>
                <a:latin typeface="微软雅黑" panose="020B0503020204020204" pitchFamily="34" charset="-122"/>
                <a:ea typeface="微软雅黑" panose="020B0503020204020204" pitchFamily="34" charset="-122"/>
              </a:rPr>
              <a:t>：现场调查，特殊访问</a:t>
            </a:r>
            <a:r>
              <a:rPr lang="zh-CN" altLang="en-US"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0" indent="0">
              <a:buClr>
                <a:srgbClr val="BFEF74"/>
              </a:buClr>
              <a:buNone/>
            </a:pPr>
            <a:r>
              <a:rPr lang="zh-CN" altLang="en-US" dirty="0" smtClean="0">
                <a:solidFill>
                  <a:schemeClr val="bg1"/>
                </a:solidFill>
                <a:latin typeface="微软雅黑" panose="020B0503020204020204" pitchFamily="34" charset="-122"/>
                <a:ea typeface="微软雅黑" panose="020B0503020204020204" pitchFamily="34" charset="-122"/>
              </a:rPr>
              <a:t>   现场调查需要全程参与，与评估人员一起讨论解</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0" indent="0">
              <a:buClr>
                <a:srgbClr val="BFEF74"/>
              </a:buClr>
              <a:buNone/>
            </a:pPr>
            <a:r>
              <a:rPr lang="en-US" altLang="zh-CN" dirty="0">
                <a:solidFill>
                  <a:schemeClr val="bg1"/>
                </a:solidFill>
                <a:latin typeface="微软雅黑" panose="020B0503020204020204" pitchFamily="34" charset="-122"/>
                <a:ea typeface="微软雅黑" panose="020B0503020204020204" pitchFamily="34" charset="-122"/>
              </a:rPr>
              <a:t>  </a:t>
            </a:r>
            <a:r>
              <a:rPr lang="en-US" altLang="zh-CN" dirty="0" smtClean="0">
                <a:solidFill>
                  <a:schemeClr val="bg1"/>
                </a:solidFill>
                <a:latin typeface="微软雅黑" panose="020B0503020204020204" pitchFamily="34" charset="-122"/>
                <a:ea typeface="微软雅黑" panose="020B0503020204020204" pitchFamily="34" charset="-122"/>
              </a:rPr>
              <a:t> </a:t>
            </a:r>
            <a:r>
              <a:rPr lang="zh-CN" altLang="en-US" dirty="0" smtClean="0">
                <a:solidFill>
                  <a:schemeClr val="bg1"/>
                </a:solidFill>
                <a:latin typeface="微软雅黑" panose="020B0503020204020204" pitchFamily="34" charset="-122"/>
                <a:ea typeface="微软雅黑" panose="020B0503020204020204" pitchFamily="34" charset="-122"/>
              </a:rPr>
              <a:t>决提出的问题。</a:t>
            </a:r>
            <a:endParaRPr lang="zh-CN" altLang="en-US" dirty="0">
              <a:solidFill>
                <a:schemeClr val="bg1"/>
              </a:solidFill>
              <a:latin typeface="微软雅黑" panose="020B0503020204020204" pitchFamily="34" charset="-122"/>
              <a:ea typeface="微软雅黑" panose="020B0503020204020204" pitchFamily="34" charset="-122"/>
            </a:endParaRPr>
          </a:p>
          <a:p>
            <a:pPr marL="0" indent="0">
              <a:buClr>
                <a:srgbClr val="BFEF74"/>
              </a:buClr>
              <a:buNone/>
            </a:pPr>
            <a:endParaRPr lang="zh-CN" altLang="zh-CN"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110270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评估过程是怎样的？</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1934354" y="1812258"/>
            <a:ext cx="8075921" cy="4604584"/>
          </a:xfrm>
        </p:spPr>
        <p:txBody>
          <a:bodyPr>
            <a:noAutofit/>
          </a:bodyPr>
          <a:lstStyle/>
          <a:p>
            <a:pPr marL="0" indent="0">
              <a:buClr>
                <a:srgbClr val="BFEF74"/>
              </a:buClr>
              <a:buNone/>
            </a:pPr>
            <a:endParaRPr lang="zh-CN"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en-US" altLang="zh-CN" dirty="0">
                <a:solidFill>
                  <a:schemeClr val="bg1"/>
                </a:solidFill>
                <a:latin typeface="微软雅黑" panose="020B0503020204020204" pitchFamily="34" charset="-122"/>
                <a:ea typeface="微软雅黑" panose="020B0503020204020204" pitchFamily="34" charset="-122"/>
              </a:rPr>
              <a:t>3</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对</a:t>
            </a:r>
            <a:r>
              <a:rPr lang="en-US" altLang="zh-CN" dirty="0">
                <a:solidFill>
                  <a:schemeClr val="tx2">
                    <a:lumMod val="60000"/>
                    <a:lumOff val="40000"/>
                  </a:schemeClr>
                </a:solidFill>
                <a:latin typeface="微软雅黑" panose="020B0503020204020204" pitchFamily="34" charset="-122"/>
                <a:ea typeface="微软雅黑" panose="020B0503020204020204" pitchFamily="34" charset="-122"/>
              </a:rPr>
              <a:t>QMS</a:t>
            </a:r>
            <a:r>
              <a:rPr lang="zh-CN" altLang="zh-CN" dirty="0">
                <a:solidFill>
                  <a:schemeClr val="bg1"/>
                </a:solidFill>
                <a:latin typeface="微软雅黑" panose="020B0503020204020204" pitchFamily="34" charset="-122"/>
                <a:ea typeface="微软雅黑" panose="020B0503020204020204" pitchFamily="34" charset="-122"/>
              </a:rPr>
              <a:t>每个元素是否得到</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有效实施</a:t>
            </a:r>
            <a:r>
              <a:rPr lang="zh-CN" altLang="zh-CN" dirty="0">
                <a:solidFill>
                  <a:schemeClr val="bg1"/>
                </a:solidFill>
                <a:latin typeface="微软雅黑" panose="020B0503020204020204" pitchFamily="34" charset="-122"/>
                <a:ea typeface="微软雅黑" panose="020B0503020204020204" pitchFamily="34" charset="-122"/>
              </a:rPr>
              <a:t>和规程</a:t>
            </a:r>
            <a:r>
              <a:rPr lang="en-US" altLang="zh-CN" dirty="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过程是否得到遵守进行系统检查</a:t>
            </a:r>
            <a:r>
              <a:rPr lang="zh-CN" altLang="zh-CN" dirty="0" smtClean="0">
                <a:solidFill>
                  <a:schemeClr val="bg1"/>
                </a:solidFill>
                <a:latin typeface="微软雅黑" panose="020B0503020204020204" pitchFamily="34" charset="-122"/>
                <a:ea typeface="微软雅黑" panose="020B0503020204020204" pitchFamily="34" charset="-122"/>
              </a:rPr>
              <a:t>，通过内部审计方法实现。</a:t>
            </a:r>
            <a:r>
              <a:rPr lang="zh-CN" altLang="en-US" dirty="0" smtClean="0">
                <a:solidFill>
                  <a:schemeClr val="bg1"/>
                </a:solidFill>
                <a:latin typeface="微软雅黑" panose="020B0503020204020204" pitchFamily="34" charset="-122"/>
                <a:ea typeface="微软雅黑" panose="020B0503020204020204" pitchFamily="34" charset="-122"/>
              </a:rPr>
              <a:t>检查</a:t>
            </a:r>
            <a:r>
              <a:rPr lang="zh-CN" altLang="zh-CN" dirty="0" smtClean="0">
                <a:solidFill>
                  <a:schemeClr val="bg1"/>
                </a:solidFill>
                <a:latin typeface="微软雅黑" panose="020B0503020204020204" pitchFamily="34" charset="-122"/>
                <a:ea typeface="微软雅黑" panose="020B0503020204020204" pitchFamily="34" charset="-122"/>
              </a:rPr>
              <a:t>内部</a:t>
            </a:r>
            <a:r>
              <a:rPr lang="zh-CN" altLang="zh-CN" dirty="0">
                <a:solidFill>
                  <a:schemeClr val="bg1"/>
                </a:solidFill>
                <a:latin typeface="微软雅黑" panose="020B0503020204020204" pitchFamily="34" charset="-122"/>
                <a:ea typeface="微软雅黑" panose="020B0503020204020204" pitchFamily="34" charset="-122"/>
              </a:rPr>
              <a:t>审计记录，纠错活动以及管理审查，对文档审查后</a:t>
            </a:r>
            <a:r>
              <a:rPr lang="en-US" altLang="zh-CN" dirty="0">
                <a:solidFill>
                  <a:schemeClr val="bg1"/>
                </a:solidFill>
                <a:latin typeface="微软雅黑" panose="020B0503020204020204" pitchFamily="34" charset="-122"/>
                <a:ea typeface="微软雅黑" panose="020B0503020204020204" pitchFamily="34" charset="-122"/>
              </a:rPr>
              <a:t>QMS</a:t>
            </a:r>
            <a:r>
              <a:rPr lang="zh-CN" altLang="zh-CN" dirty="0">
                <a:solidFill>
                  <a:schemeClr val="bg1"/>
                </a:solidFill>
                <a:latin typeface="微软雅黑" panose="020B0503020204020204" pitchFamily="34" charset="-122"/>
                <a:ea typeface="微软雅黑" panose="020B0503020204020204" pitchFamily="34" charset="-122"/>
              </a:rPr>
              <a:t>变动情况的</a:t>
            </a:r>
            <a:r>
              <a:rPr lang="zh-CN" altLang="zh-CN" dirty="0" smtClean="0">
                <a:solidFill>
                  <a:schemeClr val="bg1"/>
                </a:solidFill>
                <a:latin typeface="微软雅黑" panose="020B0503020204020204" pitchFamily="34" charset="-122"/>
                <a:ea typeface="微软雅黑" panose="020B0503020204020204" pitchFamily="34" charset="-122"/>
              </a:rPr>
              <a:t>审查</a:t>
            </a:r>
            <a:r>
              <a:rPr lang="zh-CN" altLang="en-US" dirty="0" smtClean="0">
                <a:solidFill>
                  <a:schemeClr val="bg1"/>
                </a:solidFill>
                <a:latin typeface="微软雅黑" panose="020B0503020204020204" pitchFamily="34" charset="-122"/>
                <a:ea typeface="微软雅黑" panose="020B0503020204020204" pitchFamily="34" charset="-122"/>
              </a:rPr>
              <a:t>。</a:t>
            </a:r>
            <a:endParaRPr lang="zh-CN" altLang="zh-CN" dirty="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en-US" altLang="zh-CN" dirty="0">
                <a:solidFill>
                  <a:schemeClr val="bg1"/>
                </a:solidFill>
                <a:latin typeface="微软雅黑" panose="020B0503020204020204" pitchFamily="34" charset="-122"/>
                <a:ea typeface="微软雅黑" panose="020B0503020204020204" pitchFamily="34" charset="-122"/>
              </a:rPr>
              <a:t>4</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若出现主要的不一致需要</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重新评估</a:t>
            </a:r>
            <a:r>
              <a:rPr lang="zh-CN" altLang="zh-CN" dirty="0">
                <a:solidFill>
                  <a:schemeClr val="bg1"/>
                </a:solidFill>
                <a:latin typeface="微软雅黑" panose="020B0503020204020204" pitchFamily="34" charset="-122"/>
                <a:ea typeface="微软雅黑" panose="020B0503020204020204" pitchFamily="34" charset="-122"/>
              </a:rPr>
              <a:t>。主要不一致两种：</a:t>
            </a:r>
            <a:r>
              <a:rPr lang="en-US" altLang="zh-CN" dirty="0">
                <a:solidFill>
                  <a:schemeClr val="bg1"/>
                </a:solidFill>
                <a:latin typeface="微软雅黑" panose="020B0503020204020204" pitchFamily="34" charset="-122"/>
                <a:ea typeface="微软雅黑" panose="020B0503020204020204" pitchFamily="34" charset="-122"/>
              </a:rPr>
              <a:t>QMS</a:t>
            </a:r>
            <a:r>
              <a:rPr lang="zh-CN" altLang="zh-CN" dirty="0">
                <a:solidFill>
                  <a:schemeClr val="bg1"/>
                </a:solidFill>
                <a:latin typeface="微软雅黑" panose="020B0503020204020204" pitchFamily="34" charset="-122"/>
                <a:ea typeface="微软雅黑" panose="020B0503020204020204" pitchFamily="34" charset="-122"/>
              </a:rPr>
              <a:t>整个领域都没有有效实施；次要的不一致累计。</a:t>
            </a:r>
          </a:p>
          <a:p>
            <a:pPr>
              <a:buClr>
                <a:srgbClr val="BFEF74"/>
              </a:buClr>
              <a:buFont typeface="Wingdings" panose="05000000000000000000" pitchFamily="2" charset="2"/>
              <a:buChar char="u"/>
            </a:pPr>
            <a:r>
              <a:rPr lang="en-US" altLang="zh-CN" dirty="0">
                <a:solidFill>
                  <a:schemeClr val="bg1"/>
                </a:solidFill>
                <a:latin typeface="微软雅黑" panose="020B0503020204020204" pitchFamily="34" charset="-122"/>
                <a:ea typeface="微软雅黑" panose="020B0503020204020204" pitchFamily="34" charset="-122"/>
              </a:rPr>
              <a:t>5</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zh-CN" dirty="0">
                <a:solidFill>
                  <a:schemeClr val="tx2">
                    <a:lumMod val="60000"/>
                    <a:lumOff val="40000"/>
                  </a:schemeClr>
                </a:solidFill>
                <a:latin typeface="微软雅黑" panose="020B0503020204020204" pitchFamily="34" charset="-122"/>
                <a:ea typeface="微软雅黑" panose="020B0503020204020204" pitchFamily="34" charset="-122"/>
              </a:rPr>
              <a:t>监督审计</a:t>
            </a:r>
            <a:r>
              <a:rPr lang="zh-CN" altLang="zh-CN" dirty="0">
                <a:solidFill>
                  <a:schemeClr val="bg1"/>
                </a:solidFill>
                <a:latin typeface="微软雅黑" panose="020B0503020204020204" pitchFamily="34" charset="-122"/>
                <a:ea typeface="微软雅黑" panose="020B0503020204020204" pitchFamily="34" charset="-122"/>
              </a:rPr>
              <a:t>：每</a:t>
            </a:r>
            <a:r>
              <a:rPr lang="en-US" altLang="zh-CN" dirty="0">
                <a:solidFill>
                  <a:schemeClr val="bg1"/>
                </a:solidFill>
                <a:latin typeface="微软雅黑" panose="020B0503020204020204" pitchFamily="34" charset="-122"/>
                <a:ea typeface="微软雅黑" panose="020B0503020204020204" pitchFamily="34" charset="-122"/>
              </a:rPr>
              <a:t>6</a:t>
            </a:r>
            <a:r>
              <a:rPr lang="zh-CN" altLang="zh-CN" dirty="0">
                <a:solidFill>
                  <a:schemeClr val="bg1"/>
                </a:solidFill>
                <a:latin typeface="微软雅黑" panose="020B0503020204020204" pitchFamily="34" charset="-122"/>
                <a:ea typeface="微软雅黑" panose="020B0503020204020204" pitchFamily="34" charset="-122"/>
              </a:rPr>
              <a:t>个月，有些评估团每</a:t>
            </a:r>
            <a:r>
              <a:rPr lang="en-US" altLang="zh-CN" dirty="0">
                <a:solidFill>
                  <a:schemeClr val="bg1"/>
                </a:solidFill>
                <a:latin typeface="微软雅黑" panose="020B0503020204020204" pitchFamily="34" charset="-122"/>
                <a:ea typeface="微软雅黑" panose="020B0503020204020204" pitchFamily="34" charset="-122"/>
              </a:rPr>
              <a:t>3</a:t>
            </a:r>
            <a:r>
              <a:rPr lang="zh-CN" altLang="zh-CN" dirty="0">
                <a:solidFill>
                  <a:schemeClr val="bg1"/>
                </a:solidFill>
                <a:latin typeface="微软雅黑" panose="020B0503020204020204" pitchFamily="34" charset="-122"/>
                <a:ea typeface="微软雅黑" panose="020B0503020204020204" pitchFamily="34" charset="-122"/>
              </a:rPr>
              <a:t>年重新进行一次完全评估</a:t>
            </a:r>
          </a:p>
          <a:p>
            <a:pPr marL="0" indent="0">
              <a:buClr>
                <a:srgbClr val="BFEF74"/>
              </a:buClr>
              <a:buNone/>
            </a:pPr>
            <a:endParaRPr lang="zh-CN" altLang="zh-CN"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094036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224315" y="2036763"/>
            <a:ext cx="7772400" cy="2387600"/>
          </a:xfrm>
        </p:spPr>
        <p:txBody>
          <a:bodyPr/>
          <a:lstStyle/>
          <a:p>
            <a:r>
              <a:rPr lang="en-US" altLang="zh-CN" dirty="0" smtClean="0">
                <a:solidFill>
                  <a:srgbClr val="BFEF74"/>
                </a:solidFill>
                <a:latin typeface="方正兰亭黑_YS_GB18030" panose="03000502000000000000" pitchFamily="66" charset="-122"/>
                <a:ea typeface="方正兰亭黑_YS_GB18030" panose="03000502000000000000" pitchFamily="66" charset="-122"/>
              </a:rPr>
              <a:t>ISO</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咨询与服务</a:t>
            </a:r>
            <a:r>
              <a:rPr lang="en-US" altLang="zh-CN" dirty="0" smtClean="0">
                <a:solidFill>
                  <a:schemeClr val="bg1"/>
                </a:solidFill>
                <a:latin typeface="方正兰亭黑_YS_GB18030" panose="03000502000000000000" pitchFamily="66" charset="-122"/>
                <a:ea typeface="方正兰亭黑_YS_GB18030" panose="03000502000000000000" pitchFamily="66" charset="-122"/>
              </a:rPr>
              <a:t/>
            </a:r>
            <a:br>
              <a:rPr lang="en-US" altLang="zh-CN" dirty="0" smtClean="0">
                <a:solidFill>
                  <a:schemeClr val="bg1"/>
                </a:solidFill>
                <a:latin typeface="方正兰亭黑_YS_GB18030" panose="03000502000000000000" pitchFamily="66" charset="-122"/>
                <a:ea typeface="方正兰亭黑_YS_GB18030" panose="03000502000000000000" pitchFamily="66" charset="-122"/>
              </a:rPr>
            </a:b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cxnSp>
        <p:nvCxnSpPr>
          <p:cNvPr id="4" name="直接连接符 3"/>
          <p:cNvCxnSpPr/>
          <p:nvPr/>
        </p:nvCxnSpPr>
        <p:spPr>
          <a:xfrm>
            <a:off x="1524000" y="369681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699978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他们可以提供什么服务？</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2011776" y="2101396"/>
            <a:ext cx="8075921" cy="4604584"/>
          </a:xfrm>
        </p:spPr>
        <p:txBody>
          <a:bodyPr>
            <a:noAutofit/>
          </a:bodyPr>
          <a:lstStyle/>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内部</a:t>
            </a:r>
            <a:r>
              <a:rPr lang="zh-CN" altLang="zh-CN" dirty="0">
                <a:solidFill>
                  <a:schemeClr val="bg1"/>
                </a:solidFill>
                <a:latin typeface="微软雅黑" panose="020B0503020204020204" pitchFamily="34" charset="-122"/>
                <a:ea typeface="微软雅黑" panose="020B0503020204020204" pitchFamily="34" charset="-122"/>
              </a:rPr>
              <a:t>或公共研习</a:t>
            </a:r>
            <a:r>
              <a:rPr lang="zh-CN" altLang="zh-CN" dirty="0" smtClean="0">
                <a:solidFill>
                  <a:schemeClr val="bg1"/>
                </a:solidFill>
                <a:latin typeface="微软雅黑" panose="020B0503020204020204" pitchFamily="34" charset="-122"/>
                <a:ea typeface="微软雅黑" panose="020B0503020204020204" pitchFamily="34" charset="-122"/>
              </a:rPr>
              <a:t>班</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首席</a:t>
            </a:r>
            <a:r>
              <a:rPr lang="zh-CN" altLang="zh-CN" dirty="0">
                <a:solidFill>
                  <a:schemeClr val="bg1"/>
                </a:solidFill>
                <a:latin typeface="微软雅黑" panose="020B0503020204020204" pitchFamily="34" charset="-122"/>
                <a:ea typeface="微软雅黑" panose="020B0503020204020204" pitchFamily="34" charset="-122"/>
              </a:rPr>
              <a:t>审计员培训课程（通常</a:t>
            </a:r>
            <a:r>
              <a:rPr lang="en-US" altLang="zh-CN" dirty="0">
                <a:solidFill>
                  <a:schemeClr val="bg1"/>
                </a:solidFill>
                <a:latin typeface="微软雅黑" panose="020B0503020204020204" pitchFamily="34" charset="-122"/>
                <a:ea typeface="微软雅黑" panose="020B0503020204020204" pitchFamily="34" charset="-122"/>
              </a:rPr>
              <a:t>5</a:t>
            </a:r>
            <a:r>
              <a:rPr lang="zh-CN" altLang="zh-CN" dirty="0">
                <a:solidFill>
                  <a:schemeClr val="bg1"/>
                </a:solidFill>
                <a:latin typeface="微软雅黑" panose="020B0503020204020204" pitchFamily="34" charset="-122"/>
                <a:ea typeface="微软雅黑" panose="020B0503020204020204" pitchFamily="34" charset="-122"/>
              </a:rPr>
              <a:t>天</a:t>
            </a:r>
            <a:r>
              <a:rPr lang="zh-CN" altLang="zh-CN"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内部</a:t>
            </a:r>
            <a:r>
              <a:rPr lang="zh-CN" altLang="zh-CN" dirty="0">
                <a:solidFill>
                  <a:schemeClr val="bg1"/>
                </a:solidFill>
                <a:latin typeface="微软雅黑" panose="020B0503020204020204" pitchFamily="34" charset="-122"/>
                <a:ea typeface="微软雅黑" panose="020B0503020204020204" pitchFamily="34" charset="-122"/>
              </a:rPr>
              <a:t>审计</a:t>
            </a:r>
            <a:r>
              <a:rPr lang="zh-CN" altLang="zh-CN" dirty="0" smtClean="0">
                <a:solidFill>
                  <a:schemeClr val="bg1"/>
                </a:solidFill>
                <a:latin typeface="微软雅黑" panose="020B0503020204020204" pitchFamily="34" charset="-122"/>
                <a:ea typeface="微软雅黑" panose="020B0503020204020204" pitchFamily="34" charset="-122"/>
              </a:rPr>
              <a:t>课程</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预</a:t>
            </a:r>
            <a:r>
              <a:rPr lang="zh-CN" altLang="zh-CN" dirty="0">
                <a:solidFill>
                  <a:schemeClr val="bg1"/>
                </a:solidFill>
                <a:latin typeface="微软雅黑" panose="020B0503020204020204" pitchFamily="34" charset="-122"/>
                <a:ea typeface="微软雅黑" panose="020B0503020204020204" pitchFamily="34" charset="-122"/>
              </a:rPr>
              <a:t>评估</a:t>
            </a:r>
            <a:r>
              <a:rPr lang="zh-CN" altLang="zh-CN" dirty="0" smtClean="0">
                <a:solidFill>
                  <a:schemeClr val="bg1"/>
                </a:solidFill>
                <a:latin typeface="微软雅黑" panose="020B0503020204020204" pitchFamily="34" charset="-122"/>
                <a:ea typeface="微软雅黑" panose="020B0503020204020204" pitchFamily="34" charset="-122"/>
              </a:rPr>
              <a:t>审计</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第三</a:t>
            </a:r>
            <a:r>
              <a:rPr lang="zh-CN" altLang="zh-CN" dirty="0">
                <a:solidFill>
                  <a:schemeClr val="bg1"/>
                </a:solidFill>
                <a:latin typeface="微软雅黑" panose="020B0503020204020204" pitchFamily="34" charset="-122"/>
                <a:ea typeface="微软雅黑" panose="020B0503020204020204" pitchFamily="34" charset="-122"/>
              </a:rPr>
              <a:t>方</a:t>
            </a:r>
            <a:r>
              <a:rPr lang="zh-CN" altLang="zh-CN" dirty="0" smtClean="0">
                <a:solidFill>
                  <a:schemeClr val="bg1"/>
                </a:solidFill>
                <a:latin typeface="微软雅黑" panose="020B0503020204020204" pitchFamily="34" charset="-122"/>
                <a:ea typeface="微软雅黑" panose="020B0503020204020204" pitchFamily="34" charset="-122"/>
              </a:rPr>
              <a:t>审计</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质量</a:t>
            </a:r>
            <a:r>
              <a:rPr lang="zh-CN" altLang="zh-CN" dirty="0">
                <a:solidFill>
                  <a:schemeClr val="bg1"/>
                </a:solidFill>
                <a:latin typeface="微软雅黑" panose="020B0503020204020204" pitchFamily="34" charset="-122"/>
                <a:ea typeface="微软雅黑" panose="020B0503020204020204" pitchFamily="34" charset="-122"/>
              </a:rPr>
              <a:t>手册</a:t>
            </a:r>
            <a:r>
              <a:rPr lang="zh-CN" altLang="zh-CN" dirty="0" smtClean="0">
                <a:solidFill>
                  <a:schemeClr val="bg1"/>
                </a:solidFill>
                <a:latin typeface="微软雅黑" panose="020B0503020204020204" pitchFamily="34" charset="-122"/>
                <a:ea typeface="微软雅黑" panose="020B0503020204020204" pitchFamily="34" charset="-122"/>
              </a:rPr>
              <a:t>编写</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管理</a:t>
            </a:r>
            <a:r>
              <a:rPr lang="zh-CN" altLang="zh-CN" dirty="0">
                <a:solidFill>
                  <a:schemeClr val="bg1"/>
                </a:solidFill>
                <a:latin typeface="微软雅黑" panose="020B0503020204020204" pitchFamily="34" charset="-122"/>
                <a:ea typeface="微软雅黑" panose="020B0503020204020204" pitchFamily="34" charset="-122"/>
              </a:rPr>
              <a:t>意识的行政研讨会</a:t>
            </a:r>
          </a:p>
          <a:p>
            <a:pPr marL="0" indent="0">
              <a:buClr>
                <a:srgbClr val="BFEF74"/>
              </a:buClr>
              <a:buNone/>
            </a:pPr>
            <a:endParaRPr lang="zh-CN" altLang="zh-CN"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548907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咨询服务类型有哪些？</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2011776" y="2101396"/>
            <a:ext cx="8075921" cy="4604584"/>
          </a:xfrm>
        </p:spPr>
        <p:txBody>
          <a:bodyPr>
            <a:noAutofit/>
          </a:bodyPr>
          <a:lstStyle/>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管理</a:t>
            </a:r>
            <a:r>
              <a:rPr lang="zh-CN" altLang="zh-CN" dirty="0">
                <a:solidFill>
                  <a:schemeClr val="bg1"/>
                </a:solidFill>
                <a:latin typeface="微软雅黑" panose="020B0503020204020204" pitchFamily="34" charset="-122"/>
                <a:ea typeface="微软雅黑" panose="020B0503020204020204" pitchFamily="34" charset="-122"/>
              </a:rPr>
              <a:t>部门或会计</a:t>
            </a:r>
            <a:r>
              <a:rPr lang="zh-CN" altLang="zh-CN" dirty="0" smtClean="0">
                <a:solidFill>
                  <a:schemeClr val="bg1"/>
                </a:solidFill>
                <a:latin typeface="微软雅黑" panose="020B0503020204020204" pitchFamily="34" charset="-122"/>
                <a:ea typeface="微软雅黑" panose="020B0503020204020204" pitchFamily="34" charset="-122"/>
              </a:rPr>
              <a:t>事务所</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 </a:t>
            </a:r>
            <a:r>
              <a:rPr lang="zh-CN" altLang="zh-CN" dirty="0">
                <a:solidFill>
                  <a:schemeClr val="bg1"/>
                </a:solidFill>
                <a:latin typeface="微软雅黑" panose="020B0503020204020204" pitchFamily="34" charset="-122"/>
                <a:ea typeface="微软雅黑" panose="020B0503020204020204" pitchFamily="34" charset="-122"/>
              </a:rPr>
              <a:t>咨询公司 </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大学</a:t>
            </a:r>
            <a:r>
              <a:rPr lang="zh-CN" altLang="zh-CN" dirty="0">
                <a:solidFill>
                  <a:schemeClr val="bg1"/>
                </a:solidFill>
                <a:latin typeface="微软雅黑" panose="020B0503020204020204" pitchFamily="34" charset="-122"/>
                <a:ea typeface="微软雅黑" panose="020B0503020204020204" pitchFamily="34" charset="-122"/>
              </a:rPr>
              <a:t>和联合</a:t>
            </a:r>
            <a:r>
              <a:rPr lang="zh-CN" altLang="zh-CN" dirty="0" smtClean="0">
                <a:solidFill>
                  <a:schemeClr val="bg1"/>
                </a:solidFill>
                <a:latin typeface="微软雅黑" panose="020B0503020204020204" pitchFamily="34" charset="-122"/>
                <a:ea typeface="微软雅黑" panose="020B0503020204020204" pitchFamily="34" charset="-122"/>
              </a:rPr>
              <a:t>研究所</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 </a:t>
            </a:r>
            <a:r>
              <a:rPr lang="zh-CN" altLang="zh-CN" dirty="0">
                <a:solidFill>
                  <a:schemeClr val="bg1"/>
                </a:solidFill>
                <a:latin typeface="微软雅黑" panose="020B0503020204020204" pitchFamily="34" charset="-122"/>
                <a:ea typeface="微软雅黑" panose="020B0503020204020204" pitchFamily="34" charset="-122"/>
              </a:rPr>
              <a:t>个体顾问 </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产品</a:t>
            </a:r>
            <a:r>
              <a:rPr lang="zh-CN" altLang="zh-CN" dirty="0">
                <a:solidFill>
                  <a:schemeClr val="bg1"/>
                </a:solidFill>
                <a:latin typeface="微软雅黑" panose="020B0503020204020204" pitchFamily="34" charset="-122"/>
                <a:ea typeface="微软雅黑" panose="020B0503020204020204" pitchFamily="34" charset="-122"/>
              </a:rPr>
              <a:t>审查</a:t>
            </a:r>
            <a:r>
              <a:rPr lang="en-US" altLang="zh-CN" dirty="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测试组织</a:t>
            </a:r>
            <a:r>
              <a:rPr lang="en-US" altLang="zh-CN" dirty="0">
                <a:solidFill>
                  <a:schemeClr val="bg1"/>
                </a:solidFill>
                <a:latin typeface="微软雅黑" panose="020B0503020204020204" pitchFamily="34" charset="-122"/>
                <a:ea typeface="微软雅黑" panose="020B0503020204020204" pitchFamily="34" charset="-122"/>
              </a:rPr>
              <a:t>  </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培养</a:t>
            </a:r>
            <a:r>
              <a:rPr lang="zh-CN" altLang="zh-CN" dirty="0">
                <a:solidFill>
                  <a:schemeClr val="bg1"/>
                </a:solidFill>
                <a:latin typeface="微软雅黑" panose="020B0503020204020204" pitchFamily="34" charset="-122"/>
                <a:ea typeface="微软雅黑" panose="020B0503020204020204" pitchFamily="34" charset="-122"/>
              </a:rPr>
              <a:t>首席</a:t>
            </a:r>
            <a:r>
              <a:rPr lang="en-US" altLang="zh-CN" dirty="0">
                <a:solidFill>
                  <a:schemeClr val="bg1"/>
                </a:solidFill>
                <a:latin typeface="微软雅黑" panose="020B0503020204020204" pitchFamily="34" charset="-122"/>
                <a:ea typeface="微软雅黑" panose="020B0503020204020204" pitchFamily="34" charset="-122"/>
              </a:rPr>
              <a:t>ISO9000</a:t>
            </a:r>
            <a:r>
              <a:rPr lang="zh-CN" altLang="zh-CN" dirty="0">
                <a:solidFill>
                  <a:schemeClr val="bg1"/>
                </a:solidFill>
                <a:latin typeface="微软雅黑" panose="020B0503020204020204" pitchFamily="34" charset="-122"/>
                <a:ea typeface="微软雅黑" panose="020B0503020204020204" pitchFamily="34" charset="-122"/>
              </a:rPr>
              <a:t>审计员或开设类似课程的</a:t>
            </a:r>
            <a:r>
              <a:rPr lang="zh-CN" altLang="zh-CN" dirty="0" smtClean="0">
                <a:solidFill>
                  <a:schemeClr val="bg1"/>
                </a:solidFill>
                <a:latin typeface="微软雅黑" panose="020B0503020204020204" pitchFamily="34" charset="-122"/>
                <a:ea typeface="微软雅黑" panose="020B0503020204020204" pitchFamily="34" charset="-122"/>
              </a:rPr>
              <a:t>组织</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 </a:t>
            </a:r>
            <a:r>
              <a:rPr lang="zh-CN" altLang="zh-CN" dirty="0">
                <a:solidFill>
                  <a:schemeClr val="bg1"/>
                </a:solidFill>
                <a:latin typeface="微软雅黑" panose="020B0503020204020204" pitchFamily="34" charset="-122"/>
                <a:ea typeface="微软雅黑" panose="020B0503020204020204" pitchFamily="34" charset="-122"/>
              </a:rPr>
              <a:t>第三方登记</a:t>
            </a:r>
            <a:r>
              <a:rPr lang="zh-CN" altLang="zh-CN" dirty="0" smtClean="0">
                <a:solidFill>
                  <a:schemeClr val="bg1"/>
                </a:solidFill>
                <a:latin typeface="微软雅黑" panose="020B0503020204020204" pitchFamily="34" charset="-122"/>
                <a:ea typeface="微软雅黑" panose="020B0503020204020204" pitchFamily="34" charset="-122"/>
              </a:rPr>
              <a:t>员</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 </a:t>
            </a:r>
            <a:r>
              <a:rPr lang="zh-CN" altLang="zh-CN" dirty="0">
                <a:solidFill>
                  <a:schemeClr val="bg1"/>
                </a:solidFill>
                <a:latin typeface="微软雅黑" panose="020B0503020204020204" pitchFamily="34" charset="-122"/>
                <a:ea typeface="微软雅黑" panose="020B0503020204020204" pitchFamily="34" charset="-122"/>
              </a:rPr>
              <a:t>咨询公司 </a:t>
            </a: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5135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a:solidFill>
                  <a:schemeClr val="bg1"/>
                </a:solidFill>
                <a:latin typeface="方正兰亭黑_YS_GB18030" panose="03000502000000000000" pitchFamily="66" charset="-122"/>
                <a:ea typeface="方正兰亭黑_YS_GB18030" panose="03000502000000000000" pitchFamily="66" charset="-122"/>
              </a:rPr>
              <a:t>我们为什么需要一个顾问？</a:t>
            </a: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a:stretch>
            <a:fillRect/>
          </a:stretch>
        </p:blipFill>
        <p:spPr>
          <a:xfrm>
            <a:off x="2362655" y="2848684"/>
            <a:ext cx="2996293" cy="2708188"/>
          </a:xfrm>
          <a:prstGeom prst="rect">
            <a:avLst/>
          </a:prstGeom>
        </p:spPr>
      </p:pic>
      <p:sp>
        <p:nvSpPr>
          <p:cNvPr id="6" name="内容占位符 5"/>
          <p:cNvSpPr>
            <a:spLocks noGrp="1"/>
          </p:cNvSpPr>
          <p:nvPr>
            <p:ph idx="1"/>
          </p:nvPr>
        </p:nvSpPr>
        <p:spPr>
          <a:xfrm>
            <a:off x="5921401" y="3145415"/>
            <a:ext cx="3486150" cy="2114727"/>
          </a:xfrm>
        </p:spPr>
        <p:txBody>
          <a:bodyPr>
            <a:normAutofit lnSpcReduction="10000"/>
          </a:bodyPr>
          <a:lstStyle/>
          <a:p>
            <a:pPr marL="0" indent="0">
              <a:buNone/>
            </a:pPr>
            <a:r>
              <a:rPr lang="zh-CN" altLang="zh-CN" dirty="0">
                <a:solidFill>
                  <a:schemeClr val="bg1"/>
                </a:solidFill>
                <a:latin typeface="微软雅黑" panose="020B0503020204020204" pitchFamily="34" charset="-122"/>
                <a:ea typeface="微软雅黑" panose="020B0503020204020204" pitchFamily="34" charset="-122"/>
              </a:rPr>
              <a:t>你真的需要一个顾问吗</a:t>
            </a:r>
            <a:r>
              <a:rPr lang="zh-CN" altLang="zh-CN" dirty="0" smtClean="0">
                <a:solidFill>
                  <a:schemeClr val="bg1"/>
                </a:solidFill>
                <a:latin typeface="微软雅黑" panose="020B0503020204020204" pitchFamily="34" charset="-122"/>
                <a:ea typeface="微软雅黑" panose="020B0503020204020204" pitchFamily="34" charset="-122"/>
              </a:rPr>
              <a:t>？顾问</a:t>
            </a:r>
            <a:r>
              <a:rPr lang="zh-CN" altLang="zh-CN" dirty="0">
                <a:solidFill>
                  <a:schemeClr val="bg1"/>
                </a:solidFill>
                <a:latin typeface="微软雅黑" panose="020B0503020204020204" pitchFamily="34" charset="-122"/>
                <a:ea typeface="微软雅黑" panose="020B0503020204020204" pitchFamily="34" charset="-122"/>
              </a:rPr>
              <a:t>的</a:t>
            </a:r>
            <a:r>
              <a:rPr lang="zh-CN" altLang="zh-CN" dirty="0" smtClean="0">
                <a:solidFill>
                  <a:schemeClr val="bg1"/>
                </a:solidFill>
                <a:latin typeface="微软雅黑" panose="020B0503020204020204" pitchFamily="34" charset="-122"/>
                <a:ea typeface="微软雅黑" panose="020B0503020204020204" pitchFamily="34" charset="-122"/>
              </a:rPr>
              <a:t>作用</a:t>
            </a:r>
            <a:r>
              <a:rPr lang="zh-CN" altLang="en-US" dirty="0" smtClean="0">
                <a:solidFill>
                  <a:schemeClr val="bg1"/>
                </a:solidFill>
                <a:latin typeface="微软雅黑" panose="020B0503020204020204" pitchFamily="34" charset="-122"/>
                <a:ea typeface="微软雅黑" panose="020B0503020204020204" pitchFamily="34" charset="-122"/>
              </a:rPr>
              <a:t>是什么</a:t>
            </a:r>
            <a:r>
              <a:rPr lang="zh-CN"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对公司有什么利弊？需要注意什么？</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0" indent="0">
              <a:buNone/>
            </a:pPr>
            <a:r>
              <a:rPr lang="zh-CN" altLang="en-US" dirty="0" smtClean="0">
                <a:solidFill>
                  <a:schemeClr val="bg1"/>
                </a:solidFill>
                <a:latin typeface="微软雅黑" panose="020B0503020204020204" pitchFamily="34" charset="-122"/>
                <a:ea typeface="微软雅黑" panose="020B0503020204020204" pitchFamily="34" charset="-122"/>
              </a:rPr>
              <a:t>（技能、风险、金钱）</a:t>
            </a:r>
            <a:endParaRPr lang="zh-CN" altLang="zh-CN"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0050429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我们为什么需要一个顾问？</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2011776" y="2101396"/>
            <a:ext cx="8075921" cy="4604584"/>
          </a:xfrm>
        </p:spPr>
        <p:txBody>
          <a:bodyPr>
            <a:noAutofit/>
          </a:bodyPr>
          <a:lstStyle/>
          <a:p>
            <a:pPr>
              <a:buClr>
                <a:srgbClr val="BFEF74"/>
              </a:buClr>
              <a:buFont typeface="Wingdings" panose="05000000000000000000" pitchFamily="2" charset="2"/>
              <a:buChar char="u"/>
            </a:pPr>
            <a:r>
              <a:rPr lang="zh-CN" altLang="en-US" dirty="0">
                <a:solidFill>
                  <a:schemeClr val="bg1"/>
                </a:solidFill>
                <a:latin typeface="微软雅黑" panose="020B0503020204020204" pitchFamily="34" charset="-122"/>
                <a:ea typeface="微软雅黑" panose="020B0503020204020204" pitchFamily="34" charset="-122"/>
              </a:rPr>
              <a:t>优势</a:t>
            </a:r>
            <a:r>
              <a:rPr lang="zh-CN" altLang="en-US"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0" indent="0">
              <a:buClr>
                <a:srgbClr val="BFEF74"/>
              </a:buClr>
              <a:buNone/>
            </a:pPr>
            <a:r>
              <a:rPr lang="en-US" altLang="zh-CN" dirty="0">
                <a:solidFill>
                  <a:schemeClr val="bg1"/>
                </a:solidFill>
                <a:latin typeface="微软雅黑" panose="020B0503020204020204" pitchFamily="34" charset="-122"/>
                <a:ea typeface="微软雅黑" panose="020B0503020204020204" pitchFamily="34" charset="-122"/>
              </a:rPr>
              <a:t> </a:t>
            </a:r>
            <a:r>
              <a:rPr lang="en-US" altLang="zh-CN" dirty="0" smtClean="0">
                <a:solidFill>
                  <a:schemeClr val="bg1"/>
                </a:solidFill>
                <a:latin typeface="微软雅黑" panose="020B0503020204020204" pitchFamily="34" charset="-122"/>
                <a:ea typeface="微软雅黑" panose="020B0503020204020204" pitchFamily="34" charset="-122"/>
              </a:rPr>
              <a:t>  </a:t>
            </a:r>
            <a:r>
              <a:rPr lang="zh-CN" altLang="en-US" dirty="0" smtClean="0">
                <a:solidFill>
                  <a:schemeClr val="bg1"/>
                </a:solidFill>
                <a:latin typeface="微软雅黑" panose="020B0503020204020204" pitchFamily="34" charset="-122"/>
                <a:ea typeface="微软雅黑" panose="020B0503020204020204" pitchFamily="34" charset="-122"/>
              </a:rPr>
              <a:t>借助</a:t>
            </a:r>
            <a:r>
              <a:rPr lang="zh-CN" altLang="en-US" dirty="0">
                <a:solidFill>
                  <a:schemeClr val="bg1"/>
                </a:solidFill>
                <a:latin typeface="微软雅黑" panose="020B0503020204020204" pitchFamily="34" charset="-122"/>
                <a:ea typeface="微软雅黑" panose="020B0503020204020204" pitchFamily="34" charset="-122"/>
              </a:rPr>
              <a:t>顾问获得标准要求的知识与</a:t>
            </a:r>
            <a:r>
              <a:rPr lang="zh-CN" altLang="en-US" dirty="0" smtClean="0">
                <a:solidFill>
                  <a:schemeClr val="bg1"/>
                </a:solidFill>
                <a:latin typeface="微软雅黑" panose="020B0503020204020204" pitchFamily="34" charset="-122"/>
                <a:ea typeface="微软雅黑" panose="020B0503020204020204" pitchFamily="34" charset="-122"/>
              </a:rPr>
              <a:t>实践</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0" indent="0">
              <a:buClr>
                <a:srgbClr val="BFEF74"/>
              </a:buClr>
              <a:buNone/>
            </a:pPr>
            <a:r>
              <a:rPr lang="en-US" altLang="zh-CN" dirty="0">
                <a:solidFill>
                  <a:schemeClr val="bg1"/>
                </a:solidFill>
                <a:latin typeface="微软雅黑" panose="020B0503020204020204" pitchFamily="34" charset="-122"/>
                <a:ea typeface="微软雅黑" panose="020B0503020204020204" pitchFamily="34" charset="-122"/>
              </a:rPr>
              <a:t> </a:t>
            </a:r>
            <a:r>
              <a:rPr lang="en-US" altLang="zh-CN" dirty="0" smtClean="0">
                <a:solidFill>
                  <a:schemeClr val="bg1"/>
                </a:solidFill>
                <a:latin typeface="微软雅黑" panose="020B0503020204020204" pitchFamily="34" charset="-122"/>
                <a:ea typeface="微软雅黑" panose="020B0503020204020204" pitchFamily="34" charset="-122"/>
              </a:rPr>
              <a:t>  </a:t>
            </a:r>
            <a:r>
              <a:rPr lang="zh-CN" altLang="en-US" dirty="0" smtClean="0">
                <a:solidFill>
                  <a:schemeClr val="bg1"/>
                </a:solidFill>
                <a:latin typeface="微软雅黑" panose="020B0503020204020204" pitchFamily="34" charset="-122"/>
                <a:ea typeface="微软雅黑" panose="020B0503020204020204" pitchFamily="34" charset="-122"/>
              </a:rPr>
              <a:t>可在构建质量管理系统中承担具体任务</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0" indent="0">
              <a:buClr>
                <a:srgbClr val="BFEF74"/>
              </a:buClr>
              <a:buNone/>
            </a:pPr>
            <a:r>
              <a:rPr lang="zh-CN" altLang="en-US" dirty="0" smtClean="0">
                <a:solidFill>
                  <a:schemeClr val="bg1"/>
                </a:solidFill>
                <a:latin typeface="微软雅黑" panose="020B0503020204020204" pitchFamily="34" charset="-122"/>
                <a:ea typeface="微软雅黑" panose="020B0503020204020204" pitchFamily="34" charset="-122"/>
              </a:rPr>
              <a:t>   外来</a:t>
            </a:r>
            <a:r>
              <a:rPr lang="zh-CN" altLang="en-US" dirty="0">
                <a:solidFill>
                  <a:schemeClr val="bg1"/>
                </a:solidFill>
                <a:latin typeface="微软雅黑" panose="020B0503020204020204" pitchFamily="34" charset="-122"/>
                <a:ea typeface="微软雅黑" panose="020B0503020204020204" pitchFamily="34" charset="-122"/>
              </a:rPr>
              <a:t>人员从全新角度观察组织实践并提出建议</a:t>
            </a:r>
          </a:p>
          <a:p>
            <a:pPr>
              <a:buClr>
                <a:srgbClr val="BFEF74"/>
              </a:buClr>
              <a:buFont typeface="Wingdings" panose="05000000000000000000" pitchFamily="2" charset="2"/>
              <a:buChar char="u"/>
            </a:pPr>
            <a:r>
              <a:rPr lang="zh-CN" altLang="en-US" dirty="0">
                <a:solidFill>
                  <a:schemeClr val="bg1"/>
                </a:solidFill>
                <a:latin typeface="微软雅黑" panose="020B0503020204020204" pitchFamily="34" charset="-122"/>
                <a:ea typeface="微软雅黑" panose="020B0503020204020204" pitchFamily="34" charset="-122"/>
              </a:rPr>
              <a:t> </a:t>
            </a:r>
            <a:r>
              <a:rPr lang="zh-CN" altLang="en-US" dirty="0" smtClean="0">
                <a:solidFill>
                  <a:schemeClr val="bg1"/>
                </a:solidFill>
                <a:latin typeface="微软雅黑" panose="020B0503020204020204" pitchFamily="34" charset="-122"/>
                <a:ea typeface="微软雅黑" panose="020B0503020204020204" pitchFamily="34" charset="-122"/>
              </a:rPr>
              <a:t>风险与不足：</a:t>
            </a:r>
            <a:endParaRPr lang="zh-CN" altLang="en-US" dirty="0">
              <a:solidFill>
                <a:schemeClr val="bg1"/>
              </a:solidFill>
              <a:latin typeface="微软雅黑" panose="020B0503020204020204" pitchFamily="34" charset="-122"/>
              <a:ea typeface="微软雅黑" panose="020B0503020204020204" pitchFamily="34" charset="-122"/>
            </a:endParaRPr>
          </a:p>
          <a:p>
            <a:pPr marL="0" indent="0">
              <a:buClr>
                <a:srgbClr val="BFEF74"/>
              </a:buClr>
              <a:buNone/>
            </a:pPr>
            <a:r>
              <a:rPr lang="en-US" altLang="zh-CN" dirty="0" smtClean="0">
                <a:solidFill>
                  <a:schemeClr val="bg1"/>
                </a:solidFill>
                <a:latin typeface="微软雅黑" panose="020B0503020204020204" pitchFamily="34" charset="-122"/>
                <a:ea typeface="微软雅黑" panose="020B0503020204020204" pitchFamily="34" charset="-122"/>
              </a:rPr>
              <a:t>    </a:t>
            </a:r>
            <a:r>
              <a:rPr lang="zh-CN" altLang="zh-CN" dirty="0" smtClean="0">
                <a:solidFill>
                  <a:schemeClr val="bg1"/>
                </a:solidFill>
                <a:latin typeface="微软雅黑" panose="020B0503020204020204" pitchFamily="34" charset="-122"/>
                <a:ea typeface="微软雅黑" panose="020B0503020204020204" pitchFamily="34" charset="-122"/>
              </a:rPr>
              <a:t>顾问</a:t>
            </a:r>
            <a:r>
              <a:rPr lang="zh-CN" altLang="zh-CN" dirty="0">
                <a:solidFill>
                  <a:schemeClr val="bg1"/>
                </a:solidFill>
                <a:latin typeface="微软雅黑" panose="020B0503020204020204" pitchFamily="34" charset="-122"/>
                <a:ea typeface="微软雅黑" panose="020B0503020204020204" pitchFamily="34" charset="-122"/>
              </a:rPr>
              <a:t>应该作为协调者而非实行</a:t>
            </a:r>
            <a:r>
              <a:rPr lang="zh-CN" altLang="zh-CN" dirty="0" smtClean="0">
                <a:solidFill>
                  <a:schemeClr val="bg1"/>
                </a:solidFill>
                <a:latin typeface="微软雅黑" panose="020B0503020204020204" pitchFamily="34" charset="-122"/>
                <a:ea typeface="微软雅黑" panose="020B0503020204020204" pitchFamily="34" charset="-122"/>
              </a:rPr>
              <a:t>者</a:t>
            </a: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zh-CN" dirty="0" smtClean="0">
                <a:solidFill>
                  <a:schemeClr val="bg1"/>
                </a:solidFill>
                <a:latin typeface="微软雅黑" panose="020B0503020204020204" pitchFamily="34" charset="-122"/>
                <a:ea typeface="微软雅黑" panose="020B0503020204020204" pitchFamily="34" charset="-122"/>
              </a:rPr>
              <a:t>不能包</a:t>
            </a:r>
            <a:r>
              <a:rPr lang="zh-CN" altLang="en-US" dirty="0" smtClean="0">
                <a:solidFill>
                  <a:schemeClr val="bg1"/>
                </a:solidFill>
                <a:latin typeface="微软雅黑" panose="020B0503020204020204" pitchFamily="34" charset="-122"/>
                <a:ea typeface="微软雅黑" panose="020B0503020204020204" pitchFamily="34" charset="-122"/>
              </a:rPr>
              <a:t>办。</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0" indent="0">
              <a:buClr>
                <a:srgbClr val="BFEF74"/>
              </a:buClr>
              <a:buNone/>
            </a:pPr>
            <a:r>
              <a:rPr lang="en-US" altLang="zh-CN" dirty="0" smtClean="0">
                <a:solidFill>
                  <a:schemeClr val="bg1"/>
                </a:solidFill>
                <a:latin typeface="微软雅黑" panose="020B0503020204020204" pitchFamily="34" charset="-122"/>
                <a:ea typeface="微软雅黑" panose="020B0503020204020204" pitchFamily="34" charset="-122"/>
              </a:rPr>
              <a:t>    QMS</a:t>
            </a:r>
            <a:r>
              <a:rPr lang="zh-CN" altLang="en-US" dirty="0" smtClean="0">
                <a:solidFill>
                  <a:schemeClr val="bg1"/>
                </a:solidFill>
                <a:latin typeface="微软雅黑" panose="020B0503020204020204" pitchFamily="34" charset="-122"/>
                <a:ea typeface="微软雅黑" panose="020B0503020204020204" pitchFamily="34" charset="-122"/>
              </a:rPr>
              <a:t>的所有权属于客户组织而不是顾问。</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0" indent="0">
              <a:buClr>
                <a:srgbClr val="BFEF74"/>
              </a:buClr>
              <a:buNone/>
            </a:pPr>
            <a:r>
              <a:rPr lang="en-US" altLang="zh-CN" dirty="0">
                <a:solidFill>
                  <a:schemeClr val="bg1"/>
                </a:solidFill>
                <a:latin typeface="微软雅黑" panose="020B0503020204020204" pitchFamily="34" charset="-122"/>
                <a:ea typeface="微软雅黑" panose="020B0503020204020204" pitchFamily="34" charset="-122"/>
              </a:rPr>
              <a:t> </a:t>
            </a:r>
            <a:r>
              <a:rPr lang="en-US" altLang="zh-CN" dirty="0" smtClean="0">
                <a:solidFill>
                  <a:schemeClr val="bg1"/>
                </a:solidFill>
                <a:latin typeface="微软雅黑" panose="020B0503020204020204" pitchFamily="34" charset="-122"/>
                <a:ea typeface="微软雅黑" panose="020B0503020204020204" pitchFamily="34" charset="-122"/>
              </a:rPr>
              <a:t>   ISO</a:t>
            </a:r>
            <a:r>
              <a:rPr lang="zh-CN" altLang="en-US" dirty="0" smtClean="0">
                <a:solidFill>
                  <a:schemeClr val="bg1"/>
                </a:solidFill>
                <a:latin typeface="微软雅黑" panose="020B0503020204020204" pitchFamily="34" charset="-122"/>
                <a:ea typeface="微软雅黑" panose="020B0503020204020204" pitchFamily="34" charset="-122"/>
              </a:rPr>
              <a:t>的专门技能通过公司内部人员获得</a:t>
            </a:r>
            <a:endParaRPr lang="zh-CN" altLang="zh-CN"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260194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雇佣一个顾问需要注意什么？</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2011776" y="2101396"/>
            <a:ext cx="8075921" cy="4604584"/>
          </a:xfrm>
        </p:spPr>
        <p:txBody>
          <a:bodyPr>
            <a:noAutofit/>
          </a:bodyPr>
          <a:lstStyle/>
          <a:p>
            <a:pPr>
              <a:buClr>
                <a:srgbClr val="BFEF74"/>
              </a:buClr>
              <a:buFont typeface="Wingdings" panose="05000000000000000000" pitchFamily="2" charset="2"/>
              <a:buChar char="u"/>
            </a:pPr>
            <a:r>
              <a:rPr lang="zh-CN" altLang="zh-CN" dirty="0">
                <a:solidFill>
                  <a:schemeClr val="bg1"/>
                </a:solidFill>
                <a:latin typeface="微软雅黑" panose="020B0503020204020204" pitchFamily="34" charset="-122"/>
                <a:ea typeface="微软雅黑" panose="020B0503020204020204" pitchFamily="34" charset="-122"/>
              </a:rPr>
              <a:t>要评估顾问的专长</a:t>
            </a:r>
            <a:r>
              <a:rPr lang="zh-CN" altLang="zh-CN" dirty="0" smtClean="0">
                <a:solidFill>
                  <a:schemeClr val="bg1"/>
                </a:solidFill>
                <a:latin typeface="微软雅黑" panose="020B0503020204020204" pitchFamily="34" charset="-122"/>
                <a:ea typeface="微软雅黑" panose="020B0503020204020204" pitchFamily="34" charset="-122"/>
              </a:rPr>
              <a:t>领域</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确定</a:t>
            </a:r>
            <a:r>
              <a:rPr lang="zh-CN" altLang="zh-CN" dirty="0">
                <a:solidFill>
                  <a:schemeClr val="bg1"/>
                </a:solidFill>
                <a:latin typeface="微软雅黑" panose="020B0503020204020204" pitchFamily="34" charset="-122"/>
                <a:ea typeface="微软雅黑" panose="020B0503020204020204" pitchFamily="34" charset="-122"/>
              </a:rPr>
              <a:t>顾问已经协助过多少组织，核查几个</a:t>
            </a:r>
            <a:r>
              <a:rPr lang="zh-CN" altLang="zh-CN" dirty="0" smtClean="0">
                <a:solidFill>
                  <a:schemeClr val="bg1"/>
                </a:solidFill>
                <a:latin typeface="微软雅黑" panose="020B0503020204020204" pitchFamily="34" charset="-122"/>
                <a:ea typeface="微软雅黑" panose="020B0503020204020204" pitchFamily="34" charset="-122"/>
              </a:rPr>
              <a:t>证明人</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zh-CN" dirty="0" smtClean="0">
                <a:solidFill>
                  <a:schemeClr val="bg1"/>
                </a:solidFill>
                <a:latin typeface="微软雅黑" panose="020B0503020204020204" pitchFamily="34" charset="-122"/>
                <a:ea typeface="微软雅黑" panose="020B0503020204020204" pitchFamily="34" charset="-122"/>
              </a:rPr>
              <a:t>不</a:t>
            </a:r>
            <a:r>
              <a:rPr lang="zh-CN" altLang="zh-CN" dirty="0">
                <a:solidFill>
                  <a:schemeClr val="bg1"/>
                </a:solidFill>
                <a:latin typeface="微软雅黑" panose="020B0503020204020204" pitchFamily="34" charset="-122"/>
                <a:ea typeface="微软雅黑" panose="020B0503020204020204" pitchFamily="34" charset="-122"/>
              </a:rPr>
              <a:t>让顾问编写质量手册和编写质量保障过程。</a:t>
            </a: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66917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顾问的具体作用有什么？</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1794330" y="1973059"/>
            <a:ext cx="8563697" cy="4604584"/>
          </a:xfrm>
        </p:spPr>
        <p:txBody>
          <a:bodyPr>
            <a:noAutofit/>
          </a:bodyPr>
          <a:lstStyle/>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提供</a:t>
            </a:r>
            <a:r>
              <a:rPr lang="zh-CN" altLang="en-US" dirty="0">
                <a:solidFill>
                  <a:schemeClr val="bg1"/>
                </a:solidFill>
                <a:latin typeface="微软雅黑" panose="020B0503020204020204" pitchFamily="34" charset="-122"/>
                <a:ea typeface="微软雅黑" panose="020B0503020204020204" pitchFamily="34" charset="-122"/>
              </a:rPr>
              <a:t>培训 </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基于</a:t>
            </a:r>
            <a:r>
              <a:rPr lang="zh-CN" altLang="en-US" dirty="0">
                <a:solidFill>
                  <a:schemeClr val="bg1"/>
                </a:solidFill>
                <a:latin typeface="微软雅黑" panose="020B0503020204020204" pitchFamily="34" charset="-122"/>
                <a:ea typeface="微软雅黑" panose="020B0503020204020204" pitchFamily="34" charset="-122"/>
              </a:rPr>
              <a:t>他们的而经验提供建议 </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作为</a:t>
            </a:r>
            <a:r>
              <a:rPr lang="zh-CN" altLang="en-US" dirty="0">
                <a:solidFill>
                  <a:schemeClr val="bg1"/>
                </a:solidFill>
                <a:latin typeface="微软雅黑" panose="020B0503020204020204" pitchFamily="34" charset="-122"/>
                <a:ea typeface="微软雅黑" panose="020B0503020204020204" pitchFamily="34" charset="-122"/>
              </a:rPr>
              <a:t>激励和指导人们的催化剂 </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作为</a:t>
            </a:r>
            <a:r>
              <a:rPr lang="zh-CN" altLang="en-US" dirty="0">
                <a:solidFill>
                  <a:schemeClr val="bg1"/>
                </a:solidFill>
                <a:latin typeface="微软雅黑" panose="020B0503020204020204" pitchFamily="34" charset="-122"/>
                <a:ea typeface="微软雅黑" panose="020B0503020204020204" pitchFamily="34" charset="-122"/>
              </a:rPr>
              <a:t>中立者漂浮于部门之间 </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作为接口</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 通过</a:t>
            </a:r>
            <a:r>
              <a:rPr lang="zh-CN" altLang="en-US" dirty="0">
                <a:solidFill>
                  <a:schemeClr val="bg1"/>
                </a:solidFill>
                <a:latin typeface="微软雅黑" panose="020B0503020204020204" pitchFamily="34" charset="-122"/>
                <a:ea typeface="微软雅黑" panose="020B0503020204020204" pitchFamily="34" charset="-122"/>
              </a:rPr>
              <a:t>有计划的定期访问来指导和帮助监督</a:t>
            </a:r>
            <a:r>
              <a:rPr lang="zh-CN" altLang="en-US" dirty="0" smtClean="0">
                <a:solidFill>
                  <a:schemeClr val="bg1"/>
                </a:solidFill>
                <a:latin typeface="微软雅黑" panose="020B0503020204020204" pitchFamily="34" charset="-122"/>
                <a:ea typeface="微软雅黑" panose="020B0503020204020204" pitchFamily="34" charset="-122"/>
              </a:rPr>
              <a:t>部门</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回答</a:t>
            </a:r>
            <a:r>
              <a:rPr lang="zh-CN" altLang="en-US" dirty="0">
                <a:solidFill>
                  <a:schemeClr val="bg1"/>
                </a:solidFill>
                <a:latin typeface="微软雅黑" panose="020B0503020204020204" pitchFamily="34" charset="-122"/>
                <a:ea typeface="微软雅黑" panose="020B0503020204020204" pitchFamily="34" charset="-122"/>
              </a:rPr>
              <a:t>棘手</a:t>
            </a:r>
            <a:r>
              <a:rPr lang="zh-CN" altLang="en-US" dirty="0" smtClean="0">
                <a:solidFill>
                  <a:schemeClr val="bg1"/>
                </a:solidFill>
                <a:latin typeface="微软雅黑" panose="020B0503020204020204" pitchFamily="34" charset="-122"/>
                <a:ea typeface="微软雅黑" panose="020B0503020204020204" pitchFamily="34" charset="-122"/>
              </a:rPr>
              <a:t>问题</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 审查</a:t>
            </a:r>
            <a:r>
              <a:rPr lang="zh-CN" altLang="en-US" dirty="0">
                <a:solidFill>
                  <a:schemeClr val="bg1"/>
                </a:solidFill>
                <a:latin typeface="微软雅黑" panose="020B0503020204020204" pitchFamily="34" charset="-122"/>
                <a:ea typeface="微软雅黑" panose="020B0503020204020204" pitchFamily="34" charset="-122"/>
              </a:rPr>
              <a:t>和编辑而不是编写文档 </a:t>
            </a:r>
            <a:endParaRPr lang="en-US" altLang="zh-CN" dirty="0" smtClean="0">
              <a:solidFill>
                <a:schemeClr val="bg1"/>
              </a:solidFill>
              <a:latin typeface="微软雅黑" panose="020B0503020204020204" pitchFamily="34" charset="-122"/>
              <a:ea typeface="微软雅黑" panose="020B0503020204020204" pitchFamily="34" charset="-122"/>
            </a:endParaRPr>
          </a:p>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进行</a:t>
            </a:r>
            <a:r>
              <a:rPr lang="zh-CN" altLang="en-US" dirty="0">
                <a:solidFill>
                  <a:schemeClr val="bg1"/>
                </a:solidFill>
                <a:latin typeface="微软雅黑" panose="020B0503020204020204" pitchFamily="34" charset="-122"/>
                <a:ea typeface="微软雅黑" panose="020B0503020204020204" pitchFamily="34" charset="-122"/>
              </a:rPr>
              <a:t>预评估审计，并提供公正有建设性的观点</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建议</a:t>
            </a:r>
          </a:p>
          <a:p>
            <a:pPr>
              <a:buClr>
                <a:srgbClr val="BFEF74"/>
              </a:buClr>
              <a:buFont typeface="Wingdings" panose="05000000000000000000" pitchFamily="2" charset="2"/>
              <a:buChar char="u"/>
            </a:pPr>
            <a:endParaRPr lang="en-US" altLang="zh-CN" dirty="0" smtClean="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38111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4329" y="775834"/>
            <a:ext cx="8510814" cy="1325563"/>
          </a:xfrm>
        </p:spPr>
        <p:txBody>
          <a:bodyPr/>
          <a:lstStyle/>
          <a:p>
            <a:r>
              <a:rPr lang="zh-CN" altLang="en-US" dirty="0" smtClean="0">
                <a:solidFill>
                  <a:schemeClr val="bg1"/>
                </a:solidFill>
                <a:latin typeface="方正兰亭黑_YS_GB18030" panose="03000502000000000000" pitchFamily="66" charset="-122"/>
                <a:ea typeface="方正兰亭黑_YS_GB18030" panose="03000502000000000000" pitchFamily="66" charset="-122"/>
              </a:rPr>
              <a:t>与</a:t>
            </a:r>
            <a:r>
              <a:rPr lang="en-US" altLang="zh-CN" dirty="0" smtClean="0">
                <a:solidFill>
                  <a:schemeClr val="bg1"/>
                </a:solidFill>
                <a:latin typeface="方正兰亭黑_YS_GB18030" panose="03000502000000000000" pitchFamily="66" charset="-122"/>
                <a:ea typeface="方正兰亭黑_YS_GB18030" panose="03000502000000000000" pitchFamily="66" charset="-122"/>
              </a:rPr>
              <a:t>ISO</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顾问联系的</a:t>
            </a:r>
            <a:r>
              <a:rPr lang="zh-CN" altLang="en-US" dirty="0">
                <a:solidFill>
                  <a:schemeClr val="bg1"/>
                </a:solidFill>
                <a:latin typeface="方正兰亭黑_YS_GB18030" panose="03000502000000000000" pitchFamily="66" charset="-122"/>
                <a:ea typeface="方正兰亭黑_YS_GB18030" panose="03000502000000000000" pitchFamily="66" charset="-122"/>
              </a:rPr>
              <a:t>几个</a:t>
            </a:r>
            <a:r>
              <a:rPr lang="zh-CN" altLang="en-US" dirty="0" smtClean="0">
                <a:solidFill>
                  <a:schemeClr val="bg1"/>
                </a:solidFill>
                <a:latin typeface="方正兰亭黑_YS_GB18030" panose="03000502000000000000" pitchFamily="66" charset="-122"/>
                <a:ea typeface="方正兰亭黑_YS_GB18030" panose="03000502000000000000" pitchFamily="66" charset="-122"/>
              </a:rPr>
              <a:t>阶段？</a:t>
            </a:r>
            <a:endParaRPr lang="zh-CN" altLang="en-US" dirty="0">
              <a:solidFill>
                <a:schemeClr val="bg1"/>
              </a:solidFill>
              <a:latin typeface="方正兰亭黑_YS_GB18030" panose="03000502000000000000" pitchFamily="66" charset="-122"/>
              <a:ea typeface="方正兰亭黑_YS_GB18030" panose="03000502000000000000" pitchFamily="66" charset="-122"/>
            </a:endParaRPr>
          </a:p>
        </p:txBody>
      </p:sp>
      <p:sp>
        <p:nvSpPr>
          <p:cNvPr id="3" name="内容占位符 2"/>
          <p:cNvSpPr>
            <a:spLocks noGrp="1"/>
          </p:cNvSpPr>
          <p:nvPr>
            <p:ph idx="1"/>
          </p:nvPr>
        </p:nvSpPr>
        <p:spPr>
          <a:xfrm>
            <a:off x="1794330" y="1973059"/>
            <a:ext cx="8649081" cy="4588162"/>
          </a:xfrm>
        </p:spPr>
        <p:txBody>
          <a:bodyPr>
            <a:noAutofit/>
          </a:bodyPr>
          <a:lstStyle/>
          <a:p>
            <a:pPr>
              <a:buClr>
                <a:srgbClr val="BFEF74"/>
              </a:buClr>
              <a:buFont typeface="Wingdings" panose="05000000000000000000" pitchFamily="2" charset="2"/>
              <a:buChar char="u"/>
            </a:pPr>
            <a:r>
              <a:rPr lang="zh-CN" altLang="en-US" dirty="0" smtClean="0">
                <a:solidFill>
                  <a:schemeClr val="bg1"/>
                </a:solidFill>
                <a:latin typeface="微软雅黑" panose="020B0503020204020204" pitchFamily="34" charset="-122"/>
                <a:ea typeface="微软雅黑" panose="020B0503020204020204" pitchFamily="34" charset="-122"/>
              </a:rPr>
              <a:t>认识</a:t>
            </a:r>
            <a:r>
              <a:rPr lang="zh-CN" altLang="en-US" dirty="0">
                <a:solidFill>
                  <a:schemeClr val="bg1"/>
                </a:solidFill>
                <a:latin typeface="微软雅黑" panose="020B0503020204020204" pitchFamily="34" charset="-122"/>
                <a:ea typeface="微软雅黑" panose="020B0503020204020204" pitchFamily="34" charset="-122"/>
              </a:rPr>
              <a:t>阶段：在客户组织内建立关于质量系统的认识，基于客户的邀请</a:t>
            </a:r>
          </a:p>
          <a:p>
            <a:pPr>
              <a:buClr>
                <a:srgbClr val="BFEF74"/>
              </a:buClr>
              <a:buFont typeface="Wingdings" panose="05000000000000000000" pitchFamily="2" charset="2"/>
              <a:buChar char="u"/>
            </a:pPr>
            <a:r>
              <a:rPr lang="zh-CN" altLang="en-US" dirty="0">
                <a:solidFill>
                  <a:schemeClr val="bg1"/>
                </a:solidFill>
                <a:latin typeface="微软雅黑" panose="020B0503020204020204" pitchFamily="34" charset="-122"/>
                <a:ea typeface="微软雅黑" panose="020B0503020204020204" pitchFamily="34" charset="-122"/>
              </a:rPr>
              <a:t>文档审查：</a:t>
            </a:r>
            <a:r>
              <a:rPr lang="zh-CN" altLang="en-US" dirty="0" smtClean="0">
                <a:solidFill>
                  <a:schemeClr val="bg1"/>
                </a:solidFill>
                <a:latin typeface="微软雅黑" panose="020B0503020204020204" pitchFamily="34" charset="-122"/>
                <a:ea typeface="微软雅黑" panose="020B0503020204020204" pitchFamily="34" charset="-122"/>
              </a:rPr>
              <a:t>识别并收集需要审查</a:t>
            </a:r>
            <a:r>
              <a:rPr lang="zh-CN" altLang="en-US" dirty="0">
                <a:solidFill>
                  <a:schemeClr val="bg1"/>
                </a:solidFill>
                <a:latin typeface="微软雅黑" panose="020B0503020204020204" pitchFamily="34" charset="-122"/>
                <a:ea typeface="微软雅黑" panose="020B0503020204020204" pitchFamily="34" charset="-122"/>
              </a:rPr>
              <a:t>的文件和信息。</a:t>
            </a:r>
          </a:p>
          <a:p>
            <a:pPr>
              <a:buClr>
                <a:srgbClr val="BFEF74"/>
              </a:buClr>
              <a:buFont typeface="Wingdings" panose="05000000000000000000" pitchFamily="2" charset="2"/>
              <a:buChar char="u"/>
            </a:pPr>
            <a:r>
              <a:rPr lang="zh-CN" altLang="en-US" dirty="0">
                <a:solidFill>
                  <a:schemeClr val="bg1"/>
                </a:solidFill>
                <a:latin typeface="微软雅黑" panose="020B0503020204020204" pitchFamily="34" charset="-122"/>
                <a:ea typeface="微软雅黑" panose="020B0503020204020204" pitchFamily="34" charset="-122"/>
              </a:rPr>
              <a:t>评估计划：识别评估的范围，发起人以及团队，漏洞以及风险，建立相应期望，制订屏蔽</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内部审计计划，对计划进行行政评审</a:t>
            </a:r>
          </a:p>
          <a:p>
            <a:pPr>
              <a:buClr>
                <a:srgbClr val="BFEF74"/>
              </a:buClr>
              <a:buFont typeface="Wingdings" panose="05000000000000000000" pitchFamily="2" charset="2"/>
              <a:buChar char="u"/>
            </a:pPr>
            <a:r>
              <a:rPr lang="zh-CN" altLang="en-US" dirty="0">
                <a:solidFill>
                  <a:schemeClr val="bg1"/>
                </a:solidFill>
                <a:latin typeface="微软雅黑" panose="020B0503020204020204" pitchFamily="34" charset="-122"/>
                <a:ea typeface="微软雅黑" panose="020B0503020204020204" pitchFamily="34" charset="-122"/>
              </a:rPr>
              <a:t>评估</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内部审计技能的培训：这是成为评估团队成员的先决条件。培训的焦点是在培训期间建立团队。</a:t>
            </a:r>
          </a:p>
          <a:p>
            <a:pPr>
              <a:buClr>
                <a:srgbClr val="BFEF74"/>
              </a:buClr>
              <a:buFont typeface="Wingdings" panose="05000000000000000000" pitchFamily="2" charset="2"/>
              <a:buChar char="u"/>
            </a:pPr>
            <a:r>
              <a:rPr lang="zh-CN" altLang="en-US" dirty="0">
                <a:solidFill>
                  <a:schemeClr val="bg1"/>
                </a:solidFill>
                <a:latin typeface="微软雅黑" panose="020B0503020204020204" pitchFamily="34" charset="-122"/>
                <a:ea typeface="微软雅黑" panose="020B0503020204020204" pitchFamily="34" charset="-122"/>
              </a:rPr>
              <a:t>访问客户组织：与该组织的关键成员谈话（决策者，观点提出者，影响者），巩固调查结果，准备并出具初步调查结果，准备并提交最终调查结果。</a:t>
            </a:r>
          </a:p>
          <a:p>
            <a:pPr>
              <a:buClr>
                <a:srgbClr val="BFEF74"/>
              </a:buClr>
              <a:buFont typeface="Wingdings" panose="05000000000000000000" pitchFamily="2" charset="2"/>
              <a:buChar char="u"/>
            </a:pPr>
            <a:endParaRPr lang="en-US" altLang="zh-CN" dirty="0" smtClean="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24000" y="1812258"/>
            <a:ext cx="9392056" cy="0"/>
          </a:xfrm>
          <a:prstGeom prst="line">
            <a:avLst/>
          </a:prstGeom>
          <a:ln w="101600" cap="rnd">
            <a:solidFill>
              <a:srgbClr val="BFEF7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18200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等腰三角形 6"/>
          <p:cNvSpPr>
            <a:spLocks noChangeArrowheads="1"/>
          </p:cNvSpPr>
          <p:nvPr/>
        </p:nvSpPr>
        <p:spPr bwMode="auto">
          <a:xfrm>
            <a:off x="12700" y="5899150"/>
            <a:ext cx="1177925" cy="1016000"/>
          </a:xfrm>
          <a:prstGeom prst="triangle">
            <a:avLst>
              <a:gd name="adj" fmla="val 50000"/>
            </a:avLst>
          </a:prstGeom>
          <a:noFill/>
          <a:ln w="12700">
            <a:solidFill>
              <a:srgbClr val="B2AD4E"/>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22530" name="等腰三角形 7"/>
          <p:cNvSpPr>
            <a:spLocks noChangeArrowheads="1"/>
          </p:cNvSpPr>
          <p:nvPr/>
        </p:nvSpPr>
        <p:spPr bwMode="auto">
          <a:xfrm>
            <a:off x="4260850" y="5264150"/>
            <a:ext cx="1871663" cy="1612900"/>
          </a:xfrm>
          <a:prstGeom prst="triangle">
            <a:avLst>
              <a:gd name="adj" fmla="val 50000"/>
            </a:avLst>
          </a:prstGeom>
          <a:noFill/>
          <a:ln w="28575">
            <a:solidFill>
              <a:srgbClr val="707029"/>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22531" name="等腰三角形 8"/>
          <p:cNvSpPr>
            <a:spLocks noChangeArrowheads="1"/>
          </p:cNvSpPr>
          <p:nvPr/>
        </p:nvSpPr>
        <p:spPr bwMode="auto">
          <a:xfrm>
            <a:off x="3625850" y="5637213"/>
            <a:ext cx="1441450" cy="1243012"/>
          </a:xfrm>
          <a:prstGeom prst="triangle">
            <a:avLst>
              <a:gd name="adj" fmla="val 50000"/>
            </a:avLst>
          </a:prstGeom>
          <a:noFill/>
          <a:ln w="19050">
            <a:solidFill>
              <a:srgbClr val="0498A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22532" name="图片 9"/>
          <p:cNvPicPr>
            <a:picLocks noChangeAspect="1" noChangeArrowheads="1"/>
          </p:cNvPicPr>
          <p:nvPr/>
        </p:nvPicPr>
        <p:blipFill>
          <a:blip r:embed="rId2">
            <a:extLst>
              <a:ext uri="{28A0092B-C50C-407E-A947-70E740481C1C}">
                <a14:useLocalDpi xmlns:a14="http://schemas.microsoft.com/office/drawing/2010/main" val="0"/>
              </a:ext>
            </a:extLst>
          </a:blip>
          <a:srcRect t="5646"/>
          <a:stretch>
            <a:fillRect/>
          </a:stretch>
        </p:blipFill>
        <p:spPr bwMode="auto">
          <a:xfrm>
            <a:off x="9334500" y="0"/>
            <a:ext cx="202882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等腰三角形 10"/>
          <p:cNvSpPr>
            <a:spLocks noChangeArrowheads="1"/>
          </p:cNvSpPr>
          <p:nvPr/>
        </p:nvSpPr>
        <p:spPr bwMode="auto">
          <a:xfrm flipV="1">
            <a:off x="9304338" y="0"/>
            <a:ext cx="1125537" cy="873125"/>
          </a:xfrm>
          <a:prstGeom prst="triangle">
            <a:avLst>
              <a:gd name="adj" fmla="val 50000"/>
            </a:avLst>
          </a:prstGeom>
          <a:solidFill>
            <a:srgbClr val="2A555B"/>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22534" name="图片 4"/>
          <p:cNvPicPr>
            <a:picLocks noChangeAspect="1" noChangeArrowheads="1"/>
          </p:cNvPicPr>
          <p:nvPr/>
        </p:nvPicPr>
        <p:blipFill>
          <a:blip r:embed="rId3">
            <a:extLst>
              <a:ext uri="{28A0092B-C50C-407E-A947-70E740481C1C}">
                <a14:useLocalDpi xmlns:a14="http://schemas.microsoft.com/office/drawing/2010/main" val="0"/>
              </a:ext>
            </a:extLst>
          </a:blip>
          <a:srcRect l="29390" t="11908"/>
          <a:stretch>
            <a:fillRect/>
          </a:stretch>
        </p:blipFill>
        <p:spPr bwMode="auto">
          <a:xfrm>
            <a:off x="0" y="0"/>
            <a:ext cx="40386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6" name="文本框 12"/>
          <p:cNvSpPr>
            <a:spLocks noChangeArrowheads="1"/>
          </p:cNvSpPr>
          <p:nvPr/>
        </p:nvSpPr>
        <p:spPr bwMode="auto">
          <a:xfrm>
            <a:off x="4052888" y="2139950"/>
            <a:ext cx="560231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zh-CN" altLang="en-US" sz="6000" b="1" dirty="0" smtClean="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软件开发</a:t>
            </a:r>
            <a:r>
              <a:rPr lang="en-US" altLang="zh-CN" sz="6000" b="1" dirty="0" smtClean="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ISO9000</a:t>
            </a:r>
            <a:r>
              <a:rPr lang="zh-CN" altLang="en-US" sz="6000" b="1" dirty="0" smtClean="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体系</a:t>
            </a:r>
            <a:endParaRPr lang="zh-CN" altLang="en-US" sz="6000" b="1" dirty="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Tree>
    <p:extLst>
      <p:ext uri="{BB962C8B-B14F-4D97-AF65-F5344CB8AC3E}">
        <p14:creationId xmlns:p14="http://schemas.microsoft.com/office/powerpoint/2010/main" val="327647453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7" name="组合 4"/>
          <p:cNvGrpSpPr>
            <a:grpSpLocks/>
          </p:cNvGrpSpPr>
          <p:nvPr/>
        </p:nvGrpSpPr>
        <p:grpSpPr bwMode="auto">
          <a:xfrm>
            <a:off x="0" y="-41275"/>
            <a:ext cx="1799646" cy="1303338"/>
            <a:chOff x="0" y="0"/>
            <a:chExt cx="1799771" cy="1304243"/>
          </a:xfrm>
        </p:grpSpPr>
        <p:sp>
          <p:nvSpPr>
            <p:cNvPr id="14338" name="等腰三角形 5"/>
            <p:cNvSpPr>
              <a:spLocks noChangeArrowheads="1"/>
            </p:cNvSpPr>
            <p:nvPr/>
          </p:nvSpPr>
          <p:spPr bwMode="auto">
            <a:xfrm flipV="1">
              <a:off x="7496" y="261610"/>
              <a:ext cx="832662" cy="823414"/>
            </a:xfrm>
            <a:prstGeom prst="triangle">
              <a:avLst>
                <a:gd name="adj" fmla="val 50000"/>
              </a:avLst>
            </a:prstGeom>
            <a:noFill/>
            <a:ln w="5715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2A555B"/>
                </a:solidFill>
                <a:latin typeface="等线" panose="02010600030101010101" pitchFamily="2" charset="-122"/>
                <a:sym typeface="等线" panose="02010600030101010101" pitchFamily="2" charset="-122"/>
              </a:endParaRPr>
            </a:p>
          </p:txBody>
        </p:sp>
        <p:sp>
          <p:nvSpPr>
            <p:cNvPr id="14339" name="等腰三角形 6"/>
            <p:cNvSpPr>
              <a:spLocks noChangeArrowheads="1"/>
            </p:cNvSpPr>
            <p:nvPr/>
          </p:nvSpPr>
          <p:spPr bwMode="auto">
            <a:xfrm flipV="1">
              <a:off x="278685" y="480829"/>
              <a:ext cx="832662" cy="823414"/>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14340" name="图片 7"/>
            <p:cNvPicPr>
              <a:picLocks noChangeAspect="1" noChangeArrowheads="1"/>
            </p:cNvPicPr>
            <p:nvPr/>
          </p:nvPicPr>
          <p:blipFill>
            <a:blip r:embed="rId2">
              <a:extLst>
                <a:ext uri="{28A0092B-C50C-407E-A947-70E740481C1C}">
                  <a14:useLocalDpi xmlns:a14="http://schemas.microsoft.com/office/drawing/2010/main" val="0"/>
                </a:ext>
              </a:extLst>
            </a:blip>
            <a:srcRect l="28754" t="50206" r="23984"/>
            <a:stretch>
              <a:fillRect/>
            </a:stretch>
          </p:blipFill>
          <p:spPr bwMode="auto">
            <a:xfrm>
              <a:off x="0" y="0"/>
              <a:ext cx="1799771" cy="126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343" name="图片 10"/>
          <p:cNvPicPr>
            <a:picLocks noChangeAspect="1" noChangeArrowheads="1"/>
          </p:cNvPicPr>
          <p:nvPr/>
        </p:nvPicPr>
        <p:blipFill>
          <a:blip r:embed="rId3">
            <a:extLst>
              <a:ext uri="{28A0092B-C50C-407E-A947-70E740481C1C}">
                <a14:useLocalDpi xmlns:a14="http://schemas.microsoft.com/office/drawing/2010/main" val="0"/>
              </a:ext>
            </a:extLst>
          </a:blip>
          <a:srcRect t="16125" r="50000" b="21051"/>
          <a:stretch>
            <a:fillRect/>
          </a:stretch>
        </p:blipFill>
        <p:spPr bwMode="auto">
          <a:xfrm>
            <a:off x="9356725" y="1400175"/>
            <a:ext cx="28352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1429560" y="1400175"/>
            <a:ext cx="8362833" cy="2677656"/>
          </a:xfrm>
          <a:prstGeom prst="rect">
            <a:avLst/>
          </a:prstGeom>
          <a:noFill/>
        </p:spPr>
        <p:txBody>
          <a:bodyPr wrap="square" rtlCol="0">
            <a:spAutoFit/>
          </a:bodyPr>
          <a:lstStyle/>
          <a:p>
            <a:r>
              <a:rPr lang="zh-CN" altLang="en-US" sz="2800" dirty="0">
                <a:latin typeface="方正兰亭黑简体"/>
              </a:rPr>
              <a:t>最初的软件质量保证系统是在</a:t>
            </a:r>
            <a:r>
              <a:rPr lang="en-US" altLang="zh-CN" sz="2800" dirty="0">
                <a:latin typeface="方正兰亭黑简体"/>
              </a:rPr>
              <a:t>70</a:t>
            </a:r>
            <a:r>
              <a:rPr lang="zh-CN" altLang="en-US" sz="2800" dirty="0">
                <a:latin typeface="方正兰亭黑简体"/>
              </a:rPr>
              <a:t>年代由欧洲首先采用的，其后在美国和世界其他地区也迅速地发展起来。目前， 欧洲联合会积极促进软件质量的制度化，提出了如下</a:t>
            </a:r>
            <a:r>
              <a:rPr lang="en-US" altLang="zh-CN" sz="2800" dirty="0">
                <a:latin typeface="方正兰亭黑简体"/>
              </a:rPr>
              <a:t>ISO9000</a:t>
            </a:r>
            <a:r>
              <a:rPr lang="zh-CN" altLang="en-US" sz="2800" dirty="0">
                <a:latin typeface="方正兰亭黑简体"/>
              </a:rPr>
              <a:t>软件标准系列：</a:t>
            </a:r>
            <a:r>
              <a:rPr lang="en-US" altLang="zh-CN" sz="2800" dirty="0">
                <a:latin typeface="方正兰亭黑简体"/>
              </a:rPr>
              <a:t>ISO9001</a:t>
            </a:r>
            <a:r>
              <a:rPr lang="zh-CN" altLang="en-US" sz="2800" dirty="0">
                <a:latin typeface="方正兰亭黑简体"/>
              </a:rPr>
              <a:t>、</a:t>
            </a:r>
            <a:r>
              <a:rPr lang="en-US" altLang="zh-CN" sz="2800" dirty="0">
                <a:latin typeface="方正兰亭黑简体"/>
              </a:rPr>
              <a:t>ISO9000-3</a:t>
            </a:r>
            <a:r>
              <a:rPr lang="zh-CN" altLang="en-US" sz="2800" dirty="0">
                <a:latin typeface="方正兰亭黑简体"/>
              </a:rPr>
              <a:t>、</a:t>
            </a:r>
            <a:r>
              <a:rPr lang="en-US" altLang="zh-CN" sz="2800" dirty="0">
                <a:latin typeface="方正兰亭黑简体"/>
              </a:rPr>
              <a:t>ISO9004-2</a:t>
            </a:r>
            <a:r>
              <a:rPr lang="zh-CN" altLang="en-US" sz="2800" dirty="0">
                <a:latin typeface="方正兰亭黑简体"/>
              </a:rPr>
              <a:t>、</a:t>
            </a:r>
            <a:r>
              <a:rPr lang="en-US" altLang="zh-CN" sz="2800" dirty="0">
                <a:latin typeface="方正兰亭黑简体"/>
              </a:rPr>
              <a:t>ISO9004 -4</a:t>
            </a:r>
            <a:r>
              <a:rPr lang="zh-CN" altLang="en-US" sz="2800" dirty="0">
                <a:latin typeface="方正兰亭黑简体"/>
              </a:rPr>
              <a:t>、</a:t>
            </a:r>
            <a:r>
              <a:rPr lang="en-US" altLang="zh-CN" sz="2800" dirty="0">
                <a:latin typeface="方正兰亭黑简体"/>
              </a:rPr>
              <a:t>ISO9002</a:t>
            </a:r>
            <a:r>
              <a:rPr lang="zh-CN" altLang="en-US" sz="2800" dirty="0">
                <a:latin typeface="方正兰亭黑简体"/>
              </a:rPr>
              <a:t>。这一系列现已成为全球的软件质量标准。</a:t>
            </a:r>
          </a:p>
        </p:txBody>
      </p:sp>
    </p:spTree>
    <p:extLst>
      <p:ext uri="{BB962C8B-B14F-4D97-AF65-F5344CB8AC3E}">
        <p14:creationId xmlns:p14="http://schemas.microsoft.com/office/powerpoint/2010/main" val="384098548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7" name="组合 4"/>
          <p:cNvGrpSpPr>
            <a:grpSpLocks/>
          </p:cNvGrpSpPr>
          <p:nvPr/>
        </p:nvGrpSpPr>
        <p:grpSpPr bwMode="auto">
          <a:xfrm>
            <a:off x="0" y="-41275"/>
            <a:ext cx="1799646" cy="1303338"/>
            <a:chOff x="0" y="0"/>
            <a:chExt cx="1799771" cy="1304243"/>
          </a:xfrm>
        </p:grpSpPr>
        <p:sp>
          <p:nvSpPr>
            <p:cNvPr id="14338" name="等腰三角形 5"/>
            <p:cNvSpPr>
              <a:spLocks noChangeArrowheads="1"/>
            </p:cNvSpPr>
            <p:nvPr/>
          </p:nvSpPr>
          <p:spPr bwMode="auto">
            <a:xfrm flipV="1">
              <a:off x="7496" y="261610"/>
              <a:ext cx="832662" cy="823414"/>
            </a:xfrm>
            <a:prstGeom prst="triangle">
              <a:avLst>
                <a:gd name="adj" fmla="val 50000"/>
              </a:avLst>
            </a:prstGeom>
            <a:noFill/>
            <a:ln w="57150">
              <a:solidFill>
                <a:srgbClr val="2A555B"/>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2A555B"/>
                </a:solidFill>
                <a:latin typeface="等线" panose="02010600030101010101" pitchFamily="2" charset="-122"/>
                <a:sym typeface="等线" panose="02010600030101010101" pitchFamily="2" charset="-122"/>
              </a:endParaRPr>
            </a:p>
          </p:txBody>
        </p:sp>
        <p:sp>
          <p:nvSpPr>
            <p:cNvPr id="14339" name="等腰三角形 6"/>
            <p:cNvSpPr>
              <a:spLocks noChangeArrowheads="1"/>
            </p:cNvSpPr>
            <p:nvPr/>
          </p:nvSpPr>
          <p:spPr bwMode="auto">
            <a:xfrm flipV="1">
              <a:off x="278685" y="480829"/>
              <a:ext cx="832662" cy="823414"/>
            </a:xfrm>
            <a:prstGeom prst="triangle">
              <a:avLst>
                <a:gd name="adj" fmla="val 50000"/>
              </a:avLst>
            </a:prstGeom>
            <a:noFill/>
            <a:ln w="57150">
              <a:solidFill>
                <a:srgbClr val="707029">
                  <a:alpha val="64999"/>
                </a:srgbClr>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14340" name="图片 7"/>
            <p:cNvPicPr>
              <a:picLocks noChangeAspect="1" noChangeArrowheads="1"/>
            </p:cNvPicPr>
            <p:nvPr/>
          </p:nvPicPr>
          <p:blipFill>
            <a:blip r:embed="rId2">
              <a:extLst>
                <a:ext uri="{28A0092B-C50C-407E-A947-70E740481C1C}">
                  <a14:useLocalDpi xmlns:a14="http://schemas.microsoft.com/office/drawing/2010/main" val="0"/>
                </a:ext>
              </a:extLst>
            </a:blip>
            <a:srcRect l="28754" t="50206" r="23984"/>
            <a:stretch>
              <a:fillRect/>
            </a:stretch>
          </p:blipFill>
          <p:spPr bwMode="auto">
            <a:xfrm>
              <a:off x="0" y="0"/>
              <a:ext cx="1799771" cy="126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343" name="图片 10"/>
          <p:cNvPicPr>
            <a:picLocks noChangeAspect="1" noChangeArrowheads="1"/>
          </p:cNvPicPr>
          <p:nvPr/>
        </p:nvPicPr>
        <p:blipFill>
          <a:blip r:embed="rId3">
            <a:extLst>
              <a:ext uri="{28A0092B-C50C-407E-A947-70E740481C1C}">
                <a14:useLocalDpi xmlns:a14="http://schemas.microsoft.com/office/drawing/2010/main" val="0"/>
              </a:ext>
            </a:extLst>
          </a:blip>
          <a:srcRect t="16125" r="50000" b="21051"/>
          <a:stretch>
            <a:fillRect/>
          </a:stretch>
        </p:blipFill>
        <p:spPr bwMode="auto">
          <a:xfrm>
            <a:off x="9356725" y="1400175"/>
            <a:ext cx="28352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840100" y="1400175"/>
            <a:ext cx="8952294" cy="4832092"/>
          </a:xfrm>
          <a:prstGeom prst="rect">
            <a:avLst/>
          </a:prstGeom>
          <a:noFill/>
        </p:spPr>
        <p:txBody>
          <a:bodyPr wrap="square" rtlCol="0">
            <a:spAutoFit/>
          </a:bodyPr>
          <a:lstStyle/>
          <a:p>
            <a:r>
              <a:rPr lang="en-US" altLang="zh-CN" sz="2800" dirty="0"/>
              <a:t>ISO9000</a:t>
            </a:r>
            <a:r>
              <a:rPr lang="zh-CN" altLang="en-US" sz="2800" dirty="0"/>
              <a:t>国际标准在软件中的应用主要体现在以下内容：</a:t>
            </a:r>
          </a:p>
          <a:p>
            <a:r>
              <a:rPr lang="zh-CN" altLang="en-US" sz="2800" dirty="0"/>
              <a:t>（</a:t>
            </a:r>
            <a:r>
              <a:rPr lang="en-US" altLang="zh-CN" sz="2800" dirty="0"/>
              <a:t>1</a:t>
            </a:r>
            <a:r>
              <a:rPr lang="zh-CN" altLang="en-US" sz="2800" dirty="0"/>
              <a:t>）</a:t>
            </a:r>
            <a:r>
              <a:rPr lang="en-US" altLang="zh-CN" sz="2800" dirty="0"/>
              <a:t>ISO9001</a:t>
            </a:r>
            <a:r>
              <a:rPr lang="zh-CN" altLang="en-US" sz="2800" dirty="0"/>
              <a:t>质量体系是在软件设计、开发、生产、安装和维护时的质量保证的参考文件。此标准应用于所有软件产品和满足各种技术需求的软件维护活动中。它是评价软件质量的首要标准。</a:t>
            </a:r>
          </a:p>
          <a:p>
            <a:r>
              <a:rPr lang="zh-CN" altLang="en-US" sz="2800" dirty="0"/>
              <a:t>（</a:t>
            </a:r>
            <a:r>
              <a:rPr lang="en-US" altLang="zh-CN" sz="2800" dirty="0"/>
              <a:t>2</a:t>
            </a:r>
            <a:r>
              <a:rPr lang="zh-CN" altLang="en-US" sz="2800" dirty="0"/>
              <a:t>）</a:t>
            </a:r>
            <a:r>
              <a:rPr lang="en-US" altLang="zh-CN" sz="2800" dirty="0"/>
              <a:t>ISO9000-3</a:t>
            </a:r>
            <a:r>
              <a:rPr lang="zh-CN" altLang="en-US" sz="2800" dirty="0"/>
              <a:t>是对</a:t>
            </a:r>
            <a:r>
              <a:rPr lang="en-US" altLang="zh-CN" sz="2800" dirty="0"/>
              <a:t>ISO90001</a:t>
            </a:r>
            <a:r>
              <a:rPr lang="zh-CN" altLang="en-US" sz="2800" dirty="0"/>
              <a:t>进行改造后，将其应用到软件工业中对软件开发、供应和维护活动的知道文件。</a:t>
            </a:r>
          </a:p>
          <a:p>
            <a:r>
              <a:rPr lang="zh-CN" altLang="en-US" sz="2800" dirty="0"/>
              <a:t>（</a:t>
            </a:r>
            <a:r>
              <a:rPr lang="en-US" altLang="zh-CN" sz="2800" dirty="0"/>
              <a:t>3</a:t>
            </a:r>
            <a:r>
              <a:rPr lang="zh-CN" altLang="en-US" sz="2800" dirty="0"/>
              <a:t>）</a:t>
            </a:r>
            <a:r>
              <a:rPr lang="en-US" altLang="zh-CN" sz="2800" dirty="0"/>
              <a:t>ISO9004-2</a:t>
            </a:r>
            <a:r>
              <a:rPr lang="zh-CN" altLang="en-US" sz="2800" dirty="0"/>
              <a:t>是指导软件维护和服务的质量系统标准。它指导和支持软件产品的维护。</a:t>
            </a:r>
          </a:p>
          <a:p>
            <a:r>
              <a:rPr lang="zh-CN" altLang="en-US" sz="2800" dirty="0"/>
              <a:t>（</a:t>
            </a:r>
            <a:r>
              <a:rPr lang="en-US" altLang="zh-CN" sz="2800" dirty="0"/>
              <a:t>4</a:t>
            </a:r>
            <a:r>
              <a:rPr lang="zh-CN" altLang="en-US" sz="2800" dirty="0"/>
              <a:t>）</a:t>
            </a:r>
            <a:r>
              <a:rPr lang="en-US" altLang="zh-CN" sz="2800" dirty="0"/>
              <a:t>ISO9004-4</a:t>
            </a:r>
            <a:r>
              <a:rPr lang="zh-CN" altLang="en-US" sz="2800" dirty="0"/>
              <a:t>是近年公布的很有用的附加标准，是用做改善软件质量的质量管理系统文件。</a:t>
            </a:r>
          </a:p>
        </p:txBody>
      </p:sp>
    </p:spTree>
    <p:extLst>
      <p:ext uri="{BB962C8B-B14F-4D97-AF65-F5344CB8AC3E}">
        <p14:creationId xmlns:p14="http://schemas.microsoft.com/office/powerpoint/2010/main" val="24638184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8575"/>
            <a:ext cx="12191365" cy="127254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300" b="1" i="0" u="none" strike="noStrike" kern="1200" cap="none" spc="0" normalizeH="0" baseline="0" noProof="0" dirty="0" smtClean="0">
                <a:ln>
                  <a:noFill/>
                </a:ln>
                <a:solidFill>
                  <a:prstClr val="white"/>
                </a:solidFill>
                <a:effectLst/>
                <a:uLnTx/>
                <a:uFillTx/>
                <a:latin typeface="微软雅黑" charset="0"/>
                <a:ea typeface="微软雅黑" charset="0"/>
                <a:cs typeface="+mn-cs"/>
              </a:rPr>
              <a:t>软件质量标准发展历程</a:t>
            </a:r>
            <a:endParaRPr kumimoji="0" lang="zh-CN" altLang="en-US" sz="43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3" name="文本框 2"/>
          <p:cNvSpPr txBox="1"/>
          <p:nvPr/>
        </p:nvSpPr>
        <p:spPr>
          <a:xfrm>
            <a:off x="1082152" y="1919793"/>
            <a:ext cx="10315575" cy="4324261"/>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1991</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年</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 ISO/IEC</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推出</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ISO/IEC 9126:1991</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标准</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定义了</a:t>
            </a:r>
            <a:r>
              <a:rPr kumimoji="0" lang="zh-CN" altLang="en-US" sz="2500" b="1"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六种质量特性</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描述了产品评估过程的模型</a:t>
            </a: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1994</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年</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为了满足软件检测</a:t>
            </a:r>
            <a:r>
              <a:rPr kumimoji="0" lang="zh-CN" altLang="en-US"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rPr>
              <a:t>、</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测评机构的需求，推出</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ISO/IEC 12119:1994</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标准</a:t>
            </a: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ISO/IEC 9126:1991</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标准给出了</a:t>
            </a:r>
            <a:r>
              <a:rPr kumimoji="0" lang="zh-CN" altLang="en-US" sz="2500" b="1"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软件特性</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a:t>
            </a:r>
            <a:r>
              <a:rPr kumimoji="0" lang="zh-CN" altLang="en-US" sz="2500" b="1"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子特性</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及相关的度量</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进行完善和细化</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被分为</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ISO/IEC 9126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和</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ISO/IEC 14598</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两个标准</a:t>
            </a: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1999</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年，提出了</a:t>
            </a:r>
            <a:r>
              <a:rPr kumimoji="0" lang="en-US" altLang="zh-CN" sz="2500" b="0" i="0" u="none" strike="noStrike" kern="1200" cap="none" spc="0" normalizeH="0" baseline="0" noProof="0" dirty="0" err="1">
                <a:ln>
                  <a:noFill/>
                </a:ln>
                <a:solidFill>
                  <a:prstClr val="black"/>
                </a:solidFill>
                <a:effectLst/>
                <a:uLnTx/>
                <a:uFillTx/>
                <a:latin typeface="微软雅黑" charset="0"/>
                <a:ea typeface="微软雅黑" charset="0"/>
                <a:cs typeface="+mn-cs"/>
                <a:sym typeface="+mn-ea"/>
              </a:rPr>
              <a:t>SQuaRE</a:t>
            </a:r>
            <a:r>
              <a:rPr kumimoji="0" lang="en-US" altLang="zh-CN"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rPr>
              <a:t>(Systems and Software product Quality Requirements and </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Evaluation,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软件产品质量要求和评价</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设想。</a:t>
            </a:r>
            <a:endParaRPr kumimoji="0" lang="zh-CN" altLang="en-US"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endParaRPr>
          </a:p>
        </p:txBody>
      </p:sp>
    </p:spTree>
    <p:extLst>
      <p:ext uri="{BB962C8B-B14F-4D97-AF65-F5344CB8AC3E}">
        <p14:creationId xmlns:p14="http://schemas.microsoft.com/office/powerpoint/2010/main" val="75080872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8575"/>
            <a:ext cx="12191365" cy="127254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300" b="1" i="0" u="none" strike="noStrike" kern="1200" cap="none" spc="0" normalizeH="0" baseline="0" noProof="0" dirty="0" smtClean="0">
                <a:ln>
                  <a:noFill/>
                </a:ln>
                <a:solidFill>
                  <a:prstClr val="white"/>
                </a:solidFill>
                <a:effectLst/>
                <a:uLnTx/>
                <a:uFillTx/>
                <a:latin typeface="微软雅黑" charset="0"/>
                <a:ea typeface="微软雅黑" charset="0"/>
                <a:cs typeface="+mn-cs"/>
              </a:rPr>
              <a:t>ISO/IEC 12119</a:t>
            </a:r>
            <a:endParaRPr kumimoji="0" lang="zh-CN" altLang="en-US" sz="43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3" name="文本框 2"/>
          <p:cNvSpPr txBox="1"/>
          <p:nvPr/>
        </p:nvSpPr>
        <p:spPr>
          <a:xfrm>
            <a:off x="1129574" y="1965291"/>
            <a:ext cx="10315575" cy="240065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满足</a:t>
            </a:r>
            <a:r>
              <a:rPr kumimoji="0" lang="zh-CN" altLang="en-US" sz="2500" b="1"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软件检测、测评机构</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需求，定义软件包的质量要求和测试细则。</a:t>
            </a: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rPr>
              <a:t>质量要求包括产品说明、用户文档、程序和数据，并根据质量要求编制测试细则</a:t>
            </a: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74"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zh-CN" altLang="en-US" sz="2500" b="0" i="0" u="none" strike="noStrike" kern="1200" cap="none" spc="-74" normalizeH="0" baseline="0" noProof="0" dirty="0">
              <a:ln>
                <a:noFill/>
              </a:ln>
              <a:solidFill>
                <a:prstClr val="black"/>
              </a:solidFill>
              <a:effectLst/>
              <a:uLnTx/>
              <a:uFillTx/>
              <a:latin typeface="微软雅黑" charset="0"/>
              <a:ea typeface="微软雅黑" charset="0"/>
              <a:cs typeface="+mn-cs"/>
              <a:sym typeface="+mn-ea"/>
            </a:endParaRPr>
          </a:p>
        </p:txBody>
      </p:sp>
    </p:spTree>
    <p:extLst>
      <p:ext uri="{BB962C8B-B14F-4D97-AF65-F5344CB8AC3E}">
        <p14:creationId xmlns:p14="http://schemas.microsoft.com/office/powerpoint/2010/main" val="406968573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8575"/>
            <a:ext cx="12191365" cy="127254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300" b="1" i="0" u="none" strike="noStrike" kern="1200" cap="none" spc="0" normalizeH="0" baseline="0" noProof="0" dirty="0" smtClean="0">
                <a:ln>
                  <a:noFill/>
                </a:ln>
                <a:solidFill>
                  <a:prstClr val="white"/>
                </a:solidFill>
                <a:effectLst/>
                <a:uLnTx/>
                <a:uFillTx/>
                <a:latin typeface="微软雅黑" charset="0"/>
                <a:ea typeface="微软雅黑" charset="0"/>
                <a:cs typeface="+mn-cs"/>
              </a:rPr>
              <a:t>ISO/IEC 9126</a:t>
            </a:r>
            <a:endParaRPr kumimoji="0" lang="zh-CN" altLang="en-US" sz="43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3" name="文本框 2"/>
          <p:cNvSpPr txBox="1"/>
          <p:nvPr/>
        </p:nvSpPr>
        <p:spPr>
          <a:xfrm>
            <a:off x="1119526" y="1975340"/>
            <a:ext cx="4668325" cy="355481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关注</a:t>
            </a:r>
            <a:r>
              <a:rPr kumimoji="0" lang="zh-CN" altLang="en-US" sz="2500" b="1"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质量模型</a:t>
            </a: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以及</a:t>
            </a:r>
            <a:r>
              <a:rPr kumimoji="0" lang="zh-CN" altLang="en-US" sz="2500" b="1"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度量方法</a:t>
            </a:r>
            <a:endParaRPr kumimoji="0" lang="en-US" altLang="zh-CN" sz="2500" b="1"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74"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软件质量属性的六个特性</a:t>
            </a:r>
            <a:r>
              <a:rPr kumimoji="0" lang="en-US" altLang="zh-CN"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功能性</a:t>
            </a:r>
            <a:r>
              <a:rPr kumimoji="0" lang="zh-CN" altLang="en-US" sz="2500" b="0" i="0" u="none" strike="noStrike" kern="1200" cap="none" spc="-74" normalizeH="0" baseline="0" noProof="0" dirty="0">
                <a:ln>
                  <a:noFill/>
                </a:ln>
                <a:solidFill>
                  <a:prstClr val="black"/>
                </a:solidFill>
                <a:effectLst/>
                <a:uLnTx/>
                <a:uFillTx/>
                <a:latin typeface="微软雅黑" charset="0"/>
                <a:ea typeface="微软雅黑" charset="0"/>
                <a:cs typeface="+mn-cs"/>
                <a:sym typeface="+mn-ea"/>
              </a:rPr>
              <a:t>、可靠性、易用性、效率、维护性、</a:t>
            </a: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可移植性</a:t>
            </a:r>
            <a:endParaRPr kumimoji="0" lang="en-US" altLang="zh-CN"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74"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对每个质量特性、质量子特性来测试软件属性</a:t>
            </a:r>
            <a:r>
              <a:rPr kumimoji="0" lang="en-US" altLang="zh-CN"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以确定软件质量达到的水平</a:t>
            </a:r>
            <a:endParaRPr kumimoji="0" lang="en-US" altLang="zh-CN"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endParaRPr>
          </a:p>
        </p:txBody>
      </p:sp>
      <p:pic>
        <p:nvPicPr>
          <p:cNvPr id="1026" name="Picture 2" descr="https://upload.wikimedia.org/wikipedia/commons/thumb/5/58/ISO_9126_quality_%28en%29.svg/567px-ISO_9126_quality_%28en%29.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682" y="1457325"/>
            <a:ext cx="5400675" cy="540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30273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8575"/>
            <a:ext cx="12191365" cy="127254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300" b="1" i="0" u="none" strike="noStrike" kern="1200" cap="none" spc="0" normalizeH="0" baseline="0" noProof="0" dirty="0" err="1">
                <a:ln>
                  <a:noFill/>
                </a:ln>
                <a:solidFill>
                  <a:prstClr val="white"/>
                </a:solidFill>
                <a:effectLst/>
                <a:uLnTx/>
                <a:uFillTx/>
                <a:latin typeface="微软雅黑" charset="0"/>
                <a:ea typeface="微软雅黑" charset="0"/>
                <a:cs typeface="+mn-cs"/>
                <a:sym typeface="+mn-ea"/>
              </a:rPr>
              <a:t>SQuaRE</a:t>
            </a:r>
            <a:r>
              <a:rPr kumimoji="0" lang="zh-CN" altLang="en-US" sz="4300" b="1" i="0" u="none" strike="noStrike" kern="1200" cap="none" spc="0" normalizeH="0" baseline="0" noProof="0" dirty="0">
                <a:ln>
                  <a:noFill/>
                </a:ln>
                <a:solidFill>
                  <a:prstClr val="white"/>
                </a:solidFill>
                <a:effectLst/>
                <a:uLnTx/>
                <a:uFillTx/>
                <a:latin typeface="微软雅黑" charset="0"/>
                <a:ea typeface="微软雅黑" charset="0"/>
                <a:cs typeface="+mn-cs"/>
                <a:sym typeface="+mn-ea"/>
              </a:rPr>
              <a:t>系列标准</a:t>
            </a:r>
          </a:p>
        </p:txBody>
      </p:sp>
      <p:sp>
        <p:nvSpPr>
          <p:cNvPr id="3" name="文本框 2"/>
          <p:cNvSpPr txBox="1"/>
          <p:nvPr/>
        </p:nvSpPr>
        <p:spPr>
          <a:xfrm>
            <a:off x="1129574" y="1965291"/>
            <a:ext cx="5482241" cy="4324261"/>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信息技术快速发展</a:t>
            </a:r>
            <a:r>
              <a:rPr kumimoji="0" lang="en-US" altLang="zh-CN"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软件质量要求远不止</a:t>
            </a:r>
            <a:r>
              <a:rPr kumimoji="0" lang="zh-CN" altLang="en-US" sz="2500" b="0" i="0" u="none" strike="noStrike" kern="1200" cap="none" spc="-74" normalizeH="0" baseline="0" noProof="0" dirty="0">
                <a:ln>
                  <a:noFill/>
                </a:ln>
                <a:solidFill>
                  <a:prstClr val="black"/>
                </a:solidFill>
                <a:effectLst/>
                <a:uLnTx/>
                <a:uFillTx/>
                <a:latin typeface="微软雅黑" charset="0"/>
                <a:ea typeface="微软雅黑" charset="0"/>
                <a:cs typeface="+mn-cs"/>
                <a:sym typeface="+mn-ea"/>
              </a:rPr>
              <a:t>几</a:t>
            </a: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个标准的内容能全部覆盖</a:t>
            </a:r>
            <a:endParaRPr kumimoji="0" lang="en-US" altLang="zh-CN"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74" normalizeH="0" baseline="0" noProof="0" dirty="0">
                <a:ln>
                  <a:noFill/>
                </a:ln>
                <a:solidFill>
                  <a:prstClr val="black"/>
                </a:solidFill>
                <a:effectLst/>
                <a:uLnTx/>
                <a:uFillTx/>
                <a:latin typeface="微软雅黑" charset="0"/>
                <a:ea typeface="微软雅黑" charset="0"/>
                <a:cs typeface="+mn-cs"/>
                <a:sym typeface="+mn-ea"/>
              </a:rPr>
              <a:t>自</a:t>
            </a: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成体系</a:t>
            </a:r>
            <a:endParaRPr kumimoji="0" lang="en-US" altLang="zh-CN"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74"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由质量管理、</a:t>
            </a:r>
            <a:r>
              <a:rPr kumimoji="0" lang="zh-CN" altLang="en-US" sz="2500" b="0" i="0" u="none" strike="noStrike" kern="1200" cap="none" spc="-74" normalizeH="0" baseline="0" noProof="0" dirty="0">
                <a:ln>
                  <a:noFill/>
                </a:ln>
                <a:solidFill>
                  <a:prstClr val="black"/>
                </a:solidFill>
                <a:effectLst/>
                <a:uLnTx/>
                <a:uFillTx/>
                <a:latin typeface="微软雅黑" charset="0"/>
                <a:ea typeface="微软雅黑" charset="0"/>
                <a:cs typeface="+mn-cs"/>
                <a:sym typeface="+mn-ea"/>
              </a:rPr>
              <a:t>质量模型、</a:t>
            </a: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质量测量、</a:t>
            </a:r>
            <a:r>
              <a:rPr kumimoji="0" lang="zh-CN" altLang="en-US" sz="2500" b="0" i="0" u="none" strike="noStrike" kern="1200" cap="none" spc="-74" normalizeH="0" baseline="0" noProof="0" dirty="0">
                <a:ln>
                  <a:noFill/>
                </a:ln>
                <a:solidFill>
                  <a:prstClr val="black"/>
                </a:solidFill>
                <a:effectLst/>
                <a:uLnTx/>
                <a:uFillTx/>
                <a:latin typeface="微软雅黑" charset="0"/>
                <a:ea typeface="微软雅黑" charset="0"/>
                <a:cs typeface="+mn-cs"/>
                <a:sym typeface="+mn-ea"/>
              </a:rPr>
              <a:t>质量需求、质量评价五个主要分部和</a:t>
            </a:r>
            <a:r>
              <a:rPr kumimoji="0" lang="en-US" altLang="zh-CN" sz="2500" b="0" i="0" u="none" strike="noStrike" kern="1200" cap="none" spc="-74" normalizeH="0" baseline="0" noProof="0" dirty="0" err="1">
                <a:ln>
                  <a:noFill/>
                </a:ln>
                <a:solidFill>
                  <a:prstClr val="black"/>
                </a:solidFill>
                <a:effectLst/>
                <a:uLnTx/>
                <a:uFillTx/>
                <a:latin typeface="微软雅黑" charset="0"/>
                <a:ea typeface="微软雅黑" charset="0"/>
                <a:cs typeface="+mn-cs"/>
                <a:sym typeface="+mn-ea"/>
              </a:rPr>
              <a:t>SQuaRE</a:t>
            </a:r>
            <a:r>
              <a:rPr kumimoji="0" lang="zh-CN" altLang="en-US" sz="2500" b="0" i="0" u="none" strike="noStrike" kern="1200" cap="none" spc="-74" normalizeH="0" baseline="0" noProof="0" dirty="0">
                <a:ln>
                  <a:noFill/>
                </a:ln>
                <a:solidFill>
                  <a:prstClr val="black"/>
                </a:solidFill>
                <a:effectLst/>
                <a:uLnTx/>
                <a:uFillTx/>
                <a:latin typeface="微软雅黑" charset="0"/>
                <a:ea typeface="微软雅黑" charset="0"/>
                <a:cs typeface="+mn-cs"/>
                <a:sym typeface="+mn-ea"/>
              </a:rPr>
              <a:t>扩展分部</a:t>
            </a: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组成</a:t>
            </a:r>
            <a:endParaRPr kumimoji="0" lang="en-US" altLang="zh-CN"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74"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命名规则为</a:t>
            </a:r>
            <a:r>
              <a:rPr kumimoji="0" lang="en-US" altLang="zh-CN" sz="2500" b="0" i="0" u="none" strike="noStrike" kern="1200" cap="none" spc="-74" normalizeH="0" baseline="0" noProof="0" dirty="0" smtClean="0">
                <a:ln>
                  <a:noFill/>
                </a:ln>
                <a:solidFill>
                  <a:prstClr val="black"/>
                </a:solidFill>
                <a:effectLst/>
                <a:uLnTx/>
                <a:uFillTx/>
                <a:latin typeface="微软雅黑" charset="0"/>
                <a:ea typeface="微软雅黑" charset="0"/>
                <a:cs typeface="+mn-cs"/>
                <a:sym typeface="+mn-ea"/>
              </a:rPr>
              <a:t>ISO/IEC 250mn</a:t>
            </a: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zh-CN" altLang="en-US" sz="2500" b="0" i="0" u="none" strike="noStrike" kern="1200" cap="none" spc="-74" normalizeH="0" baseline="0" noProof="0" dirty="0">
              <a:ln>
                <a:noFill/>
              </a:ln>
              <a:solidFill>
                <a:prstClr val="black"/>
              </a:solidFill>
              <a:effectLst/>
              <a:uLnTx/>
              <a:uFillTx/>
              <a:latin typeface="微软雅黑" charset="0"/>
              <a:ea typeface="微软雅黑" charset="0"/>
              <a:cs typeface="+mn-cs"/>
              <a:sym typeface="+mn-ea"/>
            </a:endParaRPr>
          </a:p>
        </p:txBody>
      </p:sp>
      <p:pic>
        <p:nvPicPr>
          <p:cNvPr id="2050" name="Picture 2" descr="http://images.cnitblog.com/blog/175043/201312/28114313-67663f82bd5d40db887b58eb7d2a2f2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7102" y="1900610"/>
            <a:ext cx="5238750" cy="361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942043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8575"/>
            <a:ext cx="12191365" cy="127254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300" b="1" i="0" u="none" strike="noStrike" kern="1200" cap="none" spc="0" normalizeH="0" baseline="0" noProof="0" dirty="0" err="1">
                <a:ln>
                  <a:noFill/>
                </a:ln>
                <a:solidFill>
                  <a:prstClr val="white"/>
                </a:solidFill>
                <a:effectLst/>
                <a:uLnTx/>
                <a:uFillTx/>
                <a:latin typeface="微软雅黑" charset="0"/>
                <a:ea typeface="微软雅黑" charset="0"/>
                <a:cs typeface="+mn-cs"/>
              </a:rPr>
              <a:t>SQuaRE</a:t>
            </a:r>
            <a:r>
              <a:rPr kumimoji="0" lang="zh-CN" altLang="en-US" sz="4300" b="1" i="0" u="none" strike="noStrike" kern="1200" cap="none" spc="0" normalizeH="0" baseline="0" noProof="0" dirty="0">
                <a:ln>
                  <a:noFill/>
                </a:ln>
                <a:solidFill>
                  <a:prstClr val="white"/>
                </a:solidFill>
                <a:effectLst/>
                <a:uLnTx/>
                <a:uFillTx/>
                <a:latin typeface="微软雅黑" charset="0"/>
                <a:ea typeface="微软雅黑" charset="0"/>
                <a:cs typeface="+mn-cs"/>
              </a:rPr>
              <a:t>系列标准</a:t>
            </a:r>
          </a:p>
        </p:txBody>
      </p:sp>
      <p:grpSp>
        <p:nvGrpSpPr>
          <p:cNvPr id="4" name="组合 3"/>
          <p:cNvGrpSpPr/>
          <p:nvPr/>
        </p:nvGrpSpPr>
        <p:grpSpPr>
          <a:xfrm>
            <a:off x="732496" y="1717980"/>
            <a:ext cx="6152889" cy="4651488"/>
            <a:chOff x="1565301" y="1086107"/>
            <a:chExt cx="6152889" cy="4651488"/>
          </a:xfrm>
        </p:grpSpPr>
        <p:grpSp>
          <p:nvGrpSpPr>
            <p:cNvPr id="6" name="组合 5"/>
            <p:cNvGrpSpPr/>
            <p:nvPr/>
          </p:nvGrpSpPr>
          <p:grpSpPr>
            <a:xfrm>
              <a:off x="1565301" y="1412776"/>
              <a:ext cx="2804094" cy="3960440"/>
              <a:chOff x="1565301" y="1412776"/>
              <a:chExt cx="2804094" cy="3960440"/>
            </a:xfrm>
          </p:grpSpPr>
          <p:grpSp>
            <p:nvGrpSpPr>
              <p:cNvPr id="28" name="组合 27"/>
              <p:cNvGrpSpPr/>
              <p:nvPr/>
            </p:nvGrpSpPr>
            <p:grpSpPr>
              <a:xfrm>
                <a:off x="1565301" y="2499678"/>
                <a:ext cx="1917723" cy="1729044"/>
                <a:chOff x="4702856" y="2924944"/>
                <a:chExt cx="1401009" cy="1263169"/>
              </a:xfrm>
            </p:grpSpPr>
            <p:grpSp>
              <p:nvGrpSpPr>
                <p:cNvPr id="64" name="组合 63"/>
                <p:cNvGrpSpPr/>
                <p:nvPr/>
              </p:nvGrpSpPr>
              <p:grpSpPr>
                <a:xfrm>
                  <a:off x="4702856" y="2924944"/>
                  <a:ext cx="1401009" cy="1263169"/>
                  <a:chOff x="5424755" y="1340768"/>
                  <a:chExt cx="670560" cy="604586"/>
                </a:xfrm>
              </p:grpSpPr>
              <p:grpSp>
                <p:nvGrpSpPr>
                  <p:cNvPr id="66" name="组合 65"/>
                  <p:cNvGrpSpPr/>
                  <p:nvPr/>
                </p:nvGrpSpPr>
                <p:grpSpPr>
                  <a:xfrm>
                    <a:off x="5424755" y="1340768"/>
                    <a:ext cx="670560" cy="604586"/>
                    <a:chOff x="3720691" y="2824413"/>
                    <a:chExt cx="1341120" cy="1209172"/>
                  </a:xfrm>
                </p:grpSpPr>
                <p:sp>
                  <p:nvSpPr>
                    <p:cNvPr id="68" name="Freeform 5"/>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C00000"/>
                        </a:solidFill>
                        <a:effectLst/>
                        <a:uLnTx/>
                        <a:uFillTx/>
                        <a:latin typeface="Calibri"/>
                        <a:ea typeface="宋体" panose="02010600030101010101" pitchFamily="2" charset="-122"/>
                        <a:cs typeface="+mn-cs"/>
                      </a:endParaRPr>
                    </a:p>
                  </p:txBody>
                </p:sp>
                <p:sp>
                  <p:nvSpPr>
                    <p:cNvPr id="69" name="Freeform 5"/>
                    <p:cNvSpPr>
                      <a:spLocks/>
                    </p:cNvSpPr>
                    <p:nvPr/>
                  </p:nvSpPr>
                  <p:spPr bwMode="auto">
                    <a:xfrm rot="1855731">
                      <a:off x="3764580" y="2863368"/>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C00000"/>
                        </a:solidFill>
                        <a:effectLst/>
                        <a:uLnTx/>
                        <a:uFillTx/>
                        <a:latin typeface="Calibri"/>
                        <a:ea typeface="宋体" panose="02010600030101010101" pitchFamily="2" charset="-122"/>
                        <a:cs typeface="+mn-cs"/>
                      </a:endParaRPr>
                    </a:p>
                  </p:txBody>
                </p:sp>
              </p:grpSp>
              <p:sp>
                <p:nvSpPr>
                  <p:cNvPr id="67" name="Freeform 5"/>
                  <p:cNvSpPr>
                    <a:spLocks/>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headEnd/>
                    <a:tailEnd/>
                  </a:ln>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C00000"/>
                      </a:solidFill>
                      <a:effectLst/>
                      <a:uLnTx/>
                      <a:uFillTx/>
                      <a:latin typeface="Calibri"/>
                      <a:ea typeface="宋体" panose="02010600030101010101" pitchFamily="2" charset="-122"/>
                      <a:cs typeface="+mn-cs"/>
                    </a:endParaRPr>
                  </a:p>
                </p:txBody>
              </p:sp>
            </p:grpSp>
            <p:sp>
              <p:nvSpPr>
                <p:cNvPr id="65" name="矩形 64"/>
                <p:cNvSpPr/>
                <p:nvPr/>
              </p:nvSpPr>
              <p:spPr>
                <a:xfrm>
                  <a:off x="4895434" y="3356959"/>
                  <a:ext cx="1159817" cy="363781"/>
                </a:xfrm>
                <a:prstGeom prst="rect">
                  <a:avLst/>
                </a:prstGeom>
              </p:spPr>
              <p:txBody>
                <a:bodyPr wrap="square" lIns="91431" tIns="45716" rIns="91431" bIns="45716">
                  <a:spAutoFit/>
                </a:body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zh-CN" sz="2400" b="1" i="0" u="none" strike="noStrike" kern="12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mn-cs"/>
                    </a:rPr>
                    <a:t>SQuaRE</a:t>
                  </a:r>
                  <a:endParaRPr kumimoji="0" lang="zh-CN" altLang="en-US" sz="2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微软雅黑" pitchFamily="34" charset="-122"/>
                  </a:endParaRPr>
                </a:p>
              </p:txBody>
            </p:sp>
          </p:grpSp>
          <p:grpSp>
            <p:nvGrpSpPr>
              <p:cNvPr id="29" name="组合 28"/>
              <p:cNvGrpSpPr/>
              <p:nvPr/>
            </p:nvGrpSpPr>
            <p:grpSpPr>
              <a:xfrm>
                <a:off x="2275210" y="1412776"/>
                <a:ext cx="670560" cy="604586"/>
                <a:chOff x="5424755" y="1340768"/>
                <a:chExt cx="670560" cy="604586"/>
              </a:xfrm>
            </p:grpSpPr>
            <p:grpSp>
              <p:nvGrpSpPr>
                <p:cNvPr id="58" name="组合 57"/>
                <p:cNvGrpSpPr/>
                <p:nvPr/>
              </p:nvGrpSpPr>
              <p:grpSpPr>
                <a:xfrm>
                  <a:off x="5424755" y="1340768"/>
                  <a:ext cx="670560" cy="604586"/>
                  <a:chOff x="5424755" y="1340768"/>
                  <a:chExt cx="670560" cy="604586"/>
                </a:xfrm>
              </p:grpSpPr>
              <p:grpSp>
                <p:nvGrpSpPr>
                  <p:cNvPr id="60" name="组合 59"/>
                  <p:cNvGrpSpPr/>
                  <p:nvPr/>
                </p:nvGrpSpPr>
                <p:grpSpPr>
                  <a:xfrm>
                    <a:off x="5424755" y="1340768"/>
                    <a:ext cx="670560" cy="604586"/>
                    <a:chOff x="3720691" y="2824413"/>
                    <a:chExt cx="1341120" cy="1209172"/>
                  </a:xfrm>
                </p:grpSpPr>
                <p:sp>
                  <p:nvSpPr>
                    <p:cNvPr id="62" name="Freeform 5"/>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sp>
                  <p:nvSpPr>
                    <p:cNvPr id="63" name="Freeform 5"/>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grpSp>
              <p:sp>
                <p:nvSpPr>
                  <p:cNvPr id="61" name="Freeform 5"/>
                  <p:cNvSpPr>
                    <a:spLocks/>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headEnd/>
                    <a:tailEnd/>
                  </a:ln>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grpSp>
            <p:sp>
              <p:nvSpPr>
                <p:cNvPr id="59" name="TextBox 7"/>
                <p:cNvSpPr>
                  <a:spLocks noChangeArrowheads="1"/>
                </p:cNvSpPr>
                <p:nvPr/>
              </p:nvSpPr>
              <p:spPr bwMode="auto">
                <a:xfrm>
                  <a:off x="5472003" y="1484784"/>
                  <a:ext cx="5760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smtClean="0">
                      <a:ln>
                        <a:noFill/>
                      </a:ln>
                      <a:solidFill>
                        <a:prstClr val="black"/>
                      </a:solidFill>
                      <a:effectLst/>
                      <a:uLnTx/>
                      <a:uFillTx/>
                      <a:latin typeface="方正兰亭黑简体" panose="02000000000000000000" pitchFamily="2" charset="-122"/>
                      <a:ea typeface="方正兰亭黑简体" panose="02000000000000000000" pitchFamily="2" charset="-122"/>
                      <a:cs typeface="+mn-cs"/>
                      <a:sym typeface="微软雅黑" pitchFamily="34" charset="-122"/>
                    </a:rPr>
                    <a:t>00</a:t>
                  </a:r>
                  <a:endParaRPr kumimoji="0" lang="zh-CN" altLang="en-US" sz="2000" b="1" i="0" u="none" strike="noStrike" kern="1200" cap="none" spc="0" normalizeH="0" baseline="0" noProof="0" dirty="0">
                    <a:ln>
                      <a:noFill/>
                    </a:ln>
                    <a:solidFill>
                      <a:prstClr val="black"/>
                    </a:solidFill>
                    <a:effectLst/>
                    <a:uLnTx/>
                    <a:uFillTx/>
                    <a:latin typeface="方正兰亭黑简体" panose="02000000000000000000" pitchFamily="2" charset="-122"/>
                    <a:ea typeface="方正兰亭黑简体" panose="02000000000000000000" pitchFamily="2" charset="-122"/>
                    <a:cs typeface="+mn-cs"/>
                    <a:sym typeface="微软雅黑" pitchFamily="34" charset="-122"/>
                  </a:endParaRPr>
                </a:p>
              </p:txBody>
            </p:sp>
          </p:grpSp>
          <p:grpSp>
            <p:nvGrpSpPr>
              <p:cNvPr id="30" name="组合 29"/>
              <p:cNvGrpSpPr/>
              <p:nvPr/>
            </p:nvGrpSpPr>
            <p:grpSpPr>
              <a:xfrm>
                <a:off x="3324255" y="2013349"/>
                <a:ext cx="670560" cy="604586"/>
                <a:chOff x="5424755" y="1340768"/>
                <a:chExt cx="670560" cy="604586"/>
              </a:xfrm>
            </p:grpSpPr>
            <p:grpSp>
              <p:nvGrpSpPr>
                <p:cNvPr id="52" name="组合 51"/>
                <p:cNvGrpSpPr/>
                <p:nvPr/>
              </p:nvGrpSpPr>
              <p:grpSpPr>
                <a:xfrm>
                  <a:off x="5424755" y="1340768"/>
                  <a:ext cx="670560" cy="604586"/>
                  <a:chOff x="5424755" y="1340768"/>
                  <a:chExt cx="670560" cy="604586"/>
                </a:xfrm>
              </p:grpSpPr>
              <p:grpSp>
                <p:nvGrpSpPr>
                  <p:cNvPr id="54" name="组合 53"/>
                  <p:cNvGrpSpPr/>
                  <p:nvPr/>
                </p:nvGrpSpPr>
                <p:grpSpPr>
                  <a:xfrm>
                    <a:off x="5424755" y="1340768"/>
                    <a:ext cx="670560" cy="604586"/>
                    <a:chOff x="3720691" y="2824413"/>
                    <a:chExt cx="1341120" cy="1209172"/>
                  </a:xfrm>
                </p:grpSpPr>
                <p:sp>
                  <p:nvSpPr>
                    <p:cNvPr id="56" name="Freeform 5"/>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sp>
                  <p:nvSpPr>
                    <p:cNvPr id="57" name="Freeform 5"/>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grpSp>
              <p:sp>
                <p:nvSpPr>
                  <p:cNvPr id="55" name="Freeform 5"/>
                  <p:cNvSpPr>
                    <a:spLocks/>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headEnd/>
                    <a:tailEnd/>
                  </a:ln>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grpSp>
            <p:sp>
              <p:nvSpPr>
                <p:cNvPr id="53" name="TextBox 7"/>
                <p:cNvSpPr>
                  <a:spLocks noChangeArrowheads="1"/>
                </p:cNvSpPr>
                <p:nvPr/>
              </p:nvSpPr>
              <p:spPr bwMode="auto">
                <a:xfrm>
                  <a:off x="5472003" y="1484784"/>
                  <a:ext cx="5760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smtClean="0">
                      <a:ln>
                        <a:noFill/>
                      </a:ln>
                      <a:solidFill>
                        <a:prstClr val="black"/>
                      </a:solidFill>
                      <a:effectLst/>
                      <a:uLnTx/>
                      <a:uFillTx/>
                      <a:latin typeface="方正兰亭黑简体" panose="02000000000000000000" pitchFamily="2" charset="-122"/>
                      <a:ea typeface="方正兰亭黑简体" panose="02000000000000000000" pitchFamily="2" charset="-122"/>
                      <a:cs typeface="+mn-cs"/>
                      <a:sym typeface="微软雅黑" pitchFamily="34" charset="-122"/>
                    </a:rPr>
                    <a:t>01</a:t>
                  </a:r>
                  <a:endParaRPr kumimoji="0" lang="zh-CN" altLang="en-US" sz="2000" b="1" i="0" u="none" strike="noStrike" kern="1200" cap="none" spc="0" normalizeH="0" baseline="0" noProof="0" dirty="0">
                    <a:ln>
                      <a:noFill/>
                    </a:ln>
                    <a:solidFill>
                      <a:prstClr val="black"/>
                    </a:solidFill>
                    <a:effectLst/>
                    <a:uLnTx/>
                    <a:uFillTx/>
                    <a:latin typeface="方正兰亭黑简体" panose="02000000000000000000" pitchFamily="2" charset="-122"/>
                    <a:ea typeface="方正兰亭黑简体" panose="02000000000000000000" pitchFamily="2" charset="-122"/>
                    <a:cs typeface="+mn-cs"/>
                    <a:sym typeface="微软雅黑" pitchFamily="34" charset="-122"/>
                  </a:endParaRPr>
                </a:p>
              </p:txBody>
            </p:sp>
          </p:grpSp>
          <p:grpSp>
            <p:nvGrpSpPr>
              <p:cNvPr id="31" name="组合 30"/>
              <p:cNvGrpSpPr/>
              <p:nvPr/>
            </p:nvGrpSpPr>
            <p:grpSpPr>
              <a:xfrm>
                <a:off x="3698835" y="3080884"/>
                <a:ext cx="670560" cy="604586"/>
                <a:chOff x="5424755" y="1340768"/>
                <a:chExt cx="670560" cy="604586"/>
              </a:xfrm>
            </p:grpSpPr>
            <p:grpSp>
              <p:nvGrpSpPr>
                <p:cNvPr id="46" name="组合 45"/>
                <p:cNvGrpSpPr/>
                <p:nvPr/>
              </p:nvGrpSpPr>
              <p:grpSpPr>
                <a:xfrm>
                  <a:off x="5424755" y="1340768"/>
                  <a:ext cx="670560" cy="604586"/>
                  <a:chOff x="5424755" y="1340768"/>
                  <a:chExt cx="670560" cy="604586"/>
                </a:xfrm>
              </p:grpSpPr>
              <p:grpSp>
                <p:nvGrpSpPr>
                  <p:cNvPr id="48" name="组合 47"/>
                  <p:cNvGrpSpPr/>
                  <p:nvPr/>
                </p:nvGrpSpPr>
                <p:grpSpPr>
                  <a:xfrm>
                    <a:off x="5424755" y="1340768"/>
                    <a:ext cx="670560" cy="604586"/>
                    <a:chOff x="3720691" y="2824413"/>
                    <a:chExt cx="1341120" cy="1209172"/>
                  </a:xfrm>
                </p:grpSpPr>
                <p:sp>
                  <p:nvSpPr>
                    <p:cNvPr id="50" name="Freeform 5"/>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sp>
                  <p:nvSpPr>
                    <p:cNvPr id="51" name="Freeform 5"/>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grpSp>
              <p:sp>
                <p:nvSpPr>
                  <p:cNvPr id="49" name="Freeform 5"/>
                  <p:cNvSpPr>
                    <a:spLocks/>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headEnd/>
                    <a:tailEnd/>
                  </a:ln>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grpSp>
            <p:sp>
              <p:nvSpPr>
                <p:cNvPr id="47" name="TextBox 7"/>
                <p:cNvSpPr>
                  <a:spLocks noChangeArrowheads="1"/>
                </p:cNvSpPr>
                <p:nvPr/>
              </p:nvSpPr>
              <p:spPr bwMode="auto">
                <a:xfrm>
                  <a:off x="5472003" y="1484784"/>
                  <a:ext cx="5760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smtClean="0">
                      <a:ln>
                        <a:noFill/>
                      </a:ln>
                      <a:solidFill>
                        <a:prstClr val="black"/>
                      </a:solidFill>
                      <a:effectLst/>
                      <a:uLnTx/>
                      <a:uFillTx/>
                      <a:latin typeface="方正兰亭黑简体" panose="02000000000000000000" pitchFamily="2" charset="-122"/>
                      <a:ea typeface="方正兰亭黑简体" panose="02000000000000000000" pitchFamily="2" charset="-122"/>
                      <a:cs typeface="+mn-cs"/>
                      <a:sym typeface="微软雅黑" pitchFamily="34" charset="-122"/>
                    </a:rPr>
                    <a:t>02</a:t>
                  </a:r>
                  <a:endParaRPr kumimoji="0" lang="zh-CN" altLang="en-US" sz="2000" b="1" i="0" u="none" strike="noStrike" kern="1200" cap="none" spc="0" normalizeH="0" baseline="0" noProof="0" dirty="0">
                    <a:ln>
                      <a:noFill/>
                    </a:ln>
                    <a:solidFill>
                      <a:prstClr val="black"/>
                    </a:solidFill>
                    <a:effectLst/>
                    <a:uLnTx/>
                    <a:uFillTx/>
                    <a:latin typeface="方正兰亭黑简体" panose="02000000000000000000" pitchFamily="2" charset="-122"/>
                    <a:ea typeface="方正兰亭黑简体" panose="02000000000000000000" pitchFamily="2" charset="-122"/>
                    <a:cs typeface="+mn-cs"/>
                    <a:sym typeface="微软雅黑" pitchFamily="34" charset="-122"/>
                  </a:endParaRPr>
                </a:p>
              </p:txBody>
            </p:sp>
          </p:grpSp>
          <p:grpSp>
            <p:nvGrpSpPr>
              <p:cNvPr id="32" name="组合 31"/>
              <p:cNvGrpSpPr/>
              <p:nvPr/>
            </p:nvGrpSpPr>
            <p:grpSpPr>
              <a:xfrm>
                <a:off x="3266787" y="4149080"/>
                <a:ext cx="670560" cy="604586"/>
                <a:chOff x="5424755" y="1340768"/>
                <a:chExt cx="670560" cy="604586"/>
              </a:xfrm>
            </p:grpSpPr>
            <p:grpSp>
              <p:nvGrpSpPr>
                <p:cNvPr id="40" name="组合 39"/>
                <p:cNvGrpSpPr/>
                <p:nvPr/>
              </p:nvGrpSpPr>
              <p:grpSpPr>
                <a:xfrm>
                  <a:off x="5424755" y="1340768"/>
                  <a:ext cx="670560" cy="604586"/>
                  <a:chOff x="5424755" y="1340768"/>
                  <a:chExt cx="670560" cy="604586"/>
                </a:xfrm>
              </p:grpSpPr>
              <p:grpSp>
                <p:nvGrpSpPr>
                  <p:cNvPr id="42" name="组合 41"/>
                  <p:cNvGrpSpPr/>
                  <p:nvPr/>
                </p:nvGrpSpPr>
                <p:grpSpPr>
                  <a:xfrm>
                    <a:off x="5424755" y="1340768"/>
                    <a:ext cx="670560" cy="604586"/>
                    <a:chOff x="3720691" y="2824413"/>
                    <a:chExt cx="1341120" cy="1209172"/>
                  </a:xfrm>
                </p:grpSpPr>
                <p:sp>
                  <p:nvSpPr>
                    <p:cNvPr id="44" name="Freeform 5"/>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sp>
                  <p:nvSpPr>
                    <p:cNvPr id="45" name="Freeform 5"/>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grpSp>
              <p:sp>
                <p:nvSpPr>
                  <p:cNvPr id="43" name="Freeform 5"/>
                  <p:cNvSpPr>
                    <a:spLocks/>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headEnd/>
                    <a:tailEnd/>
                  </a:ln>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grpSp>
            <p:sp>
              <p:nvSpPr>
                <p:cNvPr id="41" name="TextBox 7"/>
                <p:cNvSpPr>
                  <a:spLocks noChangeArrowheads="1"/>
                </p:cNvSpPr>
                <p:nvPr/>
              </p:nvSpPr>
              <p:spPr bwMode="auto">
                <a:xfrm>
                  <a:off x="5472003" y="1484784"/>
                  <a:ext cx="5760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smtClean="0">
                      <a:ln>
                        <a:noFill/>
                      </a:ln>
                      <a:solidFill>
                        <a:prstClr val="black"/>
                      </a:solidFill>
                      <a:effectLst/>
                      <a:uLnTx/>
                      <a:uFillTx/>
                      <a:latin typeface="方正兰亭黑简体" panose="02000000000000000000" pitchFamily="2" charset="-122"/>
                      <a:ea typeface="方正兰亭黑简体" panose="02000000000000000000" pitchFamily="2" charset="-122"/>
                      <a:cs typeface="+mn-cs"/>
                      <a:sym typeface="微软雅黑" pitchFamily="34" charset="-122"/>
                    </a:rPr>
                    <a:t>03</a:t>
                  </a:r>
                  <a:endParaRPr kumimoji="0" lang="zh-CN" altLang="en-US" sz="2000" b="1" i="0" u="none" strike="noStrike" kern="1200" cap="none" spc="0" normalizeH="0" baseline="0" noProof="0" dirty="0">
                    <a:ln>
                      <a:noFill/>
                    </a:ln>
                    <a:solidFill>
                      <a:prstClr val="black"/>
                    </a:solidFill>
                    <a:effectLst/>
                    <a:uLnTx/>
                    <a:uFillTx/>
                    <a:latin typeface="方正兰亭黑简体" panose="02000000000000000000" pitchFamily="2" charset="-122"/>
                    <a:ea typeface="方正兰亭黑简体" panose="02000000000000000000" pitchFamily="2" charset="-122"/>
                    <a:cs typeface="+mn-cs"/>
                    <a:sym typeface="微软雅黑" pitchFamily="34" charset="-122"/>
                  </a:endParaRPr>
                </a:p>
              </p:txBody>
            </p:sp>
          </p:grpSp>
          <p:grpSp>
            <p:nvGrpSpPr>
              <p:cNvPr id="33" name="组合 32"/>
              <p:cNvGrpSpPr/>
              <p:nvPr/>
            </p:nvGrpSpPr>
            <p:grpSpPr>
              <a:xfrm>
                <a:off x="2213373" y="4768630"/>
                <a:ext cx="670560" cy="604586"/>
                <a:chOff x="5424755" y="1340768"/>
                <a:chExt cx="670560" cy="604586"/>
              </a:xfrm>
            </p:grpSpPr>
            <p:grpSp>
              <p:nvGrpSpPr>
                <p:cNvPr id="34" name="组合 33"/>
                <p:cNvGrpSpPr/>
                <p:nvPr/>
              </p:nvGrpSpPr>
              <p:grpSpPr>
                <a:xfrm>
                  <a:off x="5424755" y="1340768"/>
                  <a:ext cx="670560" cy="604586"/>
                  <a:chOff x="5424755" y="1340768"/>
                  <a:chExt cx="670560" cy="604586"/>
                </a:xfrm>
              </p:grpSpPr>
              <p:grpSp>
                <p:nvGrpSpPr>
                  <p:cNvPr id="36" name="组合 35"/>
                  <p:cNvGrpSpPr/>
                  <p:nvPr/>
                </p:nvGrpSpPr>
                <p:grpSpPr>
                  <a:xfrm>
                    <a:off x="5424755" y="1340768"/>
                    <a:ext cx="670560" cy="604586"/>
                    <a:chOff x="3720691" y="2824413"/>
                    <a:chExt cx="1341120" cy="1209172"/>
                  </a:xfrm>
                </p:grpSpPr>
                <p:sp>
                  <p:nvSpPr>
                    <p:cNvPr id="38" name="Freeform 5"/>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sp>
                  <p:nvSpPr>
                    <p:cNvPr id="39" name="Freeform 5"/>
                    <p:cNvSpPr>
                      <a:spLocks/>
                    </p:cNvSpPr>
                    <p:nvPr/>
                  </p:nvSpPr>
                  <p:spPr bwMode="auto">
                    <a:xfrm rot="1855731">
                      <a:off x="375843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grpSp>
              <p:sp>
                <p:nvSpPr>
                  <p:cNvPr id="37" name="Freeform 5"/>
                  <p:cNvSpPr>
                    <a:spLocks/>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headEnd/>
                    <a:tailEnd/>
                  </a:ln>
                  <a:effectLs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srgbClr val="414455"/>
                      </a:solidFill>
                      <a:effectLst/>
                      <a:uLnTx/>
                      <a:uFillTx/>
                      <a:latin typeface="Calibri"/>
                      <a:ea typeface="宋体" panose="02010600030101010101" pitchFamily="2" charset="-122"/>
                      <a:cs typeface="+mn-cs"/>
                    </a:endParaRPr>
                  </a:p>
                </p:txBody>
              </p:sp>
            </p:grpSp>
            <p:sp>
              <p:nvSpPr>
                <p:cNvPr id="35" name="TextBox 7"/>
                <p:cNvSpPr>
                  <a:spLocks noChangeArrowheads="1"/>
                </p:cNvSpPr>
                <p:nvPr/>
              </p:nvSpPr>
              <p:spPr bwMode="auto">
                <a:xfrm>
                  <a:off x="5472003" y="1484784"/>
                  <a:ext cx="5760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smtClean="0">
                      <a:ln>
                        <a:noFill/>
                      </a:ln>
                      <a:solidFill>
                        <a:prstClr val="black"/>
                      </a:solidFill>
                      <a:effectLst/>
                      <a:uLnTx/>
                      <a:uFillTx/>
                      <a:latin typeface="方正兰亭黑简体" panose="02000000000000000000" pitchFamily="2" charset="-122"/>
                      <a:ea typeface="方正兰亭黑简体" panose="02000000000000000000" pitchFamily="2" charset="-122"/>
                      <a:cs typeface="+mn-cs"/>
                      <a:sym typeface="微软雅黑" pitchFamily="34" charset="-122"/>
                    </a:rPr>
                    <a:t>04</a:t>
                  </a:r>
                  <a:endParaRPr kumimoji="0" lang="zh-CN" altLang="en-US" sz="2000" b="1" i="0" u="none" strike="noStrike" kern="1200" cap="none" spc="0" normalizeH="0" baseline="0" noProof="0" dirty="0">
                    <a:ln>
                      <a:noFill/>
                    </a:ln>
                    <a:solidFill>
                      <a:prstClr val="black"/>
                    </a:solidFill>
                    <a:effectLst/>
                    <a:uLnTx/>
                    <a:uFillTx/>
                    <a:latin typeface="方正兰亭黑简体" panose="02000000000000000000" pitchFamily="2" charset="-122"/>
                    <a:ea typeface="方正兰亭黑简体" panose="02000000000000000000" pitchFamily="2" charset="-122"/>
                    <a:cs typeface="+mn-cs"/>
                    <a:sym typeface="微软雅黑" pitchFamily="34" charset="-122"/>
                  </a:endParaRPr>
                </a:p>
              </p:txBody>
            </p:sp>
          </p:grpSp>
        </p:grpSp>
        <p:grpSp>
          <p:nvGrpSpPr>
            <p:cNvPr id="7" name="组合 6"/>
            <p:cNvGrpSpPr/>
            <p:nvPr/>
          </p:nvGrpSpPr>
          <p:grpSpPr>
            <a:xfrm>
              <a:off x="4069803" y="1086107"/>
              <a:ext cx="3648387" cy="4651488"/>
              <a:chOff x="3516207" y="1086107"/>
              <a:chExt cx="3648387" cy="4651488"/>
            </a:xfrm>
          </p:grpSpPr>
          <p:grpSp>
            <p:nvGrpSpPr>
              <p:cNvPr id="13" name="组合 12"/>
              <p:cNvGrpSpPr/>
              <p:nvPr/>
            </p:nvGrpSpPr>
            <p:grpSpPr>
              <a:xfrm>
                <a:off x="3627955" y="1086107"/>
                <a:ext cx="2963888" cy="685782"/>
                <a:chOff x="4676971" y="1696317"/>
                <a:chExt cx="2963888" cy="685782"/>
              </a:xfrm>
            </p:grpSpPr>
            <p:sp>
              <p:nvSpPr>
                <p:cNvPr id="26" name="矩形 25"/>
                <p:cNvSpPr/>
                <p:nvPr/>
              </p:nvSpPr>
              <p:spPr>
                <a:xfrm>
                  <a:off x="4676971" y="1696317"/>
                  <a:ext cx="1911311" cy="369324"/>
                </a:xfrm>
                <a:prstGeom prst="rect">
                  <a:avLst/>
                </a:prstGeom>
              </p:spPr>
              <p:txBody>
                <a:bodyPr wrap="square" lIns="91431" tIns="45716" rIns="91431" bIns="45716">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smtClean="0">
                      <a:ln>
                        <a:noFill/>
                      </a:ln>
                      <a:solidFill>
                        <a:srgbClr val="FF0000"/>
                      </a:solidFill>
                      <a:effectLst/>
                      <a:uLnTx/>
                      <a:uFillTx/>
                      <a:latin typeface="微软雅黑" pitchFamily="34" charset="-122"/>
                      <a:ea typeface="微软雅黑" pitchFamily="34" charset="-122"/>
                      <a:cs typeface="+mn-cs"/>
                    </a:rPr>
                    <a:t>ISO/IEC 2500n</a:t>
                  </a:r>
                  <a:endParaRPr kumimoji="0" lang="en-US" altLang="zh-CN" sz="1800" b="1"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endParaRPr>
                </a:p>
              </p:txBody>
            </p:sp>
            <p:sp>
              <p:nvSpPr>
                <p:cNvPr id="27" name="矩形 26"/>
                <p:cNvSpPr>
                  <a:spLocks noChangeArrowheads="1"/>
                </p:cNvSpPr>
                <p:nvPr/>
              </p:nvSpPr>
              <p:spPr bwMode="auto">
                <a:xfrm>
                  <a:off x="4676971" y="2019315"/>
                  <a:ext cx="2963888" cy="36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l" defTabSz="914400" rtl="0" eaLnBrk="1" fontAlgn="auto" latinLnBrk="0" hangingPunct="1">
                    <a:lnSpc>
                      <a:spcPct val="120000"/>
                    </a:lnSpc>
                    <a:spcBef>
                      <a:spcPct val="0"/>
                    </a:spcBef>
                    <a:spcAft>
                      <a:spcPts val="0"/>
                    </a:spcAft>
                    <a:buClrTx/>
                    <a:buSzTx/>
                    <a:buFont typeface="Arial" charset="0"/>
                    <a:buNone/>
                    <a:tabLst/>
                    <a:defRPr/>
                  </a:pPr>
                  <a:r>
                    <a:rPr kumimoji="0" lang="zh-CN" altLang="en-US" sz="1600" b="1"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sym typeface="微软雅黑" pitchFamily="34" charset="-122"/>
                    </a:rPr>
                    <a:t>质量管理分分部</a:t>
                  </a:r>
                  <a:endParaRPr kumimoji="0" lang="zh-CN" altLang="en-US" sz="16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sym typeface="微软雅黑" pitchFamily="34" charset="-122"/>
                  </a:endParaRPr>
                </a:p>
              </p:txBody>
            </p:sp>
          </p:grpSp>
          <p:grpSp>
            <p:nvGrpSpPr>
              <p:cNvPr id="14" name="组合 13"/>
              <p:cNvGrpSpPr/>
              <p:nvPr/>
            </p:nvGrpSpPr>
            <p:grpSpPr>
              <a:xfrm>
                <a:off x="4175839" y="1996453"/>
                <a:ext cx="2416004" cy="710788"/>
                <a:chOff x="5263550" y="1608975"/>
                <a:chExt cx="2416004" cy="710788"/>
              </a:xfrm>
            </p:grpSpPr>
            <p:sp>
              <p:nvSpPr>
                <p:cNvPr id="24" name="矩形 23"/>
                <p:cNvSpPr/>
                <p:nvPr/>
              </p:nvSpPr>
              <p:spPr>
                <a:xfrm>
                  <a:off x="5263550" y="1608975"/>
                  <a:ext cx="1911311" cy="369324"/>
                </a:xfrm>
                <a:prstGeom prst="rect">
                  <a:avLst/>
                </a:prstGeom>
              </p:spPr>
              <p:txBody>
                <a:bodyPr wrap="square" lIns="91431" tIns="45716" rIns="91431" bIns="45716">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smtClean="0">
                      <a:ln>
                        <a:noFill/>
                      </a:ln>
                      <a:solidFill>
                        <a:srgbClr val="FF0000"/>
                      </a:solidFill>
                      <a:effectLst/>
                      <a:uLnTx/>
                      <a:uFillTx/>
                      <a:latin typeface="微软雅黑" pitchFamily="34" charset="-122"/>
                      <a:ea typeface="微软雅黑" pitchFamily="34" charset="-122"/>
                      <a:cs typeface="+mn-cs"/>
                    </a:rPr>
                    <a:t>ISO/IEC 2501n</a:t>
                  </a:r>
                  <a:endParaRPr kumimoji="0" lang="en-US" altLang="zh-CN" sz="1800" b="1"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endParaRPr>
                </a:p>
              </p:txBody>
            </p:sp>
            <p:sp>
              <p:nvSpPr>
                <p:cNvPr id="25" name="矩形 24"/>
                <p:cNvSpPr>
                  <a:spLocks noChangeArrowheads="1"/>
                </p:cNvSpPr>
                <p:nvPr/>
              </p:nvSpPr>
              <p:spPr bwMode="auto">
                <a:xfrm>
                  <a:off x="5263550" y="1931973"/>
                  <a:ext cx="2416004" cy="38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l" defTabSz="914400" rtl="0" eaLnBrk="1" fontAlgn="auto" latinLnBrk="0" hangingPunct="1">
                    <a:lnSpc>
                      <a:spcPct val="120000"/>
                    </a:lnSpc>
                    <a:spcBef>
                      <a:spcPct val="0"/>
                    </a:spcBef>
                    <a:spcAft>
                      <a:spcPts val="0"/>
                    </a:spcAft>
                    <a:buClrTx/>
                    <a:buSzTx/>
                    <a:buFont typeface="Arial" charset="0"/>
                    <a:buNone/>
                    <a:tabLst/>
                    <a:defRPr/>
                  </a:pPr>
                  <a:r>
                    <a:rPr kumimoji="0" lang="zh-CN" altLang="en-US" sz="1600" b="1"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sym typeface="微软雅黑" pitchFamily="34" charset="-122"/>
                    </a:rPr>
                    <a:t>质量模型分部</a:t>
                  </a:r>
                  <a:endParaRPr kumimoji="0" lang="zh-CN" altLang="en-US" sz="16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sym typeface="微软雅黑" pitchFamily="34" charset="-122"/>
                  </a:endParaRPr>
                </a:p>
              </p:txBody>
            </p:sp>
          </p:grpSp>
          <p:grpSp>
            <p:nvGrpSpPr>
              <p:cNvPr id="15" name="组合 14"/>
              <p:cNvGrpSpPr/>
              <p:nvPr/>
            </p:nvGrpSpPr>
            <p:grpSpPr>
              <a:xfrm>
                <a:off x="4478298" y="3068960"/>
                <a:ext cx="2686296" cy="685782"/>
                <a:chOff x="5583418" y="1699172"/>
                <a:chExt cx="2686296" cy="685782"/>
              </a:xfrm>
            </p:grpSpPr>
            <p:sp>
              <p:nvSpPr>
                <p:cNvPr id="22" name="矩形 21"/>
                <p:cNvSpPr/>
                <p:nvPr/>
              </p:nvSpPr>
              <p:spPr>
                <a:xfrm>
                  <a:off x="5583418" y="1699172"/>
                  <a:ext cx="1911311" cy="369324"/>
                </a:xfrm>
                <a:prstGeom prst="rect">
                  <a:avLst/>
                </a:prstGeom>
              </p:spPr>
              <p:txBody>
                <a:bodyPr wrap="square" lIns="91431" tIns="45716" rIns="91431" bIns="45716">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smtClean="0">
                      <a:ln>
                        <a:noFill/>
                      </a:ln>
                      <a:solidFill>
                        <a:srgbClr val="FF0000"/>
                      </a:solidFill>
                      <a:effectLst/>
                      <a:uLnTx/>
                      <a:uFillTx/>
                      <a:latin typeface="微软雅黑" pitchFamily="34" charset="-122"/>
                      <a:ea typeface="微软雅黑" pitchFamily="34" charset="-122"/>
                      <a:cs typeface="+mn-cs"/>
                    </a:rPr>
                    <a:t>ISO/IEC 2502n</a:t>
                  </a:r>
                  <a:endParaRPr kumimoji="0" lang="en-US" altLang="zh-CN" sz="1800" b="1"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endParaRPr>
                </a:p>
              </p:txBody>
            </p:sp>
            <p:sp>
              <p:nvSpPr>
                <p:cNvPr id="23" name="矩形 22"/>
                <p:cNvSpPr>
                  <a:spLocks noChangeArrowheads="1"/>
                </p:cNvSpPr>
                <p:nvPr/>
              </p:nvSpPr>
              <p:spPr bwMode="auto">
                <a:xfrm>
                  <a:off x="5583418" y="2022170"/>
                  <a:ext cx="2686296" cy="36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l" defTabSz="914400" rtl="0" eaLnBrk="1" fontAlgn="auto" latinLnBrk="0" hangingPunct="1">
                    <a:lnSpc>
                      <a:spcPct val="120000"/>
                    </a:lnSpc>
                    <a:spcBef>
                      <a:spcPct val="0"/>
                    </a:spcBef>
                    <a:spcAft>
                      <a:spcPts val="0"/>
                    </a:spcAft>
                    <a:buClrTx/>
                    <a:buSzTx/>
                    <a:buFont typeface="Arial" charset="0"/>
                    <a:buNone/>
                    <a:tabLst/>
                    <a:defRPr/>
                  </a:pPr>
                  <a:r>
                    <a:rPr kumimoji="0" lang="zh-CN" altLang="en-US" sz="1600" b="1"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sym typeface="微软雅黑" pitchFamily="34" charset="-122"/>
                    </a:rPr>
                    <a:t>质量测量分部</a:t>
                  </a:r>
                  <a:endParaRPr kumimoji="0" lang="zh-CN" altLang="en-US" sz="16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sym typeface="微软雅黑" pitchFamily="34" charset="-122"/>
                  </a:endParaRPr>
                </a:p>
              </p:txBody>
            </p:sp>
          </p:grpSp>
          <p:grpSp>
            <p:nvGrpSpPr>
              <p:cNvPr id="16" name="组合 15"/>
              <p:cNvGrpSpPr/>
              <p:nvPr/>
            </p:nvGrpSpPr>
            <p:grpSpPr>
              <a:xfrm>
                <a:off x="4024481" y="4137128"/>
                <a:ext cx="2963888" cy="685782"/>
                <a:chOff x="5112192" y="1754884"/>
                <a:chExt cx="2963888" cy="685782"/>
              </a:xfrm>
            </p:grpSpPr>
            <p:sp>
              <p:nvSpPr>
                <p:cNvPr id="20" name="矩形 19"/>
                <p:cNvSpPr/>
                <p:nvPr/>
              </p:nvSpPr>
              <p:spPr>
                <a:xfrm>
                  <a:off x="5112192" y="1754884"/>
                  <a:ext cx="1911311" cy="369324"/>
                </a:xfrm>
                <a:prstGeom prst="rect">
                  <a:avLst/>
                </a:prstGeom>
              </p:spPr>
              <p:txBody>
                <a:bodyPr wrap="square" lIns="91431" tIns="45716" rIns="91431" bIns="45716">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smtClean="0">
                      <a:ln>
                        <a:noFill/>
                      </a:ln>
                      <a:solidFill>
                        <a:srgbClr val="FF0000"/>
                      </a:solidFill>
                      <a:effectLst/>
                      <a:uLnTx/>
                      <a:uFillTx/>
                      <a:latin typeface="微软雅黑" pitchFamily="34" charset="-122"/>
                      <a:ea typeface="微软雅黑" pitchFamily="34" charset="-122"/>
                      <a:cs typeface="+mn-cs"/>
                    </a:rPr>
                    <a:t>ISO/IEC 2503n</a:t>
                  </a:r>
                  <a:endParaRPr kumimoji="0" lang="en-US" altLang="zh-CN" sz="1800" b="1"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endParaRPr>
                </a:p>
              </p:txBody>
            </p:sp>
            <p:sp>
              <p:nvSpPr>
                <p:cNvPr id="21" name="矩形 20"/>
                <p:cNvSpPr>
                  <a:spLocks noChangeArrowheads="1"/>
                </p:cNvSpPr>
                <p:nvPr/>
              </p:nvSpPr>
              <p:spPr bwMode="auto">
                <a:xfrm>
                  <a:off x="5112192" y="2077882"/>
                  <a:ext cx="2963888" cy="36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l" defTabSz="914400" rtl="0" eaLnBrk="1" fontAlgn="auto" latinLnBrk="0" hangingPunct="1">
                    <a:lnSpc>
                      <a:spcPct val="120000"/>
                    </a:lnSpc>
                    <a:spcBef>
                      <a:spcPct val="0"/>
                    </a:spcBef>
                    <a:spcAft>
                      <a:spcPts val="0"/>
                    </a:spcAft>
                    <a:buClrTx/>
                    <a:buSzTx/>
                    <a:buFont typeface="Arial" charset="0"/>
                    <a:buNone/>
                    <a:tabLst/>
                    <a:defRPr/>
                  </a:pPr>
                  <a:r>
                    <a:rPr kumimoji="0" lang="zh-CN" altLang="en-US" sz="1600" b="1"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sym typeface="微软雅黑" pitchFamily="34" charset="-122"/>
                    </a:rPr>
                    <a:t>质量需求分部</a:t>
                  </a:r>
                  <a:endParaRPr kumimoji="0" lang="zh-CN" altLang="en-US" sz="16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sym typeface="微软雅黑" pitchFamily="34" charset="-122"/>
                  </a:endParaRPr>
                </a:p>
              </p:txBody>
            </p:sp>
          </p:grpSp>
          <p:grpSp>
            <p:nvGrpSpPr>
              <p:cNvPr id="17" name="组合 16"/>
              <p:cNvGrpSpPr/>
              <p:nvPr/>
            </p:nvGrpSpPr>
            <p:grpSpPr>
              <a:xfrm>
                <a:off x="3516207" y="5051813"/>
                <a:ext cx="2963888" cy="685782"/>
                <a:chOff x="4621328" y="1592955"/>
                <a:chExt cx="2963888" cy="685782"/>
              </a:xfrm>
            </p:grpSpPr>
            <p:sp>
              <p:nvSpPr>
                <p:cNvPr id="18" name="矩形 17"/>
                <p:cNvSpPr/>
                <p:nvPr/>
              </p:nvSpPr>
              <p:spPr>
                <a:xfrm>
                  <a:off x="4621328" y="1592955"/>
                  <a:ext cx="1911311" cy="369324"/>
                </a:xfrm>
                <a:prstGeom prst="rect">
                  <a:avLst/>
                </a:prstGeom>
              </p:spPr>
              <p:txBody>
                <a:bodyPr wrap="square" lIns="91431" tIns="45716" rIns="91431" bIns="45716">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smtClean="0">
                      <a:ln>
                        <a:noFill/>
                      </a:ln>
                      <a:solidFill>
                        <a:srgbClr val="FF0000"/>
                      </a:solidFill>
                      <a:effectLst/>
                      <a:uLnTx/>
                      <a:uFillTx/>
                      <a:latin typeface="微软雅黑" pitchFamily="34" charset="-122"/>
                      <a:ea typeface="微软雅黑" pitchFamily="34" charset="-122"/>
                      <a:cs typeface="+mn-cs"/>
                    </a:rPr>
                    <a:t>ISO/IEC 2504n</a:t>
                  </a:r>
                  <a:endParaRPr kumimoji="0" lang="en-US" altLang="zh-CN" sz="1800" b="1"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endParaRPr>
                </a:p>
              </p:txBody>
            </p:sp>
            <p:sp>
              <p:nvSpPr>
                <p:cNvPr id="19" name="矩形 18"/>
                <p:cNvSpPr>
                  <a:spLocks noChangeArrowheads="1"/>
                </p:cNvSpPr>
                <p:nvPr/>
              </p:nvSpPr>
              <p:spPr bwMode="auto">
                <a:xfrm>
                  <a:off x="4621328" y="1915953"/>
                  <a:ext cx="2963888" cy="36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l" defTabSz="914400" rtl="0" eaLnBrk="1" fontAlgn="auto" latinLnBrk="0" hangingPunct="1">
                    <a:lnSpc>
                      <a:spcPct val="120000"/>
                    </a:lnSpc>
                    <a:spcBef>
                      <a:spcPct val="0"/>
                    </a:spcBef>
                    <a:spcAft>
                      <a:spcPts val="0"/>
                    </a:spcAft>
                    <a:buClrTx/>
                    <a:buSzTx/>
                    <a:buFont typeface="Arial" charset="0"/>
                    <a:buNone/>
                    <a:tabLst/>
                    <a:defRPr/>
                  </a:pPr>
                  <a:r>
                    <a:rPr kumimoji="0" lang="zh-CN" altLang="en-US" sz="1600" b="1"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sym typeface="微软雅黑" pitchFamily="34" charset="-122"/>
                    </a:rPr>
                    <a:t>质量评价分部</a:t>
                  </a:r>
                  <a:endParaRPr kumimoji="0" lang="zh-CN" altLang="en-US" sz="16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sym typeface="微软雅黑" pitchFamily="34" charset="-122"/>
                  </a:endParaRPr>
                </a:p>
              </p:txBody>
            </p:sp>
          </p:grpSp>
        </p:grpSp>
        <p:cxnSp>
          <p:nvCxnSpPr>
            <p:cNvPr id="8" name="肘形连接符 7"/>
            <p:cNvCxnSpPr>
              <a:stCxn id="63" idx="14"/>
              <a:endCxn id="27" idx="1"/>
            </p:cNvCxnSpPr>
            <p:nvPr/>
          </p:nvCxnSpPr>
          <p:spPr>
            <a:xfrm flipV="1">
              <a:off x="2898613" y="1590497"/>
              <a:ext cx="1282938" cy="1315"/>
            </a:xfrm>
            <a:prstGeom prst="bentConnector3">
              <a:avLst>
                <a:gd name="adj1" fmla="val 50000"/>
              </a:avLst>
            </a:prstGeom>
            <a:ln w="9525" cap="rnd">
              <a:solidFill>
                <a:srgbClr val="414455"/>
              </a:solidFill>
              <a:prstDash val="sysDash"/>
            </a:ln>
          </p:spPr>
          <p:style>
            <a:lnRef idx="1">
              <a:schemeClr val="accent1"/>
            </a:lnRef>
            <a:fillRef idx="0">
              <a:schemeClr val="accent1"/>
            </a:fillRef>
            <a:effectRef idx="0">
              <a:schemeClr val="accent1"/>
            </a:effectRef>
            <a:fontRef idx="minor">
              <a:schemeClr val="tx1"/>
            </a:fontRef>
          </p:style>
        </p:cxnSp>
        <p:cxnSp>
          <p:nvCxnSpPr>
            <p:cNvPr id="9" name="肘形连接符 8"/>
            <p:cNvCxnSpPr>
              <a:stCxn id="56" idx="14"/>
              <a:endCxn id="24" idx="1"/>
            </p:cNvCxnSpPr>
            <p:nvPr/>
          </p:nvCxnSpPr>
          <p:spPr>
            <a:xfrm flipV="1">
              <a:off x="3962092" y="2181115"/>
              <a:ext cx="767343" cy="1444"/>
            </a:xfrm>
            <a:prstGeom prst="bentConnector3">
              <a:avLst>
                <a:gd name="adj1" fmla="val 50000"/>
              </a:avLst>
            </a:prstGeom>
            <a:ln w="9525" cap="rnd">
              <a:solidFill>
                <a:srgbClr val="414455"/>
              </a:solidFill>
              <a:prstDash val="sysDash"/>
            </a:ln>
          </p:spPr>
          <p:style>
            <a:lnRef idx="1">
              <a:schemeClr val="accent1"/>
            </a:lnRef>
            <a:fillRef idx="0">
              <a:schemeClr val="accent1"/>
            </a:fillRef>
            <a:effectRef idx="0">
              <a:schemeClr val="accent1"/>
            </a:effectRef>
            <a:fontRef idx="minor">
              <a:schemeClr val="tx1"/>
            </a:fontRef>
          </p:style>
        </p:cxnSp>
        <p:cxnSp>
          <p:nvCxnSpPr>
            <p:cNvPr id="10" name="肘形连接符 9"/>
            <p:cNvCxnSpPr>
              <a:stCxn id="50" idx="14"/>
              <a:endCxn id="22" idx="1"/>
            </p:cNvCxnSpPr>
            <p:nvPr/>
          </p:nvCxnSpPr>
          <p:spPr>
            <a:xfrm>
              <a:off x="4336672" y="3250094"/>
              <a:ext cx="695222" cy="3528"/>
            </a:xfrm>
            <a:prstGeom prst="bentConnector3">
              <a:avLst>
                <a:gd name="adj1" fmla="val 50000"/>
              </a:avLst>
            </a:prstGeom>
            <a:ln w="9525" cap="rnd">
              <a:solidFill>
                <a:srgbClr val="414455"/>
              </a:solidFill>
              <a:prstDash val="sysDash"/>
            </a:ln>
          </p:spPr>
          <p:style>
            <a:lnRef idx="1">
              <a:schemeClr val="accent1"/>
            </a:lnRef>
            <a:fillRef idx="0">
              <a:schemeClr val="accent1"/>
            </a:fillRef>
            <a:effectRef idx="0">
              <a:schemeClr val="accent1"/>
            </a:effectRef>
            <a:fontRef idx="minor">
              <a:schemeClr val="tx1"/>
            </a:fontRef>
          </p:style>
        </p:cxnSp>
        <p:cxnSp>
          <p:nvCxnSpPr>
            <p:cNvPr id="11" name="肘形连接符 10"/>
            <p:cNvCxnSpPr>
              <a:stCxn id="39" idx="16"/>
              <a:endCxn id="18" idx="1"/>
            </p:cNvCxnSpPr>
            <p:nvPr/>
          </p:nvCxnSpPr>
          <p:spPr>
            <a:xfrm>
              <a:off x="2819602" y="5235655"/>
              <a:ext cx="1250201" cy="820"/>
            </a:xfrm>
            <a:prstGeom prst="bentConnector3">
              <a:avLst>
                <a:gd name="adj1" fmla="val 50000"/>
              </a:avLst>
            </a:prstGeom>
            <a:ln w="9525" cap="rnd">
              <a:solidFill>
                <a:srgbClr val="414455"/>
              </a:solidFill>
              <a:prstDash val="sysDash"/>
            </a:ln>
          </p:spPr>
          <p:style>
            <a:lnRef idx="1">
              <a:schemeClr val="accent1"/>
            </a:lnRef>
            <a:fillRef idx="0">
              <a:schemeClr val="accent1"/>
            </a:fillRef>
            <a:effectRef idx="0">
              <a:schemeClr val="accent1"/>
            </a:effectRef>
            <a:fontRef idx="minor">
              <a:schemeClr val="tx1"/>
            </a:fontRef>
          </p:style>
        </p:cxnSp>
        <p:cxnSp>
          <p:nvCxnSpPr>
            <p:cNvPr id="12" name="肘形连接符 11"/>
            <p:cNvCxnSpPr>
              <a:stCxn id="44" idx="14"/>
              <a:endCxn id="20" idx="1"/>
            </p:cNvCxnSpPr>
            <p:nvPr/>
          </p:nvCxnSpPr>
          <p:spPr>
            <a:xfrm>
              <a:off x="3904624" y="4318290"/>
              <a:ext cx="673453" cy="3500"/>
            </a:xfrm>
            <a:prstGeom prst="bentConnector3">
              <a:avLst>
                <a:gd name="adj1" fmla="val 50000"/>
              </a:avLst>
            </a:prstGeom>
            <a:ln w="9525" cap="rnd">
              <a:solidFill>
                <a:srgbClr val="414455"/>
              </a:solidFill>
              <a:prstDash val="sysDash"/>
            </a:ln>
          </p:spPr>
          <p:style>
            <a:lnRef idx="1">
              <a:schemeClr val="accent1"/>
            </a:lnRef>
            <a:fillRef idx="0">
              <a:schemeClr val="accent1"/>
            </a:fillRef>
            <a:effectRef idx="0">
              <a:schemeClr val="accent1"/>
            </a:effectRef>
            <a:fontRef idx="minor">
              <a:schemeClr val="tx1"/>
            </a:fontRef>
          </p:style>
        </p:cxnSp>
      </p:grpSp>
      <p:grpSp>
        <p:nvGrpSpPr>
          <p:cNvPr id="135" name="组合 134"/>
          <p:cNvGrpSpPr/>
          <p:nvPr/>
        </p:nvGrpSpPr>
        <p:grpSpPr>
          <a:xfrm>
            <a:off x="7800319" y="3730726"/>
            <a:ext cx="3936156" cy="1407599"/>
            <a:chOff x="8173102" y="3238222"/>
            <a:chExt cx="3196680" cy="1407599"/>
          </a:xfrm>
        </p:grpSpPr>
        <p:grpSp>
          <p:nvGrpSpPr>
            <p:cNvPr id="136" name="组合 135"/>
            <p:cNvGrpSpPr/>
            <p:nvPr/>
          </p:nvGrpSpPr>
          <p:grpSpPr>
            <a:xfrm>
              <a:off x="8173102" y="3238222"/>
              <a:ext cx="3196680" cy="899280"/>
              <a:chOff x="8318275" y="1052736"/>
              <a:chExt cx="3196680" cy="899280"/>
            </a:xfrm>
          </p:grpSpPr>
          <p:sp>
            <p:nvSpPr>
              <p:cNvPr id="140" name="矩形 139"/>
              <p:cNvSpPr/>
              <p:nvPr/>
            </p:nvSpPr>
            <p:spPr>
              <a:xfrm>
                <a:off x="8318275" y="1052736"/>
                <a:ext cx="1911311" cy="338546"/>
              </a:xfrm>
              <a:prstGeom prst="rect">
                <a:avLst/>
              </a:prstGeom>
            </p:spPr>
            <p:txBody>
              <a:bodyPr wrap="square" lIns="91431" tIns="45716" rIns="91431" bIns="45716">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FF0000"/>
                    </a:solidFill>
                    <a:effectLst/>
                    <a:uLnTx/>
                    <a:uFillTx/>
                    <a:latin typeface="微软雅黑" pitchFamily="34" charset="-122"/>
                    <a:ea typeface="微软雅黑" pitchFamily="34" charset="-122"/>
                    <a:cs typeface="+mn-cs"/>
                  </a:rPr>
                  <a:t>ISO/IEC 25020</a:t>
                </a:r>
                <a:endParaRPr kumimoji="0" lang="en-US" altLang="zh-CN" sz="1600" b="0"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endParaRPr>
              </a:p>
            </p:txBody>
          </p:sp>
          <p:sp>
            <p:nvSpPr>
              <p:cNvPr id="141" name="矩形 140"/>
              <p:cNvSpPr>
                <a:spLocks noChangeArrowheads="1"/>
              </p:cNvSpPr>
              <p:nvPr/>
            </p:nvSpPr>
            <p:spPr bwMode="auto">
              <a:xfrm>
                <a:off x="8318275" y="1268760"/>
                <a:ext cx="3196680" cy="683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l" defTabSz="914400" rtl="0" eaLnBrk="1" fontAlgn="auto" latinLnBrk="0" hangingPunct="1">
                  <a:lnSpc>
                    <a:spcPct val="120000"/>
                  </a:lnSpc>
                  <a:spcBef>
                    <a:spcPct val="0"/>
                  </a:spcBef>
                  <a:spcAft>
                    <a:spcPts val="0"/>
                  </a:spcAft>
                  <a:buClrTx/>
                  <a:buSzTx/>
                  <a:buFont typeface="Arial" charset="0"/>
                  <a:buNone/>
                  <a:tabLst/>
                  <a:defRPr/>
                </a:pPr>
                <a:r>
                  <a:rPr kumimoji="0" lang="zh-CN" altLang="en-US" sz="16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sym typeface="微软雅黑" pitchFamily="34" charset="-122"/>
                  </a:rPr>
                  <a:t>软件质量测量参考模型、测量的数学定义以及实用指南</a:t>
                </a:r>
                <a:endParaRPr kumimoji="0" lang="en-US" altLang="zh-CN" sz="16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sym typeface="微软雅黑" pitchFamily="34" charset="-122"/>
                </a:endParaRPr>
              </a:p>
            </p:txBody>
          </p:sp>
        </p:grpSp>
        <p:grpSp>
          <p:nvGrpSpPr>
            <p:cNvPr id="137" name="组合 136"/>
            <p:cNvGrpSpPr/>
            <p:nvPr/>
          </p:nvGrpSpPr>
          <p:grpSpPr>
            <a:xfrm>
              <a:off x="8173102" y="4067013"/>
              <a:ext cx="3196680" cy="578808"/>
              <a:chOff x="8318275" y="1315981"/>
              <a:chExt cx="3196680" cy="578808"/>
            </a:xfrm>
          </p:grpSpPr>
          <p:sp>
            <p:nvSpPr>
              <p:cNvPr id="138" name="矩形 137"/>
              <p:cNvSpPr/>
              <p:nvPr/>
            </p:nvSpPr>
            <p:spPr>
              <a:xfrm>
                <a:off x="8318275" y="1315981"/>
                <a:ext cx="1911311" cy="338546"/>
              </a:xfrm>
              <a:prstGeom prst="rect">
                <a:avLst/>
              </a:prstGeom>
            </p:spPr>
            <p:txBody>
              <a:bodyPr wrap="square" lIns="91431" tIns="45716" rIns="91431" bIns="45716">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FF0000"/>
                    </a:solidFill>
                    <a:effectLst/>
                    <a:uLnTx/>
                    <a:uFillTx/>
                    <a:latin typeface="微软雅黑" pitchFamily="34" charset="-122"/>
                    <a:ea typeface="微软雅黑" pitchFamily="34" charset="-122"/>
                    <a:cs typeface="+mn-cs"/>
                  </a:rPr>
                  <a:t>ISO/IEC 25021</a:t>
                </a:r>
                <a:endParaRPr kumimoji="0" lang="en-US" altLang="zh-CN" sz="1600" b="0"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endParaRPr>
              </a:p>
            </p:txBody>
          </p:sp>
          <p:sp>
            <p:nvSpPr>
              <p:cNvPr id="139" name="矩形 138"/>
              <p:cNvSpPr>
                <a:spLocks noChangeArrowheads="1"/>
              </p:cNvSpPr>
              <p:nvPr/>
            </p:nvSpPr>
            <p:spPr bwMode="auto">
              <a:xfrm>
                <a:off x="8318275" y="1532005"/>
                <a:ext cx="3196680" cy="36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l" defTabSz="914400" rtl="0" eaLnBrk="1" fontAlgn="auto" latinLnBrk="0" hangingPunct="1">
                  <a:lnSpc>
                    <a:spcPct val="120000"/>
                  </a:lnSpc>
                  <a:spcBef>
                    <a:spcPct val="0"/>
                  </a:spcBef>
                  <a:spcAft>
                    <a:spcPts val="0"/>
                  </a:spcAft>
                  <a:buClrTx/>
                  <a:buSzTx/>
                  <a:buFont typeface="Arial" charset="0"/>
                  <a:buNone/>
                  <a:tabLst/>
                  <a:defRPr/>
                </a:pPr>
                <a:r>
                  <a:rPr kumimoji="0" lang="zh-CN" altLang="en-US" sz="16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sym typeface="微软雅黑" pitchFamily="34" charset="-122"/>
                  </a:rPr>
                  <a:t>定义软件质量测量元素</a:t>
                </a:r>
                <a:endParaRPr kumimoji="0" lang="en-US" altLang="zh-CN" sz="16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sym typeface="微软雅黑" pitchFamily="34" charset="-122"/>
                </a:endParaRPr>
              </a:p>
            </p:txBody>
          </p:sp>
        </p:grpSp>
      </p:grpSp>
      <p:grpSp>
        <p:nvGrpSpPr>
          <p:cNvPr id="142" name="组合 141"/>
          <p:cNvGrpSpPr/>
          <p:nvPr/>
        </p:nvGrpSpPr>
        <p:grpSpPr>
          <a:xfrm>
            <a:off x="6312634" y="6006684"/>
            <a:ext cx="3871555" cy="899280"/>
            <a:chOff x="8318274" y="1052736"/>
            <a:chExt cx="3871555" cy="899280"/>
          </a:xfrm>
        </p:grpSpPr>
        <p:sp>
          <p:nvSpPr>
            <p:cNvPr id="143" name="矩形 142"/>
            <p:cNvSpPr/>
            <p:nvPr/>
          </p:nvSpPr>
          <p:spPr>
            <a:xfrm>
              <a:off x="8318275" y="1052736"/>
              <a:ext cx="1911311" cy="338546"/>
            </a:xfrm>
            <a:prstGeom prst="rect">
              <a:avLst/>
            </a:prstGeom>
          </p:spPr>
          <p:txBody>
            <a:bodyPr wrap="square" lIns="91431" tIns="45716" rIns="91431" bIns="45716">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FF0000"/>
                  </a:solidFill>
                  <a:effectLst/>
                  <a:uLnTx/>
                  <a:uFillTx/>
                  <a:latin typeface="微软雅黑" pitchFamily="34" charset="-122"/>
                  <a:ea typeface="微软雅黑" pitchFamily="34" charset="-122"/>
                  <a:cs typeface="+mn-cs"/>
                </a:rPr>
                <a:t>ISO/IEC 25041</a:t>
              </a:r>
              <a:endParaRPr kumimoji="0" lang="en-US" altLang="zh-CN" sz="1600" b="0"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endParaRPr>
            </a:p>
          </p:txBody>
        </p:sp>
        <p:sp>
          <p:nvSpPr>
            <p:cNvPr id="144" name="矩形 143"/>
            <p:cNvSpPr>
              <a:spLocks noChangeArrowheads="1"/>
            </p:cNvSpPr>
            <p:nvPr/>
          </p:nvSpPr>
          <p:spPr bwMode="auto">
            <a:xfrm>
              <a:off x="8318274" y="1268760"/>
              <a:ext cx="3871555" cy="683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l" defTabSz="914400" rtl="0" eaLnBrk="1" fontAlgn="auto" latinLnBrk="0" hangingPunct="1">
                <a:lnSpc>
                  <a:spcPct val="120000"/>
                </a:lnSpc>
                <a:spcBef>
                  <a:spcPct val="0"/>
                </a:spcBef>
                <a:spcAft>
                  <a:spcPts val="0"/>
                </a:spcAft>
                <a:buClrTx/>
                <a:buSzTx/>
                <a:buFont typeface="Arial" charset="0"/>
                <a:buNone/>
                <a:tabLst/>
                <a:defRPr/>
              </a:pPr>
              <a:r>
                <a:rPr kumimoji="0" lang="zh-CN" altLang="en-US" sz="16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sym typeface="微软雅黑" pitchFamily="34" charset="-122"/>
                </a:rPr>
                <a:t>评价方、需方还是由开发</a:t>
              </a:r>
              <a:r>
                <a:rPr kumimoji="0" lang="zh-CN" altLang="en-US" sz="16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sym typeface="微软雅黑" pitchFamily="34" charset="-122"/>
                </a:rPr>
                <a:t>方提供的软件产品评价的要求、建议及指南</a:t>
              </a:r>
              <a:endParaRPr kumimoji="0" lang="zh-CN" altLang="en-US" sz="16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sym typeface="微软雅黑" pitchFamily="34" charset="-122"/>
              </a:endParaRPr>
            </a:p>
          </p:txBody>
        </p:sp>
      </p:grpSp>
      <p:cxnSp>
        <p:nvCxnSpPr>
          <p:cNvPr id="145" name="肘形连接符 144"/>
          <p:cNvCxnSpPr/>
          <p:nvPr/>
        </p:nvCxnSpPr>
        <p:spPr>
          <a:xfrm>
            <a:off x="6116003" y="3872451"/>
            <a:ext cx="1644124" cy="5103"/>
          </a:xfrm>
          <a:prstGeom prst="bentConnector3">
            <a:avLst>
              <a:gd name="adj1" fmla="val 50000"/>
            </a:avLst>
          </a:prstGeom>
          <a:ln w="9525" cap="rnd">
            <a:solidFill>
              <a:srgbClr val="414455"/>
            </a:solidFill>
            <a:prstDash val="sysDash"/>
          </a:ln>
        </p:spPr>
        <p:style>
          <a:lnRef idx="1">
            <a:schemeClr val="accent1"/>
          </a:lnRef>
          <a:fillRef idx="0">
            <a:schemeClr val="accent1"/>
          </a:fillRef>
          <a:effectRef idx="0">
            <a:schemeClr val="accent1"/>
          </a:effectRef>
          <a:fontRef idx="minor">
            <a:schemeClr val="tx1"/>
          </a:fontRef>
        </p:style>
      </p:cxnSp>
      <p:cxnSp>
        <p:nvCxnSpPr>
          <p:cNvPr id="146" name="肘形连接符 145"/>
          <p:cNvCxnSpPr/>
          <p:nvPr/>
        </p:nvCxnSpPr>
        <p:spPr>
          <a:xfrm>
            <a:off x="5541734" y="4884318"/>
            <a:ext cx="1644124" cy="475200"/>
          </a:xfrm>
          <a:prstGeom prst="bentConnector3">
            <a:avLst>
              <a:gd name="adj1" fmla="val 45111"/>
            </a:avLst>
          </a:prstGeom>
          <a:ln w="9525" cap="rnd">
            <a:solidFill>
              <a:srgbClr val="414455"/>
            </a:solidFill>
            <a:prstDash val="sysDash"/>
          </a:ln>
        </p:spPr>
        <p:style>
          <a:lnRef idx="1">
            <a:schemeClr val="accent1"/>
          </a:lnRef>
          <a:fillRef idx="0">
            <a:schemeClr val="accent1"/>
          </a:fillRef>
          <a:effectRef idx="0">
            <a:schemeClr val="accent1"/>
          </a:effectRef>
          <a:fontRef idx="minor">
            <a:schemeClr val="tx1"/>
          </a:fontRef>
        </p:style>
      </p:cxnSp>
      <p:grpSp>
        <p:nvGrpSpPr>
          <p:cNvPr id="147" name="组合 146"/>
          <p:cNvGrpSpPr/>
          <p:nvPr/>
        </p:nvGrpSpPr>
        <p:grpSpPr>
          <a:xfrm>
            <a:off x="6992086" y="1309071"/>
            <a:ext cx="4097093" cy="1382215"/>
            <a:chOff x="7848990" y="532406"/>
            <a:chExt cx="2900773" cy="1382215"/>
          </a:xfrm>
        </p:grpSpPr>
        <p:grpSp>
          <p:nvGrpSpPr>
            <p:cNvPr id="148" name="组合 147"/>
            <p:cNvGrpSpPr/>
            <p:nvPr/>
          </p:nvGrpSpPr>
          <p:grpSpPr>
            <a:xfrm>
              <a:off x="7848990" y="1264709"/>
              <a:ext cx="2900773" cy="649912"/>
              <a:chOff x="8483715" y="1022393"/>
              <a:chExt cx="2984934" cy="649912"/>
            </a:xfrm>
          </p:grpSpPr>
          <p:sp>
            <p:nvSpPr>
              <p:cNvPr id="152" name="矩形 151"/>
              <p:cNvSpPr/>
              <p:nvPr/>
            </p:nvSpPr>
            <p:spPr>
              <a:xfrm>
                <a:off x="8483715" y="1022393"/>
                <a:ext cx="1911311" cy="338546"/>
              </a:xfrm>
              <a:prstGeom prst="rect">
                <a:avLst/>
              </a:prstGeom>
            </p:spPr>
            <p:txBody>
              <a:bodyPr wrap="square" lIns="91431" tIns="45716" rIns="91431" bIns="45716">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FF0000"/>
                    </a:solidFill>
                    <a:effectLst/>
                    <a:uLnTx/>
                    <a:uFillTx/>
                    <a:latin typeface="微软雅黑" pitchFamily="34" charset="-122"/>
                    <a:ea typeface="微软雅黑" pitchFamily="34" charset="-122"/>
                    <a:cs typeface="+mn-cs"/>
                  </a:rPr>
                  <a:t>ISO/IEC 25001</a:t>
                </a:r>
                <a:endParaRPr kumimoji="0" lang="en-US" altLang="zh-CN" sz="1600" b="0"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endParaRPr>
              </a:p>
            </p:txBody>
          </p:sp>
          <p:sp>
            <p:nvSpPr>
              <p:cNvPr id="153" name="矩形 152"/>
              <p:cNvSpPr>
                <a:spLocks noChangeArrowheads="1"/>
              </p:cNvSpPr>
              <p:nvPr/>
            </p:nvSpPr>
            <p:spPr bwMode="auto">
              <a:xfrm>
                <a:off x="8504761" y="1309521"/>
                <a:ext cx="2963888" cy="36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l" defTabSz="914400" rtl="0" eaLnBrk="1" fontAlgn="auto" latinLnBrk="0" hangingPunct="1">
                  <a:lnSpc>
                    <a:spcPct val="120000"/>
                  </a:lnSpc>
                  <a:spcBef>
                    <a:spcPct val="0"/>
                  </a:spcBef>
                  <a:spcAft>
                    <a:spcPts val="0"/>
                  </a:spcAft>
                  <a:buClrTx/>
                  <a:buSzTx/>
                  <a:buFont typeface="Arial" charset="0"/>
                  <a:buNone/>
                  <a:tabLst/>
                  <a:defRPr/>
                </a:pPr>
                <a:r>
                  <a:rPr kumimoji="0" lang="zh-CN" altLang="en-US" sz="16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sym typeface="微软雅黑" pitchFamily="34" charset="-122"/>
                  </a:rPr>
                  <a:t>提供一些功能的要求和指南</a:t>
                </a:r>
                <a:endParaRPr kumimoji="0" lang="zh-CN" altLang="en-US" sz="16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sym typeface="微软雅黑" pitchFamily="34" charset="-122"/>
                </a:endParaRPr>
              </a:p>
            </p:txBody>
          </p:sp>
        </p:grpSp>
        <p:grpSp>
          <p:nvGrpSpPr>
            <p:cNvPr id="149" name="组合 148"/>
            <p:cNvGrpSpPr/>
            <p:nvPr/>
          </p:nvGrpSpPr>
          <p:grpSpPr>
            <a:xfrm>
              <a:off x="7869443" y="532406"/>
              <a:ext cx="2880320" cy="649345"/>
              <a:chOff x="8511400" y="992204"/>
              <a:chExt cx="2963888" cy="649345"/>
            </a:xfrm>
          </p:grpSpPr>
          <p:sp>
            <p:nvSpPr>
              <p:cNvPr id="150" name="矩形 149"/>
              <p:cNvSpPr/>
              <p:nvPr/>
            </p:nvSpPr>
            <p:spPr>
              <a:xfrm>
                <a:off x="8511400" y="992204"/>
                <a:ext cx="1911311" cy="338546"/>
              </a:xfrm>
              <a:prstGeom prst="rect">
                <a:avLst/>
              </a:prstGeom>
            </p:spPr>
            <p:txBody>
              <a:bodyPr wrap="square" lIns="91431" tIns="45716" rIns="91431" bIns="45716">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FF0000"/>
                    </a:solidFill>
                    <a:effectLst/>
                    <a:uLnTx/>
                    <a:uFillTx/>
                    <a:latin typeface="微软雅黑" pitchFamily="34" charset="-122"/>
                    <a:ea typeface="微软雅黑" pitchFamily="34" charset="-122"/>
                    <a:cs typeface="+mn-cs"/>
                  </a:rPr>
                  <a:t>ISO/IEC 25000</a:t>
                </a:r>
                <a:endParaRPr kumimoji="0" lang="en-US" altLang="zh-CN" sz="1600" b="0"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endParaRPr>
              </a:p>
            </p:txBody>
          </p:sp>
          <p:sp>
            <p:nvSpPr>
              <p:cNvPr id="151" name="矩形 150"/>
              <p:cNvSpPr>
                <a:spLocks noChangeArrowheads="1"/>
              </p:cNvSpPr>
              <p:nvPr/>
            </p:nvSpPr>
            <p:spPr bwMode="auto">
              <a:xfrm>
                <a:off x="8511400" y="1278765"/>
                <a:ext cx="2963888" cy="36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l" defTabSz="914400" rtl="0" eaLnBrk="1" fontAlgn="auto" latinLnBrk="0" hangingPunct="1">
                  <a:lnSpc>
                    <a:spcPct val="120000"/>
                  </a:lnSpc>
                  <a:spcBef>
                    <a:spcPct val="0"/>
                  </a:spcBef>
                  <a:spcAft>
                    <a:spcPts val="0"/>
                  </a:spcAft>
                  <a:buClrTx/>
                  <a:buSzTx/>
                  <a:buFont typeface="Arial" charset="0"/>
                  <a:buNone/>
                  <a:tabLst/>
                  <a:defRPr/>
                </a:pPr>
                <a:r>
                  <a:rPr kumimoji="0" lang="zh-CN" altLang="en-US" sz="16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sym typeface="微软雅黑" pitchFamily="34" charset="-122"/>
                  </a:rPr>
                  <a:t>定义系列标准中全部公共模型、术语和定义</a:t>
                </a:r>
                <a:endParaRPr kumimoji="0" lang="zh-CN" altLang="en-US" sz="16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sym typeface="微软雅黑" pitchFamily="34" charset="-122"/>
                </a:endParaRPr>
              </a:p>
            </p:txBody>
          </p:sp>
        </p:grpSp>
      </p:grpSp>
      <p:grpSp>
        <p:nvGrpSpPr>
          <p:cNvPr id="154" name="组合 153"/>
          <p:cNvGrpSpPr/>
          <p:nvPr/>
        </p:nvGrpSpPr>
        <p:grpSpPr>
          <a:xfrm>
            <a:off x="7226505" y="2940654"/>
            <a:ext cx="3862674" cy="676371"/>
            <a:chOff x="7869528" y="1584562"/>
            <a:chExt cx="3974743" cy="676371"/>
          </a:xfrm>
        </p:grpSpPr>
        <p:sp>
          <p:nvSpPr>
            <p:cNvPr id="155" name="矩形 154"/>
            <p:cNvSpPr/>
            <p:nvPr/>
          </p:nvSpPr>
          <p:spPr>
            <a:xfrm>
              <a:off x="7869528" y="1584562"/>
              <a:ext cx="1911311" cy="338546"/>
            </a:xfrm>
            <a:prstGeom prst="rect">
              <a:avLst/>
            </a:prstGeom>
          </p:spPr>
          <p:txBody>
            <a:bodyPr wrap="square" lIns="91431" tIns="45716" rIns="91431" bIns="45716">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FF0000"/>
                  </a:solidFill>
                  <a:effectLst/>
                  <a:uLnTx/>
                  <a:uFillTx/>
                  <a:latin typeface="微软雅黑" pitchFamily="34" charset="-122"/>
                  <a:ea typeface="微软雅黑" pitchFamily="34" charset="-122"/>
                  <a:cs typeface="+mn-cs"/>
                </a:rPr>
                <a:t>ISO/IEC 25010</a:t>
              </a:r>
              <a:endParaRPr kumimoji="0" lang="en-US" altLang="zh-CN" sz="1600" b="0"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endParaRPr>
            </a:p>
          </p:txBody>
        </p:sp>
        <p:sp>
          <p:nvSpPr>
            <p:cNvPr id="156" name="矩形 155"/>
            <p:cNvSpPr>
              <a:spLocks noChangeArrowheads="1"/>
            </p:cNvSpPr>
            <p:nvPr/>
          </p:nvSpPr>
          <p:spPr bwMode="auto">
            <a:xfrm>
              <a:off x="7869528" y="1873143"/>
              <a:ext cx="3974743" cy="38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l" defTabSz="914400" rtl="0" eaLnBrk="1" fontAlgn="auto" latinLnBrk="0" hangingPunct="1">
                <a:lnSpc>
                  <a:spcPct val="120000"/>
                </a:lnSpc>
                <a:spcBef>
                  <a:spcPct val="0"/>
                </a:spcBef>
                <a:spcAft>
                  <a:spcPts val="0"/>
                </a:spcAft>
                <a:buClrTx/>
                <a:buSzTx/>
                <a:buFont typeface="Arial" charset="0"/>
                <a:buNone/>
                <a:tabLst/>
                <a:defRPr/>
              </a:pPr>
              <a:r>
                <a:rPr kumimoji="0" lang="zh-CN" altLang="en-US" sz="16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sym typeface="微软雅黑" pitchFamily="34" charset="-122"/>
                </a:rPr>
                <a:t>软件质量特性模型</a:t>
              </a:r>
              <a:r>
                <a:rPr kumimoji="0" lang="en-US" altLang="zh-CN" sz="16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sym typeface="微软雅黑" pitchFamily="34" charset="-122"/>
                </a:rPr>
                <a:t>, </a:t>
              </a:r>
              <a:r>
                <a:rPr kumimoji="0" lang="zh-CN" altLang="en-US" sz="16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sym typeface="微软雅黑" pitchFamily="34" charset="-122"/>
                </a:rPr>
                <a:t>新增安全性和兼容性</a:t>
              </a:r>
              <a:endParaRPr kumimoji="0" lang="en-US" altLang="zh-CN" sz="16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sym typeface="微软雅黑" pitchFamily="34" charset="-122"/>
              </a:endParaRPr>
            </a:p>
          </p:txBody>
        </p:sp>
      </p:grpSp>
      <p:grpSp>
        <p:nvGrpSpPr>
          <p:cNvPr id="157" name="组合 156"/>
          <p:cNvGrpSpPr/>
          <p:nvPr/>
        </p:nvGrpSpPr>
        <p:grpSpPr>
          <a:xfrm>
            <a:off x="7185858" y="5218246"/>
            <a:ext cx="3862674" cy="578808"/>
            <a:chOff x="8318275" y="1052736"/>
            <a:chExt cx="3974743" cy="578808"/>
          </a:xfrm>
        </p:grpSpPr>
        <p:sp>
          <p:nvSpPr>
            <p:cNvPr id="158" name="矩形 157"/>
            <p:cNvSpPr/>
            <p:nvPr/>
          </p:nvSpPr>
          <p:spPr>
            <a:xfrm>
              <a:off x="8318275" y="1052736"/>
              <a:ext cx="1911311" cy="338546"/>
            </a:xfrm>
            <a:prstGeom prst="rect">
              <a:avLst/>
            </a:prstGeom>
          </p:spPr>
          <p:txBody>
            <a:bodyPr wrap="square" lIns="91431" tIns="45716" rIns="91431" bIns="45716">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FF0000"/>
                  </a:solidFill>
                  <a:effectLst/>
                  <a:uLnTx/>
                  <a:uFillTx/>
                  <a:latin typeface="微软雅黑" pitchFamily="34" charset="-122"/>
                  <a:ea typeface="微软雅黑" pitchFamily="34" charset="-122"/>
                  <a:cs typeface="+mn-cs"/>
                </a:rPr>
                <a:t>ISO/IEC 25030</a:t>
              </a:r>
              <a:endParaRPr kumimoji="0" lang="en-US" altLang="zh-CN" sz="1600" b="0"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endParaRPr>
            </a:p>
          </p:txBody>
        </p:sp>
        <p:sp>
          <p:nvSpPr>
            <p:cNvPr id="159" name="矩形 158"/>
            <p:cNvSpPr>
              <a:spLocks noChangeArrowheads="1"/>
            </p:cNvSpPr>
            <p:nvPr/>
          </p:nvSpPr>
          <p:spPr bwMode="auto">
            <a:xfrm>
              <a:off x="8318275" y="1268760"/>
              <a:ext cx="3974743" cy="36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l" defTabSz="914400" rtl="0" eaLnBrk="1" fontAlgn="auto" latinLnBrk="0" hangingPunct="1">
                <a:lnSpc>
                  <a:spcPct val="120000"/>
                </a:lnSpc>
                <a:spcBef>
                  <a:spcPct val="0"/>
                </a:spcBef>
                <a:spcAft>
                  <a:spcPts val="0"/>
                </a:spcAft>
                <a:buClrTx/>
                <a:buSzTx/>
                <a:buFont typeface="Arial" charset="0"/>
                <a:buNone/>
                <a:tabLst/>
                <a:defRPr/>
              </a:pPr>
              <a:r>
                <a:rPr kumimoji="0" lang="zh-CN" altLang="en-US" sz="16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sym typeface="微软雅黑" pitchFamily="34" charset="-122"/>
                </a:rPr>
                <a:t>帮助用户规定软件质量要求</a:t>
              </a:r>
              <a:endParaRPr kumimoji="0" lang="en-US" altLang="zh-CN" sz="16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sym typeface="微软雅黑" pitchFamily="34" charset="-122"/>
              </a:endParaRPr>
            </a:p>
          </p:txBody>
        </p:sp>
      </p:grpSp>
      <p:cxnSp>
        <p:nvCxnSpPr>
          <p:cNvPr id="160" name="肘形连接符 159"/>
          <p:cNvCxnSpPr/>
          <p:nvPr/>
        </p:nvCxnSpPr>
        <p:spPr>
          <a:xfrm>
            <a:off x="5729563" y="2739454"/>
            <a:ext cx="1503042" cy="350272"/>
          </a:xfrm>
          <a:prstGeom prst="bentConnector3">
            <a:avLst>
              <a:gd name="adj1" fmla="val 50000"/>
            </a:avLst>
          </a:prstGeom>
          <a:ln w="9525" cap="rnd">
            <a:solidFill>
              <a:srgbClr val="414455"/>
            </a:solidFill>
            <a:prstDash val="sysDash"/>
          </a:ln>
        </p:spPr>
        <p:style>
          <a:lnRef idx="1">
            <a:schemeClr val="accent1"/>
          </a:lnRef>
          <a:fillRef idx="0">
            <a:schemeClr val="accent1"/>
          </a:fillRef>
          <a:effectRef idx="0">
            <a:schemeClr val="accent1"/>
          </a:effectRef>
          <a:fontRef idx="minor">
            <a:schemeClr val="tx1"/>
          </a:fontRef>
        </p:style>
      </p:cxnSp>
      <p:cxnSp>
        <p:nvCxnSpPr>
          <p:cNvPr id="161" name="肘形连接符 160"/>
          <p:cNvCxnSpPr/>
          <p:nvPr/>
        </p:nvCxnSpPr>
        <p:spPr>
          <a:xfrm>
            <a:off x="5106132" y="5847254"/>
            <a:ext cx="1222351" cy="288000"/>
          </a:xfrm>
          <a:prstGeom prst="bentConnector3">
            <a:avLst>
              <a:gd name="adj1" fmla="val 50000"/>
            </a:avLst>
          </a:prstGeom>
          <a:ln w="9525" cap="rnd">
            <a:solidFill>
              <a:srgbClr val="414455"/>
            </a:solidFill>
            <a:prstDash val="sysDash"/>
          </a:ln>
        </p:spPr>
        <p:style>
          <a:lnRef idx="1">
            <a:schemeClr val="accent1"/>
          </a:lnRef>
          <a:fillRef idx="0">
            <a:schemeClr val="accent1"/>
          </a:fillRef>
          <a:effectRef idx="0">
            <a:schemeClr val="accent1"/>
          </a:effectRef>
          <a:fontRef idx="minor">
            <a:schemeClr val="tx1"/>
          </a:fontRef>
        </p:style>
      </p:cxnSp>
      <p:cxnSp>
        <p:nvCxnSpPr>
          <p:cNvPr id="163" name="肘形连接符 162"/>
          <p:cNvCxnSpPr/>
          <p:nvPr/>
        </p:nvCxnSpPr>
        <p:spPr>
          <a:xfrm flipV="1">
            <a:off x="5254950" y="1478344"/>
            <a:ext cx="1737135" cy="432215"/>
          </a:xfrm>
          <a:prstGeom prst="bentConnector3">
            <a:avLst>
              <a:gd name="adj1" fmla="val 50000"/>
            </a:avLst>
          </a:prstGeom>
          <a:ln w="9525" cap="rnd">
            <a:solidFill>
              <a:srgbClr val="414455"/>
            </a:solidFill>
            <a:prstDash val="sysDash"/>
          </a:ln>
        </p:spPr>
        <p:style>
          <a:lnRef idx="1">
            <a:schemeClr val="accent1"/>
          </a:lnRef>
          <a:fillRef idx="0">
            <a:schemeClr val="accent1"/>
          </a:fillRef>
          <a:effectRef idx="0">
            <a:schemeClr val="accent1"/>
          </a:effectRef>
          <a:fontRef idx="minor">
            <a:schemeClr val="tx1"/>
          </a:fontRef>
        </p:style>
      </p:cxnSp>
      <p:cxnSp>
        <p:nvCxnSpPr>
          <p:cNvPr id="164" name="肘形连接符 163"/>
          <p:cNvCxnSpPr/>
          <p:nvPr/>
        </p:nvCxnSpPr>
        <p:spPr>
          <a:xfrm>
            <a:off x="5258547" y="1908821"/>
            <a:ext cx="1743586" cy="269899"/>
          </a:xfrm>
          <a:prstGeom prst="bentConnector3">
            <a:avLst>
              <a:gd name="adj1" fmla="val 50000"/>
            </a:avLst>
          </a:prstGeom>
          <a:ln w="9525" cap="rnd">
            <a:solidFill>
              <a:srgbClr val="414455"/>
            </a:solidFill>
            <a:prstDash val="sysDash"/>
          </a:ln>
        </p:spPr>
        <p:style>
          <a:lnRef idx="1">
            <a:schemeClr val="accent1"/>
          </a:lnRef>
          <a:fillRef idx="0">
            <a:schemeClr val="accent1"/>
          </a:fillRef>
          <a:effectRef idx="0">
            <a:schemeClr val="accent1"/>
          </a:effectRef>
          <a:fontRef idx="minor">
            <a:schemeClr val="tx1"/>
          </a:fontRef>
        </p:style>
      </p:cxnSp>
      <p:cxnSp>
        <p:nvCxnSpPr>
          <p:cNvPr id="165" name="肘形连接符 164"/>
          <p:cNvCxnSpPr/>
          <p:nvPr/>
        </p:nvCxnSpPr>
        <p:spPr>
          <a:xfrm>
            <a:off x="6123611" y="3873091"/>
            <a:ext cx="1644124" cy="833894"/>
          </a:xfrm>
          <a:prstGeom prst="bentConnector3">
            <a:avLst>
              <a:gd name="adj1" fmla="val 50000"/>
            </a:avLst>
          </a:prstGeom>
          <a:ln w="9525" cap="rnd">
            <a:solidFill>
              <a:srgbClr val="414455"/>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517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wipe(left)">
                                      <p:cBhvr>
                                        <p:cTn id="7" dur="500"/>
                                        <p:tgtEl>
                                          <p:spTgt spid="160"/>
                                        </p:tgtEl>
                                      </p:cBhvr>
                                    </p:animEffect>
                                  </p:childTnLst>
                                </p:cTn>
                              </p:par>
                              <p:par>
                                <p:cTn id="8" presetID="22" presetClass="entr" presetSubtype="8" fill="hold" nodeType="withEffect">
                                  <p:stCondLst>
                                    <p:cond delay="0"/>
                                  </p:stCondLst>
                                  <p:childTnLst>
                                    <p:set>
                                      <p:cBhvr>
                                        <p:cTn id="9" dur="1" fill="hold">
                                          <p:stCondLst>
                                            <p:cond delay="0"/>
                                          </p:stCondLst>
                                        </p:cTn>
                                        <p:tgtEl>
                                          <p:spTgt spid="146"/>
                                        </p:tgtEl>
                                        <p:attrNameLst>
                                          <p:attrName>style.visibility</p:attrName>
                                        </p:attrNameLst>
                                      </p:cBhvr>
                                      <p:to>
                                        <p:strVal val="visible"/>
                                      </p:to>
                                    </p:set>
                                    <p:animEffect transition="in" filter="wipe(left)">
                                      <p:cBhvr>
                                        <p:cTn id="10" dur="500"/>
                                        <p:tgtEl>
                                          <p:spTgt spid="146"/>
                                        </p:tgtEl>
                                      </p:cBhvr>
                                    </p:animEffect>
                                  </p:childTnLst>
                                </p:cTn>
                              </p:par>
                              <p:par>
                                <p:cTn id="11" presetID="22" presetClass="entr" presetSubtype="8" fill="hold" nodeType="withEffect">
                                  <p:stCondLst>
                                    <p:cond delay="0"/>
                                  </p:stCondLst>
                                  <p:childTnLst>
                                    <p:set>
                                      <p:cBhvr>
                                        <p:cTn id="12" dur="1" fill="hold">
                                          <p:stCondLst>
                                            <p:cond delay="0"/>
                                          </p:stCondLst>
                                        </p:cTn>
                                        <p:tgtEl>
                                          <p:spTgt spid="145"/>
                                        </p:tgtEl>
                                        <p:attrNameLst>
                                          <p:attrName>style.visibility</p:attrName>
                                        </p:attrNameLst>
                                      </p:cBhvr>
                                      <p:to>
                                        <p:strVal val="visible"/>
                                      </p:to>
                                    </p:set>
                                    <p:animEffect transition="in" filter="wipe(left)">
                                      <p:cBhvr>
                                        <p:cTn id="13" dur="500"/>
                                        <p:tgtEl>
                                          <p:spTgt spid="145"/>
                                        </p:tgtEl>
                                      </p:cBhvr>
                                    </p:animEffect>
                                  </p:childTnLst>
                                </p:cTn>
                              </p:par>
                              <p:par>
                                <p:cTn id="14" presetID="22" presetClass="entr" presetSubtype="8" fill="hold" nodeType="withEffect">
                                  <p:stCondLst>
                                    <p:cond delay="0"/>
                                  </p:stCondLst>
                                  <p:childTnLst>
                                    <p:set>
                                      <p:cBhvr>
                                        <p:cTn id="15" dur="1" fill="hold">
                                          <p:stCondLst>
                                            <p:cond delay="0"/>
                                          </p:stCondLst>
                                        </p:cTn>
                                        <p:tgtEl>
                                          <p:spTgt spid="161"/>
                                        </p:tgtEl>
                                        <p:attrNameLst>
                                          <p:attrName>style.visibility</p:attrName>
                                        </p:attrNameLst>
                                      </p:cBhvr>
                                      <p:to>
                                        <p:strVal val="visible"/>
                                      </p:to>
                                    </p:set>
                                    <p:animEffect transition="in" filter="wipe(left)">
                                      <p:cBhvr>
                                        <p:cTn id="16" dur="500"/>
                                        <p:tgtEl>
                                          <p:spTgt spid="161"/>
                                        </p:tgtEl>
                                      </p:cBhvr>
                                    </p:animEffect>
                                  </p:childTnLst>
                                </p:cTn>
                              </p:par>
                              <p:par>
                                <p:cTn id="17" presetID="22" presetClass="entr" presetSubtype="8" fill="hold" nodeType="withEffect">
                                  <p:stCondLst>
                                    <p:cond delay="0"/>
                                  </p:stCondLst>
                                  <p:childTnLst>
                                    <p:set>
                                      <p:cBhvr>
                                        <p:cTn id="18" dur="1" fill="hold">
                                          <p:stCondLst>
                                            <p:cond delay="0"/>
                                          </p:stCondLst>
                                        </p:cTn>
                                        <p:tgtEl>
                                          <p:spTgt spid="147"/>
                                        </p:tgtEl>
                                        <p:attrNameLst>
                                          <p:attrName>style.visibility</p:attrName>
                                        </p:attrNameLst>
                                      </p:cBhvr>
                                      <p:to>
                                        <p:strVal val="visible"/>
                                      </p:to>
                                    </p:set>
                                    <p:animEffect transition="in" filter="wipe(left)">
                                      <p:cBhvr>
                                        <p:cTn id="19" dur="500"/>
                                        <p:tgtEl>
                                          <p:spTgt spid="147"/>
                                        </p:tgtEl>
                                      </p:cBhvr>
                                    </p:animEffect>
                                  </p:childTnLst>
                                </p:cTn>
                              </p:par>
                              <p:par>
                                <p:cTn id="20" presetID="22" presetClass="entr" presetSubtype="8" fill="hold" nodeType="withEffect">
                                  <p:stCondLst>
                                    <p:cond delay="0"/>
                                  </p:stCondLst>
                                  <p:childTnLst>
                                    <p:set>
                                      <p:cBhvr>
                                        <p:cTn id="21" dur="1" fill="hold">
                                          <p:stCondLst>
                                            <p:cond delay="0"/>
                                          </p:stCondLst>
                                        </p:cTn>
                                        <p:tgtEl>
                                          <p:spTgt spid="154"/>
                                        </p:tgtEl>
                                        <p:attrNameLst>
                                          <p:attrName>style.visibility</p:attrName>
                                        </p:attrNameLst>
                                      </p:cBhvr>
                                      <p:to>
                                        <p:strVal val="visible"/>
                                      </p:to>
                                    </p:set>
                                    <p:animEffect transition="in" filter="wipe(left)">
                                      <p:cBhvr>
                                        <p:cTn id="22" dur="500"/>
                                        <p:tgtEl>
                                          <p:spTgt spid="154"/>
                                        </p:tgtEl>
                                      </p:cBhvr>
                                    </p:animEffect>
                                  </p:childTnLst>
                                </p:cTn>
                              </p:par>
                              <p:par>
                                <p:cTn id="23" presetID="22" presetClass="entr" presetSubtype="8" fill="hold" nodeType="withEffect">
                                  <p:stCondLst>
                                    <p:cond delay="0"/>
                                  </p:stCondLst>
                                  <p:childTnLst>
                                    <p:set>
                                      <p:cBhvr>
                                        <p:cTn id="24" dur="1" fill="hold">
                                          <p:stCondLst>
                                            <p:cond delay="0"/>
                                          </p:stCondLst>
                                        </p:cTn>
                                        <p:tgtEl>
                                          <p:spTgt spid="135"/>
                                        </p:tgtEl>
                                        <p:attrNameLst>
                                          <p:attrName>style.visibility</p:attrName>
                                        </p:attrNameLst>
                                      </p:cBhvr>
                                      <p:to>
                                        <p:strVal val="visible"/>
                                      </p:to>
                                    </p:set>
                                    <p:animEffect transition="in" filter="wipe(left)">
                                      <p:cBhvr>
                                        <p:cTn id="25" dur="500"/>
                                        <p:tgtEl>
                                          <p:spTgt spid="135"/>
                                        </p:tgtEl>
                                      </p:cBhvr>
                                    </p:animEffect>
                                  </p:childTnLst>
                                </p:cTn>
                              </p:par>
                              <p:par>
                                <p:cTn id="26" presetID="22" presetClass="entr" presetSubtype="8" fill="hold" nodeType="withEffect">
                                  <p:stCondLst>
                                    <p:cond delay="0"/>
                                  </p:stCondLst>
                                  <p:childTnLst>
                                    <p:set>
                                      <p:cBhvr>
                                        <p:cTn id="27" dur="1" fill="hold">
                                          <p:stCondLst>
                                            <p:cond delay="0"/>
                                          </p:stCondLst>
                                        </p:cTn>
                                        <p:tgtEl>
                                          <p:spTgt spid="157"/>
                                        </p:tgtEl>
                                        <p:attrNameLst>
                                          <p:attrName>style.visibility</p:attrName>
                                        </p:attrNameLst>
                                      </p:cBhvr>
                                      <p:to>
                                        <p:strVal val="visible"/>
                                      </p:to>
                                    </p:set>
                                    <p:animEffect transition="in" filter="wipe(left)">
                                      <p:cBhvr>
                                        <p:cTn id="28" dur="500"/>
                                        <p:tgtEl>
                                          <p:spTgt spid="157"/>
                                        </p:tgtEl>
                                      </p:cBhvr>
                                    </p:animEffect>
                                  </p:childTnLst>
                                </p:cTn>
                              </p:par>
                              <p:par>
                                <p:cTn id="29" presetID="22" presetClass="entr" presetSubtype="8" fill="hold" nodeType="withEffect">
                                  <p:stCondLst>
                                    <p:cond delay="0"/>
                                  </p:stCondLst>
                                  <p:childTnLst>
                                    <p:set>
                                      <p:cBhvr>
                                        <p:cTn id="30" dur="1" fill="hold">
                                          <p:stCondLst>
                                            <p:cond delay="0"/>
                                          </p:stCondLst>
                                        </p:cTn>
                                        <p:tgtEl>
                                          <p:spTgt spid="142"/>
                                        </p:tgtEl>
                                        <p:attrNameLst>
                                          <p:attrName>style.visibility</p:attrName>
                                        </p:attrNameLst>
                                      </p:cBhvr>
                                      <p:to>
                                        <p:strVal val="visible"/>
                                      </p:to>
                                    </p:set>
                                    <p:animEffect transition="in" filter="wipe(left)">
                                      <p:cBhvr>
                                        <p:cTn id="31" dur="500"/>
                                        <p:tgtEl>
                                          <p:spTgt spid="142"/>
                                        </p:tgtEl>
                                      </p:cBhvr>
                                    </p:animEffect>
                                  </p:childTnLst>
                                </p:cTn>
                              </p:par>
                              <p:par>
                                <p:cTn id="32" presetID="22" presetClass="entr" presetSubtype="8" fill="hold" nodeType="withEffect">
                                  <p:stCondLst>
                                    <p:cond delay="0"/>
                                  </p:stCondLst>
                                  <p:childTnLst>
                                    <p:set>
                                      <p:cBhvr>
                                        <p:cTn id="33" dur="1" fill="hold">
                                          <p:stCondLst>
                                            <p:cond delay="0"/>
                                          </p:stCondLst>
                                        </p:cTn>
                                        <p:tgtEl>
                                          <p:spTgt spid="163"/>
                                        </p:tgtEl>
                                        <p:attrNameLst>
                                          <p:attrName>style.visibility</p:attrName>
                                        </p:attrNameLst>
                                      </p:cBhvr>
                                      <p:to>
                                        <p:strVal val="visible"/>
                                      </p:to>
                                    </p:set>
                                    <p:animEffect transition="in" filter="wipe(left)">
                                      <p:cBhvr>
                                        <p:cTn id="34" dur="500"/>
                                        <p:tgtEl>
                                          <p:spTgt spid="163"/>
                                        </p:tgtEl>
                                      </p:cBhvr>
                                    </p:animEffect>
                                  </p:childTnLst>
                                </p:cTn>
                              </p:par>
                              <p:par>
                                <p:cTn id="35" presetID="22" presetClass="entr" presetSubtype="8" fill="hold" nodeType="withEffect">
                                  <p:stCondLst>
                                    <p:cond delay="0"/>
                                  </p:stCondLst>
                                  <p:childTnLst>
                                    <p:set>
                                      <p:cBhvr>
                                        <p:cTn id="36" dur="1" fill="hold">
                                          <p:stCondLst>
                                            <p:cond delay="0"/>
                                          </p:stCondLst>
                                        </p:cTn>
                                        <p:tgtEl>
                                          <p:spTgt spid="164"/>
                                        </p:tgtEl>
                                        <p:attrNameLst>
                                          <p:attrName>style.visibility</p:attrName>
                                        </p:attrNameLst>
                                      </p:cBhvr>
                                      <p:to>
                                        <p:strVal val="visible"/>
                                      </p:to>
                                    </p:set>
                                    <p:animEffect transition="in" filter="wipe(left)">
                                      <p:cBhvr>
                                        <p:cTn id="37" dur="500"/>
                                        <p:tgtEl>
                                          <p:spTgt spid="164"/>
                                        </p:tgtEl>
                                      </p:cBhvr>
                                    </p:animEffect>
                                  </p:childTnLst>
                                </p:cTn>
                              </p:par>
                              <p:par>
                                <p:cTn id="38" presetID="22" presetClass="entr" presetSubtype="8" fill="hold" nodeType="withEffect">
                                  <p:stCondLst>
                                    <p:cond delay="0"/>
                                  </p:stCondLst>
                                  <p:childTnLst>
                                    <p:set>
                                      <p:cBhvr>
                                        <p:cTn id="39" dur="1" fill="hold">
                                          <p:stCondLst>
                                            <p:cond delay="0"/>
                                          </p:stCondLst>
                                        </p:cTn>
                                        <p:tgtEl>
                                          <p:spTgt spid="165"/>
                                        </p:tgtEl>
                                        <p:attrNameLst>
                                          <p:attrName>style.visibility</p:attrName>
                                        </p:attrNameLst>
                                      </p:cBhvr>
                                      <p:to>
                                        <p:strVal val="visible"/>
                                      </p:to>
                                    </p:set>
                                    <p:animEffect transition="in" filter="wipe(left)">
                                      <p:cBhvr>
                                        <p:cTn id="40" dur="5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8575"/>
            <a:ext cx="12191365" cy="127254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300" b="1" i="0" u="none" strike="noStrike" kern="1200" cap="none" spc="0" normalizeH="0" baseline="0" noProof="0" dirty="0" smtClean="0">
                <a:ln>
                  <a:noFill/>
                </a:ln>
                <a:solidFill>
                  <a:prstClr val="white"/>
                </a:solidFill>
                <a:effectLst/>
                <a:uLnTx/>
                <a:uFillTx/>
                <a:latin typeface="微软雅黑" charset="0"/>
                <a:ea typeface="微软雅黑" charset="0"/>
                <a:cs typeface="+mn-cs"/>
                <a:sym typeface="+mn-ea"/>
              </a:rPr>
              <a:t>我国软件质量标准</a:t>
            </a:r>
            <a:endParaRPr kumimoji="0" lang="zh-CN" altLang="en-US" sz="4300" b="1" i="0" u="none" strike="noStrike" kern="1200" cap="none" spc="0" normalizeH="0" baseline="0" noProof="0" dirty="0">
              <a:ln>
                <a:noFill/>
              </a:ln>
              <a:solidFill>
                <a:prstClr val="white"/>
              </a:solidFill>
              <a:effectLst/>
              <a:uLnTx/>
              <a:uFillTx/>
              <a:latin typeface="微软雅黑" charset="0"/>
              <a:ea typeface="微软雅黑" charset="0"/>
              <a:cs typeface="+mn-cs"/>
              <a:sym typeface="+mn-ea"/>
            </a:endParaRPr>
          </a:p>
        </p:txBody>
      </p:sp>
      <p:sp>
        <p:nvSpPr>
          <p:cNvPr id="8" name="文本框 7"/>
          <p:cNvSpPr txBox="1"/>
          <p:nvPr/>
        </p:nvSpPr>
        <p:spPr>
          <a:xfrm>
            <a:off x="1396557" y="1927730"/>
            <a:ext cx="5104827" cy="37296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等同或修改采用转化为国家标准</a:t>
            </a: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endParaRPr>
          </a:p>
          <a:p>
            <a:pPr marL="742950" marR="0" lvl="1"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分别于</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2002</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年、</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2006</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年引入</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ISO/IEC 14598</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9126</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标准</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研制出</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GB/T 18905</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16260</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系列。</a:t>
            </a: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endParaRPr>
          </a:p>
          <a:p>
            <a:pPr marL="742950" marR="0" lvl="1"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2010</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年，制定了等同采用</a:t>
            </a:r>
            <a:r>
              <a:rPr kumimoji="0" lang="en-US" altLang="zh-CN" sz="2500" b="0" i="0" u="none" strike="noStrike" kern="1200" cap="none" spc="0" normalizeH="0" baseline="0" noProof="0" dirty="0" err="1" smtClean="0">
                <a:ln>
                  <a:noFill/>
                </a:ln>
                <a:solidFill>
                  <a:prstClr val="black"/>
                </a:solidFill>
                <a:effectLst/>
                <a:uLnTx/>
                <a:uFillTx/>
                <a:latin typeface="微软雅黑" charset="0"/>
                <a:ea typeface="微软雅黑" charset="0"/>
                <a:cs typeface="+mn-cs"/>
              </a:rPr>
              <a:t>SQuaRE</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rPr>
              <a:t>的两个标准。</a:t>
            </a: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0" normalizeH="0" baseline="0" noProof="0" dirty="0">
              <a:ln>
                <a:noFill/>
              </a:ln>
              <a:solidFill>
                <a:prstClr val="black"/>
              </a:solidFill>
              <a:effectLst/>
              <a:uLnTx/>
              <a:uFillTx/>
              <a:latin typeface="微软雅黑" charset="0"/>
              <a:ea typeface="微软雅黑"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0" normalizeH="0" baseline="0" noProof="0" dirty="0">
              <a:ln>
                <a:noFill/>
              </a:ln>
              <a:solidFill>
                <a:prstClr val="black"/>
              </a:solidFill>
              <a:effectLst/>
              <a:uLnTx/>
              <a:uFillTx/>
              <a:latin typeface="微软雅黑" charset="0"/>
              <a:ea typeface="微软雅黑"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0" normalizeH="0" baseline="0" noProof="0" dirty="0">
              <a:ln>
                <a:noFill/>
              </a:ln>
              <a:solidFill>
                <a:prstClr val="black"/>
              </a:solidFill>
              <a:effectLst/>
              <a:uLnTx/>
              <a:uFillTx/>
              <a:latin typeface="微软雅黑" charset="0"/>
              <a:ea typeface="微软雅黑"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0" normalizeH="0" baseline="0" noProof="0" dirty="0">
              <a:ln>
                <a:noFill/>
              </a:ln>
              <a:solidFill>
                <a:prstClr val="black"/>
              </a:solidFill>
              <a:effectLst/>
              <a:uLnTx/>
              <a:uFillTx/>
              <a:latin typeface="微软雅黑" charset="0"/>
              <a:ea typeface="微软雅黑"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zh-CN" altLang="en-US" sz="2500" b="0" i="0" u="none" strike="noStrike" kern="1200" cap="none" spc="0" normalizeH="0" baseline="0" noProof="0" dirty="0">
              <a:ln>
                <a:noFill/>
              </a:ln>
              <a:solidFill>
                <a:prstClr val="black"/>
              </a:solidFill>
              <a:effectLst/>
              <a:uLnTx/>
              <a:uFillTx/>
              <a:latin typeface="微软雅黑" charset="0"/>
              <a:ea typeface="微软雅黑" charset="0"/>
              <a:cs typeface="+mn-cs"/>
            </a:endParaRPr>
          </a:p>
        </p:txBody>
      </p:sp>
      <p:pic>
        <p:nvPicPr>
          <p:cNvPr id="3" name="图片 2"/>
          <p:cNvPicPr>
            <a:picLocks noChangeAspect="1"/>
          </p:cNvPicPr>
          <p:nvPr/>
        </p:nvPicPr>
        <p:blipFill>
          <a:blip r:embed="rId2"/>
          <a:stretch>
            <a:fillRect/>
          </a:stretch>
        </p:blipFill>
        <p:spPr>
          <a:xfrm>
            <a:off x="6605284" y="1927730"/>
            <a:ext cx="5266942" cy="3078983"/>
          </a:xfrm>
          <a:prstGeom prst="rect">
            <a:avLst/>
          </a:prstGeom>
        </p:spPr>
      </p:pic>
    </p:spTree>
    <p:extLst>
      <p:ext uri="{BB962C8B-B14F-4D97-AF65-F5344CB8AC3E}">
        <p14:creationId xmlns:p14="http://schemas.microsoft.com/office/powerpoint/2010/main" val="166348761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8575"/>
            <a:ext cx="12191365" cy="127254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300" b="1" i="0" u="none" strike="noStrike" kern="1200" cap="none" spc="0" normalizeH="0" baseline="0" noProof="0" dirty="0" smtClean="0">
                <a:ln>
                  <a:noFill/>
                </a:ln>
                <a:solidFill>
                  <a:prstClr val="white"/>
                </a:solidFill>
                <a:effectLst/>
                <a:uLnTx/>
                <a:uFillTx/>
                <a:latin typeface="微软雅黑" charset="0"/>
                <a:ea typeface="微软雅黑" charset="0"/>
                <a:cs typeface="+mn-cs"/>
              </a:rPr>
              <a:t>自主研制的国家标准</a:t>
            </a:r>
            <a:endParaRPr kumimoji="0" lang="zh-CN" altLang="en-US" sz="43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3" name="文本框 2"/>
          <p:cNvSpPr txBox="1"/>
          <p:nvPr/>
        </p:nvSpPr>
        <p:spPr>
          <a:xfrm>
            <a:off x="1119124" y="1886712"/>
            <a:ext cx="10315575" cy="278537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根据</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GB/T 16260</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系列中并未给出具体的度量方法，且度量指标获取方法存在不明确等问题</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研制出</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GB/T29831</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系列。</a:t>
            </a: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rPr>
              <a:t>六</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大特性的度量过程分为了指标体系、度量方法和测试方法三个部分</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通过各个度量指标的具体度量公式</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客观评价软件产品质量</a:t>
            </a:r>
            <a:endParaRPr kumimoji="0" lang="en-US" altLang="zh-CN"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endParaRPr>
          </a:p>
        </p:txBody>
      </p:sp>
    </p:spTree>
    <p:extLst>
      <p:ext uri="{BB962C8B-B14F-4D97-AF65-F5344CB8AC3E}">
        <p14:creationId xmlns:p14="http://schemas.microsoft.com/office/powerpoint/2010/main" val="861426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8575"/>
            <a:ext cx="12191365" cy="127254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300" b="1" i="0" u="none" strike="noStrike" kern="1200" cap="none" spc="0" normalizeH="0" baseline="0" noProof="0" dirty="0" smtClean="0">
                <a:ln>
                  <a:noFill/>
                </a:ln>
                <a:solidFill>
                  <a:prstClr val="white"/>
                </a:solidFill>
                <a:effectLst/>
                <a:uLnTx/>
                <a:uFillTx/>
                <a:latin typeface="微软雅黑" charset="0"/>
                <a:ea typeface="微软雅黑" charset="0"/>
                <a:cs typeface="+mn-cs"/>
              </a:rPr>
              <a:t>软件质量标准的重要性</a:t>
            </a:r>
            <a:endParaRPr kumimoji="0" lang="zh-CN" altLang="en-US" sz="43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3" name="文本框 2"/>
          <p:cNvSpPr txBox="1"/>
          <p:nvPr/>
        </p:nvSpPr>
        <p:spPr>
          <a:xfrm>
            <a:off x="1129574" y="1965291"/>
            <a:ext cx="10315575" cy="355481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在软件工程的</a:t>
            </a:r>
            <a:r>
              <a:rPr kumimoji="0" lang="zh-CN" altLang="en-US" sz="2500" b="1"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度量</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和</a:t>
            </a:r>
            <a:r>
              <a:rPr kumimoji="0" lang="zh-CN" altLang="en-US" sz="2500" b="1"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评价</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过程中承担着</a:t>
            </a:r>
            <a:r>
              <a:rPr kumimoji="0" lang="zh-CN" altLang="en-US"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rPr>
              <a:t>举足轻重</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作用</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软件测评行业所依据的</a:t>
            </a:r>
            <a:r>
              <a:rPr kumimoji="0" lang="zh-CN" altLang="en-US" sz="2500" b="1"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权威标准</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提升整个软件行业的整体素质</a:t>
            </a:r>
            <a:endParaRPr kumimoji="0" lang="en-US" altLang="zh-CN"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1"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软件竞争的最</a:t>
            </a:r>
            <a:r>
              <a:rPr kumimoji="0" lang="zh-CN" altLang="en-US" sz="2500" b="1"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直接</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因素</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软件竞争的</a:t>
            </a:r>
            <a:r>
              <a:rPr kumimoji="0" lang="zh-CN" altLang="en-US" sz="2500" b="1"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核心</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所在</a:t>
            </a: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0" i="0" u="none" strike="noStrike" kern="1200" cap="none" spc="0"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我国标准研制工作应该朝着</a:t>
            </a:r>
            <a:r>
              <a:rPr kumimoji="0" lang="zh-CN" altLang="en-US" sz="2500" b="1"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国际化</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和</a:t>
            </a:r>
            <a:r>
              <a:rPr kumimoji="0" lang="zh-CN" altLang="en-US" sz="2500" b="1"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自主化</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方向发展</a:t>
            </a:r>
            <a:r>
              <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 </a:t>
            </a:r>
            <a:r>
              <a:rPr kumimoji="0" lang="zh-CN" altLang="en-US"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rPr>
              <a:t>提高国内软件行业的竞争力和创造力</a:t>
            </a:r>
            <a:endParaRPr kumimoji="0" lang="en-US" altLang="zh-CN" sz="2500" b="0" i="0" u="none" strike="noStrike" kern="1200" cap="none" spc="0" normalizeH="0" baseline="0" noProof="0" dirty="0" smtClean="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en-US" altLang="zh-CN" sz="2500" b="1" i="0" u="none" strike="noStrike" kern="1200" cap="none" spc="-74" normalizeH="0" baseline="0" noProof="0" dirty="0">
              <a:ln>
                <a:noFill/>
              </a:ln>
              <a:solidFill>
                <a:prstClr val="black"/>
              </a:solidFill>
              <a:effectLst/>
              <a:uLnTx/>
              <a:uFillTx/>
              <a:latin typeface="微软雅黑" charset="0"/>
              <a:ea typeface="微软雅黑" charset="0"/>
              <a:cs typeface="+mn-cs"/>
              <a:sym typeface="+mn-ea"/>
            </a:endParaRP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endParaRPr kumimoji="0" lang="zh-CN" altLang="en-US" sz="2500" b="0" i="0" u="none" strike="noStrike" kern="1200" cap="none" spc="-74" normalizeH="0" baseline="0" noProof="0" dirty="0">
              <a:ln>
                <a:noFill/>
              </a:ln>
              <a:solidFill>
                <a:prstClr val="black"/>
              </a:solidFill>
              <a:effectLst/>
              <a:uLnTx/>
              <a:uFillTx/>
              <a:latin typeface="微软雅黑" charset="0"/>
              <a:ea typeface="微软雅黑" charset="0"/>
              <a:cs typeface="+mn-cs"/>
              <a:sym typeface="+mn-ea"/>
            </a:endParaRPr>
          </a:p>
        </p:txBody>
      </p:sp>
    </p:spTree>
    <p:extLst>
      <p:ext uri="{BB962C8B-B14F-4D97-AF65-F5344CB8AC3E}">
        <p14:creationId xmlns:p14="http://schemas.microsoft.com/office/powerpoint/2010/main" val="396708443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等腰三角形 6"/>
          <p:cNvSpPr>
            <a:spLocks noChangeArrowheads="1"/>
          </p:cNvSpPr>
          <p:nvPr/>
        </p:nvSpPr>
        <p:spPr bwMode="auto">
          <a:xfrm>
            <a:off x="12700" y="5899150"/>
            <a:ext cx="1177925" cy="1016000"/>
          </a:xfrm>
          <a:prstGeom prst="triangle">
            <a:avLst>
              <a:gd name="adj" fmla="val 50000"/>
            </a:avLst>
          </a:prstGeom>
          <a:noFill/>
          <a:ln w="12700">
            <a:solidFill>
              <a:srgbClr val="B2AD4E"/>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22530" name="等腰三角形 7"/>
          <p:cNvSpPr>
            <a:spLocks noChangeArrowheads="1"/>
          </p:cNvSpPr>
          <p:nvPr/>
        </p:nvSpPr>
        <p:spPr bwMode="auto">
          <a:xfrm>
            <a:off x="4260850" y="5264150"/>
            <a:ext cx="1871663" cy="1612900"/>
          </a:xfrm>
          <a:prstGeom prst="triangle">
            <a:avLst>
              <a:gd name="adj" fmla="val 50000"/>
            </a:avLst>
          </a:prstGeom>
          <a:noFill/>
          <a:ln w="28575">
            <a:solidFill>
              <a:srgbClr val="707029"/>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sp>
        <p:nvSpPr>
          <p:cNvPr id="22531" name="等腰三角形 8"/>
          <p:cNvSpPr>
            <a:spLocks noChangeArrowheads="1"/>
          </p:cNvSpPr>
          <p:nvPr/>
        </p:nvSpPr>
        <p:spPr bwMode="auto">
          <a:xfrm>
            <a:off x="3625850" y="5637213"/>
            <a:ext cx="1441450" cy="1243012"/>
          </a:xfrm>
          <a:prstGeom prst="triangle">
            <a:avLst>
              <a:gd name="adj" fmla="val 50000"/>
            </a:avLst>
          </a:prstGeom>
          <a:noFill/>
          <a:ln w="19050">
            <a:solidFill>
              <a:srgbClr val="0498A5"/>
            </a:solidFill>
            <a:bevel/>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22532" name="图片 9"/>
          <p:cNvPicPr>
            <a:picLocks noChangeAspect="1" noChangeArrowheads="1"/>
          </p:cNvPicPr>
          <p:nvPr/>
        </p:nvPicPr>
        <p:blipFill>
          <a:blip r:embed="rId2">
            <a:extLst>
              <a:ext uri="{28A0092B-C50C-407E-A947-70E740481C1C}">
                <a14:useLocalDpi xmlns:a14="http://schemas.microsoft.com/office/drawing/2010/main" val="0"/>
              </a:ext>
            </a:extLst>
          </a:blip>
          <a:srcRect t="5646"/>
          <a:stretch>
            <a:fillRect/>
          </a:stretch>
        </p:blipFill>
        <p:spPr bwMode="auto">
          <a:xfrm>
            <a:off x="9334500" y="0"/>
            <a:ext cx="202882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等腰三角形 10"/>
          <p:cNvSpPr>
            <a:spLocks noChangeArrowheads="1"/>
          </p:cNvSpPr>
          <p:nvPr/>
        </p:nvSpPr>
        <p:spPr bwMode="auto">
          <a:xfrm flipV="1">
            <a:off x="9304338" y="0"/>
            <a:ext cx="1125537" cy="873125"/>
          </a:xfrm>
          <a:prstGeom prst="triangle">
            <a:avLst>
              <a:gd name="adj" fmla="val 50000"/>
            </a:avLst>
          </a:prstGeom>
          <a:solidFill>
            <a:srgbClr val="2A555B"/>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en-US">
              <a:solidFill>
                <a:srgbClr val="FFFFFF"/>
              </a:solidFill>
              <a:latin typeface="等线" panose="02010600030101010101" pitchFamily="2" charset="-122"/>
              <a:sym typeface="等线" panose="02010600030101010101" pitchFamily="2" charset="-122"/>
            </a:endParaRPr>
          </a:p>
        </p:txBody>
      </p:sp>
      <p:pic>
        <p:nvPicPr>
          <p:cNvPr id="22534" name="图片 4"/>
          <p:cNvPicPr>
            <a:picLocks noChangeAspect="1" noChangeArrowheads="1"/>
          </p:cNvPicPr>
          <p:nvPr/>
        </p:nvPicPr>
        <p:blipFill>
          <a:blip r:embed="rId3">
            <a:extLst>
              <a:ext uri="{28A0092B-C50C-407E-A947-70E740481C1C}">
                <a14:useLocalDpi xmlns:a14="http://schemas.microsoft.com/office/drawing/2010/main" val="0"/>
              </a:ext>
            </a:extLst>
          </a:blip>
          <a:srcRect l="29390" t="11908"/>
          <a:stretch>
            <a:fillRect/>
          </a:stretch>
        </p:blipFill>
        <p:spPr bwMode="auto">
          <a:xfrm>
            <a:off x="0" y="0"/>
            <a:ext cx="40386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535" name="组合 14"/>
          <p:cNvGrpSpPr>
            <a:grpSpLocks/>
          </p:cNvGrpSpPr>
          <p:nvPr/>
        </p:nvGrpSpPr>
        <p:grpSpPr bwMode="auto">
          <a:xfrm>
            <a:off x="4052888" y="2139950"/>
            <a:ext cx="7040562" cy="1722438"/>
            <a:chOff x="0" y="0"/>
            <a:chExt cx="7041147" cy="1723549"/>
          </a:xfrm>
        </p:grpSpPr>
        <p:sp>
          <p:nvSpPr>
            <p:cNvPr id="22536" name="文本框 12"/>
            <p:cNvSpPr>
              <a:spLocks noChangeArrowheads="1"/>
            </p:cNvSpPr>
            <p:nvPr/>
          </p:nvSpPr>
          <p:spPr bwMode="auto">
            <a:xfrm>
              <a:off x="0" y="0"/>
              <a:ext cx="560277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en-US" altLang="zh-CN" sz="6000" b="1" dirty="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THANK YOU</a:t>
              </a:r>
              <a:endParaRPr lang="zh-CN" altLang="en-US" sz="6000" b="1" dirty="0">
                <a:solidFill>
                  <a:srgbClr val="2A555B"/>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22537" name="文本框 13"/>
            <p:cNvSpPr>
              <a:spLocks noChangeArrowheads="1"/>
            </p:cNvSpPr>
            <p:nvPr/>
          </p:nvSpPr>
          <p:spPr bwMode="auto">
            <a:xfrm>
              <a:off x="0" y="1015663"/>
              <a:ext cx="704114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r>
                <a:rPr lang="en-US" altLang="zh-CN" sz="4000" dirty="0">
                  <a:solidFill>
                    <a:srgbClr val="707029"/>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FOR YOUR WATCHING</a:t>
              </a:r>
              <a:endParaRPr lang="zh-CN" altLang="en-US" sz="4000" dirty="0">
                <a:solidFill>
                  <a:srgbClr val="707029"/>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
      <a:majorFont>
        <a:latin typeface="等线 Light"/>
        <a:ea typeface="等线 Light"/>
        <a:cs typeface=""/>
      </a:majorFont>
      <a:minorFont>
        <a:latin typeface="等线"/>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1989</TotalTime>
  <Pages>0</Pages>
  <Words>6192</Words>
  <Characters>0</Characters>
  <Application>Microsoft Office PowerPoint</Application>
  <PresentationFormat>宽屏</PresentationFormat>
  <Lines>0</Lines>
  <Paragraphs>417</Paragraphs>
  <Slides>66</Slides>
  <Notes>26</Notes>
  <HiddenSlides>1</HiddenSlides>
  <MMClips>0</MMClips>
  <ScaleCrop>false</ScaleCrop>
  <HeadingPairs>
    <vt:vector size="6" baseType="variant">
      <vt:variant>
        <vt:lpstr>已用的字体</vt:lpstr>
      </vt:variant>
      <vt:variant>
        <vt:i4>16</vt:i4>
      </vt:variant>
      <vt:variant>
        <vt:lpstr>主题</vt:lpstr>
      </vt:variant>
      <vt:variant>
        <vt:i4>4</vt:i4>
      </vt:variant>
      <vt:variant>
        <vt:lpstr>幻灯片标题</vt:lpstr>
      </vt:variant>
      <vt:variant>
        <vt:i4>66</vt:i4>
      </vt:variant>
    </vt:vector>
  </HeadingPairs>
  <TitlesOfParts>
    <vt:vector size="86" baseType="lpstr">
      <vt:lpstr>Adobe 宋体 Std L</vt:lpstr>
      <vt:lpstr>等线</vt:lpstr>
      <vt:lpstr>等线 Light</vt:lpstr>
      <vt:lpstr>冬青黑体简体中文 W3</vt:lpstr>
      <vt:lpstr>方正黑体简体</vt:lpstr>
      <vt:lpstr>方正兰亭粗黑_GBK</vt:lpstr>
      <vt:lpstr>方正兰亭黑_YS_GB18030</vt:lpstr>
      <vt:lpstr>方正兰亭黑简体</vt:lpstr>
      <vt:lpstr>汉仪南宫体简</vt:lpstr>
      <vt:lpstr>经典繁毛楷</vt:lpstr>
      <vt:lpstr>宋体</vt:lpstr>
      <vt:lpstr>微软雅黑</vt:lpstr>
      <vt:lpstr>Arial</vt:lpstr>
      <vt:lpstr>Calibri</vt:lpstr>
      <vt:lpstr>Calibri Light</vt:lpstr>
      <vt:lpstr>Wingdings</vt:lpstr>
      <vt:lpstr>Office 主题​​</vt:lpstr>
      <vt:lpstr>Office 主题</vt:lpstr>
      <vt:lpstr>1_Office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ISO是什么？</vt:lpstr>
      <vt:lpstr>PowerPoint 演示文稿</vt:lpstr>
      <vt:lpstr>PowerPoint 演示文稿</vt:lpstr>
      <vt:lpstr>ISO的组成结构是什么样的？</vt:lpstr>
      <vt:lpstr>PowerPoint 演示文稿</vt:lpstr>
      <vt:lpstr>PowerPoint 演示文稿</vt:lpstr>
      <vt:lpstr>ISO全体大会包含哪几种成员？</vt:lpstr>
      <vt:lpstr>技术委员会是做什么？</vt:lpstr>
      <vt:lpstr>中央秘书处的工作是什么？</vt:lpstr>
      <vt:lpstr>PowerPoint 演示文稿</vt:lpstr>
      <vt:lpstr>ISO标准是怎样开发的？(1)</vt:lpstr>
      <vt:lpstr>ISO标准是怎样开发的？(2)</vt:lpstr>
      <vt:lpstr>PowerPoint 演示文稿</vt:lpstr>
      <vt:lpstr>PowerPoint 演示文稿</vt:lpstr>
      <vt:lpstr>PowerPoint 演示文稿</vt:lpstr>
      <vt:lpstr>PowerPoint 演示文稿</vt:lpstr>
      <vt:lpstr>ISO9000系列标准包括什么？</vt:lpstr>
      <vt:lpstr>什么是QMS?(1)</vt:lpstr>
      <vt:lpstr>什么是QMS?(2)</vt:lpstr>
      <vt:lpstr>什么是QMS?(2)</vt:lpstr>
      <vt:lpstr>什么是QMS?(3)</vt:lpstr>
      <vt:lpstr>PowerPoint 演示文稿</vt:lpstr>
      <vt:lpstr>组织为什么需要ISO9000？</vt:lpstr>
      <vt:lpstr>组织为什么需要ISO9000？</vt:lpstr>
      <vt:lpstr>PowerPoint 演示文稿</vt:lpstr>
      <vt:lpstr>PowerPoint 演示文稿</vt:lpstr>
      <vt:lpstr>PowerPoint 演示文稿</vt:lpstr>
      <vt:lpstr>ISO认证 </vt:lpstr>
      <vt:lpstr>ISO认证的重要性体现在哪里？</vt:lpstr>
      <vt:lpstr>ISO认证的重要性体现在哪里？</vt:lpstr>
      <vt:lpstr>ISO认证的重要性体现在哪里？</vt:lpstr>
      <vt:lpstr>怎么为ISO认证做准备？</vt:lpstr>
      <vt:lpstr>怎么为ISO认证做准备？</vt:lpstr>
      <vt:lpstr>为什么要内部审计？</vt:lpstr>
      <vt:lpstr>如何进行内部审计？</vt:lpstr>
      <vt:lpstr>认证、评估和审计有什么区别？</vt:lpstr>
      <vt:lpstr>评估和审计有哪些类型？</vt:lpstr>
      <vt:lpstr>评估/审计准备如何进行？</vt:lpstr>
      <vt:lpstr>评估过程是怎样的？</vt:lpstr>
      <vt:lpstr>评估过程是怎样的？</vt:lpstr>
      <vt:lpstr>ISO咨询与服务 </vt:lpstr>
      <vt:lpstr>他们可以提供什么服务？</vt:lpstr>
      <vt:lpstr>咨询服务类型有哪些？</vt:lpstr>
      <vt:lpstr>我们为什么需要一个顾问？</vt:lpstr>
      <vt:lpstr>我们为什么需要一个顾问？</vt:lpstr>
      <vt:lpstr>雇佣一个顾问需要注意什么？</vt:lpstr>
      <vt:lpstr>顾问的具体作用有什么？</vt:lpstr>
      <vt:lpstr>与ISO顾问联系的几个阶段？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http://www.ypppt.com/</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优品PPT</dc:creator>
  <cp:keywords>http:/www.ypppt.com</cp:keywords>
  <dc:description>http://www.ypppt.com/</dc:description>
  <cp:lastModifiedBy>nie</cp:lastModifiedBy>
  <cp:revision>78</cp:revision>
  <dcterms:created xsi:type="dcterms:W3CDTF">2016-03-26T06:20:00Z</dcterms:created>
  <dcterms:modified xsi:type="dcterms:W3CDTF">2020-06-29T06:05:58Z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2052-10.1.0.5975</vt:lpwstr>
  </property>
</Properties>
</file>