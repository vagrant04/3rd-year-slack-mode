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59" r:id="rId5"/>
    <p:sldId id="327" r:id="rId6"/>
    <p:sldId id="365" r:id="rId7"/>
    <p:sldId id="364" r:id="rId8"/>
    <p:sldId id="363" r:id="rId9"/>
    <p:sldId id="328" r:id="rId10"/>
    <p:sldId id="339" r:id="rId11"/>
    <p:sldId id="340" r:id="rId12"/>
    <p:sldId id="361" r:id="rId13"/>
    <p:sldId id="366" r:id="rId14"/>
    <p:sldId id="330" r:id="rId15"/>
    <p:sldId id="333" r:id="rId16"/>
    <p:sldId id="367" r:id="rId17"/>
    <p:sldId id="370" r:id="rId18"/>
    <p:sldId id="369" r:id="rId19"/>
    <p:sldId id="362" r:id="rId20"/>
    <p:sldId id="380" r:id="rId21"/>
    <p:sldId id="381" r:id="rId22"/>
    <p:sldId id="358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79184"/>
  </p:normalViewPr>
  <p:slideViewPr>
    <p:cSldViewPr>
      <p:cViewPr varScale="1">
        <p:scale>
          <a:sx n="139" d="100"/>
          <a:sy n="139" d="100"/>
        </p:scale>
        <p:origin x="124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0C5D3AD-95D7-0A48-B7DA-3A4E5417B79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890F2C4-9355-C944-9DEC-20DD3AFDEE1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B27362-68C6-8B4D-8CD5-5ED0DC87A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61E52A-BD17-FD44-ABA5-6EC447DDC873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0875" y="406400"/>
            <a:ext cx="5556250" cy="4167188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0875" y="406400"/>
            <a:ext cx="5556250" cy="4167188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01725" y="1431925"/>
            <a:ext cx="5154613" cy="38655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文本占位符 2"/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软件经过三个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发展阶段，从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软硬一体化阶段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产品化、产业化阶段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，再到目前的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“网络化、服务化阶段”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。服务化已经成为互联网环境下软件应用的新形式。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73F61C-4AE6-3D44-8483-0B44E075685B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质世界运行，产生客观规律，这种规律不以人的意志为转移，与人没有产生直接关系，更不能为人所用；若要利用，需要人类通过种种方式去认知这个世界；人类在认知世界过程中，将接收到的大量的数据、信息转化成为知识；将知识进行形式化和结构化的抽象，形成模型；将模型演化为解决问题的方法、流程、策略等，并对一定规范的输入，在有限时间内给出所要求的输出，形成算法；将算法用代码来表达；进而将代码形成软件；人们通过使用软件，发挥软件“赋能”“赋值”“赋智”作用优化物质世界的运行；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90F2C4-9355-C944-9DEC-20DD3AFDEE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336A0-7412-F64A-80F9-C005F309627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8C172-961F-7946-BAAA-979A8AAE033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C4469-E77B-4C42-89A2-BD829B39BF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E6284-6755-AD41-A8D4-6F867C6D8B6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F07F4-93E0-914B-9A02-CE6C47BAD1C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DDA5C-4B2E-9344-B948-850BE4FCAC9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8F15D-168B-984C-A62B-FCC113FBE4F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966D1-8D3D-2141-970C-7DE3E484C8C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64FE8-B8AE-ED4B-A9CE-79CFC479502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20EE4-EBEC-F442-9314-62B89C76EEC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12788-4BB8-894B-8135-4578E19EC60F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DE1F5-A9CF-464D-BE9B-E48DF39F4B5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D8781-FE5A-F144-A00A-064DD0C5048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E8114-1B96-F24E-9A8F-3CC99F5E31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83133-D164-7D47-9B4B-ABD9B87A9BA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54C3E-CB05-D641-8793-6C564DF4A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9DC4BC-DCB0-DD41-8989-47674F646D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69824-C334-A244-86A2-6409FD0031B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177AA-EE7F-A042-9B48-58D72E63B6C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AD488-74BF-EB40-A60F-ADBFC35AC3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6CA8D-6029-A44F-AE6B-CA37ADE5BDB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F0BA4-9483-8F4E-9199-C0D7EE02FC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88A2A-A2CE-5643-BA59-A0A4C3AE313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6186F6-66D1-744C-94EA-F4D8C9CF3CE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3270EF1-394D-DA4D-8DFB-632B03F5EAB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ctrTitle"/>
          </p:nvPr>
        </p:nvSpPr>
        <p:spPr>
          <a:xfrm>
            <a:off x="685800" y="1484313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/>
              <a:t>软件是什么？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775" y="4437063"/>
            <a:ext cx="791845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/>
              <a:t>Department of Computer science and Technology</a:t>
            </a: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/>
              <a:t>Nanjing University</a:t>
            </a: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/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软件定义</a:t>
            </a:r>
            <a:endParaRPr lang="en-US" altLang="zh-CN" dirty="0"/>
          </a:p>
          <a:p>
            <a:r>
              <a:rPr lang="zh-CN" altLang="en-US" dirty="0"/>
              <a:t>软件特征</a:t>
            </a:r>
            <a:endParaRPr lang="en-US" altLang="zh-CN" dirty="0"/>
          </a:p>
          <a:p>
            <a:r>
              <a:rPr lang="zh-CN" altLang="en-US" dirty="0"/>
              <a:t>软件简史</a:t>
            </a:r>
            <a:endParaRPr lang="en-US" altLang="zh-CN" dirty="0"/>
          </a:p>
          <a:p>
            <a:r>
              <a:rPr lang="zh-CN" altLang="en-US" dirty="0"/>
              <a:t>软件的分类</a:t>
            </a:r>
            <a:endParaRPr lang="en-US" altLang="zh-CN" dirty="0"/>
          </a:p>
          <a:p>
            <a:r>
              <a:rPr lang="zh-CN" altLang="en-US" dirty="0"/>
              <a:t>软件的未来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91F61D-3303-3A45-9882-BED9CAA66473}" type="slidenum">
              <a:rPr lang="en-US" altLang="zh-CN" sz="1200" smtClean="0">
                <a:solidFill>
                  <a:srgbClr val="898989"/>
                </a:solidFill>
              </a:rPr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软件是什么？</a:t>
            </a:r>
            <a:endParaRPr lang="zh-CN" altLang="en-US"/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zh-CN" dirty="0"/>
              <a:t>IEEE </a:t>
            </a:r>
            <a:r>
              <a:rPr lang="zh-CN" altLang="en-US" dirty="0"/>
              <a:t>对软件的定义如下：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软件是</a:t>
            </a:r>
            <a:r>
              <a:rPr lang="zh-CN" altLang="en-US" dirty="0">
                <a:solidFill>
                  <a:srgbClr val="0070C0"/>
                </a:solidFill>
              </a:rPr>
              <a:t>计算机程序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70C0"/>
                </a:solidFill>
              </a:rPr>
              <a:t>规程</a:t>
            </a:r>
            <a:r>
              <a:rPr lang="zh-CN" altLang="en-US" dirty="0"/>
              <a:t>以及可能的相关</a:t>
            </a:r>
            <a:r>
              <a:rPr lang="zh-CN" altLang="en-US" dirty="0">
                <a:solidFill>
                  <a:srgbClr val="0070C0"/>
                </a:solidFill>
              </a:rPr>
              <a:t>文档</a:t>
            </a:r>
            <a:r>
              <a:rPr lang="zh-CN" altLang="en-US" dirty="0"/>
              <a:t>和运行计算机系统需要的</a:t>
            </a:r>
            <a:r>
              <a:rPr lang="zh-CN" altLang="en-US" dirty="0">
                <a:solidFill>
                  <a:srgbClr val="0070C0"/>
                </a:solidFill>
              </a:rPr>
              <a:t>数据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 eaLnBrk="1" hangingPunct="1">
              <a:buNone/>
            </a:pP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/>
              <a:t>软件 </a:t>
            </a:r>
            <a:r>
              <a:rPr lang="en-US" altLang="zh-CN" dirty="0"/>
              <a:t>=</a:t>
            </a:r>
            <a:r>
              <a:rPr lang="zh-CN" altLang="en-US" dirty="0"/>
              <a:t> 程序</a:t>
            </a:r>
            <a:r>
              <a:rPr lang="en-US" altLang="zh-CN" dirty="0"/>
              <a:t> + </a:t>
            </a:r>
            <a:r>
              <a:rPr lang="zh-CN" altLang="en-US" dirty="0"/>
              <a:t>文档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/>
              <a:t>程序 </a:t>
            </a:r>
            <a:r>
              <a:rPr lang="en-US" altLang="zh-CN" dirty="0"/>
              <a:t>=</a:t>
            </a:r>
            <a:r>
              <a:rPr lang="zh-CN" altLang="en-US" dirty="0"/>
              <a:t> 算法</a:t>
            </a:r>
            <a:r>
              <a:rPr lang="en-US" altLang="zh-CN" dirty="0"/>
              <a:t> + </a:t>
            </a:r>
            <a:r>
              <a:rPr lang="zh-CN" altLang="en-US" dirty="0"/>
              <a:t>数据结构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算法是利用计算机解决问题的步骤，是知识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数据结构是信息在计算机内的表示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软件作为“解决方案”</a:t>
            </a:r>
            <a:endParaRPr lang="zh-CN" altLang="en-US"/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软件是最纯粹的“人工制品”</a:t>
            </a:r>
            <a:endParaRPr lang="en-US" altLang="zh-CN" dirty="0"/>
          </a:p>
          <a:p>
            <a:pPr lvl="1"/>
            <a:r>
              <a:rPr lang="en-US" altLang="zh-CN" dirty="0"/>
              <a:t>H. A. Simon: </a:t>
            </a:r>
            <a:r>
              <a:rPr lang="en-GB" altLang="zh-CN" dirty="0"/>
              <a:t>The Sciences of the Artificial </a:t>
            </a:r>
            <a:endParaRPr lang="en-US" altLang="zh-CN" dirty="0"/>
          </a:p>
          <a:p>
            <a:pPr lvl="1"/>
            <a:r>
              <a:rPr lang="zh-CN" altLang="en-US" dirty="0"/>
              <a:t>其内涵特征包括三个方面</a:t>
            </a:r>
            <a:endParaRPr lang="en-US" altLang="zh-CN" dirty="0"/>
          </a:p>
          <a:p>
            <a:pPr lvl="2"/>
            <a:r>
              <a:rPr lang="zh-CN" altLang="en-US" dirty="0"/>
              <a:t>功能性</a:t>
            </a:r>
            <a:r>
              <a:rPr lang="en-US" altLang="zh-CN" dirty="0"/>
              <a:t>(functions)      </a:t>
            </a:r>
            <a:r>
              <a:rPr lang="zh-CN" altLang="en-US" dirty="0"/>
              <a:t>以何种结构和行为</a:t>
            </a:r>
            <a:endParaRPr lang="en-US" altLang="zh-CN" dirty="0"/>
          </a:p>
          <a:p>
            <a:pPr lvl="2"/>
            <a:r>
              <a:rPr lang="zh-CN" altLang="en-US" dirty="0"/>
              <a:t>目的性</a:t>
            </a:r>
            <a:r>
              <a:rPr lang="en-US" altLang="zh-CN" dirty="0"/>
              <a:t>(goals)              </a:t>
            </a:r>
            <a:r>
              <a:rPr lang="zh-CN" altLang="en-US" dirty="0"/>
              <a:t>达成什么应用目的</a:t>
            </a:r>
            <a:endParaRPr lang="en-US" altLang="zh-CN" dirty="0"/>
          </a:p>
          <a:p>
            <a:pPr lvl="2"/>
            <a:r>
              <a:rPr lang="zh-CN" altLang="en-US" dirty="0"/>
              <a:t>适应性</a:t>
            </a:r>
            <a:r>
              <a:rPr lang="en-US" altLang="zh-CN" dirty="0"/>
              <a:t>(adaptation)   </a:t>
            </a:r>
            <a:r>
              <a:rPr lang="zh-CN" altLang="en-US" dirty="0"/>
              <a:t>何种环境依赖之下</a:t>
            </a:r>
            <a:endParaRPr lang="en-US" altLang="zh-CN" dirty="0"/>
          </a:p>
          <a:p>
            <a:r>
              <a:rPr lang="zh-CN" altLang="en-US" dirty="0"/>
              <a:t>软件</a:t>
            </a:r>
            <a:r>
              <a:rPr lang="en-US" altLang="zh-CN" dirty="0"/>
              <a:t> = </a:t>
            </a:r>
            <a:r>
              <a:rPr lang="zh-CN" altLang="en-US" dirty="0"/>
              <a:t>建立于计算平台之上实现应用目标的解决方案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软件的概念（杨芙清院士）</a:t>
            </a:r>
            <a:endParaRPr lang="zh-CN" altLang="en-US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r>
              <a:rPr lang="zh-CN" altLang="en-US" dirty="0"/>
              <a:t>软件是对客观世界中问题空间与解空间的具体描述</a:t>
            </a:r>
            <a:r>
              <a:rPr lang="en-US" altLang="zh-CN" dirty="0"/>
              <a:t>, </a:t>
            </a:r>
            <a:r>
              <a:rPr lang="zh-CN" altLang="en-US" dirty="0"/>
              <a:t>是客观事物的一种反映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0070C0"/>
                </a:solidFill>
              </a:rPr>
              <a:t>是知识的提炼和“固化”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/>
              <a:t>客观世界是不断变化的</a:t>
            </a:r>
            <a:r>
              <a:rPr lang="en-US" altLang="zh-CN" dirty="0"/>
              <a:t>, </a:t>
            </a:r>
            <a:r>
              <a:rPr lang="zh-CN" altLang="en-US" dirty="0"/>
              <a:t>因此</a:t>
            </a:r>
            <a:r>
              <a:rPr lang="en-US" altLang="zh-CN" dirty="0"/>
              <a:t>, </a:t>
            </a:r>
            <a:r>
              <a:rPr lang="zh-CN" altLang="en-US" dirty="0"/>
              <a:t>构造性和演化性是软件的本质特征</a:t>
            </a:r>
            <a:endParaRPr lang="en-US" altLang="zh-CN" dirty="0"/>
          </a:p>
          <a:p>
            <a:r>
              <a:rPr lang="zh-CN" altLang="en-US" dirty="0"/>
              <a:t>如何使软件模型具有更强的表达能力、更符合人类的思维模式</a:t>
            </a:r>
            <a:r>
              <a:rPr lang="en-US" altLang="zh-CN" dirty="0"/>
              <a:t>, </a:t>
            </a:r>
            <a:r>
              <a:rPr lang="zh-CN" altLang="en-US" dirty="0"/>
              <a:t>即如何提升计算环境的抽象层次</a:t>
            </a:r>
            <a:r>
              <a:rPr lang="en-US" altLang="zh-CN" dirty="0"/>
              <a:t>, </a:t>
            </a:r>
            <a:r>
              <a:rPr lang="zh-CN" altLang="en-US" dirty="0"/>
              <a:t>在一定意义上来讲</a:t>
            </a:r>
            <a:r>
              <a:rPr lang="en-US" altLang="zh-CN" dirty="0"/>
              <a:t>, </a:t>
            </a:r>
            <a:r>
              <a:rPr lang="zh-CN" altLang="en-US" dirty="0"/>
              <a:t>这紧紧围绕了软件的本质特征</a:t>
            </a:r>
            <a:r>
              <a:rPr lang="en-US" altLang="zh-CN" dirty="0"/>
              <a:t> — </a:t>
            </a:r>
            <a:r>
              <a:rPr lang="zh-CN" altLang="en-US" dirty="0"/>
              <a:t>构造性和演化性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软件的概念（吕建院士）</a:t>
            </a:r>
            <a:endParaRPr lang="zh-CN" altLang="en-US"/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什么样？</a:t>
            </a:r>
            <a:r>
              <a:rPr lang="zh-CN" altLang="en-US" b="1" dirty="0"/>
              <a:t>软件</a:t>
            </a:r>
            <a:r>
              <a:rPr lang="en-US" altLang="zh-CN" b="1" dirty="0"/>
              <a:t> = </a:t>
            </a:r>
            <a:r>
              <a:rPr lang="zh-CN" altLang="en-US" b="1" dirty="0"/>
              <a:t>程序</a:t>
            </a:r>
            <a:r>
              <a:rPr lang="en-US" altLang="zh-CN" b="1" dirty="0"/>
              <a:t> + </a:t>
            </a:r>
            <a:r>
              <a:rPr lang="zh-CN" altLang="en-US" b="1" dirty="0"/>
              <a:t>文档</a:t>
            </a:r>
            <a:endParaRPr lang="en-US" altLang="zh-CN" b="1" dirty="0"/>
          </a:p>
          <a:p>
            <a:pPr lvl="1"/>
            <a:r>
              <a:rPr lang="zh-CN" altLang="en-US" dirty="0"/>
              <a:t>平台空间</a:t>
            </a:r>
            <a:endParaRPr lang="en-US" altLang="zh-CN" dirty="0"/>
          </a:p>
          <a:p>
            <a:r>
              <a:rPr lang="zh-CN" altLang="en-US" dirty="0"/>
              <a:t>含什么？</a:t>
            </a:r>
            <a:r>
              <a:rPr lang="zh-CN" altLang="en-US" b="1" dirty="0"/>
              <a:t>软件</a:t>
            </a:r>
            <a:r>
              <a:rPr lang="en-US" altLang="zh-CN" b="1" dirty="0"/>
              <a:t> = </a:t>
            </a:r>
            <a:r>
              <a:rPr lang="zh-CN" altLang="en-US" b="1" dirty="0"/>
              <a:t>知识</a:t>
            </a:r>
            <a:r>
              <a:rPr lang="en-US" altLang="zh-CN" b="1" dirty="0"/>
              <a:t> + </a:t>
            </a:r>
            <a:r>
              <a:rPr lang="zh-CN" altLang="en-US" b="1" dirty="0"/>
              <a:t>使用</a:t>
            </a:r>
            <a:endParaRPr lang="en-US" altLang="zh-CN" b="1" dirty="0"/>
          </a:p>
          <a:p>
            <a:pPr lvl="1"/>
            <a:r>
              <a:rPr lang="zh-CN" altLang="en-US" dirty="0"/>
              <a:t>认知空间</a:t>
            </a:r>
            <a:endParaRPr lang="en-US" altLang="zh-CN" dirty="0"/>
          </a:p>
          <a:p>
            <a:r>
              <a:rPr lang="zh-CN" altLang="en-US" dirty="0"/>
              <a:t>做什么？</a:t>
            </a:r>
            <a:r>
              <a:rPr lang="zh-CN" altLang="en-US" b="1" dirty="0"/>
              <a:t>软件</a:t>
            </a:r>
            <a:r>
              <a:rPr lang="en-US" altLang="zh-CN" b="1" dirty="0"/>
              <a:t> = </a:t>
            </a:r>
            <a:r>
              <a:rPr lang="zh-CN" altLang="en-US" b="1" dirty="0"/>
              <a:t>服务</a:t>
            </a:r>
            <a:r>
              <a:rPr lang="en-US" altLang="zh-CN" b="1" dirty="0"/>
              <a:t> + </a:t>
            </a:r>
            <a:r>
              <a:rPr lang="zh-CN" altLang="en-US" b="1" dirty="0"/>
              <a:t>需求</a:t>
            </a:r>
            <a:endParaRPr lang="en-US" altLang="zh-CN" b="1" dirty="0"/>
          </a:p>
          <a:p>
            <a:pPr lvl="1"/>
            <a:r>
              <a:rPr lang="zh-CN" altLang="en-US" dirty="0"/>
              <a:t> 问题空间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AD213B-5039-AC41-91B5-08D8ECC71AC3}" type="slidenum">
              <a:rPr lang="en-US" altLang="zh-CN" sz="1200" smtClean="0">
                <a:solidFill>
                  <a:srgbClr val="898989"/>
                </a:solidFill>
              </a:rPr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软件的特征</a:t>
            </a:r>
            <a:endParaRPr lang="zh-CN" altLang="en-US" sz="4000"/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软件是开发产生的，而不是用传统方法制造。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软件不会像硬件一样有磨损。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很多软件不能通过已有构件组装，只能自己定义。</a:t>
            </a:r>
            <a:endParaRPr lang="zh-CN" altLang="en-US" sz="2800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软硬件特征比较</a:t>
            </a:r>
            <a:endParaRPr lang="en-US" altLang="zh-CN" sz="1900">
              <a:solidFill>
                <a:schemeClr val="accent2"/>
              </a:solidFill>
            </a:endParaRPr>
          </a:p>
        </p:txBody>
      </p:sp>
      <p:graphicFrame>
        <p:nvGraphicFramePr>
          <p:cNvPr id="1560737" name="Group 161"/>
          <p:cNvGraphicFramePr>
            <a:graphicFrameLocks noGrp="1"/>
          </p:cNvGraphicFramePr>
          <p:nvPr>
            <p:ph idx="1"/>
          </p:nvPr>
        </p:nvGraphicFramePr>
        <p:xfrm>
          <a:off x="863600" y="1916113"/>
          <a:ext cx="7653338" cy="4044760"/>
        </p:xfrm>
        <a:graphic>
          <a:graphicData uri="http://schemas.openxmlformats.org/drawingml/2006/table">
            <a:tbl>
              <a:tblPr/>
              <a:tblGrid>
                <a:gridCol w="1836192"/>
                <a:gridCol w="2736304"/>
                <a:gridCol w="3080842"/>
              </a:tblGrid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硬件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存在形式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虚拟、动态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固化、稳定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客户需求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不确定性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相对清楚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度量性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非常困难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正常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生产过程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逻辑性强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流水线、工序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逻辑关系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清楚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接口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多数简单、适中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9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维护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复杂、新的需求、可以不断打补丁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多数简单、适中、没有新的需求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软、硬件开发过程比较 </a:t>
            </a:r>
            <a:endParaRPr lang="en-US" altLang="zh-CN"/>
          </a:p>
        </p:txBody>
      </p:sp>
      <p:graphicFrame>
        <p:nvGraphicFramePr>
          <p:cNvPr id="1640690" name="Group 242"/>
          <p:cNvGraphicFramePr>
            <a:graphicFrameLocks noGrp="1"/>
          </p:cNvGraphicFramePr>
          <p:nvPr>
            <p:ph idx="1"/>
          </p:nvPr>
        </p:nvGraphicFramePr>
        <p:xfrm>
          <a:off x="611188" y="1773238"/>
          <a:ext cx="8281987" cy="4176797"/>
        </p:xfrm>
        <a:graphic>
          <a:graphicData uri="http://schemas.openxmlformats.org/drawingml/2006/table">
            <a:tbl>
              <a:tblPr/>
              <a:tblGrid>
                <a:gridCol w="2259012"/>
                <a:gridCol w="1504950"/>
                <a:gridCol w="754063"/>
                <a:gridCol w="1316037"/>
                <a:gridCol w="2447925"/>
              </a:tblGrid>
              <a:tr h="476214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硬件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49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54-56%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质量缺陷来自需求不清楚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需求分析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调研分析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质量控制的主要阶段之一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25%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质量缺陷来自设计和编程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设计、编程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设计阶段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质量控制的主要阶段之一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  试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设计审查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发  布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设计完成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这里不是软件质量管理的主要阶段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软件拷贝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制造、检验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生产的主要过程，质量控制的重点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71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不仅支持原有功能，解决以前就存在的问题，而且增加新特性、加强新功能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维  护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维  修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支持原有功能，解决运行中出现的问题，一般比较容易预测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矩形 41"/>
          <p:cNvSpPr/>
          <p:nvPr/>
        </p:nvSpPr>
        <p:spPr>
          <a:xfrm>
            <a:off x="307975" y="1281113"/>
            <a:ext cx="8507413" cy="889000"/>
          </a:xfrm>
          <a:prstGeom prst="rect">
            <a:avLst/>
          </a:prstGeom>
          <a:ln w="1905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2" name="矩形 3"/>
          <p:cNvSpPr/>
          <p:nvPr/>
        </p:nvSpPr>
        <p:spPr>
          <a:xfrm>
            <a:off x="-12700" y="1588"/>
            <a:ext cx="9167813" cy="782637"/>
          </a:xfrm>
          <a:prstGeom prst="rect">
            <a:avLst/>
          </a:prstGeom>
          <a:solidFill>
            <a:srgbClr val="02409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</a:bodyPr>
          <a:lstStyle/>
          <a:p>
            <a:pPr algn="ctr">
              <a:defRPr/>
            </a:pPr>
            <a:endParaRPr lang="zh-CN" altLang="en-US" sz="135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3" name="文本框 6"/>
          <p:cNvSpPr txBox="1"/>
          <p:nvPr/>
        </p:nvSpPr>
        <p:spPr>
          <a:xfrm>
            <a:off x="93345" y="101600"/>
            <a:ext cx="8085455" cy="58356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>
              <a:defRPr/>
            </a:pP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软件简史</a:t>
            </a:r>
            <a:endParaRPr lang="en-US" altLang="zh-CN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76" name="文本框 1"/>
          <p:cNvSpPr txBox="1">
            <a:spLocks noChangeArrowheads="1"/>
          </p:cNvSpPr>
          <p:nvPr/>
        </p:nvSpPr>
        <p:spPr bwMode="auto">
          <a:xfrm>
            <a:off x="376238" y="1311275"/>
            <a:ext cx="8532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软件的发展历经以下三个阶段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876" name=" 219"/>
          <p:cNvSpPr/>
          <p:nvPr/>
        </p:nvSpPr>
        <p:spPr>
          <a:xfrm>
            <a:off x="-12700" y="2476500"/>
            <a:ext cx="9048750" cy="13017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7" name=" 226"/>
          <p:cNvSpPr/>
          <p:nvPr/>
        </p:nvSpPr>
        <p:spPr>
          <a:xfrm rot="5400000">
            <a:off x="8787607" y="2383631"/>
            <a:ext cx="420688" cy="314325"/>
          </a:xfrm>
          <a:custGeom>
            <a:avLst/>
            <a:gdLst>
              <a:gd name="connsiteX0" fmla="*/ 1846300 w 4171682"/>
              <a:gd name="connsiteY0" fmla="*/ 0 h 3589654"/>
              <a:gd name="connsiteX1" fmla="*/ 2325378 w 4171682"/>
              <a:gd name="connsiteY1" fmla="*/ 0 h 3589654"/>
              <a:gd name="connsiteX2" fmla="*/ 4171682 w 4171682"/>
              <a:gd name="connsiteY2" fmla="*/ 3183284 h 3589654"/>
              <a:gd name="connsiteX3" fmla="*/ 3937064 w 4171682"/>
              <a:gd name="connsiteY3" fmla="*/ 3589654 h 3589654"/>
              <a:gd name="connsiteX4" fmla="*/ 234622 w 4171682"/>
              <a:gd name="connsiteY4" fmla="*/ 3589654 h 3589654"/>
              <a:gd name="connsiteX5" fmla="*/ 0 w 4171682"/>
              <a:gd name="connsiteY5" fmla="*/ 3183277 h 3589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1682" h="3589654">
                <a:moveTo>
                  <a:pt x="1846300" y="0"/>
                </a:moveTo>
                <a:lnTo>
                  <a:pt x="2325378" y="0"/>
                </a:lnTo>
                <a:lnTo>
                  <a:pt x="4171682" y="3183284"/>
                </a:lnTo>
                <a:lnTo>
                  <a:pt x="3937064" y="3589654"/>
                </a:lnTo>
                <a:lnTo>
                  <a:pt x="234622" y="3589654"/>
                </a:lnTo>
                <a:lnTo>
                  <a:pt x="0" y="318327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8" name=" 184"/>
          <p:cNvSpPr/>
          <p:nvPr/>
        </p:nvSpPr>
        <p:spPr>
          <a:xfrm>
            <a:off x="914400" y="2432050"/>
            <a:ext cx="209550" cy="21748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0" name="文本框 21"/>
          <p:cNvSpPr txBox="1">
            <a:spLocks noChangeArrowheads="1"/>
          </p:cNvSpPr>
          <p:nvPr/>
        </p:nvSpPr>
        <p:spPr bwMode="auto">
          <a:xfrm>
            <a:off x="347663" y="3608388"/>
            <a:ext cx="20462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软硬一体化阶段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80" name=" 184"/>
          <p:cNvSpPr/>
          <p:nvPr/>
        </p:nvSpPr>
        <p:spPr>
          <a:xfrm>
            <a:off x="4110038" y="2433638"/>
            <a:ext cx="209550" cy="21590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81" name=" 184"/>
          <p:cNvSpPr/>
          <p:nvPr/>
        </p:nvSpPr>
        <p:spPr>
          <a:xfrm>
            <a:off x="7162800" y="2433638"/>
            <a:ext cx="209550" cy="21590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3" name="文本框 12"/>
          <p:cNvSpPr txBox="1">
            <a:spLocks noChangeArrowheads="1"/>
          </p:cNvSpPr>
          <p:nvPr/>
        </p:nvSpPr>
        <p:spPr bwMode="auto">
          <a:xfrm>
            <a:off x="3157538" y="3629025"/>
            <a:ext cx="25320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产品化、产业化阶段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4" name="文本框 15"/>
          <p:cNvSpPr txBox="1">
            <a:spLocks noChangeArrowheads="1"/>
          </p:cNvSpPr>
          <p:nvPr/>
        </p:nvSpPr>
        <p:spPr bwMode="auto">
          <a:xfrm>
            <a:off x="6289675" y="3629025"/>
            <a:ext cx="25511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网络化、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服务化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5" name="文本框 2"/>
          <p:cNvSpPr txBox="1">
            <a:spLocks noChangeArrowheads="1"/>
          </p:cNvSpPr>
          <p:nvPr/>
        </p:nvSpPr>
        <p:spPr bwMode="auto">
          <a:xfrm>
            <a:off x="307975" y="2940050"/>
            <a:ext cx="18954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1946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1975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6" name="文本框 4"/>
          <p:cNvSpPr txBox="1">
            <a:spLocks noChangeArrowheads="1"/>
          </p:cNvSpPr>
          <p:nvPr/>
        </p:nvSpPr>
        <p:spPr bwMode="auto">
          <a:xfrm>
            <a:off x="3587750" y="2940050"/>
            <a:ext cx="17653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1975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7" name="文本框 5"/>
          <p:cNvSpPr txBox="1">
            <a:spLocks noChangeArrowheads="1"/>
          </p:cNvSpPr>
          <p:nvPr/>
        </p:nvSpPr>
        <p:spPr bwMode="auto">
          <a:xfrm>
            <a:off x="6683375" y="2940050"/>
            <a:ext cx="17653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1995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688" name="图片 9" descr="ibm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4451350"/>
            <a:ext cx="2554287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9" name="图片 10" descr="mirosof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133975"/>
            <a:ext cx="23876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0" name="图片 11" descr="orac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88" y="4340225"/>
            <a:ext cx="213042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1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4340225"/>
            <a:ext cx="2543175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2825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The History of Software Infographi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-46832838"/>
            <a:ext cx="9129712" cy="5933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A5FEE5-2D38-2F4D-AD28-25C4EC59DD69}" type="slidenum">
              <a:rPr lang="en-US" altLang="zh-CN" sz="1200" smtClean="0">
                <a:solidFill>
                  <a:srgbClr val="898989"/>
                </a:solidFill>
              </a:rPr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软件分类</a:t>
            </a:r>
            <a:endParaRPr lang="zh-CN" altLang="en-US"/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当前的计算机软件分为七个大类，使得软件工程正面临持续的挑战：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系统软件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应用软件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Web</a:t>
            </a:r>
            <a:r>
              <a:rPr lang="zh-CN" altLang="en-US" dirty="0"/>
              <a:t>应用软件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工程和科学软件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嵌入式软件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产品线软件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人工智能软件 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1B52E8-1617-FB40-B492-C090914E7DF2}" type="slidenum">
              <a:rPr lang="en-US" altLang="zh-CN" sz="1200" smtClean="0">
                <a:solidFill>
                  <a:srgbClr val="898989"/>
                </a:solidFill>
              </a:rPr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软件过程、软件方法和软件工具 </a:t>
            </a:r>
            <a:endParaRPr lang="zh-CN" altLang="en-US" sz="4000"/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95600"/>
            <a:ext cx="8686800" cy="257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软件的未来</a:t>
            </a:r>
            <a:endParaRPr lang="zh-CN" altLang="en-US" dirty="0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05523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知识社会</a:t>
            </a:r>
            <a:r>
              <a:rPr lang="zh-CN" altLang="en-US" sz="2800" dirty="0"/>
              <a:t>：知识将由工业社会中的非独立性生产要素变成独立性生产要素；知识将超越资本，成为推动社会发展的重要资源。</a:t>
            </a:r>
            <a:endParaRPr lang="en-US" altLang="zh-CN" sz="2800" dirty="0"/>
          </a:p>
          <a:p>
            <a:pPr marL="0" indent="0" eaLnBrk="1" hangingPunct="1">
              <a:spcBef>
                <a:spcPts val="1270"/>
              </a:spcBef>
              <a:buNone/>
            </a:pPr>
            <a:r>
              <a:rPr lang="zh-CN" altLang="en-US" sz="2800" dirty="0"/>
              <a:t>知识是未来的“生产资料”，而软件作为知识的载体，将改变所有产业，并成为所有行业运行的基础设施。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大数据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云计算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人工智能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物联网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区块链</a:t>
            </a:r>
            <a:endParaRPr lang="en-US" altLang="zh-CN" sz="2400" dirty="0"/>
          </a:p>
          <a:p>
            <a:pPr marL="0" indent="0" eaLnBrk="1" hangingPunct="1">
              <a:buNone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078" y="1844824"/>
            <a:ext cx="5453843" cy="4869160"/>
          </a:xfrm>
          <a:prstGeom prst="rect">
            <a:avLst/>
          </a:prstGeom>
        </p:spPr>
      </p:pic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软件的未来</a:t>
            </a:r>
            <a:endParaRPr lang="zh-CN" altLang="en-US" dirty="0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zh-CN" altLang="en-US" dirty="0"/>
              <a:t>物理运行 </a:t>
            </a:r>
            <a:r>
              <a:rPr lang="en-US" altLang="zh-CN" dirty="0"/>
              <a:t>—</a:t>
            </a:r>
            <a:r>
              <a:rPr lang="zh-CN" altLang="en-US" dirty="0"/>
              <a:t> 知识 </a:t>
            </a:r>
            <a:r>
              <a:rPr lang="en-US" altLang="zh-CN" dirty="0"/>
              <a:t>—</a:t>
            </a:r>
            <a:r>
              <a:rPr lang="zh-CN" altLang="en-US" dirty="0"/>
              <a:t> 软件优化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软件的未来</a:t>
            </a:r>
            <a:endParaRPr lang="zh-CN" altLang="en-US" dirty="0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数据无处不在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信息无处不在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网络无处不在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计算无处不在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软件无处不在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>
          <a:xfrm>
            <a:off x="1216025" y="314325"/>
            <a:ext cx="6683375" cy="960438"/>
          </a:xfrm>
        </p:spPr>
        <p:txBody>
          <a:bodyPr/>
          <a:lstStyle/>
          <a:p>
            <a:r>
              <a:rPr lang="zh-CN" altLang="en-US" dirty="0"/>
              <a:t>软件的未来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5150" y="1484313"/>
            <a:ext cx="5599113" cy="265588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4140200"/>
            <a:ext cx="58039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4932363"/>
            <a:ext cx="592455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18134" y="1687513"/>
            <a:ext cx="738187" cy="424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定义实现一切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7809929" y="1706563"/>
            <a:ext cx="738187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度量保障未来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3" name="文本框 2"/>
          <p:cNvSpPr txBox="1">
            <a:spLocks noChangeArrowheads="1"/>
          </p:cNvSpPr>
          <p:nvPr/>
        </p:nvSpPr>
        <p:spPr bwMode="auto">
          <a:xfrm>
            <a:off x="107950" y="6237288"/>
            <a:ext cx="8964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软件无处不在，软件定义一切，软件使能一切，软件智能化（智能软件）时代即将到来</a:t>
            </a:r>
            <a:endParaRPr lang="zh-CN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6285" y="-635"/>
            <a:ext cx="7877175" cy="71539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4995" y="0"/>
            <a:ext cx="8369935" cy="72218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思考题</a:t>
            </a:r>
            <a:endParaRPr lang="zh-CN" altLang="en-US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什么是软件？</a:t>
            </a:r>
            <a:endParaRPr lang="en-US" altLang="zh-CN"/>
          </a:p>
          <a:p>
            <a:pPr eaLnBrk="1" hangingPunct="1"/>
            <a:r>
              <a:rPr lang="zh-CN" altLang="en-US"/>
              <a:t>列举并评论若干身边的软件</a:t>
            </a:r>
            <a:endParaRPr lang="en-US" altLang="zh-CN"/>
          </a:p>
          <a:p>
            <a:pPr eaLnBrk="1" hangingPunct="1"/>
            <a:r>
              <a:rPr lang="zh-CN" altLang="en-US"/>
              <a:t>软件由哪些类型？</a:t>
            </a:r>
            <a:endParaRPr lang="en-US" altLang="zh-CN"/>
          </a:p>
          <a:p>
            <a:pPr eaLnBrk="1" hangingPunct="1"/>
            <a:r>
              <a:rPr lang="zh-CN" altLang="en-US"/>
              <a:t>软件未来发展趋势如何？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WPS 演示</Application>
  <PresentationFormat>全屏显示(4:3)</PresentationFormat>
  <Paragraphs>245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Times New Roman</vt:lpstr>
      <vt:lpstr>微软雅黑</vt:lpstr>
      <vt:lpstr>黑体</vt:lpstr>
      <vt:lpstr>Arial Unicode MS</vt:lpstr>
      <vt:lpstr>Office 主题</vt:lpstr>
      <vt:lpstr>软件是什么？</vt:lpstr>
      <vt:lpstr>Outline</vt:lpstr>
      <vt:lpstr>软件是什么？</vt:lpstr>
      <vt:lpstr>软件作为“解决方案”</vt:lpstr>
      <vt:lpstr>软件的概念（杨芙清院士）</vt:lpstr>
      <vt:lpstr>软件的概念（吕建院士）</vt:lpstr>
      <vt:lpstr>软件的特征</vt:lpstr>
      <vt:lpstr>软硬件特征比较</vt:lpstr>
      <vt:lpstr>软、硬件开发过程比较 </vt:lpstr>
      <vt:lpstr>PowerPoint 演示文稿</vt:lpstr>
      <vt:lpstr>PowerPoint 演示文稿</vt:lpstr>
      <vt:lpstr>软件分类</vt:lpstr>
      <vt:lpstr>软件过程、软件方法和软件工具 </vt:lpstr>
      <vt:lpstr>软件的未来</vt:lpstr>
      <vt:lpstr>软件的未来</vt:lpstr>
      <vt:lpstr>软件的未来</vt:lpstr>
      <vt:lpstr>软件的未来</vt:lpstr>
      <vt:lpstr>PowerPoint 演示文稿</vt:lpstr>
      <vt:lpstr>PowerPoint 演示文稿</vt:lpstr>
      <vt:lpstr>思考题</vt:lpstr>
    </vt:vector>
  </TitlesOfParts>
  <Company>Lenovo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assurance</dc:title>
  <dc:creator>lenovo</dc:creator>
  <cp:lastModifiedBy>Mr Nie</cp:lastModifiedBy>
  <cp:revision>158</cp:revision>
  <dcterms:created xsi:type="dcterms:W3CDTF">2015-07-09T11:29:00Z</dcterms:created>
  <dcterms:modified xsi:type="dcterms:W3CDTF">2020-09-07T03:21:27Z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