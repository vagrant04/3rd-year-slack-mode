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90" r:id="rId5"/>
    <p:sldId id="316" r:id="rId6"/>
    <p:sldId id="317" r:id="rId7"/>
    <p:sldId id="346" r:id="rId8"/>
    <p:sldId id="319" r:id="rId9"/>
    <p:sldId id="369" r:id="rId10"/>
    <p:sldId id="258" r:id="rId11"/>
    <p:sldId id="352" r:id="rId12"/>
    <p:sldId id="368" r:id="rId13"/>
    <p:sldId id="347" r:id="rId14"/>
    <p:sldId id="351" r:id="rId15"/>
    <p:sldId id="353" r:id="rId16"/>
    <p:sldId id="365" r:id="rId17"/>
    <p:sldId id="366" r:id="rId18"/>
    <p:sldId id="367" r:id="rId19"/>
    <p:sldId id="356" r:id="rId20"/>
    <p:sldId id="340" r:id="rId21"/>
    <p:sldId id="350" r:id="rId22"/>
    <p:sldId id="359" r:id="rId23"/>
    <p:sldId id="357" r:id="rId24"/>
    <p:sldId id="371" r:id="rId25"/>
    <p:sldId id="372" r:id="rId26"/>
    <p:sldId id="341" r:id="rId27"/>
    <p:sldId id="334" r:id="rId28"/>
    <p:sldId id="370" r:id="rId29"/>
    <p:sldId id="315" r:id="rId30"/>
  </p:sldIdLst>
  <p:sldSz cx="9144000" cy="6858000" type="screen4x3"/>
  <p:notesSz cx="6797675" cy="9874250"/>
  <p:defaultTextStyle>
    <a:defPPr>
      <a:defRPr lang="zh-CN"/>
    </a:defPPr>
    <a:lvl1pPr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4572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2pPr>
    <a:lvl3pPr marL="9144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3pPr>
    <a:lvl4pPr marL="13716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4pPr>
    <a:lvl5pPr marL="18288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233"/>
    <a:srgbClr val="BFBC3E"/>
    <a:srgbClr val="CCFFCC"/>
    <a:srgbClr val="FFFFCC"/>
    <a:srgbClr val="3366FF"/>
    <a:srgbClr val="FF0000"/>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90" autoAdjust="0"/>
    <p:restoredTop sz="78101"/>
  </p:normalViewPr>
  <p:slideViewPr>
    <p:cSldViewPr>
      <p:cViewPr varScale="1">
        <p:scale>
          <a:sx n="66" d="100"/>
          <a:sy n="66" d="100"/>
        </p:scale>
        <p:origin x="48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bwMode="auto">
          <a:xfrm>
            <a:off x="0" y="0"/>
            <a:ext cx="2946400" cy="493713"/>
          </a:xfrm>
          <a:prstGeom prst="rect">
            <a:avLst/>
          </a:prstGeom>
          <a:noFill/>
          <a:ln w="9525">
            <a:noFill/>
            <a:miter lim="800000"/>
          </a:ln>
          <a:effectLst/>
        </p:spPr>
        <p:txBody>
          <a:bodyPr vert="horz" wrap="square" lIns="91440" tIns="45720" rIns="91440" bIns="45720" numCol="1" anchor="t" anchorCtr="0" compatLnSpc="1"/>
          <a:lstStyle>
            <a:lvl1pPr algn="l">
              <a:defRPr sz="1200" smtClean="0">
                <a:latin typeface="Arial" panose="020B0604020202020204" pitchFamily="34" charset="0"/>
              </a:defRPr>
            </a:lvl1pPr>
          </a:lstStyle>
          <a:p>
            <a:pPr>
              <a:defRPr/>
            </a:pPr>
            <a:endParaRPr lang="en-US" altLang="zh-CN"/>
          </a:p>
        </p:txBody>
      </p:sp>
      <p:sp>
        <p:nvSpPr>
          <p:cNvPr id="209923" name="Rectangle 3"/>
          <p:cNvSpPr>
            <a:spLocks noGrp="1" noChangeArrowheads="1"/>
          </p:cNvSpPr>
          <p:nvPr>
            <p:ph type="dt" idx="1"/>
          </p:nvPr>
        </p:nvSpPr>
        <p:spPr bwMode="auto">
          <a:xfrm>
            <a:off x="3849688" y="0"/>
            <a:ext cx="2946400" cy="493713"/>
          </a:xfrm>
          <a:prstGeom prst="rect">
            <a:avLst/>
          </a:prstGeom>
          <a:noFill/>
          <a:ln w="9525">
            <a:noFill/>
            <a:miter lim="800000"/>
          </a:ln>
          <a:effectLst/>
        </p:spPr>
        <p:txBody>
          <a:bodyPr vert="horz" wrap="square" lIns="91440" tIns="45720" rIns="91440" bIns="45720" numCol="1" anchor="t" anchorCtr="0" compatLnSpc="1"/>
          <a:lstStyle>
            <a:lvl1pPr algn="r">
              <a:defRPr sz="1200" smtClean="0">
                <a:latin typeface="Arial" panose="020B0604020202020204" pitchFamily="34" charset="0"/>
              </a:defRPr>
            </a:lvl1pPr>
          </a:lstStyle>
          <a:p>
            <a:pPr>
              <a:defRPr/>
            </a:pPr>
            <a:endParaRPr lang="en-US" altLang="zh-CN"/>
          </a:p>
        </p:txBody>
      </p:sp>
      <p:sp>
        <p:nvSpPr>
          <p:cNvPr id="13316"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ln>
        </p:spPr>
      </p:sp>
      <p:sp>
        <p:nvSpPr>
          <p:cNvPr id="209925" name="Rectangle 5"/>
          <p:cNvSpPr>
            <a:spLocks noGrp="1" noChangeArrowheads="1"/>
          </p:cNvSpPr>
          <p:nvPr>
            <p:ph type="body" sz="quarter" idx="3"/>
          </p:nvPr>
        </p:nvSpPr>
        <p:spPr bwMode="auto">
          <a:xfrm>
            <a:off x="679450" y="4691063"/>
            <a:ext cx="5438775" cy="4443412"/>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9926" name="Rectangle 6"/>
          <p:cNvSpPr>
            <a:spLocks noGrp="1" noChangeArrowheads="1"/>
          </p:cNvSpPr>
          <p:nvPr>
            <p:ph type="ftr" sz="quarter" idx="4"/>
          </p:nvPr>
        </p:nvSpPr>
        <p:spPr bwMode="auto">
          <a:xfrm>
            <a:off x="0" y="9378950"/>
            <a:ext cx="2946400" cy="493713"/>
          </a:xfrm>
          <a:prstGeom prst="rect">
            <a:avLst/>
          </a:prstGeom>
          <a:noFill/>
          <a:ln w="9525">
            <a:noFill/>
            <a:miter lim="800000"/>
          </a:ln>
          <a:effectLst/>
        </p:spPr>
        <p:txBody>
          <a:bodyPr vert="horz" wrap="square" lIns="91440" tIns="45720" rIns="91440" bIns="45720" numCol="1" anchor="b" anchorCtr="0" compatLnSpc="1"/>
          <a:lstStyle>
            <a:lvl1pPr algn="l">
              <a:defRPr sz="1200" smtClean="0">
                <a:latin typeface="Arial" panose="020B0604020202020204" pitchFamily="34" charset="0"/>
              </a:defRPr>
            </a:lvl1pPr>
          </a:lstStyle>
          <a:p>
            <a:pPr>
              <a:defRPr/>
            </a:pPr>
            <a:endParaRPr lang="en-US" altLang="zh-CN"/>
          </a:p>
        </p:txBody>
      </p:sp>
      <p:sp>
        <p:nvSpPr>
          <p:cNvPr id="209927" name="Rectangle 7"/>
          <p:cNvSpPr>
            <a:spLocks noGrp="1" noChangeArrowheads="1"/>
          </p:cNvSpPr>
          <p:nvPr>
            <p:ph type="sldNum" sz="quarter" idx="5"/>
          </p:nvPr>
        </p:nvSpPr>
        <p:spPr bwMode="auto">
          <a:xfrm>
            <a:off x="3849688" y="9378950"/>
            <a:ext cx="2946400" cy="493713"/>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panose="020B0604020202020204" pitchFamily="34" charset="0"/>
              </a:defRPr>
            </a:lvl1pPr>
          </a:lstStyle>
          <a:p>
            <a:pPr>
              <a:defRPr/>
            </a:pPr>
            <a:fld id="{5B0C0944-B132-EC49-AFA3-CE6EAA48DD42}"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040C8C5-FF60-0940-9A32-6676D8855FE2}" type="slidenum">
              <a:rPr kumimoji="0" lang="en-US" altLang="zh-CN" sz="1200">
                <a:latin typeface="Arial" panose="020B0604020202020204" pitchFamily="34" charset="0"/>
              </a:rPr>
            </a:fld>
            <a:endParaRPr kumimoji="0" lang="en-US" altLang="zh-CN" sz="1200">
              <a:latin typeface="Arial" panose="020B0604020202020204" pitchFamily="34" charset="0"/>
            </a:endParaRPr>
          </a:p>
        </p:txBody>
      </p:sp>
      <p:sp>
        <p:nvSpPr>
          <p:cNvPr id="15362" name="Rectangle 2"/>
          <p:cNvSpPr>
            <a:spLocks noGrp="1" noRot="1" noChangeAspect="1" noChangeArrowheads="1" noTextEdit="1"/>
          </p:cNvSpPr>
          <p:nvPr>
            <p:ph type="sldImg"/>
          </p:nvPr>
        </p:nvSpPr>
        <p:spPr/>
      </p:sp>
      <p:sp>
        <p:nvSpPr>
          <p:cNvPr id="15363" name="Rectangle 3"/>
          <p:cNvSpPr>
            <a:spLocks noGrp="1" noChangeArrowheads="1"/>
          </p:cNvSpPr>
          <p:nvPr>
            <p:ph type="body" idx="1"/>
          </p:nvPr>
        </p:nvSpPr>
        <p:spPr>
          <a:noFill/>
        </p:spPr>
        <p:txBody>
          <a:bodyPr/>
          <a:lstStyle/>
          <a:p>
            <a:pPr eaLnBrk="1" hangingPunct="1"/>
            <a:endParaRPr kumimoji="0" lang="zh-CN" altLang="en-US">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B0C0944-B132-EC49-AFA3-CE6EAA48DD42}"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5B0C0944-B132-EC49-AFA3-CE6EAA48DD42}"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5B0C0944-B132-EC49-AFA3-CE6EAA48DD42}"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B0C0944-B132-EC49-AFA3-CE6EAA48DD42}"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ln>
        </p:spPr>
        <p:txBody>
          <a:bodyPr wrap="none" anchor="ctr"/>
          <a:lstStyle/>
          <a:p>
            <a:endParaRPr lang="zh-CN" altLang="en-US">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p:spPr>
        <p:txBody>
          <a:bodyPr wrap="none" anchor="ctr"/>
          <a:lstStyle/>
          <a:p>
            <a:endParaRPr lang="zh-CN" altLang="en-US" sz="240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p:spPr>
        <p:txBody>
          <a:bodyPr wrap="none" anchor="ctr"/>
          <a:lstStyle/>
          <a:p>
            <a:endParaRPr lang="zh-CN" altLang="en-US" sz="2400"/>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p:spPr>
      </p:pic>
      <p:pic>
        <p:nvPicPr>
          <p:cNvPr id="8" name="Picture 11" descr="NJU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2413" y="260350"/>
            <a:ext cx="2303462" cy="904875"/>
          </a:xfrm>
          <a:prstGeom prst="rect">
            <a:avLst/>
          </a:prstGeom>
          <a:noFill/>
          <a:ln>
            <a:noFill/>
          </a:ln>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9117013" cy="28575"/>
          </a:xfrm>
          <a:prstGeom prst="rect">
            <a:avLst/>
          </a:prstGeom>
          <a:noFill/>
          <a:ln>
            <a:noFill/>
          </a:ln>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a:t>单击此处编辑母版标题样式</a:t>
            </a:r>
            <a:endParaRPr lang="zh-CN" altLang="en-US"/>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pPr>
              <a:defRPr/>
            </a:pPr>
            <a:fld id="{0D6A5A5D-C0AB-9240-955F-F620E950634B}" type="datetime1">
              <a:rPr lang="zh-CN" altLang="en-US"/>
            </a:fld>
            <a:endParaRPr lang="en-US" altLang="zh-CN"/>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13" name="Rectangle 5"/>
          <p:cNvSpPr>
            <a:spLocks noGrp="1" noChangeArrowheads="1"/>
          </p:cNvSpPr>
          <p:nvPr>
            <p:ph type="sldNum" sz="quarter" idx="12"/>
          </p:nvPr>
        </p:nvSpPr>
        <p:spPr/>
        <p:txBody>
          <a:bodyPr/>
          <a:lstStyle>
            <a:lvl1pPr>
              <a:defRPr/>
            </a:lvl1pPr>
          </a:lstStyle>
          <a:p>
            <a:pPr>
              <a:defRPr/>
            </a:pPr>
            <a:fld id="{FF2D067A-F845-9D47-B75C-B79758830B91}"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077F30FB-1D90-1E40-92FD-7816B07D6DDC}"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50AC0454-A414-F04C-824A-79602E160F30}"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7"/>
          <p:cNvSpPr>
            <a:spLocks noGrp="1" noChangeArrowheads="1"/>
          </p:cNvSpPr>
          <p:nvPr>
            <p:ph type="dt" sz="half" idx="10"/>
          </p:nvPr>
        </p:nvSpPr>
        <p:spPr/>
        <p:txBody>
          <a:bodyPr/>
          <a:lstStyle>
            <a:lvl1pPr>
              <a:defRPr/>
            </a:lvl1pPr>
          </a:lstStyle>
          <a:p>
            <a:pPr>
              <a:defRPr/>
            </a:pPr>
            <a:fld id="{4C4D4937-3AAC-2F43-8620-ACFE49DEF568}"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66269295-C29F-3149-9360-87688FDF403F}"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283EEF00-B08F-3B4D-A7CE-56D6CC17061A}"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E63DF638-F973-D149-899D-B82E6CEBC740}"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fld id="{695508D3-CDD3-E542-BE08-6C1FCC6D6164}" type="datetime1">
              <a:rPr lang="zh-CN" altLang="en-US"/>
            </a:fld>
            <a:endParaRPr lang="en-US" altLang="zh-CN"/>
          </a:p>
        </p:txBody>
      </p:sp>
      <p:sp>
        <p:nvSpPr>
          <p:cNvPr id="8"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9" name="Rectangle 9"/>
          <p:cNvSpPr>
            <a:spLocks noGrp="1" noChangeArrowheads="1"/>
          </p:cNvSpPr>
          <p:nvPr>
            <p:ph type="sldNum" sz="quarter" idx="12"/>
          </p:nvPr>
        </p:nvSpPr>
        <p:spPr/>
        <p:txBody>
          <a:bodyPr/>
          <a:lstStyle>
            <a:lvl1pPr>
              <a:defRPr/>
            </a:lvl1pPr>
          </a:lstStyle>
          <a:p>
            <a:pPr>
              <a:defRPr/>
            </a:pPr>
            <a:fld id="{2C9172C2-BDF7-0E44-B517-1E11CE0887B6}"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p:txBody>
          <a:bodyPr/>
          <a:lstStyle>
            <a:lvl1pPr>
              <a:defRPr/>
            </a:lvl1pPr>
          </a:lstStyle>
          <a:p>
            <a:pPr>
              <a:defRPr/>
            </a:pPr>
            <a:fld id="{6A3C62C2-65F9-4A4E-ACC0-2EE28D40ECC3}" type="datetime1">
              <a:rPr lang="zh-CN" altLang="en-US"/>
            </a:fld>
            <a:endParaRPr lang="en-US" altLang="zh-CN"/>
          </a:p>
        </p:txBody>
      </p:sp>
      <p:sp>
        <p:nvSpPr>
          <p:cNvPr id="4"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5" name="Rectangle 9"/>
          <p:cNvSpPr>
            <a:spLocks noGrp="1" noChangeArrowheads="1"/>
          </p:cNvSpPr>
          <p:nvPr>
            <p:ph type="sldNum" sz="quarter" idx="12"/>
          </p:nvPr>
        </p:nvSpPr>
        <p:spPr/>
        <p:txBody>
          <a:bodyPr/>
          <a:lstStyle>
            <a:lvl1pPr>
              <a:defRPr/>
            </a:lvl1pPr>
          </a:lstStyle>
          <a:p>
            <a:pPr>
              <a:defRPr/>
            </a:pPr>
            <a:fld id="{3E440166-6CE3-F044-BBAE-2F06EF89DFF3}"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pPr>
              <a:defRPr/>
            </a:pPr>
            <a:fld id="{E0C7EA1E-2C4C-2645-A209-C97C0E2EC17C}" type="datetime1">
              <a:rPr lang="zh-CN" altLang="en-US"/>
            </a:fld>
            <a:endParaRPr lang="en-US" altLang="zh-CN"/>
          </a:p>
        </p:txBody>
      </p:sp>
      <p:sp>
        <p:nvSpPr>
          <p:cNvPr id="3"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4" name="Rectangle 9"/>
          <p:cNvSpPr>
            <a:spLocks noGrp="1" noChangeArrowheads="1"/>
          </p:cNvSpPr>
          <p:nvPr>
            <p:ph type="sldNum" sz="quarter" idx="12"/>
          </p:nvPr>
        </p:nvSpPr>
        <p:spPr/>
        <p:txBody>
          <a:bodyPr/>
          <a:lstStyle>
            <a:lvl1pPr>
              <a:defRPr/>
            </a:lvl1pPr>
          </a:lstStyle>
          <a:p>
            <a:pPr>
              <a:defRPr/>
            </a:pPr>
            <a:fld id="{CDB26990-C4F0-764F-9A2D-023468D73A56}"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fld id="{A5AC86A3-CDD1-2747-AC1B-4C53F4BBAEEB}"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1563E623-5935-2245-A7E5-583BD36AF976}"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fld id="{7912DB9A-73EB-2948-9683-158113B6707A}"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28D912F3-F979-3D4B-8A3A-5A312B3AEED3}"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DE212855-A84D-8640-AF7F-74B205D91AAA}"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1DBA8F70-1237-3346-A9ED-CCB248B552AD}"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EC215E04-8BE3-CD41-8C4D-B3B1467F6703}"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2C0DC5BE-D905-9B4A-A5F8-C3A933EEDA72}"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a:noFill/>
          </a:ln>
        </p:spPr>
        <p:txBody>
          <a:bodyPr wrap="none" anchor="ctr"/>
          <a:lstStyle/>
          <a:p>
            <a:endParaRPr lang="zh-CN" altLang="en-US" sz="240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a:noFill/>
          </a:ln>
        </p:spPr>
        <p:txBody>
          <a:bodyPr wrap="none" anchor="ctr"/>
          <a:lstStyle/>
          <a:p>
            <a:endParaRPr lang="zh-CN" altLang="en-US" sz="2400"/>
          </a:p>
        </p:txBody>
      </p:sp>
      <p:sp>
        <p:nvSpPr>
          <p:cNvPr id="1028" name="Rectangle 4"/>
          <p:cNvSpPr>
            <a:spLocks noGrp="1" noChangeArrowheads="1"/>
          </p:cNvSpPr>
          <p:nvPr>
            <p:ph type="title"/>
          </p:nvPr>
        </p:nvSpPr>
        <p:spPr bwMode="auto">
          <a:xfrm>
            <a:off x="1042988" y="404813"/>
            <a:ext cx="5616575" cy="576262"/>
          </a:xfrm>
          <a:prstGeom prst="rect">
            <a:avLst/>
          </a:prstGeom>
          <a:noFill/>
          <a:ln>
            <a:noFill/>
          </a:ln>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9" name="Rectangle 5"/>
          <p:cNvSpPr>
            <a:spLocks noGrp="1" noChangeArrowheads="1"/>
          </p:cNvSpPr>
          <p:nvPr>
            <p:ph type="body" idx="1"/>
          </p:nvPr>
        </p:nvSpPr>
        <p:spPr bwMode="auto">
          <a:xfrm>
            <a:off x="468313" y="1484313"/>
            <a:ext cx="8142287" cy="4392612"/>
          </a:xfrm>
          <a:prstGeom prst="rect">
            <a:avLst/>
          </a:prstGeom>
          <a:noFill/>
          <a:ln>
            <a:noFill/>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1030" name="Picture 6" descr="towe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ln>
          <a:effectLst/>
        </p:spPr>
        <p:txBody>
          <a:bodyPr vert="horz" wrap="square" lIns="91440" tIns="45720" rIns="91440" bIns="45720" numCol="1" anchor="t" anchorCtr="0" compatLnSpc="1"/>
          <a:lstStyle>
            <a:lvl1pPr algn="l">
              <a:defRPr sz="1600">
                <a:latin typeface="Arial" panose="020B0604020202020204" pitchFamily="34" charset="0"/>
              </a:defRPr>
            </a:lvl1pPr>
          </a:lstStyle>
          <a:p>
            <a:pPr>
              <a:defRPr/>
            </a:pPr>
            <a:fld id="{96A7C1D7-DA4D-0D47-8A9D-20C501704407}" type="datetime1">
              <a:rPr lang="zh-CN" altLang="en-US"/>
            </a:fld>
            <a:endParaRPr lang="en-US" altLang="zh-CN"/>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ln>
          <a:effectLst/>
        </p:spPr>
        <p:txBody>
          <a:bodyPr vert="horz" wrap="square" lIns="91440" tIns="45720" rIns="91440" bIns="45720" numCol="1" anchor="t" anchorCtr="0" compatLnSpc="1"/>
          <a:lstStyle>
            <a:lvl1pPr>
              <a:defRPr sz="1600">
                <a:latin typeface="+mn-lt"/>
                <a:ea typeface="宋体" panose="02010600030101010101" pitchFamily="2" charset="-122"/>
                <a:cs typeface="+mn-cs"/>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ln>
          <a:effectLst/>
        </p:spPr>
        <p:txBody>
          <a:bodyPr vert="horz" wrap="square" lIns="91440" tIns="45720" rIns="91440" bIns="45720" numCol="1" anchor="t" anchorCtr="0" compatLnSpc="1"/>
          <a:lstStyle>
            <a:lvl1pPr algn="r">
              <a:defRPr sz="1600">
                <a:latin typeface="Arial" panose="020B0604020202020204" pitchFamily="34" charset="0"/>
              </a:defRPr>
            </a:lvl1pPr>
          </a:lstStyle>
          <a:p>
            <a:pPr>
              <a:defRPr/>
            </a:pPr>
            <a:fld id="{7A159C6A-D517-464E-A11D-5E3698E05D4A}" type="slidenum">
              <a:rPr lang="en-US" altLang="zh-CN"/>
            </a:fld>
            <a:endParaRPr lang="en-US" altLang="zh-CN"/>
          </a:p>
        </p:txBody>
      </p:sp>
      <p:pic>
        <p:nvPicPr>
          <p:cNvPr id="1034"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p:spPr>
      </p:pic>
      <p:pic>
        <p:nvPicPr>
          <p:cNvPr id="1035" name="Picture 11" descr="校徽"/>
          <p:cNvPicPr>
            <a:picLocks noChangeAspect="1" noChangeArrowheads="1"/>
          </p:cNvPicPr>
          <p:nvPr/>
        </p:nvPicPr>
        <p:blipFill>
          <a:blip r:embed="rId14" cstate="email">
            <a:extLst>
              <a:ext uri="{28A0092B-C50C-407E-A947-70E740481C1C}">
                <a14:useLocalDpi xmlns:a14="http://schemas.microsoft.com/office/drawing/2010/main" val="0"/>
              </a:ext>
            </a:extLst>
          </a:blip>
          <a:srcRect/>
          <a:stretch>
            <a:fillRect/>
          </a:stretch>
        </p:blipFill>
        <p:spPr bwMode="auto">
          <a:xfrm>
            <a:off x="306388" y="261938"/>
            <a:ext cx="665162" cy="790575"/>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p:titleStyle>
    <p:body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24.png"/><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1" Type="http://schemas.openxmlformats.org/officeDocument/2006/relationships/slideLayout" Target="../slideLayouts/slideLayout2.xml"/><Relationship Id="rId20" Type="http://schemas.openxmlformats.org/officeDocument/2006/relationships/image" Target="../media/image36.png"/><Relationship Id="rId2" Type="http://schemas.openxmlformats.org/officeDocument/2006/relationships/image" Target="../media/image18.png"/><Relationship Id="rId19" Type="http://schemas.openxmlformats.org/officeDocument/2006/relationships/image" Target="../media/image35.png"/><Relationship Id="rId18" Type="http://schemas.openxmlformats.org/officeDocument/2006/relationships/image" Target="../media/image34.png"/><Relationship Id="rId17" Type="http://schemas.openxmlformats.org/officeDocument/2006/relationships/image" Target="../media/image33.png"/><Relationship Id="rId16" Type="http://schemas.openxmlformats.org/officeDocument/2006/relationships/image" Target="../media/image32.png"/><Relationship Id="rId15" Type="http://schemas.openxmlformats.org/officeDocument/2006/relationships/image" Target="../media/image31.png"/><Relationship Id="rId14" Type="http://schemas.openxmlformats.org/officeDocument/2006/relationships/image" Target="../media/image30.png"/><Relationship Id="rId13" Type="http://schemas.openxmlformats.org/officeDocument/2006/relationships/image" Target="../media/image29.png"/><Relationship Id="rId12" Type="http://schemas.openxmlformats.org/officeDocument/2006/relationships/image" Target="../media/image28.png"/><Relationship Id="rId11" Type="http://schemas.openxmlformats.org/officeDocument/2006/relationships/image" Target="../media/image27.png"/><Relationship Id="rId10" Type="http://schemas.openxmlformats.org/officeDocument/2006/relationships/image" Target="../media/image26.png"/><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image" Target="../media/image4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4C71EA6-E9F2-1D41-A2FD-D604B6FAC840}"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4339" name="Rectangle 5"/>
          <p:cNvSpPr>
            <a:spLocks noGrp="1" noChangeArrowheads="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14039F7-4B0A-D240-B261-7F859EA311EB}"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14340" name="Rectangle 2"/>
          <p:cNvSpPr>
            <a:spLocks noGrp="1" noChangeArrowheads="1"/>
          </p:cNvSpPr>
          <p:nvPr>
            <p:ph type="ctrTitle"/>
          </p:nvPr>
        </p:nvSpPr>
        <p:spPr>
          <a:xfrm>
            <a:off x="323528" y="2348880"/>
            <a:ext cx="8542316" cy="1152128"/>
          </a:xfrm>
        </p:spPr>
        <p:txBody>
          <a:bodyPr/>
          <a:lstStyle/>
          <a:p>
            <a:pPr eaLnBrk="1" hangingPunct="1"/>
            <a:r>
              <a:rPr kumimoji="0" lang="zh-CN" altLang="en-US" sz="4800" b="1" dirty="0" smtClean="0">
                <a:latin typeface="Arial" panose="020B0604020202020204" pitchFamily="34" charset="0"/>
                <a:ea typeface="宋体" panose="02010600030101010101" pitchFamily="2" charset="-122"/>
              </a:rPr>
              <a:t>模型检测</a:t>
            </a:r>
            <a:endParaRPr kumimoji="0" lang="en-US" altLang="zh-CN" sz="4800" b="1"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模型检查</a:t>
            </a:r>
            <a:endParaRPr lang="zh-CN" altLang="en-US"/>
          </a:p>
        </p:txBody>
      </p:sp>
      <p:sp>
        <p:nvSpPr>
          <p:cNvPr id="4" name="日期占位符 3"/>
          <p:cNvSpPr>
            <a:spLocks noGrp="1"/>
          </p:cNvSpPr>
          <p:nvPr>
            <p:ph type="dt" sz="half" idx="10"/>
          </p:nvPr>
        </p:nvSpPr>
        <p:spPr/>
        <p:txBody>
          <a:bodyPr/>
          <a:p>
            <a:pPr>
              <a:defRPr/>
            </a:pPr>
            <a:fld id="{077F30FB-1D90-1E40-92FD-7816B07D6DDC}"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50AC0454-A414-F04C-824A-79602E160F30}" type="slidenum">
              <a:rPr lang="en-US" altLang="zh-CN"/>
            </a:fld>
            <a:endParaRPr lang="en-US" altLang="zh-CN"/>
          </a:p>
        </p:txBody>
      </p:sp>
      <p:pic>
        <p:nvPicPr>
          <p:cNvPr id="6" name="内容占位符 5" descr="模型检查"/>
          <p:cNvPicPr>
            <a:picLocks noChangeAspect="1"/>
          </p:cNvPicPr>
          <p:nvPr>
            <p:ph idx="1"/>
          </p:nvPr>
        </p:nvPicPr>
        <p:blipFill>
          <a:blip r:embed="rId1"/>
          <a:stretch>
            <a:fillRect/>
          </a:stretch>
        </p:blipFill>
        <p:spPr>
          <a:xfrm>
            <a:off x="322580" y="1183640"/>
            <a:ext cx="4392295" cy="4897755"/>
          </a:xfrm>
          <a:prstGeom prst="rect">
            <a:avLst/>
          </a:prstGeom>
        </p:spPr>
      </p:pic>
      <p:sp>
        <p:nvSpPr>
          <p:cNvPr id="7" name="文本框 6"/>
          <p:cNvSpPr txBox="1"/>
          <p:nvPr/>
        </p:nvSpPr>
        <p:spPr>
          <a:xfrm>
            <a:off x="4718050" y="1199515"/>
            <a:ext cx="3256280" cy="4831080"/>
          </a:xfrm>
          <a:prstGeom prst="rect">
            <a:avLst/>
          </a:prstGeom>
          <a:noFill/>
        </p:spPr>
        <p:txBody>
          <a:bodyPr wrap="square" rtlCol="0" anchor="t">
            <a:spAutoFit/>
          </a:bodyPr>
          <a:p>
            <a:pPr algn="just"/>
            <a:r>
              <a:rPr lang="zh-CN" altLang="en-US" sz="2800" b="1"/>
              <a:t>模型检测(model checking)，是一种自动验证技术，由Clarke和Emerson以及Quelle和Sifakis提出，主要通过显式状态搜索或隐式不动点计算来验证有穷状态并发系统的模态/命题性质。</a:t>
            </a:r>
            <a:endParaRPr lang="zh-CN" altLang="en-US" sz="28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1244650" y="404664"/>
            <a:ext cx="5616575" cy="576262"/>
          </a:xfrm>
        </p:spPr>
        <p:txBody>
          <a:bodyPr/>
          <a:lstStyle/>
          <a:p>
            <a:r>
              <a:rPr lang="zh-CN" altLang="en-US" b="1" dirty="0" smtClean="0"/>
              <a:t>目录</a:t>
            </a:r>
            <a:endParaRPr lang="en-US" altLang="zh-CN" b="1" dirty="0"/>
          </a:p>
        </p:txBody>
      </p:sp>
      <p:sp>
        <p:nvSpPr>
          <p:cNvPr id="16387"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C1C55456-DA90-CD4B-8907-984C9B6FC71C}"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6388"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995E46F7-E5DA-634D-A2F8-9098CE4446BA}"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2" name="内容占位符 1"/>
          <p:cNvSpPr>
            <a:spLocks noGrp="1"/>
          </p:cNvSpPr>
          <p:nvPr>
            <p:ph idx="1"/>
          </p:nvPr>
        </p:nvSpPr>
        <p:spPr>
          <a:xfrm>
            <a:off x="467544" y="2060848"/>
            <a:ext cx="8280920" cy="2496616"/>
          </a:xfrm>
        </p:spPr>
        <p:txBody>
          <a:bodyPr/>
          <a:lstStyle/>
          <a:p>
            <a:r>
              <a:rPr lang="zh-CN" altLang="en-US" dirty="0" smtClean="0"/>
              <a:t>背景</a:t>
            </a:r>
            <a:endParaRPr lang="en-US" altLang="zh-CN" dirty="0" smtClean="0"/>
          </a:p>
          <a:p>
            <a:r>
              <a:rPr lang="zh-CN" altLang="en-US" dirty="0" smtClean="0"/>
              <a:t>基于</a:t>
            </a:r>
            <a:r>
              <a:rPr lang="zh-CN" altLang="en-US" dirty="0"/>
              <a:t>状态机的模型检测</a:t>
            </a:r>
            <a:endParaRPr lang="en-US" altLang="zh-CN" dirty="0"/>
          </a:p>
          <a:p>
            <a:r>
              <a:rPr lang="zh-CN" altLang="en-US" dirty="0"/>
              <a:t>基于并发事件交织模型</a:t>
            </a:r>
            <a:r>
              <a:rPr lang="zh-CN" altLang="en-US" dirty="0" smtClean="0"/>
              <a:t>检测</a:t>
            </a:r>
            <a:endParaRPr lang="en-US" altLang="zh-CN" dirty="0" smtClean="0"/>
          </a:p>
          <a:p>
            <a:r>
              <a:rPr lang="zh-CN" altLang="en-US" dirty="0" smtClean="0"/>
              <a:t>基于故障注入的模型检测</a:t>
            </a:r>
            <a:endParaRPr lang="en-US" altLang="zh-CN" dirty="0"/>
          </a:p>
          <a:p>
            <a:r>
              <a:rPr lang="zh-CN" altLang="en-US" dirty="0" smtClean="0"/>
              <a:t>总结</a:t>
            </a: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1244650" y="404664"/>
            <a:ext cx="5616575" cy="576262"/>
          </a:xfrm>
        </p:spPr>
        <p:txBody>
          <a:bodyPr/>
          <a:lstStyle/>
          <a:p>
            <a:r>
              <a:rPr lang="en-US" altLang="zh-CN" b="1" dirty="0" smtClean="0"/>
              <a:t>2</a:t>
            </a:r>
            <a:r>
              <a:rPr lang="zh-CN" altLang="en-US" b="1" dirty="0" smtClean="0"/>
              <a:t>、背景</a:t>
            </a:r>
            <a:endParaRPr lang="en-US" altLang="zh-CN" b="1" dirty="0"/>
          </a:p>
        </p:txBody>
      </p:sp>
      <p:sp>
        <p:nvSpPr>
          <p:cNvPr id="16387"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C1C55456-DA90-CD4B-8907-984C9B6FC71C}"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6388"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995E46F7-E5DA-634D-A2F8-9098CE4446BA}"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2" name="内容占位符 1"/>
          <p:cNvSpPr>
            <a:spLocks noGrp="1"/>
          </p:cNvSpPr>
          <p:nvPr>
            <p:ph idx="1"/>
          </p:nvPr>
        </p:nvSpPr>
        <p:spPr>
          <a:xfrm>
            <a:off x="19942" y="1484784"/>
            <a:ext cx="8748464" cy="2352600"/>
          </a:xfrm>
        </p:spPr>
        <p:txBody>
          <a:bodyPr/>
          <a:lstStyle/>
          <a:p>
            <a:r>
              <a:rPr lang="zh-CN" altLang="en-US" dirty="0" smtClean="0"/>
              <a:t>在许多关键系统中不能存在违反某些性质的</a:t>
            </a:r>
            <a:r>
              <a:rPr lang="en-US" altLang="zh-CN" dirty="0" smtClean="0"/>
              <a:t>bug</a:t>
            </a:r>
            <a:r>
              <a:rPr lang="zh-CN" altLang="en-US" dirty="0" smtClean="0"/>
              <a:t>，一旦出现</a:t>
            </a:r>
            <a:r>
              <a:rPr lang="en-US" altLang="zh-CN" dirty="0" smtClean="0"/>
              <a:t>bug</a:t>
            </a:r>
            <a:r>
              <a:rPr lang="zh-CN" altLang="en-US" dirty="0" smtClean="0"/>
              <a:t>将会造成严重的后果，例如：航天系统、高铁系统、核电站系统等。</a:t>
            </a:r>
            <a:endParaRPr lang="zh-CN" altLang="en-US" dirty="0"/>
          </a:p>
        </p:txBody>
      </p:sp>
      <p:pic>
        <p:nvPicPr>
          <p:cNvPr id="3" name="图片 2"/>
          <p:cNvPicPr>
            <a:picLocks noChangeAspect="1"/>
          </p:cNvPicPr>
          <p:nvPr/>
        </p:nvPicPr>
        <p:blipFill rotWithShape="1">
          <a:blip r:embed="rId1" cstate="email">
            <a:extLst>
              <a:ext uri="{28A0092B-C50C-407E-A947-70E740481C1C}">
                <a14:useLocalDpi xmlns:a14="http://schemas.microsoft.com/office/drawing/2010/main" val="0"/>
              </a:ext>
            </a:extLst>
          </a:blip>
          <a:srcRect b="13250"/>
          <a:stretch>
            <a:fillRect/>
          </a:stretch>
        </p:blipFill>
        <p:spPr>
          <a:xfrm>
            <a:off x="132852" y="3304975"/>
            <a:ext cx="2876265" cy="2636912"/>
          </a:xfrm>
          <a:prstGeom prst="rect">
            <a:avLst/>
          </a:prstGeom>
          <a:ln>
            <a:noFill/>
          </a:ln>
          <a:effectLst>
            <a:softEdge rad="112500"/>
          </a:effectLst>
        </p:spPr>
      </p:pic>
      <p:pic>
        <p:nvPicPr>
          <p:cNvPr id="4" name="图片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107384" y="3308262"/>
            <a:ext cx="2829605" cy="2633625"/>
          </a:xfrm>
          <a:prstGeom prst="rect">
            <a:avLst/>
          </a:prstGeom>
          <a:ln>
            <a:noFill/>
          </a:ln>
          <a:effectLst>
            <a:softEdge rad="112500"/>
          </a:effectLst>
        </p:spPr>
      </p:pic>
      <p:pic>
        <p:nvPicPr>
          <p:cNvPr id="5" name="图片 4"/>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012160" y="3304975"/>
            <a:ext cx="2831417" cy="2633625"/>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1244650" y="404664"/>
            <a:ext cx="5616575" cy="576262"/>
          </a:xfrm>
        </p:spPr>
        <p:txBody>
          <a:bodyPr/>
          <a:lstStyle/>
          <a:p>
            <a:r>
              <a:rPr lang="en-US" altLang="zh-CN" b="1" dirty="0" smtClean="0"/>
              <a:t>2</a:t>
            </a:r>
            <a:r>
              <a:rPr lang="zh-CN" altLang="en-US" b="1" dirty="0" smtClean="0"/>
              <a:t>、背景</a:t>
            </a:r>
            <a:endParaRPr lang="en-US" altLang="zh-CN" b="1" dirty="0"/>
          </a:p>
        </p:txBody>
      </p:sp>
      <p:sp>
        <p:nvSpPr>
          <p:cNvPr id="16387"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C1C55456-DA90-CD4B-8907-984C9B6FC71C}"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6388"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995E46F7-E5DA-634D-A2F8-9098CE4446BA}"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pic>
        <p:nvPicPr>
          <p:cNvPr id="6" name="内容占位符 5"/>
          <p:cNvPicPr>
            <a:picLocks noGrp="1" noChangeAspect="1"/>
          </p:cNvPicPr>
          <p:nvPr>
            <p:ph idx="1"/>
          </p:nvPr>
        </p:nvPicPr>
        <p:blipFill rotWithShape="1">
          <a:blip r:embed="rId1" cstate="email">
            <a:extLst>
              <a:ext uri="{28A0092B-C50C-407E-A947-70E740481C1C}">
                <a14:useLocalDpi xmlns:a14="http://schemas.microsoft.com/office/drawing/2010/main" val="0"/>
              </a:ext>
            </a:extLst>
          </a:blip>
          <a:srcRect t="3015" b="7387"/>
          <a:stretch>
            <a:fillRect/>
          </a:stretch>
        </p:blipFill>
        <p:spPr>
          <a:xfrm>
            <a:off x="107504" y="4227570"/>
            <a:ext cx="4082950" cy="1667899"/>
          </a:xfrm>
        </p:spPr>
      </p:pic>
      <p:sp>
        <p:nvSpPr>
          <p:cNvPr id="14" name="内容占位符 1"/>
          <p:cNvSpPr txBox="1"/>
          <p:nvPr/>
        </p:nvSpPr>
        <p:spPr bwMode="auto">
          <a:xfrm>
            <a:off x="-143644" y="1491795"/>
            <a:ext cx="8748464" cy="2352600"/>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zh-CN" altLang="en-US" kern="0" dirty="0" smtClean="0"/>
              <a:t>虽然存在各种测试技术，但是软件测试</a:t>
            </a:r>
            <a:r>
              <a:rPr lang="zh-CN" altLang="en-US" dirty="0" smtClean="0"/>
              <a:t>是以尽可能</a:t>
            </a:r>
            <a:r>
              <a:rPr lang="zh-CN" altLang="en-US" dirty="0"/>
              <a:t>早地找</a:t>
            </a:r>
            <a:r>
              <a:rPr lang="zh-CN" altLang="en-US" dirty="0" smtClean="0"/>
              <a:t>出系统的</a:t>
            </a:r>
            <a:r>
              <a:rPr lang="en-US" altLang="zh-CN" dirty="0" smtClean="0"/>
              <a:t>bug</a:t>
            </a:r>
            <a:r>
              <a:rPr lang="zh-CN" altLang="en-US" dirty="0" smtClean="0"/>
              <a:t>为目标的，所以对于一个测试完成的系统也不能说其不存在违反某一性质的</a:t>
            </a:r>
            <a:r>
              <a:rPr lang="en-US" altLang="zh-CN" dirty="0" smtClean="0"/>
              <a:t>bug</a:t>
            </a:r>
            <a:r>
              <a:rPr lang="zh-CN" altLang="en-US" dirty="0" smtClean="0"/>
              <a:t>。</a:t>
            </a:r>
            <a:endParaRPr lang="en-US" altLang="zh-CN" dirty="0" smtClean="0"/>
          </a:p>
          <a:p>
            <a:endParaRPr lang="en-US" altLang="zh-CN" kern="0" dirty="0" smtClean="0"/>
          </a:p>
          <a:p>
            <a:r>
              <a:rPr lang="zh-CN" altLang="en-US" kern="0" dirty="0" smtClean="0"/>
              <a:t>需要一种方法来验证系统中不存在违反某些性质的</a:t>
            </a:r>
            <a:r>
              <a:rPr lang="en-US" altLang="zh-CN" kern="0" dirty="0" smtClean="0"/>
              <a:t>bug</a:t>
            </a:r>
            <a:r>
              <a:rPr lang="zh-CN" altLang="en-US" kern="0" dirty="0" smtClean="0"/>
              <a:t>。</a:t>
            </a:r>
            <a:endParaRPr lang="en-US" altLang="zh-CN" kern="0" dirty="0" smtClean="0"/>
          </a:p>
          <a:p>
            <a:endParaRPr lang="zh-CN" altLang="en-US" kern="0" dirty="0"/>
          </a:p>
        </p:txBody>
      </p:sp>
      <p:sp>
        <p:nvSpPr>
          <p:cNvPr id="11" name="文本框 10"/>
          <p:cNvSpPr txBox="1"/>
          <p:nvPr/>
        </p:nvSpPr>
        <p:spPr>
          <a:xfrm>
            <a:off x="3851920" y="4705115"/>
            <a:ext cx="5483645" cy="584775"/>
          </a:xfrm>
          <a:prstGeom prst="rect">
            <a:avLst/>
          </a:prstGeom>
          <a:noFill/>
        </p:spPr>
        <p:txBody>
          <a:bodyPr wrap="square" rtlCol="0">
            <a:spAutoFit/>
          </a:bodyPr>
          <a:lstStyle/>
          <a:p>
            <a:r>
              <a:rPr kumimoji="1" lang="zh-CN" altLang="en-US" sz="3200" dirty="0" smtClean="0">
                <a:solidFill>
                  <a:srgbClr val="FF0000"/>
                </a:solidFill>
              </a:rPr>
              <a:t>模型检测（</a:t>
            </a:r>
            <a:r>
              <a:rPr kumimoji="1" lang="en-US" altLang="zh-CN" sz="3200" dirty="0" smtClean="0">
                <a:solidFill>
                  <a:srgbClr val="FF0000"/>
                </a:solidFill>
              </a:rPr>
              <a:t>Model</a:t>
            </a:r>
            <a:r>
              <a:rPr kumimoji="1" lang="zh-CN" altLang="en-US" sz="3200" dirty="0" smtClean="0">
                <a:solidFill>
                  <a:srgbClr val="FF0000"/>
                </a:solidFill>
              </a:rPr>
              <a:t> </a:t>
            </a:r>
            <a:r>
              <a:rPr kumimoji="1" lang="en-US" altLang="zh-CN" sz="3200" dirty="0" smtClean="0">
                <a:solidFill>
                  <a:srgbClr val="FF0000"/>
                </a:solidFill>
              </a:rPr>
              <a:t>checking</a:t>
            </a:r>
            <a:r>
              <a:rPr kumimoji="1" lang="zh-CN" altLang="en-US" sz="3200" dirty="0" smtClean="0">
                <a:solidFill>
                  <a:srgbClr val="FF0000"/>
                </a:solidFill>
              </a:rPr>
              <a:t>）</a:t>
            </a:r>
            <a:endParaRPr kumimoji="1" lang="zh-CN" altLang="en-US" sz="3200" dirty="0">
              <a:solidFill>
                <a:srgbClr val="FF0000"/>
              </a:solidFill>
            </a:endParaRPr>
          </a:p>
        </p:txBody>
      </p:sp>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l="6684" t="54912" r="4326" b="11009"/>
          <a:stretch>
            <a:fillRect/>
          </a:stretch>
        </p:blipFill>
        <p:spPr>
          <a:xfrm>
            <a:off x="347029" y="2894518"/>
            <a:ext cx="8137276" cy="55702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linds(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14">
                                            <p:txEl>
                                              <p:pRg st="2" end="2"/>
                                            </p:txEl>
                                          </p:spTgt>
                                        </p:tgtEl>
                                        <p:attrNameLst>
                                          <p:attrName>style.visibility</p:attrName>
                                        </p:attrNameLst>
                                      </p:cBhvr>
                                      <p:to>
                                        <p:strVal val="visible"/>
                                      </p:to>
                                    </p:set>
                                    <p:animEffect transition="in" filter="checkerboard(across)">
                                      <p:cBhvr>
                                        <p:cTn id="18" dur="500"/>
                                        <p:tgtEl>
                                          <p:spTgt spid="1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114" y="1412502"/>
            <a:ext cx="9126885" cy="432048"/>
          </a:xfrm>
        </p:spPr>
        <p:txBody>
          <a:bodyPr>
            <a:noAutofit/>
          </a:bodyPr>
          <a:lstStyle/>
          <a:p>
            <a:pPr>
              <a:defRPr/>
            </a:pPr>
            <a:r>
              <a:rPr lang="zh-CN" altLang="en-US" sz="2400" dirty="0" smtClean="0">
                <a:latin typeface="Calibri" panose="020F0502020204030204" charset="0"/>
              </a:rPr>
              <a:t>模型检测</a:t>
            </a:r>
            <a:r>
              <a:rPr lang="en-US" altLang="zh-CN" sz="2400" dirty="0" smtClean="0">
                <a:latin typeface="Calibri" panose="020F0502020204030204" charset="0"/>
              </a:rPr>
              <a:t>(</a:t>
            </a:r>
            <a:r>
              <a:rPr lang="en-US" altLang="zh-CN" sz="2400" dirty="0" err="1" smtClean="0"/>
              <a:t>Clarke&amp;Emerson</a:t>
            </a:r>
            <a:r>
              <a:rPr lang="zh-CN" altLang="en-US" sz="2400" dirty="0" smtClean="0"/>
              <a:t>以及</a:t>
            </a:r>
            <a:r>
              <a:rPr lang="en-US" altLang="zh-CN" sz="2400" dirty="0" smtClean="0"/>
              <a:t>Quielle</a:t>
            </a:r>
            <a:r>
              <a:rPr lang="en-US" altLang="zh-CN" sz="2400" dirty="0"/>
              <a:t>&amp;</a:t>
            </a:r>
            <a:r>
              <a:rPr lang="en-US" altLang="zh-CN" sz="2400" dirty="0" smtClean="0"/>
              <a:t>Sifakis,1981</a:t>
            </a:r>
            <a:r>
              <a:rPr lang="en-US" altLang="zh-CN" sz="2400" dirty="0" smtClean="0">
                <a:latin typeface="Calibri" panose="020F0502020204030204" charset="0"/>
              </a:rPr>
              <a:t>)</a:t>
            </a:r>
            <a:endParaRPr lang="en-US" altLang="zh-CN" sz="2400" dirty="0" smtClean="0">
              <a:latin typeface="Calibri" panose="020F0502020204030204" charset="0"/>
            </a:endParaRPr>
          </a:p>
        </p:txBody>
      </p:sp>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9" name="文本框 8"/>
          <p:cNvSpPr txBox="1"/>
          <p:nvPr/>
        </p:nvSpPr>
        <p:spPr>
          <a:xfrm>
            <a:off x="611188" y="2204864"/>
            <a:ext cx="7700032" cy="2862322"/>
          </a:xfrm>
          <a:prstGeom prst="rect">
            <a:avLst/>
          </a:prstGeom>
          <a:noFill/>
        </p:spPr>
        <p:txBody>
          <a:bodyPr wrap="square" rtlCol="0">
            <a:spAutoFit/>
          </a:bodyPr>
          <a:lstStyle/>
          <a:p>
            <a:pPr marL="342900" indent="-342900" algn="l">
              <a:buFont typeface="Arial" panose="020B0604020202020204" pitchFamily="34" charset="0"/>
              <a:buChar char="•"/>
            </a:pPr>
            <a:r>
              <a:rPr kumimoji="1" lang="zh-CN" altLang="en-US" sz="2000" dirty="0" smtClean="0"/>
              <a:t>在</a:t>
            </a:r>
            <a:r>
              <a:rPr kumimoji="1" lang="zh-CN" altLang="en-US" sz="2000" dirty="0"/>
              <a:t>计算机科学中，模型检查或属性检查涉及以下问题：给定系统模型，详尽并自动检查该模型是否满足给定规范。 通常，考虑到硬件或软件系统，而规范包含安全规范，例如没有死锁和可能导致系统崩溃的类似关键状态。 模型检查是一种自动验证有限状态系统正确性的技术</a:t>
            </a:r>
            <a:r>
              <a:rPr kumimoji="1" lang="zh-CN" altLang="en-US" sz="2000" dirty="0" smtClean="0"/>
              <a:t>。（维基百科）</a:t>
            </a:r>
            <a:endParaRPr kumimoji="1" lang="en-US" altLang="zh-CN" sz="2000" dirty="0" smtClean="0"/>
          </a:p>
          <a:p>
            <a:pPr marL="342900" indent="-342900" algn="l">
              <a:buFont typeface="Arial" panose="020B0604020202020204" pitchFamily="34" charset="0"/>
              <a:buChar char="•"/>
            </a:pPr>
            <a:r>
              <a:rPr lang="zh-CN" altLang="zh-CN" sz="2000" dirty="0" smtClean="0"/>
              <a:t>通过</a:t>
            </a:r>
            <a:r>
              <a:rPr lang="zh-CN" altLang="zh-CN" sz="2000" dirty="0"/>
              <a:t>显式状态搜索或隐式不动点计算来验证有穷状态并发系统的模态</a:t>
            </a:r>
            <a:r>
              <a:rPr lang="en-US" altLang="zh-CN" sz="2000" dirty="0"/>
              <a:t>/</a:t>
            </a:r>
            <a:r>
              <a:rPr lang="zh-CN" altLang="zh-CN" sz="2000" dirty="0"/>
              <a:t>命题</a:t>
            </a:r>
            <a:r>
              <a:rPr lang="zh-CN" altLang="zh-CN" sz="2000" dirty="0" smtClean="0"/>
              <a:t>性质</a:t>
            </a:r>
            <a:r>
              <a:rPr lang="zh-CN" altLang="en-US" sz="2000" dirty="0" smtClean="0"/>
              <a:t>。（百度百科）</a:t>
            </a:r>
            <a:endParaRPr lang="en-US" altLang="zh-CN" sz="2000" dirty="0" smtClean="0"/>
          </a:p>
          <a:p>
            <a:pPr marL="342900" indent="-342900" algn="l">
              <a:buFont typeface="Arial" panose="020B0604020202020204" pitchFamily="34" charset="0"/>
              <a:buChar char="•"/>
            </a:pPr>
            <a:r>
              <a:rPr lang="zh-CN" altLang="zh-CN" sz="2000" dirty="0" smtClean="0"/>
              <a:t>模型</a:t>
            </a:r>
            <a:r>
              <a:rPr lang="zh-CN" altLang="zh-CN" sz="2000" dirty="0"/>
              <a:t>检测通过自动遍历系统的有穷状态空间来检验系统的语义模型与其性质规约之间得满足</a:t>
            </a:r>
            <a:r>
              <a:rPr lang="zh-CN" altLang="zh-CN" sz="2000" dirty="0" smtClean="0"/>
              <a:t>关系</a:t>
            </a:r>
            <a:r>
              <a:rPr lang="en-US" altLang="zh-CN" sz="2000" baseline="30000" dirty="0" smtClean="0"/>
              <a:t>[1]</a:t>
            </a:r>
            <a:r>
              <a:rPr lang="zh-CN" altLang="en-US" sz="2000" dirty="0" smtClean="0"/>
              <a:t>。</a:t>
            </a:r>
            <a:endParaRPr kumimoji="1" lang="zh-CN" altLang="en-US" sz="2000" dirty="0"/>
          </a:p>
        </p:txBody>
      </p:sp>
      <p:sp>
        <p:nvSpPr>
          <p:cNvPr id="11" name="Title 1"/>
          <p:cNvSpPr txBox="1"/>
          <p:nvPr/>
        </p:nvSpPr>
        <p:spPr bwMode="auto">
          <a:xfrm>
            <a:off x="1244650" y="404664"/>
            <a:ext cx="5616575"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b="1" kern="0" dirty="0" smtClean="0"/>
              <a:t>2</a:t>
            </a:r>
            <a:r>
              <a:rPr lang="zh-CN" altLang="en-US" b="1" kern="0" dirty="0" smtClean="0"/>
              <a:t>、背景</a:t>
            </a:r>
            <a:endParaRPr lang="en-US" altLang="zh-CN" b="1" kern="0" dirty="0"/>
          </a:p>
        </p:txBody>
      </p:sp>
      <p:sp>
        <p:nvSpPr>
          <p:cNvPr id="4" name="文本框 3"/>
          <p:cNvSpPr txBox="1"/>
          <p:nvPr/>
        </p:nvSpPr>
        <p:spPr>
          <a:xfrm>
            <a:off x="1870373" y="6273225"/>
            <a:ext cx="6121102" cy="584775"/>
          </a:xfrm>
          <a:prstGeom prst="rect">
            <a:avLst/>
          </a:prstGeom>
          <a:noFill/>
        </p:spPr>
        <p:txBody>
          <a:bodyPr wrap="square" rtlCol="0">
            <a:spAutoFit/>
          </a:bodyPr>
          <a:lstStyle/>
          <a:p>
            <a:pPr algn="l"/>
            <a:r>
              <a:rPr lang="en-US" altLang="zh-CN" sz="1400" dirty="0"/>
              <a:t>[1]</a:t>
            </a:r>
            <a:r>
              <a:rPr lang="zh-CN" altLang="zh-CN" sz="1400" dirty="0"/>
              <a:t>王戟</a:t>
            </a:r>
            <a:r>
              <a:rPr lang="en-US" altLang="zh-CN" sz="1400" dirty="0"/>
              <a:t>,</a:t>
            </a:r>
            <a:r>
              <a:rPr lang="zh-CN" altLang="zh-CN" sz="1400" dirty="0"/>
              <a:t>詹乃军</a:t>
            </a:r>
            <a:r>
              <a:rPr lang="en-US" altLang="zh-CN" sz="1400" dirty="0"/>
              <a:t>,</a:t>
            </a:r>
            <a:r>
              <a:rPr lang="zh-CN" altLang="zh-CN" sz="1400" dirty="0"/>
              <a:t>冯新宇</a:t>
            </a:r>
            <a:r>
              <a:rPr lang="en-US" altLang="zh-CN" sz="1400" dirty="0"/>
              <a:t>,</a:t>
            </a:r>
            <a:r>
              <a:rPr lang="zh-CN" altLang="zh-CN" sz="1400" dirty="0"/>
              <a:t>刘志明</a:t>
            </a:r>
            <a:r>
              <a:rPr lang="en-US" altLang="zh-CN" sz="1400" dirty="0"/>
              <a:t>.</a:t>
            </a:r>
            <a:r>
              <a:rPr lang="zh-CN" altLang="zh-CN" sz="1400" dirty="0"/>
              <a:t>形式化方法概貌</a:t>
            </a:r>
            <a:r>
              <a:rPr lang="en-US" altLang="zh-CN" sz="1400" dirty="0"/>
              <a:t>[J].</a:t>
            </a:r>
            <a:r>
              <a:rPr lang="zh-CN" altLang="zh-CN" sz="1400" dirty="0"/>
              <a:t>软件学报</a:t>
            </a:r>
            <a:r>
              <a:rPr lang="en-US" altLang="zh-CN" sz="1400" dirty="0"/>
              <a:t>,2019,30(01):33-61.</a:t>
            </a:r>
            <a:endParaRPr lang="zh-CN" altLang="zh-CN" sz="1400" dirty="0"/>
          </a:p>
          <a:p>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defRPr/>
            </a:pPr>
            <a:fld id="{077F30FB-1D90-1E40-92FD-7816B07D6DDC}"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50AC0454-A414-F04C-824A-79602E160F30}" type="slidenum">
              <a:rPr lang="en-US" altLang="zh-CN" smtClean="0"/>
            </a:fld>
            <a:endParaRPr lang="en-US" altLang="zh-CN"/>
          </a:p>
        </p:txBody>
      </p:sp>
      <p:sp>
        <p:nvSpPr>
          <p:cNvPr id="6" name="内容占位符 5"/>
          <p:cNvSpPr txBox="1">
            <a:spLocks noGrp="1"/>
          </p:cNvSpPr>
          <p:nvPr>
            <p:ph idx="1"/>
          </p:nvPr>
        </p:nvSpPr>
        <p:spPr>
          <a:xfrm>
            <a:off x="468313" y="1484313"/>
            <a:ext cx="8142287" cy="1138773"/>
          </a:xfrm>
          <a:prstGeom prst="rect">
            <a:avLst/>
          </a:prstGeom>
          <a:noFill/>
        </p:spPr>
        <p:txBody>
          <a:bodyPr wrap="square" rtlCol="0">
            <a:spAutoFit/>
          </a:bodyPr>
          <a:lstStyle/>
          <a:p>
            <a:pPr marL="457200" indent="-457200" algn="l">
              <a:buFont typeface="+mj-lt"/>
              <a:buAutoNum type="arabicPeriod"/>
            </a:pPr>
            <a:r>
              <a:rPr kumimoji="1" lang="zh-CN" altLang="en-US" sz="2000" dirty="0" smtClean="0"/>
              <a:t>对目标系统进行形式化建模</a:t>
            </a:r>
            <a:endParaRPr kumimoji="1" lang="en-US" altLang="zh-CN" sz="2000" dirty="0" smtClean="0"/>
          </a:p>
          <a:p>
            <a:pPr marL="457200" indent="-457200" algn="l">
              <a:buFont typeface="+mj-lt"/>
              <a:buAutoNum type="arabicPeriod"/>
            </a:pPr>
            <a:r>
              <a:rPr kumimoji="1" lang="zh-CN" altLang="en-US" sz="2000" dirty="0" smtClean="0"/>
              <a:t>给出待检测性质的规范表达</a:t>
            </a:r>
            <a:endParaRPr kumimoji="1" lang="en-US" altLang="zh-CN" sz="2000" dirty="0" smtClean="0"/>
          </a:p>
          <a:p>
            <a:pPr marL="457200" indent="-457200" algn="l">
              <a:buFont typeface="+mj-lt"/>
              <a:buAutoNum type="arabicPeriod"/>
            </a:pPr>
            <a:r>
              <a:rPr kumimoji="1" lang="zh-CN" altLang="en-US" sz="2000" dirty="0" smtClean="0"/>
              <a:t>对目标系统进行验证</a:t>
            </a:r>
            <a:r>
              <a:rPr kumimoji="1" lang="en-US" altLang="zh-CN" sz="2000" dirty="0" smtClean="0"/>
              <a:t>,</a:t>
            </a:r>
            <a:r>
              <a:rPr kumimoji="1" lang="zh-CN" altLang="en-US" sz="2000" dirty="0" smtClean="0"/>
              <a:t>并输出反例</a:t>
            </a:r>
            <a:endParaRPr kumimoji="1" lang="zh-CN" altLang="en-US" sz="2000" dirty="0"/>
          </a:p>
        </p:txBody>
      </p:sp>
      <p:sp>
        <p:nvSpPr>
          <p:cNvPr id="7" name="Title 1"/>
          <p:cNvSpPr txBox="1"/>
          <p:nvPr/>
        </p:nvSpPr>
        <p:spPr bwMode="auto">
          <a:xfrm>
            <a:off x="1403648" y="384655"/>
            <a:ext cx="5616575"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b="1" kern="0" dirty="0" smtClean="0"/>
              <a:t>2</a:t>
            </a:r>
            <a:r>
              <a:rPr lang="zh-CN" altLang="en-US" b="1" kern="0" dirty="0" smtClean="0"/>
              <a:t>、背景</a:t>
            </a:r>
            <a:endParaRPr lang="en-US" altLang="zh-CN" b="1" kern="0" dirty="0"/>
          </a:p>
        </p:txBody>
      </p:sp>
      <p:pic>
        <p:nvPicPr>
          <p:cNvPr id="8" name="图片 7"/>
          <p:cNvPicPr/>
          <p:nvPr/>
        </p:nvPicPr>
        <p:blipFill rotWithShape="1">
          <a:blip r:embed="rId1"/>
          <a:srcRect l="4333" t="11649" r="1758" b="5405"/>
          <a:stretch>
            <a:fillRect/>
          </a:stretch>
        </p:blipFill>
        <p:spPr bwMode="auto">
          <a:xfrm>
            <a:off x="1715064" y="3157077"/>
            <a:ext cx="5820833" cy="1584176"/>
          </a:xfrm>
          <a:prstGeom prst="rect">
            <a:avLst/>
          </a:prstGeom>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checkerboard(across)">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checkerboard(across)">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6" name="Title 1"/>
          <p:cNvSpPr txBox="1"/>
          <p:nvPr/>
        </p:nvSpPr>
        <p:spPr bwMode="auto">
          <a:xfrm>
            <a:off x="0" y="2225148"/>
            <a:ext cx="6444208"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zh-CN" altLang="en-US" b="1" kern="0" dirty="0" smtClean="0"/>
              <a:t>根据建模手段将模型检测进行分类</a:t>
            </a:r>
            <a:endParaRPr lang="en-US" altLang="zh-CN" b="1" kern="0" dirty="0"/>
          </a:p>
        </p:txBody>
      </p:sp>
      <p:sp>
        <p:nvSpPr>
          <p:cNvPr id="11" name="内容占位符 2"/>
          <p:cNvSpPr>
            <a:spLocks noGrp="1"/>
          </p:cNvSpPr>
          <p:nvPr>
            <p:ph idx="1"/>
          </p:nvPr>
        </p:nvSpPr>
        <p:spPr>
          <a:xfrm>
            <a:off x="251520" y="3068960"/>
            <a:ext cx="8496944" cy="2016224"/>
          </a:xfrm>
        </p:spPr>
        <p:txBody>
          <a:bodyPr/>
          <a:lstStyle/>
          <a:p>
            <a:r>
              <a:rPr lang="zh-CN" altLang="en-US" sz="2400" dirty="0" smtClean="0">
                <a:solidFill>
                  <a:schemeClr val="accent1">
                    <a:lumMod val="50000"/>
                  </a:schemeClr>
                </a:solidFill>
              </a:rPr>
              <a:t>将系统建模成状态迁移模型</a:t>
            </a:r>
            <a:r>
              <a:rPr lang="en-US" altLang="zh-CN" sz="2400" dirty="0" smtClean="0">
                <a:solidFill>
                  <a:schemeClr val="accent1">
                    <a:lumMod val="50000"/>
                  </a:schemeClr>
                </a:solidFill>
              </a:rPr>
              <a:t>,</a:t>
            </a:r>
            <a:r>
              <a:rPr lang="zh-CN" altLang="en-US" sz="2400" dirty="0" smtClean="0">
                <a:solidFill>
                  <a:schemeClr val="accent1">
                    <a:lumMod val="50000"/>
                  </a:schemeClr>
                </a:solidFill>
              </a:rPr>
              <a:t>称为</a:t>
            </a:r>
            <a:r>
              <a:rPr lang="zh-CN" altLang="zh-CN" sz="2400" dirty="0">
                <a:solidFill>
                  <a:schemeClr val="accent1">
                    <a:lumMod val="50000"/>
                  </a:schemeClr>
                </a:solidFill>
              </a:rPr>
              <a:t>基于</a:t>
            </a:r>
            <a:r>
              <a:rPr lang="zh-CN" altLang="zh-CN" sz="2400" b="1" dirty="0">
                <a:solidFill>
                  <a:schemeClr val="accent1">
                    <a:lumMod val="50000"/>
                  </a:schemeClr>
                </a:solidFill>
              </a:rPr>
              <a:t>自动机</a:t>
            </a:r>
            <a:r>
              <a:rPr lang="zh-CN" altLang="zh-CN" sz="2400" dirty="0">
                <a:solidFill>
                  <a:schemeClr val="accent1">
                    <a:lumMod val="50000"/>
                  </a:schemeClr>
                </a:solidFill>
              </a:rPr>
              <a:t>建模方法</a:t>
            </a:r>
            <a:endParaRPr lang="zh-CN" altLang="zh-CN" sz="2400" dirty="0">
              <a:solidFill>
                <a:schemeClr val="accent1">
                  <a:lumMod val="50000"/>
                </a:schemeClr>
              </a:solidFill>
            </a:endParaRPr>
          </a:p>
          <a:p>
            <a:pPr marL="0" lvl="0" indent="0">
              <a:buNone/>
            </a:pPr>
            <a:endParaRPr lang="en-US" altLang="zh-CN" sz="2400" dirty="0" smtClean="0">
              <a:solidFill>
                <a:schemeClr val="accent1">
                  <a:lumMod val="50000"/>
                </a:schemeClr>
              </a:solidFill>
            </a:endParaRPr>
          </a:p>
          <a:p>
            <a:pPr lvl="0"/>
            <a:r>
              <a:rPr lang="zh-CN" altLang="en-US" sz="2400" dirty="0" smtClean="0">
                <a:solidFill>
                  <a:schemeClr val="accent1">
                    <a:lumMod val="50000"/>
                  </a:schemeClr>
                </a:solidFill>
              </a:rPr>
              <a:t>根据系统中的并发性，将系统建模成并发事件交织模型。由于这是直接对系统代码进行模型检测，所以称为</a:t>
            </a:r>
            <a:r>
              <a:rPr lang="zh-CN" altLang="zh-CN" sz="2400" b="1" dirty="0"/>
              <a:t>实现级</a:t>
            </a:r>
            <a:r>
              <a:rPr lang="zh-CN" altLang="zh-CN" sz="2400" dirty="0">
                <a:solidFill>
                  <a:schemeClr val="accent1">
                    <a:lumMod val="50000"/>
                  </a:schemeClr>
                </a:solidFill>
              </a:rPr>
              <a:t>模型检测</a:t>
            </a:r>
            <a:endParaRPr lang="en-US" altLang="zh-CN" sz="2400" dirty="0">
              <a:solidFill>
                <a:schemeClr val="accent1">
                  <a:lumMod val="50000"/>
                </a:schemeClr>
              </a:solidFill>
            </a:endParaRPr>
          </a:p>
        </p:txBody>
      </p:sp>
      <p:sp>
        <p:nvSpPr>
          <p:cNvPr id="7" name="Title 1"/>
          <p:cNvSpPr>
            <a:spLocks noGrp="1"/>
          </p:cNvSpPr>
          <p:nvPr>
            <p:ph type="title"/>
          </p:nvPr>
        </p:nvSpPr>
        <p:spPr>
          <a:xfrm>
            <a:off x="1244650" y="404664"/>
            <a:ext cx="5616575" cy="576262"/>
          </a:xfrm>
        </p:spPr>
        <p:txBody>
          <a:bodyPr/>
          <a:lstStyle/>
          <a:p>
            <a:r>
              <a:rPr lang="en-US" altLang="zh-CN" b="1" dirty="0" smtClean="0"/>
              <a:t>2</a:t>
            </a:r>
            <a:r>
              <a:rPr lang="zh-CN" altLang="en-US" b="1" dirty="0" smtClean="0"/>
              <a:t>、背景</a:t>
            </a:r>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checkerboard(across)">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checkerboard(across)">
                                      <p:cBhvr>
                                        <p:cTn id="12"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6" name="Title 1"/>
          <p:cNvSpPr txBox="1"/>
          <p:nvPr/>
        </p:nvSpPr>
        <p:spPr bwMode="auto">
          <a:xfrm>
            <a:off x="1282675" y="2996952"/>
            <a:ext cx="6444208"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sz="4400" b="1" kern="0" dirty="0"/>
              <a:t>3</a:t>
            </a:r>
            <a:r>
              <a:rPr lang="zh-CN" altLang="en-US" sz="4400" b="1" kern="0" dirty="0" smtClean="0"/>
              <a:t>  基于状态机的模型检测</a:t>
            </a:r>
            <a:endParaRPr lang="en-US" altLang="zh-CN" sz="4400" b="1" kern="0" dirty="0"/>
          </a:p>
        </p:txBody>
      </p:sp>
      <p:sp>
        <p:nvSpPr>
          <p:cNvPr id="10" name="Title 1"/>
          <p:cNvSpPr txBox="1"/>
          <p:nvPr/>
        </p:nvSpPr>
        <p:spPr bwMode="auto">
          <a:xfrm>
            <a:off x="2026816" y="383344"/>
            <a:ext cx="4176464"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endParaRPr lang="en-US" altLang="zh-CN" b="1" kern="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bwMode="auto">
          <a:xfrm>
            <a:off x="1159297" y="2577342"/>
            <a:ext cx="3025874" cy="1355713"/>
          </a:xfrm>
          <a:prstGeom prst="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endParaRPr>
          </a:p>
        </p:txBody>
      </p:sp>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3" name="内容占位符 2"/>
          <p:cNvSpPr>
            <a:spLocks noGrp="1"/>
          </p:cNvSpPr>
          <p:nvPr>
            <p:ph idx="1"/>
          </p:nvPr>
        </p:nvSpPr>
        <p:spPr>
          <a:xfrm>
            <a:off x="24011" y="1484784"/>
            <a:ext cx="5688632" cy="744513"/>
          </a:xfrm>
        </p:spPr>
        <p:txBody>
          <a:bodyPr/>
          <a:lstStyle/>
          <a:p>
            <a:r>
              <a:rPr lang="zh-CN" altLang="en-US" dirty="0" smtClean="0"/>
              <a:t>状态机建模</a:t>
            </a:r>
            <a:endParaRPr lang="en-US" altLang="zh-CN" dirty="0" smtClean="0"/>
          </a:p>
        </p:txBody>
      </p:sp>
      <p:sp>
        <p:nvSpPr>
          <p:cNvPr id="16" name="Title 1"/>
          <p:cNvSpPr>
            <a:spLocks noGrp="1"/>
          </p:cNvSpPr>
          <p:nvPr>
            <p:ph type="title"/>
          </p:nvPr>
        </p:nvSpPr>
        <p:spPr>
          <a:xfrm>
            <a:off x="1115616" y="476672"/>
            <a:ext cx="6769100" cy="576262"/>
          </a:xfrm>
        </p:spPr>
        <p:txBody>
          <a:bodyPr/>
          <a:lstStyle/>
          <a:p>
            <a:r>
              <a:rPr lang="en-US" altLang="zh-CN" b="1" dirty="0"/>
              <a:t>3</a:t>
            </a:r>
            <a:r>
              <a:rPr lang="en-US" altLang="zh-CN" b="1" dirty="0" smtClean="0"/>
              <a:t>.1</a:t>
            </a:r>
            <a:r>
              <a:rPr lang="zh-CN" altLang="en-US" b="1" dirty="0"/>
              <a:t>状态机建模</a:t>
            </a:r>
            <a:endParaRPr lang="en-US" altLang="zh-CN" b="1" dirty="0"/>
          </a:p>
        </p:txBody>
      </p:sp>
      <p:sp>
        <p:nvSpPr>
          <p:cNvPr id="5" name="文本框 4"/>
          <p:cNvSpPr txBox="1"/>
          <p:nvPr/>
        </p:nvSpPr>
        <p:spPr>
          <a:xfrm>
            <a:off x="871860" y="1957536"/>
            <a:ext cx="6626622" cy="461665"/>
          </a:xfrm>
          <a:prstGeom prst="rect">
            <a:avLst/>
          </a:prstGeom>
          <a:noFill/>
        </p:spPr>
        <p:txBody>
          <a:bodyPr wrap="square" rtlCol="0">
            <a:spAutoFit/>
          </a:bodyPr>
          <a:lstStyle/>
          <a:p>
            <a:pPr algn="l"/>
            <a:r>
              <a:rPr lang="zh-CN" altLang="en-US" sz="2400" dirty="0" smtClean="0"/>
              <a:t>状态机结构</a:t>
            </a:r>
            <a:r>
              <a:rPr lang="zh-CN" altLang="zh-CN" sz="2400" dirty="0" smtClean="0"/>
              <a:t> </a:t>
            </a:r>
            <a:endParaRPr kumimoji="1" lang="zh-CN" altLang="en-US" sz="2400" dirty="0"/>
          </a:p>
        </p:txBody>
      </p:sp>
      <p:pic>
        <p:nvPicPr>
          <p:cNvPr id="1026" name="Picture 2" descr="https://ss3.bdstatic.com/70cFv8Sh_Q1YnxGkpoWK1HF6hhy/it/u=3081888440,3803945534&amp;fm=27&amp;gp=0.jpg"/>
          <p:cNvPicPr>
            <a:picLocks noChangeAspect="1" noChangeArrowheads="1"/>
          </p:cNvPicPr>
          <p:nvPr/>
        </p:nvPicPr>
        <p:blipFill rotWithShape="1">
          <a:blip r:embed="rId1">
            <a:extLst>
              <a:ext uri="{28A0092B-C50C-407E-A947-70E740481C1C}">
                <a14:useLocalDpi xmlns:a14="http://schemas.microsoft.com/office/drawing/2010/main" val="0"/>
              </a:ext>
            </a:extLst>
          </a:blip>
          <a:srcRect l="10845" t="5456" r="1783" b="1166"/>
          <a:stretch>
            <a:fillRect/>
          </a:stretch>
        </p:blipFill>
        <p:spPr bwMode="auto">
          <a:xfrm>
            <a:off x="4786548" y="1766429"/>
            <a:ext cx="4294634" cy="3744415"/>
          </a:xfrm>
          <a:prstGeom prst="rect">
            <a:avLst/>
          </a:prstGeom>
          <a:noFill/>
          <a:extLst>
            <a:ext uri="{909E8E84-426E-40DD-AFC4-6F175D3DCCD1}">
              <a14:hiddenFill xmlns:a14="http://schemas.microsoft.com/office/drawing/2010/main">
                <a:solidFill>
                  <a:srgbClr val="FFFFFF"/>
                </a:solidFill>
              </a14:hiddenFill>
            </a:ext>
          </a:extLst>
        </p:spPr>
      </p:pic>
      <p:sp>
        <p:nvSpPr>
          <p:cNvPr id="19" name="内容占位符 2"/>
          <p:cNvSpPr txBox="1"/>
          <p:nvPr/>
        </p:nvSpPr>
        <p:spPr bwMode="auto">
          <a:xfrm>
            <a:off x="1187686" y="2577343"/>
            <a:ext cx="5688632" cy="1679761"/>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a:buFont typeface="Wingdings" panose="05000000000000000000" pitchFamily="2" charset="2"/>
              <a:buChar char="Ø"/>
            </a:pPr>
            <a:r>
              <a:rPr lang="zh-CN" altLang="en-US" sz="2400" kern="0" dirty="0" smtClean="0"/>
              <a:t>状态</a:t>
            </a:r>
            <a:r>
              <a:rPr lang="en-US" altLang="zh-CN" sz="2400" kern="0" dirty="0" smtClean="0"/>
              <a:t>&amp;</a:t>
            </a:r>
            <a:r>
              <a:rPr lang="zh-CN" altLang="en-US" sz="2400" kern="0" dirty="0" smtClean="0"/>
              <a:t>初始状态</a:t>
            </a:r>
            <a:endParaRPr lang="en-US" altLang="zh-CN" sz="2400" kern="0" dirty="0" smtClean="0"/>
          </a:p>
          <a:p>
            <a:pPr>
              <a:buFont typeface="Wingdings" panose="05000000000000000000" pitchFamily="2" charset="2"/>
              <a:buChar char="Ø"/>
            </a:pPr>
            <a:r>
              <a:rPr lang="zh-CN" altLang="en-US" sz="2400" kern="0" dirty="0" smtClean="0"/>
              <a:t>输入（动作）</a:t>
            </a:r>
            <a:endParaRPr lang="en-US" altLang="zh-CN" sz="2400" kern="0" dirty="0" smtClean="0"/>
          </a:p>
          <a:p>
            <a:pPr>
              <a:buFont typeface="Wingdings" panose="05000000000000000000" pitchFamily="2" charset="2"/>
              <a:buChar char="Ø"/>
            </a:pPr>
            <a:r>
              <a:rPr lang="zh-CN" altLang="en-US" sz="2400" kern="0" dirty="0" smtClean="0"/>
              <a:t>迁移</a:t>
            </a:r>
            <a:endParaRPr lang="en-US" altLang="zh-CN" sz="2400" kern="0" dirty="0" smtClean="0"/>
          </a:p>
          <a:p>
            <a:pPr>
              <a:buFont typeface="Wingdings" panose="05000000000000000000" pitchFamily="2" charset="2"/>
              <a:buChar char="Ø"/>
            </a:pPr>
            <a:r>
              <a:rPr lang="zh-CN" altLang="en-US" sz="2400" kern="0" dirty="0" smtClean="0"/>
              <a:t>输出</a:t>
            </a:r>
            <a:endParaRPr lang="en-US" altLang="zh-CN" sz="2400" kern="0" dirty="0" smtClean="0"/>
          </a:p>
          <a:p>
            <a:pPr>
              <a:buFont typeface="Wingdings" panose="05000000000000000000" pitchFamily="2" charset="2"/>
              <a:buChar char="Ø"/>
            </a:pPr>
            <a:endParaRPr lang="en-US" altLang="zh-CN" sz="2400" kern="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dissolv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dissolve">
                                      <p:cBhvr>
                                        <p:cTn id="12" dur="500"/>
                                        <p:tgtEl>
                                          <p:spTgt spid="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9">
                                            <p:txEl>
                                              <p:pRg st="2" end="2"/>
                                            </p:txEl>
                                          </p:spTgt>
                                        </p:tgtEl>
                                        <p:attrNameLst>
                                          <p:attrName>style.visibility</p:attrName>
                                        </p:attrNameLst>
                                      </p:cBhvr>
                                      <p:to>
                                        <p:strVal val="visible"/>
                                      </p:to>
                                    </p:set>
                                    <p:animEffect transition="in" filter="dissolve">
                                      <p:cBhvr>
                                        <p:cTn id="17" dur="500"/>
                                        <p:tgtEl>
                                          <p:spTgt spid="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9">
                                            <p:txEl>
                                              <p:pRg st="3" end="3"/>
                                            </p:txEl>
                                          </p:spTgt>
                                        </p:tgtEl>
                                        <p:attrNameLst>
                                          <p:attrName>style.visibility</p:attrName>
                                        </p:attrNameLst>
                                      </p:cBhvr>
                                      <p:to>
                                        <p:strVal val="visible"/>
                                      </p:to>
                                    </p:set>
                                    <p:animEffect transition="in" filter="dissolve">
                                      <p:cBhvr>
                                        <p:cTn id="22" dur="500"/>
                                        <p:tgtEl>
                                          <p:spTgt spid="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3" name="内容占位符 2"/>
          <p:cNvSpPr>
            <a:spLocks noGrp="1"/>
          </p:cNvSpPr>
          <p:nvPr>
            <p:ph idx="1"/>
          </p:nvPr>
        </p:nvSpPr>
        <p:spPr>
          <a:xfrm>
            <a:off x="24011" y="1484784"/>
            <a:ext cx="5688632" cy="744513"/>
          </a:xfrm>
        </p:spPr>
        <p:txBody>
          <a:bodyPr/>
          <a:lstStyle/>
          <a:p>
            <a:r>
              <a:rPr lang="zh-CN" altLang="en-US" dirty="0" smtClean="0"/>
              <a:t>状态机建模</a:t>
            </a:r>
            <a:endParaRPr lang="en-US" altLang="zh-CN" dirty="0" smtClean="0"/>
          </a:p>
        </p:txBody>
      </p:sp>
      <p:sp>
        <p:nvSpPr>
          <p:cNvPr id="16" name="Title 1"/>
          <p:cNvSpPr>
            <a:spLocks noGrp="1"/>
          </p:cNvSpPr>
          <p:nvPr>
            <p:ph type="title"/>
          </p:nvPr>
        </p:nvSpPr>
        <p:spPr>
          <a:xfrm>
            <a:off x="1115616" y="476672"/>
            <a:ext cx="6769100" cy="576262"/>
          </a:xfrm>
        </p:spPr>
        <p:txBody>
          <a:bodyPr/>
          <a:lstStyle/>
          <a:p>
            <a:r>
              <a:rPr lang="en-US" altLang="zh-CN" b="1" dirty="0"/>
              <a:t>3</a:t>
            </a:r>
            <a:r>
              <a:rPr lang="en-US" altLang="zh-CN" b="1" dirty="0" smtClean="0"/>
              <a:t>.1</a:t>
            </a:r>
            <a:r>
              <a:rPr lang="zh-CN" altLang="en-US" b="1" dirty="0"/>
              <a:t>状态机建模</a:t>
            </a:r>
            <a:endParaRPr lang="en-US" altLang="zh-CN" b="1" dirty="0"/>
          </a:p>
        </p:txBody>
      </p:sp>
      <p:sp>
        <p:nvSpPr>
          <p:cNvPr id="5" name="文本框 4"/>
          <p:cNvSpPr txBox="1"/>
          <p:nvPr/>
        </p:nvSpPr>
        <p:spPr>
          <a:xfrm>
            <a:off x="871860" y="1957536"/>
            <a:ext cx="6626622" cy="461665"/>
          </a:xfrm>
          <a:prstGeom prst="rect">
            <a:avLst/>
          </a:prstGeom>
          <a:noFill/>
        </p:spPr>
        <p:txBody>
          <a:bodyPr wrap="square" rtlCol="0">
            <a:spAutoFit/>
          </a:bodyPr>
          <a:lstStyle/>
          <a:p>
            <a:pPr algn="l"/>
            <a:r>
              <a:rPr lang="en-US" altLang="zh-CN" sz="2400" dirty="0" err="1" smtClean="0"/>
              <a:t>Kripke</a:t>
            </a:r>
            <a:r>
              <a:rPr lang="zh-CN" altLang="en-US" sz="2400" dirty="0" smtClean="0"/>
              <a:t>结构</a:t>
            </a:r>
            <a:r>
              <a:rPr lang="zh-CN" altLang="zh-CN" sz="2400" dirty="0" smtClean="0"/>
              <a:t> </a:t>
            </a:r>
            <a:endParaRPr kumimoji="1" lang="zh-CN" altLang="en-US" sz="2400" dirty="0"/>
          </a:p>
        </p:txBody>
      </p:sp>
      <mc:AlternateContent xmlns:mc="http://schemas.openxmlformats.org/markup-compatibility/2006">
        <mc:Choice xmlns:a14="http://schemas.microsoft.com/office/drawing/2010/main" Requires="a14">
          <p:sp>
            <p:nvSpPr>
              <p:cNvPr id="4" name="文本框 3"/>
              <p:cNvSpPr txBox="1"/>
              <p:nvPr/>
            </p:nvSpPr>
            <p:spPr>
              <a:xfrm>
                <a:off x="1258094" y="2647167"/>
                <a:ext cx="5256584" cy="52322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m:rPr>
                          <m:sty m:val="p"/>
                        </m:rPr>
                        <a:rPr lang="en-US" altLang="zh-CN" sz="2800">
                          <a:latin typeface="Cambria Math" panose="02040503050406030204" charset="0"/>
                        </a:rPr>
                        <m:t>K</m:t>
                      </m:r>
                      <m:r>
                        <a:rPr lang="en-US" altLang="zh-CN" sz="2800">
                          <a:latin typeface="Cambria Math" panose="02040503050406030204" charset="0"/>
                        </a:rPr>
                        <m:t>≜(</m:t>
                      </m:r>
                      <m:r>
                        <m:rPr>
                          <m:sty m:val="p"/>
                        </m:rPr>
                        <a:rPr lang="en-US" altLang="zh-CN" sz="2800">
                          <a:latin typeface="Cambria Math" panose="02040503050406030204" charset="0"/>
                        </a:rPr>
                        <m:t>S</m:t>
                      </m:r>
                      <m:r>
                        <a:rPr lang="en-US" altLang="zh-CN" sz="2800">
                          <a:latin typeface="Cambria Math" panose="02040503050406030204" charset="0"/>
                        </a:rPr>
                        <m:t>,</m:t>
                      </m:r>
                      <m:sSub>
                        <m:sSubPr>
                          <m:ctrlPr>
                            <a:rPr lang="zh-CN" altLang="zh-CN" sz="2800" i="1">
                              <a:latin typeface="Cambria Math" panose="02040503050406030204" charset="0"/>
                            </a:rPr>
                          </m:ctrlPr>
                        </m:sSubPr>
                        <m:e>
                          <m:r>
                            <a:rPr lang="en-US" altLang="zh-CN" sz="2800" i="1">
                              <a:latin typeface="Cambria Math" panose="02040503050406030204" charset="0"/>
                            </a:rPr>
                            <m:t>𝑆</m:t>
                          </m:r>
                        </m:e>
                        <m:sub>
                          <m:r>
                            <a:rPr lang="en-US" altLang="zh-CN" sz="2800" i="1">
                              <a:latin typeface="Cambria Math" panose="02040503050406030204" charset="0"/>
                            </a:rPr>
                            <m:t>0</m:t>
                          </m:r>
                        </m:sub>
                      </m:sSub>
                      <m:r>
                        <a:rPr lang="en-US" altLang="zh-CN" sz="2800">
                          <a:latin typeface="Cambria Math" panose="02040503050406030204" charset="0"/>
                        </a:rPr>
                        <m:t>,</m:t>
                      </m:r>
                      <m:r>
                        <m:rPr>
                          <m:sty m:val="p"/>
                        </m:rPr>
                        <a:rPr lang="en-US" altLang="zh-CN" sz="2800">
                          <a:latin typeface="Cambria Math" panose="02040503050406030204" charset="0"/>
                        </a:rPr>
                        <m:t>R</m:t>
                      </m:r>
                      <m:r>
                        <a:rPr lang="en-US" altLang="zh-CN" sz="2800">
                          <a:latin typeface="Cambria Math" panose="02040503050406030204" charset="0"/>
                        </a:rPr>
                        <m:t>,</m:t>
                      </m:r>
                      <m:r>
                        <m:rPr>
                          <m:sty m:val="p"/>
                        </m:rPr>
                        <a:rPr lang="en-US" altLang="zh-CN" sz="2800">
                          <a:latin typeface="Cambria Math" panose="02040503050406030204" charset="0"/>
                        </a:rPr>
                        <m:t>δ</m:t>
                      </m:r>
                      <m:r>
                        <a:rPr lang="en-US" altLang="zh-CN" sz="2800">
                          <a:latin typeface="Cambria Math" panose="02040503050406030204" charset="0"/>
                        </a:rPr>
                        <m:t>)</m:t>
                      </m:r>
                    </m:oMath>
                  </m:oMathPara>
                </a14:m>
                <a:endParaRPr lang="zh-CN" altLang="zh-CN" sz="2800" dirty="0"/>
              </a:p>
            </p:txBody>
          </p:sp>
        </mc:Choice>
        <mc:Fallback>
          <p:sp>
            <p:nvSpPr>
              <p:cNvPr id="4" name="文本框 3"/>
              <p:cNvSpPr txBox="1">
                <a:spLocks noRot="1" noChangeAspect="1" noMove="1" noResize="1" noEditPoints="1" noAdjustHandles="1" noChangeArrowheads="1" noChangeShapeType="1" noTextEdit="1"/>
              </p:cNvSpPr>
              <p:nvPr/>
            </p:nvSpPr>
            <p:spPr>
              <a:xfrm>
                <a:off x="1258094" y="2647167"/>
                <a:ext cx="5256584" cy="523220"/>
              </a:xfrm>
              <a:prstGeom prst="rect">
                <a:avLst/>
              </a:prstGeom>
              <a:blipFill rotWithShape="1">
                <a:blip r:embed="rId1"/>
                <a:stretch>
                  <a:fillRect l="-3" t="-93" r="4" b="8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849896" y="3323803"/>
                <a:ext cx="7300540" cy="1766766"/>
              </a:xfrm>
              <a:prstGeom prst="rect">
                <a:avLst/>
              </a:prstGeom>
              <a:noFill/>
            </p:spPr>
            <p:txBody>
              <a:bodyPr wrap="square" rtlCol="0">
                <a:spAutoFit/>
              </a:bodyPr>
              <a:lstStyle/>
              <a:p>
                <a:pPr algn="l"/>
                <a14:m>
                  <m:oMath xmlns:m="http://schemas.openxmlformats.org/officeDocument/2006/math">
                    <m:r>
                      <m:rPr>
                        <m:sty m:val="p"/>
                      </m:rPr>
                      <a:rPr lang="en-US" altLang="zh-CN" smtClean="0">
                        <a:latin typeface="Cambria Math" panose="02040503050406030204" charset="0"/>
                      </a:rPr>
                      <m:t>S</m:t>
                    </m:r>
                    <m:r>
                      <a:rPr lang="zh-CN" altLang="en-US" b="0" i="0" smtClean="0">
                        <a:latin typeface="Cambria Math" panose="02040503050406030204" charset="0"/>
                      </a:rPr>
                      <m:t>：</m:t>
                    </m:r>
                  </m:oMath>
                </a14:m>
                <a:r>
                  <a:rPr lang="zh-CN" altLang="zh-CN" dirty="0"/>
                  <a:t>系统状态的有限集合。</a:t>
                </a:r>
                <a:endParaRPr lang="zh-CN" altLang="zh-CN" dirty="0"/>
              </a:p>
              <a:p>
                <a:pPr algn="l"/>
                <a14:m>
                  <m:oMath xmlns:m="http://schemas.openxmlformats.org/officeDocument/2006/math">
                    <m:sSub>
                      <m:sSubPr>
                        <m:ctrlPr>
                          <a:rPr lang="zh-CN" altLang="zh-CN" i="1">
                            <a:latin typeface="Cambria Math" panose="02040503050406030204" charset="0"/>
                          </a:rPr>
                        </m:ctrlPr>
                      </m:sSubPr>
                      <m:e>
                        <m:r>
                          <a:rPr lang="en-US" altLang="zh-CN" i="1">
                            <a:latin typeface="Cambria Math" panose="02040503050406030204" charset="0"/>
                          </a:rPr>
                          <m:t>𝑆</m:t>
                        </m:r>
                      </m:e>
                      <m:sub>
                        <m:r>
                          <a:rPr lang="en-US" altLang="zh-CN" i="1">
                            <a:latin typeface="Cambria Math" panose="02040503050406030204" charset="0"/>
                          </a:rPr>
                          <m:t>0</m:t>
                        </m:r>
                      </m:sub>
                    </m:sSub>
                  </m:oMath>
                </a14:m>
                <a:r>
                  <a:rPr lang="zh-CN" altLang="zh-CN" dirty="0"/>
                  <a:t>：系统的初始状态。 </a:t>
                </a:r>
                <a:endParaRPr lang="zh-CN" altLang="zh-CN" dirty="0"/>
              </a:p>
              <a:p>
                <a:pPr algn="l"/>
                <a14:m>
                  <m:oMath xmlns:m="http://schemas.openxmlformats.org/officeDocument/2006/math">
                    <m:r>
                      <m:rPr>
                        <m:sty m:val="p"/>
                      </m:rPr>
                      <a:rPr lang="en-US" altLang="zh-CN">
                        <a:latin typeface="Cambria Math" panose="02040503050406030204" charset="0"/>
                      </a:rPr>
                      <m:t>R</m:t>
                    </m:r>
                  </m:oMath>
                </a14:m>
                <a:r>
                  <a:rPr lang="zh-CN" altLang="zh-CN" dirty="0"/>
                  <a:t>：表示一个状态之间的迁移关系</a:t>
                </a:r>
                <a:r>
                  <a:rPr lang="en-US" altLang="zh-CN" dirty="0"/>
                  <a:t>(</a:t>
                </a:r>
                <a14:m>
                  <m:oMath xmlns:m="http://schemas.openxmlformats.org/officeDocument/2006/math">
                    <m:r>
                      <m:rPr>
                        <m:sty m:val="p"/>
                      </m:rPr>
                      <a:rPr lang="en-US" altLang="zh-CN">
                        <a:latin typeface="Cambria Math" panose="02040503050406030204" charset="0"/>
                      </a:rPr>
                      <m:t>S</m:t>
                    </m:r>
                    <m:r>
                      <a:rPr lang="en-US" altLang="zh-CN">
                        <a:latin typeface="Cambria Math" panose="02040503050406030204" charset="0"/>
                      </a:rPr>
                      <m:t>→</m:t>
                    </m:r>
                    <m:sSup>
                      <m:sSupPr>
                        <m:ctrlPr>
                          <a:rPr lang="zh-CN" altLang="zh-CN" i="1">
                            <a:latin typeface="Cambria Math" panose="02040503050406030204" charset="0"/>
                          </a:rPr>
                        </m:ctrlPr>
                      </m:sSupPr>
                      <m:e>
                        <m:r>
                          <a:rPr lang="en-US" altLang="zh-CN" i="1">
                            <a:latin typeface="Cambria Math" panose="02040503050406030204" charset="0"/>
                          </a:rPr>
                          <m:t>2</m:t>
                        </m:r>
                      </m:e>
                      <m:sup>
                        <m:r>
                          <a:rPr lang="en-US" altLang="zh-CN" i="1">
                            <a:latin typeface="Cambria Math" panose="02040503050406030204" charset="0"/>
                          </a:rPr>
                          <m:t>𝑆</m:t>
                        </m:r>
                      </m:sup>
                    </m:sSup>
                  </m:oMath>
                </a14:m>
                <a:r>
                  <a:rPr lang="en-US" altLang="zh-CN" dirty="0"/>
                  <a:t>)</a:t>
                </a:r>
                <a:r>
                  <a:rPr lang="zh-CN" altLang="zh-CN" dirty="0"/>
                  <a:t>。</a:t>
                </a:r>
                <a:endParaRPr lang="zh-CN" altLang="zh-CN" dirty="0"/>
              </a:p>
              <a:p>
                <a:pPr algn="l"/>
                <a14:m>
                  <m:oMath xmlns:m="http://schemas.openxmlformats.org/officeDocument/2006/math">
                    <m:r>
                      <m:rPr>
                        <m:sty m:val="p"/>
                      </m:rPr>
                      <a:rPr lang="en-US" altLang="zh-CN">
                        <a:latin typeface="Cambria Math" panose="02040503050406030204" charset="0"/>
                      </a:rPr>
                      <m:t>δ</m:t>
                    </m:r>
                  </m:oMath>
                </a14:m>
                <a:r>
                  <a:rPr lang="zh-CN" altLang="zh-CN" dirty="0"/>
                  <a:t>：表示一个状态与原子命题</a:t>
                </a:r>
                <a:r>
                  <a:rPr lang="en-US" altLang="zh-CN" dirty="0"/>
                  <a:t>AP</a:t>
                </a:r>
                <a:r>
                  <a:rPr lang="zh-CN" altLang="zh-CN" dirty="0"/>
                  <a:t>之间对应关系的标签函数</a:t>
                </a:r>
                <a:r>
                  <a:rPr lang="en-US" altLang="zh-CN" dirty="0"/>
                  <a:t>(</a:t>
                </a:r>
                <a14:m>
                  <m:oMath xmlns:m="http://schemas.openxmlformats.org/officeDocument/2006/math">
                    <m:r>
                      <m:rPr>
                        <m:sty m:val="p"/>
                      </m:rPr>
                      <a:rPr lang="en-US" altLang="zh-CN">
                        <a:latin typeface="Cambria Math" panose="02040503050406030204" charset="0"/>
                      </a:rPr>
                      <m:t>S</m:t>
                    </m:r>
                    <m:r>
                      <a:rPr lang="en-US" altLang="zh-CN">
                        <a:latin typeface="Cambria Math" panose="02040503050406030204" charset="0"/>
                      </a:rPr>
                      <m:t>→</m:t>
                    </m:r>
                    <m:sSup>
                      <m:sSupPr>
                        <m:ctrlPr>
                          <a:rPr lang="zh-CN" altLang="zh-CN" i="1">
                            <a:latin typeface="Cambria Math" panose="02040503050406030204" charset="0"/>
                          </a:rPr>
                        </m:ctrlPr>
                      </m:sSupPr>
                      <m:e>
                        <m:r>
                          <a:rPr lang="en-US" altLang="zh-CN" i="1">
                            <a:latin typeface="Cambria Math" panose="02040503050406030204" charset="0"/>
                          </a:rPr>
                          <m:t>2</m:t>
                        </m:r>
                      </m:e>
                      <m:sup>
                        <m:r>
                          <a:rPr lang="en-US" altLang="zh-CN" i="1">
                            <a:latin typeface="Cambria Math" panose="02040503050406030204" charset="0"/>
                          </a:rPr>
                          <m:t>𝐴𝑃</m:t>
                        </m:r>
                      </m:sup>
                    </m:sSup>
                  </m:oMath>
                </a14:m>
                <a:r>
                  <a:rPr lang="en-US" altLang="zh-CN" dirty="0"/>
                  <a:t>)</a:t>
                </a:r>
                <a:r>
                  <a:rPr lang="zh-CN" altLang="zh-CN" dirty="0" smtClean="0"/>
                  <a:t>。</a:t>
                </a:r>
                <a:endParaRPr lang="en-US" altLang="zh-CN" dirty="0" smtClean="0"/>
              </a:p>
              <a:p>
                <a:pPr algn="l"/>
                <a:endParaRPr lang="en-US" altLang="zh-CN" dirty="0" smtClean="0"/>
              </a:p>
              <a:p>
                <a:pPr algn="l"/>
                <a:r>
                  <a:rPr lang="zh-CN" altLang="en-US" dirty="0" smtClean="0"/>
                  <a:t>使用系统状态的迁移序列</a:t>
                </a:r>
                <a14:m>
                  <m:oMath xmlns:m="http://schemas.openxmlformats.org/officeDocument/2006/math">
                    <m:sSub>
                      <m:sSubPr>
                        <m:ctrlPr>
                          <a:rPr lang="zh-CN" altLang="zh-CN" i="1">
                            <a:latin typeface="Cambria Math" panose="02040503050406030204" charset="0"/>
                          </a:rPr>
                        </m:ctrlPr>
                      </m:sSubPr>
                      <m:e>
                        <m:r>
                          <a:rPr lang="en-US" altLang="zh-CN" i="1">
                            <a:latin typeface="Cambria Math" panose="02040503050406030204" charset="0"/>
                          </a:rPr>
                          <m:t>𝑠</m:t>
                        </m:r>
                      </m:e>
                      <m:sub>
                        <m:r>
                          <a:rPr lang="en-US" altLang="zh-CN" i="1">
                            <a:latin typeface="Cambria Math" panose="02040503050406030204" charset="0"/>
                          </a:rPr>
                          <m:t>0</m:t>
                        </m:r>
                      </m:sub>
                    </m:sSub>
                    <m:sSub>
                      <m:sSubPr>
                        <m:ctrlPr>
                          <a:rPr lang="zh-CN" altLang="zh-CN" i="1">
                            <a:latin typeface="Cambria Math" panose="02040503050406030204" charset="0"/>
                          </a:rPr>
                        </m:ctrlPr>
                      </m:sSubPr>
                      <m:e>
                        <m:r>
                          <a:rPr lang="en-US" altLang="zh-CN" i="1">
                            <a:latin typeface="Cambria Math" panose="02040503050406030204" charset="0"/>
                          </a:rPr>
                          <m:t>𝑠</m:t>
                        </m:r>
                      </m:e>
                      <m:sub>
                        <m:r>
                          <a:rPr lang="en-US" altLang="zh-CN" i="1">
                            <a:latin typeface="Cambria Math" panose="02040503050406030204" charset="0"/>
                          </a:rPr>
                          <m:t>1</m:t>
                        </m:r>
                      </m:sub>
                    </m:sSub>
                    <m:sSub>
                      <m:sSubPr>
                        <m:ctrlPr>
                          <a:rPr lang="zh-CN" altLang="zh-CN" i="1">
                            <a:latin typeface="Cambria Math" panose="02040503050406030204" charset="0"/>
                          </a:rPr>
                        </m:ctrlPr>
                      </m:sSubPr>
                      <m:e>
                        <m:r>
                          <a:rPr lang="en-US" altLang="zh-CN" i="1">
                            <a:latin typeface="Cambria Math" panose="02040503050406030204" charset="0"/>
                          </a:rPr>
                          <m:t>𝑠</m:t>
                        </m:r>
                      </m:e>
                      <m:sub>
                        <m:r>
                          <a:rPr lang="en-US" altLang="zh-CN" i="1">
                            <a:latin typeface="Cambria Math" panose="02040503050406030204" charset="0"/>
                          </a:rPr>
                          <m:t>2</m:t>
                        </m:r>
                      </m:sub>
                    </m:sSub>
                    <m:sSub>
                      <m:sSubPr>
                        <m:ctrlPr>
                          <a:rPr lang="zh-CN" altLang="zh-CN" i="1">
                            <a:latin typeface="Cambria Math" panose="02040503050406030204" charset="0"/>
                          </a:rPr>
                        </m:ctrlPr>
                      </m:sSubPr>
                      <m:e>
                        <m:r>
                          <a:rPr lang="en-US" altLang="zh-CN" i="1">
                            <a:latin typeface="Cambria Math" panose="02040503050406030204" charset="0"/>
                          </a:rPr>
                          <m:t>𝑠</m:t>
                        </m:r>
                      </m:e>
                      <m:sub>
                        <m:r>
                          <a:rPr lang="en-US" altLang="zh-CN" i="1">
                            <a:latin typeface="Cambria Math" panose="02040503050406030204" charset="0"/>
                          </a:rPr>
                          <m:t>3</m:t>
                        </m:r>
                      </m:sub>
                    </m:sSub>
                    <m:r>
                      <a:rPr lang="en-US" altLang="zh-CN" i="1">
                        <a:latin typeface="Cambria Math" panose="02040503050406030204" charset="0"/>
                      </a:rPr>
                      <m:t>…</m:t>
                    </m:r>
                  </m:oMath>
                </a14:m>
                <a:r>
                  <a:rPr lang="zh-CN" altLang="en-US" dirty="0" smtClean="0"/>
                  <a:t>表示</a:t>
                </a:r>
                <a:r>
                  <a:rPr lang="zh-CN" altLang="en-US" dirty="0"/>
                  <a:t>系统运行</a:t>
                </a:r>
                <a:r>
                  <a:rPr lang="zh-CN" altLang="en-US" dirty="0" smtClean="0"/>
                  <a:t>轨迹</a:t>
                </a:r>
                <a:endParaRPr lang="zh-CN" altLang="zh-CN" dirty="0"/>
              </a:p>
            </p:txBody>
          </p:sp>
        </mc:Choice>
        <mc:Fallback>
          <p:sp>
            <p:nvSpPr>
              <p:cNvPr id="6" name="文本框 5"/>
              <p:cNvSpPr txBox="1">
                <a:spLocks noRot="1" noChangeAspect="1" noMove="1" noResize="1" noEditPoints="1" noAdjustHandles="1" noChangeArrowheads="1" noChangeShapeType="1" noTextEdit="1"/>
              </p:cNvSpPr>
              <p:nvPr/>
            </p:nvSpPr>
            <p:spPr>
              <a:xfrm>
                <a:off x="849896" y="3323803"/>
                <a:ext cx="7300540" cy="1766766"/>
              </a:xfrm>
              <a:prstGeom prst="rect">
                <a:avLst/>
              </a:prstGeom>
              <a:blipFill rotWithShape="1">
                <a:blip r:embed="rId2"/>
                <a:stretch>
                  <a:fillRect l="-4" t="-12" r="3" b="23"/>
                </a:stretch>
              </a:blipFill>
            </p:spPr>
            <p:txBody>
              <a:bodyPr/>
              <a:lstStyle/>
              <a:p>
                <a:r>
                  <a:rPr lang="zh-CN" altLang="en-US">
                    <a:noFill/>
                  </a:rPr>
                  <a:t> </a:t>
                </a:r>
              </a:p>
            </p:txBody>
          </p:sp>
        </mc:Fallback>
      </mc:AlternateContent>
      <p:sp>
        <p:nvSpPr>
          <p:cNvPr id="2" name="文本框 1"/>
          <p:cNvSpPr txBox="1"/>
          <p:nvPr/>
        </p:nvSpPr>
        <p:spPr>
          <a:xfrm>
            <a:off x="1376859" y="5213103"/>
            <a:ext cx="5616624" cy="400110"/>
          </a:xfrm>
          <a:prstGeom prst="rect">
            <a:avLst/>
          </a:prstGeom>
          <a:noFill/>
        </p:spPr>
        <p:txBody>
          <a:bodyPr wrap="square" rtlCol="0">
            <a:spAutoFit/>
          </a:bodyPr>
          <a:lstStyle/>
          <a:p>
            <a:r>
              <a:rPr kumimoji="1" lang="zh-CN" altLang="en-US" sz="2000" dirty="0" smtClean="0">
                <a:solidFill>
                  <a:srgbClr val="FF0000"/>
                </a:solidFill>
              </a:rPr>
              <a:t>不能细化系统中重要组件的状态</a:t>
            </a:r>
            <a:endParaRPr kumimoji="1" lang="en-US" altLang="zh-CN" sz="2000" dirty="0"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checkerboard(across)">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checkerboard(across)">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checkerboard(across)">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checkerboard(across)">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dissolve">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16" name="Title 1"/>
          <p:cNvSpPr>
            <a:spLocks noGrp="1"/>
          </p:cNvSpPr>
          <p:nvPr>
            <p:ph type="title"/>
          </p:nvPr>
        </p:nvSpPr>
        <p:spPr>
          <a:xfrm>
            <a:off x="1115616" y="476672"/>
            <a:ext cx="6769100" cy="576262"/>
          </a:xfrm>
        </p:spPr>
        <p:txBody>
          <a:bodyPr/>
          <a:lstStyle/>
          <a:p>
            <a:r>
              <a:rPr lang="en-US" altLang="zh-CN" b="1" dirty="0"/>
              <a:t>3</a:t>
            </a:r>
            <a:r>
              <a:rPr lang="en-US" altLang="zh-CN" b="1" dirty="0" smtClean="0"/>
              <a:t>.2</a:t>
            </a:r>
            <a:r>
              <a:rPr lang="zh-CN" altLang="en-US" b="1" dirty="0" smtClean="0"/>
              <a:t> 待检测性质形式化</a:t>
            </a:r>
            <a:endParaRPr lang="en-US" altLang="zh-CN" b="1" dirty="0"/>
          </a:p>
        </p:txBody>
      </p:sp>
      <mc:AlternateContent xmlns:mc="http://schemas.openxmlformats.org/markup-compatibility/2006">
        <mc:Choice xmlns:a14="http://schemas.microsoft.com/office/drawing/2010/main" Requires="a14">
          <p:sp>
            <p:nvSpPr>
              <p:cNvPr id="2" name="内容占位符 1"/>
              <p:cNvSpPr>
                <a:spLocks noGrp="1"/>
              </p:cNvSpPr>
              <p:nvPr>
                <p:ph idx="1"/>
              </p:nvPr>
            </p:nvSpPr>
            <p:spPr>
              <a:xfrm>
                <a:off x="215008" y="2698887"/>
                <a:ext cx="8928992" cy="576064"/>
              </a:xfrm>
            </p:spPr>
            <p:txBody>
              <a:bodyPr/>
              <a:lstStyle/>
              <a:p>
                <a:pPr marL="0" indent="0">
                  <a:buNone/>
                </a:pPr>
                <a14:m>
                  <m:oMath xmlns:m="http://schemas.openxmlformats.org/officeDocument/2006/math">
                    <m:r>
                      <m:rPr>
                        <m:sty m:val="p"/>
                      </m:rPr>
                      <a:rPr lang="el-GR" altLang="zh-CN" sz="2400" i="1" smtClean="0">
                        <a:latin typeface="Cambria Math" panose="02040503050406030204" charset="0"/>
                      </a:rPr>
                      <m:t>Φ</m:t>
                    </m:r>
                    <m:r>
                      <a:rPr lang="en-US" altLang="zh-CN" sz="2400" b="0" i="0" smtClean="0">
                        <a:latin typeface="Cambria Math" panose="02040503050406030204" charset="0"/>
                      </a:rPr>
                      <m:t>::</m:t>
                    </m:r>
                    <m:r>
                      <a:rPr lang="en-US" altLang="zh-CN" sz="2400" smtClean="0">
                        <a:latin typeface="Cambria Math" panose="02040503050406030204" charset="0"/>
                      </a:rPr>
                      <m:t>=</m:t>
                    </m:r>
                    <m:r>
                      <m:rPr>
                        <m:sty m:val="p"/>
                      </m:rPr>
                      <a:rPr lang="en-US" altLang="zh-CN" sz="2400">
                        <a:latin typeface="Cambria Math" panose="02040503050406030204" charset="0"/>
                      </a:rPr>
                      <m:t>p</m:t>
                    </m:r>
                    <m:r>
                      <a:rPr lang="en-US" altLang="zh-CN" sz="2400">
                        <a:latin typeface="Cambria Math" panose="02040503050406030204" charset="0"/>
                      </a:rPr>
                      <m:t>|¬</m:t>
                    </m:r>
                    <m:r>
                      <m:rPr>
                        <m:sty m:val="p"/>
                      </m:rPr>
                      <a:rPr lang="en-US" altLang="zh-CN" sz="2400">
                        <a:latin typeface="Cambria Math" panose="02040503050406030204" charset="0"/>
                      </a:rPr>
                      <m:t>ϕ</m:t>
                    </m:r>
                    <m:r>
                      <a:rPr lang="en-US" altLang="zh-CN" sz="2400">
                        <a:latin typeface="Cambria Math" panose="02040503050406030204" charset="0"/>
                      </a:rPr>
                      <m:t>|</m:t>
                    </m:r>
                    <m:r>
                      <m:rPr>
                        <m:sty m:val="p"/>
                      </m:rPr>
                      <a:rPr lang="en-US" altLang="zh-CN" sz="2400">
                        <a:latin typeface="Cambria Math" panose="02040503050406030204" charset="0"/>
                      </a:rPr>
                      <m:t>ϕ</m:t>
                    </m:r>
                    <m:r>
                      <a:rPr lang="en-US" altLang="zh-CN" sz="2400">
                        <a:latin typeface="Cambria Math" panose="02040503050406030204" charset="0"/>
                      </a:rPr>
                      <m:t>⋁</m:t>
                    </m:r>
                    <m:r>
                      <m:rPr>
                        <m:sty m:val="p"/>
                      </m:rPr>
                      <a:rPr lang="en-US" altLang="zh-CN" sz="2400">
                        <a:latin typeface="Cambria Math" panose="02040503050406030204" charset="0"/>
                      </a:rPr>
                      <m:t>ϕ</m:t>
                    </m:r>
                    <m:r>
                      <a:rPr lang="en-US" altLang="zh-CN" sz="2400">
                        <a:latin typeface="Cambria Math" panose="02040503050406030204" charset="0"/>
                      </a:rPr>
                      <m:t>|</m:t>
                    </m:r>
                    <m:r>
                      <m:rPr>
                        <m:sty m:val="p"/>
                      </m:rPr>
                      <a:rPr lang="en-US" altLang="zh-CN" sz="2400">
                        <a:latin typeface="Cambria Math" panose="02040503050406030204" charset="0"/>
                      </a:rPr>
                      <m:t>EXϕ</m:t>
                    </m:r>
                    <m:r>
                      <a:rPr lang="en-US" altLang="zh-CN" sz="2400" b="0" i="0" smtClean="0">
                        <a:latin typeface="Cambria Math" panose="02040503050406030204" charset="0"/>
                      </a:rPr>
                      <m:t>|</m:t>
                    </m:r>
                    <m:r>
                      <m:rPr>
                        <m:sty m:val="p"/>
                      </m:rPr>
                      <a:rPr lang="en-US" altLang="zh-CN" sz="2400" b="0" i="0" smtClean="0">
                        <a:latin typeface="Cambria Math" panose="02040503050406030204" charset="0"/>
                      </a:rPr>
                      <m:t>AXϕ</m:t>
                    </m:r>
                    <m:r>
                      <a:rPr lang="en-US" altLang="zh-CN" sz="2400">
                        <a:latin typeface="Cambria Math" panose="02040503050406030204" charset="0"/>
                      </a:rPr>
                      <m:t>|</m:t>
                    </m:r>
                    <m:r>
                      <m:rPr>
                        <m:sty m:val="p"/>
                      </m:rPr>
                      <a:rPr lang="en-US" altLang="zh-CN" sz="2400" b="0" i="0" smtClean="0">
                        <a:latin typeface="Cambria Math" panose="02040503050406030204" charset="0"/>
                      </a:rPr>
                      <m:t>E</m:t>
                    </m:r>
                    <m:r>
                      <m:rPr>
                        <m:sty m:val="p"/>
                      </m:rPr>
                      <a:rPr lang="en-US" altLang="zh-CN" sz="2400">
                        <a:latin typeface="Cambria Math" panose="02040503050406030204" charset="0"/>
                      </a:rPr>
                      <m:t>Gϕ</m:t>
                    </m:r>
                    <m:r>
                      <a:rPr lang="en-US" altLang="zh-CN" sz="2400">
                        <a:latin typeface="Cambria Math" panose="02040503050406030204" charset="0"/>
                      </a:rPr>
                      <m:t>|</m:t>
                    </m:r>
                    <m:r>
                      <m:rPr>
                        <m:sty m:val="p"/>
                      </m:rPr>
                      <a:rPr lang="en-US" altLang="zh-CN" sz="2400" b="0" i="0" smtClean="0">
                        <a:latin typeface="Cambria Math" panose="02040503050406030204" charset="0"/>
                      </a:rPr>
                      <m:t>AG</m:t>
                    </m:r>
                    <m:r>
                      <m:rPr>
                        <m:sty m:val="p"/>
                      </m:rPr>
                      <a:rPr lang="en-US" altLang="zh-CN" sz="2400">
                        <a:latin typeface="Cambria Math" panose="02040503050406030204" charset="0"/>
                      </a:rPr>
                      <m:t>ϕ</m:t>
                    </m:r>
                    <m:r>
                      <a:rPr lang="en-US" altLang="zh-CN" sz="2400" b="0" i="0" smtClean="0">
                        <a:latin typeface="Cambria Math" panose="02040503050406030204" charset="0"/>
                      </a:rPr>
                      <m:t>|</m:t>
                    </m:r>
                    <m:r>
                      <m:rPr>
                        <m:sty m:val="p"/>
                      </m:rPr>
                      <a:rPr lang="en-US" altLang="zh-CN" sz="2400" b="0" i="0" smtClean="0">
                        <a:latin typeface="Cambria Math" panose="02040503050406030204" charset="0"/>
                      </a:rPr>
                      <m:t>EFϕ</m:t>
                    </m:r>
                    <m:r>
                      <a:rPr lang="en-US" altLang="zh-CN" sz="2400" b="0" i="0" smtClean="0">
                        <a:latin typeface="Cambria Math" panose="02040503050406030204" charset="0"/>
                      </a:rPr>
                      <m:t>|</m:t>
                    </m:r>
                    <m:r>
                      <m:rPr>
                        <m:sty m:val="p"/>
                      </m:rPr>
                      <a:rPr lang="en-US" altLang="zh-CN" sz="2400" b="0" i="0" smtClean="0">
                        <a:latin typeface="Cambria Math" panose="02040503050406030204" charset="0"/>
                      </a:rPr>
                      <m:t>AFϕ</m:t>
                    </m:r>
                    <m:r>
                      <a:rPr lang="en-US" altLang="zh-CN" sz="2400" b="0" i="0" smtClean="0">
                        <a:latin typeface="Cambria Math" panose="02040503050406030204" charset="0"/>
                      </a:rPr>
                      <m:t>|</m:t>
                    </m:r>
                    <m:r>
                      <m:rPr>
                        <m:sty m:val="p"/>
                      </m:rPr>
                      <a:rPr lang="en-US" altLang="zh-CN" sz="2400" b="0" i="0" smtClean="0">
                        <a:latin typeface="Cambria Math" panose="02040503050406030204" charset="0"/>
                      </a:rPr>
                      <m:t>E</m:t>
                    </m:r>
                    <m:r>
                      <a:rPr lang="en-US" altLang="zh-CN" sz="2400" b="0" i="0" smtClean="0">
                        <a:latin typeface="Cambria Math" panose="02040503050406030204" charset="0"/>
                      </a:rPr>
                      <m:t>(</m:t>
                    </m:r>
                    <m:r>
                      <m:rPr>
                        <m:sty m:val="p"/>
                      </m:rPr>
                      <a:rPr lang="en-US" altLang="zh-CN" sz="2400">
                        <a:latin typeface="Cambria Math" panose="02040503050406030204" charset="0"/>
                      </a:rPr>
                      <m:t>ϕUψ</m:t>
                    </m:r>
                    <m:r>
                      <a:rPr lang="en-US" altLang="zh-CN" sz="2400" b="0" i="0" smtClean="0">
                        <a:latin typeface="Cambria Math" panose="02040503050406030204" charset="0"/>
                      </a:rPr>
                      <m:t>)|</m:t>
                    </m:r>
                    <m:r>
                      <m:rPr>
                        <m:sty m:val="p"/>
                      </m:rPr>
                      <a:rPr lang="en-US" altLang="zh-CN" sz="2400" b="0" i="0" smtClean="0">
                        <a:latin typeface="Cambria Math" panose="02040503050406030204" charset="0"/>
                      </a:rPr>
                      <m:t>A</m:t>
                    </m:r>
                    <m:d>
                      <m:dPr>
                        <m:ctrlPr>
                          <a:rPr lang="zh-CN" altLang="zh-CN" sz="2400" i="1">
                            <a:latin typeface="Cambria Math" panose="02040503050406030204" charset="0"/>
                          </a:rPr>
                        </m:ctrlPr>
                      </m:dPr>
                      <m:e>
                        <m:r>
                          <m:rPr>
                            <m:sty m:val="p"/>
                          </m:rPr>
                          <a:rPr lang="en-US" altLang="zh-CN" sz="2400">
                            <a:latin typeface="Cambria Math" panose="02040503050406030204" charset="0"/>
                          </a:rPr>
                          <m:t>ϕUψ</m:t>
                        </m:r>
                      </m:e>
                    </m:d>
                  </m:oMath>
                </a14:m>
                <a:endParaRPr lang="zh-CN" altLang="zh-CN" sz="2400"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215008" y="2698887"/>
                <a:ext cx="8928992" cy="576064"/>
              </a:xfrm>
              <a:blipFill rotWithShape="1">
                <a:blip r:embed="rId1"/>
                <a:stretch>
                  <a:fillRect l="-4" t="-24" b="44"/>
                </a:stretch>
              </a:blipFill>
            </p:spPr>
            <p:txBody>
              <a:bodyPr/>
              <a:lstStyle/>
              <a:p>
                <a:r>
                  <a:rPr lang="zh-CN" altLang="en-US">
                    <a:noFill/>
                  </a:rPr>
                  <a:t> </a:t>
                </a:r>
              </a:p>
            </p:txBody>
          </p:sp>
        </mc:Fallback>
      </mc:AlternateContent>
      <p:sp>
        <p:nvSpPr>
          <p:cNvPr id="3" name="矩形 2"/>
          <p:cNvSpPr/>
          <p:nvPr/>
        </p:nvSpPr>
        <p:spPr>
          <a:xfrm>
            <a:off x="637661" y="1726704"/>
            <a:ext cx="7820539" cy="923330"/>
          </a:xfrm>
          <a:prstGeom prst="rect">
            <a:avLst/>
          </a:prstGeom>
        </p:spPr>
        <p:txBody>
          <a:bodyPr wrap="none">
            <a:spAutoFit/>
          </a:bodyPr>
          <a:lstStyle/>
          <a:p>
            <a:r>
              <a:rPr lang="zh-CN" altLang="en-US" kern="0" dirty="0" smtClean="0">
                <a:solidFill>
                  <a:srgbClr val="000000"/>
                </a:solidFill>
                <a:ea typeface="等线" panose="02010600030101010101" charset="-122"/>
                <a:cs typeface="宋体" panose="02010600030101010101" pitchFamily="2" charset="-122"/>
              </a:rPr>
              <a:t>为了能够在状态机上将待检测</a:t>
            </a:r>
            <a:r>
              <a:rPr lang="zh-CN" altLang="zh-CN" kern="0" dirty="0" smtClean="0">
                <a:solidFill>
                  <a:srgbClr val="000000"/>
                </a:solidFill>
                <a:ea typeface="等线" panose="02010600030101010101" charset="-122"/>
                <a:cs typeface="MS Mincho" charset="-128"/>
              </a:rPr>
              <a:t>的</a:t>
            </a:r>
            <a:r>
              <a:rPr lang="zh-CN" altLang="en-US" kern="0" dirty="0" smtClean="0">
                <a:solidFill>
                  <a:srgbClr val="000000"/>
                </a:solidFill>
                <a:ea typeface="等线" panose="02010600030101010101" charset="-122"/>
                <a:cs typeface="MS Mincho" charset="-128"/>
              </a:rPr>
              <a:t>性质</a:t>
            </a:r>
            <a:r>
              <a:rPr lang="zh-CN" altLang="en-US" kern="0" dirty="0">
                <a:solidFill>
                  <a:srgbClr val="000000"/>
                </a:solidFill>
                <a:ea typeface="等线" panose="02010600030101010101" charset="-122"/>
                <a:cs typeface="宋体" panose="02010600030101010101" pitchFamily="2" charset="-122"/>
              </a:rPr>
              <a:t>进行</a:t>
            </a:r>
            <a:r>
              <a:rPr lang="zh-CN" altLang="en-US" kern="0" dirty="0" smtClean="0">
                <a:solidFill>
                  <a:srgbClr val="000000"/>
                </a:solidFill>
                <a:ea typeface="等线" panose="02010600030101010101" charset="-122"/>
                <a:cs typeface="宋体" panose="02010600030101010101" pitchFamily="2" charset="-122"/>
              </a:rPr>
              <a:t>形式化，需要先使用合适的</a:t>
            </a:r>
            <a:endParaRPr lang="en-US" altLang="zh-CN" kern="0" dirty="0">
              <a:solidFill>
                <a:srgbClr val="000000"/>
              </a:solidFill>
              <a:ea typeface="等线" panose="02010600030101010101" charset="-122"/>
              <a:cs typeface="宋体" panose="02010600030101010101" pitchFamily="2" charset="-122"/>
            </a:endParaRPr>
          </a:p>
          <a:p>
            <a:pPr algn="l"/>
            <a:r>
              <a:rPr lang="zh-CN" altLang="en-US" kern="0" dirty="0" smtClean="0">
                <a:solidFill>
                  <a:srgbClr val="000000"/>
                </a:solidFill>
                <a:ea typeface="等线" panose="02010600030101010101" charset="-122"/>
                <a:cs typeface="宋体" panose="02010600030101010101" pitchFamily="2" charset="-122"/>
              </a:rPr>
              <a:t>时序</a:t>
            </a:r>
            <a:r>
              <a:rPr lang="en-US" altLang="zh-CN" kern="0" dirty="0" smtClean="0">
                <a:solidFill>
                  <a:srgbClr val="000000"/>
                </a:solidFill>
                <a:ea typeface="等线" panose="02010600030101010101" charset="-122"/>
                <a:cs typeface="宋体" panose="02010600030101010101" pitchFamily="2" charset="-122"/>
              </a:rPr>
              <a:t>—</a:t>
            </a:r>
            <a:r>
              <a:rPr lang="zh-CN" altLang="en-US" kern="0" dirty="0" smtClean="0">
                <a:solidFill>
                  <a:srgbClr val="000000"/>
                </a:solidFill>
                <a:ea typeface="等线" panose="02010600030101010101" charset="-122"/>
                <a:cs typeface="宋体" panose="02010600030101010101" pitchFamily="2" charset="-122"/>
              </a:rPr>
              <a:t>感知逻辑对这些性质进行形式化表述，一般使用</a:t>
            </a:r>
            <a:r>
              <a:rPr lang="en-US" altLang="zh-CN" kern="0" dirty="0" smtClean="0">
                <a:solidFill>
                  <a:srgbClr val="000000"/>
                </a:solidFill>
                <a:ea typeface="等线" panose="02010600030101010101" charset="-122"/>
                <a:cs typeface="宋体" panose="02010600030101010101" pitchFamily="2" charset="-122"/>
              </a:rPr>
              <a:t>CTL</a:t>
            </a:r>
            <a:r>
              <a:rPr lang="zh-CN" altLang="en-US" kern="0" dirty="0" smtClean="0">
                <a:solidFill>
                  <a:srgbClr val="000000"/>
                </a:solidFill>
                <a:ea typeface="等线" panose="02010600030101010101" charset="-122"/>
                <a:cs typeface="宋体" panose="02010600030101010101" pitchFamily="2" charset="-122"/>
              </a:rPr>
              <a:t>（计算树逻辑）</a:t>
            </a:r>
            <a:endParaRPr lang="en-US" altLang="zh-CN" kern="0" dirty="0" smtClean="0">
              <a:solidFill>
                <a:srgbClr val="000000"/>
              </a:solidFill>
              <a:ea typeface="等线" panose="02010600030101010101" charset="-122"/>
              <a:cs typeface="宋体" panose="02010600030101010101" pitchFamily="2" charset="-122"/>
            </a:endParaRPr>
          </a:p>
          <a:p>
            <a:pPr algn="l"/>
            <a:r>
              <a:rPr lang="zh-CN" altLang="en-US" kern="0" dirty="0" smtClean="0">
                <a:solidFill>
                  <a:srgbClr val="000000"/>
                </a:solidFill>
                <a:ea typeface="等线" panose="02010600030101010101" charset="-122"/>
                <a:cs typeface="宋体" panose="02010600030101010101" pitchFamily="2" charset="-122"/>
              </a:rPr>
              <a:t>来进行该操作。</a:t>
            </a:r>
            <a:endParaRPr lang="zh-CN" altLang="en-US" dirty="0"/>
          </a:p>
        </p:txBody>
      </p:sp>
      <mc:AlternateContent xmlns:mc="http://schemas.openxmlformats.org/markup-compatibility/2006">
        <mc:Choice xmlns:a14="http://schemas.microsoft.com/office/drawing/2010/main" Requires="a14">
          <p:sp>
            <p:nvSpPr>
              <p:cNvPr id="4" name="矩形 3"/>
              <p:cNvSpPr/>
              <p:nvPr/>
            </p:nvSpPr>
            <p:spPr>
              <a:xfrm>
                <a:off x="333251" y="3323804"/>
                <a:ext cx="8352928" cy="2057038"/>
              </a:xfrm>
              <a:prstGeom prst="rect">
                <a:avLst/>
              </a:prstGeom>
            </p:spPr>
            <p:txBody>
              <a:bodyPr wrap="square">
                <a:spAutoFit/>
              </a:bodyPr>
              <a:lstStyle/>
              <a:p>
                <a:pPr marL="285750" indent="-285750" algn="l">
                  <a:buFont typeface="Arial" panose="020B0604020202020204" pitchFamily="34" charset="0"/>
                  <a:buChar char="•"/>
                </a:pPr>
                <a14:m>
                  <m:oMath xmlns:m="http://schemas.openxmlformats.org/officeDocument/2006/math">
                    <m:r>
                      <m:rPr>
                        <m:sty m:val="p"/>
                      </m:rPr>
                      <a:rPr lang="en-US" altLang="zh-CN" b="0" i="0" kern="0" smtClean="0">
                        <a:solidFill>
                          <a:srgbClr val="000000"/>
                        </a:solidFill>
                        <a:latin typeface="Cambria Math" panose="02040503050406030204" charset="0"/>
                        <a:ea typeface="Calibri" panose="020F0502020204030204" charset="0"/>
                        <a:cs typeface="Calibri" panose="020F0502020204030204" charset="0"/>
                      </a:rPr>
                      <m:t>p</m:t>
                    </m:r>
                    <m:r>
                      <a:rPr lang="en-US" altLang="zh-CN" kern="0" smtClean="0">
                        <a:solidFill>
                          <a:srgbClr val="000000"/>
                        </a:solidFill>
                        <a:effectLst/>
                        <a:latin typeface="Cambria Math" panose="02040503050406030204" charset="0"/>
                        <a:cs typeface="MS Mincho" charset="-128"/>
                      </a:rPr>
                      <m:t>∈</m:t>
                    </m:r>
                    <m:r>
                      <m:rPr>
                        <m:sty m:val="p"/>
                      </m:rPr>
                      <a:rPr lang="en-US" altLang="zh-CN" kern="0" smtClean="0">
                        <a:solidFill>
                          <a:srgbClr val="000000"/>
                        </a:solidFill>
                        <a:effectLst/>
                        <a:latin typeface="Cambria Math" panose="02040503050406030204" charset="0"/>
                        <a:ea typeface="等线" panose="02010600030101010101" charset="-122"/>
                        <a:cs typeface="MS Mincho" charset="-128"/>
                      </a:rPr>
                      <m:t>AP</m:t>
                    </m:r>
                  </m:oMath>
                </a14:m>
                <a:r>
                  <a:rPr lang="zh-CN" altLang="zh-CN" kern="0" dirty="0">
                    <a:solidFill>
                      <a:srgbClr val="000000"/>
                    </a:solidFill>
                    <a:effectLst/>
                    <a:ea typeface="等线" panose="02010600030101010101" charset="-122"/>
                    <a:cs typeface="MS Mincho" charset="-128"/>
                  </a:rPr>
                  <a:t>表示一个原子</a:t>
                </a:r>
                <a:r>
                  <a:rPr lang="zh-CN" altLang="zh-CN" kern="0" dirty="0" smtClean="0">
                    <a:solidFill>
                      <a:srgbClr val="000000"/>
                    </a:solidFill>
                    <a:effectLst/>
                    <a:ea typeface="等线" panose="02010600030101010101" charset="-122"/>
                    <a:cs typeface="MS Mincho" charset="-128"/>
                  </a:rPr>
                  <a:t>命题</a:t>
                </a:r>
                <a:endParaRPr lang="en-US" altLang="zh-CN" kern="0" dirty="0" smtClean="0">
                  <a:solidFill>
                    <a:srgbClr val="000000"/>
                  </a:solidFill>
                  <a:effectLst/>
                  <a:ea typeface="等线" panose="02010600030101010101" charset="-122"/>
                  <a:cs typeface="MS Mincho" charset="-128"/>
                </a:endParaRPr>
              </a:p>
              <a:p>
                <a:pPr marL="285750" indent="-285750" algn="l">
                  <a:buFont typeface="Arial" panose="020B0604020202020204" pitchFamily="34" charset="0"/>
                  <a:buChar char="•"/>
                </a:pPr>
                <a:r>
                  <a:rPr lang="en-US" altLang="zh-CN" kern="0" dirty="0" smtClean="0">
                    <a:solidFill>
                      <a:srgbClr val="000000"/>
                    </a:solidFill>
                    <a:effectLst/>
                    <a:ea typeface="等线" panose="02010600030101010101" charset="-122"/>
                    <a:cs typeface="MS Mincho" charset="-128"/>
                  </a:rPr>
                  <a:t>E</a:t>
                </a:r>
                <a:r>
                  <a:rPr lang="zh-CN" altLang="en-US" kern="0" dirty="0" smtClean="0">
                    <a:solidFill>
                      <a:srgbClr val="000000"/>
                    </a:solidFill>
                    <a:effectLst/>
                    <a:ea typeface="等线" panose="02010600030101010101" charset="-122"/>
                    <a:cs typeface="MS Mincho" charset="-128"/>
                  </a:rPr>
                  <a:t>表示存在一条系统运行轨迹、</a:t>
                </a:r>
                <a:r>
                  <a:rPr lang="en-US" altLang="zh-CN" kern="0" dirty="0" smtClean="0">
                    <a:solidFill>
                      <a:srgbClr val="000000"/>
                    </a:solidFill>
                    <a:effectLst/>
                    <a:ea typeface="等线" panose="02010600030101010101" charset="-122"/>
                    <a:cs typeface="MS Mincho" charset="-128"/>
                  </a:rPr>
                  <a:t>A</a:t>
                </a:r>
                <a:r>
                  <a:rPr lang="zh-CN" altLang="en-US" kern="0" dirty="0" smtClean="0">
                    <a:solidFill>
                      <a:srgbClr val="000000"/>
                    </a:solidFill>
                    <a:effectLst/>
                    <a:ea typeface="等线" panose="02010600030101010101" charset="-122"/>
                    <a:cs typeface="MS Mincho" charset="-128"/>
                  </a:rPr>
                  <a:t>表示每一条系统运行轨迹</a:t>
                </a:r>
                <a:endParaRPr lang="en-US" altLang="zh-CN" kern="0" dirty="0" smtClean="0">
                  <a:solidFill>
                    <a:srgbClr val="000000"/>
                  </a:solidFill>
                  <a:effectLst/>
                  <a:ea typeface="等线" panose="02010600030101010101" charset="-122"/>
                  <a:cs typeface="MS Mincho" charset="-128"/>
                </a:endParaRPr>
              </a:p>
              <a:p>
                <a:pPr marL="285750" indent="-285750" algn="l">
                  <a:buFont typeface="Arial" panose="020B0604020202020204" pitchFamily="34" charset="0"/>
                  <a:buChar char="•"/>
                </a:pPr>
                <a:r>
                  <a:rPr lang="en-US" altLang="zh-CN" kern="0" dirty="0" smtClean="0">
                    <a:solidFill>
                      <a:srgbClr val="000000"/>
                    </a:solidFill>
                    <a:ea typeface="等线" panose="02010600030101010101" charset="-122"/>
                    <a:cs typeface="MS Mincho" charset="-128"/>
                  </a:rPr>
                  <a:t>X</a:t>
                </a:r>
                <a:r>
                  <a:rPr lang="zh-CN" altLang="en-US" kern="0" dirty="0" smtClean="0">
                    <a:solidFill>
                      <a:srgbClr val="000000"/>
                    </a:solidFill>
                    <a:ea typeface="等线" panose="02010600030101010101" charset="-122"/>
                    <a:cs typeface="MS Mincho" charset="-128"/>
                  </a:rPr>
                  <a:t>表示下时刻的系统状态</a:t>
                </a:r>
                <a:endParaRPr lang="en-US" altLang="zh-CN" kern="0" dirty="0" smtClean="0">
                  <a:solidFill>
                    <a:srgbClr val="000000"/>
                  </a:solidFill>
                  <a:ea typeface="等线" panose="02010600030101010101" charset="-122"/>
                  <a:cs typeface="MS Mincho" charset="-128"/>
                </a:endParaRPr>
              </a:p>
              <a:p>
                <a:pPr marL="285750" indent="-285750" algn="l">
                  <a:buFont typeface="Arial" panose="020B0604020202020204" pitchFamily="34" charset="0"/>
                  <a:buChar char="•"/>
                </a:pPr>
                <a:r>
                  <a:rPr lang="en-US" altLang="zh-CN" kern="0" dirty="0" smtClean="0">
                    <a:solidFill>
                      <a:srgbClr val="000000"/>
                    </a:solidFill>
                    <a:ea typeface="等线" panose="02010600030101010101" charset="-122"/>
                    <a:cs typeface="MS Mincho" charset="-128"/>
                  </a:rPr>
                  <a:t>G</a:t>
                </a:r>
                <a:r>
                  <a:rPr lang="zh-CN" altLang="en-US" kern="0" dirty="0" smtClean="0">
                    <a:solidFill>
                      <a:srgbClr val="000000"/>
                    </a:solidFill>
                    <a:ea typeface="等线" panose="02010600030101010101" charset="-122"/>
                    <a:cs typeface="MS Mincho" charset="-128"/>
                  </a:rPr>
                  <a:t>表示该条运行轨迹上的所有系统状态</a:t>
                </a:r>
                <a:endParaRPr lang="en-US" altLang="zh-CN" kern="0" dirty="0" smtClean="0">
                  <a:solidFill>
                    <a:srgbClr val="000000"/>
                  </a:solidFill>
                  <a:ea typeface="等线" panose="02010600030101010101" charset="-122"/>
                  <a:cs typeface="MS Mincho" charset="-128"/>
                </a:endParaRPr>
              </a:p>
              <a:p>
                <a:pPr marL="285750" indent="-285750" algn="l">
                  <a:buFont typeface="Arial" panose="020B0604020202020204" pitchFamily="34" charset="0"/>
                  <a:buChar char="•"/>
                </a:pPr>
                <a:r>
                  <a:rPr lang="en-US" altLang="zh-CN" kern="0" dirty="0" smtClean="0">
                    <a:solidFill>
                      <a:srgbClr val="000000"/>
                    </a:solidFill>
                    <a:effectLst/>
                    <a:ea typeface="等线" panose="02010600030101010101" charset="-122"/>
                    <a:cs typeface="MS Mincho" charset="-128"/>
                  </a:rPr>
                  <a:t>F</a:t>
                </a:r>
                <a:r>
                  <a:rPr lang="zh-CN" altLang="en-US" kern="0" dirty="0" smtClean="0">
                    <a:solidFill>
                      <a:srgbClr val="000000"/>
                    </a:solidFill>
                    <a:effectLst/>
                    <a:ea typeface="等线" panose="02010600030101010101" charset="-122"/>
                    <a:cs typeface="MS Mincho" charset="-128"/>
                  </a:rPr>
                  <a:t>表示该条运行轨迹上系统运行状态最终会达到什么性质</a:t>
                </a:r>
                <a:endParaRPr lang="en-US" altLang="zh-CN" kern="0" dirty="0">
                  <a:solidFill>
                    <a:srgbClr val="000000"/>
                  </a:solidFill>
                  <a:ea typeface="等线" panose="02010600030101010101" charset="-122"/>
                  <a:cs typeface="MS Mincho" charset="-128"/>
                </a:endParaRPr>
              </a:p>
              <a:p>
                <a:pPr marL="285750" indent="-285750" algn="l">
                  <a:buFont typeface="Arial" panose="020B0604020202020204" pitchFamily="34" charset="0"/>
                  <a:buChar char="•"/>
                </a:pPr>
                <a14:m>
                  <m:oMath xmlns:m="http://schemas.openxmlformats.org/officeDocument/2006/math">
                    <m:r>
                      <m:rPr>
                        <m:sty m:val="p"/>
                      </m:rPr>
                      <a:rPr lang="en-US" altLang="zh-CN">
                        <a:latin typeface="Cambria Math" panose="02040503050406030204" charset="0"/>
                      </a:rPr>
                      <m:t>ϕUψ</m:t>
                    </m:r>
                  </m:oMath>
                </a14:m>
                <a:r>
                  <a:rPr lang="zh-CN" altLang="en-US" kern="0" dirty="0" smtClean="0">
                    <a:solidFill>
                      <a:srgbClr val="000000"/>
                    </a:solidFill>
                    <a:effectLst/>
                    <a:ea typeface="等线" panose="02010600030101010101" charset="-122"/>
                    <a:cs typeface="MS Mincho" charset="-128"/>
                  </a:rPr>
                  <a:t>表示在</a:t>
                </a:r>
                <a14:m>
                  <m:oMath xmlns:m="http://schemas.openxmlformats.org/officeDocument/2006/math">
                    <m:r>
                      <m:rPr>
                        <m:sty m:val="p"/>
                      </m:rPr>
                      <a:rPr lang="en-US" altLang="zh-CN">
                        <a:latin typeface="Cambria Math" panose="02040503050406030204" charset="0"/>
                      </a:rPr>
                      <m:t>ψ</m:t>
                    </m:r>
                  </m:oMath>
                </a14:m>
                <a:r>
                  <a:rPr lang="zh-CN" altLang="en-US" kern="0" dirty="0" smtClean="0">
                    <a:solidFill>
                      <a:srgbClr val="000000"/>
                    </a:solidFill>
                    <a:effectLst/>
                    <a:ea typeface="等线" panose="02010600030101010101" charset="-122"/>
                    <a:cs typeface="MS Mincho" charset="-128"/>
                  </a:rPr>
                  <a:t>满足前</a:t>
                </a:r>
                <a14:m>
                  <m:oMath xmlns:m="http://schemas.openxmlformats.org/officeDocument/2006/math">
                    <m:r>
                      <m:rPr>
                        <m:sty m:val="p"/>
                      </m:rPr>
                      <a:rPr lang="en-US" altLang="zh-CN">
                        <a:latin typeface="Cambria Math" panose="02040503050406030204" charset="0"/>
                      </a:rPr>
                      <m:t>ϕ</m:t>
                    </m:r>
                  </m:oMath>
                </a14:m>
                <a:r>
                  <a:rPr lang="zh-CN" altLang="en-US" kern="0" dirty="0" smtClean="0">
                    <a:solidFill>
                      <a:srgbClr val="000000"/>
                    </a:solidFill>
                    <a:effectLst/>
                    <a:ea typeface="等线" panose="02010600030101010101" charset="-122"/>
                    <a:cs typeface="MS Mincho" charset="-128"/>
                  </a:rPr>
                  <a:t>一直被满足：在一条运行轨迹</a:t>
                </a:r>
                <a14:m>
                  <m:oMath xmlns:m="http://schemas.openxmlformats.org/officeDocument/2006/math">
                    <m:sSub>
                      <m:sSubPr>
                        <m:ctrlPr>
                          <a:rPr lang="zh-CN" altLang="zh-CN" i="1">
                            <a:latin typeface="Cambria Math" panose="02040503050406030204" charset="0"/>
                          </a:rPr>
                        </m:ctrlPr>
                      </m:sSubPr>
                      <m:e>
                        <m:r>
                          <a:rPr lang="en-US" altLang="zh-CN" i="1">
                            <a:latin typeface="Cambria Math" panose="02040503050406030204" charset="0"/>
                          </a:rPr>
                          <m:t>𝑠</m:t>
                        </m:r>
                      </m:e>
                      <m:sub>
                        <m:r>
                          <a:rPr lang="en-US" altLang="zh-CN" i="1">
                            <a:latin typeface="Cambria Math" panose="02040503050406030204" charset="0"/>
                          </a:rPr>
                          <m:t>0</m:t>
                        </m:r>
                      </m:sub>
                    </m:sSub>
                    <m:sSub>
                      <m:sSubPr>
                        <m:ctrlPr>
                          <a:rPr lang="zh-CN" altLang="zh-CN" i="1">
                            <a:latin typeface="Cambria Math" panose="02040503050406030204" charset="0"/>
                          </a:rPr>
                        </m:ctrlPr>
                      </m:sSubPr>
                      <m:e>
                        <m:r>
                          <a:rPr lang="en-US" altLang="zh-CN" i="1">
                            <a:latin typeface="Cambria Math" panose="02040503050406030204" charset="0"/>
                          </a:rPr>
                          <m:t>𝑠</m:t>
                        </m:r>
                      </m:e>
                      <m:sub>
                        <m:r>
                          <a:rPr lang="en-US" altLang="zh-CN" i="1">
                            <a:latin typeface="Cambria Math" panose="02040503050406030204" charset="0"/>
                          </a:rPr>
                          <m:t>1</m:t>
                        </m:r>
                      </m:sub>
                    </m:sSub>
                    <m:sSub>
                      <m:sSubPr>
                        <m:ctrlPr>
                          <a:rPr lang="zh-CN" altLang="zh-CN" i="1">
                            <a:latin typeface="Cambria Math" panose="02040503050406030204" charset="0"/>
                          </a:rPr>
                        </m:ctrlPr>
                      </m:sSubPr>
                      <m:e>
                        <m:r>
                          <a:rPr lang="en-US" altLang="zh-CN" i="1">
                            <a:latin typeface="Cambria Math" panose="02040503050406030204" charset="0"/>
                          </a:rPr>
                          <m:t>𝑠</m:t>
                        </m:r>
                      </m:e>
                      <m:sub>
                        <m:r>
                          <a:rPr lang="en-US" altLang="zh-CN" i="1">
                            <a:latin typeface="Cambria Math" panose="02040503050406030204" charset="0"/>
                          </a:rPr>
                          <m:t>2</m:t>
                        </m:r>
                      </m:sub>
                    </m:sSub>
                    <m:sSub>
                      <m:sSubPr>
                        <m:ctrlPr>
                          <a:rPr lang="zh-CN" altLang="zh-CN" i="1">
                            <a:latin typeface="Cambria Math" panose="02040503050406030204" charset="0"/>
                          </a:rPr>
                        </m:ctrlPr>
                      </m:sSubPr>
                      <m:e>
                        <m:r>
                          <a:rPr lang="en-US" altLang="zh-CN" i="1">
                            <a:latin typeface="Cambria Math" panose="02040503050406030204" charset="0"/>
                          </a:rPr>
                          <m:t>𝑠</m:t>
                        </m:r>
                      </m:e>
                      <m:sub>
                        <m:r>
                          <a:rPr lang="en-US" altLang="zh-CN" i="1">
                            <a:latin typeface="Cambria Math" panose="02040503050406030204" charset="0"/>
                          </a:rPr>
                          <m:t>3</m:t>
                        </m:r>
                      </m:sub>
                    </m:sSub>
                    <m:r>
                      <a:rPr lang="en-US" altLang="zh-CN" i="1">
                        <a:latin typeface="Cambria Math" panose="02040503050406030204" charset="0"/>
                      </a:rPr>
                      <m:t>…</m:t>
                    </m:r>
                  </m:oMath>
                </a14:m>
                <a:r>
                  <a:rPr lang="zh-CN" altLang="en-US" kern="0" dirty="0" smtClean="0">
                    <a:solidFill>
                      <a:srgbClr val="000000"/>
                    </a:solidFill>
                    <a:effectLst/>
                    <a:ea typeface="等线" panose="02010600030101010101" charset="-122"/>
                    <a:cs typeface="MS Mincho" charset="-128"/>
                  </a:rPr>
                  <a:t>中存在</a:t>
                </a:r>
                <a14:m>
                  <m:oMath xmlns:m="http://schemas.openxmlformats.org/officeDocument/2006/math">
                    <m:r>
                      <a:rPr lang="en-US" altLang="zh-CN" b="0" i="1" kern="0" smtClean="0">
                        <a:solidFill>
                          <a:srgbClr val="000000"/>
                        </a:solidFill>
                        <a:effectLst/>
                        <a:latin typeface="Cambria Math" panose="02040503050406030204" charset="0"/>
                        <a:ea typeface="等线" panose="02010600030101010101" charset="-122"/>
                        <a:cs typeface="MS Mincho" charset="-128"/>
                      </a:rPr>
                      <m:t>𝑖</m:t>
                    </m:r>
                    <m:r>
                      <a:rPr lang="en-US" altLang="zh-CN" b="0" i="1" kern="0" smtClean="0">
                        <a:solidFill>
                          <a:srgbClr val="000000"/>
                        </a:solidFill>
                        <a:effectLst/>
                        <a:latin typeface="Cambria Math" panose="02040503050406030204" charset="0"/>
                        <a:ea typeface="Cambria Math" panose="02040503050406030204" charset="0"/>
                        <a:cs typeface="Cambria Math" panose="02040503050406030204" charset="0"/>
                      </a:rPr>
                      <m:t>≥</m:t>
                    </m:r>
                    <m:r>
                      <a:rPr lang="en-US" altLang="zh-CN" b="0" i="1" kern="0" smtClean="0">
                        <a:solidFill>
                          <a:srgbClr val="000000"/>
                        </a:solidFill>
                        <a:effectLst/>
                        <a:latin typeface="Cambria Math" panose="02040503050406030204" charset="0"/>
                        <a:ea typeface="Cambria Math" panose="02040503050406030204" charset="0"/>
                        <a:cs typeface="Cambria Math" panose="02040503050406030204" charset="0"/>
                      </a:rPr>
                      <m:t>0</m:t>
                    </m:r>
                  </m:oMath>
                </a14:m>
                <a:r>
                  <a:rPr lang="en-US" altLang="zh-CN" kern="0" dirty="0" smtClean="0">
                    <a:solidFill>
                      <a:srgbClr val="000000"/>
                    </a:solidFill>
                    <a:ea typeface="等线" panose="02010600030101010101" charset="-122"/>
                    <a:cs typeface="MS Mincho" charset="-128"/>
                  </a:rPr>
                  <a:t>,</a:t>
                </a:r>
                <a:r>
                  <a:rPr lang="zh-CN" altLang="zh-CN" dirty="0" smtClean="0"/>
                  <a:t> </a:t>
                </a:r>
                <a14:m>
                  <m:oMath xmlns:m="http://schemas.openxmlformats.org/officeDocument/2006/math">
                    <m:sSub>
                      <m:sSubPr>
                        <m:ctrlPr>
                          <a:rPr lang="zh-CN" altLang="zh-CN" i="1">
                            <a:latin typeface="Cambria Math" panose="02040503050406030204" charset="0"/>
                          </a:rPr>
                        </m:ctrlPr>
                      </m:sSubPr>
                      <m:e>
                        <m:r>
                          <a:rPr lang="en-US" altLang="zh-CN" i="1">
                            <a:latin typeface="Cambria Math" panose="02040503050406030204" charset="0"/>
                          </a:rPr>
                          <m:t>𝑠</m:t>
                        </m:r>
                      </m:e>
                      <m:sub>
                        <m:r>
                          <a:rPr lang="en-US" altLang="zh-CN" b="0" i="1" smtClean="0">
                            <a:latin typeface="Cambria Math" panose="02040503050406030204" charset="0"/>
                          </a:rPr>
                          <m:t>𝑖</m:t>
                        </m:r>
                      </m:sub>
                    </m:sSub>
                  </m:oMath>
                </a14:m>
                <a:r>
                  <a:rPr lang="zh-CN" altLang="en-US" kern="0" dirty="0" smtClean="0">
                    <a:solidFill>
                      <a:srgbClr val="000000"/>
                    </a:solidFill>
                    <a:ea typeface="等线" panose="02010600030101010101" charset="-122"/>
                    <a:cs typeface="MS Mincho" charset="-128"/>
                  </a:rPr>
                  <a:t> 满足</a:t>
                </a:r>
                <a14:m>
                  <m:oMath xmlns:m="http://schemas.openxmlformats.org/officeDocument/2006/math">
                    <m:r>
                      <m:rPr>
                        <m:sty m:val="p"/>
                      </m:rPr>
                      <a:rPr lang="en-US" altLang="zh-CN">
                        <a:latin typeface="Cambria Math" panose="02040503050406030204" charset="0"/>
                      </a:rPr>
                      <m:t>ψ</m:t>
                    </m:r>
                  </m:oMath>
                </a14:m>
                <a:r>
                  <a:rPr lang="zh-CN" altLang="en-US" kern="0" dirty="0" smtClean="0">
                    <a:solidFill>
                      <a:srgbClr val="000000"/>
                    </a:solidFill>
                    <a:effectLst/>
                    <a:ea typeface="等线" panose="02010600030101010101" charset="-122"/>
                    <a:cs typeface="MS Mincho" charset="-128"/>
                  </a:rPr>
                  <a:t>且</a:t>
                </a:r>
                <a14:m>
                  <m:oMath xmlns:m="http://schemas.openxmlformats.org/officeDocument/2006/math">
                    <m:r>
                      <a:rPr lang="en-US" altLang="zh-CN" b="0" i="1" kern="0" smtClean="0">
                        <a:solidFill>
                          <a:srgbClr val="000000"/>
                        </a:solidFill>
                        <a:effectLst/>
                        <a:latin typeface="Cambria Math" panose="02040503050406030204" charset="0"/>
                        <a:ea typeface="等线" panose="02010600030101010101" charset="-122"/>
                        <a:cs typeface="MS Mincho" charset="-128"/>
                      </a:rPr>
                      <m:t>0</m:t>
                    </m:r>
                    <m:r>
                      <a:rPr lang="en-US" altLang="zh-CN" b="0" i="1" kern="0" smtClean="0">
                        <a:solidFill>
                          <a:srgbClr val="000000"/>
                        </a:solidFill>
                        <a:effectLst/>
                        <a:latin typeface="Cambria Math" panose="02040503050406030204" charset="0"/>
                        <a:ea typeface="Cambria Math" panose="02040503050406030204" charset="0"/>
                        <a:cs typeface="Cambria Math" panose="02040503050406030204" charset="0"/>
                      </a:rPr>
                      <m:t>≤</m:t>
                    </m:r>
                    <m:r>
                      <a:rPr lang="en-US" altLang="zh-CN" b="0" i="1" kern="0" smtClean="0">
                        <a:solidFill>
                          <a:srgbClr val="000000"/>
                        </a:solidFill>
                        <a:effectLst/>
                        <a:latin typeface="Cambria Math" panose="02040503050406030204" charset="0"/>
                        <a:ea typeface="Cambria Math" panose="02040503050406030204" charset="0"/>
                        <a:cs typeface="Cambria Math" panose="02040503050406030204" charset="0"/>
                      </a:rPr>
                      <m:t>𝑗</m:t>
                    </m:r>
                    <m:r>
                      <a:rPr lang="en-US" altLang="zh-CN" b="0" i="1" kern="0" smtClean="0">
                        <a:solidFill>
                          <a:srgbClr val="000000"/>
                        </a:solidFill>
                        <a:effectLst/>
                        <a:latin typeface="Cambria Math" panose="02040503050406030204" charset="0"/>
                        <a:ea typeface="Cambria Math" panose="02040503050406030204" charset="0"/>
                        <a:cs typeface="Cambria Math" panose="02040503050406030204" charset="0"/>
                      </a:rPr>
                      <m:t>&lt;</m:t>
                    </m:r>
                    <m:r>
                      <a:rPr lang="en-US" altLang="zh-CN" b="0" i="1" kern="0" smtClean="0">
                        <a:solidFill>
                          <a:srgbClr val="000000"/>
                        </a:solidFill>
                        <a:effectLst/>
                        <a:latin typeface="Cambria Math" panose="02040503050406030204" charset="0"/>
                        <a:ea typeface="Cambria Math" panose="02040503050406030204" charset="0"/>
                        <a:cs typeface="Cambria Math" panose="02040503050406030204" charset="0"/>
                      </a:rPr>
                      <m:t>𝑖</m:t>
                    </m:r>
                  </m:oMath>
                </a14:m>
                <a:r>
                  <a:rPr lang="zh-CN" altLang="en-US" kern="0" dirty="0" smtClean="0">
                    <a:solidFill>
                      <a:srgbClr val="000000"/>
                    </a:solidFill>
                    <a:effectLst/>
                    <a:ea typeface="等线" panose="02010600030101010101" charset="-122"/>
                    <a:cs typeface="MS Mincho" charset="-128"/>
                  </a:rPr>
                  <a:t>时</a:t>
                </a:r>
                <a14:m>
                  <m:oMath xmlns:m="http://schemas.openxmlformats.org/officeDocument/2006/math">
                    <m:sSub>
                      <m:sSubPr>
                        <m:ctrlPr>
                          <a:rPr lang="zh-CN" altLang="zh-CN" i="1">
                            <a:latin typeface="Cambria Math" panose="02040503050406030204" charset="0"/>
                          </a:rPr>
                        </m:ctrlPr>
                      </m:sSubPr>
                      <m:e>
                        <m:r>
                          <a:rPr lang="en-US" altLang="zh-CN" i="1">
                            <a:latin typeface="Cambria Math" panose="02040503050406030204" charset="0"/>
                          </a:rPr>
                          <m:t>𝑠</m:t>
                        </m:r>
                      </m:e>
                      <m:sub>
                        <m:r>
                          <a:rPr lang="en-US" altLang="zh-CN" b="0" i="1" smtClean="0">
                            <a:latin typeface="Cambria Math" panose="02040503050406030204" charset="0"/>
                          </a:rPr>
                          <m:t>𝑗</m:t>
                        </m:r>
                      </m:sub>
                    </m:sSub>
                  </m:oMath>
                </a14:m>
                <a:r>
                  <a:rPr lang="zh-CN" altLang="en-US" kern="0" dirty="0" smtClean="0">
                    <a:solidFill>
                      <a:srgbClr val="000000"/>
                    </a:solidFill>
                    <a:effectLst/>
                    <a:ea typeface="等线" panose="02010600030101010101" charset="-122"/>
                    <a:cs typeface="MS Mincho" charset="-128"/>
                  </a:rPr>
                  <a:t>满足</a:t>
                </a:r>
                <a14:m>
                  <m:oMath xmlns:m="http://schemas.openxmlformats.org/officeDocument/2006/math">
                    <m:r>
                      <m:rPr>
                        <m:sty m:val="p"/>
                      </m:rPr>
                      <a:rPr lang="en-US" altLang="zh-CN">
                        <a:latin typeface="Cambria Math" panose="02040503050406030204" charset="0"/>
                      </a:rPr>
                      <m:t>ϕ</m:t>
                    </m:r>
                  </m:oMath>
                </a14:m>
                <a:endParaRPr lang="en-US" altLang="zh-CN" kern="0" dirty="0" smtClean="0">
                  <a:solidFill>
                    <a:srgbClr val="000000"/>
                  </a:solidFill>
                  <a:effectLst/>
                  <a:ea typeface="等线" panose="02010600030101010101" charset="-122"/>
                  <a:cs typeface="MS Mincho" charset="-128"/>
                </a:endParaRPr>
              </a:p>
            </p:txBody>
          </p:sp>
        </mc:Choice>
        <mc:Fallback>
          <p:sp>
            <p:nvSpPr>
              <p:cNvPr id="4" name="矩形 3"/>
              <p:cNvSpPr>
                <a:spLocks noRot="1" noChangeAspect="1" noMove="1" noResize="1" noEditPoints="1" noAdjustHandles="1" noChangeArrowheads="1" noChangeShapeType="1" noTextEdit="1"/>
              </p:cNvSpPr>
              <p:nvPr/>
            </p:nvSpPr>
            <p:spPr>
              <a:xfrm>
                <a:off x="333251" y="3323804"/>
                <a:ext cx="8352928" cy="2057038"/>
              </a:xfrm>
              <a:prstGeom prst="rect">
                <a:avLst/>
              </a:prstGeom>
              <a:blipFill rotWithShape="1">
                <a:blip r:embed="rId2"/>
                <a:stretch>
                  <a:fillRect l="-6" t="-10" b="24"/>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heckerboard(across)">
                                      <p:cBhvr>
                                        <p:cTn id="10" dur="500"/>
                                        <p:tgtEl>
                                          <p:spTgt spid="3">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heckerboard(across)">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2">
                                            <p:txEl>
                                              <p:pRg st="0" end="0"/>
                                            </p:txEl>
                                          </p:spTgt>
                                        </p:tgtEl>
                                        <p:attrNameLst>
                                          <p:attrName>style.visibility</p:attrName>
                                        </p:attrNameLst>
                                      </p:cBhvr>
                                      <p:to>
                                        <p:strVal val="visible"/>
                                      </p:to>
                                    </p:set>
                                    <p:animEffect transition="in" filter="checkerboard(across)">
                                      <p:cBhvr>
                                        <p:cTn id="18" dur="500"/>
                                        <p:tgtEl>
                                          <p:spTgt spid="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checkerboard(across)">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16" name="Title 1"/>
          <p:cNvSpPr>
            <a:spLocks noGrp="1"/>
          </p:cNvSpPr>
          <p:nvPr>
            <p:ph type="title"/>
          </p:nvPr>
        </p:nvSpPr>
        <p:spPr>
          <a:xfrm>
            <a:off x="1115616" y="476672"/>
            <a:ext cx="6769100" cy="576262"/>
          </a:xfrm>
        </p:spPr>
        <p:txBody>
          <a:bodyPr/>
          <a:lstStyle/>
          <a:p>
            <a:r>
              <a:rPr lang="en-US" altLang="zh-CN" b="1" dirty="0"/>
              <a:t>3</a:t>
            </a:r>
            <a:r>
              <a:rPr lang="en-US" altLang="zh-CN" b="1" dirty="0" smtClean="0"/>
              <a:t>.2</a:t>
            </a:r>
            <a:r>
              <a:rPr lang="zh-CN" altLang="en-US" b="1" dirty="0" smtClean="0"/>
              <a:t> 待检测性质形式化</a:t>
            </a:r>
            <a:endParaRPr lang="en-US" altLang="zh-CN" b="1" dirty="0"/>
          </a:p>
        </p:txBody>
      </p:sp>
      <mc:AlternateContent xmlns:mc="http://schemas.openxmlformats.org/markup-compatibility/2006">
        <mc:Choice xmlns:a14="http://schemas.microsoft.com/office/drawing/2010/main" Requires="a14">
          <p:sp>
            <p:nvSpPr>
              <p:cNvPr id="2" name="内容占位符 1"/>
              <p:cNvSpPr>
                <a:spLocks noGrp="1"/>
              </p:cNvSpPr>
              <p:nvPr>
                <p:ph idx="1"/>
              </p:nvPr>
            </p:nvSpPr>
            <p:spPr>
              <a:xfrm>
                <a:off x="89895" y="1526814"/>
                <a:ext cx="8820540" cy="576064"/>
              </a:xfrm>
            </p:spPr>
            <p:txBody>
              <a:bodyPr/>
              <a:lstStyle/>
              <a:p>
                <a:pPr marL="0" indent="0">
                  <a:buNone/>
                </a:pPr>
                <a14:m>
                  <m:oMath xmlns:m="http://schemas.openxmlformats.org/officeDocument/2006/math">
                    <m:r>
                      <m:rPr>
                        <m:sty m:val="p"/>
                      </m:rPr>
                      <a:rPr lang="el-GR" altLang="zh-CN" sz="2400" i="1" smtClean="0">
                        <a:latin typeface="Cambria Math" panose="02040503050406030204" charset="0"/>
                      </a:rPr>
                      <m:t>Φ</m:t>
                    </m:r>
                    <m:r>
                      <a:rPr lang="en-US" altLang="zh-CN" sz="2400" b="0" i="0" smtClean="0">
                        <a:latin typeface="Cambria Math" panose="02040503050406030204" charset="0"/>
                      </a:rPr>
                      <m:t>::</m:t>
                    </m:r>
                    <m:r>
                      <a:rPr lang="en-US" altLang="zh-CN" sz="2400" smtClean="0">
                        <a:latin typeface="Cambria Math" panose="02040503050406030204" charset="0"/>
                      </a:rPr>
                      <m:t>=</m:t>
                    </m:r>
                    <m:r>
                      <m:rPr>
                        <m:sty m:val="p"/>
                      </m:rPr>
                      <a:rPr lang="en-US" altLang="zh-CN" sz="2400">
                        <a:latin typeface="Cambria Math" panose="02040503050406030204" charset="0"/>
                      </a:rPr>
                      <m:t>p</m:t>
                    </m:r>
                    <m:r>
                      <a:rPr lang="en-US" altLang="zh-CN" sz="2400">
                        <a:latin typeface="Cambria Math" panose="02040503050406030204" charset="0"/>
                      </a:rPr>
                      <m:t>|¬</m:t>
                    </m:r>
                    <m:r>
                      <m:rPr>
                        <m:sty m:val="p"/>
                      </m:rPr>
                      <a:rPr lang="en-US" altLang="zh-CN" sz="2400">
                        <a:latin typeface="Cambria Math" panose="02040503050406030204" charset="0"/>
                      </a:rPr>
                      <m:t>ϕ</m:t>
                    </m:r>
                    <m:r>
                      <a:rPr lang="en-US" altLang="zh-CN" sz="2400">
                        <a:latin typeface="Cambria Math" panose="02040503050406030204" charset="0"/>
                      </a:rPr>
                      <m:t>|</m:t>
                    </m:r>
                    <m:r>
                      <m:rPr>
                        <m:sty m:val="p"/>
                      </m:rPr>
                      <a:rPr lang="en-US" altLang="zh-CN" sz="2400">
                        <a:latin typeface="Cambria Math" panose="02040503050406030204" charset="0"/>
                      </a:rPr>
                      <m:t>ϕ</m:t>
                    </m:r>
                    <m:r>
                      <a:rPr lang="en-US" altLang="zh-CN" sz="2400">
                        <a:latin typeface="Cambria Math" panose="02040503050406030204" charset="0"/>
                      </a:rPr>
                      <m:t>⋁</m:t>
                    </m:r>
                    <m:r>
                      <m:rPr>
                        <m:sty m:val="p"/>
                      </m:rPr>
                      <a:rPr lang="en-US" altLang="zh-CN" sz="2400">
                        <a:latin typeface="Cambria Math" panose="02040503050406030204" charset="0"/>
                      </a:rPr>
                      <m:t>ϕ</m:t>
                    </m:r>
                    <m:r>
                      <a:rPr lang="en-US" altLang="zh-CN" sz="2400">
                        <a:latin typeface="Cambria Math" panose="02040503050406030204" charset="0"/>
                      </a:rPr>
                      <m:t>|</m:t>
                    </m:r>
                    <m:r>
                      <m:rPr>
                        <m:sty m:val="p"/>
                      </m:rPr>
                      <a:rPr lang="en-US" altLang="zh-CN" sz="2400">
                        <a:latin typeface="Cambria Math" panose="02040503050406030204" charset="0"/>
                      </a:rPr>
                      <m:t>EXϕ</m:t>
                    </m:r>
                    <m:r>
                      <a:rPr lang="en-US" altLang="zh-CN" sz="2400" b="0" i="0" smtClean="0">
                        <a:latin typeface="Cambria Math" panose="02040503050406030204" charset="0"/>
                      </a:rPr>
                      <m:t>|</m:t>
                    </m:r>
                    <m:r>
                      <m:rPr>
                        <m:sty m:val="p"/>
                      </m:rPr>
                      <a:rPr lang="en-US" altLang="zh-CN" sz="2400">
                        <a:latin typeface="Cambria Math" panose="02040503050406030204" charset="0"/>
                      </a:rPr>
                      <m:t>AXϕ</m:t>
                    </m:r>
                    <m:r>
                      <a:rPr lang="en-US" altLang="zh-CN" sz="2400">
                        <a:latin typeface="Cambria Math" panose="02040503050406030204" charset="0"/>
                      </a:rPr>
                      <m:t>|</m:t>
                    </m:r>
                    <m:r>
                      <m:rPr>
                        <m:sty m:val="p"/>
                      </m:rPr>
                      <a:rPr lang="en-US" altLang="zh-CN" sz="2400">
                        <a:latin typeface="Cambria Math" panose="02040503050406030204" charset="0"/>
                      </a:rPr>
                      <m:t>EGϕ</m:t>
                    </m:r>
                    <m:r>
                      <a:rPr lang="en-US" altLang="zh-CN" sz="2400">
                        <a:latin typeface="Cambria Math" panose="02040503050406030204" charset="0"/>
                      </a:rPr>
                      <m:t>|</m:t>
                    </m:r>
                    <m:r>
                      <m:rPr>
                        <m:sty m:val="p"/>
                      </m:rPr>
                      <a:rPr lang="en-US" altLang="zh-CN" sz="2400" b="0" i="0" smtClean="0">
                        <a:latin typeface="Cambria Math" panose="02040503050406030204" charset="0"/>
                      </a:rPr>
                      <m:t>AG</m:t>
                    </m:r>
                    <m:r>
                      <m:rPr>
                        <m:sty m:val="p"/>
                      </m:rPr>
                      <a:rPr lang="en-US" altLang="zh-CN" sz="2400">
                        <a:latin typeface="Cambria Math" panose="02040503050406030204" charset="0"/>
                      </a:rPr>
                      <m:t>ϕ</m:t>
                    </m:r>
                    <m:r>
                      <a:rPr lang="en-US" altLang="zh-CN" sz="2400" b="0" i="0" smtClean="0">
                        <a:latin typeface="Cambria Math" panose="02040503050406030204" charset="0"/>
                      </a:rPr>
                      <m:t>|</m:t>
                    </m:r>
                    <m:r>
                      <m:rPr>
                        <m:sty m:val="p"/>
                      </m:rPr>
                      <a:rPr lang="en-US" altLang="zh-CN" sz="2400">
                        <a:latin typeface="Cambria Math" panose="02040503050406030204" charset="0"/>
                      </a:rPr>
                      <m:t>EFϕ</m:t>
                    </m:r>
                    <m:r>
                      <a:rPr lang="en-US" altLang="zh-CN" sz="2400" b="0" i="0" smtClean="0">
                        <a:latin typeface="Cambria Math" panose="02040503050406030204" charset="0"/>
                      </a:rPr>
                      <m:t>|</m:t>
                    </m:r>
                    <m:r>
                      <m:rPr>
                        <m:sty m:val="p"/>
                      </m:rPr>
                      <a:rPr lang="en-US" altLang="zh-CN" sz="2400">
                        <a:latin typeface="Cambria Math" panose="02040503050406030204" charset="0"/>
                      </a:rPr>
                      <m:t>AFϕ</m:t>
                    </m:r>
                    <m:r>
                      <a:rPr lang="en-US" altLang="zh-CN" sz="2400" b="0" i="0" smtClean="0">
                        <a:latin typeface="Cambria Math" panose="02040503050406030204" charset="0"/>
                      </a:rPr>
                      <m:t>|</m:t>
                    </m:r>
                    <m:r>
                      <m:rPr>
                        <m:sty m:val="p"/>
                      </m:rPr>
                      <a:rPr lang="en-US" altLang="zh-CN" sz="2400" b="0" i="0" smtClean="0">
                        <a:latin typeface="Cambria Math" panose="02040503050406030204" charset="0"/>
                      </a:rPr>
                      <m:t>E</m:t>
                    </m:r>
                    <m:r>
                      <a:rPr lang="en-US" altLang="zh-CN" sz="2400" b="0" i="0" smtClean="0">
                        <a:latin typeface="Cambria Math" panose="02040503050406030204" charset="0"/>
                      </a:rPr>
                      <m:t>(</m:t>
                    </m:r>
                    <m:r>
                      <m:rPr>
                        <m:sty m:val="p"/>
                      </m:rPr>
                      <a:rPr lang="en-US" altLang="zh-CN" sz="2400">
                        <a:latin typeface="Cambria Math" panose="02040503050406030204" charset="0"/>
                      </a:rPr>
                      <m:t>ϕUψ</m:t>
                    </m:r>
                    <m:r>
                      <a:rPr lang="en-US" altLang="zh-CN" sz="2400" b="0" i="0" smtClean="0">
                        <a:latin typeface="Cambria Math" panose="02040503050406030204" charset="0"/>
                      </a:rPr>
                      <m:t>)|</m:t>
                    </m:r>
                    <m:r>
                      <m:rPr>
                        <m:sty m:val="p"/>
                      </m:rPr>
                      <a:rPr lang="en-US" altLang="zh-CN" sz="2400">
                        <a:latin typeface="Cambria Math" panose="02040503050406030204" charset="0"/>
                      </a:rPr>
                      <m:t>A</m:t>
                    </m:r>
                    <m:d>
                      <m:dPr>
                        <m:ctrlPr>
                          <a:rPr lang="zh-CN" altLang="zh-CN" sz="2400" i="1">
                            <a:latin typeface="Cambria Math" panose="02040503050406030204" charset="0"/>
                          </a:rPr>
                        </m:ctrlPr>
                      </m:dPr>
                      <m:e>
                        <m:r>
                          <m:rPr>
                            <m:sty m:val="p"/>
                          </m:rPr>
                          <a:rPr lang="en-US" altLang="zh-CN" sz="2400">
                            <a:latin typeface="Cambria Math" panose="02040503050406030204" charset="0"/>
                          </a:rPr>
                          <m:t>ϕUψ</m:t>
                        </m:r>
                      </m:e>
                    </m:d>
                  </m:oMath>
                </a14:m>
                <a:endParaRPr lang="zh-CN" altLang="zh-CN" sz="2400"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89895" y="1526814"/>
                <a:ext cx="8820540" cy="576064"/>
              </a:xfrm>
              <a:blipFill rotWithShape="1">
                <a:blip r:embed="rId1"/>
                <a:stretch>
                  <a:fillRect l="-4" t="-48" r="1" b="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587718" y="2373313"/>
                <a:ext cx="670376"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charset="0"/>
                        </a:rPr>
                        <m:t>EXϕ</m:t>
                      </m:r>
                    </m:oMath>
                  </m:oMathPara>
                </a14:m>
                <a:endParaRPr lang="zh-CN" altLang="en-US" dirty="0"/>
              </a:p>
            </p:txBody>
          </p:sp>
        </mc:Choice>
        <mc:Fallback>
          <p:sp>
            <p:nvSpPr>
              <p:cNvPr id="5" name="矩形 4"/>
              <p:cNvSpPr>
                <a:spLocks noRot="1" noChangeAspect="1" noMove="1" noResize="1" noEditPoints="1" noAdjustHandles="1" noChangeArrowheads="1" noChangeShapeType="1" noTextEdit="1"/>
              </p:cNvSpPr>
              <p:nvPr/>
            </p:nvSpPr>
            <p:spPr>
              <a:xfrm>
                <a:off x="587718" y="2373313"/>
                <a:ext cx="670376" cy="369332"/>
              </a:xfrm>
              <a:prstGeom prst="rect">
                <a:avLst/>
              </a:prstGeom>
              <a:blipFill rotWithShape="1">
                <a:blip r:embed="rId2"/>
                <a:stretch>
                  <a:fillRect l="-51" t="-86" r="24" b="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576497" y="3934768"/>
                <a:ext cx="68159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charset="0"/>
                        </a:rPr>
                        <m:t>AXϕ</m:t>
                      </m:r>
                    </m:oMath>
                  </m:oMathPara>
                </a14:m>
                <a:endParaRPr lang="zh-CN" altLang="en-US" dirty="0"/>
              </a:p>
            </p:txBody>
          </p:sp>
        </mc:Choice>
        <mc:Fallback>
          <p:sp>
            <p:nvSpPr>
              <p:cNvPr id="6" name="矩形 5"/>
              <p:cNvSpPr>
                <a:spLocks noRot="1" noChangeAspect="1" noMove="1" noResize="1" noEditPoints="1" noAdjustHandles="1" noChangeArrowheads="1" noChangeShapeType="1" noTextEdit="1"/>
              </p:cNvSpPr>
              <p:nvPr/>
            </p:nvSpPr>
            <p:spPr>
              <a:xfrm>
                <a:off x="576497" y="3934768"/>
                <a:ext cx="681597" cy="369332"/>
              </a:xfrm>
              <a:prstGeom prst="rect">
                <a:avLst/>
              </a:prstGeom>
              <a:blipFill rotWithShape="1">
                <a:blip r:embed="rId3"/>
                <a:stretch>
                  <a:fillRect l="-81" t="-83" r="23" b="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2987824" y="2373313"/>
                <a:ext cx="679993"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charset="0"/>
                        </a:rPr>
                        <m:t>EGϕ</m:t>
                      </m:r>
                    </m:oMath>
                  </m:oMathPara>
                </a14:m>
                <a:endParaRPr lang="zh-CN" altLang="en-US" dirty="0"/>
              </a:p>
            </p:txBody>
          </p:sp>
        </mc:Choice>
        <mc:Fallback>
          <p:sp>
            <p:nvSpPr>
              <p:cNvPr id="7" name="矩形 6"/>
              <p:cNvSpPr>
                <a:spLocks noRot="1" noChangeAspect="1" noMove="1" noResize="1" noEditPoints="1" noAdjustHandles="1" noChangeArrowheads="1" noChangeShapeType="1" noTextEdit="1"/>
              </p:cNvSpPr>
              <p:nvPr/>
            </p:nvSpPr>
            <p:spPr>
              <a:xfrm>
                <a:off x="2987824" y="2373313"/>
                <a:ext cx="679993" cy="369332"/>
              </a:xfrm>
              <a:prstGeom prst="rect">
                <a:avLst/>
              </a:prstGeom>
              <a:blipFill rotWithShape="1">
                <a:blip r:embed="rId4"/>
                <a:stretch>
                  <a:fillRect l="-22" t="-86" r="8" b="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3026616" y="3934768"/>
                <a:ext cx="691215"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charset="0"/>
                        </a:rPr>
                        <m:t>AGϕ</m:t>
                      </m:r>
                    </m:oMath>
                  </m:oMathPara>
                </a14:m>
                <a:endParaRPr lang="zh-CN" altLang="en-US" dirty="0"/>
              </a:p>
            </p:txBody>
          </p:sp>
        </mc:Choice>
        <mc:Fallback>
          <p:sp>
            <p:nvSpPr>
              <p:cNvPr id="8" name="矩形 7"/>
              <p:cNvSpPr>
                <a:spLocks noRot="1" noChangeAspect="1" noMove="1" noResize="1" noEditPoints="1" noAdjustHandles="1" noChangeArrowheads="1" noChangeShapeType="1" noTextEdit="1"/>
              </p:cNvSpPr>
              <p:nvPr/>
            </p:nvSpPr>
            <p:spPr>
              <a:xfrm>
                <a:off x="3026616" y="3934768"/>
                <a:ext cx="691215" cy="369332"/>
              </a:xfrm>
              <a:prstGeom prst="rect">
                <a:avLst/>
              </a:prstGeom>
              <a:blipFill rotWithShape="1">
                <a:blip r:embed="rId5"/>
                <a:stretch>
                  <a:fillRect l="-30" t="-83" r="78" b="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5220072" y="2373313"/>
                <a:ext cx="662361"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charset="0"/>
                        </a:rPr>
                        <m:t>EFϕ</m:t>
                      </m:r>
                    </m:oMath>
                  </m:oMathPara>
                </a14:m>
                <a:endParaRPr lang="zh-CN" altLang="en-US" dirty="0"/>
              </a:p>
            </p:txBody>
          </p:sp>
        </mc:Choice>
        <mc:Fallback>
          <p:sp>
            <p:nvSpPr>
              <p:cNvPr id="9" name="矩形 8"/>
              <p:cNvSpPr>
                <a:spLocks noRot="1" noChangeAspect="1" noMove="1" noResize="1" noEditPoints="1" noAdjustHandles="1" noChangeArrowheads="1" noChangeShapeType="1" noTextEdit="1"/>
              </p:cNvSpPr>
              <p:nvPr/>
            </p:nvSpPr>
            <p:spPr>
              <a:xfrm>
                <a:off x="5220072" y="2373313"/>
                <a:ext cx="662361" cy="369332"/>
              </a:xfrm>
              <a:prstGeom prst="rect">
                <a:avLst/>
              </a:prstGeom>
              <a:blipFill rotWithShape="1">
                <a:blip r:embed="rId6"/>
                <a:stretch>
                  <a:fillRect l="-56" t="-86" r="65" b="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p:cNvSpPr/>
              <p:nvPr/>
            </p:nvSpPr>
            <p:spPr>
              <a:xfrm>
                <a:off x="5220072" y="3959503"/>
                <a:ext cx="673581"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charset="0"/>
                        </a:rPr>
                        <m:t>AFϕ</m:t>
                      </m:r>
                    </m:oMath>
                  </m:oMathPara>
                </a14:m>
                <a:endParaRPr lang="zh-CN" altLang="en-US" dirty="0"/>
              </a:p>
            </p:txBody>
          </p:sp>
        </mc:Choice>
        <mc:Fallback>
          <p:sp>
            <p:nvSpPr>
              <p:cNvPr id="10" name="矩形 9"/>
              <p:cNvSpPr>
                <a:spLocks noRot="1" noChangeAspect="1" noMove="1" noResize="1" noEditPoints="1" noAdjustHandles="1" noChangeArrowheads="1" noChangeShapeType="1" noTextEdit="1"/>
              </p:cNvSpPr>
              <p:nvPr/>
            </p:nvSpPr>
            <p:spPr>
              <a:xfrm>
                <a:off x="5220072" y="3959503"/>
                <a:ext cx="673581" cy="369332"/>
              </a:xfrm>
              <a:prstGeom prst="rect">
                <a:avLst/>
              </a:prstGeom>
              <a:blipFill rotWithShape="1">
                <a:blip r:embed="rId7"/>
                <a:stretch>
                  <a:fillRect l="-55" t="-75" r="32" b="11"/>
                </a:stretch>
              </a:blipFill>
            </p:spPr>
            <p:txBody>
              <a:bodyPr/>
              <a:lstStyle/>
              <a:p>
                <a:r>
                  <a:rPr lang="zh-CN" altLang="en-US">
                    <a:noFill/>
                  </a:rPr>
                  <a:t> </a:t>
                </a:r>
              </a:p>
            </p:txBody>
          </p:sp>
        </mc:Fallback>
      </mc:AlternateContent>
      <p:sp>
        <p:nvSpPr>
          <p:cNvPr id="11" name="椭圆 10"/>
          <p:cNvSpPr/>
          <p:nvPr/>
        </p:nvSpPr>
        <p:spPr bwMode="auto">
          <a:xfrm>
            <a:off x="279475" y="5622347"/>
            <a:ext cx="216024" cy="216024"/>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endParaRPr>
          </a:p>
        </p:txBody>
      </p:sp>
      <p:sp>
        <p:nvSpPr>
          <p:cNvPr id="17" name="椭圆 16"/>
          <p:cNvSpPr/>
          <p:nvPr/>
        </p:nvSpPr>
        <p:spPr bwMode="auto">
          <a:xfrm>
            <a:off x="2135684" y="5622347"/>
            <a:ext cx="216024" cy="216024"/>
          </a:xfrm>
          <a:prstGeom prst="ellipse">
            <a:avLst/>
          </a:prstGeom>
          <a:solidFill>
            <a:schemeClr val="bg2"/>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12" name="文本框 11"/>
              <p:cNvSpPr txBox="1"/>
              <p:nvPr/>
            </p:nvSpPr>
            <p:spPr>
              <a:xfrm>
                <a:off x="361409" y="5545693"/>
                <a:ext cx="1251199" cy="369332"/>
              </a:xfrm>
              <a:prstGeom prst="rect">
                <a:avLst/>
              </a:prstGeom>
              <a:noFill/>
            </p:spPr>
            <p:txBody>
              <a:bodyPr wrap="square" rtlCol="0">
                <a:spAutoFit/>
              </a:bodyPr>
              <a:lstStyle/>
              <a:p>
                <a:r>
                  <a:rPr kumimoji="1" lang="zh-CN" altLang="en-US" dirty="0" smtClean="0"/>
                  <a:t>不满足</a:t>
                </a:r>
                <a14:m>
                  <m:oMath xmlns:m="http://schemas.openxmlformats.org/officeDocument/2006/math">
                    <m:r>
                      <m:rPr>
                        <m:sty m:val="p"/>
                      </m:rPr>
                      <a:rPr lang="en-US" altLang="zh-CN">
                        <a:latin typeface="Cambria Math" panose="02040503050406030204" charset="0"/>
                      </a:rPr>
                      <m:t>ϕ</m:t>
                    </m:r>
                  </m:oMath>
                </a14:m>
                <a:endParaRPr kumimoji="1" lang="zh-CN" altLang="en-US" dirty="0"/>
              </a:p>
            </p:txBody>
          </p:sp>
        </mc:Choice>
        <mc:Fallback>
          <p:sp>
            <p:nvSpPr>
              <p:cNvPr id="12" name="文本框 11"/>
              <p:cNvSpPr txBox="1">
                <a:spLocks noRot="1" noChangeAspect="1" noMove="1" noResize="1" noEditPoints="1" noAdjustHandles="1" noChangeArrowheads="1" noChangeShapeType="1" noTextEdit="1"/>
              </p:cNvSpPr>
              <p:nvPr/>
            </p:nvSpPr>
            <p:spPr>
              <a:xfrm>
                <a:off x="361409" y="5545693"/>
                <a:ext cx="1251199" cy="369332"/>
              </a:xfrm>
              <a:prstGeom prst="rect">
                <a:avLst/>
              </a:prstGeom>
              <a:blipFill rotWithShape="1">
                <a:blip r:embed="rId8"/>
                <a:stretch>
                  <a:fillRect l="-8" t="-64" r="2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2135684" y="5545693"/>
                <a:ext cx="1251199" cy="369332"/>
              </a:xfrm>
              <a:prstGeom prst="rect">
                <a:avLst/>
              </a:prstGeom>
              <a:noFill/>
            </p:spPr>
            <p:txBody>
              <a:bodyPr wrap="square" rtlCol="0">
                <a:spAutoFit/>
              </a:bodyPr>
              <a:lstStyle/>
              <a:p>
                <a:r>
                  <a:rPr kumimoji="1" lang="zh-CN" altLang="en-US" dirty="0" smtClean="0"/>
                  <a:t>满足</a:t>
                </a:r>
                <a14:m>
                  <m:oMath xmlns:m="http://schemas.openxmlformats.org/officeDocument/2006/math">
                    <m:r>
                      <m:rPr>
                        <m:sty m:val="p"/>
                      </m:rPr>
                      <a:rPr lang="en-US" altLang="zh-CN">
                        <a:latin typeface="Cambria Math" panose="02040503050406030204" charset="0"/>
                      </a:rPr>
                      <m:t>ϕ</m:t>
                    </m:r>
                  </m:oMath>
                </a14:m>
                <a:endParaRPr kumimoji="1" lang="zh-CN" altLang="en-US" dirty="0"/>
              </a:p>
            </p:txBody>
          </p:sp>
        </mc:Choice>
        <mc:Fallback>
          <p:sp>
            <p:nvSpPr>
              <p:cNvPr id="18" name="文本框 17"/>
              <p:cNvSpPr txBox="1">
                <a:spLocks noRot="1" noChangeAspect="1" noMove="1" noResize="1" noEditPoints="1" noAdjustHandles="1" noChangeArrowheads="1" noChangeShapeType="1" noTextEdit="1"/>
              </p:cNvSpPr>
              <p:nvPr/>
            </p:nvSpPr>
            <p:spPr>
              <a:xfrm>
                <a:off x="2135684" y="5545693"/>
                <a:ext cx="1251199" cy="369332"/>
              </a:xfrm>
              <a:prstGeom prst="rect">
                <a:avLst/>
              </a:prstGeom>
              <a:blipFill rotWithShape="1">
                <a:blip r:embed="rId9"/>
                <a:stretch>
                  <a:fillRect l="-14" t="-64" r="34"/>
                </a:stretch>
              </a:blipFill>
            </p:spPr>
            <p:txBody>
              <a:bodyPr/>
              <a:lstStyle/>
              <a:p>
                <a:r>
                  <a:rPr lang="zh-CN" altLang="en-US">
                    <a:noFill/>
                  </a:rPr>
                  <a:t> </a:t>
                </a:r>
              </a:p>
            </p:txBody>
          </p:sp>
        </mc:Fallback>
      </mc:AlternateContent>
      <p:pic>
        <p:nvPicPr>
          <p:cNvPr id="13" name="图片 12"/>
          <p:cNvPicPr>
            <a:picLocks noChangeAspect="1"/>
          </p:cNvPicPr>
          <p:nvPr/>
        </p:nvPicPr>
        <p:blipFill rotWithShape="1">
          <a:blip r:embed="rId10" cstate="email">
            <a:extLst>
              <a:ext uri="{28A0092B-C50C-407E-A947-70E740481C1C}">
                <a14:useLocalDpi xmlns:a14="http://schemas.microsoft.com/office/drawing/2010/main" val="0"/>
              </a:ext>
            </a:extLst>
          </a:blip>
          <a:srcRect l="4756" t="12112" r="5469" b="7860"/>
          <a:stretch>
            <a:fillRect/>
          </a:stretch>
        </p:blipFill>
        <p:spPr>
          <a:xfrm>
            <a:off x="147415" y="2819299"/>
            <a:ext cx="1988269" cy="1036683"/>
          </a:xfrm>
          <a:prstGeom prst="rect">
            <a:avLst/>
          </a:prstGeom>
        </p:spPr>
      </p:pic>
      <p:pic>
        <p:nvPicPr>
          <p:cNvPr id="14" name="图片 13"/>
          <p:cNvPicPr>
            <a:picLocks noChangeAspect="1"/>
          </p:cNvPicPr>
          <p:nvPr/>
        </p:nvPicPr>
        <p:blipFill rotWithShape="1">
          <a:blip r:embed="rId11" cstate="email">
            <a:extLst>
              <a:ext uri="{28A0092B-C50C-407E-A947-70E740481C1C}">
                <a14:useLocalDpi xmlns:a14="http://schemas.microsoft.com/office/drawing/2010/main" val="0"/>
              </a:ext>
            </a:extLst>
          </a:blip>
          <a:srcRect l="1" t="11188" r="6881" b="17117"/>
          <a:stretch>
            <a:fillRect/>
          </a:stretch>
        </p:blipFill>
        <p:spPr>
          <a:xfrm>
            <a:off x="179791" y="4380754"/>
            <a:ext cx="1955893" cy="992462"/>
          </a:xfrm>
          <a:prstGeom prst="rect">
            <a:avLst/>
          </a:prstGeom>
        </p:spPr>
      </p:pic>
      <p:pic>
        <p:nvPicPr>
          <p:cNvPr id="15" name="图片 14"/>
          <p:cNvPicPr>
            <a:picLocks noChangeAspect="1"/>
          </p:cNvPicPr>
          <p:nvPr/>
        </p:nvPicPr>
        <p:blipFill>
          <a:blip r:embed="rId12" cstate="email">
            <a:extLst>
              <a:ext uri="{28A0092B-C50C-407E-A947-70E740481C1C}">
                <a14:useLocalDpi xmlns:a14="http://schemas.microsoft.com/office/drawing/2010/main" val="0"/>
              </a:ext>
            </a:extLst>
          </a:blip>
          <a:stretch>
            <a:fillRect/>
          </a:stretch>
        </p:blipFill>
        <p:spPr>
          <a:xfrm>
            <a:off x="2339752" y="2833016"/>
            <a:ext cx="2016224" cy="956951"/>
          </a:xfrm>
          <a:prstGeom prst="rect">
            <a:avLst/>
          </a:prstGeom>
        </p:spPr>
      </p:pic>
      <p:pic>
        <p:nvPicPr>
          <p:cNvPr id="20" name="图片 19"/>
          <p:cNvPicPr>
            <a:picLocks noChangeAspect="1"/>
          </p:cNvPicPr>
          <p:nvPr/>
        </p:nvPicPr>
        <p:blipFill>
          <a:blip r:embed="rId13" cstate="email">
            <a:extLst>
              <a:ext uri="{28A0092B-C50C-407E-A947-70E740481C1C}">
                <a14:useLocalDpi xmlns:a14="http://schemas.microsoft.com/office/drawing/2010/main" val="0"/>
              </a:ext>
            </a:extLst>
          </a:blip>
          <a:stretch>
            <a:fillRect/>
          </a:stretch>
        </p:blipFill>
        <p:spPr>
          <a:xfrm>
            <a:off x="2305459" y="4354555"/>
            <a:ext cx="2050517" cy="1104900"/>
          </a:xfrm>
          <a:prstGeom prst="rect">
            <a:avLst/>
          </a:prstGeom>
        </p:spPr>
      </p:pic>
      <p:pic>
        <p:nvPicPr>
          <p:cNvPr id="21" name="图片 20"/>
          <p:cNvPicPr>
            <a:picLocks noChangeAspect="1"/>
          </p:cNvPicPr>
          <p:nvPr/>
        </p:nvPicPr>
        <p:blipFill>
          <a:blip r:embed="rId14" cstate="email">
            <a:extLst>
              <a:ext uri="{28A0092B-C50C-407E-A947-70E740481C1C}">
                <a14:useLocalDpi xmlns:a14="http://schemas.microsoft.com/office/drawing/2010/main" val="0"/>
              </a:ext>
            </a:extLst>
          </a:blip>
          <a:stretch>
            <a:fillRect/>
          </a:stretch>
        </p:blipFill>
        <p:spPr>
          <a:xfrm>
            <a:off x="4500165" y="2813093"/>
            <a:ext cx="1956172" cy="1054100"/>
          </a:xfrm>
          <a:prstGeom prst="rect">
            <a:avLst/>
          </a:prstGeom>
        </p:spPr>
      </p:pic>
      <p:pic>
        <p:nvPicPr>
          <p:cNvPr id="22" name="图片 21"/>
          <p:cNvPicPr>
            <a:picLocks noChangeAspect="1"/>
          </p:cNvPicPr>
          <p:nvPr/>
        </p:nvPicPr>
        <p:blipFill>
          <a:blip r:embed="rId15" cstate="email">
            <a:extLst>
              <a:ext uri="{28A0092B-C50C-407E-A947-70E740481C1C}">
                <a14:useLocalDpi xmlns:a14="http://schemas.microsoft.com/office/drawing/2010/main" val="0"/>
              </a:ext>
            </a:extLst>
          </a:blip>
          <a:stretch>
            <a:fillRect/>
          </a:stretch>
        </p:blipFill>
        <p:spPr>
          <a:xfrm>
            <a:off x="4433440" y="4380754"/>
            <a:ext cx="1956172" cy="965200"/>
          </a:xfrm>
          <a:prstGeom prst="rect">
            <a:avLst/>
          </a:prstGeom>
        </p:spPr>
      </p:pic>
      <mc:AlternateContent xmlns:mc="http://schemas.openxmlformats.org/markup-compatibility/2006">
        <mc:Choice xmlns:a14="http://schemas.microsoft.com/office/drawing/2010/main" Requires="a14">
          <p:sp>
            <p:nvSpPr>
              <p:cNvPr id="23" name="矩形 22"/>
              <p:cNvSpPr/>
              <p:nvPr/>
            </p:nvSpPr>
            <p:spPr>
              <a:xfrm>
                <a:off x="7429500" y="3959503"/>
                <a:ext cx="1057533"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charset="0"/>
                        </a:rPr>
                        <m:t>A</m:t>
                      </m:r>
                      <m:d>
                        <m:dPr>
                          <m:ctrlPr>
                            <a:rPr lang="zh-CN" altLang="zh-CN" i="1">
                              <a:latin typeface="Cambria Math" panose="02040503050406030204" charset="0"/>
                            </a:rPr>
                          </m:ctrlPr>
                        </m:dPr>
                        <m:e>
                          <m:r>
                            <m:rPr>
                              <m:sty m:val="p"/>
                            </m:rPr>
                            <a:rPr lang="en-US" altLang="zh-CN">
                              <a:latin typeface="Cambria Math" panose="02040503050406030204" charset="0"/>
                            </a:rPr>
                            <m:t>ϕUψ</m:t>
                          </m:r>
                        </m:e>
                      </m:d>
                    </m:oMath>
                  </m:oMathPara>
                </a14:m>
                <a:endParaRPr lang="zh-CN" altLang="en-US" dirty="0"/>
              </a:p>
            </p:txBody>
          </p:sp>
        </mc:Choice>
        <mc:Fallback>
          <p:sp>
            <p:nvSpPr>
              <p:cNvPr id="23" name="矩形 22"/>
              <p:cNvSpPr>
                <a:spLocks noRot="1" noChangeAspect="1" noMove="1" noResize="1" noEditPoints="1" noAdjustHandles="1" noChangeArrowheads="1" noChangeShapeType="1" noTextEdit="1"/>
              </p:cNvSpPr>
              <p:nvPr/>
            </p:nvSpPr>
            <p:spPr>
              <a:xfrm>
                <a:off x="7429500" y="3959503"/>
                <a:ext cx="1057533" cy="369332"/>
              </a:xfrm>
              <a:prstGeom prst="rect">
                <a:avLst/>
              </a:prstGeom>
              <a:blipFill rotWithShape="1">
                <a:blip r:embed="rId16"/>
                <a:stretch>
                  <a:fillRect t="-75" r="24" b="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矩形 26"/>
              <p:cNvSpPr/>
              <p:nvPr/>
            </p:nvSpPr>
            <p:spPr>
              <a:xfrm>
                <a:off x="7382692" y="2454736"/>
                <a:ext cx="1046312"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en-US" altLang="zh-CN" smtClean="0">
                          <a:latin typeface="Cambria Math" panose="02040503050406030204" charset="0"/>
                        </a:rPr>
                        <m:t>E</m:t>
                      </m:r>
                      <m:d>
                        <m:dPr>
                          <m:ctrlPr>
                            <a:rPr lang="zh-CN" altLang="zh-CN" i="1">
                              <a:latin typeface="Cambria Math" panose="02040503050406030204" charset="0"/>
                            </a:rPr>
                          </m:ctrlPr>
                        </m:dPr>
                        <m:e>
                          <m:r>
                            <m:rPr>
                              <m:sty m:val="p"/>
                            </m:rPr>
                            <a:rPr lang="en-US" altLang="zh-CN">
                              <a:latin typeface="Cambria Math" panose="02040503050406030204" charset="0"/>
                            </a:rPr>
                            <m:t>ϕUψ</m:t>
                          </m:r>
                        </m:e>
                      </m:d>
                    </m:oMath>
                  </m:oMathPara>
                </a14:m>
                <a:endParaRPr lang="zh-CN" altLang="en-US" dirty="0"/>
              </a:p>
            </p:txBody>
          </p:sp>
        </mc:Choice>
        <mc:Fallback>
          <p:sp>
            <p:nvSpPr>
              <p:cNvPr id="27" name="矩形 26"/>
              <p:cNvSpPr>
                <a:spLocks noRot="1" noChangeAspect="1" noMove="1" noResize="1" noEditPoints="1" noAdjustHandles="1" noChangeArrowheads="1" noChangeShapeType="1" noTextEdit="1"/>
              </p:cNvSpPr>
              <p:nvPr/>
            </p:nvSpPr>
            <p:spPr>
              <a:xfrm>
                <a:off x="7382692" y="2454736"/>
                <a:ext cx="1046312" cy="369332"/>
              </a:xfrm>
              <a:prstGeom prst="rect">
                <a:avLst/>
              </a:prstGeom>
              <a:blipFill rotWithShape="1">
                <a:blip r:embed="rId17"/>
                <a:stretch>
                  <a:fillRect l="-17" t="-125" r="1" b="60"/>
                </a:stretch>
              </a:blipFill>
            </p:spPr>
            <p:txBody>
              <a:bodyPr/>
              <a:lstStyle/>
              <a:p>
                <a:r>
                  <a:rPr lang="zh-CN" altLang="en-US">
                    <a:noFill/>
                  </a:rPr>
                  <a:t> </a:t>
                </a:r>
              </a:p>
            </p:txBody>
          </p:sp>
        </mc:Fallback>
      </mc:AlternateContent>
      <p:pic>
        <p:nvPicPr>
          <p:cNvPr id="24" name="图片 23"/>
          <p:cNvPicPr>
            <a:picLocks noChangeAspect="1"/>
          </p:cNvPicPr>
          <p:nvPr/>
        </p:nvPicPr>
        <p:blipFill rotWithShape="1">
          <a:blip r:embed="rId18" cstate="email">
            <a:extLst>
              <a:ext uri="{28A0092B-C50C-407E-A947-70E740481C1C}">
                <a14:useLocalDpi xmlns:a14="http://schemas.microsoft.com/office/drawing/2010/main" val="0"/>
              </a:ext>
            </a:extLst>
          </a:blip>
          <a:srcRect t="5538" r="4429"/>
          <a:stretch>
            <a:fillRect/>
          </a:stretch>
        </p:blipFill>
        <p:spPr>
          <a:xfrm>
            <a:off x="6691832" y="2837655"/>
            <a:ext cx="2066460" cy="952312"/>
          </a:xfrm>
          <a:prstGeom prst="rect">
            <a:avLst/>
          </a:prstGeom>
        </p:spPr>
      </p:pic>
      <p:sp>
        <p:nvSpPr>
          <p:cNvPr id="29" name="椭圆 28"/>
          <p:cNvSpPr/>
          <p:nvPr/>
        </p:nvSpPr>
        <p:spPr bwMode="auto">
          <a:xfrm>
            <a:off x="3693935" y="5622347"/>
            <a:ext cx="216024" cy="216024"/>
          </a:xfrm>
          <a:prstGeom prst="ellipse">
            <a:avLst/>
          </a:prstGeom>
          <a:solidFill>
            <a:srgbClr val="ED7233"/>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25" name="矩形 24"/>
              <p:cNvSpPr/>
              <p:nvPr/>
            </p:nvSpPr>
            <p:spPr>
              <a:xfrm>
                <a:off x="3949454" y="5545693"/>
                <a:ext cx="813043" cy="369332"/>
              </a:xfrm>
              <a:prstGeom prst="rect">
                <a:avLst/>
              </a:prstGeom>
            </p:spPr>
            <p:txBody>
              <a:bodyPr wrap="none">
                <a:spAutoFit/>
              </a:bodyPr>
              <a:lstStyle/>
              <a:p>
                <a:r>
                  <a:rPr kumimoji="1" lang="zh-CN" altLang="en-US" dirty="0"/>
                  <a:t>满足</a:t>
                </a:r>
                <a14:m>
                  <m:oMath xmlns:m="http://schemas.openxmlformats.org/officeDocument/2006/math">
                    <m:r>
                      <m:rPr>
                        <m:sty m:val="p"/>
                      </m:rPr>
                      <a:rPr lang="en-US" altLang="zh-CN">
                        <a:latin typeface="Cambria Math" panose="02040503050406030204" charset="0"/>
                      </a:rPr>
                      <m:t>ψ</m:t>
                    </m:r>
                  </m:oMath>
                </a14:m>
                <a:endParaRPr kumimoji="1" lang="zh-CN" altLang="en-US" dirty="0"/>
              </a:p>
            </p:txBody>
          </p:sp>
        </mc:Choice>
        <mc:Fallback>
          <p:sp>
            <p:nvSpPr>
              <p:cNvPr id="25" name="矩形 24"/>
              <p:cNvSpPr>
                <a:spLocks noRot="1" noChangeAspect="1" noMove="1" noResize="1" noEditPoints="1" noAdjustHandles="1" noChangeArrowheads="1" noChangeShapeType="1" noTextEdit="1"/>
              </p:cNvSpPr>
              <p:nvPr/>
            </p:nvSpPr>
            <p:spPr>
              <a:xfrm>
                <a:off x="3949454" y="5545693"/>
                <a:ext cx="813043" cy="369332"/>
              </a:xfrm>
              <a:prstGeom prst="rect">
                <a:avLst/>
              </a:prstGeom>
              <a:blipFill rotWithShape="1">
                <a:blip r:embed="rId19"/>
                <a:stretch>
                  <a:fillRect l="-48" t="-64" r="78"/>
                </a:stretch>
              </a:blipFill>
            </p:spPr>
            <p:txBody>
              <a:bodyPr/>
              <a:lstStyle/>
              <a:p>
                <a:r>
                  <a:rPr lang="zh-CN" altLang="en-US">
                    <a:noFill/>
                  </a:rPr>
                  <a:t> </a:t>
                </a:r>
              </a:p>
            </p:txBody>
          </p:sp>
        </mc:Fallback>
      </mc:AlternateContent>
      <p:pic>
        <p:nvPicPr>
          <p:cNvPr id="26" name="图片 25"/>
          <p:cNvPicPr>
            <a:picLocks noChangeAspect="1"/>
          </p:cNvPicPr>
          <p:nvPr/>
        </p:nvPicPr>
        <p:blipFill rotWithShape="1">
          <a:blip r:embed="rId20" cstate="email">
            <a:extLst>
              <a:ext uri="{28A0092B-C50C-407E-A947-70E740481C1C}">
                <a14:useLocalDpi xmlns:a14="http://schemas.microsoft.com/office/drawing/2010/main" val="0"/>
              </a:ext>
            </a:extLst>
          </a:blip>
          <a:srcRect l="10910" t="18670" r="7383" b="6501"/>
          <a:stretch>
            <a:fillRect/>
          </a:stretch>
        </p:blipFill>
        <p:spPr>
          <a:xfrm>
            <a:off x="6691832" y="4380754"/>
            <a:ext cx="2128708" cy="9924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dissolv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dissolve">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dissolv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dissolve">
                                      <p:cBhvr>
                                        <p:cTn id="4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16" name="Title 1"/>
          <p:cNvSpPr>
            <a:spLocks noGrp="1"/>
          </p:cNvSpPr>
          <p:nvPr>
            <p:ph type="title"/>
          </p:nvPr>
        </p:nvSpPr>
        <p:spPr>
          <a:xfrm>
            <a:off x="971600" y="404664"/>
            <a:ext cx="6769100" cy="576262"/>
          </a:xfrm>
        </p:spPr>
        <p:txBody>
          <a:bodyPr/>
          <a:lstStyle/>
          <a:p>
            <a:r>
              <a:rPr lang="en-US" altLang="zh-CN" b="1" dirty="0"/>
              <a:t>3</a:t>
            </a:r>
            <a:r>
              <a:rPr lang="en-US" altLang="zh-CN" b="1" dirty="0" smtClean="0"/>
              <a:t>.3</a:t>
            </a:r>
            <a:r>
              <a:rPr lang="zh-CN" altLang="en-US" b="1" dirty="0" smtClean="0"/>
              <a:t> 目标系统验证</a:t>
            </a:r>
            <a:endParaRPr lang="en-US" altLang="zh-CN" b="1" dirty="0"/>
          </a:p>
        </p:txBody>
      </p:sp>
      <mc:AlternateContent xmlns:mc="http://schemas.openxmlformats.org/markup-compatibility/2006">
        <mc:Choice xmlns:a14="http://schemas.microsoft.com/office/drawing/2010/main" Requires="a14">
          <p:sp>
            <p:nvSpPr>
              <p:cNvPr id="30" name="内容占位符 1"/>
              <p:cNvSpPr>
                <a:spLocks noGrp="1"/>
              </p:cNvSpPr>
              <p:nvPr>
                <p:ph idx="1"/>
              </p:nvPr>
            </p:nvSpPr>
            <p:spPr>
              <a:xfrm>
                <a:off x="753344" y="2373313"/>
                <a:ext cx="7704856" cy="576064"/>
              </a:xfrm>
            </p:spPr>
            <p:txBody>
              <a:bodyPr/>
              <a:lstStyle/>
              <a:p>
                <a:pPr marL="0" indent="0">
                  <a:buNone/>
                </a:pPr>
                <a:r>
                  <a:rPr lang="zh-CN" altLang="en-US" sz="2400" dirty="0" smtClean="0"/>
                  <a:t>       对于一个建模完成的模型</a:t>
                </a:r>
                <a:r>
                  <a:rPr lang="en-US" altLang="zh-CN" sz="2400" dirty="0" smtClean="0"/>
                  <a:t>M</a:t>
                </a:r>
                <a:r>
                  <a:rPr lang="zh-CN" altLang="en-US" sz="2400" dirty="0" smtClean="0"/>
                  <a:t>检查某一特定性质</a:t>
                </a:r>
                <a14:m>
                  <m:oMath xmlns:m="http://schemas.openxmlformats.org/officeDocument/2006/math">
                    <m:r>
                      <m:rPr>
                        <m:sty m:val="p"/>
                      </m:rPr>
                      <a:rPr lang="el-GR" altLang="zh-CN" sz="2400" i="1">
                        <a:latin typeface="Cambria Math" panose="02040503050406030204" charset="0"/>
                      </a:rPr>
                      <m:t>Φ</m:t>
                    </m:r>
                  </m:oMath>
                </a14:m>
                <a:r>
                  <a:rPr lang="zh-CN" altLang="en-US" sz="2400" dirty="0" smtClean="0"/>
                  <a:t>，将</a:t>
                </a:r>
                <a14:m>
                  <m:oMath xmlns:m="http://schemas.openxmlformats.org/officeDocument/2006/math">
                    <m:r>
                      <m:rPr>
                        <m:sty m:val="p"/>
                      </m:rPr>
                      <a:rPr lang="el-GR" altLang="zh-CN" sz="2400" i="1">
                        <a:latin typeface="Cambria Math" panose="02040503050406030204" charset="0"/>
                      </a:rPr>
                      <m:t>Φ</m:t>
                    </m:r>
                  </m:oMath>
                </a14:m>
                <a:r>
                  <a:rPr lang="zh-CN" altLang="en-US" sz="2400" dirty="0" smtClean="0"/>
                  <a:t>分成子性质</a:t>
                </a:r>
                <a14:m>
                  <m:oMath xmlns:m="http://schemas.openxmlformats.org/officeDocument/2006/math">
                    <m:r>
                      <m:rPr>
                        <m:sty m:val="p"/>
                      </m:rPr>
                      <a:rPr lang="el-GR" altLang="zh-CN" sz="2400" i="1">
                        <a:latin typeface="Cambria Math" panose="02040503050406030204" charset="0"/>
                      </a:rPr>
                      <m:t>Φ</m:t>
                    </m:r>
                  </m:oMath>
                </a14:m>
                <a:r>
                  <a:rPr lang="en-US" altLang="zh-CN" sz="2400" dirty="0" smtClean="0"/>
                  <a:t>1</a:t>
                </a:r>
                <a:r>
                  <a:rPr lang="zh-CN" altLang="en-US" sz="2400" dirty="0" smtClean="0"/>
                  <a:t>、</a:t>
                </a:r>
                <a:r>
                  <a:rPr lang="el-GR" altLang="zh-CN" sz="2400" dirty="0"/>
                  <a:t> </a:t>
                </a:r>
                <a14:m>
                  <m:oMath xmlns:m="http://schemas.openxmlformats.org/officeDocument/2006/math">
                    <m:r>
                      <m:rPr>
                        <m:sty m:val="p"/>
                      </m:rPr>
                      <a:rPr lang="el-GR" altLang="zh-CN" sz="2400" i="1">
                        <a:latin typeface="Cambria Math" panose="02040503050406030204" charset="0"/>
                      </a:rPr>
                      <m:t>Φ</m:t>
                    </m:r>
                  </m:oMath>
                </a14:m>
                <a:r>
                  <a:rPr lang="en-US" altLang="zh-CN" sz="2400" dirty="0" smtClean="0"/>
                  <a:t>2</a:t>
                </a:r>
                <a:r>
                  <a:rPr lang="en-US" altLang="zh-CN" sz="2400" dirty="0" smtClean="0"/>
                  <a:t>…</a:t>
                </a:r>
                <a:r>
                  <a:rPr lang="zh-CN" altLang="en-US" sz="2400" dirty="0" smtClean="0"/>
                  <a:t>依次检测满足每个子性质的系统状态，最后在使用二元操作符</a:t>
                </a:r>
                <a14:m>
                  <m:oMath xmlns:m="http://schemas.openxmlformats.org/officeDocument/2006/math">
                    <m:r>
                      <a:rPr lang="en-US" altLang="zh-CN" sz="2400" i="1" smtClean="0">
                        <a:latin typeface="Cambria Math" panose="02040503050406030204" charset="0"/>
                        <a:ea typeface="Cambria Math" panose="02040503050406030204" charset="0"/>
                        <a:cs typeface="Cambria Math" panose="02040503050406030204" charset="0"/>
                      </a:rPr>
                      <m:t>∨</m:t>
                    </m:r>
                  </m:oMath>
                </a14:m>
                <a:r>
                  <a:rPr lang="zh-CN" altLang="en-US" sz="2400" dirty="0" smtClean="0"/>
                  <a:t>、</a:t>
                </a:r>
                <a:r>
                  <a:rPr lang="en-US" altLang="zh-CN" sz="2400" dirty="0">
                    <a:ea typeface="Cambria Math" panose="02040503050406030204" charset="0"/>
                    <a:cs typeface="Cambria Math" panose="02040503050406030204" charset="0"/>
                  </a:rPr>
                  <a:t> </a:t>
                </a:r>
                <a14:m>
                  <m:oMath xmlns:m="http://schemas.openxmlformats.org/officeDocument/2006/math">
                    <m:r>
                      <a:rPr lang="en-US" altLang="zh-CN" sz="2400" i="1" smtClean="0">
                        <a:latin typeface="Cambria Math" panose="02040503050406030204" charset="0"/>
                        <a:ea typeface="Cambria Math" panose="02040503050406030204" charset="0"/>
                        <a:cs typeface="Cambria Math" panose="02040503050406030204" charset="0"/>
                      </a:rPr>
                      <m:t>∧</m:t>
                    </m:r>
                  </m:oMath>
                </a14:m>
                <a:r>
                  <a:rPr lang="zh-CN" altLang="en-US" sz="2400" dirty="0" smtClean="0"/>
                  <a:t>、</a:t>
                </a:r>
                <a:r>
                  <a:rPr lang="en-US" altLang="zh-CN" sz="2400" dirty="0" smtClean="0"/>
                  <a:t>U</a:t>
                </a:r>
                <a:r>
                  <a:rPr lang="zh-CN" altLang="en-US" sz="2400" dirty="0" smtClean="0"/>
                  <a:t>，检查是否系统模型满足最终的</a:t>
                </a:r>
                <a14:m>
                  <m:oMath xmlns:m="http://schemas.openxmlformats.org/officeDocument/2006/math">
                    <m:r>
                      <m:rPr>
                        <m:sty m:val="p"/>
                      </m:rPr>
                      <a:rPr lang="el-GR" altLang="zh-CN" sz="2400" i="1">
                        <a:latin typeface="Cambria Math" panose="02040503050406030204" charset="0"/>
                      </a:rPr>
                      <m:t>Φ</m:t>
                    </m:r>
                  </m:oMath>
                </a14:m>
                <a:r>
                  <a:rPr lang="zh-CN" altLang="en-US" sz="2400" dirty="0" smtClean="0"/>
                  <a:t>。对于</a:t>
                </a:r>
                <a14:m>
                  <m:oMath xmlns:m="http://schemas.openxmlformats.org/officeDocument/2006/math">
                    <m:r>
                      <a:rPr lang="en-US" altLang="zh-CN" sz="2400" i="1">
                        <a:latin typeface="Cambria Math" panose="02040503050406030204" charset="0"/>
                        <a:ea typeface="Cambria Math" panose="02040503050406030204" charset="0"/>
                        <a:cs typeface="Cambria Math" panose="02040503050406030204" charset="0"/>
                      </a:rPr>
                      <m:t>∨</m:t>
                    </m:r>
                  </m:oMath>
                </a14:m>
                <a:r>
                  <a:rPr lang="zh-CN" altLang="en-US" sz="2400" dirty="0"/>
                  <a:t>、</a:t>
                </a:r>
                <a:r>
                  <a:rPr lang="en-US" altLang="zh-CN" sz="2400" dirty="0">
                    <a:ea typeface="Cambria Math" panose="02040503050406030204" charset="0"/>
                    <a:cs typeface="Cambria Math" panose="02040503050406030204" charset="0"/>
                  </a:rPr>
                  <a:t> </a:t>
                </a:r>
                <a14:m>
                  <m:oMath xmlns:m="http://schemas.openxmlformats.org/officeDocument/2006/math">
                    <m:r>
                      <a:rPr lang="en-US" altLang="zh-CN" sz="2400" i="1">
                        <a:latin typeface="Cambria Math" panose="02040503050406030204" charset="0"/>
                        <a:ea typeface="Cambria Math" panose="02040503050406030204" charset="0"/>
                        <a:cs typeface="Cambria Math" panose="02040503050406030204" charset="0"/>
                      </a:rPr>
                      <m:t>∧</m:t>
                    </m:r>
                  </m:oMath>
                </a14:m>
                <a:r>
                  <a:rPr lang="zh-CN" altLang="en-US" sz="2400" dirty="0" smtClean="0"/>
                  <a:t>可以使用简单集合的并和交操作即可，对于</a:t>
                </a:r>
                <a:r>
                  <a:rPr lang="en-US" altLang="zh-CN" sz="2400" dirty="0" smtClean="0"/>
                  <a:t>U</a:t>
                </a:r>
                <a:r>
                  <a:rPr lang="zh-CN" altLang="en-US" sz="2400" dirty="0" smtClean="0"/>
                  <a:t>操作使用如下的算法。</a:t>
                </a:r>
                <a:endParaRPr lang="en-US" altLang="zh-CN" sz="2400" dirty="0" smtClean="0"/>
              </a:p>
              <a:p>
                <a:pPr marL="0" indent="0">
                  <a:buNone/>
                </a:pPr>
                <a:endParaRPr lang="zh-CN" altLang="zh-CN" sz="2400" dirty="0"/>
              </a:p>
            </p:txBody>
          </p:sp>
        </mc:Choice>
        <mc:Fallback>
          <p:sp>
            <p:nvSpPr>
              <p:cNvPr id="30" name="内容占位符 1"/>
              <p:cNvSpPr>
                <a:spLocks noRot="1" noChangeAspect="1" noMove="1" noResize="1" noEditPoints="1" noAdjustHandles="1" noChangeArrowheads="1" noChangeShapeType="1" noTextEdit="1"/>
              </p:cNvSpPr>
              <p:nvPr>
                <p:ph idx="1"/>
              </p:nvPr>
            </p:nvSpPr>
            <p:spPr>
              <a:xfrm>
                <a:off x="753344" y="2373313"/>
                <a:ext cx="7704856" cy="576064"/>
              </a:xfrm>
              <a:blipFill rotWithShape="1">
                <a:blip r:embed="rId1"/>
                <a:stretch>
                  <a:fillRect l="-3" t="-55" b="-301516"/>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16" name="Title 1"/>
          <p:cNvSpPr>
            <a:spLocks noGrp="1"/>
          </p:cNvSpPr>
          <p:nvPr>
            <p:ph type="title"/>
          </p:nvPr>
        </p:nvSpPr>
        <p:spPr>
          <a:xfrm>
            <a:off x="971600" y="404664"/>
            <a:ext cx="6769100" cy="576262"/>
          </a:xfrm>
        </p:spPr>
        <p:txBody>
          <a:bodyPr/>
          <a:lstStyle/>
          <a:p>
            <a:r>
              <a:rPr lang="en-US" altLang="zh-CN" b="1" dirty="0"/>
              <a:t>3</a:t>
            </a:r>
            <a:r>
              <a:rPr lang="en-US" altLang="zh-CN" b="1" dirty="0" smtClean="0"/>
              <a:t>.3</a:t>
            </a:r>
            <a:r>
              <a:rPr lang="zh-CN" altLang="en-US" b="1" dirty="0" smtClean="0"/>
              <a:t> 目标系统验证</a:t>
            </a:r>
            <a:endParaRPr lang="en-US" altLang="zh-CN" b="1" dirty="0"/>
          </a:p>
        </p:txBody>
      </p:sp>
      <p:sp>
        <p:nvSpPr>
          <p:cNvPr id="30" name="内容占位符 1"/>
          <p:cNvSpPr>
            <a:spLocks noGrp="1"/>
          </p:cNvSpPr>
          <p:nvPr>
            <p:ph idx="1"/>
          </p:nvPr>
        </p:nvSpPr>
        <p:spPr>
          <a:xfrm>
            <a:off x="461567" y="1444823"/>
            <a:ext cx="7704856" cy="576064"/>
          </a:xfrm>
        </p:spPr>
        <p:txBody>
          <a:bodyPr/>
          <a:lstStyle/>
          <a:p>
            <a:pPr marL="0" indent="0">
              <a:buNone/>
            </a:pPr>
            <a:endParaRPr lang="en-US" altLang="zh-CN" sz="2400" dirty="0" smtClean="0"/>
          </a:p>
          <a:p>
            <a:pPr marL="0" indent="0">
              <a:buNone/>
            </a:pPr>
            <a:endParaRPr lang="zh-CN" altLang="zh-CN" sz="2400" dirty="0"/>
          </a:p>
        </p:txBody>
      </p:sp>
      <mc:AlternateContent xmlns:mc="http://schemas.openxmlformats.org/markup-compatibility/2006">
        <mc:Choice xmlns:a14="http://schemas.microsoft.com/office/drawing/2010/main" Requires="a14">
          <p:sp>
            <p:nvSpPr>
              <p:cNvPr id="2" name="文本框 1"/>
              <p:cNvSpPr txBox="1"/>
              <p:nvPr/>
            </p:nvSpPr>
            <p:spPr>
              <a:xfrm>
                <a:off x="340334" y="1577048"/>
                <a:ext cx="8713340" cy="1499641"/>
              </a:xfrm>
              <a:prstGeom prst="rect">
                <a:avLst/>
              </a:prstGeom>
              <a:noFill/>
            </p:spPr>
            <p:txBody>
              <a:bodyPr wrap="square" rtlCol="0">
                <a:spAutoFit/>
              </a:bodyPr>
              <a:lstStyle/>
              <a:p>
                <a:pPr marL="285750" indent="-285750" algn="l">
                  <a:buFont typeface="Wingdings" panose="05000000000000000000" pitchFamily="2" charset="2"/>
                  <a:buChar char="n"/>
                </a:pPr>
                <a14:m>
                  <m:oMath xmlns:m="http://schemas.openxmlformats.org/officeDocument/2006/math">
                    <m:r>
                      <m:rPr>
                        <m:sty m:val="p"/>
                      </m:rPr>
                      <a:rPr lang="en-US" altLang="zh-CN" smtClean="0">
                        <a:solidFill>
                          <a:schemeClr val="tx1"/>
                        </a:solidFill>
                        <a:latin typeface="Cambria Math" panose="02040503050406030204" charset="0"/>
                      </a:rPr>
                      <m:t>ϕUψ</m:t>
                    </m:r>
                  </m:oMath>
                </a14:m>
                <a:r>
                  <a:rPr lang="zh-CN" altLang="en-US" kern="0" dirty="0">
                    <a:solidFill>
                      <a:schemeClr val="tx1"/>
                    </a:solidFill>
                    <a:ea typeface="等线" panose="02010600030101010101" charset="-122"/>
                    <a:cs typeface="MS Mincho" charset="-128"/>
                  </a:rPr>
                  <a:t>表示在</a:t>
                </a:r>
                <a14:m>
                  <m:oMath xmlns:m="http://schemas.openxmlformats.org/officeDocument/2006/math">
                    <m:r>
                      <m:rPr>
                        <m:sty m:val="p"/>
                      </m:rPr>
                      <a:rPr lang="en-US" altLang="zh-CN">
                        <a:solidFill>
                          <a:schemeClr val="tx1"/>
                        </a:solidFill>
                        <a:latin typeface="Cambria Math" panose="02040503050406030204" charset="0"/>
                      </a:rPr>
                      <m:t>ψ</m:t>
                    </m:r>
                  </m:oMath>
                </a14:m>
                <a:r>
                  <a:rPr lang="zh-CN" altLang="en-US" kern="0" dirty="0">
                    <a:solidFill>
                      <a:schemeClr val="tx1"/>
                    </a:solidFill>
                    <a:ea typeface="等线" panose="02010600030101010101" charset="-122"/>
                    <a:cs typeface="MS Mincho" charset="-128"/>
                  </a:rPr>
                  <a:t>满足前</a:t>
                </a:r>
                <a14:m>
                  <m:oMath xmlns:m="http://schemas.openxmlformats.org/officeDocument/2006/math">
                    <m:r>
                      <m:rPr>
                        <m:sty m:val="p"/>
                      </m:rPr>
                      <a:rPr lang="en-US" altLang="zh-CN">
                        <a:solidFill>
                          <a:schemeClr val="tx1"/>
                        </a:solidFill>
                        <a:latin typeface="Cambria Math" panose="02040503050406030204" charset="0"/>
                      </a:rPr>
                      <m:t>ϕ</m:t>
                    </m:r>
                  </m:oMath>
                </a14:m>
                <a:r>
                  <a:rPr lang="zh-CN" altLang="en-US" kern="0" dirty="0">
                    <a:solidFill>
                      <a:schemeClr val="tx1"/>
                    </a:solidFill>
                    <a:ea typeface="等线" panose="02010600030101010101" charset="-122"/>
                    <a:cs typeface="MS Mincho" charset="-128"/>
                  </a:rPr>
                  <a:t>一直被满足：在一条运行轨迹</a:t>
                </a:r>
                <a14:m>
                  <m:oMath xmlns:m="http://schemas.openxmlformats.org/officeDocument/2006/math">
                    <m:sSub>
                      <m:sSubPr>
                        <m:ctrlPr>
                          <a:rPr lang="zh-CN" altLang="zh-CN" i="1">
                            <a:solidFill>
                              <a:schemeClr val="tx1"/>
                            </a:solidFill>
                            <a:latin typeface="Cambria Math" panose="02040503050406030204" charset="0"/>
                          </a:rPr>
                        </m:ctrlPr>
                      </m:sSubPr>
                      <m:e>
                        <m:r>
                          <a:rPr lang="en-US" altLang="zh-CN" i="1">
                            <a:solidFill>
                              <a:schemeClr val="tx1"/>
                            </a:solidFill>
                            <a:latin typeface="Cambria Math" panose="02040503050406030204" charset="0"/>
                          </a:rPr>
                          <m:t>𝑠</m:t>
                        </m:r>
                      </m:e>
                      <m:sub>
                        <m:r>
                          <a:rPr lang="en-US" altLang="zh-CN" i="1">
                            <a:solidFill>
                              <a:schemeClr val="tx1"/>
                            </a:solidFill>
                            <a:latin typeface="Cambria Math" panose="02040503050406030204" charset="0"/>
                          </a:rPr>
                          <m:t>0</m:t>
                        </m:r>
                      </m:sub>
                    </m:sSub>
                    <m:sSub>
                      <m:sSubPr>
                        <m:ctrlPr>
                          <a:rPr lang="zh-CN" altLang="zh-CN" i="1">
                            <a:solidFill>
                              <a:schemeClr val="tx1"/>
                            </a:solidFill>
                            <a:latin typeface="Cambria Math" panose="02040503050406030204" charset="0"/>
                          </a:rPr>
                        </m:ctrlPr>
                      </m:sSubPr>
                      <m:e>
                        <m:r>
                          <a:rPr lang="en-US" altLang="zh-CN" i="1">
                            <a:solidFill>
                              <a:schemeClr val="tx1"/>
                            </a:solidFill>
                            <a:latin typeface="Cambria Math" panose="02040503050406030204" charset="0"/>
                          </a:rPr>
                          <m:t>𝑠</m:t>
                        </m:r>
                      </m:e>
                      <m:sub>
                        <m:r>
                          <a:rPr lang="en-US" altLang="zh-CN" i="1">
                            <a:solidFill>
                              <a:schemeClr val="tx1"/>
                            </a:solidFill>
                            <a:latin typeface="Cambria Math" panose="02040503050406030204" charset="0"/>
                          </a:rPr>
                          <m:t>1</m:t>
                        </m:r>
                      </m:sub>
                    </m:sSub>
                    <m:sSub>
                      <m:sSubPr>
                        <m:ctrlPr>
                          <a:rPr lang="zh-CN" altLang="zh-CN" i="1">
                            <a:solidFill>
                              <a:schemeClr val="tx1"/>
                            </a:solidFill>
                            <a:latin typeface="Cambria Math" panose="02040503050406030204" charset="0"/>
                          </a:rPr>
                        </m:ctrlPr>
                      </m:sSubPr>
                      <m:e>
                        <m:r>
                          <a:rPr lang="en-US" altLang="zh-CN" i="1">
                            <a:solidFill>
                              <a:schemeClr val="tx1"/>
                            </a:solidFill>
                            <a:latin typeface="Cambria Math" panose="02040503050406030204" charset="0"/>
                          </a:rPr>
                          <m:t>𝑠</m:t>
                        </m:r>
                      </m:e>
                      <m:sub>
                        <m:r>
                          <a:rPr lang="en-US" altLang="zh-CN" i="1">
                            <a:solidFill>
                              <a:schemeClr val="tx1"/>
                            </a:solidFill>
                            <a:latin typeface="Cambria Math" panose="02040503050406030204" charset="0"/>
                          </a:rPr>
                          <m:t>2</m:t>
                        </m:r>
                      </m:sub>
                    </m:sSub>
                    <m:sSub>
                      <m:sSubPr>
                        <m:ctrlPr>
                          <a:rPr lang="zh-CN" altLang="zh-CN" i="1">
                            <a:solidFill>
                              <a:schemeClr val="tx1"/>
                            </a:solidFill>
                            <a:latin typeface="Cambria Math" panose="02040503050406030204" charset="0"/>
                          </a:rPr>
                        </m:ctrlPr>
                      </m:sSubPr>
                      <m:e>
                        <m:r>
                          <a:rPr lang="en-US" altLang="zh-CN" i="1">
                            <a:solidFill>
                              <a:schemeClr val="tx1"/>
                            </a:solidFill>
                            <a:latin typeface="Cambria Math" panose="02040503050406030204" charset="0"/>
                          </a:rPr>
                          <m:t>𝑠</m:t>
                        </m:r>
                      </m:e>
                      <m:sub>
                        <m:r>
                          <a:rPr lang="en-US" altLang="zh-CN" i="1">
                            <a:solidFill>
                              <a:schemeClr val="tx1"/>
                            </a:solidFill>
                            <a:latin typeface="Cambria Math" panose="02040503050406030204" charset="0"/>
                          </a:rPr>
                          <m:t>3</m:t>
                        </m:r>
                      </m:sub>
                    </m:sSub>
                    <m:r>
                      <a:rPr lang="en-US" altLang="zh-CN" i="1">
                        <a:solidFill>
                          <a:schemeClr val="tx1"/>
                        </a:solidFill>
                        <a:latin typeface="Cambria Math" panose="02040503050406030204" charset="0"/>
                      </a:rPr>
                      <m:t>…</m:t>
                    </m:r>
                  </m:oMath>
                </a14:m>
                <a:r>
                  <a:rPr lang="zh-CN" altLang="en-US" kern="0" dirty="0">
                    <a:solidFill>
                      <a:schemeClr val="tx1"/>
                    </a:solidFill>
                    <a:ea typeface="等线" panose="02010600030101010101" charset="-122"/>
                    <a:cs typeface="MS Mincho" charset="-128"/>
                  </a:rPr>
                  <a:t>中存在</a:t>
                </a:r>
                <a14:m>
                  <m:oMath xmlns:m="http://schemas.openxmlformats.org/officeDocument/2006/math">
                    <m:r>
                      <a:rPr lang="en-US" altLang="zh-CN" i="1" kern="0">
                        <a:solidFill>
                          <a:schemeClr val="tx1"/>
                        </a:solidFill>
                        <a:latin typeface="Cambria Math" panose="02040503050406030204" charset="0"/>
                        <a:ea typeface="等线" panose="02010600030101010101" charset="-122"/>
                        <a:cs typeface="MS Mincho" charset="-128"/>
                      </a:rPr>
                      <m:t>𝑖</m:t>
                    </m:r>
                    <m:r>
                      <a:rPr lang="en-US" altLang="zh-CN" i="1" kern="0">
                        <a:solidFill>
                          <a:schemeClr val="tx1"/>
                        </a:solidFill>
                        <a:latin typeface="Cambria Math" panose="02040503050406030204" charset="0"/>
                        <a:ea typeface="Cambria Math" panose="02040503050406030204" charset="0"/>
                        <a:cs typeface="Cambria Math" panose="02040503050406030204" charset="0"/>
                      </a:rPr>
                      <m:t>≥</m:t>
                    </m:r>
                    <m:r>
                      <a:rPr lang="en-US" altLang="zh-CN" i="1" kern="0">
                        <a:solidFill>
                          <a:schemeClr val="tx1"/>
                        </a:solidFill>
                        <a:latin typeface="Cambria Math" panose="02040503050406030204" charset="0"/>
                        <a:ea typeface="Cambria Math" panose="02040503050406030204" charset="0"/>
                        <a:cs typeface="Cambria Math" panose="02040503050406030204" charset="0"/>
                      </a:rPr>
                      <m:t>0</m:t>
                    </m:r>
                  </m:oMath>
                </a14:m>
                <a:r>
                  <a:rPr lang="en-US" altLang="zh-CN" kern="0" dirty="0">
                    <a:solidFill>
                      <a:schemeClr val="tx1"/>
                    </a:solidFill>
                    <a:ea typeface="等线" panose="02010600030101010101" charset="-122"/>
                    <a:cs typeface="MS Mincho" charset="-128"/>
                  </a:rPr>
                  <a:t>,</a:t>
                </a:r>
                <a:r>
                  <a:rPr lang="zh-CN" altLang="zh-CN" dirty="0">
                    <a:solidFill>
                      <a:schemeClr val="tx1"/>
                    </a:solidFill>
                  </a:rPr>
                  <a:t> </a:t>
                </a:r>
                <a14:m>
                  <m:oMath xmlns:m="http://schemas.openxmlformats.org/officeDocument/2006/math">
                    <m:sSub>
                      <m:sSubPr>
                        <m:ctrlPr>
                          <a:rPr lang="zh-CN" altLang="zh-CN" i="1">
                            <a:solidFill>
                              <a:schemeClr val="tx1"/>
                            </a:solidFill>
                            <a:latin typeface="Cambria Math" panose="02040503050406030204" charset="0"/>
                          </a:rPr>
                        </m:ctrlPr>
                      </m:sSubPr>
                      <m:e>
                        <m:r>
                          <a:rPr lang="en-US" altLang="zh-CN" i="1">
                            <a:solidFill>
                              <a:schemeClr val="tx1"/>
                            </a:solidFill>
                            <a:latin typeface="Cambria Math" panose="02040503050406030204" charset="0"/>
                          </a:rPr>
                          <m:t>𝑠</m:t>
                        </m:r>
                      </m:e>
                      <m:sub>
                        <m:r>
                          <a:rPr lang="en-US" altLang="zh-CN" i="1">
                            <a:solidFill>
                              <a:schemeClr val="tx1"/>
                            </a:solidFill>
                            <a:latin typeface="Cambria Math" panose="02040503050406030204" charset="0"/>
                          </a:rPr>
                          <m:t>𝑖</m:t>
                        </m:r>
                      </m:sub>
                    </m:sSub>
                  </m:oMath>
                </a14:m>
                <a:r>
                  <a:rPr lang="zh-CN" altLang="en-US" kern="0" dirty="0">
                    <a:solidFill>
                      <a:schemeClr val="tx1"/>
                    </a:solidFill>
                    <a:ea typeface="等线" panose="02010600030101010101" charset="-122"/>
                    <a:cs typeface="MS Mincho" charset="-128"/>
                  </a:rPr>
                  <a:t> 满足</a:t>
                </a:r>
                <a14:m>
                  <m:oMath xmlns:m="http://schemas.openxmlformats.org/officeDocument/2006/math">
                    <m:r>
                      <m:rPr>
                        <m:sty m:val="p"/>
                      </m:rPr>
                      <a:rPr lang="en-US" altLang="zh-CN">
                        <a:solidFill>
                          <a:schemeClr val="tx1"/>
                        </a:solidFill>
                        <a:latin typeface="Cambria Math" panose="02040503050406030204" charset="0"/>
                      </a:rPr>
                      <m:t>ψ</m:t>
                    </m:r>
                  </m:oMath>
                </a14:m>
                <a:r>
                  <a:rPr lang="zh-CN" altLang="en-US" kern="0" dirty="0">
                    <a:solidFill>
                      <a:schemeClr val="tx1"/>
                    </a:solidFill>
                    <a:ea typeface="等线" panose="02010600030101010101" charset="-122"/>
                    <a:cs typeface="MS Mincho" charset="-128"/>
                  </a:rPr>
                  <a:t>且</a:t>
                </a:r>
                <a14:m>
                  <m:oMath xmlns:m="http://schemas.openxmlformats.org/officeDocument/2006/math">
                    <m:r>
                      <a:rPr lang="en-US" altLang="zh-CN" i="1" kern="0">
                        <a:solidFill>
                          <a:schemeClr val="tx1"/>
                        </a:solidFill>
                        <a:latin typeface="Cambria Math" panose="02040503050406030204" charset="0"/>
                        <a:ea typeface="等线" panose="02010600030101010101" charset="-122"/>
                        <a:cs typeface="MS Mincho" charset="-128"/>
                      </a:rPr>
                      <m:t>0</m:t>
                    </m:r>
                    <m:r>
                      <a:rPr lang="en-US" altLang="zh-CN" i="1" kern="0">
                        <a:solidFill>
                          <a:schemeClr val="tx1"/>
                        </a:solidFill>
                        <a:latin typeface="Cambria Math" panose="02040503050406030204" charset="0"/>
                        <a:ea typeface="Cambria Math" panose="02040503050406030204" charset="0"/>
                        <a:cs typeface="Cambria Math" panose="02040503050406030204" charset="0"/>
                      </a:rPr>
                      <m:t>≤</m:t>
                    </m:r>
                    <m:r>
                      <a:rPr lang="en-US" altLang="zh-CN" i="1" kern="0">
                        <a:solidFill>
                          <a:schemeClr val="tx1"/>
                        </a:solidFill>
                        <a:latin typeface="Cambria Math" panose="02040503050406030204" charset="0"/>
                        <a:ea typeface="Cambria Math" panose="02040503050406030204" charset="0"/>
                        <a:cs typeface="Cambria Math" panose="02040503050406030204" charset="0"/>
                      </a:rPr>
                      <m:t>𝑗</m:t>
                    </m:r>
                    <m:r>
                      <a:rPr lang="en-US" altLang="zh-CN" i="1" kern="0">
                        <a:solidFill>
                          <a:schemeClr val="tx1"/>
                        </a:solidFill>
                        <a:latin typeface="Cambria Math" panose="02040503050406030204" charset="0"/>
                        <a:ea typeface="Cambria Math" panose="02040503050406030204" charset="0"/>
                        <a:cs typeface="Cambria Math" panose="02040503050406030204" charset="0"/>
                      </a:rPr>
                      <m:t>&lt;</m:t>
                    </m:r>
                    <m:r>
                      <a:rPr lang="en-US" altLang="zh-CN" i="1" kern="0">
                        <a:solidFill>
                          <a:schemeClr val="tx1"/>
                        </a:solidFill>
                        <a:latin typeface="Cambria Math" panose="02040503050406030204" charset="0"/>
                        <a:ea typeface="Cambria Math" panose="02040503050406030204" charset="0"/>
                        <a:cs typeface="Cambria Math" panose="02040503050406030204" charset="0"/>
                      </a:rPr>
                      <m:t>𝑖</m:t>
                    </m:r>
                  </m:oMath>
                </a14:m>
                <a:r>
                  <a:rPr lang="zh-CN" altLang="en-US" kern="0" dirty="0">
                    <a:solidFill>
                      <a:schemeClr val="tx1"/>
                    </a:solidFill>
                    <a:ea typeface="等线" panose="02010600030101010101" charset="-122"/>
                    <a:cs typeface="MS Mincho" charset="-128"/>
                  </a:rPr>
                  <a:t>时</a:t>
                </a:r>
                <a14:m>
                  <m:oMath xmlns:m="http://schemas.openxmlformats.org/officeDocument/2006/math">
                    <m:sSub>
                      <m:sSubPr>
                        <m:ctrlPr>
                          <a:rPr lang="zh-CN" altLang="zh-CN" i="1">
                            <a:solidFill>
                              <a:schemeClr val="tx1"/>
                            </a:solidFill>
                            <a:latin typeface="Cambria Math" panose="02040503050406030204" charset="0"/>
                          </a:rPr>
                        </m:ctrlPr>
                      </m:sSubPr>
                      <m:e>
                        <m:r>
                          <a:rPr lang="en-US" altLang="zh-CN" i="1">
                            <a:solidFill>
                              <a:schemeClr val="tx1"/>
                            </a:solidFill>
                            <a:latin typeface="Cambria Math" panose="02040503050406030204" charset="0"/>
                          </a:rPr>
                          <m:t>𝑠</m:t>
                        </m:r>
                      </m:e>
                      <m:sub>
                        <m:r>
                          <a:rPr lang="en-US" altLang="zh-CN" i="1">
                            <a:solidFill>
                              <a:schemeClr val="tx1"/>
                            </a:solidFill>
                            <a:latin typeface="Cambria Math" panose="02040503050406030204" charset="0"/>
                          </a:rPr>
                          <m:t>𝑗</m:t>
                        </m:r>
                      </m:sub>
                    </m:sSub>
                  </m:oMath>
                </a14:m>
                <a:r>
                  <a:rPr lang="zh-CN" altLang="en-US" kern="0" dirty="0">
                    <a:solidFill>
                      <a:schemeClr val="tx1"/>
                    </a:solidFill>
                    <a:ea typeface="等线" panose="02010600030101010101" charset="-122"/>
                    <a:cs typeface="MS Mincho" charset="-128"/>
                  </a:rPr>
                  <a:t>满足</a:t>
                </a:r>
                <a14:m>
                  <m:oMath xmlns:m="http://schemas.openxmlformats.org/officeDocument/2006/math">
                    <m:r>
                      <m:rPr>
                        <m:sty m:val="p"/>
                      </m:rPr>
                      <a:rPr lang="en-US" altLang="zh-CN">
                        <a:solidFill>
                          <a:schemeClr val="tx1"/>
                        </a:solidFill>
                        <a:latin typeface="Cambria Math" panose="02040503050406030204" charset="0"/>
                      </a:rPr>
                      <m:t>ϕ</m:t>
                    </m:r>
                  </m:oMath>
                </a14:m>
                <a:endParaRPr lang="en-US" altLang="zh-CN" kern="0" dirty="0" smtClean="0">
                  <a:solidFill>
                    <a:schemeClr val="tx1"/>
                  </a:solidFill>
                  <a:ea typeface="等线" panose="02010600030101010101" charset="-122"/>
                  <a:cs typeface="MS Mincho" charset="-128"/>
                </a:endParaRPr>
              </a:p>
              <a:p>
                <a:pPr marL="285750" indent="-285750" algn="l">
                  <a:buFont typeface="Wingdings" panose="05000000000000000000" pitchFamily="2" charset="2"/>
                  <a:buChar char="n"/>
                </a:pPr>
                <a:r>
                  <a:rPr lang="zh-CN" altLang="en-US" kern="0" dirty="0" smtClean="0">
                    <a:solidFill>
                      <a:schemeClr val="tx1"/>
                    </a:solidFill>
                    <a:ea typeface="等线" panose="02010600030101010101" charset="-122"/>
                    <a:cs typeface="MS Mincho" charset="-128"/>
                  </a:rPr>
                  <a:t>定义函数</a:t>
                </a:r>
                <a:r>
                  <a:rPr lang="en-US" altLang="zh-CN" kern="0" dirty="0" smtClean="0">
                    <a:solidFill>
                      <a:schemeClr val="tx1"/>
                    </a:solidFill>
                    <a:ea typeface="等线" panose="02010600030101010101" charset="-122"/>
                    <a:cs typeface="MS Mincho" charset="-128"/>
                  </a:rPr>
                  <a:t>sat(</a:t>
                </a:r>
                <a14:m>
                  <m:oMath xmlns:m="http://schemas.openxmlformats.org/officeDocument/2006/math">
                    <m:r>
                      <m:rPr>
                        <m:sty m:val="p"/>
                      </m:rPr>
                      <a:rPr lang="en-US" altLang="zh-CN">
                        <a:solidFill>
                          <a:schemeClr val="tx1"/>
                        </a:solidFill>
                        <a:latin typeface="Cambria Math" panose="02040503050406030204" charset="0"/>
                      </a:rPr>
                      <m:t>ϕ</m:t>
                    </m:r>
                  </m:oMath>
                </a14:m>
                <a:r>
                  <a:rPr lang="en-US" altLang="zh-CN" kern="0" dirty="0" smtClean="0">
                    <a:solidFill>
                      <a:schemeClr val="tx1"/>
                    </a:solidFill>
                    <a:ea typeface="等线" panose="02010600030101010101" charset="-122"/>
                    <a:cs typeface="MS Mincho" charset="-128"/>
                  </a:rPr>
                  <a:t>)</a:t>
                </a:r>
                <a:r>
                  <a:rPr lang="zh-CN" altLang="en-US" kern="0" dirty="0" smtClean="0">
                    <a:solidFill>
                      <a:schemeClr val="tx1"/>
                    </a:solidFill>
                    <a:ea typeface="等线" panose="02010600030101010101" charset="-122"/>
                    <a:cs typeface="MS Mincho" charset="-128"/>
                  </a:rPr>
                  <a:t>表示为满足</a:t>
                </a:r>
                <a14:m>
                  <m:oMath xmlns:m="http://schemas.openxmlformats.org/officeDocument/2006/math">
                    <m:r>
                      <m:rPr>
                        <m:sty m:val="p"/>
                      </m:rPr>
                      <a:rPr lang="en-US" altLang="zh-CN">
                        <a:solidFill>
                          <a:schemeClr val="tx1"/>
                        </a:solidFill>
                        <a:latin typeface="Cambria Math" panose="02040503050406030204" charset="0"/>
                      </a:rPr>
                      <m:t>ϕ</m:t>
                    </m:r>
                  </m:oMath>
                </a14:m>
                <a:r>
                  <a:rPr lang="zh-CN" altLang="en-US" kern="0" dirty="0" smtClean="0">
                    <a:solidFill>
                      <a:schemeClr val="tx1"/>
                    </a:solidFill>
                    <a:ea typeface="等线" panose="02010600030101010101" charset="-122"/>
                    <a:cs typeface="MS Mincho" charset="-128"/>
                  </a:rPr>
                  <a:t>属性状态集合</a:t>
                </a:r>
                <a:endParaRPr lang="en-US" altLang="zh-CN" kern="0" dirty="0" smtClean="0">
                  <a:solidFill>
                    <a:schemeClr val="tx1"/>
                  </a:solidFill>
                  <a:ea typeface="等线" panose="02010600030101010101" charset="-122"/>
                  <a:cs typeface="MS Mincho" charset="-128"/>
                </a:endParaRPr>
              </a:p>
              <a:p>
                <a:pPr marL="285750" indent="-285750" algn="l">
                  <a:buFont typeface="Wingdings" panose="05000000000000000000" pitchFamily="2" charset="2"/>
                  <a:buChar char="n"/>
                </a:pPr>
                <a:r>
                  <a:rPr lang="zh-CN" altLang="en-US" kern="0" dirty="0" smtClean="0">
                    <a:ea typeface="等线" panose="02010600030101010101" charset="-122"/>
                    <a:cs typeface="MS Mincho" charset="-128"/>
                  </a:rPr>
                  <a:t>定义函数</a:t>
                </a:r>
                <a:r>
                  <a:rPr lang="en-US" altLang="zh-CN" kern="0" dirty="0" smtClean="0">
                    <a:ea typeface="等线" panose="02010600030101010101" charset="-122"/>
                    <a:cs typeface="MS Mincho" charset="-128"/>
                  </a:rPr>
                  <a:t>pre(s)</a:t>
                </a:r>
                <a:r>
                  <a:rPr lang="zh-CN" altLang="en-US" kern="0" dirty="0" smtClean="0">
                    <a:ea typeface="等线" panose="02010600030101010101" charset="-122"/>
                    <a:cs typeface="MS Mincho" charset="-128"/>
                  </a:rPr>
                  <a:t>表示状态</a:t>
                </a:r>
                <a:r>
                  <a:rPr lang="en-US" altLang="zh-CN" kern="0" dirty="0" smtClean="0">
                    <a:ea typeface="等线" panose="02010600030101010101" charset="-122"/>
                    <a:cs typeface="MS Mincho" charset="-128"/>
                  </a:rPr>
                  <a:t>s</a:t>
                </a:r>
                <a:r>
                  <a:rPr lang="zh-CN" altLang="en-US" kern="0" dirty="0" smtClean="0">
                    <a:ea typeface="等线" panose="02010600030101010101" charset="-122"/>
                    <a:cs typeface="MS Mincho" charset="-128"/>
                  </a:rPr>
                  <a:t>的前驱状态集合</a:t>
                </a:r>
                <a:endParaRPr lang="en-US" altLang="zh-CN" kern="0" dirty="0" smtClean="0">
                  <a:solidFill>
                    <a:schemeClr val="tx1"/>
                  </a:solidFill>
                  <a:ea typeface="等线" panose="02010600030101010101" charset="-122"/>
                  <a:cs typeface="MS Mincho" charset="-128"/>
                </a:endParaRPr>
              </a:p>
              <a:p>
                <a:pPr marL="285750" indent="-285750" algn="l">
                  <a:buFont typeface="Wingdings" panose="05000000000000000000" pitchFamily="2" charset="2"/>
                  <a:buChar char="n"/>
                </a:pPr>
                <a:r>
                  <a:rPr lang="zh-CN" altLang="en-US" kern="0" dirty="0" smtClean="0">
                    <a:solidFill>
                      <a:schemeClr val="tx1"/>
                    </a:solidFill>
                    <a:ea typeface="等线" panose="02010600030101010101" charset="-122"/>
                    <a:cs typeface="MS Mincho" charset="-128"/>
                  </a:rPr>
                  <a:t>从</a:t>
                </a:r>
                <a14:m>
                  <m:oMath xmlns:m="http://schemas.openxmlformats.org/officeDocument/2006/math">
                    <m:r>
                      <m:rPr>
                        <m:sty m:val="p"/>
                      </m:rPr>
                      <a:rPr lang="en-US" altLang="zh-CN">
                        <a:solidFill>
                          <a:schemeClr val="tx1"/>
                        </a:solidFill>
                        <a:latin typeface="Cambria Math" panose="02040503050406030204" charset="0"/>
                      </a:rPr>
                      <m:t>ϕUψ</m:t>
                    </m:r>
                  </m:oMath>
                </a14:m>
                <a:r>
                  <a:rPr lang="zh-CN" altLang="en-US" kern="0" dirty="0" smtClean="0">
                    <a:solidFill>
                      <a:schemeClr val="tx1"/>
                    </a:solidFill>
                    <a:ea typeface="等线" panose="02010600030101010101" charset="-122"/>
                    <a:cs typeface="MS Mincho" charset="-128"/>
                  </a:rPr>
                  <a:t>定义可以得出</a:t>
                </a:r>
                <a:r>
                  <a:rPr lang="en-US" altLang="zh-CN" kern="0" dirty="0">
                    <a:solidFill>
                      <a:schemeClr val="tx1"/>
                    </a:solidFill>
                    <a:ea typeface="等线" panose="02010600030101010101" charset="-122"/>
                    <a:cs typeface="MS Mincho" charset="-128"/>
                  </a:rPr>
                  <a:t>sat</a:t>
                </a:r>
                <a:r>
                  <a:rPr lang="en-US" altLang="zh-CN" kern="0" dirty="0" smtClean="0">
                    <a:solidFill>
                      <a:schemeClr val="tx1"/>
                    </a:solidFill>
                    <a:ea typeface="等线" panose="02010600030101010101" charset="-122"/>
                    <a:cs typeface="MS Mincho" charset="-128"/>
                  </a:rPr>
                  <a:t>(</a:t>
                </a:r>
                <a14:m>
                  <m:oMath xmlns:m="http://schemas.openxmlformats.org/officeDocument/2006/math">
                    <m:r>
                      <m:rPr>
                        <m:sty m:val="p"/>
                      </m:rPr>
                      <a:rPr lang="en-US" altLang="zh-CN">
                        <a:solidFill>
                          <a:schemeClr val="tx1"/>
                        </a:solidFill>
                        <a:latin typeface="Cambria Math" panose="02040503050406030204" charset="0"/>
                      </a:rPr>
                      <m:t>ψ</m:t>
                    </m:r>
                  </m:oMath>
                </a14:m>
                <a:r>
                  <a:rPr lang="en-US" altLang="zh-CN" kern="0" dirty="0" smtClean="0">
                    <a:solidFill>
                      <a:schemeClr val="tx1"/>
                    </a:solidFill>
                    <a:ea typeface="等线" panose="02010600030101010101" charset="-122"/>
                    <a:cs typeface="MS Mincho" charset="-128"/>
                  </a:rPr>
                  <a:t>)</a:t>
                </a:r>
                <a:r>
                  <a:rPr lang="zh-CN" altLang="en-US" kern="0" dirty="0" smtClean="0">
                    <a:solidFill>
                      <a:schemeClr val="tx1"/>
                    </a:solidFill>
                    <a:ea typeface="等线" panose="02010600030101010101" charset="-122"/>
                    <a:cs typeface="MS Mincho" charset="-128"/>
                  </a:rPr>
                  <a:t>一定满足该性质</a:t>
                </a:r>
                <a:endParaRPr lang="en-US" altLang="zh-CN" kern="0" dirty="0" smtClean="0">
                  <a:solidFill>
                    <a:schemeClr val="tx1"/>
                  </a:solidFill>
                  <a:ea typeface="等线" panose="02010600030101010101" charset="-122"/>
                  <a:cs typeface="MS Mincho" charset="-128"/>
                </a:endParaRPr>
              </a:p>
            </p:txBody>
          </p:sp>
        </mc:Choice>
        <mc:Fallback>
          <p:sp>
            <p:nvSpPr>
              <p:cNvPr id="2" name="文本框 1"/>
              <p:cNvSpPr txBox="1">
                <a:spLocks noRot="1" noChangeAspect="1" noMove="1" noResize="1" noEditPoints="1" noAdjustHandles="1" noChangeArrowheads="1" noChangeShapeType="1" noTextEdit="1"/>
              </p:cNvSpPr>
              <p:nvPr/>
            </p:nvSpPr>
            <p:spPr>
              <a:xfrm>
                <a:off x="340334" y="1577048"/>
                <a:ext cx="8713340" cy="1499641"/>
              </a:xfrm>
              <a:prstGeom prst="rect">
                <a:avLst/>
              </a:prstGeom>
              <a:blipFill rotWithShape="1">
                <a:blip r:embed="rId1"/>
                <a:stretch>
                  <a:fillRect l="-7" t="-23" r="5" b="8"/>
                </a:stretch>
              </a:blipFill>
            </p:spPr>
            <p:txBody>
              <a:bodyPr/>
              <a:lstStyle/>
              <a:p>
                <a:r>
                  <a:rPr lang="zh-CN" altLang="en-US">
                    <a:noFill/>
                  </a:rPr>
                  <a:t> </a:t>
                </a:r>
              </a:p>
            </p:txBody>
          </p:sp>
        </mc:Fallback>
      </mc:AlternateContent>
      <p:pic>
        <p:nvPicPr>
          <p:cNvPr id="3" name="图片 2"/>
          <p:cNvPicPr>
            <a:picLocks noChangeAspect="1"/>
          </p:cNvPicPr>
          <p:nvPr/>
        </p:nvPicPr>
        <p:blipFill rotWithShape="1">
          <a:blip r:embed="rId2" cstate="email">
            <a:extLst>
              <a:ext uri="{28A0092B-C50C-407E-A947-70E740481C1C}">
                <a14:useLocalDpi xmlns:a14="http://schemas.microsoft.com/office/drawing/2010/main" val="0"/>
              </a:ext>
            </a:extLst>
          </a:blip>
          <a:srcRect t="9990"/>
          <a:stretch>
            <a:fillRect/>
          </a:stretch>
        </p:blipFill>
        <p:spPr>
          <a:xfrm>
            <a:off x="739752" y="3208914"/>
            <a:ext cx="7022652" cy="25720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kumimoji="1" lang="en-US" altLang="zh-CN" dirty="0" smtClean="0"/>
              <a:t>.4</a:t>
            </a:r>
            <a:r>
              <a:rPr kumimoji="1" lang="zh-CN" altLang="en-US" dirty="0" smtClean="0"/>
              <a:t> </a:t>
            </a:r>
            <a:r>
              <a:rPr lang="zh-CN" altLang="en-US" dirty="0" smtClean="0"/>
              <a:t>空间约减及工具</a:t>
            </a:r>
            <a:endParaRPr kumimoji="1" lang="zh-CN" altLang="en-US" dirty="0"/>
          </a:p>
        </p:txBody>
      </p:sp>
      <p:sp>
        <p:nvSpPr>
          <p:cNvPr id="3" name="内容占位符 2"/>
          <p:cNvSpPr>
            <a:spLocks noGrp="1"/>
          </p:cNvSpPr>
          <p:nvPr>
            <p:ph idx="1"/>
          </p:nvPr>
        </p:nvSpPr>
        <p:spPr>
          <a:xfrm>
            <a:off x="467544" y="2031952"/>
            <a:ext cx="3816424" cy="1396199"/>
          </a:xfrm>
        </p:spPr>
        <p:txBody>
          <a:bodyPr/>
          <a:lstStyle/>
          <a:p>
            <a:pPr>
              <a:buFont typeface="Wingdings" panose="05000000000000000000" pitchFamily="2" charset="2"/>
              <a:buChar char="Ø"/>
            </a:pPr>
            <a:r>
              <a:rPr kumimoji="1" lang="en-US" altLang="zh-CN" sz="2000" dirty="0" smtClean="0"/>
              <a:t>OBDD</a:t>
            </a:r>
            <a:endParaRPr kumimoji="1" lang="en-US" altLang="zh-CN" sz="2000" dirty="0" smtClean="0"/>
          </a:p>
          <a:p>
            <a:pPr>
              <a:buFont typeface="Wingdings" panose="05000000000000000000" pitchFamily="2" charset="2"/>
              <a:buChar char="Ø"/>
            </a:pPr>
            <a:r>
              <a:rPr kumimoji="1" lang="en-US" altLang="zh-CN" sz="2000" dirty="0" smtClean="0"/>
              <a:t>Hash-based</a:t>
            </a:r>
            <a:r>
              <a:rPr kumimoji="1" lang="zh-CN" altLang="en-US" sz="2000" dirty="0" smtClean="0"/>
              <a:t>隐性状态表示</a:t>
            </a:r>
            <a:endParaRPr kumimoji="1" lang="en-US" altLang="zh-CN" sz="2000" dirty="0" smtClean="0"/>
          </a:p>
          <a:p>
            <a:pPr>
              <a:buFont typeface="Wingdings" panose="05000000000000000000" pitchFamily="2" charset="2"/>
              <a:buChar char="Ø"/>
            </a:pPr>
            <a:r>
              <a:rPr lang="en-US" altLang="zh-CN" sz="2000" dirty="0" smtClean="0"/>
              <a:t>MapReduce</a:t>
            </a:r>
            <a:r>
              <a:rPr lang="en-US" altLang="zh-CN" sz="2000" dirty="0" smtClean="0"/>
              <a:t>…</a:t>
            </a:r>
            <a:endParaRPr kumimoji="1" lang="zh-CN" altLang="en-US" sz="2000" dirty="0" smtClean="0"/>
          </a:p>
          <a:p>
            <a:pPr>
              <a:buFont typeface="Wingdings" panose="05000000000000000000" pitchFamily="2" charset="2"/>
              <a:buChar char="Ø"/>
            </a:pPr>
            <a:endParaRPr kumimoji="1" lang="zh-CN" altLang="en-US" sz="2000" dirty="0"/>
          </a:p>
        </p:txBody>
      </p:sp>
      <p:sp>
        <p:nvSpPr>
          <p:cNvPr id="4" name="日期占位符 3"/>
          <p:cNvSpPr>
            <a:spLocks noGrp="1"/>
          </p:cNvSpPr>
          <p:nvPr>
            <p:ph type="dt" sz="half" idx="10"/>
          </p:nvPr>
        </p:nvSpPr>
        <p:spPr/>
        <p:txBody>
          <a:bodyPr/>
          <a:lstStyle/>
          <a:p>
            <a:pPr>
              <a:defRPr/>
            </a:pPr>
            <a:fld id="{077F30FB-1D90-1E40-92FD-7816B07D6DDC}" type="datetime1">
              <a:rPr lang="zh-CN" altLang="en-US" smtClean="0"/>
            </a:fld>
            <a:endParaRPr lang="en-US" altLang="zh-CN"/>
          </a:p>
        </p:txBody>
      </p:sp>
      <p:sp>
        <p:nvSpPr>
          <p:cNvPr id="5" name="幻灯片编号占位符 4"/>
          <p:cNvSpPr>
            <a:spLocks noGrp="1"/>
          </p:cNvSpPr>
          <p:nvPr>
            <p:ph type="sldNum" sz="quarter" idx="12"/>
          </p:nvPr>
        </p:nvSpPr>
        <p:spPr/>
        <p:txBody>
          <a:bodyPr/>
          <a:lstStyle/>
          <a:p>
            <a:pPr>
              <a:defRPr/>
            </a:pPr>
            <a:fld id="{50AC0454-A414-F04C-824A-79602E160F30}" type="slidenum">
              <a:rPr lang="en-US" altLang="zh-CN" smtClean="0"/>
            </a:fld>
            <a:endParaRPr lang="en-US" altLang="zh-CN"/>
          </a:p>
        </p:txBody>
      </p:sp>
      <p:pic>
        <p:nvPicPr>
          <p:cNvPr id="6" name="图片 5" descr="屏幕快照%202018-09-12%20下午3.35.08.png"/>
          <p:cNvPicPr/>
          <p:nvPr/>
        </p:nvPicPr>
        <p:blipFill rotWithShape="1">
          <a:blip r:embed="rId1" cstate="email">
            <a:extLst>
              <a:ext uri="{28A0092B-C50C-407E-A947-70E740481C1C}">
                <a14:useLocalDpi xmlns:a14="http://schemas.microsoft.com/office/drawing/2010/main" val="0"/>
              </a:ext>
            </a:extLst>
          </a:blip>
          <a:srcRect t="9173" r="2074" b="5504"/>
          <a:stretch>
            <a:fillRect/>
          </a:stretch>
        </p:blipFill>
        <p:spPr bwMode="auto">
          <a:xfrm>
            <a:off x="4585841" y="1700808"/>
            <a:ext cx="4147443" cy="1574800"/>
          </a:xfrm>
          <a:prstGeom prst="rect">
            <a:avLst/>
          </a:prstGeom>
          <a:noFill/>
          <a:ln>
            <a:noFill/>
          </a:ln>
        </p:spPr>
      </p:pic>
      <p:sp>
        <p:nvSpPr>
          <p:cNvPr id="7" name="文本框 6"/>
          <p:cNvSpPr txBox="1"/>
          <p:nvPr/>
        </p:nvSpPr>
        <p:spPr>
          <a:xfrm>
            <a:off x="229270" y="1700628"/>
            <a:ext cx="2592288" cy="400110"/>
          </a:xfrm>
          <a:prstGeom prst="rect">
            <a:avLst/>
          </a:prstGeom>
          <a:noFill/>
        </p:spPr>
        <p:txBody>
          <a:bodyPr wrap="square" rtlCol="0">
            <a:spAutoFit/>
          </a:bodyPr>
          <a:lstStyle/>
          <a:p>
            <a:pPr algn="l"/>
            <a:r>
              <a:rPr kumimoji="1" lang="zh-CN" altLang="en-US" sz="2000" dirty="0" smtClean="0"/>
              <a:t>空间约减技术</a:t>
            </a:r>
            <a:endParaRPr kumimoji="1" lang="zh-CN" altLang="en-US" sz="2000" dirty="0"/>
          </a:p>
        </p:txBody>
      </p:sp>
      <p:sp>
        <p:nvSpPr>
          <p:cNvPr id="8" name="文本框 7"/>
          <p:cNvSpPr txBox="1"/>
          <p:nvPr/>
        </p:nvSpPr>
        <p:spPr>
          <a:xfrm>
            <a:off x="229270" y="3748121"/>
            <a:ext cx="2592288" cy="400110"/>
          </a:xfrm>
          <a:prstGeom prst="rect">
            <a:avLst/>
          </a:prstGeom>
          <a:noFill/>
        </p:spPr>
        <p:txBody>
          <a:bodyPr wrap="square" rtlCol="0">
            <a:spAutoFit/>
          </a:bodyPr>
          <a:lstStyle/>
          <a:p>
            <a:pPr algn="l"/>
            <a:r>
              <a:rPr kumimoji="1" lang="zh-CN" altLang="en-US" sz="2000" dirty="0" smtClean="0"/>
              <a:t>模型检测工具</a:t>
            </a:r>
            <a:endParaRPr kumimoji="1" lang="zh-CN" altLang="en-US" sz="2000" dirty="0"/>
          </a:p>
        </p:txBody>
      </p:sp>
      <p:sp>
        <p:nvSpPr>
          <p:cNvPr id="10" name="矩形 9"/>
          <p:cNvSpPr/>
          <p:nvPr/>
        </p:nvSpPr>
        <p:spPr>
          <a:xfrm>
            <a:off x="467544" y="4242276"/>
            <a:ext cx="2929200" cy="1015663"/>
          </a:xfrm>
          <a:prstGeom prst="rect">
            <a:avLst/>
          </a:prstGeom>
        </p:spPr>
        <p:txBody>
          <a:bodyPr wrap="none">
            <a:spAutoFit/>
          </a:bodyPr>
          <a:lstStyle/>
          <a:p>
            <a:pPr marL="285750" indent="-285750" algn="l">
              <a:buFont typeface="Wingdings" panose="05000000000000000000" pitchFamily="2" charset="2"/>
              <a:buChar char="Ø"/>
            </a:pPr>
            <a:r>
              <a:rPr lang="en-US" altLang="zh-CN" sz="2000" dirty="0"/>
              <a:t>PLTL</a:t>
            </a:r>
            <a:r>
              <a:rPr lang="zh-CN" altLang="en-US" sz="2000" dirty="0"/>
              <a:t>（</a:t>
            </a:r>
            <a:r>
              <a:rPr lang="en-US" altLang="zh-CN" sz="2000" dirty="0"/>
              <a:t>LTL</a:t>
            </a:r>
            <a:r>
              <a:rPr lang="zh-CN" altLang="en-US" sz="2000" dirty="0"/>
              <a:t>）</a:t>
            </a:r>
            <a:endParaRPr lang="en-US" altLang="zh-CN" sz="2000" dirty="0"/>
          </a:p>
          <a:p>
            <a:pPr marL="285750" indent="-285750" algn="l">
              <a:buFont typeface="Wingdings" panose="05000000000000000000" pitchFamily="2" charset="2"/>
              <a:buChar char="Ø"/>
            </a:pPr>
            <a:r>
              <a:rPr lang="en-US" altLang="zh-CN" sz="2000" dirty="0"/>
              <a:t>SMV</a:t>
            </a:r>
            <a:r>
              <a:rPr lang="zh-CN" altLang="zh-CN" sz="2000" dirty="0"/>
              <a:t> </a:t>
            </a:r>
            <a:r>
              <a:rPr lang="zh-CN" altLang="en-US" sz="2000" dirty="0" smtClean="0"/>
              <a:t>、</a:t>
            </a:r>
            <a:r>
              <a:rPr lang="en-US" altLang="zh-CN" sz="2000" dirty="0" smtClean="0"/>
              <a:t>MCK</a:t>
            </a:r>
            <a:r>
              <a:rPr lang="zh-CN" altLang="en-US" sz="2000" dirty="0" smtClean="0"/>
              <a:t>（</a:t>
            </a:r>
            <a:r>
              <a:rPr lang="en-US" altLang="zh-CN" sz="2000" dirty="0" smtClean="0"/>
              <a:t>CTL</a:t>
            </a:r>
            <a:r>
              <a:rPr lang="zh-CN" altLang="en-US" sz="2000" dirty="0" smtClean="0"/>
              <a:t>）</a:t>
            </a:r>
            <a:endParaRPr lang="en-US" altLang="zh-CN" sz="2000" dirty="0" smtClean="0"/>
          </a:p>
          <a:p>
            <a:pPr marL="285750" indent="-285750" algn="l">
              <a:buFont typeface="Wingdings" panose="05000000000000000000" pitchFamily="2" charset="2"/>
              <a:buChar char="Ø"/>
            </a:pPr>
            <a:r>
              <a:rPr lang="en-US" altLang="zh-CN" sz="2000" dirty="0"/>
              <a:t>UPPAAL</a:t>
            </a:r>
            <a:r>
              <a:rPr lang="zh-CN" altLang="zh-CN" sz="2000" dirty="0"/>
              <a:t> </a:t>
            </a:r>
            <a:r>
              <a:rPr lang="en-US" altLang="zh-CN" sz="2000" dirty="0" smtClean="0"/>
              <a:t>(TCTL)</a:t>
            </a:r>
            <a:r>
              <a:rPr lang="zh-CN" altLang="zh-CN" sz="2000" dirty="0" smtClean="0"/>
              <a:t> </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dissolve">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animEffect transition="in" filter="checkerboard(across)">
                                      <p:cBhvr>
                                        <p:cTn id="29" dur="500"/>
                                        <p:tgtEl>
                                          <p:spTgt spid="8">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0">
                                            <p:txEl>
                                              <p:pRg st="0" end="0"/>
                                            </p:txEl>
                                          </p:spTgt>
                                        </p:tgtEl>
                                        <p:attrNameLst>
                                          <p:attrName>style.visibility</p:attrName>
                                        </p:attrNameLst>
                                      </p:cBhvr>
                                      <p:to>
                                        <p:strVal val="visible"/>
                                      </p:to>
                                    </p:set>
                                    <p:animEffect transition="in" filter="dissolve">
                                      <p:cBhvr>
                                        <p:cTn id="34" dur="500"/>
                                        <p:tgtEl>
                                          <p:spTgt spid="10">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10">
                                            <p:txEl>
                                              <p:pRg st="1" end="1"/>
                                            </p:txEl>
                                          </p:spTgt>
                                        </p:tgtEl>
                                        <p:attrNameLst>
                                          <p:attrName>style.visibility</p:attrName>
                                        </p:attrNameLst>
                                      </p:cBhvr>
                                      <p:to>
                                        <p:strVal val="visible"/>
                                      </p:to>
                                    </p:set>
                                    <p:animEffect transition="in" filter="dissolve">
                                      <p:cBhvr>
                                        <p:cTn id="39" dur="500"/>
                                        <p:tgtEl>
                                          <p:spTgt spid="10">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10">
                                            <p:txEl>
                                              <p:pRg st="2" end="2"/>
                                            </p:txEl>
                                          </p:spTgt>
                                        </p:tgtEl>
                                        <p:attrNameLst>
                                          <p:attrName>style.visibility</p:attrName>
                                        </p:attrNameLst>
                                      </p:cBhvr>
                                      <p:to>
                                        <p:strVal val="visible"/>
                                      </p:to>
                                    </p:set>
                                    <p:animEffect transition="in" filter="dissolve">
                                      <p:cBhvr>
                                        <p:cTn id="44"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6" name="Title 1"/>
          <p:cNvSpPr txBox="1"/>
          <p:nvPr/>
        </p:nvSpPr>
        <p:spPr bwMode="auto">
          <a:xfrm>
            <a:off x="611188" y="2996952"/>
            <a:ext cx="7634386"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sz="4400" b="1" kern="0" dirty="0"/>
              <a:t>4</a:t>
            </a:r>
            <a:r>
              <a:rPr lang="zh-CN" altLang="en-US" sz="4400" b="1" kern="0" dirty="0" smtClean="0"/>
              <a:t>  基于</a:t>
            </a:r>
            <a:r>
              <a:rPr lang="zh-CN" altLang="en-US" sz="4400" b="1" dirty="0"/>
              <a:t>并发事件交织模型</a:t>
            </a:r>
            <a:r>
              <a:rPr lang="zh-CN" altLang="en-US" sz="4400" b="1" kern="0" dirty="0" smtClean="0"/>
              <a:t>检测</a:t>
            </a:r>
            <a:endParaRPr lang="en-US" altLang="zh-CN" sz="4400" b="1" kern="0" dirty="0"/>
          </a:p>
        </p:txBody>
      </p:sp>
      <p:sp>
        <p:nvSpPr>
          <p:cNvPr id="10" name="Title 1"/>
          <p:cNvSpPr txBox="1"/>
          <p:nvPr/>
        </p:nvSpPr>
        <p:spPr bwMode="auto">
          <a:xfrm>
            <a:off x="2026816" y="383344"/>
            <a:ext cx="4176464"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endParaRPr lang="en-US" altLang="zh-CN" b="1" kern="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3" name="内容占位符 2"/>
          <p:cNvSpPr>
            <a:spLocks noGrp="1"/>
          </p:cNvSpPr>
          <p:nvPr>
            <p:ph idx="1"/>
          </p:nvPr>
        </p:nvSpPr>
        <p:spPr>
          <a:xfrm>
            <a:off x="107504" y="1458168"/>
            <a:ext cx="5688632" cy="744513"/>
          </a:xfrm>
        </p:spPr>
        <p:txBody>
          <a:bodyPr/>
          <a:lstStyle/>
          <a:p>
            <a:r>
              <a:rPr lang="zh-CN" altLang="en-US" dirty="0" smtClean="0"/>
              <a:t>建模</a:t>
            </a:r>
            <a:endParaRPr lang="en-US" altLang="zh-CN" dirty="0" smtClean="0"/>
          </a:p>
        </p:txBody>
      </p:sp>
      <p:sp>
        <p:nvSpPr>
          <p:cNvPr id="16" name="Title 1"/>
          <p:cNvSpPr>
            <a:spLocks noGrp="1"/>
          </p:cNvSpPr>
          <p:nvPr>
            <p:ph type="title"/>
          </p:nvPr>
        </p:nvSpPr>
        <p:spPr>
          <a:xfrm>
            <a:off x="1115616" y="476672"/>
            <a:ext cx="6769100" cy="576262"/>
          </a:xfrm>
        </p:spPr>
        <p:txBody>
          <a:bodyPr/>
          <a:lstStyle/>
          <a:p>
            <a:r>
              <a:rPr lang="en-US" altLang="zh-CN" b="1" dirty="0" smtClean="0"/>
              <a:t>4.1</a:t>
            </a:r>
            <a:r>
              <a:rPr lang="zh-CN" altLang="en-US" b="1" dirty="0" smtClean="0"/>
              <a:t> 并发事件交织建模</a:t>
            </a:r>
            <a:endParaRPr lang="en-US" altLang="zh-CN" b="1" dirty="0"/>
          </a:p>
        </p:txBody>
      </p:sp>
      <p:sp>
        <p:nvSpPr>
          <p:cNvPr id="2" name="文本框 1"/>
          <p:cNvSpPr txBox="1"/>
          <p:nvPr/>
        </p:nvSpPr>
        <p:spPr>
          <a:xfrm>
            <a:off x="142329" y="2003425"/>
            <a:ext cx="8499895" cy="1200329"/>
          </a:xfrm>
          <a:prstGeom prst="rect">
            <a:avLst/>
          </a:prstGeom>
          <a:noFill/>
        </p:spPr>
        <p:txBody>
          <a:bodyPr wrap="square" rtlCol="0">
            <a:spAutoFit/>
          </a:bodyPr>
          <a:lstStyle/>
          <a:p>
            <a:pPr algn="l"/>
            <a:r>
              <a:rPr kumimoji="1" lang="zh-CN" altLang="en-US" dirty="0" smtClean="0"/>
              <a:t>      在分布式或者并发系统中，系统存在大量的并发事件，这些并发事件交织产生一些不同的事件执行顺序，每一种执行顺序都可能会将系统驱动到一个不同的状态，而</a:t>
            </a:r>
            <a:r>
              <a:rPr kumimoji="1" lang="en-US" altLang="zh-CN" dirty="0" smtClean="0"/>
              <a:t>bug</a:t>
            </a:r>
            <a:r>
              <a:rPr kumimoji="1" lang="zh-CN" altLang="en-US" dirty="0" smtClean="0"/>
              <a:t>存在于一两个特定交织导致的系统状态中，要找到这样的</a:t>
            </a:r>
            <a:r>
              <a:rPr kumimoji="1" lang="en-US" altLang="zh-CN" dirty="0" smtClean="0"/>
              <a:t>bug</a:t>
            </a:r>
            <a:r>
              <a:rPr kumimoji="1" lang="zh-CN" altLang="en-US" dirty="0" smtClean="0"/>
              <a:t>，就需要让系统按照每一种事件顺序来执行。</a:t>
            </a:r>
            <a:endParaRPr kumimoji="1" lang="zh-CN" altLang="en-US" dirty="0"/>
          </a:p>
        </p:txBody>
      </p:sp>
      <p:pic>
        <p:nvPicPr>
          <p:cNvPr id="8" name="图片 7" descr="/Users/lcy/Desktop/屏幕快照 2017-01-12 下午2.47.36.png"/>
          <p:cNvPicPr/>
          <p:nvPr/>
        </p:nvPicPr>
        <p:blipFill rotWithShape="1">
          <a:blip r:embed="rId1" cstate="email">
            <a:extLst>
              <a:ext uri="{28A0092B-C50C-407E-A947-70E740481C1C}">
                <a14:useLocalDpi xmlns:a14="http://schemas.microsoft.com/office/drawing/2010/main" val="0"/>
              </a:ext>
            </a:extLst>
          </a:blip>
          <a:srcRect l="5899" t="-1" r="8715" b="30881"/>
          <a:stretch>
            <a:fillRect/>
          </a:stretch>
        </p:blipFill>
        <p:spPr bwMode="auto">
          <a:xfrm>
            <a:off x="2051191" y="3429000"/>
            <a:ext cx="4682169" cy="212205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3" name="内容占位符 2"/>
          <p:cNvSpPr>
            <a:spLocks noGrp="1"/>
          </p:cNvSpPr>
          <p:nvPr>
            <p:ph idx="1"/>
          </p:nvPr>
        </p:nvSpPr>
        <p:spPr>
          <a:xfrm>
            <a:off x="107504" y="1458168"/>
            <a:ext cx="5688632" cy="744513"/>
          </a:xfrm>
        </p:spPr>
        <p:txBody>
          <a:bodyPr/>
          <a:lstStyle/>
          <a:p>
            <a:r>
              <a:rPr lang="zh-CN" altLang="en-US" dirty="0" smtClean="0"/>
              <a:t>建模</a:t>
            </a:r>
            <a:endParaRPr lang="en-US" altLang="zh-CN" dirty="0" smtClean="0"/>
          </a:p>
        </p:txBody>
      </p:sp>
      <p:sp>
        <p:nvSpPr>
          <p:cNvPr id="16" name="Title 1"/>
          <p:cNvSpPr>
            <a:spLocks noGrp="1"/>
          </p:cNvSpPr>
          <p:nvPr>
            <p:ph type="title"/>
          </p:nvPr>
        </p:nvSpPr>
        <p:spPr>
          <a:xfrm>
            <a:off x="1115616" y="476672"/>
            <a:ext cx="6769100" cy="576262"/>
          </a:xfrm>
        </p:spPr>
        <p:txBody>
          <a:bodyPr/>
          <a:lstStyle/>
          <a:p>
            <a:r>
              <a:rPr lang="en-US" altLang="zh-CN" b="1" dirty="0" smtClean="0"/>
              <a:t>4.1</a:t>
            </a:r>
            <a:r>
              <a:rPr lang="zh-CN" altLang="en-US" b="1" dirty="0" smtClean="0"/>
              <a:t> 并发事件交织建模</a:t>
            </a:r>
            <a:endParaRPr lang="en-US" altLang="zh-CN" b="1" dirty="0"/>
          </a:p>
        </p:txBody>
      </p:sp>
      <p:pic>
        <p:nvPicPr>
          <p:cNvPr id="8" name="图片 7" descr="/Users/lcy/Desktop/屏幕快照 2017-01-12 下午2.47.36.png"/>
          <p:cNvPicPr/>
          <p:nvPr/>
        </p:nvPicPr>
        <p:blipFill rotWithShape="1">
          <a:blip r:embed="rId1" cstate="email">
            <a:extLst>
              <a:ext uri="{28A0092B-C50C-407E-A947-70E740481C1C}">
                <a14:useLocalDpi xmlns:a14="http://schemas.microsoft.com/office/drawing/2010/main" val="0"/>
              </a:ext>
            </a:extLst>
          </a:blip>
          <a:srcRect t="4371" b="34116"/>
          <a:stretch>
            <a:fillRect/>
          </a:stretch>
        </p:blipFill>
        <p:spPr bwMode="auto">
          <a:xfrm>
            <a:off x="2030914" y="3789040"/>
            <a:ext cx="5483596" cy="1888507"/>
          </a:xfrm>
          <a:prstGeom prst="rect">
            <a:avLst/>
          </a:prstGeom>
          <a:noFill/>
          <a:ln>
            <a:noFill/>
          </a:ln>
        </p:spPr>
      </p:pic>
      <p:sp>
        <p:nvSpPr>
          <p:cNvPr id="10" name="文本框 9"/>
          <p:cNvSpPr txBox="1"/>
          <p:nvPr/>
        </p:nvSpPr>
        <p:spPr>
          <a:xfrm>
            <a:off x="312540" y="2003425"/>
            <a:ext cx="8501650" cy="2031325"/>
          </a:xfrm>
          <a:prstGeom prst="rect">
            <a:avLst/>
          </a:prstGeom>
          <a:noFill/>
        </p:spPr>
        <p:txBody>
          <a:bodyPr wrap="square" rtlCol="0">
            <a:spAutoFit/>
          </a:bodyPr>
          <a:lstStyle/>
          <a:p>
            <a:pPr algn="l"/>
            <a:r>
              <a:rPr kumimoji="1" lang="zh-CN" altLang="en-US" dirty="0"/>
              <a:t> </a:t>
            </a:r>
            <a:r>
              <a:rPr kumimoji="1" lang="zh-CN" altLang="en-US" dirty="0" smtClean="0"/>
              <a:t>      系统中存在</a:t>
            </a:r>
            <a:r>
              <a:rPr kumimoji="1" lang="en-US" altLang="zh-CN" dirty="0" smtClean="0"/>
              <a:t>Node1</a:t>
            </a:r>
            <a:r>
              <a:rPr kumimoji="1" lang="zh-CN" altLang="en-US" dirty="0" smtClean="0"/>
              <a:t>、</a:t>
            </a:r>
            <a:r>
              <a:rPr kumimoji="1" lang="en-US" altLang="zh-CN" dirty="0" smtClean="0"/>
              <a:t>Node2</a:t>
            </a:r>
            <a:r>
              <a:rPr kumimoji="1" lang="zh-CN" altLang="en-US" dirty="0" smtClean="0"/>
              <a:t>两个节点，在某一时刻系统中有四个待处理的并发消息</a:t>
            </a:r>
            <a:r>
              <a:rPr kumimoji="1" lang="en-US" altLang="zh-CN" dirty="0" smtClean="0"/>
              <a:t>a</a:t>
            </a:r>
            <a:r>
              <a:rPr kumimoji="1" lang="zh-CN" altLang="en-US" dirty="0" smtClean="0"/>
              <a:t>（</a:t>
            </a:r>
            <a:r>
              <a:rPr kumimoji="1" lang="en-US" altLang="zh-CN" dirty="0" smtClean="0"/>
              <a:t>Node2</a:t>
            </a:r>
            <a:r>
              <a:rPr kumimoji="1" lang="zh-CN" altLang="en-US" dirty="0" smtClean="0"/>
              <a:t>发送给</a:t>
            </a:r>
            <a:r>
              <a:rPr kumimoji="1" lang="en-US" altLang="zh-CN" dirty="0"/>
              <a:t>N</a:t>
            </a:r>
            <a:r>
              <a:rPr kumimoji="1" lang="en-US" altLang="zh-CN" dirty="0" smtClean="0"/>
              <a:t>ode1</a:t>
            </a:r>
            <a:r>
              <a:rPr kumimoji="1" lang="zh-CN" altLang="en-US" dirty="0" smtClean="0"/>
              <a:t>）、</a:t>
            </a:r>
            <a:r>
              <a:rPr kumimoji="1" lang="en-US" altLang="zh-CN" dirty="0" smtClean="0"/>
              <a:t>b</a:t>
            </a:r>
            <a:r>
              <a:rPr kumimoji="1" lang="zh-CN" altLang="en-US" dirty="0"/>
              <a:t> （</a:t>
            </a:r>
            <a:r>
              <a:rPr kumimoji="1" lang="en-US" altLang="zh-CN" dirty="0"/>
              <a:t>Node2</a:t>
            </a:r>
            <a:r>
              <a:rPr kumimoji="1" lang="zh-CN" altLang="en-US" dirty="0"/>
              <a:t>发送给</a:t>
            </a:r>
            <a:r>
              <a:rPr kumimoji="1" lang="en-US" altLang="zh-CN" dirty="0"/>
              <a:t>Node1</a:t>
            </a:r>
            <a:r>
              <a:rPr kumimoji="1" lang="zh-CN" altLang="en-US" dirty="0" smtClean="0"/>
              <a:t>）、</a:t>
            </a:r>
            <a:r>
              <a:rPr kumimoji="1" lang="en-US" altLang="zh-CN" dirty="0" smtClean="0"/>
              <a:t>c</a:t>
            </a:r>
            <a:r>
              <a:rPr kumimoji="1" lang="zh-CN" altLang="en-US" dirty="0" smtClean="0"/>
              <a:t>（</a:t>
            </a:r>
            <a:r>
              <a:rPr kumimoji="1" lang="en-US" altLang="zh-CN" dirty="0" smtClean="0"/>
              <a:t>Node1</a:t>
            </a:r>
            <a:r>
              <a:rPr kumimoji="1" lang="zh-CN" altLang="en-US" dirty="0" smtClean="0"/>
              <a:t>发送</a:t>
            </a:r>
            <a:r>
              <a:rPr kumimoji="1" lang="zh-CN" altLang="en-US" dirty="0"/>
              <a:t>给</a:t>
            </a:r>
            <a:r>
              <a:rPr kumimoji="1" lang="en-US" altLang="zh-CN" dirty="0" smtClean="0"/>
              <a:t>Node2</a:t>
            </a:r>
            <a:r>
              <a:rPr kumimoji="1" lang="zh-CN" altLang="en-US" dirty="0" smtClean="0"/>
              <a:t> ）和 </a:t>
            </a:r>
            <a:r>
              <a:rPr kumimoji="1" lang="en-US" altLang="zh-CN" dirty="0" smtClean="0"/>
              <a:t>d</a:t>
            </a:r>
            <a:r>
              <a:rPr kumimoji="1" lang="zh-CN" altLang="en-US" dirty="0" smtClean="0"/>
              <a:t>（</a:t>
            </a:r>
            <a:r>
              <a:rPr kumimoji="1" lang="en-US" altLang="zh-CN" dirty="0"/>
              <a:t>Node1</a:t>
            </a:r>
            <a:r>
              <a:rPr kumimoji="1" lang="zh-CN" altLang="en-US" dirty="0"/>
              <a:t>发送给</a:t>
            </a:r>
            <a:r>
              <a:rPr kumimoji="1" lang="en-US" altLang="zh-CN" dirty="0"/>
              <a:t>Node2</a:t>
            </a:r>
            <a:r>
              <a:rPr kumimoji="1" lang="zh-CN" altLang="en-US" dirty="0"/>
              <a:t> </a:t>
            </a:r>
            <a:r>
              <a:rPr kumimoji="1" lang="zh-CN" altLang="en-US" dirty="0" smtClean="0"/>
              <a:t>）。对于这四个并发消息系统可能产生</a:t>
            </a:r>
            <a:r>
              <a:rPr kumimoji="1" lang="en-US" altLang="zh-CN" dirty="0" smtClean="0"/>
              <a:t>4</a:t>
            </a:r>
            <a:r>
              <a:rPr kumimoji="1" lang="zh-CN" altLang="en-US" dirty="0" smtClean="0"/>
              <a:t>！</a:t>
            </a:r>
            <a:r>
              <a:rPr kumimoji="1" lang="en-US" altLang="zh-CN" dirty="0" smtClean="0"/>
              <a:t>=24</a:t>
            </a:r>
            <a:r>
              <a:rPr kumimoji="1" lang="zh-CN" altLang="en-US" dirty="0" smtClean="0"/>
              <a:t>种执行序列：</a:t>
            </a:r>
            <a:r>
              <a:rPr kumimoji="1" lang="en-US" altLang="zh-CN" dirty="0" err="1" smtClean="0"/>
              <a:t>abcd</a:t>
            </a:r>
            <a:r>
              <a:rPr kumimoji="1" lang="zh-CN" altLang="en-US" dirty="0" smtClean="0"/>
              <a:t>、</a:t>
            </a:r>
            <a:r>
              <a:rPr kumimoji="1" lang="en-US" altLang="zh-CN" dirty="0" err="1" smtClean="0"/>
              <a:t>abdc</a:t>
            </a:r>
            <a:r>
              <a:rPr kumimoji="1" lang="zh-CN" altLang="en-US" dirty="0" smtClean="0"/>
              <a:t>、</a:t>
            </a:r>
            <a:r>
              <a:rPr kumimoji="1" lang="en-US" altLang="zh-CN" dirty="0" err="1" smtClean="0"/>
              <a:t>acdb</a:t>
            </a:r>
            <a:r>
              <a:rPr kumimoji="1" lang="en-US" altLang="zh-CN" dirty="0" smtClean="0"/>
              <a:t>……</a:t>
            </a:r>
            <a:endParaRPr kumimoji="1" lang="en-US" altLang="zh-CN" dirty="0" smtClean="0"/>
          </a:p>
          <a:p>
            <a:pPr algn="l"/>
            <a:r>
              <a:rPr lang="zh-CN" altLang="en-US" dirty="0"/>
              <a:t> </a:t>
            </a:r>
            <a:r>
              <a:rPr lang="zh-CN" altLang="en-US" dirty="0" smtClean="0"/>
              <a:t>       并发</a:t>
            </a:r>
            <a:r>
              <a:rPr lang="zh-CN" altLang="en-US" dirty="0"/>
              <a:t>事件交织</a:t>
            </a:r>
            <a:r>
              <a:rPr lang="zh-CN" altLang="en-US" dirty="0" smtClean="0"/>
              <a:t>模型分别执行这</a:t>
            </a:r>
            <a:r>
              <a:rPr lang="en-US" altLang="zh-CN" dirty="0" smtClean="0"/>
              <a:t>24</a:t>
            </a:r>
            <a:r>
              <a:rPr lang="zh-CN" altLang="en-US" dirty="0" smtClean="0"/>
              <a:t>种序列，并依次检查性质是否满足。</a:t>
            </a:r>
            <a:r>
              <a:rPr lang="zh-CN" altLang="en-US" dirty="0"/>
              <a:t>并发事件交织</a:t>
            </a:r>
            <a:r>
              <a:rPr lang="zh-CN" altLang="en-US" dirty="0" smtClean="0"/>
              <a:t>模型用以对已经编码完成的系统进行验证。</a:t>
            </a:r>
            <a:endParaRPr lang="en-US" altLang="zh-CN" dirty="0"/>
          </a:p>
          <a:p>
            <a:pPr algn="l"/>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dissolve">
                                      <p:cBhvr>
                                        <p:cTn id="7" dur="5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2483768" y="3999717"/>
            <a:ext cx="4320480" cy="126552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endParaRPr>
          </a:p>
        </p:txBody>
      </p:sp>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3" name="内容占位符 2"/>
          <p:cNvSpPr>
            <a:spLocks noGrp="1"/>
          </p:cNvSpPr>
          <p:nvPr>
            <p:ph idx="1"/>
          </p:nvPr>
        </p:nvSpPr>
        <p:spPr>
          <a:xfrm>
            <a:off x="107504" y="1458168"/>
            <a:ext cx="5688632" cy="744513"/>
          </a:xfrm>
        </p:spPr>
        <p:txBody>
          <a:bodyPr/>
          <a:lstStyle/>
          <a:p>
            <a:r>
              <a:rPr lang="zh-CN" altLang="en-US" dirty="0" smtClean="0"/>
              <a:t>性质形式化以及验证</a:t>
            </a:r>
            <a:endParaRPr lang="en-US" altLang="zh-CN" dirty="0" smtClean="0"/>
          </a:p>
        </p:txBody>
      </p:sp>
      <p:sp>
        <p:nvSpPr>
          <p:cNvPr id="16" name="Title 1"/>
          <p:cNvSpPr>
            <a:spLocks noGrp="1"/>
          </p:cNvSpPr>
          <p:nvPr>
            <p:ph type="title"/>
          </p:nvPr>
        </p:nvSpPr>
        <p:spPr>
          <a:xfrm>
            <a:off x="1115616" y="476672"/>
            <a:ext cx="6769100" cy="576262"/>
          </a:xfrm>
        </p:spPr>
        <p:txBody>
          <a:bodyPr/>
          <a:lstStyle/>
          <a:p>
            <a:r>
              <a:rPr lang="en-US" altLang="zh-CN" b="1" dirty="0" smtClean="0"/>
              <a:t>4.2</a:t>
            </a:r>
            <a:r>
              <a:rPr lang="zh-CN" altLang="en-US" b="1" dirty="0"/>
              <a:t>待检测性质</a:t>
            </a:r>
            <a:r>
              <a:rPr lang="zh-CN" altLang="en-US" b="1" dirty="0" smtClean="0"/>
              <a:t>形式化及验证</a:t>
            </a:r>
            <a:endParaRPr lang="en-US" altLang="zh-CN" b="1" dirty="0"/>
          </a:p>
        </p:txBody>
      </p:sp>
      <mc:AlternateContent xmlns:mc="http://schemas.openxmlformats.org/markup-compatibility/2006">
        <mc:Choice xmlns:a14="http://schemas.microsoft.com/office/drawing/2010/main" Requires="a14">
          <p:sp>
            <p:nvSpPr>
              <p:cNvPr id="7" name="文本框 6"/>
              <p:cNvSpPr txBox="1"/>
              <p:nvPr/>
            </p:nvSpPr>
            <p:spPr>
              <a:xfrm>
                <a:off x="539552" y="2003425"/>
                <a:ext cx="8209284" cy="1477328"/>
              </a:xfrm>
              <a:prstGeom prst="rect">
                <a:avLst/>
              </a:prstGeom>
              <a:noFill/>
            </p:spPr>
            <p:txBody>
              <a:bodyPr wrap="square" rtlCol="0">
                <a:spAutoFit/>
              </a:bodyPr>
              <a:lstStyle/>
              <a:p>
                <a:pPr algn="l"/>
                <a:r>
                  <a:rPr kumimoji="1" lang="zh-CN" altLang="en-US" dirty="0" smtClean="0"/>
                  <a:t>        由于此方法通过运行待检测系统从而进行模型检查，所以对于性质只需描述成目标系统能够运行的代码即可。</a:t>
                </a:r>
                <a:endParaRPr kumimoji="1" lang="en-US" altLang="zh-CN" dirty="0" smtClean="0"/>
              </a:p>
              <a:p>
                <a:pPr algn="l"/>
                <a:r>
                  <a:rPr kumimoji="1" lang="zh-CN" altLang="en-US" dirty="0"/>
                  <a:t> </a:t>
                </a:r>
                <a:r>
                  <a:rPr kumimoji="1" lang="zh-CN" altLang="en-US" dirty="0" smtClean="0"/>
                  <a:t>       在下面的例子中，假设两个节点都是对一个统一账户进行操作，</a:t>
                </a:r>
                <a:r>
                  <a:rPr kumimoji="1" lang="en-US" altLang="zh-CN" dirty="0" smtClean="0"/>
                  <a:t>X</a:t>
                </a:r>
                <a:r>
                  <a:rPr kumimoji="1" lang="zh-CN" altLang="en-US" dirty="0" smtClean="0"/>
                  <a:t>表示余额，</a:t>
                </a:r>
                <a:r>
                  <a:rPr kumimoji="1" lang="en-US" altLang="zh-CN" dirty="0" smtClean="0"/>
                  <a:t>Y</a:t>
                </a:r>
                <a:r>
                  <a:rPr kumimoji="1" lang="zh-CN" altLang="en-US" dirty="0" smtClean="0"/>
                  <a:t>、</a:t>
                </a:r>
                <a:r>
                  <a:rPr kumimoji="1" lang="en-US" altLang="zh-CN" dirty="0" smtClean="0"/>
                  <a:t>Z</a:t>
                </a:r>
                <a:r>
                  <a:rPr kumimoji="1" lang="zh-CN" altLang="en-US" dirty="0" smtClean="0"/>
                  <a:t>表示每个节点的操作次数。易知，在该程序中</a:t>
                </a:r>
                <a:r>
                  <a:rPr kumimoji="1" lang="en-US" altLang="zh-CN" dirty="0" smtClean="0"/>
                  <a:t>X</a:t>
                </a:r>
                <a:r>
                  <a:rPr kumimoji="1" lang="zh-CN" altLang="en-US" dirty="0" smtClean="0"/>
                  <a:t>不能小于</a:t>
                </a:r>
                <a:r>
                  <a:rPr kumimoji="1" lang="en-US" altLang="zh-CN" dirty="0" smtClean="0"/>
                  <a:t>0</a:t>
                </a:r>
                <a:r>
                  <a:rPr kumimoji="1" lang="zh-CN" altLang="en-US" dirty="0" smtClean="0"/>
                  <a:t>。所以在每次执行完一条操作后，模型检测器都会检测</a:t>
                </a:r>
                <a14:m>
                  <m:oMath xmlns:m="http://schemas.openxmlformats.org/officeDocument/2006/math">
                    <m:r>
                      <m:rPr>
                        <m:sty m:val="p"/>
                      </m:rPr>
                      <a:rPr kumimoji="1" lang="en-US" altLang="zh-CN" b="0" i="0" smtClean="0">
                        <a:latin typeface="Cambria Math" panose="02040503050406030204" charset="0"/>
                        <a:ea typeface="Cambria Math" panose="02040503050406030204" charset="0"/>
                        <a:cs typeface="Cambria Math" panose="02040503050406030204" charset="0"/>
                      </a:rPr>
                      <m:t>X</m:t>
                    </m:r>
                    <m:r>
                      <a:rPr kumimoji="1" lang="en-US" altLang="zh-CN" i="1" smtClean="0">
                        <a:latin typeface="Cambria Math" panose="02040503050406030204" charset="0"/>
                        <a:ea typeface="Cambria Math" panose="02040503050406030204" charset="0"/>
                        <a:cs typeface="Cambria Math" panose="02040503050406030204" charset="0"/>
                      </a:rPr>
                      <m:t>≥</m:t>
                    </m:r>
                    <m:r>
                      <a:rPr kumimoji="1" lang="en-US" altLang="zh-CN" b="0" i="1" smtClean="0">
                        <a:latin typeface="Cambria Math" panose="02040503050406030204" charset="0"/>
                        <a:ea typeface="Cambria Math" panose="02040503050406030204" charset="0"/>
                        <a:cs typeface="Cambria Math" panose="02040503050406030204" charset="0"/>
                      </a:rPr>
                      <m:t>0</m:t>
                    </m:r>
                  </m:oMath>
                </a14:m>
                <a:r>
                  <a:rPr kumimoji="1" lang="zh-CN" altLang="en-US" dirty="0" smtClean="0"/>
                  <a:t>是否成立。</a:t>
                </a:r>
                <a:endParaRPr kumimoji="1" lang="en-US" altLang="zh-CN" dirty="0" smtClean="0"/>
              </a:p>
            </p:txBody>
          </p:sp>
        </mc:Choice>
        <mc:Fallback>
          <p:sp>
            <p:nvSpPr>
              <p:cNvPr id="7" name="文本框 6"/>
              <p:cNvSpPr txBox="1">
                <a:spLocks noRot="1" noChangeAspect="1" noMove="1" noResize="1" noEditPoints="1" noAdjustHandles="1" noChangeArrowheads="1" noChangeShapeType="1" noTextEdit="1"/>
              </p:cNvSpPr>
              <p:nvPr/>
            </p:nvSpPr>
            <p:spPr>
              <a:xfrm>
                <a:off x="539552" y="2003425"/>
                <a:ext cx="8209284" cy="1477328"/>
              </a:xfrm>
              <a:prstGeom prst="rect">
                <a:avLst/>
              </a:prstGeom>
              <a:blipFill rotWithShape="1">
                <a:blip r:embed="rId1"/>
                <a:stretch>
                  <a:fillRect l="-5" r="-157" b="22"/>
                </a:stretch>
              </a:blipFill>
            </p:spPr>
            <p:txBody>
              <a:bodyPr/>
              <a:lstStyle/>
              <a:p>
                <a:r>
                  <a:rPr lang="zh-CN" altLang="en-US">
                    <a:noFill/>
                  </a:rPr>
                  <a:t> </a:t>
                </a:r>
              </a:p>
            </p:txBody>
          </p:sp>
        </mc:Fallback>
      </mc:AlternateContent>
      <p:sp>
        <p:nvSpPr>
          <p:cNvPr id="2" name="文本框 1"/>
          <p:cNvSpPr txBox="1"/>
          <p:nvPr/>
        </p:nvSpPr>
        <p:spPr>
          <a:xfrm>
            <a:off x="4004356" y="4037182"/>
            <a:ext cx="1487215" cy="923330"/>
          </a:xfrm>
          <a:prstGeom prst="rect">
            <a:avLst/>
          </a:prstGeom>
          <a:noFill/>
        </p:spPr>
        <p:txBody>
          <a:bodyPr wrap="square" rtlCol="0">
            <a:spAutoFit/>
          </a:bodyPr>
          <a:lstStyle/>
          <a:p>
            <a:pPr algn="l"/>
            <a:r>
              <a:rPr kumimoji="1" lang="en-US" altLang="zh-CN" dirty="0" smtClean="0"/>
              <a:t>Node1</a:t>
            </a:r>
            <a:endParaRPr kumimoji="1" lang="en-US" altLang="zh-CN" dirty="0" smtClean="0"/>
          </a:p>
          <a:p>
            <a:pPr algn="l"/>
            <a:r>
              <a:rPr kumimoji="1" lang="en-US" altLang="zh-CN" dirty="0" smtClean="0"/>
              <a:t>X=X-1000;</a:t>
            </a:r>
            <a:endParaRPr kumimoji="1" lang="en-US" altLang="zh-CN" dirty="0" smtClean="0"/>
          </a:p>
          <a:p>
            <a:pPr algn="l"/>
            <a:r>
              <a:rPr kumimoji="1" lang="en-US" altLang="zh-CN" dirty="0" smtClean="0"/>
              <a:t>Y++;</a:t>
            </a:r>
            <a:endParaRPr kumimoji="1" lang="en-US" altLang="zh-CN" dirty="0" smtClean="0"/>
          </a:p>
        </p:txBody>
      </p:sp>
      <p:sp>
        <p:nvSpPr>
          <p:cNvPr id="12" name="文本框 11"/>
          <p:cNvSpPr txBox="1"/>
          <p:nvPr/>
        </p:nvSpPr>
        <p:spPr>
          <a:xfrm>
            <a:off x="5364088" y="4037182"/>
            <a:ext cx="1440160" cy="923330"/>
          </a:xfrm>
          <a:prstGeom prst="rect">
            <a:avLst/>
          </a:prstGeom>
          <a:noFill/>
        </p:spPr>
        <p:txBody>
          <a:bodyPr wrap="square" rtlCol="0">
            <a:spAutoFit/>
          </a:bodyPr>
          <a:lstStyle/>
          <a:p>
            <a:pPr algn="l"/>
            <a:r>
              <a:rPr kumimoji="1" lang="en-US" altLang="zh-CN" dirty="0" smtClean="0"/>
              <a:t>Node2</a:t>
            </a:r>
            <a:endParaRPr kumimoji="1" lang="en-US" altLang="zh-CN" dirty="0" smtClean="0"/>
          </a:p>
          <a:p>
            <a:pPr algn="l"/>
            <a:r>
              <a:rPr kumimoji="1" lang="en-US" altLang="zh-CN" dirty="0" smtClean="0"/>
              <a:t>X=X+100;</a:t>
            </a:r>
            <a:endParaRPr kumimoji="1" lang="en-US" altLang="zh-CN" dirty="0" smtClean="0"/>
          </a:p>
          <a:p>
            <a:pPr algn="l"/>
            <a:r>
              <a:rPr kumimoji="1" lang="en-US" altLang="zh-CN" dirty="0"/>
              <a:t>Z</a:t>
            </a:r>
            <a:r>
              <a:rPr kumimoji="1" lang="en-US" altLang="zh-CN" dirty="0" smtClean="0"/>
              <a:t>++;</a:t>
            </a:r>
            <a:endParaRPr kumimoji="1" lang="en-US" altLang="zh-CN" dirty="0" smtClean="0"/>
          </a:p>
        </p:txBody>
      </p:sp>
      <p:sp>
        <p:nvSpPr>
          <p:cNvPr id="5" name="文本框 4"/>
          <p:cNvSpPr txBox="1"/>
          <p:nvPr/>
        </p:nvSpPr>
        <p:spPr>
          <a:xfrm>
            <a:off x="2890557" y="4064914"/>
            <a:ext cx="936476" cy="1200329"/>
          </a:xfrm>
          <a:prstGeom prst="rect">
            <a:avLst/>
          </a:prstGeom>
          <a:noFill/>
        </p:spPr>
        <p:txBody>
          <a:bodyPr wrap="square" rtlCol="0">
            <a:spAutoFit/>
          </a:bodyPr>
          <a:lstStyle/>
          <a:p>
            <a:pPr algn="l"/>
            <a:r>
              <a:rPr kumimoji="1" lang="en-US" altLang="zh-CN" dirty="0" smtClean="0"/>
              <a:t>Initial</a:t>
            </a:r>
            <a:endParaRPr kumimoji="1" lang="en-US" altLang="zh-CN" dirty="0" smtClean="0"/>
          </a:p>
          <a:p>
            <a:pPr algn="l"/>
            <a:r>
              <a:rPr kumimoji="1" lang="en-US" altLang="zh-CN" dirty="0" smtClean="0"/>
              <a:t>X=900</a:t>
            </a:r>
            <a:r>
              <a:rPr kumimoji="1" lang="zh-CN" altLang="en-US" dirty="0" smtClean="0"/>
              <a:t>；</a:t>
            </a:r>
            <a:endParaRPr kumimoji="1" lang="en-US" altLang="zh-CN" dirty="0"/>
          </a:p>
          <a:p>
            <a:pPr algn="l"/>
            <a:r>
              <a:rPr kumimoji="1" lang="en-US" altLang="zh-CN" dirty="0" smtClean="0"/>
              <a:t>Y=0</a:t>
            </a:r>
            <a:r>
              <a:rPr kumimoji="1" lang="zh-CN" altLang="en-US" dirty="0" smtClean="0"/>
              <a:t>；</a:t>
            </a:r>
            <a:endParaRPr kumimoji="1" lang="en-US" altLang="zh-CN" dirty="0" smtClean="0"/>
          </a:p>
          <a:p>
            <a:pPr algn="l"/>
            <a:r>
              <a:rPr kumimoji="1" lang="en-US" altLang="zh-CN" dirty="0" smtClean="0"/>
              <a:t>Z=0</a:t>
            </a:r>
            <a:r>
              <a:rPr kumimoji="1" lang="zh-CN" altLang="en-US" dirty="0" smtClean="0"/>
              <a:t>；</a:t>
            </a:r>
            <a:endParaRPr kumimoji="1" lang="zh-CN"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bwMode="auto">
          <a:xfrm>
            <a:off x="7248206" y="4365377"/>
            <a:ext cx="1080132" cy="107721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endParaRPr>
          </a:p>
        </p:txBody>
      </p:sp>
      <p:sp>
        <p:nvSpPr>
          <p:cNvPr id="34" name="矩形 33"/>
          <p:cNvSpPr/>
          <p:nvPr/>
        </p:nvSpPr>
        <p:spPr bwMode="auto">
          <a:xfrm>
            <a:off x="5936507" y="4365377"/>
            <a:ext cx="1080132" cy="107721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endParaRPr>
          </a:p>
        </p:txBody>
      </p:sp>
      <p:sp>
        <p:nvSpPr>
          <p:cNvPr id="33" name="矩形 32"/>
          <p:cNvSpPr/>
          <p:nvPr/>
        </p:nvSpPr>
        <p:spPr bwMode="auto">
          <a:xfrm>
            <a:off x="4540744" y="4365377"/>
            <a:ext cx="1080132" cy="107721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endParaRPr>
          </a:p>
        </p:txBody>
      </p:sp>
      <p:sp>
        <p:nvSpPr>
          <p:cNvPr id="32" name="矩形 31"/>
          <p:cNvSpPr/>
          <p:nvPr/>
        </p:nvSpPr>
        <p:spPr bwMode="auto">
          <a:xfrm>
            <a:off x="3285061" y="4365377"/>
            <a:ext cx="1080132" cy="107721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endParaRPr>
          </a:p>
        </p:txBody>
      </p:sp>
      <p:sp>
        <p:nvSpPr>
          <p:cNvPr id="31" name="矩形 30"/>
          <p:cNvSpPr/>
          <p:nvPr/>
        </p:nvSpPr>
        <p:spPr bwMode="auto">
          <a:xfrm>
            <a:off x="1976055" y="4365377"/>
            <a:ext cx="1080132" cy="107721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endParaRPr>
          </a:p>
        </p:txBody>
      </p:sp>
      <p:sp>
        <p:nvSpPr>
          <p:cNvPr id="15" name="矩形 14"/>
          <p:cNvSpPr/>
          <p:nvPr/>
        </p:nvSpPr>
        <p:spPr bwMode="auto">
          <a:xfrm>
            <a:off x="679911" y="4365377"/>
            <a:ext cx="1080132" cy="107721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endParaRPr>
          </a:p>
        </p:txBody>
      </p:sp>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3" name="内容占位符 2"/>
          <p:cNvSpPr>
            <a:spLocks noGrp="1"/>
          </p:cNvSpPr>
          <p:nvPr>
            <p:ph idx="1"/>
          </p:nvPr>
        </p:nvSpPr>
        <p:spPr>
          <a:xfrm>
            <a:off x="107504" y="1458168"/>
            <a:ext cx="5688632" cy="744513"/>
          </a:xfrm>
        </p:spPr>
        <p:txBody>
          <a:bodyPr/>
          <a:lstStyle/>
          <a:p>
            <a:r>
              <a:rPr lang="zh-CN" altLang="en-US" dirty="0"/>
              <a:t>性质形式化以及验证</a:t>
            </a:r>
            <a:endParaRPr lang="en-US" altLang="zh-CN" dirty="0"/>
          </a:p>
        </p:txBody>
      </p:sp>
      <p:sp>
        <p:nvSpPr>
          <p:cNvPr id="16" name="Title 1"/>
          <p:cNvSpPr>
            <a:spLocks noGrp="1"/>
          </p:cNvSpPr>
          <p:nvPr>
            <p:ph type="title"/>
          </p:nvPr>
        </p:nvSpPr>
        <p:spPr>
          <a:xfrm>
            <a:off x="1115616" y="476672"/>
            <a:ext cx="6769100" cy="576262"/>
          </a:xfrm>
        </p:spPr>
        <p:txBody>
          <a:bodyPr/>
          <a:lstStyle/>
          <a:p>
            <a:r>
              <a:rPr lang="en-US" altLang="zh-CN" b="1" dirty="0" smtClean="0"/>
              <a:t>4.2</a:t>
            </a:r>
            <a:r>
              <a:rPr lang="zh-CN" altLang="en-US" b="1" dirty="0"/>
              <a:t>待检测性质</a:t>
            </a:r>
            <a:r>
              <a:rPr lang="zh-CN" altLang="en-US" b="1" dirty="0" smtClean="0"/>
              <a:t>形式化及验证</a:t>
            </a:r>
            <a:endParaRPr lang="en-US" altLang="zh-CN" b="1" dirty="0"/>
          </a:p>
        </p:txBody>
      </p:sp>
      <p:sp>
        <p:nvSpPr>
          <p:cNvPr id="7" name="文本框 6"/>
          <p:cNvSpPr txBox="1"/>
          <p:nvPr/>
        </p:nvSpPr>
        <p:spPr>
          <a:xfrm>
            <a:off x="395524" y="2007269"/>
            <a:ext cx="8209284" cy="646331"/>
          </a:xfrm>
          <a:prstGeom prst="rect">
            <a:avLst/>
          </a:prstGeom>
          <a:noFill/>
        </p:spPr>
        <p:txBody>
          <a:bodyPr wrap="square" rtlCol="0">
            <a:spAutoFit/>
          </a:bodyPr>
          <a:lstStyle/>
          <a:p>
            <a:pPr algn="l"/>
            <a:r>
              <a:rPr kumimoji="1" lang="zh-CN" altLang="en-US" dirty="0" smtClean="0"/>
              <a:t>        通过前面介绍的控制层可以使得整个系统分别按照下面这几种执行顺序进行运行。</a:t>
            </a:r>
            <a:endParaRPr kumimoji="1" lang="en-US" altLang="zh-CN" dirty="0" smtClean="0"/>
          </a:p>
        </p:txBody>
      </p:sp>
      <p:grpSp>
        <p:nvGrpSpPr>
          <p:cNvPr id="11" name="组 10"/>
          <p:cNvGrpSpPr/>
          <p:nvPr/>
        </p:nvGrpSpPr>
        <p:grpSpPr>
          <a:xfrm>
            <a:off x="534965" y="2664992"/>
            <a:ext cx="4320480" cy="1265526"/>
            <a:chOff x="2339752" y="2783209"/>
            <a:chExt cx="4320480" cy="1265526"/>
          </a:xfrm>
        </p:grpSpPr>
        <p:sp>
          <p:nvSpPr>
            <p:cNvPr id="18" name="矩形 17"/>
            <p:cNvSpPr/>
            <p:nvPr/>
          </p:nvSpPr>
          <p:spPr bwMode="auto">
            <a:xfrm>
              <a:off x="2339752" y="2783209"/>
              <a:ext cx="4320480" cy="126552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endParaRPr>
            </a:p>
          </p:txBody>
        </p:sp>
        <p:sp>
          <p:nvSpPr>
            <p:cNvPr id="19" name="文本框 18"/>
            <p:cNvSpPr txBox="1"/>
            <p:nvPr/>
          </p:nvSpPr>
          <p:spPr>
            <a:xfrm>
              <a:off x="3860340" y="2820674"/>
              <a:ext cx="1487215" cy="923330"/>
            </a:xfrm>
            <a:prstGeom prst="rect">
              <a:avLst/>
            </a:prstGeom>
            <a:noFill/>
          </p:spPr>
          <p:txBody>
            <a:bodyPr wrap="square" rtlCol="0">
              <a:spAutoFit/>
            </a:bodyPr>
            <a:lstStyle/>
            <a:p>
              <a:pPr algn="l"/>
              <a:r>
                <a:rPr kumimoji="1" lang="en-US" altLang="zh-CN" dirty="0" smtClean="0"/>
                <a:t>Node1</a:t>
              </a:r>
              <a:endParaRPr kumimoji="1" lang="en-US" altLang="zh-CN" dirty="0" smtClean="0"/>
            </a:p>
            <a:p>
              <a:pPr algn="l"/>
              <a:r>
                <a:rPr kumimoji="1" lang="en-US" altLang="zh-CN" dirty="0" smtClean="0"/>
                <a:t>X=X-1000;</a:t>
              </a:r>
              <a:endParaRPr kumimoji="1" lang="en-US" altLang="zh-CN" dirty="0" smtClean="0"/>
            </a:p>
            <a:p>
              <a:pPr algn="l"/>
              <a:r>
                <a:rPr kumimoji="1" lang="en-US" altLang="zh-CN" dirty="0" smtClean="0"/>
                <a:t>Y++;</a:t>
              </a:r>
              <a:endParaRPr kumimoji="1" lang="en-US" altLang="zh-CN" dirty="0" smtClean="0"/>
            </a:p>
          </p:txBody>
        </p:sp>
        <p:sp>
          <p:nvSpPr>
            <p:cNvPr id="20" name="文本框 19"/>
            <p:cNvSpPr txBox="1"/>
            <p:nvPr/>
          </p:nvSpPr>
          <p:spPr>
            <a:xfrm>
              <a:off x="5220072" y="2820674"/>
              <a:ext cx="1440160" cy="923330"/>
            </a:xfrm>
            <a:prstGeom prst="rect">
              <a:avLst/>
            </a:prstGeom>
            <a:noFill/>
          </p:spPr>
          <p:txBody>
            <a:bodyPr wrap="square" rtlCol="0">
              <a:spAutoFit/>
            </a:bodyPr>
            <a:lstStyle/>
            <a:p>
              <a:pPr algn="l"/>
              <a:r>
                <a:rPr kumimoji="1" lang="en-US" altLang="zh-CN" dirty="0" smtClean="0"/>
                <a:t>Node2</a:t>
              </a:r>
              <a:endParaRPr kumimoji="1" lang="en-US" altLang="zh-CN" dirty="0" smtClean="0"/>
            </a:p>
            <a:p>
              <a:pPr algn="l"/>
              <a:r>
                <a:rPr kumimoji="1" lang="en-US" altLang="zh-CN" dirty="0" smtClean="0"/>
                <a:t>X=X+100;</a:t>
              </a:r>
              <a:endParaRPr kumimoji="1" lang="en-US" altLang="zh-CN" dirty="0" smtClean="0"/>
            </a:p>
            <a:p>
              <a:pPr algn="l"/>
              <a:r>
                <a:rPr kumimoji="1" lang="en-US" altLang="zh-CN" dirty="0"/>
                <a:t>Z</a:t>
              </a:r>
              <a:r>
                <a:rPr kumimoji="1" lang="en-US" altLang="zh-CN" dirty="0" smtClean="0"/>
                <a:t>++;</a:t>
              </a:r>
              <a:endParaRPr kumimoji="1" lang="en-US" altLang="zh-CN" dirty="0" smtClean="0"/>
            </a:p>
          </p:txBody>
        </p:sp>
        <p:sp>
          <p:nvSpPr>
            <p:cNvPr id="21" name="文本框 20"/>
            <p:cNvSpPr txBox="1"/>
            <p:nvPr/>
          </p:nvSpPr>
          <p:spPr>
            <a:xfrm>
              <a:off x="2746541" y="2848406"/>
              <a:ext cx="936476" cy="1200329"/>
            </a:xfrm>
            <a:prstGeom prst="rect">
              <a:avLst/>
            </a:prstGeom>
            <a:noFill/>
          </p:spPr>
          <p:txBody>
            <a:bodyPr wrap="square" rtlCol="0">
              <a:spAutoFit/>
            </a:bodyPr>
            <a:lstStyle/>
            <a:p>
              <a:pPr algn="l"/>
              <a:r>
                <a:rPr kumimoji="1" lang="en-US" altLang="zh-CN" dirty="0" smtClean="0"/>
                <a:t>Initial</a:t>
              </a:r>
              <a:endParaRPr kumimoji="1" lang="en-US" altLang="zh-CN" dirty="0" smtClean="0"/>
            </a:p>
            <a:p>
              <a:pPr algn="l"/>
              <a:r>
                <a:rPr kumimoji="1" lang="en-US" altLang="zh-CN" dirty="0" smtClean="0"/>
                <a:t>X=900</a:t>
              </a:r>
              <a:r>
                <a:rPr kumimoji="1" lang="zh-CN" altLang="en-US" dirty="0" smtClean="0"/>
                <a:t>；</a:t>
              </a:r>
              <a:endParaRPr kumimoji="1" lang="en-US" altLang="zh-CN" dirty="0"/>
            </a:p>
            <a:p>
              <a:pPr algn="l"/>
              <a:r>
                <a:rPr kumimoji="1" lang="en-US" altLang="zh-CN" dirty="0" smtClean="0"/>
                <a:t>Y=0</a:t>
              </a:r>
              <a:r>
                <a:rPr kumimoji="1" lang="zh-CN" altLang="en-US" dirty="0" smtClean="0"/>
                <a:t>；</a:t>
              </a:r>
              <a:endParaRPr kumimoji="1" lang="en-US" altLang="zh-CN" dirty="0" smtClean="0"/>
            </a:p>
            <a:p>
              <a:pPr algn="l"/>
              <a:r>
                <a:rPr kumimoji="1" lang="en-US" altLang="zh-CN" dirty="0" smtClean="0"/>
                <a:t>Z++;</a:t>
              </a:r>
              <a:endParaRPr kumimoji="1" lang="zh-CN" altLang="en-US" dirty="0"/>
            </a:p>
          </p:txBody>
        </p:sp>
      </p:grpSp>
      <p:sp>
        <p:nvSpPr>
          <p:cNvPr id="10" name="矩形 9"/>
          <p:cNvSpPr/>
          <p:nvPr/>
        </p:nvSpPr>
        <p:spPr>
          <a:xfrm>
            <a:off x="679911" y="4365377"/>
            <a:ext cx="1172196" cy="1077218"/>
          </a:xfrm>
          <a:prstGeom prst="rect">
            <a:avLst/>
          </a:prstGeom>
        </p:spPr>
        <p:txBody>
          <a:bodyPr wrap="square">
            <a:spAutoFit/>
          </a:bodyPr>
          <a:lstStyle/>
          <a:p>
            <a:pPr algn="l"/>
            <a:r>
              <a:rPr kumimoji="1" lang="en-US" altLang="zh-CN" sz="1600" dirty="0"/>
              <a:t>X=X-1000;</a:t>
            </a:r>
            <a:endParaRPr kumimoji="1" lang="en-US" altLang="zh-CN" sz="1600" dirty="0"/>
          </a:p>
          <a:p>
            <a:pPr algn="l"/>
            <a:r>
              <a:rPr kumimoji="1" lang="en-US" altLang="zh-CN" sz="1600" dirty="0" smtClean="0"/>
              <a:t>Y++;</a:t>
            </a:r>
            <a:endParaRPr kumimoji="1" lang="en-US" altLang="zh-CN" sz="1600" dirty="0" smtClean="0"/>
          </a:p>
          <a:p>
            <a:pPr algn="l"/>
            <a:r>
              <a:rPr kumimoji="1" lang="en-US" altLang="zh-CN" sz="1600" dirty="0" smtClean="0"/>
              <a:t>X=X+100;</a:t>
            </a:r>
            <a:endParaRPr kumimoji="1" lang="en-US" altLang="zh-CN" sz="1600" dirty="0" smtClean="0"/>
          </a:p>
          <a:p>
            <a:pPr algn="l"/>
            <a:r>
              <a:rPr kumimoji="1" lang="en-US" altLang="zh-CN" sz="1600" dirty="0"/>
              <a:t>Z</a:t>
            </a:r>
            <a:r>
              <a:rPr kumimoji="1" lang="en-US" altLang="zh-CN" sz="1600" dirty="0" smtClean="0"/>
              <a:t>++;</a:t>
            </a:r>
            <a:endParaRPr kumimoji="1" lang="en-US" altLang="zh-CN" sz="1600" dirty="0"/>
          </a:p>
        </p:txBody>
      </p:sp>
      <p:sp>
        <p:nvSpPr>
          <p:cNvPr id="22" name="矩形 21"/>
          <p:cNvSpPr/>
          <p:nvPr/>
        </p:nvSpPr>
        <p:spPr>
          <a:xfrm>
            <a:off x="1935594" y="4369666"/>
            <a:ext cx="1173916" cy="1077218"/>
          </a:xfrm>
          <a:prstGeom prst="rect">
            <a:avLst/>
          </a:prstGeom>
        </p:spPr>
        <p:txBody>
          <a:bodyPr wrap="square">
            <a:spAutoFit/>
          </a:bodyPr>
          <a:lstStyle/>
          <a:p>
            <a:pPr algn="l"/>
            <a:r>
              <a:rPr kumimoji="1" lang="en-US" altLang="zh-CN" sz="1600" dirty="0" smtClean="0"/>
              <a:t>X=X+100</a:t>
            </a:r>
            <a:r>
              <a:rPr kumimoji="1" lang="en-US" altLang="zh-CN" sz="1600" dirty="0"/>
              <a:t>;</a:t>
            </a:r>
            <a:endParaRPr kumimoji="1" lang="en-US" altLang="zh-CN" sz="1600" dirty="0"/>
          </a:p>
          <a:p>
            <a:pPr algn="l"/>
            <a:r>
              <a:rPr kumimoji="1" lang="en-US" altLang="zh-CN" sz="1600" dirty="0"/>
              <a:t>Z</a:t>
            </a:r>
            <a:r>
              <a:rPr kumimoji="1" lang="en-US" altLang="zh-CN" sz="1600" dirty="0" smtClean="0"/>
              <a:t>++;</a:t>
            </a:r>
            <a:endParaRPr kumimoji="1" lang="en-US" altLang="zh-CN" sz="1600" dirty="0" smtClean="0"/>
          </a:p>
          <a:p>
            <a:pPr algn="l"/>
            <a:r>
              <a:rPr kumimoji="1" lang="en-US" altLang="zh-CN" sz="1600" dirty="0" smtClean="0"/>
              <a:t>X=X-1000;</a:t>
            </a:r>
            <a:endParaRPr kumimoji="1" lang="en-US" altLang="zh-CN" sz="1600" dirty="0" smtClean="0"/>
          </a:p>
          <a:p>
            <a:pPr algn="l"/>
            <a:r>
              <a:rPr kumimoji="1" lang="en-US" altLang="zh-CN" sz="1600" dirty="0" smtClean="0"/>
              <a:t>Y++;</a:t>
            </a:r>
            <a:endParaRPr kumimoji="1" lang="en-US" altLang="zh-CN" sz="1600" dirty="0"/>
          </a:p>
        </p:txBody>
      </p:sp>
      <p:sp>
        <p:nvSpPr>
          <p:cNvPr id="23" name="矩形 22"/>
          <p:cNvSpPr/>
          <p:nvPr/>
        </p:nvSpPr>
        <p:spPr>
          <a:xfrm>
            <a:off x="4559953" y="4365377"/>
            <a:ext cx="1170221" cy="1077218"/>
          </a:xfrm>
          <a:prstGeom prst="rect">
            <a:avLst/>
          </a:prstGeom>
        </p:spPr>
        <p:txBody>
          <a:bodyPr wrap="square">
            <a:spAutoFit/>
          </a:bodyPr>
          <a:lstStyle/>
          <a:p>
            <a:pPr algn="l"/>
            <a:r>
              <a:rPr kumimoji="1" lang="en-US" altLang="zh-CN" sz="1600" dirty="0" smtClean="0"/>
              <a:t>X=X-1000;</a:t>
            </a:r>
            <a:endParaRPr kumimoji="1" lang="en-US" altLang="zh-CN" sz="1600" dirty="0" smtClean="0"/>
          </a:p>
          <a:p>
            <a:pPr algn="l"/>
            <a:r>
              <a:rPr kumimoji="1" lang="en-US" altLang="zh-CN" sz="1600" dirty="0" smtClean="0"/>
              <a:t>X=X+100;</a:t>
            </a:r>
            <a:endParaRPr kumimoji="1" lang="en-US" altLang="zh-CN" sz="1600" dirty="0"/>
          </a:p>
          <a:p>
            <a:pPr algn="l"/>
            <a:r>
              <a:rPr kumimoji="1" lang="en-US" altLang="zh-CN" sz="1600" dirty="0" smtClean="0"/>
              <a:t>Y++;</a:t>
            </a:r>
            <a:endParaRPr kumimoji="1" lang="en-US" altLang="zh-CN" sz="1600" dirty="0" smtClean="0"/>
          </a:p>
          <a:p>
            <a:pPr algn="l"/>
            <a:r>
              <a:rPr kumimoji="1" lang="en-US" altLang="zh-CN" sz="1600" dirty="0"/>
              <a:t>Z</a:t>
            </a:r>
            <a:r>
              <a:rPr kumimoji="1" lang="en-US" altLang="zh-CN" sz="1600" dirty="0" smtClean="0"/>
              <a:t>++;</a:t>
            </a:r>
            <a:endParaRPr kumimoji="1" lang="en-US" altLang="zh-CN" sz="1600" dirty="0"/>
          </a:p>
        </p:txBody>
      </p:sp>
      <p:sp>
        <p:nvSpPr>
          <p:cNvPr id="24" name="矩形 23"/>
          <p:cNvSpPr/>
          <p:nvPr/>
        </p:nvSpPr>
        <p:spPr>
          <a:xfrm>
            <a:off x="3302550" y="4365377"/>
            <a:ext cx="1175636" cy="1077218"/>
          </a:xfrm>
          <a:prstGeom prst="rect">
            <a:avLst/>
          </a:prstGeom>
        </p:spPr>
        <p:txBody>
          <a:bodyPr wrap="square">
            <a:spAutoFit/>
          </a:bodyPr>
          <a:lstStyle/>
          <a:p>
            <a:pPr algn="l"/>
            <a:r>
              <a:rPr kumimoji="1" lang="en-US" altLang="zh-CN" sz="1600" dirty="0" smtClean="0"/>
              <a:t>X=X+100;</a:t>
            </a:r>
            <a:endParaRPr kumimoji="1" lang="en-US" altLang="zh-CN" sz="1600" dirty="0" smtClean="0"/>
          </a:p>
          <a:p>
            <a:pPr algn="l"/>
            <a:r>
              <a:rPr kumimoji="1" lang="en-US" altLang="zh-CN" sz="1600" dirty="0"/>
              <a:t>X=X-1000</a:t>
            </a:r>
            <a:r>
              <a:rPr kumimoji="1" lang="en-US" altLang="zh-CN" sz="1600" dirty="0" smtClean="0"/>
              <a:t>;</a:t>
            </a:r>
            <a:endParaRPr kumimoji="1" lang="en-US" altLang="zh-CN" sz="1600" dirty="0"/>
          </a:p>
          <a:p>
            <a:pPr algn="l"/>
            <a:r>
              <a:rPr kumimoji="1" lang="en-US" altLang="zh-CN" sz="1600" dirty="0" smtClean="0"/>
              <a:t>Y++;</a:t>
            </a:r>
            <a:endParaRPr kumimoji="1" lang="en-US" altLang="zh-CN" sz="1600" dirty="0" smtClean="0"/>
          </a:p>
          <a:p>
            <a:pPr algn="l"/>
            <a:r>
              <a:rPr kumimoji="1" lang="en-US" altLang="zh-CN" sz="1600" dirty="0"/>
              <a:t>Z</a:t>
            </a:r>
            <a:r>
              <a:rPr kumimoji="1" lang="en-US" altLang="zh-CN" sz="1600" dirty="0" smtClean="0"/>
              <a:t>++;</a:t>
            </a:r>
            <a:endParaRPr kumimoji="1" lang="en-US" altLang="zh-CN" sz="1600" dirty="0"/>
          </a:p>
        </p:txBody>
      </p:sp>
      <p:sp>
        <p:nvSpPr>
          <p:cNvPr id="27" name="矩形 26"/>
          <p:cNvSpPr/>
          <p:nvPr/>
        </p:nvSpPr>
        <p:spPr>
          <a:xfrm>
            <a:off x="7252836" y="4365377"/>
            <a:ext cx="1112601" cy="1077218"/>
          </a:xfrm>
          <a:prstGeom prst="rect">
            <a:avLst/>
          </a:prstGeom>
        </p:spPr>
        <p:txBody>
          <a:bodyPr wrap="square">
            <a:spAutoFit/>
          </a:bodyPr>
          <a:lstStyle/>
          <a:p>
            <a:pPr algn="l"/>
            <a:r>
              <a:rPr kumimoji="1" lang="en-US" altLang="zh-CN" sz="1600" dirty="0" smtClean="0"/>
              <a:t>X=X-1000;</a:t>
            </a:r>
            <a:endParaRPr kumimoji="1" lang="en-US" altLang="zh-CN" sz="1600" dirty="0" smtClean="0"/>
          </a:p>
          <a:p>
            <a:pPr algn="l"/>
            <a:r>
              <a:rPr kumimoji="1" lang="en-US" altLang="zh-CN" sz="1600" dirty="0" smtClean="0"/>
              <a:t>X=X+100;</a:t>
            </a:r>
            <a:endParaRPr kumimoji="1" lang="en-US" altLang="zh-CN" sz="1600" dirty="0"/>
          </a:p>
          <a:p>
            <a:pPr algn="l"/>
            <a:r>
              <a:rPr kumimoji="1" lang="en-US" altLang="zh-CN" sz="1600" dirty="0" smtClean="0"/>
              <a:t>Z++;</a:t>
            </a:r>
            <a:endParaRPr kumimoji="1" lang="en-US" altLang="zh-CN" sz="1600" dirty="0" smtClean="0"/>
          </a:p>
          <a:p>
            <a:pPr algn="l"/>
            <a:r>
              <a:rPr kumimoji="1" lang="en-US" altLang="zh-CN" sz="1600" dirty="0" smtClean="0"/>
              <a:t>Y++;</a:t>
            </a:r>
            <a:endParaRPr kumimoji="1" lang="en-US" altLang="zh-CN" sz="1600" dirty="0"/>
          </a:p>
        </p:txBody>
      </p:sp>
      <p:sp>
        <p:nvSpPr>
          <p:cNvPr id="28" name="矩形 27"/>
          <p:cNvSpPr/>
          <p:nvPr/>
        </p:nvSpPr>
        <p:spPr>
          <a:xfrm>
            <a:off x="5928629" y="4365377"/>
            <a:ext cx="1083380" cy="1077218"/>
          </a:xfrm>
          <a:prstGeom prst="rect">
            <a:avLst/>
          </a:prstGeom>
        </p:spPr>
        <p:txBody>
          <a:bodyPr wrap="square">
            <a:spAutoFit/>
          </a:bodyPr>
          <a:lstStyle/>
          <a:p>
            <a:pPr algn="l"/>
            <a:r>
              <a:rPr kumimoji="1" lang="en-US" altLang="zh-CN" sz="1600" dirty="0" smtClean="0"/>
              <a:t>X=X+100;</a:t>
            </a:r>
            <a:endParaRPr kumimoji="1" lang="en-US" altLang="zh-CN" sz="1600" dirty="0" smtClean="0"/>
          </a:p>
          <a:p>
            <a:pPr algn="l"/>
            <a:r>
              <a:rPr kumimoji="1" lang="en-US" altLang="zh-CN" sz="1600" dirty="0"/>
              <a:t>X=X-1000</a:t>
            </a:r>
            <a:r>
              <a:rPr kumimoji="1" lang="en-US" altLang="zh-CN" sz="1600" dirty="0" smtClean="0"/>
              <a:t>;</a:t>
            </a:r>
            <a:endParaRPr kumimoji="1" lang="en-US" altLang="zh-CN" sz="1600" dirty="0"/>
          </a:p>
          <a:p>
            <a:pPr algn="l"/>
            <a:r>
              <a:rPr kumimoji="1" lang="en-US" altLang="zh-CN" sz="1600" dirty="0" smtClean="0"/>
              <a:t>Z++;</a:t>
            </a:r>
            <a:endParaRPr kumimoji="1" lang="en-US" altLang="zh-CN" sz="1600" dirty="0" smtClean="0"/>
          </a:p>
          <a:p>
            <a:pPr algn="l"/>
            <a:r>
              <a:rPr kumimoji="1" lang="en-US" altLang="zh-CN" sz="1600" dirty="0" smtClean="0"/>
              <a:t>Y++;</a:t>
            </a:r>
            <a:endParaRPr kumimoji="1" lang="en-US" altLang="zh-CN" sz="1600" dirty="0"/>
          </a:p>
        </p:txBody>
      </p:sp>
      <p:sp>
        <p:nvSpPr>
          <p:cNvPr id="25" name="文本框 24"/>
          <p:cNvSpPr txBox="1"/>
          <p:nvPr/>
        </p:nvSpPr>
        <p:spPr>
          <a:xfrm>
            <a:off x="874264" y="4005064"/>
            <a:ext cx="792460" cy="369332"/>
          </a:xfrm>
          <a:prstGeom prst="rect">
            <a:avLst/>
          </a:prstGeom>
          <a:noFill/>
        </p:spPr>
        <p:txBody>
          <a:bodyPr wrap="square" rtlCol="0">
            <a:spAutoFit/>
          </a:bodyPr>
          <a:lstStyle/>
          <a:p>
            <a:r>
              <a:rPr kumimoji="1" lang="zh-CN" altLang="en-US" dirty="0" smtClean="0"/>
              <a:t>序列</a:t>
            </a:r>
            <a:r>
              <a:rPr kumimoji="1" lang="en-US" altLang="zh-CN" dirty="0" smtClean="0"/>
              <a:t>1</a:t>
            </a:r>
            <a:endParaRPr kumimoji="1" lang="zh-CN" altLang="en-US" dirty="0"/>
          </a:p>
        </p:txBody>
      </p:sp>
      <p:sp>
        <p:nvSpPr>
          <p:cNvPr id="37" name="文本框 36"/>
          <p:cNvSpPr txBox="1"/>
          <p:nvPr/>
        </p:nvSpPr>
        <p:spPr>
          <a:xfrm>
            <a:off x="2187715" y="4027895"/>
            <a:ext cx="792460" cy="369332"/>
          </a:xfrm>
          <a:prstGeom prst="rect">
            <a:avLst/>
          </a:prstGeom>
          <a:noFill/>
        </p:spPr>
        <p:txBody>
          <a:bodyPr wrap="square" rtlCol="0">
            <a:spAutoFit/>
          </a:bodyPr>
          <a:lstStyle/>
          <a:p>
            <a:r>
              <a:rPr kumimoji="1" lang="zh-CN" altLang="en-US" dirty="0" smtClean="0"/>
              <a:t>序列</a:t>
            </a:r>
            <a:r>
              <a:rPr kumimoji="1" lang="en-US" altLang="zh-CN" dirty="0"/>
              <a:t>2</a:t>
            </a:r>
            <a:endParaRPr kumimoji="1" lang="zh-CN" altLang="en-US" dirty="0"/>
          </a:p>
        </p:txBody>
      </p:sp>
      <p:sp>
        <p:nvSpPr>
          <p:cNvPr id="38" name="文本框 37"/>
          <p:cNvSpPr txBox="1"/>
          <p:nvPr/>
        </p:nvSpPr>
        <p:spPr>
          <a:xfrm>
            <a:off x="3496721" y="4012273"/>
            <a:ext cx="792460" cy="369332"/>
          </a:xfrm>
          <a:prstGeom prst="rect">
            <a:avLst/>
          </a:prstGeom>
          <a:noFill/>
        </p:spPr>
        <p:txBody>
          <a:bodyPr wrap="square" rtlCol="0">
            <a:spAutoFit/>
          </a:bodyPr>
          <a:lstStyle/>
          <a:p>
            <a:r>
              <a:rPr kumimoji="1" lang="zh-CN" altLang="en-US" dirty="0" smtClean="0"/>
              <a:t>序列</a:t>
            </a:r>
            <a:r>
              <a:rPr kumimoji="1" lang="en-US" altLang="zh-CN" dirty="0"/>
              <a:t>3</a:t>
            </a:r>
            <a:endParaRPr kumimoji="1" lang="zh-CN" altLang="en-US" dirty="0"/>
          </a:p>
        </p:txBody>
      </p:sp>
      <p:sp>
        <p:nvSpPr>
          <p:cNvPr id="39" name="文本框 38"/>
          <p:cNvSpPr txBox="1"/>
          <p:nvPr/>
        </p:nvSpPr>
        <p:spPr>
          <a:xfrm>
            <a:off x="4684580" y="4027895"/>
            <a:ext cx="792460" cy="369332"/>
          </a:xfrm>
          <a:prstGeom prst="rect">
            <a:avLst/>
          </a:prstGeom>
          <a:noFill/>
        </p:spPr>
        <p:txBody>
          <a:bodyPr wrap="square" rtlCol="0">
            <a:spAutoFit/>
          </a:bodyPr>
          <a:lstStyle/>
          <a:p>
            <a:r>
              <a:rPr kumimoji="1" lang="zh-CN" altLang="en-US" dirty="0" smtClean="0"/>
              <a:t>序列</a:t>
            </a:r>
            <a:r>
              <a:rPr kumimoji="1" lang="en-US" altLang="zh-CN" dirty="0"/>
              <a:t>4</a:t>
            </a:r>
            <a:endParaRPr kumimoji="1" lang="zh-CN" altLang="en-US" dirty="0"/>
          </a:p>
        </p:txBody>
      </p:sp>
      <p:sp>
        <p:nvSpPr>
          <p:cNvPr id="40" name="文本框 39"/>
          <p:cNvSpPr txBox="1"/>
          <p:nvPr/>
        </p:nvSpPr>
        <p:spPr>
          <a:xfrm>
            <a:off x="6074089" y="4032516"/>
            <a:ext cx="792460" cy="369332"/>
          </a:xfrm>
          <a:prstGeom prst="rect">
            <a:avLst/>
          </a:prstGeom>
          <a:noFill/>
        </p:spPr>
        <p:txBody>
          <a:bodyPr wrap="square" rtlCol="0">
            <a:spAutoFit/>
          </a:bodyPr>
          <a:lstStyle/>
          <a:p>
            <a:r>
              <a:rPr kumimoji="1" lang="zh-CN" altLang="en-US" dirty="0" smtClean="0"/>
              <a:t>序列</a:t>
            </a:r>
            <a:r>
              <a:rPr kumimoji="1" lang="en-US" altLang="zh-CN" dirty="0"/>
              <a:t>5</a:t>
            </a:r>
            <a:endParaRPr kumimoji="1" lang="zh-CN" altLang="en-US" dirty="0"/>
          </a:p>
        </p:txBody>
      </p:sp>
      <p:sp>
        <p:nvSpPr>
          <p:cNvPr id="41" name="文本框 40"/>
          <p:cNvSpPr txBox="1"/>
          <p:nvPr/>
        </p:nvSpPr>
        <p:spPr>
          <a:xfrm>
            <a:off x="7412906" y="4012273"/>
            <a:ext cx="792460" cy="369332"/>
          </a:xfrm>
          <a:prstGeom prst="rect">
            <a:avLst/>
          </a:prstGeom>
          <a:noFill/>
        </p:spPr>
        <p:txBody>
          <a:bodyPr wrap="square" rtlCol="0">
            <a:spAutoFit/>
          </a:bodyPr>
          <a:lstStyle/>
          <a:p>
            <a:r>
              <a:rPr kumimoji="1" lang="zh-CN" altLang="en-US" dirty="0" smtClean="0"/>
              <a:t>序列</a:t>
            </a:r>
            <a:r>
              <a:rPr kumimoji="1" lang="en-US" altLang="zh-CN" dirty="0"/>
              <a:t>6</a:t>
            </a:r>
            <a:endParaRPr kumimoji="1" lang="zh-CN" altLang="en-US" dirty="0"/>
          </a:p>
        </p:txBody>
      </p:sp>
      <p:grpSp>
        <p:nvGrpSpPr>
          <p:cNvPr id="36" name="组 35"/>
          <p:cNvGrpSpPr/>
          <p:nvPr/>
        </p:nvGrpSpPr>
        <p:grpSpPr>
          <a:xfrm>
            <a:off x="5849453" y="2898570"/>
            <a:ext cx="1182043" cy="432048"/>
            <a:chOff x="3605981" y="5589240"/>
            <a:chExt cx="1182043" cy="432048"/>
          </a:xfrm>
        </p:grpSpPr>
        <p:sp>
          <p:nvSpPr>
            <p:cNvPr id="29" name="矩形 28"/>
            <p:cNvSpPr/>
            <p:nvPr/>
          </p:nvSpPr>
          <p:spPr bwMode="auto">
            <a:xfrm>
              <a:off x="3783304" y="5589240"/>
              <a:ext cx="814222" cy="432048"/>
            </a:xfrm>
            <a:prstGeom prst="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endParaRPr>
            </a:p>
          </p:txBody>
        </p:sp>
        <p:sp>
          <p:nvSpPr>
            <p:cNvPr id="30" name="文本框 29"/>
            <p:cNvSpPr txBox="1"/>
            <p:nvPr/>
          </p:nvSpPr>
          <p:spPr>
            <a:xfrm>
              <a:off x="3605981" y="5620598"/>
              <a:ext cx="1182043" cy="369332"/>
            </a:xfrm>
            <a:prstGeom prst="rect">
              <a:avLst/>
            </a:prstGeom>
            <a:noFill/>
          </p:spPr>
          <p:txBody>
            <a:bodyPr wrap="square" rtlCol="0">
              <a:spAutoFit/>
            </a:bodyPr>
            <a:lstStyle/>
            <a:p>
              <a:r>
                <a:rPr kumimoji="1" lang="en-US" altLang="zh-CN" smtClean="0"/>
                <a:t>X&gt;=0;</a:t>
              </a:r>
              <a:endParaRPr kumimoji="1" lang="zh-CN" altLang="en-US" dirty="0"/>
            </a:p>
          </p:txBody>
        </p:sp>
      </p:grpSp>
      <p:pic>
        <p:nvPicPr>
          <p:cNvPr id="42" name="图片 41"/>
          <p:cNvPicPr>
            <a:picLocks noChangeAspect="1"/>
          </p:cNvPicPr>
          <p:nvPr/>
        </p:nvPicPr>
        <p:blipFill>
          <a:blip r:embed="rId1" cstate="email">
            <a:extLst>
              <a:ext uri="{28A0092B-C50C-407E-A947-70E740481C1C}">
                <a14:useLocalDpi xmlns:a14="http://schemas.microsoft.com/office/drawing/2010/main" val="0"/>
              </a:ext>
            </a:extLst>
          </a:blip>
          <a:stretch>
            <a:fillRect/>
          </a:stretch>
        </p:blipFill>
        <p:spPr>
          <a:xfrm flipH="1">
            <a:off x="881110" y="5524183"/>
            <a:ext cx="602808" cy="477302"/>
          </a:xfrm>
          <a:prstGeom prst="rect">
            <a:avLst/>
          </a:prstGeom>
        </p:spPr>
      </p:pic>
      <p:pic>
        <p:nvPicPr>
          <p:cNvPr id="46" name="图片 45"/>
          <p:cNvPicPr>
            <a:picLocks noChangeAspect="1"/>
          </p:cNvPicPr>
          <p:nvPr/>
        </p:nvPicPr>
        <p:blipFill>
          <a:blip r:embed="rId1" cstate="email">
            <a:extLst>
              <a:ext uri="{28A0092B-C50C-407E-A947-70E740481C1C}">
                <a14:useLocalDpi xmlns:a14="http://schemas.microsoft.com/office/drawing/2010/main" val="0"/>
              </a:ext>
            </a:extLst>
          </a:blip>
          <a:stretch>
            <a:fillRect/>
          </a:stretch>
        </p:blipFill>
        <p:spPr>
          <a:xfrm flipH="1">
            <a:off x="4779406" y="5541096"/>
            <a:ext cx="602808" cy="477302"/>
          </a:xfrm>
          <a:prstGeom prst="rect">
            <a:avLst/>
          </a:prstGeom>
        </p:spPr>
      </p:pic>
      <p:pic>
        <p:nvPicPr>
          <p:cNvPr id="47" name="图片 46"/>
          <p:cNvPicPr>
            <a:picLocks noChangeAspect="1"/>
          </p:cNvPicPr>
          <p:nvPr/>
        </p:nvPicPr>
        <p:blipFill>
          <a:blip r:embed="rId1" cstate="email">
            <a:extLst>
              <a:ext uri="{28A0092B-C50C-407E-A947-70E740481C1C}">
                <a14:useLocalDpi xmlns:a14="http://schemas.microsoft.com/office/drawing/2010/main" val="0"/>
              </a:ext>
            </a:extLst>
          </a:blip>
          <a:stretch>
            <a:fillRect/>
          </a:stretch>
        </p:blipFill>
        <p:spPr>
          <a:xfrm flipH="1">
            <a:off x="7569512" y="5525475"/>
            <a:ext cx="602808" cy="477302"/>
          </a:xfrm>
          <a:prstGeom prst="rect">
            <a:avLst/>
          </a:prstGeom>
        </p:spPr>
      </p:pic>
      <p:pic>
        <p:nvPicPr>
          <p:cNvPr id="43" name="图片 42"/>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25603" y="5553513"/>
            <a:ext cx="495300" cy="398407"/>
          </a:xfrm>
          <a:prstGeom prst="rect">
            <a:avLst/>
          </a:prstGeom>
        </p:spPr>
      </p:pic>
      <p:pic>
        <p:nvPicPr>
          <p:cNvPr id="49" name="图片 48"/>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595071" y="5553513"/>
            <a:ext cx="495300" cy="398407"/>
          </a:xfrm>
          <a:prstGeom prst="rect">
            <a:avLst/>
          </a:prstGeom>
        </p:spPr>
      </p:pic>
      <p:pic>
        <p:nvPicPr>
          <p:cNvPr id="50" name="图片 49"/>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328542" y="5553513"/>
            <a:ext cx="495300" cy="398407"/>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4.2</a:t>
            </a:r>
            <a:r>
              <a:rPr lang="zh-CN" altLang="en-US" b="1" dirty="0"/>
              <a:t>待检测性质形式化及验证</a:t>
            </a:r>
            <a:endParaRPr lang="zh-CN" altLang="en-US" dirty="0"/>
          </a:p>
        </p:txBody>
      </p:sp>
      <p:sp>
        <p:nvSpPr>
          <p:cNvPr id="4" name="日期占位符 3"/>
          <p:cNvSpPr>
            <a:spLocks noGrp="1"/>
          </p:cNvSpPr>
          <p:nvPr>
            <p:ph type="dt" sz="half" idx="10"/>
          </p:nvPr>
        </p:nvSpPr>
        <p:spPr/>
        <p:txBody>
          <a:bodyPr/>
          <a:lstStyle/>
          <a:p>
            <a:pPr>
              <a:defRPr/>
            </a:pPr>
            <a:fld id="{077F30FB-1D90-1E40-92FD-7816B07D6DDC}"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50AC0454-A414-F04C-824A-79602E160F30}" type="slidenum">
              <a:rPr lang="en-US" altLang="zh-CN" smtClean="0"/>
            </a:fld>
            <a:endParaRPr lang="en-US" altLang="zh-CN"/>
          </a:p>
        </p:txBody>
      </p:sp>
      <p:pic>
        <p:nvPicPr>
          <p:cNvPr id="6" name="内容占位符 5"/>
          <p:cNvPicPr>
            <a:picLocks noGrp="1"/>
          </p:cNvPicPr>
          <p:nvPr>
            <p:ph idx="1"/>
          </p:nvPr>
        </p:nvPicPr>
        <p:blipFill>
          <a:blip r:embed="rId1"/>
          <a:stretch>
            <a:fillRect/>
          </a:stretch>
        </p:blipFill>
        <p:spPr>
          <a:xfrm>
            <a:off x="827584" y="1340768"/>
            <a:ext cx="7258050" cy="3095625"/>
          </a:xfrm>
          <a:prstGeom prst="rect">
            <a:avLst/>
          </a:prstGeom>
        </p:spPr>
      </p:pic>
      <p:sp>
        <p:nvSpPr>
          <p:cNvPr id="7" name="矩形 6"/>
          <p:cNvSpPr/>
          <p:nvPr/>
        </p:nvSpPr>
        <p:spPr>
          <a:xfrm>
            <a:off x="1016425" y="4653136"/>
            <a:ext cx="7441775" cy="1200329"/>
          </a:xfrm>
          <a:prstGeom prst="rect">
            <a:avLst/>
          </a:prstGeom>
        </p:spPr>
        <p:txBody>
          <a:bodyPr wrap="square">
            <a:spAutoFit/>
          </a:bodyPr>
          <a:lstStyle/>
          <a:p>
            <a:pPr algn="l"/>
            <a:r>
              <a:rPr lang="zh-CN" altLang="zh-CN" dirty="0">
                <a:ea typeface="等线" panose="02010600030101010101" charset="-122"/>
                <a:cs typeface="Times New Roman" panose="02020603050405020304" charset="0"/>
              </a:rPr>
              <a:t>上图所示是一个有多个节点的分布式节点，其中</a:t>
            </a:r>
            <a:r>
              <a:rPr lang="en-US" altLang="zh-CN" dirty="0">
                <a:ea typeface="等线" panose="02010600030101010101" charset="-122"/>
                <a:cs typeface="Times New Roman" panose="02020603050405020304" charset="0"/>
              </a:rPr>
              <a:t>Si</a:t>
            </a:r>
            <a:r>
              <a:rPr lang="zh-CN" altLang="zh-CN" dirty="0">
                <a:ea typeface="等线" panose="02010600030101010101" charset="-122"/>
                <a:cs typeface="Times New Roman" panose="02020603050405020304" charset="0"/>
              </a:rPr>
              <a:t>节点是</a:t>
            </a:r>
            <a:r>
              <a:rPr lang="en-US" altLang="zh-CN" dirty="0">
                <a:ea typeface="等线" panose="02010600030101010101" charset="-122"/>
                <a:cs typeface="Times New Roman" panose="02020603050405020304" charset="0"/>
              </a:rPr>
              <a:t>leader</a:t>
            </a:r>
            <a:r>
              <a:rPr lang="zh-CN" altLang="zh-CN" dirty="0">
                <a:ea typeface="等线" panose="02010600030101010101" charset="-122"/>
                <a:cs typeface="Times New Roman" panose="02020603050405020304" charset="0"/>
              </a:rPr>
              <a:t>，此时有两个客户端</a:t>
            </a:r>
            <a:r>
              <a:rPr lang="en-US" altLang="zh-CN" dirty="0">
                <a:ea typeface="等线" panose="02010600030101010101" charset="-122"/>
                <a:cs typeface="Times New Roman" panose="02020603050405020304" charset="0"/>
              </a:rPr>
              <a:t>A</a:t>
            </a:r>
            <a:r>
              <a:rPr lang="zh-CN" altLang="zh-CN" dirty="0">
                <a:ea typeface="等线" panose="02010600030101010101" charset="-122"/>
                <a:cs typeface="Times New Roman" panose="02020603050405020304" charset="0"/>
              </a:rPr>
              <a:t>和</a:t>
            </a:r>
            <a:r>
              <a:rPr lang="en-US" altLang="zh-CN" dirty="0">
                <a:ea typeface="等线" panose="02010600030101010101" charset="-122"/>
                <a:cs typeface="Times New Roman" panose="02020603050405020304" charset="0"/>
              </a:rPr>
              <a:t>B</a:t>
            </a:r>
            <a:r>
              <a:rPr lang="zh-CN" altLang="zh-CN" dirty="0">
                <a:ea typeface="等线" panose="02010600030101010101" charset="-122"/>
                <a:cs typeface="Times New Roman" panose="02020603050405020304" charset="0"/>
              </a:rPr>
              <a:t>要在节点集群上分别建立</a:t>
            </a:r>
            <a:r>
              <a:rPr lang="en-US" altLang="zh-CN" dirty="0">
                <a:ea typeface="等线" panose="02010600030101010101" charset="-122"/>
                <a:cs typeface="Times New Roman" panose="02020603050405020304" charset="0"/>
              </a:rPr>
              <a:t>1</a:t>
            </a:r>
            <a:r>
              <a:rPr lang="zh-CN" altLang="zh-CN" dirty="0">
                <a:ea typeface="等线" panose="02010600030101010101" charset="-122"/>
                <a:cs typeface="Times New Roman" panose="02020603050405020304" charset="0"/>
              </a:rPr>
              <a:t>个文件，</a:t>
            </a:r>
            <a:r>
              <a:rPr lang="en-US" altLang="zh-CN" dirty="0">
                <a:ea typeface="等线" panose="02010600030101010101" charset="-122"/>
                <a:cs typeface="Times New Roman" panose="02020603050405020304" charset="0"/>
              </a:rPr>
              <a:t>arbiter</a:t>
            </a:r>
            <a:r>
              <a:rPr lang="zh-CN" altLang="zh-CN" dirty="0">
                <a:ea typeface="等线" panose="02010600030101010101" charset="-122"/>
                <a:cs typeface="Times New Roman" panose="02020603050405020304" charset="0"/>
              </a:rPr>
              <a:t>是模型检测器用来收集系统当前可执行的操作并阻塞这些操作同时对这些阻塞的操作进行</a:t>
            </a:r>
            <a:r>
              <a:rPr lang="zh-CN" altLang="zh-CN" dirty="0" smtClean="0">
                <a:ea typeface="等线" panose="02010600030101010101" charset="-122"/>
                <a:cs typeface="Times New Roman" panose="02020603050405020304" charset="0"/>
              </a:rPr>
              <a:t>调度</a:t>
            </a:r>
            <a:r>
              <a:rPr lang="zh-CN" altLang="en-US" dirty="0" smtClean="0">
                <a:ea typeface="等线" panose="02010600030101010101" charset="-122"/>
                <a:cs typeface="Times New Roman" panose="02020603050405020304" charset="0"/>
              </a:rPr>
              <a:t>。</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defRPr/>
            </a:pPr>
            <a:fld id="{077F30FB-1D90-1E40-92FD-7816B07D6DDC}"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50AC0454-A414-F04C-824A-79602E160F30}" type="slidenum">
              <a:rPr lang="en-US" altLang="zh-CN" smtClean="0"/>
            </a:fld>
            <a:endParaRPr lang="en-US" altLang="zh-CN"/>
          </a:p>
        </p:txBody>
      </p:sp>
      <p:sp>
        <p:nvSpPr>
          <p:cNvPr id="6" name="矩形 5"/>
          <p:cNvSpPr/>
          <p:nvPr/>
        </p:nvSpPr>
        <p:spPr>
          <a:xfrm>
            <a:off x="1069840" y="1552232"/>
            <a:ext cx="6534472" cy="400110"/>
          </a:xfrm>
          <a:prstGeom prst="rect">
            <a:avLst/>
          </a:prstGeom>
        </p:spPr>
        <p:txBody>
          <a:bodyPr wrap="square">
            <a:spAutoFit/>
          </a:bodyPr>
          <a:lstStyle/>
          <a:p>
            <a:pPr indent="266700" algn="just">
              <a:spcAft>
                <a:spcPts val="0"/>
              </a:spcAft>
            </a:pPr>
            <a:r>
              <a:rPr lang="zh-CN" altLang="zh-CN" sz="2000" kern="100" dirty="0">
                <a:latin typeface="等线" panose="02010600030101010101" charset="-122"/>
                <a:ea typeface="等线" panose="02010600030101010101" charset="-122"/>
                <a:cs typeface="Times New Roman" panose="02020603050405020304" charset="0"/>
              </a:rPr>
              <a:t>所以对上述进行模型检测可以得出</a:t>
            </a:r>
            <a:r>
              <a:rPr lang="en-US" altLang="zh-CN" sz="2000" kern="100" dirty="0">
                <a:latin typeface="等线" panose="02010600030101010101" charset="-122"/>
                <a:ea typeface="等线" panose="02010600030101010101" charset="-122"/>
                <a:cs typeface="Times New Roman" panose="02020603050405020304" charset="0"/>
              </a:rPr>
              <a:t>6</a:t>
            </a:r>
            <a:r>
              <a:rPr lang="zh-CN" altLang="zh-CN" sz="2000" kern="100" dirty="0">
                <a:latin typeface="等线" panose="02010600030101010101" charset="-122"/>
                <a:ea typeface="等线" panose="02010600030101010101" charset="-122"/>
                <a:cs typeface="Times New Roman" panose="02020603050405020304" charset="0"/>
              </a:rPr>
              <a:t>条不同的操作序列：</a:t>
            </a:r>
            <a:endParaRPr lang="zh-CN" altLang="zh-CN" sz="2000" kern="100" dirty="0">
              <a:effectLst/>
              <a:latin typeface="等线" panose="02010600030101010101" charset="-122"/>
              <a:ea typeface="等线" panose="02010600030101010101" charset="-122"/>
              <a:cs typeface="Times New Roman" panose="02020603050405020304" charset="0"/>
            </a:endParaRPr>
          </a:p>
        </p:txBody>
      </p:sp>
      <p:sp>
        <p:nvSpPr>
          <p:cNvPr id="7" name="标题 1"/>
          <p:cNvSpPr>
            <a:spLocks noGrp="1"/>
          </p:cNvSpPr>
          <p:nvPr>
            <p:ph type="title"/>
          </p:nvPr>
        </p:nvSpPr>
        <p:spPr>
          <a:xfrm>
            <a:off x="1042988" y="404813"/>
            <a:ext cx="5616575" cy="576262"/>
          </a:xfrm>
        </p:spPr>
        <p:txBody>
          <a:bodyPr/>
          <a:lstStyle/>
          <a:p>
            <a:r>
              <a:rPr lang="en-US" altLang="zh-CN" b="1" dirty="0"/>
              <a:t>4.2</a:t>
            </a:r>
            <a:r>
              <a:rPr lang="zh-CN" altLang="en-US" b="1" dirty="0"/>
              <a:t>待检测性质形式化及验证</a:t>
            </a:r>
            <a:endParaRPr lang="zh-CN" altLang="en-US" dirty="0"/>
          </a:p>
        </p:txBody>
      </p:sp>
      <p:pic>
        <p:nvPicPr>
          <p:cNvPr id="8" name="图片 7"/>
          <p:cNvPicPr/>
          <p:nvPr/>
        </p:nvPicPr>
        <p:blipFill>
          <a:blip r:embed="rId1"/>
          <a:stretch>
            <a:fillRect/>
          </a:stretch>
        </p:blipFill>
        <p:spPr>
          <a:xfrm>
            <a:off x="1873330" y="2240778"/>
            <a:ext cx="5274310" cy="2361565"/>
          </a:xfrm>
          <a:prstGeom prst="rect">
            <a:avLst/>
          </a:prstGeom>
        </p:spPr>
      </p:pic>
      <p:sp>
        <p:nvSpPr>
          <p:cNvPr id="9" name="矩形 8"/>
          <p:cNvSpPr/>
          <p:nvPr/>
        </p:nvSpPr>
        <p:spPr>
          <a:xfrm>
            <a:off x="1275733" y="4966266"/>
            <a:ext cx="6679133" cy="369332"/>
          </a:xfrm>
          <a:prstGeom prst="rect">
            <a:avLst/>
          </a:prstGeom>
        </p:spPr>
        <p:txBody>
          <a:bodyPr wrap="square">
            <a:spAutoFit/>
          </a:bodyPr>
          <a:lstStyle/>
          <a:p>
            <a:pPr indent="266700" algn="just">
              <a:spcAft>
                <a:spcPts val="0"/>
              </a:spcAft>
            </a:pPr>
            <a:r>
              <a:rPr lang="zh-CN" altLang="zh-CN" kern="100" dirty="0">
                <a:latin typeface="等线" panose="02010600030101010101" charset="-122"/>
                <a:ea typeface="等线" panose="02010600030101010101" charset="-122"/>
                <a:cs typeface="Times New Roman" panose="02020603050405020304" charset="0"/>
              </a:rPr>
              <a:t>这</a:t>
            </a:r>
            <a:r>
              <a:rPr lang="en-US" altLang="zh-CN" kern="100" dirty="0">
                <a:latin typeface="等线" panose="02010600030101010101" charset="-122"/>
                <a:ea typeface="等线" panose="02010600030101010101" charset="-122"/>
                <a:cs typeface="Times New Roman" panose="02020603050405020304" charset="0"/>
              </a:rPr>
              <a:t>6</a:t>
            </a:r>
            <a:r>
              <a:rPr lang="zh-CN" altLang="zh-CN" kern="100" dirty="0">
                <a:latin typeface="等线" panose="02010600030101010101" charset="-122"/>
                <a:ea typeface="等线" panose="02010600030101010101" charset="-122"/>
                <a:cs typeface="Times New Roman" panose="02020603050405020304" charset="0"/>
              </a:rPr>
              <a:t>条执行序列就可以遍历上面场景的所有可能的系统状态。</a:t>
            </a:r>
            <a:endParaRPr lang="zh-CN" altLang="zh-CN" kern="100" dirty="0">
              <a:effectLst/>
              <a:latin typeface="等线" panose="02010600030101010101" charset="-122"/>
              <a:ea typeface="等线" panose="02010600030101010101" charset="-122"/>
              <a:cs typeface="Times New Roman" panose="020206030504050203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3" name="内容占位符 2"/>
          <p:cNvSpPr>
            <a:spLocks noGrp="1"/>
          </p:cNvSpPr>
          <p:nvPr>
            <p:ph idx="1"/>
          </p:nvPr>
        </p:nvSpPr>
        <p:spPr>
          <a:xfrm>
            <a:off x="107504" y="1382790"/>
            <a:ext cx="5688632" cy="744513"/>
          </a:xfrm>
        </p:spPr>
        <p:txBody>
          <a:bodyPr/>
          <a:lstStyle/>
          <a:p>
            <a:r>
              <a:rPr lang="zh-CN" altLang="en-US" dirty="0"/>
              <a:t>状态空间约减</a:t>
            </a:r>
            <a:endParaRPr lang="en-US" altLang="zh-CN" dirty="0"/>
          </a:p>
        </p:txBody>
      </p:sp>
      <p:sp>
        <p:nvSpPr>
          <p:cNvPr id="16" name="Title 1"/>
          <p:cNvSpPr>
            <a:spLocks noGrp="1"/>
          </p:cNvSpPr>
          <p:nvPr>
            <p:ph type="title"/>
          </p:nvPr>
        </p:nvSpPr>
        <p:spPr>
          <a:xfrm>
            <a:off x="1115616" y="476672"/>
            <a:ext cx="6769100" cy="576262"/>
          </a:xfrm>
        </p:spPr>
        <p:txBody>
          <a:bodyPr/>
          <a:lstStyle/>
          <a:p>
            <a:r>
              <a:rPr lang="en-US" altLang="zh-CN" b="1" dirty="0" smtClean="0"/>
              <a:t>4.3</a:t>
            </a:r>
            <a:r>
              <a:rPr lang="zh-CN" altLang="en-US" b="1" dirty="0" smtClean="0"/>
              <a:t> 状态空间约减</a:t>
            </a:r>
            <a:endParaRPr lang="en-US" altLang="zh-CN" b="1" dirty="0"/>
          </a:p>
        </p:txBody>
      </p:sp>
      <p:sp>
        <p:nvSpPr>
          <p:cNvPr id="6" name="文本框 5"/>
          <p:cNvSpPr txBox="1"/>
          <p:nvPr/>
        </p:nvSpPr>
        <p:spPr>
          <a:xfrm>
            <a:off x="755576" y="2034487"/>
            <a:ext cx="6974433" cy="923330"/>
          </a:xfrm>
          <a:prstGeom prst="rect">
            <a:avLst/>
          </a:prstGeom>
          <a:noFill/>
        </p:spPr>
        <p:txBody>
          <a:bodyPr wrap="square" rtlCol="0">
            <a:spAutoFit/>
          </a:bodyPr>
          <a:lstStyle/>
          <a:p>
            <a:pPr algn="l"/>
            <a:r>
              <a:rPr kumimoji="1" lang="zh-CN" altLang="en-US" dirty="0"/>
              <a:t> </a:t>
            </a:r>
            <a:r>
              <a:rPr kumimoji="1" lang="zh-CN" altLang="en-US" dirty="0" smtClean="0"/>
              <a:t>       但是当节点数目以及发生的事件增加，需要探索的交织数目会呈指数级增加，从而造成空间爆炸。所以采用并发事件交织模型需要进行一些冗余执行序列的约减。</a:t>
            </a:r>
            <a:endParaRPr kumimoji="1" lang="zh-CN" altLang="en-US" dirty="0"/>
          </a:p>
        </p:txBody>
      </p:sp>
      <p:sp>
        <p:nvSpPr>
          <p:cNvPr id="14" name="内容占位符 2"/>
          <p:cNvSpPr txBox="1"/>
          <p:nvPr/>
        </p:nvSpPr>
        <p:spPr bwMode="auto">
          <a:xfrm>
            <a:off x="3347862" y="3060361"/>
            <a:ext cx="3096345" cy="953508"/>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en-US" altLang="zh-CN" sz="1600" kern="0" dirty="0" smtClean="0">
                <a:solidFill>
                  <a:schemeClr val="accent1">
                    <a:lumMod val="50000"/>
                  </a:schemeClr>
                </a:solidFill>
              </a:rPr>
              <a:t>DPOR</a:t>
            </a:r>
            <a:r>
              <a:rPr lang="zh-CN" altLang="en-US" sz="1600" kern="0" dirty="0" smtClean="0">
                <a:solidFill>
                  <a:schemeClr val="accent1">
                    <a:lumMod val="50000"/>
                  </a:schemeClr>
                </a:solidFill>
              </a:rPr>
              <a:t>（</a:t>
            </a:r>
            <a:r>
              <a:rPr lang="zh-CN" altLang="zh-CN" sz="1600" dirty="0"/>
              <a:t>偏序约减</a:t>
            </a:r>
            <a:r>
              <a:rPr lang="zh-CN" altLang="en-US" sz="1600" kern="0" dirty="0" smtClean="0">
                <a:solidFill>
                  <a:schemeClr val="accent1">
                    <a:lumMod val="50000"/>
                  </a:schemeClr>
                </a:solidFill>
              </a:rPr>
              <a:t>）</a:t>
            </a:r>
            <a:endParaRPr lang="zh-CN" altLang="en-US" sz="1600" kern="0" dirty="0" smtClean="0">
              <a:solidFill>
                <a:schemeClr val="accent1">
                  <a:lumMod val="50000"/>
                </a:schemeClr>
              </a:solidFill>
            </a:endParaRPr>
          </a:p>
          <a:p>
            <a:r>
              <a:rPr lang="en-US" altLang="zh-CN" sz="1600" kern="0" dirty="0" err="1" smtClean="0">
                <a:solidFill>
                  <a:schemeClr val="accent1">
                    <a:lumMod val="50000"/>
                  </a:schemeClr>
                </a:solidFill>
              </a:rPr>
              <a:t>Dbug</a:t>
            </a:r>
            <a:r>
              <a:rPr lang="zh-CN" altLang="en-US" sz="1600" kern="0" dirty="0" smtClean="0">
                <a:solidFill>
                  <a:schemeClr val="accent1">
                    <a:lumMod val="50000"/>
                  </a:schemeClr>
                </a:solidFill>
              </a:rPr>
              <a:t>（</a:t>
            </a:r>
            <a:r>
              <a:rPr lang="zh-CN" altLang="zh-CN" sz="1600" dirty="0"/>
              <a:t>等价类划分</a:t>
            </a:r>
            <a:r>
              <a:rPr lang="zh-CN" altLang="en-US" sz="1600" kern="0" dirty="0" smtClean="0">
                <a:solidFill>
                  <a:schemeClr val="accent1">
                    <a:lumMod val="50000"/>
                  </a:schemeClr>
                </a:solidFill>
              </a:rPr>
              <a:t>）</a:t>
            </a:r>
            <a:endParaRPr lang="en-US" altLang="zh-CN" sz="1600" kern="0" dirty="0" smtClean="0">
              <a:solidFill>
                <a:schemeClr val="accent1">
                  <a:lumMod val="50000"/>
                </a:schemeClr>
              </a:solidFill>
            </a:endParaRPr>
          </a:p>
          <a:p>
            <a:r>
              <a:rPr lang="en-US" altLang="zh-CN" sz="1600" kern="0" dirty="0" err="1" smtClean="0">
                <a:solidFill>
                  <a:schemeClr val="accent1">
                    <a:lumMod val="50000"/>
                  </a:schemeClr>
                </a:solidFill>
              </a:rPr>
              <a:t>Samc</a:t>
            </a:r>
            <a:endParaRPr lang="en-US" altLang="zh-CN" sz="1600" kern="0" dirty="0" smtClean="0">
              <a:solidFill>
                <a:schemeClr val="accent1">
                  <a:lumMod val="50000"/>
                </a:schemeClr>
              </a:solidFill>
            </a:endParaRPr>
          </a:p>
        </p:txBody>
      </p:sp>
      <p:sp>
        <p:nvSpPr>
          <p:cNvPr id="11" name="内容占位符 2"/>
          <p:cNvSpPr txBox="1"/>
          <p:nvPr/>
        </p:nvSpPr>
        <p:spPr bwMode="auto">
          <a:xfrm>
            <a:off x="905096" y="4759669"/>
            <a:ext cx="8208913" cy="663446"/>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zh-CN" altLang="zh-CN" sz="1600" kern="0" dirty="0">
                <a:solidFill>
                  <a:srgbClr val="000000"/>
                </a:solidFill>
                <a:ea typeface="等线" panose="02010600030101010101" charset="-122"/>
                <a:cs typeface="MS Mincho" charset="-128"/>
              </a:rPr>
              <a:t>两个独立的</a:t>
            </a:r>
            <a:r>
              <a:rPr lang="zh-CN" altLang="zh-CN" sz="1600" kern="0" dirty="0" smtClean="0">
                <a:solidFill>
                  <a:srgbClr val="000000"/>
                </a:solidFill>
                <a:ea typeface="等线" panose="02010600030101010101" charset="-122"/>
                <a:cs typeface="MS Mincho" charset="-128"/>
              </a:rPr>
              <a:t>事件不管以什么</a:t>
            </a:r>
            <a:r>
              <a:rPr lang="zh-CN" altLang="zh-CN" sz="1600" kern="0" dirty="0" smtClean="0">
                <a:solidFill>
                  <a:srgbClr val="000000"/>
                </a:solidFill>
                <a:ea typeface="等线" panose="02010600030101010101" charset="-122"/>
                <a:cs typeface="宋体" panose="02010600030101010101" pitchFamily="2" charset="-122"/>
              </a:rPr>
              <a:t>顺</a:t>
            </a:r>
            <a:r>
              <a:rPr lang="zh-CN" altLang="zh-CN" sz="1600" kern="0" dirty="0" smtClean="0">
                <a:solidFill>
                  <a:srgbClr val="000000"/>
                </a:solidFill>
                <a:ea typeface="等线" panose="02010600030101010101" charset="-122"/>
                <a:cs typeface="MS Mincho" charset="-128"/>
              </a:rPr>
              <a:t>序来</a:t>
            </a:r>
            <a:r>
              <a:rPr lang="zh-CN" altLang="zh-CN" sz="1600" kern="0" dirty="0" smtClean="0">
                <a:solidFill>
                  <a:srgbClr val="000000"/>
                </a:solidFill>
                <a:ea typeface="等线" panose="02010600030101010101" charset="-122"/>
                <a:cs typeface="宋体" panose="02010600030101010101" pitchFamily="2" charset="-122"/>
              </a:rPr>
              <a:t>执</a:t>
            </a:r>
            <a:r>
              <a:rPr lang="zh-CN" altLang="zh-CN" sz="1600" kern="0" dirty="0" smtClean="0">
                <a:solidFill>
                  <a:srgbClr val="000000"/>
                </a:solidFill>
                <a:ea typeface="等线" panose="02010600030101010101" charset="-122"/>
                <a:cs typeface="MS Mincho" charset="-128"/>
              </a:rPr>
              <a:t>行</a:t>
            </a:r>
            <a:r>
              <a:rPr lang="zh-CN" altLang="zh-CN" sz="1600" kern="0" dirty="0" smtClean="0">
                <a:solidFill>
                  <a:srgbClr val="000000"/>
                </a:solidFill>
                <a:ea typeface="等线" panose="02010600030101010101" charset="-122"/>
                <a:cs typeface="宋体" panose="02010600030101010101" pitchFamily="2" charset="-122"/>
              </a:rPr>
              <a:t>这</a:t>
            </a:r>
            <a:r>
              <a:rPr lang="zh-CN" altLang="zh-CN" sz="1600" kern="0" dirty="0" smtClean="0">
                <a:solidFill>
                  <a:srgbClr val="000000"/>
                </a:solidFill>
                <a:ea typeface="等线" panose="02010600030101010101" charset="-122"/>
                <a:cs typeface="MS Mincho" charset="-128"/>
              </a:rPr>
              <a:t>两个事件，</a:t>
            </a:r>
            <a:r>
              <a:rPr lang="zh-CN" altLang="zh-CN" sz="1600" kern="0" dirty="0">
                <a:solidFill>
                  <a:srgbClr val="000000"/>
                </a:solidFill>
                <a:ea typeface="等线" panose="02010600030101010101" charset="-122"/>
                <a:cs typeface="MS Mincho" charset="-128"/>
              </a:rPr>
              <a:t>最后得到</a:t>
            </a:r>
            <a:r>
              <a:rPr lang="zh-CN" altLang="zh-CN" sz="1600" kern="0" dirty="0" smtClean="0">
                <a:solidFill>
                  <a:srgbClr val="000000"/>
                </a:solidFill>
                <a:ea typeface="等线" panose="02010600030101010101" charset="-122"/>
                <a:cs typeface="MS Mincho" charset="-128"/>
              </a:rPr>
              <a:t>的</a:t>
            </a:r>
            <a:r>
              <a:rPr lang="zh-CN" altLang="en-US" sz="1600" kern="0" dirty="0" smtClean="0">
                <a:solidFill>
                  <a:srgbClr val="000000"/>
                </a:solidFill>
                <a:ea typeface="等线" panose="02010600030101010101" charset="-122"/>
                <a:cs typeface="MS Mincho" charset="-128"/>
              </a:rPr>
              <a:t>系统</a:t>
            </a:r>
            <a:r>
              <a:rPr lang="zh-CN" altLang="zh-CN" sz="1600" kern="0" dirty="0" smtClean="0">
                <a:solidFill>
                  <a:srgbClr val="000000"/>
                </a:solidFill>
                <a:ea typeface="等线" panose="02010600030101010101" charset="-122"/>
                <a:cs typeface="MS Mincho" charset="-128"/>
              </a:rPr>
              <a:t>是</a:t>
            </a:r>
            <a:r>
              <a:rPr lang="zh-CN" altLang="zh-CN" sz="1600" kern="0" dirty="0">
                <a:solidFill>
                  <a:srgbClr val="000000"/>
                </a:solidFill>
                <a:ea typeface="等线" panose="02010600030101010101" charset="-122"/>
                <a:cs typeface="MS Mincho" charset="-128"/>
              </a:rPr>
              <a:t>一致的。</a:t>
            </a:r>
            <a:endParaRPr lang="en-US" altLang="zh-CN" sz="1600" kern="0" dirty="0">
              <a:solidFill>
                <a:srgbClr val="000000"/>
              </a:solidFill>
              <a:ea typeface="等线" panose="02010600030101010101" charset="-122"/>
              <a:cs typeface="MS Mincho" charset="-128"/>
            </a:endParaRPr>
          </a:p>
          <a:p>
            <a:r>
              <a:rPr lang="zh-CN" altLang="en-US" sz="1600" dirty="0">
                <a:solidFill>
                  <a:srgbClr val="FF0000"/>
                </a:solidFill>
              </a:rPr>
              <a:t>交换两个相邻的独立事件，将会得到一个冗余的执行序列。</a:t>
            </a:r>
            <a:r>
              <a:rPr lang="zh-CN" altLang="zh-CN" sz="1600" dirty="0"/>
              <a:t> </a:t>
            </a:r>
            <a:endParaRPr lang="en-US" altLang="zh-CN" sz="1600" kern="0" dirty="0" smtClean="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 calcmode="lin" valueType="num">
                                      <p:cBhvr additive="base">
                                        <p:cTn id="11"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anim calcmode="lin" valueType="num">
                                      <p:cBhvr additive="base">
                                        <p:cTn id="17"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4">
                                            <p:txEl>
                                              <p:pRg st="2" end="2"/>
                                            </p:txEl>
                                          </p:spTgt>
                                        </p:tgtEl>
                                        <p:attrNameLst>
                                          <p:attrName>style.visibility</p:attrName>
                                        </p:attrNameLst>
                                      </p:cBhvr>
                                      <p:to>
                                        <p:strVal val="visible"/>
                                      </p:to>
                                    </p:set>
                                    <p:anim calcmode="lin" valueType="num">
                                      <p:cBhvr additive="base">
                                        <p:cTn id="23"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animEffect transition="in" filter="fade">
                                      <p:cBhvr>
                                        <p:cTn id="29" dur="1000"/>
                                        <p:tgtEl>
                                          <p:spTgt spid="11">
                                            <p:txEl>
                                              <p:pRg st="0" end="0"/>
                                            </p:txEl>
                                          </p:spTgt>
                                        </p:tgtEl>
                                      </p:cBhvr>
                                    </p:animEffect>
                                    <p:anim calcmode="lin" valueType="num">
                                      <p:cBhvr>
                                        <p:cTn id="30"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1">
                                            <p:txEl>
                                              <p:pRg st="1" end="1"/>
                                            </p:txEl>
                                          </p:spTgt>
                                        </p:tgtEl>
                                        <p:attrNameLst>
                                          <p:attrName>style.visibility</p:attrName>
                                        </p:attrNameLst>
                                      </p:cBhvr>
                                      <p:to>
                                        <p:strVal val="visible"/>
                                      </p:to>
                                    </p:set>
                                    <p:anim calcmode="lin" valueType="num">
                                      <p:cBhvr additive="base">
                                        <p:cTn id="36"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8175" y="404664"/>
            <a:ext cx="5616575" cy="576262"/>
          </a:xfrm>
        </p:spPr>
        <p:txBody>
          <a:bodyPr/>
          <a:lstStyle/>
          <a:p>
            <a:r>
              <a:rPr lang="en-US" altLang="zh-CN" b="1" dirty="0" smtClean="0"/>
              <a:t>6`</a:t>
            </a:r>
            <a:r>
              <a:rPr lang="zh-CN" altLang="en-US" b="1" dirty="0" smtClean="0"/>
              <a:t>、总结</a:t>
            </a:r>
            <a:endParaRPr lang="zh-CN" altLang="en-US" b="1" dirty="0"/>
          </a:p>
        </p:txBody>
      </p:sp>
      <p:sp>
        <p:nvSpPr>
          <p:cNvPr id="3" name="内容占位符 2"/>
          <p:cNvSpPr>
            <a:spLocks noGrp="1"/>
          </p:cNvSpPr>
          <p:nvPr>
            <p:ph idx="1"/>
          </p:nvPr>
        </p:nvSpPr>
        <p:spPr>
          <a:xfrm>
            <a:off x="395536" y="1772816"/>
            <a:ext cx="8173416" cy="1080120"/>
          </a:xfrm>
        </p:spPr>
        <p:txBody>
          <a:bodyPr/>
          <a:lstStyle/>
          <a:p>
            <a:pPr>
              <a:buFont typeface="Wingdings" panose="05000000000000000000" pitchFamily="2" charset="2"/>
              <a:buChar char="n"/>
            </a:pPr>
            <a:r>
              <a:rPr lang="zh-CN" altLang="zh-CN" dirty="0"/>
              <a:t>使用模型检测可以在系统开发的各个阶段使用，保障每个阶段的可靠性</a:t>
            </a:r>
            <a:r>
              <a:rPr lang="zh-CN" altLang="zh-CN" dirty="0" smtClean="0"/>
              <a:t>。</a:t>
            </a:r>
            <a:endParaRPr lang="en-US" altLang="zh-CN" dirty="0" smtClean="0"/>
          </a:p>
          <a:p>
            <a:pPr>
              <a:buFont typeface="Wingdings" panose="05000000000000000000" pitchFamily="2" charset="2"/>
              <a:buChar char="n"/>
            </a:pPr>
            <a:r>
              <a:rPr lang="zh-CN" altLang="zh-CN" dirty="0" smtClean="0"/>
              <a:t>同时</a:t>
            </a:r>
            <a:r>
              <a:rPr lang="zh-CN" altLang="zh-CN" dirty="0"/>
              <a:t>，使用模型检测能够在一定成本下来遍历系统状态，可以系统地证明某个目标系统一定不存在某种类型的</a:t>
            </a:r>
            <a:r>
              <a:rPr lang="en-US" altLang="zh-CN" dirty="0"/>
              <a:t>bug</a:t>
            </a:r>
            <a:r>
              <a:rPr lang="zh-CN" altLang="zh-CN" dirty="0"/>
              <a:t>，解决了测试只能发现</a:t>
            </a:r>
            <a:r>
              <a:rPr lang="en-US" altLang="zh-CN" dirty="0"/>
              <a:t>bug</a:t>
            </a:r>
            <a:r>
              <a:rPr lang="zh-CN" altLang="zh-CN" dirty="0"/>
              <a:t>而不能说明某种</a:t>
            </a:r>
            <a:r>
              <a:rPr lang="en-US" altLang="zh-CN" dirty="0"/>
              <a:t>bug</a:t>
            </a:r>
            <a:r>
              <a:rPr lang="zh-CN" altLang="zh-CN" dirty="0"/>
              <a:t>不存在这一问题，从而增加开发人员对自己系统的</a:t>
            </a:r>
            <a:r>
              <a:rPr lang="zh-CN" altLang="zh-CN" dirty="0" smtClean="0"/>
              <a:t>信心</a:t>
            </a:r>
            <a:endParaRPr lang="en-US" altLang="zh-CN" dirty="0" smtClean="0"/>
          </a:p>
          <a:p>
            <a:pPr>
              <a:buFont typeface="Wingdings" panose="05000000000000000000" pitchFamily="2" charset="2"/>
              <a:buChar char="n"/>
            </a:pPr>
            <a:r>
              <a:rPr lang="zh-CN" altLang="en-US" dirty="0" smtClean="0"/>
              <a:t>目前模型检测已经广泛地应用在软硬件系统中</a:t>
            </a:r>
            <a:endParaRPr lang="en-US" altLang="zh-CN" dirty="0" smtClean="0"/>
          </a:p>
          <a:p>
            <a:pPr>
              <a:buFont typeface="Wingdings" panose="05000000000000000000" pitchFamily="2" charset="2"/>
              <a:buChar char="n"/>
            </a:pPr>
            <a:endParaRPr lang="en-US" altLang="zh-CN" dirty="0" smtClean="0"/>
          </a:p>
        </p:txBody>
      </p:sp>
      <p:sp>
        <p:nvSpPr>
          <p:cNvPr id="4" name="日期占位符 3"/>
          <p:cNvSpPr>
            <a:spLocks noGrp="1"/>
          </p:cNvSpPr>
          <p:nvPr>
            <p:ph type="dt" sz="half" idx="10"/>
          </p:nvPr>
        </p:nvSpPr>
        <p:spPr/>
        <p:txBody>
          <a:bodyPr/>
          <a:lstStyle/>
          <a:p>
            <a:pPr>
              <a:defRPr/>
            </a:pPr>
            <a:fld id="{077F30FB-1D90-1E40-92FD-7816B07D6DDC}" type="datetime1">
              <a:rPr lang="zh-CN" altLang="en-US" smtClean="0"/>
            </a:fld>
            <a:endParaRPr lang="en-US" altLang="zh-CN"/>
          </a:p>
        </p:txBody>
      </p:sp>
      <p:sp>
        <p:nvSpPr>
          <p:cNvPr id="5" name="幻灯片编号占位符 4"/>
          <p:cNvSpPr>
            <a:spLocks noGrp="1"/>
          </p:cNvSpPr>
          <p:nvPr>
            <p:ph type="sldNum" sz="quarter" idx="12"/>
          </p:nvPr>
        </p:nvSpPr>
        <p:spPr/>
        <p:txBody>
          <a:bodyPr/>
          <a:lstStyle/>
          <a:p>
            <a:pPr>
              <a:defRPr/>
            </a:pPr>
            <a:fld id="{50AC0454-A414-F04C-824A-79602E160F30}" type="slidenum">
              <a:rPr lang="en-US" altLang="zh-CN" smtClean="0"/>
            </a:fld>
            <a:endParaRPr lang="en-US" altLang="zh-CN"/>
          </a:p>
        </p:txBody>
      </p:sp>
      <p:sp>
        <p:nvSpPr>
          <p:cNvPr id="6" name="文本框 5"/>
          <p:cNvSpPr txBox="1"/>
          <p:nvPr/>
        </p:nvSpPr>
        <p:spPr>
          <a:xfrm>
            <a:off x="-183232" y="1268760"/>
            <a:ext cx="2088232" cy="584775"/>
          </a:xfrm>
          <a:prstGeom prst="rect">
            <a:avLst/>
          </a:prstGeom>
          <a:noFill/>
        </p:spPr>
        <p:txBody>
          <a:bodyPr wrap="square" rtlCol="0">
            <a:spAutoFit/>
          </a:bodyPr>
          <a:lstStyle/>
          <a:p>
            <a:r>
              <a:rPr lang="zh-CN" altLang="en-US" sz="3200" dirty="0" smtClean="0"/>
              <a:t>优点：</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8175" y="404664"/>
            <a:ext cx="5616575" cy="576262"/>
          </a:xfrm>
        </p:spPr>
        <p:txBody>
          <a:bodyPr/>
          <a:lstStyle/>
          <a:p>
            <a:r>
              <a:rPr lang="en-US" altLang="zh-CN" b="1" dirty="0" smtClean="0"/>
              <a:t>6</a:t>
            </a:r>
            <a:r>
              <a:rPr lang="zh-CN" altLang="en-US" b="1" dirty="0" smtClean="0"/>
              <a:t>、总结</a:t>
            </a:r>
            <a:endParaRPr lang="zh-CN" altLang="en-US" b="1" dirty="0"/>
          </a:p>
        </p:txBody>
      </p:sp>
      <p:sp>
        <p:nvSpPr>
          <p:cNvPr id="3" name="内容占位符 2"/>
          <p:cNvSpPr>
            <a:spLocks noGrp="1"/>
          </p:cNvSpPr>
          <p:nvPr>
            <p:ph idx="1"/>
          </p:nvPr>
        </p:nvSpPr>
        <p:spPr>
          <a:xfrm>
            <a:off x="467544" y="1853995"/>
            <a:ext cx="8173416" cy="1080120"/>
          </a:xfrm>
        </p:spPr>
        <p:txBody>
          <a:bodyPr/>
          <a:lstStyle/>
          <a:p>
            <a:pPr>
              <a:buFont typeface="Wingdings" panose="05000000000000000000" pitchFamily="2" charset="2"/>
              <a:buChar char="n"/>
            </a:pPr>
            <a:r>
              <a:rPr lang="zh-CN" altLang="zh-CN" dirty="0"/>
              <a:t>需要对模型检测所用到理论有长时间的深入研究，而且实现一个模型检测器的开发成本高，理论要求高</a:t>
            </a:r>
            <a:r>
              <a:rPr lang="zh-CN" altLang="zh-CN" dirty="0" smtClean="0"/>
              <a:t>。</a:t>
            </a:r>
            <a:endParaRPr lang="en-US" altLang="zh-CN" dirty="0" smtClean="0"/>
          </a:p>
          <a:p>
            <a:pPr>
              <a:buFont typeface="Wingdings" panose="05000000000000000000" pitchFamily="2" charset="2"/>
              <a:buChar char="n"/>
            </a:pPr>
            <a:r>
              <a:rPr lang="zh-CN" altLang="zh-CN" dirty="0" smtClean="0"/>
              <a:t>对于</a:t>
            </a:r>
            <a:r>
              <a:rPr lang="zh-CN" altLang="zh-CN" dirty="0"/>
              <a:t>不同的目标系统目前不存在一个很好的通用的模型检测工具，所以模型检测器的重用性低，每当更换目标系统也需要对模型检测器进行相应的改变。</a:t>
            </a:r>
            <a:endParaRPr lang="en-US" altLang="zh-CN" dirty="0" smtClean="0"/>
          </a:p>
        </p:txBody>
      </p:sp>
      <p:sp>
        <p:nvSpPr>
          <p:cNvPr id="4" name="日期占位符 3"/>
          <p:cNvSpPr>
            <a:spLocks noGrp="1"/>
          </p:cNvSpPr>
          <p:nvPr>
            <p:ph type="dt" sz="half" idx="10"/>
          </p:nvPr>
        </p:nvSpPr>
        <p:spPr/>
        <p:txBody>
          <a:bodyPr/>
          <a:lstStyle/>
          <a:p>
            <a:pPr>
              <a:defRPr/>
            </a:pPr>
            <a:fld id="{077F30FB-1D90-1E40-92FD-7816B07D6DDC}" type="datetime1">
              <a:rPr lang="zh-CN" altLang="en-US" smtClean="0"/>
            </a:fld>
            <a:endParaRPr lang="en-US" altLang="zh-CN"/>
          </a:p>
        </p:txBody>
      </p:sp>
      <p:sp>
        <p:nvSpPr>
          <p:cNvPr id="5" name="幻灯片编号占位符 4"/>
          <p:cNvSpPr>
            <a:spLocks noGrp="1"/>
          </p:cNvSpPr>
          <p:nvPr>
            <p:ph type="sldNum" sz="quarter" idx="12"/>
          </p:nvPr>
        </p:nvSpPr>
        <p:spPr/>
        <p:txBody>
          <a:bodyPr/>
          <a:lstStyle/>
          <a:p>
            <a:pPr>
              <a:defRPr/>
            </a:pPr>
            <a:fld id="{50AC0454-A414-F04C-824A-79602E160F30}" type="slidenum">
              <a:rPr lang="en-US" altLang="zh-CN" smtClean="0"/>
            </a:fld>
            <a:endParaRPr lang="en-US" altLang="zh-CN"/>
          </a:p>
        </p:txBody>
      </p:sp>
      <p:sp>
        <p:nvSpPr>
          <p:cNvPr id="6" name="文本框 5"/>
          <p:cNvSpPr txBox="1"/>
          <p:nvPr/>
        </p:nvSpPr>
        <p:spPr>
          <a:xfrm>
            <a:off x="-183232" y="1268760"/>
            <a:ext cx="2088232" cy="584775"/>
          </a:xfrm>
          <a:prstGeom prst="rect">
            <a:avLst/>
          </a:prstGeom>
          <a:noFill/>
        </p:spPr>
        <p:txBody>
          <a:bodyPr wrap="square" rtlCol="0">
            <a:spAutoFit/>
          </a:bodyPr>
          <a:lstStyle/>
          <a:p>
            <a:r>
              <a:rPr lang="zh-CN" altLang="en-US" sz="3200" dirty="0" smtClean="0"/>
              <a:t>缺点：</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F5D7421-CA39-E64A-91AB-6492D2A707A8}"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20484"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A94E608-3FDE-674B-917A-EA5CF7787F4D}"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2" name="标题 1"/>
          <p:cNvSpPr>
            <a:spLocks noGrp="1"/>
          </p:cNvSpPr>
          <p:nvPr>
            <p:ph type="title"/>
          </p:nvPr>
        </p:nvSpPr>
        <p:spPr>
          <a:xfrm>
            <a:off x="2915816" y="3212976"/>
            <a:ext cx="2880320" cy="576262"/>
          </a:xfrm>
        </p:spPr>
        <p:txBody>
          <a:bodyPr/>
          <a:lstStyle/>
          <a:p>
            <a:r>
              <a:rPr kumimoji="1" lang="en-US" altLang="zh-CN" sz="3600" dirty="0" smtClean="0">
                <a:latin typeface="STXingkai" charset="-122"/>
                <a:ea typeface="STXingkai" charset="-122"/>
                <a:cs typeface="STXingkai" charset="-122"/>
              </a:rPr>
              <a:t>Thanks </a:t>
            </a:r>
            <a:r>
              <a:rPr lang="en-US" altLang="zh-CN" sz="3600" dirty="0">
                <a:latin typeface="STXingkai" charset="-122"/>
                <a:ea typeface="STXingkai" charset="-122"/>
                <a:cs typeface="STXingkai" charset="-122"/>
              </a:rPr>
              <a:t>you</a:t>
            </a:r>
            <a:endParaRPr kumimoji="1" lang="zh-CN" altLang="en-US" sz="3600" dirty="0">
              <a:latin typeface="STXingkai" charset="-122"/>
              <a:ea typeface="STXingkai" charset="-122"/>
              <a:cs typeface="STXingkai"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3477</Words>
  <Application>WPS 演示</Application>
  <PresentationFormat>全屏显示(4:3)</PresentationFormat>
  <Paragraphs>401</Paragraphs>
  <Slides>27</Slides>
  <Notes>5</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27</vt:i4>
      </vt:variant>
    </vt:vector>
  </HeadingPairs>
  <TitlesOfParts>
    <vt:vector size="41" baseType="lpstr">
      <vt:lpstr>Arial</vt:lpstr>
      <vt:lpstr>宋体</vt:lpstr>
      <vt:lpstr>Wingdings</vt:lpstr>
      <vt:lpstr>Times New Roman</vt:lpstr>
      <vt:lpstr>Wingdings</vt:lpstr>
      <vt:lpstr>Calibri</vt:lpstr>
      <vt:lpstr>Cambria Math</vt:lpstr>
      <vt:lpstr>微软雅黑</vt:lpstr>
      <vt:lpstr>Arial Unicode MS</vt:lpstr>
      <vt:lpstr>等线</vt:lpstr>
      <vt:lpstr>MS Mincho</vt:lpstr>
      <vt:lpstr>Yu Gothic</vt:lpstr>
      <vt:lpstr>STXingkai</vt:lpstr>
      <vt:lpstr>Axis</vt:lpstr>
      <vt:lpstr>模型检测</vt:lpstr>
      <vt:lpstr>PowerPoint 演示文稿</vt:lpstr>
      <vt:lpstr>目录</vt:lpstr>
      <vt:lpstr>2、背景</vt:lpstr>
      <vt:lpstr>2、背景</vt:lpstr>
      <vt:lpstr>PowerPoint 演示文稿</vt:lpstr>
      <vt:lpstr>PowerPoint 演示文稿</vt:lpstr>
      <vt:lpstr>2、背景</vt:lpstr>
      <vt:lpstr>PowerPoint 演示文稿</vt:lpstr>
      <vt:lpstr>3.1状态机建模</vt:lpstr>
      <vt:lpstr>3.1状态机建模</vt:lpstr>
      <vt:lpstr>3.2 待检测性质形式化</vt:lpstr>
      <vt:lpstr>3.2 待检测性质形式化</vt:lpstr>
      <vt:lpstr>3.3 目标系统验证</vt:lpstr>
      <vt:lpstr>3.3 目标系统验证</vt:lpstr>
      <vt:lpstr>3.4 空间约减及工具</vt:lpstr>
      <vt:lpstr>PowerPoint 演示文稿</vt:lpstr>
      <vt:lpstr>4.1 并发事件交织建模</vt:lpstr>
      <vt:lpstr>4.1 并发事件交织建模</vt:lpstr>
      <vt:lpstr>4.2待检测性质形式化及验证</vt:lpstr>
      <vt:lpstr>4.2待检测性质形式化及验证</vt:lpstr>
      <vt:lpstr>4.2待检测性质形式化及验证</vt:lpstr>
      <vt:lpstr>4.2待检测性质形式化及验证</vt:lpstr>
      <vt:lpstr>4.3 状态空间约减</vt:lpstr>
      <vt:lpstr>6`、总结</vt:lpstr>
      <vt:lpstr>6`、总结</vt:lpstr>
      <vt:lpstr>Thanks you</vt:lpstr>
    </vt:vector>
  </TitlesOfParts>
  <Company>ics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HMM词性标注</dc:title>
  <dc:creator>HuangShujian</dc:creator>
  <cp:lastModifiedBy>Mr Nie</cp:lastModifiedBy>
  <cp:revision>1067</cp:revision>
  <dcterms:created xsi:type="dcterms:W3CDTF">2005-03-03T04:54:00Z</dcterms:created>
  <dcterms:modified xsi:type="dcterms:W3CDTF">2021-10-26T07:49:07Z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AF874CE3B9514C5C933448CE4DCCA5A2</vt:lpwstr>
  </property>
  <property fmtid="{D5CDD505-2E9C-101B-9397-08002B2CF9AE}" pid="3" name="KSOProductBuildVer">
    <vt:lpwstr>2052-11.1.0.10495</vt:lpwstr>
  </property>
</Properties>
</file>