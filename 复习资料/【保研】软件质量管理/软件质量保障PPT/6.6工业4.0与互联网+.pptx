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61"/>
  </p:notesMasterIdLst>
  <p:sldIdLst>
    <p:sldId id="256" r:id="rId3"/>
    <p:sldId id="257" r:id="rId4"/>
    <p:sldId id="353" r:id="rId5"/>
    <p:sldId id="264" r:id="rId6"/>
    <p:sldId id="267" r:id="rId7"/>
    <p:sldId id="270" r:id="rId8"/>
    <p:sldId id="272" r:id="rId9"/>
    <p:sldId id="354" r:id="rId10"/>
    <p:sldId id="259" r:id="rId11"/>
    <p:sldId id="274" r:id="rId12"/>
    <p:sldId id="275" r:id="rId13"/>
    <p:sldId id="277" r:id="rId14"/>
    <p:sldId id="290" r:id="rId15"/>
    <p:sldId id="291" r:id="rId16"/>
    <p:sldId id="292" r:id="rId17"/>
    <p:sldId id="293" r:id="rId18"/>
    <p:sldId id="294" r:id="rId19"/>
    <p:sldId id="355" r:id="rId20"/>
    <p:sldId id="260" r:id="rId21"/>
    <p:sldId id="343" r:id="rId22"/>
    <p:sldId id="295" r:id="rId23"/>
    <p:sldId id="296" r:id="rId24"/>
    <p:sldId id="297" r:id="rId25"/>
    <p:sldId id="344" r:id="rId26"/>
    <p:sldId id="279" r:id="rId27"/>
    <p:sldId id="298" r:id="rId28"/>
    <p:sldId id="299" r:id="rId29"/>
    <p:sldId id="330" r:id="rId30"/>
    <p:sldId id="331" r:id="rId31"/>
    <p:sldId id="356" r:id="rId32"/>
    <p:sldId id="261" r:id="rId33"/>
    <p:sldId id="346" r:id="rId34"/>
    <p:sldId id="281" r:id="rId35"/>
    <p:sldId id="303" r:id="rId36"/>
    <p:sldId id="304" r:id="rId37"/>
    <p:sldId id="305" r:id="rId38"/>
    <p:sldId id="306" r:id="rId39"/>
    <p:sldId id="307" r:id="rId40"/>
    <p:sldId id="347" r:id="rId41"/>
    <p:sldId id="282" r:id="rId42"/>
    <p:sldId id="308" r:id="rId43"/>
    <p:sldId id="309" r:id="rId44"/>
    <p:sldId id="310" r:id="rId45"/>
    <p:sldId id="311" r:id="rId46"/>
    <p:sldId id="348" r:id="rId47"/>
    <p:sldId id="283" r:id="rId48"/>
    <p:sldId id="312" r:id="rId49"/>
    <p:sldId id="316" r:id="rId50"/>
    <p:sldId id="317" r:id="rId51"/>
    <p:sldId id="318" r:id="rId52"/>
    <p:sldId id="328" r:id="rId53"/>
    <p:sldId id="329" r:id="rId54"/>
    <p:sldId id="357" r:id="rId55"/>
    <p:sldId id="358" r:id="rId56"/>
    <p:sldId id="359" r:id="rId57"/>
    <p:sldId id="360" r:id="rId58"/>
    <p:sldId id="361" r:id="rId59"/>
    <p:sldId id="265"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52C6E97-605B-4B3D-B771-AFCA48D9B899}">
          <p14:sldIdLst>
            <p14:sldId id="256"/>
            <p14:sldId id="257"/>
            <p14:sldId id="353"/>
            <p14:sldId id="264"/>
            <p14:sldId id="267"/>
            <p14:sldId id="270"/>
            <p14:sldId id="272"/>
            <p14:sldId id="354"/>
            <p14:sldId id="259"/>
            <p14:sldId id="274"/>
            <p14:sldId id="275"/>
            <p14:sldId id="277"/>
            <p14:sldId id="290"/>
            <p14:sldId id="291"/>
            <p14:sldId id="292"/>
            <p14:sldId id="293"/>
            <p14:sldId id="294"/>
            <p14:sldId id="355"/>
            <p14:sldId id="260"/>
            <p14:sldId id="343"/>
            <p14:sldId id="295"/>
            <p14:sldId id="296"/>
            <p14:sldId id="297"/>
            <p14:sldId id="344"/>
            <p14:sldId id="279"/>
            <p14:sldId id="298"/>
            <p14:sldId id="299"/>
            <p14:sldId id="330"/>
            <p14:sldId id="331"/>
            <p14:sldId id="356"/>
            <p14:sldId id="261"/>
            <p14:sldId id="346"/>
            <p14:sldId id="281"/>
            <p14:sldId id="303"/>
            <p14:sldId id="304"/>
            <p14:sldId id="305"/>
            <p14:sldId id="306"/>
            <p14:sldId id="307"/>
            <p14:sldId id="347"/>
            <p14:sldId id="282"/>
            <p14:sldId id="308"/>
            <p14:sldId id="309"/>
            <p14:sldId id="310"/>
            <p14:sldId id="311"/>
            <p14:sldId id="348"/>
            <p14:sldId id="283"/>
            <p14:sldId id="312"/>
            <p14:sldId id="316"/>
            <p14:sldId id="317"/>
            <p14:sldId id="318"/>
            <p14:sldId id="328"/>
            <p14:sldId id="329"/>
            <p14:sldId id="357"/>
            <p14:sldId id="358"/>
            <p14:sldId id="359"/>
            <p14:sldId id="360"/>
            <p14:sldId id="361"/>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5" autoAdjust="0"/>
    <p:restoredTop sz="93709" autoAdjust="0"/>
  </p:normalViewPr>
  <p:slideViewPr>
    <p:cSldViewPr snapToGrid="0">
      <p:cViewPr varScale="1">
        <p:scale>
          <a:sx n="61" d="100"/>
          <a:sy n="61" d="100"/>
        </p:scale>
        <p:origin x="42" y="42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00" d="100"/>
          <a:sy n="100" d="100"/>
        </p:scale>
        <p:origin x="714" y="-9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5A64E3-1065-4C10-AD4F-EFE734F70795}" type="datetimeFigureOut">
              <a:rPr lang="zh-CN" altLang="en-US" smtClean="0"/>
              <a:t>2021/11/3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F499C-0598-4105-B664-0BCEBEF121C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F499C-0598-4105-B664-0BCEBEF121CD}"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F499C-0598-4105-B664-0BCEBEF121CD}"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5F499C-0598-4105-B664-0BCEBEF121CD}" type="slidenum">
              <a:rPr lang="zh-CN" altLang="en-US" smtClean="0"/>
              <a:t>7</a:t>
            </a:fld>
            <a:endParaRPr lang="zh-CN" altLang="en-US"/>
          </a:p>
        </p:txBody>
      </p:sp>
    </p:spTree>
    <p:extLst>
      <p:ext uri="{BB962C8B-B14F-4D97-AF65-F5344CB8AC3E}">
        <p14:creationId xmlns:p14="http://schemas.microsoft.com/office/powerpoint/2010/main" val="2702148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F499C-0598-4105-B664-0BCEBEF121CD}" type="slidenum">
              <a:rPr lang="zh-CN" altLang="en-US" smtClean="0"/>
              <a:t>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F499C-0598-4105-B664-0BCEBEF121CD}" type="slidenum">
              <a:rPr lang="zh-CN" altLang="en-US" smtClean="0"/>
              <a:t>18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F499C-0598-4105-B664-0BCEBEF121CD}" type="slidenum">
              <a:rPr lang="zh-CN" altLang="en-US" smtClean="0"/>
              <a:t>21</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5F499C-0598-4105-B664-0BCEBEF121CD}" type="slidenum">
              <a:rPr lang="zh-CN" altLang="en-US" smtClean="0"/>
              <a:t>30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5F499C-0598-4105-B664-0BCEBEF121CD}" type="slidenum">
              <a:rPr lang="zh-CN" altLang="en-US" smtClean="0"/>
              <a:t>46</a:t>
            </a:fld>
            <a:endParaRPr lang="zh-CN" altLang="en-US"/>
          </a:p>
        </p:txBody>
      </p:sp>
    </p:spTree>
    <p:extLst>
      <p:ext uri="{BB962C8B-B14F-4D97-AF65-F5344CB8AC3E}">
        <p14:creationId xmlns:p14="http://schemas.microsoft.com/office/powerpoint/2010/main" val="2006616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5F499C-0598-4105-B664-0BCEBEF121CD}" type="slidenum">
              <a:rPr lang="zh-CN" altLang="en-US" smtClean="0"/>
              <a:t>47</a:t>
            </a:fld>
            <a:endParaRPr lang="zh-CN" altLang="en-US"/>
          </a:p>
        </p:txBody>
      </p:sp>
    </p:spTree>
    <p:extLst>
      <p:ext uri="{BB962C8B-B14F-4D97-AF65-F5344CB8AC3E}">
        <p14:creationId xmlns:p14="http://schemas.microsoft.com/office/powerpoint/2010/main" val="3530161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5F499C-0598-4105-B664-0BCEBEF121CD}" type="slidenum">
              <a:rPr lang="zh-CN" altLang="en-US" smtClean="0"/>
              <a:t>48</a:t>
            </a:fld>
            <a:endParaRPr lang="zh-CN" altLang="en-US"/>
          </a:p>
        </p:txBody>
      </p:sp>
    </p:spTree>
    <p:extLst>
      <p:ext uri="{BB962C8B-B14F-4D97-AF65-F5344CB8AC3E}">
        <p14:creationId xmlns:p14="http://schemas.microsoft.com/office/powerpoint/2010/main" val="304920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5F499C-0598-4105-B664-0BCEBEF121CD}" type="slidenum">
              <a:rPr lang="zh-CN" altLang="en-US" smtClean="0"/>
              <a:t>49</a:t>
            </a:fld>
            <a:endParaRPr lang="zh-CN" altLang="en-US"/>
          </a:p>
        </p:txBody>
      </p:sp>
    </p:spTree>
    <p:extLst>
      <p:ext uri="{BB962C8B-B14F-4D97-AF65-F5344CB8AC3E}">
        <p14:creationId xmlns:p14="http://schemas.microsoft.com/office/powerpoint/2010/main" val="2219511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5F499C-0598-4105-B664-0BCEBEF121CD}" type="slidenum">
              <a:rPr lang="zh-CN" altLang="en-US" smtClean="0"/>
              <a:t>50</a:t>
            </a:fld>
            <a:endParaRPr lang="zh-CN" altLang="en-US"/>
          </a:p>
        </p:txBody>
      </p:sp>
    </p:spTree>
    <p:extLst>
      <p:ext uri="{BB962C8B-B14F-4D97-AF65-F5344CB8AC3E}">
        <p14:creationId xmlns:p14="http://schemas.microsoft.com/office/powerpoint/2010/main" val="1166999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5F499C-0598-4105-B664-0BCEBEF121CD}" type="slidenum">
              <a:rPr lang="zh-CN" altLang="en-US" smtClean="0"/>
              <a:t>51</a:t>
            </a:fld>
            <a:endParaRPr lang="zh-CN" altLang="en-US"/>
          </a:p>
        </p:txBody>
      </p:sp>
    </p:spTree>
    <p:extLst>
      <p:ext uri="{BB962C8B-B14F-4D97-AF65-F5344CB8AC3E}">
        <p14:creationId xmlns:p14="http://schemas.microsoft.com/office/powerpoint/2010/main" val="1750327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5F499C-0598-4105-B664-0BCEBEF121CD}" type="slidenum">
              <a:rPr lang="zh-CN" altLang="en-US" smtClean="0"/>
              <a:t>52</a:t>
            </a:fld>
            <a:endParaRPr lang="zh-CN" altLang="en-US"/>
          </a:p>
        </p:txBody>
      </p:sp>
    </p:spTree>
    <p:extLst>
      <p:ext uri="{BB962C8B-B14F-4D97-AF65-F5344CB8AC3E}">
        <p14:creationId xmlns:p14="http://schemas.microsoft.com/office/powerpoint/2010/main" val="3716552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以上是各方对“互联网+”的定义，大致都差不多，都是将互联网创新技术应用于传统行业，从而带来新的产业增长点。</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20ADC4B-121D-46CC-9D52-F4252E0865F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互联网</a:t>
            </a:r>
            <a:r>
              <a:rPr lang="en-US" altLang="zh-CN"/>
              <a:t>+</a:t>
            </a:r>
            <a:r>
              <a:rPr lang="zh-CN" altLang="en-US"/>
              <a:t>不是一句口号。互联网正成为一项足以与钟表、文字、蒸汽机、电力、汽油发动机并列的深刻改变人类历史进程的通用技术。</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20ADC4B-121D-46CC-9D52-F4252E0865F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20ADC4B-121D-46CC-9D52-F4252E0865F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规模：香港没有电商，为什么？香港只有七百万人，能够用电商的人大概占总人口的十分之一，单位交易成本变得非常高。</a:t>
            </a:r>
          </a:p>
          <a:p>
            <a:r>
              <a:rPr lang="zh-CN" altLang="en-US" dirty="0"/>
              <a:t>连接：网络的价值与节点数呈关系。一个互联网企业连接的节点越多，你的企业越有价值。所有的东西都可以扔掉，但是你扔不掉社会关系。所以小米估值五百亿美金，而一年有2800万人用的携程不到小米1／10。</a:t>
            </a:r>
          </a:p>
          <a:p>
            <a:r>
              <a:rPr lang="zh-CN" altLang="en-US" dirty="0"/>
              <a:t>速度：互联网的成长性非常快。在互联网的时代，每一个人都处在竞争的时候，不进则退，你慢进别人就会超过你。什么叫互联网企业？除了最后的商品配送，商业交易绝大部分是在网上完成的才叫互联网企业。现在很多企业有了一个app，并不表明你是一个互联网企业。你真正的广告是在哪里投，你的推销是怎么做的，你最后的结算是怎么做的，如果你这些东西都是在网络上做的话你就是一个互联网公司，否则还是一个线下的公司。这个对投资来说非常重要，如果是一个线下的公司，估值可能不能够那么高，因为你的成长只是传统的商业模式的成长速度。只有把大部分流程都保留在网络层面，成长才可以更快。</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20ADC4B-121D-46CC-9D52-F4252E0865F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初，对于「传统行业」来说，互联网是一种通信和宣传渠道。在那个年代，一个机构做一个网站的用途，就像是装一部电话一样。有了电话，就建立了与外界沟通的桥梁，客户就能够找到他们。同样，如果有一个网站，就可以把机构的介绍、产品信息、联系方式等内容放在上面，让「全世界的人」都有机会看到。</a:t>
            </a:r>
          </a:p>
          <a:p>
            <a:r>
              <a:rPr lang="zh-CN" altLang="en-US" dirty="0"/>
              <a:t>后来，在Web1.0的鼎盛时期，大量的门户网站兴起，新浪网是那时的典型代表。在这个时期，传统行业中很多人将互联网看做是一个媒体，可以看新闻，可以在上面做广告——的确，那时的门户网站本质上与报纸、杂志、电视并没有什么太大的区别。</a:t>
            </a:r>
          </a:p>
          <a:p>
            <a:r>
              <a:rPr lang="zh-CN" altLang="en-US" dirty="0"/>
              <a:t>随着Web 2.0的兴起，随着互联网上由用户产生的内容越来越多，「平台」的概念开始突显。在这样的大背景下，催生了第一批与传统行业或者线下某些场景紧密连接的互联网产品。阿里巴巴B2B正是在这样的环境下诞生的（上图为2000年是的阿里巴巴B2B）。</a:t>
            </a:r>
          </a:p>
          <a:p>
            <a:endParaRPr lang="zh-CN" altLang="en-US" dirty="0"/>
          </a:p>
          <a:p>
            <a:r>
              <a:rPr lang="zh-CN" altLang="en-US" dirty="0"/>
              <a:t>如果说，过去的「互联网+」只是互联网和传统行业之间简单的「组合」、「配合」的话，现在的「互联网+」则更多的是互联网与传统行业的「融合」。在未来几年内，互联网的产品、技术、基础能力会越来越多的与传统行业深度融合，去改造甚至重构一些行业内部的逻辑和体验。</a:t>
            </a:r>
          </a:p>
          <a:p>
            <a:r>
              <a:rPr lang="zh-CN" altLang="en-US" dirty="0"/>
              <a:t>以滴滴为例。最初，滴滴出行主要做的是出租车的市场，在这个时期，对于传统行业（出租车运输）来说，滴滴是一个提升效率的工具。说到这里，互联网其实还是「工具」。</a:t>
            </a:r>
          </a:p>
          <a:p>
            <a:r>
              <a:rPr lang="zh-CN" altLang="en-US" dirty="0"/>
              <a:t>但是，城市出行这个场景有一个特点，就是存在「高峰期」。在高峰期，很多时候即便全市的出租车都处于载客状态，也依然会有很多乘客打不到车。到了这个时期，对于传统行业来说，就不再是一个「提升效率」的问题，而是资源短缺，或者说资源不平衡的问题。在这个阶段，滴滴推出了「快车」服务。事实上快车才是互联网与传统行业真正的「融合」，它相当于用互联网的手段扩大了传统行业中的资源池。</a:t>
            </a:r>
          </a:p>
          <a:p>
            <a:r>
              <a:rPr lang="zh-CN" altLang="en-US" dirty="0"/>
              <a:t>滴滴提供的所有出行方式中，有的位于「互联网+」的第一个阶段的后半段，即「提升效率」；而有的则位于「互联网+」的第二个阶段——改造与重构传统行业。</a:t>
            </a:r>
          </a:p>
          <a:p>
            <a:endParaRPr lang="zh-CN" altLang="en-US" dirty="0"/>
          </a:p>
          <a:p>
            <a:r>
              <a:rPr lang="zh-CN" altLang="en-US" dirty="0"/>
              <a:t>「互联网思维」，在未来将不仅仅是指「适应互联网行业的思维方式」，不仅仅是所谓快速迭代、试错、用户体验等，而是会继续升华为「以互联网等行业为代表的，社会上最先进的人才、机构所相对通用的思维和行为方式」。对于「互联网+」的未来，我认为是这些最优秀的人才会带着他们的思维方式和态度，渗透到各行业中，与各行业的实际情况相结合，从底层去优化和重构传统行业，从而重构整个世界。这样的优化和重构很可能并不是「做互联网的人」或者「互联网公司」主导的，而是各行业中拥有「新互联网思维」的人去主导。到了那时，当今的关于「互联网+」还是「+互联网」的争论将不复存在，它们会真正的从实体到精神都融合在一起。到了那时，互联网将真正有望成为水和电，有望成为底层的基础设施，像文艺复兴时期的艺术作品，像黄金时代的科学技术，像启蒙运动中传播的思想一样，去真正深层次的改变世界。</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20ADC4B-121D-46CC-9D52-F4252E0865F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236EDDC-9827-4296-814A-A87BEB554F9E}"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2FC1BEC-1584-4F10-8BDD-08AB99124433}"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zh-CN" altLang="en-US"/>
              <a:t>单击此处编辑母版标题样式</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07AFBED-1600-4094-8EDB-A03652CA8322}"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6DB50D76-B454-41B7-815E-903FC45CEFF5}" type="datetime1">
              <a:rPr lang="zh-CN" altLang="en-US" smtClean="0"/>
              <a:t>2021/11/3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590DED67-240B-44D6-AC6A-63909A66C2A3}" type="datetime1">
              <a:rPr lang="zh-CN" altLang="en-US" smtClean="0"/>
              <a:t>2021/11/3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616DD42-5CBB-4822-B0F1-3B1ADEB7667C}" type="datetime1">
              <a:rPr lang="zh-CN" altLang="en-US" smtClean="0"/>
              <a:t>2021/11/3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C2ED30-F03C-451C-88F0-0EC3EB92A3BA}" type="datetime1">
              <a:rPr lang="zh-CN" altLang="en-US" smtClean="0"/>
              <a:t>2021/11/3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23AAF37-C318-4093-A352-FD718C0CE379}" type="datetime1">
              <a:rPr lang="zh-CN" altLang="en-US" smtClean="0"/>
              <a:t>2021/11/3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zh-CN" altLang="en-US"/>
              <a:t>单击此处编辑母版标题样式</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6399212" y="5883275"/>
            <a:ext cx="914400" cy="365125"/>
          </a:xfrm>
        </p:spPr>
        <p:txBody>
          <a:bodyPr/>
          <a:lstStyle/>
          <a:p>
            <a:fld id="{D53AE671-8807-4319-8E0D-715773157EDC}" type="datetime1">
              <a:rPr lang="zh-CN" altLang="en-US" smtClean="0"/>
              <a:t>2021/11/3</a:t>
            </a:fld>
            <a:endParaRPr lang="zh-CN" altLang="en-US"/>
          </a:p>
        </p:txBody>
      </p:sp>
      <p:sp>
        <p:nvSpPr>
          <p:cNvPr id="6" name="Footer Placeholder 5"/>
          <p:cNvSpPr>
            <a:spLocks noGrp="1"/>
          </p:cNvSpPr>
          <p:nvPr>
            <p:ph type="ftr" sz="quarter" idx="11"/>
          </p:nvPr>
        </p:nvSpPr>
        <p:spPr>
          <a:xfrm>
            <a:off x="1141412" y="5883275"/>
            <a:ext cx="5105400" cy="365125"/>
          </a:xfrm>
        </p:spPr>
        <p:txBody>
          <a:bodyPr/>
          <a:lstStyle/>
          <a:p>
            <a:endParaRPr lang="zh-CN" altLang="en-US"/>
          </a:p>
        </p:txBody>
      </p:sp>
      <p:sp>
        <p:nvSpPr>
          <p:cNvPr id="7" name="Slide Number Placeholder 6"/>
          <p:cNvSpPr>
            <a:spLocks noGrp="1"/>
          </p:cNvSpPr>
          <p:nvPr>
            <p:ph type="sldNum" sz="quarter" idx="12"/>
          </p:nvPr>
        </p:nvSpPr>
        <p:spPr>
          <a:xfrm>
            <a:off x="10742612" y="5883275"/>
            <a:ext cx="322567" cy="365125"/>
          </a:xfrm>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18D375D-CDAF-476E-A135-19FA456A76FD}" type="datetime1">
              <a:rPr lang="zh-CN" altLang="en-US" smtClean="0"/>
              <a:t>2021/11/3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zh-CN" altLang="en-US"/>
              <a:t>单击此处编辑母版标题样式</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E1E5525-D04A-4BCF-8B52-C302F450C19F}"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zh-CN" altLang="en-US"/>
              <a:t>单击此处编辑母版标题样式</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zh-CN" altLang="en-US"/>
              <a:t>单击此处编辑母版文本样式</a:t>
            </a:r>
          </a:p>
        </p:txBody>
      </p:sp>
      <p:sp>
        <p:nvSpPr>
          <p:cNvPr id="4" name="Date Placeholder 3"/>
          <p:cNvSpPr>
            <a:spLocks noGrp="1"/>
          </p:cNvSpPr>
          <p:nvPr>
            <p:ph type="dt" sz="half" idx="10"/>
          </p:nvPr>
        </p:nvSpPr>
        <p:spPr/>
        <p:txBody>
          <a:bodyPr/>
          <a:lstStyle/>
          <a:p>
            <a:fld id="{1DB20335-7DCD-4307-940D-A7E378429C73}"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zh-CN" altLang="en-US"/>
              <a:t>单击此处编辑母版标题样式</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zh-CN" altLang="en-US"/>
              <a:t>单击此处编辑母版文本样式</a:t>
            </a:r>
          </a:p>
        </p:txBody>
      </p:sp>
      <p:sp>
        <p:nvSpPr>
          <p:cNvPr id="4" name="Date Placeholder 3"/>
          <p:cNvSpPr>
            <a:spLocks noGrp="1"/>
          </p:cNvSpPr>
          <p:nvPr>
            <p:ph type="dt" sz="half" idx="10"/>
          </p:nvPr>
        </p:nvSpPr>
        <p:spPr/>
        <p:txBody>
          <a:bodyPr/>
          <a:lstStyle/>
          <a:p>
            <a:fld id="{6F182B93-2271-4047-8C5F-6A7DA8C7AEB7}"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zh-CN" altLang="en-US"/>
              <a:t>单击此处编辑母版标题样式</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zh-CN" altLang="en-US"/>
              <a:t>单击此处编辑母版文本样式</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F8BF0EFC-831A-4560-9B87-E60A3467655A}"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zh-CN" altLang="en-US"/>
              <a:t>单击此处编辑母版标题样式</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zh-CN" altLang="en-US"/>
              <a:t>单击此处编辑母版文本样式</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54D9824-2D18-4C76-A3E1-D2C6C6E3B870}"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F2C52A9-072D-4D8C-BF34-F3F3A76AEE5E}"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0886AA6-2B21-422C-91EA-3CC28C651C15}" type="datetime1">
              <a:rPr lang="zh-CN" altLang="en-US" smtClean="0"/>
              <a:t>2021/11/3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A2602C4-676A-4DC9-83FD-3F245FA472CF}"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8979D9-E8A7-4020-9F53-DCBB73454201}" type="datetimeFigureOut">
              <a:rPr lang="zh-CN" altLang="en-US" smtClean="0"/>
              <a:t>2021/11/3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02D614-3122-4AE3-B731-49486E3899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4D540D7-F916-4006-99C1-2C061108330A}" type="datetime1">
              <a:rPr lang="zh-CN" altLang="en-US" smtClean="0"/>
              <a:t>2021/11/3</a:t>
            </a:fld>
            <a:endParaRPr lang="zh-CN" alt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zh-CN" alt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A2602C4-676A-4DC9-83FD-3F245FA472CF}"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panose="020B0604020202020204"/>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panose="020B0604020202020204"/>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panose="020B0604020202020204"/>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8979D9-E8A7-4020-9F53-DCBB73454201}" type="datetimeFigureOut">
              <a:rPr lang="zh-CN" altLang="en-US" smtClean="0"/>
              <a:t>2021/11/3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02D614-3122-4AE3-B731-49486E3899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www.sohu.com/a/217478215_62415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gyrj.gkzhan.com/news/4516.html" TargetMode="External"/><Relationship Id="rId5" Type="http://schemas.openxmlformats.org/officeDocument/2006/relationships/hyperlink" Target="http://www.elecfans.com/kongzhijishu/788633.html" TargetMode="External"/><Relationship Id="rId4" Type="http://schemas.openxmlformats.org/officeDocument/2006/relationships/hyperlink" Target="https://www.cnblogs.com/namei/p/6110382.html"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9.xml"/><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9.xml"/><Relationship Id="rId5" Type="http://schemas.openxmlformats.org/officeDocument/2006/relationships/image" Target="../media/image5.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10119" y="201039"/>
            <a:ext cx="11031165" cy="3534382"/>
          </a:xfrm>
        </p:spPr>
        <p:txBody>
          <a:bodyPr>
            <a:normAutofit/>
          </a:bodyPr>
          <a:lstStyle/>
          <a:p>
            <a:r>
              <a:rPr lang="zh-CN" altLang="en-US" sz="6600" b="1" dirty="0"/>
              <a:t>工业</a:t>
            </a:r>
            <a:r>
              <a:rPr lang="en-US" altLang="zh-CN" sz="6600" b="1" dirty="0"/>
              <a:t>4.0</a:t>
            </a:r>
            <a:r>
              <a:rPr lang="zh-CN" altLang="en-US" sz="6600" b="1" dirty="0"/>
              <a:t>时代和软件</a:t>
            </a:r>
          </a:p>
        </p:txBody>
      </p:sp>
      <p:sp>
        <p:nvSpPr>
          <p:cNvPr id="3" name="灯片编号占位符 2"/>
          <p:cNvSpPr>
            <a:spLocks noGrp="1"/>
          </p:cNvSpPr>
          <p:nvPr>
            <p:ph type="sldNum" sz="quarter" idx="12"/>
          </p:nvPr>
        </p:nvSpPr>
        <p:spPr/>
        <p:txBody>
          <a:bodyPr/>
          <a:lstStyle/>
          <a:p>
            <a:fld id="{BA2602C4-676A-4DC9-83FD-3F245FA472CF}" type="slidenum">
              <a:rPr lang="zh-CN" altLang="en-US" smtClean="0"/>
              <a:t>1</a:t>
            </a:fld>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4626" y="995393"/>
            <a:ext cx="2439574" cy="5755422"/>
          </a:xfrm>
          <a:prstGeom prst="rect">
            <a:avLst/>
          </a:prstGeom>
          <a:noFill/>
        </p:spPr>
        <p:txBody>
          <a:bodyPr wrap="square" rtlCol="0">
            <a:spAutoFit/>
          </a:bodyPr>
          <a:lstStyle/>
          <a:p>
            <a:r>
              <a:rPr lang="zh-CN" altLang="en-US" sz="9600" b="1" dirty="0">
                <a:latin typeface="+mj-lt"/>
              </a:rPr>
              <a:t>目录</a:t>
            </a:r>
            <a:r>
              <a:rPr lang="zh-CN" altLang="en-US" sz="8800" b="1" dirty="0">
                <a:latin typeface="+mj-lt"/>
              </a:rPr>
              <a:t> </a:t>
            </a:r>
            <a:endParaRPr lang="en-US" altLang="zh-CN" sz="8800" b="1" dirty="0">
              <a:latin typeface="+mj-lt"/>
            </a:endParaRPr>
          </a:p>
          <a:p>
            <a:endParaRPr lang="en-US" altLang="zh-CN" sz="8800" b="1" dirty="0">
              <a:latin typeface="+mj-lt"/>
            </a:endParaRPr>
          </a:p>
          <a:p>
            <a:endParaRPr lang="zh-CN" altLang="en-US" sz="8800" b="1" dirty="0">
              <a:latin typeface="+mj-lt"/>
            </a:endParaRPr>
          </a:p>
        </p:txBody>
      </p:sp>
      <p:sp>
        <p:nvSpPr>
          <p:cNvPr id="5" name="文本框 4"/>
          <p:cNvSpPr txBox="1"/>
          <p:nvPr/>
        </p:nvSpPr>
        <p:spPr>
          <a:xfrm>
            <a:off x="3556820" y="1166842"/>
            <a:ext cx="7806504" cy="4524315"/>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历届工业革命回顾</a:t>
            </a:r>
            <a:endParaRPr lang="en-US" altLang="zh-CN" sz="3600" b="1" dirty="0"/>
          </a:p>
          <a:p>
            <a:endParaRPr lang="en-US" altLang="zh-CN" sz="3600" b="1" dirty="0"/>
          </a:p>
          <a:p>
            <a:r>
              <a:rPr lang="zh-CN" altLang="en-US" sz="3600" b="1" dirty="0"/>
              <a:t>二</a:t>
            </a:r>
            <a:r>
              <a:rPr lang="en-US" altLang="zh-CN" sz="3600" b="1" dirty="0"/>
              <a:t>.</a:t>
            </a:r>
            <a:r>
              <a:rPr lang="zh-CN" altLang="en-US" sz="3600" b="1" dirty="0"/>
              <a:t>工业</a:t>
            </a:r>
            <a:r>
              <a:rPr lang="en-US" altLang="zh-CN" sz="3600" b="1" dirty="0"/>
              <a:t>4.0</a:t>
            </a:r>
            <a:r>
              <a:rPr lang="zh-CN" altLang="en-US" sz="3600" b="1" dirty="0"/>
              <a:t>内涵解读</a:t>
            </a:r>
            <a:endParaRPr lang="en-US" altLang="zh-CN" sz="3600" b="1" dirty="0"/>
          </a:p>
          <a:p>
            <a:endParaRPr lang="en-US" altLang="zh-CN" sz="3600" b="1" dirty="0"/>
          </a:p>
          <a:p>
            <a:r>
              <a:rPr lang="zh-CN" altLang="en-US" sz="3600" b="1" dirty="0"/>
              <a:t>三</a:t>
            </a:r>
            <a:r>
              <a:rPr lang="en-US" altLang="zh-CN" sz="3600" b="1" dirty="0"/>
              <a:t>.</a:t>
            </a:r>
            <a:r>
              <a:rPr lang="zh-CN" altLang="en-US" sz="3600" b="1" dirty="0"/>
              <a:t>德国工业</a:t>
            </a:r>
            <a:r>
              <a:rPr lang="en-US" altLang="zh-CN" sz="3600" b="1" dirty="0"/>
              <a:t>4.0</a:t>
            </a:r>
            <a:r>
              <a:rPr lang="zh-CN" altLang="en-US" sz="3600" b="1" dirty="0"/>
              <a:t>和中国工业</a:t>
            </a:r>
            <a:r>
              <a:rPr lang="en-US" altLang="zh-CN" sz="3600" b="1" dirty="0"/>
              <a:t>4.0</a:t>
            </a:r>
          </a:p>
          <a:p>
            <a:endParaRPr lang="en-US" altLang="zh-CN" sz="3600" b="1" dirty="0"/>
          </a:p>
          <a:p>
            <a:r>
              <a:rPr lang="zh-CN" altLang="en-US" sz="3600" b="1" dirty="0"/>
              <a:t>四</a:t>
            </a:r>
            <a:r>
              <a:rPr lang="en-US" altLang="zh-CN" sz="3600" b="1" dirty="0"/>
              <a:t>.</a:t>
            </a:r>
            <a:r>
              <a:rPr lang="zh-CN" altLang="en-US" sz="3600" b="1" dirty="0"/>
              <a:t>工业</a:t>
            </a:r>
            <a:r>
              <a:rPr lang="en-US" altLang="zh-CN" sz="3600" b="1" dirty="0"/>
              <a:t>4.0</a:t>
            </a:r>
            <a:r>
              <a:rPr lang="zh-CN" altLang="en-US" sz="3600" b="1" dirty="0"/>
              <a:t>和软件</a:t>
            </a:r>
            <a:endParaRPr lang="en-US" altLang="zh-CN" sz="3600" b="1" dirty="0"/>
          </a:p>
          <a:p>
            <a:endParaRPr lang="en-US" altLang="zh-CN" sz="3600" b="1" dirty="0">
              <a:latin typeface="+mn-ea"/>
            </a:endParaRPr>
          </a:p>
        </p:txBody>
      </p:sp>
      <p:sp>
        <p:nvSpPr>
          <p:cNvPr id="2" name="灯片编号占位符 1"/>
          <p:cNvSpPr>
            <a:spLocks noGrp="1"/>
          </p:cNvSpPr>
          <p:nvPr>
            <p:ph type="sldNum" sz="quarter" idx="12"/>
          </p:nvPr>
        </p:nvSpPr>
        <p:spPr/>
        <p:txBody>
          <a:bodyPr/>
          <a:lstStyle/>
          <a:p>
            <a:fld id="{BA2602C4-676A-4DC9-83FD-3F245FA472CF}" type="slidenum">
              <a:rPr lang="zh-CN" altLang="en-US" smtClean="0"/>
              <a:t>2</a:t>
            </a:fld>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4626" y="995393"/>
            <a:ext cx="2439574" cy="5755422"/>
          </a:xfrm>
          <a:prstGeom prst="rect">
            <a:avLst/>
          </a:prstGeom>
          <a:noFill/>
        </p:spPr>
        <p:txBody>
          <a:bodyPr wrap="square" rtlCol="0">
            <a:spAutoFit/>
          </a:bodyPr>
          <a:lstStyle/>
          <a:p>
            <a:r>
              <a:rPr lang="zh-CN" altLang="en-US" sz="9600" b="1" dirty="0">
                <a:latin typeface="+mj-lt"/>
              </a:rPr>
              <a:t>目录</a:t>
            </a:r>
            <a:r>
              <a:rPr lang="zh-CN" altLang="en-US" sz="8800" b="1" dirty="0">
                <a:latin typeface="+mj-lt"/>
              </a:rPr>
              <a:t> </a:t>
            </a:r>
            <a:endParaRPr lang="en-US" altLang="zh-CN" sz="8800" b="1" dirty="0">
              <a:latin typeface="+mj-lt"/>
            </a:endParaRPr>
          </a:p>
          <a:p>
            <a:endParaRPr lang="en-US" altLang="zh-CN" sz="8800" b="1" dirty="0">
              <a:latin typeface="+mj-lt"/>
            </a:endParaRPr>
          </a:p>
          <a:p>
            <a:endParaRPr lang="zh-CN" altLang="en-US" sz="8800" b="1" dirty="0">
              <a:latin typeface="+mj-lt"/>
            </a:endParaRPr>
          </a:p>
        </p:txBody>
      </p:sp>
      <p:sp>
        <p:nvSpPr>
          <p:cNvPr id="5" name="文本框 4"/>
          <p:cNvSpPr txBox="1"/>
          <p:nvPr/>
        </p:nvSpPr>
        <p:spPr>
          <a:xfrm>
            <a:off x="3556820" y="1166842"/>
            <a:ext cx="7806504" cy="4524315"/>
          </a:xfrm>
          <a:prstGeom prst="rect">
            <a:avLst/>
          </a:prstGeom>
          <a:noFill/>
        </p:spPr>
        <p:txBody>
          <a:bodyPr wrap="square" rtlCol="0">
            <a:spAutoFit/>
          </a:bodyPr>
          <a:lstStyle/>
          <a:p>
            <a:r>
              <a:rPr lang="zh-CN" altLang="en-US" sz="3600" b="1" dirty="0">
                <a:solidFill>
                  <a:srgbClr val="FF0000"/>
                </a:solidFill>
              </a:rPr>
              <a:t>一</a:t>
            </a:r>
            <a:r>
              <a:rPr lang="en-US" altLang="zh-CN" sz="3600" b="1" dirty="0">
                <a:solidFill>
                  <a:srgbClr val="FF0000"/>
                </a:solidFill>
              </a:rPr>
              <a:t>.</a:t>
            </a:r>
            <a:r>
              <a:rPr lang="zh-CN" altLang="en-US" sz="3600" b="1" dirty="0">
                <a:solidFill>
                  <a:srgbClr val="FF0000"/>
                </a:solidFill>
              </a:rPr>
              <a:t>历届工业革命回顾</a:t>
            </a:r>
            <a:endParaRPr lang="en-US" altLang="zh-CN" sz="3600" b="1" dirty="0">
              <a:solidFill>
                <a:srgbClr val="FF0000"/>
              </a:solidFill>
            </a:endParaRPr>
          </a:p>
          <a:p>
            <a:endParaRPr lang="en-US" altLang="zh-CN" sz="3600" b="1" dirty="0"/>
          </a:p>
          <a:p>
            <a:r>
              <a:rPr lang="zh-CN" altLang="en-US" sz="3600" b="1" dirty="0"/>
              <a:t>二</a:t>
            </a:r>
            <a:r>
              <a:rPr lang="en-US" altLang="zh-CN" sz="3600" b="1" dirty="0"/>
              <a:t>.</a:t>
            </a:r>
            <a:r>
              <a:rPr lang="zh-CN" altLang="en-US" sz="3600" b="1" dirty="0"/>
              <a:t>工业</a:t>
            </a:r>
            <a:r>
              <a:rPr lang="en-US" altLang="zh-CN" sz="3600" b="1" dirty="0"/>
              <a:t>4.0</a:t>
            </a:r>
            <a:r>
              <a:rPr lang="zh-CN" altLang="en-US" sz="3600" b="1" dirty="0"/>
              <a:t>内涵解读</a:t>
            </a:r>
            <a:endParaRPr lang="en-US" altLang="zh-CN" sz="3600" b="1" dirty="0"/>
          </a:p>
          <a:p>
            <a:endParaRPr lang="en-US" altLang="zh-CN" sz="3600" b="1" dirty="0"/>
          </a:p>
          <a:p>
            <a:r>
              <a:rPr lang="zh-CN" altLang="en-US" sz="3600" b="1" dirty="0"/>
              <a:t>三</a:t>
            </a:r>
            <a:r>
              <a:rPr lang="en-US" altLang="zh-CN" sz="3600" b="1" dirty="0"/>
              <a:t>.</a:t>
            </a:r>
            <a:r>
              <a:rPr lang="zh-CN" altLang="en-US" sz="3600" b="1" dirty="0"/>
              <a:t>德国工业</a:t>
            </a:r>
            <a:r>
              <a:rPr lang="en-US" altLang="zh-CN" sz="3600" b="1" dirty="0"/>
              <a:t>4.0</a:t>
            </a:r>
            <a:r>
              <a:rPr lang="zh-CN" altLang="en-US" sz="3600" b="1" dirty="0"/>
              <a:t>和中国工业</a:t>
            </a:r>
            <a:r>
              <a:rPr lang="en-US" altLang="zh-CN" sz="3600" b="1" dirty="0"/>
              <a:t>4.0</a:t>
            </a:r>
          </a:p>
          <a:p>
            <a:endParaRPr lang="en-US" altLang="zh-CN" sz="3600" b="1" dirty="0"/>
          </a:p>
          <a:p>
            <a:r>
              <a:rPr lang="zh-CN" altLang="en-US" sz="3600" b="1" dirty="0"/>
              <a:t>四</a:t>
            </a:r>
            <a:r>
              <a:rPr lang="en-US" altLang="zh-CN" sz="3600" b="1" dirty="0"/>
              <a:t>.</a:t>
            </a:r>
            <a:r>
              <a:rPr lang="zh-CN" altLang="en-US" sz="3600" b="1" dirty="0"/>
              <a:t>工业</a:t>
            </a:r>
            <a:r>
              <a:rPr lang="en-US" altLang="zh-CN" sz="3600" b="1" dirty="0"/>
              <a:t>4.0</a:t>
            </a:r>
            <a:r>
              <a:rPr lang="zh-CN" altLang="en-US" sz="3600" b="1" dirty="0"/>
              <a:t>和软件</a:t>
            </a:r>
            <a:endParaRPr lang="en-US" altLang="zh-CN" sz="3600" b="1" dirty="0"/>
          </a:p>
          <a:p>
            <a:endParaRPr lang="en-US" altLang="zh-CN" sz="3600" b="1" dirty="0">
              <a:latin typeface="+mn-ea"/>
            </a:endParaRPr>
          </a:p>
        </p:txBody>
      </p:sp>
      <p:sp>
        <p:nvSpPr>
          <p:cNvPr id="2" name="灯片编号占位符 1"/>
          <p:cNvSpPr>
            <a:spLocks noGrp="1"/>
          </p:cNvSpPr>
          <p:nvPr>
            <p:ph type="sldNum" sz="quarter" idx="12"/>
          </p:nvPr>
        </p:nvSpPr>
        <p:spPr/>
        <p:txBody>
          <a:bodyPr/>
          <a:lstStyle/>
          <a:p>
            <a:fld id="{BA2602C4-676A-4DC9-83FD-3F245FA472CF}" type="slidenum">
              <a:rPr lang="zh-CN" altLang="en-US" smtClean="0"/>
              <a:t>3</a:t>
            </a:fld>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latin typeface="+mn-ea"/>
              </a:rPr>
              <a:t>一</a:t>
            </a:r>
            <a:r>
              <a:rPr lang="en-US" altLang="zh-CN" sz="6000" b="1" dirty="0">
                <a:latin typeface="+mn-ea"/>
              </a:rPr>
              <a:t>.</a:t>
            </a:r>
            <a:r>
              <a:rPr lang="zh-CN" altLang="en-US" sz="6000" b="1" dirty="0">
                <a:latin typeface="+mn-ea"/>
              </a:rPr>
              <a:t>历届工业革命回顾</a:t>
            </a:r>
            <a:endParaRPr lang="zh-CN" altLang="en-US" sz="6000" dirty="0"/>
          </a:p>
        </p:txBody>
      </p:sp>
      <p:sp>
        <p:nvSpPr>
          <p:cNvPr id="3" name="内容占位符 2"/>
          <p:cNvSpPr>
            <a:spLocks noGrp="1"/>
          </p:cNvSpPr>
          <p:nvPr>
            <p:ph idx="1"/>
          </p:nvPr>
        </p:nvSpPr>
        <p:spPr/>
        <p:txBody>
          <a:bodyPr>
            <a:normAutofit/>
          </a:bodyPr>
          <a:lstStyle/>
          <a:p>
            <a:pPr marL="0" indent="0">
              <a:buNone/>
            </a:pPr>
            <a:r>
              <a:rPr lang="en-US" altLang="zh-CN" sz="3200" b="1" dirty="0"/>
              <a:t>1.</a:t>
            </a:r>
            <a:r>
              <a:rPr lang="zh-CN" altLang="en-US" sz="3200" b="1" dirty="0"/>
              <a:t>工业</a:t>
            </a:r>
            <a:r>
              <a:rPr lang="en-US" altLang="zh-CN" sz="3200" b="1" dirty="0"/>
              <a:t>1.0</a:t>
            </a:r>
          </a:p>
          <a:p>
            <a:pPr marL="0" indent="0">
              <a:buNone/>
            </a:pPr>
            <a:r>
              <a:rPr lang="en-US" altLang="zh-CN" sz="3200" b="1" dirty="0"/>
              <a:t>2.</a:t>
            </a:r>
            <a:r>
              <a:rPr lang="zh-CN" altLang="en-US" sz="3200" b="1" dirty="0"/>
              <a:t>工业</a:t>
            </a:r>
            <a:r>
              <a:rPr lang="en-US" altLang="zh-CN" sz="3200" b="1" dirty="0"/>
              <a:t>2.0</a:t>
            </a:r>
          </a:p>
          <a:p>
            <a:pPr marL="0" indent="0">
              <a:buNone/>
            </a:pPr>
            <a:r>
              <a:rPr lang="en-US" altLang="zh-CN" sz="3200" b="1" dirty="0"/>
              <a:t>3.</a:t>
            </a:r>
            <a:r>
              <a:rPr lang="zh-CN" altLang="en-US" sz="3200" b="1" dirty="0"/>
              <a:t>工业</a:t>
            </a:r>
            <a:r>
              <a:rPr lang="en-US" altLang="zh-CN" sz="3200" b="1" dirty="0"/>
              <a:t>3.0</a:t>
            </a:r>
            <a:endParaRPr lang="zh-CN" altLang="en-US" sz="3200" b="1" dirty="0"/>
          </a:p>
          <a:p>
            <a:endParaRPr lang="zh-CN" altLang="en-US" sz="3200"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4</a:t>
            </a:fld>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a:t>1.</a:t>
            </a:r>
            <a:r>
              <a:rPr lang="zh-CN" altLang="en-US" sz="6000" b="1" dirty="0"/>
              <a:t>第一次工业革命</a:t>
            </a:r>
          </a:p>
        </p:txBody>
      </p:sp>
      <p:sp>
        <p:nvSpPr>
          <p:cNvPr id="3" name="内容占位符 2"/>
          <p:cNvSpPr>
            <a:spLocks noGrp="1"/>
          </p:cNvSpPr>
          <p:nvPr>
            <p:ph idx="1"/>
          </p:nvPr>
        </p:nvSpPr>
        <p:spPr>
          <a:xfrm>
            <a:off x="1009650" y="2666999"/>
            <a:ext cx="10037761" cy="3581401"/>
          </a:xfrm>
        </p:spPr>
        <p:txBody>
          <a:bodyPr>
            <a:normAutofit fontScale="92500" lnSpcReduction="20000"/>
          </a:bodyPr>
          <a:lstStyle/>
          <a:p>
            <a:r>
              <a:rPr lang="zh-CN" altLang="en-US" sz="3200" b="1" dirty="0"/>
              <a:t>时间段：</a:t>
            </a:r>
            <a:r>
              <a:rPr lang="en-US" altLang="zh-CN" sz="3200" b="1" dirty="0"/>
              <a:t>18</a:t>
            </a:r>
            <a:r>
              <a:rPr lang="zh-CN" altLang="en-US" sz="3200" b="1" dirty="0"/>
              <a:t>世纪</a:t>
            </a:r>
            <a:r>
              <a:rPr lang="en-US" altLang="zh-CN" sz="3200" b="1" dirty="0"/>
              <a:t>60</a:t>
            </a:r>
            <a:r>
              <a:rPr lang="zh-CN" altLang="en-US" sz="3200" b="1" dirty="0"/>
              <a:t>年代到</a:t>
            </a:r>
            <a:r>
              <a:rPr lang="en-US" altLang="zh-CN" sz="3200" b="1" dirty="0"/>
              <a:t>19</a:t>
            </a:r>
            <a:r>
              <a:rPr lang="zh-CN" altLang="en-US" sz="3200" b="1" dirty="0"/>
              <a:t>世纪中期</a:t>
            </a:r>
            <a:endParaRPr lang="en-US" altLang="zh-CN" sz="3200" b="1" dirty="0"/>
          </a:p>
          <a:p>
            <a:r>
              <a:rPr lang="zh-CN" altLang="en-US" sz="3200" b="1" dirty="0"/>
              <a:t>开始标志：</a:t>
            </a:r>
            <a:r>
              <a:rPr lang="en-US" altLang="zh-CN" sz="3200" b="1" dirty="0"/>
              <a:t>1765</a:t>
            </a:r>
            <a:r>
              <a:rPr lang="zh-CN" altLang="en-US" sz="3200" b="1" dirty="0"/>
              <a:t>年珍妮纺纱机问世</a:t>
            </a:r>
            <a:endParaRPr lang="en-US" altLang="zh-CN" sz="3200" b="1" dirty="0"/>
          </a:p>
          <a:p>
            <a:r>
              <a:rPr lang="zh-CN" altLang="en-US" sz="3200" b="1" dirty="0"/>
              <a:t>主要发明：瓦特改良蒸汽机的使用；史蒂芬孙制造蒸汽机车</a:t>
            </a:r>
            <a:endParaRPr lang="en-US" altLang="zh-CN" sz="3200" b="1" dirty="0"/>
          </a:p>
          <a:p>
            <a:r>
              <a:rPr lang="zh-CN" altLang="en-US" sz="3200" b="1" dirty="0"/>
              <a:t>特点：通过水力和蒸汽机实现工厂</a:t>
            </a:r>
            <a:r>
              <a:rPr lang="zh-CN" altLang="en-US" sz="3200" b="1" dirty="0">
                <a:solidFill>
                  <a:srgbClr val="00B0F0"/>
                </a:solidFill>
              </a:rPr>
              <a:t>机械化</a:t>
            </a:r>
            <a:endParaRPr lang="en-US" altLang="zh-CN" sz="3200" b="1" dirty="0">
              <a:solidFill>
                <a:srgbClr val="00B0F0"/>
              </a:solidFill>
            </a:endParaRPr>
          </a:p>
          <a:p>
            <a:r>
              <a:rPr lang="zh-CN" altLang="en-US" sz="3200" b="1" dirty="0">
                <a:solidFill>
                  <a:schemeClr val="tx1"/>
                </a:solidFill>
              </a:rPr>
              <a:t>影响：</a:t>
            </a:r>
            <a:r>
              <a:rPr lang="zh-CN" altLang="en-US" sz="3200" b="1" dirty="0"/>
              <a:t>经济社会从</a:t>
            </a:r>
            <a:r>
              <a:rPr lang="zh-CN" altLang="en-US" sz="3200" b="1" dirty="0">
                <a:solidFill>
                  <a:schemeClr val="tx1"/>
                </a:solidFill>
              </a:rPr>
              <a:t>农业、手工业</a:t>
            </a:r>
            <a:r>
              <a:rPr lang="zh-CN" altLang="en-US" sz="3200" b="1" dirty="0"/>
              <a:t>为主转化为</a:t>
            </a:r>
            <a:r>
              <a:rPr lang="zh-CN" altLang="en-US" sz="3200" b="1" dirty="0">
                <a:solidFill>
                  <a:schemeClr val="tx1"/>
                </a:solidFill>
              </a:rPr>
              <a:t>工业和机械制造</a:t>
            </a:r>
            <a:r>
              <a:rPr lang="zh-CN" altLang="en-US" sz="3200" b="1" dirty="0"/>
              <a:t>为主，</a:t>
            </a:r>
            <a:r>
              <a:rPr lang="zh-CN" altLang="en-US" sz="3200" b="1" dirty="0">
                <a:solidFill>
                  <a:schemeClr val="tx1"/>
                </a:solidFill>
              </a:rPr>
              <a:t>交通</a:t>
            </a:r>
            <a:r>
              <a:rPr lang="zh-CN" altLang="en-US" sz="3200" b="1" dirty="0"/>
              <a:t>运输工具革新，创造巨大的</a:t>
            </a:r>
            <a:r>
              <a:rPr lang="zh-CN" altLang="en-US" sz="3200" b="1" dirty="0">
                <a:solidFill>
                  <a:schemeClr val="tx1"/>
                </a:solidFill>
              </a:rPr>
              <a:t>生产力</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5</a:t>
            </a:fld>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a:t>2.</a:t>
            </a:r>
            <a:r>
              <a:rPr lang="zh-CN" altLang="en-US" sz="6000" b="1" dirty="0"/>
              <a:t>第二次工业革命</a:t>
            </a:r>
          </a:p>
        </p:txBody>
      </p:sp>
      <p:sp>
        <p:nvSpPr>
          <p:cNvPr id="3" name="内容占位符 2"/>
          <p:cNvSpPr>
            <a:spLocks noGrp="1"/>
          </p:cNvSpPr>
          <p:nvPr>
            <p:ph idx="1"/>
          </p:nvPr>
        </p:nvSpPr>
        <p:spPr>
          <a:xfrm>
            <a:off x="1141413" y="2666999"/>
            <a:ext cx="9905998" cy="3581401"/>
          </a:xfrm>
        </p:spPr>
        <p:txBody>
          <a:bodyPr>
            <a:normAutofit fontScale="92500" lnSpcReduction="20000"/>
          </a:bodyPr>
          <a:lstStyle/>
          <a:p>
            <a:r>
              <a:rPr lang="zh-CN" altLang="en-US" sz="3200" b="1" dirty="0"/>
              <a:t>时间段：</a:t>
            </a:r>
            <a:r>
              <a:rPr lang="en-US" altLang="zh-CN" sz="3200" b="1" dirty="0"/>
              <a:t>19</a:t>
            </a:r>
            <a:r>
              <a:rPr lang="zh-CN" altLang="en-US" sz="3200" b="1" dirty="0"/>
              <a:t>世纪后半期到</a:t>
            </a:r>
            <a:r>
              <a:rPr lang="en-US" altLang="zh-CN" sz="3200" b="1" dirty="0"/>
              <a:t>20</a:t>
            </a:r>
            <a:r>
              <a:rPr lang="zh-CN" altLang="en-US" sz="3200" b="1" dirty="0"/>
              <a:t>世纪初</a:t>
            </a:r>
            <a:endParaRPr lang="en-US" altLang="zh-CN" sz="3200" b="1" dirty="0"/>
          </a:p>
          <a:p>
            <a:r>
              <a:rPr lang="zh-CN" altLang="en-US" sz="3200" b="1" dirty="0"/>
              <a:t>开始标志：</a:t>
            </a:r>
            <a:r>
              <a:rPr lang="en-US" altLang="zh-CN" sz="3200" b="1" dirty="0"/>
              <a:t>1966</a:t>
            </a:r>
            <a:r>
              <a:rPr lang="zh-CN" altLang="en-US" sz="3200" b="1" dirty="0"/>
              <a:t>德国人西门子制成发电机</a:t>
            </a:r>
            <a:endParaRPr lang="en-US" altLang="zh-CN" sz="3200" b="1" dirty="0"/>
          </a:p>
          <a:p>
            <a:r>
              <a:rPr lang="zh-CN" altLang="en-US" sz="3200" b="1" dirty="0"/>
              <a:t>主要发明：内燃机、发电机、电话、飞机</a:t>
            </a:r>
            <a:endParaRPr lang="en-US" altLang="zh-CN" sz="3200" b="1" dirty="0"/>
          </a:p>
          <a:p>
            <a:r>
              <a:rPr lang="zh-CN" altLang="en-US" sz="3200" b="1" dirty="0"/>
              <a:t>特点：在劳动分工基础上采用</a:t>
            </a:r>
            <a:r>
              <a:rPr lang="zh-CN" altLang="en-US" sz="3200" b="1" dirty="0">
                <a:solidFill>
                  <a:srgbClr val="00B0F0"/>
                </a:solidFill>
              </a:rPr>
              <a:t>电力</a:t>
            </a:r>
            <a:r>
              <a:rPr lang="zh-CN" altLang="en-US" sz="3200" b="1" dirty="0"/>
              <a:t>驱动产品的大规模</a:t>
            </a:r>
            <a:r>
              <a:rPr lang="zh-CN" altLang="en-US" sz="3200" b="1" dirty="0">
                <a:solidFill>
                  <a:srgbClr val="00B0F0"/>
                </a:solidFill>
              </a:rPr>
              <a:t>生产</a:t>
            </a:r>
            <a:endParaRPr lang="en-US" altLang="zh-CN" sz="3200" b="1" dirty="0">
              <a:solidFill>
                <a:srgbClr val="00B0F0"/>
              </a:solidFill>
            </a:endParaRPr>
          </a:p>
          <a:p>
            <a:r>
              <a:rPr lang="zh-CN" altLang="en-US" sz="3200" b="1" dirty="0">
                <a:solidFill>
                  <a:schemeClr val="tx1"/>
                </a:solidFill>
              </a:rPr>
              <a:t>影响：</a:t>
            </a:r>
            <a:r>
              <a:rPr lang="zh-CN" altLang="en-US" sz="3200" b="1" dirty="0"/>
              <a:t>工业化进程加快，出现垄断资本主义，世界联系紧密</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BA2602C4-676A-4DC9-83FD-3F245FA472CF}" type="slidenum">
              <a:rPr lang="zh-CN" altLang="en-US" smtClean="0"/>
              <a:t>6</a:t>
            </a:fld>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a:t>3.</a:t>
            </a:r>
            <a:r>
              <a:rPr lang="zh-CN" altLang="en-US" sz="6000" b="1" dirty="0"/>
              <a:t>第三次工业革命</a:t>
            </a:r>
          </a:p>
        </p:txBody>
      </p:sp>
      <p:sp>
        <p:nvSpPr>
          <p:cNvPr id="3" name="内容占位符 2"/>
          <p:cNvSpPr>
            <a:spLocks noGrp="1"/>
          </p:cNvSpPr>
          <p:nvPr>
            <p:ph idx="1"/>
          </p:nvPr>
        </p:nvSpPr>
        <p:spPr>
          <a:xfrm>
            <a:off x="1141413" y="2666999"/>
            <a:ext cx="9905998" cy="3695701"/>
          </a:xfrm>
        </p:spPr>
        <p:txBody>
          <a:bodyPr>
            <a:normAutofit fontScale="92500" lnSpcReduction="10000"/>
          </a:bodyPr>
          <a:lstStyle/>
          <a:p>
            <a:r>
              <a:rPr lang="zh-CN" altLang="en-US" sz="3200" b="1" dirty="0"/>
              <a:t>时间段：</a:t>
            </a:r>
            <a:r>
              <a:rPr lang="en-US" altLang="zh-CN" sz="3200" b="1" dirty="0"/>
              <a:t>20</a:t>
            </a:r>
            <a:r>
              <a:rPr lang="zh-CN" altLang="en-US" sz="3200" b="1" dirty="0"/>
              <a:t>世纪</a:t>
            </a:r>
            <a:r>
              <a:rPr lang="en-US" altLang="zh-CN" sz="3200" b="1" dirty="0"/>
              <a:t>70</a:t>
            </a:r>
            <a:r>
              <a:rPr lang="zh-CN" altLang="en-US" sz="3200" b="1" dirty="0"/>
              <a:t>年代延续至今</a:t>
            </a:r>
            <a:endParaRPr lang="en-US" altLang="zh-CN" sz="3200" b="1" dirty="0"/>
          </a:p>
          <a:p>
            <a:r>
              <a:rPr lang="zh-CN" altLang="en-US" sz="3200" b="1" dirty="0"/>
              <a:t>开始标志：</a:t>
            </a:r>
            <a:r>
              <a:rPr lang="en-US" altLang="zh-CN" sz="3200" b="1" dirty="0"/>
              <a:t>1957</a:t>
            </a:r>
            <a:r>
              <a:rPr lang="zh-CN" altLang="en-US" sz="3200" b="1" dirty="0"/>
              <a:t>年苏联发射世界第一次人造地球卫星</a:t>
            </a:r>
            <a:endParaRPr lang="en-US" altLang="zh-CN" sz="3200" b="1" dirty="0"/>
          </a:p>
          <a:p>
            <a:r>
              <a:rPr lang="zh-CN" altLang="en-US" sz="3200" b="1" dirty="0"/>
              <a:t>主要技术：原子能、航天、电子计算机、人工材料、互联网</a:t>
            </a:r>
            <a:endParaRPr lang="en-US" altLang="zh-CN" sz="3200" b="1" dirty="0"/>
          </a:p>
          <a:p>
            <a:r>
              <a:rPr lang="zh-CN" altLang="en-US" sz="3200" b="1" dirty="0"/>
              <a:t>特点：广泛应用</a:t>
            </a:r>
            <a:r>
              <a:rPr lang="zh-CN" altLang="en-US" sz="3200" b="1" dirty="0">
                <a:solidFill>
                  <a:srgbClr val="00B0F0"/>
                </a:solidFill>
              </a:rPr>
              <a:t>电子信息技术</a:t>
            </a:r>
            <a:r>
              <a:rPr lang="zh-CN" altLang="en-US" sz="3200" b="1" dirty="0"/>
              <a:t>，制造过程自动化</a:t>
            </a:r>
            <a:endParaRPr lang="en-US" altLang="zh-CN" sz="3200" b="1" dirty="0"/>
          </a:p>
          <a:p>
            <a:r>
              <a:rPr lang="zh-CN" altLang="en-US" sz="3200" b="1" dirty="0"/>
              <a:t>影响：经济结构和生活方式改变，促进二战后世界经济恢复</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7</a:t>
            </a:fld>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4626" y="995393"/>
            <a:ext cx="2439574" cy="5755422"/>
          </a:xfrm>
          <a:prstGeom prst="rect">
            <a:avLst/>
          </a:prstGeom>
          <a:noFill/>
        </p:spPr>
        <p:txBody>
          <a:bodyPr wrap="square" rtlCol="0">
            <a:spAutoFit/>
          </a:bodyPr>
          <a:lstStyle/>
          <a:p>
            <a:r>
              <a:rPr lang="zh-CN" altLang="en-US" sz="9600" b="1" dirty="0">
                <a:latin typeface="+mj-lt"/>
              </a:rPr>
              <a:t>目录</a:t>
            </a:r>
            <a:r>
              <a:rPr lang="zh-CN" altLang="en-US" sz="8800" b="1" dirty="0">
                <a:latin typeface="+mj-lt"/>
              </a:rPr>
              <a:t> </a:t>
            </a:r>
            <a:endParaRPr lang="en-US" altLang="zh-CN" sz="8800" b="1" dirty="0">
              <a:latin typeface="+mj-lt"/>
            </a:endParaRPr>
          </a:p>
          <a:p>
            <a:endParaRPr lang="en-US" altLang="zh-CN" sz="8800" b="1" dirty="0">
              <a:latin typeface="+mj-lt"/>
            </a:endParaRPr>
          </a:p>
          <a:p>
            <a:endParaRPr lang="zh-CN" altLang="en-US" sz="8800" b="1" dirty="0">
              <a:latin typeface="+mj-lt"/>
            </a:endParaRPr>
          </a:p>
        </p:txBody>
      </p:sp>
      <p:sp>
        <p:nvSpPr>
          <p:cNvPr id="5" name="文本框 4"/>
          <p:cNvSpPr txBox="1"/>
          <p:nvPr/>
        </p:nvSpPr>
        <p:spPr>
          <a:xfrm>
            <a:off x="3556820" y="1166842"/>
            <a:ext cx="7806504" cy="4524315"/>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历届工业革命回顾</a:t>
            </a:r>
            <a:endParaRPr lang="en-US" altLang="zh-CN" sz="3600" b="1" dirty="0"/>
          </a:p>
          <a:p>
            <a:endParaRPr lang="en-US" altLang="zh-CN" sz="3600" b="1" dirty="0"/>
          </a:p>
          <a:p>
            <a:r>
              <a:rPr lang="zh-CN" altLang="en-US" sz="3600" b="1" dirty="0">
                <a:solidFill>
                  <a:srgbClr val="FF0000"/>
                </a:solidFill>
              </a:rPr>
              <a:t>二</a:t>
            </a:r>
            <a:r>
              <a:rPr lang="en-US" altLang="zh-CN" sz="3600" b="1" dirty="0">
                <a:solidFill>
                  <a:srgbClr val="FF0000"/>
                </a:solidFill>
              </a:rPr>
              <a:t>.</a:t>
            </a:r>
            <a:r>
              <a:rPr lang="zh-CN" altLang="en-US" sz="3600" b="1" dirty="0">
                <a:solidFill>
                  <a:srgbClr val="FF0000"/>
                </a:solidFill>
              </a:rPr>
              <a:t>工业</a:t>
            </a:r>
            <a:r>
              <a:rPr lang="en-US" altLang="zh-CN" sz="3600" b="1" dirty="0">
                <a:solidFill>
                  <a:srgbClr val="FF0000"/>
                </a:solidFill>
              </a:rPr>
              <a:t>4.0</a:t>
            </a:r>
            <a:r>
              <a:rPr lang="zh-CN" altLang="en-US" sz="3600" b="1" dirty="0">
                <a:solidFill>
                  <a:srgbClr val="FF0000"/>
                </a:solidFill>
              </a:rPr>
              <a:t>内涵解读</a:t>
            </a:r>
            <a:endParaRPr lang="en-US" altLang="zh-CN" sz="3600" b="1" dirty="0">
              <a:solidFill>
                <a:srgbClr val="FF0000"/>
              </a:solidFill>
            </a:endParaRPr>
          </a:p>
          <a:p>
            <a:endParaRPr lang="en-US" altLang="zh-CN" sz="3600" b="1" dirty="0"/>
          </a:p>
          <a:p>
            <a:r>
              <a:rPr lang="zh-CN" altLang="en-US" sz="3600" b="1" dirty="0"/>
              <a:t>三</a:t>
            </a:r>
            <a:r>
              <a:rPr lang="en-US" altLang="zh-CN" sz="3600" b="1" dirty="0"/>
              <a:t>.</a:t>
            </a:r>
            <a:r>
              <a:rPr lang="zh-CN" altLang="en-US" sz="3600" b="1" dirty="0"/>
              <a:t>德国工业</a:t>
            </a:r>
            <a:r>
              <a:rPr lang="en-US" altLang="zh-CN" sz="3600" b="1" dirty="0"/>
              <a:t>4.0</a:t>
            </a:r>
            <a:r>
              <a:rPr lang="zh-CN" altLang="en-US" sz="3600" b="1" dirty="0"/>
              <a:t>和中国工业</a:t>
            </a:r>
            <a:r>
              <a:rPr lang="en-US" altLang="zh-CN" sz="3600" b="1" dirty="0"/>
              <a:t>4.0</a:t>
            </a:r>
          </a:p>
          <a:p>
            <a:endParaRPr lang="en-US" altLang="zh-CN" sz="3600" b="1" dirty="0"/>
          </a:p>
          <a:p>
            <a:r>
              <a:rPr lang="zh-CN" altLang="en-US" sz="3600" b="1" dirty="0"/>
              <a:t>四</a:t>
            </a:r>
            <a:r>
              <a:rPr lang="en-US" altLang="zh-CN" sz="3600" b="1" dirty="0"/>
              <a:t>.</a:t>
            </a:r>
            <a:r>
              <a:rPr lang="zh-CN" altLang="en-US" sz="3600" b="1" dirty="0"/>
              <a:t>工业</a:t>
            </a:r>
            <a:r>
              <a:rPr lang="en-US" altLang="zh-CN" sz="3600" b="1" dirty="0"/>
              <a:t>4.0</a:t>
            </a:r>
            <a:r>
              <a:rPr lang="zh-CN" altLang="en-US" sz="3600" b="1" dirty="0"/>
              <a:t>和软件</a:t>
            </a:r>
            <a:endParaRPr lang="en-US" altLang="zh-CN" sz="3600" b="1" dirty="0"/>
          </a:p>
          <a:p>
            <a:endParaRPr lang="en-US" altLang="zh-CN" sz="3600" b="1" dirty="0">
              <a:latin typeface="+mn-ea"/>
            </a:endParaRPr>
          </a:p>
        </p:txBody>
      </p:sp>
      <p:sp>
        <p:nvSpPr>
          <p:cNvPr id="2" name="灯片编号占位符 1"/>
          <p:cNvSpPr>
            <a:spLocks noGrp="1"/>
          </p:cNvSpPr>
          <p:nvPr>
            <p:ph type="sldNum" sz="quarter" idx="12"/>
          </p:nvPr>
        </p:nvSpPr>
        <p:spPr/>
        <p:txBody>
          <a:bodyPr/>
          <a:lstStyle/>
          <a:p>
            <a:fld id="{BA2602C4-676A-4DC9-83FD-3F245FA472CF}" type="slidenum">
              <a:rPr lang="zh-CN" altLang="en-US" smtClean="0"/>
              <a:t>8</a:t>
            </a:fld>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2838" y="585177"/>
            <a:ext cx="9905998" cy="1905000"/>
          </a:xfrm>
        </p:spPr>
        <p:txBody>
          <a:bodyPr>
            <a:normAutofit/>
          </a:bodyPr>
          <a:lstStyle/>
          <a:p>
            <a:r>
              <a:rPr lang="zh-CN" altLang="en-US" sz="4400" dirty="0">
                <a:latin typeface="+mn-ea"/>
                <a:ea typeface="+mn-ea"/>
              </a:rPr>
              <a:t>      </a:t>
            </a:r>
            <a:r>
              <a:rPr lang="zh-CN" altLang="en-US" sz="6000" b="1" dirty="0">
                <a:latin typeface="+mn-lt"/>
                <a:ea typeface="+mn-ea"/>
              </a:rPr>
              <a:t>二</a:t>
            </a:r>
            <a:r>
              <a:rPr lang="en-US" altLang="zh-CN" sz="6000" b="1" dirty="0">
                <a:latin typeface="+mn-lt"/>
                <a:ea typeface="+mn-ea"/>
              </a:rPr>
              <a:t>.</a:t>
            </a:r>
            <a:r>
              <a:rPr lang="zh-CN" altLang="en-US" sz="6000" b="1" dirty="0">
                <a:latin typeface="+mn-lt"/>
                <a:ea typeface="+mn-ea"/>
              </a:rPr>
              <a:t>工业</a:t>
            </a:r>
            <a:r>
              <a:rPr lang="en-US" altLang="zh-CN" sz="6000" b="1" dirty="0">
                <a:latin typeface="+mn-lt"/>
                <a:ea typeface="+mn-ea"/>
              </a:rPr>
              <a:t>4.0</a:t>
            </a:r>
            <a:r>
              <a:rPr lang="zh-CN" altLang="en-US" sz="6000" b="1" dirty="0">
                <a:latin typeface="+mn-lt"/>
                <a:ea typeface="+mn-ea"/>
              </a:rPr>
              <a:t>内涵解读</a:t>
            </a:r>
            <a:endParaRPr lang="zh-CN" altLang="en-US" sz="4400" b="1" dirty="0">
              <a:latin typeface="+mn-lt"/>
              <a:ea typeface="+mn-ea"/>
            </a:endParaRPr>
          </a:p>
        </p:txBody>
      </p:sp>
      <p:sp>
        <p:nvSpPr>
          <p:cNvPr id="3" name="内容占位符 2"/>
          <p:cNvSpPr>
            <a:spLocks noGrp="1"/>
          </p:cNvSpPr>
          <p:nvPr>
            <p:ph idx="1"/>
          </p:nvPr>
        </p:nvSpPr>
        <p:spPr>
          <a:xfrm>
            <a:off x="1053864" y="3667328"/>
            <a:ext cx="9905998" cy="2123872"/>
          </a:xfrm>
        </p:spPr>
        <p:txBody>
          <a:bodyPr>
            <a:normAutofit/>
          </a:bodyPr>
          <a:lstStyle/>
          <a:p>
            <a:pPr marL="0" indent="0">
              <a:buNone/>
            </a:pPr>
            <a:r>
              <a:rPr lang="en-US" altLang="zh-CN" sz="3200" b="1" dirty="0"/>
              <a:t>1.</a:t>
            </a:r>
            <a:r>
              <a:rPr lang="zh-CN" altLang="en-US" sz="3200" b="1" dirty="0"/>
              <a:t>含义</a:t>
            </a:r>
            <a:endParaRPr lang="en-US" altLang="zh-CN" sz="3200" b="1" dirty="0"/>
          </a:p>
          <a:p>
            <a:pPr marL="0" indent="0">
              <a:buNone/>
            </a:pPr>
            <a:r>
              <a:rPr lang="en-US" altLang="zh-CN" sz="3200" b="1" dirty="0"/>
              <a:t>2.</a:t>
            </a:r>
            <a:r>
              <a:rPr lang="zh-CN" altLang="en-US" sz="3200" b="1" dirty="0"/>
              <a:t>来源</a:t>
            </a:r>
            <a:endParaRPr lang="en-US" altLang="zh-CN" sz="3200" b="1" dirty="0"/>
          </a:p>
          <a:p>
            <a:pPr marL="0" indent="0">
              <a:buNone/>
            </a:pPr>
            <a:r>
              <a:rPr lang="en-US" altLang="zh-CN" sz="3200" b="1" dirty="0"/>
              <a:t>3.</a:t>
            </a:r>
            <a:r>
              <a:rPr lang="zh-CN" altLang="en-US" sz="3200" b="1" dirty="0"/>
              <a:t>本质</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9</a:t>
            </a:fld>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a:t>1.</a:t>
            </a:r>
            <a:r>
              <a:rPr lang="zh-CN" altLang="en-US" sz="6000" b="1" dirty="0"/>
              <a:t>工业</a:t>
            </a:r>
            <a:r>
              <a:rPr lang="en-US" altLang="zh-CN" sz="6000" b="1" dirty="0"/>
              <a:t>4.0</a:t>
            </a:r>
            <a:r>
              <a:rPr lang="zh-CN" altLang="en-US" sz="6000" b="1" dirty="0"/>
              <a:t>的含义</a:t>
            </a:r>
          </a:p>
        </p:txBody>
      </p:sp>
      <p:sp>
        <p:nvSpPr>
          <p:cNvPr id="3" name="内容占位符 2"/>
          <p:cNvSpPr>
            <a:spLocks noGrp="1"/>
          </p:cNvSpPr>
          <p:nvPr>
            <p:ph idx="1"/>
          </p:nvPr>
        </p:nvSpPr>
        <p:spPr/>
        <p:txBody>
          <a:bodyPr>
            <a:normAutofit/>
          </a:bodyPr>
          <a:lstStyle/>
          <a:p>
            <a:r>
              <a:rPr lang="zh-CN" altLang="en-US" sz="3200" b="1" dirty="0"/>
              <a:t>由集中式控制向</a:t>
            </a:r>
            <a:r>
              <a:rPr lang="zh-CN" altLang="en-US" sz="3200" b="1" dirty="0">
                <a:solidFill>
                  <a:srgbClr val="00B0F0"/>
                </a:solidFill>
              </a:rPr>
              <a:t>分散式</a:t>
            </a:r>
            <a:r>
              <a:rPr lang="zh-CN" altLang="en-US" sz="3200" b="1" dirty="0"/>
              <a:t>控制基本模式转变</a:t>
            </a:r>
            <a:endParaRPr lang="en-US" altLang="zh-CN" sz="3200" b="1" dirty="0"/>
          </a:p>
          <a:p>
            <a:r>
              <a:rPr lang="zh-CN" altLang="en-US" sz="3200" b="1" dirty="0"/>
              <a:t>以</a:t>
            </a:r>
            <a:r>
              <a:rPr lang="zh-CN" altLang="en-US" sz="3200" b="1" dirty="0">
                <a:solidFill>
                  <a:srgbClr val="00B0F0"/>
                </a:solidFill>
              </a:rPr>
              <a:t>智能制造</a:t>
            </a:r>
            <a:r>
              <a:rPr lang="zh-CN" altLang="en-US" sz="3200" b="1" dirty="0"/>
              <a:t>为主导的革命性生产战略</a:t>
            </a:r>
            <a:endParaRPr lang="en-US" altLang="zh-CN" sz="3200" b="1" dirty="0"/>
          </a:p>
          <a:p>
            <a:r>
              <a:rPr lang="zh-CN" altLang="en-US" sz="3200" b="1" dirty="0"/>
              <a:t>利用信息物理系统相</a:t>
            </a:r>
            <a:r>
              <a:rPr lang="zh-CN" altLang="en-US" sz="3200" b="1" dirty="0">
                <a:solidFill>
                  <a:srgbClr val="00B0F0"/>
                </a:solidFill>
              </a:rPr>
              <a:t>结合</a:t>
            </a:r>
            <a:r>
              <a:rPr lang="zh-CN" altLang="en-US" sz="3200" b="1" dirty="0"/>
              <a:t>，使制造业智能化转型</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10</a:t>
            </a:fld>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a:t>2.</a:t>
            </a:r>
            <a:r>
              <a:rPr lang="zh-CN" altLang="en-US" sz="6000" b="1" dirty="0"/>
              <a:t>工业</a:t>
            </a:r>
            <a:r>
              <a:rPr lang="en-US" altLang="zh-CN" sz="6000" b="1" dirty="0"/>
              <a:t>4.0</a:t>
            </a:r>
            <a:r>
              <a:rPr lang="zh-CN" altLang="en-US" sz="6000" b="1" dirty="0"/>
              <a:t>的来源</a:t>
            </a:r>
          </a:p>
        </p:txBody>
      </p:sp>
      <p:sp>
        <p:nvSpPr>
          <p:cNvPr id="3" name="内容占位符 2"/>
          <p:cNvSpPr>
            <a:spLocks noGrp="1"/>
          </p:cNvSpPr>
          <p:nvPr>
            <p:ph idx="1"/>
          </p:nvPr>
        </p:nvSpPr>
        <p:spPr/>
        <p:txBody>
          <a:bodyPr>
            <a:normAutofit/>
          </a:bodyPr>
          <a:lstStyle/>
          <a:p>
            <a:r>
              <a:rPr lang="en-US" altLang="zh-CN" sz="3200" b="1" dirty="0"/>
              <a:t>2011</a:t>
            </a:r>
            <a:r>
              <a:rPr lang="zh-CN" altLang="en-US" sz="3200" b="1" dirty="0"/>
              <a:t>年汉诺威工业博览会，德国提出工业</a:t>
            </a:r>
            <a:r>
              <a:rPr lang="en-US" altLang="zh-CN" sz="3200" b="1" dirty="0"/>
              <a:t>4.0</a:t>
            </a:r>
            <a:r>
              <a:rPr lang="zh-CN" altLang="en-US" sz="3200" b="1" dirty="0"/>
              <a:t>，目的是通过物联网等技术应用来提高德国制造业的水平</a:t>
            </a:r>
            <a:endParaRPr lang="en-US" altLang="zh-CN" sz="3200" b="1" dirty="0"/>
          </a:p>
          <a:p>
            <a:r>
              <a:rPr lang="zh-CN" altLang="en-US" sz="3200" b="1" dirty="0"/>
              <a:t>德国工业</a:t>
            </a:r>
            <a:r>
              <a:rPr lang="en-US" altLang="zh-CN" sz="3200" b="1" dirty="0"/>
              <a:t>4.0</a:t>
            </a:r>
            <a:r>
              <a:rPr lang="zh-CN" altLang="en-US" sz="3200" b="1" dirty="0"/>
              <a:t>工作组成立</a:t>
            </a:r>
            <a:endParaRPr lang="en-US" altLang="zh-CN" sz="3200" b="1" dirty="0"/>
          </a:p>
          <a:p>
            <a:r>
              <a:rPr lang="en-US" altLang="zh-CN" sz="3200" b="1" dirty="0"/>
              <a:t>2013</a:t>
            </a:r>
            <a:r>
              <a:rPr lang="zh-CN" altLang="en-US" sz="3200" b="1" dirty="0"/>
              <a:t>年</a:t>
            </a:r>
            <a:r>
              <a:rPr lang="en-US" altLang="zh-CN" sz="3200" b="1" dirty="0"/>
              <a:t>4</a:t>
            </a:r>
            <a:r>
              <a:rPr lang="zh-CN" altLang="en-US" sz="3200" b="1" dirty="0"/>
              <a:t>月德国发布</a:t>
            </a:r>
            <a:r>
              <a:rPr lang="en-US" altLang="zh-CN" sz="3200" b="1" dirty="0"/>
              <a:t>《</a:t>
            </a:r>
            <a:r>
              <a:rPr lang="zh-CN" altLang="en-US" sz="3200" b="1" dirty="0"/>
              <a:t>保障德国制造业的未来：关于实施工业</a:t>
            </a:r>
            <a:r>
              <a:rPr lang="en-US" altLang="zh-CN" sz="3200" b="1" dirty="0"/>
              <a:t>4.0</a:t>
            </a:r>
            <a:r>
              <a:rPr lang="zh-CN" altLang="en-US" sz="3200" b="1" dirty="0"/>
              <a:t>战略的建议</a:t>
            </a:r>
            <a:r>
              <a:rPr lang="en-US" altLang="zh-CN" sz="3200" b="1" dirty="0"/>
              <a:t>》</a:t>
            </a:r>
            <a:endParaRPr lang="zh-CN" altLang="en-US"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11</a:t>
            </a:fld>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a:t>3.</a:t>
            </a:r>
            <a:r>
              <a:rPr lang="zh-CN" altLang="en-US" sz="6000" b="1" dirty="0"/>
              <a:t>工业</a:t>
            </a:r>
            <a:r>
              <a:rPr lang="en-US" altLang="zh-CN" sz="6000" b="1" dirty="0"/>
              <a:t>4.0</a:t>
            </a:r>
            <a:r>
              <a:rPr lang="zh-CN" altLang="en-US" sz="6000" b="1" dirty="0"/>
              <a:t>的本质特征</a:t>
            </a:r>
          </a:p>
        </p:txBody>
      </p:sp>
      <p:sp>
        <p:nvSpPr>
          <p:cNvPr id="3" name="内容占位符 2"/>
          <p:cNvSpPr>
            <a:spLocks noGrp="1"/>
          </p:cNvSpPr>
          <p:nvPr>
            <p:ph idx="1"/>
          </p:nvPr>
        </p:nvSpPr>
        <p:spPr/>
        <p:txBody>
          <a:bodyPr>
            <a:normAutofit lnSpcReduction="10000"/>
          </a:bodyPr>
          <a:lstStyle/>
          <a:p>
            <a:r>
              <a:rPr lang="zh-CN" altLang="en-US" sz="3200" b="1" dirty="0">
                <a:solidFill>
                  <a:schemeClr val="tx1"/>
                </a:solidFill>
              </a:rPr>
              <a:t>互联</a:t>
            </a:r>
            <a:endParaRPr lang="en-US" altLang="zh-CN" sz="3200" b="1" dirty="0">
              <a:solidFill>
                <a:schemeClr val="tx1"/>
              </a:solidFill>
            </a:endParaRPr>
          </a:p>
          <a:p>
            <a:r>
              <a:rPr lang="zh-CN" altLang="en-US" sz="3200" b="1" dirty="0">
                <a:solidFill>
                  <a:schemeClr val="tx1"/>
                </a:solidFill>
              </a:rPr>
              <a:t>集成</a:t>
            </a:r>
            <a:endParaRPr lang="en-US" altLang="zh-CN" sz="3200" b="1" dirty="0">
              <a:solidFill>
                <a:schemeClr val="tx1"/>
              </a:solidFill>
            </a:endParaRPr>
          </a:p>
          <a:p>
            <a:r>
              <a:rPr lang="zh-CN" altLang="en-US" sz="3200" b="1" dirty="0">
                <a:solidFill>
                  <a:schemeClr val="tx1"/>
                </a:solidFill>
              </a:rPr>
              <a:t>数据</a:t>
            </a:r>
            <a:endParaRPr lang="en-US" altLang="zh-CN" sz="3200" b="1" dirty="0">
              <a:solidFill>
                <a:schemeClr val="tx1"/>
              </a:solidFill>
            </a:endParaRPr>
          </a:p>
          <a:p>
            <a:r>
              <a:rPr lang="zh-CN" altLang="en-US" sz="3200" b="1" dirty="0">
                <a:solidFill>
                  <a:schemeClr val="tx1"/>
                </a:solidFill>
              </a:rPr>
              <a:t>创新</a:t>
            </a:r>
            <a:endParaRPr lang="en-US" altLang="zh-CN" sz="3200" b="1" dirty="0">
              <a:solidFill>
                <a:schemeClr val="tx1"/>
              </a:solidFill>
            </a:endParaRPr>
          </a:p>
          <a:p>
            <a:r>
              <a:rPr lang="zh-CN" altLang="en-US" sz="3200" b="1" dirty="0">
                <a:solidFill>
                  <a:schemeClr val="tx1"/>
                </a:solidFill>
              </a:rPr>
              <a:t>转型</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12</a:t>
            </a:fld>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互联</a:t>
            </a:r>
          </a:p>
        </p:txBody>
      </p:sp>
      <p:sp>
        <p:nvSpPr>
          <p:cNvPr id="3" name="内容占位符 2"/>
          <p:cNvSpPr>
            <a:spLocks noGrp="1"/>
          </p:cNvSpPr>
          <p:nvPr>
            <p:ph idx="1"/>
          </p:nvPr>
        </p:nvSpPr>
        <p:spPr/>
        <p:txBody>
          <a:bodyPr>
            <a:normAutofit fontScale="92500" lnSpcReduction="20000"/>
          </a:bodyPr>
          <a:lstStyle/>
          <a:p>
            <a:pPr marL="0" indent="0">
              <a:buNone/>
            </a:pPr>
            <a:r>
              <a:rPr lang="en-US" altLang="zh-CN" sz="3200" b="1" dirty="0"/>
              <a:t>(1)</a:t>
            </a:r>
            <a:r>
              <a:rPr lang="zh-CN" altLang="en-US" sz="3200" b="1" dirty="0"/>
              <a:t>生产设备互联：智能单机设备</a:t>
            </a:r>
            <a:r>
              <a:rPr lang="en-US" altLang="zh-CN" sz="3200" b="1" dirty="0"/>
              <a:t>-&gt;</a:t>
            </a:r>
            <a:r>
              <a:rPr lang="zh-CN" altLang="en-US" sz="3200" b="1" dirty="0"/>
              <a:t>智能车间</a:t>
            </a:r>
            <a:r>
              <a:rPr lang="en-US" altLang="zh-CN" sz="3200" b="1" dirty="0"/>
              <a:t>-&gt;</a:t>
            </a:r>
            <a:r>
              <a:rPr lang="zh-CN" altLang="en-US" sz="3200" b="1" dirty="0"/>
              <a:t>智能工厂</a:t>
            </a:r>
            <a:r>
              <a:rPr lang="en-US" altLang="zh-CN" sz="3200" b="1" dirty="0"/>
              <a:t>-&gt;</a:t>
            </a:r>
            <a:r>
              <a:rPr lang="zh-CN" altLang="en-US" sz="3200" b="1" dirty="0"/>
              <a:t>智能制造系统</a:t>
            </a:r>
            <a:endParaRPr lang="en-US" altLang="zh-CN" sz="3200" b="1" dirty="0"/>
          </a:p>
          <a:p>
            <a:pPr marL="0" indent="0">
              <a:buNone/>
            </a:pPr>
            <a:r>
              <a:rPr lang="en-US" altLang="zh-CN" sz="3200" b="1" dirty="0"/>
              <a:t>(2)</a:t>
            </a:r>
            <a:r>
              <a:rPr lang="zh-CN" altLang="en-US" sz="3200" b="1" dirty="0"/>
              <a:t>虚拟现实互联：信息物理系统将物理设备连接到互联网，让物理设备具有计算、通信、控制、远程协调、自治五大功能，实现虚拟网络和现实世界的融合</a:t>
            </a:r>
            <a:endParaRPr lang="en-US" altLang="zh-CN" sz="3200" b="1" dirty="0"/>
          </a:p>
          <a:p>
            <a:pPr marL="0" indent="0">
              <a:buNone/>
            </a:pPr>
            <a:r>
              <a:rPr lang="en-US" altLang="zh-CN" sz="3200" b="1" dirty="0"/>
              <a:t>(3)</a:t>
            </a:r>
            <a:r>
              <a:rPr lang="zh-CN" altLang="en-US" sz="3200" b="1" dirty="0"/>
              <a:t>万物互联：无所不在的互联，所有产品成为终端，生产方式重构</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13</a:t>
            </a:fld>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集成</a:t>
            </a:r>
          </a:p>
        </p:txBody>
      </p:sp>
      <p:sp>
        <p:nvSpPr>
          <p:cNvPr id="3" name="内容占位符 2"/>
          <p:cNvSpPr>
            <a:spLocks noGrp="1"/>
          </p:cNvSpPr>
          <p:nvPr>
            <p:ph idx="1"/>
          </p:nvPr>
        </p:nvSpPr>
        <p:spPr>
          <a:xfrm>
            <a:off x="790575" y="2314575"/>
            <a:ext cx="10572750" cy="3819525"/>
          </a:xfrm>
        </p:spPr>
        <p:txBody>
          <a:bodyPr>
            <a:normAutofit/>
          </a:bodyPr>
          <a:lstStyle/>
          <a:p>
            <a:pPr marL="0" indent="0">
              <a:buNone/>
            </a:pPr>
            <a:r>
              <a:rPr lang="en-US" altLang="zh-CN" sz="3200" b="1" dirty="0"/>
              <a:t>(1)</a:t>
            </a:r>
            <a:r>
              <a:rPr lang="zh-CN" altLang="en-US" sz="3200" b="1" dirty="0"/>
              <a:t>纵向集成：</a:t>
            </a:r>
            <a:r>
              <a:rPr lang="zh-CN" altLang="en-US" sz="3200" b="1" dirty="0">
                <a:solidFill>
                  <a:srgbClr val="00B0F0"/>
                </a:solidFill>
              </a:rPr>
              <a:t>企业内部</a:t>
            </a:r>
            <a:r>
              <a:rPr lang="zh-CN" altLang="en-US" sz="3200" b="1" dirty="0"/>
              <a:t>信息无缝链接，智能化的基础</a:t>
            </a:r>
            <a:endParaRPr lang="en-US" altLang="zh-CN" sz="3200" b="1" dirty="0"/>
          </a:p>
          <a:p>
            <a:pPr marL="0" indent="0">
              <a:buNone/>
            </a:pPr>
            <a:r>
              <a:rPr lang="en-US" altLang="zh-CN" sz="3200" b="1" dirty="0"/>
              <a:t>(2)</a:t>
            </a:r>
            <a:r>
              <a:rPr lang="zh-CN" altLang="en-US" sz="3200" b="1" dirty="0"/>
              <a:t>端到端集成：围绕产品生命周期价值链创造，对</a:t>
            </a:r>
            <a:r>
              <a:rPr lang="zh-CN" altLang="en-US" sz="3200" b="1" dirty="0">
                <a:solidFill>
                  <a:srgbClr val="00B0F0"/>
                </a:solidFill>
              </a:rPr>
              <a:t>价值链</a:t>
            </a:r>
            <a:r>
              <a:rPr lang="zh-CN" altLang="en-US" sz="3200" b="1" dirty="0"/>
              <a:t>上的不同企业进行资源整合</a:t>
            </a:r>
            <a:endParaRPr lang="en-US" altLang="zh-CN" sz="3200" b="1" dirty="0">
              <a:solidFill>
                <a:srgbClr val="00B0F0"/>
              </a:solidFill>
            </a:endParaRPr>
          </a:p>
          <a:p>
            <a:pPr marL="0" indent="0">
              <a:buNone/>
            </a:pPr>
            <a:r>
              <a:rPr lang="en-US" altLang="zh-CN" sz="3200" b="1" dirty="0"/>
              <a:t>(3)</a:t>
            </a:r>
            <a:r>
              <a:rPr lang="zh-CN" altLang="en-US" sz="3200" b="1" dirty="0"/>
              <a:t>横向集成：产业链信息集成，企业间研发网络，企业间供应链管理。横向集成是企业间通过信息网络的资源整合，实现</a:t>
            </a:r>
            <a:r>
              <a:rPr lang="zh-CN" altLang="en-US" sz="3200" b="1" dirty="0">
                <a:solidFill>
                  <a:srgbClr val="00B0F0"/>
                </a:solidFill>
              </a:rPr>
              <a:t>各企业间</a:t>
            </a:r>
            <a:r>
              <a:rPr lang="zh-CN" altLang="en-US" sz="3200" b="1" dirty="0"/>
              <a:t>无缝链接</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14</a:t>
            </a:fld>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数据</a:t>
            </a:r>
          </a:p>
        </p:txBody>
      </p:sp>
      <p:sp>
        <p:nvSpPr>
          <p:cNvPr id="3" name="内容占位符 2"/>
          <p:cNvSpPr>
            <a:spLocks noGrp="1"/>
          </p:cNvSpPr>
          <p:nvPr>
            <p:ph idx="1"/>
          </p:nvPr>
        </p:nvSpPr>
        <p:spPr/>
        <p:txBody>
          <a:bodyPr>
            <a:normAutofit fontScale="92500" lnSpcReduction="20000"/>
          </a:bodyPr>
          <a:lstStyle/>
          <a:p>
            <a:pPr marL="0" indent="0">
              <a:buNone/>
            </a:pPr>
            <a:r>
              <a:rPr lang="en-US" altLang="zh-CN" sz="3200" b="1" dirty="0"/>
              <a:t>(1)</a:t>
            </a:r>
            <a:r>
              <a:rPr lang="zh-CN" altLang="en-US" sz="3200" b="1" dirty="0"/>
              <a:t>产品数据：产品自身数据使生命周期管理成为可能；企业和消费者交互数据为需求分析、产品设计提供参考</a:t>
            </a:r>
            <a:endParaRPr lang="en-US" altLang="zh-CN" sz="3200" b="1" dirty="0"/>
          </a:p>
          <a:p>
            <a:pPr marL="0" indent="0">
              <a:buNone/>
            </a:pPr>
            <a:r>
              <a:rPr lang="en-US" altLang="zh-CN" sz="3200" b="1" dirty="0"/>
              <a:t>(2)</a:t>
            </a:r>
            <a:r>
              <a:rPr lang="zh-CN" altLang="en-US" sz="3200" b="1" dirty="0"/>
              <a:t>运营数据：对设备的监控，生产数据反馈使工业控制管理最优化；对采购、储存、销售、配送数据分析，带来效益提升；实时感知的能源管理系统优化能源效率</a:t>
            </a:r>
            <a:endParaRPr lang="en-US" altLang="zh-CN" sz="3200" b="1" dirty="0"/>
          </a:p>
          <a:p>
            <a:pPr marL="0" indent="0">
              <a:buNone/>
            </a:pPr>
            <a:r>
              <a:rPr lang="en-US" altLang="zh-CN" sz="3200" b="1" dirty="0"/>
              <a:t>(3)</a:t>
            </a:r>
            <a:r>
              <a:rPr lang="zh-CN" altLang="en-US" sz="3200" b="1" dirty="0"/>
              <a:t>价值链数据：分析和挖掘</a:t>
            </a:r>
            <a:r>
              <a:rPr lang="zh-CN" altLang="en-US" sz="3200" b="1" dirty="0">
                <a:solidFill>
                  <a:srgbClr val="00B0F0"/>
                </a:solidFill>
              </a:rPr>
              <a:t>客户、供应商、合作伙伴</a:t>
            </a:r>
            <a:r>
              <a:rPr lang="zh-CN" altLang="en-US" sz="3200" b="1" dirty="0"/>
              <a:t>的数据，给企业带来战略优势。</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15</a:t>
            </a:fld>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创新</a:t>
            </a:r>
          </a:p>
        </p:txBody>
      </p:sp>
      <p:sp>
        <p:nvSpPr>
          <p:cNvPr id="3" name="内容占位符 2"/>
          <p:cNvSpPr>
            <a:spLocks noGrp="1"/>
          </p:cNvSpPr>
          <p:nvPr>
            <p:ph idx="1"/>
          </p:nvPr>
        </p:nvSpPr>
        <p:spPr/>
        <p:txBody>
          <a:bodyPr>
            <a:normAutofit fontScale="92500" lnSpcReduction="20000"/>
          </a:bodyPr>
          <a:lstStyle/>
          <a:p>
            <a:pPr marL="0" indent="0">
              <a:buNone/>
            </a:pPr>
            <a:r>
              <a:rPr lang="en-US" altLang="zh-CN" sz="3200" b="1" dirty="0"/>
              <a:t>(1)</a:t>
            </a:r>
            <a:r>
              <a:rPr lang="zh-CN" altLang="en-US" sz="3200" b="1" dirty="0"/>
              <a:t>技术创新：信息技术如新传感器、集成电路、人工智能、移动互联、大数据的演进；传统工业在信息化环境中的创新发展；传统工业和信息技术的融合发展</a:t>
            </a:r>
            <a:endParaRPr lang="en-US" altLang="zh-CN" sz="3200" b="1" dirty="0"/>
          </a:p>
          <a:p>
            <a:pPr marL="0" indent="0">
              <a:buNone/>
            </a:pPr>
            <a:r>
              <a:rPr lang="en-US" altLang="zh-CN" sz="3200" b="1" dirty="0"/>
              <a:t>(2)</a:t>
            </a:r>
            <a:r>
              <a:rPr lang="zh-CN" altLang="en-US" sz="3200" b="1" dirty="0"/>
              <a:t>产品创新：信息通信技术融入工业装备，推动产品的智能化发展。如家居智能化、汽车智能化</a:t>
            </a:r>
            <a:endParaRPr lang="en-US" altLang="zh-CN" sz="3200" b="1" dirty="0"/>
          </a:p>
          <a:p>
            <a:pPr marL="0" indent="0">
              <a:buNone/>
            </a:pPr>
            <a:r>
              <a:rPr lang="en-US" altLang="zh-CN" sz="3200" b="1" dirty="0"/>
              <a:t>(3)</a:t>
            </a:r>
            <a:r>
              <a:rPr lang="zh-CN" altLang="en-US" sz="3200" b="1" dirty="0"/>
              <a:t>模式创新：全新的生产模式：机器分析</a:t>
            </a:r>
            <a:r>
              <a:rPr lang="en-US" altLang="zh-CN" sz="3200" b="1" dirty="0"/>
              <a:t>+</a:t>
            </a:r>
            <a:r>
              <a:rPr lang="zh-CN" altLang="en-US" sz="3200" b="1" dirty="0"/>
              <a:t>机器生产制造，生产制造的智能化</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16</a:t>
            </a:fld>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转型</a:t>
            </a:r>
          </a:p>
        </p:txBody>
      </p:sp>
      <p:sp>
        <p:nvSpPr>
          <p:cNvPr id="3" name="内容占位符 2"/>
          <p:cNvSpPr>
            <a:spLocks noGrp="1"/>
          </p:cNvSpPr>
          <p:nvPr>
            <p:ph idx="1"/>
          </p:nvPr>
        </p:nvSpPr>
        <p:spPr/>
        <p:txBody>
          <a:bodyPr>
            <a:normAutofit fontScale="85000" lnSpcReduction="20000"/>
          </a:bodyPr>
          <a:lstStyle/>
          <a:p>
            <a:r>
              <a:rPr lang="en-US" altLang="zh-CN" sz="3200" b="1" dirty="0">
                <a:latin typeface="+mj-lt"/>
              </a:rPr>
              <a:t>(1)</a:t>
            </a:r>
            <a:r>
              <a:rPr lang="zh-CN" altLang="en-US" sz="3200" b="1" dirty="0">
                <a:latin typeface="+mj-lt"/>
              </a:rPr>
              <a:t>从大规模生产到</a:t>
            </a:r>
            <a:r>
              <a:rPr lang="zh-CN" altLang="en-US" sz="3200" b="1" dirty="0">
                <a:solidFill>
                  <a:srgbClr val="00B0F0"/>
                </a:solidFill>
                <a:latin typeface="+mj-lt"/>
              </a:rPr>
              <a:t>个性化</a:t>
            </a:r>
            <a:r>
              <a:rPr lang="zh-CN" altLang="en-US" sz="3200" b="1" dirty="0">
                <a:latin typeface="+mj-lt"/>
              </a:rPr>
              <a:t>：用户参与设计、制造、物流、服务各个环节</a:t>
            </a:r>
            <a:endParaRPr lang="en-US" altLang="zh-CN" sz="3200" b="1" dirty="0">
              <a:latin typeface="+mj-lt"/>
            </a:endParaRPr>
          </a:p>
          <a:p>
            <a:r>
              <a:rPr lang="en-US" altLang="zh-CN" sz="3200" b="1" dirty="0">
                <a:latin typeface="+mj-lt"/>
              </a:rPr>
              <a:t>(2)</a:t>
            </a:r>
            <a:r>
              <a:rPr lang="zh-CN" altLang="en-US" sz="3200" b="1" dirty="0">
                <a:latin typeface="+mj-lt"/>
              </a:rPr>
              <a:t>从生产型制造到</a:t>
            </a:r>
            <a:r>
              <a:rPr lang="zh-CN" altLang="en-US" sz="3200" b="1" dirty="0">
                <a:solidFill>
                  <a:srgbClr val="00B0F0"/>
                </a:solidFill>
                <a:latin typeface="+mj-lt"/>
              </a:rPr>
              <a:t>服务型</a:t>
            </a:r>
            <a:r>
              <a:rPr lang="zh-CN" altLang="en-US" sz="3200" b="1" dirty="0">
                <a:latin typeface="+mj-lt"/>
              </a:rPr>
              <a:t>制造：企业围绕产品生命周期各个环节融入增值服务，制造业服务化转型是工业</a:t>
            </a:r>
            <a:r>
              <a:rPr lang="en-US" altLang="zh-CN" sz="3200" b="1" dirty="0">
                <a:latin typeface="+mj-lt"/>
              </a:rPr>
              <a:t>4.0</a:t>
            </a:r>
            <a:r>
              <a:rPr lang="zh-CN" altLang="en-US" sz="3200" b="1" dirty="0">
                <a:latin typeface="+mj-lt"/>
              </a:rPr>
              <a:t>的一个核心理念</a:t>
            </a:r>
            <a:endParaRPr lang="en-US" altLang="zh-CN" sz="3200" b="1" dirty="0">
              <a:latin typeface="+mj-lt"/>
            </a:endParaRPr>
          </a:p>
          <a:p>
            <a:r>
              <a:rPr lang="en-US" altLang="zh-CN" sz="3200" b="1" dirty="0">
                <a:latin typeface="+mj-lt"/>
              </a:rPr>
              <a:t>(3)</a:t>
            </a:r>
            <a:r>
              <a:rPr lang="zh-CN" altLang="en-US" sz="3200" b="1" dirty="0">
                <a:latin typeface="+mj-lt"/>
              </a:rPr>
              <a:t>要素驱动到</a:t>
            </a:r>
            <a:r>
              <a:rPr lang="zh-CN" altLang="en-US" sz="3200" b="1" dirty="0">
                <a:solidFill>
                  <a:srgbClr val="00B0F0"/>
                </a:solidFill>
                <a:latin typeface="+mj-lt"/>
              </a:rPr>
              <a:t>创新驱动</a:t>
            </a:r>
            <a:r>
              <a:rPr lang="zh-CN" altLang="en-US" sz="3200" b="1" dirty="0">
                <a:latin typeface="+mj-lt"/>
              </a:rPr>
              <a:t>：即从大量资本、劳动力投入的传统要素驱动发展模式，转型为集成移动互联网、云计算、物联网、大数据的创新驱动模式</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17</a:t>
            </a:fld>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4626" y="995393"/>
            <a:ext cx="2439574" cy="5755422"/>
          </a:xfrm>
          <a:prstGeom prst="rect">
            <a:avLst/>
          </a:prstGeom>
          <a:noFill/>
        </p:spPr>
        <p:txBody>
          <a:bodyPr wrap="square" rtlCol="0">
            <a:spAutoFit/>
          </a:bodyPr>
          <a:lstStyle/>
          <a:p>
            <a:r>
              <a:rPr lang="zh-CN" altLang="en-US" sz="9600" b="1" dirty="0">
                <a:latin typeface="+mj-lt"/>
              </a:rPr>
              <a:t>目录</a:t>
            </a:r>
            <a:r>
              <a:rPr lang="zh-CN" altLang="en-US" sz="8800" b="1" dirty="0">
                <a:latin typeface="+mj-lt"/>
              </a:rPr>
              <a:t> </a:t>
            </a:r>
            <a:endParaRPr lang="en-US" altLang="zh-CN" sz="8800" b="1" dirty="0">
              <a:latin typeface="+mj-lt"/>
            </a:endParaRPr>
          </a:p>
          <a:p>
            <a:endParaRPr lang="en-US" altLang="zh-CN" sz="8800" b="1" dirty="0">
              <a:latin typeface="+mj-lt"/>
            </a:endParaRPr>
          </a:p>
          <a:p>
            <a:endParaRPr lang="zh-CN" altLang="en-US" sz="8800" b="1" dirty="0">
              <a:latin typeface="+mj-lt"/>
            </a:endParaRPr>
          </a:p>
        </p:txBody>
      </p:sp>
      <p:sp>
        <p:nvSpPr>
          <p:cNvPr id="5" name="文本框 4"/>
          <p:cNvSpPr txBox="1"/>
          <p:nvPr/>
        </p:nvSpPr>
        <p:spPr>
          <a:xfrm>
            <a:off x="3556820" y="1166842"/>
            <a:ext cx="7806504" cy="4524315"/>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历届工业革命回顾</a:t>
            </a:r>
            <a:endParaRPr lang="en-US" altLang="zh-CN" sz="3600" b="1" dirty="0"/>
          </a:p>
          <a:p>
            <a:endParaRPr lang="en-US" altLang="zh-CN" sz="3600" b="1" dirty="0"/>
          </a:p>
          <a:p>
            <a:r>
              <a:rPr lang="zh-CN" altLang="en-US" sz="3600" b="1" dirty="0"/>
              <a:t>二</a:t>
            </a:r>
            <a:r>
              <a:rPr lang="en-US" altLang="zh-CN" sz="3600" b="1" dirty="0"/>
              <a:t>.</a:t>
            </a:r>
            <a:r>
              <a:rPr lang="zh-CN" altLang="en-US" sz="3600" b="1" dirty="0"/>
              <a:t>工业</a:t>
            </a:r>
            <a:r>
              <a:rPr lang="en-US" altLang="zh-CN" sz="3600" b="1" dirty="0"/>
              <a:t>4.0</a:t>
            </a:r>
            <a:r>
              <a:rPr lang="zh-CN" altLang="en-US" sz="3600" b="1" dirty="0"/>
              <a:t>内涵解读</a:t>
            </a:r>
            <a:endParaRPr lang="en-US" altLang="zh-CN" sz="3600" b="1" dirty="0"/>
          </a:p>
          <a:p>
            <a:endParaRPr lang="en-US" altLang="zh-CN" sz="3600" b="1" dirty="0"/>
          </a:p>
          <a:p>
            <a:r>
              <a:rPr lang="zh-CN" altLang="en-US" sz="3600" b="1" dirty="0">
                <a:solidFill>
                  <a:srgbClr val="FF0000"/>
                </a:solidFill>
              </a:rPr>
              <a:t>三</a:t>
            </a:r>
            <a:r>
              <a:rPr lang="en-US" altLang="zh-CN" sz="3600" b="1" dirty="0">
                <a:solidFill>
                  <a:srgbClr val="FF0000"/>
                </a:solidFill>
              </a:rPr>
              <a:t>.</a:t>
            </a:r>
            <a:r>
              <a:rPr lang="zh-CN" altLang="en-US" sz="3600" b="1" dirty="0">
                <a:solidFill>
                  <a:srgbClr val="FF0000"/>
                </a:solidFill>
              </a:rPr>
              <a:t>德国工业</a:t>
            </a:r>
            <a:r>
              <a:rPr lang="en-US" altLang="zh-CN" sz="3600" b="1" dirty="0">
                <a:solidFill>
                  <a:srgbClr val="FF0000"/>
                </a:solidFill>
              </a:rPr>
              <a:t>4.0</a:t>
            </a:r>
            <a:r>
              <a:rPr lang="zh-CN" altLang="en-US" sz="3600" b="1" dirty="0">
                <a:solidFill>
                  <a:srgbClr val="FF0000"/>
                </a:solidFill>
              </a:rPr>
              <a:t>和中国工业</a:t>
            </a:r>
            <a:r>
              <a:rPr lang="en-US" altLang="zh-CN" sz="3600" b="1" dirty="0">
                <a:solidFill>
                  <a:srgbClr val="FF0000"/>
                </a:solidFill>
              </a:rPr>
              <a:t>4.0</a:t>
            </a:r>
          </a:p>
          <a:p>
            <a:endParaRPr lang="en-US" altLang="zh-CN" sz="3600" b="1" dirty="0"/>
          </a:p>
          <a:p>
            <a:r>
              <a:rPr lang="zh-CN" altLang="en-US" sz="3600" b="1" dirty="0"/>
              <a:t>四</a:t>
            </a:r>
            <a:r>
              <a:rPr lang="en-US" altLang="zh-CN" sz="3600" b="1" dirty="0"/>
              <a:t>.</a:t>
            </a:r>
            <a:r>
              <a:rPr lang="zh-CN" altLang="en-US" sz="3600" b="1" dirty="0"/>
              <a:t>工业</a:t>
            </a:r>
            <a:r>
              <a:rPr lang="en-US" altLang="zh-CN" sz="3600" b="1" dirty="0"/>
              <a:t>4.0</a:t>
            </a:r>
            <a:r>
              <a:rPr lang="zh-CN" altLang="en-US" sz="3600" b="1" dirty="0"/>
              <a:t>和软件</a:t>
            </a:r>
            <a:endParaRPr lang="en-US" altLang="zh-CN" sz="3600" b="1" dirty="0"/>
          </a:p>
          <a:p>
            <a:endParaRPr lang="en-US" altLang="zh-CN" sz="3600" b="1" dirty="0">
              <a:latin typeface="+mn-ea"/>
            </a:endParaRPr>
          </a:p>
        </p:txBody>
      </p:sp>
      <p:sp>
        <p:nvSpPr>
          <p:cNvPr id="2" name="灯片编号占位符 1"/>
          <p:cNvSpPr>
            <a:spLocks noGrp="1"/>
          </p:cNvSpPr>
          <p:nvPr>
            <p:ph type="sldNum" sz="quarter" idx="12"/>
          </p:nvPr>
        </p:nvSpPr>
        <p:spPr/>
        <p:txBody>
          <a:bodyPr/>
          <a:lstStyle/>
          <a:p>
            <a:fld id="{BA2602C4-676A-4DC9-83FD-3F245FA472CF}" type="slidenum">
              <a:rPr lang="zh-CN" altLang="en-US" smtClean="0"/>
              <a:t>18</a:t>
            </a:fld>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6000" b="1" dirty="0"/>
              <a:t>三</a:t>
            </a:r>
            <a:r>
              <a:rPr lang="en-US" altLang="zh-CN" sz="6000" b="1" dirty="0"/>
              <a:t>.</a:t>
            </a:r>
            <a:r>
              <a:rPr lang="zh-CN" altLang="en-US" sz="6000" b="1" dirty="0"/>
              <a:t>德国工业</a:t>
            </a:r>
            <a:r>
              <a:rPr lang="en-US" altLang="zh-CN" sz="6000" b="1" dirty="0"/>
              <a:t>4.0</a:t>
            </a:r>
            <a:r>
              <a:rPr lang="zh-CN" altLang="en-US" sz="6000" b="1" dirty="0"/>
              <a:t>和中国工业</a:t>
            </a:r>
            <a:r>
              <a:rPr lang="en-US" altLang="zh-CN" sz="6000" b="1" dirty="0"/>
              <a:t>4.0</a:t>
            </a:r>
            <a:endParaRPr lang="zh-CN" altLang="en-US" sz="6000" b="1" dirty="0"/>
          </a:p>
        </p:txBody>
      </p:sp>
      <p:sp>
        <p:nvSpPr>
          <p:cNvPr id="3" name="内容占位符 2"/>
          <p:cNvSpPr>
            <a:spLocks noGrp="1"/>
          </p:cNvSpPr>
          <p:nvPr>
            <p:ph idx="1"/>
          </p:nvPr>
        </p:nvSpPr>
        <p:spPr/>
        <p:txBody>
          <a:bodyPr>
            <a:normAutofit/>
          </a:bodyPr>
          <a:lstStyle/>
          <a:p>
            <a:pPr marL="0" indent="0">
              <a:buNone/>
            </a:pPr>
            <a:r>
              <a:rPr lang="en-US" altLang="zh-CN" sz="3200" b="1" dirty="0"/>
              <a:t>1.</a:t>
            </a:r>
            <a:r>
              <a:rPr lang="zh-CN" altLang="en-US" sz="3200" b="1" dirty="0"/>
              <a:t>德国工业</a:t>
            </a:r>
            <a:r>
              <a:rPr lang="en-US" altLang="zh-CN" sz="3200" b="1" dirty="0"/>
              <a:t>4.0</a:t>
            </a:r>
            <a:r>
              <a:rPr lang="zh-CN" altLang="en-US" sz="3200" b="1" dirty="0"/>
              <a:t>内容解读</a:t>
            </a:r>
            <a:endParaRPr lang="en-US" altLang="zh-CN" sz="3200" b="1" dirty="0"/>
          </a:p>
          <a:p>
            <a:pPr marL="0" indent="0">
              <a:buNone/>
            </a:pPr>
            <a:r>
              <a:rPr lang="en-US" altLang="zh-CN" sz="3200" b="1" dirty="0"/>
              <a:t>2.</a:t>
            </a:r>
            <a:r>
              <a:rPr lang="zh-CN" altLang="en-US" sz="3200" b="1" dirty="0"/>
              <a:t>中国工业</a:t>
            </a:r>
            <a:r>
              <a:rPr lang="en-US" altLang="zh-CN" sz="3200" b="1" dirty="0"/>
              <a:t>4.0</a:t>
            </a:r>
            <a:r>
              <a:rPr lang="zh-CN" altLang="en-US" sz="3200" b="1" dirty="0"/>
              <a:t>蓝图规划</a:t>
            </a:r>
            <a:endParaRPr lang="en-US" altLang="zh-CN"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19</a:t>
            </a:fld>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6000" b="1" dirty="0"/>
              <a:t>三</a:t>
            </a:r>
            <a:r>
              <a:rPr lang="en-US" altLang="zh-CN" sz="6000" b="1" dirty="0"/>
              <a:t>.</a:t>
            </a:r>
            <a:r>
              <a:rPr lang="zh-CN" altLang="en-US" sz="6000" b="1" dirty="0"/>
              <a:t>德国工业</a:t>
            </a:r>
            <a:r>
              <a:rPr lang="en-US" altLang="zh-CN" sz="6000" b="1" dirty="0"/>
              <a:t>4.0</a:t>
            </a:r>
            <a:r>
              <a:rPr lang="zh-CN" altLang="en-US" sz="6000" b="1" dirty="0"/>
              <a:t>和中国工业</a:t>
            </a:r>
            <a:r>
              <a:rPr lang="en-US" altLang="zh-CN" sz="6000" b="1" dirty="0"/>
              <a:t>4.0</a:t>
            </a:r>
            <a:endParaRPr lang="zh-CN" altLang="en-US" sz="6000" b="1" dirty="0"/>
          </a:p>
        </p:txBody>
      </p:sp>
      <p:sp>
        <p:nvSpPr>
          <p:cNvPr id="3" name="内容占位符 2"/>
          <p:cNvSpPr>
            <a:spLocks noGrp="1"/>
          </p:cNvSpPr>
          <p:nvPr>
            <p:ph idx="1"/>
          </p:nvPr>
        </p:nvSpPr>
        <p:spPr/>
        <p:txBody>
          <a:bodyPr>
            <a:normAutofit/>
          </a:bodyPr>
          <a:lstStyle/>
          <a:p>
            <a:pPr marL="0" indent="0">
              <a:buNone/>
            </a:pPr>
            <a:r>
              <a:rPr lang="en-US" altLang="zh-CN" sz="3200" b="1" dirty="0">
                <a:solidFill>
                  <a:srgbClr val="FF0000"/>
                </a:solidFill>
              </a:rPr>
              <a:t>1.</a:t>
            </a:r>
            <a:r>
              <a:rPr lang="zh-CN" altLang="en-US" sz="3200" b="1" dirty="0">
                <a:solidFill>
                  <a:srgbClr val="FF0000"/>
                </a:solidFill>
              </a:rPr>
              <a:t>德国工业</a:t>
            </a:r>
            <a:r>
              <a:rPr lang="en-US" altLang="zh-CN" sz="3200" b="1" dirty="0">
                <a:solidFill>
                  <a:srgbClr val="FF0000"/>
                </a:solidFill>
              </a:rPr>
              <a:t>4.0</a:t>
            </a:r>
            <a:r>
              <a:rPr lang="zh-CN" altLang="en-US" sz="3200" b="1" dirty="0">
                <a:solidFill>
                  <a:srgbClr val="FF0000"/>
                </a:solidFill>
              </a:rPr>
              <a:t>内容解读</a:t>
            </a:r>
            <a:endParaRPr lang="en-US" altLang="zh-CN" sz="3200" b="1" dirty="0">
              <a:solidFill>
                <a:srgbClr val="FF0000"/>
              </a:solidFill>
            </a:endParaRPr>
          </a:p>
          <a:p>
            <a:pPr marL="0" indent="0">
              <a:buNone/>
            </a:pPr>
            <a:r>
              <a:rPr lang="en-US" altLang="zh-CN" sz="3200" b="1" dirty="0"/>
              <a:t>2.</a:t>
            </a:r>
            <a:r>
              <a:rPr lang="zh-CN" altLang="en-US" sz="3200" b="1" dirty="0"/>
              <a:t>中国工业</a:t>
            </a:r>
            <a:r>
              <a:rPr lang="en-US" altLang="zh-CN" sz="3200" b="1" dirty="0"/>
              <a:t>4.0</a:t>
            </a:r>
            <a:r>
              <a:rPr lang="zh-CN" altLang="en-US" sz="3200" b="1" dirty="0"/>
              <a:t>蓝图规划</a:t>
            </a:r>
            <a:endParaRPr lang="en-US" altLang="zh-CN"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20</a:t>
            </a:fld>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主要内容</a:t>
            </a:r>
          </a:p>
        </p:txBody>
      </p:sp>
      <p:sp>
        <p:nvSpPr>
          <p:cNvPr id="3" name="内容占位符 2"/>
          <p:cNvSpPr>
            <a:spLocks noGrp="1"/>
          </p:cNvSpPr>
          <p:nvPr>
            <p:ph idx="1"/>
          </p:nvPr>
        </p:nvSpPr>
        <p:spPr/>
        <p:txBody>
          <a:bodyPr>
            <a:normAutofit fontScale="92500" lnSpcReduction="20000"/>
          </a:bodyPr>
          <a:lstStyle/>
          <a:p>
            <a:pPr marL="0" indent="0">
              <a:buNone/>
            </a:pPr>
            <a:r>
              <a:rPr lang="en-US" altLang="zh-CN" sz="3200" b="1" dirty="0"/>
              <a:t>(1)</a:t>
            </a:r>
            <a:r>
              <a:rPr lang="zh-CN" altLang="en-US" sz="3200" b="1" dirty="0"/>
              <a:t>建设一个信息物理系统网络：虚拟和现实融合，万物互联实现智能化生产</a:t>
            </a:r>
            <a:endParaRPr lang="en-US" altLang="zh-CN" sz="3200" b="1" dirty="0"/>
          </a:p>
          <a:p>
            <a:pPr marL="0" indent="0">
              <a:buNone/>
            </a:pPr>
            <a:r>
              <a:rPr lang="en-US" altLang="zh-CN" sz="3200" b="1" dirty="0"/>
              <a:t>(2)</a:t>
            </a:r>
            <a:r>
              <a:rPr lang="zh-CN" altLang="en-US" sz="3200" b="1" dirty="0"/>
              <a:t>研究智能工厂、智能生产两个主题</a:t>
            </a:r>
            <a:endParaRPr lang="en-US" altLang="zh-CN" sz="3200" b="1" dirty="0"/>
          </a:p>
          <a:p>
            <a:pPr marL="0" indent="0">
              <a:buNone/>
            </a:pPr>
            <a:r>
              <a:rPr lang="en-US" altLang="zh-CN" sz="3200" b="1" dirty="0"/>
              <a:t>(3)</a:t>
            </a:r>
            <a:r>
              <a:rPr lang="zh-CN" altLang="en-US" sz="3200" b="1" dirty="0"/>
              <a:t>实现横向集成、纵向集成、端到端集成</a:t>
            </a:r>
            <a:endParaRPr lang="en-US" altLang="zh-CN" sz="3200" b="1" dirty="0"/>
          </a:p>
          <a:p>
            <a:pPr marL="0" indent="0">
              <a:buNone/>
            </a:pPr>
            <a:r>
              <a:rPr lang="en-US" altLang="zh-CN" sz="3200" b="1" dirty="0"/>
              <a:t>(4)</a:t>
            </a:r>
            <a:r>
              <a:rPr lang="zh-CN" altLang="en-US" sz="3200" b="1" dirty="0"/>
              <a:t>推进三大转变：生产模式集中到分散；规模化到个性化；客户全程参与生产</a:t>
            </a:r>
            <a:endParaRPr lang="en-US" altLang="zh-CN" sz="3200" b="1" dirty="0"/>
          </a:p>
          <a:p>
            <a:endParaRPr lang="en-US" altLang="zh-CN"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21</a:t>
            </a:fld>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战略目的</a:t>
            </a:r>
          </a:p>
        </p:txBody>
      </p:sp>
      <p:sp>
        <p:nvSpPr>
          <p:cNvPr id="3" name="内容占位符 2"/>
          <p:cNvSpPr>
            <a:spLocks noGrp="1"/>
          </p:cNvSpPr>
          <p:nvPr>
            <p:ph idx="1"/>
          </p:nvPr>
        </p:nvSpPr>
        <p:spPr/>
        <p:txBody>
          <a:bodyPr>
            <a:normAutofit/>
          </a:bodyPr>
          <a:lstStyle/>
          <a:p>
            <a:pPr marL="0" indent="0">
              <a:buNone/>
            </a:pPr>
            <a:r>
              <a:rPr lang="en-US" altLang="zh-CN" sz="3200" b="1" dirty="0"/>
              <a:t>(1)</a:t>
            </a:r>
            <a:r>
              <a:rPr lang="zh-CN" altLang="en-US" sz="3200" b="1" dirty="0"/>
              <a:t>确保德国制造业国际竞争力</a:t>
            </a:r>
            <a:endParaRPr lang="en-US" altLang="zh-CN" sz="3200" b="1" dirty="0"/>
          </a:p>
          <a:p>
            <a:pPr marL="0" indent="0">
              <a:buNone/>
            </a:pPr>
            <a:endParaRPr lang="en-US" altLang="zh-CN" sz="3200" b="1" dirty="0"/>
          </a:p>
          <a:p>
            <a:pPr marL="0" indent="0">
              <a:buNone/>
            </a:pPr>
            <a:r>
              <a:rPr lang="en-US" altLang="zh-CN" sz="3200" b="1" dirty="0"/>
              <a:t>(2)</a:t>
            </a:r>
            <a:r>
              <a:rPr lang="zh-CN" altLang="en-US" sz="3200" b="1" dirty="0"/>
              <a:t>推动德国制造业产销模式，即从围绕产品制造的产销模式向基于大数据分析的智能化制造模式转变</a:t>
            </a:r>
            <a:endParaRPr lang="en-US" altLang="zh-CN" sz="3200" b="1" dirty="0"/>
          </a:p>
          <a:p>
            <a:pPr marL="0" indent="0">
              <a:buNone/>
            </a:pPr>
            <a:endParaRPr lang="zh-CN" altLang="en-US"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22</a:t>
            </a:fld>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启示指导</a:t>
            </a:r>
          </a:p>
        </p:txBody>
      </p:sp>
      <p:sp>
        <p:nvSpPr>
          <p:cNvPr id="3" name="内容占位符 2"/>
          <p:cNvSpPr>
            <a:spLocks noGrp="1"/>
          </p:cNvSpPr>
          <p:nvPr>
            <p:ph idx="1"/>
          </p:nvPr>
        </p:nvSpPr>
        <p:spPr/>
        <p:txBody>
          <a:bodyPr>
            <a:normAutofit/>
          </a:bodyPr>
          <a:lstStyle/>
          <a:p>
            <a:pPr marL="0" indent="0">
              <a:buNone/>
            </a:pPr>
            <a:r>
              <a:rPr lang="en-US" altLang="zh-CN" sz="3200" b="1" dirty="0"/>
              <a:t>(1)</a:t>
            </a:r>
            <a:r>
              <a:rPr lang="zh-CN" altLang="en-US" sz="3200" b="1" dirty="0"/>
              <a:t>工业</a:t>
            </a:r>
            <a:r>
              <a:rPr lang="en-US" altLang="zh-CN" sz="3200" b="1" dirty="0"/>
              <a:t>4.0</a:t>
            </a:r>
            <a:r>
              <a:rPr lang="zh-CN" altLang="en-US" sz="3200" b="1" dirty="0"/>
              <a:t>的智能化、互联网化</a:t>
            </a:r>
            <a:endParaRPr lang="en-US" altLang="zh-CN" sz="3200" b="1" dirty="0"/>
          </a:p>
          <a:p>
            <a:pPr marL="0" indent="0">
              <a:buNone/>
            </a:pPr>
            <a:r>
              <a:rPr lang="en-US" altLang="zh-CN" sz="3200" b="1" dirty="0"/>
              <a:t>(2)</a:t>
            </a:r>
            <a:r>
              <a:rPr lang="zh-CN" altLang="en-US" sz="3200" b="1" dirty="0"/>
              <a:t>工业</a:t>
            </a:r>
            <a:r>
              <a:rPr lang="en-US" altLang="zh-CN" sz="3200" b="1" dirty="0"/>
              <a:t>4.0</a:t>
            </a:r>
            <a:r>
              <a:rPr lang="zh-CN" altLang="en-US" sz="3200" b="1" dirty="0"/>
              <a:t>的标准化、系统化</a:t>
            </a:r>
            <a:endParaRPr lang="en-US" altLang="zh-CN" sz="3200" b="1" dirty="0"/>
          </a:p>
          <a:p>
            <a:pPr marL="0" indent="0">
              <a:buNone/>
            </a:pPr>
            <a:r>
              <a:rPr lang="en-US" altLang="zh-CN" sz="3200" b="1" dirty="0"/>
              <a:t>(3)</a:t>
            </a:r>
            <a:r>
              <a:rPr lang="zh-CN" altLang="en-US" sz="3200" b="1" dirty="0"/>
              <a:t>工业</a:t>
            </a:r>
            <a:r>
              <a:rPr lang="en-US" altLang="zh-CN" sz="3200" b="1" dirty="0"/>
              <a:t>4.0</a:t>
            </a:r>
            <a:r>
              <a:rPr lang="zh-CN" altLang="en-US" sz="3200" b="1" dirty="0"/>
              <a:t>的大数据产业推进</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23</a:t>
            </a:fld>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6000" b="1" dirty="0"/>
              <a:t>三</a:t>
            </a:r>
            <a:r>
              <a:rPr lang="en-US" altLang="zh-CN" sz="6000" b="1" dirty="0"/>
              <a:t>.</a:t>
            </a:r>
            <a:r>
              <a:rPr lang="zh-CN" altLang="en-US" sz="6000" b="1" dirty="0"/>
              <a:t>德国工业</a:t>
            </a:r>
            <a:r>
              <a:rPr lang="en-US" altLang="zh-CN" sz="6000" b="1" dirty="0"/>
              <a:t>4.0</a:t>
            </a:r>
            <a:r>
              <a:rPr lang="zh-CN" altLang="en-US" sz="6000" b="1" dirty="0"/>
              <a:t>和中国工业</a:t>
            </a:r>
            <a:r>
              <a:rPr lang="en-US" altLang="zh-CN" sz="6000" b="1" dirty="0"/>
              <a:t>4.0</a:t>
            </a:r>
            <a:endParaRPr lang="zh-CN" altLang="en-US" sz="6000" b="1" dirty="0"/>
          </a:p>
        </p:txBody>
      </p:sp>
      <p:sp>
        <p:nvSpPr>
          <p:cNvPr id="3" name="内容占位符 2"/>
          <p:cNvSpPr>
            <a:spLocks noGrp="1"/>
          </p:cNvSpPr>
          <p:nvPr>
            <p:ph idx="1"/>
          </p:nvPr>
        </p:nvSpPr>
        <p:spPr/>
        <p:txBody>
          <a:bodyPr>
            <a:normAutofit/>
          </a:bodyPr>
          <a:lstStyle/>
          <a:p>
            <a:pPr marL="0" indent="0">
              <a:buNone/>
            </a:pPr>
            <a:r>
              <a:rPr lang="en-US" altLang="zh-CN" sz="3200" b="1" dirty="0"/>
              <a:t>1.</a:t>
            </a:r>
            <a:r>
              <a:rPr lang="zh-CN" altLang="en-US" sz="3200" b="1" dirty="0"/>
              <a:t>德国工业</a:t>
            </a:r>
            <a:r>
              <a:rPr lang="en-US" altLang="zh-CN" sz="3200" b="1" dirty="0"/>
              <a:t>4.0</a:t>
            </a:r>
            <a:r>
              <a:rPr lang="zh-CN" altLang="en-US" sz="3200" b="1" dirty="0"/>
              <a:t>内容解读</a:t>
            </a:r>
            <a:endParaRPr lang="en-US" altLang="zh-CN" sz="3200" b="1" dirty="0"/>
          </a:p>
          <a:p>
            <a:pPr marL="0" indent="0">
              <a:buNone/>
            </a:pPr>
            <a:r>
              <a:rPr lang="en-US" altLang="zh-CN" sz="3200" b="1" dirty="0">
                <a:solidFill>
                  <a:srgbClr val="FF0000"/>
                </a:solidFill>
              </a:rPr>
              <a:t>2.</a:t>
            </a:r>
            <a:r>
              <a:rPr lang="zh-CN" altLang="en-US" sz="3200" b="1" dirty="0">
                <a:solidFill>
                  <a:srgbClr val="FF0000"/>
                </a:solidFill>
              </a:rPr>
              <a:t>中国工业</a:t>
            </a:r>
            <a:r>
              <a:rPr lang="en-US" altLang="zh-CN" sz="3200" b="1" dirty="0">
                <a:solidFill>
                  <a:srgbClr val="FF0000"/>
                </a:solidFill>
              </a:rPr>
              <a:t>4.0</a:t>
            </a:r>
            <a:r>
              <a:rPr lang="zh-CN" altLang="en-US" sz="3200" b="1" dirty="0">
                <a:solidFill>
                  <a:srgbClr val="FF0000"/>
                </a:solidFill>
              </a:rPr>
              <a:t>蓝图规划</a:t>
            </a:r>
            <a:endParaRPr lang="en-US" altLang="zh-CN" sz="3200" b="1" dirty="0">
              <a:solidFill>
                <a:srgbClr val="FF0000"/>
              </a:solidFill>
            </a:endParaRPr>
          </a:p>
        </p:txBody>
      </p:sp>
      <p:sp>
        <p:nvSpPr>
          <p:cNvPr id="4" name="灯片编号占位符 3"/>
          <p:cNvSpPr>
            <a:spLocks noGrp="1"/>
          </p:cNvSpPr>
          <p:nvPr>
            <p:ph type="sldNum" sz="quarter" idx="12"/>
          </p:nvPr>
        </p:nvSpPr>
        <p:spPr/>
        <p:txBody>
          <a:bodyPr/>
          <a:lstStyle/>
          <a:p>
            <a:fld id="{BA2602C4-676A-4DC9-83FD-3F245FA472CF}" type="slidenum">
              <a:rPr lang="zh-CN" altLang="en-US" smtClean="0"/>
              <a:t>24</a:t>
            </a:fld>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6000" b="1" dirty="0"/>
              <a:t>2.</a:t>
            </a:r>
            <a:r>
              <a:rPr lang="zh-CN" altLang="en-US" sz="6000" b="1" dirty="0"/>
              <a:t>中国工业</a:t>
            </a:r>
            <a:r>
              <a:rPr lang="en-US" altLang="zh-CN" sz="6000" b="1" dirty="0"/>
              <a:t>4.0</a:t>
            </a:r>
            <a:r>
              <a:rPr lang="zh-CN" altLang="en-US" sz="6000" b="1" dirty="0"/>
              <a:t>蓝图规划</a:t>
            </a:r>
            <a:r>
              <a:rPr lang="en-US" altLang="zh-CN" b="1" dirty="0">
                <a:latin typeface="+mn-ea"/>
              </a:rPr>
              <a:t/>
            </a:r>
            <a:br>
              <a:rPr lang="en-US" altLang="zh-CN" b="1" dirty="0">
                <a:latin typeface="+mn-ea"/>
              </a:rPr>
            </a:br>
            <a:endParaRPr lang="zh-CN" altLang="en-US" dirty="0"/>
          </a:p>
        </p:txBody>
      </p:sp>
      <p:sp>
        <p:nvSpPr>
          <p:cNvPr id="3" name="内容占位符 2"/>
          <p:cNvSpPr>
            <a:spLocks noGrp="1"/>
          </p:cNvSpPr>
          <p:nvPr>
            <p:ph idx="1"/>
          </p:nvPr>
        </p:nvSpPr>
        <p:spPr/>
        <p:txBody>
          <a:bodyPr>
            <a:normAutofit/>
          </a:bodyPr>
          <a:lstStyle/>
          <a:p>
            <a:r>
              <a:rPr lang="zh-CN" altLang="en-US" sz="3200" b="1" dirty="0">
                <a:solidFill>
                  <a:schemeClr val="tx1"/>
                </a:solidFill>
              </a:rPr>
              <a:t>两化深度融合战略</a:t>
            </a:r>
            <a:endParaRPr lang="en-US" altLang="zh-CN" sz="3200" b="1" dirty="0">
              <a:solidFill>
                <a:schemeClr val="tx1"/>
              </a:solidFill>
            </a:endParaRPr>
          </a:p>
          <a:p>
            <a:r>
              <a:rPr lang="zh-CN" altLang="en-US" sz="3200" b="1" dirty="0">
                <a:solidFill>
                  <a:schemeClr val="tx1"/>
                </a:solidFill>
              </a:rPr>
              <a:t>中国怎样执行工业</a:t>
            </a:r>
            <a:r>
              <a:rPr lang="en-US" altLang="zh-CN" sz="3200" b="1" dirty="0">
                <a:solidFill>
                  <a:schemeClr val="tx1"/>
                </a:solidFill>
              </a:rPr>
              <a:t>4.0</a:t>
            </a:r>
          </a:p>
          <a:p>
            <a:r>
              <a:rPr lang="en-US" altLang="zh-CN" sz="3200" b="1" dirty="0">
                <a:solidFill>
                  <a:schemeClr val="tx1"/>
                </a:solidFill>
              </a:rPr>
              <a:t>《</a:t>
            </a:r>
            <a:r>
              <a:rPr lang="zh-CN" altLang="en-US" sz="3200" b="1" dirty="0">
                <a:solidFill>
                  <a:schemeClr val="tx1"/>
                </a:solidFill>
              </a:rPr>
              <a:t>中国制造</a:t>
            </a:r>
            <a:r>
              <a:rPr lang="en-US" altLang="zh-CN" sz="3200" b="1" dirty="0">
                <a:solidFill>
                  <a:schemeClr val="tx1"/>
                </a:solidFill>
              </a:rPr>
              <a:t>2025》</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BA2602C4-676A-4DC9-83FD-3F245FA472CF}" type="slidenum">
              <a:rPr lang="zh-CN" altLang="en-US" smtClean="0"/>
              <a:t>25</a:t>
            </a:fld>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000" b="1" dirty="0">
                <a:solidFill>
                  <a:schemeClr val="tx1"/>
                </a:solidFill>
              </a:rPr>
              <a:t>两化深度融合战略</a:t>
            </a:r>
            <a:r>
              <a:rPr lang="en-US" altLang="zh-CN" b="1" dirty="0">
                <a:solidFill>
                  <a:srgbClr val="FF0000"/>
                </a:solidFill>
              </a:rPr>
              <a:t/>
            </a:r>
            <a:br>
              <a:rPr lang="en-US" altLang="zh-CN" b="1" dirty="0">
                <a:solidFill>
                  <a:srgbClr val="FF0000"/>
                </a:solidFill>
              </a:rPr>
            </a:b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en-US" altLang="zh-CN" sz="3200" b="1" dirty="0"/>
              <a:t>(1)</a:t>
            </a:r>
            <a:r>
              <a:rPr lang="zh-CN" altLang="en-US" sz="3200" b="1" dirty="0"/>
              <a:t>中国的信息化和工业化深度融合战略，与德国的工业</a:t>
            </a:r>
            <a:r>
              <a:rPr lang="en-US" altLang="zh-CN" sz="3200" b="1" dirty="0"/>
              <a:t>4.0</a:t>
            </a:r>
            <a:r>
              <a:rPr lang="zh-CN" altLang="en-US" sz="3200" b="1" dirty="0"/>
              <a:t>战略如出一辙</a:t>
            </a:r>
            <a:endParaRPr lang="en-US" altLang="zh-CN" sz="3200" b="1" dirty="0"/>
          </a:p>
          <a:p>
            <a:pPr marL="0" indent="0">
              <a:buNone/>
            </a:pPr>
            <a:r>
              <a:rPr lang="en-US" altLang="zh-CN" sz="3200" b="1" dirty="0"/>
              <a:t>(2)</a:t>
            </a:r>
            <a:r>
              <a:rPr lang="zh-CN" altLang="en-US" sz="3200" b="1" dirty="0"/>
              <a:t>核心理念也是互联、集成、数据、创新、转型</a:t>
            </a:r>
            <a:endParaRPr lang="en-US" altLang="zh-CN" sz="3200" b="1" dirty="0"/>
          </a:p>
          <a:p>
            <a:pPr marL="0" indent="0">
              <a:buNone/>
            </a:pPr>
            <a:r>
              <a:rPr lang="en-US" altLang="zh-CN" sz="3200" b="1" dirty="0"/>
              <a:t>(3)</a:t>
            </a:r>
            <a:r>
              <a:rPr lang="zh-CN" altLang="en-US" sz="3200" b="1" dirty="0"/>
              <a:t>集成是两化融合的重点，中德认识一致</a:t>
            </a:r>
            <a:endParaRPr lang="en-US" altLang="zh-CN" sz="3200" b="1" dirty="0"/>
          </a:p>
          <a:p>
            <a:pPr marL="0" indent="0">
              <a:buNone/>
            </a:pPr>
            <a:r>
              <a:rPr lang="en-US" altLang="zh-CN" sz="3200" b="1" dirty="0"/>
              <a:t>(4)</a:t>
            </a:r>
            <a:r>
              <a:rPr lang="zh-CN" altLang="en-US" sz="3200" b="1" dirty="0"/>
              <a:t> 不能忽略中国互联网企业在产业变革的引领作用，这是我们的优势</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26</a:t>
            </a:fld>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000" b="1" dirty="0">
                <a:solidFill>
                  <a:schemeClr val="tx1"/>
                </a:solidFill>
              </a:rPr>
              <a:t>中国怎样执行工业</a:t>
            </a:r>
            <a:r>
              <a:rPr lang="en-US" altLang="zh-CN" sz="6000" b="1" dirty="0">
                <a:solidFill>
                  <a:schemeClr val="tx1"/>
                </a:solidFill>
              </a:rPr>
              <a:t>4.0</a:t>
            </a:r>
            <a:r>
              <a:rPr lang="en-US" altLang="zh-CN" b="1" dirty="0">
                <a:solidFill>
                  <a:srgbClr val="FF0000"/>
                </a:solidFill>
              </a:rPr>
              <a:t/>
            </a:r>
            <a:br>
              <a:rPr lang="en-US" altLang="zh-CN" b="1" dirty="0">
                <a:solidFill>
                  <a:srgbClr val="FF0000"/>
                </a:solidFill>
              </a:rPr>
            </a:b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en-US" altLang="zh-CN" sz="3200" b="1" dirty="0"/>
              <a:t>(1)</a:t>
            </a:r>
            <a:r>
              <a:rPr lang="zh-CN" altLang="en-US" sz="3200" b="1" dirty="0"/>
              <a:t>把</a:t>
            </a:r>
            <a:r>
              <a:rPr lang="zh-CN" altLang="en-US" sz="3200" b="1" dirty="0">
                <a:solidFill>
                  <a:srgbClr val="00B0F0"/>
                </a:solidFill>
              </a:rPr>
              <a:t>智能制造</a:t>
            </a:r>
            <a:r>
              <a:rPr lang="zh-CN" altLang="en-US" sz="3200" b="1" dirty="0"/>
              <a:t>作为两化融合主攻方向：产品智能化、设备智能化、生产智能化、管理智能化、服务智能化</a:t>
            </a:r>
            <a:endParaRPr lang="en-US" altLang="zh-CN" sz="3200" b="1" dirty="0"/>
          </a:p>
          <a:p>
            <a:pPr marL="0" indent="0">
              <a:buNone/>
            </a:pPr>
            <a:r>
              <a:rPr lang="en-US" altLang="zh-CN" sz="3200" b="1" dirty="0"/>
              <a:t>(2)</a:t>
            </a:r>
            <a:r>
              <a:rPr lang="zh-CN" altLang="en-US" sz="3200" b="1" dirty="0">
                <a:solidFill>
                  <a:srgbClr val="00B0F0"/>
                </a:solidFill>
              </a:rPr>
              <a:t>智能工厂</a:t>
            </a:r>
            <a:r>
              <a:rPr lang="zh-CN" altLang="en-US" sz="3200" b="1" dirty="0"/>
              <a:t>作为智能制造的切入点：行业层面推广智能工厂，在区域层面推广智能制造系统</a:t>
            </a:r>
            <a:endParaRPr lang="en-US" altLang="zh-CN" sz="3200" b="1" dirty="0"/>
          </a:p>
          <a:p>
            <a:pPr marL="0" indent="0">
              <a:buNone/>
            </a:pPr>
            <a:r>
              <a:rPr lang="en-US" altLang="zh-CN" sz="3200" b="1" dirty="0"/>
              <a:t>(3)</a:t>
            </a:r>
            <a:r>
              <a:rPr lang="zh-CN" altLang="en-US" sz="3200" b="1" dirty="0"/>
              <a:t>认识</a:t>
            </a:r>
            <a:r>
              <a:rPr lang="zh-CN" altLang="en-US" sz="3200" b="1" dirty="0">
                <a:solidFill>
                  <a:srgbClr val="00B0F0"/>
                </a:solidFill>
              </a:rPr>
              <a:t>互联网</a:t>
            </a:r>
            <a:r>
              <a:rPr lang="zh-CN" altLang="en-US" sz="3200" b="1" dirty="0"/>
              <a:t>在智能制造的地位</a:t>
            </a:r>
            <a:endParaRPr lang="en-US" altLang="zh-CN" sz="3200" b="1" dirty="0"/>
          </a:p>
          <a:p>
            <a:pPr marL="0" indent="0">
              <a:buNone/>
            </a:pPr>
            <a:r>
              <a:rPr lang="en-US" altLang="zh-CN" sz="3200" b="1" dirty="0"/>
              <a:t>(4)</a:t>
            </a:r>
            <a:r>
              <a:rPr lang="zh-CN" altLang="en-US" sz="3200" b="1" dirty="0">
                <a:solidFill>
                  <a:srgbClr val="00B0F0"/>
                </a:solidFill>
              </a:rPr>
              <a:t>标准化</a:t>
            </a:r>
            <a:r>
              <a:rPr lang="zh-CN" altLang="en-US" sz="3200" b="1" dirty="0"/>
              <a:t>作为智能制造的优势领域：学习借鉴德国工业</a:t>
            </a:r>
            <a:r>
              <a:rPr lang="en-US" altLang="zh-CN" sz="3200" b="1" dirty="0"/>
              <a:t>4.0</a:t>
            </a:r>
            <a:r>
              <a:rPr lang="zh-CN" altLang="en-US" sz="3200" b="1" dirty="0"/>
              <a:t>标准化路线图，建设智能制造的标准化体系</a:t>
            </a:r>
            <a:endParaRPr lang="en-US" altLang="zh-CN" sz="3200" b="1" dirty="0"/>
          </a:p>
          <a:p>
            <a:pPr marL="0" indent="0">
              <a:buNone/>
            </a:pPr>
            <a:endParaRPr lang="en-US" altLang="zh-CN"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27</a:t>
            </a:fld>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1413" y="609600"/>
            <a:ext cx="9905998" cy="1905000"/>
          </a:xfrm>
        </p:spPr>
        <p:txBody>
          <a:bodyPr/>
          <a:lstStyle/>
          <a:p>
            <a:r>
              <a:rPr lang="en-US" altLang="zh-CN" sz="6000" b="1" dirty="0">
                <a:solidFill>
                  <a:schemeClr val="tx1"/>
                </a:solidFill>
              </a:rPr>
              <a:t>《</a:t>
            </a:r>
            <a:r>
              <a:rPr lang="zh-CN" altLang="en-US" sz="6000" b="1" dirty="0">
                <a:solidFill>
                  <a:schemeClr val="tx1"/>
                </a:solidFill>
              </a:rPr>
              <a:t>中国制造</a:t>
            </a:r>
            <a:r>
              <a:rPr lang="en-US" altLang="zh-CN" sz="6000" b="1" dirty="0">
                <a:solidFill>
                  <a:schemeClr val="tx1"/>
                </a:solidFill>
              </a:rPr>
              <a:t>2025》</a:t>
            </a:r>
            <a:r>
              <a:rPr lang="zh-CN" altLang="en-US" b="1" dirty="0">
                <a:solidFill>
                  <a:schemeClr val="tx1"/>
                </a:solidFill>
              </a:rPr>
              <a:t/>
            </a:r>
            <a:br>
              <a:rPr lang="zh-CN" altLang="en-US" b="1" dirty="0">
                <a:solidFill>
                  <a:schemeClr val="tx1"/>
                </a:solidFill>
              </a:rPr>
            </a:br>
            <a:endParaRPr lang="zh-CN" altLang="en-US" dirty="0"/>
          </a:p>
        </p:txBody>
      </p:sp>
      <p:sp>
        <p:nvSpPr>
          <p:cNvPr id="3" name="内容占位符 2"/>
          <p:cNvSpPr>
            <a:spLocks noGrp="1"/>
          </p:cNvSpPr>
          <p:nvPr>
            <p:ph idx="1"/>
          </p:nvPr>
        </p:nvSpPr>
        <p:spPr>
          <a:xfrm>
            <a:off x="1038226" y="2705100"/>
            <a:ext cx="10191750" cy="3724275"/>
          </a:xfrm>
        </p:spPr>
        <p:txBody>
          <a:bodyPr>
            <a:normAutofit lnSpcReduction="10000"/>
          </a:bodyPr>
          <a:lstStyle/>
          <a:p>
            <a:pPr marL="0" indent="0">
              <a:buNone/>
            </a:pPr>
            <a:r>
              <a:rPr lang="en-US" altLang="zh-CN" sz="3200" b="1" dirty="0"/>
              <a:t>(1)2020</a:t>
            </a:r>
            <a:r>
              <a:rPr lang="zh-CN" altLang="en-US" sz="3200" b="1" dirty="0"/>
              <a:t>年，我国基本实现工业化，</a:t>
            </a:r>
            <a:r>
              <a:rPr lang="en-US" altLang="zh-CN" sz="3200" b="1" dirty="0"/>
              <a:t>《</a:t>
            </a:r>
            <a:r>
              <a:rPr lang="zh-CN" altLang="en-US" sz="3200" b="1" dirty="0"/>
              <a:t>中国制造</a:t>
            </a:r>
            <a:r>
              <a:rPr lang="en-US" altLang="zh-CN" sz="3200" b="1" dirty="0"/>
              <a:t>2025》</a:t>
            </a:r>
            <a:r>
              <a:rPr lang="zh-CN" altLang="en-US" sz="3200" b="1" dirty="0"/>
              <a:t>规划主要结合中国制造业两化融合、工业互联网、工业</a:t>
            </a:r>
            <a:r>
              <a:rPr lang="en-US" altLang="zh-CN" sz="3200" b="1" dirty="0"/>
              <a:t>4.0</a:t>
            </a:r>
            <a:r>
              <a:rPr lang="zh-CN" altLang="en-US" sz="3200" b="1" dirty="0"/>
              <a:t>等趋势，从技术、产业、产品、管理、制造、服务等领域进行的长期战略规划</a:t>
            </a:r>
            <a:endParaRPr lang="en-US" altLang="zh-CN" sz="3200" b="1" dirty="0"/>
          </a:p>
          <a:p>
            <a:pPr marL="0" indent="0">
              <a:buNone/>
            </a:pPr>
            <a:endParaRPr lang="en-US" altLang="zh-CN" sz="3200" b="1" dirty="0"/>
          </a:p>
          <a:p>
            <a:pPr marL="0" indent="0">
              <a:buNone/>
            </a:pPr>
            <a:r>
              <a:rPr lang="en-US" altLang="zh-CN" sz="3200" b="1" dirty="0"/>
              <a:t>(2)《</a:t>
            </a:r>
            <a:r>
              <a:rPr lang="zh-CN" altLang="en-US" sz="3200" b="1" dirty="0"/>
              <a:t>中国制造</a:t>
            </a:r>
            <a:r>
              <a:rPr lang="en-US" altLang="zh-CN" sz="3200" b="1" dirty="0"/>
              <a:t>2025》</a:t>
            </a:r>
            <a:r>
              <a:rPr lang="zh-CN" altLang="en-US" sz="3200" b="1" dirty="0"/>
              <a:t>是升级版的中国制造战略，是中国版本的工业</a:t>
            </a:r>
            <a:r>
              <a:rPr lang="en-US" altLang="zh-CN" sz="3200" b="1" dirty="0"/>
              <a:t>4.0</a:t>
            </a:r>
            <a:r>
              <a:rPr lang="zh-CN" altLang="en-US" sz="3200" b="1" dirty="0"/>
              <a:t>战略</a:t>
            </a:r>
            <a:endParaRPr lang="en-US" altLang="zh-CN" sz="3200" b="1" dirty="0"/>
          </a:p>
          <a:p>
            <a:pPr marL="0" indent="0">
              <a:buNone/>
            </a:pPr>
            <a:endParaRPr lang="zh-CN" altLang="en-US" sz="28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28</a:t>
            </a:fld>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6000" b="1" dirty="0">
                <a:solidFill>
                  <a:schemeClr val="tx1"/>
                </a:solidFill>
              </a:rPr>
              <a:t>《</a:t>
            </a:r>
            <a:r>
              <a:rPr lang="zh-CN" altLang="en-US" sz="6000" b="1" dirty="0">
                <a:solidFill>
                  <a:schemeClr val="tx1"/>
                </a:solidFill>
              </a:rPr>
              <a:t>中国制造</a:t>
            </a:r>
            <a:r>
              <a:rPr lang="en-US" altLang="zh-CN" sz="6000" b="1" dirty="0">
                <a:solidFill>
                  <a:schemeClr val="tx1"/>
                </a:solidFill>
              </a:rPr>
              <a:t>2025》</a:t>
            </a:r>
            <a:r>
              <a:rPr lang="zh-CN" altLang="en-US" b="1" dirty="0">
                <a:solidFill>
                  <a:schemeClr val="tx1"/>
                </a:solidFill>
              </a:rPr>
              <a:t/>
            </a:r>
            <a:br>
              <a:rPr lang="zh-CN" altLang="en-US" b="1" dirty="0">
                <a:solidFill>
                  <a:schemeClr val="tx1"/>
                </a:solidFill>
              </a:rPr>
            </a:br>
            <a:endParaRPr lang="zh-CN" altLang="en-US" dirty="0"/>
          </a:p>
        </p:txBody>
      </p:sp>
      <p:sp>
        <p:nvSpPr>
          <p:cNvPr id="3" name="内容占位符 2"/>
          <p:cNvSpPr>
            <a:spLocks noGrp="1"/>
          </p:cNvSpPr>
          <p:nvPr>
            <p:ph idx="1"/>
          </p:nvPr>
        </p:nvSpPr>
        <p:spPr>
          <a:xfrm>
            <a:off x="742951" y="2114551"/>
            <a:ext cx="10934700" cy="4457700"/>
          </a:xfrm>
        </p:spPr>
        <p:txBody>
          <a:bodyPr>
            <a:normAutofit/>
          </a:bodyPr>
          <a:lstStyle/>
          <a:p>
            <a:pPr marL="0" indent="0">
              <a:buNone/>
            </a:pPr>
            <a:r>
              <a:rPr lang="en-US" altLang="zh-CN" sz="2800" b="1" dirty="0"/>
              <a:t>(3)</a:t>
            </a:r>
            <a:r>
              <a:rPr lang="zh-CN" altLang="en-US" sz="2800" b="1" dirty="0"/>
              <a:t>四大转变：要素驱动转变为创新驱动；低成本竞争优势转向质量效益竞争优势；资源消耗大污染排放多转向绿色制造；生产型制造转向服务型制造</a:t>
            </a:r>
            <a:endParaRPr lang="en-US" altLang="zh-CN" sz="2800" b="1" dirty="0"/>
          </a:p>
          <a:p>
            <a:pPr marL="0" indent="0">
              <a:buNone/>
            </a:pPr>
            <a:r>
              <a:rPr lang="en-US" altLang="zh-CN" sz="2800" b="1" dirty="0"/>
              <a:t>(4)</a:t>
            </a:r>
            <a:r>
              <a:rPr lang="zh-CN" altLang="en-US" sz="2800" b="1" dirty="0"/>
              <a:t>一条主线：以体现信息技术与制造技术深度融合的数字化、网络化、智能化制造为主线</a:t>
            </a:r>
            <a:endParaRPr lang="en-US" altLang="zh-CN" sz="2800" b="1" dirty="0"/>
          </a:p>
          <a:p>
            <a:pPr marL="0" indent="0">
              <a:buNone/>
            </a:pPr>
            <a:r>
              <a:rPr lang="en-US" altLang="zh-CN" sz="2800" b="1" dirty="0"/>
              <a:t>(5)</a:t>
            </a:r>
            <a:r>
              <a:rPr lang="zh-CN" altLang="en-US" sz="2800" b="1" dirty="0"/>
              <a:t>八大对策：推行数字化网络化智能化制造；提升产品设计能力；完善制造业技术创新体系；强化制造基础；提升产品质量；推行绿色制造；培养有全球竞争力的企业和优势产业；发展现代制造服务业</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29</a:t>
            </a:fld>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4626" y="995393"/>
            <a:ext cx="2439574" cy="5755422"/>
          </a:xfrm>
          <a:prstGeom prst="rect">
            <a:avLst/>
          </a:prstGeom>
          <a:noFill/>
        </p:spPr>
        <p:txBody>
          <a:bodyPr wrap="square" rtlCol="0">
            <a:spAutoFit/>
          </a:bodyPr>
          <a:lstStyle/>
          <a:p>
            <a:r>
              <a:rPr lang="zh-CN" altLang="en-US" sz="9600" b="1" dirty="0">
                <a:latin typeface="+mj-lt"/>
              </a:rPr>
              <a:t>目录</a:t>
            </a:r>
            <a:r>
              <a:rPr lang="zh-CN" altLang="en-US" sz="8800" b="1" dirty="0">
                <a:latin typeface="+mj-lt"/>
              </a:rPr>
              <a:t> </a:t>
            </a:r>
            <a:endParaRPr lang="en-US" altLang="zh-CN" sz="8800" b="1" dirty="0">
              <a:latin typeface="+mj-lt"/>
            </a:endParaRPr>
          </a:p>
          <a:p>
            <a:endParaRPr lang="en-US" altLang="zh-CN" sz="8800" b="1" dirty="0">
              <a:latin typeface="+mj-lt"/>
            </a:endParaRPr>
          </a:p>
          <a:p>
            <a:endParaRPr lang="zh-CN" altLang="en-US" sz="8800" b="1" dirty="0">
              <a:latin typeface="+mj-lt"/>
            </a:endParaRPr>
          </a:p>
        </p:txBody>
      </p:sp>
      <p:sp>
        <p:nvSpPr>
          <p:cNvPr id="5" name="文本框 4"/>
          <p:cNvSpPr txBox="1"/>
          <p:nvPr/>
        </p:nvSpPr>
        <p:spPr>
          <a:xfrm>
            <a:off x="3556820" y="1166842"/>
            <a:ext cx="7806504" cy="4524315"/>
          </a:xfrm>
          <a:prstGeom prst="rect">
            <a:avLst/>
          </a:prstGeom>
          <a:noFill/>
        </p:spPr>
        <p:txBody>
          <a:bodyPr wrap="square" rtlCol="0">
            <a:spAutoFit/>
          </a:bodyPr>
          <a:lstStyle/>
          <a:p>
            <a:r>
              <a:rPr lang="zh-CN" altLang="en-US" sz="3600" b="1" dirty="0"/>
              <a:t>一</a:t>
            </a:r>
            <a:r>
              <a:rPr lang="en-US" altLang="zh-CN" sz="3600" b="1" dirty="0"/>
              <a:t>.</a:t>
            </a:r>
            <a:r>
              <a:rPr lang="zh-CN" altLang="en-US" sz="3600" b="1" dirty="0"/>
              <a:t>历届工业革命回顾</a:t>
            </a:r>
            <a:endParaRPr lang="en-US" altLang="zh-CN" sz="3600" b="1" dirty="0"/>
          </a:p>
          <a:p>
            <a:endParaRPr lang="en-US" altLang="zh-CN" sz="3600" b="1" dirty="0"/>
          </a:p>
          <a:p>
            <a:r>
              <a:rPr lang="zh-CN" altLang="en-US" sz="3600" b="1" dirty="0"/>
              <a:t>二</a:t>
            </a:r>
            <a:r>
              <a:rPr lang="en-US" altLang="zh-CN" sz="3600" b="1" dirty="0"/>
              <a:t>.</a:t>
            </a:r>
            <a:r>
              <a:rPr lang="zh-CN" altLang="en-US" sz="3600" b="1" dirty="0"/>
              <a:t>工业</a:t>
            </a:r>
            <a:r>
              <a:rPr lang="en-US" altLang="zh-CN" sz="3600" b="1" dirty="0"/>
              <a:t>4.0</a:t>
            </a:r>
            <a:r>
              <a:rPr lang="zh-CN" altLang="en-US" sz="3600" b="1" dirty="0"/>
              <a:t>内涵解读</a:t>
            </a:r>
            <a:endParaRPr lang="en-US" altLang="zh-CN" sz="3600" b="1" dirty="0"/>
          </a:p>
          <a:p>
            <a:endParaRPr lang="en-US" altLang="zh-CN" sz="3600" b="1" dirty="0"/>
          </a:p>
          <a:p>
            <a:r>
              <a:rPr lang="zh-CN" altLang="en-US" sz="3600" b="1" dirty="0"/>
              <a:t>三</a:t>
            </a:r>
            <a:r>
              <a:rPr lang="en-US" altLang="zh-CN" sz="3600" b="1" dirty="0"/>
              <a:t>.</a:t>
            </a:r>
            <a:r>
              <a:rPr lang="zh-CN" altLang="en-US" sz="3600" b="1" dirty="0"/>
              <a:t>德国工业</a:t>
            </a:r>
            <a:r>
              <a:rPr lang="en-US" altLang="zh-CN" sz="3600" b="1" dirty="0"/>
              <a:t>4.0</a:t>
            </a:r>
            <a:r>
              <a:rPr lang="zh-CN" altLang="en-US" sz="3600" b="1" dirty="0"/>
              <a:t>和中国工业</a:t>
            </a:r>
            <a:r>
              <a:rPr lang="en-US" altLang="zh-CN" sz="3600" b="1" dirty="0"/>
              <a:t>4.0</a:t>
            </a:r>
          </a:p>
          <a:p>
            <a:endParaRPr lang="en-US" altLang="zh-CN" sz="3600" b="1" dirty="0"/>
          </a:p>
          <a:p>
            <a:r>
              <a:rPr lang="zh-CN" altLang="en-US" sz="3600" b="1" dirty="0">
                <a:solidFill>
                  <a:srgbClr val="FF0000"/>
                </a:solidFill>
              </a:rPr>
              <a:t>四</a:t>
            </a:r>
            <a:r>
              <a:rPr lang="en-US" altLang="zh-CN" sz="3600" b="1" dirty="0">
                <a:solidFill>
                  <a:srgbClr val="FF0000"/>
                </a:solidFill>
              </a:rPr>
              <a:t>.</a:t>
            </a:r>
            <a:r>
              <a:rPr lang="zh-CN" altLang="en-US" sz="3600" b="1" dirty="0">
                <a:solidFill>
                  <a:srgbClr val="FF0000"/>
                </a:solidFill>
              </a:rPr>
              <a:t>工业</a:t>
            </a:r>
            <a:r>
              <a:rPr lang="en-US" altLang="zh-CN" sz="3600" b="1" dirty="0">
                <a:solidFill>
                  <a:srgbClr val="FF0000"/>
                </a:solidFill>
              </a:rPr>
              <a:t>4.0</a:t>
            </a:r>
            <a:r>
              <a:rPr lang="zh-CN" altLang="en-US" sz="3600" b="1" dirty="0">
                <a:solidFill>
                  <a:srgbClr val="FF0000"/>
                </a:solidFill>
              </a:rPr>
              <a:t>和软件</a:t>
            </a:r>
            <a:endParaRPr lang="en-US" altLang="zh-CN" sz="3600" b="1" dirty="0">
              <a:solidFill>
                <a:srgbClr val="FF0000"/>
              </a:solidFill>
            </a:endParaRPr>
          </a:p>
          <a:p>
            <a:endParaRPr lang="en-US" altLang="zh-CN" sz="3600" b="1" dirty="0">
              <a:latin typeface="+mn-ea"/>
            </a:endParaRPr>
          </a:p>
        </p:txBody>
      </p:sp>
      <p:sp>
        <p:nvSpPr>
          <p:cNvPr id="2" name="灯片编号占位符 1"/>
          <p:cNvSpPr>
            <a:spLocks noGrp="1"/>
          </p:cNvSpPr>
          <p:nvPr>
            <p:ph type="sldNum" sz="quarter" idx="12"/>
          </p:nvPr>
        </p:nvSpPr>
        <p:spPr/>
        <p:txBody>
          <a:bodyPr/>
          <a:lstStyle/>
          <a:p>
            <a:fld id="{BA2602C4-676A-4DC9-83FD-3F245FA472CF}" type="slidenum">
              <a:rPr lang="zh-CN" altLang="en-US" smtClean="0"/>
              <a:t>30</a:t>
            </a:fld>
            <a:endParaRPr lang="zh-CN"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四</a:t>
            </a:r>
            <a:r>
              <a:rPr lang="en-US" altLang="zh-CN" sz="6000" b="1" dirty="0"/>
              <a:t>.</a:t>
            </a:r>
            <a:r>
              <a:rPr lang="zh-CN" altLang="en-US" sz="6000" b="1" dirty="0"/>
              <a:t>工业</a:t>
            </a:r>
            <a:r>
              <a:rPr lang="en-US" altLang="zh-CN" sz="6000" b="1" dirty="0"/>
              <a:t>4.0</a:t>
            </a:r>
            <a:r>
              <a:rPr lang="zh-CN" altLang="en-US" sz="6000" b="1" dirty="0"/>
              <a:t>和软件</a:t>
            </a:r>
          </a:p>
        </p:txBody>
      </p:sp>
      <p:sp>
        <p:nvSpPr>
          <p:cNvPr id="3" name="内容占位符 2"/>
          <p:cNvSpPr>
            <a:spLocks noGrp="1"/>
          </p:cNvSpPr>
          <p:nvPr>
            <p:ph idx="1"/>
          </p:nvPr>
        </p:nvSpPr>
        <p:spPr/>
        <p:txBody>
          <a:bodyPr>
            <a:normAutofit/>
          </a:bodyPr>
          <a:lstStyle/>
          <a:p>
            <a:pPr marL="0" indent="0">
              <a:buNone/>
            </a:pPr>
            <a:r>
              <a:rPr lang="en-US" altLang="zh-CN" sz="3600" b="1" dirty="0"/>
              <a:t>1.</a:t>
            </a:r>
            <a:r>
              <a:rPr lang="zh-CN" altLang="en-US" sz="3600" b="1" dirty="0"/>
              <a:t>软件支撑生产过程</a:t>
            </a:r>
            <a:endParaRPr lang="en-US" altLang="zh-CN" sz="3600" b="1" dirty="0"/>
          </a:p>
          <a:p>
            <a:pPr marL="0" indent="0">
              <a:buNone/>
            </a:pPr>
            <a:r>
              <a:rPr lang="en-US" altLang="zh-CN" sz="3600" b="1" dirty="0"/>
              <a:t>2.</a:t>
            </a:r>
            <a:r>
              <a:rPr lang="zh-CN" altLang="en-US" sz="3600" b="1" dirty="0"/>
              <a:t>制造业的智能化离不开软件</a:t>
            </a:r>
            <a:endParaRPr lang="en-US" altLang="zh-CN" sz="3600" b="1" dirty="0"/>
          </a:p>
          <a:p>
            <a:pPr marL="0" indent="0">
              <a:buNone/>
            </a:pPr>
            <a:r>
              <a:rPr lang="en-US" altLang="zh-CN" sz="3600" b="1" dirty="0"/>
              <a:t>3.</a:t>
            </a:r>
            <a:r>
              <a:rPr lang="zh-CN" altLang="en-US" sz="3600" b="1" dirty="0"/>
              <a:t>软件质量</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31</a:t>
            </a:fld>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四</a:t>
            </a:r>
            <a:r>
              <a:rPr lang="en-US" altLang="zh-CN" sz="6000" b="1" dirty="0"/>
              <a:t>.</a:t>
            </a:r>
            <a:r>
              <a:rPr lang="zh-CN" altLang="en-US" sz="6000" b="1" dirty="0"/>
              <a:t>工业</a:t>
            </a:r>
            <a:r>
              <a:rPr lang="en-US" altLang="zh-CN" sz="6000" b="1" dirty="0"/>
              <a:t>4.0</a:t>
            </a:r>
            <a:r>
              <a:rPr lang="zh-CN" altLang="en-US" sz="6000" b="1" dirty="0"/>
              <a:t>和软件</a:t>
            </a:r>
          </a:p>
        </p:txBody>
      </p:sp>
      <p:sp>
        <p:nvSpPr>
          <p:cNvPr id="3" name="内容占位符 2"/>
          <p:cNvSpPr>
            <a:spLocks noGrp="1"/>
          </p:cNvSpPr>
          <p:nvPr>
            <p:ph idx="1"/>
          </p:nvPr>
        </p:nvSpPr>
        <p:spPr/>
        <p:txBody>
          <a:bodyPr>
            <a:normAutofit/>
          </a:bodyPr>
          <a:lstStyle/>
          <a:p>
            <a:pPr marL="0" indent="0">
              <a:buNone/>
            </a:pPr>
            <a:r>
              <a:rPr lang="en-US" altLang="zh-CN" sz="3600" b="1" dirty="0">
                <a:solidFill>
                  <a:srgbClr val="FF0000"/>
                </a:solidFill>
              </a:rPr>
              <a:t>1.</a:t>
            </a:r>
            <a:r>
              <a:rPr lang="zh-CN" altLang="en-US" sz="3600" b="1" dirty="0">
                <a:solidFill>
                  <a:srgbClr val="FF0000"/>
                </a:solidFill>
              </a:rPr>
              <a:t>软件支撑生产过程</a:t>
            </a:r>
            <a:endParaRPr lang="en-US" altLang="zh-CN" sz="3600" b="1" dirty="0">
              <a:solidFill>
                <a:srgbClr val="FF0000"/>
              </a:solidFill>
            </a:endParaRPr>
          </a:p>
          <a:p>
            <a:pPr marL="0" indent="0">
              <a:buNone/>
            </a:pPr>
            <a:r>
              <a:rPr lang="en-US" altLang="zh-CN" sz="3600" b="1" dirty="0"/>
              <a:t>2.</a:t>
            </a:r>
            <a:r>
              <a:rPr lang="zh-CN" altLang="en-US" sz="3600" b="1" dirty="0"/>
              <a:t>制造业的智能化离不开软件</a:t>
            </a:r>
            <a:endParaRPr lang="en-US" altLang="zh-CN" sz="3600" b="1" dirty="0"/>
          </a:p>
          <a:p>
            <a:pPr marL="0" indent="0">
              <a:buNone/>
            </a:pPr>
            <a:r>
              <a:rPr lang="en-US" altLang="zh-CN" sz="3600" b="1" dirty="0"/>
              <a:t>3.</a:t>
            </a:r>
            <a:r>
              <a:rPr lang="zh-CN" altLang="en-US" sz="3600" b="1" dirty="0"/>
              <a:t>软件质量</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32</a:t>
            </a:fld>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a:t>1.</a:t>
            </a:r>
            <a:r>
              <a:rPr lang="zh-CN" altLang="en-US" sz="6000" b="1" dirty="0"/>
              <a:t>软件支撑生产过程</a:t>
            </a:r>
          </a:p>
        </p:txBody>
      </p:sp>
      <p:sp>
        <p:nvSpPr>
          <p:cNvPr id="3" name="内容占位符 2"/>
          <p:cNvSpPr>
            <a:spLocks noGrp="1"/>
          </p:cNvSpPr>
          <p:nvPr>
            <p:ph idx="1"/>
          </p:nvPr>
        </p:nvSpPr>
        <p:spPr/>
        <p:txBody>
          <a:bodyPr>
            <a:normAutofit lnSpcReduction="10000"/>
          </a:bodyPr>
          <a:lstStyle/>
          <a:p>
            <a:r>
              <a:rPr lang="zh-CN" altLang="en-US" sz="3200" b="1" dirty="0">
                <a:solidFill>
                  <a:schemeClr val="tx1"/>
                </a:solidFill>
              </a:rPr>
              <a:t>产品设计</a:t>
            </a:r>
            <a:endParaRPr lang="en-US" altLang="zh-CN" sz="3200" b="1" dirty="0">
              <a:solidFill>
                <a:schemeClr val="tx1"/>
              </a:solidFill>
            </a:endParaRPr>
          </a:p>
          <a:p>
            <a:r>
              <a:rPr lang="zh-CN" altLang="en-US" sz="3200" b="1" dirty="0">
                <a:solidFill>
                  <a:schemeClr val="tx1"/>
                </a:solidFill>
              </a:rPr>
              <a:t>生产规划</a:t>
            </a:r>
            <a:endParaRPr lang="en-US" altLang="zh-CN" sz="3200" b="1" dirty="0">
              <a:solidFill>
                <a:schemeClr val="tx1"/>
              </a:solidFill>
            </a:endParaRPr>
          </a:p>
          <a:p>
            <a:r>
              <a:rPr lang="zh-CN" altLang="en-US" sz="3200" b="1" dirty="0">
                <a:solidFill>
                  <a:schemeClr val="tx1"/>
                </a:solidFill>
              </a:rPr>
              <a:t>生产工程</a:t>
            </a:r>
            <a:endParaRPr lang="en-US" altLang="zh-CN" sz="3200" b="1" dirty="0">
              <a:solidFill>
                <a:schemeClr val="tx1"/>
              </a:solidFill>
            </a:endParaRPr>
          </a:p>
          <a:p>
            <a:r>
              <a:rPr lang="zh-CN" altLang="en-US" sz="3200" b="1" dirty="0">
                <a:solidFill>
                  <a:schemeClr val="tx1"/>
                </a:solidFill>
              </a:rPr>
              <a:t>生产实施</a:t>
            </a:r>
            <a:endParaRPr lang="en-US" altLang="zh-CN" sz="3200" b="1" dirty="0">
              <a:solidFill>
                <a:schemeClr val="tx1"/>
              </a:solidFill>
            </a:endParaRPr>
          </a:p>
          <a:p>
            <a:r>
              <a:rPr lang="zh-CN" altLang="en-US" sz="3200" b="1" dirty="0">
                <a:solidFill>
                  <a:schemeClr val="tx1"/>
                </a:solidFill>
              </a:rPr>
              <a:t>生产服务</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33</a:t>
            </a:fld>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1978" y="551145"/>
            <a:ext cx="10321447" cy="2417523"/>
          </a:xfrm>
        </p:spPr>
        <p:txBody>
          <a:bodyPr>
            <a:normAutofit/>
          </a:bodyPr>
          <a:lstStyle/>
          <a:p>
            <a:r>
              <a:rPr lang="zh-CN" altLang="en-US" sz="6000" b="1" dirty="0"/>
              <a:t>软件对产品设计的作用</a:t>
            </a:r>
          </a:p>
        </p:txBody>
      </p:sp>
      <p:sp>
        <p:nvSpPr>
          <p:cNvPr id="3" name="内容占位符 2"/>
          <p:cNvSpPr>
            <a:spLocks noGrp="1"/>
          </p:cNvSpPr>
          <p:nvPr>
            <p:ph idx="1"/>
          </p:nvPr>
        </p:nvSpPr>
        <p:spPr/>
        <p:txBody>
          <a:bodyPr>
            <a:normAutofit/>
          </a:bodyPr>
          <a:lstStyle/>
          <a:p>
            <a:pPr marL="0" indent="0">
              <a:buNone/>
            </a:pPr>
            <a:r>
              <a:rPr lang="zh-CN" altLang="en-US" sz="3200" b="1" dirty="0"/>
              <a:t>应用</a:t>
            </a:r>
            <a:r>
              <a:rPr lang="zh-CN" altLang="en-US" sz="3200" b="1" dirty="0">
                <a:solidFill>
                  <a:srgbClr val="00B0F0"/>
                </a:solidFill>
              </a:rPr>
              <a:t>产品生命周期管理软件</a:t>
            </a:r>
            <a:r>
              <a:rPr lang="zh-CN" altLang="en-US" sz="3200" b="1" dirty="0"/>
              <a:t>，在计算机上进行虚拟的产品设备测试，在不需要实物的情况下进行产品设计优化；这款软件还能应用在汽车行业：显著缩短产品上市时间，大幅度提高灵活性</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34</a:t>
            </a:fld>
            <a:endParaRPr lang="zh-CN"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000" b="1" dirty="0">
                <a:solidFill>
                  <a:schemeClr val="tx1"/>
                </a:solidFill>
                <a:latin typeface="+mn-lt"/>
              </a:rPr>
              <a:t>软件对生产规划的作用</a:t>
            </a:r>
            <a:r>
              <a:rPr lang="en-US" altLang="zh-CN" b="1" dirty="0">
                <a:solidFill>
                  <a:srgbClr val="FF0000"/>
                </a:solidFill>
              </a:rPr>
              <a:t/>
            </a:r>
            <a:br>
              <a:rPr lang="en-US" altLang="zh-CN" b="1" dirty="0">
                <a:solidFill>
                  <a:srgbClr val="FF0000"/>
                </a:solidFill>
              </a:rPr>
            </a:b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3200" b="1" dirty="0"/>
              <a:t>在生产规划阶段，使用</a:t>
            </a:r>
            <a:r>
              <a:rPr lang="zh-CN" altLang="en-US" sz="3200" b="1" dirty="0">
                <a:solidFill>
                  <a:srgbClr val="00B0F0"/>
                </a:solidFill>
              </a:rPr>
              <a:t>仿真软件</a:t>
            </a:r>
            <a:r>
              <a:rPr lang="zh-CN" altLang="en-US" sz="3200" b="1" dirty="0"/>
              <a:t>，模拟机器和设备，配合控制软件模拟虚拟环境，进行生产规划过程优化，规划出不同生产时期的最佳产出率和存货水平</a:t>
            </a:r>
            <a:endParaRPr lang="en-US" altLang="zh-CN"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35</a:t>
            </a:fld>
            <a:endParaRPr lang="zh-CN" alt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000" b="1" dirty="0">
                <a:solidFill>
                  <a:schemeClr val="tx1"/>
                </a:solidFill>
              </a:rPr>
              <a:t>软件对生产工程的作用</a:t>
            </a:r>
            <a:r>
              <a:rPr lang="en-US" altLang="zh-CN" b="1" dirty="0">
                <a:solidFill>
                  <a:srgbClr val="FF0000"/>
                </a:solidFill>
              </a:rPr>
              <a:t/>
            </a:r>
            <a:br>
              <a:rPr lang="en-US" altLang="zh-CN" b="1" dirty="0">
                <a:solidFill>
                  <a:srgbClr val="FF0000"/>
                </a:solidFill>
              </a:rPr>
            </a:b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zh-CN" altLang="en-US" sz="3200" b="1" dirty="0"/>
              <a:t>实现运行、机械、工序之间的最佳工作流，使各个系统无缝通信，才能显著提高生产力；</a:t>
            </a:r>
            <a:endParaRPr lang="en-US" altLang="zh-CN" sz="3200" b="1" dirty="0"/>
          </a:p>
          <a:p>
            <a:pPr marL="0" indent="0">
              <a:buNone/>
            </a:pPr>
            <a:r>
              <a:rPr lang="zh-CN" altLang="en-US" sz="3200" b="1" dirty="0"/>
              <a:t>举例：膝关节植入体。因为膝关节植入体有尺寸形状限制，在植入前需要对患者进行削骨手术。按西门子公司的观点，可以在定制第一个骨膜型前先搜集患者数据，再通过数控设备加工，最后制作。这个过程的</a:t>
            </a:r>
            <a:r>
              <a:rPr lang="zh-CN" altLang="en-US" sz="3200" b="1" dirty="0">
                <a:solidFill>
                  <a:srgbClr val="00B0F0"/>
                </a:solidFill>
              </a:rPr>
              <a:t>扫描、数控系统</a:t>
            </a:r>
            <a:r>
              <a:rPr lang="zh-CN" altLang="en-US" sz="3200" b="1" dirty="0"/>
              <a:t>都是软件的应用。</a:t>
            </a:r>
            <a:endParaRPr lang="en-US" altLang="zh-CN"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36</a:t>
            </a:fld>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solidFill>
                  <a:schemeClr val="tx1"/>
                </a:solidFill>
              </a:rPr>
              <a:t>软件对生产实施的作用</a:t>
            </a:r>
          </a:p>
        </p:txBody>
      </p:sp>
      <p:sp>
        <p:nvSpPr>
          <p:cNvPr id="3" name="内容占位符 2"/>
          <p:cNvSpPr>
            <a:spLocks noGrp="1"/>
          </p:cNvSpPr>
          <p:nvPr>
            <p:ph idx="1"/>
          </p:nvPr>
        </p:nvSpPr>
        <p:spPr/>
        <p:txBody>
          <a:bodyPr>
            <a:normAutofit fontScale="92500" lnSpcReduction="20000"/>
          </a:bodyPr>
          <a:lstStyle/>
          <a:p>
            <a:pPr marL="0" indent="0">
              <a:buNone/>
            </a:pPr>
            <a:r>
              <a:rPr lang="zh-CN" altLang="en-US" sz="3200" b="1" dirty="0"/>
              <a:t>利用</a:t>
            </a:r>
            <a:r>
              <a:rPr lang="zh-CN" altLang="en-US" sz="3200" b="1" dirty="0">
                <a:solidFill>
                  <a:srgbClr val="00B0F0"/>
                </a:solidFill>
              </a:rPr>
              <a:t>集成自动化和制造执行系统</a:t>
            </a:r>
            <a:r>
              <a:rPr lang="en-US" altLang="zh-CN" sz="3200" b="1" dirty="0">
                <a:solidFill>
                  <a:srgbClr val="00B0F0"/>
                </a:solidFill>
              </a:rPr>
              <a:t>(MES)</a:t>
            </a:r>
            <a:r>
              <a:rPr lang="zh-CN" altLang="en-US" sz="3200" b="1" dirty="0"/>
              <a:t>保证生产的高性能，提高生产效率和灵活性</a:t>
            </a:r>
            <a:endParaRPr lang="en-US" altLang="zh-CN" sz="3200" b="1" dirty="0"/>
          </a:p>
          <a:p>
            <a:pPr marL="0" indent="0">
              <a:buNone/>
            </a:pPr>
            <a:endParaRPr lang="en-US" altLang="zh-CN" sz="3200" b="1" dirty="0"/>
          </a:p>
          <a:p>
            <a:pPr marL="0" indent="0">
              <a:buNone/>
            </a:pPr>
            <a:r>
              <a:rPr lang="zh-CN" altLang="en-US" sz="3200" b="1" dirty="0"/>
              <a:t>例如，东德玻璃制造商</a:t>
            </a:r>
            <a:r>
              <a:rPr lang="en-US" altLang="zh-CN" sz="3200" b="1" dirty="0" err="1"/>
              <a:t>f|glass</a:t>
            </a:r>
            <a:r>
              <a:rPr lang="zh-CN" altLang="en-US" sz="3200" b="1" dirty="0"/>
              <a:t>是最先进、节能的工程之一。该工厂采用了一套</a:t>
            </a:r>
            <a:r>
              <a:rPr lang="zh-CN" altLang="en-US" sz="3200" b="1" dirty="0">
                <a:solidFill>
                  <a:schemeClr val="tx1"/>
                </a:solidFill>
              </a:rPr>
              <a:t>集成自动化和能源管理系统、热回收系统。</a:t>
            </a:r>
            <a:r>
              <a:rPr lang="zh-CN" altLang="en-US" sz="3200" b="1" dirty="0"/>
              <a:t>从原料供应混合、到熔炼，最后加工调试，生产完全实现自动化。软件实现了这种高度集成的</a:t>
            </a:r>
            <a:r>
              <a:rPr lang="zh-CN" altLang="en-US" sz="3200" b="1" dirty="0">
                <a:solidFill>
                  <a:schemeClr val="tx1"/>
                </a:solidFill>
              </a:rPr>
              <a:t>自动化</a:t>
            </a:r>
            <a:r>
              <a:rPr lang="zh-CN" altLang="en-US" sz="3200" b="1" dirty="0"/>
              <a:t>。</a:t>
            </a:r>
            <a:endParaRPr lang="en-US" altLang="zh-CN"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37</a:t>
            </a:fld>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软件对</a:t>
            </a:r>
            <a:r>
              <a:rPr lang="zh-CN" altLang="en-US" sz="6000" b="1" dirty="0">
                <a:solidFill>
                  <a:schemeClr val="tx1"/>
                </a:solidFill>
              </a:rPr>
              <a:t>生产服务的作用</a:t>
            </a:r>
            <a:endParaRPr lang="zh-CN" altLang="en-US" sz="6000" b="1" dirty="0"/>
          </a:p>
        </p:txBody>
      </p:sp>
      <p:sp>
        <p:nvSpPr>
          <p:cNvPr id="3" name="内容占位符 2"/>
          <p:cNvSpPr>
            <a:spLocks noGrp="1"/>
          </p:cNvSpPr>
          <p:nvPr>
            <p:ph idx="1"/>
          </p:nvPr>
        </p:nvSpPr>
        <p:spPr/>
        <p:txBody>
          <a:bodyPr>
            <a:normAutofit/>
          </a:bodyPr>
          <a:lstStyle/>
          <a:p>
            <a:pPr marL="0" indent="0">
              <a:buNone/>
            </a:pPr>
            <a:r>
              <a:rPr lang="zh-CN" altLang="en-US" sz="3200" b="1" dirty="0"/>
              <a:t>为客户量身定制服务解决方案，是企业成功的关键。例如传统的维修保养、故障修复、综合服务、远程维修等等的</a:t>
            </a:r>
            <a:r>
              <a:rPr lang="zh-CN" altLang="en-US" sz="3200" b="1" dirty="0">
                <a:solidFill>
                  <a:srgbClr val="00B0F0"/>
                </a:solidFill>
              </a:rPr>
              <a:t>生产服务都离不开软件的应用</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38</a:t>
            </a:fld>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四</a:t>
            </a:r>
            <a:r>
              <a:rPr lang="en-US" altLang="zh-CN" sz="6000" b="1" dirty="0"/>
              <a:t>.</a:t>
            </a:r>
            <a:r>
              <a:rPr lang="zh-CN" altLang="en-US" sz="6000" b="1" dirty="0"/>
              <a:t>工业</a:t>
            </a:r>
            <a:r>
              <a:rPr lang="en-US" altLang="zh-CN" sz="6000" b="1" dirty="0"/>
              <a:t>4.0</a:t>
            </a:r>
            <a:r>
              <a:rPr lang="zh-CN" altLang="en-US" sz="6000" b="1" dirty="0"/>
              <a:t>和软件</a:t>
            </a:r>
          </a:p>
        </p:txBody>
      </p:sp>
      <p:sp>
        <p:nvSpPr>
          <p:cNvPr id="3" name="内容占位符 2"/>
          <p:cNvSpPr>
            <a:spLocks noGrp="1"/>
          </p:cNvSpPr>
          <p:nvPr>
            <p:ph idx="1"/>
          </p:nvPr>
        </p:nvSpPr>
        <p:spPr/>
        <p:txBody>
          <a:bodyPr>
            <a:normAutofit/>
          </a:bodyPr>
          <a:lstStyle/>
          <a:p>
            <a:pPr marL="0" indent="0">
              <a:buNone/>
            </a:pPr>
            <a:r>
              <a:rPr lang="en-US" altLang="zh-CN" sz="3600" b="1" dirty="0"/>
              <a:t>1.</a:t>
            </a:r>
            <a:r>
              <a:rPr lang="zh-CN" altLang="en-US" sz="3600" b="1" dirty="0"/>
              <a:t>软件支撑生产过程</a:t>
            </a:r>
            <a:endParaRPr lang="en-US" altLang="zh-CN" sz="3600" b="1" dirty="0"/>
          </a:p>
          <a:p>
            <a:pPr marL="0" indent="0">
              <a:buNone/>
            </a:pPr>
            <a:r>
              <a:rPr lang="en-US" altLang="zh-CN" sz="3600" b="1" dirty="0">
                <a:solidFill>
                  <a:srgbClr val="FF0000"/>
                </a:solidFill>
              </a:rPr>
              <a:t>2.</a:t>
            </a:r>
            <a:r>
              <a:rPr lang="zh-CN" altLang="en-US" sz="3600" b="1" dirty="0">
                <a:solidFill>
                  <a:srgbClr val="FF0000"/>
                </a:solidFill>
              </a:rPr>
              <a:t>制造业的智能化离不开软件</a:t>
            </a:r>
            <a:endParaRPr lang="en-US" altLang="zh-CN" sz="3600" b="1" dirty="0">
              <a:solidFill>
                <a:srgbClr val="FF0000"/>
              </a:solidFill>
            </a:endParaRPr>
          </a:p>
          <a:p>
            <a:pPr marL="0" indent="0">
              <a:buNone/>
            </a:pPr>
            <a:r>
              <a:rPr lang="en-US" altLang="zh-CN" sz="3600" b="1" dirty="0"/>
              <a:t>3.</a:t>
            </a:r>
            <a:r>
              <a:rPr lang="zh-CN" altLang="en-US" sz="3600" b="1" dirty="0"/>
              <a:t>软件质量</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39</a:t>
            </a:fld>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6000" b="1" dirty="0"/>
              <a:t>2.</a:t>
            </a:r>
            <a:r>
              <a:rPr lang="zh-CN" altLang="en-US" sz="6000" b="1" dirty="0"/>
              <a:t>制造业的智能化离不开软件</a:t>
            </a:r>
          </a:p>
        </p:txBody>
      </p:sp>
      <p:sp>
        <p:nvSpPr>
          <p:cNvPr id="3" name="内容占位符 2"/>
          <p:cNvSpPr>
            <a:spLocks noGrp="1"/>
          </p:cNvSpPr>
          <p:nvPr>
            <p:ph idx="1"/>
          </p:nvPr>
        </p:nvSpPr>
        <p:spPr>
          <a:xfrm>
            <a:off x="1141413" y="2666999"/>
            <a:ext cx="9905998" cy="3124201"/>
          </a:xfrm>
        </p:spPr>
        <p:txBody>
          <a:bodyPr>
            <a:normAutofit/>
          </a:bodyPr>
          <a:lstStyle/>
          <a:p>
            <a:r>
              <a:rPr lang="zh-CN" altLang="en-US" sz="3500" b="1" dirty="0">
                <a:solidFill>
                  <a:schemeClr val="tx1"/>
                </a:solidFill>
              </a:rPr>
              <a:t>智能制造</a:t>
            </a:r>
            <a:endParaRPr lang="en-US" altLang="zh-CN" sz="3500" b="1" dirty="0">
              <a:solidFill>
                <a:schemeClr val="tx1"/>
              </a:solidFill>
            </a:endParaRPr>
          </a:p>
          <a:p>
            <a:r>
              <a:rPr lang="zh-CN" altLang="en-US" sz="3500" b="1" dirty="0">
                <a:solidFill>
                  <a:schemeClr val="tx1"/>
                </a:solidFill>
              </a:rPr>
              <a:t>智能工厂</a:t>
            </a:r>
            <a:endParaRPr lang="en-US" altLang="zh-CN" sz="3500" b="1" dirty="0">
              <a:solidFill>
                <a:schemeClr val="tx1"/>
              </a:solidFill>
            </a:endParaRPr>
          </a:p>
          <a:p>
            <a:r>
              <a:rPr lang="zh-CN" altLang="en-US" sz="3500" b="1" dirty="0">
                <a:solidFill>
                  <a:schemeClr val="tx1"/>
                </a:solidFill>
              </a:rPr>
              <a:t>智能物流</a:t>
            </a:r>
            <a:endParaRPr lang="en-US" altLang="zh-CN" sz="3500" b="1" dirty="0">
              <a:solidFill>
                <a:schemeClr val="tx1"/>
              </a:solidFill>
            </a:endParaRPr>
          </a:p>
          <a:p>
            <a:r>
              <a:rPr lang="zh-CN" altLang="en-US" sz="3500" b="1" dirty="0">
                <a:solidFill>
                  <a:schemeClr val="tx1"/>
                </a:solidFill>
              </a:rPr>
              <a:t>智能服务</a:t>
            </a:r>
            <a:endParaRPr lang="en-US" altLang="zh-CN" sz="3500" b="1" dirty="0">
              <a:solidFill>
                <a:schemeClr val="tx1"/>
              </a:solidFill>
            </a:endParaRPr>
          </a:p>
          <a:p>
            <a:endParaRPr lang="zh-CN" altLang="en-US" dirty="0">
              <a:solidFill>
                <a:schemeClr val="tx1"/>
              </a:solidFill>
            </a:endParaRPr>
          </a:p>
        </p:txBody>
      </p:sp>
      <p:sp>
        <p:nvSpPr>
          <p:cNvPr id="4" name="灯片编号占位符 3"/>
          <p:cNvSpPr>
            <a:spLocks noGrp="1"/>
          </p:cNvSpPr>
          <p:nvPr>
            <p:ph type="sldNum" sz="quarter" idx="12"/>
          </p:nvPr>
        </p:nvSpPr>
        <p:spPr/>
        <p:txBody>
          <a:bodyPr/>
          <a:lstStyle/>
          <a:p>
            <a:fld id="{BA2602C4-676A-4DC9-83FD-3F245FA472CF}" type="slidenum">
              <a:rPr lang="zh-CN" altLang="en-US" smtClean="0"/>
              <a:t>40</a:t>
            </a:fld>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1413" y="428625"/>
            <a:ext cx="9905998" cy="2085975"/>
          </a:xfrm>
        </p:spPr>
        <p:txBody>
          <a:bodyPr>
            <a:normAutofit/>
          </a:bodyPr>
          <a:lstStyle/>
          <a:p>
            <a:r>
              <a:rPr lang="zh-CN" altLang="en-US" sz="6000" b="1" dirty="0">
                <a:solidFill>
                  <a:schemeClr val="tx1"/>
                </a:solidFill>
              </a:rPr>
              <a:t>智能制造</a:t>
            </a:r>
            <a:r>
              <a:rPr lang="en-US" altLang="zh-CN" sz="6000" b="1" dirty="0">
                <a:solidFill>
                  <a:schemeClr val="tx1"/>
                </a:solidFill>
              </a:rPr>
              <a:t/>
            </a:r>
            <a:br>
              <a:rPr lang="en-US" altLang="zh-CN" sz="6000" b="1" dirty="0">
                <a:solidFill>
                  <a:schemeClr val="tx1"/>
                </a:solidFill>
              </a:rPr>
            </a:br>
            <a:endParaRPr lang="zh-CN" altLang="en-US" sz="6000" dirty="0">
              <a:solidFill>
                <a:schemeClr val="tx1"/>
              </a:solidFill>
            </a:endParaRPr>
          </a:p>
        </p:txBody>
      </p:sp>
      <p:sp>
        <p:nvSpPr>
          <p:cNvPr id="3" name="内容占位符 2"/>
          <p:cNvSpPr>
            <a:spLocks noGrp="1"/>
          </p:cNvSpPr>
          <p:nvPr>
            <p:ph idx="1"/>
          </p:nvPr>
        </p:nvSpPr>
        <p:spPr>
          <a:xfrm>
            <a:off x="663878" y="2029216"/>
            <a:ext cx="11022905" cy="4559473"/>
          </a:xfrm>
        </p:spPr>
        <p:txBody>
          <a:bodyPr>
            <a:normAutofit/>
          </a:bodyPr>
          <a:lstStyle/>
          <a:p>
            <a:pPr marL="0" indent="0">
              <a:buNone/>
            </a:pPr>
            <a:r>
              <a:rPr lang="zh-CN" altLang="en-US" sz="3200" b="1" dirty="0">
                <a:effectLst/>
              </a:rPr>
              <a:t>定义：基于新一代信息技术，贯穿制造活动各个环节，具有信息深度自感知、智慧优化自决策、精准控制自执行等功能的先进制造的系统与模式。</a:t>
            </a:r>
            <a:endParaRPr lang="en-US" altLang="zh-CN" sz="3200" b="1" dirty="0">
              <a:effectLst/>
            </a:endParaRPr>
          </a:p>
          <a:p>
            <a:pPr marL="0" indent="0">
              <a:buNone/>
            </a:pPr>
            <a:endParaRPr lang="en-US" altLang="zh-CN" sz="3200" b="1" dirty="0">
              <a:effectLst/>
            </a:endParaRPr>
          </a:p>
          <a:p>
            <a:pPr marL="0" indent="0">
              <a:buNone/>
            </a:pPr>
            <a:r>
              <a:rPr lang="zh-CN" altLang="en-US" sz="3200" b="1" dirty="0">
                <a:effectLst/>
              </a:rPr>
              <a:t>五大关键技术都离不开软件的贡献：识别技术、实时定位系统、信息物理融合系统、网络安全技术、系统协同技术</a:t>
            </a:r>
          </a:p>
          <a:p>
            <a:pPr marL="0" indent="0">
              <a:buNone/>
            </a:pPr>
            <a:endParaRPr lang="zh-CN" altLang="en-US" sz="44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41</a:t>
            </a:fld>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000" b="1" dirty="0">
                <a:solidFill>
                  <a:schemeClr val="tx1"/>
                </a:solidFill>
              </a:rPr>
              <a:t>智能工厂</a:t>
            </a:r>
            <a:r>
              <a:rPr lang="en-US" altLang="zh-CN" b="1" dirty="0">
                <a:solidFill>
                  <a:srgbClr val="FF0000"/>
                </a:solidFill>
              </a:rPr>
              <a:t/>
            </a:r>
            <a:br>
              <a:rPr lang="en-US" altLang="zh-CN" b="1" dirty="0">
                <a:solidFill>
                  <a:srgbClr val="FF0000"/>
                </a:solidFill>
              </a:rPr>
            </a:b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3200" b="1" dirty="0">
                <a:effectLst/>
              </a:rPr>
              <a:t>(1)</a:t>
            </a:r>
            <a:r>
              <a:rPr lang="zh-CN" altLang="en-US" sz="3200" b="1" dirty="0">
                <a:effectLst/>
              </a:rPr>
              <a:t>智能工厂是实现智能制造的重要载体，主要通过构建智能化生产系统、网络化分布生产设施，实现生产过程的智能化</a:t>
            </a:r>
            <a:endParaRPr lang="en-US" altLang="zh-CN" sz="3200" b="1" dirty="0">
              <a:effectLst/>
            </a:endParaRPr>
          </a:p>
          <a:p>
            <a:pPr marL="0" indent="0">
              <a:buNone/>
            </a:pPr>
            <a:r>
              <a:rPr lang="en-US" altLang="zh-CN" sz="3200" b="1" dirty="0">
                <a:effectLst/>
              </a:rPr>
              <a:t>(2)</a:t>
            </a:r>
            <a:r>
              <a:rPr lang="zh-CN" altLang="en-US" sz="3200" b="1" dirty="0">
                <a:effectLst/>
              </a:rPr>
              <a:t>智能工厂实现了人与机器的相互协调合作，其本质是人机交互。</a:t>
            </a:r>
            <a:endParaRPr lang="en-US" altLang="zh-CN" sz="3200" b="1" dirty="0">
              <a:effectLst/>
            </a:endParaRPr>
          </a:p>
        </p:txBody>
      </p:sp>
      <p:sp>
        <p:nvSpPr>
          <p:cNvPr id="4" name="灯片编号占位符 3"/>
          <p:cNvSpPr>
            <a:spLocks noGrp="1"/>
          </p:cNvSpPr>
          <p:nvPr>
            <p:ph type="sldNum" sz="quarter" idx="12"/>
          </p:nvPr>
        </p:nvSpPr>
        <p:spPr/>
        <p:txBody>
          <a:bodyPr/>
          <a:lstStyle/>
          <a:p>
            <a:fld id="{BA2602C4-676A-4DC9-83FD-3F245FA472CF}" type="slidenum">
              <a:rPr lang="zh-CN" altLang="en-US" smtClean="0"/>
              <a:t>42</a:t>
            </a:fld>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000" b="1" dirty="0">
                <a:solidFill>
                  <a:schemeClr val="tx1"/>
                </a:solidFill>
              </a:rPr>
              <a:t>智能物流</a:t>
            </a:r>
            <a:r>
              <a:rPr lang="en-US" altLang="zh-CN" b="1" dirty="0">
                <a:solidFill>
                  <a:srgbClr val="FF0000"/>
                </a:solidFill>
              </a:rPr>
              <a:t/>
            </a:r>
            <a:br>
              <a:rPr lang="en-US" altLang="zh-CN" b="1" dirty="0">
                <a:solidFill>
                  <a:srgbClr val="FF0000"/>
                </a:solidFill>
              </a:rPr>
            </a:b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zh-CN" altLang="en-US" sz="3200" b="1" dirty="0">
                <a:solidFill>
                  <a:schemeClr val="tx1"/>
                </a:solidFill>
                <a:effectLst/>
              </a:rPr>
              <a:t>利用</a:t>
            </a:r>
            <a:r>
              <a:rPr lang="zh-CN" altLang="en-US" sz="3200" b="1" dirty="0">
                <a:solidFill>
                  <a:srgbClr val="00B0F0"/>
                </a:solidFill>
                <a:effectLst/>
              </a:rPr>
              <a:t>条形码、传感器、全球定位系统</a:t>
            </a:r>
            <a:r>
              <a:rPr lang="zh-CN" altLang="en-US" sz="3200" b="1" dirty="0">
                <a:solidFill>
                  <a:schemeClr val="tx1"/>
                </a:solidFill>
                <a:effectLst/>
              </a:rPr>
              <a:t>等先进的物联网技术通过信息处理和网络通信技术平台</a:t>
            </a:r>
            <a:r>
              <a:rPr lang="zh-CN" altLang="en-US" sz="3200" b="1" dirty="0">
                <a:solidFill>
                  <a:srgbClr val="00B0F0"/>
                </a:solidFill>
                <a:effectLst/>
              </a:rPr>
              <a:t>广泛应用于物流业</a:t>
            </a:r>
            <a:r>
              <a:rPr lang="zh-CN" altLang="en-US" sz="3200" b="1" dirty="0">
                <a:solidFill>
                  <a:schemeClr val="tx1"/>
                </a:solidFill>
                <a:effectLst/>
              </a:rPr>
              <a:t>运输、仓储、配送、包装、装卸等基本活动环节，实现货物运输的自动化和管理高效化，提高服务水平，降低成本，减少资源消耗。</a:t>
            </a:r>
            <a:endParaRPr lang="en-US" altLang="zh-CN" sz="3200" b="1" dirty="0">
              <a:solidFill>
                <a:schemeClr val="tx1"/>
              </a:solidFill>
              <a:effectLst/>
            </a:endParaRPr>
          </a:p>
          <a:p>
            <a:pPr marL="0" indent="0">
              <a:buNone/>
            </a:pPr>
            <a:r>
              <a:rPr lang="zh-CN" altLang="en-US" sz="3200" b="1" dirty="0">
                <a:solidFill>
                  <a:schemeClr val="tx1"/>
                </a:solidFill>
                <a:effectLst/>
              </a:rPr>
              <a:t>智能物流的关键技术</a:t>
            </a:r>
            <a:r>
              <a:rPr lang="en-US" altLang="zh-CN" sz="3200" b="1" dirty="0">
                <a:solidFill>
                  <a:schemeClr val="tx1"/>
                </a:solidFill>
                <a:effectLst/>
              </a:rPr>
              <a:t>:</a:t>
            </a:r>
            <a:r>
              <a:rPr lang="zh-CN" altLang="en-US" sz="3200" b="1" dirty="0">
                <a:solidFill>
                  <a:schemeClr val="tx1"/>
                </a:solidFill>
                <a:effectLst/>
              </a:rPr>
              <a:t>自动识别技术、数据挖掘技术、人工智能技术</a:t>
            </a:r>
            <a:endParaRPr lang="en-US" altLang="zh-CN" sz="2400" b="1" dirty="0">
              <a:solidFill>
                <a:schemeClr val="tx1"/>
              </a:solidFill>
              <a:effectLst/>
            </a:endParaRPr>
          </a:p>
        </p:txBody>
      </p:sp>
      <p:sp>
        <p:nvSpPr>
          <p:cNvPr id="4" name="灯片编号占位符 3"/>
          <p:cNvSpPr>
            <a:spLocks noGrp="1"/>
          </p:cNvSpPr>
          <p:nvPr>
            <p:ph type="sldNum" sz="quarter" idx="12"/>
          </p:nvPr>
        </p:nvSpPr>
        <p:spPr/>
        <p:txBody>
          <a:bodyPr/>
          <a:lstStyle/>
          <a:p>
            <a:fld id="{BA2602C4-676A-4DC9-83FD-3F245FA472CF}" type="slidenum">
              <a:rPr lang="zh-CN" altLang="en-US" smtClean="0"/>
              <a:t>43</a:t>
            </a:fld>
            <a:endParaRPr lang="zh-CN"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1413" y="609600"/>
            <a:ext cx="9905998" cy="2183704"/>
          </a:xfrm>
        </p:spPr>
        <p:txBody>
          <a:bodyPr>
            <a:normAutofit/>
          </a:bodyPr>
          <a:lstStyle/>
          <a:p>
            <a:r>
              <a:rPr lang="zh-CN" altLang="en-US" sz="6000" b="1" dirty="0">
                <a:solidFill>
                  <a:schemeClr val="tx1"/>
                </a:solidFill>
                <a:latin typeface="+mn-lt"/>
              </a:rPr>
              <a:t>智能服务</a:t>
            </a:r>
            <a:r>
              <a:rPr lang="en-US" altLang="zh-CN" sz="6000" b="1" dirty="0">
                <a:solidFill>
                  <a:schemeClr val="tx1"/>
                </a:solidFill>
                <a:latin typeface="+mn-lt"/>
              </a:rPr>
              <a:t/>
            </a:r>
            <a:br>
              <a:rPr lang="en-US" altLang="zh-CN" sz="6000" b="1" dirty="0">
                <a:solidFill>
                  <a:schemeClr val="tx1"/>
                </a:solidFill>
                <a:latin typeface="+mn-lt"/>
              </a:rPr>
            </a:br>
            <a:endParaRPr lang="zh-CN" altLang="en-US" sz="6000" dirty="0">
              <a:solidFill>
                <a:schemeClr val="tx1"/>
              </a:solidFill>
              <a:latin typeface="+mn-lt"/>
            </a:endParaRPr>
          </a:p>
        </p:txBody>
      </p:sp>
      <p:sp>
        <p:nvSpPr>
          <p:cNvPr id="3" name="内容占位符 2"/>
          <p:cNvSpPr>
            <a:spLocks noGrp="1"/>
          </p:cNvSpPr>
          <p:nvPr>
            <p:ph idx="1"/>
          </p:nvPr>
        </p:nvSpPr>
        <p:spPr/>
        <p:txBody>
          <a:bodyPr>
            <a:normAutofit fontScale="92500"/>
          </a:bodyPr>
          <a:lstStyle/>
          <a:p>
            <a:pPr marL="0" indent="0">
              <a:buNone/>
            </a:pPr>
            <a:r>
              <a:rPr lang="zh-CN" altLang="en-US" sz="3200" b="1" dirty="0">
                <a:effectLst/>
              </a:rPr>
              <a:t>智能服务实现的是一种</a:t>
            </a:r>
            <a:r>
              <a:rPr lang="zh-CN" altLang="en-US" sz="3200" b="1" dirty="0">
                <a:solidFill>
                  <a:srgbClr val="00B0F0"/>
                </a:solidFill>
                <a:effectLst/>
              </a:rPr>
              <a:t>按需和主动</a:t>
            </a:r>
            <a:r>
              <a:rPr lang="zh-CN" altLang="en-US" sz="3200" b="1" dirty="0">
                <a:effectLst/>
              </a:rPr>
              <a:t>的智能，即通过捕捉用户的原始信息，通过后台积累的数据，构建需求结构模型，进行数据挖掘和商业智能分析，除了可以分析用户的习惯、喜好等显性需求外，还可以进一步挖掘与时空、身份、工作生活状态关联的隐性需求，主动给用户提供精准、高效的服务。这些需要软件来实现</a:t>
            </a:r>
            <a:endParaRPr lang="zh-CN" altLang="en-US"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44</a:t>
            </a:fld>
            <a:endParaRPr lang="zh-CN"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四</a:t>
            </a:r>
            <a:r>
              <a:rPr lang="en-US" altLang="zh-CN" sz="6000" b="1" dirty="0"/>
              <a:t>.</a:t>
            </a:r>
            <a:r>
              <a:rPr lang="zh-CN" altLang="en-US" sz="6000" b="1" dirty="0"/>
              <a:t>工业</a:t>
            </a:r>
            <a:r>
              <a:rPr lang="en-US" altLang="zh-CN" sz="6000" b="1" dirty="0"/>
              <a:t>4.0</a:t>
            </a:r>
            <a:r>
              <a:rPr lang="zh-CN" altLang="en-US" sz="6000" b="1" dirty="0"/>
              <a:t>和软件</a:t>
            </a:r>
          </a:p>
        </p:txBody>
      </p:sp>
      <p:sp>
        <p:nvSpPr>
          <p:cNvPr id="3" name="内容占位符 2"/>
          <p:cNvSpPr>
            <a:spLocks noGrp="1"/>
          </p:cNvSpPr>
          <p:nvPr>
            <p:ph idx="1"/>
          </p:nvPr>
        </p:nvSpPr>
        <p:spPr/>
        <p:txBody>
          <a:bodyPr>
            <a:normAutofit/>
          </a:bodyPr>
          <a:lstStyle/>
          <a:p>
            <a:pPr marL="0" indent="0">
              <a:buNone/>
            </a:pPr>
            <a:r>
              <a:rPr lang="en-US" altLang="zh-CN" sz="3600" b="1" dirty="0"/>
              <a:t>1.</a:t>
            </a:r>
            <a:r>
              <a:rPr lang="zh-CN" altLang="en-US" sz="3600" b="1" dirty="0"/>
              <a:t>软件支撑生产过程</a:t>
            </a:r>
            <a:endParaRPr lang="en-US" altLang="zh-CN" sz="3600" b="1" dirty="0"/>
          </a:p>
          <a:p>
            <a:pPr marL="0" indent="0">
              <a:buNone/>
            </a:pPr>
            <a:r>
              <a:rPr lang="en-US" altLang="zh-CN" sz="3600" b="1" dirty="0"/>
              <a:t>2.</a:t>
            </a:r>
            <a:r>
              <a:rPr lang="zh-CN" altLang="en-US" sz="3600" b="1" dirty="0"/>
              <a:t>制造业的智能化离不开软件</a:t>
            </a:r>
            <a:endParaRPr lang="en-US" altLang="zh-CN" sz="3600" b="1" dirty="0"/>
          </a:p>
          <a:p>
            <a:pPr marL="0" indent="0">
              <a:buNone/>
            </a:pPr>
            <a:r>
              <a:rPr lang="en-US" altLang="zh-CN" sz="3600" b="1" dirty="0">
                <a:solidFill>
                  <a:srgbClr val="FF0000"/>
                </a:solidFill>
              </a:rPr>
              <a:t>3.</a:t>
            </a:r>
            <a:r>
              <a:rPr lang="zh-CN" altLang="en-US" sz="3600" b="1" dirty="0">
                <a:solidFill>
                  <a:srgbClr val="FF0000"/>
                </a:solidFill>
              </a:rPr>
              <a:t>软件质量</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45</a:t>
            </a:fld>
            <a:endParaRPr lang="zh-CN"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a:t>3.</a:t>
            </a:r>
            <a:r>
              <a:rPr lang="zh-CN" altLang="en-US" sz="6000" b="1" dirty="0"/>
              <a:t>软件质量</a:t>
            </a:r>
          </a:p>
        </p:txBody>
      </p:sp>
      <p:sp>
        <p:nvSpPr>
          <p:cNvPr id="3" name="内容占位符 2"/>
          <p:cNvSpPr>
            <a:spLocks noGrp="1"/>
          </p:cNvSpPr>
          <p:nvPr>
            <p:ph idx="1"/>
          </p:nvPr>
        </p:nvSpPr>
        <p:spPr/>
        <p:txBody>
          <a:bodyPr>
            <a:normAutofit/>
          </a:bodyPr>
          <a:lstStyle/>
          <a:p>
            <a:r>
              <a:rPr lang="zh-CN" altLang="en-US" sz="3200" b="1" dirty="0">
                <a:solidFill>
                  <a:schemeClr val="tx1"/>
                </a:solidFill>
              </a:rPr>
              <a:t>软件质量的挑战</a:t>
            </a:r>
            <a:endParaRPr lang="en-US" altLang="zh-CN" sz="3200" b="1" dirty="0">
              <a:solidFill>
                <a:schemeClr val="tx1"/>
              </a:solidFill>
            </a:endParaRPr>
          </a:p>
          <a:p>
            <a:r>
              <a:rPr lang="zh-CN" altLang="en-US" sz="3200" b="1" dirty="0">
                <a:solidFill>
                  <a:schemeClr val="tx1"/>
                </a:solidFill>
              </a:rPr>
              <a:t>解决问题</a:t>
            </a:r>
            <a:endParaRPr lang="en-US" altLang="zh-CN" sz="3200" b="1" dirty="0">
              <a:solidFill>
                <a:schemeClr val="tx1"/>
              </a:solidFill>
            </a:endParaRPr>
          </a:p>
          <a:p>
            <a:r>
              <a:rPr lang="zh-CN" altLang="en-US" sz="3200" b="1" dirty="0">
                <a:solidFill>
                  <a:schemeClr val="tx1"/>
                </a:solidFill>
              </a:rPr>
              <a:t>软件质量保障的重要性</a:t>
            </a:r>
          </a:p>
        </p:txBody>
      </p:sp>
      <p:sp>
        <p:nvSpPr>
          <p:cNvPr id="4" name="灯片编号占位符 3"/>
          <p:cNvSpPr>
            <a:spLocks noGrp="1"/>
          </p:cNvSpPr>
          <p:nvPr>
            <p:ph type="sldNum" sz="quarter" idx="12"/>
          </p:nvPr>
        </p:nvSpPr>
        <p:spPr/>
        <p:txBody>
          <a:bodyPr/>
          <a:lstStyle/>
          <a:p>
            <a:fld id="{BA2602C4-676A-4DC9-83FD-3F245FA472CF}" type="slidenum">
              <a:rPr lang="zh-CN" altLang="en-US" smtClean="0"/>
              <a:t>46</a:t>
            </a:fld>
            <a:endParaRPr lang="zh-CN" alt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6000" b="1" dirty="0"/>
              <a:t>软件质量的挑战</a:t>
            </a:r>
          </a:p>
        </p:txBody>
      </p:sp>
      <p:sp>
        <p:nvSpPr>
          <p:cNvPr id="3" name="内容占位符 2"/>
          <p:cNvSpPr>
            <a:spLocks noGrp="1"/>
          </p:cNvSpPr>
          <p:nvPr>
            <p:ph idx="1"/>
          </p:nvPr>
        </p:nvSpPr>
        <p:spPr>
          <a:xfrm>
            <a:off x="1002082" y="2116899"/>
            <a:ext cx="10509337" cy="4597052"/>
          </a:xfrm>
        </p:spPr>
        <p:txBody>
          <a:bodyPr>
            <a:normAutofit/>
          </a:bodyPr>
          <a:lstStyle/>
          <a:p>
            <a:pPr marL="0" indent="0">
              <a:buNone/>
            </a:pPr>
            <a:r>
              <a:rPr lang="zh-CN" altLang="en-US" sz="3200" b="1" dirty="0">
                <a:effectLst/>
              </a:rPr>
              <a:t>如前所述，任何行业向工业</a:t>
            </a:r>
            <a:r>
              <a:rPr lang="en-US" altLang="zh-CN" sz="3200" b="1" dirty="0">
                <a:effectLst/>
              </a:rPr>
              <a:t>4.0</a:t>
            </a:r>
            <a:r>
              <a:rPr lang="zh-CN" altLang="en-US" sz="3200" b="1" dirty="0">
                <a:effectLst/>
              </a:rPr>
              <a:t>模式的转变都会导致电子设备制造商在一定程度上处于软件业务之中。没有以前的软件经验或具有消费级软件经验的供应商可能会低估工业物联网时代的相关挑战。</a:t>
            </a:r>
            <a:endParaRPr lang="zh-CN" altLang="en-US" sz="24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47</a:t>
            </a:fld>
            <a:endParaRPr lang="zh-CN" alt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1413" y="609600"/>
            <a:ext cx="10119486" cy="2359068"/>
          </a:xfrm>
        </p:spPr>
        <p:txBody>
          <a:bodyPr>
            <a:normAutofit/>
          </a:bodyPr>
          <a:lstStyle/>
          <a:p>
            <a:r>
              <a:rPr lang="zh-CN" altLang="en-US" sz="6000" b="1" dirty="0">
                <a:solidFill>
                  <a:schemeClr val="tx1"/>
                </a:solidFill>
              </a:rPr>
              <a:t>解决问题</a:t>
            </a:r>
            <a:r>
              <a:rPr lang="en-US" altLang="zh-CN" sz="6000" b="1" dirty="0">
                <a:solidFill>
                  <a:srgbClr val="FF0000"/>
                </a:solidFill>
              </a:rPr>
              <a:t/>
            </a:r>
            <a:br>
              <a:rPr lang="en-US" altLang="zh-CN" sz="6000" b="1" dirty="0">
                <a:solidFill>
                  <a:srgbClr val="FF0000"/>
                </a:solidFill>
              </a:rPr>
            </a:br>
            <a:endParaRPr lang="zh-CN" altLang="en-US" sz="6000" dirty="0"/>
          </a:p>
        </p:txBody>
      </p:sp>
      <p:sp>
        <p:nvSpPr>
          <p:cNvPr id="3" name="内容占位符 2"/>
          <p:cNvSpPr>
            <a:spLocks noGrp="1"/>
          </p:cNvSpPr>
          <p:nvPr>
            <p:ph idx="1"/>
          </p:nvPr>
        </p:nvSpPr>
        <p:spPr>
          <a:xfrm>
            <a:off x="626300" y="1929008"/>
            <a:ext cx="11123113" cy="4546947"/>
          </a:xfrm>
        </p:spPr>
        <p:txBody>
          <a:bodyPr>
            <a:normAutofit/>
          </a:bodyPr>
          <a:lstStyle/>
          <a:p>
            <a:pPr marL="0" indent="0">
              <a:buNone/>
            </a:pPr>
            <a:r>
              <a:rPr lang="zh-CN" altLang="en-US" sz="3500" b="1" dirty="0">
                <a:effectLst/>
              </a:rPr>
              <a:t>在软件应用程序的产品生命周期中，</a:t>
            </a:r>
            <a:r>
              <a:rPr lang="en-US" altLang="zh-CN" sz="3500" b="1" dirty="0">
                <a:effectLst/>
              </a:rPr>
              <a:t>1.0</a:t>
            </a:r>
            <a:r>
              <a:rPr lang="zh-CN" altLang="en-US" sz="3500" b="1" dirty="0">
                <a:effectLst/>
              </a:rPr>
              <a:t>是最初发布给客户的。在后续版本中，错误被修复，并且从</a:t>
            </a:r>
            <a:r>
              <a:rPr lang="en-US" altLang="zh-CN" sz="3500" b="1" dirty="0">
                <a:effectLst/>
              </a:rPr>
              <a:t>1.0</a:t>
            </a:r>
            <a:r>
              <a:rPr lang="zh-CN" altLang="en-US" sz="3500" b="1" dirty="0">
                <a:effectLst/>
              </a:rPr>
              <a:t>中丢失的功能也会被发布。产品最终达到用户对产品的质量和功能满意的程度。</a:t>
            </a:r>
          </a:p>
          <a:p>
            <a:pPr marL="0" indent="0">
              <a:buNone/>
            </a:pPr>
            <a:endParaRPr lang="zh-CN" altLang="en-US"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48</a:t>
            </a:fld>
            <a:endParaRPr lang="zh-CN" alt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1413" y="609600"/>
            <a:ext cx="10119486" cy="2359068"/>
          </a:xfrm>
        </p:spPr>
        <p:txBody>
          <a:bodyPr>
            <a:normAutofit/>
          </a:bodyPr>
          <a:lstStyle/>
          <a:p>
            <a:r>
              <a:rPr lang="zh-CN" altLang="en-US" sz="6000" b="1" dirty="0">
                <a:solidFill>
                  <a:schemeClr val="tx1"/>
                </a:solidFill>
              </a:rPr>
              <a:t>解决问题</a:t>
            </a:r>
            <a:r>
              <a:rPr lang="en-US" altLang="zh-CN" sz="6000" b="1" dirty="0">
                <a:solidFill>
                  <a:srgbClr val="FF0000"/>
                </a:solidFill>
              </a:rPr>
              <a:t/>
            </a:r>
            <a:br>
              <a:rPr lang="en-US" altLang="zh-CN" sz="6000" b="1" dirty="0">
                <a:solidFill>
                  <a:srgbClr val="FF0000"/>
                </a:solidFill>
              </a:rPr>
            </a:br>
            <a:endParaRPr lang="zh-CN" altLang="en-US" sz="6000" dirty="0"/>
          </a:p>
        </p:txBody>
      </p:sp>
      <p:sp>
        <p:nvSpPr>
          <p:cNvPr id="3" name="内容占位符 2"/>
          <p:cNvSpPr>
            <a:spLocks noGrp="1"/>
          </p:cNvSpPr>
          <p:nvPr>
            <p:ph idx="1"/>
          </p:nvPr>
        </p:nvSpPr>
        <p:spPr>
          <a:xfrm>
            <a:off x="626300" y="1929008"/>
            <a:ext cx="11123113" cy="4546947"/>
          </a:xfrm>
        </p:spPr>
        <p:txBody>
          <a:bodyPr>
            <a:normAutofit/>
          </a:bodyPr>
          <a:lstStyle/>
          <a:p>
            <a:pPr marL="0" indent="0">
              <a:buNone/>
            </a:pPr>
            <a:r>
              <a:rPr lang="zh-CN" altLang="en-US" sz="3200" b="1" dirty="0"/>
              <a:t>软件工程的流程：项目建立</a:t>
            </a:r>
            <a:r>
              <a:rPr lang="en-US" altLang="zh-CN" sz="3200" b="1" dirty="0"/>
              <a:t>-&gt;</a:t>
            </a:r>
            <a:r>
              <a:rPr lang="zh-CN" altLang="en-US" sz="3200" b="1" dirty="0"/>
              <a:t>需求分析</a:t>
            </a:r>
            <a:r>
              <a:rPr lang="en-US" altLang="zh-CN" sz="3200" b="1" dirty="0"/>
              <a:t>-&gt;</a:t>
            </a:r>
            <a:r>
              <a:rPr lang="zh-CN" altLang="en-US" sz="3200" b="1" dirty="0"/>
              <a:t>产品设计</a:t>
            </a:r>
            <a:r>
              <a:rPr lang="en-US" altLang="zh-CN" sz="3200" b="1" dirty="0"/>
              <a:t>-&gt;</a:t>
            </a:r>
            <a:r>
              <a:rPr lang="zh-CN" altLang="en-US" sz="3200" b="1" dirty="0"/>
              <a:t>编码和单元测试</a:t>
            </a:r>
            <a:r>
              <a:rPr lang="en-US" altLang="zh-CN" sz="3200" b="1" dirty="0"/>
              <a:t>-&gt;</a:t>
            </a:r>
            <a:r>
              <a:rPr lang="zh-CN" altLang="en-US" sz="3200" b="1" dirty="0"/>
              <a:t>集成测试</a:t>
            </a:r>
            <a:r>
              <a:rPr lang="en-US" altLang="zh-CN" sz="3200" b="1" dirty="0"/>
              <a:t>-&gt;</a:t>
            </a:r>
            <a:r>
              <a:rPr lang="zh-CN" altLang="en-US" sz="3200" b="1" dirty="0"/>
              <a:t>确认测试</a:t>
            </a:r>
            <a:r>
              <a:rPr lang="en-US" altLang="zh-CN" sz="3200" b="1" dirty="0"/>
              <a:t>-&gt;</a:t>
            </a:r>
            <a:r>
              <a:rPr lang="zh-CN" altLang="en-US" sz="3200" b="1" dirty="0"/>
              <a:t>系统测试</a:t>
            </a:r>
            <a:r>
              <a:rPr lang="en-US" altLang="zh-CN" sz="3200" b="1" dirty="0"/>
              <a:t>-&gt;</a:t>
            </a:r>
            <a:r>
              <a:rPr lang="zh-CN" altLang="en-US" sz="3200" b="1" dirty="0"/>
              <a:t>系统实施</a:t>
            </a:r>
            <a:endParaRPr lang="en-US" altLang="zh-CN" sz="3200" b="1" dirty="0"/>
          </a:p>
          <a:p>
            <a:pPr marL="0" indent="0">
              <a:buNone/>
            </a:pPr>
            <a:endParaRPr lang="en-US" altLang="zh-CN" sz="3200" b="1" dirty="0"/>
          </a:p>
          <a:p>
            <a:pPr marL="0" indent="0">
              <a:buNone/>
            </a:pPr>
            <a:r>
              <a:rPr lang="zh-CN" altLang="en-US" sz="3200" b="1" dirty="0"/>
              <a:t>企业需要</a:t>
            </a:r>
            <a:r>
              <a:rPr lang="zh-CN" altLang="en-US" sz="3200" b="1" dirty="0">
                <a:solidFill>
                  <a:srgbClr val="00B0F0"/>
                </a:solidFill>
                <a:effectLst/>
              </a:rPr>
              <a:t>在需求、设计、编码和测试之间合理分配开发资源</a:t>
            </a:r>
            <a:r>
              <a:rPr lang="zh-CN" altLang="en-US" sz="3200" b="1" dirty="0">
                <a:effectLst/>
              </a:rPr>
              <a:t>。</a:t>
            </a:r>
          </a:p>
          <a:p>
            <a:pPr marL="0" indent="0">
              <a:buNone/>
            </a:pPr>
            <a:endParaRPr lang="zh-CN" altLang="en-US"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49</a:t>
            </a:fld>
            <a:endParaRPr lang="zh-CN"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6000" b="1" dirty="0">
                <a:solidFill>
                  <a:schemeClr val="tx1"/>
                </a:solidFill>
              </a:rPr>
              <a:t>软件质量保障的重要性</a:t>
            </a:r>
            <a:r>
              <a:rPr lang="zh-CN" altLang="en-US" b="1" dirty="0">
                <a:solidFill>
                  <a:schemeClr val="tx1"/>
                </a:solidFill>
              </a:rPr>
              <a:t/>
            </a:r>
            <a:br>
              <a:rPr lang="zh-CN" altLang="en-US" b="1" dirty="0">
                <a:solidFill>
                  <a:schemeClr val="tx1"/>
                </a:solidFill>
              </a:rPr>
            </a:b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3200" b="1" dirty="0">
                <a:effectLst/>
              </a:rPr>
              <a:t>总之，</a:t>
            </a:r>
            <a:r>
              <a:rPr lang="zh-CN" altLang="en-US" sz="3200" b="1" dirty="0">
                <a:solidFill>
                  <a:srgbClr val="00B0F0"/>
                </a:solidFill>
                <a:effectLst/>
              </a:rPr>
              <a:t>工业</a:t>
            </a:r>
            <a:r>
              <a:rPr lang="en-US" altLang="zh-CN" sz="3200" b="1" dirty="0">
                <a:solidFill>
                  <a:srgbClr val="00B0F0"/>
                </a:solidFill>
                <a:effectLst/>
              </a:rPr>
              <a:t>4.0</a:t>
            </a:r>
            <a:r>
              <a:rPr lang="zh-CN" altLang="en-US" sz="3200" b="1" dirty="0">
                <a:solidFill>
                  <a:srgbClr val="00B0F0"/>
                </a:solidFill>
                <a:effectLst/>
              </a:rPr>
              <a:t>时代的到来，软件质量的作用越来越重要。</a:t>
            </a:r>
            <a:r>
              <a:rPr lang="zh-CN" altLang="en-US" sz="3200" b="1" dirty="0">
                <a:effectLst/>
              </a:rPr>
              <a:t>合理的开发流程，所创造的高质量的应用程序才能生存。企业才能打造好的品牌，蓬勃发展。</a:t>
            </a:r>
            <a:endParaRPr lang="zh-CN" altLang="en-US"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50</a:t>
            </a:fld>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56138" y="161926"/>
            <a:ext cx="9905998" cy="1905000"/>
          </a:xfrm>
        </p:spPr>
        <p:txBody>
          <a:bodyPr>
            <a:normAutofit/>
          </a:bodyPr>
          <a:lstStyle/>
          <a:p>
            <a:r>
              <a:rPr lang="zh-CN" altLang="en-US" sz="6000" b="1" dirty="0"/>
              <a:t>总结</a:t>
            </a:r>
          </a:p>
        </p:txBody>
      </p:sp>
      <p:sp>
        <p:nvSpPr>
          <p:cNvPr id="3" name="内容占位符 2"/>
          <p:cNvSpPr>
            <a:spLocks noGrp="1"/>
          </p:cNvSpPr>
          <p:nvPr>
            <p:ph idx="1"/>
          </p:nvPr>
        </p:nvSpPr>
        <p:spPr>
          <a:xfrm>
            <a:off x="3379788" y="1828801"/>
            <a:ext cx="9905998" cy="4495800"/>
          </a:xfrm>
        </p:spPr>
        <p:txBody>
          <a:bodyPr>
            <a:normAutofit/>
          </a:bodyPr>
          <a:lstStyle/>
          <a:p>
            <a:pPr marL="0" indent="0">
              <a:buNone/>
            </a:pPr>
            <a:r>
              <a:rPr lang="zh-CN" altLang="en-US" sz="3200" b="1" dirty="0"/>
              <a:t>一</a:t>
            </a:r>
            <a:r>
              <a:rPr lang="en-US" altLang="zh-CN" sz="3200" b="1" dirty="0"/>
              <a:t>.</a:t>
            </a:r>
            <a:r>
              <a:rPr lang="zh-CN" altLang="en-US" sz="3200" b="1" dirty="0"/>
              <a:t>历届工业革命回顾</a:t>
            </a:r>
            <a:r>
              <a:rPr lang="en-US" altLang="zh-CN" sz="3200" b="1" dirty="0"/>
              <a:t/>
            </a:r>
            <a:br>
              <a:rPr lang="en-US" altLang="zh-CN" sz="3200" b="1" dirty="0"/>
            </a:br>
            <a:r>
              <a:rPr lang="en-US" altLang="zh-CN" sz="3200" b="1" dirty="0"/>
              <a:t/>
            </a:r>
            <a:br>
              <a:rPr lang="en-US" altLang="zh-CN" sz="3200" b="1" dirty="0"/>
            </a:br>
            <a:r>
              <a:rPr lang="zh-CN" altLang="en-US" sz="3200" b="1" dirty="0"/>
              <a:t>二</a:t>
            </a:r>
            <a:r>
              <a:rPr lang="en-US" altLang="zh-CN" sz="3200" b="1" dirty="0"/>
              <a:t>.</a:t>
            </a:r>
            <a:r>
              <a:rPr lang="zh-CN" altLang="en-US" sz="3200" b="1" dirty="0"/>
              <a:t>工业</a:t>
            </a:r>
            <a:r>
              <a:rPr lang="en-US" altLang="zh-CN" sz="3200" b="1" dirty="0"/>
              <a:t>4.0</a:t>
            </a:r>
            <a:r>
              <a:rPr lang="zh-CN" altLang="en-US" sz="3200" b="1" dirty="0"/>
              <a:t>内涵解读</a:t>
            </a:r>
            <a:r>
              <a:rPr lang="en-US" altLang="zh-CN" sz="3200" b="1" dirty="0"/>
              <a:t/>
            </a:r>
            <a:br>
              <a:rPr lang="en-US" altLang="zh-CN" sz="3200" b="1" dirty="0"/>
            </a:br>
            <a:r>
              <a:rPr lang="en-US" altLang="zh-CN" sz="3200" b="1" dirty="0"/>
              <a:t/>
            </a:r>
            <a:br>
              <a:rPr lang="en-US" altLang="zh-CN" sz="3200" b="1" dirty="0"/>
            </a:br>
            <a:r>
              <a:rPr lang="zh-CN" altLang="en-US" sz="3200" b="1" dirty="0"/>
              <a:t>三</a:t>
            </a:r>
            <a:r>
              <a:rPr lang="en-US" altLang="zh-CN" sz="3200" b="1" dirty="0"/>
              <a:t>.</a:t>
            </a:r>
            <a:r>
              <a:rPr lang="zh-CN" altLang="en-US" sz="3200" b="1" dirty="0"/>
              <a:t>德国工业</a:t>
            </a:r>
            <a:r>
              <a:rPr lang="en-US" altLang="zh-CN" sz="3200" b="1" dirty="0"/>
              <a:t>4.0</a:t>
            </a:r>
            <a:r>
              <a:rPr lang="zh-CN" altLang="en-US" sz="3200" b="1" dirty="0"/>
              <a:t>和中国工业</a:t>
            </a:r>
            <a:r>
              <a:rPr lang="en-US" altLang="zh-CN" sz="3200" b="1" dirty="0"/>
              <a:t>4.0</a:t>
            </a:r>
            <a:br>
              <a:rPr lang="en-US" altLang="zh-CN" sz="3200" b="1" dirty="0"/>
            </a:br>
            <a:r>
              <a:rPr lang="en-US" altLang="zh-CN" sz="3200" b="1" dirty="0"/>
              <a:t/>
            </a:r>
            <a:br>
              <a:rPr lang="en-US" altLang="zh-CN" sz="3200" b="1" dirty="0"/>
            </a:br>
            <a:r>
              <a:rPr lang="zh-CN" altLang="en-US" sz="3200" b="1" dirty="0"/>
              <a:t>四</a:t>
            </a:r>
            <a:r>
              <a:rPr lang="en-US" altLang="zh-CN" sz="3200" b="1" dirty="0"/>
              <a:t>.</a:t>
            </a:r>
            <a:r>
              <a:rPr lang="zh-CN" altLang="en-US" sz="3200" b="1" dirty="0"/>
              <a:t>工业</a:t>
            </a:r>
            <a:r>
              <a:rPr lang="en-US" altLang="zh-CN" sz="3200" b="1" dirty="0"/>
              <a:t>4.0</a:t>
            </a:r>
            <a:r>
              <a:rPr lang="zh-CN" altLang="en-US" sz="3200" b="1" dirty="0"/>
              <a:t>和软件</a:t>
            </a:r>
            <a:r>
              <a:rPr lang="en-US" altLang="zh-CN" sz="3200" b="1" dirty="0"/>
              <a:t/>
            </a:r>
            <a:br>
              <a:rPr lang="en-US" altLang="zh-CN" sz="3200" b="1" dirty="0"/>
            </a:br>
            <a:endParaRPr lang="zh-CN" altLang="en-US" sz="32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51</a:t>
            </a:fld>
            <a:endParaRPr lang="zh-CN" alt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86334" y="124216"/>
            <a:ext cx="4000391" cy="1905000"/>
          </a:xfrm>
        </p:spPr>
        <p:txBody>
          <a:bodyPr>
            <a:normAutofit/>
          </a:bodyPr>
          <a:lstStyle/>
          <a:p>
            <a:r>
              <a:rPr lang="zh-CN" altLang="en-US" sz="6000" b="1" dirty="0"/>
              <a:t>参考文献</a:t>
            </a:r>
          </a:p>
        </p:txBody>
      </p:sp>
      <p:sp>
        <p:nvSpPr>
          <p:cNvPr id="3" name="内容占位符 2"/>
          <p:cNvSpPr>
            <a:spLocks noGrp="1"/>
          </p:cNvSpPr>
          <p:nvPr>
            <p:ph idx="1"/>
          </p:nvPr>
        </p:nvSpPr>
        <p:spPr>
          <a:xfrm>
            <a:off x="475990" y="2029216"/>
            <a:ext cx="11185742" cy="4571999"/>
          </a:xfrm>
        </p:spPr>
        <p:txBody>
          <a:bodyPr>
            <a:normAutofit fontScale="92500" lnSpcReduction="10000"/>
          </a:bodyPr>
          <a:lstStyle/>
          <a:p>
            <a:r>
              <a:rPr lang="zh-CN" altLang="en-US" sz="2800" b="1" dirty="0"/>
              <a:t>工业</a:t>
            </a:r>
            <a:r>
              <a:rPr lang="en-US" altLang="zh-CN" sz="2800" b="1" dirty="0"/>
              <a:t>4.0</a:t>
            </a:r>
            <a:r>
              <a:rPr lang="zh-CN" altLang="en-US" sz="2800" b="1" dirty="0"/>
              <a:t>落地之道</a:t>
            </a:r>
            <a:r>
              <a:rPr lang="en-US" altLang="zh-CN" sz="2800" b="1" dirty="0"/>
              <a:t>/</a:t>
            </a:r>
            <a:r>
              <a:rPr lang="zh-CN" altLang="en-US" sz="2800" b="1" dirty="0"/>
              <a:t>陈宗智</a:t>
            </a:r>
            <a:r>
              <a:rPr lang="en-US" altLang="zh-CN" sz="2800" b="1" dirty="0"/>
              <a:t>.——</a:t>
            </a:r>
            <a:r>
              <a:rPr lang="zh-CN" altLang="en-US" sz="2800" b="1" dirty="0"/>
              <a:t>北京：人民邮电出版社，</a:t>
            </a:r>
            <a:r>
              <a:rPr lang="en-US" altLang="zh-CN" sz="2800" b="1" dirty="0"/>
              <a:t>2015.5 ISBN 978-7-115-39016-5</a:t>
            </a:r>
          </a:p>
          <a:p>
            <a:r>
              <a:rPr lang="zh-CN" altLang="en-US" sz="2800" b="1" dirty="0"/>
              <a:t>工业</a:t>
            </a:r>
            <a:r>
              <a:rPr lang="en-US" altLang="zh-CN" sz="2800" b="1" dirty="0"/>
              <a:t>4.0/(</a:t>
            </a:r>
            <a:r>
              <a:rPr lang="zh-CN" altLang="en-US" sz="2800" b="1" dirty="0"/>
              <a:t>德</a:t>
            </a:r>
            <a:r>
              <a:rPr lang="en-US" altLang="zh-CN" sz="2800" b="1" dirty="0"/>
              <a:t>) </a:t>
            </a:r>
            <a:r>
              <a:rPr lang="zh-CN" altLang="en-US" sz="2800" b="1" dirty="0"/>
              <a:t>森德勒（</a:t>
            </a:r>
            <a:r>
              <a:rPr lang="en-US" altLang="zh-CN" sz="2800" b="1" dirty="0"/>
              <a:t>Sendler, u.)</a:t>
            </a:r>
            <a:r>
              <a:rPr lang="zh-CN" altLang="en-US" sz="2800" b="1" dirty="0"/>
              <a:t>主编；邓敏，李现民译</a:t>
            </a:r>
            <a:r>
              <a:rPr lang="en-US" altLang="zh-CN" sz="2800" b="1" dirty="0"/>
              <a:t>. ——</a:t>
            </a:r>
            <a:r>
              <a:rPr lang="zh-CN" altLang="en-US" sz="2800" b="1" dirty="0"/>
              <a:t>北京：机械工程出版社，</a:t>
            </a:r>
            <a:r>
              <a:rPr lang="en-US" altLang="zh-CN" sz="2800" b="1" dirty="0"/>
              <a:t>2014.7</a:t>
            </a:r>
            <a:r>
              <a:rPr lang="zh-CN" altLang="en-US" sz="2800" b="1" dirty="0"/>
              <a:t> </a:t>
            </a:r>
            <a:r>
              <a:rPr lang="en-US" altLang="zh-CN" sz="2800" b="1" dirty="0"/>
              <a:t>ISBN</a:t>
            </a:r>
            <a:r>
              <a:rPr lang="zh-CN" altLang="en-US" sz="2800" b="1" dirty="0"/>
              <a:t> </a:t>
            </a:r>
            <a:r>
              <a:rPr lang="en-US" altLang="zh-CN" sz="2800" b="1" dirty="0"/>
              <a:t>978</a:t>
            </a:r>
            <a:r>
              <a:rPr lang="zh-CN" altLang="en-US" sz="2800" b="1" dirty="0"/>
              <a:t> </a:t>
            </a:r>
            <a:r>
              <a:rPr lang="en-US" altLang="zh-CN" sz="2800" b="1" dirty="0"/>
              <a:t>-7</a:t>
            </a:r>
            <a:r>
              <a:rPr lang="zh-CN" altLang="en-US" sz="2800" b="1" dirty="0"/>
              <a:t> </a:t>
            </a:r>
            <a:r>
              <a:rPr lang="en-US" altLang="zh-CN" sz="2800" b="1" dirty="0"/>
              <a:t>-111</a:t>
            </a:r>
            <a:r>
              <a:rPr lang="zh-CN" altLang="en-US" sz="2800" b="1" dirty="0"/>
              <a:t> </a:t>
            </a:r>
            <a:r>
              <a:rPr lang="en-US" altLang="zh-CN" sz="2800" b="1" dirty="0"/>
              <a:t>-47161 -5</a:t>
            </a:r>
          </a:p>
          <a:p>
            <a:r>
              <a:rPr lang="en-US" altLang="zh-CN" sz="2800" b="1" dirty="0">
                <a:hlinkClick r:id="rId3"/>
              </a:rPr>
              <a:t>http://www.sohu.com/a/217478215_624154</a:t>
            </a:r>
            <a:r>
              <a:rPr lang="en-US" altLang="zh-CN" sz="2800" b="1" dirty="0"/>
              <a:t> </a:t>
            </a:r>
            <a:r>
              <a:rPr lang="zh-CN" altLang="en-US" sz="2800" b="1" dirty="0"/>
              <a:t>软件质量与工业</a:t>
            </a:r>
            <a:r>
              <a:rPr lang="en-US" altLang="zh-CN" sz="2800" b="1" dirty="0"/>
              <a:t>4.0</a:t>
            </a:r>
            <a:r>
              <a:rPr lang="zh-CN" altLang="en-US" sz="2800" b="1" dirty="0"/>
              <a:t>：工业物联网</a:t>
            </a:r>
            <a:r>
              <a:rPr lang="en-US" altLang="zh-CN" sz="2800" b="1" dirty="0"/>
              <a:t>(</a:t>
            </a:r>
            <a:r>
              <a:rPr lang="en-US" altLang="zh-CN" sz="2800" b="1" dirty="0" err="1"/>
              <a:t>llot</a:t>
            </a:r>
            <a:r>
              <a:rPr lang="en-US" altLang="zh-CN" sz="2800" b="1" dirty="0"/>
              <a:t>)</a:t>
            </a:r>
          </a:p>
          <a:p>
            <a:r>
              <a:rPr lang="en-US" altLang="zh-CN" sz="2800" b="1" dirty="0">
                <a:hlinkClick r:id="rId4"/>
              </a:rPr>
              <a:t>https://www.cnblogs.com/namei/p/6110382.html</a:t>
            </a:r>
            <a:r>
              <a:rPr lang="en-US" altLang="zh-CN" sz="2800" b="1" dirty="0"/>
              <a:t> </a:t>
            </a:r>
            <a:r>
              <a:rPr lang="zh-CN" altLang="en-US" sz="2800" b="1" dirty="0"/>
              <a:t>什么叫工业</a:t>
            </a:r>
            <a:r>
              <a:rPr lang="en-US" altLang="zh-CN" sz="2800" b="1" dirty="0"/>
              <a:t>4.0</a:t>
            </a:r>
          </a:p>
          <a:p>
            <a:r>
              <a:rPr lang="en-US" altLang="zh-CN" sz="2800" b="1" dirty="0">
                <a:hlinkClick r:id="rId5"/>
              </a:rPr>
              <a:t>http://www.elecfans.com/kongzhijishu/788633.html</a:t>
            </a:r>
            <a:r>
              <a:rPr lang="en-US" altLang="zh-CN" sz="2800" b="1" dirty="0"/>
              <a:t> </a:t>
            </a:r>
            <a:r>
              <a:rPr lang="zh-CN" altLang="en-US" sz="2800" b="1" dirty="0"/>
              <a:t>工业</a:t>
            </a:r>
            <a:r>
              <a:rPr lang="en-US" altLang="zh-CN" sz="2800" b="1" dirty="0"/>
              <a:t>4.0</a:t>
            </a:r>
            <a:r>
              <a:rPr lang="zh-CN" altLang="en-US" sz="2800" b="1" dirty="0"/>
              <a:t>概念定义和发展背景</a:t>
            </a:r>
            <a:endParaRPr lang="en-US" altLang="zh-CN" sz="2800" b="1" dirty="0"/>
          </a:p>
          <a:p>
            <a:r>
              <a:rPr lang="en-US" altLang="zh-CN" sz="2800" b="1" dirty="0">
                <a:hlinkClick r:id="rId6"/>
              </a:rPr>
              <a:t>http://gyrj.gkzhan.com/news/4516.html</a:t>
            </a:r>
            <a:r>
              <a:rPr lang="en-US" altLang="zh-CN" sz="2800" b="1" dirty="0"/>
              <a:t>  </a:t>
            </a:r>
            <a:r>
              <a:rPr lang="zh-CN" altLang="en-US" sz="2800" b="1" dirty="0"/>
              <a:t>工业</a:t>
            </a:r>
            <a:r>
              <a:rPr lang="en-US" altLang="zh-CN" sz="2800" b="1" dirty="0"/>
              <a:t>4.0</a:t>
            </a:r>
            <a:r>
              <a:rPr lang="zh-CN" altLang="en-US" sz="2800" b="1" dirty="0"/>
              <a:t>时代，软件可以做什么？</a:t>
            </a:r>
            <a:endParaRPr lang="en-US" altLang="zh-CN" sz="2800" b="1" dirty="0"/>
          </a:p>
        </p:txBody>
      </p:sp>
      <p:sp>
        <p:nvSpPr>
          <p:cNvPr id="4" name="灯片编号占位符 3"/>
          <p:cNvSpPr>
            <a:spLocks noGrp="1"/>
          </p:cNvSpPr>
          <p:nvPr>
            <p:ph type="sldNum" sz="quarter" idx="12"/>
          </p:nvPr>
        </p:nvSpPr>
        <p:spPr/>
        <p:txBody>
          <a:bodyPr/>
          <a:lstStyle/>
          <a:p>
            <a:fld id="{BA2602C4-676A-4DC9-83FD-3F245FA472CF}" type="slidenum">
              <a:rPr lang="zh-CN" altLang="en-US" smtClean="0"/>
              <a:t>52</a:t>
            </a:fld>
            <a:endParaRPr lang="zh-CN"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文本框 9"/>
          <p:cNvSpPr txBox="1"/>
          <p:nvPr/>
        </p:nvSpPr>
        <p:spPr>
          <a:xfrm>
            <a:off x="5191740" y="398088"/>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多方定义</a:t>
            </a:r>
          </a:p>
        </p:txBody>
      </p:sp>
      <p:grpSp>
        <p:nvGrpSpPr>
          <p:cNvPr id="5" name="组合 4"/>
          <p:cNvGrpSpPr/>
          <p:nvPr/>
        </p:nvGrpSpPr>
        <p:grpSpPr>
          <a:xfrm>
            <a:off x="4830465" y="2466415"/>
            <a:ext cx="2383790" cy="2421890"/>
            <a:chOff x="6468" y="3074"/>
            <a:chExt cx="6260" cy="6359"/>
          </a:xfrm>
        </p:grpSpPr>
        <p:sp>
          <p:nvSpPr>
            <p:cNvPr id="6" name="Round Diagonal Corner Rectangle 31"/>
            <p:cNvSpPr/>
            <p:nvPr/>
          </p:nvSpPr>
          <p:spPr bwMode="auto">
            <a:xfrm rot="2528627">
              <a:off x="10224" y="4946"/>
              <a:ext cx="2505" cy="2506"/>
            </a:xfrm>
            <a:prstGeom prst="round2DiagRect">
              <a:avLst>
                <a:gd name="adj1" fmla="val 31373"/>
                <a:gd name="adj2" fmla="val 0"/>
              </a:avLst>
            </a:prstGeom>
            <a:blipFill>
              <a:blip r:embed="rId4"/>
              <a:stretch>
                <a:fillRect/>
              </a:stretch>
            </a:blipFill>
            <a:ln w="9525">
              <a:noFill/>
              <a:round/>
            </a:ln>
          </p:spPr>
          <p:txBody>
            <a:bodyPr vert="horz" wrap="square" lIns="121917" tIns="60958" rIns="121917" bIns="60958"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lumMod val="95000"/>
                  </a:prstClr>
                </a:solidFill>
                <a:effectLst/>
                <a:uLnTx/>
                <a:uFillTx/>
                <a:latin typeface="+mn-lt"/>
                <a:ea typeface="+mn-ea"/>
                <a:cs typeface="+mn-cs"/>
              </a:endParaRPr>
            </a:p>
          </p:txBody>
        </p:sp>
        <p:sp>
          <p:nvSpPr>
            <p:cNvPr id="7" name="Round Diagonal Corner Rectangle 32"/>
            <p:cNvSpPr/>
            <p:nvPr/>
          </p:nvSpPr>
          <p:spPr bwMode="auto">
            <a:xfrm rot="19071373" flipH="1">
              <a:off x="6468" y="4946"/>
              <a:ext cx="2505" cy="2506"/>
            </a:xfrm>
            <a:prstGeom prst="round2DiagRect">
              <a:avLst>
                <a:gd name="adj1" fmla="val 31373"/>
                <a:gd name="adj2" fmla="val 0"/>
              </a:avLst>
            </a:prstGeom>
            <a:blipFill>
              <a:blip r:embed="rId4"/>
              <a:stretch>
                <a:fillRect/>
              </a:stretch>
            </a:blipFill>
            <a:ln w="9525">
              <a:noFill/>
              <a:round/>
            </a:ln>
          </p:spPr>
          <p:txBody>
            <a:bodyPr vert="horz" wrap="square" lIns="121917" tIns="60958" rIns="121917" bIns="60958"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lumMod val="95000"/>
                  </a:prstClr>
                </a:solidFill>
                <a:effectLst/>
                <a:uLnTx/>
                <a:uFillTx/>
                <a:latin typeface="+mn-lt"/>
                <a:ea typeface="+mn-ea"/>
                <a:cs typeface="+mn-cs"/>
              </a:endParaRPr>
            </a:p>
          </p:txBody>
        </p:sp>
        <p:sp>
          <p:nvSpPr>
            <p:cNvPr id="8" name="Round Diagonal Corner Rectangle 40"/>
            <p:cNvSpPr/>
            <p:nvPr/>
          </p:nvSpPr>
          <p:spPr bwMode="auto">
            <a:xfrm rot="18900000">
              <a:off x="8346" y="3074"/>
              <a:ext cx="2505" cy="2506"/>
            </a:xfrm>
            <a:prstGeom prst="round2DiagRect">
              <a:avLst>
                <a:gd name="adj1" fmla="val 31373"/>
                <a:gd name="adj2" fmla="val 0"/>
              </a:avLst>
            </a:prstGeom>
            <a:blipFill>
              <a:blip r:embed="rId4"/>
              <a:stretch>
                <a:fillRect/>
              </a:stretch>
            </a:blipFill>
            <a:ln w="9525">
              <a:noFill/>
              <a:round/>
            </a:ln>
          </p:spPr>
          <p:txBody>
            <a:bodyPr vert="horz" wrap="square" lIns="121917" tIns="60958" rIns="121917" bIns="60958"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lumMod val="95000"/>
                  </a:prstClr>
                </a:solidFill>
                <a:effectLst/>
                <a:uLnTx/>
                <a:uFillTx/>
                <a:latin typeface="+mn-lt"/>
                <a:ea typeface="+mn-ea"/>
                <a:cs typeface="+mn-cs"/>
              </a:endParaRPr>
            </a:p>
          </p:txBody>
        </p:sp>
        <p:sp>
          <p:nvSpPr>
            <p:cNvPr id="9" name="Round Diagonal Corner Rectangle 41"/>
            <p:cNvSpPr/>
            <p:nvPr/>
          </p:nvSpPr>
          <p:spPr bwMode="auto">
            <a:xfrm rot="18900000">
              <a:off x="8346" y="6927"/>
              <a:ext cx="2505" cy="2506"/>
            </a:xfrm>
            <a:prstGeom prst="round2DiagRect">
              <a:avLst>
                <a:gd name="adj1" fmla="val 31373"/>
                <a:gd name="adj2" fmla="val 0"/>
              </a:avLst>
            </a:prstGeom>
            <a:blipFill>
              <a:blip r:embed="rId4"/>
              <a:stretch>
                <a:fillRect/>
              </a:stretch>
            </a:blipFill>
            <a:ln w="9525">
              <a:noFill/>
              <a:round/>
            </a:ln>
          </p:spPr>
          <p:txBody>
            <a:bodyPr vert="horz" wrap="square" lIns="121917" tIns="60958" rIns="121917" bIns="60958"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lumMod val="95000"/>
                  </a:prstClr>
                </a:solidFill>
                <a:effectLst/>
                <a:uLnTx/>
                <a:uFillTx/>
                <a:latin typeface="+mn-lt"/>
                <a:ea typeface="+mn-ea"/>
                <a:cs typeface="+mn-cs"/>
              </a:endParaRPr>
            </a:p>
          </p:txBody>
        </p:sp>
        <p:sp>
          <p:nvSpPr>
            <p:cNvPr id="11" name="Freeform 129"/>
            <p:cNvSpPr/>
            <p:nvPr/>
          </p:nvSpPr>
          <p:spPr bwMode="auto">
            <a:xfrm>
              <a:off x="9153" y="3781"/>
              <a:ext cx="892" cy="1092"/>
            </a:xfrm>
            <a:custGeom>
              <a:avLst/>
              <a:gdLst/>
              <a:ahLst/>
              <a:cxnLst>
                <a:cxn ang="0">
                  <a:pos x="53" y="58"/>
                </a:cxn>
                <a:cxn ang="0">
                  <a:pos x="36" y="58"/>
                </a:cxn>
                <a:cxn ang="0">
                  <a:pos x="36" y="65"/>
                </a:cxn>
                <a:cxn ang="0">
                  <a:pos x="34" y="68"/>
                </a:cxn>
                <a:cxn ang="0">
                  <a:pos x="22" y="68"/>
                </a:cxn>
                <a:cxn ang="0">
                  <a:pos x="20" y="65"/>
                </a:cxn>
                <a:cxn ang="0">
                  <a:pos x="20" y="58"/>
                </a:cxn>
                <a:cxn ang="0">
                  <a:pos x="2" y="58"/>
                </a:cxn>
                <a:cxn ang="0">
                  <a:pos x="0" y="56"/>
                </a:cxn>
                <a:cxn ang="0">
                  <a:pos x="1" y="54"/>
                </a:cxn>
                <a:cxn ang="0">
                  <a:pos x="16" y="39"/>
                </a:cxn>
                <a:cxn ang="0">
                  <a:pos x="7" y="39"/>
                </a:cxn>
                <a:cxn ang="0">
                  <a:pos x="5" y="36"/>
                </a:cxn>
                <a:cxn ang="0">
                  <a:pos x="6" y="34"/>
                </a:cxn>
                <a:cxn ang="0">
                  <a:pos x="21" y="19"/>
                </a:cxn>
                <a:cxn ang="0">
                  <a:pos x="13" y="19"/>
                </a:cxn>
                <a:cxn ang="0">
                  <a:pos x="11" y="17"/>
                </a:cxn>
                <a:cxn ang="0">
                  <a:pos x="12" y="15"/>
                </a:cxn>
                <a:cxn ang="0">
                  <a:pos x="26" y="0"/>
                </a:cxn>
                <a:cxn ang="0">
                  <a:pos x="28" y="0"/>
                </a:cxn>
                <a:cxn ang="0">
                  <a:pos x="30" y="0"/>
                </a:cxn>
                <a:cxn ang="0">
                  <a:pos x="44" y="15"/>
                </a:cxn>
                <a:cxn ang="0">
                  <a:pos x="45" y="17"/>
                </a:cxn>
                <a:cxn ang="0">
                  <a:pos x="42" y="19"/>
                </a:cxn>
                <a:cxn ang="0">
                  <a:pos x="35" y="19"/>
                </a:cxn>
                <a:cxn ang="0">
                  <a:pos x="50" y="34"/>
                </a:cxn>
                <a:cxn ang="0">
                  <a:pos x="51" y="36"/>
                </a:cxn>
                <a:cxn ang="0">
                  <a:pos x="49" y="39"/>
                </a:cxn>
                <a:cxn ang="0">
                  <a:pos x="40" y="39"/>
                </a:cxn>
                <a:cxn ang="0">
                  <a:pos x="55" y="54"/>
                </a:cxn>
                <a:cxn ang="0">
                  <a:pos x="56" y="56"/>
                </a:cxn>
                <a:cxn ang="0">
                  <a:pos x="53" y="58"/>
                </a:cxn>
              </a:cxnLst>
              <a:rect l="0" t="0" r="r" b="b"/>
              <a:pathLst>
                <a:path w="56" h="68">
                  <a:moveTo>
                    <a:pt x="53" y="58"/>
                  </a:moveTo>
                  <a:cubicBezTo>
                    <a:pt x="36" y="58"/>
                    <a:pt x="36" y="58"/>
                    <a:pt x="36" y="58"/>
                  </a:cubicBezTo>
                  <a:cubicBezTo>
                    <a:pt x="36" y="60"/>
                    <a:pt x="36" y="63"/>
                    <a:pt x="36" y="65"/>
                  </a:cubicBezTo>
                  <a:cubicBezTo>
                    <a:pt x="36" y="67"/>
                    <a:pt x="35" y="68"/>
                    <a:pt x="34" y="68"/>
                  </a:cubicBezTo>
                  <a:cubicBezTo>
                    <a:pt x="22" y="68"/>
                    <a:pt x="22" y="68"/>
                    <a:pt x="22" y="68"/>
                  </a:cubicBezTo>
                  <a:cubicBezTo>
                    <a:pt x="21" y="68"/>
                    <a:pt x="20" y="67"/>
                    <a:pt x="20" y="65"/>
                  </a:cubicBezTo>
                  <a:cubicBezTo>
                    <a:pt x="20" y="63"/>
                    <a:pt x="20" y="60"/>
                    <a:pt x="20" y="58"/>
                  </a:cubicBezTo>
                  <a:cubicBezTo>
                    <a:pt x="2" y="58"/>
                    <a:pt x="2" y="58"/>
                    <a:pt x="2" y="58"/>
                  </a:cubicBezTo>
                  <a:cubicBezTo>
                    <a:pt x="1" y="58"/>
                    <a:pt x="0" y="57"/>
                    <a:pt x="0" y="56"/>
                  </a:cubicBezTo>
                  <a:cubicBezTo>
                    <a:pt x="0" y="55"/>
                    <a:pt x="0" y="54"/>
                    <a:pt x="1" y="54"/>
                  </a:cubicBezTo>
                  <a:cubicBezTo>
                    <a:pt x="16" y="39"/>
                    <a:pt x="16" y="39"/>
                    <a:pt x="16" y="39"/>
                  </a:cubicBezTo>
                  <a:cubicBezTo>
                    <a:pt x="7" y="39"/>
                    <a:pt x="7" y="39"/>
                    <a:pt x="7" y="39"/>
                  </a:cubicBezTo>
                  <a:cubicBezTo>
                    <a:pt x="6" y="39"/>
                    <a:pt x="5" y="37"/>
                    <a:pt x="5" y="36"/>
                  </a:cubicBezTo>
                  <a:cubicBezTo>
                    <a:pt x="5" y="35"/>
                    <a:pt x="5" y="35"/>
                    <a:pt x="6" y="34"/>
                  </a:cubicBezTo>
                  <a:cubicBezTo>
                    <a:pt x="21" y="19"/>
                    <a:pt x="21" y="19"/>
                    <a:pt x="21" y="19"/>
                  </a:cubicBezTo>
                  <a:cubicBezTo>
                    <a:pt x="13" y="19"/>
                    <a:pt x="13" y="19"/>
                    <a:pt x="13" y="19"/>
                  </a:cubicBezTo>
                  <a:cubicBezTo>
                    <a:pt x="12" y="19"/>
                    <a:pt x="11" y="18"/>
                    <a:pt x="11" y="17"/>
                  </a:cubicBezTo>
                  <a:cubicBezTo>
                    <a:pt x="11" y="16"/>
                    <a:pt x="11" y="15"/>
                    <a:pt x="12" y="15"/>
                  </a:cubicBezTo>
                  <a:cubicBezTo>
                    <a:pt x="26" y="0"/>
                    <a:pt x="26" y="0"/>
                    <a:pt x="26" y="0"/>
                  </a:cubicBezTo>
                  <a:cubicBezTo>
                    <a:pt x="27" y="0"/>
                    <a:pt x="27" y="0"/>
                    <a:pt x="28" y="0"/>
                  </a:cubicBezTo>
                  <a:cubicBezTo>
                    <a:pt x="29" y="0"/>
                    <a:pt x="29" y="0"/>
                    <a:pt x="30" y="0"/>
                  </a:cubicBezTo>
                  <a:cubicBezTo>
                    <a:pt x="44" y="15"/>
                    <a:pt x="44" y="15"/>
                    <a:pt x="44" y="15"/>
                  </a:cubicBezTo>
                  <a:cubicBezTo>
                    <a:pt x="45" y="15"/>
                    <a:pt x="45" y="16"/>
                    <a:pt x="45" y="17"/>
                  </a:cubicBezTo>
                  <a:cubicBezTo>
                    <a:pt x="45" y="18"/>
                    <a:pt x="44" y="19"/>
                    <a:pt x="42" y="19"/>
                  </a:cubicBezTo>
                  <a:cubicBezTo>
                    <a:pt x="35" y="19"/>
                    <a:pt x="35" y="19"/>
                    <a:pt x="35" y="19"/>
                  </a:cubicBezTo>
                  <a:cubicBezTo>
                    <a:pt x="50" y="34"/>
                    <a:pt x="50" y="34"/>
                    <a:pt x="50" y="34"/>
                  </a:cubicBezTo>
                  <a:cubicBezTo>
                    <a:pt x="51" y="35"/>
                    <a:pt x="51" y="35"/>
                    <a:pt x="51" y="36"/>
                  </a:cubicBezTo>
                  <a:cubicBezTo>
                    <a:pt x="51" y="37"/>
                    <a:pt x="50" y="39"/>
                    <a:pt x="49" y="39"/>
                  </a:cubicBezTo>
                  <a:cubicBezTo>
                    <a:pt x="40" y="39"/>
                    <a:pt x="40" y="39"/>
                    <a:pt x="40" y="39"/>
                  </a:cubicBezTo>
                  <a:cubicBezTo>
                    <a:pt x="55" y="54"/>
                    <a:pt x="55" y="54"/>
                    <a:pt x="55" y="54"/>
                  </a:cubicBezTo>
                  <a:cubicBezTo>
                    <a:pt x="56" y="54"/>
                    <a:pt x="56" y="55"/>
                    <a:pt x="56" y="56"/>
                  </a:cubicBezTo>
                  <a:cubicBezTo>
                    <a:pt x="56" y="57"/>
                    <a:pt x="55" y="58"/>
                    <a:pt x="53" y="58"/>
                  </a:cubicBezTo>
                  <a:close/>
                </a:path>
              </a:pathLst>
            </a:custGeom>
            <a:solidFill>
              <a:schemeClr val="bg1">
                <a:lumMod val="95000"/>
              </a:schemeClr>
            </a:solidFill>
            <a:ln w="9525">
              <a:noFill/>
              <a:round/>
            </a:ln>
          </p:spPr>
          <p:txBody>
            <a:bodyPr vert="horz" wrap="square" lIns="121917" tIns="60958" rIns="121917" bIns="6095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lumMod val="95000"/>
                  </a:prstClr>
                </a:solidFill>
                <a:effectLst/>
                <a:uLnTx/>
                <a:uFillTx/>
                <a:latin typeface="+mn-lt"/>
                <a:ea typeface="+mn-ea"/>
                <a:cs typeface="+mn-cs"/>
              </a:endParaRPr>
            </a:p>
          </p:txBody>
        </p:sp>
        <p:sp>
          <p:nvSpPr>
            <p:cNvPr id="12" name="Freeform 166"/>
            <p:cNvSpPr>
              <a:spLocks noEditPoints="1"/>
            </p:cNvSpPr>
            <p:nvPr/>
          </p:nvSpPr>
          <p:spPr bwMode="auto">
            <a:xfrm>
              <a:off x="7219" y="5693"/>
              <a:ext cx="1003" cy="1011"/>
            </a:xfrm>
            <a:custGeom>
              <a:avLst/>
              <a:gdLst/>
              <a:ahLst/>
              <a:cxnLst>
                <a:cxn ang="0">
                  <a:pos x="1" y="42"/>
                </a:cxn>
                <a:cxn ang="0">
                  <a:pos x="1" y="40"/>
                </a:cxn>
                <a:cxn ang="0">
                  <a:pos x="14" y="41"/>
                </a:cxn>
                <a:cxn ang="0">
                  <a:pos x="30" y="19"/>
                </a:cxn>
                <a:cxn ang="0">
                  <a:pos x="17" y="8"/>
                </a:cxn>
                <a:cxn ang="0">
                  <a:pos x="9" y="14"/>
                </a:cxn>
                <a:cxn ang="0">
                  <a:pos x="9" y="19"/>
                </a:cxn>
                <a:cxn ang="0">
                  <a:pos x="18" y="39"/>
                </a:cxn>
                <a:cxn ang="0">
                  <a:pos x="4" y="24"/>
                </a:cxn>
                <a:cxn ang="0">
                  <a:pos x="4" y="9"/>
                </a:cxn>
                <a:cxn ang="0">
                  <a:pos x="17" y="0"/>
                </a:cxn>
                <a:cxn ang="0">
                  <a:pos x="37" y="16"/>
                </a:cxn>
                <a:cxn ang="0">
                  <a:pos x="30" y="19"/>
                </a:cxn>
                <a:cxn ang="0">
                  <a:pos x="6" y="58"/>
                </a:cxn>
                <a:cxn ang="0">
                  <a:pos x="5" y="56"/>
                </a:cxn>
                <a:cxn ang="0">
                  <a:pos x="16" y="46"/>
                </a:cxn>
                <a:cxn ang="0">
                  <a:pos x="7" y="58"/>
                </a:cxn>
                <a:cxn ang="0">
                  <a:pos x="22" y="63"/>
                </a:cxn>
                <a:cxn ang="0">
                  <a:pos x="20" y="49"/>
                </a:cxn>
                <a:cxn ang="0">
                  <a:pos x="23" y="49"/>
                </a:cxn>
                <a:cxn ang="0">
                  <a:pos x="59" y="54"/>
                </a:cxn>
                <a:cxn ang="0">
                  <a:pos x="46" y="62"/>
                </a:cxn>
                <a:cxn ang="0">
                  <a:pos x="25" y="46"/>
                </a:cxn>
                <a:cxn ang="0">
                  <a:pos x="33" y="43"/>
                </a:cxn>
                <a:cxn ang="0">
                  <a:pos x="48" y="54"/>
                </a:cxn>
                <a:cxn ang="0">
                  <a:pos x="55" y="46"/>
                </a:cxn>
                <a:cxn ang="0">
                  <a:pos x="44" y="33"/>
                </a:cxn>
                <a:cxn ang="0">
                  <a:pos x="46" y="25"/>
                </a:cxn>
                <a:cxn ang="0">
                  <a:pos x="62" y="46"/>
                </a:cxn>
                <a:cxn ang="0">
                  <a:pos x="42" y="13"/>
                </a:cxn>
                <a:cxn ang="0">
                  <a:pos x="40" y="13"/>
                </a:cxn>
                <a:cxn ang="0">
                  <a:pos x="41" y="0"/>
                </a:cxn>
                <a:cxn ang="0">
                  <a:pos x="42" y="13"/>
                </a:cxn>
                <a:cxn ang="0">
                  <a:pos x="47" y="17"/>
                </a:cxn>
                <a:cxn ang="0">
                  <a:pos x="46" y="15"/>
                </a:cxn>
                <a:cxn ang="0">
                  <a:pos x="58" y="5"/>
                </a:cxn>
                <a:cxn ang="0">
                  <a:pos x="48" y="16"/>
                </a:cxn>
                <a:cxn ang="0">
                  <a:pos x="50" y="23"/>
                </a:cxn>
                <a:cxn ang="0">
                  <a:pos x="50" y="20"/>
                </a:cxn>
                <a:cxn ang="0">
                  <a:pos x="63" y="22"/>
                </a:cxn>
              </a:cxnLst>
              <a:rect l="0" t="0" r="r" b="b"/>
              <a:pathLst>
                <a:path w="63" h="63">
                  <a:moveTo>
                    <a:pt x="13" y="42"/>
                  </a:moveTo>
                  <a:cubicBezTo>
                    <a:pt x="1" y="42"/>
                    <a:pt x="1" y="42"/>
                    <a:pt x="1" y="42"/>
                  </a:cubicBezTo>
                  <a:cubicBezTo>
                    <a:pt x="0" y="42"/>
                    <a:pt x="0" y="42"/>
                    <a:pt x="0" y="41"/>
                  </a:cubicBezTo>
                  <a:cubicBezTo>
                    <a:pt x="0" y="40"/>
                    <a:pt x="0" y="40"/>
                    <a:pt x="1" y="40"/>
                  </a:cubicBezTo>
                  <a:cubicBezTo>
                    <a:pt x="13" y="40"/>
                    <a:pt x="13" y="40"/>
                    <a:pt x="13" y="40"/>
                  </a:cubicBezTo>
                  <a:cubicBezTo>
                    <a:pt x="14" y="40"/>
                    <a:pt x="14" y="40"/>
                    <a:pt x="14" y="41"/>
                  </a:cubicBezTo>
                  <a:cubicBezTo>
                    <a:pt x="14" y="42"/>
                    <a:pt x="14" y="42"/>
                    <a:pt x="13" y="42"/>
                  </a:cubicBezTo>
                  <a:close/>
                  <a:moveTo>
                    <a:pt x="30" y="19"/>
                  </a:moveTo>
                  <a:cubicBezTo>
                    <a:pt x="19" y="9"/>
                    <a:pt x="19" y="9"/>
                    <a:pt x="19" y="9"/>
                  </a:cubicBezTo>
                  <a:cubicBezTo>
                    <a:pt x="19" y="8"/>
                    <a:pt x="18" y="8"/>
                    <a:pt x="17" y="8"/>
                  </a:cubicBezTo>
                  <a:cubicBezTo>
                    <a:pt x="16" y="8"/>
                    <a:pt x="15" y="8"/>
                    <a:pt x="14" y="9"/>
                  </a:cubicBezTo>
                  <a:cubicBezTo>
                    <a:pt x="9" y="14"/>
                    <a:pt x="9" y="14"/>
                    <a:pt x="9" y="14"/>
                  </a:cubicBezTo>
                  <a:cubicBezTo>
                    <a:pt x="8" y="15"/>
                    <a:pt x="8" y="16"/>
                    <a:pt x="8" y="17"/>
                  </a:cubicBezTo>
                  <a:cubicBezTo>
                    <a:pt x="8" y="18"/>
                    <a:pt x="8" y="19"/>
                    <a:pt x="9" y="19"/>
                  </a:cubicBezTo>
                  <a:cubicBezTo>
                    <a:pt x="19" y="30"/>
                    <a:pt x="19" y="30"/>
                    <a:pt x="19" y="30"/>
                  </a:cubicBezTo>
                  <a:cubicBezTo>
                    <a:pt x="18" y="39"/>
                    <a:pt x="18" y="39"/>
                    <a:pt x="18" y="39"/>
                  </a:cubicBezTo>
                  <a:cubicBezTo>
                    <a:pt x="18" y="38"/>
                    <a:pt x="17" y="38"/>
                    <a:pt x="16" y="37"/>
                  </a:cubicBezTo>
                  <a:cubicBezTo>
                    <a:pt x="4" y="24"/>
                    <a:pt x="4" y="24"/>
                    <a:pt x="4" y="24"/>
                  </a:cubicBezTo>
                  <a:cubicBezTo>
                    <a:pt x="2" y="22"/>
                    <a:pt x="0" y="20"/>
                    <a:pt x="0" y="17"/>
                  </a:cubicBezTo>
                  <a:cubicBezTo>
                    <a:pt x="0" y="14"/>
                    <a:pt x="2" y="11"/>
                    <a:pt x="4" y="9"/>
                  </a:cubicBezTo>
                  <a:cubicBezTo>
                    <a:pt x="9" y="3"/>
                    <a:pt x="9" y="3"/>
                    <a:pt x="9" y="3"/>
                  </a:cubicBezTo>
                  <a:cubicBezTo>
                    <a:pt x="11" y="1"/>
                    <a:pt x="14" y="0"/>
                    <a:pt x="17" y="0"/>
                  </a:cubicBezTo>
                  <a:cubicBezTo>
                    <a:pt x="20" y="0"/>
                    <a:pt x="23" y="1"/>
                    <a:pt x="25" y="4"/>
                  </a:cubicBezTo>
                  <a:cubicBezTo>
                    <a:pt x="37" y="16"/>
                    <a:pt x="37" y="16"/>
                    <a:pt x="37" y="16"/>
                  </a:cubicBezTo>
                  <a:cubicBezTo>
                    <a:pt x="38" y="17"/>
                    <a:pt x="38" y="18"/>
                    <a:pt x="39" y="18"/>
                  </a:cubicBezTo>
                  <a:lnTo>
                    <a:pt x="30" y="19"/>
                  </a:lnTo>
                  <a:close/>
                  <a:moveTo>
                    <a:pt x="7" y="58"/>
                  </a:moveTo>
                  <a:cubicBezTo>
                    <a:pt x="6" y="58"/>
                    <a:pt x="6" y="58"/>
                    <a:pt x="6" y="58"/>
                  </a:cubicBezTo>
                  <a:cubicBezTo>
                    <a:pt x="6" y="58"/>
                    <a:pt x="5" y="58"/>
                    <a:pt x="5" y="58"/>
                  </a:cubicBezTo>
                  <a:cubicBezTo>
                    <a:pt x="5" y="57"/>
                    <a:pt x="5" y="56"/>
                    <a:pt x="5" y="56"/>
                  </a:cubicBezTo>
                  <a:cubicBezTo>
                    <a:pt x="15" y="46"/>
                    <a:pt x="15" y="46"/>
                    <a:pt x="15" y="46"/>
                  </a:cubicBezTo>
                  <a:cubicBezTo>
                    <a:pt x="15" y="46"/>
                    <a:pt x="16" y="46"/>
                    <a:pt x="16" y="46"/>
                  </a:cubicBezTo>
                  <a:cubicBezTo>
                    <a:pt x="17" y="47"/>
                    <a:pt x="17" y="47"/>
                    <a:pt x="16" y="48"/>
                  </a:cubicBezTo>
                  <a:lnTo>
                    <a:pt x="7" y="58"/>
                  </a:lnTo>
                  <a:close/>
                  <a:moveTo>
                    <a:pt x="23" y="62"/>
                  </a:moveTo>
                  <a:cubicBezTo>
                    <a:pt x="23" y="62"/>
                    <a:pt x="22" y="63"/>
                    <a:pt x="22" y="63"/>
                  </a:cubicBezTo>
                  <a:cubicBezTo>
                    <a:pt x="21" y="63"/>
                    <a:pt x="20" y="62"/>
                    <a:pt x="20" y="62"/>
                  </a:cubicBezTo>
                  <a:cubicBezTo>
                    <a:pt x="20" y="49"/>
                    <a:pt x="20" y="49"/>
                    <a:pt x="20" y="49"/>
                  </a:cubicBezTo>
                  <a:cubicBezTo>
                    <a:pt x="20" y="49"/>
                    <a:pt x="21" y="48"/>
                    <a:pt x="22" y="48"/>
                  </a:cubicBezTo>
                  <a:cubicBezTo>
                    <a:pt x="22" y="48"/>
                    <a:pt x="23" y="49"/>
                    <a:pt x="23" y="49"/>
                  </a:cubicBezTo>
                  <a:lnTo>
                    <a:pt x="23" y="62"/>
                  </a:lnTo>
                  <a:close/>
                  <a:moveTo>
                    <a:pt x="59" y="54"/>
                  </a:moveTo>
                  <a:cubicBezTo>
                    <a:pt x="54" y="59"/>
                    <a:pt x="54" y="59"/>
                    <a:pt x="54" y="59"/>
                  </a:cubicBezTo>
                  <a:cubicBezTo>
                    <a:pt x="51" y="61"/>
                    <a:pt x="49" y="62"/>
                    <a:pt x="46" y="62"/>
                  </a:cubicBezTo>
                  <a:cubicBezTo>
                    <a:pt x="43" y="62"/>
                    <a:pt x="40" y="61"/>
                    <a:pt x="38" y="59"/>
                  </a:cubicBezTo>
                  <a:cubicBezTo>
                    <a:pt x="25" y="46"/>
                    <a:pt x="25" y="46"/>
                    <a:pt x="25" y="46"/>
                  </a:cubicBezTo>
                  <a:cubicBezTo>
                    <a:pt x="25" y="46"/>
                    <a:pt x="24" y="45"/>
                    <a:pt x="24" y="44"/>
                  </a:cubicBezTo>
                  <a:cubicBezTo>
                    <a:pt x="33" y="43"/>
                    <a:pt x="33" y="43"/>
                    <a:pt x="33" y="43"/>
                  </a:cubicBezTo>
                  <a:cubicBezTo>
                    <a:pt x="43" y="54"/>
                    <a:pt x="43" y="54"/>
                    <a:pt x="43" y="54"/>
                  </a:cubicBezTo>
                  <a:cubicBezTo>
                    <a:pt x="45" y="55"/>
                    <a:pt x="47" y="55"/>
                    <a:pt x="48" y="54"/>
                  </a:cubicBezTo>
                  <a:cubicBezTo>
                    <a:pt x="54" y="48"/>
                    <a:pt x="54" y="48"/>
                    <a:pt x="54" y="48"/>
                  </a:cubicBezTo>
                  <a:cubicBezTo>
                    <a:pt x="55" y="48"/>
                    <a:pt x="55" y="47"/>
                    <a:pt x="55" y="46"/>
                  </a:cubicBezTo>
                  <a:cubicBezTo>
                    <a:pt x="55" y="45"/>
                    <a:pt x="55" y="44"/>
                    <a:pt x="54" y="43"/>
                  </a:cubicBezTo>
                  <a:cubicBezTo>
                    <a:pt x="44" y="33"/>
                    <a:pt x="44" y="33"/>
                    <a:pt x="44" y="33"/>
                  </a:cubicBezTo>
                  <a:cubicBezTo>
                    <a:pt x="44" y="24"/>
                    <a:pt x="44" y="24"/>
                    <a:pt x="44" y="24"/>
                  </a:cubicBezTo>
                  <a:cubicBezTo>
                    <a:pt x="45" y="24"/>
                    <a:pt x="46" y="25"/>
                    <a:pt x="46" y="25"/>
                  </a:cubicBezTo>
                  <a:cubicBezTo>
                    <a:pt x="59" y="38"/>
                    <a:pt x="59" y="38"/>
                    <a:pt x="59" y="38"/>
                  </a:cubicBezTo>
                  <a:cubicBezTo>
                    <a:pt x="61" y="40"/>
                    <a:pt x="62" y="43"/>
                    <a:pt x="62" y="46"/>
                  </a:cubicBezTo>
                  <a:cubicBezTo>
                    <a:pt x="62" y="49"/>
                    <a:pt x="61" y="52"/>
                    <a:pt x="59" y="54"/>
                  </a:cubicBezTo>
                  <a:close/>
                  <a:moveTo>
                    <a:pt x="42" y="13"/>
                  </a:moveTo>
                  <a:cubicBezTo>
                    <a:pt x="42" y="14"/>
                    <a:pt x="42" y="14"/>
                    <a:pt x="41" y="14"/>
                  </a:cubicBezTo>
                  <a:cubicBezTo>
                    <a:pt x="40" y="14"/>
                    <a:pt x="40" y="14"/>
                    <a:pt x="40" y="13"/>
                  </a:cubicBezTo>
                  <a:cubicBezTo>
                    <a:pt x="40" y="1"/>
                    <a:pt x="40" y="1"/>
                    <a:pt x="40" y="1"/>
                  </a:cubicBezTo>
                  <a:cubicBezTo>
                    <a:pt x="40" y="0"/>
                    <a:pt x="40" y="0"/>
                    <a:pt x="41" y="0"/>
                  </a:cubicBezTo>
                  <a:cubicBezTo>
                    <a:pt x="42" y="0"/>
                    <a:pt x="42" y="0"/>
                    <a:pt x="42" y="1"/>
                  </a:cubicBezTo>
                  <a:lnTo>
                    <a:pt x="42" y="13"/>
                  </a:lnTo>
                  <a:close/>
                  <a:moveTo>
                    <a:pt x="48" y="16"/>
                  </a:moveTo>
                  <a:cubicBezTo>
                    <a:pt x="48" y="17"/>
                    <a:pt x="47" y="17"/>
                    <a:pt x="47" y="17"/>
                  </a:cubicBezTo>
                  <a:cubicBezTo>
                    <a:pt x="47" y="17"/>
                    <a:pt x="47" y="17"/>
                    <a:pt x="46" y="16"/>
                  </a:cubicBezTo>
                  <a:cubicBezTo>
                    <a:pt x="46" y="16"/>
                    <a:pt x="46" y="15"/>
                    <a:pt x="46" y="15"/>
                  </a:cubicBezTo>
                  <a:cubicBezTo>
                    <a:pt x="56" y="5"/>
                    <a:pt x="56" y="5"/>
                    <a:pt x="56" y="5"/>
                  </a:cubicBezTo>
                  <a:cubicBezTo>
                    <a:pt x="56" y="4"/>
                    <a:pt x="57" y="4"/>
                    <a:pt x="58" y="5"/>
                  </a:cubicBezTo>
                  <a:cubicBezTo>
                    <a:pt x="58" y="5"/>
                    <a:pt x="58" y="6"/>
                    <a:pt x="58" y="7"/>
                  </a:cubicBezTo>
                  <a:lnTo>
                    <a:pt x="48" y="16"/>
                  </a:lnTo>
                  <a:close/>
                  <a:moveTo>
                    <a:pt x="62" y="23"/>
                  </a:moveTo>
                  <a:cubicBezTo>
                    <a:pt x="50" y="23"/>
                    <a:pt x="50" y="23"/>
                    <a:pt x="50" y="23"/>
                  </a:cubicBezTo>
                  <a:cubicBezTo>
                    <a:pt x="49" y="23"/>
                    <a:pt x="48" y="22"/>
                    <a:pt x="48" y="22"/>
                  </a:cubicBezTo>
                  <a:cubicBezTo>
                    <a:pt x="48" y="21"/>
                    <a:pt x="49" y="20"/>
                    <a:pt x="50" y="20"/>
                  </a:cubicBezTo>
                  <a:cubicBezTo>
                    <a:pt x="62" y="20"/>
                    <a:pt x="62" y="20"/>
                    <a:pt x="62" y="20"/>
                  </a:cubicBezTo>
                  <a:cubicBezTo>
                    <a:pt x="62" y="20"/>
                    <a:pt x="63" y="21"/>
                    <a:pt x="63" y="22"/>
                  </a:cubicBezTo>
                  <a:cubicBezTo>
                    <a:pt x="63" y="22"/>
                    <a:pt x="62" y="23"/>
                    <a:pt x="62" y="23"/>
                  </a:cubicBezTo>
                  <a:close/>
                </a:path>
              </a:pathLst>
            </a:custGeom>
            <a:solidFill>
              <a:schemeClr val="bg1">
                <a:lumMod val="95000"/>
              </a:schemeClr>
            </a:solidFill>
            <a:ln w="9525">
              <a:noFill/>
              <a:round/>
            </a:ln>
          </p:spPr>
          <p:txBody>
            <a:bodyPr vert="horz" wrap="square" lIns="121917" tIns="60958" rIns="121917" bIns="6095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lumMod val="95000"/>
                  </a:prstClr>
                </a:solidFill>
                <a:effectLst/>
                <a:uLnTx/>
                <a:uFillTx/>
                <a:latin typeface="+mn-lt"/>
                <a:ea typeface="+mn-ea"/>
                <a:cs typeface="+mn-cs"/>
              </a:endParaRPr>
            </a:p>
          </p:txBody>
        </p:sp>
        <p:sp>
          <p:nvSpPr>
            <p:cNvPr id="13" name="Freeform 187"/>
            <p:cNvSpPr>
              <a:spLocks noEditPoints="1"/>
            </p:cNvSpPr>
            <p:nvPr/>
          </p:nvSpPr>
          <p:spPr bwMode="auto">
            <a:xfrm>
              <a:off x="10935" y="5848"/>
              <a:ext cx="1084" cy="701"/>
            </a:xfrm>
            <a:custGeom>
              <a:avLst/>
              <a:gdLst/>
              <a:ahLst/>
              <a:cxnLst>
                <a:cxn ang="0">
                  <a:pos x="68" y="25"/>
                </a:cxn>
                <a:cxn ang="0">
                  <a:pos x="34" y="44"/>
                </a:cxn>
                <a:cxn ang="0">
                  <a:pos x="1" y="25"/>
                </a:cxn>
                <a:cxn ang="0">
                  <a:pos x="0" y="22"/>
                </a:cxn>
                <a:cxn ang="0">
                  <a:pos x="1" y="20"/>
                </a:cxn>
                <a:cxn ang="0">
                  <a:pos x="34" y="0"/>
                </a:cxn>
                <a:cxn ang="0">
                  <a:pos x="68" y="20"/>
                </a:cxn>
                <a:cxn ang="0">
                  <a:pos x="68" y="22"/>
                </a:cxn>
                <a:cxn ang="0">
                  <a:pos x="68" y="25"/>
                </a:cxn>
                <a:cxn ang="0">
                  <a:pos x="49" y="9"/>
                </a:cxn>
                <a:cxn ang="0">
                  <a:pos x="51" y="17"/>
                </a:cxn>
                <a:cxn ang="0">
                  <a:pos x="34" y="34"/>
                </a:cxn>
                <a:cxn ang="0">
                  <a:pos x="17" y="17"/>
                </a:cxn>
                <a:cxn ang="0">
                  <a:pos x="20" y="9"/>
                </a:cxn>
                <a:cxn ang="0">
                  <a:pos x="5" y="22"/>
                </a:cxn>
                <a:cxn ang="0">
                  <a:pos x="34" y="39"/>
                </a:cxn>
                <a:cxn ang="0">
                  <a:pos x="64" y="22"/>
                </a:cxn>
                <a:cxn ang="0">
                  <a:pos x="49" y="9"/>
                </a:cxn>
                <a:cxn ang="0">
                  <a:pos x="34" y="6"/>
                </a:cxn>
                <a:cxn ang="0">
                  <a:pos x="23" y="17"/>
                </a:cxn>
                <a:cxn ang="0">
                  <a:pos x="25" y="19"/>
                </a:cxn>
                <a:cxn ang="0">
                  <a:pos x="27" y="17"/>
                </a:cxn>
                <a:cxn ang="0">
                  <a:pos x="34" y="9"/>
                </a:cxn>
                <a:cxn ang="0">
                  <a:pos x="36" y="8"/>
                </a:cxn>
                <a:cxn ang="0">
                  <a:pos x="34" y="6"/>
                </a:cxn>
              </a:cxnLst>
              <a:rect l="0" t="0" r="r" b="b"/>
              <a:pathLst>
                <a:path w="68" h="44">
                  <a:moveTo>
                    <a:pt x="68" y="25"/>
                  </a:moveTo>
                  <a:cubicBezTo>
                    <a:pt x="61" y="36"/>
                    <a:pt x="48" y="44"/>
                    <a:pt x="34" y="44"/>
                  </a:cubicBezTo>
                  <a:cubicBezTo>
                    <a:pt x="21" y="44"/>
                    <a:pt x="8" y="36"/>
                    <a:pt x="1" y="25"/>
                  </a:cubicBezTo>
                  <a:cubicBezTo>
                    <a:pt x="1" y="24"/>
                    <a:pt x="0" y="23"/>
                    <a:pt x="0" y="22"/>
                  </a:cubicBezTo>
                  <a:cubicBezTo>
                    <a:pt x="0" y="21"/>
                    <a:pt x="1" y="20"/>
                    <a:pt x="1" y="20"/>
                  </a:cubicBezTo>
                  <a:cubicBezTo>
                    <a:pt x="8" y="8"/>
                    <a:pt x="21" y="0"/>
                    <a:pt x="34" y="0"/>
                  </a:cubicBezTo>
                  <a:cubicBezTo>
                    <a:pt x="48" y="0"/>
                    <a:pt x="61" y="8"/>
                    <a:pt x="68" y="20"/>
                  </a:cubicBezTo>
                  <a:cubicBezTo>
                    <a:pt x="68" y="20"/>
                    <a:pt x="68" y="21"/>
                    <a:pt x="68" y="22"/>
                  </a:cubicBezTo>
                  <a:cubicBezTo>
                    <a:pt x="68" y="23"/>
                    <a:pt x="68" y="24"/>
                    <a:pt x="68" y="25"/>
                  </a:cubicBezTo>
                  <a:close/>
                  <a:moveTo>
                    <a:pt x="49" y="9"/>
                  </a:moveTo>
                  <a:cubicBezTo>
                    <a:pt x="51" y="11"/>
                    <a:pt x="51" y="14"/>
                    <a:pt x="51" y="17"/>
                  </a:cubicBezTo>
                  <a:cubicBezTo>
                    <a:pt x="51" y="27"/>
                    <a:pt x="44" y="34"/>
                    <a:pt x="34" y="34"/>
                  </a:cubicBezTo>
                  <a:cubicBezTo>
                    <a:pt x="25" y="34"/>
                    <a:pt x="17" y="27"/>
                    <a:pt x="17" y="17"/>
                  </a:cubicBezTo>
                  <a:cubicBezTo>
                    <a:pt x="17" y="14"/>
                    <a:pt x="18" y="11"/>
                    <a:pt x="20" y="9"/>
                  </a:cubicBezTo>
                  <a:cubicBezTo>
                    <a:pt x="14" y="12"/>
                    <a:pt x="9" y="17"/>
                    <a:pt x="5" y="22"/>
                  </a:cubicBezTo>
                  <a:cubicBezTo>
                    <a:pt x="12" y="32"/>
                    <a:pt x="22" y="39"/>
                    <a:pt x="34" y="39"/>
                  </a:cubicBezTo>
                  <a:cubicBezTo>
                    <a:pt x="47" y="39"/>
                    <a:pt x="57" y="32"/>
                    <a:pt x="64" y="22"/>
                  </a:cubicBezTo>
                  <a:cubicBezTo>
                    <a:pt x="60" y="17"/>
                    <a:pt x="55" y="12"/>
                    <a:pt x="49" y="9"/>
                  </a:cubicBezTo>
                  <a:close/>
                  <a:moveTo>
                    <a:pt x="34" y="6"/>
                  </a:moveTo>
                  <a:cubicBezTo>
                    <a:pt x="28" y="6"/>
                    <a:pt x="23" y="11"/>
                    <a:pt x="23" y="17"/>
                  </a:cubicBezTo>
                  <a:cubicBezTo>
                    <a:pt x="23" y="18"/>
                    <a:pt x="24" y="19"/>
                    <a:pt x="25" y="19"/>
                  </a:cubicBezTo>
                  <a:cubicBezTo>
                    <a:pt x="26" y="19"/>
                    <a:pt x="27" y="18"/>
                    <a:pt x="27" y="17"/>
                  </a:cubicBezTo>
                  <a:cubicBezTo>
                    <a:pt x="27" y="13"/>
                    <a:pt x="30" y="9"/>
                    <a:pt x="34" y="9"/>
                  </a:cubicBezTo>
                  <a:cubicBezTo>
                    <a:pt x="35" y="9"/>
                    <a:pt x="36" y="9"/>
                    <a:pt x="36" y="8"/>
                  </a:cubicBezTo>
                  <a:cubicBezTo>
                    <a:pt x="36" y="7"/>
                    <a:pt x="35" y="6"/>
                    <a:pt x="34" y="6"/>
                  </a:cubicBezTo>
                  <a:close/>
                </a:path>
              </a:pathLst>
            </a:custGeom>
            <a:solidFill>
              <a:schemeClr val="bg1">
                <a:lumMod val="95000"/>
              </a:schemeClr>
            </a:solidFill>
            <a:ln w="9525">
              <a:noFill/>
              <a:round/>
            </a:ln>
          </p:spPr>
          <p:txBody>
            <a:bodyPr vert="horz" wrap="square" lIns="121917" tIns="60958" rIns="121917" bIns="6095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lumMod val="95000"/>
                  </a:prstClr>
                </a:solidFill>
                <a:effectLst/>
                <a:uLnTx/>
                <a:uFillTx/>
                <a:latin typeface="+mn-lt"/>
                <a:ea typeface="+mn-ea"/>
                <a:cs typeface="+mn-cs"/>
              </a:endParaRPr>
            </a:p>
          </p:txBody>
        </p:sp>
        <p:sp>
          <p:nvSpPr>
            <p:cNvPr id="14" name="Freeform 204"/>
            <p:cNvSpPr>
              <a:spLocks noEditPoints="1"/>
            </p:cNvSpPr>
            <p:nvPr/>
          </p:nvSpPr>
          <p:spPr bwMode="auto">
            <a:xfrm>
              <a:off x="8906" y="7719"/>
              <a:ext cx="1386" cy="922"/>
            </a:xfrm>
            <a:custGeom>
              <a:avLst/>
              <a:gdLst/>
              <a:ahLst/>
              <a:cxnLst>
                <a:cxn ang="0">
                  <a:pos x="86" y="15"/>
                </a:cxn>
                <a:cxn ang="0">
                  <a:pos x="44" y="29"/>
                </a:cxn>
                <a:cxn ang="0">
                  <a:pos x="43" y="29"/>
                </a:cxn>
                <a:cxn ang="0">
                  <a:pos x="43" y="29"/>
                </a:cxn>
                <a:cxn ang="0">
                  <a:pos x="18" y="21"/>
                </a:cxn>
                <a:cxn ang="0">
                  <a:pos x="14" y="32"/>
                </a:cxn>
                <a:cxn ang="0">
                  <a:pos x="17" y="36"/>
                </a:cxn>
                <a:cxn ang="0">
                  <a:pos x="15" y="40"/>
                </a:cxn>
                <a:cxn ang="0">
                  <a:pos x="17" y="56"/>
                </a:cxn>
                <a:cxn ang="0">
                  <a:pos x="16" y="57"/>
                </a:cxn>
                <a:cxn ang="0">
                  <a:pos x="16" y="58"/>
                </a:cxn>
                <a:cxn ang="0">
                  <a:pos x="8" y="58"/>
                </a:cxn>
                <a:cxn ang="0">
                  <a:pos x="7" y="57"/>
                </a:cxn>
                <a:cxn ang="0">
                  <a:pos x="7" y="56"/>
                </a:cxn>
                <a:cxn ang="0">
                  <a:pos x="9" y="40"/>
                </a:cxn>
                <a:cxn ang="0">
                  <a:pos x="7" y="36"/>
                </a:cxn>
                <a:cxn ang="0">
                  <a:pos x="10" y="32"/>
                </a:cxn>
                <a:cxn ang="0">
                  <a:pos x="13" y="19"/>
                </a:cxn>
                <a:cxn ang="0">
                  <a:pos x="1" y="15"/>
                </a:cxn>
                <a:cxn ang="0">
                  <a:pos x="0" y="14"/>
                </a:cxn>
                <a:cxn ang="0">
                  <a:pos x="1" y="13"/>
                </a:cxn>
                <a:cxn ang="0">
                  <a:pos x="43" y="0"/>
                </a:cxn>
                <a:cxn ang="0">
                  <a:pos x="43" y="0"/>
                </a:cxn>
                <a:cxn ang="0">
                  <a:pos x="44" y="0"/>
                </a:cxn>
                <a:cxn ang="0">
                  <a:pos x="86" y="13"/>
                </a:cxn>
                <a:cxn ang="0">
                  <a:pos x="87" y="14"/>
                </a:cxn>
                <a:cxn ang="0">
                  <a:pos x="86" y="15"/>
                </a:cxn>
                <a:cxn ang="0">
                  <a:pos x="68" y="38"/>
                </a:cxn>
                <a:cxn ang="0">
                  <a:pos x="43" y="48"/>
                </a:cxn>
                <a:cxn ang="0">
                  <a:pos x="19" y="38"/>
                </a:cxn>
                <a:cxn ang="0">
                  <a:pos x="20" y="26"/>
                </a:cxn>
                <a:cxn ang="0">
                  <a:pos x="42" y="33"/>
                </a:cxn>
                <a:cxn ang="0">
                  <a:pos x="43" y="34"/>
                </a:cxn>
                <a:cxn ang="0">
                  <a:pos x="45" y="33"/>
                </a:cxn>
                <a:cxn ang="0">
                  <a:pos x="67" y="26"/>
                </a:cxn>
                <a:cxn ang="0">
                  <a:pos x="68" y="38"/>
                </a:cxn>
              </a:cxnLst>
              <a:rect l="0" t="0" r="r" b="b"/>
              <a:pathLst>
                <a:path w="87" h="58">
                  <a:moveTo>
                    <a:pt x="86" y="15"/>
                  </a:moveTo>
                  <a:cubicBezTo>
                    <a:pt x="44" y="29"/>
                    <a:pt x="44" y="29"/>
                    <a:pt x="44" y="29"/>
                  </a:cubicBezTo>
                  <a:cubicBezTo>
                    <a:pt x="44" y="29"/>
                    <a:pt x="44" y="29"/>
                    <a:pt x="43" y="29"/>
                  </a:cubicBezTo>
                  <a:cubicBezTo>
                    <a:pt x="43" y="29"/>
                    <a:pt x="43" y="29"/>
                    <a:pt x="43" y="29"/>
                  </a:cubicBezTo>
                  <a:cubicBezTo>
                    <a:pt x="18" y="21"/>
                    <a:pt x="18" y="21"/>
                    <a:pt x="18" y="21"/>
                  </a:cubicBezTo>
                  <a:cubicBezTo>
                    <a:pt x="16" y="23"/>
                    <a:pt x="15" y="27"/>
                    <a:pt x="14" y="32"/>
                  </a:cubicBezTo>
                  <a:cubicBezTo>
                    <a:pt x="16" y="33"/>
                    <a:pt x="17" y="34"/>
                    <a:pt x="17" y="36"/>
                  </a:cubicBezTo>
                  <a:cubicBezTo>
                    <a:pt x="17" y="38"/>
                    <a:pt x="16" y="39"/>
                    <a:pt x="15" y="40"/>
                  </a:cubicBezTo>
                  <a:cubicBezTo>
                    <a:pt x="17" y="56"/>
                    <a:pt x="17" y="56"/>
                    <a:pt x="17" y="56"/>
                  </a:cubicBezTo>
                  <a:cubicBezTo>
                    <a:pt x="17" y="57"/>
                    <a:pt x="17" y="57"/>
                    <a:pt x="16" y="57"/>
                  </a:cubicBezTo>
                  <a:cubicBezTo>
                    <a:pt x="16" y="58"/>
                    <a:pt x="16" y="58"/>
                    <a:pt x="16" y="58"/>
                  </a:cubicBezTo>
                  <a:cubicBezTo>
                    <a:pt x="8" y="58"/>
                    <a:pt x="8" y="58"/>
                    <a:pt x="8" y="58"/>
                  </a:cubicBezTo>
                  <a:cubicBezTo>
                    <a:pt x="8" y="58"/>
                    <a:pt x="8" y="58"/>
                    <a:pt x="7" y="57"/>
                  </a:cubicBezTo>
                  <a:cubicBezTo>
                    <a:pt x="7" y="57"/>
                    <a:pt x="7" y="57"/>
                    <a:pt x="7" y="56"/>
                  </a:cubicBezTo>
                  <a:cubicBezTo>
                    <a:pt x="9" y="40"/>
                    <a:pt x="9" y="40"/>
                    <a:pt x="9" y="40"/>
                  </a:cubicBezTo>
                  <a:cubicBezTo>
                    <a:pt x="8" y="39"/>
                    <a:pt x="7" y="38"/>
                    <a:pt x="7" y="36"/>
                  </a:cubicBezTo>
                  <a:cubicBezTo>
                    <a:pt x="7" y="34"/>
                    <a:pt x="8" y="33"/>
                    <a:pt x="10" y="32"/>
                  </a:cubicBezTo>
                  <a:cubicBezTo>
                    <a:pt x="10" y="27"/>
                    <a:pt x="11" y="23"/>
                    <a:pt x="13" y="19"/>
                  </a:cubicBezTo>
                  <a:cubicBezTo>
                    <a:pt x="1" y="15"/>
                    <a:pt x="1" y="15"/>
                    <a:pt x="1" y="15"/>
                  </a:cubicBezTo>
                  <a:cubicBezTo>
                    <a:pt x="0" y="15"/>
                    <a:pt x="0" y="15"/>
                    <a:pt x="0" y="14"/>
                  </a:cubicBezTo>
                  <a:cubicBezTo>
                    <a:pt x="0" y="14"/>
                    <a:pt x="0" y="13"/>
                    <a:pt x="1" y="13"/>
                  </a:cubicBezTo>
                  <a:cubicBezTo>
                    <a:pt x="43" y="0"/>
                    <a:pt x="43" y="0"/>
                    <a:pt x="43" y="0"/>
                  </a:cubicBezTo>
                  <a:cubicBezTo>
                    <a:pt x="43" y="0"/>
                    <a:pt x="43" y="0"/>
                    <a:pt x="43" y="0"/>
                  </a:cubicBezTo>
                  <a:cubicBezTo>
                    <a:pt x="44" y="0"/>
                    <a:pt x="44" y="0"/>
                    <a:pt x="44" y="0"/>
                  </a:cubicBezTo>
                  <a:cubicBezTo>
                    <a:pt x="86" y="13"/>
                    <a:pt x="86" y="13"/>
                    <a:pt x="86" y="13"/>
                  </a:cubicBezTo>
                  <a:cubicBezTo>
                    <a:pt x="87" y="13"/>
                    <a:pt x="87" y="14"/>
                    <a:pt x="87" y="14"/>
                  </a:cubicBezTo>
                  <a:cubicBezTo>
                    <a:pt x="87" y="15"/>
                    <a:pt x="87" y="15"/>
                    <a:pt x="86" y="15"/>
                  </a:cubicBezTo>
                  <a:close/>
                  <a:moveTo>
                    <a:pt x="68" y="38"/>
                  </a:moveTo>
                  <a:cubicBezTo>
                    <a:pt x="68" y="44"/>
                    <a:pt x="57" y="48"/>
                    <a:pt x="43" y="48"/>
                  </a:cubicBezTo>
                  <a:cubicBezTo>
                    <a:pt x="30" y="48"/>
                    <a:pt x="19" y="44"/>
                    <a:pt x="19" y="38"/>
                  </a:cubicBezTo>
                  <a:cubicBezTo>
                    <a:pt x="20" y="26"/>
                    <a:pt x="20" y="26"/>
                    <a:pt x="20" y="26"/>
                  </a:cubicBezTo>
                  <a:cubicBezTo>
                    <a:pt x="42" y="33"/>
                    <a:pt x="42" y="33"/>
                    <a:pt x="42" y="33"/>
                  </a:cubicBezTo>
                  <a:cubicBezTo>
                    <a:pt x="42" y="33"/>
                    <a:pt x="43" y="34"/>
                    <a:pt x="43" y="34"/>
                  </a:cubicBezTo>
                  <a:cubicBezTo>
                    <a:pt x="44" y="34"/>
                    <a:pt x="45" y="33"/>
                    <a:pt x="45" y="33"/>
                  </a:cubicBezTo>
                  <a:cubicBezTo>
                    <a:pt x="67" y="26"/>
                    <a:pt x="67" y="26"/>
                    <a:pt x="67" y="26"/>
                  </a:cubicBezTo>
                  <a:lnTo>
                    <a:pt x="68" y="38"/>
                  </a:lnTo>
                  <a:close/>
                </a:path>
              </a:pathLst>
            </a:custGeom>
            <a:solidFill>
              <a:schemeClr val="bg1">
                <a:lumMod val="95000"/>
              </a:schemeClr>
            </a:solidFill>
            <a:ln w="9525">
              <a:noFill/>
              <a:round/>
            </a:ln>
          </p:spPr>
          <p:txBody>
            <a:bodyPr vert="horz" wrap="square" lIns="121917" tIns="60958" rIns="121917" bIns="6095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lumMod val="95000"/>
                  </a:prstClr>
                </a:solidFill>
                <a:effectLst/>
                <a:uLnTx/>
                <a:uFillTx/>
                <a:latin typeface="+mn-lt"/>
                <a:ea typeface="+mn-ea"/>
                <a:cs typeface="+mn-cs"/>
              </a:endParaRPr>
            </a:p>
          </p:txBody>
        </p:sp>
      </p:grpSp>
      <p:sp>
        <p:nvSpPr>
          <p:cNvPr id="16" name="文本框 15"/>
          <p:cNvSpPr txBox="1"/>
          <p:nvPr/>
        </p:nvSpPr>
        <p:spPr>
          <a:xfrm>
            <a:off x="1586210" y="1007820"/>
            <a:ext cx="109728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官方版本</a:t>
            </a:r>
          </a:p>
        </p:txBody>
      </p:sp>
      <p:sp>
        <p:nvSpPr>
          <p:cNvPr id="18" name="文本框 17"/>
          <p:cNvSpPr txBox="1"/>
          <p:nvPr/>
        </p:nvSpPr>
        <p:spPr>
          <a:xfrm>
            <a:off x="1854180" y="3523055"/>
            <a:ext cx="109728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百度版本</a:t>
            </a:r>
          </a:p>
        </p:txBody>
      </p:sp>
      <p:sp>
        <p:nvSpPr>
          <p:cNvPr id="20" name="文本框 19"/>
          <p:cNvSpPr txBox="1"/>
          <p:nvPr/>
        </p:nvSpPr>
        <p:spPr>
          <a:xfrm>
            <a:off x="8096986" y="1007895"/>
            <a:ext cx="109728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腾讯版本</a:t>
            </a:r>
          </a:p>
        </p:txBody>
      </p:sp>
      <p:sp>
        <p:nvSpPr>
          <p:cNvPr id="22" name="文本框 21"/>
          <p:cNvSpPr txBox="1"/>
          <p:nvPr/>
        </p:nvSpPr>
        <p:spPr>
          <a:xfrm>
            <a:off x="7490901" y="3523055"/>
            <a:ext cx="109728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阿里版本</a:t>
            </a:r>
          </a:p>
        </p:txBody>
      </p:sp>
      <p:pic>
        <p:nvPicPr>
          <p:cNvPr id="23" name="图片 22"/>
          <p:cNvPicPr>
            <a:picLocks noChangeAspect="1"/>
          </p:cNvPicPr>
          <p:nvPr/>
        </p:nvPicPr>
        <p:blipFill rotWithShape="1">
          <a:blip r:embed="rId5" cstate="print">
            <a:extLst>
              <a:ext uri="{28A0092B-C50C-407E-A947-70E740481C1C}">
                <a14:useLocalDpi xmlns:a14="http://schemas.microsoft.com/office/drawing/2010/main" val="0"/>
              </a:ext>
            </a:extLst>
          </a:blip>
          <a:srcRect l="67172" t="3031" b="63636"/>
          <a:stretch>
            <a:fillRect/>
          </a:stretch>
        </p:blipFill>
        <p:spPr>
          <a:xfrm>
            <a:off x="9451730" y="322118"/>
            <a:ext cx="2740269" cy="1739017"/>
          </a:xfrm>
          <a:prstGeom prst="rect">
            <a:avLst/>
          </a:prstGeom>
        </p:spPr>
      </p:pic>
      <p:sp>
        <p:nvSpPr>
          <p:cNvPr id="2" name="文本框 1"/>
          <p:cNvSpPr txBox="1"/>
          <p:nvPr/>
        </p:nvSpPr>
        <p:spPr>
          <a:xfrm>
            <a:off x="1586230" y="1376045"/>
            <a:ext cx="3261995" cy="156845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互联网+”代表一种新的经济形态，即充分发挥互联网在生产要素配置中的优化和集成作用，将互联网的创新成果深度融合于经济社会各领域之中，提升实体经济的创新力和生产力，形成更广泛的以互联网为基础设施和实现工具的经济发展新形态。</a:t>
            </a:r>
          </a:p>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《国务院关于积极推进“互联网+”行动的指导意见》</a:t>
            </a:r>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 name="文本框 2"/>
          <p:cNvSpPr txBox="1"/>
          <p:nvPr/>
        </p:nvSpPr>
        <p:spPr>
          <a:xfrm>
            <a:off x="8096885" y="1376045"/>
            <a:ext cx="3261995" cy="119888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“互联网+”是以互联网平台为基础，利用信息通信技术与各行业的跨界融合，推动产业转型升级，并不断创造出新产品、新业务与新模式，构建连接一切的新生态。</a:t>
            </a:r>
          </a:p>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《关于以“互联网+”为驱动，推进我国经济社会发展的建议》</a:t>
            </a:r>
          </a:p>
        </p:txBody>
      </p:sp>
      <p:sp>
        <p:nvSpPr>
          <p:cNvPr id="24" name="文本框 23"/>
          <p:cNvSpPr txBox="1"/>
          <p:nvPr/>
        </p:nvSpPr>
        <p:spPr>
          <a:xfrm>
            <a:off x="1854200" y="3891280"/>
            <a:ext cx="3261995" cy="156845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互联网+计划，我的理解是互联网和其他传统产业的一种结合的模式。随着中国互联网网民人数的增加，使得互联网在其他的产业当众能够产生越来越大的影响力。过去一两年互联网和很多产业一单结合的话，“Duang”就会变成了一个化腐朽为神器的东西。</a:t>
            </a:r>
          </a:p>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全国政协十二届三次会议新闻中心时李彦宏答记者问</a:t>
            </a:r>
          </a:p>
        </p:txBody>
      </p:sp>
      <p:sp>
        <p:nvSpPr>
          <p:cNvPr id="25" name="文本框 24"/>
          <p:cNvSpPr txBox="1"/>
          <p:nvPr/>
        </p:nvSpPr>
        <p:spPr>
          <a:xfrm>
            <a:off x="7491095" y="3891280"/>
            <a:ext cx="3261995" cy="10147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所谓“互联网+”就是指，以互联网为主的一整套信息技术（包括移动互联网、云计算、大数据技术等）在经济、社会生活各部门的扩散应用过程。</a:t>
            </a:r>
          </a:p>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《阿里研究院互联网+研究报告》</a:t>
            </a:r>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par>
                          <p:cTn id="11" fill="hold">
                            <p:stCondLst>
                              <p:cond delay="2000"/>
                            </p:stCondLst>
                            <p:childTnLst>
                              <p:par>
                                <p:cTn id="12" presetID="1" presetClass="entr" presetSubtype="0"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par>
                          <p:cTn id="17" fill="hold">
                            <p:stCondLst>
                              <p:cond delay="2000"/>
                            </p:stCondLst>
                            <p:childTnLst>
                              <p:par>
                                <p:cTn id="18" presetID="1"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0" grpId="0"/>
      <p:bldP spid="2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文本框 9"/>
          <p:cNvSpPr txBox="1"/>
          <p:nvPr/>
        </p:nvSpPr>
        <p:spPr>
          <a:xfrm>
            <a:off x="5598140" y="387928"/>
            <a:ext cx="9956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X=</a:t>
            </a:r>
            <a:r>
              <a:rPr kumimoji="0" lang="zh-CN" altLang="en-US" sz="32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a:t>
            </a:r>
          </a:p>
        </p:txBody>
      </p:sp>
      <p:sp>
        <p:nvSpPr>
          <p:cNvPr id="5" name="对角圆角矩形 59"/>
          <p:cNvSpPr>
            <a:spLocks noChangeArrowheads="1"/>
          </p:cNvSpPr>
          <p:nvPr/>
        </p:nvSpPr>
        <p:spPr bwMode="auto">
          <a:xfrm>
            <a:off x="3537453" y="3574747"/>
            <a:ext cx="1216660" cy="544195"/>
          </a:xfrm>
          <a:custGeom>
            <a:avLst/>
            <a:gdLst>
              <a:gd name="T0" fmla="*/ 13284136 w 1343546"/>
              <a:gd name="T1" fmla="*/ 4123240 h 573340"/>
              <a:gd name="T2" fmla="*/ 6642084 w 1343546"/>
              <a:gd name="T3" fmla="*/ 8246452 h 573340"/>
              <a:gd name="T4" fmla="*/ 0 w 1343546"/>
              <a:gd name="T5" fmla="*/ 4123240 h 573340"/>
              <a:gd name="T6" fmla="*/ 6642084 w 1343546"/>
              <a:gd name="T7" fmla="*/ 0 h 573340"/>
              <a:gd name="T8" fmla="*/ 0 60000 65536"/>
              <a:gd name="T9" fmla="*/ 5898240 60000 65536"/>
              <a:gd name="T10" fmla="*/ 11796480 60000 65536"/>
              <a:gd name="T11" fmla="*/ 17694720 60000 65536"/>
              <a:gd name="T12" fmla="*/ 27988 w 1343546"/>
              <a:gd name="T13" fmla="*/ 27988 h 573340"/>
              <a:gd name="T14" fmla="*/ 1315558 w 1343546"/>
              <a:gd name="T15" fmla="*/ 545352 h 573340"/>
            </a:gdLst>
            <a:ahLst/>
            <a:cxnLst>
              <a:cxn ang="T8">
                <a:pos x="T0" y="T1"/>
              </a:cxn>
              <a:cxn ang="T9">
                <a:pos x="T2" y="T3"/>
              </a:cxn>
              <a:cxn ang="T10">
                <a:pos x="T4" y="T5"/>
              </a:cxn>
              <a:cxn ang="T11">
                <a:pos x="T6" y="T7"/>
              </a:cxn>
            </a:cxnLst>
            <a:rect l="T12" t="T13" r="T14" b="T15"/>
            <a:pathLst>
              <a:path w="1343546" h="573340">
                <a:moveTo>
                  <a:pt x="95559" y="0"/>
                </a:moveTo>
                <a:lnTo>
                  <a:pt x="1343546" y="0"/>
                </a:lnTo>
                <a:lnTo>
                  <a:pt x="1343546" y="477781"/>
                </a:lnTo>
                <a:cubicBezTo>
                  <a:pt x="1343546" y="530556"/>
                  <a:pt x="1300762" y="573339"/>
                  <a:pt x="1247987" y="573340"/>
                </a:cubicBezTo>
                <a:lnTo>
                  <a:pt x="0" y="573340"/>
                </a:lnTo>
                <a:lnTo>
                  <a:pt x="0" y="95559"/>
                </a:lnTo>
                <a:cubicBezTo>
                  <a:pt x="0" y="42783"/>
                  <a:pt x="42783" y="0"/>
                  <a:pt x="95558" y="0"/>
                </a:cubicBezTo>
                <a:close/>
              </a:path>
            </a:pathLst>
          </a:custGeom>
          <a:blipFill>
            <a:blip r:embed="rId4"/>
            <a:stretch>
              <a:fillRect/>
            </a:stretch>
          </a:blipFill>
          <a:ln>
            <a:solidFill>
              <a:schemeClr val="bg1">
                <a:lumMod val="85000"/>
              </a:schemeClr>
            </a:solidFill>
          </a:ln>
        </p:spPr>
        <p:style>
          <a:lnRef idx="3">
            <a:schemeClr val="lt1"/>
          </a:lnRef>
          <a:fillRef idx="1">
            <a:schemeClr val="accent1"/>
          </a:fillRef>
          <a:effectRef idx="1">
            <a:schemeClr val="accent1"/>
          </a:effectRef>
          <a:fontRef idx="minor">
            <a:schemeClr val="lt1"/>
          </a:fontRef>
        </p:style>
        <p:txBody>
          <a:bodyPr lIns="133676" tIns="66839" rIns="133676" bIns="66839" anchor="ctr"/>
          <a:lstStyle/>
          <a:p>
            <a:pPr marL="0" marR="0" lvl="0" indent="0" algn="ctr" defTabSz="124015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95000"/>
                  </a:prstClr>
                </a:solidFill>
                <a:effectLst>
                  <a:outerShdw blurRad="38100" dist="38100" dir="2700000" algn="tl">
                    <a:srgbClr val="000000">
                      <a:alpha val="43137"/>
                    </a:srgbClr>
                  </a:outerShdw>
                </a:effectLst>
                <a:uLnTx/>
                <a:uFillTx/>
                <a:latin typeface="字魂59号-创粗黑" panose="00000500000000000000" charset="-122"/>
                <a:ea typeface="字魂59号-创粗黑" panose="00000500000000000000" charset="-122"/>
                <a:cs typeface="+mn-cs"/>
              </a:rPr>
              <a:t>购物</a:t>
            </a:r>
          </a:p>
        </p:txBody>
      </p:sp>
      <p:sp>
        <p:nvSpPr>
          <p:cNvPr id="6" name="对角圆角矩形 59"/>
          <p:cNvSpPr>
            <a:spLocks noChangeArrowheads="1"/>
          </p:cNvSpPr>
          <p:nvPr/>
        </p:nvSpPr>
        <p:spPr bwMode="auto">
          <a:xfrm>
            <a:off x="4355575" y="4893940"/>
            <a:ext cx="1216660" cy="544195"/>
          </a:xfrm>
          <a:custGeom>
            <a:avLst/>
            <a:gdLst>
              <a:gd name="T0" fmla="*/ 13284136 w 1343546"/>
              <a:gd name="T1" fmla="*/ 4123240 h 573340"/>
              <a:gd name="T2" fmla="*/ 6642084 w 1343546"/>
              <a:gd name="T3" fmla="*/ 8246452 h 573340"/>
              <a:gd name="T4" fmla="*/ 0 w 1343546"/>
              <a:gd name="T5" fmla="*/ 4123240 h 573340"/>
              <a:gd name="T6" fmla="*/ 6642084 w 1343546"/>
              <a:gd name="T7" fmla="*/ 0 h 573340"/>
              <a:gd name="T8" fmla="*/ 0 60000 65536"/>
              <a:gd name="T9" fmla="*/ 5898240 60000 65536"/>
              <a:gd name="T10" fmla="*/ 11796480 60000 65536"/>
              <a:gd name="T11" fmla="*/ 17694720 60000 65536"/>
              <a:gd name="T12" fmla="*/ 27988 w 1343546"/>
              <a:gd name="T13" fmla="*/ 27988 h 573340"/>
              <a:gd name="T14" fmla="*/ 1315558 w 1343546"/>
              <a:gd name="T15" fmla="*/ 545352 h 573340"/>
            </a:gdLst>
            <a:ahLst/>
            <a:cxnLst>
              <a:cxn ang="T8">
                <a:pos x="T0" y="T1"/>
              </a:cxn>
              <a:cxn ang="T9">
                <a:pos x="T2" y="T3"/>
              </a:cxn>
              <a:cxn ang="T10">
                <a:pos x="T4" y="T5"/>
              </a:cxn>
              <a:cxn ang="T11">
                <a:pos x="T6" y="T7"/>
              </a:cxn>
            </a:cxnLst>
            <a:rect l="T12" t="T13" r="T14" b="T15"/>
            <a:pathLst>
              <a:path w="1343546" h="573340">
                <a:moveTo>
                  <a:pt x="95559" y="0"/>
                </a:moveTo>
                <a:lnTo>
                  <a:pt x="1343546" y="0"/>
                </a:lnTo>
                <a:lnTo>
                  <a:pt x="1343546" y="477781"/>
                </a:lnTo>
                <a:cubicBezTo>
                  <a:pt x="1343546" y="530556"/>
                  <a:pt x="1300762" y="573339"/>
                  <a:pt x="1247987" y="573340"/>
                </a:cubicBezTo>
                <a:lnTo>
                  <a:pt x="0" y="573340"/>
                </a:lnTo>
                <a:lnTo>
                  <a:pt x="0" y="95559"/>
                </a:lnTo>
                <a:cubicBezTo>
                  <a:pt x="0" y="42783"/>
                  <a:pt x="42783" y="0"/>
                  <a:pt x="95558" y="0"/>
                </a:cubicBezTo>
                <a:close/>
              </a:path>
            </a:pathLst>
          </a:custGeom>
          <a:blipFill>
            <a:blip r:embed="rId4"/>
            <a:stretch>
              <a:fillRect/>
            </a:stretch>
          </a:blipFill>
          <a:ln>
            <a:solidFill>
              <a:schemeClr val="bg1">
                <a:lumMod val="85000"/>
              </a:schemeClr>
            </a:solidFill>
          </a:ln>
        </p:spPr>
        <p:style>
          <a:lnRef idx="3">
            <a:schemeClr val="lt1"/>
          </a:lnRef>
          <a:fillRef idx="1">
            <a:schemeClr val="accent1"/>
          </a:fillRef>
          <a:effectRef idx="1">
            <a:schemeClr val="accent1"/>
          </a:effectRef>
          <a:fontRef idx="minor">
            <a:schemeClr val="lt1"/>
          </a:fontRef>
        </p:style>
        <p:txBody>
          <a:bodyPr lIns="133676" tIns="66839" rIns="133676" bIns="66839" anchor="ctr"/>
          <a:lstStyle/>
          <a:p>
            <a:pPr marL="0" marR="0" lvl="0" indent="0" algn="ctr" defTabSz="124015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95000"/>
                  </a:prstClr>
                </a:solidFill>
                <a:effectLst>
                  <a:outerShdw blurRad="38100" dist="38100" dir="2700000" algn="tl">
                    <a:srgbClr val="000000">
                      <a:alpha val="43137"/>
                    </a:srgbClr>
                  </a:outerShdw>
                </a:effectLst>
                <a:uLnTx/>
                <a:uFillTx/>
                <a:latin typeface="字魂59号-创粗黑" panose="00000500000000000000" charset="-122"/>
                <a:ea typeface="字魂59号-创粗黑" panose="00000500000000000000" charset="-122"/>
                <a:cs typeface="+mn-cs"/>
              </a:rPr>
              <a:t>饮食</a:t>
            </a:r>
          </a:p>
        </p:txBody>
      </p:sp>
      <p:sp>
        <p:nvSpPr>
          <p:cNvPr id="7" name="对角圆角矩形 59"/>
          <p:cNvSpPr>
            <a:spLocks noChangeArrowheads="1"/>
          </p:cNvSpPr>
          <p:nvPr/>
        </p:nvSpPr>
        <p:spPr bwMode="auto">
          <a:xfrm>
            <a:off x="6592085" y="4893940"/>
            <a:ext cx="1216660" cy="544195"/>
          </a:xfrm>
          <a:custGeom>
            <a:avLst/>
            <a:gdLst>
              <a:gd name="T0" fmla="*/ 13284136 w 1343546"/>
              <a:gd name="T1" fmla="*/ 4123240 h 573340"/>
              <a:gd name="T2" fmla="*/ 6642084 w 1343546"/>
              <a:gd name="T3" fmla="*/ 8246452 h 573340"/>
              <a:gd name="T4" fmla="*/ 0 w 1343546"/>
              <a:gd name="T5" fmla="*/ 4123240 h 573340"/>
              <a:gd name="T6" fmla="*/ 6642084 w 1343546"/>
              <a:gd name="T7" fmla="*/ 0 h 573340"/>
              <a:gd name="T8" fmla="*/ 0 60000 65536"/>
              <a:gd name="T9" fmla="*/ 5898240 60000 65536"/>
              <a:gd name="T10" fmla="*/ 11796480 60000 65536"/>
              <a:gd name="T11" fmla="*/ 17694720 60000 65536"/>
              <a:gd name="T12" fmla="*/ 27988 w 1343546"/>
              <a:gd name="T13" fmla="*/ 27988 h 573340"/>
              <a:gd name="T14" fmla="*/ 1315558 w 1343546"/>
              <a:gd name="T15" fmla="*/ 545352 h 573340"/>
            </a:gdLst>
            <a:ahLst/>
            <a:cxnLst>
              <a:cxn ang="T8">
                <a:pos x="T0" y="T1"/>
              </a:cxn>
              <a:cxn ang="T9">
                <a:pos x="T2" y="T3"/>
              </a:cxn>
              <a:cxn ang="T10">
                <a:pos x="T4" y="T5"/>
              </a:cxn>
              <a:cxn ang="T11">
                <a:pos x="T6" y="T7"/>
              </a:cxn>
            </a:cxnLst>
            <a:rect l="T12" t="T13" r="T14" b="T15"/>
            <a:pathLst>
              <a:path w="1343546" h="573340">
                <a:moveTo>
                  <a:pt x="95559" y="0"/>
                </a:moveTo>
                <a:lnTo>
                  <a:pt x="1343546" y="0"/>
                </a:lnTo>
                <a:lnTo>
                  <a:pt x="1343546" y="477781"/>
                </a:lnTo>
                <a:cubicBezTo>
                  <a:pt x="1343546" y="530556"/>
                  <a:pt x="1300762" y="573339"/>
                  <a:pt x="1247987" y="573340"/>
                </a:cubicBezTo>
                <a:lnTo>
                  <a:pt x="0" y="573340"/>
                </a:lnTo>
                <a:lnTo>
                  <a:pt x="0" y="95559"/>
                </a:lnTo>
                <a:cubicBezTo>
                  <a:pt x="0" y="42783"/>
                  <a:pt x="42783" y="0"/>
                  <a:pt x="95558" y="0"/>
                </a:cubicBezTo>
                <a:close/>
              </a:path>
            </a:pathLst>
          </a:custGeom>
          <a:blipFill>
            <a:blip r:embed="rId4"/>
            <a:stretch>
              <a:fillRect/>
            </a:stretch>
          </a:blipFill>
          <a:ln>
            <a:solidFill>
              <a:schemeClr val="bg1">
                <a:lumMod val="85000"/>
              </a:schemeClr>
            </a:solidFill>
          </a:ln>
        </p:spPr>
        <p:style>
          <a:lnRef idx="3">
            <a:schemeClr val="lt1"/>
          </a:lnRef>
          <a:fillRef idx="1">
            <a:schemeClr val="accent1"/>
          </a:fillRef>
          <a:effectRef idx="1">
            <a:schemeClr val="accent1"/>
          </a:effectRef>
          <a:fontRef idx="minor">
            <a:schemeClr val="lt1"/>
          </a:fontRef>
        </p:style>
        <p:txBody>
          <a:bodyPr lIns="133676" tIns="66839" rIns="133676" bIns="66839" anchor="ctr"/>
          <a:lstStyle/>
          <a:p>
            <a:pPr marL="0" marR="0" lvl="0" indent="0" algn="ctr" defTabSz="124015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95000"/>
                  </a:prstClr>
                </a:solidFill>
                <a:effectLst>
                  <a:outerShdw blurRad="38100" dist="38100" dir="2700000" algn="tl">
                    <a:srgbClr val="000000">
                      <a:alpha val="43137"/>
                    </a:srgbClr>
                  </a:outerShdw>
                </a:effectLst>
                <a:uLnTx/>
                <a:uFillTx/>
                <a:latin typeface="字魂59号-创粗黑" panose="00000500000000000000" charset="-122"/>
                <a:ea typeface="字魂59号-创粗黑" panose="00000500000000000000" charset="-122"/>
                <a:cs typeface="+mn-cs"/>
              </a:rPr>
              <a:t>相亲</a:t>
            </a:r>
          </a:p>
        </p:txBody>
      </p:sp>
      <p:sp>
        <p:nvSpPr>
          <p:cNvPr id="8" name="对角圆角矩形 59"/>
          <p:cNvSpPr>
            <a:spLocks noChangeArrowheads="1"/>
          </p:cNvSpPr>
          <p:nvPr/>
        </p:nvSpPr>
        <p:spPr bwMode="auto">
          <a:xfrm>
            <a:off x="7186577" y="3574746"/>
            <a:ext cx="1216660" cy="544195"/>
          </a:xfrm>
          <a:custGeom>
            <a:avLst/>
            <a:gdLst>
              <a:gd name="T0" fmla="*/ 13284136 w 1343546"/>
              <a:gd name="T1" fmla="*/ 4123240 h 573340"/>
              <a:gd name="T2" fmla="*/ 6642084 w 1343546"/>
              <a:gd name="T3" fmla="*/ 8246452 h 573340"/>
              <a:gd name="T4" fmla="*/ 0 w 1343546"/>
              <a:gd name="T5" fmla="*/ 4123240 h 573340"/>
              <a:gd name="T6" fmla="*/ 6642084 w 1343546"/>
              <a:gd name="T7" fmla="*/ 0 h 573340"/>
              <a:gd name="T8" fmla="*/ 0 60000 65536"/>
              <a:gd name="T9" fmla="*/ 5898240 60000 65536"/>
              <a:gd name="T10" fmla="*/ 11796480 60000 65536"/>
              <a:gd name="T11" fmla="*/ 17694720 60000 65536"/>
              <a:gd name="T12" fmla="*/ 27988 w 1343546"/>
              <a:gd name="T13" fmla="*/ 27988 h 573340"/>
              <a:gd name="T14" fmla="*/ 1315558 w 1343546"/>
              <a:gd name="T15" fmla="*/ 545352 h 573340"/>
            </a:gdLst>
            <a:ahLst/>
            <a:cxnLst>
              <a:cxn ang="T8">
                <a:pos x="T0" y="T1"/>
              </a:cxn>
              <a:cxn ang="T9">
                <a:pos x="T2" y="T3"/>
              </a:cxn>
              <a:cxn ang="T10">
                <a:pos x="T4" y="T5"/>
              </a:cxn>
              <a:cxn ang="T11">
                <a:pos x="T6" y="T7"/>
              </a:cxn>
            </a:cxnLst>
            <a:rect l="T12" t="T13" r="T14" b="T15"/>
            <a:pathLst>
              <a:path w="1343546" h="573340">
                <a:moveTo>
                  <a:pt x="95559" y="0"/>
                </a:moveTo>
                <a:lnTo>
                  <a:pt x="1343546" y="0"/>
                </a:lnTo>
                <a:lnTo>
                  <a:pt x="1343546" y="477781"/>
                </a:lnTo>
                <a:cubicBezTo>
                  <a:pt x="1343546" y="530556"/>
                  <a:pt x="1300762" y="573339"/>
                  <a:pt x="1247987" y="573340"/>
                </a:cubicBezTo>
                <a:lnTo>
                  <a:pt x="0" y="573340"/>
                </a:lnTo>
                <a:lnTo>
                  <a:pt x="0" y="95559"/>
                </a:lnTo>
                <a:cubicBezTo>
                  <a:pt x="0" y="42783"/>
                  <a:pt x="42783" y="0"/>
                  <a:pt x="95558" y="0"/>
                </a:cubicBezTo>
                <a:close/>
              </a:path>
            </a:pathLst>
          </a:custGeom>
          <a:blipFill>
            <a:blip r:embed="rId4"/>
            <a:stretch>
              <a:fillRect/>
            </a:stretch>
          </a:blipFill>
          <a:ln>
            <a:solidFill>
              <a:schemeClr val="bg1">
                <a:lumMod val="85000"/>
              </a:schemeClr>
            </a:solidFill>
          </a:ln>
        </p:spPr>
        <p:style>
          <a:lnRef idx="3">
            <a:schemeClr val="lt1"/>
          </a:lnRef>
          <a:fillRef idx="1">
            <a:schemeClr val="accent1"/>
          </a:fillRef>
          <a:effectRef idx="1">
            <a:schemeClr val="accent1"/>
          </a:effectRef>
          <a:fontRef idx="minor">
            <a:schemeClr val="lt1"/>
          </a:fontRef>
        </p:style>
        <p:txBody>
          <a:bodyPr lIns="133676" tIns="66839" rIns="133676" bIns="66839" anchor="ctr"/>
          <a:lstStyle/>
          <a:p>
            <a:pPr marL="0" marR="0" lvl="0" indent="0" algn="ctr" defTabSz="124015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95000"/>
                  </a:prstClr>
                </a:solidFill>
                <a:effectLst>
                  <a:outerShdw blurRad="38100" dist="38100" dir="2700000" algn="tl">
                    <a:srgbClr val="000000">
                      <a:alpha val="43137"/>
                    </a:srgbClr>
                  </a:outerShdw>
                </a:effectLst>
                <a:uLnTx/>
                <a:uFillTx/>
                <a:latin typeface="字魂59号-创粗黑" panose="00000500000000000000" charset="-122"/>
                <a:ea typeface="字魂59号-创粗黑" panose="00000500000000000000" charset="-122"/>
                <a:cs typeface="+mn-cs"/>
              </a:rPr>
              <a:t>交易</a:t>
            </a:r>
          </a:p>
        </p:txBody>
      </p:sp>
      <p:sp>
        <p:nvSpPr>
          <p:cNvPr id="9" name="对角圆角矩形 59"/>
          <p:cNvSpPr>
            <a:spLocks noChangeArrowheads="1"/>
          </p:cNvSpPr>
          <p:nvPr/>
        </p:nvSpPr>
        <p:spPr bwMode="auto">
          <a:xfrm>
            <a:off x="4341737" y="2282448"/>
            <a:ext cx="1216660" cy="544195"/>
          </a:xfrm>
          <a:custGeom>
            <a:avLst/>
            <a:gdLst>
              <a:gd name="T0" fmla="*/ 13284136 w 1343546"/>
              <a:gd name="T1" fmla="*/ 4123240 h 573340"/>
              <a:gd name="T2" fmla="*/ 6642084 w 1343546"/>
              <a:gd name="T3" fmla="*/ 8246452 h 573340"/>
              <a:gd name="T4" fmla="*/ 0 w 1343546"/>
              <a:gd name="T5" fmla="*/ 4123240 h 573340"/>
              <a:gd name="T6" fmla="*/ 6642084 w 1343546"/>
              <a:gd name="T7" fmla="*/ 0 h 573340"/>
              <a:gd name="T8" fmla="*/ 0 60000 65536"/>
              <a:gd name="T9" fmla="*/ 5898240 60000 65536"/>
              <a:gd name="T10" fmla="*/ 11796480 60000 65536"/>
              <a:gd name="T11" fmla="*/ 17694720 60000 65536"/>
              <a:gd name="T12" fmla="*/ 27988 w 1343546"/>
              <a:gd name="T13" fmla="*/ 27988 h 573340"/>
              <a:gd name="T14" fmla="*/ 1315558 w 1343546"/>
              <a:gd name="T15" fmla="*/ 545352 h 573340"/>
            </a:gdLst>
            <a:ahLst/>
            <a:cxnLst>
              <a:cxn ang="T8">
                <a:pos x="T0" y="T1"/>
              </a:cxn>
              <a:cxn ang="T9">
                <a:pos x="T2" y="T3"/>
              </a:cxn>
              <a:cxn ang="T10">
                <a:pos x="T4" y="T5"/>
              </a:cxn>
              <a:cxn ang="T11">
                <a:pos x="T6" y="T7"/>
              </a:cxn>
            </a:cxnLst>
            <a:rect l="T12" t="T13" r="T14" b="T15"/>
            <a:pathLst>
              <a:path w="1343546" h="573340">
                <a:moveTo>
                  <a:pt x="95559" y="0"/>
                </a:moveTo>
                <a:lnTo>
                  <a:pt x="1343546" y="0"/>
                </a:lnTo>
                <a:lnTo>
                  <a:pt x="1343546" y="477781"/>
                </a:lnTo>
                <a:cubicBezTo>
                  <a:pt x="1343546" y="530556"/>
                  <a:pt x="1300762" y="573339"/>
                  <a:pt x="1247987" y="573340"/>
                </a:cubicBezTo>
                <a:lnTo>
                  <a:pt x="0" y="573340"/>
                </a:lnTo>
                <a:lnTo>
                  <a:pt x="0" y="95559"/>
                </a:lnTo>
                <a:cubicBezTo>
                  <a:pt x="0" y="42783"/>
                  <a:pt x="42783" y="0"/>
                  <a:pt x="95558" y="0"/>
                </a:cubicBezTo>
                <a:close/>
              </a:path>
            </a:pathLst>
          </a:custGeom>
          <a:blipFill>
            <a:blip r:embed="rId4"/>
            <a:stretch>
              <a:fillRect/>
            </a:stretch>
          </a:blipFill>
          <a:ln>
            <a:solidFill>
              <a:schemeClr val="bg1">
                <a:lumMod val="85000"/>
              </a:schemeClr>
            </a:solidFill>
          </a:ln>
        </p:spPr>
        <p:style>
          <a:lnRef idx="3">
            <a:schemeClr val="lt1"/>
          </a:lnRef>
          <a:fillRef idx="1">
            <a:schemeClr val="accent1"/>
          </a:fillRef>
          <a:effectRef idx="1">
            <a:schemeClr val="accent1"/>
          </a:effectRef>
          <a:fontRef idx="minor">
            <a:schemeClr val="lt1"/>
          </a:fontRef>
        </p:style>
        <p:txBody>
          <a:bodyPr lIns="133676" tIns="66839" rIns="133676" bIns="66839" anchor="ctr"/>
          <a:lstStyle/>
          <a:p>
            <a:pPr marL="0" marR="0" lvl="0" indent="0" algn="ctr" defTabSz="124015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95000"/>
                  </a:prstClr>
                </a:solidFill>
                <a:effectLst>
                  <a:outerShdw blurRad="38100" dist="38100" dir="2700000" algn="tl">
                    <a:srgbClr val="000000">
                      <a:alpha val="43137"/>
                    </a:srgbClr>
                  </a:outerShdw>
                </a:effectLst>
                <a:uLnTx/>
                <a:uFillTx/>
                <a:latin typeface="字魂59号-创粗黑" panose="00000500000000000000" charset="-122"/>
                <a:ea typeface="字魂59号-创粗黑" panose="00000500000000000000" charset="-122"/>
                <a:cs typeface="+mn-cs"/>
              </a:rPr>
              <a:t>通信</a:t>
            </a:r>
          </a:p>
        </p:txBody>
      </p:sp>
      <p:sp>
        <p:nvSpPr>
          <p:cNvPr id="11" name="对角圆角矩形 59"/>
          <p:cNvSpPr>
            <a:spLocks noChangeArrowheads="1"/>
          </p:cNvSpPr>
          <p:nvPr/>
        </p:nvSpPr>
        <p:spPr bwMode="auto">
          <a:xfrm>
            <a:off x="6578247" y="2282448"/>
            <a:ext cx="1216660" cy="544195"/>
          </a:xfrm>
          <a:custGeom>
            <a:avLst/>
            <a:gdLst>
              <a:gd name="T0" fmla="*/ 13284136 w 1343546"/>
              <a:gd name="T1" fmla="*/ 4123240 h 573340"/>
              <a:gd name="T2" fmla="*/ 6642084 w 1343546"/>
              <a:gd name="T3" fmla="*/ 8246452 h 573340"/>
              <a:gd name="T4" fmla="*/ 0 w 1343546"/>
              <a:gd name="T5" fmla="*/ 4123240 h 573340"/>
              <a:gd name="T6" fmla="*/ 6642084 w 1343546"/>
              <a:gd name="T7" fmla="*/ 0 h 573340"/>
              <a:gd name="T8" fmla="*/ 0 60000 65536"/>
              <a:gd name="T9" fmla="*/ 5898240 60000 65536"/>
              <a:gd name="T10" fmla="*/ 11796480 60000 65536"/>
              <a:gd name="T11" fmla="*/ 17694720 60000 65536"/>
              <a:gd name="T12" fmla="*/ 27988 w 1343546"/>
              <a:gd name="T13" fmla="*/ 27988 h 573340"/>
              <a:gd name="T14" fmla="*/ 1315558 w 1343546"/>
              <a:gd name="T15" fmla="*/ 545352 h 573340"/>
            </a:gdLst>
            <a:ahLst/>
            <a:cxnLst>
              <a:cxn ang="T8">
                <a:pos x="T0" y="T1"/>
              </a:cxn>
              <a:cxn ang="T9">
                <a:pos x="T2" y="T3"/>
              </a:cxn>
              <a:cxn ang="T10">
                <a:pos x="T4" y="T5"/>
              </a:cxn>
              <a:cxn ang="T11">
                <a:pos x="T6" y="T7"/>
              </a:cxn>
            </a:cxnLst>
            <a:rect l="T12" t="T13" r="T14" b="T15"/>
            <a:pathLst>
              <a:path w="1343546" h="573340">
                <a:moveTo>
                  <a:pt x="95559" y="0"/>
                </a:moveTo>
                <a:lnTo>
                  <a:pt x="1343546" y="0"/>
                </a:lnTo>
                <a:lnTo>
                  <a:pt x="1343546" y="477781"/>
                </a:lnTo>
                <a:cubicBezTo>
                  <a:pt x="1343546" y="530556"/>
                  <a:pt x="1300762" y="573339"/>
                  <a:pt x="1247987" y="573340"/>
                </a:cubicBezTo>
                <a:lnTo>
                  <a:pt x="0" y="573340"/>
                </a:lnTo>
                <a:lnTo>
                  <a:pt x="0" y="95559"/>
                </a:lnTo>
                <a:cubicBezTo>
                  <a:pt x="0" y="42783"/>
                  <a:pt x="42783" y="0"/>
                  <a:pt x="95558" y="0"/>
                </a:cubicBezTo>
                <a:close/>
              </a:path>
            </a:pathLst>
          </a:custGeom>
          <a:blipFill>
            <a:blip r:embed="rId4"/>
            <a:stretch>
              <a:fillRect/>
            </a:stretch>
          </a:blipFill>
          <a:ln>
            <a:solidFill>
              <a:schemeClr val="bg1">
                <a:lumMod val="85000"/>
              </a:schemeClr>
            </a:solidFill>
          </a:ln>
        </p:spPr>
        <p:style>
          <a:lnRef idx="3">
            <a:schemeClr val="lt1"/>
          </a:lnRef>
          <a:fillRef idx="1">
            <a:schemeClr val="accent1"/>
          </a:fillRef>
          <a:effectRef idx="1">
            <a:schemeClr val="accent1"/>
          </a:effectRef>
          <a:fontRef idx="minor">
            <a:schemeClr val="lt1"/>
          </a:fontRef>
        </p:style>
        <p:txBody>
          <a:bodyPr lIns="133676" tIns="66839" rIns="133676" bIns="66839" anchor="ctr"/>
          <a:lstStyle/>
          <a:p>
            <a:pPr marL="0" marR="0" lvl="0" indent="0" algn="ctr" defTabSz="1240155"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95000"/>
                  </a:prstClr>
                </a:solidFill>
                <a:effectLst>
                  <a:outerShdw blurRad="38100" dist="38100" dir="2700000" algn="tl">
                    <a:srgbClr val="000000">
                      <a:alpha val="43137"/>
                    </a:srgbClr>
                  </a:outerShdw>
                </a:effectLst>
                <a:uLnTx/>
                <a:uFillTx/>
                <a:latin typeface="字魂59号-创粗黑" panose="00000500000000000000" charset="-122"/>
                <a:ea typeface="字魂59号-创粗黑" panose="00000500000000000000" charset="-122"/>
                <a:cs typeface="+mn-cs"/>
              </a:rPr>
              <a:t>出行</a:t>
            </a:r>
          </a:p>
        </p:txBody>
      </p:sp>
      <p:pic>
        <p:nvPicPr>
          <p:cNvPr id="12" name="图片 11"/>
          <p:cNvPicPr>
            <a:picLocks noChangeAspect="1"/>
          </p:cNvPicPr>
          <p:nvPr/>
        </p:nvPicPr>
        <p:blipFill rotWithShape="1">
          <a:blip r:embed="rId5" cstate="print">
            <a:extLst>
              <a:ext uri="{28A0092B-C50C-407E-A947-70E740481C1C}">
                <a14:useLocalDpi xmlns:a14="http://schemas.microsoft.com/office/drawing/2010/main" val="0"/>
              </a:ext>
            </a:extLst>
          </a:blip>
          <a:srcRect l="50496" t="43012" r="19578" b="1163"/>
          <a:stretch>
            <a:fillRect/>
          </a:stretch>
        </p:blipFill>
        <p:spPr>
          <a:xfrm>
            <a:off x="5253318" y="3025539"/>
            <a:ext cx="1612460" cy="1612460"/>
          </a:xfrm>
          <a:prstGeom prst="ellipse">
            <a:avLst/>
          </a:prstGeom>
        </p:spPr>
      </p:pic>
      <p:sp>
        <p:nvSpPr>
          <p:cNvPr id="13" name="文本框 12"/>
          <p:cNvSpPr txBox="1">
            <a:spLocks noChangeArrowheads="1"/>
          </p:cNvSpPr>
          <p:nvPr/>
        </p:nvSpPr>
        <p:spPr bwMode="auto">
          <a:xfrm>
            <a:off x="8358219" y="1808933"/>
            <a:ext cx="2895804" cy="1216606"/>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摩拜、</a:t>
            </a:r>
            <a:r>
              <a:rPr kumimoji="0" lang="en-US" altLang="zh-CN"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ofo</a:t>
            </a:r>
            <a:r>
              <a:rPr kumimoji="0" lang="zh-CN" altLang="en-US"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、滴滴</a:t>
            </a:r>
          </a:p>
        </p:txBody>
      </p:sp>
      <p:sp>
        <p:nvSpPr>
          <p:cNvPr id="18" name="文本框 17"/>
          <p:cNvSpPr txBox="1">
            <a:spLocks noChangeArrowheads="1"/>
          </p:cNvSpPr>
          <p:nvPr/>
        </p:nvSpPr>
        <p:spPr bwMode="auto">
          <a:xfrm>
            <a:off x="8594515" y="3223466"/>
            <a:ext cx="2895804" cy="1216606"/>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支付宝、微信钱包</a:t>
            </a:r>
          </a:p>
        </p:txBody>
      </p:sp>
      <p:sp>
        <p:nvSpPr>
          <p:cNvPr id="19" name="文本框 18"/>
          <p:cNvSpPr txBox="1">
            <a:spLocks noChangeArrowheads="1"/>
          </p:cNvSpPr>
          <p:nvPr/>
        </p:nvSpPr>
        <p:spPr bwMode="auto">
          <a:xfrm>
            <a:off x="8479908" y="4540005"/>
            <a:ext cx="2895804" cy="1216606"/>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世纪佳缘、珍爱网</a:t>
            </a:r>
          </a:p>
        </p:txBody>
      </p:sp>
      <p:sp>
        <p:nvSpPr>
          <p:cNvPr id="20" name="文本框 19"/>
          <p:cNvSpPr txBox="1">
            <a:spLocks noChangeArrowheads="1"/>
          </p:cNvSpPr>
          <p:nvPr/>
        </p:nvSpPr>
        <p:spPr bwMode="auto">
          <a:xfrm>
            <a:off x="996224" y="1808933"/>
            <a:ext cx="2895804" cy="1216606"/>
          </a:xfrm>
          <a:prstGeom prst="rect">
            <a:avLst/>
          </a:prstGeom>
          <a:noFill/>
          <a:ln w="9525">
            <a:noFill/>
            <a:miter lim="800000"/>
          </a:ln>
        </p:spPr>
        <p:txBody>
          <a:bodyPr lIns="123993" tIns="61996" rIns="123993" bIns="61996" anchor="ct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QQ</a:t>
            </a:r>
            <a:r>
              <a:rPr kumimoji="0" lang="zh-CN" altLang="en-US"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、微信</a:t>
            </a:r>
          </a:p>
        </p:txBody>
      </p:sp>
      <p:sp>
        <p:nvSpPr>
          <p:cNvPr id="21" name="文本框 20"/>
          <p:cNvSpPr txBox="1">
            <a:spLocks noChangeArrowheads="1"/>
          </p:cNvSpPr>
          <p:nvPr/>
        </p:nvSpPr>
        <p:spPr bwMode="auto">
          <a:xfrm>
            <a:off x="517835" y="3223466"/>
            <a:ext cx="2895804" cy="1216606"/>
          </a:xfrm>
          <a:prstGeom prst="rect">
            <a:avLst/>
          </a:prstGeom>
          <a:noFill/>
          <a:ln w="9525">
            <a:noFill/>
            <a:miter lim="800000"/>
          </a:ln>
        </p:spPr>
        <p:txBody>
          <a:bodyPr lIns="123993" tIns="61996" rIns="123993" bIns="61996" anchor="ct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淘宝、京东</a:t>
            </a:r>
          </a:p>
        </p:txBody>
      </p:sp>
      <p:sp>
        <p:nvSpPr>
          <p:cNvPr id="22" name="文本框 21"/>
          <p:cNvSpPr txBox="1">
            <a:spLocks noChangeArrowheads="1"/>
          </p:cNvSpPr>
          <p:nvPr/>
        </p:nvSpPr>
        <p:spPr bwMode="auto">
          <a:xfrm>
            <a:off x="1117913" y="4540005"/>
            <a:ext cx="2895804" cy="1216606"/>
          </a:xfrm>
          <a:prstGeom prst="rect">
            <a:avLst/>
          </a:prstGeom>
          <a:noFill/>
          <a:ln w="9525">
            <a:noFill/>
            <a:miter lim="800000"/>
          </a:ln>
        </p:spPr>
        <p:txBody>
          <a:bodyPr lIns="123993" tIns="61996" rIns="123993" bIns="61996" anchor="ct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美团、饿了么</a:t>
            </a:r>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childTnLst>
                          </p:cTn>
                        </p:par>
                        <p:par>
                          <p:cTn id="20" fill="hold">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par>
                          <p:cTn id="24" fill="hold">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par>
                          <p:cTn id="42" fill="hold">
                            <p:stCondLst>
                              <p:cond delay="500"/>
                            </p:stCondLst>
                            <p:childTnLst>
                              <p:par>
                                <p:cTn id="43" presetID="1" presetClass="entr" presetSubtype="0" fill="hold" grpId="0" nodeType="after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par>
                          <p:cTn id="45" fill="hold">
                            <p:stCondLst>
                              <p:cond delay="500"/>
                            </p:stCondLst>
                            <p:childTnLst>
                              <p:par>
                                <p:cTn id="46" presetID="1" presetClass="entr" presetSubtype="0" fill="hold" grpId="0" nodeType="afterEffect">
                                  <p:stCondLst>
                                    <p:cond delay="0"/>
                                  </p:stCondLst>
                                  <p:childTnLst>
                                    <p:set>
                                      <p:cBhvr>
                                        <p:cTn id="47" dur="1" fill="hold">
                                          <p:stCondLst>
                                            <p:cond delay="0"/>
                                          </p:stCondLst>
                                        </p:cTn>
                                        <p:tgtEl>
                                          <p:spTgt spid="21"/>
                                        </p:tgtEl>
                                        <p:attrNameLst>
                                          <p:attrName>style.visibility</p:attrName>
                                        </p:attrNameLst>
                                      </p:cBhvr>
                                      <p:to>
                                        <p:strVal val="visible"/>
                                      </p:to>
                                    </p:set>
                                  </p:child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1" grpId="0" bldLvl="0" animBg="1"/>
      <p:bldP spid="13" grpId="0"/>
      <p:bldP spid="18" grpId="0"/>
      <p:bldP spid="19" grpId="0"/>
      <p:bldP spid="20" grpId="0"/>
      <p:bldP spid="21" grpId="0"/>
      <p:bldP spid="2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文本框 9"/>
          <p:cNvSpPr txBox="1"/>
          <p:nvPr/>
        </p:nvSpPr>
        <p:spPr>
          <a:xfrm>
            <a:off x="5191740" y="398088"/>
            <a:ext cx="1960880" cy="89154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模式特点</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以滴滴为例分析</a:t>
            </a:r>
          </a:p>
        </p:txBody>
      </p:sp>
      <p:sp>
        <p:nvSpPr>
          <p:cNvPr id="7" name="文本框 6"/>
          <p:cNvSpPr txBox="1">
            <a:spLocks noChangeArrowheads="1"/>
          </p:cNvSpPr>
          <p:nvPr/>
        </p:nvSpPr>
        <p:spPr bwMode="auto">
          <a:xfrm>
            <a:off x="2022930" y="2576655"/>
            <a:ext cx="3600828" cy="294640"/>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将租车、打的、公交、代驾甚至外卖结合。</a:t>
            </a:r>
          </a:p>
        </p:txBody>
      </p:sp>
      <p:sp>
        <p:nvSpPr>
          <p:cNvPr id="8" name="文本框 7"/>
          <p:cNvSpPr txBox="1"/>
          <p:nvPr/>
        </p:nvSpPr>
        <p:spPr>
          <a:xfrm>
            <a:off x="2022929" y="1961340"/>
            <a:ext cx="1738539"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跨界融合</a:t>
            </a:r>
          </a:p>
        </p:txBody>
      </p:sp>
      <p:sp>
        <p:nvSpPr>
          <p:cNvPr id="9" name="文本框 8"/>
          <p:cNvSpPr txBox="1">
            <a:spLocks noChangeArrowheads="1"/>
          </p:cNvSpPr>
          <p:nvPr/>
        </p:nvSpPr>
        <p:spPr bwMode="auto">
          <a:xfrm>
            <a:off x="2113346" y="3889567"/>
            <a:ext cx="3600828" cy="294640"/>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开创了快车司机这一全新职业，几乎取代了传统的承包交班制出租车。</a:t>
            </a:r>
          </a:p>
        </p:txBody>
      </p:sp>
      <p:sp>
        <p:nvSpPr>
          <p:cNvPr id="11" name="文本框 10"/>
          <p:cNvSpPr txBox="1"/>
          <p:nvPr/>
        </p:nvSpPr>
        <p:spPr>
          <a:xfrm>
            <a:off x="2113345" y="3274252"/>
            <a:ext cx="1738539"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创新驱动</a:t>
            </a:r>
          </a:p>
        </p:txBody>
      </p:sp>
      <p:sp>
        <p:nvSpPr>
          <p:cNvPr id="12" name="文本框 11"/>
          <p:cNvSpPr txBox="1">
            <a:spLocks noChangeArrowheads="1"/>
          </p:cNvSpPr>
          <p:nvPr/>
        </p:nvSpPr>
        <p:spPr bwMode="auto">
          <a:xfrm>
            <a:off x="2113346" y="5184773"/>
            <a:ext cx="3600828" cy="294640"/>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黑车司机经过规范和审核取得了合法的地位和盈利的机会。</a:t>
            </a:r>
          </a:p>
        </p:txBody>
      </p:sp>
      <p:sp>
        <p:nvSpPr>
          <p:cNvPr id="13" name="文本框 12"/>
          <p:cNvSpPr txBox="1"/>
          <p:nvPr/>
        </p:nvSpPr>
        <p:spPr>
          <a:xfrm>
            <a:off x="2113345" y="4569458"/>
            <a:ext cx="1738539"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重塑结构</a:t>
            </a:r>
          </a:p>
        </p:txBody>
      </p:sp>
      <p:sp>
        <p:nvSpPr>
          <p:cNvPr id="14" name="文本框 13"/>
          <p:cNvSpPr txBox="1">
            <a:spLocks noChangeArrowheads="1"/>
          </p:cNvSpPr>
          <p:nvPr/>
        </p:nvSpPr>
        <p:spPr bwMode="auto">
          <a:xfrm>
            <a:off x="7364044" y="2576655"/>
            <a:ext cx="3600828" cy="294640"/>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私人司机可以自由工作，消费者出行开销降低。</a:t>
            </a:r>
          </a:p>
        </p:txBody>
      </p:sp>
      <p:sp>
        <p:nvSpPr>
          <p:cNvPr id="15" name="文本框 14"/>
          <p:cNvSpPr txBox="1"/>
          <p:nvPr/>
        </p:nvSpPr>
        <p:spPr>
          <a:xfrm>
            <a:off x="7364043" y="1961340"/>
            <a:ext cx="1738539"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利益共享</a:t>
            </a:r>
          </a:p>
        </p:txBody>
      </p:sp>
      <p:sp>
        <p:nvSpPr>
          <p:cNvPr id="16" name="文本框 15"/>
          <p:cNvSpPr txBox="1">
            <a:spLocks noChangeArrowheads="1"/>
          </p:cNvSpPr>
          <p:nvPr/>
        </p:nvSpPr>
        <p:spPr bwMode="auto">
          <a:xfrm>
            <a:off x="7454460" y="3889567"/>
            <a:ext cx="3600828" cy="294640"/>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有车和驾照就能入职，没有固定的服务区域，没有固定的管理网点，去中心化。</a:t>
            </a:r>
          </a:p>
        </p:txBody>
      </p:sp>
      <p:sp>
        <p:nvSpPr>
          <p:cNvPr id="17" name="文本框 16"/>
          <p:cNvSpPr txBox="1"/>
          <p:nvPr/>
        </p:nvSpPr>
        <p:spPr>
          <a:xfrm>
            <a:off x="7454265" y="3274060"/>
            <a:ext cx="263207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开放生态</a:t>
            </a:r>
          </a:p>
        </p:txBody>
      </p:sp>
      <p:sp>
        <p:nvSpPr>
          <p:cNvPr id="18" name="文本框 17"/>
          <p:cNvSpPr txBox="1">
            <a:spLocks noChangeArrowheads="1"/>
          </p:cNvSpPr>
          <p:nvPr/>
        </p:nvSpPr>
        <p:spPr bwMode="auto">
          <a:xfrm>
            <a:off x="7454460" y="5184773"/>
            <a:ext cx="3600828" cy="294640"/>
          </a:xfrm>
          <a:prstGeom prst="rect">
            <a:avLst/>
          </a:prstGeom>
          <a:noFill/>
          <a:ln w="9525">
            <a:noFill/>
            <a:miter lim="800000"/>
          </a:ln>
        </p:spPr>
        <p:txBody>
          <a:bodyPr lIns="123993" tIns="61996" rIns="123993" bIns="61996"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prstClr>
                </a:solidFill>
                <a:effectLst/>
                <a:uLnTx/>
                <a:uFillTx/>
                <a:latin typeface="字魂58号-创中黑" panose="00000500000000000000" pitchFamily="2" charset="-122"/>
                <a:ea typeface="字魂58号-创中黑" panose="00000500000000000000" pitchFamily="2" charset="-122"/>
                <a:cs typeface="+mn-cs"/>
              </a:rPr>
              <a:t>逐渐成为出行的全能服务工具，吸引很多出租车公司入驻。</a:t>
            </a:r>
          </a:p>
        </p:txBody>
      </p:sp>
      <p:sp>
        <p:nvSpPr>
          <p:cNvPr id="19" name="文本框 18"/>
          <p:cNvSpPr txBox="1"/>
          <p:nvPr/>
        </p:nvSpPr>
        <p:spPr>
          <a:xfrm>
            <a:off x="7454459" y="4569458"/>
            <a:ext cx="1738539"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字魂59号-创粗黑" panose="00000500000000000000" charset="-122"/>
                <a:ea typeface="字魂59号-创粗黑" panose="00000500000000000000" charset="-122"/>
                <a:cs typeface="+mn-cs"/>
              </a:rPr>
              <a:t>连接一切</a:t>
            </a:r>
          </a:p>
        </p:txBody>
      </p:sp>
      <p:pic>
        <p:nvPicPr>
          <p:cNvPr id="20" name="图片 19"/>
          <p:cNvPicPr>
            <a:picLocks noChangeAspect="1"/>
          </p:cNvPicPr>
          <p:nvPr/>
        </p:nvPicPr>
        <p:blipFill rotWithShape="1">
          <a:blip r:embed="rId4" cstate="print">
            <a:extLst>
              <a:ext uri="{28A0092B-C50C-407E-A947-70E740481C1C}">
                <a14:useLocalDpi xmlns:a14="http://schemas.microsoft.com/office/drawing/2010/main" val="0"/>
              </a:ext>
            </a:extLst>
          </a:blip>
          <a:srcRect l="78432" t="4139" r="10359" b="76045"/>
          <a:stretch>
            <a:fillRect/>
          </a:stretch>
        </p:blipFill>
        <p:spPr>
          <a:xfrm>
            <a:off x="1058769" y="1961340"/>
            <a:ext cx="964160" cy="1065300"/>
          </a:xfrm>
          <a:prstGeom prst="rect">
            <a:avLst/>
          </a:prstGeom>
        </p:spPr>
      </p:pic>
      <p:pic>
        <p:nvPicPr>
          <p:cNvPr id="21" name="图片 20"/>
          <p:cNvPicPr>
            <a:picLocks noChangeAspect="1"/>
          </p:cNvPicPr>
          <p:nvPr/>
        </p:nvPicPr>
        <p:blipFill rotWithShape="1">
          <a:blip r:embed="rId4" cstate="print">
            <a:extLst>
              <a:ext uri="{28A0092B-C50C-407E-A947-70E740481C1C}">
                <a14:useLocalDpi xmlns:a14="http://schemas.microsoft.com/office/drawing/2010/main" val="0"/>
              </a:ext>
            </a:extLst>
          </a:blip>
          <a:srcRect l="78432" t="4139" r="10359" b="76045"/>
          <a:stretch>
            <a:fillRect/>
          </a:stretch>
        </p:blipFill>
        <p:spPr>
          <a:xfrm>
            <a:off x="1058769" y="3266697"/>
            <a:ext cx="964160" cy="1065300"/>
          </a:xfrm>
          <a:prstGeom prst="rect">
            <a:avLst/>
          </a:prstGeom>
        </p:spPr>
      </p:pic>
      <p:pic>
        <p:nvPicPr>
          <p:cNvPr id="22" name="图片 21"/>
          <p:cNvPicPr>
            <a:picLocks noChangeAspect="1"/>
          </p:cNvPicPr>
          <p:nvPr/>
        </p:nvPicPr>
        <p:blipFill rotWithShape="1">
          <a:blip r:embed="rId4" cstate="print">
            <a:extLst>
              <a:ext uri="{28A0092B-C50C-407E-A947-70E740481C1C}">
                <a14:useLocalDpi xmlns:a14="http://schemas.microsoft.com/office/drawing/2010/main" val="0"/>
              </a:ext>
            </a:extLst>
          </a:blip>
          <a:srcRect l="78432" t="4139" r="10359" b="76045"/>
          <a:stretch>
            <a:fillRect/>
          </a:stretch>
        </p:blipFill>
        <p:spPr>
          <a:xfrm>
            <a:off x="1058769" y="4549004"/>
            <a:ext cx="964160" cy="1065300"/>
          </a:xfrm>
          <a:prstGeom prst="rect">
            <a:avLst/>
          </a:prstGeom>
        </p:spPr>
      </p:pic>
      <p:pic>
        <p:nvPicPr>
          <p:cNvPr id="23" name="图片 22"/>
          <p:cNvPicPr>
            <a:picLocks noChangeAspect="1"/>
          </p:cNvPicPr>
          <p:nvPr/>
        </p:nvPicPr>
        <p:blipFill rotWithShape="1">
          <a:blip r:embed="rId4" cstate="print">
            <a:extLst>
              <a:ext uri="{28A0092B-C50C-407E-A947-70E740481C1C}">
                <a14:useLocalDpi xmlns:a14="http://schemas.microsoft.com/office/drawing/2010/main" val="0"/>
              </a:ext>
            </a:extLst>
          </a:blip>
          <a:srcRect l="78432" t="4139" r="10359" b="76045"/>
          <a:stretch>
            <a:fillRect/>
          </a:stretch>
        </p:blipFill>
        <p:spPr>
          <a:xfrm>
            <a:off x="6360250" y="1968895"/>
            <a:ext cx="964160" cy="1065300"/>
          </a:xfrm>
          <a:prstGeom prst="rect">
            <a:avLst/>
          </a:prstGeom>
        </p:spPr>
      </p:pic>
      <p:pic>
        <p:nvPicPr>
          <p:cNvPr id="24" name="图片 23"/>
          <p:cNvPicPr>
            <a:picLocks noChangeAspect="1"/>
          </p:cNvPicPr>
          <p:nvPr/>
        </p:nvPicPr>
        <p:blipFill rotWithShape="1">
          <a:blip r:embed="rId4" cstate="print">
            <a:extLst>
              <a:ext uri="{28A0092B-C50C-407E-A947-70E740481C1C}">
                <a14:useLocalDpi xmlns:a14="http://schemas.microsoft.com/office/drawing/2010/main" val="0"/>
              </a:ext>
            </a:extLst>
          </a:blip>
          <a:srcRect l="78432" t="4139" r="10359" b="76045"/>
          <a:stretch>
            <a:fillRect/>
          </a:stretch>
        </p:blipFill>
        <p:spPr>
          <a:xfrm>
            <a:off x="6360250" y="3274252"/>
            <a:ext cx="964160" cy="1065300"/>
          </a:xfrm>
          <a:prstGeom prst="rect">
            <a:avLst/>
          </a:prstGeom>
        </p:spPr>
      </p:pic>
      <p:pic>
        <p:nvPicPr>
          <p:cNvPr id="25" name="图片 24"/>
          <p:cNvPicPr>
            <a:picLocks noChangeAspect="1"/>
          </p:cNvPicPr>
          <p:nvPr/>
        </p:nvPicPr>
        <p:blipFill rotWithShape="1">
          <a:blip r:embed="rId4" cstate="print">
            <a:extLst>
              <a:ext uri="{28A0092B-C50C-407E-A947-70E740481C1C}">
                <a14:useLocalDpi xmlns:a14="http://schemas.microsoft.com/office/drawing/2010/main" val="0"/>
              </a:ext>
            </a:extLst>
          </a:blip>
          <a:srcRect l="78432" t="4139" r="10359" b="76045"/>
          <a:stretch>
            <a:fillRect/>
          </a:stretch>
        </p:blipFill>
        <p:spPr>
          <a:xfrm>
            <a:off x="6360250" y="4556559"/>
            <a:ext cx="964160" cy="1065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P spid="13" grpId="0"/>
      <p:bldP spid="14" grpId="0"/>
      <p:bldP spid="15" grpId="0"/>
      <p:bldP spid="16" grpId="0"/>
      <p:bldP spid="17" grpId="0"/>
      <p:bldP spid="18" grpId="0"/>
      <p:bldP spid="1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9" y="0"/>
            <a:ext cx="12192000" cy="6858000"/>
          </a:xfrm>
          <a:prstGeom prst="rect">
            <a:avLst/>
          </a:prstGeom>
        </p:spPr>
      </p:pic>
      <p:sp>
        <p:nvSpPr>
          <p:cNvPr id="10" name="文本框 9"/>
          <p:cNvSpPr txBox="1"/>
          <p:nvPr/>
        </p:nvSpPr>
        <p:spPr>
          <a:xfrm>
            <a:off x="4977745" y="398088"/>
            <a:ext cx="22148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互联网企业</a:t>
            </a:r>
          </a:p>
        </p:txBody>
      </p:sp>
      <p:sp>
        <p:nvSpPr>
          <p:cNvPr id="5" name="Rounded Rectangle 40"/>
          <p:cNvSpPr/>
          <p:nvPr/>
        </p:nvSpPr>
        <p:spPr>
          <a:xfrm>
            <a:off x="1283074" y="2109096"/>
            <a:ext cx="2869918" cy="3556598"/>
          </a:xfrm>
          <a:prstGeom prst="roundRect">
            <a:avLst>
              <a:gd name="adj" fmla="val 5474"/>
            </a:avLst>
          </a:prstGeom>
          <a:blipFill>
            <a:blip r:embed="rId4"/>
            <a:stretch>
              <a:fillRect/>
            </a:stretch>
          </a:blip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lumMod val="95000"/>
                </a:prstClr>
              </a:solidFill>
              <a:effectLst/>
              <a:uLnTx/>
              <a:uFillTx/>
              <a:latin typeface="+mn-lt"/>
              <a:ea typeface="+mn-ea"/>
              <a:cs typeface="+mn-cs"/>
            </a:endParaRPr>
          </a:p>
        </p:txBody>
      </p:sp>
      <p:sp>
        <p:nvSpPr>
          <p:cNvPr id="6" name="Rounded Rectangle 40"/>
          <p:cNvSpPr/>
          <p:nvPr/>
        </p:nvSpPr>
        <p:spPr>
          <a:xfrm>
            <a:off x="4661041" y="2109096"/>
            <a:ext cx="2869918" cy="3556598"/>
          </a:xfrm>
          <a:prstGeom prst="roundRect">
            <a:avLst>
              <a:gd name="adj" fmla="val 5474"/>
            </a:avLst>
          </a:prstGeom>
          <a:blipFill>
            <a:blip r:embed="rId4"/>
            <a:stretch>
              <a:fillRect/>
            </a:stretch>
          </a:blip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lumMod val="95000"/>
                </a:prstClr>
              </a:solidFill>
              <a:effectLst/>
              <a:uLnTx/>
              <a:uFillTx/>
              <a:latin typeface="+mn-lt"/>
              <a:ea typeface="+mn-ea"/>
              <a:cs typeface="+mn-cs"/>
            </a:endParaRPr>
          </a:p>
        </p:txBody>
      </p:sp>
      <p:sp>
        <p:nvSpPr>
          <p:cNvPr id="7" name="Rounded Rectangle 40"/>
          <p:cNvSpPr/>
          <p:nvPr/>
        </p:nvSpPr>
        <p:spPr>
          <a:xfrm>
            <a:off x="8141148" y="2109096"/>
            <a:ext cx="2869918" cy="3556598"/>
          </a:xfrm>
          <a:prstGeom prst="roundRect">
            <a:avLst>
              <a:gd name="adj" fmla="val 5474"/>
            </a:avLst>
          </a:prstGeom>
          <a:blipFill>
            <a:blip r:embed="rId4"/>
            <a:stretch>
              <a:fillRect/>
            </a:stretch>
          </a:blip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lumMod val="95000"/>
                </a:prstClr>
              </a:solidFill>
              <a:effectLst/>
              <a:uLnTx/>
              <a:uFillTx/>
              <a:latin typeface="+mn-lt"/>
              <a:ea typeface="+mn-ea"/>
              <a:cs typeface="+mn-cs"/>
            </a:endParaRPr>
          </a:p>
        </p:txBody>
      </p:sp>
      <p:pic>
        <p:nvPicPr>
          <p:cNvPr id="8" name="图片 7"/>
          <p:cNvPicPr>
            <a:picLocks noChangeAspect="1"/>
          </p:cNvPicPr>
          <p:nvPr/>
        </p:nvPicPr>
        <p:blipFill rotWithShape="1">
          <a:blip r:embed="rId5" cstate="print">
            <a:extLst>
              <a:ext uri="{28A0092B-C50C-407E-A947-70E740481C1C}">
                <a14:useLocalDpi xmlns:a14="http://schemas.microsoft.com/office/drawing/2010/main" val="0"/>
              </a:ext>
            </a:extLst>
          </a:blip>
          <a:srcRect l="86912" t="42891" r="147" b="42071"/>
          <a:stretch>
            <a:fillRect/>
          </a:stretch>
        </p:blipFill>
        <p:spPr>
          <a:xfrm flipH="1">
            <a:off x="1610237" y="2310000"/>
            <a:ext cx="2215591" cy="1380174"/>
          </a:xfrm>
          <a:prstGeom prst="rect">
            <a:avLst/>
          </a:prstGeom>
        </p:spPr>
      </p:pic>
      <p:pic>
        <p:nvPicPr>
          <p:cNvPr id="9" name="图片 8"/>
          <p:cNvPicPr>
            <a:picLocks noChangeAspect="1"/>
          </p:cNvPicPr>
          <p:nvPr/>
        </p:nvPicPr>
        <p:blipFill rotWithShape="1">
          <a:blip r:embed="rId5" cstate="print">
            <a:extLst>
              <a:ext uri="{28A0092B-C50C-407E-A947-70E740481C1C}">
                <a14:useLocalDpi xmlns:a14="http://schemas.microsoft.com/office/drawing/2010/main" val="0"/>
              </a:ext>
            </a:extLst>
          </a:blip>
          <a:srcRect l="86912" t="42891" r="147" b="42071"/>
          <a:stretch>
            <a:fillRect/>
          </a:stretch>
        </p:blipFill>
        <p:spPr>
          <a:xfrm flipH="1">
            <a:off x="4998664" y="2310000"/>
            <a:ext cx="2215591" cy="1380174"/>
          </a:xfrm>
          <a:prstGeom prst="rect">
            <a:avLst/>
          </a:prstGeom>
        </p:spPr>
      </p:pic>
      <p:pic>
        <p:nvPicPr>
          <p:cNvPr id="11" name="图片 10"/>
          <p:cNvPicPr>
            <a:picLocks noChangeAspect="1"/>
          </p:cNvPicPr>
          <p:nvPr/>
        </p:nvPicPr>
        <p:blipFill rotWithShape="1">
          <a:blip r:embed="rId5" cstate="print">
            <a:extLst>
              <a:ext uri="{28A0092B-C50C-407E-A947-70E740481C1C}">
                <a14:useLocalDpi xmlns:a14="http://schemas.microsoft.com/office/drawing/2010/main" val="0"/>
              </a:ext>
            </a:extLst>
          </a:blip>
          <a:srcRect l="86912" t="42891" r="147" b="42071"/>
          <a:stretch>
            <a:fillRect/>
          </a:stretch>
        </p:blipFill>
        <p:spPr>
          <a:xfrm flipH="1">
            <a:off x="8468311" y="2310000"/>
            <a:ext cx="2215591" cy="1380174"/>
          </a:xfrm>
          <a:prstGeom prst="rect">
            <a:avLst/>
          </a:prstGeom>
        </p:spPr>
      </p:pic>
      <p:sp>
        <p:nvSpPr>
          <p:cNvPr id="13" name="文本框 12"/>
          <p:cNvSpPr txBox="1"/>
          <p:nvPr/>
        </p:nvSpPr>
        <p:spPr>
          <a:xfrm>
            <a:off x="1842186" y="3656562"/>
            <a:ext cx="178762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字魂59号-创粗黑" panose="00000500000000000000" charset="-122"/>
                <a:ea typeface="字魂59号-创粗黑" panose="00000500000000000000" charset="-122"/>
                <a:cs typeface="+mn-cs"/>
              </a:rPr>
              <a:t>规模</a:t>
            </a:r>
          </a:p>
        </p:txBody>
      </p:sp>
      <p:sp>
        <p:nvSpPr>
          <p:cNvPr id="15" name="文本框 14"/>
          <p:cNvSpPr txBox="1"/>
          <p:nvPr/>
        </p:nvSpPr>
        <p:spPr>
          <a:xfrm>
            <a:off x="5190523" y="3656562"/>
            <a:ext cx="178762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字魂59号-创粗黑" panose="00000500000000000000" charset="-122"/>
                <a:ea typeface="字魂59号-创粗黑" panose="00000500000000000000" charset="-122"/>
                <a:cs typeface="+mn-cs"/>
              </a:rPr>
              <a:t>连接</a:t>
            </a:r>
          </a:p>
        </p:txBody>
      </p:sp>
      <p:sp>
        <p:nvSpPr>
          <p:cNvPr id="17" name="文本框 16"/>
          <p:cNvSpPr txBox="1"/>
          <p:nvPr/>
        </p:nvSpPr>
        <p:spPr>
          <a:xfrm>
            <a:off x="8697154" y="3586487"/>
            <a:ext cx="178762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字魂59号-创粗黑" panose="00000500000000000000" charset="-122"/>
                <a:ea typeface="字魂59号-创粗黑" panose="00000500000000000000" charset="-122"/>
                <a:cs typeface="+mn-cs"/>
              </a:rPr>
              <a:t>速度</a:t>
            </a:r>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1+#ppt_w/2"/>
                                          </p:val>
                                        </p:tav>
                                        <p:tav tm="100000">
                                          <p:val>
                                            <p:strVal val="#ppt_x"/>
                                          </p:val>
                                        </p:tav>
                                      </p:tavLst>
                                    </p:anim>
                                    <p:anim calcmode="lin" valueType="num">
                                      <p:cBhvr additive="base">
                                        <p:cTn id="3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1+#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13" grpId="0"/>
      <p:bldP spid="15" grpId="0"/>
      <p:bldP spid="1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 y="0"/>
            <a:ext cx="12192000" cy="6858000"/>
          </a:xfrm>
          <a:prstGeom prst="rect">
            <a:avLst/>
          </a:prstGeom>
        </p:spPr>
      </p:pic>
      <p:sp>
        <p:nvSpPr>
          <p:cNvPr id="10" name="文本框 9"/>
          <p:cNvSpPr txBox="1"/>
          <p:nvPr/>
        </p:nvSpPr>
        <p:spPr>
          <a:xfrm>
            <a:off x="5191105" y="398088"/>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前世今生</a:t>
            </a:r>
          </a:p>
        </p:txBody>
      </p:sp>
      <p:sp>
        <p:nvSpPr>
          <p:cNvPr id="8" name="Freeform 103"/>
          <p:cNvSpPr>
            <a:spLocks noEditPoints="1"/>
          </p:cNvSpPr>
          <p:nvPr/>
        </p:nvSpPr>
        <p:spPr bwMode="auto">
          <a:xfrm>
            <a:off x="9018492" y="2025275"/>
            <a:ext cx="1190157" cy="1755354"/>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blipFill>
            <a:blip r:embed="rId4"/>
            <a:stretch>
              <a:fillRect/>
            </a:stretch>
          </a:blipFill>
          <a:ln w="9525">
            <a:noFill/>
            <a:round/>
          </a:ln>
        </p:spPr>
        <p:txBody>
          <a:bodyPr vert="horz" wrap="square" lIns="121917" tIns="60958" rIns="121917" bIns="6095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lumMod val="85000"/>
                </a:prstClr>
              </a:solidFill>
              <a:effectLst/>
              <a:uLnTx/>
              <a:uFillTx/>
              <a:latin typeface="+mn-lt"/>
              <a:ea typeface="+mn-ea"/>
              <a:cs typeface="+mn-cs"/>
            </a:endParaRPr>
          </a:p>
        </p:txBody>
      </p:sp>
      <p:sp>
        <p:nvSpPr>
          <p:cNvPr id="9" name="TextBox 57"/>
          <p:cNvSpPr>
            <a:spLocks noChangeArrowheads="1"/>
          </p:cNvSpPr>
          <p:nvPr/>
        </p:nvSpPr>
        <p:spPr bwMode="auto">
          <a:xfrm>
            <a:off x="1167719" y="4749410"/>
            <a:ext cx="2821418" cy="238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914400" rtl="0" eaLnBrk="1" fontAlgn="auto" latinLnBrk="0" hangingPunct="1">
              <a:lnSpc>
                <a:spcPts val="1865"/>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85000"/>
                  </a:prstClr>
                </a:solidFill>
                <a:effectLst/>
                <a:uLnTx/>
                <a:uFillTx/>
                <a:latin typeface="字魂59号-创粗黑" panose="00000500000000000000" charset="-122"/>
                <a:ea typeface="字魂59号-创粗黑" panose="00000500000000000000" charset="-122"/>
                <a:cs typeface="字魂59号-创粗黑" panose="00000500000000000000" charset="-122"/>
              </a:rPr>
              <a:t>     </a:t>
            </a:r>
            <a:r>
              <a:rPr kumimoji="0" lang="en-US" altLang="zh-CN" sz="1400" b="0" i="0" u="none" strike="noStrike" kern="1200" cap="none" spc="0" normalizeH="0" baseline="0" noProof="0" dirty="0">
                <a:ln>
                  <a:noFill/>
                </a:ln>
                <a:solidFill>
                  <a:prstClr val="white">
                    <a:lumMod val="85000"/>
                  </a:prstClr>
                </a:solidFill>
                <a:effectLst/>
                <a:uLnTx/>
                <a:uFillTx/>
                <a:latin typeface="字魂59号-创粗黑" panose="00000500000000000000" charset="-122"/>
                <a:ea typeface="字魂59号-创粗黑" panose="00000500000000000000" charset="-122"/>
                <a:cs typeface="字魂59号-创粗黑" panose="00000500000000000000" charset="-122"/>
              </a:rPr>
              <a:t>2000</a:t>
            </a:r>
            <a:r>
              <a:rPr kumimoji="0" lang="zh-CN" altLang="en-US" sz="1400" b="0" i="0" u="none" strike="noStrike" kern="1200" cap="none" spc="0" normalizeH="0" baseline="0" noProof="0" dirty="0">
                <a:ln>
                  <a:noFill/>
                </a:ln>
                <a:solidFill>
                  <a:prstClr val="white">
                    <a:lumMod val="85000"/>
                  </a:prstClr>
                </a:solidFill>
                <a:effectLst/>
                <a:uLnTx/>
                <a:uFillTx/>
                <a:latin typeface="字魂59号-创粗黑" panose="00000500000000000000" charset="-122"/>
                <a:ea typeface="字魂59号-创粗黑" panose="00000500000000000000" charset="-122"/>
                <a:cs typeface="字魂59号-创粗黑" panose="00000500000000000000" charset="-122"/>
              </a:rPr>
              <a:t>年的阿里巴巴</a:t>
            </a:r>
            <a:r>
              <a:rPr kumimoji="0" lang="en-US" altLang="zh-CN" sz="1400" b="0" i="0" u="none" strike="noStrike" kern="1200" cap="none" spc="0" normalizeH="0" baseline="0" noProof="0" dirty="0">
                <a:ln>
                  <a:noFill/>
                </a:ln>
                <a:solidFill>
                  <a:prstClr val="white">
                    <a:lumMod val="85000"/>
                  </a:prstClr>
                </a:solidFill>
                <a:effectLst/>
                <a:uLnTx/>
                <a:uFillTx/>
                <a:latin typeface="字魂59号-创粗黑" panose="00000500000000000000" charset="-122"/>
                <a:ea typeface="字魂59号-创粗黑" panose="00000500000000000000" charset="-122"/>
                <a:cs typeface="字魂59号-创粗黑" panose="00000500000000000000" charset="-122"/>
              </a:rPr>
              <a:t>B2B</a:t>
            </a:r>
            <a:endParaRPr kumimoji="0" lang="en-US" altLang="zh-CN" sz="1400" b="0" i="0" u="none" strike="noStrike" kern="1200" cap="none" spc="0" normalizeH="0" baseline="0" noProof="0" dirty="0">
              <a:ln>
                <a:noFill/>
              </a:ln>
              <a:solidFill>
                <a:prstClr val="white">
                  <a:lumMod val="85000"/>
                </a:prstClr>
              </a:solidFill>
              <a:effectLst/>
              <a:uLnTx/>
              <a:uFillTx/>
              <a:latin typeface="字魂59号-创粗黑" panose="00000500000000000000" charset="-122"/>
              <a:ea typeface="字魂59号-创粗黑" panose="00000500000000000000" charset="-122"/>
              <a:cs typeface="字魂59号-创粗黑" panose="00000500000000000000" charset="-122"/>
              <a:sym typeface="微软雅黑" panose="020B0503020204020204" charset="-122"/>
            </a:endParaRPr>
          </a:p>
        </p:txBody>
      </p:sp>
      <p:sp>
        <p:nvSpPr>
          <p:cNvPr id="11" name="TextBox 57"/>
          <p:cNvSpPr>
            <a:spLocks noChangeArrowheads="1"/>
          </p:cNvSpPr>
          <p:nvPr/>
        </p:nvSpPr>
        <p:spPr bwMode="auto">
          <a:xfrm>
            <a:off x="4685290" y="4729594"/>
            <a:ext cx="2821418" cy="238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rtl="0" eaLnBrk="1" fontAlgn="auto" latinLnBrk="0" hangingPunct="1">
              <a:lnSpc>
                <a:spcPts val="1865"/>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85000"/>
                  </a:prstClr>
                </a:solidFill>
                <a:effectLst/>
                <a:uLnTx/>
                <a:uFillTx/>
                <a:latin typeface="字魂59号-创粗黑" panose="00000500000000000000" charset="-122"/>
                <a:ea typeface="字魂59号-创粗黑" panose="00000500000000000000" charset="-122"/>
                <a:cs typeface="字魂59号-创粗黑" panose="00000500000000000000" charset="-122"/>
              </a:rPr>
              <a:t>  曾经的滴滴客户端界面</a:t>
            </a:r>
            <a:endParaRPr kumimoji="0" lang="zh-CN" altLang="en-US" sz="1400" b="0" i="0" u="none" strike="noStrike" kern="1200" cap="none" spc="0" normalizeH="0" baseline="0" noProof="0" dirty="0">
              <a:ln>
                <a:noFill/>
              </a:ln>
              <a:solidFill>
                <a:prstClr val="white">
                  <a:lumMod val="85000"/>
                </a:prstClr>
              </a:solidFill>
              <a:effectLst/>
              <a:uLnTx/>
              <a:uFillTx/>
              <a:latin typeface="字魂59号-创粗黑" panose="00000500000000000000" charset="-122"/>
              <a:ea typeface="字魂59号-创粗黑" panose="00000500000000000000" charset="-122"/>
              <a:cs typeface="字魂59号-创粗黑" panose="00000500000000000000" charset="-122"/>
              <a:sym typeface="微软雅黑" panose="020B0503020204020204" charset="-122"/>
            </a:endParaRPr>
          </a:p>
        </p:txBody>
      </p:sp>
      <p:sp>
        <p:nvSpPr>
          <p:cNvPr id="13" name="文本框 12"/>
          <p:cNvSpPr txBox="1"/>
          <p:nvPr/>
        </p:nvSpPr>
        <p:spPr>
          <a:xfrm>
            <a:off x="1267927" y="4130113"/>
            <a:ext cx="26212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渠道、媒体与工具</a:t>
            </a:r>
          </a:p>
        </p:txBody>
      </p:sp>
      <p:sp>
        <p:nvSpPr>
          <p:cNvPr id="14" name="文本框 13"/>
          <p:cNvSpPr txBox="1"/>
          <p:nvPr/>
        </p:nvSpPr>
        <p:spPr>
          <a:xfrm>
            <a:off x="4480698" y="4130180"/>
            <a:ext cx="32308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业务融合，改造与重构</a:t>
            </a:r>
          </a:p>
        </p:txBody>
      </p:sp>
      <p:sp>
        <p:nvSpPr>
          <p:cNvPr id="15" name="文本框 14"/>
          <p:cNvSpPr txBox="1"/>
          <p:nvPr/>
        </p:nvSpPr>
        <p:spPr>
          <a:xfrm>
            <a:off x="8607234" y="4130113"/>
            <a:ext cx="20116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rPr>
              <a:t>思维方式融合</a:t>
            </a:r>
          </a:p>
        </p:txBody>
      </p:sp>
      <p:pic>
        <p:nvPicPr>
          <p:cNvPr id="2" name="图片 1"/>
          <p:cNvPicPr>
            <a:picLocks noChangeAspect="1"/>
          </p:cNvPicPr>
          <p:nvPr/>
        </p:nvPicPr>
        <p:blipFill>
          <a:blip r:embed="rId5"/>
          <a:stretch>
            <a:fillRect/>
          </a:stretch>
        </p:blipFill>
        <p:spPr>
          <a:xfrm>
            <a:off x="1181100" y="917575"/>
            <a:ext cx="2795905" cy="3211195"/>
          </a:xfrm>
          <a:prstGeom prst="rect">
            <a:avLst/>
          </a:prstGeom>
        </p:spPr>
      </p:pic>
      <p:pic>
        <p:nvPicPr>
          <p:cNvPr id="3" name="图片 2"/>
          <p:cNvPicPr>
            <a:picLocks noChangeAspect="1"/>
          </p:cNvPicPr>
          <p:nvPr/>
        </p:nvPicPr>
        <p:blipFill>
          <a:blip r:embed="rId6"/>
          <a:stretch>
            <a:fillRect/>
          </a:stretch>
        </p:blipFill>
        <p:spPr>
          <a:xfrm>
            <a:off x="4876165" y="917575"/>
            <a:ext cx="2438400" cy="32111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99226" y="447473"/>
            <a:ext cx="9948185" cy="5343728"/>
          </a:xfrm>
        </p:spPr>
        <p:txBody>
          <a:bodyPr>
            <a:normAutofit/>
          </a:bodyPr>
          <a:lstStyle/>
          <a:p>
            <a:pPr marL="0" indent="0">
              <a:buNone/>
            </a:pPr>
            <a:r>
              <a:rPr lang="en-US" altLang="zh-CN" sz="8000" dirty="0"/>
              <a:t>          </a:t>
            </a:r>
            <a:r>
              <a:rPr lang="en-US" altLang="zh-CN" sz="8800" dirty="0"/>
              <a:t>THANKS</a:t>
            </a:r>
          </a:p>
          <a:p>
            <a:pPr marL="0" indent="0">
              <a:buNone/>
            </a:pPr>
            <a:r>
              <a:rPr lang="en-US" altLang="zh-CN" sz="8800" dirty="0"/>
              <a:t>           Q&amp;A</a:t>
            </a:r>
            <a:endParaRPr lang="zh-CN" altLang="en-US" sz="8800" dirty="0"/>
          </a:p>
        </p:txBody>
      </p:sp>
      <p:sp>
        <p:nvSpPr>
          <p:cNvPr id="2" name="灯片编号占位符 1"/>
          <p:cNvSpPr>
            <a:spLocks noGrp="1"/>
          </p:cNvSpPr>
          <p:nvPr>
            <p:ph type="sldNum" sz="quarter" idx="12"/>
          </p:nvPr>
        </p:nvSpPr>
        <p:spPr/>
        <p:txBody>
          <a:bodyPr/>
          <a:lstStyle/>
          <a:p>
            <a:fld id="{BA2602C4-676A-4DC9-83FD-3F245FA472CF}" type="slidenum">
              <a:rPr lang="zh-CN" altLang="en-US" smtClean="0"/>
              <a:t>58</a:t>
            </a:fld>
            <a:endParaRPr lang="zh-CN" alt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网状">
  <a:themeElements>
    <a:clrScheme name="网状">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网状">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网状">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TM03457485[[fn=网状]]</Template>
  <TotalTime>6148</TotalTime>
  <Words>6849</Words>
  <Application>Microsoft Office PowerPoint</Application>
  <PresentationFormat>宽屏</PresentationFormat>
  <Paragraphs>359</Paragraphs>
  <Slides>58</Slides>
  <Notes>19</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58</vt:i4>
      </vt:variant>
    </vt:vector>
  </HeadingPairs>
  <TitlesOfParts>
    <vt:vector size="68" baseType="lpstr">
      <vt:lpstr>Century Gothic</vt:lpstr>
      <vt:lpstr>等线</vt:lpstr>
      <vt:lpstr>等线 Light</vt:lpstr>
      <vt:lpstr>宋体</vt:lpstr>
      <vt:lpstr>微软雅黑</vt:lpstr>
      <vt:lpstr>字魂58号-创中黑</vt:lpstr>
      <vt:lpstr>字魂59号-创粗黑</vt:lpstr>
      <vt:lpstr>Arial</vt:lpstr>
      <vt:lpstr>网状</vt:lpstr>
      <vt:lpstr>Office 主题​​</vt:lpstr>
      <vt:lpstr>工业4.0时代和软件</vt:lpstr>
      <vt:lpstr>PowerPoint 演示文稿</vt:lpstr>
      <vt:lpstr>PowerPoint 演示文稿</vt:lpstr>
      <vt:lpstr>一.历届工业革命回顾</vt:lpstr>
      <vt:lpstr>1.第一次工业革命</vt:lpstr>
      <vt:lpstr>2.第二次工业革命</vt:lpstr>
      <vt:lpstr>3.第三次工业革命</vt:lpstr>
      <vt:lpstr>PowerPoint 演示文稿</vt:lpstr>
      <vt:lpstr>      二.工业4.0内涵解读</vt:lpstr>
      <vt:lpstr>1.工业4.0的含义</vt:lpstr>
      <vt:lpstr>2.工业4.0的来源</vt:lpstr>
      <vt:lpstr>3.工业4.0的本质特征</vt:lpstr>
      <vt:lpstr>互联</vt:lpstr>
      <vt:lpstr>集成</vt:lpstr>
      <vt:lpstr>数据</vt:lpstr>
      <vt:lpstr>创新</vt:lpstr>
      <vt:lpstr>转型</vt:lpstr>
      <vt:lpstr>PowerPoint 演示文稿</vt:lpstr>
      <vt:lpstr>三.德国工业4.0和中国工业4.0</vt:lpstr>
      <vt:lpstr>三.德国工业4.0和中国工业4.0</vt:lpstr>
      <vt:lpstr>主要内容</vt:lpstr>
      <vt:lpstr>战略目的</vt:lpstr>
      <vt:lpstr>启示指导</vt:lpstr>
      <vt:lpstr>三.德国工业4.0和中国工业4.0</vt:lpstr>
      <vt:lpstr>2.中国工业4.0蓝图规划 </vt:lpstr>
      <vt:lpstr>两化深度融合战略 </vt:lpstr>
      <vt:lpstr>中国怎样执行工业4.0 </vt:lpstr>
      <vt:lpstr>《中国制造2025》 </vt:lpstr>
      <vt:lpstr>《中国制造2025》 </vt:lpstr>
      <vt:lpstr>PowerPoint 演示文稿</vt:lpstr>
      <vt:lpstr>四.工业4.0和软件</vt:lpstr>
      <vt:lpstr>四.工业4.0和软件</vt:lpstr>
      <vt:lpstr>1.软件支撑生产过程</vt:lpstr>
      <vt:lpstr>软件对产品设计的作用</vt:lpstr>
      <vt:lpstr>软件对生产规划的作用 </vt:lpstr>
      <vt:lpstr>软件对生产工程的作用 </vt:lpstr>
      <vt:lpstr>软件对生产实施的作用</vt:lpstr>
      <vt:lpstr>软件对生产服务的作用</vt:lpstr>
      <vt:lpstr>四.工业4.0和软件</vt:lpstr>
      <vt:lpstr>2.制造业的智能化离不开软件</vt:lpstr>
      <vt:lpstr>智能制造 </vt:lpstr>
      <vt:lpstr>智能工厂 </vt:lpstr>
      <vt:lpstr>智能物流 </vt:lpstr>
      <vt:lpstr>智能服务 </vt:lpstr>
      <vt:lpstr>四.工业4.0和软件</vt:lpstr>
      <vt:lpstr>3.软件质量</vt:lpstr>
      <vt:lpstr>软件质量的挑战</vt:lpstr>
      <vt:lpstr>解决问题 </vt:lpstr>
      <vt:lpstr>解决问题 </vt:lpstr>
      <vt:lpstr>软件质量保障的重要性 </vt:lpstr>
      <vt:lpstr>总结</vt:lpstr>
      <vt:lpstr>参考文献</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工业4.0与软件质量保障</dc:title>
  <dc:creator>吴紫航</dc:creator>
  <cp:lastModifiedBy>nie</cp:lastModifiedBy>
  <cp:revision>83</cp:revision>
  <dcterms:created xsi:type="dcterms:W3CDTF">2019-10-11T07:36:00Z</dcterms:created>
  <dcterms:modified xsi:type="dcterms:W3CDTF">2021-11-07T07:17:04Z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6549829739D14218AE747404E40FF253</vt:lpwstr>
  </property>
</Properties>
</file>