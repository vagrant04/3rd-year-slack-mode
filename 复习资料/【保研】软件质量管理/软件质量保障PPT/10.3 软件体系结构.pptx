
<file path=[Content_Types].xml><?xml version="1.0" encoding="utf-8"?>
<Types xmlns="http://schemas.openxmlformats.org/package/2006/content-types">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45"/>
  </p:notesMasterIdLst>
  <p:sldIdLst>
    <p:sldId id="256" r:id="rId3"/>
    <p:sldId id="387" r:id="rId4"/>
    <p:sldId id="264" r:id="rId5"/>
    <p:sldId id="405" r:id="rId6"/>
    <p:sldId id="389" r:id="rId7"/>
    <p:sldId id="390" r:id="rId8"/>
    <p:sldId id="330" r:id="rId9"/>
    <p:sldId id="391" r:id="rId10"/>
    <p:sldId id="392" r:id="rId11"/>
    <p:sldId id="331" r:id="rId12"/>
    <p:sldId id="393" r:id="rId13"/>
    <p:sldId id="409" r:id="rId14"/>
    <p:sldId id="394" r:id="rId15"/>
    <p:sldId id="395" r:id="rId16"/>
    <p:sldId id="410" r:id="rId17"/>
    <p:sldId id="396" r:id="rId18"/>
    <p:sldId id="397" r:id="rId19"/>
    <p:sldId id="398" r:id="rId20"/>
    <p:sldId id="399" r:id="rId21"/>
    <p:sldId id="411" r:id="rId22"/>
    <p:sldId id="412" r:id="rId23"/>
    <p:sldId id="400" r:id="rId24"/>
    <p:sldId id="401" r:id="rId25"/>
    <p:sldId id="414" r:id="rId26"/>
    <p:sldId id="413" r:id="rId27"/>
    <p:sldId id="415" r:id="rId28"/>
    <p:sldId id="402" r:id="rId29"/>
    <p:sldId id="416" r:id="rId30"/>
    <p:sldId id="417" r:id="rId31"/>
    <p:sldId id="418" r:id="rId32"/>
    <p:sldId id="419" r:id="rId33"/>
    <p:sldId id="420" r:id="rId34"/>
    <p:sldId id="421" r:id="rId35"/>
    <p:sldId id="422" r:id="rId36"/>
    <p:sldId id="423" r:id="rId37"/>
    <p:sldId id="424" r:id="rId38"/>
    <p:sldId id="425" r:id="rId39"/>
    <p:sldId id="426" r:id="rId40"/>
    <p:sldId id="427" r:id="rId41"/>
    <p:sldId id="428" r:id="rId42"/>
    <p:sldId id="429" r:id="rId43"/>
    <p:sldId id="430" r:id="rId44"/>
  </p:sldIdLst>
  <p:sldSz cx="9144000" cy="6858000" type="screen4x3"/>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731" autoAdjust="0"/>
  </p:normalViewPr>
  <p:slideViewPr>
    <p:cSldViewPr>
      <p:cViewPr varScale="1">
        <p:scale>
          <a:sx n="74" d="100"/>
          <a:sy n="74" d="100"/>
        </p:scale>
        <p:origin x="39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870A273D-4C0D-4DDF-90EC-BE66C8948A59}" type="datetimeFigureOut">
              <a:rPr lang="zh-CN" altLang="en-US" smtClean="0"/>
              <a:pPr/>
              <a:t>2020/7/1</a:t>
            </a:fld>
            <a:endParaRPr lang="zh-CN" altLang="en-US"/>
          </a:p>
        </p:txBody>
      </p:sp>
      <p:sp>
        <p:nvSpPr>
          <p:cNvPr id="4" name="幻灯片图像占位符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zh-CN" altLang="en-US"/>
          </a:p>
        </p:txBody>
      </p:sp>
      <p:sp>
        <p:nvSpPr>
          <p:cNvPr id="5" name="备注占位符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69E00A42-7A44-4111-AA80-84217C17314B}" type="slidenum">
              <a:rPr lang="zh-CN" altLang="en-US" smtClean="0"/>
              <a:pPr/>
              <a:t>‹#›</a:t>
            </a:fld>
            <a:endParaRPr lang="zh-CN" altLang="en-US"/>
          </a:p>
        </p:txBody>
      </p:sp>
    </p:spTree>
    <p:extLst>
      <p:ext uri="{BB962C8B-B14F-4D97-AF65-F5344CB8AC3E}">
        <p14:creationId xmlns:p14="http://schemas.microsoft.com/office/powerpoint/2010/main" val="718455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71B3D8-D2AA-4439-A648-3F0B185F89E4}" type="slidenum">
              <a:rPr kumimoji="0" lang="en-US" altLang="zh-CN"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altLang="zh-CN"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endParaRPr>
          </a:p>
        </p:txBody>
      </p:sp>
      <p:sp>
        <p:nvSpPr>
          <p:cNvPr id="77827" name="Rectangle 2"/>
          <p:cNvSpPr>
            <a:spLocks noGrp="1" noRot="1" noChangeAspect="1" noChangeArrowheads="1" noTextEdit="1"/>
          </p:cNvSpPr>
          <p:nvPr>
            <p:ph type="sldImg"/>
          </p:nvPr>
        </p:nvSpPr>
        <p:spPr>
          <a:xfrm>
            <a:off x="1143000" y="685800"/>
            <a:ext cx="4572000" cy="3429000"/>
          </a:xfrm>
        </p:spPr>
      </p:sp>
      <p:sp>
        <p:nvSpPr>
          <p:cNvPr id="77828" name="Rectangle 3"/>
          <p:cNvSpPr>
            <a:spLocks noGrp="1" noChangeArrowheads="1"/>
          </p:cNvSpPr>
          <p:nvPr>
            <p:ph type="body" idx="1"/>
          </p:nvPr>
        </p:nvSpPr>
        <p:spPr>
          <a:noFill/>
        </p:spPr>
        <p:txBody>
          <a:bodyPr/>
          <a:lstStyle/>
          <a:p>
            <a:pPr eaLnBrk="1" hangingPunct="1"/>
            <a:endParaRPr lang="zh-CN" altLang="zh-CN" dirty="0" smtClean="0"/>
          </a:p>
        </p:txBody>
      </p:sp>
    </p:spTree>
    <p:extLst>
      <p:ext uri="{BB962C8B-B14F-4D97-AF65-F5344CB8AC3E}">
        <p14:creationId xmlns:p14="http://schemas.microsoft.com/office/powerpoint/2010/main" val="1373302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4" name="标题 13"/>
          <p:cNvSpPr>
            <a:spLocks noGrp="1"/>
          </p:cNvSpPr>
          <p:nvPr>
            <p:ph type="ctrTitle"/>
          </p:nvPr>
        </p:nvSpPr>
        <p:spPr>
          <a:xfrm>
            <a:off x="1432560" y="359898"/>
            <a:ext cx="7406640" cy="1472184"/>
          </a:xfrm>
        </p:spPr>
        <p:txBody>
          <a:bodyPr anchor="b"/>
          <a:lstStyle>
            <a:lvl1pPr algn="l">
              <a:defRPr/>
            </a:lvl1pPr>
            <a:extLst/>
          </a:lstStyle>
          <a:p>
            <a:r>
              <a:rPr kumimoji="0" lang="zh-CN" altLang="en-US" smtClean="0"/>
              <a:t>单击此处编辑母版标题样式</a:t>
            </a:r>
            <a:endParaRPr kumimoji="0" lang="en-US"/>
          </a:p>
        </p:txBody>
      </p:sp>
      <p:sp>
        <p:nvSpPr>
          <p:cNvPr id="22" name="副标题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smtClean="0"/>
              <a:t>单击此处编辑母版副标题样式</a:t>
            </a:r>
            <a:endParaRPr kumimoji="0" lang="en-US"/>
          </a:p>
        </p:txBody>
      </p:sp>
      <p:sp>
        <p:nvSpPr>
          <p:cNvPr id="7" name="日期占位符 6"/>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20" name="页脚占位符 19"/>
          <p:cNvSpPr>
            <a:spLocks noGrp="1"/>
          </p:cNvSpPr>
          <p:nvPr>
            <p:ph type="ftr" sz="quarter" idx="11"/>
          </p:nvPr>
        </p:nvSpPr>
        <p:spPr/>
        <p:txBody>
          <a:bodyPr/>
          <a:lstStyle/>
          <a:p>
            <a:endParaRPr lang="zh-CN" altLang="en-US"/>
          </a:p>
        </p:txBody>
      </p:sp>
      <p:sp>
        <p:nvSpPr>
          <p:cNvPr id="10" name="灯片编号占位符 9"/>
          <p:cNvSpPr>
            <a:spLocks noGrp="1"/>
          </p:cNvSpPr>
          <p:nvPr>
            <p:ph type="sldNum" sz="quarter" idx="12"/>
          </p:nvPr>
        </p:nvSpPr>
        <p:spPr/>
        <p:txBody>
          <a:bodyPr/>
          <a:lstStyle/>
          <a:p>
            <a:fld id="{EDB77EC5-A363-41E1-A5EE-F0909CD30F99}" type="slidenum">
              <a:rPr lang="zh-CN" altLang="en-US" smtClean="0"/>
              <a:pPr/>
              <a:t>‹#›</a:t>
            </a:fld>
            <a:endParaRPr lang="zh-CN" altLang="en-US"/>
          </a:p>
        </p:txBody>
      </p:sp>
      <p:sp>
        <p:nvSpPr>
          <p:cNvPr id="8" name="椭圆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椭圆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DB77EC5-A363-41E1-A5EE-F0909CD30F9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矩形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CN" altLang="en-US" smtClean="0"/>
              <a:t>单击此处编辑母版文本样式</a:t>
            </a:r>
          </a:p>
        </p:txBody>
      </p:sp>
      <p:sp>
        <p:nvSpPr>
          <p:cNvPr id="4" name="日期占位符 3"/>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DB77EC5-A363-41E1-A5EE-F0909CD30F99}" type="slidenum">
              <a:rPr lang="zh-CN" altLang="en-US" smtClean="0"/>
              <a:pPr/>
              <a:t>‹#›</a:t>
            </a:fld>
            <a:endParaRPr lang="zh-CN" altLang="en-US"/>
          </a:p>
        </p:txBody>
      </p:sp>
      <p:sp>
        <p:nvSpPr>
          <p:cNvPr id="10" name="矩形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椭圆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椭圆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435608" y="274320"/>
            <a:ext cx="7498080" cy="1143000"/>
          </a:xfrm>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DB77EC5-A363-41E1-A5EE-F0909CD30F9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DB77EC5-A363-41E1-A5EE-F0909CD30F9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435608" y="274320"/>
            <a:ext cx="7498080" cy="1143000"/>
          </a:xfrm>
        </p:spPr>
        <p:txBody>
          <a:bodyPr anchor="ct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DB77EC5-A363-41E1-A5EE-F0909CD30F9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矩形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日期占位符 1"/>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DB77EC5-A363-41E1-A5EE-F0909CD30F99}" type="slidenum">
              <a:rPr lang="zh-CN" altLang="en-US" smtClean="0"/>
              <a:pPr/>
              <a:t>‹#›</a:t>
            </a:fld>
            <a:endParaRPr lang="zh-CN" altLang="en-US"/>
          </a:p>
        </p:txBody>
      </p:sp>
      <p:sp>
        <p:nvSpPr>
          <p:cNvPr id="6" name="矩形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DB77EC5-A363-41E1-A5EE-F0909CD30F9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zh-CN" altLang="en-US" smtClean="0"/>
              <a:t>单击此处编辑母版标题样式</a:t>
            </a:r>
            <a:endParaRPr kumimoji="0" lang="en-US"/>
          </a:p>
        </p:txBody>
      </p:sp>
      <p:sp>
        <p:nvSpPr>
          <p:cNvPr id="5" name="日期占位符 4"/>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DB77EC5-A363-41E1-A5EE-F0909CD30F99}" type="slidenum">
              <a:rPr lang="zh-CN" altLang="en-US" smtClean="0"/>
              <a:pPr/>
              <a:t>‹#›</a:t>
            </a:fld>
            <a:endParaRPr lang="zh-CN" altLang="en-US"/>
          </a:p>
        </p:txBody>
      </p:sp>
      <p:sp>
        <p:nvSpPr>
          <p:cNvPr id="8" name="矩形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图片占位符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zh-CN" altLang="en-US" smtClean="0"/>
              <a:t>单击图标添加图片</a:t>
            </a:r>
            <a:endParaRPr kumimoji="0" lang="en-US" dirty="0"/>
          </a:p>
        </p:txBody>
      </p:sp>
      <p:sp>
        <p:nvSpPr>
          <p:cNvPr id="9" name="流程图: 过程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流程图: 过程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文本占位符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zh-CN" altLang="en-US"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DB77EC5-A363-41E1-A5EE-F0909CD30F9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274639"/>
            <a:ext cx="1828800"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1143000" y="274640"/>
            <a:ext cx="556260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DB77EC5-A363-41E1-A5EE-F0909CD30F99}"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33400" y="152400"/>
            <a:ext cx="7620000" cy="7302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81000" y="1143000"/>
            <a:ext cx="4191000" cy="51816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24400" y="1143000"/>
            <a:ext cx="4191000" cy="51816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4" name="标题 13"/>
          <p:cNvSpPr>
            <a:spLocks noGrp="1"/>
          </p:cNvSpPr>
          <p:nvPr>
            <p:ph type="ctrTitle"/>
          </p:nvPr>
        </p:nvSpPr>
        <p:spPr>
          <a:xfrm>
            <a:off x="1432560" y="359898"/>
            <a:ext cx="7406640" cy="1472184"/>
          </a:xfrm>
        </p:spPr>
        <p:txBody>
          <a:bodyPr anchor="b"/>
          <a:lstStyle>
            <a:lvl1pPr algn="l">
              <a:defRPr/>
            </a:lvl1pPr>
          </a:lstStyle>
          <a:p>
            <a:r>
              <a:rPr kumimoji="0" lang="zh-CN" altLang="en-US" smtClean="0"/>
              <a:t>单击此处编辑母版标题样式</a:t>
            </a:r>
            <a:endParaRPr kumimoji="0" lang="en-US"/>
          </a:p>
        </p:txBody>
      </p:sp>
      <p:sp>
        <p:nvSpPr>
          <p:cNvPr id="22" name="副标题 21"/>
          <p:cNvSpPr>
            <a:spLocks noGrp="1"/>
          </p:cNvSpPr>
          <p:nvPr>
            <p:ph type="subTitle" idx="1"/>
          </p:nvPr>
        </p:nvSpPr>
        <p:spPr>
          <a:xfrm>
            <a:off x="1432560" y="1850064"/>
            <a:ext cx="740664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7" name="日期占位符 6"/>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20" name="页脚占位符 19"/>
          <p:cNvSpPr>
            <a:spLocks noGrp="1"/>
          </p:cNvSpPr>
          <p:nvPr>
            <p:ph type="ftr" sz="quarter" idx="11"/>
          </p:nvPr>
        </p:nvSpPr>
        <p:spPr/>
        <p:txBody>
          <a:bodyPr/>
          <a:lstStyle/>
          <a:p>
            <a:endParaRPr lang="zh-CN" altLang="en-US"/>
          </a:p>
        </p:txBody>
      </p:sp>
      <p:sp>
        <p:nvSpPr>
          <p:cNvPr id="10" name="灯片编号占位符 9"/>
          <p:cNvSpPr>
            <a:spLocks noGrp="1"/>
          </p:cNvSpPr>
          <p:nvPr>
            <p:ph type="sldNum" sz="quarter" idx="12"/>
          </p:nvPr>
        </p:nvSpPr>
        <p:spPr/>
        <p:txBody>
          <a:bodyPr/>
          <a:lstStyle/>
          <a:p>
            <a:fld id="{EDB77EC5-A363-41E1-A5EE-F0909CD30F99}" type="slidenum">
              <a:rPr lang="zh-CN" altLang="en-US" smtClean="0"/>
              <a:pPr/>
              <a:t>‹#›</a:t>
            </a:fld>
            <a:endParaRPr lang="zh-CN" altLang="en-US"/>
          </a:p>
        </p:txBody>
      </p:sp>
      <p:sp>
        <p:nvSpPr>
          <p:cNvPr id="8" name="椭圆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椭圆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35515830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DB77EC5-A363-41E1-A5EE-F0909CD30F99}" type="slidenum">
              <a:rPr lang="zh-CN" altLang="en-US" smtClean="0"/>
              <a:pPr/>
              <a:t>‹#›</a:t>
            </a:fld>
            <a:endParaRPr lang="zh-CN" altLang="en-US"/>
          </a:p>
        </p:txBody>
      </p:sp>
    </p:spTree>
    <p:extLst>
      <p:ext uri="{BB962C8B-B14F-4D97-AF65-F5344CB8AC3E}">
        <p14:creationId xmlns:p14="http://schemas.microsoft.com/office/powerpoint/2010/main" val="2100207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矩形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2578392" y="2600325"/>
            <a:ext cx="6400800" cy="2286000"/>
          </a:xfrm>
        </p:spPr>
        <p:txBody>
          <a:bodyPr anchor="t"/>
          <a:lstStyle>
            <a:lvl1pPr algn="l">
              <a:lnSpc>
                <a:spcPts val="4500"/>
              </a:lnSpc>
              <a:buNone/>
              <a:defRPr sz="4000" b="1"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2578392" y="1066800"/>
            <a:ext cx="64008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4" name="日期占位符 3"/>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DB77EC5-A363-41E1-A5EE-F0909CD30F99}" type="slidenum">
              <a:rPr lang="zh-CN" altLang="en-US" smtClean="0"/>
              <a:pPr/>
              <a:t>‹#›</a:t>
            </a:fld>
            <a:endParaRPr lang="zh-CN" altLang="en-US"/>
          </a:p>
        </p:txBody>
      </p:sp>
      <p:sp>
        <p:nvSpPr>
          <p:cNvPr id="10" name="矩形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椭圆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椭圆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2891416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435608" y="274320"/>
            <a:ext cx="7498080" cy="1143000"/>
          </a:xfrm>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DB77EC5-A363-41E1-A5EE-F0909CD30F99}" type="slidenum">
              <a:rPr lang="zh-CN" altLang="en-US" smtClean="0"/>
              <a:pPr/>
              <a:t>‹#›</a:t>
            </a:fld>
            <a:endParaRPr lang="zh-CN" altLang="en-US"/>
          </a:p>
        </p:txBody>
      </p:sp>
    </p:spTree>
    <p:extLst>
      <p:ext uri="{BB962C8B-B14F-4D97-AF65-F5344CB8AC3E}">
        <p14:creationId xmlns:p14="http://schemas.microsoft.com/office/powerpoint/2010/main" val="12492089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5160336"/>
            <a:ext cx="8229600" cy="1143000"/>
          </a:xfrm>
        </p:spPr>
        <p:txBody>
          <a:bodyPr anchor="ctr"/>
          <a:lstStyle>
            <a:lvl1pPr algn="ctr">
              <a:defRPr sz="4500" b="1" cap="none" baseline="0"/>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45720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6344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DB77EC5-A363-41E1-A5EE-F0909CD30F99}" type="slidenum">
              <a:rPr lang="zh-CN" altLang="en-US" smtClean="0"/>
              <a:pPr/>
              <a:t>‹#›</a:t>
            </a:fld>
            <a:endParaRPr lang="zh-CN" altLang="en-US"/>
          </a:p>
        </p:txBody>
      </p:sp>
    </p:spTree>
    <p:extLst>
      <p:ext uri="{BB962C8B-B14F-4D97-AF65-F5344CB8AC3E}">
        <p14:creationId xmlns:p14="http://schemas.microsoft.com/office/powerpoint/2010/main" val="38645038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435608" y="274320"/>
            <a:ext cx="7498080" cy="1143000"/>
          </a:xfrm>
        </p:spPr>
        <p:txBody>
          <a:bodyPr anchor="ct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DB77EC5-A363-41E1-A5EE-F0909CD30F99}" type="slidenum">
              <a:rPr lang="zh-CN" altLang="en-US" smtClean="0"/>
              <a:pPr/>
              <a:t>‹#›</a:t>
            </a:fld>
            <a:endParaRPr lang="zh-CN" altLang="en-US"/>
          </a:p>
        </p:txBody>
      </p:sp>
    </p:spTree>
    <p:extLst>
      <p:ext uri="{BB962C8B-B14F-4D97-AF65-F5344CB8AC3E}">
        <p14:creationId xmlns:p14="http://schemas.microsoft.com/office/powerpoint/2010/main" val="325032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矩形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日期占位符 1"/>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DB77EC5-A363-41E1-A5EE-F0909CD30F99}" type="slidenum">
              <a:rPr lang="zh-CN" altLang="en-US" smtClean="0"/>
              <a:pPr/>
              <a:t>‹#›</a:t>
            </a:fld>
            <a:endParaRPr lang="zh-CN" altLang="en-US"/>
          </a:p>
        </p:txBody>
      </p:sp>
      <p:sp>
        <p:nvSpPr>
          <p:cNvPr id="6" name="矩形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4058223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DB77EC5-A363-41E1-A5EE-F0909CD30F99}" type="slidenum">
              <a:rPr lang="zh-CN" altLang="en-US" smtClean="0"/>
              <a:pPr/>
              <a:t>‹#›</a:t>
            </a:fld>
            <a:endParaRPr lang="zh-CN" altLang="en-US"/>
          </a:p>
        </p:txBody>
      </p:sp>
    </p:spTree>
    <p:extLst>
      <p:ext uri="{BB962C8B-B14F-4D97-AF65-F5344CB8AC3E}">
        <p14:creationId xmlns:p14="http://schemas.microsoft.com/office/powerpoint/2010/main" val="11061489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886896" y="1066800"/>
            <a:ext cx="2743200" cy="1981200"/>
          </a:xfrm>
        </p:spPr>
        <p:txBody>
          <a:bodyPr anchor="b">
            <a:noAutofit/>
          </a:bodyPr>
          <a:lstStyle>
            <a:lvl1pPr algn="l">
              <a:buNone/>
              <a:defRPr sz="2100" b="1">
                <a:effectLst/>
              </a:defRPr>
            </a:lvl1pPr>
          </a:lstStyle>
          <a:p>
            <a:r>
              <a:rPr kumimoji="0" lang="zh-CN" altLang="en-US" smtClean="0"/>
              <a:t>单击此处编辑母版标题样式</a:t>
            </a:r>
            <a:endParaRPr kumimoji="0" lang="en-US"/>
          </a:p>
        </p:txBody>
      </p:sp>
      <p:sp>
        <p:nvSpPr>
          <p:cNvPr id="5" name="日期占位符 4"/>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DB77EC5-A363-41E1-A5EE-F0909CD30F99}" type="slidenum">
              <a:rPr lang="zh-CN" altLang="en-US" smtClean="0"/>
              <a:pPr/>
              <a:t>‹#›</a:t>
            </a:fld>
            <a:endParaRPr lang="zh-CN" altLang="en-US"/>
          </a:p>
        </p:txBody>
      </p:sp>
      <p:sp>
        <p:nvSpPr>
          <p:cNvPr id="8" name="矩形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210"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图片占位符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lstStyle>
          <a:p>
            <a:pPr marL="0" algn="l" eaLnBrk="1" latinLnBrk="0" hangingPunct="1"/>
            <a:r>
              <a:rPr kumimoji="0" lang="zh-CN" altLang="en-US" smtClean="0"/>
              <a:t>单击图标添加图片</a:t>
            </a:r>
            <a:endParaRPr kumimoji="0" lang="en-US" dirty="0"/>
          </a:p>
        </p:txBody>
      </p:sp>
      <p:sp>
        <p:nvSpPr>
          <p:cNvPr id="9" name="流程图: 过程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流程图: 过程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文本占位符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Tree>
    <p:extLst>
      <p:ext uri="{BB962C8B-B14F-4D97-AF65-F5344CB8AC3E}">
        <p14:creationId xmlns:p14="http://schemas.microsoft.com/office/powerpoint/2010/main" val="41439310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DB77EC5-A363-41E1-A5EE-F0909CD30F99}" type="slidenum">
              <a:rPr lang="zh-CN" altLang="en-US" smtClean="0"/>
              <a:pPr/>
              <a:t>‹#›</a:t>
            </a:fld>
            <a:endParaRPr lang="zh-CN" altLang="en-US"/>
          </a:p>
        </p:txBody>
      </p:sp>
    </p:spTree>
    <p:extLst>
      <p:ext uri="{BB962C8B-B14F-4D97-AF65-F5344CB8AC3E}">
        <p14:creationId xmlns:p14="http://schemas.microsoft.com/office/powerpoint/2010/main" val="8056971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274639"/>
            <a:ext cx="1828800"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1143000" y="274640"/>
            <a:ext cx="556260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B7647DF0-3395-40B6-9D1F-6B4474601844}" type="datetimeFigureOut">
              <a:rPr lang="zh-CN" altLang="en-US" smtClean="0"/>
              <a:pPr/>
              <a:t>2020/7/1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DB77EC5-A363-41E1-A5EE-F0909CD30F99}" type="slidenum">
              <a:rPr lang="zh-CN" altLang="en-US" smtClean="0"/>
              <a:pPr/>
              <a:t>‹#›</a:t>
            </a:fld>
            <a:endParaRPr lang="zh-CN" altLang="en-US"/>
          </a:p>
        </p:txBody>
      </p:sp>
    </p:spTree>
    <p:extLst>
      <p:ext uri="{BB962C8B-B14F-4D97-AF65-F5344CB8AC3E}">
        <p14:creationId xmlns:p14="http://schemas.microsoft.com/office/powerpoint/2010/main" val="40354094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33400" y="152400"/>
            <a:ext cx="7620000" cy="7302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81000" y="1143000"/>
            <a:ext cx="4191000" cy="51816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24400" y="1143000"/>
            <a:ext cx="4191000" cy="51816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229857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饼形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椭圆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同心圆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标题占位符 4"/>
          <p:cNvSpPr>
            <a:spLocks noGrp="1"/>
          </p:cNvSpPr>
          <p:nvPr>
            <p:ph type="title"/>
          </p:nvPr>
        </p:nvSpPr>
        <p:spPr>
          <a:xfrm>
            <a:off x="1435608" y="274638"/>
            <a:ext cx="7498080" cy="1143000"/>
          </a:xfrm>
          <a:prstGeom prst="rect">
            <a:avLst/>
          </a:prstGeom>
        </p:spPr>
        <p:txBody>
          <a:bodyPr anchor="ctr">
            <a:normAutofit/>
          </a:bodyPr>
          <a:lstStyle/>
          <a:p>
            <a:r>
              <a:rPr kumimoji="0" lang="zh-CN" altLang="en-US" smtClean="0"/>
              <a:t>单击此处编辑母版标题样式</a:t>
            </a:r>
            <a:endParaRPr kumimoji="0" lang="en-US"/>
          </a:p>
        </p:txBody>
      </p:sp>
      <p:sp>
        <p:nvSpPr>
          <p:cNvPr id="9" name="文本占位符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24" name="日期占位符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B7647DF0-3395-40B6-9D1F-6B4474601844}" type="datetimeFigureOut">
              <a:rPr lang="zh-CN" altLang="en-US" smtClean="0"/>
              <a:pPr/>
              <a:t>2020/7/1</a:t>
            </a:fld>
            <a:endParaRPr lang="zh-CN" altLang="en-US"/>
          </a:p>
        </p:txBody>
      </p:sp>
      <p:sp>
        <p:nvSpPr>
          <p:cNvPr id="10" name="页脚占位符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zh-CN" altLang="en-US"/>
          </a:p>
        </p:txBody>
      </p:sp>
      <p:sp>
        <p:nvSpPr>
          <p:cNvPr id="22" name="灯片编号占位符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EDB77EC5-A363-41E1-A5EE-F0909CD30F99}" type="slidenum">
              <a:rPr lang="zh-CN" altLang="en-US" smtClean="0"/>
              <a:pPr/>
              <a:t>‹#›</a:t>
            </a:fld>
            <a:endParaRPr lang="zh-CN" altLang="en-US"/>
          </a:p>
        </p:txBody>
      </p:sp>
      <p:sp>
        <p:nvSpPr>
          <p:cNvPr id="15" name="矩形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饼形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椭圆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同心圆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标题占位符 4"/>
          <p:cNvSpPr>
            <a:spLocks noGrp="1"/>
          </p:cNvSpPr>
          <p:nvPr>
            <p:ph type="title"/>
          </p:nvPr>
        </p:nvSpPr>
        <p:spPr>
          <a:xfrm>
            <a:off x="1435608" y="274638"/>
            <a:ext cx="7498080" cy="1143000"/>
          </a:xfrm>
          <a:prstGeom prst="rect">
            <a:avLst/>
          </a:prstGeom>
        </p:spPr>
        <p:txBody>
          <a:bodyPr anchor="ctr">
            <a:normAutofit/>
          </a:bodyPr>
          <a:lstStyle/>
          <a:p>
            <a:r>
              <a:rPr kumimoji="0" lang="zh-CN" altLang="en-US" smtClean="0"/>
              <a:t>单击此处编辑母版标题样式</a:t>
            </a:r>
            <a:endParaRPr kumimoji="0" lang="en-US"/>
          </a:p>
        </p:txBody>
      </p:sp>
      <p:sp>
        <p:nvSpPr>
          <p:cNvPr id="9" name="文本占位符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24" name="日期占位符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B7647DF0-3395-40B6-9D1F-6B4474601844}" type="datetimeFigureOut">
              <a:rPr lang="zh-CN" altLang="en-US" smtClean="0"/>
              <a:pPr/>
              <a:t>2020/7/1</a:t>
            </a:fld>
            <a:endParaRPr lang="zh-CN" altLang="en-US"/>
          </a:p>
        </p:txBody>
      </p:sp>
      <p:sp>
        <p:nvSpPr>
          <p:cNvPr id="10" name="页脚占位符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endParaRPr lang="zh-CN" altLang="en-US"/>
          </a:p>
        </p:txBody>
      </p:sp>
      <p:sp>
        <p:nvSpPr>
          <p:cNvPr id="22" name="灯片编号占位符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EDB77EC5-A363-41E1-A5EE-F0909CD30F99}" type="slidenum">
              <a:rPr lang="zh-CN" altLang="en-US" smtClean="0"/>
              <a:pPr/>
              <a:t>‹#›</a:t>
            </a:fld>
            <a:endParaRPr lang="zh-CN" altLang="en-US"/>
          </a:p>
        </p:txBody>
      </p:sp>
      <p:sp>
        <p:nvSpPr>
          <p:cNvPr id="15" name="矩形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223693036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4.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dirty="0" smtClean="0">
                <a:latin typeface="Arial Narrow" pitchFamily="34" charset="0"/>
              </a:rPr>
              <a:t>软件体系结构</a:t>
            </a:r>
            <a:endParaRPr lang="zh-CN" altLang="en-US" dirty="0"/>
          </a:p>
        </p:txBody>
      </p:sp>
      <p:sp>
        <p:nvSpPr>
          <p:cNvPr id="3" name="副标题 2"/>
          <p:cNvSpPr>
            <a:spLocks noGrp="1"/>
          </p:cNvSpPr>
          <p:nvPr>
            <p:ph type="subTitle"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p:cNvSpPr>
            <a:spLocks noGrp="1" noChangeArrowheads="1"/>
          </p:cNvSpPr>
          <p:nvPr>
            <p:ph type="title"/>
          </p:nvPr>
        </p:nvSpPr>
        <p:spPr>
          <a:xfrm>
            <a:off x="1142976" y="857232"/>
            <a:ext cx="7772400" cy="762000"/>
          </a:xfrm>
        </p:spPr>
        <p:txBody>
          <a:bodyPr/>
          <a:lstStyle/>
          <a:p>
            <a:pPr fontAlgn="auto">
              <a:spcAft>
                <a:spcPts val="0"/>
              </a:spcAft>
              <a:defRPr/>
            </a:pPr>
            <a:r>
              <a:rPr lang="zh-CN" altLang="en-US" sz="4000" b="1" dirty="0" smtClean="0">
                <a:solidFill>
                  <a:schemeClr val="tx1"/>
                </a:solidFill>
              </a:rPr>
              <a:t>第</a:t>
            </a:r>
            <a:r>
              <a:rPr lang="en-US" altLang="zh-CN" sz="4000" b="1" dirty="0" smtClean="0">
                <a:solidFill>
                  <a:schemeClr val="tx1"/>
                </a:solidFill>
              </a:rPr>
              <a:t>1</a:t>
            </a:r>
            <a:r>
              <a:rPr lang="zh-CN" altLang="en-US" sz="4000" b="1" dirty="0" smtClean="0">
                <a:solidFill>
                  <a:schemeClr val="tx1"/>
                </a:solidFill>
              </a:rPr>
              <a:t>章</a:t>
            </a:r>
            <a:r>
              <a:rPr lang="en-US" altLang="zh-CN" sz="4000" b="1" dirty="0" smtClean="0">
                <a:solidFill>
                  <a:schemeClr val="tx1"/>
                </a:solidFill>
              </a:rPr>
              <a:t>: </a:t>
            </a:r>
            <a:r>
              <a:rPr lang="zh-CN" altLang="en-US" sz="4000" b="1" dirty="0" smtClean="0">
                <a:solidFill>
                  <a:schemeClr val="tx1"/>
                </a:solidFill>
              </a:rPr>
              <a:t>概  论</a:t>
            </a:r>
          </a:p>
        </p:txBody>
      </p:sp>
      <p:sp>
        <p:nvSpPr>
          <p:cNvPr id="12291" name="Rectangle 3"/>
          <p:cNvSpPr>
            <a:spLocks noGrp="1" noChangeArrowheads="1"/>
          </p:cNvSpPr>
          <p:nvPr>
            <p:ph idx="1"/>
          </p:nvPr>
        </p:nvSpPr>
        <p:spPr>
          <a:xfrm>
            <a:off x="1000100" y="2071678"/>
            <a:ext cx="7772400" cy="3581400"/>
          </a:xfrm>
        </p:spPr>
        <p:txBody>
          <a:bodyPr/>
          <a:lstStyle/>
          <a:p>
            <a:pPr>
              <a:buClr>
                <a:srgbClr val="FF0000"/>
              </a:buClr>
              <a:buFontTx/>
              <a:buNone/>
            </a:pPr>
            <a:r>
              <a:rPr lang="en-US" altLang="zh-CN" sz="2400" b="1" dirty="0" smtClean="0">
                <a:solidFill>
                  <a:srgbClr val="000000"/>
                </a:solidFill>
                <a:latin typeface="Arial Narrow" pitchFamily="34" charset="0"/>
                <a:ea typeface="仿宋_GB2312" pitchFamily="49" charset="-122"/>
              </a:rPr>
              <a:t>1.1 </a:t>
            </a:r>
            <a:r>
              <a:rPr lang="zh-CN" altLang="he-IL" sz="2400" b="1" dirty="0" smtClean="0">
                <a:solidFill>
                  <a:srgbClr val="000000"/>
                </a:solidFill>
                <a:latin typeface="Arial Narrow" pitchFamily="34" charset="0"/>
                <a:ea typeface="仿宋_GB2312" pitchFamily="49" charset="-122"/>
              </a:rPr>
              <a:t>软件</a:t>
            </a:r>
            <a:r>
              <a:rPr lang="zh-CN" altLang="en-US" sz="2400" b="1" dirty="0" smtClean="0">
                <a:solidFill>
                  <a:srgbClr val="000000"/>
                </a:solidFill>
                <a:latin typeface="Arial Narrow" pitchFamily="34" charset="0"/>
                <a:ea typeface="仿宋_GB2312" pitchFamily="49" charset="-122"/>
              </a:rPr>
              <a:t>架构产生的背景</a:t>
            </a:r>
            <a:endParaRPr lang="zh-CN" altLang="en-US" sz="2400" b="1" dirty="0" smtClean="0">
              <a:solidFill>
                <a:srgbClr val="000000"/>
              </a:solidFill>
              <a:latin typeface="Arial Narrow" pitchFamily="34" charset="0"/>
              <a:ea typeface="仿宋_GB2312" pitchFamily="49" charset="-122"/>
              <a:cs typeface="Arial" charset="0"/>
            </a:endParaRPr>
          </a:p>
          <a:p>
            <a:pPr>
              <a:buClr>
                <a:srgbClr val="FF0000"/>
              </a:buClr>
              <a:buFontTx/>
              <a:buNone/>
            </a:pPr>
            <a:r>
              <a:rPr lang="en-US" altLang="zh-CN" sz="2400" b="1" dirty="0" smtClean="0">
                <a:solidFill>
                  <a:srgbClr val="000000"/>
                </a:solidFill>
                <a:latin typeface="Arial Narrow" pitchFamily="34" charset="0"/>
                <a:ea typeface="仿宋_GB2312" pitchFamily="49" charset="-122"/>
              </a:rPr>
              <a:t>1.2 </a:t>
            </a:r>
            <a:r>
              <a:rPr lang="zh-CN" altLang="he-IL" sz="2400" b="1" dirty="0" smtClean="0">
                <a:solidFill>
                  <a:srgbClr val="000000"/>
                </a:solidFill>
                <a:latin typeface="Arial Narrow" pitchFamily="34" charset="0"/>
                <a:ea typeface="仿宋_GB2312" pitchFamily="49" charset="-122"/>
              </a:rPr>
              <a:t>软件</a:t>
            </a:r>
            <a:r>
              <a:rPr lang="zh-CN" altLang="en-US" sz="2400" b="1" dirty="0" smtClean="0">
                <a:solidFill>
                  <a:srgbClr val="000000"/>
                </a:solidFill>
                <a:latin typeface="Arial Narrow" pitchFamily="34" charset="0"/>
                <a:ea typeface="仿宋_GB2312" pitchFamily="49" charset="-122"/>
              </a:rPr>
              <a:t>架构的主要思想和特征</a:t>
            </a:r>
          </a:p>
          <a:p>
            <a:pPr>
              <a:buClr>
                <a:srgbClr val="FF0000"/>
              </a:buClr>
              <a:buFontTx/>
              <a:buNone/>
            </a:pPr>
            <a:r>
              <a:rPr lang="en-US" altLang="zh-CN" sz="2400" b="1" dirty="0" smtClean="0">
                <a:solidFill>
                  <a:srgbClr val="000000"/>
                </a:solidFill>
                <a:latin typeface="Arial Narrow" pitchFamily="34" charset="0"/>
                <a:ea typeface="仿宋_GB2312" pitchFamily="49" charset="-122"/>
              </a:rPr>
              <a:t>1.3 </a:t>
            </a:r>
            <a:r>
              <a:rPr lang="zh-CN" altLang="he-IL" sz="2400" b="1" dirty="0" smtClean="0">
                <a:solidFill>
                  <a:srgbClr val="000000"/>
                </a:solidFill>
                <a:latin typeface="Arial Narrow" pitchFamily="34" charset="0"/>
                <a:ea typeface="仿宋_GB2312" pitchFamily="49" charset="-122"/>
              </a:rPr>
              <a:t>软件</a:t>
            </a:r>
            <a:r>
              <a:rPr lang="zh-CN" altLang="en-US" sz="2400" b="1" dirty="0" smtClean="0">
                <a:solidFill>
                  <a:srgbClr val="000000"/>
                </a:solidFill>
                <a:latin typeface="Arial Narrow" pitchFamily="34" charset="0"/>
                <a:ea typeface="仿宋_GB2312" pitchFamily="49" charset="-122"/>
              </a:rPr>
              <a:t>架构的发展阶段</a:t>
            </a:r>
            <a:endParaRPr lang="zh-CN" altLang="en-US" sz="2400" b="1" dirty="0">
              <a:solidFill>
                <a:srgbClr val="000000"/>
              </a:solidFill>
              <a:latin typeface="Arial Narrow" pitchFamily="34" charset="0"/>
              <a:ea typeface="仿宋_GB2312" pitchFamily="49" charset="-122"/>
            </a:endParaRPr>
          </a:p>
          <a:p>
            <a:pPr>
              <a:buClr>
                <a:srgbClr val="FF0000"/>
              </a:buClr>
              <a:buFontTx/>
              <a:buNone/>
            </a:pPr>
            <a:r>
              <a:rPr lang="en-US" altLang="zh-CN" sz="2400" b="1" dirty="0" smtClean="0">
                <a:solidFill>
                  <a:srgbClr val="000000"/>
                </a:solidFill>
                <a:latin typeface="Arial Narrow" pitchFamily="34" charset="0"/>
                <a:ea typeface="仿宋_GB2312" pitchFamily="49" charset="-122"/>
              </a:rPr>
              <a:t>1.4 </a:t>
            </a:r>
            <a:r>
              <a:rPr lang="zh-CN" altLang="en-US" sz="2400" b="1" dirty="0" smtClean="0">
                <a:solidFill>
                  <a:srgbClr val="000000"/>
                </a:solidFill>
                <a:latin typeface="Arial Narrow" pitchFamily="34" charset="0"/>
                <a:ea typeface="仿宋_GB2312" pitchFamily="49" charset="-122"/>
              </a:rPr>
              <a:t>软件架构的研究和应用现状</a:t>
            </a:r>
            <a:endParaRPr lang="zh-CN" altLang="en-US" sz="2400" b="1" dirty="0">
              <a:solidFill>
                <a:srgbClr val="000000"/>
              </a:solidFill>
              <a:latin typeface="Arial Narrow" pitchFamily="34" charset="0"/>
              <a:ea typeface="仿宋_GB2312" pitchFamily="49" charset="-122"/>
            </a:endParaRPr>
          </a:p>
          <a:p>
            <a:pPr>
              <a:buClr>
                <a:srgbClr val="FF0000"/>
              </a:buClr>
              <a:buFontTx/>
              <a:buNone/>
            </a:pPr>
            <a:endParaRPr lang="zh-CN" altLang="en-US" sz="2400" b="1" dirty="0" smtClean="0">
              <a:ea typeface="仿宋_GB2312" pitchFamily="49" charset="-122"/>
            </a:endParaRPr>
          </a:p>
        </p:txBody>
      </p:sp>
    </p:spTree>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000100" y="0"/>
            <a:ext cx="7620000" cy="730250"/>
          </a:xfrm>
        </p:spPr>
        <p:txBody>
          <a:bodyPr>
            <a:normAutofit fontScale="90000"/>
          </a:bodyPr>
          <a:lstStyle/>
          <a:p>
            <a:pPr eaLnBrk="1" hangingPunct="1"/>
            <a:r>
              <a:rPr lang="en-US" altLang="zh-CN" dirty="0" smtClean="0"/>
              <a:t>1.1</a:t>
            </a:r>
            <a:r>
              <a:rPr lang="zh-CN" altLang="en-US" dirty="0" smtClean="0"/>
              <a:t>软件架构产生的背景（</a:t>
            </a:r>
            <a:r>
              <a:rPr lang="en-US" altLang="zh-CN" dirty="0" smtClean="0"/>
              <a:t>1</a:t>
            </a:r>
            <a:r>
              <a:rPr lang="zh-CN" altLang="en-US" dirty="0" smtClean="0"/>
              <a:t>）</a:t>
            </a:r>
            <a:endParaRPr lang="en-US" altLang="zh-CN" dirty="0" smtClean="0"/>
          </a:p>
        </p:txBody>
      </p:sp>
      <p:sp>
        <p:nvSpPr>
          <p:cNvPr id="56323" name="Rectangle 3"/>
          <p:cNvSpPr>
            <a:spLocks noGrp="1" noChangeArrowheads="1"/>
          </p:cNvSpPr>
          <p:nvPr>
            <p:ph type="body" sz="half" idx="1"/>
          </p:nvPr>
        </p:nvSpPr>
        <p:spPr>
          <a:xfrm>
            <a:off x="1071538" y="1000108"/>
            <a:ext cx="7572428" cy="5248292"/>
          </a:xfrm>
        </p:spPr>
        <p:txBody>
          <a:bodyPr>
            <a:normAutofit/>
          </a:bodyPr>
          <a:lstStyle/>
          <a:p>
            <a:pPr eaLnBrk="1" hangingPunct="1"/>
            <a:r>
              <a:rPr lang="en-US" altLang="zh-CN" sz="2800" b="1" dirty="0" smtClean="0">
                <a:ea typeface="宋体" pitchFamily="2" charset="-122"/>
              </a:rPr>
              <a:t>1.</a:t>
            </a:r>
            <a:r>
              <a:rPr lang="zh-CN" altLang="en-US" sz="2800" b="1" dirty="0" smtClean="0">
                <a:ea typeface="宋体" pitchFamily="2" charset="-122"/>
              </a:rPr>
              <a:t>软件危机</a:t>
            </a:r>
            <a:endParaRPr lang="en-US" altLang="zh-CN" sz="2800" b="1" dirty="0" smtClean="0">
              <a:ea typeface="宋体" pitchFamily="2" charset="-122"/>
            </a:endParaRPr>
          </a:p>
          <a:p>
            <a:pPr lvl="1" eaLnBrk="1" hangingPunct="1">
              <a:lnSpc>
                <a:spcPct val="150000"/>
              </a:lnSpc>
              <a:spcBef>
                <a:spcPts val="600"/>
              </a:spcBef>
              <a:spcAft>
                <a:spcPts val="600"/>
              </a:spcAft>
            </a:pPr>
            <a:r>
              <a:rPr lang="en-US" altLang="zh-CN" sz="2800" b="1" dirty="0" smtClean="0">
                <a:ea typeface="宋体" pitchFamily="2" charset="-122"/>
              </a:rPr>
              <a:t>20</a:t>
            </a:r>
            <a:r>
              <a:rPr lang="zh-CN" altLang="en-US" sz="2800" b="1" dirty="0" smtClean="0">
                <a:ea typeface="宋体" pitchFamily="2" charset="-122"/>
              </a:rPr>
              <a:t>世纪</a:t>
            </a:r>
            <a:r>
              <a:rPr lang="en-US" altLang="zh-CN" sz="2800" b="1" dirty="0" smtClean="0">
                <a:ea typeface="宋体" pitchFamily="2" charset="-122"/>
              </a:rPr>
              <a:t>60-90</a:t>
            </a:r>
            <a:r>
              <a:rPr lang="zh-CN" altLang="en-US" sz="2800" b="1" dirty="0" smtClean="0">
                <a:ea typeface="宋体" pitchFamily="2" charset="-122"/>
              </a:rPr>
              <a:t>年代     </a:t>
            </a:r>
            <a:r>
              <a:rPr lang="zh-CN" altLang="en-US" sz="2600" b="1" dirty="0" smtClean="0">
                <a:ea typeface="宋体" pitchFamily="2" charset="-122"/>
              </a:rPr>
              <a:t>软件生产效率低下</a:t>
            </a:r>
            <a:r>
              <a:rPr lang="en-US" altLang="zh-CN" sz="2600" b="1" dirty="0" smtClean="0">
                <a:ea typeface="宋体" pitchFamily="2" charset="-122"/>
              </a:rPr>
              <a:t>, </a:t>
            </a:r>
            <a:r>
              <a:rPr lang="zh-CN" altLang="en-US" sz="2600" b="1" dirty="0" smtClean="0">
                <a:ea typeface="宋体" pitchFamily="2" charset="-122"/>
              </a:rPr>
              <a:t>软件产品质量差。软件开发理论不够系统、技术手段相对滞后，手工作坊式生产。</a:t>
            </a:r>
            <a:endParaRPr lang="en-US" altLang="zh-CN" sz="2600" b="1" dirty="0" smtClean="0">
              <a:ea typeface="宋体" pitchFamily="2"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000100" y="0"/>
            <a:ext cx="7620000" cy="730250"/>
          </a:xfrm>
        </p:spPr>
        <p:txBody>
          <a:bodyPr>
            <a:normAutofit fontScale="90000"/>
          </a:bodyPr>
          <a:lstStyle/>
          <a:p>
            <a:pPr eaLnBrk="1" hangingPunct="1"/>
            <a:r>
              <a:rPr lang="en-US" altLang="zh-CN" dirty="0" smtClean="0"/>
              <a:t>1.1</a:t>
            </a:r>
            <a:r>
              <a:rPr lang="zh-CN" altLang="en-US" dirty="0" smtClean="0"/>
              <a:t>软件架构产生的背景（</a:t>
            </a:r>
            <a:r>
              <a:rPr lang="en-US" altLang="zh-CN" dirty="0" smtClean="0"/>
              <a:t>2</a:t>
            </a:r>
            <a:r>
              <a:rPr lang="zh-CN" altLang="en-US" dirty="0" smtClean="0"/>
              <a:t>）</a:t>
            </a:r>
            <a:endParaRPr lang="en-US" altLang="zh-CN" dirty="0" smtClean="0"/>
          </a:p>
        </p:txBody>
      </p:sp>
      <p:sp>
        <p:nvSpPr>
          <p:cNvPr id="56323" name="Rectangle 3"/>
          <p:cNvSpPr>
            <a:spLocks noGrp="1" noChangeArrowheads="1"/>
          </p:cNvSpPr>
          <p:nvPr>
            <p:ph type="body" sz="half" idx="1"/>
          </p:nvPr>
        </p:nvSpPr>
        <p:spPr>
          <a:xfrm>
            <a:off x="1071538" y="1000108"/>
            <a:ext cx="7572428" cy="5248292"/>
          </a:xfrm>
        </p:spPr>
        <p:txBody>
          <a:bodyPr>
            <a:normAutofit/>
          </a:bodyPr>
          <a:lstStyle/>
          <a:p>
            <a:pPr eaLnBrk="1" hangingPunct="1"/>
            <a:r>
              <a:rPr lang="en-US" altLang="zh-CN" sz="2800" b="1" dirty="0" smtClean="0">
                <a:ea typeface="宋体" pitchFamily="2" charset="-122"/>
              </a:rPr>
              <a:t>1.</a:t>
            </a:r>
            <a:r>
              <a:rPr lang="zh-CN" altLang="en-US" sz="2800" b="1" dirty="0" smtClean="0">
                <a:ea typeface="宋体" pitchFamily="2" charset="-122"/>
              </a:rPr>
              <a:t>软件危机</a:t>
            </a:r>
            <a:endParaRPr lang="en-US" altLang="zh-CN" sz="2800" b="1" dirty="0" smtClean="0">
              <a:ea typeface="宋体" pitchFamily="2" charset="-122"/>
            </a:endParaRPr>
          </a:p>
          <a:p>
            <a:pPr lvl="1" eaLnBrk="1" hangingPunct="1">
              <a:lnSpc>
                <a:spcPct val="150000"/>
              </a:lnSpc>
              <a:spcBef>
                <a:spcPts val="600"/>
              </a:spcBef>
              <a:spcAft>
                <a:spcPts val="600"/>
              </a:spcAft>
            </a:pPr>
            <a:r>
              <a:rPr lang="en-US" altLang="zh-CN" sz="2600" b="1" dirty="0" smtClean="0">
                <a:ea typeface="宋体" pitchFamily="2" charset="-122"/>
              </a:rPr>
              <a:t>20</a:t>
            </a:r>
            <a:r>
              <a:rPr lang="zh-CN" altLang="en-US" sz="2600" b="1" dirty="0" smtClean="0">
                <a:ea typeface="宋体" pitchFamily="2" charset="-122"/>
              </a:rPr>
              <a:t>世纪</a:t>
            </a:r>
            <a:r>
              <a:rPr lang="en-US" altLang="zh-CN" sz="2600" b="1" dirty="0" smtClean="0">
                <a:ea typeface="宋体" pitchFamily="2" charset="-122"/>
              </a:rPr>
              <a:t>90</a:t>
            </a:r>
            <a:r>
              <a:rPr lang="zh-CN" altLang="en-US" sz="2600" b="1" dirty="0" smtClean="0">
                <a:ea typeface="宋体" pitchFamily="2" charset="-122"/>
              </a:rPr>
              <a:t>年代后    随软件规模的进一步扩大和软件复杂性的不断提高，新一轮软件危机再次出现。</a:t>
            </a:r>
            <a:endParaRPr lang="en-US" altLang="zh-CN" sz="2600" b="1" dirty="0" smtClean="0">
              <a:ea typeface="宋体" pitchFamily="2"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000100" y="0"/>
            <a:ext cx="7620000" cy="730250"/>
          </a:xfrm>
        </p:spPr>
        <p:txBody>
          <a:bodyPr>
            <a:normAutofit fontScale="90000"/>
          </a:bodyPr>
          <a:lstStyle/>
          <a:p>
            <a:pPr eaLnBrk="1" hangingPunct="1"/>
            <a:r>
              <a:rPr lang="en-US" altLang="zh-CN" dirty="0" smtClean="0"/>
              <a:t>1.1</a:t>
            </a:r>
            <a:r>
              <a:rPr lang="zh-CN" altLang="en-US" dirty="0" smtClean="0"/>
              <a:t>软件架构产生的背景（</a:t>
            </a:r>
            <a:r>
              <a:rPr lang="en-US" altLang="zh-CN" dirty="0" smtClean="0"/>
              <a:t>3</a:t>
            </a:r>
            <a:r>
              <a:rPr lang="zh-CN" altLang="en-US" dirty="0" smtClean="0"/>
              <a:t>）</a:t>
            </a:r>
            <a:endParaRPr lang="en-US" altLang="zh-CN" dirty="0" smtClean="0"/>
          </a:p>
        </p:txBody>
      </p:sp>
      <p:sp>
        <p:nvSpPr>
          <p:cNvPr id="56323" name="Rectangle 3"/>
          <p:cNvSpPr>
            <a:spLocks noGrp="1" noChangeArrowheads="1"/>
          </p:cNvSpPr>
          <p:nvPr>
            <p:ph type="body" sz="half" idx="1"/>
          </p:nvPr>
        </p:nvSpPr>
        <p:spPr>
          <a:xfrm>
            <a:off x="1071538" y="1000108"/>
            <a:ext cx="7572428" cy="5248292"/>
          </a:xfrm>
        </p:spPr>
        <p:txBody>
          <a:bodyPr>
            <a:normAutofit lnSpcReduction="10000"/>
          </a:bodyPr>
          <a:lstStyle/>
          <a:p>
            <a:pPr eaLnBrk="1" hangingPunct="1"/>
            <a:r>
              <a:rPr lang="en-US" altLang="zh-CN" sz="2800" b="1" dirty="0" smtClean="0">
                <a:ea typeface="宋体" pitchFamily="2" charset="-122"/>
              </a:rPr>
              <a:t>1.</a:t>
            </a:r>
            <a:r>
              <a:rPr lang="zh-CN" altLang="en-US" sz="2800" b="1" dirty="0" smtClean="0">
                <a:ea typeface="宋体" pitchFamily="2" charset="-122"/>
              </a:rPr>
              <a:t>软件危机</a:t>
            </a:r>
            <a:endParaRPr lang="en-US" altLang="zh-CN" sz="2800" b="1" dirty="0" smtClean="0">
              <a:ea typeface="宋体" pitchFamily="2" charset="-122"/>
            </a:endParaRPr>
          </a:p>
          <a:p>
            <a:pPr lvl="1" eaLnBrk="1" hangingPunct="1">
              <a:lnSpc>
                <a:spcPct val="150000"/>
              </a:lnSpc>
              <a:spcBef>
                <a:spcPts val="600"/>
              </a:spcBef>
              <a:spcAft>
                <a:spcPts val="600"/>
              </a:spcAft>
            </a:pPr>
            <a:r>
              <a:rPr lang="zh-CN" altLang="en-US" sz="2600" b="1" dirty="0" smtClean="0">
                <a:ea typeface="宋体" pitchFamily="2" charset="-122"/>
              </a:rPr>
              <a:t>危机根源</a:t>
            </a:r>
            <a:endParaRPr lang="en-US" altLang="zh-CN" sz="2600" b="1" dirty="0" smtClean="0">
              <a:ea typeface="宋体" pitchFamily="2" charset="-122"/>
            </a:endParaRPr>
          </a:p>
          <a:p>
            <a:pPr lvl="2"/>
            <a:r>
              <a:rPr lang="zh-CN" altLang="en-US" dirty="0" smtClean="0"/>
              <a:t>（</a:t>
            </a:r>
            <a:r>
              <a:rPr lang="en-US" dirty="0" smtClean="0"/>
              <a:t>1</a:t>
            </a:r>
            <a:r>
              <a:rPr lang="zh-CN" altLang="en-US" dirty="0" smtClean="0"/>
              <a:t>）软件复杂、易变，其行为特性难以预见，软件开发过程中需求向设计缺乏有效的转换，导致软件开发过程的困难和不可控；</a:t>
            </a:r>
          </a:p>
          <a:p>
            <a:pPr lvl="2"/>
            <a:r>
              <a:rPr lang="zh-CN" altLang="en-US" dirty="0" smtClean="0"/>
              <a:t>（</a:t>
            </a:r>
            <a:r>
              <a:rPr lang="en-US" dirty="0" smtClean="0"/>
              <a:t>2</a:t>
            </a:r>
            <a:r>
              <a:rPr lang="zh-CN" altLang="en-US" dirty="0" smtClean="0"/>
              <a:t>）随着软件系统规模越来越大、越来越复杂，整个系统的结构和规格说明显得越来越重要；</a:t>
            </a:r>
          </a:p>
          <a:p>
            <a:pPr lvl="2"/>
            <a:r>
              <a:rPr lang="zh-CN" altLang="en-US" dirty="0" smtClean="0"/>
              <a:t>（</a:t>
            </a:r>
            <a:r>
              <a:rPr lang="en-US" dirty="0" smtClean="0"/>
              <a:t>3</a:t>
            </a:r>
            <a:r>
              <a:rPr lang="zh-CN" altLang="en-US" dirty="0" smtClean="0"/>
              <a:t>）对于大规模的复杂软件系统，总体的系统结构设计和规格说明比起对计算的算法和数据结构的选择已经变得明显重要得多；</a:t>
            </a:r>
          </a:p>
          <a:p>
            <a:pPr lvl="2"/>
            <a:r>
              <a:rPr lang="zh-CN" altLang="en-US" dirty="0" smtClean="0"/>
              <a:t>（</a:t>
            </a:r>
            <a:r>
              <a:rPr lang="en-US" dirty="0" smtClean="0"/>
              <a:t>4</a:t>
            </a:r>
            <a:r>
              <a:rPr lang="zh-CN" altLang="en-US" dirty="0" smtClean="0"/>
              <a:t>）对软件系统结构的深入研究将会成为提高软件生产率和解决软件维护问题的最有希望的新途径。</a:t>
            </a:r>
          </a:p>
          <a:p>
            <a:pPr lvl="1" eaLnBrk="1" hangingPunct="1">
              <a:lnSpc>
                <a:spcPct val="150000"/>
              </a:lnSpc>
              <a:spcBef>
                <a:spcPts val="600"/>
              </a:spcBef>
              <a:spcAft>
                <a:spcPts val="600"/>
              </a:spcAft>
            </a:pPr>
            <a:endParaRPr lang="en-US" altLang="zh-CN" sz="2600" b="0" dirty="0" smtClean="0">
              <a:ea typeface="宋体" pitchFamily="2"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000100" y="0"/>
            <a:ext cx="7620000" cy="730250"/>
          </a:xfrm>
        </p:spPr>
        <p:txBody>
          <a:bodyPr>
            <a:normAutofit fontScale="90000"/>
          </a:bodyPr>
          <a:lstStyle/>
          <a:p>
            <a:pPr eaLnBrk="1" hangingPunct="1"/>
            <a:r>
              <a:rPr lang="en-US" altLang="zh-CN" dirty="0" smtClean="0"/>
              <a:t>1.1</a:t>
            </a:r>
            <a:r>
              <a:rPr lang="zh-CN" altLang="en-US" dirty="0" smtClean="0"/>
              <a:t>软件架构产生的背景（</a:t>
            </a:r>
            <a:r>
              <a:rPr lang="en-US" altLang="zh-CN" dirty="0" smtClean="0"/>
              <a:t>4</a:t>
            </a:r>
            <a:r>
              <a:rPr lang="zh-CN" altLang="en-US" dirty="0" smtClean="0"/>
              <a:t>）</a:t>
            </a:r>
            <a:endParaRPr lang="en-US" altLang="zh-CN" dirty="0" smtClean="0"/>
          </a:p>
        </p:txBody>
      </p:sp>
      <p:sp>
        <p:nvSpPr>
          <p:cNvPr id="56323" name="Rectangle 3"/>
          <p:cNvSpPr>
            <a:spLocks noGrp="1" noChangeArrowheads="1"/>
          </p:cNvSpPr>
          <p:nvPr>
            <p:ph type="body" sz="half" idx="1"/>
          </p:nvPr>
        </p:nvSpPr>
        <p:spPr>
          <a:xfrm>
            <a:off x="1071538" y="1000108"/>
            <a:ext cx="7572428" cy="5248292"/>
          </a:xfrm>
        </p:spPr>
        <p:txBody>
          <a:bodyPr>
            <a:normAutofit fontScale="92500" lnSpcReduction="10000"/>
          </a:bodyPr>
          <a:lstStyle/>
          <a:p>
            <a:pPr>
              <a:lnSpc>
                <a:spcPct val="150000"/>
              </a:lnSpc>
              <a:spcAft>
                <a:spcPts val="600"/>
              </a:spcAft>
            </a:pPr>
            <a:r>
              <a:rPr lang="en-US" altLang="zh-CN" sz="3000" b="1" dirty="0" smtClean="0">
                <a:ea typeface="宋体" pitchFamily="2" charset="-122"/>
              </a:rPr>
              <a:t>2.</a:t>
            </a:r>
            <a:r>
              <a:rPr lang="zh-CN" altLang="en-US" sz="3000" b="1" dirty="0" smtClean="0">
                <a:ea typeface="宋体" pitchFamily="2" charset="-122"/>
              </a:rPr>
              <a:t>软件架构的产生</a:t>
            </a:r>
            <a:endParaRPr lang="en-US" altLang="zh-CN" sz="3000" b="1" dirty="0" smtClean="0">
              <a:ea typeface="宋体" pitchFamily="2" charset="-122"/>
            </a:endParaRPr>
          </a:p>
          <a:p>
            <a:pPr lvl="1">
              <a:lnSpc>
                <a:spcPct val="150000"/>
              </a:lnSpc>
              <a:spcBef>
                <a:spcPts val="600"/>
              </a:spcBef>
              <a:spcAft>
                <a:spcPts val="600"/>
              </a:spcAft>
            </a:pPr>
            <a:r>
              <a:rPr lang="en-US" altLang="zh-CN" sz="2600" b="1" dirty="0" smtClean="0">
                <a:ea typeface="宋体" pitchFamily="2" charset="-122"/>
              </a:rPr>
              <a:t>20</a:t>
            </a:r>
            <a:r>
              <a:rPr lang="zh-CN" altLang="en-US" sz="2600" b="1" dirty="0" smtClean="0">
                <a:ea typeface="宋体" pitchFamily="2" charset="-122"/>
              </a:rPr>
              <a:t>世纪</a:t>
            </a:r>
            <a:r>
              <a:rPr lang="en-US" altLang="zh-CN" sz="2600" b="1" dirty="0" smtClean="0">
                <a:ea typeface="宋体" pitchFamily="2" charset="-122"/>
              </a:rPr>
              <a:t>90</a:t>
            </a:r>
            <a:r>
              <a:rPr lang="zh-CN" altLang="en-US" sz="2600" b="1" dirty="0" smtClean="0">
                <a:ea typeface="宋体" pitchFamily="2" charset="-122"/>
              </a:rPr>
              <a:t>年代， 研究人员展开了关于软件架构的基础研究，主要集中在架构风格</a:t>
            </a:r>
            <a:r>
              <a:rPr lang="en-US" altLang="en-US" sz="2600" b="1" dirty="0" smtClean="0">
                <a:ea typeface="宋体" pitchFamily="2" charset="-122"/>
              </a:rPr>
              <a:t>(</a:t>
            </a:r>
            <a:r>
              <a:rPr lang="zh-CN" altLang="en-US" sz="2600" b="1" dirty="0" smtClean="0">
                <a:ea typeface="宋体" pitchFamily="2" charset="-122"/>
              </a:rPr>
              <a:t>模式</a:t>
            </a:r>
            <a:r>
              <a:rPr lang="en-US" altLang="en-US" sz="2600" b="1" dirty="0" smtClean="0">
                <a:ea typeface="宋体" pitchFamily="2" charset="-122"/>
              </a:rPr>
              <a:t>)</a:t>
            </a:r>
            <a:r>
              <a:rPr lang="zh-CN" altLang="en-US" sz="2600" b="1" dirty="0" smtClean="0">
                <a:ea typeface="宋体" pitchFamily="2" charset="-122"/>
              </a:rPr>
              <a:t>、架构描述语言、架构文档和形式化方法。</a:t>
            </a:r>
            <a:endParaRPr lang="en-US" altLang="zh-CN" sz="2600" b="1" dirty="0" smtClean="0">
              <a:ea typeface="宋体" pitchFamily="2" charset="-122"/>
            </a:endParaRPr>
          </a:p>
          <a:p>
            <a:pPr lvl="1">
              <a:lnSpc>
                <a:spcPct val="150000"/>
              </a:lnSpc>
              <a:spcBef>
                <a:spcPts val="600"/>
              </a:spcBef>
              <a:spcAft>
                <a:spcPts val="600"/>
              </a:spcAft>
            </a:pPr>
            <a:r>
              <a:rPr lang="zh-CN" altLang="en-US" sz="2600" b="1" dirty="0" smtClean="0">
                <a:ea typeface="宋体" pitchFamily="2" charset="-122"/>
              </a:rPr>
              <a:t>软件架构在高级层次上对软件进行描述，便于软件开发过程中各个视角（例如用户、业务和系统）的统一，能够及早发现开发中的问题并支持各种解决方案的评估和预测。</a:t>
            </a:r>
            <a:endParaRPr lang="en-US" altLang="zh-CN" sz="2600" b="1" dirty="0" smtClean="0">
              <a:ea typeface="宋体" pitchFamily="2" charset="-122"/>
            </a:endParaRPr>
          </a:p>
          <a:p>
            <a:pPr lvl="1">
              <a:lnSpc>
                <a:spcPct val="150000"/>
              </a:lnSpc>
              <a:spcBef>
                <a:spcPts val="600"/>
              </a:spcBef>
              <a:spcAft>
                <a:spcPts val="600"/>
              </a:spcAft>
            </a:pPr>
            <a:r>
              <a:rPr lang="zh-CN" altLang="en-US" sz="2600" b="1" dirty="0" smtClean="0">
                <a:ea typeface="宋体" pitchFamily="2" charset="-122"/>
              </a:rPr>
              <a:t>其意义贯穿软件生命周期的各个阶段。</a:t>
            </a:r>
            <a:endParaRPr lang="en-US" altLang="zh-CN" sz="2600" b="1" dirty="0" smtClean="0">
              <a:ea typeface="宋体" pitchFamily="2"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8120034" cy="730250"/>
          </a:xfrm>
        </p:spPr>
        <p:txBody>
          <a:bodyPr>
            <a:normAutofit fontScale="90000"/>
          </a:bodyPr>
          <a:lstStyle/>
          <a:p>
            <a:r>
              <a:rPr lang="en-US" altLang="zh-CN" dirty="0" smtClean="0"/>
              <a:t>1.2</a:t>
            </a:r>
            <a:r>
              <a:rPr lang="zh-CN" altLang="en-US" sz="4400" dirty="0" smtClean="0">
                <a:effectLst>
                  <a:outerShdw blurRad="38100" dist="38100" dir="2700000" algn="tl">
                    <a:srgbClr val="FFFFFF"/>
                  </a:outerShdw>
                </a:effectLst>
                <a:latin typeface="Times New Roman" pitchFamily="18" charset="0"/>
              </a:rPr>
              <a:t>软件架构的主要思想和特征（</a:t>
            </a:r>
            <a:r>
              <a:rPr lang="en-US" altLang="zh-CN" sz="4400" dirty="0" smtClean="0">
                <a:effectLst>
                  <a:outerShdw blurRad="38100" dist="38100" dir="2700000" algn="tl">
                    <a:srgbClr val="FFFFFF"/>
                  </a:outerShdw>
                </a:effectLst>
                <a:latin typeface="Times New Roman" pitchFamily="18" charset="0"/>
              </a:rPr>
              <a:t>1</a:t>
            </a:r>
            <a:r>
              <a:rPr lang="zh-CN" altLang="en-US" sz="4400" dirty="0" smtClean="0">
                <a:effectLst>
                  <a:outerShdw blurRad="38100" dist="38100" dir="2700000" algn="tl">
                    <a:srgbClr val="FFFFFF"/>
                  </a:outerShdw>
                </a:effectLst>
                <a:latin typeface="Times New Roman" pitchFamily="18" charset="0"/>
              </a:rPr>
              <a:t>）</a:t>
            </a:r>
            <a:endParaRPr lang="en-US" altLang="zh-CN" dirty="0" smtClean="0"/>
          </a:p>
        </p:txBody>
      </p:sp>
      <p:sp>
        <p:nvSpPr>
          <p:cNvPr id="5" name="内容占位符 4"/>
          <p:cNvSpPr>
            <a:spLocks noGrp="1"/>
          </p:cNvSpPr>
          <p:nvPr>
            <p:ph idx="1"/>
          </p:nvPr>
        </p:nvSpPr>
        <p:spPr/>
        <p:txBody>
          <a:bodyPr>
            <a:normAutofit/>
          </a:bodyPr>
          <a:lstStyle/>
          <a:p>
            <a:r>
              <a:rPr lang="en-US" altLang="zh-CN" dirty="0" smtClean="0"/>
              <a:t>1.</a:t>
            </a:r>
            <a:r>
              <a:rPr lang="zh-CN" altLang="en-US" dirty="0" smtClean="0"/>
              <a:t>主要思想</a:t>
            </a:r>
            <a:endParaRPr lang="en-US" altLang="zh-CN" dirty="0" smtClean="0"/>
          </a:p>
          <a:p>
            <a:pPr lvl="1"/>
            <a:r>
              <a:rPr lang="zh-CN" altLang="en-US" dirty="0" smtClean="0"/>
              <a:t>软件架构是一个软件系统的设计图，并不仅限于软件系统的总体结构，还包含一些质量属性以及功能与结构之间的映射关系，即设计决策。</a:t>
            </a:r>
            <a:endParaRPr lang="en-US" altLang="zh-CN" dirty="0" smtClean="0"/>
          </a:p>
          <a:p>
            <a:pPr lvl="1"/>
            <a:r>
              <a:rPr lang="zh-CN" altLang="en-US" dirty="0" smtClean="0"/>
              <a:t>软件架构的两个主要焦点集中于系统的总体结构以及需求和实现之间的对应。</a:t>
            </a:r>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8120034" cy="730250"/>
          </a:xfrm>
        </p:spPr>
        <p:txBody>
          <a:bodyPr>
            <a:normAutofit fontScale="90000"/>
          </a:bodyPr>
          <a:lstStyle/>
          <a:p>
            <a:r>
              <a:rPr lang="en-US" altLang="zh-CN" dirty="0" smtClean="0"/>
              <a:t>1.2</a:t>
            </a:r>
            <a:r>
              <a:rPr lang="zh-CN" altLang="en-US" sz="4400" dirty="0" smtClean="0">
                <a:effectLst>
                  <a:outerShdw blurRad="38100" dist="38100" dir="2700000" algn="tl">
                    <a:srgbClr val="FFFFFF"/>
                  </a:outerShdw>
                </a:effectLst>
                <a:latin typeface="Times New Roman" pitchFamily="18" charset="0"/>
              </a:rPr>
              <a:t>软件架构的主要思想和特征（</a:t>
            </a:r>
            <a:r>
              <a:rPr lang="en-US" altLang="zh-CN" sz="4400" dirty="0" smtClean="0">
                <a:effectLst>
                  <a:outerShdw blurRad="38100" dist="38100" dir="2700000" algn="tl">
                    <a:srgbClr val="FFFFFF"/>
                  </a:outerShdw>
                </a:effectLst>
                <a:latin typeface="Times New Roman" pitchFamily="18" charset="0"/>
              </a:rPr>
              <a:t>2</a:t>
            </a:r>
            <a:r>
              <a:rPr lang="zh-CN" altLang="en-US" sz="4400" dirty="0" smtClean="0">
                <a:effectLst>
                  <a:outerShdw blurRad="38100" dist="38100" dir="2700000" algn="tl">
                    <a:srgbClr val="FFFFFF"/>
                  </a:outerShdw>
                </a:effectLst>
                <a:latin typeface="Times New Roman" pitchFamily="18" charset="0"/>
              </a:rPr>
              <a:t>）</a:t>
            </a:r>
            <a:endParaRPr lang="en-US" altLang="zh-CN" dirty="0" smtClean="0"/>
          </a:p>
        </p:txBody>
      </p:sp>
      <p:sp>
        <p:nvSpPr>
          <p:cNvPr id="5" name="内容占位符 4"/>
          <p:cNvSpPr>
            <a:spLocks noGrp="1"/>
          </p:cNvSpPr>
          <p:nvPr>
            <p:ph idx="1"/>
          </p:nvPr>
        </p:nvSpPr>
        <p:spPr/>
        <p:txBody>
          <a:bodyPr>
            <a:normAutofit/>
          </a:bodyPr>
          <a:lstStyle/>
          <a:p>
            <a:r>
              <a:rPr lang="en-US" altLang="zh-CN" dirty="0" smtClean="0"/>
              <a:t>1.</a:t>
            </a:r>
            <a:r>
              <a:rPr lang="zh-CN" altLang="en-US" dirty="0" smtClean="0"/>
              <a:t>主要思想</a:t>
            </a:r>
            <a:endParaRPr lang="en-US" altLang="zh-CN" dirty="0" smtClean="0"/>
          </a:p>
          <a:p>
            <a:pPr lvl="1"/>
            <a:r>
              <a:rPr lang="zh-CN" altLang="en-US" dirty="0" smtClean="0"/>
              <a:t>软件架构的主要思想是将注意力集中在系统总体结构的组织上。</a:t>
            </a:r>
            <a:endParaRPr lang="en-US" altLang="zh-CN" dirty="0" smtClean="0"/>
          </a:p>
          <a:p>
            <a:pPr lvl="1"/>
            <a:r>
              <a:rPr lang="zh-CN" altLang="en-US" dirty="0" smtClean="0"/>
              <a:t>实现的手段是运用抽象方法屏蔽错综复杂的模块间连接，使人们的认知提升并保持在整体结构的部件</a:t>
            </a:r>
            <a:r>
              <a:rPr lang="en-US" dirty="0" smtClean="0"/>
              <a:t>“</a:t>
            </a:r>
            <a:r>
              <a:rPr lang="zh-CN" altLang="en-US" dirty="0" smtClean="0"/>
              <a:t>交互</a:t>
            </a:r>
            <a:r>
              <a:rPr lang="en-US" dirty="0" smtClean="0"/>
              <a:t>”</a:t>
            </a:r>
            <a:r>
              <a:rPr lang="zh-CN" altLang="en-US" dirty="0" smtClean="0"/>
              <a:t>层次，并进一步将交互从计算中分离出来，建立</a:t>
            </a:r>
            <a:r>
              <a:rPr lang="en-US" dirty="0" smtClean="0"/>
              <a:t>“</a:t>
            </a:r>
            <a:r>
              <a:rPr lang="zh-CN" altLang="en-US" dirty="0" smtClean="0"/>
              <a:t>组件</a:t>
            </a:r>
            <a:r>
              <a:rPr lang="en-US" dirty="0" smtClean="0"/>
              <a:t>+</a:t>
            </a:r>
            <a:r>
              <a:rPr lang="zh-CN" altLang="en-US" dirty="0" smtClean="0"/>
              <a:t>连接件</a:t>
            </a:r>
            <a:r>
              <a:rPr lang="en-US" dirty="0" smtClean="0"/>
              <a:t>+</a:t>
            </a:r>
            <a:r>
              <a:rPr lang="zh-CN" altLang="en-US" dirty="0" smtClean="0"/>
              <a:t>配置</a:t>
            </a:r>
            <a:r>
              <a:rPr lang="en-US" dirty="0" smtClean="0"/>
              <a:t>”</a:t>
            </a:r>
            <a:r>
              <a:rPr lang="zh-CN" altLang="en-US" dirty="0" smtClean="0"/>
              <a:t>的软件系统高层结构组织方式。</a:t>
            </a:r>
            <a:endParaRPr lang="zh-CN" altLang="en-US" dirty="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8120034" cy="730250"/>
          </a:xfrm>
        </p:spPr>
        <p:txBody>
          <a:bodyPr>
            <a:normAutofit fontScale="90000"/>
          </a:bodyPr>
          <a:lstStyle/>
          <a:p>
            <a:r>
              <a:rPr lang="en-US" altLang="zh-CN" dirty="0" smtClean="0"/>
              <a:t>1.2</a:t>
            </a:r>
            <a:r>
              <a:rPr lang="zh-CN" altLang="en-US" sz="4400" dirty="0" smtClean="0">
                <a:effectLst>
                  <a:outerShdw blurRad="38100" dist="38100" dir="2700000" algn="tl">
                    <a:srgbClr val="FFFFFF"/>
                  </a:outerShdw>
                </a:effectLst>
                <a:latin typeface="Times New Roman" pitchFamily="18" charset="0"/>
              </a:rPr>
              <a:t>软件架构的主要思想和特征（</a:t>
            </a:r>
            <a:r>
              <a:rPr lang="en-US" altLang="zh-CN" sz="4400" dirty="0" smtClean="0">
                <a:effectLst>
                  <a:outerShdw blurRad="38100" dist="38100" dir="2700000" algn="tl">
                    <a:srgbClr val="FFFFFF"/>
                  </a:outerShdw>
                </a:effectLst>
                <a:latin typeface="Times New Roman" pitchFamily="18" charset="0"/>
              </a:rPr>
              <a:t>3</a:t>
            </a:r>
            <a:r>
              <a:rPr lang="zh-CN" altLang="en-US" sz="4400" dirty="0" smtClean="0">
                <a:effectLst>
                  <a:outerShdw blurRad="38100" dist="38100" dir="2700000" algn="tl">
                    <a:srgbClr val="FFFFFF"/>
                  </a:outerShdw>
                </a:effectLst>
                <a:latin typeface="Times New Roman" pitchFamily="18" charset="0"/>
              </a:rPr>
              <a:t>）</a:t>
            </a:r>
            <a:endParaRPr lang="en-US" altLang="zh-CN" dirty="0" smtClean="0"/>
          </a:p>
        </p:txBody>
      </p:sp>
      <p:sp>
        <p:nvSpPr>
          <p:cNvPr id="5" name="内容占位符 4"/>
          <p:cNvSpPr>
            <a:spLocks noGrp="1"/>
          </p:cNvSpPr>
          <p:nvPr>
            <p:ph idx="1"/>
          </p:nvPr>
        </p:nvSpPr>
        <p:spPr/>
        <p:txBody>
          <a:bodyPr>
            <a:normAutofit/>
          </a:bodyPr>
          <a:lstStyle/>
          <a:p>
            <a:r>
              <a:rPr lang="en-US" altLang="zh-CN" dirty="0" smtClean="0"/>
              <a:t>2.</a:t>
            </a:r>
            <a:r>
              <a:rPr lang="zh-CN" altLang="en-US" dirty="0" smtClean="0"/>
              <a:t>软件架构的特征</a:t>
            </a:r>
            <a:endParaRPr lang="en-US" altLang="zh-CN" dirty="0" smtClean="0"/>
          </a:p>
          <a:p>
            <a:pPr lvl="1"/>
            <a:r>
              <a:rPr lang="zh-CN" altLang="en-US" dirty="0" smtClean="0"/>
              <a:t>（</a:t>
            </a:r>
            <a:r>
              <a:rPr lang="en-US" dirty="0" smtClean="0"/>
              <a:t>1</a:t>
            </a:r>
            <a:r>
              <a:rPr lang="zh-CN" altLang="en-US" dirty="0" smtClean="0"/>
              <a:t>）注重可重用性</a:t>
            </a:r>
            <a:r>
              <a:rPr lang="en-US" altLang="zh-CN" dirty="0" smtClean="0"/>
              <a:t>——</a:t>
            </a:r>
            <a:r>
              <a:rPr lang="zh-CN" altLang="en-US" dirty="0" smtClean="0"/>
              <a:t>组件及架构级重用</a:t>
            </a:r>
            <a:endParaRPr lang="en-US" altLang="zh-CN" dirty="0" smtClean="0"/>
          </a:p>
          <a:p>
            <a:pPr lvl="1"/>
            <a:r>
              <a:rPr lang="zh-CN" altLang="en-US" dirty="0" smtClean="0"/>
              <a:t>（</a:t>
            </a:r>
            <a:r>
              <a:rPr lang="en-US" dirty="0" smtClean="0"/>
              <a:t>2</a:t>
            </a:r>
            <a:r>
              <a:rPr lang="zh-CN" altLang="en-US" dirty="0" smtClean="0"/>
              <a:t>）利益相关者较多</a:t>
            </a:r>
            <a:r>
              <a:rPr lang="en-US" altLang="zh-CN" dirty="0" smtClean="0"/>
              <a:t>——</a:t>
            </a:r>
            <a:r>
              <a:rPr lang="zh-CN" altLang="en-US" dirty="0" smtClean="0"/>
              <a:t>平衡需求</a:t>
            </a:r>
          </a:p>
          <a:p>
            <a:pPr lvl="1"/>
            <a:r>
              <a:rPr lang="zh-CN" altLang="en-US" dirty="0" smtClean="0"/>
              <a:t>（</a:t>
            </a:r>
            <a:r>
              <a:rPr lang="en-US" dirty="0" smtClean="0"/>
              <a:t>3</a:t>
            </a:r>
            <a:r>
              <a:rPr lang="zh-CN" altLang="en-US" dirty="0" smtClean="0"/>
              <a:t>）关注点分离</a:t>
            </a:r>
            <a:r>
              <a:rPr lang="en-US" altLang="zh-CN" dirty="0" smtClean="0"/>
              <a:t>——</a:t>
            </a:r>
            <a:r>
              <a:rPr lang="zh-CN" altLang="en-US" dirty="0" smtClean="0"/>
              <a:t>模块化、分而治之</a:t>
            </a:r>
            <a:endParaRPr lang="en-US" altLang="zh-CN" dirty="0" smtClean="0"/>
          </a:p>
          <a:p>
            <a:pPr lvl="1"/>
            <a:r>
              <a:rPr lang="zh-CN" altLang="en-US" dirty="0" smtClean="0"/>
              <a:t>（</a:t>
            </a:r>
            <a:r>
              <a:rPr lang="en-US" dirty="0" smtClean="0"/>
              <a:t>4</a:t>
            </a:r>
            <a:r>
              <a:rPr lang="zh-CN" altLang="en-US" dirty="0" smtClean="0"/>
              <a:t>）质量驱动</a:t>
            </a:r>
            <a:r>
              <a:rPr lang="en-US" altLang="zh-CN" dirty="0" smtClean="0"/>
              <a:t>——</a:t>
            </a:r>
            <a:r>
              <a:rPr lang="zh-CN" altLang="en-US" dirty="0" smtClean="0"/>
              <a:t>关注非功能属性</a:t>
            </a:r>
            <a:endParaRPr lang="en-US" altLang="zh-CN" dirty="0" smtClean="0"/>
          </a:p>
          <a:p>
            <a:pPr lvl="1"/>
            <a:r>
              <a:rPr lang="zh-CN" altLang="en-US" dirty="0" smtClean="0"/>
              <a:t>（</a:t>
            </a:r>
            <a:r>
              <a:rPr lang="en-US" dirty="0" smtClean="0"/>
              <a:t>5</a:t>
            </a:r>
            <a:r>
              <a:rPr lang="zh-CN" altLang="en-US" dirty="0" smtClean="0"/>
              <a:t>）提倡概念完整性</a:t>
            </a:r>
            <a:r>
              <a:rPr lang="en-US" altLang="zh-CN" dirty="0" smtClean="0"/>
              <a:t>——</a:t>
            </a:r>
            <a:r>
              <a:rPr lang="zh-CN" altLang="en-US" dirty="0" smtClean="0"/>
              <a:t>强调设计决策是一个持续的过程</a:t>
            </a:r>
            <a:endParaRPr lang="en-US" altLang="zh-CN" dirty="0" smtClean="0"/>
          </a:p>
          <a:p>
            <a:pPr lvl="1"/>
            <a:r>
              <a:rPr lang="zh-CN" altLang="en-US" dirty="0" smtClean="0"/>
              <a:t>（</a:t>
            </a:r>
            <a:r>
              <a:rPr lang="en-US" dirty="0" smtClean="0"/>
              <a:t>6</a:t>
            </a:r>
            <a:r>
              <a:rPr lang="zh-CN" altLang="en-US" dirty="0" smtClean="0"/>
              <a:t>）循环风格</a:t>
            </a:r>
            <a:r>
              <a:rPr lang="en-US" altLang="zh-CN" dirty="0" smtClean="0"/>
              <a:t>——</a:t>
            </a:r>
            <a:r>
              <a:rPr lang="zh-CN" altLang="en-US" dirty="0" smtClean="0"/>
              <a:t>用标准方法来处理反复出现的问题</a:t>
            </a:r>
          </a:p>
          <a:p>
            <a:pPr lvl="1"/>
            <a:endParaRPr lang="zh-CN" altLang="en-US" b="1" dirty="0" smtClean="0"/>
          </a:p>
          <a:p>
            <a:pPr lvl="1"/>
            <a:endParaRPr lang="zh-CN" altLang="en-US" b="1" dirty="0" smtClean="0"/>
          </a:p>
          <a:p>
            <a:pPr lvl="1"/>
            <a:endParaRPr lang="zh-CN" altLang="en-US" b="1" dirty="0" smtClean="0"/>
          </a:p>
          <a:p>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17CEE2D3-4B8A-4E9E-B467-41C53E2C7B1D}" type="datetime1">
              <a:rPr kumimoji="0" lang="zh-CN" altLang="en-US" sz="1400" smtClean="0"/>
              <a:pPr>
                <a:spcBef>
                  <a:spcPct val="0"/>
                </a:spcBef>
                <a:buClrTx/>
                <a:buSzTx/>
                <a:buFontTx/>
                <a:buNone/>
              </a:pPr>
              <a:t>2020/7/1</a:t>
            </a:fld>
            <a:endParaRPr kumimoji="0" lang="en-US" altLang="zh-CN" sz="1400"/>
          </a:p>
        </p:txBody>
      </p:sp>
      <p:sp>
        <p:nvSpPr>
          <p:cNvPr id="6349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12AA8B5-690F-485E-AEBF-BB1A0776BA2A}" type="slidenum">
              <a:rPr kumimoji="0" lang="en-US" altLang="zh-CN" sz="1400"/>
              <a:pPr>
                <a:spcBef>
                  <a:spcPct val="0"/>
                </a:spcBef>
                <a:buClrTx/>
                <a:buSzTx/>
                <a:buFontTx/>
                <a:buNone/>
              </a:pPr>
              <a:t>10</a:t>
            </a:fld>
            <a:endParaRPr kumimoji="0" lang="en-US" altLang="zh-CN" sz="1400"/>
          </a:p>
        </p:txBody>
      </p:sp>
      <p:sp>
        <p:nvSpPr>
          <p:cNvPr id="63494" name="Rectangle 3"/>
          <p:cNvSpPr>
            <a:spLocks noGrp="1" noChangeArrowheads="1"/>
          </p:cNvSpPr>
          <p:nvPr>
            <p:ph type="body" idx="1"/>
          </p:nvPr>
        </p:nvSpPr>
        <p:spPr>
          <a:xfrm>
            <a:off x="1485900" y="1571612"/>
            <a:ext cx="6586562" cy="4560901"/>
          </a:xfrm>
        </p:spPr>
        <p:txBody>
          <a:bodyPr>
            <a:normAutofit/>
          </a:bodyPr>
          <a:lstStyle/>
          <a:p>
            <a:pPr eaLnBrk="1" hangingPunct="1"/>
            <a:r>
              <a:rPr lang="zh-CN" altLang="en-US" dirty="0" smtClean="0"/>
              <a:t>基础研究阶段（</a:t>
            </a:r>
            <a:r>
              <a:rPr lang="en-US" altLang="zh-CN" dirty="0" smtClean="0"/>
              <a:t>1968-1994</a:t>
            </a:r>
            <a:r>
              <a:rPr lang="zh-CN" altLang="en-US" dirty="0" smtClean="0"/>
              <a:t>）</a:t>
            </a:r>
            <a:endParaRPr lang="en-US" altLang="zh-CN" dirty="0" smtClean="0"/>
          </a:p>
          <a:p>
            <a:r>
              <a:rPr lang="zh-CN" altLang="en-US" dirty="0" smtClean="0"/>
              <a:t>概念体系和核心技术形成阶段（</a:t>
            </a:r>
            <a:r>
              <a:rPr lang="en-US" altLang="en-US" dirty="0" smtClean="0"/>
              <a:t>1991-2000</a:t>
            </a:r>
            <a:r>
              <a:rPr lang="zh-CN" altLang="en-US" dirty="0" smtClean="0"/>
              <a:t>）</a:t>
            </a:r>
            <a:endParaRPr lang="en-US" altLang="zh-CN" dirty="0" smtClean="0"/>
          </a:p>
          <a:p>
            <a:r>
              <a:rPr lang="zh-CN" altLang="en-US" dirty="0" smtClean="0"/>
              <a:t>理论体系丰富发展阶段（</a:t>
            </a:r>
            <a:r>
              <a:rPr lang="en-US" altLang="en-US" dirty="0" smtClean="0"/>
              <a:t>1996-</a:t>
            </a:r>
            <a:r>
              <a:rPr lang="en-US" altLang="zh-CN" dirty="0" smtClean="0"/>
              <a:t>1999</a:t>
            </a:r>
            <a:r>
              <a:rPr lang="zh-CN" altLang="en-US" dirty="0" smtClean="0"/>
              <a:t>）</a:t>
            </a:r>
            <a:endParaRPr lang="en-US" altLang="zh-CN" dirty="0" smtClean="0"/>
          </a:p>
          <a:p>
            <a:r>
              <a:rPr lang="zh-CN" altLang="en-US" dirty="0" smtClean="0"/>
              <a:t>理论完善和普及应用阶段（</a:t>
            </a:r>
            <a:r>
              <a:rPr lang="en-US" dirty="0" smtClean="0"/>
              <a:t>1999</a:t>
            </a:r>
            <a:r>
              <a:rPr lang="zh-CN" altLang="en-US" dirty="0" smtClean="0"/>
              <a:t>年至今）</a:t>
            </a:r>
            <a:endParaRPr lang="en-US" altLang="zh-CN" dirty="0" smtClean="0"/>
          </a:p>
        </p:txBody>
      </p:sp>
      <p:sp>
        <p:nvSpPr>
          <p:cNvPr id="7" name="Rectangle 2"/>
          <p:cNvSpPr txBox="1">
            <a:spLocks noChangeArrowheads="1"/>
          </p:cNvSpPr>
          <p:nvPr/>
        </p:nvSpPr>
        <p:spPr>
          <a:xfrm>
            <a:off x="1023966" y="269858"/>
            <a:ext cx="7620000" cy="730250"/>
          </a:xfrm>
          <a:prstGeom prst="rect">
            <a:avLst/>
          </a:prstGeom>
        </p:spPr>
        <p:txBody>
          <a:bodyPr anchor="ct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4000" b="0" i="0" u="none" strike="noStrike" kern="1200" cap="none" spc="0" normalizeH="0" baseline="0" noProof="0" dirty="0" smtClean="0">
                <a:ln>
                  <a:noFill/>
                </a:ln>
                <a:solidFill>
                  <a:schemeClr val="tx2">
                    <a:satMod val="130000"/>
                  </a:schemeClr>
                </a:solidFill>
                <a:effectLst>
                  <a:outerShdw blurRad="50000" dist="30000" dir="5400000" algn="tl" rotWithShape="0">
                    <a:srgbClr val="000000">
                      <a:alpha val="30000"/>
                    </a:srgbClr>
                  </a:outerShdw>
                </a:effectLst>
                <a:uLnTx/>
                <a:uFillTx/>
                <a:latin typeface="+mj-lt"/>
                <a:ea typeface="+mj-ea"/>
                <a:cs typeface="+mj-cs"/>
              </a:rPr>
              <a:t>1.3</a:t>
            </a:r>
            <a:r>
              <a:rPr kumimoji="0" lang="zh-CN" altLang="en-US" sz="4000" b="0" i="0" u="none" strike="noStrike" kern="1200" cap="none" spc="0" normalizeH="0" baseline="0" noProof="0" dirty="0" smtClean="0">
                <a:ln>
                  <a:noFill/>
                </a:ln>
                <a:solidFill>
                  <a:schemeClr val="tx2">
                    <a:satMod val="130000"/>
                  </a:schemeClr>
                </a:solidFill>
                <a:effectLst>
                  <a:outerShdw blurRad="38100" dist="38100" dir="2700000" algn="tl">
                    <a:srgbClr val="FFFFFF"/>
                  </a:outerShdw>
                </a:effectLst>
                <a:uLnTx/>
                <a:uFillTx/>
                <a:latin typeface="Times New Roman" pitchFamily="18" charset="0"/>
                <a:ea typeface="+mj-ea"/>
                <a:cs typeface="+mj-cs"/>
              </a:rPr>
              <a:t>软件架构的发展阶段（</a:t>
            </a:r>
            <a:r>
              <a:rPr kumimoji="0" lang="en-US" altLang="zh-CN" sz="4000" b="0" i="0" u="none" strike="noStrike" kern="1200" cap="none" spc="0" normalizeH="0" baseline="0" noProof="0" dirty="0" smtClean="0">
                <a:ln>
                  <a:noFill/>
                </a:ln>
                <a:solidFill>
                  <a:schemeClr val="tx2">
                    <a:satMod val="130000"/>
                  </a:schemeClr>
                </a:solidFill>
                <a:effectLst>
                  <a:outerShdw blurRad="38100" dist="38100" dir="2700000" algn="tl">
                    <a:srgbClr val="FFFFFF"/>
                  </a:outerShdw>
                </a:effectLst>
                <a:uLnTx/>
                <a:uFillTx/>
                <a:latin typeface="Times New Roman" pitchFamily="18" charset="0"/>
                <a:ea typeface="+mj-ea"/>
                <a:cs typeface="+mj-cs"/>
              </a:rPr>
              <a:t>1</a:t>
            </a:r>
            <a:r>
              <a:rPr kumimoji="0" lang="zh-CN" altLang="en-US" sz="4000" b="0" i="0" u="none" strike="noStrike" kern="1200" cap="none" spc="0" normalizeH="0" baseline="0" noProof="0" dirty="0" smtClean="0">
                <a:ln>
                  <a:noFill/>
                </a:ln>
                <a:solidFill>
                  <a:schemeClr val="tx2">
                    <a:satMod val="130000"/>
                  </a:schemeClr>
                </a:solidFill>
                <a:effectLst>
                  <a:outerShdw blurRad="38100" dist="38100" dir="2700000" algn="tl">
                    <a:srgbClr val="FFFFFF"/>
                  </a:outerShdw>
                </a:effectLst>
                <a:uLnTx/>
                <a:uFillTx/>
                <a:latin typeface="Times New Roman" pitchFamily="18" charset="0"/>
                <a:ea typeface="+mj-ea"/>
                <a:cs typeface="+mj-cs"/>
              </a:rPr>
              <a:t>）</a:t>
            </a:r>
            <a:endParaRPr kumimoji="0" lang="en-US" altLang="zh-CN" sz="4000" b="0" i="0" u="none" strike="noStrike" kern="1200" cap="none" spc="0" normalizeH="0" baseline="0" noProof="0" dirty="0" smtClean="0">
              <a:ln>
                <a:noFill/>
              </a:ln>
              <a:solidFill>
                <a:schemeClr val="tx2">
                  <a:satMod val="130000"/>
                </a:schemeClr>
              </a:solidFill>
              <a:effectLst>
                <a:outerShdw blurRad="50000" dist="30000" dir="5400000" algn="tl" rotWithShape="0">
                  <a:srgbClr val="000000">
                    <a:alpha val="30000"/>
                  </a:srgbClr>
                </a:outerShdw>
              </a:effectLst>
              <a:uLnTx/>
              <a:uFillTx/>
              <a:latin typeface="+mj-lt"/>
              <a:ea typeface="+mj-ea"/>
              <a:cs typeface="+mj-cs"/>
            </a:endParaRPr>
          </a:p>
        </p:txBody>
      </p:sp>
    </p:spTree>
    <p:extLst>
      <p:ext uri="{BB962C8B-B14F-4D97-AF65-F5344CB8AC3E}">
        <p14:creationId xmlns:p14="http://schemas.microsoft.com/office/powerpoint/2010/main" val="20201572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1.3</a:t>
            </a:r>
            <a:r>
              <a:rPr lang="zh-CN" altLang="en-US" sz="4000" dirty="0" smtClean="0">
                <a:effectLst>
                  <a:outerShdw blurRad="38100" dist="38100" dir="2700000" algn="tl">
                    <a:srgbClr val="FFFFFF"/>
                  </a:outerShdw>
                </a:effectLst>
                <a:latin typeface="Times New Roman" pitchFamily="18" charset="0"/>
              </a:rPr>
              <a:t>软件架构的发展阶段（</a:t>
            </a:r>
            <a:r>
              <a:rPr lang="en-US" altLang="zh-CN" sz="4000" dirty="0" smtClean="0">
                <a:effectLst>
                  <a:outerShdw blurRad="38100" dist="38100" dir="2700000" algn="tl">
                    <a:srgbClr val="FFFFFF"/>
                  </a:outerShdw>
                </a:effectLst>
                <a:latin typeface="Times New Roman" pitchFamily="18" charset="0"/>
              </a:rPr>
              <a:t>2</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p:txBody>
          <a:bodyPr>
            <a:normAutofit/>
          </a:bodyPr>
          <a:lstStyle/>
          <a:p>
            <a:r>
              <a:rPr lang="en-US" altLang="zh-CN" dirty="0" smtClean="0"/>
              <a:t>1.</a:t>
            </a:r>
            <a:r>
              <a:rPr lang="zh-CN" altLang="en-US" dirty="0" smtClean="0"/>
              <a:t>基础研究阶段（</a:t>
            </a:r>
            <a:r>
              <a:rPr lang="en-US" altLang="zh-CN" dirty="0" smtClean="0"/>
              <a:t>1968-1994</a:t>
            </a:r>
            <a:r>
              <a:rPr lang="zh-CN" altLang="en-US" dirty="0" smtClean="0"/>
              <a:t>）</a:t>
            </a:r>
            <a:endParaRPr lang="en-US" altLang="zh-CN" dirty="0" smtClean="0"/>
          </a:p>
          <a:p>
            <a:pPr lvl="1"/>
            <a:r>
              <a:rPr lang="en-US" altLang="zh-CN" dirty="0" smtClean="0"/>
              <a:t>1968</a:t>
            </a:r>
            <a:r>
              <a:rPr lang="zh-CN" altLang="en-US" dirty="0" smtClean="0"/>
              <a:t>北大西洋公约组织</a:t>
            </a:r>
            <a:r>
              <a:rPr lang="en-US" dirty="0" smtClean="0"/>
              <a:t>(NATO)</a:t>
            </a:r>
            <a:r>
              <a:rPr lang="zh-CN" altLang="en-US" dirty="0" smtClean="0"/>
              <a:t>会议上第一次出现词语“软件架构”</a:t>
            </a:r>
            <a:endParaRPr lang="en-US" altLang="zh-CN" dirty="0" smtClean="0"/>
          </a:p>
          <a:p>
            <a:pPr lvl="1"/>
            <a:r>
              <a:rPr lang="zh-CN" altLang="en-US" dirty="0" smtClean="0"/>
              <a:t>直到</a:t>
            </a:r>
            <a:r>
              <a:rPr lang="en-US" altLang="zh-CN" dirty="0" smtClean="0"/>
              <a:t>20</a:t>
            </a:r>
            <a:r>
              <a:rPr lang="zh-CN" altLang="en-US" dirty="0" smtClean="0"/>
              <a:t>世纪</a:t>
            </a:r>
            <a:r>
              <a:rPr lang="en-US" dirty="0" smtClean="0"/>
              <a:t>80</a:t>
            </a:r>
            <a:r>
              <a:rPr lang="zh-CN" altLang="en-US" dirty="0" smtClean="0"/>
              <a:t>年代，“架构”一词大部分情况下被用于表示计算机系统的物理结构，偶尔被用于表示计算指令集的特定体系。</a:t>
            </a:r>
            <a:endParaRPr lang="en-US" altLang="zh-CN" dirty="0" smtClean="0"/>
          </a:p>
          <a:p>
            <a:pPr lvl="1"/>
            <a:r>
              <a:rPr lang="zh-CN" altLang="en-US" dirty="0" smtClean="0"/>
              <a:t>随着软件规模增大，开发者已经开始尝试</a:t>
            </a:r>
            <a:r>
              <a:rPr lang="zh-CN" altLang="en-US" b="1" dirty="0" smtClean="0"/>
              <a:t>模块化（</a:t>
            </a:r>
            <a:r>
              <a:rPr lang="en-US" u="sng" dirty="0" smtClean="0"/>
              <a:t>modularization</a:t>
            </a:r>
            <a:r>
              <a:rPr lang="zh-CN" altLang="en-US" b="1" dirty="0" smtClean="0"/>
              <a:t>）</a:t>
            </a:r>
            <a:r>
              <a:rPr lang="zh-CN" altLang="en-US" dirty="0" smtClean="0"/>
              <a:t>的实践</a:t>
            </a:r>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1.3</a:t>
            </a:r>
            <a:r>
              <a:rPr lang="zh-CN" altLang="en-US" sz="4000" dirty="0" smtClean="0">
                <a:effectLst>
                  <a:outerShdw blurRad="38100" dist="38100" dir="2700000" algn="tl">
                    <a:srgbClr val="FFFFFF"/>
                  </a:outerShdw>
                </a:effectLst>
                <a:latin typeface="Times New Roman" pitchFamily="18" charset="0"/>
              </a:rPr>
              <a:t>软件架构的发展阶段（</a:t>
            </a:r>
            <a:r>
              <a:rPr lang="en-US" altLang="zh-CN" sz="4000" dirty="0" smtClean="0">
                <a:effectLst>
                  <a:outerShdw blurRad="38100" dist="38100" dir="2700000" algn="tl">
                    <a:srgbClr val="FFFFFF"/>
                  </a:outerShdw>
                </a:effectLst>
                <a:latin typeface="Times New Roman" pitchFamily="18" charset="0"/>
              </a:rPr>
              <a:t>3</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p:txBody>
          <a:bodyPr>
            <a:normAutofit lnSpcReduction="10000"/>
          </a:bodyPr>
          <a:lstStyle/>
          <a:p>
            <a:r>
              <a:rPr lang="en-US" altLang="zh-CN" dirty="0" smtClean="0"/>
              <a:t>1.</a:t>
            </a:r>
            <a:r>
              <a:rPr lang="zh-CN" altLang="en-US" dirty="0" smtClean="0"/>
              <a:t>基础研究阶段（</a:t>
            </a:r>
            <a:r>
              <a:rPr lang="en-US" altLang="zh-CN" dirty="0" smtClean="0"/>
              <a:t>1968-1994</a:t>
            </a:r>
            <a:r>
              <a:rPr lang="zh-CN" altLang="en-US" dirty="0" smtClean="0"/>
              <a:t>）</a:t>
            </a:r>
            <a:endParaRPr lang="en-US" altLang="zh-CN" dirty="0" smtClean="0"/>
          </a:p>
          <a:p>
            <a:pPr lvl="1"/>
            <a:r>
              <a:rPr lang="zh-CN" altLang="en-US" b="1" dirty="0" smtClean="0"/>
              <a:t>模块化</a:t>
            </a:r>
            <a:r>
              <a:rPr lang="en-US" altLang="zh-CN" b="1" dirty="0" smtClean="0"/>
              <a:t>:</a:t>
            </a:r>
            <a:r>
              <a:rPr lang="zh-CN" altLang="en-US" dirty="0" smtClean="0"/>
              <a:t>指的是一种软件开发方法，把一个待开发的软件分解成若干小的简单的部分，称为模块。每一个模块都独立地开发、测试，最后再组装出整个软件。</a:t>
            </a:r>
            <a:endParaRPr lang="en-US" altLang="zh-CN" dirty="0" smtClean="0"/>
          </a:p>
          <a:p>
            <a:pPr lvl="1"/>
            <a:r>
              <a:rPr lang="zh-CN" altLang="en-US" dirty="0" smtClean="0"/>
              <a:t>模块化规则：</a:t>
            </a:r>
            <a:endParaRPr lang="en-US" altLang="zh-CN" dirty="0" smtClean="0"/>
          </a:p>
          <a:p>
            <a:pPr lvl="2"/>
            <a:r>
              <a:rPr lang="zh-CN" altLang="en-US" dirty="0" smtClean="0"/>
              <a:t>高内聚，低耦合</a:t>
            </a:r>
            <a:endParaRPr lang="en-US" altLang="zh-CN" dirty="0" smtClean="0"/>
          </a:p>
          <a:p>
            <a:pPr lvl="2"/>
            <a:r>
              <a:rPr lang="zh-CN" altLang="en-US" dirty="0" smtClean="0"/>
              <a:t>模块大小适度</a:t>
            </a:r>
            <a:endParaRPr lang="en-US" altLang="zh-CN" dirty="0" smtClean="0"/>
          </a:p>
          <a:p>
            <a:pPr lvl="2"/>
            <a:r>
              <a:rPr lang="zh-CN" altLang="en-US" dirty="0" smtClean="0"/>
              <a:t>模块调用链的深度</a:t>
            </a:r>
            <a:r>
              <a:rPr lang="en-US" dirty="0" smtClean="0"/>
              <a:t> (</a:t>
            </a:r>
            <a:r>
              <a:rPr lang="zh-CN" altLang="en-US" dirty="0" smtClean="0"/>
              <a:t>嵌套层次</a:t>
            </a:r>
            <a:r>
              <a:rPr lang="en-US" dirty="0" smtClean="0"/>
              <a:t>)</a:t>
            </a:r>
            <a:r>
              <a:rPr lang="zh-CN" altLang="en-US" dirty="0" smtClean="0"/>
              <a:t>不可过多</a:t>
            </a:r>
            <a:endParaRPr lang="en-US" altLang="zh-CN" dirty="0" smtClean="0"/>
          </a:p>
          <a:p>
            <a:pPr lvl="2"/>
            <a:r>
              <a:rPr lang="zh-CN" altLang="en-US" dirty="0" smtClean="0"/>
              <a:t>接口干净，信息隐蔽</a:t>
            </a:r>
            <a:endParaRPr lang="en-US" altLang="zh-CN" dirty="0" smtClean="0"/>
          </a:p>
          <a:p>
            <a:pPr lvl="2"/>
            <a:r>
              <a:rPr lang="zh-CN" altLang="en-US" dirty="0" smtClean="0"/>
              <a:t>尽可能地复用已有模块</a:t>
            </a:r>
          </a:p>
          <a:p>
            <a:pPr lvl="2"/>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1.3</a:t>
            </a:r>
            <a:r>
              <a:rPr lang="zh-CN" altLang="en-US" sz="4000" dirty="0" smtClean="0">
                <a:effectLst>
                  <a:outerShdw blurRad="38100" dist="38100" dir="2700000" algn="tl">
                    <a:srgbClr val="FFFFFF"/>
                  </a:outerShdw>
                </a:effectLst>
                <a:latin typeface="Times New Roman" pitchFamily="18" charset="0"/>
              </a:rPr>
              <a:t>软件架构的发展阶段（</a:t>
            </a:r>
            <a:r>
              <a:rPr lang="en-US" altLang="zh-CN" sz="4000" dirty="0" smtClean="0">
                <a:effectLst>
                  <a:outerShdw blurRad="38100" dist="38100" dir="2700000" algn="tl">
                    <a:srgbClr val="FFFFFF"/>
                  </a:outerShdw>
                </a:effectLst>
                <a:latin typeface="Times New Roman" pitchFamily="18" charset="0"/>
              </a:rPr>
              <a:t>4</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p:txBody>
          <a:bodyPr>
            <a:normAutofit fontScale="92500" lnSpcReduction="10000"/>
          </a:bodyPr>
          <a:lstStyle/>
          <a:p>
            <a:r>
              <a:rPr lang="en-US" altLang="zh-CN" dirty="0" smtClean="0"/>
              <a:t>2.</a:t>
            </a:r>
            <a:r>
              <a:rPr lang="zh-CN" altLang="en-US" dirty="0" smtClean="0"/>
              <a:t>概念体系和核心技术形成阶段（</a:t>
            </a:r>
            <a:r>
              <a:rPr lang="en-US" altLang="en-US" dirty="0" smtClean="0"/>
              <a:t>1991-2000</a:t>
            </a:r>
            <a:r>
              <a:rPr lang="zh-CN" altLang="en-US" dirty="0" smtClean="0"/>
              <a:t>）</a:t>
            </a:r>
            <a:endParaRPr lang="en-US" altLang="zh-CN" dirty="0" smtClean="0"/>
          </a:p>
          <a:p>
            <a:pPr lvl="1"/>
            <a:r>
              <a:rPr lang="en-US" dirty="0" smtClean="0"/>
              <a:t>1991</a:t>
            </a:r>
            <a:r>
              <a:rPr lang="zh-CN" altLang="en-US" dirty="0" smtClean="0"/>
              <a:t>年，</a:t>
            </a:r>
            <a:r>
              <a:rPr lang="en-US" dirty="0" smtClean="0"/>
              <a:t>Winston W. Royce </a:t>
            </a:r>
            <a:r>
              <a:rPr lang="zh-CN" altLang="en-US" dirty="0" smtClean="0"/>
              <a:t>与</a:t>
            </a:r>
            <a:r>
              <a:rPr lang="en-US" dirty="0" smtClean="0"/>
              <a:t> Walker Royce </a:t>
            </a:r>
            <a:r>
              <a:rPr lang="zh-CN" altLang="en-US" dirty="0" smtClean="0"/>
              <a:t>首次对软件架构进行了定义。</a:t>
            </a:r>
            <a:endParaRPr lang="en-US" altLang="zh-CN" dirty="0" smtClean="0"/>
          </a:p>
          <a:p>
            <a:pPr lvl="1"/>
            <a:r>
              <a:rPr lang="en-US" dirty="0" smtClean="0"/>
              <a:t>1992</a:t>
            </a:r>
            <a:r>
              <a:rPr lang="zh-CN" altLang="en-US" dirty="0" smtClean="0"/>
              <a:t>年</a:t>
            </a:r>
            <a:r>
              <a:rPr lang="en-US" dirty="0" smtClean="0"/>
              <a:t>D </a:t>
            </a:r>
            <a:r>
              <a:rPr lang="en-US" dirty="0" err="1" smtClean="0"/>
              <a:t>E.Perry</a:t>
            </a:r>
            <a:r>
              <a:rPr lang="zh-CN" altLang="en-US" dirty="0" smtClean="0"/>
              <a:t>与</a:t>
            </a:r>
            <a:r>
              <a:rPr lang="en-US" dirty="0" smtClean="0"/>
              <a:t>A </a:t>
            </a:r>
            <a:r>
              <a:rPr lang="en-US" dirty="0" err="1" smtClean="0"/>
              <a:t>L.Wolf</a:t>
            </a:r>
            <a:r>
              <a:rPr lang="zh-CN" altLang="en-US" dirty="0" smtClean="0"/>
              <a:t>对软件架构进行了阐述，提出了著名的</a:t>
            </a:r>
            <a:r>
              <a:rPr lang="en-US" dirty="0" smtClean="0"/>
              <a:t>{elements, forms, rationale} = software architecture</a:t>
            </a:r>
            <a:r>
              <a:rPr lang="zh-CN" altLang="en-US" dirty="0" smtClean="0"/>
              <a:t>公式</a:t>
            </a:r>
            <a:endParaRPr lang="en-US" altLang="zh-CN" dirty="0" smtClean="0"/>
          </a:p>
          <a:p>
            <a:pPr lvl="1"/>
            <a:r>
              <a:rPr lang="en-US" dirty="0" smtClean="0"/>
              <a:t>1996</a:t>
            </a:r>
            <a:r>
              <a:rPr lang="zh-CN" altLang="en-US" dirty="0" smtClean="0"/>
              <a:t>年</a:t>
            </a:r>
            <a:r>
              <a:rPr lang="en-US" dirty="0" smtClean="0"/>
              <a:t>CMU/SEI</a:t>
            </a:r>
            <a:r>
              <a:rPr lang="zh-CN" altLang="en-US" dirty="0" smtClean="0"/>
              <a:t>的</a:t>
            </a:r>
            <a:r>
              <a:rPr lang="en-US" dirty="0" smtClean="0"/>
              <a:t>Mary Shaw</a:t>
            </a:r>
            <a:r>
              <a:rPr lang="zh-CN" altLang="en-US" dirty="0" smtClean="0"/>
              <a:t>和</a:t>
            </a:r>
            <a:r>
              <a:rPr lang="en-US" dirty="0" smtClean="0"/>
              <a:t>David </a:t>
            </a:r>
            <a:r>
              <a:rPr lang="en-US" dirty="0" err="1" smtClean="0"/>
              <a:t>Garlan</a:t>
            </a:r>
            <a:r>
              <a:rPr lang="zh-CN" altLang="en-US" dirty="0" smtClean="0"/>
              <a:t>，出版了</a:t>
            </a:r>
            <a:r>
              <a:rPr lang="en-US" altLang="zh-CN" dirty="0" smtClean="0"/>
              <a:t>《</a:t>
            </a:r>
            <a:r>
              <a:rPr lang="en-US" dirty="0" smtClean="0"/>
              <a:t>Software Architecture: Perspectives on an Emerging Discipline</a:t>
            </a:r>
            <a:r>
              <a:rPr lang="en-US" altLang="zh-CN" dirty="0" smtClean="0"/>
              <a:t>》</a:t>
            </a:r>
            <a:r>
              <a:rPr lang="zh-CN" altLang="en-US" dirty="0" smtClean="0"/>
              <a:t>，对软件架构概念的内涵与外延进行了详尽阐述，对软件架构概念的形成起到了至关重要的作用。</a:t>
            </a:r>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1.3</a:t>
            </a:r>
            <a:r>
              <a:rPr lang="zh-CN" altLang="en-US" sz="4000" dirty="0" smtClean="0">
                <a:effectLst>
                  <a:outerShdw blurRad="38100" dist="38100" dir="2700000" algn="tl">
                    <a:srgbClr val="FFFFFF"/>
                  </a:outerShdw>
                </a:effectLst>
                <a:latin typeface="Times New Roman" pitchFamily="18" charset="0"/>
              </a:rPr>
              <a:t>软件架构的发展阶段（</a:t>
            </a:r>
            <a:r>
              <a:rPr lang="en-US" altLang="zh-CN" sz="4000" dirty="0" smtClean="0">
                <a:effectLst>
                  <a:outerShdw blurRad="38100" dist="38100" dir="2700000" algn="tl">
                    <a:srgbClr val="FFFFFF"/>
                  </a:outerShdw>
                </a:effectLst>
                <a:latin typeface="Times New Roman" pitchFamily="18" charset="0"/>
              </a:rPr>
              <a:t>5</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p:txBody>
          <a:bodyPr>
            <a:normAutofit lnSpcReduction="10000"/>
          </a:bodyPr>
          <a:lstStyle/>
          <a:p>
            <a:r>
              <a:rPr lang="en-US" altLang="zh-CN" dirty="0" smtClean="0"/>
              <a:t>2.</a:t>
            </a:r>
            <a:r>
              <a:rPr lang="zh-CN" altLang="en-US" dirty="0" smtClean="0"/>
              <a:t>概念体系和核心技术形成阶段（</a:t>
            </a:r>
            <a:r>
              <a:rPr lang="en-US" altLang="en-US" dirty="0" smtClean="0"/>
              <a:t>1991-2000</a:t>
            </a:r>
            <a:r>
              <a:rPr lang="zh-CN" altLang="en-US" dirty="0" smtClean="0"/>
              <a:t>）</a:t>
            </a:r>
            <a:endParaRPr lang="en-US" altLang="zh-CN" dirty="0" smtClean="0"/>
          </a:p>
          <a:p>
            <a:pPr lvl="1"/>
            <a:r>
              <a:rPr lang="zh-CN" altLang="en-US" dirty="0" smtClean="0"/>
              <a:t>从</a:t>
            </a:r>
            <a:r>
              <a:rPr lang="en-US" dirty="0" smtClean="0"/>
              <a:t>1995</a:t>
            </a:r>
            <a:r>
              <a:rPr lang="zh-CN" altLang="en-US" dirty="0" smtClean="0"/>
              <a:t>年起，软件架构研究领域开始进入快速发展阶段</a:t>
            </a:r>
            <a:endParaRPr lang="en-US" altLang="zh-CN" dirty="0" smtClean="0"/>
          </a:p>
          <a:p>
            <a:pPr lvl="1"/>
            <a:r>
              <a:rPr lang="en-US" dirty="0" err="1" smtClean="0"/>
              <a:t>Booch</a:t>
            </a:r>
            <a:r>
              <a:rPr lang="zh-CN" altLang="en-US" dirty="0" smtClean="0"/>
              <a:t>，</a:t>
            </a:r>
            <a:r>
              <a:rPr lang="en-US" dirty="0" err="1" smtClean="0"/>
              <a:t>Rumbaugh</a:t>
            </a:r>
            <a:r>
              <a:rPr lang="en-US" dirty="0" smtClean="0"/>
              <a:t> and Jacobson</a:t>
            </a:r>
            <a:r>
              <a:rPr lang="zh-CN" altLang="en-US" dirty="0" smtClean="0"/>
              <a:t>从另一个角度对软件架构的概念进行了全新的诠释，认为架构是一系列重要决策的集合。</a:t>
            </a:r>
            <a:endParaRPr lang="en-US" altLang="zh-CN" dirty="0" smtClean="0"/>
          </a:p>
          <a:p>
            <a:pPr lvl="1"/>
            <a:r>
              <a:rPr lang="zh-CN" altLang="en-US" dirty="0" smtClean="0"/>
              <a:t>提出了软件架构实践方法体系</a:t>
            </a:r>
            <a:r>
              <a:rPr lang="en-US" dirty="0" smtClean="0"/>
              <a:t>SAAM</a:t>
            </a:r>
            <a:r>
              <a:rPr lang="zh-CN" altLang="en-US" dirty="0" smtClean="0"/>
              <a:t>；</a:t>
            </a:r>
            <a:endParaRPr lang="en-US" altLang="zh-CN" dirty="0" smtClean="0"/>
          </a:p>
          <a:p>
            <a:pPr lvl="1"/>
            <a:r>
              <a:rPr lang="en-US" dirty="0" err="1" smtClean="0"/>
              <a:t>Rechtin</a:t>
            </a:r>
            <a:r>
              <a:rPr lang="en-US" dirty="0" smtClean="0"/>
              <a:t> </a:t>
            </a:r>
            <a:r>
              <a:rPr lang="zh-CN" altLang="en-US" dirty="0" smtClean="0"/>
              <a:t>与</a:t>
            </a:r>
            <a:r>
              <a:rPr lang="en-US" dirty="0" smtClean="0"/>
              <a:t> Mark Maier</a:t>
            </a:r>
            <a:r>
              <a:rPr lang="zh-CN" altLang="en-US" dirty="0" smtClean="0"/>
              <a:t>在</a:t>
            </a:r>
            <a:r>
              <a:rPr lang="en-US" dirty="0" smtClean="0"/>
              <a:t>1998</a:t>
            </a:r>
            <a:r>
              <a:rPr lang="zh-CN" altLang="en-US" dirty="0" smtClean="0"/>
              <a:t>年出版的</a:t>
            </a:r>
            <a:r>
              <a:rPr lang="en-US" altLang="zh-CN" dirty="0" smtClean="0"/>
              <a:t>《</a:t>
            </a:r>
            <a:r>
              <a:rPr lang="en-US" dirty="0" smtClean="0"/>
              <a:t>The Art of Systems Architecting</a:t>
            </a:r>
            <a:r>
              <a:rPr lang="en-US" altLang="zh-CN" dirty="0" smtClean="0"/>
              <a:t>》</a:t>
            </a:r>
            <a:r>
              <a:rPr lang="zh-CN" altLang="en-US" dirty="0" smtClean="0"/>
              <a:t>很好地阐述了系统与软件的关系。</a:t>
            </a:r>
          </a:p>
          <a:p>
            <a:pPr lvl="1"/>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1.3</a:t>
            </a:r>
            <a:r>
              <a:rPr lang="zh-CN" altLang="en-US" sz="4000" dirty="0" smtClean="0">
                <a:effectLst>
                  <a:outerShdw blurRad="38100" dist="38100" dir="2700000" algn="tl">
                    <a:srgbClr val="FFFFFF"/>
                  </a:outerShdw>
                </a:effectLst>
                <a:latin typeface="Times New Roman" pitchFamily="18" charset="0"/>
              </a:rPr>
              <a:t>软件架构的发展阶段（</a:t>
            </a:r>
            <a:r>
              <a:rPr lang="en-US" altLang="zh-CN" sz="4000" dirty="0" smtClean="0">
                <a:effectLst>
                  <a:outerShdw blurRad="38100" dist="38100" dir="2700000" algn="tl">
                    <a:srgbClr val="FFFFFF"/>
                  </a:outerShdw>
                </a:effectLst>
                <a:latin typeface="Times New Roman" pitchFamily="18" charset="0"/>
              </a:rPr>
              <a:t>6</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p:txBody>
          <a:bodyPr>
            <a:normAutofit fontScale="92500" lnSpcReduction="20000"/>
          </a:bodyPr>
          <a:lstStyle/>
          <a:p>
            <a:r>
              <a:rPr lang="en-US" altLang="zh-CN" dirty="0" smtClean="0"/>
              <a:t>2.</a:t>
            </a:r>
            <a:r>
              <a:rPr lang="zh-CN" altLang="en-US" dirty="0" smtClean="0"/>
              <a:t>概念体系和核心技术形成阶段（</a:t>
            </a:r>
            <a:r>
              <a:rPr lang="en-US" altLang="en-US" dirty="0" smtClean="0"/>
              <a:t>1991-2000</a:t>
            </a:r>
            <a:r>
              <a:rPr lang="zh-CN" altLang="en-US" dirty="0" smtClean="0"/>
              <a:t>）</a:t>
            </a:r>
            <a:endParaRPr lang="en-US" altLang="zh-CN" dirty="0" smtClean="0"/>
          </a:p>
          <a:p>
            <a:pPr lvl="1"/>
            <a:r>
              <a:rPr lang="zh-CN" altLang="en-US" dirty="0" smtClean="0"/>
              <a:t>这一阶段最重要的成果之一就是软件</a:t>
            </a:r>
            <a:r>
              <a:rPr lang="zh-CN" altLang="en-US" b="1" dirty="0" smtClean="0"/>
              <a:t>组件</a:t>
            </a:r>
            <a:r>
              <a:rPr lang="zh-CN" altLang="en-US" dirty="0" smtClean="0"/>
              <a:t>（</a:t>
            </a:r>
            <a:r>
              <a:rPr lang="en-US" u="sng" dirty="0" smtClean="0"/>
              <a:t>component</a:t>
            </a:r>
            <a:r>
              <a:rPr lang="zh-CN" altLang="en-US" dirty="0" smtClean="0"/>
              <a:t>）技术</a:t>
            </a:r>
            <a:endParaRPr lang="en-US" altLang="zh-CN" dirty="0" smtClean="0"/>
          </a:p>
          <a:p>
            <a:pPr lvl="1"/>
            <a:r>
              <a:rPr lang="zh-CN" altLang="en-US" dirty="0" smtClean="0"/>
              <a:t>组件化开发并不等同于模块化开发。模块化开发只是在逻辑上做了切分，物理上（开发出的系统代码）通常并没有真正意义上的隔离。</a:t>
            </a:r>
            <a:endParaRPr lang="en-US" altLang="zh-CN" dirty="0" smtClean="0"/>
          </a:p>
          <a:p>
            <a:pPr lvl="1"/>
            <a:r>
              <a:rPr lang="zh-CN" altLang="en-US" dirty="0" smtClean="0"/>
              <a:t>组件化也不等同于应用集成，应用集成是将一些基于不同平台或不同方案的应用软件和系统有机地集成到一个无缝的、并列的、易于访问的单一系统中，建立一个统一的综合应用。</a:t>
            </a:r>
            <a:endParaRPr lang="en-US" altLang="zh-CN" dirty="0" smtClean="0"/>
          </a:p>
          <a:p>
            <a:pPr lvl="1"/>
            <a:r>
              <a:rPr lang="zh-CN" altLang="en-US" dirty="0" smtClean="0"/>
              <a:t>组件化应比模块化更独立，但比应用集成结合得更加紧密。</a:t>
            </a:r>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1.3</a:t>
            </a:r>
            <a:r>
              <a:rPr lang="zh-CN" altLang="en-US" sz="4000" dirty="0" smtClean="0">
                <a:effectLst>
                  <a:outerShdw blurRad="38100" dist="38100" dir="2700000" algn="tl">
                    <a:srgbClr val="FFFFFF"/>
                  </a:outerShdw>
                </a:effectLst>
                <a:latin typeface="Times New Roman" pitchFamily="18" charset="0"/>
              </a:rPr>
              <a:t>软件架构的发展阶段（</a:t>
            </a:r>
            <a:r>
              <a:rPr lang="en-US" altLang="zh-CN" sz="4000" dirty="0" smtClean="0">
                <a:effectLst>
                  <a:outerShdw blurRad="38100" dist="38100" dir="2700000" algn="tl">
                    <a:srgbClr val="FFFFFF"/>
                  </a:outerShdw>
                </a:effectLst>
                <a:latin typeface="Times New Roman" pitchFamily="18" charset="0"/>
              </a:rPr>
              <a:t>7</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p:txBody>
          <a:bodyPr>
            <a:normAutofit/>
          </a:bodyPr>
          <a:lstStyle/>
          <a:p>
            <a:r>
              <a:rPr lang="en-US" altLang="zh-CN" dirty="0" smtClean="0"/>
              <a:t>3.</a:t>
            </a:r>
            <a:r>
              <a:rPr lang="zh-CN" altLang="en-US" dirty="0" smtClean="0"/>
              <a:t>理论体系丰富发展阶段（</a:t>
            </a:r>
            <a:r>
              <a:rPr lang="en-US" dirty="0" smtClean="0"/>
              <a:t>1996-</a:t>
            </a:r>
            <a:r>
              <a:rPr lang="en-US" altLang="zh-CN" dirty="0" smtClean="0"/>
              <a:t>1999</a:t>
            </a:r>
            <a:r>
              <a:rPr lang="zh-CN" altLang="en-US" dirty="0" smtClean="0"/>
              <a:t>）</a:t>
            </a:r>
            <a:endParaRPr lang="en-US" altLang="zh-CN" dirty="0" smtClean="0"/>
          </a:p>
          <a:p>
            <a:pPr lvl="1"/>
            <a:r>
              <a:rPr lang="zh-CN" altLang="en-US" dirty="0" smtClean="0"/>
              <a:t>随着基于组件软件架构理论的建立，与之相关的一些研究方向逐渐成为软件工程领域的研究热点。主要研究方向包括：</a:t>
            </a:r>
            <a:endParaRPr lang="en-US" altLang="zh-CN" dirty="0" smtClean="0"/>
          </a:p>
          <a:p>
            <a:pPr lvl="2"/>
            <a:r>
              <a:rPr lang="zh-CN" altLang="en-US" dirty="0" smtClean="0"/>
              <a:t>软件架构的描述与表示；</a:t>
            </a:r>
            <a:endParaRPr lang="en-US" altLang="zh-CN" dirty="0" smtClean="0"/>
          </a:p>
          <a:p>
            <a:pPr lvl="2"/>
            <a:r>
              <a:rPr lang="zh-CN" altLang="en-US" dirty="0" smtClean="0"/>
              <a:t>软件架构分析、设计与测试；</a:t>
            </a:r>
            <a:endParaRPr lang="en-US" altLang="zh-CN" dirty="0" smtClean="0"/>
          </a:p>
          <a:p>
            <a:pPr lvl="2"/>
            <a:r>
              <a:rPr lang="zh-CN" altLang="en-US" dirty="0" smtClean="0"/>
              <a:t>软件架构发现、演化与重用；</a:t>
            </a:r>
            <a:endParaRPr lang="en-US" altLang="zh-CN" dirty="0" smtClean="0"/>
          </a:p>
          <a:p>
            <a:pPr lvl="2"/>
            <a:r>
              <a:rPr lang="zh-CN" altLang="en-US" dirty="0" smtClean="0"/>
              <a:t>基于软件架构的开发方法；</a:t>
            </a:r>
            <a:endParaRPr lang="en-US" altLang="zh-CN" dirty="0" smtClean="0"/>
          </a:p>
          <a:p>
            <a:pPr lvl="2"/>
            <a:r>
              <a:rPr lang="zh-CN" altLang="en-US" dirty="0" smtClean="0"/>
              <a:t>软件架构的风格</a:t>
            </a:r>
            <a:endParaRPr lang="en-US" altLang="zh-CN" dirty="0" smtClean="0"/>
          </a:p>
          <a:p>
            <a:pPr lvl="2"/>
            <a:r>
              <a:rPr lang="zh-CN" altLang="en-US" dirty="0" smtClean="0"/>
              <a:t>等等</a:t>
            </a:r>
          </a:p>
          <a:p>
            <a:pPr lvl="1"/>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1.3</a:t>
            </a:r>
            <a:r>
              <a:rPr lang="zh-CN" altLang="en-US" sz="4000" dirty="0" smtClean="0">
                <a:effectLst>
                  <a:outerShdw blurRad="38100" dist="38100" dir="2700000" algn="tl">
                    <a:srgbClr val="FFFFFF"/>
                  </a:outerShdw>
                </a:effectLst>
                <a:latin typeface="Times New Roman" pitchFamily="18" charset="0"/>
              </a:rPr>
              <a:t>软件架构的发展阶段（</a:t>
            </a:r>
            <a:r>
              <a:rPr lang="en-US" altLang="zh-CN" sz="4000" dirty="0" smtClean="0">
                <a:effectLst>
                  <a:outerShdw blurRad="38100" dist="38100" dir="2700000" algn="tl">
                    <a:srgbClr val="FFFFFF"/>
                  </a:outerShdw>
                </a:effectLst>
                <a:latin typeface="Times New Roman" pitchFamily="18" charset="0"/>
              </a:rPr>
              <a:t>8</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p:txBody>
          <a:bodyPr>
            <a:normAutofit fontScale="92500"/>
          </a:bodyPr>
          <a:lstStyle/>
          <a:p>
            <a:r>
              <a:rPr lang="en-US" altLang="zh-CN" sz="3300" dirty="0" smtClean="0"/>
              <a:t>4.</a:t>
            </a:r>
            <a:r>
              <a:rPr lang="zh-CN" altLang="en-US" sz="3300" dirty="0" smtClean="0"/>
              <a:t>理论完善和普及应用阶段（</a:t>
            </a:r>
            <a:r>
              <a:rPr lang="en-US" sz="3300" dirty="0" smtClean="0"/>
              <a:t>1999-</a:t>
            </a:r>
            <a:r>
              <a:rPr lang="zh-CN" altLang="en-US" sz="3300" dirty="0" smtClean="0"/>
              <a:t>至今）</a:t>
            </a:r>
            <a:endParaRPr lang="en-US" altLang="zh-CN" sz="3300" dirty="0" smtClean="0"/>
          </a:p>
          <a:p>
            <a:pPr lvl="1"/>
            <a:r>
              <a:rPr lang="en-US" dirty="0" smtClean="0"/>
              <a:t>1999</a:t>
            </a:r>
            <a:r>
              <a:rPr lang="zh-CN" altLang="en-US" dirty="0" smtClean="0"/>
              <a:t>年，第一届</a:t>
            </a:r>
            <a:r>
              <a:rPr lang="en-US" dirty="0" smtClean="0"/>
              <a:t>IFIP</a:t>
            </a:r>
            <a:r>
              <a:rPr lang="zh-CN" altLang="en-US" dirty="0" smtClean="0"/>
              <a:t>软件架构会议召开；</a:t>
            </a:r>
            <a:r>
              <a:rPr lang="en-US" dirty="0" smtClean="0"/>
              <a:t>Open Group </a:t>
            </a:r>
            <a:r>
              <a:rPr lang="zh-CN" altLang="en-US" dirty="0" smtClean="0"/>
              <a:t>提出了架构描述</a:t>
            </a:r>
            <a:r>
              <a:rPr lang="en-US" dirty="0" smtClean="0"/>
              <a:t>Markup</a:t>
            </a:r>
            <a:r>
              <a:rPr lang="zh-CN" altLang="en-US" dirty="0" smtClean="0"/>
              <a:t>语言，一种基于</a:t>
            </a:r>
            <a:r>
              <a:rPr lang="en-US" dirty="0" smtClean="0"/>
              <a:t>XML</a:t>
            </a:r>
            <a:r>
              <a:rPr lang="zh-CN" altLang="en-US" dirty="0" smtClean="0"/>
              <a:t>的架构描述语言，支持广泛的架构模型共享；软件产品线成为了软件架构的一个重要分支，吸引了大量的大型企业的关注。</a:t>
            </a:r>
            <a:endParaRPr lang="en-US" altLang="zh-CN" dirty="0" smtClean="0"/>
          </a:p>
          <a:p>
            <a:pPr lvl="1"/>
            <a:r>
              <a:rPr lang="en-US" dirty="0" smtClean="0"/>
              <a:t>2000</a:t>
            </a:r>
            <a:r>
              <a:rPr lang="zh-CN" altLang="en-US" dirty="0" smtClean="0"/>
              <a:t>年，</a:t>
            </a:r>
            <a:r>
              <a:rPr lang="en-US" dirty="0" smtClean="0"/>
              <a:t>IEEE 1471-2000</a:t>
            </a:r>
            <a:r>
              <a:rPr lang="zh-CN" altLang="en-US" dirty="0" smtClean="0"/>
              <a:t>发布，为软件架构的普及应用制定了标准化规范，该标准随后分别于</a:t>
            </a:r>
            <a:r>
              <a:rPr lang="en-US" dirty="0" smtClean="0"/>
              <a:t>2007</a:t>
            </a:r>
            <a:r>
              <a:rPr lang="zh-CN" altLang="en-US" dirty="0" smtClean="0"/>
              <a:t>年与</a:t>
            </a:r>
            <a:r>
              <a:rPr lang="en-US" dirty="0" smtClean="0"/>
              <a:t>2011</a:t>
            </a:r>
            <a:r>
              <a:rPr lang="zh-CN" altLang="en-US" dirty="0" smtClean="0"/>
              <a:t>年得到扩充与修改。</a:t>
            </a:r>
            <a:endParaRPr lang="en-US" altLang="zh-CN" dirty="0" smtClean="0"/>
          </a:p>
          <a:p>
            <a:pPr lvl="1"/>
            <a:r>
              <a:rPr lang="en-US" dirty="0" smtClean="0"/>
              <a:t>2003</a:t>
            </a:r>
            <a:r>
              <a:rPr lang="zh-CN" altLang="en-US" dirty="0" smtClean="0"/>
              <a:t>年，</a:t>
            </a:r>
            <a:r>
              <a:rPr lang="en-US" altLang="zh-CN" dirty="0" smtClean="0"/>
              <a:t>《</a:t>
            </a:r>
            <a:r>
              <a:rPr lang="en-US" dirty="0" smtClean="0"/>
              <a:t>Software Architecture in Practice</a:t>
            </a:r>
            <a:r>
              <a:rPr lang="en-US" altLang="zh-CN" dirty="0" smtClean="0"/>
              <a:t>》</a:t>
            </a:r>
            <a:r>
              <a:rPr lang="zh-CN" altLang="en-US" dirty="0" smtClean="0"/>
              <a:t>一书出版。</a:t>
            </a:r>
          </a:p>
          <a:p>
            <a:pPr lvl="1"/>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1.4</a:t>
            </a:r>
            <a:r>
              <a:rPr lang="zh-CN" altLang="en-US" sz="4000" dirty="0" smtClean="0">
                <a:effectLst>
                  <a:outerShdw blurRad="38100" dist="38100" dir="2700000" algn="tl">
                    <a:srgbClr val="FFFFFF"/>
                  </a:outerShdw>
                </a:effectLst>
                <a:latin typeface="Times New Roman" pitchFamily="18" charset="0"/>
              </a:rPr>
              <a:t>软件架构研究和应用现状（</a:t>
            </a:r>
            <a:r>
              <a:rPr lang="en-US" altLang="zh-CN" sz="4000" dirty="0" smtClean="0">
                <a:effectLst>
                  <a:outerShdw blurRad="38100" dist="38100" dir="2700000" algn="tl">
                    <a:srgbClr val="FFFFFF"/>
                  </a:outerShdw>
                </a:effectLst>
                <a:latin typeface="Times New Roman" pitchFamily="18" charset="0"/>
              </a:rPr>
              <a:t>1</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p:txBody>
          <a:bodyPr>
            <a:normAutofit/>
          </a:bodyPr>
          <a:lstStyle/>
          <a:p>
            <a:r>
              <a:rPr lang="en-US" altLang="zh-CN" dirty="0" smtClean="0"/>
              <a:t>1.</a:t>
            </a:r>
            <a:r>
              <a:rPr lang="zh-CN" altLang="en-US" dirty="0" smtClean="0"/>
              <a:t>软件架构理论和方法研究</a:t>
            </a:r>
            <a:endParaRPr lang="en-US" altLang="zh-CN" dirty="0" smtClean="0"/>
          </a:p>
          <a:p>
            <a:pPr lvl="1"/>
            <a:r>
              <a:rPr lang="zh-CN" altLang="en-US" dirty="0" smtClean="0"/>
              <a:t>（</a:t>
            </a:r>
            <a:r>
              <a:rPr lang="en-US" altLang="zh-CN" dirty="0" smtClean="0"/>
              <a:t>1</a:t>
            </a:r>
            <a:r>
              <a:rPr lang="zh-CN" altLang="en-US" dirty="0" smtClean="0"/>
              <a:t>）软件架构描述与构造表示</a:t>
            </a:r>
            <a:endParaRPr lang="en-US" altLang="zh-CN" dirty="0" smtClean="0"/>
          </a:p>
          <a:p>
            <a:pPr lvl="2"/>
            <a:r>
              <a:rPr lang="zh-CN" altLang="en-US" dirty="0" smtClean="0"/>
              <a:t>软件架构描述语言：各种</a:t>
            </a:r>
            <a:r>
              <a:rPr lang="en-US" altLang="zh-CN" dirty="0" smtClean="0"/>
              <a:t>ADL</a:t>
            </a:r>
          </a:p>
          <a:p>
            <a:pPr lvl="2"/>
            <a:r>
              <a:rPr lang="zh-CN" altLang="en-US" dirty="0" smtClean="0"/>
              <a:t>软件架构构造表示方法：</a:t>
            </a:r>
            <a:endParaRPr lang="en-US" altLang="zh-CN" dirty="0" smtClean="0"/>
          </a:p>
          <a:p>
            <a:pPr lvl="3"/>
            <a:r>
              <a:rPr lang="zh-CN" altLang="en-US" dirty="0" smtClean="0">
                <a:solidFill>
                  <a:srgbClr val="FF0000"/>
                </a:solidFill>
              </a:rPr>
              <a:t>形式化的架构描述方法</a:t>
            </a:r>
            <a:r>
              <a:rPr lang="zh-CN" altLang="en-US" dirty="0" smtClean="0"/>
              <a:t>：在严格的书数学基础之上</a:t>
            </a:r>
            <a:endParaRPr lang="en-US" altLang="zh-CN" dirty="0" smtClean="0"/>
          </a:p>
          <a:p>
            <a:pPr lvl="3"/>
            <a:r>
              <a:rPr lang="en-US" dirty="0" err="1" smtClean="0">
                <a:solidFill>
                  <a:srgbClr val="FF0000"/>
                </a:solidFill>
              </a:rPr>
              <a:t>Kruchten</a:t>
            </a:r>
            <a:r>
              <a:rPr lang="zh-CN" altLang="en-US" dirty="0" smtClean="0">
                <a:solidFill>
                  <a:srgbClr val="FF0000"/>
                </a:solidFill>
              </a:rPr>
              <a:t>的“</a:t>
            </a:r>
            <a:r>
              <a:rPr lang="en-US" dirty="0" smtClean="0">
                <a:solidFill>
                  <a:srgbClr val="FF0000"/>
                </a:solidFill>
              </a:rPr>
              <a:t>4+1</a:t>
            </a:r>
            <a:r>
              <a:rPr lang="zh-CN" altLang="en-US" dirty="0" smtClean="0">
                <a:solidFill>
                  <a:srgbClr val="FF0000"/>
                </a:solidFill>
              </a:rPr>
              <a:t>”架构模型</a:t>
            </a:r>
            <a:r>
              <a:rPr lang="zh-CN" altLang="en-US" dirty="0" smtClean="0"/>
              <a:t>：从</a:t>
            </a:r>
            <a:r>
              <a:rPr lang="en-US" dirty="0" smtClean="0"/>
              <a:t>5</a:t>
            </a:r>
            <a:r>
              <a:rPr lang="zh-CN" altLang="en-US" dirty="0" smtClean="0"/>
              <a:t>个不同的视角包括逻辑视角、过程视角、物理视角、开发视角和场景视角来描述软件架构。</a:t>
            </a:r>
            <a:endParaRPr lang="en-US" altLang="zh-CN" dirty="0" smtClean="0"/>
          </a:p>
          <a:p>
            <a:pPr lvl="3"/>
            <a:r>
              <a:rPr lang="zh-CN" altLang="en-US" dirty="0" smtClean="0">
                <a:solidFill>
                  <a:srgbClr val="FF0000"/>
                </a:solidFill>
              </a:rPr>
              <a:t>使用</a:t>
            </a:r>
            <a:r>
              <a:rPr lang="en-US" dirty="0" smtClean="0">
                <a:solidFill>
                  <a:srgbClr val="FF0000"/>
                </a:solidFill>
              </a:rPr>
              <a:t>UML</a:t>
            </a:r>
            <a:r>
              <a:rPr lang="zh-CN" altLang="en-US" dirty="0" smtClean="0">
                <a:solidFill>
                  <a:srgbClr val="FF0000"/>
                </a:solidFill>
              </a:rPr>
              <a:t>的架构描述方法</a:t>
            </a:r>
            <a:endParaRPr lang="en-US" altLang="zh-CN" dirty="0" smtClean="0">
              <a:solidFill>
                <a:srgbClr val="FF0000"/>
              </a:solidFill>
            </a:endParaRPr>
          </a:p>
          <a:p>
            <a:pPr lvl="3"/>
            <a:r>
              <a:rPr lang="en-US" altLang="zh-CN" dirty="0" smtClean="0">
                <a:solidFill>
                  <a:srgbClr val="FF0000"/>
                </a:solidFill>
              </a:rPr>
              <a:t>I</a:t>
            </a:r>
            <a:r>
              <a:rPr lang="en-US" dirty="0" smtClean="0">
                <a:solidFill>
                  <a:srgbClr val="FF0000"/>
                </a:solidFill>
              </a:rPr>
              <a:t>EEE</a:t>
            </a:r>
            <a:r>
              <a:rPr lang="zh-CN" altLang="en-US" dirty="0" smtClean="0">
                <a:solidFill>
                  <a:srgbClr val="FF0000"/>
                </a:solidFill>
              </a:rPr>
              <a:t>的软件架构描述规范（</a:t>
            </a:r>
            <a:r>
              <a:rPr lang="en-US" dirty="0" smtClean="0">
                <a:solidFill>
                  <a:srgbClr val="FF0000"/>
                </a:solidFill>
              </a:rPr>
              <a:t>IEEE 1471-2000</a:t>
            </a:r>
            <a:r>
              <a:rPr lang="zh-CN" altLang="en-US" dirty="0" smtClean="0">
                <a:solidFill>
                  <a:srgbClr val="FF0000"/>
                </a:solidFill>
              </a:rPr>
              <a:t>）</a:t>
            </a:r>
          </a:p>
          <a:p>
            <a:pPr lvl="1"/>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1.4</a:t>
            </a:r>
            <a:r>
              <a:rPr lang="zh-CN" altLang="en-US" sz="4000" dirty="0" smtClean="0">
                <a:effectLst>
                  <a:outerShdw blurRad="38100" dist="38100" dir="2700000" algn="tl">
                    <a:srgbClr val="FFFFFF"/>
                  </a:outerShdw>
                </a:effectLst>
                <a:latin typeface="Times New Roman" pitchFamily="18" charset="0"/>
              </a:rPr>
              <a:t>软件架构研究和应用现状（</a:t>
            </a:r>
            <a:r>
              <a:rPr lang="en-US" altLang="zh-CN" sz="4000" dirty="0" smtClean="0">
                <a:effectLst>
                  <a:outerShdw blurRad="38100" dist="38100" dir="2700000" algn="tl">
                    <a:srgbClr val="FFFFFF"/>
                  </a:outerShdw>
                </a:effectLst>
                <a:latin typeface="Times New Roman" pitchFamily="18" charset="0"/>
              </a:rPr>
              <a:t>2</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p:txBody>
          <a:bodyPr>
            <a:normAutofit/>
          </a:bodyPr>
          <a:lstStyle/>
          <a:p>
            <a:r>
              <a:rPr lang="en-US" altLang="zh-CN" dirty="0" smtClean="0"/>
              <a:t>1.</a:t>
            </a:r>
            <a:r>
              <a:rPr lang="zh-CN" altLang="en-US" dirty="0" smtClean="0"/>
              <a:t>软件架构理论和方法研究</a:t>
            </a:r>
            <a:endParaRPr lang="en-US" altLang="zh-CN" dirty="0" smtClean="0"/>
          </a:p>
          <a:p>
            <a:pPr lvl="1"/>
            <a:r>
              <a:rPr lang="zh-CN" altLang="en-US" dirty="0" smtClean="0"/>
              <a:t>（</a:t>
            </a:r>
            <a:r>
              <a:rPr lang="en-US" altLang="zh-CN" dirty="0" smtClean="0"/>
              <a:t>2</a:t>
            </a:r>
            <a:r>
              <a:rPr lang="zh-CN" altLang="en-US" dirty="0" smtClean="0"/>
              <a:t>）软件架构分析、设计与测试</a:t>
            </a:r>
            <a:endParaRPr lang="en-US" altLang="zh-CN" dirty="0" smtClean="0"/>
          </a:p>
          <a:p>
            <a:pPr lvl="2"/>
            <a:r>
              <a:rPr lang="zh-CN" altLang="en-US" dirty="0" smtClean="0"/>
              <a:t>架构分析的内容可分为结构分析、功能分析和非功能分析。</a:t>
            </a:r>
            <a:endParaRPr lang="en-US" altLang="zh-CN" dirty="0" smtClean="0"/>
          </a:p>
          <a:p>
            <a:pPr lvl="2"/>
            <a:r>
              <a:rPr lang="zh-CN" altLang="en-US" dirty="0" smtClean="0"/>
              <a:t>软件架构分析的目的是在系统被实际构造之前，预测其质量属性。</a:t>
            </a:r>
            <a:endParaRPr lang="en-US" altLang="zh-CN" dirty="0" smtClean="0"/>
          </a:p>
          <a:p>
            <a:pPr lvl="2"/>
            <a:r>
              <a:rPr lang="zh-CN" altLang="en-US" dirty="0" smtClean="0"/>
              <a:t>软件架构分析常见方法如：基于场景的架构分析方法</a:t>
            </a:r>
            <a:r>
              <a:rPr lang="en-US" dirty="0" smtClean="0"/>
              <a:t>SAAM</a:t>
            </a:r>
            <a:r>
              <a:rPr lang="zh-CN" altLang="en-US" dirty="0" smtClean="0"/>
              <a:t>、架构折中分析方法</a:t>
            </a:r>
            <a:r>
              <a:rPr lang="en-US" dirty="0" smtClean="0"/>
              <a:t>ATAM</a:t>
            </a:r>
            <a:r>
              <a:rPr lang="zh-CN" altLang="en-US" dirty="0" smtClean="0"/>
              <a:t>等</a:t>
            </a:r>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1.4</a:t>
            </a:r>
            <a:r>
              <a:rPr lang="zh-CN" altLang="en-US" sz="4000" dirty="0" smtClean="0">
                <a:effectLst>
                  <a:outerShdw blurRad="38100" dist="38100" dir="2700000" algn="tl">
                    <a:srgbClr val="FFFFFF"/>
                  </a:outerShdw>
                </a:effectLst>
                <a:latin typeface="Times New Roman" pitchFamily="18" charset="0"/>
              </a:rPr>
              <a:t>软件架构研究和应用现状（</a:t>
            </a:r>
            <a:r>
              <a:rPr lang="en-US" altLang="zh-CN" sz="4000" dirty="0" smtClean="0">
                <a:effectLst>
                  <a:outerShdw blurRad="38100" dist="38100" dir="2700000" algn="tl">
                    <a:srgbClr val="FFFFFF"/>
                  </a:outerShdw>
                </a:effectLst>
                <a:latin typeface="Times New Roman" pitchFamily="18" charset="0"/>
              </a:rPr>
              <a:t>3</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p:txBody>
          <a:bodyPr>
            <a:normAutofit/>
          </a:bodyPr>
          <a:lstStyle/>
          <a:p>
            <a:r>
              <a:rPr lang="en-US" altLang="zh-CN" dirty="0" smtClean="0"/>
              <a:t>1.</a:t>
            </a:r>
            <a:r>
              <a:rPr lang="zh-CN" altLang="en-US" dirty="0" smtClean="0"/>
              <a:t>软件架构理论和方法研究</a:t>
            </a:r>
            <a:endParaRPr lang="en-US" altLang="zh-CN" dirty="0" smtClean="0"/>
          </a:p>
          <a:p>
            <a:pPr lvl="1"/>
            <a:r>
              <a:rPr lang="zh-CN" altLang="en-US" dirty="0" smtClean="0"/>
              <a:t>（</a:t>
            </a:r>
            <a:r>
              <a:rPr lang="en-US" altLang="zh-CN" dirty="0" smtClean="0"/>
              <a:t>2</a:t>
            </a:r>
            <a:r>
              <a:rPr lang="zh-CN" altLang="en-US" dirty="0" smtClean="0"/>
              <a:t>）软件架构分析、设计与测试</a:t>
            </a:r>
            <a:endParaRPr lang="en-US" altLang="zh-CN" dirty="0" smtClean="0"/>
          </a:p>
          <a:p>
            <a:pPr lvl="2"/>
            <a:r>
              <a:rPr lang="zh-CN" altLang="en-US" dirty="0" smtClean="0"/>
              <a:t>软件架构的设计指生成一个满足软件需求的架构的过程。</a:t>
            </a:r>
            <a:endParaRPr lang="en-US" altLang="zh-CN" dirty="0" smtClean="0"/>
          </a:p>
          <a:p>
            <a:pPr lvl="2"/>
            <a:r>
              <a:rPr lang="zh-CN" altLang="en-US" dirty="0" smtClean="0"/>
              <a:t>常见的软件架构的设计方法如</a:t>
            </a:r>
            <a:endParaRPr lang="en-US" altLang="zh-CN" dirty="0" smtClean="0"/>
          </a:p>
          <a:p>
            <a:pPr lvl="3"/>
            <a:r>
              <a:rPr lang="zh-CN" altLang="en-US" dirty="0" smtClean="0"/>
              <a:t>工件驱动（</a:t>
            </a:r>
            <a:r>
              <a:rPr lang="en-US" dirty="0" smtClean="0"/>
              <a:t>artifact-driven</a:t>
            </a:r>
            <a:r>
              <a:rPr lang="zh-CN" altLang="en-US" dirty="0" smtClean="0"/>
              <a:t>）方法</a:t>
            </a:r>
            <a:endParaRPr lang="en-US" altLang="zh-CN" dirty="0" smtClean="0"/>
          </a:p>
          <a:p>
            <a:pPr lvl="3"/>
            <a:r>
              <a:rPr lang="zh-CN" altLang="en-US" dirty="0" smtClean="0"/>
              <a:t>用例驱动（</a:t>
            </a:r>
            <a:r>
              <a:rPr lang="en-US" dirty="0" err="1" smtClean="0"/>
              <a:t>usecase</a:t>
            </a:r>
            <a:r>
              <a:rPr lang="en-US" dirty="0" smtClean="0"/>
              <a:t>-driven</a:t>
            </a:r>
            <a:r>
              <a:rPr lang="zh-CN" altLang="en-US" dirty="0" smtClean="0"/>
              <a:t>）方法</a:t>
            </a:r>
            <a:endParaRPr lang="en-US" altLang="zh-CN" dirty="0" smtClean="0"/>
          </a:p>
          <a:p>
            <a:pPr lvl="3"/>
            <a:r>
              <a:rPr lang="zh-CN" altLang="en-US" dirty="0" smtClean="0"/>
              <a:t>模式驱动（</a:t>
            </a:r>
            <a:r>
              <a:rPr lang="en-US" dirty="0" smtClean="0"/>
              <a:t>pattern-driven</a:t>
            </a:r>
            <a:r>
              <a:rPr lang="zh-CN" altLang="en-US" dirty="0" smtClean="0"/>
              <a:t>）方法</a:t>
            </a:r>
            <a:endParaRPr lang="en-US" altLang="zh-CN" dirty="0" smtClean="0"/>
          </a:p>
          <a:p>
            <a:pPr lvl="3"/>
            <a:r>
              <a:rPr lang="zh-CN" altLang="en-US" dirty="0" smtClean="0"/>
              <a:t>领域驱动（</a:t>
            </a:r>
            <a:r>
              <a:rPr lang="en-US" dirty="0" smtClean="0"/>
              <a:t>domain-driven</a:t>
            </a:r>
            <a:r>
              <a:rPr lang="zh-CN" altLang="en-US" dirty="0" smtClean="0"/>
              <a:t>）方法</a:t>
            </a:r>
            <a:endParaRPr lang="en-US" altLang="zh-CN" dirty="0" smtClean="0"/>
          </a:p>
          <a:p>
            <a:pPr lvl="3"/>
            <a:r>
              <a:rPr lang="zh-CN" altLang="en-US" dirty="0" smtClean="0"/>
              <a:t>属性驱动设计（</a:t>
            </a:r>
            <a:r>
              <a:rPr lang="en-US" dirty="0" smtClean="0"/>
              <a:t>Attribute-Driven Design</a:t>
            </a:r>
            <a:r>
              <a:rPr lang="zh-CN" altLang="en-US" dirty="0" smtClean="0"/>
              <a:t>）方法等</a:t>
            </a:r>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1.4</a:t>
            </a:r>
            <a:r>
              <a:rPr lang="zh-CN" altLang="en-US" sz="4000" dirty="0" smtClean="0">
                <a:effectLst>
                  <a:outerShdw blurRad="38100" dist="38100" dir="2700000" algn="tl">
                    <a:srgbClr val="FFFFFF"/>
                  </a:outerShdw>
                </a:effectLst>
                <a:latin typeface="Times New Roman" pitchFamily="18" charset="0"/>
              </a:rPr>
              <a:t>软件架构研究和应用现状（</a:t>
            </a:r>
            <a:r>
              <a:rPr lang="en-US" altLang="zh-CN" sz="4000" dirty="0" smtClean="0">
                <a:effectLst>
                  <a:outerShdw blurRad="38100" dist="38100" dir="2700000" algn="tl">
                    <a:srgbClr val="FFFFFF"/>
                  </a:outerShdw>
                </a:effectLst>
                <a:latin typeface="Times New Roman" pitchFamily="18" charset="0"/>
              </a:rPr>
              <a:t>4</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a:xfrm>
            <a:off x="1357290" y="1447800"/>
            <a:ext cx="7498080" cy="4800600"/>
          </a:xfrm>
        </p:spPr>
        <p:txBody>
          <a:bodyPr>
            <a:normAutofit lnSpcReduction="10000"/>
          </a:bodyPr>
          <a:lstStyle/>
          <a:p>
            <a:r>
              <a:rPr lang="en-US" altLang="zh-CN" dirty="0" smtClean="0"/>
              <a:t>1.</a:t>
            </a:r>
            <a:r>
              <a:rPr lang="zh-CN" altLang="en-US" dirty="0" smtClean="0"/>
              <a:t>软件架构理论和方法研究</a:t>
            </a:r>
            <a:endParaRPr lang="en-US" altLang="zh-CN" dirty="0" smtClean="0"/>
          </a:p>
          <a:p>
            <a:pPr lvl="1"/>
            <a:r>
              <a:rPr lang="zh-CN" altLang="en-US" dirty="0" smtClean="0"/>
              <a:t>（</a:t>
            </a:r>
            <a:r>
              <a:rPr lang="en-US" altLang="zh-CN" dirty="0" smtClean="0"/>
              <a:t>2</a:t>
            </a:r>
            <a:r>
              <a:rPr lang="zh-CN" altLang="en-US" dirty="0" smtClean="0"/>
              <a:t>）软件架构分析、设计与测试</a:t>
            </a:r>
            <a:endParaRPr lang="en-US" altLang="zh-CN" dirty="0" smtClean="0"/>
          </a:p>
          <a:p>
            <a:pPr lvl="2"/>
            <a:r>
              <a:rPr lang="zh-CN" altLang="en-US" dirty="0" smtClean="0"/>
              <a:t>架构测试着重于仿真系统模型，解决架构层的主要问题。</a:t>
            </a:r>
            <a:endParaRPr lang="en-US" altLang="zh-CN" dirty="0" smtClean="0"/>
          </a:p>
          <a:p>
            <a:pPr lvl="2"/>
            <a:r>
              <a:rPr lang="zh-CN" altLang="en-US" dirty="0" smtClean="0"/>
              <a:t>由于测试的抽象层次不同</a:t>
            </a:r>
            <a:r>
              <a:rPr lang="en-US" dirty="0" smtClean="0"/>
              <a:t>,</a:t>
            </a:r>
            <a:r>
              <a:rPr lang="zh-CN" altLang="en-US" dirty="0" smtClean="0"/>
              <a:t>架构测试策略可以分为单元</a:t>
            </a:r>
            <a:r>
              <a:rPr lang="en-US" dirty="0" smtClean="0"/>
              <a:t>/</a:t>
            </a:r>
            <a:r>
              <a:rPr lang="zh-CN" altLang="en-US" dirty="0" smtClean="0"/>
              <a:t>子系统</a:t>
            </a:r>
            <a:r>
              <a:rPr lang="en-US" dirty="0" smtClean="0"/>
              <a:t>/</a:t>
            </a:r>
            <a:r>
              <a:rPr lang="zh-CN" altLang="en-US" dirty="0" smtClean="0"/>
              <a:t>集成</a:t>
            </a:r>
            <a:r>
              <a:rPr lang="en-US" dirty="0" smtClean="0"/>
              <a:t>/</a:t>
            </a:r>
            <a:r>
              <a:rPr lang="zh-CN" altLang="en-US" dirty="0" smtClean="0"/>
              <a:t>验收测试等阶段的测试策略。</a:t>
            </a:r>
            <a:endParaRPr lang="en-US" altLang="zh-CN" dirty="0" smtClean="0"/>
          </a:p>
          <a:p>
            <a:pPr lvl="2"/>
            <a:r>
              <a:rPr lang="zh-CN" altLang="en-US" dirty="0" smtClean="0"/>
              <a:t>架构测试技术主要包括：</a:t>
            </a:r>
            <a:endParaRPr lang="en-US" altLang="zh-CN" dirty="0" smtClean="0"/>
          </a:p>
          <a:p>
            <a:pPr lvl="3"/>
            <a:r>
              <a:rPr lang="en-US" dirty="0" smtClean="0"/>
              <a:t>Debra</a:t>
            </a:r>
            <a:r>
              <a:rPr lang="zh-CN" altLang="en-US" dirty="0" smtClean="0"/>
              <a:t>等人提出一组针对架构的测试覆盖准则，如组件覆盖准则等</a:t>
            </a:r>
            <a:endParaRPr lang="en-US" altLang="zh-CN" dirty="0" smtClean="0"/>
          </a:p>
          <a:p>
            <a:pPr lvl="3"/>
            <a:r>
              <a:rPr lang="zh-CN" altLang="en-US" dirty="0" smtClean="0"/>
              <a:t>基于霍尔定理的组件设计正确性验证技术</a:t>
            </a:r>
            <a:endParaRPr lang="en-US" altLang="zh-CN" dirty="0" smtClean="0"/>
          </a:p>
          <a:p>
            <a:pPr lvl="3"/>
            <a:r>
              <a:rPr lang="zh-CN" altLang="en-US" dirty="0" smtClean="0"/>
              <a:t>基于</a:t>
            </a:r>
            <a:r>
              <a:rPr lang="en-US" dirty="0" smtClean="0"/>
              <a:t>CHAM</a:t>
            </a:r>
            <a:r>
              <a:rPr lang="zh-CN" altLang="en-US" dirty="0" smtClean="0"/>
              <a:t>（</a:t>
            </a:r>
            <a:r>
              <a:rPr lang="en-US" dirty="0" err="1" smtClean="0"/>
              <a:t>CHemical</a:t>
            </a:r>
            <a:r>
              <a:rPr lang="en-US" dirty="0" smtClean="0"/>
              <a:t> Abstract Machine</a:t>
            </a:r>
            <a:r>
              <a:rPr lang="zh-CN" altLang="en-US" dirty="0" smtClean="0"/>
              <a:t>）的架构动态语义验证技术等</a:t>
            </a:r>
          </a:p>
          <a:p>
            <a:pPr lvl="2"/>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1.4</a:t>
            </a:r>
            <a:r>
              <a:rPr lang="zh-CN" altLang="en-US" sz="4000" dirty="0" smtClean="0">
                <a:effectLst>
                  <a:outerShdw blurRad="38100" dist="38100" dir="2700000" algn="tl">
                    <a:srgbClr val="FFFFFF"/>
                  </a:outerShdw>
                </a:effectLst>
                <a:latin typeface="Times New Roman" pitchFamily="18" charset="0"/>
              </a:rPr>
              <a:t>软件架构研究和应用现状（</a:t>
            </a:r>
            <a:r>
              <a:rPr lang="en-US" altLang="zh-CN" sz="4000" dirty="0" smtClean="0">
                <a:effectLst>
                  <a:outerShdw blurRad="38100" dist="38100" dir="2700000" algn="tl">
                    <a:srgbClr val="FFFFFF"/>
                  </a:outerShdw>
                </a:effectLst>
                <a:latin typeface="Times New Roman" pitchFamily="18" charset="0"/>
              </a:rPr>
              <a:t>5</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p:txBody>
          <a:bodyPr>
            <a:normAutofit/>
          </a:bodyPr>
          <a:lstStyle/>
          <a:p>
            <a:r>
              <a:rPr lang="en-US" altLang="zh-CN" dirty="0" smtClean="0"/>
              <a:t>1.</a:t>
            </a:r>
            <a:r>
              <a:rPr lang="zh-CN" altLang="en-US" dirty="0" smtClean="0"/>
              <a:t>软件架构理论和方法研究</a:t>
            </a:r>
            <a:endParaRPr lang="en-US" altLang="zh-CN" dirty="0" smtClean="0"/>
          </a:p>
          <a:p>
            <a:pPr lvl="1"/>
            <a:r>
              <a:rPr lang="zh-CN" altLang="en-US" dirty="0" smtClean="0"/>
              <a:t>（</a:t>
            </a:r>
            <a:r>
              <a:rPr lang="en-US" altLang="zh-CN" dirty="0" smtClean="0"/>
              <a:t>3</a:t>
            </a:r>
            <a:r>
              <a:rPr lang="zh-CN" altLang="en-US" dirty="0" smtClean="0"/>
              <a:t>）软件架构发现、演化与复用</a:t>
            </a:r>
            <a:endParaRPr lang="en-US" altLang="zh-CN" dirty="0" smtClean="0"/>
          </a:p>
          <a:p>
            <a:pPr lvl="2"/>
            <a:r>
              <a:rPr lang="zh-CN" altLang="en-US" dirty="0" smtClean="0"/>
              <a:t>架构发现解决如何从已经存在的系统中提取软件的架构，属于逆向工程。</a:t>
            </a:r>
            <a:endParaRPr lang="en-US" altLang="zh-CN" dirty="0" smtClean="0"/>
          </a:p>
          <a:p>
            <a:pPr lvl="2"/>
            <a:r>
              <a:rPr lang="zh-CN" altLang="en-US" dirty="0" smtClean="0"/>
              <a:t>软件架构的演化指由于系统需求、技术、环境、分布等因素的变化而最终导致软件架构的变动。</a:t>
            </a:r>
            <a:endParaRPr lang="en-US" altLang="zh-CN" dirty="0" smtClean="0"/>
          </a:p>
          <a:p>
            <a:pPr lvl="2"/>
            <a:r>
              <a:rPr lang="zh-CN" altLang="en-US" dirty="0" smtClean="0"/>
              <a:t>架构重用属于设计重用，比代码重用更抽象。架构模式就是架构复用的一个研究成果。</a:t>
            </a:r>
          </a:p>
          <a:p>
            <a:pPr lvl="2">
              <a:buNone/>
            </a:pPr>
            <a:endParaRPr lang="en-US" altLang="zh-CN" dirty="0" smtClean="0"/>
          </a:p>
          <a:p>
            <a:pPr lvl="2"/>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1.4</a:t>
            </a:r>
            <a:r>
              <a:rPr lang="zh-CN" altLang="en-US" sz="4000" dirty="0" smtClean="0">
                <a:effectLst>
                  <a:outerShdw blurRad="38100" dist="38100" dir="2700000" algn="tl">
                    <a:srgbClr val="FFFFFF"/>
                  </a:outerShdw>
                </a:effectLst>
                <a:latin typeface="Times New Roman" pitchFamily="18" charset="0"/>
              </a:rPr>
              <a:t>软件架构研究和应用现状（</a:t>
            </a:r>
            <a:r>
              <a:rPr lang="en-US" altLang="zh-CN" sz="4000" dirty="0" smtClean="0">
                <a:effectLst>
                  <a:outerShdw blurRad="38100" dist="38100" dir="2700000" algn="tl">
                    <a:srgbClr val="FFFFFF"/>
                  </a:outerShdw>
                </a:effectLst>
                <a:latin typeface="Times New Roman" pitchFamily="18" charset="0"/>
              </a:rPr>
              <a:t>6</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p:txBody>
          <a:bodyPr>
            <a:normAutofit/>
          </a:bodyPr>
          <a:lstStyle/>
          <a:p>
            <a:r>
              <a:rPr lang="en-US" altLang="zh-CN" dirty="0" smtClean="0"/>
              <a:t>1.</a:t>
            </a:r>
            <a:r>
              <a:rPr lang="zh-CN" altLang="en-US" dirty="0" smtClean="0"/>
              <a:t>软件架构理论和方法研究</a:t>
            </a:r>
            <a:endParaRPr lang="en-US" altLang="zh-CN" dirty="0" smtClean="0"/>
          </a:p>
          <a:p>
            <a:pPr lvl="1"/>
            <a:r>
              <a:rPr lang="zh-CN" altLang="en-US" dirty="0" smtClean="0"/>
              <a:t>（</a:t>
            </a:r>
            <a:r>
              <a:rPr lang="en-US" altLang="zh-CN" dirty="0" smtClean="0"/>
              <a:t>4</a:t>
            </a:r>
            <a:r>
              <a:rPr lang="zh-CN" altLang="en-US" dirty="0" smtClean="0"/>
              <a:t>）基于软件架构的开发模型</a:t>
            </a:r>
            <a:endParaRPr lang="en-US" altLang="zh-CN" dirty="0" smtClean="0"/>
          </a:p>
          <a:p>
            <a:pPr lvl="2"/>
            <a:r>
              <a:rPr lang="zh-CN" altLang="en-US" dirty="0" smtClean="0"/>
              <a:t>跨越整个软件生存周期的系统开发、运行、维护所实施的全部工作和任务的结构框架</a:t>
            </a:r>
            <a:endParaRPr lang="en-US" altLang="zh-CN" dirty="0" smtClean="0"/>
          </a:p>
          <a:p>
            <a:pPr lvl="1"/>
            <a:r>
              <a:rPr lang="zh-CN" altLang="en-US" dirty="0" smtClean="0"/>
              <a:t>（</a:t>
            </a:r>
            <a:r>
              <a:rPr lang="en-US" altLang="zh-CN" dirty="0" smtClean="0"/>
              <a:t>5</a:t>
            </a:r>
            <a:r>
              <a:rPr lang="zh-CN" altLang="en-US" dirty="0" smtClean="0"/>
              <a:t>）软件架构的风格与模式</a:t>
            </a:r>
            <a:endParaRPr lang="en-US" altLang="zh-CN" dirty="0" smtClean="0"/>
          </a:p>
          <a:p>
            <a:pPr lvl="2"/>
            <a:r>
              <a:rPr lang="zh-CN" altLang="en-US" dirty="0" smtClean="0"/>
              <a:t>架构风格（架构模式）是对给定场景中经常出现的问题提供的一般性的可重用方案</a:t>
            </a:r>
            <a:endParaRPr lang="en-US" altLang="zh-CN" dirty="0" smtClean="0"/>
          </a:p>
          <a:p>
            <a:pPr lvl="1"/>
            <a:endParaRPr lang="en-US" altLang="zh-CN" dirty="0" smtClean="0"/>
          </a:p>
          <a:p>
            <a:pPr lvl="1"/>
            <a:endParaRPr lang="en-US" altLang="zh-CN" dirty="0" smtClean="0"/>
          </a:p>
          <a:p>
            <a:pPr lvl="1"/>
            <a:endParaRPr lang="zh-CN" altLang="en-US" dirty="0" smtClean="0"/>
          </a:p>
          <a:p>
            <a:pPr lvl="2">
              <a:buNone/>
            </a:pPr>
            <a:endParaRPr lang="en-US" altLang="zh-CN" dirty="0" smtClean="0"/>
          </a:p>
          <a:p>
            <a:pPr lvl="2"/>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1.4</a:t>
            </a:r>
            <a:r>
              <a:rPr lang="zh-CN" altLang="en-US" sz="4000" dirty="0" smtClean="0">
                <a:effectLst>
                  <a:outerShdw blurRad="38100" dist="38100" dir="2700000" algn="tl">
                    <a:srgbClr val="FFFFFF"/>
                  </a:outerShdw>
                </a:effectLst>
                <a:latin typeface="Times New Roman" pitchFamily="18" charset="0"/>
              </a:rPr>
              <a:t>软件架构研究和应用现状（</a:t>
            </a:r>
            <a:r>
              <a:rPr lang="en-US" altLang="zh-CN" sz="4000" dirty="0" smtClean="0">
                <a:effectLst>
                  <a:outerShdw blurRad="38100" dist="38100" dir="2700000" algn="tl">
                    <a:srgbClr val="FFFFFF"/>
                  </a:outerShdw>
                </a:effectLst>
                <a:latin typeface="Times New Roman" pitchFamily="18" charset="0"/>
              </a:rPr>
              <a:t>7</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p:txBody>
          <a:bodyPr>
            <a:normAutofit/>
          </a:bodyPr>
          <a:lstStyle/>
          <a:p>
            <a:r>
              <a:rPr lang="en-US" altLang="zh-CN" dirty="0" smtClean="0"/>
              <a:t>1.</a:t>
            </a:r>
            <a:r>
              <a:rPr lang="zh-CN" altLang="en-US" dirty="0" smtClean="0"/>
              <a:t>软件架构理论和方法研究</a:t>
            </a:r>
            <a:endParaRPr lang="en-US" altLang="zh-CN" dirty="0" smtClean="0"/>
          </a:p>
          <a:p>
            <a:pPr lvl="1"/>
            <a:r>
              <a:rPr lang="zh-CN" altLang="en-US" dirty="0" smtClean="0"/>
              <a:t>（</a:t>
            </a:r>
            <a:r>
              <a:rPr lang="en-US" altLang="zh-CN" dirty="0" smtClean="0"/>
              <a:t>5</a:t>
            </a:r>
            <a:r>
              <a:rPr lang="zh-CN" altLang="en-US" dirty="0" smtClean="0"/>
              <a:t>）软件架构的风格与模式</a:t>
            </a:r>
            <a:endParaRPr lang="en-US" altLang="zh-CN" dirty="0" smtClean="0"/>
          </a:p>
          <a:p>
            <a:pPr lvl="2"/>
            <a:r>
              <a:rPr lang="en-US" dirty="0" smtClean="0"/>
              <a:t>David </a:t>
            </a:r>
            <a:r>
              <a:rPr lang="en-US" dirty="0" err="1" smtClean="0"/>
              <a:t>Garlan</a:t>
            </a:r>
            <a:r>
              <a:rPr lang="zh-CN" altLang="en-US" dirty="0" smtClean="0"/>
              <a:t>和</a:t>
            </a:r>
            <a:r>
              <a:rPr lang="en-US" dirty="0" smtClean="0"/>
              <a:t>Mary Shaw</a:t>
            </a:r>
            <a:r>
              <a:rPr lang="zh-CN" altLang="en-US" dirty="0" smtClean="0"/>
              <a:t>等人将被广泛接受的架构风格分成五种主要的类型：</a:t>
            </a:r>
            <a:endParaRPr lang="en-US" altLang="zh-CN" dirty="0" smtClean="0"/>
          </a:p>
          <a:p>
            <a:pPr lvl="3"/>
            <a:r>
              <a:rPr lang="en-US" altLang="zh-CN" sz="2200" dirty="0" smtClean="0"/>
              <a:t>1</a:t>
            </a:r>
            <a:r>
              <a:rPr lang="zh-CN" altLang="en-US" sz="2200" dirty="0" smtClean="0"/>
              <a:t>）数据流风格</a:t>
            </a:r>
          </a:p>
          <a:p>
            <a:pPr lvl="3"/>
            <a:r>
              <a:rPr lang="en-US" sz="2200" dirty="0" smtClean="0"/>
              <a:t>2</a:t>
            </a:r>
            <a:r>
              <a:rPr lang="zh-CN" altLang="en-US" sz="2200" dirty="0" smtClean="0"/>
              <a:t>）调用</a:t>
            </a:r>
            <a:r>
              <a:rPr lang="en-US" sz="2200" dirty="0" smtClean="0"/>
              <a:t>/</a:t>
            </a:r>
            <a:r>
              <a:rPr lang="zh-CN" altLang="en-US" sz="2200" dirty="0" smtClean="0"/>
              <a:t>返回风格</a:t>
            </a:r>
          </a:p>
          <a:p>
            <a:pPr lvl="3"/>
            <a:r>
              <a:rPr lang="en-US" sz="2200" dirty="0" smtClean="0"/>
              <a:t>3</a:t>
            </a:r>
            <a:r>
              <a:rPr lang="zh-CN" altLang="en-US" sz="2200" dirty="0" smtClean="0"/>
              <a:t>）独立组件风格</a:t>
            </a:r>
          </a:p>
          <a:p>
            <a:pPr lvl="3"/>
            <a:r>
              <a:rPr lang="en-US" sz="2200" dirty="0" smtClean="0"/>
              <a:t>4</a:t>
            </a:r>
            <a:r>
              <a:rPr lang="zh-CN" altLang="en-US" sz="2200" dirty="0" smtClean="0"/>
              <a:t>）虚拟机风格</a:t>
            </a:r>
          </a:p>
          <a:p>
            <a:pPr lvl="3"/>
            <a:r>
              <a:rPr lang="en-US" sz="2200" dirty="0" smtClean="0"/>
              <a:t>5</a:t>
            </a:r>
            <a:r>
              <a:rPr lang="zh-CN" altLang="en-US" sz="2200" dirty="0" smtClean="0"/>
              <a:t>）仓库风格</a:t>
            </a:r>
          </a:p>
          <a:p>
            <a:pPr lvl="1"/>
            <a:endParaRPr lang="en-US" altLang="zh-CN" dirty="0" smtClean="0"/>
          </a:p>
          <a:p>
            <a:pPr lvl="1"/>
            <a:endParaRPr lang="en-US" altLang="zh-CN" dirty="0" smtClean="0"/>
          </a:p>
          <a:p>
            <a:pPr lvl="1"/>
            <a:endParaRPr lang="zh-CN" altLang="en-US" dirty="0" smtClean="0"/>
          </a:p>
          <a:p>
            <a:pPr lvl="2">
              <a:buNone/>
            </a:pPr>
            <a:endParaRPr lang="en-US" altLang="zh-CN" dirty="0" smtClean="0"/>
          </a:p>
          <a:p>
            <a:pPr lvl="2"/>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1.4</a:t>
            </a:r>
            <a:r>
              <a:rPr lang="zh-CN" altLang="en-US" sz="4000" dirty="0" smtClean="0">
                <a:effectLst>
                  <a:outerShdw blurRad="38100" dist="38100" dir="2700000" algn="tl">
                    <a:srgbClr val="FFFFFF"/>
                  </a:outerShdw>
                </a:effectLst>
                <a:latin typeface="Times New Roman" pitchFamily="18" charset="0"/>
              </a:rPr>
              <a:t>软件架构研究和应用现状（</a:t>
            </a:r>
            <a:r>
              <a:rPr lang="en-US" altLang="zh-CN" sz="4000" dirty="0" smtClean="0">
                <a:effectLst>
                  <a:outerShdw blurRad="38100" dist="38100" dir="2700000" algn="tl">
                    <a:srgbClr val="FFFFFF"/>
                  </a:outerShdw>
                </a:effectLst>
                <a:latin typeface="Times New Roman" pitchFamily="18" charset="0"/>
              </a:rPr>
              <a:t>8</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p:txBody>
          <a:bodyPr>
            <a:normAutofit/>
          </a:bodyPr>
          <a:lstStyle/>
          <a:p>
            <a:r>
              <a:rPr lang="en-US" altLang="zh-CN" dirty="0" smtClean="0"/>
              <a:t>1.</a:t>
            </a:r>
            <a:r>
              <a:rPr lang="zh-CN" altLang="en-US" dirty="0" smtClean="0"/>
              <a:t>软件架构理论和方法研究</a:t>
            </a:r>
            <a:endParaRPr lang="en-US" altLang="zh-CN" dirty="0" smtClean="0"/>
          </a:p>
          <a:p>
            <a:pPr lvl="1"/>
            <a:r>
              <a:rPr lang="zh-CN" altLang="en-US" dirty="0" smtClean="0"/>
              <a:t>（</a:t>
            </a:r>
            <a:r>
              <a:rPr lang="en-US" altLang="zh-CN" dirty="0" smtClean="0"/>
              <a:t>6</a:t>
            </a:r>
            <a:r>
              <a:rPr lang="zh-CN" altLang="en-US" dirty="0" smtClean="0"/>
              <a:t>）软件产品线架构</a:t>
            </a:r>
            <a:endParaRPr lang="en-US" altLang="zh-CN" dirty="0" smtClean="0"/>
          </a:p>
          <a:p>
            <a:pPr lvl="2"/>
            <a:r>
              <a:rPr lang="zh-CN" altLang="en-US" dirty="0" smtClean="0"/>
              <a:t>软件产品线架构的发展是依托着特定领域软件架构（</a:t>
            </a:r>
            <a:r>
              <a:rPr lang="en-US" dirty="0" smtClean="0"/>
              <a:t>Domain Specific Software Architecture</a:t>
            </a:r>
            <a:r>
              <a:rPr lang="zh-CN" altLang="en-US" dirty="0" smtClean="0"/>
              <a:t>，</a:t>
            </a:r>
            <a:r>
              <a:rPr lang="en-US" dirty="0" smtClean="0"/>
              <a:t>DSSA</a:t>
            </a:r>
            <a:r>
              <a:rPr lang="zh-CN" altLang="en-US" dirty="0" smtClean="0"/>
              <a:t>）的研究深入而进行的。</a:t>
            </a:r>
            <a:endParaRPr lang="en-US" altLang="zh-CN" dirty="0" smtClean="0"/>
          </a:p>
          <a:p>
            <a:pPr lvl="2"/>
            <a:r>
              <a:rPr lang="zh-CN" altLang="en-US" dirty="0" smtClean="0"/>
              <a:t>如：北京大学杨芙清院士牵头实现的</a:t>
            </a:r>
            <a:r>
              <a:rPr lang="en-US" dirty="0" smtClean="0"/>
              <a:t>“</a:t>
            </a:r>
            <a:r>
              <a:rPr lang="zh-CN" altLang="en-US" dirty="0" smtClean="0"/>
              <a:t>支持组件复用的青鸟</a:t>
            </a:r>
            <a:r>
              <a:rPr lang="en-US" altLang="zh-CN" dirty="0" smtClean="0"/>
              <a:t>Ⅲ</a:t>
            </a:r>
            <a:r>
              <a:rPr lang="zh-CN" altLang="en-US" dirty="0" smtClean="0"/>
              <a:t>型系统</a:t>
            </a:r>
            <a:r>
              <a:rPr lang="en-US" dirty="0" smtClean="0"/>
              <a:t>”</a:t>
            </a:r>
            <a:r>
              <a:rPr lang="zh-CN" altLang="en-US" dirty="0" smtClean="0"/>
              <a:t>等。</a:t>
            </a:r>
            <a:endParaRPr lang="en-US" altLang="zh-CN" dirty="0" smtClean="0"/>
          </a:p>
          <a:p>
            <a:pPr lvl="1"/>
            <a:endParaRPr lang="en-US" altLang="zh-CN" dirty="0" smtClean="0"/>
          </a:p>
          <a:p>
            <a:pPr lvl="1"/>
            <a:endParaRPr lang="en-US" altLang="zh-CN" dirty="0" smtClean="0"/>
          </a:p>
          <a:p>
            <a:pPr lvl="1"/>
            <a:endParaRPr lang="zh-CN" altLang="en-US" dirty="0" smtClean="0"/>
          </a:p>
          <a:p>
            <a:pPr lvl="2">
              <a:buNone/>
            </a:pPr>
            <a:endParaRPr lang="en-US" altLang="zh-CN" dirty="0" smtClean="0"/>
          </a:p>
          <a:p>
            <a:pPr lvl="2"/>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1.4</a:t>
            </a:r>
            <a:r>
              <a:rPr lang="zh-CN" altLang="en-US" sz="4000" dirty="0" smtClean="0">
                <a:effectLst>
                  <a:outerShdw blurRad="38100" dist="38100" dir="2700000" algn="tl">
                    <a:srgbClr val="FFFFFF"/>
                  </a:outerShdw>
                </a:effectLst>
                <a:latin typeface="Times New Roman" pitchFamily="18" charset="0"/>
              </a:rPr>
              <a:t>软件架构研究和应用现状（</a:t>
            </a:r>
            <a:r>
              <a:rPr lang="en-US" altLang="zh-CN" sz="4000" dirty="0" smtClean="0">
                <a:effectLst>
                  <a:outerShdw blurRad="38100" dist="38100" dir="2700000" algn="tl">
                    <a:srgbClr val="FFFFFF"/>
                  </a:outerShdw>
                </a:effectLst>
                <a:latin typeface="Times New Roman" pitchFamily="18" charset="0"/>
              </a:rPr>
              <a:t>9</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p:txBody>
          <a:bodyPr>
            <a:normAutofit/>
          </a:bodyPr>
          <a:lstStyle/>
          <a:p>
            <a:r>
              <a:rPr lang="en-US" altLang="zh-CN" dirty="0" smtClean="0"/>
              <a:t>1.</a:t>
            </a:r>
            <a:r>
              <a:rPr lang="zh-CN" altLang="en-US" dirty="0" smtClean="0"/>
              <a:t>软件架构理论和方法研究</a:t>
            </a:r>
            <a:endParaRPr lang="en-US" altLang="zh-CN" dirty="0" smtClean="0"/>
          </a:p>
          <a:p>
            <a:pPr lvl="1"/>
            <a:r>
              <a:rPr lang="zh-CN" altLang="en-US" dirty="0" smtClean="0"/>
              <a:t>（</a:t>
            </a:r>
            <a:r>
              <a:rPr lang="en-US" altLang="en-US" dirty="0" smtClean="0"/>
              <a:t>7</a:t>
            </a:r>
            <a:r>
              <a:rPr lang="zh-CN" altLang="en-US" dirty="0" smtClean="0"/>
              <a:t>）软件架构支持工具</a:t>
            </a:r>
            <a:endParaRPr lang="en-US" altLang="zh-CN" dirty="0" smtClean="0"/>
          </a:p>
          <a:p>
            <a:pPr lvl="2"/>
            <a:r>
              <a:rPr lang="zh-CN" altLang="en-US" dirty="0" smtClean="0"/>
              <a:t>支持静态分析的工具</a:t>
            </a:r>
            <a:endParaRPr lang="en-US" altLang="zh-CN" dirty="0" smtClean="0"/>
          </a:p>
          <a:p>
            <a:pPr lvl="2"/>
            <a:r>
              <a:rPr lang="zh-CN" altLang="en-US" dirty="0" smtClean="0"/>
              <a:t>支持类型检查的工具</a:t>
            </a:r>
            <a:endParaRPr lang="en-US" altLang="zh-CN" dirty="0" smtClean="0"/>
          </a:p>
          <a:p>
            <a:pPr lvl="2"/>
            <a:r>
              <a:rPr lang="zh-CN" altLang="en-US" dirty="0" smtClean="0"/>
              <a:t>支持架构层次依赖分析的工具</a:t>
            </a:r>
            <a:endParaRPr lang="en-US" altLang="zh-CN" dirty="0" smtClean="0"/>
          </a:p>
          <a:p>
            <a:pPr lvl="2"/>
            <a:r>
              <a:rPr lang="zh-CN" altLang="en-US" dirty="0" smtClean="0"/>
              <a:t>支持架构动态特性仿真的工具</a:t>
            </a:r>
            <a:endParaRPr lang="en-US" altLang="zh-CN" dirty="0" smtClean="0"/>
          </a:p>
          <a:p>
            <a:pPr lvl="2"/>
            <a:r>
              <a:rPr lang="zh-CN" altLang="en-US" dirty="0" smtClean="0"/>
              <a:t>支持架构性能仿真的工具等</a:t>
            </a:r>
          </a:p>
          <a:p>
            <a:pPr lvl="1"/>
            <a:endParaRPr lang="en-US" altLang="zh-CN" dirty="0" smtClean="0"/>
          </a:p>
          <a:p>
            <a:pPr lvl="1"/>
            <a:endParaRPr lang="en-US" altLang="zh-CN" dirty="0" smtClean="0"/>
          </a:p>
          <a:p>
            <a:pPr lvl="1"/>
            <a:endParaRPr lang="zh-CN" altLang="en-US" dirty="0" smtClean="0"/>
          </a:p>
          <a:p>
            <a:pPr lvl="2">
              <a:buNone/>
            </a:pPr>
            <a:endParaRPr lang="en-US" altLang="zh-CN" dirty="0" smtClean="0"/>
          </a:p>
          <a:p>
            <a:pPr lvl="2"/>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1.4</a:t>
            </a:r>
            <a:r>
              <a:rPr lang="zh-CN" altLang="en-US" sz="4000" dirty="0" smtClean="0">
                <a:effectLst>
                  <a:outerShdw blurRad="38100" dist="38100" dir="2700000" algn="tl">
                    <a:srgbClr val="FFFFFF"/>
                  </a:outerShdw>
                </a:effectLst>
                <a:latin typeface="Times New Roman" pitchFamily="18" charset="0"/>
              </a:rPr>
              <a:t>软件架构研究和应用现状（</a:t>
            </a:r>
            <a:r>
              <a:rPr lang="en-US" altLang="zh-CN" sz="4000" dirty="0" smtClean="0">
                <a:effectLst>
                  <a:outerShdw blurRad="38100" dist="38100" dir="2700000" algn="tl">
                    <a:srgbClr val="FFFFFF"/>
                  </a:outerShdw>
                </a:effectLst>
                <a:latin typeface="Times New Roman" pitchFamily="18" charset="0"/>
              </a:rPr>
              <a:t>10</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p:txBody>
          <a:bodyPr>
            <a:normAutofit lnSpcReduction="10000"/>
          </a:bodyPr>
          <a:lstStyle/>
          <a:p>
            <a:r>
              <a:rPr lang="en-US" altLang="zh-CN" dirty="0" smtClean="0"/>
              <a:t>2.</a:t>
            </a:r>
            <a:r>
              <a:rPr lang="zh-CN" altLang="en-US" dirty="0" smtClean="0"/>
              <a:t>软件架构的应用研究</a:t>
            </a:r>
            <a:endParaRPr lang="en-US" altLang="zh-CN" dirty="0" smtClean="0"/>
          </a:p>
          <a:p>
            <a:pPr lvl="1"/>
            <a:r>
              <a:rPr lang="zh-CN" altLang="en-US" dirty="0" smtClean="0"/>
              <a:t>（</a:t>
            </a:r>
            <a:r>
              <a:rPr lang="en-US" altLang="zh-CN" dirty="0" smtClean="0"/>
              <a:t>1</a:t>
            </a:r>
            <a:r>
              <a:rPr lang="zh-CN" altLang="en-US" dirty="0" smtClean="0"/>
              <a:t>）软件架构风格的应用</a:t>
            </a:r>
            <a:endParaRPr lang="en-US" altLang="zh-CN" dirty="0" smtClean="0"/>
          </a:p>
          <a:p>
            <a:pPr lvl="2"/>
            <a:r>
              <a:rPr lang="zh-CN" altLang="en-US" dirty="0" smtClean="0"/>
              <a:t>不同的架构风格具有各自的优缺点和应用场景</a:t>
            </a:r>
            <a:endParaRPr lang="en-US" altLang="zh-CN" dirty="0" smtClean="0"/>
          </a:p>
          <a:p>
            <a:pPr lvl="2"/>
            <a:r>
              <a:rPr lang="zh-CN" altLang="en-US" dirty="0" smtClean="0"/>
              <a:t>例如：</a:t>
            </a:r>
            <a:endParaRPr lang="en-US" altLang="zh-CN" dirty="0" smtClean="0"/>
          </a:p>
          <a:p>
            <a:pPr lvl="3"/>
            <a:r>
              <a:rPr lang="zh-CN" altLang="en-US" sz="2400" dirty="0" smtClean="0"/>
              <a:t>虚拟机风格经常用于构造解释器或专家系统；</a:t>
            </a:r>
            <a:endParaRPr lang="en-US" altLang="zh-CN" sz="2400" dirty="0" smtClean="0"/>
          </a:p>
          <a:p>
            <a:pPr lvl="3"/>
            <a:r>
              <a:rPr lang="en-US" sz="2400" dirty="0" smtClean="0"/>
              <a:t>C/S</a:t>
            </a:r>
            <a:r>
              <a:rPr lang="zh-CN" altLang="en-US" sz="2400" dirty="0" smtClean="0"/>
              <a:t>和</a:t>
            </a:r>
            <a:r>
              <a:rPr lang="en-US" sz="2400" dirty="0" smtClean="0"/>
              <a:t>B/S</a:t>
            </a:r>
            <a:r>
              <a:rPr lang="zh-CN" altLang="en-US" sz="2400" dirty="0" smtClean="0"/>
              <a:t>适合于数据和处理分布在一定范围、通过网络连接构成的系统；</a:t>
            </a:r>
            <a:endParaRPr lang="en-US" altLang="zh-CN" sz="2400" dirty="0" smtClean="0"/>
          </a:p>
          <a:p>
            <a:pPr lvl="3"/>
            <a:r>
              <a:rPr lang="en-US" sz="2400" dirty="0" smtClean="0"/>
              <a:t>“</a:t>
            </a:r>
            <a:r>
              <a:rPr lang="zh-CN" altLang="en-US" sz="2400" dirty="0" smtClean="0"/>
              <a:t>平台</a:t>
            </a:r>
            <a:r>
              <a:rPr lang="en-US" sz="2400" dirty="0" smtClean="0"/>
              <a:t>-</a:t>
            </a:r>
            <a:r>
              <a:rPr lang="zh-CN" altLang="en-US" sz="2400" dirty="0" smtClean="0"/>
              <a:t>插件</a:t>
            </a:r>
            <a:r>
              <a:rPr lang="en-US" sz="2400" dirty="0" smtClean="0"/>
              <a:t>”</a:t>
            </a:r>
            <a:r>
              <a:rPr lang="zh-CN" altLang="en-US" sz="2400" dirty="0" smtClean="0"/>
              <a:t>风格适用于具有插件扩展功能的应用程序中；</a:t>
            </a:r>
            <a:endParaRPr lang="en-US" altLang="zh-CN" sz="2400" dirty="0" smtClean="0"/>
          </a:p>
          <a:p>
            <a:pPr lvl="3"/>
            <a:r>
              <a:rPr lang="en-US" sz="2400" dirty="0" smtClean="0"/>
              <a:t>MVC</a:t>
            </a:r>
            <a:r>
              <a:rPr lang="zh-CN" altLang="en-US" sz="2400" dirty="0" smtClean="0"/>
              <a:t>被广泛的应用于用户交互程序的设计；</a:t>
            </a:r>
            <a:endParaRPr lang="en-US" altLang="zh-CN" sz="2400" dirty="0" smtClean="0"/>
          </a:p>
          <a:p>
            <a:pPr lvl="3"/>
            <a:r>
              <a:rPr lang="en-US" sz="2400" dirty="0" smtClean="0"/>
              <a:t>SOA</a:t>
            </a:r>
            <a:r>
              <a:rPr lang="zh-CN" altLang="en-US" sz="2400" dirty="0" smtClean="0"/>
              <a:t>应用在企业集成等方面 </a:t>
            </a:r>
          </a:p>
          <a:p>
            <a:pPr lvl="1"/>
            <a:endParaRPr lang="en-US" altLang="zh-CN" dirty="0" smtClean="0"/>
          </a:p>
          <a:p>
            <a:pPr lvl="1"/>
            <a:endParaRPr lang="en-US" altLang="zh-CN" dirty="0" smtClean="0"/>
          </a:p>
          <a:p>
            <a:pPr lvl="1"/>
            <a:endParaRPr lang="zh-CN" altLang="en-US" dirty="0" smtClean="0"/>
          </a:p>
          <a:p>
            <a:pPr lvl="2">
              <a:buNone/>
            </a:pPr>
            <a:endParaRPr lang="en-US" altLang="zh-CN" dirty="0" smtClean="0"/>
          </a:p>
          <a:p>
            <a:pPr lvl="2"/>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023966" y="269858"/>
            <a:ext cx="7620000" cy="730250"/>
          </a:xfrm>
        </p:spPr>
        <p:txBody>
          <a:bodyPr>
            <a:normAutofit/>
          </a:bodyPr>
          <a:lstStyle/>
          <a:p>
            <a:pPr lvl="0">
              <a:defRPr/>
            </a:pPr>
            <a:r>
              <a:rPr lang="en-US" altLang="zh-CN" sz="4000" dirty="0" smtClean="0"/>
              <a:t>1.4</a:t>
            </a:r>
            <a:r>
              <a:rPr lang="zh-CN" altLang="en-US" sz="4000" dirty="0" smtClean="0">
                <a:effectLst>
                  <a:outerShdw blurRad="38100" dist="38100" dir="2700000" algn="tl">
                    <a:srgbClr val="FFFFFF"/>
                  </a:outerShdw>
                </a:effectLst>
                <a:latin typeface="Times New Roman" pitchFamily="18" charset="0"/>
              </a:rPr>
              <a:t>软件架构研究和应用现状（</a:t>
            </a:r>
            <a:r>
              <a:rPr lang="en-US" altLang="zh-CN" sz="4000" dirty="0" smtClean="0">
                <a:effectLst>
                  <a:outerShdw blurRad="38100" dist="38100" dir="2700000" algn="tl">
                    <a:srgbClr val="FFFFFF"/>
                  </a:outerShdw>
                </a:effectLst>
                <a:latin typeface="Times New Roman" pitchFamily="18" charset="0"/>
              </a:rPr>
              <a:t>11</a:t>
            </a:r>
            <a:r>
              <a:rPr lang="zh-CN" altLang="en-US" sz="4000" dirty="0" smtClean="0">
                <a:effectLst>
                  <a:outerShdw blurRad="38100" dist="38100" dir="2700000" algn="tl">
                    <a:srgbClr val="FFFFFF"/>
                  </a:outerShdw>
                </a:effectLst>
                <a:latin typeface="Times New Roman" pitchFamily="18" charset="0"/>
              </a:rPr>
              <a:t>）</a:t>
            </a:r>
            <a:endParaRPr lang="en-US" altLang="zh-CN" sz="4000" dirty="0" smtClean="0"/>
          </a:p>
        </p:txBody>
      </p:sp>
      <p:sp>
        <p:nvSpPr>
          <p:cNvPr id="5" name="内容占位符 4"/>
          <p:cNvSpPr>
            <a:spLocks noGrp="1"/>
          </p:cNvSpPr>
          <p:nvPr>
            <p:ph idx="1"/>
          </p:nvPr>
        </p:nvSpPr>
        <p:spPr/>
        <p:txBody>
          <a:bodyPr>
            <a:normAutofit fontScale="92500"/>
          </a:bodyPr>
          <a:lstStyle/>
          <a:p>
            <a:r>
              <a:rPr lang="en-US" altLang="zh-CN" dirty="0" smtClean="0"/>
              <a:t>2.</a:t>
            </a:r>
            <a:r>
              <a:rPr lang="zh-CN" altLang="en-US" dirty="0" smtClean="0"/>
              <a:t>软件架构的应用研究</a:t>
            </a:r>
            <a:endParaRPr lang="en-US" altLang="zh-CN" dirty="0" smtClean="0"/>
          </a:p>
          <a:p>
            <a:pPr lvl="1"/>
            <a:r>
              <a:rPr lang="zh-CN" altLang="en-US" dirty="0" smtClean="0"/>
              <a:t>（</a:t>
            </a:r>
            <a:r>
              <a:rPr lang="en-US" altLang="zh-CN" dirty="0" smtClean="0"/>
              <a:t>2</a:t>
            </a:r>
            <a:r>
              <a:rPr lang="zh-CN" altLang="en-US" dirty="0" smtClean="0"/>
              <a:t>）软件架构在开发过程中的应用</a:t>
            </a:r>
            <a:endParaRPr lang="en-US" altLang="zh-CN" dirty="0" smtClean="0"/>
          </a:p>
          <a:p>
            <a:pPr lvl="2"/>
            <a:r>
              <a:rPr lang="zh-CN" altLang="en-US" b="1" dirty="0" smtClean="0"/>
              <a:t>需求阶段</a:t>
            </a:r>
            <a:r>
              <a:rPr lang="zh-CN" altLang="en-US" dirty="0" smtClean="0"/>
              <a:t>：把</a:t>
            </a:r>
            <a:r>
              <a:rPr lang="en-US" dirty="0" smtClean="0"/>
              <a:t>SA</a:t>
            </a:r>
            <a:r>
              <a:rPr lang="zh-CN" altLang="en-US" dirty="0" smtClean="0"/>
              <a:t>的概念引入到需求分析阶段，有助于保证需求规约和系统设计之间的可追踪性和一致性。</a:t>
            </a:r>
            <a:endParaRPr lang="en-US" altLang="zh-CN" dirty="0" smtClean="0"/>
          </a:p>
          <a:p>
            <a:pPr lvl="2"/>
            <a:r>
              <a:rPr lang="zh-CN" altLang="en-US" b="1" dirty="0" smtClean="0"/>
              <a:t>设计阶段</a:t>
            </a:r>
            <a:r>
              <a:rPr lang="zh-CN" altLang="en-US" dirty="0" smtClean="0"/>
              <a:t>：</a:t>
            </a:r>
            <a:r>
              <a:rPr lang="en-US" dirty="0" smtClean="0"/>
              <a:t>SA</a:t>
            </a:r>
            <a:r>
              <a:rPr lang="zh-CN" altLang="en-US" dirty="0" smtClean="0"/>
              <a:t>模型的描述、</a:t>
            </a:r>
            <a:r>
              <a:rPr lang="en-US" dirty="0" smtClean="0"/>
              <a:t>SA</a:t>
            </a:r>
            <a:r>
              <a:rPr lang="zh-CN" altLang="en-US" dirty="0" smtClean="0"/>
              <a:t>模型的设计与分析方法，以及对</a:t>
            </a:r>
            <a:r>
              <a:rPr lang="en-US" dirty="0" smtClean="0"/>
              <a:t>SA</a:t>
            </a:r>
            <a:r>
              <a:rPr lang="zh-CN" altLang="en-US" dirty="0" smtClean="0"/>
              <a:t>设计经验的总结与复用等。</a:t>
            </a:r>
            <a:endParaRPr lang="en-US" altLang="zh-CN" dirty="0" smtClean="0"/>
          </a:p>
          <a:p>
            <a:pPr lvl="2"/>
            <a:r>
              <a:rPr lang="zh-CN" altLang="en-US" b="1" dirty="0" smtClean="0"/>
              <a:t>实现阶段</a:t>
            </a:r>
            <a:r>
              <a:rPr lang="zh-CN" altLang="en-US" dirty="0" smtClean="0"/>
              <a:t>：将设计阶段设计的算法及数据类型用程序设计语言进行表示</a:t>
            </a:r>
            <a:r>
              <a:rPr lang="en-US" altLang="zh-CN" dirty="0" smtClean="0"/>
              <a:t>.</a:t>
            </a:r>
          </a:p>
          <a:p>
            <a:pPr lvl="2"/>
            <a:r>
              <a:rPr lang="zh-CN" altLang="en-US" b="1" dirty="0" smtClean="0"/>
              <a:t>维护阶段</a:t>
            </a:r>
            <a:r>
              <a:rPr lang="zh-CN" altLang="en-US" dirty="0" smtClean="0"/>
              <a:t>：为了保证软件具有良好的维护性，在软件架构中针对维护性的目标进行分析时，需要对一些有关维护性的属性（例如，可扩展性、可替换性等）进行规定。</a:t>
            </a:r>
            <a:endParaRPr lang="en-US" altLang="zh-CN" dirty="0" smtClean="0"/>
          </a:p>
          <a:p>
            <a:pPr lvl="1"/>
            <a:endParaRPr lang="en-US" altLang="zh-CN" dirty="0" smtClean="0"/>
          </a:p>
          <a:p>
            <a:pPr lvl="1"/>
            <a:endParaRPr lang="zh-CN" altLang="en-US" dirty="0" smtClean="0"/>
          </a:p>
          <a:p>
            <a:pPr lvl="2">
              <a:buNone/>
            </a:pPr>
            <a:endParaRPr lang="en-US" altLang="zh-CN" dirty="0" smtClean="0"/>
          </a:p>
          <a:p>
            <a:pPr lvl="2"/>
            <a:endParaRPr lang="en-US" altLang="zh-CN" dirty="0" smtClean="0"/>
          </a:p>
        </p:txBody>
      </p:sp>
    </p:spTree>
    <p:extLst>
      <p:ext uri="{BB962C8B-B14F-4D97-AF65-F5344CB8AC3E}">
        <p14:creationId xmlns:p14="http://schemas.microsoft.com/office/powerpoint/2010/main" val="3860506995"/>
      </p:ext>
    </p:extLst>
  </p:cSld>
  <p:clrMapOvr>
    <a:masterClrMapping/>
  </p:clrMapOvr>
  <p:transition spd="slow">
    <p:randomBar dir="ver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dirty="0" smtClean="0">
                <a:latin typeface="Arial Narrow" pitchFamily="34" charset="0"/>
              </a:rPr>
              <a:t>第二章   软件架构的概念</a:t>
            </a:r>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5780447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4"/>
          <p:cNvSpPr>
            <a:spLocks noGrp="1" noChangeArrowheads="1"/>
          </p:cNvSpPr>
          <p:nvPr>
            <p:ph type="title"/>
          </p:nvPr>
        </p:nvSpPr>
        <p:spPr>
          <a:xfrm>
            <a:off x="1371600" y="785794"/>
            <a:ext cx="7772400" cy="762000"/>
          </a:xfrm>
        </p:spPr>
        <p:txBody>
          <a:bodyPr/>
          <a:lstStyle/>
          <a:p>
            <a:pPr fontAlgn="auto">
              <a:spcAft>
                <a:spcPts val="0"/>
              </a:spcAft>
              <a:defRPr/>
            </a:pPr>
            <a:r>
              <a:rPr lang="zh-CN" altLang="en-US" b="1" dirty="0" smtClean="0">
                <a:solidFill>
                  <a:schemeClr val="tx1"/>
                </a:solidFill>
              </a:rPr>
              <a:t>目   录</a:t>
            </a:r>
          </a:p>
        </p:txBody>
      </p:sp>
      <p:sp>
        <p:nvSpPr>
          <p:cNvPr id="11267" name="Rectangle 6"/>
          <p:cNvSpPr>
            <a:spLocks noGrp="1" noChangeArrowheads="1"/>
          </p:cNvSpPr>
          <p:nvPr>
            <p:ph idx="1"/>
          </p:nvPr>
        </p:nvSpPr>
        <p:spPr>
          <a:xfrm>
            <a:off x="1000100" y="1981200"/>
            <a:ext cx="7229500" cy="3733800"/>
          </a:xfrm>
        </p:spPr>
        <p:txBody>
          <a:bodyPr>
            <a:normAutofit/>
          </a:bodyPr>
          <a:lstStyle/>
          <a:p>
            <a:r>
              <a:rPr lang="en-US" altLang="zh-CN" sz="2400" b="1" dirty="0" smtClean="0">
                <a:latin typeface="宋体" panose="02010600030101010101" pitchFamily="2" charset="-122"/>
                <a:ea typeface="宋体" panose="02010600030101010101" pitchFamily="2" charset="-122"/>
              </a:rPr>
              <a:t>2.1 </a:t>
            </a:r>
            <a:r>
              <a:rPr lang="zh-CN" altLang="en-US" sz="2400" b="1" dirty="0" smtClean="0">
                <a:latin typeface="宋体" panose="02010600030101010101" pitchFamily="2" charset="-122"/>
                <a:ea typeface="宋体" panose="02010600030101010101" pitchFamily="2" charset="-122"/>
              </a:rPr>
              <a:t>概述</a:t>
            </a:r>
            <a:endParaRPr lang="en-US" altLang="zh-CN" sz="2400" b="1" dirty="0" smtClean="0">
              <a:latin typeface="宋体" panose="02010600030101010101" pitchFamily="2" charset="-122"/>
              <a:ea typeface="宋体" panose="02010600030101010101" pitchFamily="2" charset="-122"/>
            </a:endParaRPr>
          </a:p>
          <a:p>
            <a:r>
              <a:rPr lang="en-US" altLang="zh-CN" sz="2400" b="1" dirty="0" smtClean="0">
                <a:latin typeface="宋体" panose="02010600030101010101" pitchFamily="2" charset="-122"/>
                <a:ea typeface="宋体" panose="02010600030101010101" pitchFamily="2" charset="-122"/>
              </a:rPr>
              <a:t>2.2 </a:t>
            </a:r>
            <a:r>
              <a:rPr lang="zh-CN" altLang="en-US" sz="2400" b="1" dirty="0" smtClean="0">
                <a:latin typeface="宋体" panose="02010600030101010101" pitchFamily="2" charset="-122"/>
                <a:ea typeface="宋体" panose="02010600030101010101" pitchFamily="2" charset="-122"/>
              </a:rPr>
              <a:t>组成派的主要定义</a:t>
            </a:r>
          </a:p>
          <a:p>
            <a:r>
              <a:rPr lang="en-US" altLang="zh-CN" sz="2400" b="1" dirty="0" smtClean="0">
                <a:latin typeface="宋体" panose="02010600030101010101" pitchFamily="2" charset="-122"/>
                <a:ea typeface="宋体" panose="02010600030101010101" pitchFamily="2" charset="-122"/>
              </a:rPr>
              <a:t>2.3 </a:t>
            </a:r>
            <a:r>
              <a:rPr lang="zh-CN" altLang="en-US" sz="2400" b="1" dirty="0" smtClean="0">
                <a:latin typeface="宋体" panose="02010600030101010101" pitchFamily="2" charset="-122"/>
                <a:ea typeface="宋体" panose="02010600030101010101" pitchFamily="2" charset="-122"/>
              </a:rPr>
              <a:t>决策派的主要定义</a:t>
            </a:r>
            <a:endParaRPr lang="en-US" altLang="zh-CN" sz="2400" b="1" dirty="0" smtClean="0">
              <a:latin typeface="宋体" panose="02010600030101010101" pitchFamily="2" charset="-122"/>
              <a:ea typeface="宋体" panose="02010600030101010101" pitchFamily="2" charset="-122"/>
            </a:endParaRPr>
          </a:p>
          <a:p>
            <a:r>
              <a:rPr lang="en-US" altLang="zh-CN" sz="2400" b="1" dirty="0" smtClean="0">
                <a:latin typeface="宋体" panose="02010600030101010101" pitchFamily="2" charset="-122"/>
                <a:ea typeface="宋体" panose="02010600030101010101" pitchFamily="2" charset="-122"/>
              </a:rPr>
              <a:t>2.4 </a:t>
            </a:r>
            <a:r>
              <a:rPr lang="zh-CN" altLang="en-US" sz="2400" b="1" dirty="0" smtClean="0">
                <a:latin typeface="宋体" panose="02010600030101010101" pitchFamily="2" charset="-122"/>
                <a:ea typeface="宋体" panose="02010600030101010101" pitchFamily="2" charset="-122"/>
              </a:rPr>
              <a:t>其他定义</a:t>
            </a:r>
            <a:endParaRPr lang="en-US" altLang="zh-CN" sz="2400" b="1" dirty="0" smtClean="0">
              <a:latin typeface="宋体" panose="02010600030101010101" pitchFamily="2" charset="-122"/>
              <a:ea typeface="宋体" panose="02010600030101010101" pitchFamily="2" charset="-122"/>
            </a:endParaRPr>
          </a:p>
          <a:p>
            <a:r>
              <a:rPr lang="en-US" altLang="zh-CN" sz="2400" b="1" dirty="0" smtClean="0">
                <a:latin typeface="宋体" panose="02010600030101010101" pitchFamily="2" charset="-122"/>
                <a:ea typeface="宋体" panose="02010600030101010101" pitchFamily="2" charset="-122"/>
              </a:rPr>
              <a:t>2.5 </a:t>
            </a:r>
            <a:r>
              <a:rPr lang="zh-CN" altLang="en-US" sz="2400" b="1" dirty="0" smtClean="0">
                <a:latin typeface="宋体" panose="02010600030101010101" pitchFamily="2" charset="-122"/>
                <a:ea typeface="宋体" panose="02010600030101010101" pitchFamily="2" charset="-122"/>
              </a:rPr>
              <a:t>参考定义框架</a:t>
            </a:r>
          </a:p>
          <a:p>
            <a:pPr marL="82550" indent="0">
              <a:buNone/>
            </a:pPr>
            <a:endParaRPr lang="zh-CN" altLang="en-US" sz="2400" b="1" dirty="0" smtClean="0">
              <a:latin typeface="宋体" panose="02010600030101010101" pitchFamily="2" charset="-122"/>
              <a:ea typeface="宋体" panose="02010600030101010101" pitchFamily="2" charset="-122"/>
            </a:endParaRPr>
          </a:p>
          <a:p>
            <a:pPr>
              <a:buClr>
                <a:srgbClr val="FF0000"/>
              </a:buClr>
              <a:buFont typeface="Wingdings" panose="05000000000000000000" pitchFamily="2" charset="2"/>
              <a:buChar char="q"/>
            </a:pPr>
            <a:endParaRPr lang="zh-CN" altLang="en-US" sz="2400" dirty="0" smtClean="0">
              <a:solidFill>
                <a:srgbClr val="000000"/>
              </a:solidFill>
              <a:latin typeface="仿宋_GB2312" pitchFamily="49" charset="-122"/>
              <a:ea typeface="仿宋_GB2312" pitchFamily="49" charset="-122"/>
            </a:endParaRPr>
          </a:p>
        </p:txBody>
      </p:sp>
    </p:spTree>
    <p:extLst>
      <p:ext uri="{BB962C8B-B14F-4D97-AF65-F5344CB8AC3E}">
        <p14:creationId xmlns:p14="http://schemas.microsoft.com/office/powerpoint/2010/main" val="3615037891"/>
      </p:ext>
    </p:extLst>
  </p:cSld>
  <p:clrMapOvr>
    <a:masterClrMapping/>
  </p:clrMapOvr>
  <p:transition spd="slow">
    <p:randomBar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000100" y="0"/>
            <a:ext cx="7620000" cy="730250"/>
          </a:xfrm>
        </p:spPr>
        <p:txBody>
          <a:bodyPr>
            <a:normAutofit fontScale="90000"/>
          </a:bodyPr>
          <a:lstStyle/>
          <a:p>
            <a:pPr eaLnBrk="1" hangingPunct="1"/>
            <a:r>
              <a:rPr lang="en-US" altLang="zh-CN" dirty="0" smtClean="0">
                <a:solidFill>
                  <a:schemeClr val="accent5">
                    <a:lumMod val="75000"/>
                  </a:schemeClr>
                </a:solidFill>
                <a:latin typeface="+mj-ea"/>
              </a:rPr>
              <a:t>2.1 </a:t>
            </a:r>
            <a:r>
              <a:rPr lang="zh-CN" altLang="en-US" dirty="0" smtClean="0">
                <a:solidFill>
                  <a:schemeClr val="accent5">
                    <a:lumMod val="75000"/>
                  </a:schemeClr>
                </a:solidFill>
                <a:latin typeface="+mj-ea"/>
              </a:rPr>
              <a:t>概述（</a:t>
            </a:r>
            <a:r>
              <a:rPr lang="en-US" altLang="zh-CN" dirty="0" smtClean="0">
                <a:solidFill>
                  <a:schemeClr val="accent5">
                    <a:lumMod val="75000"/>
                  </a:schemeClr>
                </a:solidFill>
                <a:latin typeface="+mj-ea"/>
              </a:rPr>
              <a:t>1</a:t>
            </a:r>
            <a:r>
              <a:rPr lang="zh-CN" altLang="en-US" dirty="0" smtClean="0">
                <a:solidFill>
                  <a:schemeClr val="accent5">
                    <a:lumMod val="75000"/>
                  </a:schemeClr>
                </a:solidFill>
                <a:latin typeface="+mj-ea"/>
              </a:rPr>
              <a:t>）</a:t>
            </a:r>
          </a:p>
        </p:txBody>
      </p:sp>
      <p:sp>
        <p:nvSpPr>
          <p:cNvPr id="56323" name="Rectangle 3"/>
          <p:cNvSpPr>
            <a:spLocks noGrp="1" noChangeArrowheads="1"/>
          </p:cNvSpPr>
          <p:nvPr>
            <p:ph type="body" sz="half" idx="1"/>
          </p:nvPr>
        </p:nvSpPr>
        <p:spPr>
          <a:xfrm>
            <a:off x="1071538" y="1000108"/>
            <a:ext cx="7572428" cy="5248292"/>
          </a:xfrm>
        </p:spPr>
        <p:txBody>
          <a:bodyPr>
            <a:normAutofit fontScale="95000" lnSpcReduction="10000"/>
          </a:bodyPr>
          <a:lstStyle/>
          <a:p>
            <a:pPr eaLnBrk="1" hangingPunct="1"/>
            <a:r>
              <a:rPr sz="2800" b="1" dirty="0" smtClean="0">
                <a:ea typeface="宋体" panose="02010600030101010101" pitchFamily="2" charset="-122"/>
              </a:rPr>
              <a:t>软件架构的定义一出现就存在比较大的争论。</a:t>
            </a:r>
          </a:p>
          <a:p>
            <a:pPr lvl="1" eaLnBrk="1" hangingPunct="1">
              <a:lnSpc>
                <a:spcPct val="150000"/>
              </a:lnSpc>
              <a:spcBef>
                <a:spcPts val="600"/>
              </a:spcBef>
              <a:spcAft>
                <a:spcPts val="600"/>
              </a:spcAft>
            </a:pPr>
            <a:r>
              <a:rPr lang="en-US" altLang="zh-CN" sz="2500" dirty="0" err="1" smtClean="0"/>
              <a:t>研究人员一般认为：软件架构就是一个系统的草图</a:t>
            </a:r>
            <a:r>
              <a:rPr lang="en-US" altLang="zh-CN" sz="2500" dirty="0" smtClean="0"/>
              <a:t>。</a:t>
            </a:r>
          </a:p>
          <a:p>
            <a:pPr lvl="1">
              <a:lnSpc>
                <a:spcPct val="150000"/>
              </a:lnSpc>
              <a:spcBef>
                <a:spcPts val="600"/>
              </a:spcBef>
              <a:spcAft>
                <a:spcPts val="600"/>
              </a:spcAft>
            </a:pPr>
            <a:r>
              <a:rPr lang="zh-CN" altLang="en-US" sz="2500" dirty="0" smtClean="0"/>
              <a:t>业界人士虽然也认同研究人员对软件架构概念的描述，但实际上很多时候很难用某个软件架构定义来对问题进行系统的、全面的、准确的刻画，也很难解决到满意的程度。</a:t>
            </a:r>
            <a:endParaRPr lang="en-US" altLang="zh-CN" sz="2500" dirty="0" smtClean="0"/>
          </a:p>
          <a:p>
            <a:pPr lvl="1">
              <a:lnSpc>
                <a:spcPct val="150000"/>
              </a:lnSpc>
              <a:spcBef>
                <a:spcPts val="600"/>
              </a:spcBef>
              <a:spcAft>
                <a:spcPts val="600"/>
              </a:spcAft>
            </a:pPr>
            <a:r>
              <a:rPr lang="zh-CN" altLang="en-US" sz="2500" dirty="0" smtClean="0"/>
              <a:t>由于学术界和工业界的联系不紧密，导致对软件架构的认识不一致，使得软件架构至今很难有个统一的定义。</a:t>
            </a:r>
            <a:endParaRPr lang="en-US" altLang="zh-CN" sz="2500" dirty="0" smtClean="0"/>
          </a:p>
        </p:txBody>
      </p:sp>
    </p:spTree>
    <p:extLst>
      <p:ext uri="{BB962C8B-B14F-4D97-AF65-F5344CB8AC3E}">
        <p14:creationId xmlns:p14="http://schemas.microsoft.com/office/powerpoint/2010/main" val="346188529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000100" y="55544"/>
            <a:ext cx="7620000" cy="730250"/>
          </a:xfrm>
        </p:spPr>
        <p:txBody>
          <a:bodyPr>
            <a:normAutofit fontScale="90000"/>
          </a:bodyPr>
          <a:lstStyle/>
          <a:p>
            <a:r>
              <a:rPr lang="zh-CN" altLang="en-US" dirty="0" smtClean="0">
                <a:latin typeface="+mj-ea"/>
                <a:sym typeface="+mn-ea"/>
              </a:rPr>
              <a:t/>
            </a:r>
            <a:br>
              <a:rPr lang="zh-CN" altLang="en-US" dirty="0" smtClean="0">
                <a:latin typeface="+mj-ea"/>
                <a:sym typeface="+mn-ea"/>
              </a:rPr>
            </a:br>
            <a:r>
              <a:rPr lang="zh-CN" altLang="en-US" dirty="0" smtClean="0">
                <a:latin typeface="+mj-ea"/>
                <a:sym typeface="+mn-ea"/>
              </a:rPr>
              <a:t/>
            </a:r>
            <a:br>
              <a:rPr lang="zh-CN" altLang="en-US" dirty="0" smtClean="0">
                <a:latin typeface="+mj-ea"/>
                <a:sym typeface="+mn-ea"/>
              </a:rPr>
            </a:br>
            <a:r>
              <a:rPr lang="en-US" altLang="zh-CN" sz="4000" dirty="0" smtClean="0">
                <a:solidFill>
                  <a:schemeClr val="accent5">
                    <a:lumMod val="75000"/>
                  </a:schemeClr>
                </a:solidFill>
                <a:latin typeface="+mj-ea"/>
              </a:rPr>
              <a:t>2.1 </a:t>
            </a:r>
            <a:r>
              <a:rPr lang="zh-CN" altLang="en-US" sz="4000" dirty="0" smtClean="0">
                <a:solidFill>
                  <a:schemeClr val="accent5">
                    <a:lumMod val="75000"/>
                  </a:schemeClr>
                </a:solidFill>
                <a:latin typeface="+mj-ea"/>
              </a:rPr>
              <a:t>概述（</a:t>
            </a:r>
            <a:r>
              <a:rPr lang="en-US" altLang="zh-CN" sz="4000" dirty="0" smtClean="0">
                <a:solidFill>
                  <a:schemeClr val="accent5">
                    <a:lumMod val="75000"/>
                  </a:schemeClr>
                </a:solidFill>
                <a:latin typeface="+mj-ea"/>
              </a:rPr>
              <a:t>2</a:t>
            </a:r>
            <a:r>
              <a:rPr lang="zh-CN" altLang="en-US" sz="4000" dirty="0" smtClean="0">
                <a:solidFill>
                  <a:schemeClr val="accent5">
                    <a:lumMod val="75000"/>
                  </a:schemeClr>
                </a:solidFill>
                <a:latin typeface="+mj-ea"/>
              </a:rPr>
              <a:t>）</a:t>
            </a:r>
            <a:r>
              <a:rPr lang="zh-CN" altLang="en-US" dirty="0" smtClean="0">
                <a:latin typeface="+mj-ea"/>
              </a:rPr>
              <a:t/>
            </a:r>
            <a:br>
              <a:rPr lang="zh-CN" altLang="en-US" dirty="0" smtClean="0">
                <a:latin typeface="+mj-ea"/>
              </a:rPr>
            </a:br>
            <a:r>
              <a:rPr lang="zh-CN" altLang="en-US" dirty="0" smtClean="0">
                <a:latin typeface="+mj-ea"/>
              </a:rPr>
              <a:t/>
            </a:r>
            <a:br>
              <a:rPr lang="zh-CN" altLang="en-US" dirty="0" smtClean="0">
                <a:latin typeface="+mj-ea"/>
              </a:rPr>
            </a:br>
            <a:endParaRPr lang="en-US" altLang="zh-CN" dirty="0" smtClean="0">
              <a:latin typeface="+mj-ea"/>
            </a:endParaRPr>
          </a:p>
        </p:txBody>
      </p:sp>
      <p:sp>
        <p:nvSpPr>
          <p:cNvPr id="58371" name="Rectangle 3"/>
          <p:cNvSpPr>
            <a:spLocks noGrp="1" noChangeArrowheads="1"/>
          </p:cNvSpPr>
          <p:nvPr>
            <p:ph type="body" sz="half" idx="1"/>
          </p:nvPr>
        </p:nvSpPr>
        <p:spPr>
          <a:xfrm>
            <a:off x="1142976" y="1143000"/>
            <a:ext cx="8001024" cy="5105400"/>
          </a:xfrm>
        </p:spPr>
        <p:txBody>
          <a:bodyPr>
            <a:normAutofit/>
          </a:bodyPr>
          <a:lstStyle/>
          <a:p>
            <a:pPr eaLnBrk="1" hangingPunct="1">
              <a:lnSpc>
                <a:spcPct val="170000"/>
              </a:lnSpc>
            </a:pPr>
            <a:r>
              <a:rPr sz="2800" b="1" dirty="0" smtClean="0">
                <a:latin typeface="+mn-ea"/>
              </a:rPr>
              <a:t>软件架构的定义驳杂多端，其中影响较大的定义派别是：</a:t>
            </a:r>
            <a:r>
              <a:rPr sz="2800" b="1" dirty="0" smtClean="0">
                <a:solidFill>
                  <a:srgbClr val="FF0000"/>
                </a:solidFill>
                <a:latin typeface="+mn-ea"/>
              </a:rPr>
              <a:t>组成派和决策派</a:t>
            </a:r>
            <a:r>
              <a:rPr sz="2800" b="1" dirty="0" smtClean="0">
                <a:latin typeface="+mn-ea"/>
              </a:rPr>
              <a:t>。</a:t>
            </a:r>
            <a:endParaRPr lang="en-US" sz="2800" b="1" dirty="0" smtClean="0">
              <a:latin typeface="+mn-ea"/>
            </a:endParaRPr>
          </a:p>
          <a:p>
            <a:pPr>
              <a:lnSpc>
                <a:spcPct val="170000"/>
              </a:lnSpc>
            </a:pPr>
            <a:r>
              <a:rPr lang="zh-CN" altLang="en-US" sz="2800" b="1" dirty="0" smtClean="0">
                <a:solidFill>
                  <a:srgbClr val="FF0000"/>
                </a:solidFill>
                <a:latin typeface="+mn-ea"/>
              </a:rPr>
              <a:t>组成派</a:t>
            </a:r>
            <a:r>
              <a:rPr sz="2800" b="1" dirty="0" smtClean="0">
                <a:latin typeface="+mn-ea"/>
              </a:rPr>
              <a:t>关注于软件本身，将软件架构看做构件和交互的集合；</a:t>
            </a:r>
            <a:endParaRPr lang="en-US" sz="2800" b="1" dirty="0" smtClean="0">
              <a:latin typeface="+mn-ea"/>
            </a:endParaRPr>
          </a:p>
          <a:p>
            <a:pPr>
              <a:lnSpc>
                <a:spcPct val="170000"/>
              </a:lnSpc>
            </a:pPr>
            <a:r>
              <a:rPr lang="zh-CN" altLang="en-US" sz="2800" b="1" dirty="0" smtClean="0">
                <a:solidFill>
                  <a:srgbClr val="FF0000"/>
                </a:solidFill>
                <a:latin typeface="+mn-ea"/>
              </a:rPr>
              <a:t>决策派</a:t>
            </a:r>
            <a:r>
              <a:rPr sz="2800" b="1" dirty="0" smtClean="0">
                <a:latin typeface="+mn-ea"/>
              </a:rPr>
              <a:t>关注于软件架构中的实体（人），将软件架构视为一系列重要设计决策的集合。</a:t>
            </a:r>
            <a:endParaRPr lang="zh-CN" altLang="en-US" sz="2800" b="1" dirty="0" smtClean="0">
              <a:solidFill>
                <a:schemeClr val="tx1"/>
              </a:solidFill>
              <a:latin typeface="+mn-ea"/>
            </a:endParaRPr>
          </a:p>
        </p:txBody>
      </p:sp>
    </p:spTree>
    <p:extLst>
      <p:ext uri="{BB962C8B-B14F-4D97-AF65-F5344CB8AC3E}">
        <p14:creationId xmlns:p14="http://schemas.microsoft.com/office/powerpoint/2010/main" val="380876309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p:cNvSpPr>
            <a:spLocks noGrp="1" noChangeArrowheads="1"/>
          </p:cNvSpPr>
          <p:nvPr>
            <p:ph type="title"/>
          </p:nvPr>
        </p:nvSpPr>
        <p:spPr>
          <a:xfrm>
            <a:off x="1142976" y="857232"/>
            <a:ext cx="7772400" cy="762000"/>
          </a:xfrm>
        </p:spPr>
        <p:txBody>
          <a:bodyPr/>
          <a:lstStyle/>
          <a:p>
            <a:pPr fontAlgn="auto">
              <a:spcAft>
                <a:spcPts val="0"/>
              </a:spcAft>
              <a:defRPr/>
            </a:pPr>
            <a:r>
              <a:rPr lang="en-US" altLang="zh-CN" sz="4000" dirty="0" smtClean="0">
                <a:solidFill>
                  <a:schemeClr val="accent5">
                    <a:lumMod val="75000"/>
                  </a:schemeClr>
                </a:solidFill>
              </a:rPr>
              <a:t>2.2 </a:t>
            </a:r>
            <a:r>
              <a:rPr lang="zh-CN" altLang="en-US" sz="4000" dirty="0" smtClean="0">
                <a:solidFill>
                  <a:schemeClr val="accent5">
                    <a:lumMod val="75000"/>
                  </a:schemeClr>
                </a:solidFill>
              </a:rPr>
              <a:t>组成派的主要定义（</a:t>
            </a:r>
            <a:r>
              <a:rPr lang="en-US" altLang="zh-CN" sz="4000" dirty="0" smtClean="0">
                <a:solidFill>
                  <a:schemeClr val="accent5">
                    <a:lumMod val="75000"/>
                  </a:schemeClr>
                </a:solidFill>
              </a:rPr>
              <a:t>1</a:t>
            </a:r>
            <a:r>
              <a:rPr lang="zh-CN" altLang="en-US" sz="4000" dirty="0" smtClean="0">
                <a:solidFill>
                  <a:schemeClr val="accent5">
                    <a:lumMod val="75000"/>
                  </a:schemeClr>
                </a:solidFill>
              </a:rPr>
              <a:t>）</a:t>
            </a:r>
          </a:p>
        </p:txBody>
      </p:sp>
      <p:sp>
        <p:nvSpPr>
          <p:cNvPr id="12291" name="Rectangle 3"/>
          <p:cNvSpPr>
            <a:spLocks noGrp="1" noChangeArrowheads="1"/>
          </p:cNvSpPr>
          <p:nvPr>
            <p:ph idx="1"/>
          </p:nvPr>
        </p:nvSpPr>
        <p:spPr>
          <a:xfrm>
            <a:off x="1000100" y="2071678"/>
            <a:ext cx="7772400" cy="3581400"/>
          </a:xfrm>
        </p:spPr>
        <p:txBody>
          <a:bodyPr>
            <a:normAutofit/>
          </a:bodyPr>
          <a:lstStyle/>
          <a:p>
            <a:pPr>
              <a:buClr>
                <a:srgbClr val="FF0000"/>
              </a:buClr>
              <a:buFontTx/>
              <a:buNone/>
            </a:pPr>
            <a:r>
              <a:rPr lang="en-US" altLang="zh-CN" sz="2800" b="1" dirty="0" smtClean="0">
                <a:solidFill>
                  <a:srgbClr val="000000"/>
                </a:solidFill>
                <a:latin typeface="Arial Narrow" pitchFamily="34" charset="0"/>
                <a:ea typeface="仿宋_GB2312" pitchFamily="49" charset="-122"/>
              </a:rPr>
              <a:t>        </a:t>
            </a:r>
            <a:r>
              <a:rPr lang="en-US" altLang="zh-CN" sz="2800" b="1" dirty="0" err="1" smtClean="0">
                <a:solidFill>
                  <a:srgbClr val="000000"/>
                </a:solidFill>
                <a:latin typeface="Arial Narrow" pitchFamily="34" charset="0"/>
                <a:ea typeface="仿宋_GB2312" pitchFamily="49" charset="-122"/>
              </a:rPr>
              <a:t>组成派定义</a:t>
            </a:r>
            <a:r>
              <a:rPr lang="zh-CN" altLang="en-US" sz="2800" b="1" dirty="0" smtClean="0">
                <a:solidFill>
                  <a:srgbClr val="000000"/>
                </a:solidFill>
                <a:latin typeface="Arial Narrow" pitchFamily="34" charset="0"/>
                <a:ea typeface="仿宋_GB2312" pitchFamily="49" charset="-122"/>
              </a:rPr>
              <a:t>依据：</a:t>
            </a:r>
            <a:r>
              <a:rPr lang="en-US" altLang="zh-CN" sz="2800" b="1" dirty="0" err="1" smtClean="0">
                <a:solidFill>
                  <a:srgbClr val="000000"/>
                </a:solidFill>
                <a:latin typeface="Arial Narrow" pitchFamily="34" charset="0"/>
                <a:ea typeface="仿宋_GB2312" pitchFamily="49" charset="-122"/>
              </a:rPr>
              <a:t>软件架构主要反映系统由哪些部分组成，以及这些部分是如何组成的，强调软件系统的整体结构和配置</a:t>
            </a:r>
            <a:r>
              <a:rPr lang="en-US" altLang="zh-CN" sz="2800" b="1" dirty="0" smtClean="0">
                <a:solidFill>
                  <a:srgbClr val="000000"/>
                </a:solidFill>
                <a:latin typeface="Arial Narrow" pitchFamily="34" charset="0"/>
                <a:ea typeface="仿宋_GB2312" pitchFamily="49" charset="-122"/>
              </a:rPr>
              <a:t>。</a:t>
            </a:r>
          </a:p>
          <a:p>
            <a:pPr>
              <a:buClr>
                <a:srgbClr val="FF0000"/>
              </a:buClr>
              <a:buFontTx/>
              <a:buNone/>
            </a:pPr>
            <a:endParaRPr lang="zh-CN" altLang="en-US" sz="2800" b="1" dirty="0">
              <a:solidFill>
                <a:srgbClr val="000000"/>
              </a:solidFill>
              <a:latin typeface="Arial Narrow" pitchFamily="34" charset="0"/>
              <a:ea typeface="仿宋_GB2312" pitchFamily="49" charset="-122"/>
            </a:endParaRPr>
          </a:p>
          <a:p>
            <a:pPr>
              <a:buClr>
                <a:srgbClr val="FF0000"/>
              </a:buClr>
              <a:buFontTx/>
              <a:buNone/>
            </a:pPr>
            <a:endParaRPr lang="zh-CN" altLang="en-US" sz="2800" b="1" dirty="0" smtClean="0">
              <a:ea typeface="仿宋_GB2312" pitchFamily="49" charset="-122"/>
            </a:endParaRPr>
          </a:p>
        </p:txBody>
      </p:sp>
    </p:spTree>
    <p:extLst>
      <p:ext uri="{BB962C8B-B14F-4D97-AF65-F5344CB8AC3E}">
        <p14:creationId xmlns:p14="http://schemas.microsoft.com/office/powerpoint/2010/main" val="2370239648"/>
      </p:ext>
    </p:extLst>
  </p:cSld>
  <p:clrMapOvr>
    <a:masterClrMapping/>
  </p:clrMapOvr>
  <p:transition spd="slow">
    <p:randomBar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000100" y="0"/>
            <a:ext cx="7620000" cy="730250"/>
          </a:xfrm>
        </p:spPr>
        <p:txBody>
          <a:bodyPr>
            <a:normAutofit fontScale="90000"/>
          </a:bodyPr>
          <a:lstStyle/>
          <a:p>
            <a:r>
              <a:rPr lang="en-US" altLang="zh-CN" sz="4400" dirty="0" smtClean="0">
                <a:solidFill>
                  <a:schemeClr val="accent5">
                    <a:lumMod val="75000"/>
                  </a:schemeClr>
                </a:solidFill>
              </a:rPr>
              <a:t>2.2 </a:t>
            </a:r>
            <a:r>
              <a:rPr lang="zh-CN" altLang="en-US" sz="4400" dirty="0" smtClean="0">
                <a:solidFill>
                  <a:schemeClr val="accent5">
                    <a:lumMod val="75000"/>
                  </a:schemeClr>
                </a:solidFill>
              </a:rPr>
              <a:t>组成派的主要定义（</a:t>
            </a:r>
            <a:r>
              <a:rPr lang="en-US" altLang="zh-CN" sz="4400" dirty="0" smtClean="0">
                <a:solidFill>
                  <a:schemeClr val="accent5">
                    <a:lumMod val="75000"/>
                  </a:schemeClr>
                </a:solidFill>
              </a:rPr>
              <a:t>2</a:t>
            </a:r>
            <a:r>
              <a:rPr lang="zh-CN" altLang="en-US" sz="4400" dirty="0" smtClean="0">
                <a:solidFill>
                  <a:schemeClr val="accent5">
                    <a:lumMod val="75000"/>
                  </a:schemeClr>
                </a:solidFill>
              </a:rPr>
              <a:t>）</a:t>
            </a:r>
            <a:endParaRPr lang="zh-CN" altLang="en-US" dirty="0" smtClean="0">
              <a:solidFill>
                <a:schemeClr val="accent5">
                  <a:lumMod val="75000"/>
                </a:schemeClr>
              </a:solidFill>
            </a:endParaRPr>
          </a:p>
        </p:txBody>
      </p:sp>
      <p:sp>
        <p:nvSpPr>
          <p:cNvPr id="59395" name="Rectangle 3"/>
          <p:cNvSpPr>
            <a:spLocks noGrp="1" noChangeArrowheads="1"/>
          </p:cNvSpPr>
          <p:nvPr>
            <p:ph type="body" sz="half" idx="1"/>
          </p:nvPr>
        </p:nvSpPr>
        <p:spPr>
          <a:xfrm>
            <a:off x="1142976" y="1143000"/>
            <a:ext cx="8001024" cy="5500710"/>
          </a:xfrm>
        </p:spPr>
        <p:txBody>
          <a:bodyPr>
            <a:normAutofit/>
          </a:bodyPr>
          <a:lstStyle/>
          <a:p>
            <a:pPr eaLnBrk="1" hangingPunct="1"/>
            <a:r>
              <a:rPr lang="zh-CN" altLang="en-US" sz="2800" dirty="0" smtClean="0">
                <a:latin typeface="Times New Roman" pitchFamily="18" charset="0"/>
                <a:cs typeface="Times New Roman" pitchFamily="18" charset="0"/>
              </a:rPr>
              <a:t>1992年   Dewayne和Alexander软件架构定义</a:t>
            </a:r>
            <a:endParaRPr lang="en-US" altLang="en-US" sz="2800" dirty="0" smtClean="0">
              <a:latin typeface="Times New Roman" pitchFamily="18" charset="0"/>
              <a:cs typeface="Times New Roman" pitchFamily="18" charset="0"/>
            </a:endParaRPr>
          </a:p>
          <a:p>
            <a:pPr lvl="1"/>
            <a:r>
              <a:rPr lang="zh-CN" altLang="en-US" dirty="0" smtClean="0">
                <a:latin typeface="Times New Roman" pitchFamily="18" charset="0"/>
                <a:cs typeface="Times New Roman" pitchFamily="18" charset="0"/>
              </a:rPr>
              <a:t>软件是由架构元素（elements）、架构形式（form）和架构原理（rationale）组成的集合。</a:t>
            </a:r>
            <a:endParaRPr lang="en-US" altLang="en-US" dirty="0" smtClean="0">
              <a:latin typeface="Times New Roman" pitchFamily="18" charset="0"/>
              <a:cs typeface="Times New Roman" pitchFamily="18" charset="0"/>
            </a:endParaRPr>
          </a:p>
          <a:p>
            <a:pPr lvl="1"/>
            <a:r>
              <a:rPr lang="zh-CN" altLang="en-US" dirty="0" smtClean="0">
                <a:latin typeface="Times New Roman" pitchFamily="18" charset="0"/>
                <a:cs typeface="Times New Roman" pitchFamily="18" charset="0"/>
              </a:rPr>
              <a:t>软件架构={元素，组成，原理}，</a:t>
            </a:r>
            <a:endParaRPr lang="en-US" altLang="en-US" dirty="0" smtClean="0">
              <a:latin typeface="Times New Roman" pitchFamily="18" charset="0"/>
              <a:cs typeface="Times New Roman" pitchFamily="18" charset="0"/>
            </a:endParaRPr>
          </a:p>
          <a:p>
            <a:pPr lvl="2"/>
            <a:r>
              <a:rPr lang="zh-CN" altLang="en-US" dirty="0" smtClean="0">
                <a:latin typeface="Times New Roman" pitchFamily="18" charset="0"/>
                <a:cs typeface="Times New Roman" pitchFamily="18" charset="0"/>
              </a:rPr>
              <a:t>其中，元素是指具有一定形式的结构化元素。包括处理元素（processing elements）、数据元素（data elements）和连接元素（connecting elements）。</a:t>
            </a:r>
            <a:endParaRPr lang="en-US" altLang="en-US" dirty="0" smtClean="0">
              <a:latin typeface="Times New Roman" pitchFamily="18" charset="0"/>
              <a:cs typeface="Times New Roman" pitchFamily="18" charset="0"/>
            </a:endParaRPr>
          </a:p>
          <a:p>
            <a:pPr lvl="2"/>
            <a:r>
              <a:rPr lang="zh-CN" altLang="en-US" dirty="0" smtClean="0">
                <a:latin typeface="Times New Roman" pitchFamily="18" charset="0"/>
                <a:cs typeface="Times New Roman" pitchFamily="18" charset="0"/>
              </a:rPr>
              <a:t>架构组成由加权的属性（weighted properties）和关系（weighted relationships）构成。属性用来约束架构元素的选择，关系用来约束架构元素的放置（placement）。</a:t>
            </a:r>
            <a:endParaRPr lang="en-US" altLang="en-US" dirty="0" smtClean="0">
              <a:latin typeface="Times New Roman" pitchFamily="18" charset="0"/>
              <a:cs typeface="Times New Roman" pitchFamily="18" charset="0"/>
            </a:endParaRPr>
          </a:p>
          <a:p>
            <a:pPr lvl="2"/>
            <a:r>
              <a:rPr lang="zh-CN" altLang="en-US" dirty="0" smtClean="0">
                <a:latin typeface="Times New Roman" pitchFamily="18" charset="0"/>
                <a:cs typeface="Times New Roman" pitchFamily="18" charset="0"/>
              </a:rPr>
              <a:t>架构原理</a:t>
            </a:r>
            <a:r>
              <a:rPr lang="zh-CN" altLang="en-US" dirty="0" smtClean="0"/>
              <a:t>捕获在选择架构风格、架构元素和架构形式的选择动机</a:t>
            </a:r>
            <a:r>
              <a:rPr dirty="0" smtClean="0">
                <a:ea typeface="宋体" panose="02010600030101010101" pitchFamily="2" charset="-122"/>
              </a:rPr>
              <a:t>。</a:t>
            </a:r>
          </a:p>
        </p:txBody>
      </p:sp>
    </p:spTree>
    <p:extLst>
      <p:ext uri="{BB962C8B-B14F-4D97-AF65-F5344CB8AC3E}">
        <p14:creationId xmlns:p14="http://schemas.microsoft.com/office/powerpoint/2010/main" val="174048218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000100" y="0"/>
            <a:ext cx="7620000" cy="730250"/>
          </a:xfrm>
        </p:spPr>
        <p:txBody>
          <a:bodyPr>
            <a:normAutofit/>
          </a:bodyPr>
          <a:lstStyle/>
          <a:p>
            <a:r>
              <a:rPr lang="en-US" altLang="zh-CN" sz="4000" dirty="0" smtClean="0">
                <a:solidFill>
                  <a:schemeClr val="accent5">
                    <a:lumMod val="75000"/>
                  </a:schemeClr>
                </a:solidFill>
              </a:rPr>
              <a:t>2.2 </a:t>
            </a:r>
            <a:r>
              <a:rPr lang="zh-CN" altLang="en-US" sz="4000" dirty="0" smtClean="0">
                <a:solidFill>
                  <a:schemeClr val="accent5">
                    <a:lumMod val="75000"/>
                  </a:schemeClr>
                </a:solidFill>
              </a:rPr>
              <a:t>组成派的主要定义（</a:t>
            </a:r>
            <a:r>
              <a:rPr lang="en-US" altLang="zh-CN" sz="4000" dirty="0" smtClean="0">
                <a:solidFill>
                  <a:schemeClr val="accent5">
                    <a:lumMod val="75000"/>
                  </a:schemeClr>
                </a:solidFill>
              </a:rPr>
              <a:t>3</a:t>
            </a:r>
            <a:r>
              <a:rPr lang="zh-CN" altLang="en-US" sz="4000" dirty="0" smtClean="0">
                <a:solidFill>
                  <a:schemeClr val="accent5">
                    <a:lumMod val="75000"/>
                  </a:schemeClr>
                </a:solidFill>
              </a:rPr>
              <a:t>）</a:t>
            </a:r>
            <a:endParaRPr lang="zh-CN" altLang="en-US" dirty="0" smtClean="0">
              <a:solidFill>
                <a:schemeClr val="accent5">
                  <a:lumMod val="75000"/>
                </a:schemeClr>
              </a:solidFill>
            </a:endParaRPr>
          </a:p>
        </p:txBody>
      </p:sp>
      <p:sp>
        <p:nvSpPr>
          <p:cNvPr id="59395" name="Rectangle 3"/>
          <p:cNvSpPr>
            <a:spLocks noGrp="1" noChangeArrowheads="1"/>
          </p:cNvSpPr>
          <p:nvPr>
            <p:ph type="body" sz="half" idx="1"/>
          </p:nvPr>
        </p:nvSpPr>
        <p:spPr>
          <a:xfrm>
            <a:off x="1071538" y="1143000"/>
            <a:ext cx="8072462" cy="5715000"/>
          </a:xfrm>
        </p:spPr>
        <p:txBody>
          <a:bodyPr>
            <a:normAutofit/>
          </a:bodyPr>
          <a:lstStyle/>
          <a:p>
            <a:pPr eaLnBrk="1" hangingPunct="1"/>
            <a:r>
              <a:rPr sz="2800" dirty="0" smtClean="0">
                <a:ea typeface="宋体" panose="02010600030101010101" pitchFamily="2" charset="-122"/>
              </a:rPr>
              <a:t>1993年</a:t>
            </a:r>
            <a:r>
              <a:rPr lang="en-US" sz="2800" dirty="0" smtClean="0">
                <a:ea typeface="宋体" panose="02010600030101010101" pitchFamily="2" charset="-122"/>
              </a:rPr>
              <a:t>    </a:t>
            </a:r>
            <a:r>
              <a:rPr sz="2800" dirty="0" smtClean="0">
                <a:ea typeface="宋体" panose="02010600030101010101" pitchFamily="2" charset="-122"/>
              </a:rPr>
              <a:t>David和Mary定义</a:t>
            </a:r>
            <a:endParaRPr lang="en-US" sz="2800" dirty="0" smtClean="0">
              <a:ea typeface="宋体" panose="02010600030101010101" pitchFamily="2" charset="-122"/>
            </a:endParaRPr>
          </a:p>
          <a:p>
            <a:pPr lvl="1"/>
            <a:r>
              <a:rPr sz="2400" dirty="0" smtClean="0">
                <a:ea typeface="宋体" panose="02010600030101010101" pitchFamily="2" charset="-122"/>
              </a:rPr>
              <a:t>软件架构包括组件（component）、连接件（connector）和约束（constraint）三大要素。</a:t>
            </a:r>
            <a:endParaRPr lang="en-US" sz="2400" dirty="0" smtClean="0">
              <a:ea typeface="宋体" panose="02010600030101010101" pitchFamily="2" charset="-122"/>
            </a:endParaRPr>
          </a:p>
          <a:p>
            <a:pPr lvl="1"/>
            <a:r>
              <a:rPr sz="2400" dirty="0" smtClean="0">
                <a:ea typeface="宋体" panose="02010600030101010101" pitchFamily="2" charset="-122"/>
              </a:rPr>
              <a:t>组件可以是一组代码，也可以是独立的程序；连接件可以是过程调用、管道和消息等，用于表示组件之间的相互关系；约束一般为组件连接时的条件。</a:t>
            </a:r>
          </a:p>
          <a:p>
            <a:pPr eaLnBrk="1" hangingPunct="1"/>
            <a:r>
              <a:rPr sz="2800" dirty="0" smtClean="0">
                <a:ea typeface="宋体" panose="02010600030101010101" pitchFamily="2" charset="-122"/>
              </a:rPr>
              <a:t>1994年Jones认为软件架构是构件以及构件之间的交互规则的集合。</a:t>
            </a:r>
            <a:endParaRPr lang="en-US" sz="2800" dirty="0" smtClean="0">
              <a:ea typeface="宋体" panose="02010600030101010101" pitchFamily="2" charset="-122"/>
            </a:endParaRPr>
          </a:p>
          <a:p>
            <a:pPr eaLnBrk="1" hangingPunct="1"/>
            <a:r>
              <a:rPr lang="en-US" altLang="zh-CN" sz="2800" dirty="0" smtClean="0">
                <a:ea typeface="宋体" panose="02010600030101010101" pitchFamily="2" charset="-122"/>
              </a:rPr>
              <a:t>……</a:t>
            </a:r>
          </a:p>
          <a:p>
            <a:r>
              <a:rPr lang="en-US" altLang="zh-CN" sz="2800" dirty="0" smtClean="0">
                <a:ea typeface="宋体" panose="02010600030101010101" pitchFamily="2" charset="-122"/>
              </a:rPr>
              <a:t>2011</a:t>
            </a:r>
            <a:r>
              <a:rPr lang="zh-CN" altLang="en-US" sz="2800" dirty="0" smtClean="0">
                <a:ea typeface="宋体" panose="02010600030101010101" pitchFamily="2" charset="-122"/>
              </a:rPr>
              <a:t>年</a:t>
            </a:r>
            <a:r>
              <a:rPr lang="en-US" altLang="zh-CN" sz="2800" dirty="0" smtClean="0">
                <a:ea typeface="宋体" panose="02010600030101010101" pitchFamily="2" charset="-122"/>
              </a:rPr>
              <a:t>ISO/IEC/IEEE</a:t>
            </a:r>
            <a:r>
              <a:rPr lang="zh-CN" altLang="en-US" sz="2800" dirty="0" smtClean="0">
                <a:ea typeface="宋体" panose="02010600030101010101" pitchFamily="2" charset="-122"/>
              </a:rPr>
              <a:t>标准中定义软件架构是某一系统的基本组织结构，其内容包括软件构件，构件间的联系，构件与其环境间的联系，以及指导上述内容设计与演化的原理。</a:t>
            </a:r>
          </a:p>
        </p:txBody>
      </p:sp>
    </p:spTree>
    <p:extLst>
      <p:ext uri="{BB962C8B-B14F-4D97-AF65-F5344CB8AC3E}">
        <p14:creationId xmlns:p14="http://schemas.microsoft.com/office/powerpoint/2010/main" val="414817292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p:cNvSpPr>
            <a:spLocks noGrp="1" noChangeArrowheads="1"/>
          </p:cNvSpPr>
          <p:nvPr>
            <p:ph type="title"/>
          </p:nvPr>
        </p:nvSpPr>
        <p:spPr>
          <a:xfrm>
            <a:off x="1142976" y="857232"/>
            <a:ext cx="7772400" cy="762000"/>
          </a:xfrm>
        </p:spPr>
        <p:txBody>
          <a:bodyPr/>
          <a:lstStyle/>
          <a:p>
            <a:pPr fontAlgn="auto">
              <a:spcAft>
                <a:spcPts val="0"/>
              </a:spcAft>
              <a:defRPr/>
            </a:pPr>
            <a:r>
              <a:rPr lang="en-US" altLang="zh-CN" sz="4000" dirty="0" smtClean="0">
                <a:solidFill>
                  <a:schemeClr val="accent5">
                    <a:lumMod val="75000"/>
                  </a:schemeClr>
                </a:solidFill>
              </a:rPr>
              <a:t>2.3 </a:t>
            </a:r>
            <a:r>
              <a:rPr lang="zh-CN" altLang="en-US" sz="4000" dirty="0" smtClean="0">
                <a:solidFill>
                  <a:schemeClr val="accent5">
                    <a:lumMod val="75000"/>
                  </a:schemeClr>
                </a:solidFill>
              </a:rPr>
              <a:t>决策派的主要定义（</a:t>
            </a:r>
            <a:r>
              <a:rPr lang="en-US" altLang="zh-CN" sz="4000" dirty="0" smtClean="0">
                <a:solidFill>
                  <a:schemeClr val="accent5">
                    <a:lumMod val="75000"/>
                  </a:schemeClr>
                </a:solidFill>
              </a:rPr>
              <a:t>1</a:t>
            </a:r>
            <a:r>
              <a:rPr lang="zh-CN" altLang="en-US" sz="4000" dirty="0" smtClean="0">
                <a:solidFill>
                  <a:schemeClr val="accent5">
                    <a:lumMod val="75000"/>
                  </a:schemeClr>
                </a:solidFill>
              </a:rPr>
              <a:t>）</a:t>
            </a:r>
          </a:p>
        </p:txBody>
      </p:sp>
      <p:sp>
        <p:nvSpPr>
          <p:cNvPr id="12291" name="Rectangle 3"/>
          <p:cNvSpPr>
            <a:spLocks noGrp="1" noChangeArrowheads="1"/>
          </p:cNvSpPr>
          <p:nvPr>
            <p:ph idx="1"/>
          </p:nvPr>
        </p:nvSpPr>
        <p:spPr>
          <a:xfrm>
            <a:off x="1000100" y="2071678"/>
            <a:ext cx="7772400" cy="3581400"/>
          </a:xfrm>
        </p:spPr>
        <p:txBody>
          <a:bodyPr/>
          <a:lstStyle/>
          <a:p>
            <a:pPr>
              <a:buClr>
                <a:srgbClr val="FF0000"/>
              </a:buClr>
              <a:buFontTx/>
              <a:buNone/>
            </a:pPr>
            <a:r>
              <a:rPr lang="en-US" altLang="zh-CN" sz="2400" b="1" dirty="0" smtClean="0">
                <a:solidFill>
                  <a:srgbClr val="000000"/>
                </a:solidFill>
                <a:latin typeface="Arial Narrow" pitchFamily="34" charset="0"/>
                <a:ea typeface="仿宋_GB2312" pitchFamily="49" charset="-122"/>
              </a:rPr>
              <a:t>          </a:t>
            </a:r>
            <a:r>
              <a:rPr lang="en-US" altLang="zh-CN" sz="2800" b="1" dirty="0" err="1" smtClean="0">
                <a:solidFill>
                  <a:srgbClr val="000000"/>
                </a:solidFill>
                <a:latin typeface="Arial Narrow" pitchFamily="34" charset="0"/>
                <a:ea typeface="仿宋_GB2312" pitchFamily="49" charset="-122"/>
              </a:rPr>
              <a:t>决策派定义依据</a:t>
            </a:r>
            <a:r>
              <a:rPr lang="zh-CN" altLang="en-US" sz="2800" b="1" dirty="0" smtClean="0">
                <a:solidFill>
                  <a:srgbClr val="000000"/>
                </a:solidFill>
                <a:latin typeface="Arial Narrow" pitchFamily="34" charset="0"/>
                <a:ea typeface="仿宋_GB2312" pitchFamily="49" charset="-122"/>
              </a:rPr>
              <a:t>：</a:t>
            </a:r>
            <a:r>
              <a:rPr lang="en-US" altLang="zh-CN" sz="2800" b="1" dirty="0" smtClean="0">
                <a:solidFill>
                  <a:srgbClr val="000000"/>
                </a:solidFill>
                <a:latin typeface="Arial Narrow" pitchFamily="34" charset="0"/>
                <a:ea typeface="仿宋_GB2312" pitchFamily="49" charset="-122"/>
              </a:rPr>
              <a:t>软件架构设计是软件设计的一部分，软件设计实际上是开发人员意志和决策在软件开发过程中的体现，软件架构更是高层领导和架构师意志和决策的体现，强调的是设计决策，所以更加注重架构风格和模式的选择。</a:t>
            </a:r>
            <a:endParaRPr lang="zh-CN" altLang="en-US" sz="2800" b="1" dirty="0" smtClean="0">
              <a:ea typeface="仿宋_GB2312" pitchFamily="49" charset="-122"/>
            </a:endParaRPr>
          </a:p>
        </p:txBody>
      </p:sp>
    </p:spTree>
    <p:extLst>
      <p:ext uri="{BB962C8B-B14F-4D97-AF65-F5344CB8AC3E}">
        <p14:creationId xmlns:p14="http://schemas.microsoft.com/office/powerpoint/2010/main" val="3702119251"/>
      </p:ext>
    </p:extLst>
  </p:cSld>
  <p:clrMapOvr>
    <a:masterClrMapping/>
  </p:clrMapOvr>
  <p:transition spd="slow">
    <p:randomBar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000100" y="0"/>
            <a:ext cx="7620000" cy="730250"/>
          </a:xfrm>
        </p:spPr>
        <p:txBody>
          <a:bodyPr>
            <a:normAutofit fontScale="90000"/>
          </a:bodyPr>
          <a:lstStyle/>
          <a:p>
            <a:r>
              <a:rPr lang="en-US" altLang="zh-CN" sz="4400" dirty="0" smtClean="0">
                <a:solidFill>
                  <a:schemeClr val="accent5">
                    <a:lumMod val="75000"/>
                  </a:schemeClr>
                </a:solidFill>
              </a:rPr>
              <a:t>2.3 </a:t>
            </a:r>
            <a:r>
              <a:rPr lang="zh-CN" altLang="en-US" sz="4400" dirty="0" smtClean="0">
                <a:solidFill>
                  <a:schemeClr val="accent5">
                    <a:lumMod val="75000"/>
                  </a:schemeClr>
                </a:solidFill>
              </a:rPr>
              <a:t>决策派的主要定义（</a:t>
            </a:r>
            <a:r>
              <a:rPr lang="en-US" altLang="zh-CN" sz="4400" dirty="0" smtClean="0">
                <a:solidFill>
                  <a:schemeClr val="accent5">
                    <a:lumMod val="75000"/>
                  </a:schemeClr>
                </a:solidFill>
              </a:rPr>
              <a:t>2</a:t>
            </a:r>
            <a:r>
              <a:rPr lang="zh-CN" altLang="en-US" sz="4400" dirty="0" smtClean="0">
                <a:solidFill>
                  <a:schemeClr val="accent5">
                    <a:lumMod val="75000"/>
                  </a:schemeClr>
                </a:solidFill>
              </a:rPr>
              <a:t>）</a:t>
            </a:r>
            <a:endParaRPr lang="zh-CN" altLang="en-US" dirty="0" smtClean="0">
              <a:solidFill>
                <a:schemeClr val="accent5">
                  <a:lumMod val="75000"/>
                </a:schemeClr>
              </a:solidFill>
            </a:endParaRPr>
          </a:p>
        </p:txBody>
      </p:sp>
      <p:sp>
        <p:nvSpPr>
          <p:cNvPr id="59395" name="Rectangle 3"/>
          <p:cNvSpPr>
            <a:spLocks noGrp="1" noChangeArrowheads="1"/>
          </p:cNvSpPr>
          <p:nvPr>
            <p:ph type="body" sz="half" idx="1"/>
          </p:nvPr>
        </p:nvSpPr>
        <p:spPr>
          <a:xfrm>
            <a:off x="1142976" y="1143000"/>
            <a:ext cx="8001024" cy="5105400"/>
          </a:xfrm>
        </p:spPr>
        <p:txBody>
          <a:bodyPr>
            <a:normAutofit fontScale="92500"/>
          </a:bodyPr>
          <a:lstStyle/>
          <a:p>
            <a:pPr eaLnBrk="1" hangingPunct="1"/>
            <a:r>
              <a:rPr sz="2800" dirty="0" smtClean="0">
                <a:ea typeface="宋体" panose="02010600030101010101" pitchFamily="2" charset="-122"/>
              </a:rPr>
              <a:t>1999年</a:t>
            </a:r>
            <a:r>
              <a:rPr lang="en-US" sz="2800" dirty="0" smtClean="0">
                <a:ea typeface="宋体" panose="02010600030101010101" pitchFamily="2" charset="-122"/>
              </a:rPr>
              <a:t>    </a:t>
            </a:r>
            <a:r>
              <a:rPr sz="2800" dirty="0" smtClean="0">
                <a:ea typeface="宋体" panose="02010600030101010101" pitchFamily="2" charset="-122"/>
              </a:rPr>
              <a:t>Booch等</a:t>
            </a:r>
            <a:endParaRPr lang="en-US" sz="2800" dirty="0" smtClean="0">
              <a:ea typeface="宋体" panose="02010600030101010101" pitchFamily="2" charset="-122"/>
            </a:endParaRPr>
          </a:p>
          <a:p>
            <a:pPr lvl="1"/>
            <a:r>
              <a:rPr sz="2400" dirty="0" smtClean="0">
                <a:ea typeface="宋体" panose="02010600030101010101" pitchFamily="2" charset="-122"/>
              </a:rPr>
              <a:t>软件架构是一系列重要决策的集合，这些决策关</a:t>
            </a:r>
            <a:r>
              <a:rPr lang="zh-CN" altLang="en-US" sz="2400" dirty="0" smtClean="0">
                <a:ea typeface="宋体" panose="02010600030101010101" pitchFamily="2" charset="-122"/>
              </a:rPr>
              <a:t>于</a:t>
            </a:r>
            <a:r>
              <a:rPr sz="2400" dirty="0" smtClean="0">
                <a:ea typeface="宋体" panose="02010600030101010101" pitchFamily="2" charset="-122"/>
              </a:rPr>
              <a:t>：软件系统的组织；组成系统的结构元素和它们之间的接口，以及当这些元素相互协作时所体现的行为；如何组合这些些元素，使它们逐渐合成为更大的子系统；架构风格；这些元素以及它们的接口、协作和组合。</a:t>
            </a:r>
          </a:p>
          <a:p>
            <a:pPr eaLnBrk="1" hangingPunct="1"/>
            <a:r>
              <a:rPr sz="2800" dirty="0" smtClean="0">
                <a:ea typeface="宋体" panose="02010600030101010101" pitchFamily="2" charset="-122"/>
              </a:rPr>
              <a:t>2005年</a:t>
            </a:r>
            <a:r>
              <a:rPr lang="en-US" sz="2800" dirty="0" smtClean="0">
                <a:ea typeface="宋体" panose="02010600030101010101" pitchFamily="2" charset="-122"/>
              </a:rPr>
              <a:t>   </a:t>
            </a:r>
            <a:r>
              <a:rPr sz="2800" dirty="0" smtClean="0">
                <a:ea typeface="宋体" panose="02010600030101010101" pitchFamily="2" charset="-122"/>
              </a:rPr>
              <a:t>Anton</a:t>
            </a:r>
            <a:r>
              <a:rPr lang="zh-CN" altLang="en-US" sz="2800" dirty="0" smtClean="0">
                <a:ea typeface="宋体" panose="02010600030101010101" pitchFamily="2" charset="-122"/>
              </a:rPr>
              <a:t>等</a:t>
            </a:r>
            <a:endParaRPr lang="en-US" altLang="zh-CN" sz="2800" dirty="0" smtClean="0">
              <a:ea typeface="宋体" panose="02010600030101010101" pitchFamily="2" charset="-122"/>
            </a:endParaRPr>
          </a:p>
          <a:p>
            <a:pPr lvl="1"/>
            <a:r>
              <a:rPr sz="2400" dirty="0" smtClean="0">
                <a:ea typeface="宋体" panose="02010600030101010101" pitchFamily="2" charset="-122"/>
              </a:rPr>
              <a:t>软件架构是架构层次上所有设计决策的集合体，这些设计决策与以下内容有关：架构改造的影响、原理、设计准则、设计约束以及附加需求。</a:t>
            </a:r>
          </a:p>
          <a:p>
            <a:pPr eaLnBrk="1" hangingPunct="1"/>
            <a:r>
              <a:rPr sz="2800" dirty="0" smtClean="0">
                <a:ea typeface="宋体" panose="02010600030101010101" pitchFamily="2" charset="-122"/>
              </a:rPr>
              <a:t>2006年</a:t>
            </a:r>
            <a:r>
              <a:rPr lang="en-US" sz="2800" dirty="0" smtClean="0">
                <a:ea typeface="宋体" panose="02010600030101010101" pitchFamily="2" charset="-122"/>
              </a:rPr>
              <a:t>   </a:t>
            </a:r>
            <a:r>
              <a:rPr sz="2800" dirty="0" smtClean="0">
                <a:ea typeface="宋体" panose="02010600030101010101" pitchFamily="2" charset="-122"/>
              </a:rPr>
              <a:t>Kruchten等</a:t>
            </a:r>
            <a:endParaRPr lang="en-US" sz="2800" dirty="0" smtClean="0">
              <a:ea typeface="宋体" panose="02010600030101010101" pitchFamily="2" charset="-122"/>
            </a:endParaRPr>
          </a:p>
          <a:p>
            <a:pPr lvl="1"/>
            <a:r>
              <a:rPr sz="2400" dirty="0" smtClean="0">
                <a:ea typeface="宋体" panose="02010600030101010101" pitchFamily="2" charset="-122"/>
              </a:rPr>
              <a:t>设计决策+设计，这里的设计指的是设计决策的推理过程。</a:t>
            </a:r>
          </a:p>
        </p:txBody>
      </p:sp>
    </p:spTree>
    <p:extLst>
      <p:ext uri="{BB962C8B-B14F-4D97-AF65-F5344CB8AC3E}">
        <p14:creationId xmlns:p14="http://schemas.microsoft.com/office/powerpoint/2010/main" val="421025371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p:cNvSpPr>
            <a:spLocks noGrp="1" noChangeArrowheads="1"/>
          </p:cNvSpPr>
          <p:nvPr>
            <p:ph type="title"/>
          </p:nvPr>
        </p:nvSpPr>
        <p:spPr>
          <a:xfrm>
            <a:off x="1071538" y="0"/>
            <a:ext cx="7772400" cy="762000"/>
          </a:xfrm>
        </p:spPr>
        <p:txBody>
          <a:bodyPr/>
          <a:lstStyle/>
          <a:p>
            <a:pPr fontAlgn="auto">
              <a:spcAft>
                <a:spcPts val="0"/>
              </a:spcAft>
              <a:defRPr/>
            </a:pPr>
            <a:r>
              <a:rPr lang="en-US" altLang="zh-CN" sz="4000" dirty="0" smtClean="0">
                <a:solidFill>
                  <a:schemeClr val="accent5">
                    <a:lumMod val="75000"/>
                  </a:schemeClr>
                </a:solidFill>
              </a:rPr>
              <a:t>2.4 </a:t>
            </a:r>
            <a:r>
              <a:rPr lang="zh-CN" altLang="en-US" sz="4000" dirty="0" smtClean="0">
                <a:solidFill>
                  <a:schemeClr val="accent5">
                    <a:lumMod val="75000"/>
                  </a:schemeClr>
                </a:solidFill>
              </a:rPr>
              <a:t>其他定义</a:t>
            </a:r>
          </a:p>
        </p:txBody>
      </p:sp>
      <p:sp>
        <p:nvSpPr>
          <p:cNvPr id="12291" name="Rectangle 3"/>
          <p:cNvSpPr>
            <a:spLocks noGrp="1" noChangeArrowheads="1"/>
          </p:cNvSpPr>
          <p:nvPr>
            <p:ph idx="1"/>
          </p:nvPr>
        </p:nvSpPr>
        <p:spPr>
          <a:xfrm>
            <a:off x="1000100" y="928670"/>
            <a:ext cx="7772400" cy="5500726"/>
          </a:xfrm>
        </p:spPr>
        <p:txBody>
          <a:bodyPr>
            <a:normAutofit fontScale="92500" lnSpcReduction="20000"/>
          </a:bodyPr>
          <a:lstStyle/>
          <a:p>
            <a:pPr>
              <a:lnSpc>
                <a:spcPct val="120000"/>
              </a:lnSpc>
              <a:buClr>
                <a:srgbClr val="FF0000"/>
              </a:buClr>
            </a:pPr>
            <a:r>
              <a:rPr lang="en-US" altLang="zh-CN" b="1" dirty="0" err="1" smtClean="0">
                <a:solidFill>
                  <a:srgbClr val="000000"/>
                </a:solidFill>
                <a:latin typeface="Times New Roman" panose="02020603050405020304" charset="0"/>
                <a:ea typeface="仿宋_GB2312" pitchFamily="49" charset="-122"/>
                <a:cs typeface="Times New Roman" panose="02020603050405020304" charset="0"/>
              </a:rPr>
              <a:t>Vivek</a:t>
            </a:r>
            <a:r>
              <a:rPr lang="en-US" altLang="zh-CN" b="1" dirty="0" smtClean="0">
                <a:solidFill>
                  <a:srgbClr val="000000"/>
                </a:solidFill>
                <a:latin typeface="Times New Roman" panose="02020603050405020304" charset="0"/>
                <a:ea typeface="仿宋_GB2312" pitchFamily="49" charset="-122"/>
                <a:cs typeface="Times New Roman" panose="02020603050405020304" charset="0"/>
              </a:rPr>
              <a:t> Khare认为软件架构是设计和构建软件应用的科学和艺术，这些软件应用满足生命周期中用户的各种需求；</a:t>
            </a:r>
          </a:p>
          <a:p>
            <a:pPr>
              <a:lnSpc>
                <a:spcPct val="120000"/>
              </a:lnSpc>
              <a:buClr>
                <a:srgbClr val="FF0000"/>
              </a:buClr>
            </a:pPr>
            <a:r>
              <a:rPr lang="en-US" altLang="zh-CN" b="1" dirty="0" err="1" smtClean="0">
                <a:solidFill>
                  <a:srgbClr val="000000"/>
                </a:solidFill>
                <a:latin typeface="Times New Roman" panose="02020603050405020304" charset="0"/>
                <a:ea typeface="仿宋_GB2312" pitchFamily="49" charset="-122"/>
                <a:cs typeface="Times New Roman" panose="02020603050405020304" charset="0"/>
              </a:rPr>
              <a:t>Aakash</a:t>
            </a:r>
            <a:r>
              <a:rPr lang="en-US" altLang="zh-CN" b="1" dirty="0" smtClean="0">
                <a:solidFill>
                  <a:srgbClr val="000000"/>
                </a:solidFill>
                <a:latin typeface="Times New Roman" panose="02020603050405020304" charset="0"/>
                <a:ea typeface="仿宋_GB2312" pitchFamily="49" charset="-122"/>
                <a:cs typeface="Times New Roman" panose="02020603050405020304" charset="0"/>
              </a:rPr>
              <a:t> Ahmad认为软件架构是包含设计、演化、构建配置的推理和构件互连关系的高层抽象结构；</a:t>
            </a:r>
          </a:p>
          <a:p>
            <a:pPr>
              <a:lnSpc>
                <a:spcPct val="120000"/>
              </a:lnSpc>
              <a:buClr>
                <a:srgbClr val="FF0000"/>
              </a:buClr>
            </a:pPr>
            <a:r>
              <a:rPr lang="en-US" altLang="zh-CN" b="1" dirty="0" smtClean="0">
                <a:solidFill>
                  <a:srgbClr val="000000"/>
                </a:solidFill>
                <a:latin typeface="Times New Roman" panose="02020603050405020304" charset="0"/>
                <a:ea typeface="仿宋_GB2312" pitchFamily="49" charset="-122"/>
                <a:cs typeface="Times New Roman" panose="02020603050405020304" charset="0"/>
              </a:rPr>
              <a:t>Andreas Rausch认为软件架构是一个针对软件改变的框架；</a:t>
            </a:r>
          </a:p>
          <a:p>
            <a:pPr>
              <a:lnSpc>
                <a:spcPct val="120000"/>
              </a:lnSpc>
              <a:buClr>
                <a:srgbClr val="FF0000"/>
              </a:buClr>
            </a:pPr>
            <a:r>
              <a:rPr lang="en-US" altLang="zh-CN" b="1" dirty="0" err="1" smtClean="0">
                <a:solidFill>
                  <a:srgbClr val="000000"/>
                </a:solidFill>
                <a:latin typeface="Times New Roman" panose="02020603050405020304" charset="0"/>
                <a:ea typeface="仿宋_GB2312" pitchFamily="49" charset="-122"/>
                <a:cs typeface="Times New Roman" panose="02020603050405020304" charset="0"/>
              </a:rPr>
              <a:t>Muthu</a:t>
            </a:r>
            <a:r>
              <a:rPr lang="en-US" altLang="zh-CN" b="1" dirty="0" smtClean="0">
                <a:solidFill>
                  <a:srgbClr val="000000"/>
                </a:solidFill>
                <a:latin typeface="Times New Roman" panose="02020603050405020304" charset="0"/>
                <a:ea typeface="仿宋_GB2312" pitchFamily="49" charset="-122"/>
                <a:cs typeface="Times New Roman" panose="02020603050405020304" charset="0"/>
              </a:rPr>
              <a:t> Rajagopal认为软件架构是能够有效组合在一起的软件和硬件构件的集合，这些构件组合后能满足预期需求。</a:t>
            </a:r>
          </a:p>
        </p:txBody>
      </p:sp>
    </p:spTree>
    <p:extLst>
      <p:ext uri="{BB962C8B-B14F-4D97-AF65-F5344CB8AC3E}">
        <p14:creationId xmlns:p14="http://schemas.microsoft.com/office/powerpoint/2010/main" val="1040555534"/>
      </p:ext>
    </p:extLst>
  </p:cSld>
  <p:clrMapOvr>
    <a:masterClrMapping/>
  </p:clrMapOvr>
  <p:transition spd="slow">
    <p:randomBar dir="vert"/>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p:cNvSpPr>
            <a:spLocks noGrp="1" noChangeArrowheads="1"/>
          </p:cNvSpPr>
          <p:nvPr>
            <p:ph type="title"/>
          </p:nvPr>
        </p:nvSpPr>
        <p:spPr>
          <a:xfrm>
            <a:off x="1000100" y="214290"/>
            <a:ext cx="7772400" cy="762000"/>
          </a:xfrm>
        </p:spPr>
        <p:txBody>
          <a:bodyPr/>
          <a:lstStyle/>
          <a:p>
            <a:pPr fontAlgn="auto">
              <a:spcAft>
                <a:spcPts val="0"/>
              </a:spcAft>
              <a:defRPr/>
            </a:pPr>
            <a:r>
              <a:rPr lang="en-US" altLang="zh-CN" sz="4000" dirty="0" smtClean="0">
                <a:solidFill>
                  <a:schemeClr val="accent5">
                    <a:lumMod val="75000"/>
                  </a:schemeClr>
                </a:solidFill>
              </a:rPr>
              <a:t>2.5 </a:t>
            </a:r>
            <a:r>
              <a:rPr lang="zh-CN" altLang="en-US" sz="4000" dirty="0" smtClean="0">
                <a:solidFill>
                  <a:schemeClr val="accent5">
                    <a:lumMod val="75000"/>
                  </a:schemeClr>
                </a:solidFill>
              </a:rPr>
              <a:t>参考定义框架（</a:t>
            </a:r>
            <a:r>
              <a:rPr lang="en-US" altLang="zh-CN" sz="4000" dirty="0" smtClean="0">
                <a:solidFill>
                  <a:schemeClr val="accent5">
                    <a:lumMod val="75000"/>
                  </a:schemeClr>
                </a:solidFill>
              </a:rPr>
              <a:t>1</a:t>
            </a:r>
            <a:r>
              <a:rPr lang="zh-CN" altLang="en-US" sz="4000" dirty="0" smtClean="0">
                <a:solidFill>
                  <a:schemeClr val="accent5">
                    <a:lumMod val="75000"/>
                  </a:schemeClr>
                </a:solidFill>
              </a:rPr>
              <a:t>）</a:t>
            </a:r>
          </a:p>
        </p:txBody>
      </p:sp>
      <p:sp>
        <p:nvSpPr>
          <p:cNvPr id="12291" name="Rectangle 3"/>
          <p:cNvSpPr>
            <a:spLocks noGrp="1" noChangeArrowheads="1"/>
          </p:cNvSpPr>
          <p:nvPr>
            <p:ph idx="1"/>
          </p:nvPr>
        </p:nvSpPr>
        <p:spPr>
          <a:xfrm>
            <a:off x="1000100" y="1142984"/>
            <a:ext cx="7772400" cy="5814408"/>
          </a:xfrm>
        </p:spPr>
        <p:txBody>
          <a:bodyPr>
            <a:noAutofit/>
          </a:bodyPr>
          <a:lstStyle/>
          <a:p>
            <a:pPr>
              <a:buClr>
                <a:srgbClr val="FF0000"/>
              </a:buClr>
            </a:pPr>
            <a:r>
              <a:rPr lang="en-US" altLang="zh-CN" sz="2800" b="1" dirty="0" err="1" smtClean="0">
                <a:solidFill>
                  <a:srgbClr val="000000"/>
                </a:solidFill>
                <a:latin typeface="Arial Narrow" pitchFamily="34" charset="0"/>
                <a:ea typeface="仿宋_GB2312" pitchFamily="49" charset="-122"/>
              </a:rPr>
              <a:t>基于国内外普遍认可的看法推荐如下的参考定义框架</a:t>
            </a:r>
            <a:r>
              <a:rPr lang="en-US" altLang="zh-CN" sz="2800" b="1" dirty="0" smtClean="0">
                <a:solidFill>
                  <a:srgbClr val="000000"/>
                </a:solidFill>
                <a:latin typeface="Arial Narrow" pitchFamily="34" charset="0"/>
                <a:ea typeface="仿宋_GB2312" pitchFamily="49" charset="-122"/>
              </a:rPr>
              <a:t>：</a:t>
            </a:r>
          </a:p>
          <a:p>
            <a:pPr lvl="1">
              <a:buClr>
                <a:srgbClr val="FF0000"/>
              </a:buClr>
            </a:pPr>
            <a:r>
              <a:rPr lang="en-US" altLang="zh-CN" b="1" dirty="0" err="1" smtClean="0">
                <a:solidFill>
                  <a:srgbClr val="FF0000"/>
                </a:solidFill>
                <a:latin typeface="Arial Narrow" pitchFamily="34" charset="0"/>
                <a:ea typeface="仿宋_GB2312" pitchFamily="49" charset="-122"/>
              </a:rPr>
              <a:t>软件架构包括构件、连接件和约束三种基本元素，以及端口和角色两种元素</a:t>
            </a:r>
            <a:r>
              <a:rPr lang="en-US" altLang="zh-CN" b="1" dirty="0" smtClean="0">
                <a:solidFill>
                  <a:srgbClr val="FF0000"/>
                </a:solidFill>
                <a:latin typeface="Arial Narrow" pitchFamily="34" charset="0"/>
                <a:ea typeface="仿宋_GB2312" pitchFamily="49" charset="-122"/>
              </a:rPr>
              <a:t>。</a:t>
            </a:r>
          </a:p>
          <a:p>
            <a:pPr lvl="1">
              <a:buClr>
                <a:srgbClr val="FF0000"/>
              </a:buClr>
            </a:pPr>
            <a:r>
              <a:rPr lang="en-US" altLang="zh-CN" b="1" dirty="0" err="1" smtClean="0">
                <a:solidFill>
                  <a:srgbClr val="000000"/>
                </a:solidFill>
                <a:latin typeface="Arial Narrow" pitchFamily="34" charset="0"/>
                <a:ea typeface="仿宋_GB2312" pitchFamily="49" charset="-122"/>
              </a:rPr>
              <a:t>构件作为一个封装的实体，仅通过其接口结构与外部环境交互，而构件的接口由一组端口组成，每个端口表示了构件和和外部环境的交互点</a:t>
            </a:r>
            <a:r>
              <a:rPr lang="en-US" altLang="zh-CN" b="1" dirty="0" smtClean="0">
                <a:solidFill>
                  <a:srgbClr val="000000"/>
                </a:solidFill>
                <a:latin typeface="Arial Narrow" pitchFamily="34" charset="0"/>
                <a:ea typeface="仿宋_GB2312" pitchFamily="49" charset="-122"/>
              </a:rPr>
              <a:t>。</a:t>
            </a:r>
          </a:p>
          <a:p>
            <a:pPr lvl="1">
              <a:buClr>
                <a:srgbClr val="FF0000"/>
              </a:buClr>
            </a:pPr>
            <a:r>
              <a:rPr lang="en-US" altLang="zh-CN" b="1" dirty="0" err="1" smtClean="0">
                <a:solidFill>
                  <a:srgbClr val="000000"/>
                </a:solidFill>
                <a:latin typeface="Arial Narrow" pitchFamily="34" charset="0"/>
                <a:ea typeface="仿宋_GB2312" pitchFamily="49" charset="-122"/>
              </a:rPr>
              <a:t>连接件的接口由一组角色组成，每个角色定义了相关交互的参与者</a:t>
            </a:r>
            <a:r>
              <a:rPr lang="en-US" altLang="zh-CN" b="1" dirty="0" smtClean="0">
                <a:solidFill>
                  <a:srgbClr val="000000"/>
                </a:solidFill>
                <a:latin typeface="Arial Narrow" pitchFamily="34" charset="0"/>
                <a:ea typeface="仿宋_GB2312" pitchFamily="49" charset="-122"/>
              </a:rPr>
              <a:t>。</a:t>
            </a:r>
          </a:p>
        </p:txBody>
      </p:sp>
    </p:spTree>
    <p:extLst>
      <p:ext uri="{BB962C8B-B14F-4D97-AF65-F5344CB8AC3E}">
        <p14:creationId xmlns:p14="http://schemas.microsoft.com/office/powerpoint/2010/main" val="1857423431"/>
      </p:ext>
    </p:extLst>
  </p:cSld>
  <p:clrMapOvr>
    <a:masterClrMapping/>
  </p:clrMapOvr>
  <p:transition spd="slow">
    <p:randomBar dir="vert"/>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000100" y="0"/>
            <a:ext cx="7620000" cy="730250"/>
          </a:xfrm>
        </p:spPr>
        <p:txBody>
          <a:bodyPr>
            <a:normAutofit fontScale="90000"/>
          </a:bodyPr>
          <a:lstStyle/>
          <a:p>
            <a:r>
              <a:rPr lang="en-US" altLang="zh-CN" sz="4400" dirty="0" smtClean="0">
                <a:solidFill>
                  <a:schemeClr val="accent5">
                    <a:lumMod val="75000"/>
                  </a:schemeClr>
                </a:solidFill>
              </a:rPr>
              <a:t>2.5 </a:t>
            </a:r>
            <a:r>
              <a:rPr lang="zh-CN" altLang="en-US" sz="4400" dirty="0" smtClean="0">
                <a:solidFill>
                  <a:schemeClr val="accent5">
                    <a:lumMod val="75000"/>
                  </a:schemeClr>
                </a:solidFill>
              </a:rPr>
              <a:t>参考定义框架（</a:t>
            </a:r>
            <a:r>
              <a:rPr lang="en-US" altLang="zh-CN" sz="4400" dirty="0" smtClean="0">
                <a:solidFill>
                  <a:schemeClr val="accent5">
                    <a:lumMod val="75000"/>
                  </a:schemeClr>
                </a:solidFill>
              </a:rPr>
              <a:t>2</a:t>
            </a:r>
            <a:r>
              <a:rPr lang="zh-CN" altLang="en-US" sz="4400" dirty="0" smtClean="0">
                <a:solidFill>
                  <a:schemeClr val="accent5">
                    <a:lumMod val="75000"/>
                  </a:schemeClr>
                </a:solidFill>
              </a:rPr>
              <a:t>）</a:t>
            </a:r>
            <a:endParaRPr lang="zh-CN" altLang="en-US" dirty="0" smtClean="0">
              <a:solidFill>
                <a:schemeClr val="accent5">
                  <a:lumMod val="75000"/>
                </a:schemeClr>
              </a:solidFill>
            </a:endParaRPr>
          </a:p>
        </p:txBody>
      </p:sp>
      <p:sp>
        <p:nvSpPr>
          <p:cNvPr id="59395" name="Rectangle 3"/>
          <p:cNvSpPr>
            <a:spLocks noGrp="1" noChangeArrowheads="1"/>
          </p:cNvSpPr>
          <p:nvPr>
            <p:ph type="body" sz="half" idx="1"/>
          </p:nvPr>
        </p:nvSpPr>
        <p:spPr>
          <a:xfrm>
            <a:off x="1071538" y="785794"/>
            <a:ext cx="8001024" cy="5105400"/>
          </a:xfrm>
        </p:spPr>
        <p:txBody>
          <a:bodyPr>
            <a:normAutofit/>
          </a:bodyPr>
          <a:lstStyle/>
          <a:p>
            <a:pPr eaLnBrk="1" hangingPunct="1"/>
            <a:r>
              <a:rPr sz="2800" dirty="0" smtClean="0">
                <a:ea typeface="宋体" panose="02010600030101010101" pitchFamily="2" charset="-122"/>
              </a:rPr>
              <a:t>软件架构一般由如下五种元素构成： 组件（component），连接件（connector），配置（configuration），端口（port）和角色（role）。</a:t>
            </a:r>
            <a:r>
              <a:rPr lang="zh-CN" sz="2800" dirty="0" smtClean="0">
                <a:ea typeface="宋体" panose="02010600030101010101" pitchFamily="2" charset="-122"/>
              </a:rPr>
              <a:t>如下图所示。</a:t>
            </a:r>
          </a:p>
        </p:txBody>
      </p:sp>
      <p:graphicFrame>
        <p:nvGraphicFramePr>
          <p:cNvPr id="2" name="对象 -2147482624"/>
          <p:cNvGraphicFramePr>
            <a:graphicFrameLocks/>
          </p:cNvGraphicFramePr>
          <p:nvPr/>
        </p:nvGraphicFramePr>
        <p:xfrm>
          <a:off x="2359025" y="2224405"/>
          <a:ext cx="5568950" cy="3838575"/>
        </p:xfrm>
        <a:graphic>
          <a:graphicData uri="http://schemas.openxmlformats.org/presentationml/2006/ole">
            <mc:AlternateContent xmlns:mc="http://schemas.openxmlformats.org/markup-compatibility/2006">
              <mc:Choice xmlns:v="urn:schemas-microsoft-com:vml" Requires="v">
                <p:oleObj spid="_x0000_s1027" r:id="rId3" imgW="4613220" imgH="3185034" progId="Visio.Drawing.11">
                  <p:embed/>
                </p:oleObj>
              </mc:Choice>
              <mc:Fallback>
                <p:oleObj r:id="rId3" imgW="4613220" imgH="3185034" progId="Visio.Drawing.11">
                  <p:embed/>
                  <p:pic>
                    <p:nvPicPr>
                      <p:cNvPr id="2" name="对象 -21474826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9025" y="2224405"/>
                        <a:ext cx="5568950" cy="383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 name="文本框 2"/>
          <p:cNvSpPr txBox="1"/>
          <p:nvPr/>
        </p:nvSpPr>
        <p:spPr>
          <a:xfrm>
            <a:off x="3745865" y="6248400"/>
            <a:ext cx="2795270"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prstClr val="black"/>
                </a:solidFill>
                <a:effectLst/>
                <a:uLnTx/>
                <a:uFillTx/>
                <a:latin typeface="Gill Sans MT"/>
                <a:ea typeface="+mn-ea"/>
                <a:cs typeface="+mn-cs"/>
              </a:rPr>
              <a:t>图2.1 软件架构的基本概念</a:t>
            </a:r>
          </a:p>
        </p:txBody>
      </p:sp>
    </p:spTree>
    <p:extLst>
      <p:ext uri="{BB962C8B-B14F-4D97-AF65-F5344CB8AC3E}">
        <p14:creationId xmlns:p14="http://schemas.microsoft.com/office/powerpoint/2010/main" val="231349936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000100" y="0"/>
            <a:ext cx="7620000" cy="730250"/>
          </a:xfrm>
        </p:spPr>
        <p:txBody>
          <a:bodyPr>
            <a:normAutofit/>
          </a:bodyPr>
          <a:lstStyle/>
          <a:p>
            <a:r>
              <a:rPr lang="en-US" altLang="zh-CN" sz="4000" dirty="0" smtClean="0">
                <a:solidFill>
                  <a:schemeClr val="accent5">
                    <a:lumMod val="75000"/>
                  </a:schemeClr>
                </a:solidFill>
              </a:rPr>
              <a:t>2.5 </a:t>
            </a:r>
            <a:r>
              <a:rPr lang="zh-CN" altLang="en-US" sz="4000" dirty="0" smtClean="0">
                <a:solidFill>
                  <a:schemeClr val="accent5">
                    <a:lumMod val="75000"/>
                  </a:schemeClr>
                </a:solidFill>
              </a:rPr>
              <a:t>参考定义框架（</a:t>
            </a:r>
            <a:r>
              <a:rPr lang="en-US" altLang="zh-CN" sz="4000" dirty="0" smtClean="0">
                <a:solidFill>
                  <a:schemeClr val="accent5">
                    <a:lumMod val="75000"/>
                  </a:schemeClr>
                </a:solidFill>
              </a:rPr>
              <a:t>3</a:t>
            </a:r>
            <a:r>
              <a:rPr lang="zh-CN" altLang="en-US" sz="4000" dirty="0" smtClean="0">
                <a:solidFill>
                  <a:schemeClr val="accent5">
                    <a:lumMod val="75000"/>
                  </a:schemeClr>
                </a:solidFill>
              </a:rPr>
              <a:t>）</a:t>
            </a:r>
            <a:endParaRPr lang="zh-CN" altLang="en-US" dirty="0" smtClean="0">
              <a:solidFill>
                <a:schemeClr val="accent5">
                  <a:lumMod val="75000"/>
                </a:schemeClr>
              </a:solidFill>
            </a:endParaRPr>
          </a:p>
        </p:txBody>
      </p:sp>
      <p:sp>
        <p:nvSpPr>
          <p:cNvPr id="59395" name="Rectangle 3"/>
          <p:cNvSpPr>
            <a:spLocks noGrp="1" noChangeArrowheads="1"/>
          </p:cNvSpPr>
          <p:nvPr>
            <p:ph type="body" sz="half" idx="1"/>
          </p:nvPr>
        </p:nvSpPr>
        <p:spPr>
          <a:xfrm>
            <a:off x="1142976" y="1143000"/>
            <a:ext cx="8001024" cy="5105400"/>
          </a:xfrm>
        </p:spPr>
        <p:txBody>
          <a:bodyPr>
            <a:normAutofit fontScale="97500"/>
          </a:bodyPr>
          <a:lstStyle/>
          <a:p>
            <a:pPr eaLnBrk="1" hangingPunct="1"/>
            <a:r>
              <a:rPr sz="2800" b="1" dirty="0" smtClean="0">
                <a:latin typeface="+mj-ea"/>
                <a:ea typeface="+mj-ea"/>
              </a:rPr>
              <a:t>组件</a:t>
            </a:r>
            <a:r>
              <a:rPr sz="2800" dirty="0" smtClean="0">
                <a:ea typeface="宋体" panose="02010600030101010101" pitchFamily="2" charset="-122"/>
              </a:rPr>
              <a:t>：具有某种功能的可重用的软件模块单元，表示了系统中主要的计算单元和数据存储。组件有两种：复合组件和原子组件。复合组件由其它复合组件和原子组件通过连接而成。</a:t>
            </a:r>
          </a:p>
          <a:p>
            <a:pPr eaLnBrk="1" hangingPunct="1"/>
            <a:r>
              <a:rPr sz="2800" b="1" dirty="0" smtClean="0">
                <a:ea typeface="宋体" panose="02010600030101010101" pitchFamily="2" charset="-122"/>
              </a:rPr>
              <a:t>连接件</a:t>
            </a:r>
            <a:r>
              <a:rPr sz="2800" dirty="0" smtClean="0">
                <a:ea typeface="宋体" panose="02010600030101010101" pitchFamily="2" charset="-122"/>
              </a:rPr>
              <a:t>：表示了组件之间的交互，简单的连接件有：管道（pipe）、过程调用（procedure-call）、事件广播（event broadcast）等。复杂的连接件有：客户－服务器（client-server）通信协议，数据库和应用之间SQL连接等。</a:t>
            </a:r>
          </a:p>
          <a:p>
            <a:pPr eaLnBrk="1" hangingPunct="1"/>
            <a:r>
              <a:rPr sz="2800" b="1" dirty="0" smtClean="0">
                <a:ea typeface="宋体" panose="02010600030101010101" pitchFamily="2" charset="-122"/>
              </a:rPr>
              <a:t>配置</a:t>
            </a:r>
            <a:r>
              <a:rPr sz="2800" dirty="0" smtClean="0">
                <a:ea typeface="宋体" panose="02010600030101010101" pitchFamily="2" charset="-122"/>
              </a:rPr>
              <a:t>：表示了组件和连接件的拓扑逻辑和约束（constraint）。</a:t>
            </a:r>
          </a:p>
        </p:txBody>
      </p:sp>
    </p:spTree>
    <p:extLst>
      <p:ext uri="{BB962C8B-B14F-4D97-AF65-F5344CB8AC3E}">
        <p14:creationId xmlns:p14="http://schemas.microsoft.com/office/powerpoint/2010/main" val="248887253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000100" y="0"/>
            <a:ext cx="7620000" cy="730250"/>
          </a:xfrm>
        </p:spPr>
        <p:txBody>
          <a:bodyPr>
            <a:normAutofit/>
          </a:bodyPr>
          <a:lstStyle/>
          <a:p>
            <a:r>
              <a:rPr lang="en-US" altLang="zh-CN" sz="4000" dirty="0" smtClean="0">
                <a:solidFill>
                  <a:schemeClr val="accent5">
                    <a:lumMod val="75000"/>
                  </a:schemeClr>
                </a:solidFill>
              </a:rPr>
              <a:t>2.5 </a:t>
            </a:r>
            <a:r>
              <a:rPr lang="zh-CN" altLang="en-US" sz="4000" dirty="0" smtClean="0">
                <a:solidFill>
                  <a:schemeClr val="accent5">
                    <a:lumMod val="75000"/>
                  </a:schemeClr>
                </a:solidFill>
              </a:rPr>
              <a:t>参考定义框架（</a:t>
            </a:r>
            <a:r>
              <a:rPr lang="en-US" altLang="zh-CN" sz="4000" dirty="0" smtClean="0">
                <a:solidFill>
                  <a:schemeClr val="accent5">
                    <a:lumMod val="75000"/>
                  </a:schemeClr>
                </a:solidFill>
              </a:rPr>
              <a:t>4</a:t>
            </a:r>
            <a:r>
              <a:rPr lang="zh-CN" altLang="en-US" sz="4000" dirty="0" smtClean="0">
                <a:solidFill>
                  <a:schemeClr val="accent5">
                    <a:lumMod val="75000"/>
                  </a:schemeClr>
                </a:solidFill>
              </a:rPr>
              <a:t>）</a:t>
            </a:r>
            <a:endParaRPr lang="zh-CN" altLang="en-US" dirty="0" smtClean="0">
              <a:solidFill>
                <a:schemeClr val="accent5">
                  <a:lumMod val="75000"/>
                </a:schemeClr>
              </a:solidFill>
            </a:endParaRPr>
          </a:p>
        </p:txBody>
      </p:sp>
      <p:sp>
        <p:nvSpPr>
          <p:cNvPr id="59395" name="Rectangle 3"/>
          <p:cNvSpPr>
            <a:spLocks noGrp="1" noChangeArrowheads="1"/>
          </p:cNvSpPr>
          <p:nvPr>
            <p:ph type="body" sz="half" idx="1"/>
          </p:nvPr>
        </p:nvSpPr>
        <p:spPr>
          <a:xfrm>
            <a:off x="1142976" y="1143000"/>
            <a:ext cx="8001024" cy="5105400"/>
          </a:xfrm>
        </p:spPr>
        <p:txBody>
          <a:bodyPr>
            <a:normAutofit fontScale="90000" lnSpcReduction="10000"/>
          </a:bodyPr>
          <a:lstStyle/>
          <a:p>
            <a:pPr eaLnBrk="1" hangingPunct="1"/>
            <a:r>
              <a:rPr sz="2800" b="1" dirty="0" smtClean="0">
                <a:ea typeface="宋体" panose="02010600030101010101" pitchFamily="2" charset="-122"/>
              </a:rPr>
              <a:t>端口</a:t>
            </a:r>
            <a:r>
              <a:rPr sz="2800" dirty="0" smtClean="0">
                <a:ea typeface="宋体" panose="02010600030101010101" pitchFamily="2" charset="-122"/>
              </a:rPr>
              <a:t>：组件作为一个封装的实体，只能通过其接口与外部交互，组件的接口由一组端口组成，每个端口表示了组件和外部环境的交汇点。通过不同的端口类型，一个组件可以提供多重接口。端口可以很简单，如过程调用</a:t>
            </a:r>
            <a:r>
              <a:rPr lang="zh-CN" altLang="en-US" sz="2800" dirty="0" smtClean="0">
                <a:ea typeface="宋体" panose="02010600030101010101" pitchFamily="2" charset="-122"/>
              </a:rPr>
              <a:t>；</a:t>
            </a:r>
            <a:r>
              <a:rPr sz="2800" dirty="0" smtClean="0">
                <a:ea typeface="宋体" panose="02010600030101010101" pitchFamily="2" charset="-122"/>
              </a:rPr>
              <a:t>也可以很复杂，如通信协议。</a:t>
            </a:r>
          </a:p>
          <a:p>
            <a:pPr eaLnBrk="1" hangingPunct="1"/>
            <a:r>
              <a:rPr sz="2800" b="1" dirty="0" smtClean="0">
                <a:ea typeface="宋体" panose="02010600030101010101" pitchFamily="2" charset="-122"/>
              </a:rPr>
              <a:t>角色</a:t>
            </a:r>
            <a:r>
              <a:rPr sz="2800" dirty="0" smtClean="0">
                <a:ea typeface="宋体" panose="02010600030101010101" pitchFamily="2" charset="-122"/>
              </a:rPr>
              <a:t>：连接件作为建模软件体系结构的主要实体，同样也有接口，连接件的接口由一组角色组成，连接件的每个角色定义了该连接件表示的交互的参与者。二元连接件有两个角色，如</a:t>
            </a:r>
            <a:r>
              <a:rPr lang="zh-CN" altLang="en-US" sz="2800" dirty="0" smtClean="0">
                <a:ea typeface="宋体" panose="02010600030101010101" pitchFamily="2" charset="-122"/>
              </a:rPr>
              <a:t>：</a:t>
            </a:r>
            <a:r>
              <a:rPr sz="2800" dirty="0" smtClean="0">
                <a:ea typeface="宋体" panose="02010600030101010101" pitchFamily="2" charset="-122"/>
              </a:rPr>
              <a:t>RPC的角色为caller 和callee， pipe 的角色是reading 和writing</a:t>
            </a:r>
            <a:r>
              <a:rPr lang="zh-CN" altLang="en-US" sz="2800" dirty="0" smtClean="0">
                <a:ea typeface="宋体" panose="02010600030101010101" pitchFamily="2" charset="-122"/>
              </a:rPr>
              <a:t>，</a:t>
            </a:r>
            <a:r>
              <a:rPr sz="2800" dirty="0" smtClean="0">
                <a:ea typeface="宋体" panose="02010600030101010101" pitchFamily="2" charset="-122"/>
              </a:rPr>
              <a:t>消息传递的角色是sender 和receiver等。 有的连接件有多于两个的角色，如事件广播有一个事件发布者角色和任意多个事件接收者角色。</a:t>
            </a:r>
          </a:p>
        </p:txBody>
      </p:sp>
    </p:spTree>
    <p:extLst>
      <p:ext uri="{BB962C8B-B14F-4D97-AF65-F5344CB8AC3E}">
        <p14:creationId xmlns:p14="http://schemas.microsoft.com/office/powerpoint/2010/main" val="211969267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1_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1514</TotalTime>
  <Words>4776</Words>
  <Application>Microsoft Office PowerPoint</Application>
  <PresentationFormat>全屏显示(4:3)</PresentationFormat>
  <Paragraphs>258</Paragraphs>
  <Slides>42</Slides>
  <Notes>1</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1</vt:i4>
      </vt:variant>
      <vt:variant>
        <vt:lpstr>幻灯片标题</vt:lpstr>
      </vt:variant>
      <vt:variant>
        <vt:i4>42</vt:i4>
      </vt:variant>
    </vt:vector>
  </HeadingPairs>
  <TitlesOfParts>
    <vt:vector size="57" baseType="lpstr">
      <vt:lpstr>Gill Sans MT</vt:lpstr>
      <vt:lpstr>仿宋_GB2312</vt:lpstr>
      <vt:lpstr>华文中宋</vt:lpstr>
      <vt:lpstr>宋体</vt:lpstr>
      <vt:lpstr>Arial</vt:lpstr>
      <vt:lpstr>Arial Narrow</vt:lpstr>
      <vt:lpstr>Calibri</vt:lpstr>
      <vt:lpstr>Tahoma</vt:lpstr>
      <vt:lpstr>Times New Roman</vt:lpstr>
      <vt:lpstr>Verdana</vt:lpstr>
      <vt:lpstr>Wingdings</vt:lpstr>
      <vt:lpstr>Wingdings 2</vt:lpstr>
      <vt:lpstr>夏至</vt:lpstr>
      <vt:lpstr>1_夏至</vt:lpstr>
      <vt:lpstr>Visio.Drawing.11</vt:lpstr>
      <vt:lpstr>软件体系结构</vt:lpstr>
      <vt:lpstr>第1章: 概  论</vt:lpstr>
      <vt:lpstr>1.1软件架构产生的背景（1）</vt:lpstr>
      <vt:lpstr>1.1软件架构产生的背景（2）</vt:lpstr>
      <vt:lpstr>1.1软件架构产生的背景（3）</vt:lpstr>
      <vt:lpstr>1.1软件架构产生的背景（4）</vt:lpstr>
      <vt:lpstr>1.2软件架构的主要思想和特征（1）</vt:lpstr>
      <vt:lpstr>1.2软件架构的主要思想和特征（2）</vt:lpstr>
      <vt:lpstr>1.2软件架构的主要思想和特征（3）</vt:lpstr>
      <vt:lpstr>PowerPoint 演示文稿</vt:lpstr>
      <vt:lpstr>1.3软件架构的发展阶段（2）</vt:lpstr>
      <vt:lpstr>1.3软件架构的发展阶段（3）</vt:lpstr>
      <vt:lpstr>1.3软件架构的发展阶段（4）</vt:lpstr>
      <vt:lpstr>1.3软件架构的发展阶段（5）</vt:lpstr>
      <vt:lpstr>1.3软件架构的发展阶段（6）</vt:lpstr>
      <vt:lpstr>1.3软件架构的发展阶段（7）</vt:lpstr>
      <vt:lpstr>1.3软件架构的发展阶段（8）</vt:lpstr>
      <vt:lpstr>1.4软件架构研究和应用现状（1）</vt:lpstr>
      <vt:lpstr>1.4软件架构研究和应用现状（2）</vt:lpstr>
      <vt:lpstr>1.4软件架构研究和应用现状（3）</vt:lpstr>
      <vt:lpstr>1.4软件架构研究和应用现状（4）</vt:lpstr>
      <vt:lpstr>1.4软件架构研究和应用现状（5）</vt:lpstr>
      <vt:lpstr>1.4软件架构研究和应用现状（6）</vt:lpstr>
      <vt:lpstr>1.4软件架构研究和应用现状（7）</vt:lpstr>
      <vt:lpstr>1.4软件架构研究和应用现状（8）</vt:lpstr>
      <vt:lpstr>1.4软件架构研究和应用现状（9）</vt:lpstr>
      <vt:lpstr>1.4软件架构研究和应用现状（10）</vt:lpstr>
      <vt:lpstr>1.4软件架构研究和应用现状（11）</vt:lpstr>
      <vt:lpstr>第二章   软件架构的概念</vt:lpstr>
      <vt:lpstr>目   录</vt:lpstr>
      <vt:lpstr>2.1 概述（1）</vt:lpstr>
      <vt:lpstr>  2.1 概述（2）  </vt:lpstr>
      <vt:lpstr>2.2 组成派的主要定义（1）</vt:lpstr>
      <vt:lpstr>2.2 组成派的主要定义（2）</vt:lpstr>
      <vt:lpstr>2.2 组成派的主要定义（3）</vt:lpstr>
      <vt:lpstr>2.3 决策派的主要定义（1）</vt:lpstr>
      <vt:lpstr>2.3 决策派的主要定义（2）</vt:lpstr>
      <vt:lpstr>2.4 其他定义</vt:lpstr>
      <vt:lpstr>2.5 参考定义框架（1）</vt:lpstr>
      <vt:lpstr>2.5 参考定义框架（2）</vt:lpstr>
      <vt:lpstr>2.5 参考定义框架（3）</vt:lpstr>
      <vt:lpstr>2.5 参考定义框架（4）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软件体系结构概述</dc:title>
  <dc:creator>dell</dc:creator>
  <cp:lastModifiedBy>nie</cp:lastModifiedBy>
  <cp:revision>142</cp:revision>
  <dcterms:created xsi:type="dcterms:W3CDTF">2018-02-26T09:37:41Z</dcterms:created>
  <dcterms:modified xsi:type="dcterms:W3CDTF">2020-07-01T06:45:14Z</dcterms:modified>
</cp:coreProperties>
</file>