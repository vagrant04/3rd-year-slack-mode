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Lst>
  <p:notesMasterIdLst>
    <p:notesMasterId r:id="rId42"/>
  </p:notesMasterIdLst>
  <p:sldIdLst>
    <p:sldId id="256" r:id="rId3"/>
    <p:sldId id="276" r:id="rId4"/>
    <p:sldId id="279" r:id="rId5"/>
    <p:sldId id="278" r:id="rId6"/>
    <p:sldId id="280" r:id="rId7"/>
    <p:sldId id="281" r:id="rId8"/>
    <p:sldId id="257" r:id="rId9"/>
    <p:sldId id="264" r:id="rId10"/>
    <p:sldId id="266" r:id="rId11"/>
    <p:sldId id="262" r:id="rId12"/>
    <p:sldId id="267" r:id="rId13"/>
    <p:sldId id="265" r:id="rId14"/>
    <p:sldId id="277" r:id="rId15"/>
    <p:sldId id="282" r:id="rId16"/>
    <p:sldId id="283" r:id="rId17"/>
    <p:sldId id="284" r:id="rId18"/>
    <p:sldId id="285" r:id="rId19"/>
    <p:sldId id="286" r:id="rId20"/>
    <p:sldId id="287" r:id="rId21"/>
    <p:sldId id="288" r:id="rId22"/>
    <p:sldId id="263" r:id="rId23"/>
    <p:sldId id="268" r:id="rId24"/>
    <p:sldId id="269" r:id="rId25"/>
    <p:sldId id="270" r:id="rId26"/>
    <p:sldId id="271" r:id="rId27"/>
    <p:sldId id="272" r:id="rId28"/>
    <p:sldId id="273" r:id="rId29"/>
    <p:sldId id="275" r:id="rId30"/>
    <p:sldId id="274" r:id="rId31"/>
    <p:sldId id="258" r:id="rId32"/>
    <p:sldId id="259" r:id="rId33"/>
    <p:sldId id="289" r:id="rId34"/>
    <p:sldId id="290" r:id="rId35"/>
    <p:sldId id="291" r:id="rId36"/>
    <p:sldId id="292" r:id="rId37"/>
    <p:sldId id="293" r:id="rId38"/>
    <p:sldId id="294" r:id="rId39"/>
    <p:sldId id="295" r:id="rId40"/>
    <p:sldId id="29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7" autoAdjust="0"/>
    <p:restoredTop sz="94660"/>
  </p:normalViewPr>
  <p:slideViewPr>
    <p:cSldViewPr snapToGrid="0" snapToObjects="1">
      <p:cViewPr varScale="1">
        <p:scale>
          <a:sx n="80" d="100"/>
          <a:sy n="80" d="100"/>
        </p:scale>
        <p:origin x="22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D82766-E10C-6747-8263-72C8282890D3}" type="datetimeFigureOut">
              <a:rPr kumimoji="1" lang="zh-CN" altLang="en-US" smtClean="0"/>
              <a:t>2020/6/29</a:t>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EB4B-E29D-C646-91CC-1376595F9E82}" type="slidenum">
              <a:rPr kumimoji="1" lang="zh-CN" altLang="en-US" smtClean="0"/>
              <a:t>‹#›</a:t>
            </a:fld>
            <a:endParaRPr kumimoji="1" lang="zh-CN" altLang="en-US"/>
          </a:p>
        </p:txBody>
      </p:sp>
    </p:spTree>
    <p:extLst>
      <p:ext uri="{BB962C8B-B14F-4D97-AF65-F5344CB8AC3E}">
        <p14:creationId xmlns:p14="http://schemas.microsoft.com/office/powerpoint/2010/main" val="329087593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05CEB4B-E29D-C646-91CC-1376595F9E82}" type="slidenum">
              <a:rPr kumimoji="1" lang="zh-CN" altLang="en-US" smtClean="0"/>
              <a:t>27</a:t>
            </a:fld>
            <a:endParaRPr kumimoji="1" lang="zh-CN" altLang="en-US"/>
          </a:p>
        </p:txBody>
      </p:sp>
    </p:spTree>
    <p:extLst>
      <p:ext uri="{BB962C8B-B14F-4D97-AF65-F5344CB8AC3E}">
        <p14:creationId xmlns:p14="http://schemas.microsoft.com/office/powerpoint/2010/main" val="12050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zh-CN" altLang="en-US" smtClean="0"/>
              <a:t>单击此处编辑母版标题样式</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zh-CN" altLang="en-US" smtClean="0"/>
              <a:t>单击此处编辑母版标题样式</a:t>
            </a:r>
            <a:endParaRPr/>
          </a:p>
        </p:txBody>
      </p:sp>
      <p:sp>
        <p:nvSpPr>
          <p:cNvPr id="3" name="Content Placeholder 2"/>
          <p:cNvSpPr>
            <a:spLocks noGrp="1"/>
          </p:cNvSpPr>
          <p:nvPr>
            <p:ph idx="1"/>
          </p:nvPr>
        </p:nvSpPr>
        <p:spPr/>
        <p:txBody>
          <a:bodyPr/>
          <a:lstStyle>
            <a:lvl5pPr>
              <a:defRPr/>
            </a:lvl5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带图片)">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zh-CN" altLang="en-US" smtClean="0"/>
              <a:t>单击此处编辑母版标题样式</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zh-CN" altLang="en-US" smtClean="0"/>
              <a:t>将图片拖动到占位符，或单击添加图标</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内容和图片">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zh-CN" altLang="en-US" smtClean="0"/>
              <a:t>单击此处编辑母版标题样式</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zh-CN" altLang="en-US" smtClean="0"/>
              <a:t>将图片拖动到占位符，或单击添加图标</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zh-CN" altLang="en-US" smtClean="0"/>
              <a:t>单击此处编辑母版标题样式</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a:xfrm>
            <a:off x="5562600" y="6356350"/>
            <a:ext cx="1622612" cy="365125"/>
          </a:xfrm>
        </p:spPr>
        <p:txBody>
          <a:body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节(带图片)">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zh-CN" altLang="en-US" smtClean="0"/>
              <a:t>单击此处编辑母版标题样式</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6" name="Slide Number Placeholder 5"/>
          <p:cNvSpPr>
            <a:spLocks noGrp="1"/>
          </p:cNvSpPr>
          <p:nvPr>
            <p:ph type="sldNum" sz="quarter" idx="12"/>
          </p:nvPr>
        </p:nvSpPr>
        <p:spPr>
          <a:xfrm>
            <a:off x="351212" y="6104965"/>
            <a:ext cx="506506" cy="365125"/>
          </a:xfrm>
        </p:spPr>
        <p:txBody>
          <a:body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zh-CN" altLang="en-US" smtClean="0"/>
              <a:t>将图片拖动到占位符，或单击添加图标</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zh-CN" altLang="en-US" smtClean="0"/>
              <a:t>单击此处编辑母版标题样式</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zh-CN" altLang="en-US" smtClean="0"/>
              <a:t>单击此处编辑母版标题样式</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7" name="Date Placeholder 6"/>
          <p:cNvSpPr>
            <a:spLocks noGrp="1"/>
          </p:cNvSpPr>
          <p:nvPr>
            <p:ph type="dt" sz="half" idx="10"/>
          </p:nvPr>
        </p:nvSpPr>
        <p:spPr/>
        <p:txBody>
          <a:bodyPr/>
          <a:lstStyle/>
          <a:p>
            <a:fld id="{B1A24CD3-204F-4468-8EE4-28A6668D006A}" type="datetimeFigureOut">
              <a:rPr lang="en-US" smtClean="0"/>
              <a:t>6/29/2020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两项内容、顶部和底部">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zh-CN" altLang="en-US" smtClean="0"/>
              <a:t>单击此处编辑母版标题样式</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三项内容">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zh-CN" altLang="en-US" smtClean="0"/>
              <a:t>单击此处编辑母版标题样式</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四项内容">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zh-CN" altLang="en-US" smtClean="0"/>
              <a:t>单击此处编辑母版标题样式</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zh-CN" altLang="en-US" smtClean="0"/>
              <a:t>单击此处编辑母版标题样式</a:t>
            </a:r>
            <a:endParaRPr/>
          </a:p>
        </p:txBody>
      </p:sp>
      <p:sp>
        <p:nvSpPr>
          <p:cNvPr id="3" name="Date Placeholder 2"/>
          <p:cNvSpPr>
            <a:spLocks noGrp="1"/>
          </p:cNvSpPr>
          <p:nvPr>
            <p:ph type="dt" sz="half" idx="10"/>
          </p:nvPr>
        </p:nvSpPr>
        <p:spPr/>
        <p:txBody>
          <a:bodyPr/>
          <a:lstStyle/>
          <a:p>
            <a:fld id="{B1A24CD3-204F-4468-8EE4-28A6668D006A}" type="datetimeFigureOut">
              <a:rPr lang="en-US" smtClean="0"/>
              <a:t>6/29/2020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B1A24CD3-204F-4468-8EE4-28A6668D006A}" type="datetimeFigureOut">
              <a:rPr lang="en-US" smtClean="0"/>
              <a:t>6/29/2020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zh-CN" altLang="en-US" smtClean="0"/>
              <a:t>单击此处编辑母版标题样式</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zh-CN" altLang="en-US" smtClean="0"/>
              <a:t>单击此处编辑母版标题样式</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zh-CN" altLang="en-US" smtClean="0"/>
              <a:t>将图片拖动到占位符，或单击添加图标</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位于标题上)">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zh-CN" altLang="en-US" smtClean="0"/>
              <a:t>单击此处编辑母版标题样式</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张图片(带标题)">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zh-CN" altLang="en-US" smtClean="0"/>
              <a:t>单击此处编辑母版标题样式</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1A24CD3-204F-4468-8EE4-28A6668D006A}"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zh-CN" altLang="en-US" smtClean="0"/>
              <a:t>单击此处编辑母版标题样式</a:t>
            </a:r>
            <a:endParaRPr/>
          </a:p>
        </p:txBody>
      </p:sp>
      <p:sp>
        <p:nvSpPr>
          <p:cNvPr id="3" name="Vertical Text Placeholder 2"/>
          <p:cNvSpPr>
            <a:spLocks noGrp="1"/>
          </p:cNvSpPr>
          <p:nvPr>
            <p:ph type="body" orient="vert" idx="1"/>
          </p:nvPr>
        </p:nvSpPr>
        <p:spPr/>
        <p:txBody>
          <a:bodyPr vert="eaVert"/>
          <a:lstStyle>
            <a:lvl5pPr>
              <a:defRPr/>
            </a:lvl5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zh-CN" altLang="en-US" smtClean="0"/>
              <a:t>单击此处编辑母版标题样式</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Rectangle 9"/>
          <p:cNvSpPr/>
          <p:nvPr/>
        </p:nvSpPr>
        <p:spPr>
          <a:xfrm>
            <a:off x="0" y="1"/>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9144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3750" spc="150" baseline="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350">
                <a:solidFill>
                  <a:schemeClr val="tx1">
                    <a:lumMod val="95000"/>
                    <a:lumOff val="5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lvl1pPr algn="l">
              <a:defRPr/>
            </a:lvl1pPr>
          </a:lstStyle>
          <a:p>
            <a:fld id="{63A1C593-65D0-4073-BCC9-577B9352EA97}"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609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1833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9" name="Rectangle 8"/>
          <p:cNvSpPr/>
          <p:nvPr/>
        </p:nvSpPr>
        <p:spPr>
          <a:xfrm>
            <a:off x="0" y="1"/>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9144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3750" b="0" spc="150"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350">
                <a:solidFill>
                  <a:schemeClr val="tx1">
                    <a:lumMod val="95000"/>
                    <a:lumOff val="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63A1C593-65D0-4073-BCC9-577B9352EA97}"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6662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768095" y="2286000"/>
            <a:ext cx="356616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023083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1725" b="0" cap="none" baseline="0">
                <a:solidFill>
                  <a:schemeClr val="accent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p:nvPr>
        </p:nvSpPr>
        <p:spPr>
          <a:xfrm>
            <a:off x="768096" y="2967788"/>
            <a:ext cx="3566160" cy="33415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493166" y="2179636"/>
            <a:ext cx="3566160" cy="822960"/>
          </a:xfrm>
        </p:spPr>
        <p:txBody>
          <a:bodyPr lIns="137160" rIns="137160" anchor="ctr">
            <a:normAutofit/>
          </a:bodyPr>
          <a:lstStyle>
            <a:lvl1pPr marL="0" indent="0">
              <a:spcBef>
                <a:spcPts val="0"/>
              </a:spcBef>
              <a:spcAft>
                <a:spcPts val="0"/>
              </a:spcAft>
              <a:buNone/>
              <a:defRPr lang="en-US" sz="1725" b="0" kern="1200" cap="none" baseline="0" dirty="0">
                <a:solidFill>
                  <a:schemeClr val="accent1"/>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smtClean="0"/>
              <a:t>编辑母版文本样式</a:t>
            </a:r>
          </a:p>
        </p:txBody>
      </p:sp>
      <p:sp>
        <p:nvSpPr>
          <p:cNvPr id="6" name="Content Placeholder 5"/>
          <p:cNvSpPr>
            <a:spLocks noGrp="1"/>
          </p:cNvSpPr>
          <p:nvPr>
            <p:ph sz="quarter" idx="4"/>
          </p:nvPr>
        </p:nvSpPr>
        <p:spPr>
          <a:xfrm>
            <a:off x="4493166" y="2967788"/>
            <a:ext cx="3566160" cy="33415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6/29/2020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085998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6/29/2020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21019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154072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286250" y="822960"/>
            <a:ext cx="4258818" cy="5184648"/>
          </a:xfrm>
        </p:spPr>
        <p:txBody>
          <a:bodyPr/>
          <a:lstStyle>
            <a:lvl1pPr>
              <a:defRPr sz="1800"/>
            </a:lvl1pPr>
            <a:lvl2pPr>
              <a:defRPr sz="150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45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63A1C593-65D0-4073-BCC9-577B9352EA97}"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040584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3750" spc="150" baseline="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rIns="45720" bIns="4572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35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63A1C593-65D0-4073-BCC9-577B9352EA97}" type="datetimeFigureOut">
              <a:rPr lang="en-US" smtClean="0"/>
              <a:t>6/29/2020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59131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9460652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6/29/2020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442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zh-CN" altLang="en-US" smtClean="0"/>
              <a:t>单击此处编辑母版标题样式</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B1A24CD3-204F-4468-8EE4-28A6668D006A}" type="datetimeFigureOut">
              <a:rPr lang="en-US" smtClean="0"/>
              <a:t>6/29/2020</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57AF16DE-A0D5-4438-950F-5B1E159C2C2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63A1C593-65D0-4073-BCC9-577B9352EA97}" type="datetimeFigureOut">
              <a:rPr lang="en-US" smtClean="0"/>
              <a:t>6/29/2020</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75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9B618960-8005-486C-9A75-10CB2AAC16F9}"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97819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685800" rtl="0" eaLnBrk="1" latinLnBrk="0" hangingPunct="1">
        <a:lnSpc>
          <a:spcPct val="80000"/>
        </a:lnSpc>
        <a:spcBef>
          <a:spcPct val="0"/>
        </a:spcBef>
        <a:buNone/>
        <a:defRPr sz="3750" kern="1200" cap="all" spc="75" baseline="0">
          <a:solidFill>
            <a:schemeClr val="tx1">
              <a:lumMod val="95000"/>
              <a:lumOff val="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Tw Cen MT" panose="020B0602020104020603" pitchFamily="34" charset="0"/>
        <a:buChar char=" "/>
        <a:defRPr sz="1650" kern="1200">
          <a:solidFill>
            <a:schemeClr val="tx1"/>
          </a:solidFill>
          <a:latin typeface="+mn-lt"/>
          <a:ea typeface="+mn-ea"/>
          <a:cs typeface="+mn-cs"/>
        </a:defRPr>
      </a:lvl1pPr>
      <a:lvl2pPr marL="19888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350" kern="1200">
          <a:solidFill>
            <a:schemeClr val="tx1"/>
          </a:solidFill>
          <a:latin typeface="+mn-lt"/>
          <a:ea typeface="+mn-ea"/>
          <a:cs typeface="+mn-cs"/>
        </a:defRPr>
      </a:lvl2pPr>
      <a:lvl3pPr marL="33604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3pPr>
      <a:lvl4pPr marL="445770"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4pPr>
      <a:lvl5pPr marL="582930"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6pPr>
      <a:lvl7pPr marL="795528"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7pPr>
      <a:lvl8pPr marL="912114"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8pPr>
      <a:lvl9pPr marL="102184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dirty="0" smtClean="0"/>
              <a:t>六西格玛管理</a:t>
            </a:r>
            <a:endParaRPr kumimoji="1" lang="zh-CN" altLang="en-US" dirty="0"/>
          </a:p>
        </p:txBody>
      </p:sp>
      <p:sp>
        <p:nvSpPr>
          <p:cNvPr id="4" name="副标题 3"/>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3249998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六西格玛的由来</a:t>
            </a:r>
            <a:endParaRPr kumimoji="1" lang="zh-CN" altLang="en-US" dirty="0"/>
          </a:p>
        </p:txBody>
      </p:sp>
      <p:sp>
        <p:nvSpPr>
          <p:cNvPr id="3" name="内容占位符 2"/>
          <p:cNvSpPr>
            <a:spLocks noGrp="1"/>
          </p:cNvSpPr>
          <p:nvPr>
            <p:ph idx="1"/>
          </p:nvPr>
        </p:nvSpPr>
        <p:spPr>
          <a:xfrm>
            <a:off x="457199" y="2209800"/>
            <a:ext cx="6821906" cy="3916363"/>
          </a:xfrm>
        </p:spPr>
        <p:txBody>
          <a:bodyPr/>
          <a:lstStyle/>
          <a:p>
            <a:r>
              <a:rPr kumimoji="1" lang="zh-CN" altLang="en-US" dirty="0" smtClean="0"/>
              <a:t>六西格玛概念于</a:t>
            </a:r>
            <a:r>
              <a:rPr kumimoji="1" lang="en-US" altLang="zh-CN" dirty="0" smtClean="0"/>
              <a:t>1986</a:t>
            </a:r>
            <a:r>
              <a:rPr kumimoji="1" lang="zh-CN" altLang="en-US" dirty="0" smtClean="0"/>
              <a:t>年由摩托罗拉公司的比尔史密斯提出。</a:t>
            </a:r>
            <a:endParaRPr kumimoji="1" lang="en-US" altLang="zh-CN" dirty="0" smtClean="0"/>
          </a:p>
          <a:p>
            <a:r>
              <a:rPr kumimoji="1" lang="zh-CN" altLang="en-US" dirty="0" smtClean="0"/>
              <a:t>于九十年代中期开始被</a:t>
            </a:r>
            <a:r>
              <a:rPr kumimoji="1" lang="en-US" altLang="zh-CN" dirty="0" smtClean="0"/>
              <a:t>GE</a:t>
            </a:r>
            <a:r>
              <a:rPr kumimoji="1" lang="zh-CN" altLang="en-US" dirty="0" smtClean="0"/>
              <a:t>（美国通用电气公司）从一种全面质量管理方法演变成为一个高度有效的企业流程设计、改善和优化的技术。</a:t>
            </a:r>
            <a:endParaRPr kumimoji="1" lang="en-US" altLang="zh-CN" dirty="0" smtClean="0"/>
          </a:p>
          <a:p>
            <a:r>
              <a:rPr kumimoji="1" lang="zh-CN" altLang="en-US" dirty="0" smtClean="0"/>
              <a:t>至今摩托罗拉、戴尔、惠普、西门子、索尼等众多跨国企业都开展六西格玛管理</a:t>
            </a:r>
            <a:endParaRPr kumimoji="1" lang="zh-CN" altLang="en-US" dirty="0"/>
          </a:p>
        </p:txBody>
      </p:sp>
    </p:spTree>
    <p:extLst>
      <p:ext uri="{BB962C8B-B14F-4D97-AF65-F5344CB8AC3E}">
        <p14:creationId xmlns:p14="http://schemas.microsoft.com/office/powerpoint/2010/main" val="29836053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名字来源</a:t>
            </a:r>
            <a:endParaRPr lang="zh-CN" altLang="en-US" dirty="0"/>
          </a:p>
        </p:txBody>
      </p:sp>
      <p:sp>
        <p:nvSpPr>
          <p:cNvPr id="3" name="内容占位符 2"/>
          <p:cNvSpPr>
            <a:spLocks noGrp="1"/>
          </p:cNvSpPr>
          <p:nvPr>
            <p:ph idx="1"/>
          </p:nvPr>
        </p:nvSpPr>
        <p:spPr>
          <a:xfrm>
            <a:off x="768096" y="2571750"/>
            <a:ext cx="7290055" cy="3377930"/>
          </a:xfrm>
        </p:spPr>
        <p:txBody>
          <a:bodyPr>
            <a:normAutofit/>
          </a:bodyPr>
          <a:lstStyle/>
          <a:p>
            <a:pPr>
              <a:lnSpc>
                <a:spcPct val="100000"/>
              </a:lnSpc>
            </a:pPr>
            <a:r>
              <a:rPr lang="zh-CN" altLang="en-US" sz="2100" dirty="0"/>
              <a:t>“六西格玛”这个名字来自于生产方面的方法，特别是过程中的统计模型。生产流程可用“西格玛”来计算，可计算产品中无缺陷产品的百分比。六个西格玛是指生产的产品中，有</a:t>
            </a:r>
            <a:r>
              <a:rPr lang="en-US" altLang="zh-CN" sz="2100" dirty="0"/>
              <a:t>99.99966%</a:t>
            </a:r>
            <a:r>
              <a:rPr lang="zh-CN" altLang="en-US" sz="2100" dirty="0"/>
              <a:t>的产品是没有品质问题的（每一百万中有</a:t>
            </a:r>
            <a:r>
              <a:rPr lang="en-US" altLang="zh-CN" sz="2100" dirty="0"/>
              <a:t>3.4</a:t>
            </a:r>
            <a:r>
              <a:rPr lang="zh-CN" altLang="en-US" sz="2100" dirty="0"/>
              <a:t>个有缺陷）。摩托罗拉制定了一套六西格玛的目标，针对于所有生产流程，也可指管理和工程实践中达到目标的一种手段。</a:t>
            </a:r>
          </a:p>
        </p:txBody>
      </p:sp>
    </p:spTree>
    <p:extLst>
      <p:ext uri="{BB962C8B-B14F-4D97-AF65-F5344CB8AC3E}">
        <p14:creationId xmlns:p14="http://schemas.microsoft.com/office/powerpoint/2010/main" val="14197498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097" y="1296162"/>
            <a:ext cx="4047095" cy="1124712"/>
          </a:xfrm>
        </p:spPr>
        <p:txBody>
          <a:bodyPr/>
          <a:lstStyle/>
          <a:p>
            <a:r>
              <a:rPr lang="zh-CN" altLang="en-US" dirty="0" smtClean="0"/>
              <a:t>定义</a:t>
            </a:r>
            <a:endParaRPr lang="zh-CN" altLang="en-US" dirty="0"/>
          </a:p>
        </p:txBody>
      </p:sp>
      <p:sp>
        <p:nvSpPr>
          <p:cNvPr id="3" name="内容占位符 2"/>
          <p:cNvSpPr>
            <a:spLocks noGrp="1"/>
          </p:cNvSpPr>
          <p:nvPr>
            <p:ph idx="1"/>
          </p:nvPr>
        </p:nvSpPr>
        <p:spPr>
          <a:xfrm>
            <a:off x="768096" y="2581381"/>
            <a:ext cx="7290055" cy="3273455"/>
          </a:xfrm>
        </p:spPr>
        <p:txBody>
          <a:bodyPr>
            <a:normAutofit/>
          </a:bodyPr>
          <a:lstStyle/>
          <a:p>
            <a:r>
              <a:rPr lang="zh-CN" altLang="en-US" sz="2100" dirty="0"/>
              <a:t>六西格玛（</a:t>
            </a:r>
            <a:r>
              <a:rPr lang="zh-CN" altLang="zh-CN" sz="2100" dirty="0"/>
              <a:t>Six Sigma</a:t>
            </a:r>
            <a:r>
              <a:rPr lang="zh-CN" altLang="en-US" sz="2100" dirty="0"/>
              <a:t>）</a:t>
            </a:r>
            <a:r>
              <a:rPr lang="zh-CN" altLang="zh-CN" sz="2100" dirty="0"/>
              <a:t>是一种管理策略，</a:t>
            </a:r>
            <a:r>
              <a:rPr lang="zh-CN" altLang="en-US" sz="2100" dirty="0"/>
              <a:t>用于流程改善的工具与程序，是商业管理的战略之一。</a:t>
            </a:r>
            <a:r>
              <a:rPr lang="zh-CN" altLang="zh-CN" sz="2100" dirty="0"/>
              <a:t>它是由当时在摩托罗拉任职的工程师比尔</a:t>
            </a:r>
            <a:r>
              <a:rPr lang="en-US" altLang="zh-CN" sz="2100" dirty="0"/>
              <a:t>▪</a:t>
            </a:r>
            <a:r>
              <a:rPr lang="zh-CN" altLang="zh-CN" sz="2100" dirty="0"/>
              <a:t>史密斯（</a:t>
            </a:r>
            <a:r>
              <a:rPr lang="en-US" altLang="zh-CN" sz="2100" dirty="0"/>
              <a:t>Bill Smith)</a:t>
            </a:r>
            <a:r>
              <a:rPr lang="zh-CN" altLang="zh-CN" sz="2100" dirty="0"/>
              <a:t>于</a:t>
            </a:r>
            <a:r>
              <a:rPr lang="en-US" altLang="zh-CN" sz="2100" dirty="0"/>
              <a:t>1986</a:t>
            </a:r>
            <a:r>
              <a:rPr lang="zh-CN" altLang="zh-CN" sz="2100" dirty="0"/>
              <a:t>年提出的。</a:t>
            </a:r>
            <a:r>
              <a:rPr lang="zh-CN" altLang="en-US" sz="2100" dirty="0"/>
              <a:t>后来由于通用电气第八任执行长杰克</a:t>
            </a:r>
            <a:r>
              <a:rPr lang="en-US" altLang="zh-CN" sz="2100" dirty="0"/>
              <a:t>·</a:t>
            </a:r>
            <a:r>
              <a:rPr lang="zh-CN" altLang="en-US" sz="2100" dirty="0"/>
              <a:t>韦尔奇（</a:t>
            </a:r>
            <a:r>
              <a:rPr lang="en-US" altLang="zh-CN" sz="2100" dirty="0"/>
              <a:t>Jack Welch</a:t>
            </a:r>
            <a:r>
              <a:rPr lang="zh-CN" altLang="en-US" sz="2100" dirty="0"/>
              <a:t>）的推广，六西格玛于</a:t>
            </a:r>
            <a:r>
              <a:rPr lang="en-US" altLang="zh-CN" sz="2100" dirty="0"/>
              <a:t>1995</a:t>
            </a:r>
            <a:r>
              <a:rPr lang="zh-CN" altLang="en-US" sz="2100" dirty="0"/>
              <a:t>年成为通用电气的核心管理思想，今天广泛应用于很多行业中。</a:t>
            </a:r>
          </a:p>
        </p:txBody>
      </p:sp>
      <p:pic>
        <p:nvPicPr>
          <p:cNvPr id="1026" name="图片 1" descr="https://upload.wikimedia.org/wikipedia/commons/thumb/6/67/Six_sigma-2.svg/220px-Six_sigma-2.svg.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788615" y="1260851"/>
            <a:ext cx="1571625" cy="1051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AutoShape 2" descr="data:image/jpeg;base64,/9j/4AAQSkZJRgABAQAAAQABAAD/2wBDAAgGBgcGBQgHBwcJCQgKDBQNDAsLDBkSEw8UHRofHh0aHBwgJC4nICIsIxwcKDcpLDAxNDQ0Hyc5PTgyPC4zNDL/2wBDAQkJCQwLDBgNDRgyIRwhMjIyMjIyMjIyMjIyMjIyMjIyMjIyMjIyMjIyMjIyMjIyMjIyMjIyMjIyMjIyMjIyMjL/wAARCAEsAp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NFB6UAJk0ZNJRSELk0ZNJRQAuTRk0lFAC5NGTSUUALk0ZNJRQAuTRk0lFAC5NJk0UUAZXiC/msPDuoXcHEsNu7ofcCvl//hdXjX/oIj/vgV9PeILOe/8AD2oWNuFM9xA0aBiAMkY7183f8KD8bf8APOy/8CBTGUv+F1eNf+giP++BR/wurxqf+YkOn9wVd/4UH42/552P/gQKo6h8GPGenRsx05JwF3HyJQxx6fWgBR8avGv/AEERx/sCgfGrxqeP7RH/AHwK8/ljeCZ4nUq6kqykcgjqK6Dwh4L1XxrdXNtpCwmW3jEj+bJtGCccUwOg/wCF1eNf+gkP++BR/wALq8a5/wCQkP8AvgVV174TeK/DljLfXlkklvENzyQPvCj1NcSVIbBGDQB6B/wurxr0/tEf98Cj/hdfjX/oIj/vgVX8O/CXxL4q0ePVdLS1NrIzKpkmCng46Vq/8KD8a/8APOx/8CBSApf8Lq8ag/8AIRH/AHwK7z4SfEfxH4o8Ziw1S8Etv9nd9u3HIxXIf8KD8a947H/wIFdv8K/hd4i8IeLxqWqJbC38h48xzBjk47UAe45Ned/F3xVqnhfwvFeaXMIpnmCFiM4Feidq8++K/hHVPGHhuKw0lITKswc+Y+0Y+tAHhZ+NXjXn/iZD/vgUf8Lq8a/9BIf98Crv/Cg/G3Ty7LH/AF8Cj/hQfjXH+rsf/AgUAUv+F1+Nev8AaI/74FH/AAurxr/0ERx/sCrv/Cg/Gv8Azzsf/AgUf8KD8bf887H/AMCBQBS/4XV41/6CI4/2BSf8Lq8anj+0h/3wKvf8KD8bD/lnY/8AgQKP+FB+Nf8AnnY/+BAoApf8Lq8akkf2iOf9gUf8Lq8a541Ef98Crv8AwoPxr/zzsf8AwIFVNT+Cvi7SNMudQu1shb28ZkkInGQBQBbsPjp4wtZN0s0FyrMDtkj7egr37wF4zi8a+H49SSIwyBjHLGTnDD09q+NUUliM4HX619NfAC2lh8ESzyLhZrlih7nHFDA9ZZiFzXgXxZ+KutaZ4jl0TQ7o2q24AlkUDeX64z6Yr3x+EJrwD4r/AAq1fUtfl13Q4HvVuSPOhU5dWx1HtQgMv4efF/X18UW1nrd9Je2N3IIyXALRk8AjHbNe2fEPWbzQvA2palYSeXcwx5R8dDmvFfhz8J9dbxPa3+t2UljaWUiy7ZV+aUg5AA9K9v8AHGhz+JfCOoaRausc1xGFVn6DmgD5u/4XT42/6CQ/74FA+NXjUj/kIj/vgVuj9nnxJ0/tCxx9TWdrnwW1Xw5pFxqeoapYpBCuTgnJOOg9aAIrb43+NYHDm8ilGMbXjBFe0fC/4lnx3b3FvcwCDULVQ0gT7rqeNw9Oa+UA2O2DivoL9n3w1c2tlqOvToyLdKIIAR95QclvzwKAPWvFGqXGkeGdQ1G22+dbwl03DK5r50Px98YkkbrIf9sRXv8A47APgbWCRn/Rmr4uc4bjvQgPsb4aeJb/AMWeC7fVtQMf2iSR1by1wMA+ldhmvOPgb/yTCz/67S/zr0ekIXJoyaSigBcmjJpKKAFyaMmkooAXJoyaSigBcmjJpKKAFyaMmkooAXJoyaSigBcmlptOpjCiiigAooooAKKKKACiiigAooooAKKKKACiiigAooooAKD0ooPSgBtFFFIQUUUUAFFFFABRRRQAUUUUAFFFFABRRRQAYpASe1B6GvkXxL478Xad4o1Wzh8QahHFDdyoi+ceFDHH6Uxn1vvO4gjj1oJGMkc9a8T+BfizVteutUtNW1OW7ZEV085izKPb2r2xsAYOenakB8W+PVVfHWsBVCj7S3AHvXo/7OAz4m1kf9OS/wDoYrznx/n/AITvWM/8/LV6N+zf/wAjPrP/AF5r/wChimB7V49AXwLrBXg/Zm6V8XMSCOa+0vH3/Ii6x/17t6/0r4sfqKEB9YfA3/kl9j/11l/9Cr0Zm2jJrzn4G/8AJL7H/rtL/wChV6HO6RxM8hwqjJPoPWgQElhjHB9KAAGHHJr5B1X4j+LG1a9a31++hh859kaTHCjJwBXrXwK1rW9f/tS61bVLm8RNqRrM24KfUUDPaKbsHbinUZpCMTX/ABRpnhixF7q1wLeBpBGrFScsQT0H0rnE+MfglyFGrgsSAAI26mvLP2gvEX23XrXRIpAY7NN8gX/no3Y/Qfzrgvh3oR8R+OdMsdoaMSCSUEcbV5NMZ9lQyrPAkqHKuoYH2NSUiKERVUYCjAFLSEFFFFADWJGMV5p8cNcOl/D2a2Rgst9IIQPVf4q9MPSvm/8AaG1gz+ILDSo5P3dtFvZM9Gb/AOtimhnjcStJIsa5JbCjHvX2n4I0lNC8H6Vp6j5kgVnOP4iMn+dfJvgHSP7b8b6VY4GGmDNnpgc/0r7PRFUqqrgKMAegoYEjYwc1CJUH8aj6t0qevkP4q315B8S9aSK6mRRKMBXIA+UUAfWu4EAqQfxpytlq+KdL8ZeINHlR7LVruLZ0HmEj6EdxX1p4H8QN4l8HadqzrtlmT96Bj74OCRj3FAHQzSiFGkZlVVGSSeAO5NfKfxU+Ic/i7XWtrSQjSbV9sSdPMYdWNfTmvAHw7qZB5+zSfh8pr4gI+cknjPX8aEB1XgHwdc+NPE0FmqsLRCHuZQOFQdvqa+pdU13QPAWlWcV9MLOz/wBRAAhIyBnHHsKyvhd4Ss/DHhG2aFt9zeIs80uOWyMgfSuG/aNuJBp2iWo27DK8nHXOMD+dAHX6x400LxZ4I16PRr37Q0FqTINpG0Hp1r5Nk+90xXrvwut4z8PvGFxg+aYAnXt9K8if71AH0r8NPFGn+Evg7ZajqXmC3+0yJlFzgk11nhj4n6H4t1ltM0sTtKsRlLOuBgEcfrXlMFr9r/ZnPz7fKumk6Z6NXP8AwOuHi+I8MauFWaB0cYHzDg45+lAH1UGO7HFOpiLgDnNPpCCiiigAooooAKKKKACiiigAooooAKKKKACnU2nUxhRRRQAUUUUAFFFFABRRRQAUUUUAFFFFABRRRQAUUUUAFB6UUHpQA2iiikIKKKKACiiigAooooAKKKKACiiigAooooAK+O/ivZi0+JesRA5zKH6Y+8oP9a+xK+Wvjvatb/EQykKPOt1cbfy5/KmgLH7P9w0Pje5hAB821IJPbBzX0y2MenFfJfwZuVt/idpu9sCRXT6krwK+tHHHXmhjPi7x9j/hO9Zx/wA/LV6N+zf/AMjPrP8A15r/AOhivOfH/wDyPesf9fLV6N+zf/yM+s/9ea/+hihge1+Pv+RE1j/r3aviyT71fanj7/kRdY/692r4rfrQgPrD4G/8kvsv+u0v/oVdj4ouxYeFdVumIHlWsjDPTO04/XFcd8Df+SX2X/XaX/0KtL4tXZs/hnrDqyhmjCDPfLAUCPkBmLuzEffYnrX0v+z7aeT4JuJ8/wCtuSR7YFfM3p9K+tvgzafY/hvp+Y1RpSzkjvk8UMZ6BUF3cpaWc1w/3IkLn8Bmp653xvFcXHgjWIrTPntauFx1pAfIPiXVZNb8R3+ozPvaeZmBPpngV7F+zvogzqmuyKcrtt4uPXlv6fnXhDKQx3A5B5HvW9pPjjxFoNj9i0vVbi1t9xby4zxk1QH2sOgpa+N/+FqeN/8AoYbz/vqj/hanjf8A6GK8/wC+qVhH2RRXxv8A8LU8b/8AQxXn/fVH/C1PG/8A0MV5/wB9UWA+xZG2rk9Bya+M/iFq0mueOtVvHfcvnFEP+yvAqVvij41dSreIbwgjBG6uVeUyMzNksxLEn1oGevfs96ObrxRfam4BjtIdgz/eY8fyr6TXG4Y44r4n0PxfrvhtHj0nUZbVJGDOqHhj71798KfirN4rujpOseUl+i5jccGYDrx60MD1w9Oa+dfiX8Ktf1HxDrXiSF7UWRBmwZMNtVeePwr6JDBxxWF4yTHgnWuc/wChyf8AoJoA+Ja+jvh5fXOmfAy9vbWUpPD5jRtjO0j2NfONfSnww0uXW/gpdabAyxy3DSIrPnAJ70MDya4+MHja5gkgl1fckilWHkoMg9e1cPv5yetetXv7P2vWVlPdSapYskMbSEANk4GfSvIyNrFT2OKYHq/gH4meK7vxNo2kS6lmyMiw+X5Sj5BxitP9ou4VvEekW6k5jtWLDPHLcVY8DfBvWbHU9H8QNqFmbddlxs+bdtIzjp1rB+Pl0ZfiIYCoxBaxge+RmkBvfDOFF+DXiiYL87bgT6gLXhz9a+hfAkZT4B6q5j2b0lIYj73vXz0/WmB9BeG7eO4/ZrvhJHv2rMyj3Bry74VXEdr8TNEllyE84rx3JUgfqa9o+Gtu138CJ4EClnS4AB6V4F4UuHsvGekyJjeL2NeegywH9aQH2wuDjmn0xKfSAKKKKBBRRRQAUUUUAFFFFABRRRQAUUUUAFOptOpjCiiigAooooAKKKKACiiigAooooAKKKKACiiigAooooAKD0ooPSgBtFFFIQUUUUAFFFFABRRRQAUUUUAFFFFABRRRQAV86ftD2wTX9LvPLYGSBo9/YgHp+tfRdeG/tFWyyaTpFxk7kldAOxz/APqpgeO+AL06f4+0W4MgiUXaB2PTaTg19oMQyZB68g18LabcNa6na3EahmjmVgD0OCK+5k+a3Rvl5UHj6UMZ8Y+P8/8ACd6zn/n5avRv2b/+Rn1n/rzX/wBDFec+P/8Ake9Y/wCvlq9G/Zv/AORn1n/rzX/0MUMD2vx9/wAiLrH/AF7tXxY/UV9p+Pv+RE1j/r3avix+ooQH1h8Dj/xa+y/67S/+hVnfH/UBbeBIrZWXdcXKgqepUAn/AArQ+B//ACS+x/67S/8AoVcV+0be/Lo1mrjnfIy/kBR1A8FBycD6Yr7S8BWqWfgbRogGU/ZkYhjzkivjK0iaS7hXBO6RR+tfcmlwC20yzgBz5cSrn8KGBeJ4qN0WRCjqGRhgg9xTbu4W0s5rlgSsSFyB1OBmvJ3/AGhPDKMyGx1AEHB+Vf8AGkBS8Sfs/WuoalNdaPqQso5W3GCRNyr64xWF/wAM36j/ANB+1/79NXVf8ND+F/8Anx1D/vlf8aP+Gh/C/wDz46h/3yv+NPUDlf8Ahm7Uf+g/a/8AfpqP+GbtR/6D9r/36auq/wCGh/C//PjqH/fK/wCNH/DQ/hf/AJ8dQ/75X/GjUDlf+GbtR/6D9r/36aj/AIZu1H/oP2v/AH6auq/4aH8L/wDPjqH/AHyv+NH/AA0P4X/58dQ/75X/ABo1A5U/s4X46+ILX/v01Q3H7O2qxQs0GuWksvZCjLn8a68/tC+GG/5cdQ/75X/GvS9I1GHXNGtdRt1ZYrqISqG6gH1oA+M/EvhrU/CmrPp+qQhJQMqVOVYeoPcVf+Hc8kXxC0MxtgtdIp9wTyK9C/aJAGu6TwM/Zzk/jXnPw/8A+SgaF/1+R/zoA+0lXb7e1YvjP/kSta/685f/AEE1u1h+M/8AkSta/wCvOX/0E0hHxFX1P8CR/wAW6j5/5bvXyxX1R8Clz8Oosn/lu9NjO914Y8Oalj/n2k7f7Jr4cf8A1jfWvuLxAyJ4c1Is6qotnyWOB0r4dfl2PbNCA+3PCw/4pTSCBz9jix/3yK+Wfi5cC5+JusbXL+XIIz7EDGK+p/C3/Ip6R1/484v/AEEV8g+Obpr3xzrVywAaS7cnH1oQHu/hWN4v2eJVdSpNvKfwzXzVJ96vqiygkt/gIqSD5jpxb8DyK+VnHNAH1N8HUEnwfRCSAxnGRXzRIEsdeO4sY4bjk45wG5/Gvp74IBW+F1mrDIM0vH4182eLbc2vi3VYWTbtuX+X8aAPtPTpVm0+2kT7rxIw/FQatVjeFbl7vwrpU8oUSPaxlgvTO0CtmkIKKKKACiiigAooooAKKKKACiiigAooooAKdTadTGFFFFABRRRQAUUUUAFFFFABRRRQAUUUUAFFFFABRRRQAUHpRQelADaKKKQgooooAKKKKACiiigAooooAKKKKACiiigArzX40aBqGveC1h02ze6uI7hXKRrltvtXpIIPeloA+Ml+HXjIEE+G9S4OeIDX1voPmHw3p3nRSQyi1jDRSDDIdoyD9K1j0qNxwcmmM+LvH3HjvWP+vlq9G/Zv/wCRn1n/AK81/wDQxXnPj/8A5HvWP+vhq9G/Zw/5GbWf+vNf/QxQB7Z4+/5EXWP+vdq+K3619p+PiP8AhBdYBI/492718WP1oQH1f8Dv+SXWP/XaX/0KuF+N/hnxHr3iu2fTdKvLu1jtgA0URYBs89K7v4HDHwvsf+usv/oVejYoA+YfAPwi8R3fiCyu9WsXsbKCQSv5wwzY5wBX03GCvy4wB0HoKkozSAo6z/yBL4d/s7/+gmvh25ilNxJiJ+XP8J9a+72UMpVgCCMEHvWd/Yel5z/Ztr/36WmB8OeRL/zyf/vk0eRL/wA8n/75Nfcv9iaVn/kG2v8A36Wk/sTSs/8AINtf+/S0XA+G/Il/55P/AN8mjyJf+eT/APfJr7k/sTSv+gda/wDfpaX+xNK/6B1r/wB+louB8NeRN/zyf/vk0eRN/wA8n/75Nfcv9iaVj/kHWv8A36WmNoelnpptr1/55Ci4HxjovhjWNevYrWwsJ5GkYAMEIA9ya+yvDeltonhzTtMZ97WtusZYdCQKvQ28dvGEihjjVegRQAKmAOKAPnX9oz/kO6T/ANcG/nXm/wAP/wDkoGhf9fkf869F/aJmjfxBpiLIjOkJ3KDyvPevOvh//wAlA0L/AK/I/wCdAH2rWH4z/wCRK1r/AK85f/QTW5WH4z/5ErWv+vOX/wBBNIR8RV9L/Cx2j+C19IkjKypOQ4PQ4PSvmivov4NajZat8PdR8OJOkd6Q6hHPUMOCBTGeGT+JdauoXgn1a8kicFXVpSQw96y442mlWNBlmIAr2T/hnfWyT/xNLXHbg11XhD4EWukX0V/rN6LuSFgyQoMJkdM+vai4HqHh2GSDwxpkLqRIlrGpyOh2ivHLr9naW6u5bhteAMrlyDFzyc17xHwgp1IDi/EGmf2P8KbvTfM8z7LYeVvxjdgYzXx6459sda+3/Eumy6x4fvtOhZUkuYTGGboM14lpn7PN79uibU9Uh+zKcuIl+ZuelNAd78E4pIvhjYB0ILSyMMjqM8Gud8R/Al9f1+71M62IRcSF9nlZxXrum2EGmWEFlaxCK3hQJGg/hA7VczQBjeGNEbw94d0/SXn+0fZIRF5pGN2M8/rWzRRSEFFFFABRRRQAUUUUAFFFFABRRRQAUUUUAFOptOpjCiiigAooooAKKKKACiiigAooooAKKKKACiiigAooooAKD0ooPSgBtFFFIQUUUUAFFFFABRRRQAUUUUAFFFFABQenFFFAHk/x4ubiz8E2skE8sT/agC0bFTjHtXzd/burf9BK7/7/ADf419geNfBlp440iPTry6mt445BIGjAyT+NcD/wznoP/QXvv++Vp3GfPv8Aburf9BO7/wC/zf404a9q/fU7v6mZv8a+gP8AhnPQf+gvff8AfK0f8M56D/0F77/vlaLgfOEsrzStJI5d2OSxOSantL24st7W08sLMMMY3K5HocV9Ef8ADOeg/wDQYvv++Fo/4Zz0H/oL33/fC0XA+fJdX1KVCj39y6MMFWlJB/WqY7kZz619H/8ADOeg/wDQYvv++Fo/4Zz0H/oL33/fK0XA+e4tVv7WIR297cRIP4EkKgU7+3dW/wCgld/9/m/xr6C/4Zz0H/oL33/fK0f8M56D/wBBe+/75Wi4Hz7/AG7q3/QSu/8Av83+Ndb8MtX1G4+I2ixTX9zJG0/zI0pIPynrXqjfs66CoLHV77j/AGFrofB/wg0PwlrC6nFLPd3CD900wAEee4A70XA9HooopCCoZs+S5HUA/gKmqGRCysobGQQfagZ8XeIdb1VPEWoquo3YAuHAHnH1rN/t7V/+gnd/9/m/xr6Jvf2fdEvr2a7k1a9DzOXICrwTUH/DOeg/9Be+/wC+Vp3A+ff7e1f/AKCd3/3+b/Gj+3NW/wCgld/9/m/xr6C/4Zz0H/oL33/fK0f8M56D/wBBe+/75Wi4Hz7/AG7q3/QTu/8Av83+NKNc1Y8f2nd/9/m/xr6B/wCGc9B/6C99/wB8rR/wznoP/QYvv++FouB853FxNdyGWeWSWQ9WkbJ/Ouo+GWnXGo/EPR0gTd5U4lf2VeTXso/Z10BGBbVr4jPTavNd/wCEvBOieDrcw6Xa4kb/AFk78u340XA6YVh+NP8AkSda/wCvOT/0E1u1T1XT49V0m70+V2SO5iaJmXqARikI+EqtRS3FoyywySwvjKspKnH1r6PtP2e/DcF0kk+oXtxGp+aI4UN+IroPEfwm8OeIbG1tRAbI2qeXFLb8Nt9D607jPlc67q3/AEErv/v83+NJ/burf9BO7/7/ADf419B/8M56D/0F77/vlaT/AIZz0H/oL33/AHytFwPn3+3dW/6CV3/3+b/Gj+3dW/6Cd3/3+b/GvoL/AIZz0H/oL33/AHytH/DOeg/9Be+/75Wi4Hz7/burf9BO7/7/ADf40f27q3/QSu/+/wA3+NfQX/DOeg/9Be+/75Wj/hnPQf8AoL33/fK0XA+ff7d1f/oJ3f8A3+b/ABrp/h6Nd8Q+N9Ms4dQuiqzLLKTK2AinJz9cYr1z/hnXQV5/te+/BVruvBvgHRvBkMo06Jmll+/NLyx/wFFwOpXgjrzT6KKQgooooAKKKKACiiigAooooAKKKKACiiigAp1Np1MYUUUUAFFFFABRRRQAUUUUAFFFFABRRRQAUUUUAFFFFABQelFIelACUVDLMkEbySOFRF3Mx4AFeVeLfjnpOizS2ekRf2lcqP8AWBsRA+me/wCFIR63RXytqHxx8ZX0hENzbWcZ5xFGCR+JqkPjB444/wCJxg4xjy1/OnYD62zR1r5Y0r45+MbGSP7TPb3sSnDJLGFJH+8K9c8F/GDRvFLpbXTjTr88CKRso/8AutRYD0uimoSVyaGJHA/OkA6ivH/iB8Y5/CHiRtIstOju2jjDSvLIVwT0AxXKr+0Xq5K50KzGev79v8KdgPoqiuH8DeP08U+DpdevYo7EQSvHMC+UG0A5BPsRXm/if4/XZuJIPDlrGsSPtFzPyW9wvpRYD6Aor5XPxy8cKxBurM4IwPsw5/Wu+8GfHWDUrqOx8RQJayPhUuoj8jH0I7UWA9qwDRVWW9it7c3EsqrCq7y5PAHc5rxnxd8e47aWW08N2yzlePtcp+T8B3pAe4UV8rf8Lz8cEr/pdoNxx/x7Lx+tdV4X+P8AdeZDB4jso2jY4e5t+CPcr6U7Ae/0VT0/ULbVLOK7s50mglXKOpyDVwUgCimOSOlcZ4v+JeieEYv9JmM91kgWsJG/8ewoA7bOKK+Z9X+PviW8mZNNt7WxiLEKWXe2O2c96wB8YPHOVP8Aa/P3ceWtOwH1v1or5PtvjR43tZQx1KKYZxskhBzXf+F/j7Dc3C23iOzFsCQBcQEsufcdqLDPcaKrWl5De28dzbyrLBKNyOvIIqzSEFFcz438UHwl4audWWHz2iICxk4BJ9favGx+0XrHH/EhsuuP9e3+FOwH0VRXzr/w0ZrGP+QDZ5z/AM92/wAKU/tF6wM/8SGy4OP9e3+FFgPomivnY/tF6vkj+wbLI/6bt/hR/wANF6vkg6DZ8Ln/AF7f4UWA+iaK4T4ZfEB/HmmXU09tHbXFtIFaONiRgjjk13THApAKfpRVHUdTtdKsZby+uI4LeMZeRzgAV4z4n/aAjt5Wh8O2PnhWwbi4OFI/2QKBnulFfLEnx18bGVylxZqu7hfs4PH51d034+eKLaYtfRWl5GMfKE8v8sU7CPpqivO/Bnxb0TxUUtZpBY6gcDyJTw5/2W7/AEr0AMT3pDJKKK85+J3xIufAj2MdrYRXT3OSfMkKhQPpQI9Gor51/wCGjNYAJOg2fB/57t/hXovw0+JM/juPUFubBLSW0IOY33Kyn3PenYD0WivHfG/xth0O+l0zQ4Y726i4kndv3aH0Hqa86Pxy8b72/wBLsgMFsfZgce3WiwH1PRXzx4b/AGgdRjnSLxDZxTxN1lt8Iy/UV7ro2t2OvabDf6fcLPbSrlWHb2NAzSooopCCiiq0lytsheeRUQDLMTgAeuaALNFeR+Kvjvo2jSva6TC2pXCkgv8AdjH4964Sb9oTxI0rGKwso0P3U5bH407DPpeivBNB/aIMl1HFrekrFEThprdt2Pcqa9i0LxJp3iXTUvtKu0nhbqRwyn0I7GkBs0VCXbH3uTXmHib436R4Z1250h7C7upLdgHkiZduce5oCx6rRXI+CPHNp440ya9tbee2WF9jLMR1x6iua8a/GnSPDcps9PUajeAkOEbCRn3P+FAHqeaK+aJP2hvEhuvMTTrJYcj91kn9a6jw9+0NZ3dwsOt6abQO2BLC29V9zmnYD2+nVUsr631C1jubWZJ4ZBlZEOQRVugAooooAKKKKACiiigAooooAKKKKACiiigAooooAKKKKACkY4UmlpkzmOB3VSxVSQo70AeCfG74gSCc+GdLmeNoiDeSKcbs/wAH+NeFY6AD/ard8UxajJ4m1G4vrS4W4adpGEinJBPHasPY/C7GyTkD+lMByRvLII0jLvLyoUZJ68CrV1pWoWsazXWnXVvHIcbpYWUD8SK+n/hf4B0zw/4btbya2SXUrlBLJLIuSueijPSu9urC0voGgureOaJuqOoIpXEfCwyRuA6/LTld1KspIaPCrg8/Wuv+Jnhq38MeN7yztIytpJhoRu+6D2rjhkdB9z5fx55pjPq34R+LZfE3hAJdPuvLJhDK394dj+Veg5z1r58/Z3uJP7X1iyYDyxCrn1znFfQfQcUmB8m/GNc/EzUFA5IU5/CuCC7yBxl/fpXe/GTn4l6go67VOc+1cEPmO0A/PyOelMDoB4nuY/BCeHIGMcMt48823v8AKoH4cVgMTyeD/Dx/Ot3wl4XvPGGuw6ZaDb5gO9zyIlGMk17snwB8LrYLHJd6g1ztwZhKAM+u3HSgD5rOUbJGdnH1pclcAcheRzW94v8AC9z4O8Rz6Tdt5piAZJF4EinkH+lYAG0gEE7eTQB3mrfEnVdV8B2fhySV1aPieXPMqD7qk1wuS2Mfx8nnpV7TNMu9Y1G20ywjMl3cyARrn19f8a970j9n7Q4rMHWLy8uLplBYQsEVG9uORQI+dcF+cD5zjHpRyy7jj+51rufiT8PH8DalEsNwbmxux+5dhhlI7GuGxyWxx92gZ7R8BvFF1Dqtx4fmm3WzoXhVj0cdcfhX0OhygJr5A+Ft0bP4kaNIUyPNMZz6kEV9ehiB0wO9JgcZ8TfGyeDPDTzIQb64BS3X37n8K+S7u7uL+6luLqVpZ5iZGdjkk9a9c+Pr6jc+J7RHtZvsMEWUcKSrMevbg14/5MhJUI4P3sEEcflQgEUFmI7P159KvJo2rTxCaPTb14WGPNWBiuPXOK9T+B/gWx167ute1O3Wa3t32QRP90v3J7ECvohbeGKERRxIsYGAoAAAp3A+FpMocMuGX5CPSm5K477TjHrXuvx98K2FraWWv2dp5czyeRP5YwpXHBPvnj8a8KI2nkH5OvvQB7V8CvGNxb6yfDF7KZLedC1tuOdjjnaPbGa+iM8V8XeBrmSy8daHIgG5byNTn0ZgD+hNfaNJgeb/ABqO74a3oKjmROfxr5W27zkEAOcfSvuXUdLstWsZbK/t0ntpRh43GQa5r/hVfgf/AKF2z/I/40JiPj4DI3DGfu4/rTtpXnAOz5Tz+tfXbfC/wSCR/wAI5Z8ex49+teB/FS48Lwa8mmeGNNt4I7TK3E8ORvf0zntTuM8+KkHsdvP1pVU5xwNvz5P4UYI6j7nJrR0DQr3xDrVrpNim64mcYJ+6Bxkn2pge5fs7Ws8Wm6zcPGRFLKgRvUgHI/CvabmaO3t3mmkWOKNSzOx4AHc1jeFPD1p4V0C20m0A2RD527s/8RNcV8cPEkuleDV063cCfUnMRx1CD73H6VIjx34mfEG48Ya062skkWkxExRRhuJMfxke9cISe/8Au0Nzzj73y4GetaHh/SJtd8Q2WmQ5V7iQREg5x6n8qYypFBNICY4Xfyhj5Fzz74qPY0ZKlCGi5O7g/jX2hoXhXR/DujQ2FjZRBIlwWZQzOe5J71wXxj8EWGoeGZdasrRI76y+cmMBd6d8jHNFxHzWrOjq6OVYfOpBwR3r6P8Ag78Q5dctxoWpv5l5bpuimJ/1ieh9xXzcV+XGD/ez7VreHNZm8P8AiCy1O2ZkeKUOcf3c8j8qBn24K8A/aK5vdG6co4r3PTNQj1PTLa+h/wBXPGrr+Irwv9orJvNG46xv370hHhxOBnbyvBFdZ4d8VzeGvCWtWlmwW8vXWMuD8yx45IrlCQACR04x71La28tzcw20UTSTO4VUB5Yk4xTAiG4PyckfPnOc03GflH8XzZ9ODxX0N4Z+Aekf2RFJ4hmunv3G9kgk2rH/ALPQ5rzz4nfDRvBN5BLZTST6bdE+W7/ejIH3Se/HegZ56AWOCAN3J9q9c+BHieax8RSaHIxNteoWjXP3ZF54+oryP7xO0Eb+nfFdP8O7oWnxB0W4Z/LU3ATdnAGeKAPsdCSOcY7U+mJTicAmpAU9OOtfOvxr+IFxc3z+GdOkMcELf6VIrcu3936CvafGOvr4c8J6lqbZzDF8uOMseB+pr4vurqa7upbiZ2aSVi7MxyST700BZ0vSb7WtSh0/TreS5upT8iIP88V6rpn7PutXVh5l/qMFpORkRbd+PqRXdfBLwbHofhwaxdIPt2ogMp7pF2A9PWvWNoxii4Hxt4u+HuueDHDahEJLZjhLiL5kJ9D6GmeBvGV74N16K9t3Jt3IWeEn5XU9ePUV9eazpFnrek3OnX0Qkt50KMG7eh+tfFviHR5/D/iC/wBKuAA9tK0f4ZyP0waAPtbT72DUtPgvLZg0MyB0Yehr5D+J3HxJ1rH/AD8E17X8AdefUPCU+mSsS1jLhNzZO1uf0rxP4nnHxI1vH/Pc/wAhQBe0fxrNoHw/u9H0+Qpe3s5LyL1RMdPxrB0LwxrHiq+NvpVpJcyg/vG/hX3ZqpaFpVzr2tWmmWwJluJAg4ztHr+FfZPhPwtYeE9Dg02xiUBFHmSY+aRu5J70AeAT/ADxLFZtLHd2ks6rnygSMn0BrzLUtNvdHv5LK+ge3uYjh0cdK+52XjjvXiXx/wDDEEmj2/iC3gCzxOIp3HG5T0J/Gi4HOfAvxvPp+sr4cvZ82V1kwBj9yT0H1r6VHQV8LaBePY+INPukJDRTo+RjPB96+5LaUT2sMyggSIGAPbIzQBLRRRQAUUUUAFFFFABRRRQAUUUUAFFFFABRRRQAUUUUAFIwyuDS0jHCk0AV3tLdyxkhjckYJZAaxb7QPDKbbq807T0EbbhJIirg+ua5v4kfFK08ExiztkS51WRciMniJezN/hXzXrnirWvEUpn1O/nnJbcF3YRR6AdPwosB9TX/AMTfCOmZR9YgdlGNkWWI4rnbr49+FYghgju5txx/q8Yr5l6gkNjP3ckdPzq3baXqWo7msbC7uFz8vkwlsflnFOwHRfEXxXbeMfE7anaW8kMXliIBzyT61yB456hRtP61YurG706UxXttPbSEZCTIUOfXBwarsME88DhvrzQB7L+zrx4k1cH732Zc/wDfVfRJIxmvnb9nX/kZNXBPzfZl/wDQq+iTj/8AXSYHyb8ZPm+JWoL3wpH5VwQ+Y45+Y/Lmu9+MYz8S9QC8NhenpiuC+8Rg9/lpoD3D9nO0jlvtavDndEkcaj65z/KvfyoAzXhP7OHXxARnb+5/P5q94bG3mkxHzt+0Rbxx69pF2CfMe2aNh2wCSP5mvFsEcMOhyfpXuH7RewajohJ/5ZPkfjxXiByAC2c/xfSmhnpnwLsEu/iLHPJg/ZoXkUEdyMAivqMxg9a+aP2fgp8bXeSQ/wBlO0eor6apMR4x+0KgHhbTMDLG8IB/4DXzn1O4DgjHTvX0d+0N/wAirpmwnd9sOPrtr5xB44J29h700M7T4U263fxK0eNycLIzZ9wCa+vAuV9K+Sfg9g/E/SOWzl85/wB019bbgo4B9aTAjnjidcSxq6/7YB/nVCbQtHuNzz6bavx8zNGOlV/FnibT/CmiS6nqMhVE4VF+87dgK+ZPF/xQ8QeKLtgt1JZWY/1dtC235f8AaI60WA+i38TeD/CVqLVb/T7OFTxDCRjPU8DvWBefHHwdBlY57idsfL5cRwT9a+WyzOc7iSeVJNTWtndXcuy0t5p3P3UiTcc/QU7AerfE34q6Z4w8OJplja3CMJQzM/AGK8i6EbsnHX3rRvNF1awgE99pt7bwE4LzW7IN34is/JGNx4/ioA2fCQ/4rPQ15yt/ESfUb1r7Yr4n8JE/8JpofXP2+In3+da+2KTEFMZ8dqfWL4k16z8O6FdapeSBY4VOF7s3YD3pAcb8WvHieFdEaytHB1S9QrGB/wAs17sa+W2OSWYsefm925rU8SeILzxNrlxql45LytwAOFHYYrLABGS3Qc+5qhgqszKArMwOCAOTX058GvAA8N6KNXv0/wCJnerkZHMUZ6L9e5rzj4OfD6TXtTXXdQQjT7V/kBOPMkHT8BX0yigKABwBSbAaQFAFfN3x/v3n8YWlgrfLBbjCg9ySa+k2UN+FfKfxtLf8LOvgCd3lRbfb5aEI87J9jyMD616X8DbBLv4hRTOSfs8LMMjqeleaZweCQP4e3PFeq/AQsPHcgDHabdsjoCaYH05tFZniG1S58OalCwJEls6nAyfumtSo5/8Aj3k/3T/KpA+FZY9jOgzlWJ/CmHJXgH5jke1WL7d9vueTu818j2yarEkDg/7vtVDPrX4Qamup/DjTsMS1uDCxPqteeftFcXejYzjy3H610f7P90ZfBNzAB8sVyxBx1yM1zn7RRxe6N1HyP/Ol1EeHZG3POBwR7133wc0uPU/iNp6TKWS1V52yOAQOP1xXAkjb7Y5+tep/AIZ8fShm+b7K+R+NMD6bCBuSea8v+PNtC3w83MpLx3KMmOxOQf0NeooMLXmfx4GfhzJyQftEePzpAfLh+bI/vdM1p+HD/wAVZo5OQDewD/x9azGIZsITz9ytLw2R/wAJZo/Xb9ugx9d61Qz7dX2pWG4EUClJwM1AjyD9oLUPsvgu0sVb5rq6G7j+FQSf1xXzlplm19qlraqpYyyquPqa9x/aOuSsWgWwAKuZpOfUbR/WvI/BEAufG+jQlwge6T5j2pjPsrTrFLPTbS2ThYolQDHoKu0ijCgegpaQhCK8f8ffBmXxb4nl1ez1KK285VEiOhOWAxnj2Ar2Gmlc0DPPPhn8OJPAQu3mvlupbnA+RSAoFfPXxRz/AMLH1rP/AD3/AKV9jlRuz6V8cfFD/ko+tf8AXc/ypoDrP2f9LS78ZXF9Im4WkBKH0Y8V9Nx8ivnf9nT/AJC2rf8AXJf519EoMdDxQwHEZrgfjHZG7+GmpqrAFNsnPsc131cb8VOfhvrH/XGkI+PI2MUyuhIZTkY6j0r7m0B2k8OaW7ElmtIiSe52CvhcZyM9zX3P4d/5FnSf+vOH/wBAFMZpUUUUAFFFFABRRRQAUUUUAFFFFABRRRQAUUUUAFFFFABVHWdRTSdGvNQk5W3iaQj1xV6uS+J//JNde5x/o3X/AIEKAPkjWtWudZ1i61C9kZ5p5CzljnAzwP5VnhmwOcHp+FOOT94dcbuOgpp3bcnGeg+lMD6A+EPwx0+TS4vEWsRLdPOv+j28i/Ki56kdya9rgtYbVdsEUcS9wihc/lWN4Kmgn8G6O8DKyfZkGVPGQMGtuWeOKJ5JG2oiliT0AFID5j+O7A+PQA4O2BfwNeYFjnJbg/e+vNdL4+15fEfjTUdQiOYWk2xk9wvArmSecZGG5b60wPZf2dj/AMVJq5blvsy/+hV9EkDP4V8y/AXV4rDxrNazYDXsGxSTjBU5r6aBDDNJgfJvxk4+Jeo4+8An5Yrgc/N8p5B+Su++MmR8StQI+9hfyxXBfxArglSNuO9MD3j9m/r4g2n5f3P5/NXvLY2814N+zfjd4gAOR+4P/oVe8tjbzSYHz9+0WF/tHRPm4MTgj8eK8P3Hblj14b6V7h+0Wi/2jomSApjcfka8Q3Fl+YgE8H2FNAesfs/AHxvdMzfMLU4GO2a+ma+Zv2fhu8b3TEgFbUgDuea+maTEeN/tDnHhXTCp+YXhx/3zXziOOAeMZ/4FX0d+0P8AL4W0wj7wuzgf8Br5xBwMZGD83446U0M7r4PHPxQ0jnqXz/3ya+tOAOD3r5K+D3/JUNI5GSXJx/umvrRjtViOcc4pMR8vfGnxNNq/jSTT1lb7HYARiMHgt1JPvXmmc5w3I6D2rY8VzNP4t1aZxtd7uTcp7DdWQp6ng4+XHqDTGegfCrwGvjPXZGunZdOtMNIF4LnPC5r6e03RNK0aER6fYW9ug/55oAfzryj9nieEaFq9uHQzLchtoPO3HWvZSQQNp4z+dJiPKvj3Mq+Ao0LBd9yoAz94gGvmYkcAnr96vbP2gvEENxeadoMbBntszzEHhWIwoPvjNeKMdxAOBu6+1NDNjwkx/wCE00Q55+3w5/77WvtjPNfDuiXw0/X9OvX24huY3bPoGB/pX21aXMV3aRXETB45UDqynIII7UmImeVUBZuFHU9gPWvlv4vePT4q1r7BYyf8S2zYrGf+esmeT+FenfG3xjP4e0BdIsTi61FWVnB5SPvj3NfM5POVPTle5NNAJnk84Ht610Hg/wAL3Xi7X7bS7YHbId07gcIozkn8K58cDGRgcj61saJ4m1bw8Zm0u7Ns04AlZO+M4HtQM+xtH0i10XSLbTbKPbBboFXjr7n3rSRgV/xr5Etvit4ztpFca1Ixxhg6ggCu00H9oHUodses6fFcqSR5kJKuB6+hpWA+iGYL1r5Z+Ods8PxGmnzzNBG0fHoMGvoPwz4t0bxhZm50q6Ehjx5kTDDJ9RXln7QmhuY9M1yPnyybd+Dx3GaAPBQctgHjqv1r1L4DTiLx60ZdV8y3bj+8RXlp4bb1xyOOp4rqPh3rA0Tx3pV28gSMy7JGzjaG4NMD7HDg+tQX862+n3MzAlY4mYgewqRHBwc5yM8VyvxI1220LwNqM08u15ojDEB1LMMcVIj5Eu5N11cPkgtIxwR/CTVfcQOD0+7j0oyTlifm5Bz6etPjjkmlSGJd8jMFjUfxZNUM+nPgXaC3+HqylAGmuHbevcdq5H9oo4vNGwf4HNev+C9FbQvB+l6cRteKBd/1I5ryH9ori80YcZCOR+dLqB4fkAcn5T1+tep/AHJ8fSlj832R8/nXlZAxgkYPJ+teqfAHJ8fyseptXz+dNgfTi4xxXmXx4H/FuZCDjFxH/OvTV6V5l8eM/wDCuZCCOLiPg9+alCPl1uCQp6fcrS8NkHxXo3Py/bocfXetZrZU/KQdv3SO9aXhvnxXoy5GPt0J/wDH1qhn26KRxuUg0uQBQSMGpA8N/aLtc6Po10IifLnePzD2yM4/T9K8R8NXCW3ibTZ5GIRLhCSO3NfTPxp0ZtW+HN0yKzS2ci3Che+PlP6MTXylHI0UiSKcMpDKfpTA+8YnDRIRnlQakrnPBWuRa/4Q0zUY5N5khCt/vAYOfxFdHSEITiqt1qVnZBjdXMMIUZJdwOPWrB6nJr4/+JniOXXfiBqc6yyG3ik+zxLnACpx/PNMZ9b2mo2moJ5tncxTIDgmNg3NfIPxQ/5KPrX/AF3Neo/s7WVzs1a/eSQwErEEJO0nrmvLfieQfiPrWP8Anuf5CgD0D9nT/kL6t/1yX+dfRS9K+df2dP8AkL6t/wBcl/nX0SoAHFDAdXG/FU4+G2sH/pl/Wuyrjvip/wAk21n/AK4/1pCPjk/fH1r7n8O/8izpP/XnD/6AK+GT98fWvubw7/yLOk/9ecP/AKAKYzSooooAKKKKACiiigAooooAKKKKACiiigAooooAKKKKACsLxppT634M1bTo2Iea3YLgZ5HOP0rdpG+6cUAfCEsbxyvE67GB2sOm3BqPJ4JA/u8+le6fFL4RXbXsut+HYDMJzm4tRywbuy+v0rxG5tZ7N9lzbSQuPlKyIVP60wO68E/FrV/BVg2ni3ivrBWJSKRipUn0YZ4/CrPjP4w614sspNPjiTTrFgPMSNyzv7FuOPbFecADgAZK8Dnrmuk8OeCde8S3sNtYafKIwSTPIpVAPUk0Ac0VI+XGTjdQFJJUAfN8x/zmvp7Sfgvotj4Xn0+5HnX9ymHusfcPYqK8B8S+ENW8La1Jpl9auzE7o5EQkOvONtFwMaxu5rK7iurdzHOjh0ZTjBHSvsjwZrM3iDwjp+p3ELwzTR/OjDHI4J/HGfxryL4cfB15Wj1nxNDhGw8Nnnk+7f4V7xHGsUIjRVVV4VQMAegFJgfKXxlBX4l6g3faox7YrgejAgZ2Hj3r0f40WF2nxHvJ/s0pjkRdrBCQ3HrXnn2a4Ugi2l+Q9Nh5pge6fs4cN4gGc/6g/wDoVe8tyOuK8N/Z1srq3t9bnmt5I4ZWiCSMuAxGcgfTI/Ovcm+71xSYHz7+0ZGP7R0TpgxP+hrxEtuUcAA8dele5ftD2k817o0kcMjxiN1LKpIDZ6V4ibeZhxbSjdx9w8U0B6p+z8pbxvdPwAtqVNfTNfNfwCtLkeM7qdreVIltipYqQM/X1r6UpMR43+0ONvhXTGxnF4SB6/LXziOOPbdk/TpX0l+0Ba3E3hKwkhheVYrvc+0E7Rt6n0r5y+y3C5U20uR83KGmhnafB7/kqGkHj5i5Pt8pr61xjrzXyh8H7W4X4maXIbeQIN7MxQ4UbT3r6v5IPekwPkH4l6RcaR4/1RJIyBPMZUJHBVjnI59a5DkZ4HHy/UV9X/Ez4eJ4001ZbZhDqUC/u3Pde618x6z4f1bQLl4tS0+e3ZOMup2nPQg9KaAt+FfFmo+DtWF/pjoWVdjow+WVT1Br0TVP2gdYubNodP0q2tLgrzMZd+PoMCvGwQDkfwfrWhpmi6lq1wsGn6fPcufmAjQkH8aAILq5nvriSe5kM1xMfMeRzlifrmoSpIJK4Dct7V9BfD34LjTyupeJo4ppGG6KzzlYz/tev0rjfir8NbrQL+bVNMgL6VcvuIQZMLehA7UXA8uJJwdo+fj+VfR3wJ8T32qaLcaNdozx2OPKnOcFSfu59RXlvw/+Gl/41vlnkja20uNwJZWyGb2X1r6d0Lw7p/h3TUsNMtVhgTpjqfcmhiPAv2gbmQeMrOMktGlmCEPTkkGvIyNpK44Tp719A/GTwHrfiPxJYX2lWRug8P2dsEARnJ5PtzVXQP2fIwqya9qRZgQTFb/qCTRfQZ4QB1UY/vf/AFqTHOOMPz9OtfXen/C3wfpqqI9IilAGP3x3E/nWgPAfhNl50CwyT/zypcyA+NVBJBwMPwfagH2+9wQO3Tpz1r641P4VeDdR3B9Iji3d4CUxj6V594g/Z+QrJN4f1DaSuPIuBkE+xp3EYv7PTt/wmGopuIT7JyM9Tu617r4u8PQeKfDV3pUwUGVcxMedkg+634GvMPg34A17wz4jv73VLZIIxD5K853nOcj2r2lsheFzSYz4h1fS7nRtTuNOu4wtxauVcY6ke/cVRABbDDg/Mf8ACvqz4i/DG08Z2y3NuUttThGElxw49G/xr5t8QeE9Z8N3clrqNhLEVO4SBSUYeoPSmB2/hn4363oenw2F5axX8MQ2xs7lXVQMAZ7jiuY8ZePdY8cTRnUWjjt4yRHbxZCr79eTXKEhj2G7n6cmnxo1xIqRxtJI/wAoVBk/lQA052bsAD7v/wBevS/g94Jm1/xImp3EJ/s/T33biOHcdB70zwV8Jdb8S3UMuoW8lhpmBveThnH+yK+ltF0az0DSodO06BYreIABR39z6mhsDSAGOgFeAftFn/TNH7/I5/WvoCvBP2iLeaS40eVIJHjCuC6qSAfSkgPCivGD0PPXpXqfwB58fStwCbR+PxrzD7LPgj7PL8w3fcPFeqfAO0uB44nuWt5UhW1YMxUgKSeOabA+llGBivM/jwD/AMK5cgZxcR/zr01fu8dK83+OFpc3fw8mFtA8xjmR3CDOFz1xUiPldvkJxj5envWn4cH/ABVejDsL6E59fnWqJtp16W8p8vr8h5rX8K6be3Xi7SIoLOd3W8ichUPQOCT+hqhn2hNJHDA8sjhERSWY9APWvK774+eGLPUZLWO2vZ0jbb50artPqeTn9K77xVaT6j4T1W0tRunmtnSMZxkkcV8WXVjd2F09ncwSRzo20xspBzSQH2paXmmeLvDpmtpVuLG8hKEj0IwQfQ818geL/DN14W8SXWl3K4CMWiI6Mh6Gvoz4KaJf6L4HH29Hia5mM0cLH7qEDBx2zWj8Rfhza+N9KyuyHU4R+5mPf2PtQB4n8J/iUPB95JpupSSNpFwchhz5D+v09a+kLbxToV3aLcw6taNEwyG80V8e+I/CWs+Fr6S11GzkTYeJVUlGHrmsVJWAChiB6A4oA+jPih8XLKx06bSfD9ytxfTqUe4ib5Yh3wf71fO0MU91cokSs8srYAHJJNS2Vhd6hKIbK2mndjgLGhY5r6D+F3wgk0OeLXNeVWvQAYLfqIuOrepoA774feGU8LeDrGwAPnFfNmz13nrXy/8AE/8A5KPrf/Xc/wAhX2Ki7MKWya+SPijo+pH4i6w62FyyPNuVliYggj1FCA7L9nQZ1bVj/wBMl/nX0SvTivAf2etMvba+1eae1miQoqgyIVyfxr39RihgLXG/FT/km2s/9cf6iuyrkPifFJN8O9YSKN5HMPCoCSefSkI+OCcuPrX3N4d/5FnSf+vOH/0AV8TjRtTeVVXTrolmAH7lv8K+2tCjeHw9pkUilXS0iVlPUEIMimM0KKKKACiiigAooooAKKKKACiiigAooooAKKKKACiiigAoPSig9KAGnpWdeaNpuoMGu9NtZ2A4MsKv/OtGikIxl8MaDGysui2CsOhFsvB/KtGG3SBNkSKiAcBVwPyxViigBB0qvc20E7K00EchX7pZAxH+FWaKAIHkWFS8h2qo6k8VFDdQXQ3QyI+PQ067t1uonhf7rjBriL7T7vQrkSQO3lZ4cdPoa4sTiJ0Xe10dFClGppfU7SS1t5x+/gilx03qGpn9mWB/5cbbPr5a1g2PisY2XabSejqODXS2t1BdLvidWz3Bq6OKpVV7rJq0J0n7yFtoUtx5cUSRxjsi7Rn6VM/3TxmlByaWuoyKj28dwNk8KyLn7rrkfr3ph0qwIP8AoFt/36Wr1FAFWC2htQUhhSMHqEXGatUUUCK88ayIUZA6kcqy5BqH+yrEgf6Dbe/7oVeooGVIbK3t2LQW0URPdECk1aUALgDHtS0UCGt9PxqvcWNrfRmK7t454v7kqBgfzq1RQMxW8LaDjjQ9Pz3xbJ/hV600+0sk22lpDAo7RoF/kKuUUCGbSR0qKaBJkMckYdD/AAEAg/UGrFFAyCC3jgRUjiSNF6Ki4AqeiigRXmuI4ELSOFUdSTWBd+KbWEH7OjTN7dKn1jRp9SnRln2xqOUxnNUl8IJg7rlhz2Fedip4hvlpqyOylGilebKM3im9k3eWsSAjA781CPEWogrmUcDGMda2V8JW2MNM5Pr0qvceFEjUyR3DZ9COCa82pRxurbOuFXCtWsU4vE99HjzFSQDrxzXTaPqY1K1Z9uxg2CK4F4zE7RscFfvY9a6vwiv+jTOT/Hill2KrSq+zm7jxmHpxpc8TqF6UtNXpTq+jWx44jdKrXNlBeRGK4giliPVJUDD8jVqimBzEvgLwtPMZZdBsi54OIwB7cCren+FNC0khrDSLOBgchliGfzrcooGRAfMFAwBxUtFFAgqtcWsNwCssKSKecOoIqzRQBQOlWA/5cbY/9shUkVrDb7lgt44gcZ8tAP5VbooGNQYWmyqHUqyhlYYIPepKKBFAaVYDP+g23r/qRUkVja2774bWGN/7yRgVbooGRlcqABwKoTaLp11crcTWFrLMOkkkSlh+OK06UdaAIljKnhcAccVIQcU6imBXuLK1u4TFc28U0bdVdQwP51hTfD7wnPKZZNBsi5OSRHj+VdLRQBQsdE0vTQRY2FvbZ6+VGFz+VXsClooAaUBOcU0QRD+AH6jNSUUANCKv3VA+gpcGlooATBpCuQRinUUAVvI5+4v5CrAGFA9PWlooAKKKKACiiigAooooAKKKKACiiigAooooAKKKKACiiigAoPSig9KAG0UUUhBRRRQAUUUUAIevSoLqBLiNo5EDIwwQasUhFJpNWYJ21Rw+qeHJrbfPbZki7p3ArGiuJraTdDIyOp4x/nmvTnGeCOPSsXVNAgvE8yILHN2IHB+teLictknz0XY9OjjU1y1dTHtPFlxFgXMYdfVetdBZ65Z3Yws6q391jgiuJvNOurN2WaM7R/EBkVWVivQ+/BxXHHMcRRfLNXOmWCo1VzRdj1AHJBB4/OpM15rbapfWpHlXL467WORWtb+KrlCBPGrD1Xg16FPNqct1Y4p5fUjtqdnnmlzXPQeKrGTHmF4z7itOLVLOXAS5Qk9ORXdDEU5bSRyyozjui9keopar+YjjKuD75qYMMVupJ9TNodRSZpc07iCijIpM0wFoppNNdht64qeZDsSUh6VXa4ijPzSgfU1Un1uxgBzcKSOw5NZyr047yRUacpbI0s0pNcvP4sgGBFG7c4O7gdKy5/EmoSjEZWIe3Jrjq5lQhs7s6aeCqz6WOze4ihGZZUTP944rFvvFNrAStv8Avn9uB+dcjNcTXLl55GkYf3j0qS0s57yQJAhYjvjj8a8+eZ1Kr5aUTrjgYU1eozQl8SajLMrRsIx2RRnNdhHIX09JJAFJQEj8M1k6T4ditD5s+JJewPRata/dfZdLcg4ZvlFddFVaVKU6ruc1X2c6ihSRxE8nm3EjtxuYk/nXa+HrQ22lpu+8/wAx4xXHWFo97exwgEgkFsdhXo8UYjiVAOFGBXPllFucqptj6toqmiRfuinUCivfPLCiiigAooooAKKKKACiiigAooooAKKKKACiiigApw6U2nDpQAUUUUxhRRRQAUUUUAFFFFABRRRQAUUUUAFFFFABRRRQAUUUUAFFFFABRRRQAUUUUAFFFFABRRRQAUUUUAFB6UUHpQA2iiikIKKKKACiiigAooooAMCk2j0paKAIpokkjKsgYHggiucvvC0MxZ7ZvKPXaehrqD0pu0fWuevhaVZe+jWnWnTd4M81utMu7I7Zomx1BUZFVSc59Twa9SaNGBDKDWVd+HrG5Jbytjn+JeK8Wtkz3ps9SnmfSaODHPb2pMY5A9hXRT+E5wxMEgZeyt1FZc+j39tktbMQO6815ssHXpPVHbHFUanUqpPNEfkldSOmGq2ms6hHlRdMfrziqLxMhxIjKfcU3GMHj16Vn7avT6mjp0ZdjW/4SPUxx56/981Ovim/AAIQn1xWHwONvPXNHr71Sx9fuR9To9jd/wCEqvsZ2pTZPE+oMMKUUnoQKxOpz68UEFsYHtT+vV/5hvB0OkTTbxDqTpgzj3IFQSapfOTuupPwNUxx1IyPTvSiNmOEQkj0FS8VXno2xrD0Yb2HNJI5JZ2J6kk0zqe3zdatw6XfTj5LdvXJFalv4WuZP9e6xg84Bya0hhMRV6ESxFCnpcwDyCxwKsWljdXv+phZh0yRgfnXX2vhuxtsFk81h3bmtiOKONQqIFHoBXoYfJ3vUZxVc0S0po5jT/C53K92Qcfwjp+NdPDaw20YSKNUA7AVKFGOlLgYxivaoYanSVoo8yrXnUd5DCBXH+K7oz3cVnGMlRuPHU9hXZ49KonTLT7Y115CmY9WJ5qcTRlUhyx6hRqqnPmfQoaBpLWFv5ko/fSDJ46e1bijApVAAFLW1GkqceVETm5ycmFFFFakBRRRQAUUUUAFFFFABRRRQAUUUUAFFFFABRRRQAUo60lKOtAC0UUUxhRRRQAUUUUAFFFFABRRRQAUUUUAFFFFABRRRQAUUUUAFFFFABRRRQAUUUUAFFFFABRRRQAUUUUAFFFFACYoxS0UAJijFLRQAmKMUtFACYoxS0UAJijFLRQAmBRgUtFACbRRtFLRSsgE2ikManqKdRQ0nuBA9pA/3olP1FVZNC0+Uktbrk+laNFZuhSe8UWqklszHPhnTCMeW4+jUn/CL6Z/ck/77rZorL6lh/5F9xp9ZrfzMxf+EW0z+5J/33Tl8Maav/LNzxjlq2KKf1LD/wAi+4PrNb+ZmZFoGmwgbbcHAxk81cSzt4/uQoPwqeitI0acfhijOVSct2MEaDoop20UtFaWRA3YKXaKWiiyATAowKWimAmBRtGc0tFACYFGKWigBMUYpaKAExRilooATFGKWigBMUYpaKAExRilooATFGKWigBMUYpaKAExRilooATFGKWigAooooAKKKKACiiigAooooAKKKKACiiigAooooAKKKKACiiigAooooAKKKKACiiigAooooAKKKKAP//Z"/>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sp>
        <p:nvSpPr>
          <p:cNvPr id="5" name="AutoShape 4" descr="data:image/jpeg;base64,/9j/4AAQSkZJRgABAQAAAQABAAD/2wBDAAgGBgcGBQgHBwcJCQgKDBQNDAsLDBkSEw8UHRofHh0aHBwgJC4nICIsIxwcKDcpLDAxNDQ0Hyc5PTgyPC4zNDL/2wBDAQkJCQwLDBgNDRgyIRwhMjIyMjIyMjIyMjIyMjIyMjIyMjIyMjIyMjIyMjIyMjIyMjIyMjIyMjIyMjIyMjIyMjL/wAARCAEsAp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NFB6UAJk0ZNJRSELk0ZNJRQAuTRk0lFAC5NGTSUUALk0ZNJRQAuTRk0lFAC5NJk0UUAZXiC/msPDuoXcHEsNu7ofcCvl//hdXjX/oIj/vgV9PeILOe/8AD2oWNuFM9xA0aBiAMkY7183f8KD8bf8APOy/8CBTGUv+F1eNf+giP++BR/wurxqf+YkOn9wVd/4UH42/552P/gQKo6h8GPGenRsx05JwF3HyJQxx6fWgBR8avGv/AEERx/sCgfGrxqeP7RH/AHwK8/ljeCZ4nUq6kqykcgjqK6Dwh4L1XxrdXNtpCwmW3jEj+bJtGCccUwOg/wCF1eNf+gkP++BR/wALq8a5/wCQkP8AvgVV174TeK/DljLfXlkklvENzyQPvCj1NcSVIbBGDQB6B/wurxr0/tEf98Cj/hdfjX/oIj/vgVX8O/CXxL4q0ePVdLS1NrIzKpkmCng46Vq/8KD8a/8APOx/8CBSApf8Lq8ag/8AIRH/AHwK7z4SfEfxH4o8Ziw1S8Etv9nd9u3HIxXIf8KD8a947H/wIFdv8K/hd4i8IeLxqWqJbC38h48xzBjk47UAe45Ned/F3xVqnhfwvFeaXMIpnmCFiM4Feidq8++K/hHVPGHhuKw0lITKswc+Y+0Y+tAHhZ+NXjXn/iZD/vgUf8Lq8a/9BIf98Crv/Cg/G3Ty7LH/AF8Cj/hQfjXH+rsf/AgUAUv+F1+Nev8AaI/74FH/AAurxr/0ERx/sCrv/Cg/Gv8Azzsf/AgUf8KD8bf887H/AMCBQBS/4XV41/6CI4/2BSf8Lq8anj+0h/3wKvf8KD8bD/lnY/8AgQKP+FB+Nf8AnnY/+BAoApf8Lq8akkf2iOf9gUf8Lq8a541Ef98Crv8AwoPxr/zzsf8AwIFVNT+Cvi7SNMudQu1shb28ZkkInGQBQBbsPjp4wtZN0s0FyrMDtkj7egr37wF4zi8a+H49SSIwyBjHLGTnDD09q+NUUliM4HX619NfAC2lh8ESzyLhZrlih7nHFDA9ZZiFzXgXxZ+KutaZ4jl0TQ7o2q24AlkUDeX64z6Yr3x+EJrwD4r/AAq1fUtfl13Q4HvVuSPOhU5dWx1HtQgMv4efF/X18UW1nrd9Je2N3IIyXALRk8AjHbNe2fEPWbzQvA2palYSeXcwx5R8dDmvFfhz8J9dbxPa3+t2UljaWUiy7ZV+aUg5AA9K9v8AHGhz+JfCOoaRausc1xGFVn6DmgD5u/4XT42/6CQ/74FA+NXjUj/kIj/vgVuj9nnxJ0/tCxx9TWdrnwW1Xw5pFxqeoapYpBCuTgnJOOg9aAIrb43+NYHDm8ilGMbXjBFe0fC/4lnx3b3FvcwCDULVQ0gT7rqeNw9Oa+UA2O2DivoL9n3w1c2tlqOvToyLdKIIAR95QclvzwKAPWvFGqXGkeGdQ1G22+dbwl03DK5r50Px98YkkbrIf9sRXv8A47APgbWCRn/Rmr4uc4bjvQgPsb4aeJb/AMWeC7fVtQMf2iSR1by1wMA+ldhmvOPgb/yTCz/67S/zr0ekIXJoyaSigBcmjJpKKAFyaMmkooAXJoyaSigBcmjJpKKAFyaMmkooAXJoyaSigBcmlptOpjCiiigAooooAKKKKACiiigAooooAKKKKACiiigAooooAKD0ooPSgBtFFFIQUUUUAFFFFABRRRQAUUUUAFFFFABRRRQAYpASe1B6GvkXxL478Xad4o1Wzh8QahHFDdyoi+ceFDHH6Uxn1vvO4gjj1oJGMkc9a8T+BfizVteutUtNW1OW7ZEV085izKPb2r2xsAYOenakB8W+PVVfHWsBVCj7S3AHvXo/7OAz4m1kf9OS/wDoYrznx/n/AITvWM/8/LV6N+zf/wAjPrP/AF5r/wChimB7V49AXwLrBXg/Zm6V8XMSCOa+0vH3/Ii6x/17t6/0r4sfqKEB9YfA3/kl9j/11l/9Cr0Zm2jJrzn4G/8AJL7H/rtL/wChV6HO6RxM8hwqjJPoPWgQElhjHB9KAAGHHJr5B1X4j+LG1a9a31++hh859kaTHCjJwBXrXwK1rW9f/tS61bVLm8RNqRrM24KfUUDPaKbsHbinUZpCMTX/ABRpnhixF7q1wLeBpBGrFScsQT0H0rnE+MfglyFGrgsSAAI26mvLP2gvEX23XrXRIpAY7NN8gX/no3Y/Qfzrgvh3oR8R+OdMsdoaMSCSUEcbV5NMZ9lQyrPAkqHKuoYH2NSUiKERVUYCjAFLSEFFFFADWJGMV5p8cNcOl/D2a2Rgst9IIQPVf4q9MPSvm/8AaG1gz+ILDSo5P3dtFvZM9Gb/AOtimhnjcStJIsa5JbCjHvX2n4I0lNC8H6Vp6j5kgVnOP4iMn+dfJvgHSP7b8b6VY4GGmDNnpgc/0r7PRFUqqrgKMAegoYEjYwc1CJUH8aj6t0qevkP4q315B8S9aSK6mRRKMBXIA+UUAfWu4EAqQfxpytlq+KdL8ZeINHlR7LVruLZ0HmEj6EdxX1p4H8QN4l8HadqzrtlmT96Bj74OCRj3FAHQzSiFGkZlVVGSSeAO5NfKfxU+Ic/i7XWtrSQjSbV9sSdPMYdWNfTmvAHw7qZB5+zSfh8pr4gI+cknjPX8aEB1XgHwdc+NPE0FmqsLRCHuZQOFQdvqa+pdU13QPAWlWcV9MLOz/wBRAAhIyBnHHsKyvhd4Ss/DHhG2aFt9zeIs80uOWyMgfSuG/aNuJBp2iWo27DK8nHXOMD+dAHX6x400LxZ4I16PRr37Q0FqTINpG0Hp1r5Nk+90xXrvwut4z8PvGFxg+aYAnXt9K8if71AH0r8NPFGn+Evg7ZajqXmC3+0yJlFzgk11nhj4n6H4t1ltM0sTtKsRlLOuBgEcfrXlMFr9r/ZnPz7fKumk6Z6NXP8AwOuHi+I8MauFWaB0cYHzDg45+lAH1UGO7HFOpiLgDnNPpCCiiigAooooAKKKKACiiigAooooAKKKKACnU2nUxhRRRQAUUUUAFFFFABRRRQAUUUUAFFFFABRRRQAUUUUAFB6UUHpQA2iiikIKKKKACiiigAooooAKKKKACiiigAooooAK+O/ivZi0+JesRA5zKH6Y+8oP9a+xK+Wvjvatb/EQykKPOt1cbfy5/KmgLH7P9w0Pje5hAB821IJPbBzX0y2MenFfJfwZuVt/idpu9sCRXT6krwK+tHHHXmhjPi7x9j/hO9Zx/wA/LV6N+zf/AMjPrP8A15r/AOhivOfH/wDyPesf9fLV6N+zf/yM+s/9ea/+hihge1+Pv+RE1j/r3aviyT71fanj7/kRdY/692r4rfrQgPrD4G/8kvsv+u0v/oVdj4ouxYeFdVumIHlWsjDPTO04/XFcd8Df+SX2X/XaX/0KtL4tXZs/hnrDqyhmjCDPfLAUCPkBmLuzEffYnrX0v+z7aeT4JuJ8/wCtuSR7YFfM3p9K+tvgzafY/hvp+Y1RpSzkjvk8UMZ6BUF3cpaWc1w/3IkLn8Bmp653xvFcXHgjWIrTPntauFx1pAfIPiXVZNb8R3+ozPvaeZmBPpngV7F+zvogzqmuyKcrtt4uPXlv6fnXhDKQx3A5B5HvW9pPjjxFoNj9i0vVbi1t9xby4zxk1QH2sOgpa+N/+FqeN/8AoYbz/vqj/hanjf8A6GK8/wC+qVhH2RRXxv8A8LU8b/8AQxXn/fVH/C1PG/8A0MV5/wB9UWA+xZG2rk9Bya+M/iFq0mueOtVvHfcvnFEP+yvAqVvij41dSreIbwgjBG6uVeUyMzNksxLEn1oGevfs96ObrxRfam4BjtIdgz/eY8fyr6TXG4Y44r4n0PxfrvhtHj0nUZbVJGDOqHhj71798KfirN4rujpOseUl+i5jccGYDrx60MD1w9Oa+dfiX8Ktf1HxDrXiSF7UWRBmwZMNtVeePwr6JDBxxWF4yTHgnWuc/wChyf8AoJoA+Ja+jvh5fXOmfAy9vbWUpPD5jRtjO0j2NfONfSnww0uXW/gpdabAyxy3DSIrPnAJ70MDya4+MHja5gkgl1fckilWHkoMg9e1cPv5yetetXv7P2vWVlPdSapYskMbSEANk4GfSvIyNrFT2OKYHq/gH4meK7vxNo2kS6lmyMiw+X5Sj5BxitP9ou4VvEekW6k5jtWLDPHLcVY8DfBvWbHU9H8QNqFmbddlxs+bdtIzjp1rB+Pl0ZfiIYCoxBaxge+RmkBvfDOFF+DXiiYL87bgT6gLXhz9a+hfAkZT4B6q5j2b0lIYj73vXz0/WmB9BeG7eO4/ZrvhJHv2rMyj3Bry74VXEdr8TNEllyE84rx3JUgfqa9o+Gtu138CJ4EClnS4AB6V4F4UuHsvGekyJjeL2NeegywH9aQH2wuDjmn0xKfSAKKKKBBRRRQAUUUUAFFFFABRRRQAUUUUAFOptOpjCiiigAooooAKKKKACiiigAooooAKKKKACiiigAooooAKD0ooPSgBtFFFIQUUUUAFFFFABRRRQAUUUUAFFFFABRRRQAV86ftD2wTX9LvPLYGSBo9/YgHp+tfRdeG/tFWyyaTpFxk7kldAOxz/APqpgeO+AL06f4+0W4MgiUXaB2PTaTg19oMQyZB68g18LabcNa6na3EahmjmVgD0OCK+5k+a3Rvl5UHj6UMZ8Y+P8/8ACd6zn/n5avRv2b/+Rn1n/rzX/wBDFec+P/8Ake9Y/wCvlq9G/Zv/AORn1n/rzX/0MUMD2vx9/wAiLrH/AF7tXxY/UV9p+Pv+RE1j/r3avix+ooQH1h8Dj/xa+y/67S/+hVnfH/UBbeBIrZWXdcXKgqepUAn/AArQ+B//ACS+x/67S/8AoVcV+0be/Lo1mrjnfIy/kBR1A8FBycD6Yr7S8BWqWfgbRogGU/ZkYhjzkivjK0iaS7hXBO6RR+tfcmlwC20yzgBz5cSrn8KGBeJ4qN0WRCjqGRhgg9xTbu4W0s5rlgSsSFyB1OBmvJ3/AGhPDKMyGx1AEHB+Vf8AGkBS8Sfs/WuoalNdaPqQso5W3GCRNyr64xWF/wAM36j/ANB+1/79NXVf8ND+F/8Anx1D/vlf8aP+Gh/C/wDz46h/3yv+NPUDlf8Ahm7Uf+g/a/8AfpqP+GbtR/6D9r/36auq/wCGh/C//PjqH/fK/wCNH/DQ/hf/AJ8dQ/75X/GjUDlf+GbtR/6D9r/36aj/AIZu1H/oP2v/AH6auq/4aH8L/wDPjqH/AHyv+NH/AA0P4X/58dQ/75X/ABo1A5U/s4X46+ILX/v01Q3H7O2qxQs0GuWksvZCjLn8a68/tC+GG/5cdQ/75X/GvS9I1GHXNGtdRt1ZYrqISqG6gH1oA+M/EvhrU/CmrPp+qQhJQMqVOVYeoPcVf+Hc8kXxC0MxtgtdIp9wTyK9C/aJAGu6TwM/Zzk/jXnPw/8A+SgaF/1+R/zoA+0lXb7e1YvjP/kSta/685f/AEE1u1h+M/8AkSta/wCvOX/0E0hHxFX1P8CR/wAW6j5/5bvXyxX1R8Clz8Oosn/lu9NjO914Y8Oalj/n2k7f7Jr4cf8A1jfWvuLxAyJ4c1Is6qotnyWOB0r4dfl2PbNCA+3PCw/4pTSCBz9jix/3yK+Wfi5cC5+JusbXL+XIIz7EDGK+p/C3/Ip6R1/484v/AEEV8g+Obpr3xzrVywAaS7cnH1oQHu/hWN4v2eJVdSpNvKfwzXzVJ96vqiygkt/gIqSD5jpxb8DyK+VnHNAH1N8HUEnwfRCSAxnGRXzRIEsdeO4sY4bjk45wG5/Gvp74IBW+F1mrDIM0vH4182eLbc2vi3VYWTbtuX+X8aAPtPTpVm0+2kT7rxIw/FQatVjeFbl7vwrpU8oUSPaxlgvTO0CtmkIKKKKACiiigAooooAKKKKACiiigAooooAKdTadTGFFFFABRRRQAUUUUAFFFFABRRRQAUUUUAFFFFABRRRQAUHpRQelADaKKKQgooooAKKKKACiiigAooooAKKKKACiiigArzX40aBqGveC1h02ze6uI7hXKRrltvtXpIIPeloA+Ml+HXjIEE+G9S4OeIDX1voPmHw3p3nRSQyi1jDRSDDIdoyD9K1j0qNxwcmmM+LvH3HjvWP+vlq9G/Zv/wCRn1n/AK81/wDQxXnPj/8A5HvWP+vhq9G/Zw/5GbWf+vNf/QxQB7Z4+/5EXWP+vdq+K3619p+PiP8AhBdYBI/492718WP1oQH1f8Dv+SXWP/XaX/0KuF+N/hnxHr3iu2fTdKvLu1jtgA0URYBs89K7v4HDHwvsf+usv/oVejYoA+YfAPwi8R3fiCyu9WsXsbKCQSv5wwzY5wBX03GCvy4wB0HoKkozSAo6z/yBL4d/s7/+gmvh25ilNxJiJ+XP8J9a+72UMpVgCCMEHvWd/Yel5z/Ztr/36WmB8OeRL/zyf/vk0eRL/wA8n/75Nfcv9iaVn/kG2v8A36Wk/sTSs/8AINtf+/S0XA+G/Il/55P/AN8mjyJf+eT/APfJr7k/sTSv+gda/wDfpaX+xNK/6B1r/wB+louB8NeRN/zyf/vk0eRN/wA8n/75Nfcv9iaVj/kHWv8A36WmNoelnpptr1/55Ci4HxjovhjWNevYrWwsJ5GkYAMEIA9ya+yvDeltonhzTtMZ97WtusZYdCQKvQ28dvGEihjjVegRQAKmAOKAPnX9oz/kO6T/ANcG/nXm/wAP/wDkoGhf9fkf869F/aJmjfxBpiLIjOkJ3KDyvPevOvh//wAlA0L/AK/I/wCdAH2rWH4z/wCRK1r/AK85f/QTW5WH4z/5ErWv+vOX/wBBNIR8RV9L/Cx2j+C19IkjKypOQ4PQ4PSvmivov4NajZat8PdR8OJOkd6Q6hHPUMOCBTGeGT+JdauoXgn1a8kicFXVpSQw96y442mlWNBlmIAr2T/hnfWyT/xNLXHbg11XhD4EWukX0V/rN6LuSFgyQoMJkdM+vai4HqHh2GSDwxpkLqRIlrGpyOh2ivHLr9naW6u5bhteAMrlyDFzyc17xHwgp1IDi/EGmf2P8KbvTfM8z7LYeVvxjdgYzXx6459sda+3/Eumy6x4fvtOhZUkuYTGGboM14lpn7PN79uibU9Uh+zKcuIl+ZuelNAd78E4pIvhjYB0ILSyMMjqM8Gud8R/Al9f1+71M62IRcSF9nlZxXrum2EGmWEFlaxCK3hQJGg/hA7VczQBjeGNEbw94d0/SXn+0fZIRF5pGN2M8/rWzRRSEFFFFABRRRQAUUUUAFFFFABRRRQAUUUUAFOptOpjCiiigAooooAKKKKACiiigAooooAKKKKACiiigAooooAKD0ooPSgBtFFFIQUUUUAFFFFABRRRQAUUUUAFFFFABQenFFFAHk/x4ubiz8E2skE8sT/agC0bFTjHtXzd/burf9BK7/7/ADf419geNfBlp440iPTry6mt445BIGjAyT+NcD/wznoP/QXvv++Vp3GfPv8Aburf9BO7/wC/zf404a9q/fU7v6mZv8a+gP8AhnPQf+gvff8AfK0f8M56D/0F77/vlaLgfOEsrzStJI5d2OSxOSantL24st7W08sLMMMY3K5HocV9Ef8ADOeg/wDQYvv++Fo/4Zz0H/oL33/fC0XA+fJdX1KVCj39y6MMFWlJB/WqY7kZz619H/8ADOeg/wDQYvv++Fo/4Zz0H/oL33/fK0XA+e4tVv7WIR297cRIP4EkKgU7+3dW/wCgld/9/m/xr6C/4Zz0H/oL33/fK0f8M56D/wBBe+/75Wi4Hz7/AG7q3/QSu/8Av83+Ndb8MtX1G4+I2ixTX9zJG0/zI0pIPynrXqjfs66CoLHV77j/AGFrofB/wg0PwlrC6nFLPd3CD900wAEee4A70XA9HooopCCoZs+S5HUA/gKmqGRCysobGQQfagZ8XeIdb1VPEWoquo3YAuHAHnH1rN/t7V/+gnd/9/m/xr6Jvf2fdEvr2a7k1a9DzOXICrwTUH/DOeg/9Be+/wC+Vp3A+ff7e1f/AKCd3/3+b/Gj+3NW/wCgld/9/m/xr6C/4Zz0H/oL33/fK0f8M56D/wBBe+/75Wi4Hz7/AG7q3/QTu/8Av83+NKNc1Y8f2nd/9/m/xr6B/wCGc9B/6C99/wB8rR/wznoP/QYvv++FouB853FxNdyGWeWSWQ9WkbJ/Ouo+GWnXGo/EPR0gTd5U4lf2VeTXso/Z10BGBbVr4jPTavNd/wCEvBOieDrcw6Xa4kb/AFk78u340XA6YVh+NP8AkSda/wCvOT/0E1u1T1XT49V0m70+V2SO5iaJmXqARikI+EqtRS3FoyywySwvjKspKnH1r6PtP2e/DcF0kk+oXtxGp+aI4UN+IroPEfwm8OeIbG1tRAbI2qeXFLb8Nt9D607jPlc67q3/AEErv/v83+NJ/burf9BO7/7/ADf419B/8M56D/0F77/vlaT/AIZz0H/oL33/AHytFwPn3+3dW/6CV3/3+b/Gj+3dW/6Cd3/3+b/GvoL/AIZz0H/oL33/AHytH/DOeg/9Be+/75Wi4Hz7/burf9BO7/7/ADf40f27q3/QSu/+/wA3+NfQX/DOeg/9Be+/75Wj/hnPQf8AoL33/fK0XA+ff7d1f/oJ3f8A3+b/ABrp/h6Nd8Q+N9Ms4dQuiqzLLKTK2AinJz9cYr1z/hnXQV5/te+/BVruvBvgHRvBkMo06Jmll+/NLyx/wFFwOpXgjrzT6KKQgooooAKKKKACiiigAooooAKKKKACiiigAp1Np1MYUUUUAFFFFABRRRQAUUUUAFFFFABRRRQAUUUUAFFFFABQelFIelACUVDLMkEbySOFRF3Mx4AFeVeLfjnpOizS2ekRf2lcqP8AWBsRA+me/wCFIR63RXytqHxx8ZX0hENzbWcZ5xFGCR+JqkPjB444/wCJxg4xjy1/OnYD62zR1r5Y0r45+MbGSP7TPb3sSnDJLGFJH+8K9c8F/GDRvFLpbXTjTr88CKRso/8AutRYD0uimoSVyaGJHA/OkA6ivH/iB8Y5/CHiRtIstOju2jjDSvLIVwT0AxXKr+0Xq5K50KzGev79v8KdgPoqiuH8DeP08U+DpdevYo7EQSvHMC+UG0A5BPsRXm/if4/XZuJIPDlrGsSPtFzPyW9wvpRYD6Aor5XPxy8cKxBurM4IwPsw5/Wu+8GfHWDUrqOx8RQJayPhUuoj8jH0I7UWA9qwDRVWW9it7c3EsqrCq7y5PAHc5rxnxd8e47aWW08N2yzlePtcp+T8B3pAe4UV8rf8Lz8cEr/pdoNxx/x7Lx+tdV4X+P8AdeZDB4jso2jY4e5t+CPcr6U7Ae/0VT0/ULbVLOK7s50mglXKOpyDVwUgCimOSOlcZ4v+JeieEYv9JmM91kgWsJG/8ewoA7bOKK+Z9X+PviW8mZNNt7WxiLEKWXe2O2c96wB8YPHOVP8Aa/P3ceWtOwH1v1or5PtvjR43tZQx1KKYZxskhBzXf+F/j7Dc3C23iOzFsCQBcQEsufcdqLDPcaKrWl5De28dzbyrLBKNyOvIIqzSEFFcz438UHwl4audWWHz2iICxk4BJ9favGx+0XrHH/EhsuuP9e3+FOwH0VRXzr/w0ZrGP+QDZ5z/AM92/wAKU/tF6wM/8SGy4OP9e3+FFgPomivnY/tF6vkj+wbLI/6bt/hR/wANF6vkg6DZ8Ln/AF7f4UWA+iaK4T4ZfEB/HmmXU09tHbXFtIFaONiRgjjk13THApAKfpRVHUdTtdKsZby+uI4LeMZeRzgAV4z4n/aAjt5Wh8O2PnhWwbi4OFI/2QKBnulFfLEnx18bGVylxZqu7hfs4PH51d034+eKLaYtfRWl5GMfKE8v8sU7CPpqivO/Bnxb0TxUUtZpBY6gcDyJTw5/2W7/AEr0AMT3pDJKKK85+J3xIufAj2MdrYRXT3OSfMkKhQPpQI9Gor51/wCGjNYAJOg2fB/57t/hXovw0+JM/juPUFubBLSW0IOY33Kyn3PenYD0WivHfG/xth0O+l0zQ4Y726i4kndv3aH0Hqa86Pxy8b72/wBLsgMFsfZgce3WiwH1PRXzx4b/AGgdRjnSLxDZxTxN1lt8Iy/UV7ro2t2OvabDf6fcLPbSrlWHb2NAzSooopCCiiq0lytsheeRUQDLMTgAeuaALNFeR+Kvjvo2jSva6TC2pXCkgv8AdjH4964Sb9oTxI0rGKwso0P3U5bH407DPpeivBNB/aIMl1HFrekrFEThprdt2Pcqa9i0LxJp3iXTUvtKu0nhbqRwyn0I7GkBs0VCXbH3uTXmHib436R4Z1250h7C7upLdgHkiZduce5oCx6rRXI+CPHNp440ya9tbee2WF9jLMR1x6iua8a/GnSPDcps9PUajeAkOEbCRn3P+FAHqeaK+aJP2hvEhuvMTTrJYcj91kn9a6jw9+0NZ3dwsOt6abQO2BLC29V9zmnYD2+nVUsr631C1jubWZJ4ZBlZEOQRVugAooooAKKKKACiiigAooooAKKKKACiiigAooooAKKKKACkY4UmlpkzmOB3VSxVSQo70AeCfG74gSCc+GdLmeNoiDeSKcbs/wAH+NeFY6AD/ard8UxajJ4m1G4vrS4W4adpGEinJBPHasPY/C7GyTkD+lMByRvLII0jLvLyoUZJ68CrV1pWoWsazXWnXVvHIcbpYWUD8SK+n/hf4B0zw/4btbya2SXUrlBLJLIuSueijPSu9urC0voGgureOaJuqOoIpXEfCwyRuA6/LTld1KspIaPCrg8/Wuv+Jnhq38MeN7yztIytpJhoRu+6D2rjhkdB9z5fx55pjPq34R+LZfE3hAJdPuvLJhDK394dj+Veg5z1r58/Z3uJP7X1iyYDyxCrn1znFfQfQcUmB8m/GNc/EzUFA5IU5/CuCC7yBxl/fpXe/GTn4l6go67VOc+1cEPmO0A/PyOelMDoB4nuY/BCeHIGMcMt48823v8AKoH4cVgMTyeD/Dx/Ot3wl4XvPGGuw6ZaDb5gO9zyIlGMk17snwB8LrYLHJd6g1ztwZhKAM+u3HSgD5rOUbJGdnH1pclcAcheRzW94v8AC9z4O8Rz6Tdt5piAZJF4EinkH+lYAG0gEE7eTQB3mrfEnVdV8B2fhySV1aPieXPMqD7qk1wuS2Mfx8nnpV7TNMu9Y1G20ywjMl3cyARrn19f8a970j9n7Q4rMHWLy8uLplBYQsEVG9uORQI+dcF+cD5zjHpRyy7jj+51rufiT8PH8DalEsNwbmxux+5dhhlI7GuGxyWxx92gZ7R8BvFF1Dqtx4fmm3WzoXhVj0cdcfhX0OhygJr5A+Ft0bP4kaNIUyPNMZz6kEV9ehiB0wO9JgcZ8TfGyeDPDTzIQb64BS3X37n8K+S7u7uL+6luLqVpZ5iZGdjkk9a9c+Pr6jc+J7RHtZvsMEWUcKSrMevbg14/5MhJUI4P3sEEcflQgEUFmI7P159KvJo2rTxCaPTb14WGPNWBiuPXOK9T+B/gWx167ute1O3Wa3t32QRP90v3J7ECvohbeGKERRxIsYGAoAAAp3A+FpMocMuGX5CPSm5K477TjHrXuvx98K2FraWWv2dp5czyeRP5YwpXHBPvnj8a8KI2nkH5OvvQB7V8CvGNxb6yfDF7KZLedC1tuOdjjnaPbGa+iM8V8XeBrmSy8daHIgG5byNTn0ZgD+hNfaNJgeb/ABqO74a3oKjmROfxr5W27zkEAOcfSvuXUdLstWsZbK/t0ntpRh43GQa5r/hVfgf/AKF2z/I/40JiPj4DI3DGfu4/rTtpXnAOz5Tz+tfXbfC/wSCR/wAI5Z8ex49+teB/FS48Lwa8mmeGNNt4I7TK3E8ORvf0zntTuM8+KkHsdvP1pVU5xwNvz5P4UYI6j7nJrR0DQr3xDrVrpNim64mcYJ+6Bxkn2pge5fs7Ws8Wm6zcPGRFLKgRvUgHI/CvabmaO3t3mmkWOKNSzOx4AHc1jeFPD1p4V0C20m0A2RD527s/8RNcV8cPEkuleDV063cCfUnMRx1CD73H6VIjx34mfEG48Ya062skkWkxExRRhuJMfxke9cISe/8Au0Nzzj73y4GetaHh/SJtd8Q2WmQ5V7iQREg5x6n8qYypFBNICY4Xfyhj5Fzz74qPY0ZKlCGi5O7g/jX2hoXhXR/DujQ2FjZRBIlwWZQzOe5J71wXxj8EWGoeGZdasrRI76y+cmMBd6d8jHNFxHzWrOjq6OVYfOpBwR3r6P8Ag78Q5dctxoWpv5l5bpuimJ/1ieh9xXzcV+XGD/ez7VreHNZm8P8AiCy1O2ZkeKUOcf3c8j8qBn24K8A/aK5vdG6co4r3PTNQj1PTLa+h/wBXPGrr+Irwv9orJvNG46xv370hHhxOBnbyvBFdZ4d8VzeGvCWtWlmwW8vXWMuD8yx45IrlCQACR04x71La28tzcw20UTSTO4VUB5Yk4xTAiG4PyckfPnOc03GflH8XzZ9ODxX0N4Z+Aekf2RFJ4hmunv3G9kgk2rH/ALPQ5rzz4nfDRvBN5BLZTST6bdE+W7/ejIH3Se/HegZ56AWOCAN3J9q9c+BHieax8RSaHIxNteoWjXP3ZF54+oryP7xO0Eb+nfFdP8O7oWnxB0W4Z/LU3ATdnAGeKAPsdCSOcY7U+mJTicAmpAU9OOtfOvxr+IFxc3z+GdOkMcELf6VIrcu3936CvafGOvr4c8J6lqbZzDF8uOMseB+pr4vurqa7upbiZ2aSVi7MxyST700BZ0vSb7WtSh0/TreS5upT8iIP88V6rpn7PutXVh5l/qMFpORkRbd+PqRXdfBLwbHofhwaxdIPt2ogMp7pF2A9PWvWNoxii4Hxt4u+HuueDHDahEJLZjhLiL5kJ9D6GmeBvGV74N16K9t3Jt3IWeEn5XU9ePUV9eazpFnrek3OnX0Qkt50KMG7eh+tfFviHR5/D/iC/wBKuAA9tK0f4ZyP0waAPtbT72DUtPgvLZg0MyB0Yehr5D+J3HxJ1rH/AD8E17X8AdefUPCU+mSsS1jLhNzZO1uf0rxP4nnHxI1vH/Pc/wAhQBe0fxrNoHw/u9H0+Qpe3s5LyL1RMdPxrB0LwxrHiq+NvpVpJcyg/vG/hX3ZqpaFpVzr2tWmmWwJluJAg4ztHr+FfZPhPwtYeE9Dg02xiUBFHmSY+aRu5J70AeAT/ADxLFZtLHd2ks6rnygSMn0BrzLUtNvdHv5LK+ge3uYjh0cdK+52XjjvXiXx/wDDEEmj2/iC3gCzxOIp3HG5T0J/Gi4HOfAvxvPp+sr4cvZ82V1kwBj9yT0H1r6VHQV8LaBePY+INPukJDRTo+RjPB96+5LaUT2sMyggSIGAPbIzQBLRRRQAUUUUAFFFFABRRRQAUUUUAFFFFABRRRQAUUUUAFIwyuDS0jHCk0AV3tLdyxkhjckYJZAaxb7QPDKbbq807T0EbbhJIirg+ua5v4kfFK08ExiztkS51WRciMniJezN/hXzXrnirWvEUpn1O/nnJbcF3YRR6AdPwosB9TX/AMTfCOmZR9YgdlGNkWWI4rnbr49+FYghgju5txx/q8Yr5l6gkNjP3ckdPzq3baXqWo7msbC7uFz8vkwlsflnFOwHRfEXxXbeMfE7anaW8kMXliIBzyT61yB456hRtP61YurG706UxXttPbSEZCTIUOfXBwarsME88DhvrzQB7L+zrx4k1cH732Zc/wDfVfRJIxmvnb9nX/kZNXBPzfZl/wDQq+iTj/8AXSYHyb8ZPm+JWoL3wpH5VwQ+Y45+Y/Lmu9+MYz8S9QC8NhenpiuC+8Rg9/lpoD3D9nO0jlvtavDndEkcaj65z/KvfyoAzXhP7OHXxARnb+5/P5q94bG3mkxHzt+0Rbxx69pF2CfMe2aNh2wCSP5mvFsEcMOhyfpXuH7RewajohJ/5ZPkfjxXiByAC2c/xfSmhnpnwLsEu/iLHPJg/ZoXkUEdyMAivqMxg9a+aP2fgp8bXeSQ/wBlO0eor6apMR4x+0KgHhbTMDLG8IB/4DXzn1O4DgjHTvX0d+0N/wAirpmwnd9sOPrtr5xB44J29h700M7T4U263fxK0eNycLIzZ9wCa+vAuV9K+Sfg9g/E/SOWzl85/wB019bbgo4B9aTAjnjidcSxq6/7YB/nVCbQtHuNzz6bavx8zNGOlV/FnibT/CmiS6nqMhVE4VF+87dgK+ZPF/xQ8QeKLtgt1JZWY/1dtC235f8AaI60WA+i38TeD/CVqLVb/T7OFTxDCRjPU8DvWBefHHwdBlY57idsfL5cRwT9a+WyzOc7iSeVJNTWtndXcuy0t5p3P3UiTcc/QU7AerfE34q6Z4w8OJplja3CMJQzM/AGK8i6EbsnHX3rRvNF1awgE99pt7bwE4LzW7IN34is/JGNx4/ioA2fCQ/4rPQ15yt/ESfUb1r7Yr4n8JE/8JpofXP2+In3+da+2KTEFMZ8dqfWL4k16z8O6FdapeSBY4VOF7s3YD3pAcb8WvHieFdEaytHB1S9QrGB/wAs17sa+W2OSWYsefm925rU8SeILzxNrlxql45LytwAOFHYYrLABGS3Qc+5qhgqszKArMwOCAOTX058GvAA8N6KNXv0/wCJnerkZHMUZ6L9e5rzj4OfD6TXtTXXdQQjT7V/kBOPMkHT8BX0yigKABwBSbAaQFAFfN3x/v3n8YWlgrfLBbjCg9ySa+k2UN+FfKfxtLf8LOvgCd3lRbfb5aEI87J9jyMD616X8DbBLv4hRTOSfs8LMMjqeleaZweCQP4e3PFeq/AQsPHcgDHabdsjoCaYH05tFZniG1S58OalCwJEls6nAyfumtSo5/8Aj3k/3T/KpA+FZY9jOgzlWJ/CmHJXgH5jke1WL7d9vueTu818j2yarEkDg/7vtVDPrX4Qamup/DjTsMS1uDCxPqteeftFcXejYzjy3H610f7P90ZfBNzAB8sVyxBx1yM1zn7RRxe6N1HyP/Ol1EeHZG3POBwR7133wc0uPU/iNp6TKWS1V52yOAQOP1xXAkjb7Y5+tep/AIZ8fShm+b7K+R+NMD6bCBuSea8v+PNtC3w83MpLx3KMmOxOQf0NeooMLXmfx4GfhzJyQftEePzpAfLh+bI/vdM1p+HD/wAVZo5OQDewD/x9azGIZsITz9ytLw2R/wAJZo/Xb9ugx9d61Qz7dX2pWG4EUClJwM1AjyD9oLUPsvgu0sVb5rq6G7j+FQSf1xXzlplm19qlraqpYyyquPqa9x/aOuSsWgWwAKuZpOfUbR/WvI/BEAufG+jQlwge6T5j2pjPsrTrFLPTbS2ThYolQDHoKu0ijCgegpaQhCK8f8ffBmXxb4nl1ez1KK285VEiOhOWAxnj2Ar2Gmlc0DPPPhn8OJPAQu3mvlupbnA+RSAoFfPXxRz/AMLH1rP/AD3/AKV9jlRuz6V8cfFD/ko+tf8AXc/ypoDrP2f9LS78ZXF9Im4WkBKH0Y8V9Nx8ivnf9nT/AJC2rf8AXJf519EoMdDxQwHEZrgfjHZG7+GmpqrAFNsnPsc131cb8VOfhvrH/XGkI+PI2MUyuhIZTkY6j0r7m0B2k8OaW7ElmtIiSe52CvhcZyM9zX3P4d/5FnSf+vOH/wBAFMZpUUUUAFFFFABRRRQAUUUUAFFFFABRRRQAUUUUAFFFFABVHWdRTSdGvNQk5W3iaQj1xV6uS+J//JNde5x/o3X/AIEKAPkjWtWudZ1i61C9kZ5p5CzljnAzwP5VnhmwOcHp+FOOT94dcbuOgpp3bcnGeg+lMD6A+EPwx0+TS4vEWsRLdPOv+j28i/Ki56kdya9rgtYbVdsEUcS9wihc/lWN4Kmgn8G6O8DKyfZkGVPGQMGtuWeOKJ5JG2oiliT0AFID5j+O7A+PQA4O2BfwNeYFjnJbg/e+vNdL4+15fEfjTUdQiOYWk2xk9wvArmSecZGG5b60wPZf2dj/AMVJq5blvsy/+hV9EkDP4V8y/AXV4rDxrNazYDXsGxSTjBU5r6aBDDNJgfJvxk4+Jeo4+8An5Yrgc/N8p5B+Su++MmR8StQI+9hfyxXBfxArglSNuO9MD3j9m/r4g2n5f3P5/NXvLY2814N+zfjd4gAOR+4P/oVe8tjbzSYHz9+0WF/tHRPm4MTgj8eK8P3Hblj14b6V7h+0Wi/2jomSApjcfka8Q3Fl+YgE8H2FNAesfs/AHxvdMzfMLU4GO2a+ma+Zv2fhu8b3TEgFbUgDuea+maTEeN/tDnHhXTCp+YXhx/3zXziOOAeMZ/4FX0d+0P8AL4W0wj7wuzgf8Br5xBwMZGD83446U0M7r4PHPxQ0jnqXz/3ya+tOAOD3r5K+D3/JUNI5GSXJx/umvrRjtViOcc4pMR8vfGnxNNq/jSTT1lb7HYARiMHgt1JPvXmmc5w3I6D2rY8VzNP4t1aZxtd7uTcp7DdWQp6ng4+XHqDTGegfCrwGvjPXZGunZdOtMNIF4LnPC5r6e03RNK0aER6fYW9ug/55oAfzryj9nieEaFq9uHQzLchtoPO3HWvZSQQNp4z+dJiPKvj3Mq+Ao0LBd9yoAz94gGvmYkcAnr96vbP2gvEENxeadoMbBntszzEHhWIwoPvjNeKMdxAOBu6+1NDNjwkx/wCE00Q55+3w5/77WvtjPNfDuiXw0/X9OvX24huY3bPoGB/pX21aXMV3aRXETB45UDqynIII7UmImeVUBZuFHU9gPWvlv4vePT4q1r7BYyf8S2zYrGf+esmeT+FenfG3xjP4e0BdIsTi61FWVnB5SPvj3NfM5POVPTle5NNAJnk84Ht610Hg/wAL3Xi7X7bS7YHbId07gcIozkn8K58cDGRgcj61saJ4m1bw8Zm0u7Ns04AlZO+M4HtQM+xtH0i10XSLbTbKPbBboFXjr7n3rSRgV/xr5Etvit4ztpFca1Ixxhg6ggCu00H9oHUodses6fFcqSR5kJKuB6+hpWA+iGYL1r5Z+Ods8PxGmnzzNBG0fHoMGvoPwz4t0bxhZm50q6Ehjx5kTDDJ9RXln7QmhuY9M1yPnyybd+Dx3GaAPBQctgHjqv1r1L4DTiLx60ZdV8y3bj+8RXlp4bb1xyOOp4rqPh3rA0Tx3pV28gSMy7JGzjaG4NMD7HDg+tQX862+n3MzAlY4mYgewqRHBwc5yM8VyvxI1220LwNqM08u15ojDEB1LMMcVIj5Eu5N11cPkgtIxwR/CTVfcQOD0+7j0oyTlifm5Bz6etPjjkmlSGJd8jMFjUfxZNUM+nPgXaC3+HqylAGmuHbevcdq5H9oo4vNGwf4HNev+C9FbQvB+l6cRteKBd/1I5ryH9ori80YcZCOR+dLqB4fkAcn5T1+tep/AHJ8fSlj832R8/nXlZAxgkYPJ+teqfAHJ8fyseptXz+dNgfTi4xxXmXx4H/FuZCDjFxH/OvTV6V5l8eM/wDCuZCCOLiPg9+alCPl1uCQp6fcrS8NkHxXo3Py/bocfXetZrZU/KQdv3SO9aXhvnxXoy5GPt0J/wDH1qhn26KRxuUg0uQBQSMGpA8N/aLtc6Po10IifLnePzD2yM4/T9K8R8NXCW3ibTZ5GIRLhCSO3NfTPxp0ZtW+HN0yKzS2ci3Che+PlP6MTXylHI0UiSKcMpDKfpTA+8YnDRIRnlQakrnPBWuRa/4Q0zUY5N5khCt/vAYOfxFdHSEITiqt1qVnZBjdXMMIUZJdwOPWrB6nJr4/+JniOXXfiBqc6yyG3ik+zxLnACpx/PNMZ9b2mo2moJ5tncxTIDgmNg3NfIPxQ/5KPrX/AF3Neo/s7WVzs1a/eSQwErEEJO0nrmvLfieQfiPrWP8Anuf5CgD0D9nT/kL6t/1yX+dfRS9K+df2dP8AkL6t/wBcl/nX0SoAHFDAdXG/FU4+G2sH/pl/Wuyrjvip/wAk21n/AK4/1pCPjk/fH1r7n8O/8izpP/XnD/6AK+GT98fWvubw7/yLOk/9ecP/AKAKYzSooooAKKKKACiiigAooooAKKKKACiiigAooooAKKKKACsLxppT634M1bTo2Iea3YLgZ5HOP0rdpG+6cUAfCEsbxyvE67GB2sOm3BqPJ4JA/u8+le6fFL4RXbXsut+HYDMJzm4tRywbuy+v0rxG5tZ7N9lzbSQuPlKyIVP60wO68E/FrV/BVg2ni3ivrBWJSKRipUn0YZ4/CrPjP4w614sspNPjiTTrFgPMSNyzv7FuOPbFecADgAZK8Dnrmuk8OeCde8S3sNtYafKIwSTPIpVAPUk0Ac0VI+XGTjdQFJJUAfN8x/zmvp7Sfgvotj4Xn0+5HnX9ymHusfcPYqK8B8S+ENW8La1Jpl9auzE7o5EQkOvONtFwMaxu5rK7iurdzHOjh0ZTjBHSvsjwZrM3iDwjp+p3ELwzTR/OjDHI4J/HGfxryL4cfB15Wj1nxNDhGw8Nnnk+7f4V7xHGsUIjRVVV4VQMAegFJgfKXxlBX4l6g3faox7YrgejAgZ2Hj3r0f40WF2nxHvJ/s0pjkRdrBCQ3HrXnn2a4Ugi2l+Q9Nh5pge6fs4cN4gGc/6g/wDoVe8tyOuK8N/Z1srq3t9bnmt5I4ZWiCSMuAxGcgfTI/Ovcm+71xSYHz7+0ZGP7R0TpgxP+hrxEtuUcAA8dele5ftD2k817o0kcMjxiN1LKpIDZ6V4ibeZhxbSjdx9w8U0B6p+z8pbxvdPwAtqVNfTNfNfwCtLkeM7qdreVIltipYqQM/X1r6UpMR43+0ONvhXTGxnF4SB6/LXziOOPbdk/TpX0l+0Ba3E3hKwkhheVYrvc+0E7Rt6n0r5y+y3C5U20uR83KGmhnafB7/kqGkHj5i5Pt8pr61xjrzXyh8H7W4X4maXIbeQIN7MxQ4UbT3r6v5IPekwPkH4l6RcaR4/1RJIyBPMZUJHBVjnI59a5DkZ4HHy/UV9X/Ez4eJ4001ZbZhDqUC/u3Pde618x6z4f1bQLl4tS0+e3ZOMup2nPQg9KaAt+FfFmo+DtWF/pjoWVdjow+WVT1Br0TVP2gdYubNodP0q2tLgrzMZd+PoMCvGwQDkfwfrWhpmi6lq1wsGn6fPcufmAjQkH8aAILq5nvriSe5kM1xMfMeRzlifrmoSpIJK4Dct7V9BfD34LjTyupeJo4ppGG6KzzlYz/tev0rjfir8NbrQL+bVNMgL6VcvuIQZMLehA7UXA8uJJwdo+fj+VfR3wJ8T32qaLcaNdozx2OPKnOcFSfu59RXlvw/+Gl/41vlnkja20uNwJZWyGb2X1r6d0Lw7p/h3TUsNMtVhgTpjqfcmhiPAv2gbmQeMrOMktGlmCEPTkkGvIyNpK44Tp719A/GTwHrfiPxJYX2lWRug8P2dsEARnJ5PtzVXQP2fIwqya9qRZgQTFb/qCTRfQZ4QB1UY/vf/AFqTHOOMPz9OtfXen/C3wfpqqI9IilAGP3x3E/nWgPAfhNl50CwyT/zypcyA+NVBJBwMPwfagH2+9wQO3Tpz1r641P4VeDdR3B9Iji3d4CUxj6V594g/Z+QrJN4f1DaSuPIuBkE+xp3EYv7PTt/wmGopuIT7JyM9Tu617r4u8PQeKfDV3pUwUGVcxMedkg+634GvMPg34A17wz4jv73VLZIIxD5K853nOcj2r2lsheFzSYz4h1fS7nRtTuNOu4wtxauVcY6ke/cVRABbDDg/Mf8ACvqz4i/DG08Z2y3NuUttThGElxw49G/xr5t8QeE9Z8N3clrqNhLEVO4SBSUYeoPSmB2/hn4363oenw2F5axX8MQ2xs7lXVQMAZ7jiuY8ZePdY8cTRnUWjjt4yRHbxZCr79eTXKEhj2G7n6cmnxo1xIqRxtJI/wAoVBk/lQA052bsAD7v/wBevS/g94Jm1/xImp3EJ/s/T33biOHcdB70zwV8Jdb8S3UMuoW8lhpmBveThnH+yK+ltF0az0DSodO06BYreIABR39z6mhsDSAGOgFeAftFn/TNH7/I5/WvoCvBP2iLeaS40eVIJHjCuC6qSAfSkgPCivGD0PPXpXqfwB58fStwCbR+PxrzD7LPgj7PL8w3fcPFeqfAO0uB44nuWt5UhW1YMxUgKSeOabA+llGBivM/jwD/AMK5cgZxcR/zr01fu8dK83+OFpc3fw8mFtA8xjmR3CDOFz1xUiPldvkJxj5envWn4cH/ABVejDsL6E59fnWqJtp16W8p8vr8h5rX8K6be3Xi7SIoLOd3W8ichUPQOCT+hqhn2hNJHDA8sjhERSWY9APWvK774+eGLPUZLWO2vZ0jbb50artPqeTn9K77xVaT6j4T1W0tRunmtnSMZxkkcV8WXVjd2F09ncwSRzo20xspBzSQH2paXmmeLvDpmtpVuLG8hKEj0IwQfQ818geL/DN14W8SXWl3K4CMWiI6Mh6Gvoz4KaJf6L4HH29Hia5mM0cLH7qEDBx2zWj8Rfhza+N9KyuyHU4R+5mPf2PtQB4n8J/iUPB95JpupSSNpFwchhz5D+v09a+kLbxToV3aLcw6taNEwyG80V8e+I/CWs+Fr6S11GzkTYeJVUlGHrmsVJWAChiB6A4oA+jPih8XLKx06bSfD9ytxfTqUe4ib5Yh3wf71fO0MU91cokSs8srYAHJJNS2Vhd6hKIbK2mndjgLGhY5r6D+F3wgk0OeLXNeVWvQAYLfqIuOrepoA774feGU8LeDrGwAPnFfNmz13nrXy/8AE/8A5KPrf/Xc/wAhX2Ki7MKWya+SPijo+pH4i6w62FyyPNuVliYggj1FCA7L9nQZ1bVj/wBMl/nX0SvTivAf2etMvba+1eae1miQoqgyIVyfxr39RihgLXG/FT/km2s/9cf6iuyrkPifFJN8O9YSKN5HMPCoCSefSkI+OCcuPrX3N4d/5FnSf+vOH/0AV8TjRtTeVVXTrolmAH7lv8K+2tCjeHw9pkUilXS0iVlPUEIMimM0KKKKACiiigAooooAKKKKACiiigAooooAKKKKACiiigAoPSig9KAGnpWdeaNpuoMGu9NtZ2A4MsKv/OtGikIxl8MaDGysui2CsOhFsvB/KtGG3SBNkSKiAcBVwPyxViigBB0qvc20E7K00EchX7pZAxH+FWaKAIHkWFS8h2qo6k8VFDdQXQ3QyI+PQ067t1uonhf7rjBriL7T7vQrkSQO3lZ4cdPoa4sTiJ0Xe10dFClGppfU7SS1t5x+/gilx03qGpn9mWB/5cbbPr5a1g2PisY2XabSejqODXS2t1BdLvidWz3Bq6OKpVV7rJq0J0n7yFtoUtx5cUSRxjsi7Rn6VM/3TxmlByaWuoyKj28dwNk8KyLn7rrkfr3ph0qwIP8AoFt/36Wr1FAFWC2htQUhhSMHqEXGatUUUCK88ayIUZA6kcqy5BqH+yrEgf6Dbe/7oVeooGVIbK3t2LQW0URPdECk1aUALgDHtS0UCGt9PxqvcWNrfRmK7t454v7kqBgfzq1RQMxW8LaDjjQ9Pz3xbJ/hV600+0sk22lpDAo7RoF/kKuUUCGbSR0qKaBJkMckYdD/AAEAg/UGrFFAyCC3jgRUjiSNF6Ki4AqeiigRXmuI4ELSOFUdSTWBd+KbWEH7OjTN7dKn1jRp9SnRln2xqOUxnNUl8IJg7rlhz2Fedip4hvlpqyOylGilebKM3im9k3eWsSAjA781CPEWogrmUcDGMda2V8JW2MNM5Pr0qvceFEjUyR3DZ9COCa82pRxurbOuFXCtWsU4vE99HjzFSQDrxzXTaPqY1K1Z9uxg2CK4F4zE7RscFfvY9a6vwiv+jTOT/Hill2KrSq+zm7jxmHpxpc8TqF6UtNXpTq+jWx44jdKrXNlBeRGK4giliPVJUDD8jVqimBzEvgLwtPMZZdBsi54OIwB7cCren+FNC0khrDSLOBgchliGfzrcooGRAfMFAwBxUtFFAgqtcWsNwCssKSKecOoIqzRQBQOlWA/5cbY/9shUkVrDb7lgt44gcZ8tAP5VbooGNQYWmyqHUqyhlYYIPepKKBFAaVYDP+g23r/qRUkVja2774bWGN/7yRgVbooGRlcqABwKoTaLp11crcTWFrLMOkkkSlh+OK06UdaAIljKnhcAccVIQcU6imBXuLK1u4TFc28U0bdVdQwP51hTfD7wnPKZZNBsi5OSRHj+VdLRQBQsdE0vTQRY2FvbZ6+VGFz+VXsClooAaUBOcU0QRD+AH6jNSUUANCKv3VA+gpcGlooATBpCuQRinUUAVvI5+4v5CrAGFA9PWlooAKKKKACiiigAooooAKKKKACiiigAooooAKKKKACiiigAoPSig9KAG0UUUhBRRRQAUUUUAIevSoLqBLiNo5EDIwwQasUhFJpNWYJ21Rw+qeHJrbfPbZki7p3ArGiuJraTdDIyOp4x/nmvTnGeCOPSsXVNAgvE8yILHN2IHB+teLictknz0XY9OjjU1y1dTHtPFlxFgXMYdfVetdBZ65Z3Yws6q391jgiuJvNOurN2WaM7R/EBkVWVivQ+/BxXHHMcRRfLNXOmWCo1VzRdj1AHJBB4/OpM15rbapfWpHlXL467WORWtb+KrlCBPGrD1Xg16FPNqct1Y4p5fUjtqdnnmlzXPQeKrGTHmF4z7itOLVLOXAS5Qk9ORXdDEU5bSRyyozjui9keopar+YjjKuD75qYMMVupJ9TNodRSZpc07iCijIpM0wFoppNNdht64qeZDsSUh6VXa4ijPzSgfU1Un1uxgBzcKSOw5NZyr047yRUacpbI0s0pNcvP4sgGBFG7c4O7gdKy5/EmoSjEZWIe3Jrjq5lQhs7s6aeCqz6WOze4ihGZZUTP944rFvvFNrAStv8Avn9uB+dcjNcTXLl55GkYf3j0qS0s57yQJAhYjvjj8a8+eZ1Kr5aUTrjgYU1eozQl8SajLMrRsIx2RRnNdhHIX09JJAFJQEj8M1k6T4ditD5s+JJewPRata/dfZdLcg4ZvlFddFVaVKU6ruc1X2c6ihSRxE8nm3EjtxuYk/nXa+HrQ22lpu+8/wAx4xXHWFo97exwgEgkFsdhXo8UYjiVAOFGBXPllFucqptj6toqmiRfuinUCivfPLCiiigAooooAKKKKACiiigAooooAKKKKACiiigApw6U2nDpQAUUUUxhRRRQAUUUUAFFFFABRRRQAUUUUAFFFFABRRRQAUUUUAFFFFABRRRQAUUUUAFFFFABRRRQAUUUUAFB6UUHpQA2iiikIKKKKACiiigAooooAMCk2j0paKAIpokkjKsgYHggiucvvC0MxZ7ZvKPXaehrqD0pu0fWuevhaVZe+jWnWnTd4M81utMu7I7Zomx1BUZFVSc59Twa9SaNGBDKDWVd+HrG5Jbytjn+JeK8Wtkz3ps9SnmfSaODHPb2pMY5A9hXRT+E5wxMEgZeyt1FZc+j39tktbMQO6815ssHXpPVHbHFUanUqpPNEfkldSOmGq2ms6hHlRdMfrziqLxMhxIjKfcU3GMHj16Vn7avT6mjp0ZdjW/4SPUxx56/981Ovim/AAIQn1xWHwONvPXNHr71Sx9fuR9To9jd/wCEqvsZ2pTZPE+oMMKUUnoQKxOpz68UEFsYHtT+vV/5hvB0OkTTbxDqTpgzj3IFQSapfOTuupPwNUxx1IyPTvSiNmOEQkj0FS8VXno2xrD0Yb2HNJI5JZ2J6kk0zqe3zdatw6XfTj5LdvXJFalv4WuZP9e6xg84Bya0hhMRV6ESxFCnpcwDyCxwKsWljdXv+phZh0yRgfnXX2vhuxtsFk81h3bmtiOKONQqIFHoBXoYfJ3vUZxVc0S0po5jT/C53K92Qcfwjp+NdPDaw20YSKNUA7AVKFGOlLgYxivaoYanSVoo8yrXnUd5DCBXH+K7oz3cVnGMlRuPHU9hXZ49KonTLT7Y115CmY9WJ5qcTRlUhyx6hRqqnPmfQoaBpLWFv5ko/fSDJ46e1bijApVAAFLW1GkqceVETm5ycmFFFFakBRRRQAUUUUAFFFFABRRRQAUUUUAFFFFABRRRQAUo60lKOtAC0UUUxhRRRQAUUUUAFFFFABRRRQAUUUUAFFFFABRRRQAUUUUAFFFFABRRRQAUUUUAFFFFABRRRQAUUUUAFFFFACYoxS0UAJijFLRQAmKMUtFACYoxS0UAJijFLRQAmBRgUtFACbRRtFLRSsgE2ikManqKdRQ0nuBA9pA/3olP1FVZNC0+Uktbrk+laNFZuhSe8UWqklszHPhnTCMeW4+jUn/CL6Z/ck/77rZorL6lh/5F9xp9ZrfzMxf+EW0z+5J/33Tl8Maav/LNzxjlq2KKf1LD/wAi+4PrNb+ZmZFoGmwgbbcHAxk81cSzt4/uQoPwqeitI0acfhijOVSct2MEaDoop20UtFaWRA3YKXaKWiiyATAowKWimAmBRtGc0tFACYFGKWigBMUYpaKAExRilooATFGKWigBMUYpaKAExRilooATFGKWigBMUYpaKAExRilooATFGKWigAooooAKKKKACiiigAooooAKKKKACiiigAooooAKKKKACiiigAooooAKKKKACiiigAooooAKKKKAP//Z"/>
          <p:cNvSpPr>
            <a:spLocks noChangeAspect="1" noChangeArrowheads="1"/>
          </p:cNvSpPr>
          <p:nvPr/>
        </p:nvSpPr>
        <p:spPr bwMode="auto">
          <a:xfrm>
            <a:off x="230981" y="8632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sp>
        <p:nvSpPr>
          <p:cNvPr id="6" name="AutoShape 6" descr="data:image/jpeg;base64,/9j/4AAQSkZJRgABAQAAAQABAAD/2wBDAAgGBgcGBQgHBwcJCQgKDBQNDAsLDBkSEw8UHRofHh0aHBwgJC4nICIsIxwcKDcpLDAxNDQ0Hyc5PTgyPC4zNDL/2wBDAQkJCQwLDBgNDRgyIRwhMjIyMjIyMjIyMjIyMjIyMjIyMjIyMjIyMjIyMjIyMjIyMjIyMjIyMjIyMjIyMjIyMjL/wAARCAEsAp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NFB6UAJk0ZNJRSELk0ZNJRQAuTRk0lFAC5NGTSUUALk0ZNJRQAuTRk0lFAC5NJk0UUAZXiC/msPDuoXcHEsNu7ofcCvl//hdXjX/oIj/vgV9PeILOe/8AD2oWNuFM9xA0aBiAMkY7183f8KD8bf8APOy/8CBTGUv+F1eNf+giP++BR/wurxqf+YkOn9wVd/4UH42/552P/gQKo6h8GPGenRsx05JwF3HyJQxx6fWgBR8avGv/AEERx/sCgfGrxqeP7RH/AHwK8/ljeCZ4nUq6kqykcgjqK6Dwh4L1XxrdXNtpCwmW3jEj+bJtGCccUwOg/wCF1eNf+gkP++BR/wALq8a5/wCQkP8AvgVV174TeK/DljLfXlkklvENzyQPvCj1NcSVIbBGDQB6B/wurxr0/tEf98Cj/hdfjX/oIj/vgVX8O/CXxL4q0ePVdLS1NrIzKpkmCng46Vq/8KD8a/8APOx/8CBSApf8Lq8ag/8AIRH/AHwK7z4SfEfxH4o8Ziw1S8Etv9nd9u3HIxXIf8KD8a947H/wIFdv8K/hd4i8IeLxqWqJbC38h48xzBjk47UAe45Ned/F3xVqnhfwvFeaXMIpnmCFiM4Feidq8++K/hHVPGHhuKw0lITKswc+Y+0Y+tAHhZ+NXjXn/iZD/vgUf8Lq8a/9BIf98Crv/Cg/G3Ty7LH/AF8Cj/hQfjXH+rsf/AgUAUv+F1+Nev8AaI/74FH/AAurxr/0ERx/sCrv/Cg/Gv8Azzsf/AgUf8KD8bf887H/AMCBQBS/4XV41/6CI4/2BSf8Lq8anj+0h/3wKvf8KD8bD/lnY/8AgQKP+FB+Nf8AnnY/+BAoApf8Lq8akkf2iOf9gUf8Lq8a541Ef98Crv8AwoPxr/zzsf8AwIFVNT+Cvi7SNMudQu1shb28ZkkInGQBQBbsPjp4wtZN0s0FyrMDtkj7egr37wF4zi8a+H49SSIwyBjHLGTnDD09q+NUUliM4HX619NfAC2lh8ESzyLhZrlih7nHFDA9ZZiFzXgXxZ+KutaZ4jl0TQ7o2q24AlkUDeX64z6Yr3x+EJrwD4r/AAq1fUtfl13Q4HvVuSPOhU5dWx1HtQgMv4efF/X18UW1nrd9Je2N3IIyXALRk8AjHbNe2fEPWbzQvA2palYSeXcwx5R8dDmvFfhz8J9dbxPa3+t2UljaWUiy7ZV+aUg5AA9K9v8AHGhz+JfCOoaRausc1xGFVn6DmgD5u/4XT42/6CQ/74FA+NXjUj/kIj/vgVuj9nnxJ0/tCxx9TWdrnwW1Xw5pFxqeoapYpBCuTgnJOOg9aAIrb43+NYHDm8ilGMbXjBFe0fC/4lnx3b3FvcwCDULVQ0gT7rqeNw9Oa+UA2O2DivoL9n3w1c2tlqOvToyLdKIIAR95QclvzwKAPWvFGqXGkeGdQ1G22+dbwl03DK5r50Px98YkkbrIf9sRXv8A47APgbWCRn/Rmr4uc4bjvQgPsb4aeJb/AMWeC7fVtQMf2iSR1by1wMA+ldhmvOPgb/yTCz/67S/zr0ekIXJoyaSigBcmjJpKKAFyaMmkooAXJoyaSigBcmjJpKKAFyaMmkooAXJoyaSigBcmlptOpjCiiigAooooAKKKKACiiigAooooAKKKKACiiigAooooAKD0ooPSgBtFFFIQUUUUAFFFFABRRRQAUUUUAFFFFABRRRQAYpASe1B6GvkXxL478Xad4o1Wzh8QahHFDdyoi+ceFDHH6Uxn1vvO4gjj1oJGMkc9a8T+BfizVteutUtNW1OW7ZEV085izKPb2r2xsAYOenakB8W+PVVfHWsBVCj7S3AHvXo/7OAz4m1kf9OS/wDoYrznx/n/AITvWM/8/LV6N+zf/wAjPrP/AF5r/wChimB7V49AXwLrBXg/Zm6V8XMSCOa+0vH3/Ii6x/17t6/0r4sfqKEB9YfA3/kl9j/11l/9Cr0Zm2jJrzn4G/8AJL7H/rtL/wChV6HO6RxM8hwqjJPoPWgQElhjHB9KAAGHHJr5B1X4j+LG1a9a31++hh859kaTHCjJwBXrXwK1rW9f/tS61bVLm8RNqRrM24KfUUDPaKbsHbinUZpCMTX/ABRpnhixF7q1wLeBpBGrFScsQT0H0rnE+MfglyFGrgsSAAI26mvLP2gvEX23XrXRIpAY7NN8gX/no3Y/Qfzrgvh3oR8R+OdMsdoaMSCSUEcbV5NMZ9lQyrPAkqHKuoYH2NSUiKERVUYCjAFLSEFFFFADWJGMV5p8cNcOl/D2a2Rgst9IIQPVf4q9MPSvm/8AaG1gz+ILDSo5P3dtFvZM9Gb/AOtimhnjcStJIsa5JbCjHvX2n4I0lNC8H6Vp6j5kgVnOP4iMn+dfJvgHSP7b8b6VY4GGmDNnpgc/0r7PRFUqqrgKMAegoYEjYwc1CJUH8aj6t0qevkP4q315B8S9aSK6mRRKMBXIA+UUAfWu4EAqQfxpytlq+KdL8ZeINHlR7LVruLZ0HmEj6EdxX1p4H8QN4l8HadqzrtlmT96Bj74OCRj3FAHQzSiFGkZlVVGSSeAO5NfKfxU+Ic/i7XWtrSQjSbV9sSdPMYdWNfTmvAHw7qZB5+zSfh8pr4gI+cknjPX8aEB1XgHwdc+NPE0FmqsLRCHuZQOFQdvqa+pdU13QPAWlWcV9MLOz/wBRAAhIyBnHHsKyvhd4Ss/DHhG2aFt9zeIs80uOWyMgfSuG/aNuJBp2iWo27DK8nHXOMD+dAHX6x400LxZ4I16PRr37Q0FqTINpG0Hp1r5Nk+90xXrvwut4z8PvGFxg+aYAnXt9K8if71AH0r8NPFGn+Evg7ZajqXmC3+0yJlFzgk11nhj4n6H4t1ltM0sTtKsRlLOuBgEcfrXlMFr9r/ZnPz7fKumk6Z6NXP8AwOuHi+I8MauFWaB0cYHzDg45+lAH1UGO7HFOpiLgDnNPpCCiiigAooooAKKKKACiiigAooooAKKKKACnU2nUxhRRRQAUUUUAFFFFABRRRQAUUUUAFFFFABRRRQAUUUUAFB6UUHpQA2iiikIKKKKACiiigAooooAKKKKACiiigAooooAK+O/ivZi0+JesRA5zKH6Y+8oP9a+xK+Wvjvatb/EQykKPOt1cbfy5/KmgLH7P9w0Pje5hAB821IJPbBzX0y2MenFfJfwZuVt/idpu9sCRXT6krwK+tHHHXmhjPi7x9j/hO9Zx/wA/LV6N+zf/AMjPrP8A15r/AOhivOfH/wDyPesf9fLV6N+zf/yM+s/9ea/+hihge1+Pv+RE1j/r3aviyT71fanj7/kRdY/692r4rfrQgPrD4G/8kvsv+u0v/oVdj4ouxYeFdVumIHlWsjDPTO04/XFcd8Df+SX2X/XaX/0KtL4tXZs/hnrDqyhmjCDPfLAUCPkBmLuzEffYnrX0v+z7aeT4JuJ8/wCtuSR7YFfM3p9K+tvgzafY/hvp+Y1RpSzkjvk8UMZ6BUF3cpaWc1w/3IkLn8Bmp653xvFcXHgjWIrTPntauFx1pAfIPiXVZNb8R3+ozPvaeZmBPpngV7F+zvogzqmuyKcrtt4uPXlv6fnXhDKQx3A5B5HvW9pPjjxFoNj9i0vVbi1t9xby4zxk1QH2sOgpa+N/+FqeN/8AoYbz/vqj/hanjf8A6GK8/wC+qVhH2RRXxv8A8LU8b/8AQxXn/fVH/C1PG/8A0MV5/wB9UWA+xZG2rk9Bya+M/iFq0mueOtVvHfcvnFEP+yvAqVvij41dSreIbwgjBG6uVeUyMzNksxLEn1oGevfs96ObrxRfam4BjtIdgz/eY8fyr6TXG4Y44r4n0PxfrvhtHj0nUZbVJGDOqHhj71798KfirN4rujpOseUl+i5jccGYDrx60MD1w9Oa+dfiX8Ktf1HxDrXiSF7UWRBmwZMNtVeePwr6JDBxxWF4yTHgnWuc/wChyf8AoJoA+Ja+jvh5fXOmfAy9vbWUpPD5jRtjO0j2NfONfSnww0uXW/gpdabAyxy3DSIrPnAJ70MDya4+MHja5gkgl1fckilWHkoMg9e1cPv5yetetXv7P2vWVlPdSapYskMbSEANk4GfSvIyNrFT2OKYHq/gH4meK7vxNo2kS6lmyMiw+X5Sj5BxitP9ou4VvEekW6k5jtWLDPHLcVY8DfBvWbHU9H8QNqFmbddlxs+bdtIzjp1rB+Pl0ZfiIYCoxBaxge+RmkBvfDOFF+DXiiYL87bgT6gLXhz9a+hfAkZT4B6q5j2b0lIYj73vXz0/WmB9BeG7eO4/ZrvhJHv2rMyj3Bry74VXEdr8TNEllyE84rx3JUgfqa9o+Gtu138CJ4EClnS4AB6V4F4UuHsvGekyJjeL2NeegywH9aQH2wuDjmn0xKfSAKKKKBBRRRQAUUUUAFFFFABRRRQAUUUUAFOptOpjCiiigAooooAKKKKACiiigAooooAKKKKACiiigAooooAKD0ooPSgBtFFFIQUUUUAFFFFABRRRQAUUUUAFFFFABRRRQAV86ftD2wTX9LvPLYGSBo9/YgHp+tfRdeG/tFWyyaTpFxk7kldAOxz/APqpgeO+AL06f4+0W4MgiUXaB2PTaTg19oMQyZB68g18LabcNa6na3EahmjmVgD0OCK+5k+a3Rvl5UHj6UMZ8Y+P8/8ACd6zn/n5avRv2b/+Rn1n/rzX/wBDFec+P/8Ake9Y/wCvlq9G/Zv/AORn1n/rzX/0MUMD2vx9/wAiLrH/AF7tXxY/UV9p+Pv+RE1j/r3avix+ooQH1h8Dj/xa+y/67S/+hVnfH/UBbeBIrZWXdcXKgqepUAn/AArQ+B//ACS+x/67S/8AoVcV+0be/Lo1mrjnfIy/kBR1A8FBycD6Yr7S8BWqWfgbRogGU/ZkYhjzkivjK0iaS7hXBO6RR+tfcmlwC20yzgBz5cSrn8KGBeJ4qN0WRCjqGRhgg9xTbu4W0s5rlgSsSFyB1OBmvJ3/AGhPDKMyGx1AEHB+Vf8AGkBS8Sfs/WuoalNdaPqQso5W3GCRNyr64xWF/wAM36j/ANB+1/79NXVf8ND+F/8Anx1D/vlf8aP+Gh/C/wDz46h/3yv+NPUDlf8Ahm7Uf+g/a/8AfpqP+GbtR/6D9r/36auq/wCGh/C//PjqH/fK/wCNH/DQ/hf/AJ8dQ/75X/GjUDlf+GbtR/6D9r/36aj/AIZu1H/oP2v/AH6auq/4aH8L/wDPjqH/AHyv+NH/AA0P4X/58dQ/75X/ABo1A5U/s4X46+ILX/v01Q3H7O2qxQs0GuWksvZCjLn8a68/tC+GG/5cdQ/75X/GvS9I1GHXNGtdRt1ZYrqISqG6gH1oA+M/EvhrU/CmrPp+qQhJQMqVOVYeoPcVf+Hc8kXxC0MxtgtdIp9wTyK9C/aJAGu6TwM/Zzk/jXnPw/8A+SgaF/1+R/zoA+0lXb7e1YvjP/kSta/685f/AEE1u1h+M/8AkSta/wCvOX/0E0hHxFX1P8CR/wAW6j5/5bvXyxX1R8Clz8Oosn/lu9NjO914Y8Oalj/n2k7f7Jr4cf8A1jfWvuLxAyJ4c1Is6qotnyWOB0r4dfl2PbNCA+3PCw/4pTSCBz9jix/3yK+Wfi5cC5+JusbXL+XIIz7EDGK+p/C3/Ip6R1/484v/AEEV8g+Obpr3xzrVywAaS7cnH1oQHu/hWN4v2eJVdSpNvKfwzXzVJ96vqiygkt/gIqSD5jpxb8DyK+VnHNAH1N8HUEnwfRCSAxnGRXzRIEsdeO4sY4bjk45wG5/Gvp74IBW+F1mrDIM0vH4182eLbc2vi3VYWTbtuX+X8aAPtPTpVm0+2kT7rxIw/FQatVjeFbl7vwrpU8oUSPaxlgvTO0CtmkIKKKKACiiigAooooAKKKKACiiigAooooAKdTadTGFFFFABRRRQAUUUUAFFFFABRRRQAUUUUAFFFFABRRRQAUHpRQelADaKKKQgooooAKKKKACiiigAooooAKKKKACiiigArzX40aBqGveC1h02ze6uI7hXKRrltvtXpIIPeloA+Ml+HXjIEE+G9S4OeIDX1voPmHw3p3nRSQyi1jDRSDDIdoyD9K1j0qNxwcmmM+LvH3HjvWP+vlq9G/Zv/wCRn1n/AK81/wDQxXnPj/8A5HvWP+vhq9G/Zw/5GbWf+vNf/QxQB7Z4+/5EXWP+vdq+K3619p+PiP8AhBdYBI/492718WP1oQH1f8Dv+SXWP/XaX/0KuF+N/hnxHr3iu2fTdKvLu1jtgA0URYBs89K7v4HDHwvsf+usv/oVejYoA+YfAPwi8R3fiCyu9WsXsbKCQSv5wwzY5wBX03GCvy4wB0HoKkozSAo6z/yBL4d/s7/+gmvh25ilNxJiJ+XP8J9a+72UMpVgCCMEHvWd/Yel5z/Ztr/36WmB8OeRL/zyf/vk0eRL/wA8n/75Nfcv9iaVn/kG2v8A36Wk/sTSs/8AINtf+/S0XA+G/Il/55P/AN8mjyJf+eT/APfJr7k/sTSv+gda/wDfpaX+xNK/6B1r/wB+louB8NeRN/zyf/vk0eRN/wA8n/75Nfcv9iaVj/kHWv8A36WmNoelnpptr1/55Ci4HxjovhjWNevYrWwsJ5GkYAMEIA9ya+yvDeltonhzTtMZ97WtusZYdCQKvQ28dvGEihjjVegRQAKmAOKAPnX9oz/kO6T/ANcG/nXm/wAP/wDkoGhf9fkf869F/aJmjfxBpiLIjOkJ3KDyvPevOvh//wAlA0L/AK/I/wCdAH2rWH4z/wCRK1r/AK85f/QTW5WH4z/5ErWv+vOX/wBBNIR8RV9L/Cx2j+C19IkjKypOQ4PQ4PSvmivov4NajZat8PdR8OJOkd6Q6hHPUMOCBTGeGT+JdauoXgn1a8kicFXVpSQw96y442mlWNBlmIAr2T/hnfWyT/xNLXHbg11XhD4EWukX0V/rN6LuSFgyQoMJkdM+vai4HqHh2GSDwxpkLqRIlrGpyOh2ivHLr9naW6u5bhteAMrlyDFzyc17xHwgp1IDi/EGmf2P8KbvTfM8z7LYeVvxjdgYzXx6459sda+3/Eumy6x4fvtOhZUkuYTGGboM14lpn7PN79uibU9Uh+zKcuIl+ZuelNAd78E4pIvhjYB0ILSyMMjqM8Gud8R/Al9f1+71M62IRcSF9nlZxXrum2EGmWEFlaxCK3hQJGg/hA7VczQBjeGNEbw94d0/SXn+0fZIRF5pGN2M8/rWzRRSEFFFFABRRRQAUUUUAFFFFABRRRQAUUUUAFOptOpjCiiigAooooAKKKKACiiigAooooAKKKKACiiigAooooAKD0ooPSgBtFFFIQUUUUAFFFFABRRRQAUUUUAFFFFABQenFFFAHk/x4ubiz8E2skE8sT/agC0bFTjHtXzd/burf9BK7/7/ADf419geNfBlp440iPTry6mt445BIGjAyT+NcD/wznoP/QXvv++Vp3GfPv8Aburf9BO7/wC/zf404a9q/fU7v6mZv8a+gP8AhnPQf+gvff8AfK0f8M56D/0F77/vlaLgfOEsrzStJI5d2OSxOSantL24st7W08sLMMMY3K5HocV9Ef8ADOeg/wDQYvv++Fo/4Zz0H/oL33/fC0XA+fJdX1KVCj39y6MMFWlJB/WqY7kZz619H/8ADOeg/wDQYvv++Fo/4Zz0H/oL33/fK0XA+e4tVv7WIR297cRIP4EkKgU7+3dW/wCgld/9/m/xr6C/4Zz0H/oL33/fK0f8M56D/wBBe+/75Wi4Hz7/AG7q3/QSu/8Av83+Ndb8MtX1G4+I2ixTX9zJG0/zI0pIPynrXqjfs66CoLHV77j/AGFrofB/wg0PwlrC6nFLPd3CD900wAEee4A70XA9HooopCCoZs+S5HUA/gKmqGRCysobGQQfagZ8XeIdb1VPEWoquo3YAuHAHnH1rN/t7V/+gnd/9/m/xr6Jvf2fdEvr2a7k1a9DzOXICrwTUH/DOeg/9Be+/wC+Vp3A+ff7e1f/AKCd3/3+b/Gj+3NW/wCgld/9/m/xr6C/4Zz0H/oL33/fK0f8M56D/wBBe+/75Wi4Hz7/AG7q3/QTu/8Av83+NKNc1Y8f2nd/9/m/xr6B/wCGc9B/6C99/wB8rR/wznoP/QYvv++FouB853FxNdyGWeWSWQ9WkbJ/Ouo+GWnXGo/EPR0gTd5U4lf2VeTXso/Z10BGBbVr4jPTavNd/wCEvBOieDrcw6Xa4kb/AFk78u340XA6YVh+NP8AkSda/wCvOT/0E1u1T1XT49V0m70+V2SO5iaJmXqARikI+EqtRS3FoyywySwvjKspKnH1r6PtP2e/DcF0kk+oXtxGp+aI4UN+IroPEfwm8OeIbG1tRAbI2qeXFLb8Nt9D607jPlc67q3/AEErv/v83+NJ/burf9BO7/7/ADf419B/8M56D/0F77/vlaT/AIZz0H/oL33/AHytFwPn3+3dW/6CV3/3+b/Gj+3dW/6Cd3/3+b/GvoL/AIZz0H/oL33/AHytH/DOeg/9Be+/75Wi4Hz7/burf9BO7/7/ADf40f27q3/QSu/+/wA3+NfQX/DOeg/9Be+/75Wj/hnPQf8AoL33/fK0XA+ff7d1f/oJ3f8A3+b/ABrp/h6Nd8Q+N9Ms4dQuiqzLLKTK2AinJz9cYr1z/hnXQV5/te+/BVruvBvgHRvBkMo06Jmll+/NLyx/wFFwOpXgjrzT6KKQgooooAKKKKACiiigAooooAKKKKACiiigAp1Np1MYUUUUAFFFFABRRRQAUUUUAFFFFABRRRQAUUUUAFFFFABQelFIelACUVDLMkEbySOFRF3Mx4AFeVeLfjnpOizS2ekRf2lcqP8AWBsRA+me/wCFIR63RXytqHxx8ZX0hENzbWcZ5xFGCR+JqkPjB444/wCJxg4xjy1/OnYD62zR1r5Y0r45+MbGSP7TPb3sSnDJLGFJH+8K9c8F/GDRvFLpbXTjTr88CKRso/8AutRYD0uimoSVyaGJHA/OkA6ivH/iB8Y5/CHiRtIstOju2jjDSvLIVwT0AxXKr+0Xq5K50KzGev79v8KdgPoqiuH8DeP08U+DpdevYo7EQSvHMC+UG0A5BPsRXm/if4/XZuJIPDlrGsSPtFzPyW9wvpRYD6Aor5XPxy8cKxBurM4IwPsw5/Wu+8GfHWDUrqOx8RQJayPhUuoj8jH0I7UWA9qwDRVWW9it7c3EsqrCq7y5PAHc5rxnxd8e47aWW08N2yzlePtcp+T8B3pAe4UV8rf8Lz8cEr/pdoNxx/x7Lx+tdV4X+P8AdeZDB4jso2jY4e5t+CPcr6U7Ae/0VT0/ULbVLOK7s50mglXKOpyDVwUgCimOSOlcZ4v+JeieEYv9JmM91kgWsJG/8ewoA7bOKK+Z9X+PviW8mZNNt7WxiLEKWXe2O2c96wB8YPHOVP8Aa/P3ceWtOwH1v1or5PtvjR43tZQx1KKYZxskhBzXf+F/j7Dc3C23iOzFsCQBcQEsufcdqLDPcaKrWl5De28dzbyrLBKNyOvIIqzSEFFcz438UHwl4audWWHz2iICxk4BJ9favGx+0XrHH/EhsuuP9e3+FOwH0VRXzr/w0ZrGP+QDZ5z/AM92/wAKU/tF6wM/8SGy4OP9e3+FFgPomivnY/tF6vkj+wbLI/6bt/hR/wANF6vkg6DZ8Ln/AF7f4UWA+iaK4T4ZfEB/HmmXU09tHbXFtIFaONiRgjjk13THApAKfpRVHUdTtdKsZby+uI4LeMZeRzgAV4z4n/aAjt5Wh8O2PnhWwbi4OFI/2QKBnulFfLEnx18bGVylxZqu7hfs4PH51d034+eKLaYtfRWl5GMfKE8v8sU7CPpqivO/Bnxb0TxUUtZpBY6gcDyJTw5/2W7/AEr0AMT3pDJKKK85+J3xIufAj2MdrYRXT3OSfMkKhQPpQI9Gor51/wCGjNYAJOg2fB/57t/hXovw0+JM/juPUFubBLSW0IOY33Kyn3PenYD0WivHfG/xth0O+l0zQ4Y726i4kndv3aH0Hqa86Pxy8b72/wBLsgMFsfZgce3WiwH1PRXzx4b/AGgdRjnSLxDZxTxN1lt8Iy/UV7ro2t2OvabDf6fcLPbSrlWHb2NAzSooopCCiiq0lytsheeRUQDLMTgAeuaALNFeR+Kvjvo2jSva6TC2pXCkgv8AdjH4964Sb9oTxI0rGKwso0P3U5bH407DPpeivBNB/aIMl1HFrekrFEThprdt2Pcqa9i0LxJp3iXTUvtKu0nhbqRwyn0I7GkBs0VCXbH3uTXmHib436R4Z1250h7C7upLdgHkiZduce5oCx6rRXI+CPHNp440ya9tbee2WF9jLMR1x6iua8a/GnSPDcps9PUajeAkOEbCRn3P+FAHqeaK+aJP2hvEhuvMTTrJYcj91kn9a6jw9+0NZ3dwsOt6abQO2BLC29V9zmnYD2+nVUsr631C1jubWZJ4ZBlZEOQRVugAooooAKKKKACiiigAooooAKKKKACiiigAooooAKKKKACkY4UmlpkzmOB3VSxVSQo70AeCfG74gSCc+GdLmeNoiDeSKcbs/wAH+NeFY6AD/ard8UxajJ4m1G4vrS4W4adpGEinJBPHasPY/C7GyTkD+lMByRvLII0jLvLyoUZJ68CrV1pWoWsazXWnXVvHIcbpYWUD8SK+n/hf4B0zw/4btbya2SXUrlBLJLIuSueijPSu9urC0voGgureOaJuqOoIpXEfCwyRuA6/LTld1KspIaPCrg8/Wuv+Jnhq38MeN7yztIytpJhoRu+6D2rjhkdB9z5fx55pjPq34R+LZfE3hAJdPuvLJhDK394dj+Veg5z1r58/Z3uJP7X1iyYDyxCrn1znFfQfQcUmB8m/GNc/EzUFA5IU5/CuCC7yBxl/fpXe/GTn4l6go67VOc+1cEPmO0A/PyOelMDoB4nuY/BCeHIGMcMt48823v8AKoH4cVgMTyeD/Dx/Ot3wl4XvPGGuw6ZaDb5gO9zyIlGMk17snwB8LrYLHJd6g1ztwZhKAM+u3HSgD5rOUbJGdnH1pclcAcheRzW94v8AC9z4O8Rz6Tdt5piAZJF4EinkH+lYAG0gEE7eTQB3mrfEnVdV8B2fhySV1aPieXPMqD7qk1wuS2Mfx8nnpV7TNMu9Y1G20ywjMl3cyARrn19f8a970j9n7Q4rMHWLy8uLplBYQsEVG9uORQI+dcF+cD5zjHpRyy7jj+51rufiT8PH8DalEsNwbmxux+5dhhlI7GuGxyWxx92gZ7R8BvFF1Dqtx4fmm3WzoXhVj0cdcfhX0OhygJr5A+Ft0bP4kaNIUyPNMZz6kEV9ehiB0wO9JgcZ8TfGyeDPDTzIQb64BS3X37n8K+S7u7uL+6luLqVpZ5iZGdjkk9a9c+Pr6jc+J7RHtZvsMEWUcKSrMevbg14/5MhJUI4P3sEEcflQgEUFmI7P159KvJo2rTxCaPTb14WGPNWBiuPXOK9T+B/gWx167ute1O3Wa3t32QRP90v3J7ECvohbeGKERRxIsYGAoAAAp3A+FpMocMuGX5CPSm5K477TjHrXuvx98K2FraWWv2dp5czyeRP5YwpXHBPvnj8a8KI2nkH5OvvQB7V8CvGNxb6yfDF7KZLedC1tuOdjjnaPbGa+iM8V8XeBrmSy8daHIgG5byNTn0ZgD+hNfaNJgeb/ABqO74a3oKjmROfxr5W27zkEAOcfSvuXUdLstWsZbK/t0ntpRh43GQa5r/hVfgf/AKF2z/I/40JiPj4DI3DGfu4/rTtpXnAOz5Tz+tfXbfC/wSCR/wAI5Z8ex49+teB/FS48Lwa8mmeGNNt4I7TK3E8ORvf0zntTuM8+KkHsdvP1pVU5xwNvz5P4UYI6j7nJrR0DQr3xDrVrpNim64mcYJ+6Bxkn2pge5fs7Ws8Wm6zcPGRFLKgRvUgHI/CvabmaO3t3mmkWOKNSzOx4AHc1jeFPD1p4V0C20m0A2RD527s/8RNcV8cPEkuleDV063cCfUnMRx1CD73H6VIjx34mfEG48Ya062skkWkxExRRhuJMfxke9cISe/8Au0Nzzj73y4GetaHh/SJtd8Q2WmQ5V7iQREg5x6n8qYypFBNICY4Xfyhj5Fzz74qPY0ZKlCGi5O7g/jX2hoXhXR/DujQ2FjZRBIlwWZQzOe5J71wXxj8EWGoeGZdasrRI76y+cmMBd6d8jHNFxHzWrOjq6OVYfOpBwR3r6P8Ag78Q5dctxoWpv5l5bpuimJ/1ieh9xXzcV+XGD/ez7VreHNZm8P8AiCy1O2ZkeKUOcf3c8j8qBn24K8A/aK5vdG6co4r3PTNQj1PTLa+h/wBXPGrr+Irwv9orJvNG46xv370hHhxOBnbyvBFdZ4d8VzeGvCWtWlmwW8vXWMuD8yx45IrlCQACR04x71La28tzcw20UTSTO4VUB5Yk4xTAiG4PyckfPnOc03GflH8XzZ9ODxX0N4Z+Aekf2RFJ4hmunv3G9kgk2rH/ALPQ5rzz4nfDRvBN5BLZTST6bdE+W7/ejIH3Se/HegZ56AWOCAN3J9q9c+BHieax8RSaHIxNteoWjXP3ZF54+oryP7xO0Eb+nfFdP8O7oWnxB0W4Z/LU3ATdnAGeKAPsdCSOcY7U+mJTicAmpAU9OOtfOvxr+IFxc3z+GdOkMcELf6VIrcu3936CvafGOvr4c8J6lqbZzDF8uOMseB+pr4vurqa7upbiZ2aSVi7MxyST700BZ0vSb7WtSh0/TreS5upT8iIP88V6rpn7PutXVh5l/qMFpORkRbd+PqRXdfBLwbHofhwaxdIPt2ogMp7pF2A9PWvWNoxii4Hxt4u+HuueDHDahEJLZjhLiL5kJ9D6GmeBvGV74N16K9t3Jt3IWeEn5XU9ePUV9eazpFnrek3OnX0Qkt50KMG7eh+tfFviHR5/D/iC/wBKuAA9tK0f4ZyP0waAPtbT72DUtPgvLZg0MyB0Yehr5D+J3HxJ1rH/AD8E17X8AdefUPCU+mSsS1jLhNzZO1uf0rxP4nnHxI1vH/Pc/wAhQBe0fxrNoHw/u9H0+Qpe3s5LyL1RMdPxrB0LwxrHiq+NvpVpJcyg/vG/hX3ZqpaFpVzr2tWmmWwJluJAg4ztHr+FfZPhPwtYeE9Dg02xiUBFHmSY+aRu5J70AeAT/ADxLFZtLHd2ks6rnygSMn0BrzLUtNvdHv5LK+ge3uYjh0cdK+52XjjvXiXx/wDDEEmj2/iC3gCzxOIp3HG5T0J/Gi4HOfAvxvPp+sr4cvZ82V1kwBj9yT0H1r6VHQV8LaBePY+INPukJDRTo+RjPB96+5LaUT2sMyggSIGAPbIzQBLRRRQAUUUUAFFFFABRRRQAUUUUAFFFFABRRRQAUUUUAFIwyuDS0jHCk0AV3tLdyxkhjckYJZAaxb7QPDKbbq807T0EbbhJIirg+ua5v4kfFK08ExiztkS51WRciMniJezN/hXzXrnirWvEUpn1O/nnJbcF3YRR6AdPwosB9TX/AMTfCOmZR9YgdlGNkWWI4rnbr49+FYghgju5txx/q8Yr5l6gkNjP3ckdPzq3baXqWo7msbC7uFz8vkwlsflnFOwHRfEXxXbeMfE7anaW8kMXliIBzyT61yB456hRtP61YurG706UxXttPbSEZCTIUOfXBwarsME88DhvrzQB7L+zrx4k1cH732Zc/wDfVfRJIxmvnb9nX/kZNXBPzfZl/wDQq+iTj/8AXSYHyb8ZPm+JWoL3wpH5VwQ+Y45+Y/Lmu9+MYz8S9QC8NhenpiuC+8Rg9/lpoD3D9nO0jlvtavDndEkcaj65z/KvfyoAzXhP7OHXxARnb+5/P5q94bG3mkxHzt+0Rbxx69pF2CfMe2aNh2wCSP5mvFsEcMOhyfpXuH7RewajohJ/5ZPkfjxXiByAC2c/xfSmhnpnwLsEu/iLHPJg/ZoXkUEdyMAivqMxg9a+aP2fgp8bXeSQ/wBlO0eor6apMR4x+0KgHhbTMDLG8IB/4DXzn1O4DgjHTvX0d+0N/wAirpmwnd9sOPrtr5xB44J29h700M7T4U263fxK0eNycLIzZ9wCa+vAuV9K+Sfg9g/E/SOWzl85/wB019bbgo4B9aTAjnjidcSxq6/7YB/nVCbQtHuNzz6bavx8zNGOlV/FnibT/CmiS6nqMhVE4VF+87dgK+ZPF/xQ8QeKLtgt1JZWY/1dtC235f8AaI60WA+i38TeD/CVqLVb/T7OFTxDCRjPU8DvWBefHHwdBlY57idsfL5cRwT9a+WyzOc7iSeVJNTWtndXcuy0t5p3P3UiTcc/QU7AerfE34q6Z4w8OJplja3CMJQzM/AGK8i6EbsnHX3rRvNF1awgE99pt7bwE4LzW7IN34is/JGNx4/ioA2fCQ/4rPQ15yt/ESfUb1r7Yr4n8JE/8JpofXP2+In3+da+2KTEFMZ8dqfWL4k16z8O6FdapeSBY4VOF7s3YD3pAcb8WvHieFdEaytHB1S9QrGB/wAs17sa+W2OSWYsefm925rU8SeILzxNrlxql45LytwAOFHYYrLABGS3Qc+5qhgqszKArMwOCAOTX058GvAA8N6KNXv0/wCJnerkZHMUZ6L9e5rzj4OfD6TXtTXXdQQjT7V/kBOPMkHT8BX0yigKABwBSbAaQFAFfN3x/v3n8YWlgrfLBbjCg9ySa+k2UN+FfKfxtLf8LOvgCd3lRbfb5aEI87J9jyMD616X8DbBLv4hRTOSfs8LMMjqeleaZweCQP4e3PFeq/AQsPHcgDHabdsjoCaYH05tFZniG1S58OalCwJEls6nAyfumtSo5/8Aj3k/3T/KpA+FZY9jOgzlWJ/CmHJXgH5jke1WL7d9vueTu818j2yarEkDg/7vtVDPrX4Qamup/DjTsMS1uDCxPqteeftFcXejYzjy3H610f7P90ZfBNzAB8sVyxBx1yM1zn7RRxe6N1HyP/Ol1EeHZG3POBwR7133wc0uPU/iNp6TKWS1V52yOAQOP1xXAkjb7Y5+tep/AIZ8fShm+b7K+R+NMD6bCBuSea8v+PNtC3w83MpLx3KMmOxOQf0NeooMLXmfx4GfhzJyQftEePzpAfLh+bI/vdM1p+HD/wAVZo5OQDewD/x9azGIZsITz9ytLw2R/wAJZo/Xb9ugx9d61Qz7dX2pWG4EUClJwM1AjyD9oLUPsvgu0sVb5rq6G7j+FQSf1xXzlplm19qlraqpYyyquPqa9x/aOuSsWgWwAKuZpOfUbR/WvI/BEAufG+jQlwge6T5j2pjPsrTrFLPTbS2ThYolQDHoKu0ijCgegpaQhCK8f8ffBmXxb4nl1ez1KK285VEiOhOWAxnj2Ar2Gmlc0DPPPhn8OJPAQu3mvlupbnA+RSAoFfPXxRz/AMLH1rP/AD3/AKV9jlRuz6V8cfFD/ko+tf8AXc/ypoDrP2f9LS78ZXF9Im4WkBKH0Y8V9Nx8ivnf9nT/AJC2rf8AXJf519EoMdDxQwHEZrgfjHZG7+GmpqrAFNsnPsc131cb8VOfhvrH/XGkI+PI2MUyuhIZTkY6j0r7m0B2k8OaW7ElmtIiSe52CvhcZyM9zX3P4d/5FnSf+vOH/wBAFMZpUUUUAFFFFABRRRQAUUUUAFFFFABRRRQAUUUUAFFFFABVHWdRTSdGvNQk5W3iaQj1xV6uS+J//JNde5x/o3X/AIEKAPkjWtWudZ1i61C9kZ5p5CzljnAzwP5VnhmwOcHp+FOOT94dcbuOgpp3bcnGeg+lMD6A+EPwx0+TS4vEWsRLdPOv+j28i/Ki56kdya9rgtYbVdsEUcS9wihc/lWN4Kmgn8G6O8DKyfZkGVPGQMGtuWeOKJ5JG2oiliT0AFID5j+O7A+PQA4O2BfwNeYFjnJbg/e+vNdL4+15fEfjTUdQiOYWk2xk9wvArmSecZGG5b60wPZf2dj/AMVJq5blvsy/+hV9EkDP4V8y/AXV4rDxrNazYDXsGxSTjBU5r6aBDDNJgfJvxk4+Jeo4+8An5Yrgc/N8p5B+Su++MmR8StQI+9hfyxXBfxArglSNuO9MD3j9m/r4g2n5f3P5/NXvLY2814N+zfjd4gAOR+4P/oVe8tjbzSYHz9+0WF/tHRPm4MTgj8eK8P3Hblj14b6V7h+0Wi/2jomSApjcfka8Q3Fl+YgE8H2FNAesfs/AHxvdMzfMLU4GO2a+ma+Zv2fhu8b3TEgFbUgDuea+maTEeN/tDnHhXTCp+YXhx/3zXziOOAeMZ/4FX0d+0P8AL4W0wj7wuzgf8Br5xBwMZGD83446U0M7r4PHPxQ0jnqXz/3ya+tOAOD3r5K+D3/JUNI5GSXJx/umvrRjtViOcc4pMR8vfGnxNNq/jSTT1lb7HYARiMHgt1JPvXmmc5w3I6D2rY8VzNP4t1aZxtd7uTcp7DdWQp6ng4+XHqDTGegfCrwGvjPXZGunZdOtMNIF4LnPC5r6e03RNK0aER6fYW9ug/55oAfzryj9nieEaFq9uHQzLchtoPO3HWvZSQQNp4z+dJiPKvj3Mq+Ao0LBd9yoAz94gGvmYkcAnr96vbP2gvEENxeadoMbBntszzEHhWIwoPvjNeKMdxAOBu6+1NDNjwkx/wCE00Q55+3w5/77WvtjPNfDuiXw0/X9OvX24huY3bPoGB/pX21aXMV3aRXETB45UDqynIII7UmImeVUBZuFHU9gPWvlv4vePT4q1r7BYyf8S2zYrGf+esmeT+FenfG3xjP4e0BdIsTi61FWVnB5SPvj3NfM5POVPTle5NNAJnk84Ht610Hg/wAL3Xi7X7bS7YHbId07gcIozkn8K58cDGRgcj61saJ4m1bw8Zm0u7Ns04AlZO+M4HtQM+xtH0i10XSLbTbKPbBboFXjr7n3rSRgV/xr5Etvit4ztpFca1Ixxhg6ggCu00H9oHUodses6fFcqSR5kJKuB6+hpWA+iGYL1r5Z+Ods8PxGmnzzNBG0fHoMGvoPwz4t0bxhZm50q6Ehjx5kTDDJ9RXln7QmhuY9M1yPnyybd+Dx3GaAPBQctgHjqv1r1L4DTiLx60ZdV8y3bj+8RXlp4bb1xyOOp4rqPh3rA0Tx3pV28gSMy7JGzjaG4NMD7HDg+tQX862+n3MzAlY4mYgewqRHBwc5yM8VyvxI1220LwNqM08u15ojDEB1LMMcVIj5Eu5N11cPkgtIxwR/CTVfcQOD0+7j0oyTlifm5Bz6etPjjkmlSGJd8jMFjUfxZNUM+nPgXaC3+HqylAGmuHbevcdq5H9oo4vNGwf4HNev+C9FbQvB+l6cRteKBd/1I5ryH9ori80YcZCOR+dLqB4fkAcn5T1+tep/AHJ8fSlj832R8/nXlZAxgkYPJ+teqfAHJ8fyseptXz+dNgfTi4xxXmXx4H/FuZCDjFxH/OvTV6V5l8eM/wDCuZCCOLiPg9+alCPl1uCQp6fcrS8NkHxXo3Py/bocfXetZrZU/KQdv3SO9aXhvnxXoy5GPt0J/wDH1qhn26KRxuUg0uQBQSMGpA8N/aLtc6Po10IifLnePzD2yM4/T9K8R8NXCW3ibTZ5GIRLhCSO3NfTPxp0ZtW+HN0yKzS2ci3Che+PlP6MTXylHI0UiSKcMpDKfpTA+8YnDRIRnlQakrnPBWuRa/4Q0zUY5N5khCt/vAYOfxFdHSEITiqt1qVnZBjdXMMIUZJdwOPWrB6nJr4/+JniOXXfiBqc6yyG3ik+zxLnACpx/PNMZ9b2mo2moJ5tncxTIDgmNg3NfIPxQ/5KPrX/AF3Neo/s7WVzs1a/eSQwErEEJO0nrmvLfieQfiPrWP8Anuf5CgD0D9nT/kL6t/1yX+dfRS9K+df2dP8AkL6t/wBcl/nX0SoAHFDAdXG/FU4+G2sH/pl/Wuyrjvip/wAk21n/AK4/1pCPjk/fH1r7n8O/8izpP/XnD/6AK+GT98fWvubw7/yLOk/9ecP/AKAKYzSooooAKKKKACiiigAooooAKKKKACiiigAooooAKKKKACsLxppT634M1bTo2Iea3YLgZ5HOP0rdpG+6cUAfCEsbxyvE67GB2sOm3BqPJ4JA/u8+le6fFL4RXbXsut+HYDMJzm4tRywbuy+v0rxG5tZ7N9lzbSQuPlKyIVP60wO68E/FrV/BVg2ni3ivrBWJSKRipUn0YZ4/CrPjP4w614sspNPjiTTrFgPMSNyzv7FuOPbFecADgAZK8Dnrmuk8OeCde8S3sNtYafKIwSTPIpVAPUk0Ac0VI+XGTjdQFJJUAfN8x/zmvp7Sfgvotj4Xn0+5HnX9ymHusfcPYqK8B8S+ENW8La1Jpl9auzE7o5EQkOvONtFwMaxu5rK7iurdzHOjh0ZTjBHSvsjwZrM3iDwjp+p3ELwzTR/OjDHI4J/HGfxryL4cfB15Wj1nxNDhGw8Nnnk+7f4V7xHGsUIjRVVV4VQMAegFJgfKXxlBX4l6g3faox7YrgejAgZ2Hj3r0f40WF2nxHvJ/s0pjkRdrBCQ3HrXnn2a4Ugi2l+Q9Nh5pge6fs4cN4gGc/6g/wDoVe8tyOuK8N/Z1srq3t9bnmt5I4ZWiCSMuAxGcgfTI/Ovcm+71xSYHz7+0ZGP7R0TpgxP+hrxEtuUcAA8dele5ftD2k817o0kcMjxiN1LKpIDZ6V4ibeZhxbSjdx9w8U0B6p+z8pbxvdPwAtqVNfTNfNfwCtLkeM7qdreVIltipYqQM/X1r6UpMR43+0ONvhXTGxnF4SB6/LXziOOPbdk/TpX0l+0Ba3E3hKwkhheVYrvc+0E7Rt6n0r5y+y3C5U20uR83KGmhnafB7/kqGkHj5i5Pt8pr61xjrzXyh8H7W4X4maXIbeQIN7MxQ4UbT3r6v5IPekwPkH4l6RcaR4/1RJIyBPMZUJHBVjnI59a5DkZ4HHy/UV9X/Ez4eJ4001ZbZhDqUC/u3Pde618x6z4f1bQLl4tS0+e3ZOMup2nPQg9KaAt+FfFmo+DtWF/pjoWVdjow+WVT1Br0TVP2gdYubNodP0q2tLgrzMZd+PoMCvGwQDkfwfrWhpmi6lq1wsGn6fPcufmAjQkH8aAILq5nvriSe5kM1xMfMeRzlifrmoSpIJK4Dct7V9BfD34LjTyupeJo4ppGG6KzzlYz/tev0rjfir8NbrQL+bVNMgL6VcvuIQZMLehA7UXA8uJJwdo+fj+VfR3wJ8T32qaLcaNdozx2OPKnOcFSfu59RXlvw/+Gl/41vlnkja20uNwJZWyGb2X1r6d0Lw7p/h3TUsNMtVhgTpjqfcmhiPAv2gbmQeMrOMktGlmCEPTkkGvIyNpK44Tp719A/GTwHrfiPxJYX2lWRug8P2dsEARnJ5PtzVXQP2fIwqya9qRZgQTFb/qCTRfQZ4QB1UY/vf/AFqTHOOMPz9OtfXen/C3wfpqqI9IilAGP3x3E/nWgPAfhNl50CwyT/zypcyA+NVBJBwMPwfagH2+9wQO3Tpz1r641P4VeDdR3B9Iji3d4CUxj6V594g/Z+QrJN4f1DaSuPIuBkE+xp3EYv7PTt/wmGopuIT7JyM9Tu617r4u8PQeKfDV3pUwUGVcxMedkg+634GvMPg34A17wz4jv73VLZIIxD5K853nOcj2r2lsheFzSYz4h1fS7nRtTuNOu4wtxauVcY6ke/cVRABbDDg/Mf8ACvqz4i/DG08Z2y3NuUttThGElxw49G/xr5t8QeE9Z8N3clrqNhLEVO4SBSUYeoPSmB2/hn4363oenw2F5axX8MQ2xs7lXVQMAZ7jiuY8ZePdY8cTRnUWjjt4yRHbxZCr79eTXKEhj2G7n6cmnxo1xIqRxtJI/wAoVBk/lQA052bsAD7v/wBevS/g94Jm1/xImp3EJ/s/T33biOHcdB70zwV8Jdb8S3UMuoW8lhpmBveThnH+yK+ltF0az0DSodO06BYreIABR39z6mhsDSAGOgFeAftFn/TNH7/I5/WvoCvBP2iLeaS40eVIJHjCuC6qSAfSkgPCivGD0PPXpXqfwB58fStwCbR+PxrzD7LPgj7PL8w3fcPFeqfAO0uB44nuWt5UhW1YMxUgKSeOabA+llGBivM/jwD/AMK5cgZxcR/zr01fu8dK83+OFpc3fw8mFtA8xjmR3CDOFz1xUiPldvkJxj5envWn4cH/ABVejDsL6E59fnWqJtp16W8p8vr8h5rX8K6be3Xi7SIoLOd3W8ichUPQOCT+hqhn2hNJHDA8sjhERSWY9APWvK774+eGLPUZLWO2vZ0jbb50artPqeTn9K77xVaT6j4T1W0tRunmtnSMZxkkcV8WXVjd2F09ncwSRzo20xspBzSQH2paXmmeLvDpmtpVuLG8hKEj0IwQfQ818geL/DN14W8SXWl3K4CMWiI6Mh6Gvoz4KaJf6L4HH29Hia5mM0cLH7qEDBx2zWj8Rfhza+N9KyuyHU4R+5mPf2PtQB4n8J/iUPB95JpupSSNpFwchhz5D+v09a+kLbxToV3aLcw6taNEwyG80V8e+I/CWs+Fr6S11GzkTYeJVUlGHrmsVJWAChiB6A4oA+jPih8XLKx06bSfD9ytxfTqUe4ib5Yh3wf71fO0MU91cokSs8srYAHJJNS2Vhd6hKIbK2mndjgLGhY5r6D+F3wgk0OeLXNeVWvQAYLfqIuOrepoA774feGU8LeDrGwAPnFfNmz13nrXy/8AE/8A5KPrf/Xc/wAhX2Ki7MKWya+SPijo+pH4i6w62FyyPNuVliYggj1FCA7L9nQZ1bVj/wBMl/nX0SvTivAf2etMvba+1eae1miQoqgyIVyfxr39RihgLXG/FT/km2s/9cf6iuyrkPifFJN8O9YSKN5HMPCoCSefSkI+OCcuPrX3N4d/5FnSf+vOH/0AV8TjRtTeVVXTrolmAH7lv8K+2tCjeHw9pkUilXS0iVlPUEIMimM0KKKKACiiigAooooAKKKKACiiigAooooAKKKKACiiigAoPSig9KAGnpWdeaNpuoMGu9NtZ2A4MsKv/OtGikIxl8MaDGysui2CsOhFsvB/KtGG3SBNkSKiAcBVwPyxViigBB0qvc20E7K00EchX7pZAxH+FWaKAIHkWFS8h2qo6k8VFDdQXQ3QyI+PQ067t1uonhf7rjBriL7T7vQrkSQO3lZ4cdPoa4sTiJ0Xe10dFClGppfU7SS1t5x+/gilx03qGpn9mWB/5cbbPr5a1g2PisY2XabSejqODXS2t1BdLvidWz3Bq6OKpVV7rJq0J0n7yFtoUtx5cUSRxjsi7Rn6VM/3TxmlByaWuoyKj28dwNk8KyLn7rrkfr3ph0qwIP8AoFt/36Wr1FAFWC2htQUhhSMHqEXGatUUUCK88ayIUZA6kcqy5BqH+yrEgf6Dbe/7oVeooGVIbK3t2LQW0URPdECk1aUALgDHtS0UCGt9PxqvcWNrfRmK7t454v7kqBgfzq1RQMxW8LaDjjQ9Pz3xbJ/hV600+0sk22lpDAo7RoF/kKuUUCGbSR0qKaBJkMckYdD/AAEAg/UGrFFAyCC3jgRUjiSNF6Ki4AqeiigRXmuI4ELSOFUdSTWBd+KbWEH7OjTN7dKn1jRp9SnRln2xqOUxnNUl8IJg7rlhz2Fedip4hvlpqyOylGilebKM3im9k3eWsSAjA781CPEWogrmUcDGMda2V8JW2MNM5Pr0qvceFEjUyR3DZ9COCa82pRxurbOuFXCtWsU4vE99HjzFSQDrxzXTaPqY1K1Z9uxg2CK4F4zE7RscFfvY9a6vwiv+jTOT/Hill2KrSq+zm7jxmHpxpc8TqF6UtNXpTq+jWx44jdKrXNlBeRGK4giliPVJUDD8jVqimBzEvgLwtPMZZdBsi54OIwB7cCren+FNC0khrDSLOBgchliGfzrcooGRAfMFAwBxUtFFAgqtcWsNwCssKSKecOoIqzRQBQOlWA/5cbY/9shUkVrDb7lgt44gcZ8tAP5VbooGNQYWmyqHUqyhlYYIPepKKBFAaVYDP+g23r/qRUkVja2774bWGN/7yRgVbooGRlcqABwKoTaLp11crcTWFrLMOkkkSlh+OK06UdaAIljKnhcAccVIQcU6imBXuLK1u4TFc28U0bdVdQwP51hTfD7wnPKZZNBsi5OSRHj+VdLRQBQsdE0vTQRY2FvbZ6+VGFz+VXsClooAaUBOcU0QRD+AH6jNSUUANCKv3VA+gpcGlooATBpCuQRinUUAVvI5+4v5CrAGFA9PWlooAKKKKACiiigAooooAKKKKACiiigAooooAKKKKACiiigAoPSig9KAG0UUUhBRRRQAUUUUAIevSoLqBLiNo5EDIwwQasUhFJpNWYJ21Rw+qeHJrbfPbZki7p3ArGiuJraTdDIyOp4x/nmvTnGeCOPSsXVNAgvE8yILHN2IHB+teLictknz0XY9OjjU1y1dTHtPFlxFgXMYdfVetdBZ65Z3Yws6q391jgiuJvNOurN2WaM7R/EBkVWVivQ+/BxXHHMcRRfLNXOmWCo1VzRdj1AHJBB4/OpM15rbapfWpHlXL467WORWtb+KrlCBPGrD1Xg16FPNqct1Y4p5fUjtqdnnmlzXPQeKrGTHmF4z7itOLVLOXAS5Qk9ORXdDEU5bSRyyozjui9keopar+YjjKuD75qYMMVupJ9TNodRSZpc07iCijIpM0wFoppNNdht64qeZDsSUh6VXa4ijPzSgfU1Un1uxgBzcKSOw5NZyr047yRUacpbI0s0pNcvP4sgGBFG7c4O7gdKy5/EmoSjEZWIe3Jrjq5lQhs7s6aeCqz6WOze4ihGZZUTP944rFvvFNrAStv8Avn9uB+dcjNcTXLl55GkYf3j0qS0s57yQJAhYjvjj8a8+eZ1Kr5aUTrjgYU1eozQl8SajLMrRsIx2RRnNdhHIX09JJAFJQEj8M1k6T4ditD5s+JJewPRata/dfZdLcg4ZvlFddFVaVKU6ruc1X2c6ihSRxE8nm3EjtxuYk/nXa+HrQ22lpu+8/wAx4xXHWFo97exwgEgkFsdhXo8UYjiVAOFGBXPllFucqptj6toqmiRfuinUCivfPLCiiigAooooAKKKKACiiigAooooAKKKKACiiigApw6U2nDpQAUUUUxhRRRQAUUUUAFFFFABRRRQAUUUUAFFFFABRRRQAUUUUAFFFFABRRRQAUUUUAFFFFABRRRQAUUUUAFB6UUHpQA2iiikIKKKKACiiigAooooAMCk2j0paKAIpokkjKsgYHggiucvvC0MxZ7ZvKPXaehrqD0pu0fWuevhaVZe+jWnWnTd4M81utMu7I7Zomx1BUZFVSc59Twa9SaNGBDKDWVd+HrG5Jbytjn+JeK8Wtkz3ps9SnmfSaODHPb2pMY5A9hXRT+E5wxMEgZeyt1FZc+j39tktbMQO6815ssHXpPVHbHFUanUqpPNEfkldSOmGq2ms6hHlRdMfrziqLxMhxIjKfcU3GMHj16Vn7avT6mjp0ZdjW/4SPUxx56/981Ovim/AAIQn1xWHwONvPXNHr71Sx9fuR9To9jd/wCEqvsZ2pTZPE+oMMKUUnoQKxOpz68UEFsYHtT+vV/5hvB0OkTTbxDqTpgzj3IFQSapfOTuupPwNUxx1IyPTvSiNmOEQkj0FS8VXno2xrD0Yb2HNJI5JZ2J6kk0zqe3zdatw6XfTj5LdvXJFalv4WuZP9e6xg84Bya0hhMRV6ESxFCnpcwDyCxwKsWljdXv+phZh0yRgfnXX2vhuxtsFk81h3bmtiOKONQqIFHoBXoYfJ3vUZxVc0S0po5jT/C53K92Qcfwjp+NdPDaw20YSKNUA7AVKFGOlLgYxivaoYanSVoo8yrXnUd5DCBXH+K7oz3cVnGMlRuPHU9hXZ49KonTLT7Y115CmY9WJ5qcTRlUhyx6hRqqnPmfQoaBpLWFv5ko/fSDJ46e1bijApVAAFLW1GkqceVETm5ycmFFFFakBRRRQAUUUUAFFFFABRRRQAUUUUAFFFFABRRRQAUo60lKOtAC0UUUxhRRRQAUUUUAFFFFABRRRQAUUUUAFFFFABRRRQAUUUUAFFFFABRRRQAUUUUAFFFFABRRRQAUUUUAFFFFACYoxS0UAJijFLRQAmKMUtFACYoxS0UAJijFLRQAmBRgUtFACbRRtFLRSsgE2ikManqKdRQ0nuBA9pA/3olP1FVZNC0+Uktbrk+laNFZuhSe8UWqklszHPhnTCMeW4+jUn/CL6Z/ck/77rZorL6lh/5F9xp9ZrfzMxf+EW0z+5J/33Tl8Maav/LNzxjlq2KKf1LD/wAi+4PrNb+ZmZFoGmwgbbcHAxk81cSzt4/uQoPwqeitI0acfhijOVSct2MEaDoop20UtFaWRA3YKXaKWiiyATAowKWimAmBRtGc0tFACYFGKWigBMUYpaKAExRilooATFGKWigBMUYpaKAExRilooATFGKWigBMUYpaKAExRilooATFGKWigAooooAKKKKACiiigAooooAKKKKACiiigAooooAKKKKACiiigAooooAKKKKACiiigAooooAKKKKAP//Z"/>
          <p:cNvSpPr>
            <a:spLocks noChangeAspect="1" noChangeArrowheads="1"/>
          </p:cNvSpPr>
          <p:nvPr/>
        </p:nvSpPr>
        <p:spPr bwMode="auto">
          <a:xfrm>
            <a:off x="345281" y="9775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pic>
        <p:nvPicPr>
          <p:cNvPr id="3086" name="Picture 14" descr="https://timgsa.baidu.com/timg?image&amp;quality=80&amp;size=b9999_10000&amp;sec=1541306359392&amp;di=6a73b32131f0c6f2a0f1c010fdd45aaf&amp;imgtype=0&amp;src=http%3A%2F%2Fl.b2b168.com%2F2016%2F11%2F03%2F11%2F201611031126455939844.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59582" y="4675951"/>
            <a:ext cx="2088356" cy="639038"/>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https://timgsa.baidu.com/timg?image&amp;quality=80&amp;size=b9999_10000&amp;sec=1541306390935&amp;di=1aae2b436c42d31ff544be87d32686ec&amp;imgtype=0&amp;src=http%3A%2F%2Fimg.mp.itc.cn%2Fupload%2F20170318%2F7b7186941d794e8aae3a3fdcbeb62c50_th.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856452" y="4583788"/>
            <a:ext cx="1808273" cy="823364"/>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https://timgsa.baidu.com/timg?image&amp;quality=80&amp;size=b9999_10000&amp;sec=1541306451186&amp;di=6a68b9831fad93209e796b052c8a3254&amp;imgtype=0&amp;src=http%3A%2F%2Fpic31.photophoto.cn%2F20140414%2F0007019908854282_b.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636294" y="4218109"/>
            <a:ext cx="2541334" cy="1485899"/>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https://timgsa.baidu.com/timg?image&amp;quality=80&amp;size=b9999_10000&amp;sec=1541306598990&amp;di=f5786ce08faef88eb5aeb228280966fb&amp;imgtype=0&amp;src=http%3A%2F%2Fs9.sinaimg.cn%2Fmw690%2F005MhRj0gy6O78T3SUUb8%26690"/>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788615" y="928042"/>
            <a:ext cx="1691293" cy="1623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4391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1618" y="1119896"/>
            <a:ext cx="7290055" cy="3017520"/>
          </a:xfrm>
        </p:spPr>
        <p:txBody>
          <a:bodyPr/>
          <a:lstStyle/>
          <a:p>
            <a:r>
              <a:rPr lang="zh-CN" altLang="en-US" dirty="0"/>
              <a:t>“六西格玛流程”来源于，如果人们在流程平均值和最近的规格界限之间达到了六个标准方差，如图所示，就不会有残次品</a:t>
            </a:r>
            <a:r>
              <a:rPr lang="zh-CN" altLang="en-US" dirty="0" smtClean="0"/>
              <a:t>。这</a:t>
            </a:r>
            <a:r>
              <a:rPr lang="zh-CN" altLang="en-US" dirty="0"/>
              <a:t>是根据流程效能研究中的计算获得的</a:t>
            </a:r>
            <a:r>
              <a:rPr lang="zh-CN" altLang="en-US" dirty="0" smtClean="0"/>
              <a:t>。</a:t>
            </a:r>
            <a:endParaRPr lang="zh-CN" altLang="en-US" dirty="0"/>
          </a:p>
          <a:p>
            <a:r>
              <a:rPr lang="zh-CN" altLang="en-US" dirty="0"/>
              <a:t>正态分布图，这是六西格玛模型的根本。希腊字母</a:t>
            </a:r>
            <a:r>
              <a:rPr lang="en-US" altLang="zh-CN" dirty="0"/>
              <a:t>σ</a:t>
            </a:r>
            <a:r>
              <a:rPr lang="zh-CN" altLang="en-US" dirty="0"/>
              <a:t>（西格玛）在横轴上标明了算术平均值</a:t>
            </a:r>
            <a:r>
              <a:rPr lang="en-US" altLang="zh-CN" dirty="0"/>
              <a:t>,µ,</a:t>
            </a:r>
            <a:r>
              <a:rPr lang="zh-CN" altLang="en-US" dirty="0"/>
              <a:t>和曲线的拐点之间的距离。这个距离越大，说明遇到的差值越大。在上面的绿色曲线中，</a:t>
            </a:r>
            <a:r>
              <a:rPr lang="en-US" altLang="zh-CN" dirty="0"/>
              <a:t>µ = 0 and σ = 1.</a:t>
            </a:r>
            <a:r>
              <a:rPr lang="zh-CN" altLang="en-US" dirty="0"/>
              <a:t>上面和下面的参数限定了（</a:t>
            </a:r>
            <a:r>
              <a:rPr lang="en-US" altLang="zh-CN" dirty="0"/>
              <a:t>USL</a:t>
            </a:r>
            <a:r>
              <a:rPr lang="zh-CN" altLang="en-US" dirty="0"/>
              <a:t>和</a:t>
            </a:r>
            <a:r>
              <a:rPr lang="en-US" altLang="zh-CN" dirty="0"/>
              <a:t>LSL</a:t>
            </a:r>
            <a:r>
              <a:rPr lang="zh-CN" altLang="en-US" dirty="0"/>
              <a:t>）离平均值的距离在</a:t>
            </a:r>
            <a:r>
              <a:rPr lang="en-US" altLang="zh-CN" dirty="0"/>
              <a:t>6σ</a:t>
            </a:r>
            <a:r>
              <a:rPr lang="zh-CN" altLang="en-US" dirty="0"/>
              <a:t>以内。</a:t>
            </a:r>
          </a:p>
          <a:p>
            <a:endParaRPr lang="zh-CN" altLang="en-US" dirty="0"/>
          </a:p>
        </p:txBody>
      </p:sp>
      <p:pic>
        <p:nvPicPr>
          <p:cNvPr id="3079" name="图片 3" descr="https://upload.wikimedia.org/wikipedia/commons/thumb/a/a3/6_Sigma_Normal_distribution.svg/500px-6_Sigma_Normal_distribution.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809" y="3188165"/>
            <a:ext cx="7412610" cy="254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8178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nvPr>
        </p:nvGraphicFramePr>
        <p:xfrm>
          <a:off x="454235" y="1372573"/>
          <a:ext cx="8300659" cy="3716208"/>
        </p:xfrm>
        <a:graphic>
          <a:graphicData uri="http://schemas.openxmlformats.org/drawingml/2006/table">
            <a:tbl>
              <a:tblPr firstRow="1" firstCol="1" bandRow="1">
                <a:tableStyleId>{5C22544A-7EE6-4342-B048-85BDC9FD1C3A}</a:tableStyleId>
              </a:tblPr>
              <a:tblGrid>
                <a:gridCol w="1383443">
                  <a:extLst>
                    <a:ext uri="{9D8B030D-6E8A-4147-A177-3AD203B41FA5}">
                      <a16:colId xmlns:a16="http://schemas.microsoft.com/office/drawing/2014/main" val="2178984438"/>
                    </a:ext>
                  </a:extLst>
                </a:gridCol>
                <a:gridCol w="1532953">
                  <a:extLst>
                    <a:ext uri="{9D8B030D-6E8A-4147-A177-3AD203B41FA5}">
                      <a16:colId xmlns:a16="http://schemas.microsoft.com/office/drawing/2014/main" val="2202691968"/>
                    </a:ext>
                  </a:extLst>
                </a:gridCol>
                <a:gridCol w="1482623">
                  <a:extLst>
                    <a:ext uri="{9D8B030D-6E8A-4147-A177-3AD203B41FA5}">
                      <a16:colId xmlns:a16="http://schemas.microsoft.com/office/drawing/2014/main" val="1875044572"/>
                    </a:ext>
                  </a:extLst>
                </a:gridCol>
                <a:gridCol w="1890425">
                  <a:extLst>
                    <a:ext uri="{9D8B030D-6E8A-4147-A177-3AD203B41FA5}">
                      <a16:colId xmlns:a16="http://schemas.microsoft.com/office/drawing/2014/main" val="813308908"/>
                    </a:ext>
                  </a:extLst>
                </a:gridCol>
                <a:gridCol w="1002029">
                  <a:extLst>
                    <a:ext uri="{9D8B030D-6E8A-4147-A177-3AD203B41FA5}">
                      <a16:colId xmlns:a16="http://schemas.microsoft.com/office/drawing/2014/main" val="3670962235"/>
                    </a:ext>
                  </a:extLst>
                </a:gridCol>
                <a:gridCol w="1009186">
                  <a:extLst>
                    <a:ext uri="{9D8B030D-6E8A-4147-A177-3AD203B41FA5}">
                      <a16:colId xmlns:a16="http://schemas.microsoft.com/office/drawing/2014/main" val="4003579827"/>
                    </a:ext>
                  </a:extLst>
                </a:gridCol>
              </a:tblGrid>
              <a:tr h="464526">
                <a:tc>
                  <a:txBody>
                    <a:bodyPr/>
                    <a:lstStyle/>
                    <a:p>
                      <a:pPr algn="ctr">
                        <a:spcBef>
                          <a:spcPts val="1200"/>
                        </a:spcBef>
                        <a:spcAft>
                          <a:spcPts val="1200"/>
                        </a:spcAft>
                      </a:pPr>
                      <a:r>
                        <a:rPr lang="zh-CN" sz="1800" kern="100">
                          <a:effectLst/>
                        </a:rPr>
                        <a:t>西格玛等级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ctr">
                        <a:spcBef>
                          <a:spcPts val="1200"/>
                        </a:spcBef>
                        <a:spcAft>
                          <a:spcPts val="1200"/>
                        </a:spcAft>
                      </a:pPr>
                      <a:r>
                        <a:rPr lang="zh-CN" altLang="en-US" sz="1800" b="1" u="none" kern="100" dirty="0" smtClean="0">
                          <a:effectLst/>
                        </a:rPr>
                        <a:t>百万次错误率</a:t>
                      </a:r>
                      <a:endParaRPr lang="zh-CN" sz="1800" b="1" u="none"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ctr">
                        <a:spcBef>
                          <a:spcPts val="1200"/>
                        </a:spcBef>
                        <a:spcAft>
                          <a:spcPts val="1200"/>
                        </a:spcAft>
                      </a:pPr>
                      <a:r>
                        <a:rPr lang="zh-CN" sz="1800" kern="100" dirty="0">
                          <a:effectLst/>
                        </a:rPr>
                        <a:t>残疵百分比</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ctr">
                        <a:spcBef>
                          <a:spcPts val="1200"/>
                        </a:spcBef>
                        <a:spcAft>
                          <a:spcPts val="1200"/>
                        </a:spcAft>
                      </a:pPr>
                      <a:r>
                        <a:rPr lang="zh-CN" sz="1800" kern="100" dirty="0">
                          <a:effectLst/>
                        </a:rPr>
                        <a:t>产出百分比</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ctr">
                        <a:spcBef>
                          <a:spcPts val="1200"/>
                        </a:spcBef>
                        <a:spcAft>
                          <a:spcPts val="1200"/>
                        </a:spcAft>
                      </a:pPr>
                      <a:r>
                        <a:rPr lang="zh-CN" sz="1800" kern="100" dirty="0">
                          <a:effectLst/>
                        </a:rPr>
                        <a:t>短期</a:t>
                      </a:r>
                      <a:r>
                        <a:rPr lang="en-US" sz="1800" kern="100" dirty="0" err="1">
                          <a:effectLst/>
                        </a:rPr>
                        <a:t>C</a:t>
                      </a:r>
                      <a:r>
                        <a:rPr lang="en-US" sz="1800" kern="100" baseline="-25000" dirty="0" err="1">
                          <a:effectLst/>
                        </a:rPr>
                        <a:t>pk</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ctr">
                        <a:spcBef>
                          <a:spcPts val="1200"/>
                        </a:spcBef>
                        <a:spcAft>
                          <a:spcPts val="1200"/>
                        </a:spcAft>
                      </a:pPr>
                      <a:r>
                        <a:rPr lang="zh-CN" sz="1800" kern="100">
                          <a:effectLst/>
                        </a:rPr>
                        <a:t>长期</a:t>
                      </a:r>
                      <a:r>
                        <a:rPr lang="en-US" sz="1800" kern="100">
                          <a:effectLst/>
                        </a:rPr>
                        <a:t>C</a:t>
                      </a:r>
                      <a:r>
                        <a:rPr lang="en-US" sz="1800" kern="100" baseline="-25000">
                          <a:effectLst/>
                        </a:rPr>
                        <a:t>pk</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1501014160"/>
                  </a:ext>
                </a:extLst>
              </a:tr>
              <a:tr h="464526">
                <a:tc>
                  <a:txBody>
                    <a:bodyPr/>
                    <a:lstStyle/>
                    <a:p>
                      <a:pPr algn="l">
                        <a:spcBef>
                          <a:spcPts val="1200"/>
                        </a:spcBef>
                        <a:spcAft>
                          <a:spcPts val="1200"/>
                        </a:spcAft>
                      </a:pPr>
                      <a:r>
                        <a:rPr lang="en-US" sz="1800" kern="100" dirty="0">
                          <a:effectLst/>
                        </a:rPr>
                        <a:t>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dirty="0">
                          <a:effectLst/>
                        </a:rPr>
                        <a:t>691,462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dirty="0">
                          <a:effectLst/>
                        </a:rPr>
                        <a:t>69%</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31%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0.33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–0.17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1481251527"/>
                  </a:ext>
                </a:extLst>
              </a:tr>
              <a:tr h="464526">
                <a:tc>
                  <a:txBody>
                    <a:bodyPr/>
                    <a:lstStyle/>
                    <a:p>
                      <a:pPr algn="just">
                        <a:spcBef>
                          <a:spcPts val="1200"/>
                        </a:spcBef>
                        <a:spcAft>
                          <a:spcPts val="1200"/>
                        </a:spcAft>
                      </a:pPr>
                      <a:r>
                        <a:rPr lang="en-US" sz="1800" kern="10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308,538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dirty="0">
                          <a:effectLst/>
                        </a:rPr>
                        <a:t>31%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69%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dirty="0">
                          <a:effectLst/>
                        </a:rPr>
                        <a:t>0.67</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0.17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3066725696"/>
                  </a:ext>
                </a:extLst>
              </a:tr>
              <a:tr h="464526">
                <a:tc>
                  <a:txBody>
                    <a:bodyPr/>
                    <a:lstStyle/>
                    <a:p>
                      <a:pPr algn="just">
                        <a:spcBef>
                          <a:spcPts val="1200"/>
                        </a:spcBef>
                        <a:spcAft>
                          <a:spcPts val="1200"/>
                        </a:spcAft>
                      </a:pPr>
                      <a:r>
                        <a:rPr lang="en-US" sz="1800" kern="100" dirty="0">
                          <a:effectLst/>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66,807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6.7%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93.3%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1.00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2310991753"/>
                  </a:ext>
                </a:extLst>
              </a:tr>
              <a:tr h="464526">
                <a:tc>
                  <a:txBody>
                    <a:bodyPr/>
                    <a:lstStyle/>
                    <a:p>
                      <a:pPr algn="just">
                        <a:spcBef>
                          <a:spcPts val="1200"/>
                        </a:spcBef>
                        <a:spcAft>
                          <a:spcPts val="1200"/>
                        </a:spcAft>
                      </a:pPr>
                      <a:r>
                        <a:rPr lang="en-US" sz="1800" kern="100">
                          <a:effectLst/>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6,210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0.62%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99.38%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1.33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0.83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3771467640"/>
                  </a:ext>
                </a:extLst>
              </a:tr>
              <a:tr h="464526">
                <a:tc>
                  <a:txBody>
                    <a:bodyPr/>
                    <a:lstStyle/>
                    <a:p>
                      <a:pPr algn="just">
                        <a:spcBef>
                          <a:spcPts val="1200"/>
                        </a:spcBef>
                        <a:spcAft>
                          <a:spcPts val="1200"/>
                        </a:spcAft>
                      </a:pPr>
                      <a:r>
                        <a:rPr lang="en-US" sz="1800" kern="100">
                          <a:effectLst/>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233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0.023%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99.977%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1.67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1.17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3853105506"/>
                  </a:ext>
                </a:extLst>
              </a:tr>
              <a:tr h="464526">
                <a:tc>
                  <a:txBody>
                    <a:bodyPr/>
                    <a:lstStyle/>
                    <a:p>
                      <a:pPr algn="just">
                        <a:spcBef>
                          <a:spcPts val="1200"/>
                        </a:spcBef>
                        <a:spcAft>
                          <a:spcPts val="1200"/>
                        </a:spcAft>
                      </a:pPr>
                      <a:r>
                        <a:rPr lang="en-US" sz="1800" kern="100">
                          <a:effectLst/>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3.4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0.00034%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99.99966%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2.00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1.5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313595023"/>
                  </a:ext>
                </a:extLst>
              </a:tr>
              <a:tr h="464526">
                <a:tc>
                  <a:txBody>
                    <a:bodyPr/>
                    <a:lstStyle/>
                    <a:p>
                      <a:pPr algn="just">
                        <a:spcBef>
                          <a:spcPts val="1200"/>
                        </a:spcBef>
                        <a:spcAft>
                          <a:spcPts val="1200"/>
                        </a:spcAft>
                      </a:pPr>
                      <a:r>
                        <a:rPr lang="en-US" sz="1800" kern="100">
                          <a:effectLst/>
                        </a:rPr>
                        <a:t>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0.019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0.0000019%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99.9999981%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a:effectLst/>
                        </a:rPr>
                        <a:t>2.33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tc>
                  <a:txBody>
                    <a:bodyPr/>
                    <a:lstStyle/>
                    <a:p>
                      <a:pPr algn="just">
                        <a:spcBef>
                          <a:spcPts val="1200"/>
                        </a:spcBef>
                        <a:spcAft>
                          <a:spcPts val="1200"/>
                        </a:spcAft>
                      </a:pPr>
                      <a:r>
                        <a:rPr lang="en-US" sz="1800" kern="100" dirty="0">
                          <a:effectLst/>
                        </a:rPr>
                        <a:t>1.83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5720" marR="45720" marT="22860" marB="22860" anchor="ctr"/>
                </a:tc>
                <a:extLst>
                  <a:ext uri="{0D108BD9-81ED-4DB2-BD59-A6C34878D82A}">
                    <a16:rowId xmlns:a16="http://schemas.microsoft.com/office/drawing/2014/main" val="1720478276"/>
                  </a:ext>
                </a:extLst>
              </a:tr>
            </a:tbl>
          </a:graphicData>
        </a:graphic>
      </p:graphicFrame>
      <p:sp>
        <p:nvSpPr>
          <p:cNvPr id="5" name="文本框 4"/>
          <p:cNvSpPr txBox="1"/>
          <p:nvPr/>
        </p:nvSpPr>
        <p:spPr>
          <a:xfrm>
            <a:off x="2954776" y="5220345"/>
            <a:ext cx="7091464" cy="300082"/>
          </a:xfrm>
          <a:prstGeom prst="rect">
            <a:avLst/>
          </a:prstGeom>
          <a:noFill/>
        </p:spPr>
        <p:txBody>
          <a:bodyPr wrap="square" rtlCol="0">
            <a:spAutoFit/>
          </a:bodyPr>
          <a:lstStyle/>
          <a:p>
            <a:pPr defTabSz="685800"/>
            <a:r>
              <a:rPr lang="en-US" altLang="zh-CN" sz="1350" kern="100" dirty="0" err="1">
                <a:solidFill>
                  <a:prstClr val="black"/>
                </a:solidFill>
                <a:latin typeface="Tw Cen MT" panose="020B0602020104020603"/>
              </a:rPr>
              <a:t>C</a:t>
            </a:r>
            <a:r>
              <a:rPr lang="en-US" altLang="zh-CN" sz="1350" kern="100" baseline="-25000" dirty="0" err="1">
                <a:solidFill>
                  <a:prstClr val="black"/>
                </a:solidFill>
                <a:latin typeface="Tw Cen MT" panose="020B0602020104020603"/>
              </a:rPr>
              <a:t>pk</a:t>
            </a:r>
            <a:r>
              <a:rPr lang="en-US" altLang="zh-CN" sz="135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a:t>
            </a:r>
            <a:r>
              <a:rPr lang="zh-CN" altLang="en-US" sz="1350" dirty="0">
                <a:solidFill>
                  <a:prstClr val="black"/>
                </a:solidFill>
                <a:latin typeface="Tw Cen MT" panose="020B0602020104020603"/>
              </a:rPr>
              <a:t>过程能力指数</a:t>
            </a:r>
            <a:r>
              <a:rPr lang="en-US" altLang="zh-CN" sz="1350" dirty="0">
                <a:solidFill>
                  <a:prstClr val="black"/>
                </a:solidFill>
                <a:latin typeface="Tw Cen MT" panose="020B0602020104020603"/>
              </a:rPr>
              <a:t>):</a:t>
            </a:r>
            <a:r>
              <a:rPr lang="zh-CN" altLang="en-US" sz="1350" dirty="0">
                <a:solidFill>
                  <a:prstClr val="black"/>
                </a:solidFill>
                <a:latin typeface="Tw Cen MT" panose="020B0602020104020603"/>
              </a:rPr>
              <a:t>是指过程能力满足产品质量标准要求（规格范围等）的程度。</a:t>
            </a:r>
          </a:p>
        </p:txBody>
      </p:sp>
    </p:spTree>
    <p:extLst>
      <p:ext uri="{BB962C8B-B14F-4D97-AF65-F5344CB8AC3E}">
        <p14:creationId xmlns:p14="http://schemas.microsoft.com/office/powerpoint/2010/main" val="38194357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六西格玛的概念</a:t>
            </a:r>
            <a:endParaRPr kumimoji="1" lang="zh-CN" altLang="en-US" dirty="0"/>
          </a:p>
        </p:txBody>
      </p:sp>
      <p:sp>
        <p:nvSpPr>
          <p:cNvPr id="3" name="内容占位符 2"/>
          <p:cNvSpPr>
            <a:spLocks noGrp="1"/>
          </p:cNvSpPr>
          <p:nvPr>
            <p:ph idx="1"/>
          </p:nvPr>
        </p:nvSpPr>
        <p:spPr/>
        <p:txBody>
          <a:bodyPr/>
          <a:lstStyle/>
          <a:p>
            <a:r>
              <a:rPr kumimoji="1" lang="zh-CN" altLang="en-US" dirty="0" smtClean="0"/>
              <a:t>一个标准</a:t>
            </a:r>
            <a:endParaRPr kumimoji="1" lang="en-US" altLang="zh-CN" dirty="0" smtClean="0"/>
          </a:p>
          <a:p>
            <a:r>
              <a:rPr kumimoji="1" lang="zh-CN" altLang="en-US" dirty="0" smtClean="0"/>
              <a:t>一种管理方法</a:t>
            </a:r>
            <a:endParaRPr kumimoji="1" lang="en-US" altLang="zh-CN" dirty="0" smtClean="0"/>
          </a:p>
          <a:p>
            <a:endParaRPr kumimoji="1" lang="zh-CN" altLang="en-US" dirty="0"/>
          </a:p>
        </p:txBody>
      </p:sp>
    </p:spTree>
    <p:extLst>
      <p:ext uri="{BB962C8B-B14F-4D97-AF65-F5344CB8AC3E}">
        <p14:creationId xmlns:p14="http://schemas.microsoft.com/office/powerpoint/2010/main" val="7196977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六西格玛是一个标准</a:t>
            </a:r>
            <a:endParaRPr kumimoji="1" lang="zh-CN" altLang="en-US" dirty="0"/>
          </a:p>
        </p:txBody>
      </p:sp>
      <p:sp>
        <p:nvSpPr>
          <p:cNvPr id="3" name="内容占位符 2"/>
          <p:cNvSpPr>
            <a:spLocks noGrp="1"/>
          </p:cNvSpPr>
          <p:nvPr>
            <p:ph idx="1"/>
          </p:nvPr>
        </p:nvSpPr>
        <p:spPr/>
        <p:txBody>
          <a:bodyPr/>
          <a:lstStyle/>
          <a:p>
            <a:r>
              <a:rPr kumimoji="1" lang="zh-CN" altLang="en-US" dirty="0"/>
              <a:t>一种统计评估法，核心是追求零缺陷生产，防范产品责任风险，降低成本，提高生产率和市场占有率，提高顾客的满意度以及忠诚度</a:t>
            </a:r>
            <a:r>
              <a:rPr kumimoji="1" lang="zh-CN" altLang="en-US" dirty="0" smtClean="0"/>
              <a:t>。</a:t>
            </a:r>
            <a:endParaRPr kumimoji="1" lang="en-US" altLang="zh-CN" dirty="0" smtClean="0"/>
          </a:p>
          <a:p>
            <a:r>
              <a:rPr kumimoji="1" lang="en-US" altLang="zh-CN" dirty="0" smtClean="0"/>
              <a:t>6</a:t>
            </a:r>
            <a:r>
              <a:rPr kumimoji="1" lang="el-GR" altLang="zh-CN" dirty="0" smtClean="0"/>
              <a:t>σ</a:t>
            </a:r>
            <a:r>
              <a:rPr kumimoji="1" lang="zh-CN" altLang="en-US" dirty="0" smtClean="0"/>
              <a:t>作为一个质量水平标准，意味着在整个生产过程中</a:t>
            </a:r>
            <a:r>
              <a:rPr kumimoji="1" lang="en-US" altLang="zh-CN" dirty="0" smtClean="0"/>
              <a:t>99.99966%</a:t>
            </a:r>
            <a:r>
              <a:rPr kumimoji="1" lang="zh-CN" altLang="en-US" dirty="0" smtClean="0"/>
              <a:t>是无缺陷的，也就是说在完成</a:t>
            </a:r>
            <a:r>
              <a:rPr kumimoji="1" lang="en-US" altLang="zh-CN" dirty="0" smtClean="0"/>
              <a:t>100</a:t>
            </a:r>
            <a:r>
              <a:rPr kumimoji="1" lang="zh-CN" altLang="en-US" dirty="0" smtClean="0"/>
              <a:t>万个产品的过程中只有</a:t>
            </a:r>
            <a:r>
              <a:rPr kumimoji="1" lang="en-US" altLang="zh-CN" dirty="0" smtClean="0"/>
              <a:t>3.4</a:t>
            </a:r>
            <a:r>
              <a:rPr kumimoji="1" lang="zh-CN" altLang="en-US" dirty="0" smtClean="0"/>
              <a:t>件是有缺陷的</a:t>
            </a:r>
            <a:endParaRPr kumimoji="1" lang="zh-CN" altLang="en-US" dirty="0"/>
          </a:p>
        </p:txBody>
      </p:sp>
    </p:spTree>
    <p:extLst>
      <p:ext uri="{BB962C8B-B14F-4D97-AF65-F5344CB8AC3E}">
        <p14:creationId xmlns:p14="http://schemas.microsoft.com/office/powerpoint/2010/main" val="22111114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六西格玛与</a:t>
            </a:r>
            <a:r>
              <a:rPr kumimoji="1" lang="en-US" altLang="zh-CN" dirty="0" smtClean="0"/>
              <a:t>DPMO</a:t>
            </a:r>
            <a:r>
              <a:rPr kumimoji="1" lang="zh-CN" altLang="en-US" dirty="0" smtClean="0"/>
              <a:t>的关系</a:t>
            </a:r>
            <a:endParaRPr kumimoji="1"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111780608"/>
              </p:ext>
            </p:extLst>
          </p:nvPr>
        </p:nvGraphicFramePr>
        <p:xfrm>
          <a:off x="457200" y="2209800"/>
          <a:ext cx="7954400" cy="2865120"/>
        </p:xfrm>
        <a:graphic>
          <a:graphicData uri="http://schemas.openxmlformats.org/drawingml/2006/table">
            <a:tbl>
              <a:tblPr firstRow="1" bandRow="1">
                <a:tableStyleId>{5C22544A-7EE6-4342-B048-85BDC9FD1C3A}</a:tableStyleId>
              </a:tblPr>
              <a:tblGrid>
                <a:gridCol w="686979">
                  <a:extLst>
                    <a:ext uri="{9D8B030D-6E8A-4147-A177-3AD203B41FA5}">
                      <a16:colId xmlns:a16="http://schemas.microsoft.com/office/drawing/2014/main" val="20000"/>
                    </a:ext>
                  </a:extLst>
                </a:gridCol>
                <a:gridCol w="1244766">
                  <a:extLst>
                    <a:ext uri="{9D8B030D-6E8A-4147-A177-3AD203B41FA5}">
                      <a16:colId xmlns:a16="http://schemas.microsoft.com/office/drawing/2014/main" val="20001"/>
                    </a:ext>
                  </a:extLst>
                </a:gridCol>
                <a:gridCol w="968151">
                  <a:extLst>
                    <a:ext uri="{9D8B030D-6E8A-4147-A177-3AD203B41FA5}">
                      <a16:colId xmlns:a16="http://schemas.microsoft.com/office/drawing/2014/main" val="20002"/>
                    </a:ext>
                  </a:extLst>
                </a:gridCol>
                <a:gridCol w="3105628">
                  <a:extLst>
                    <a:ext uri="{9D8B030D-6E8A-4147-A177-3AD203B41FA5}">
                      <a16:colId xmlns:a16="http://schemas.microsoft.com/office/drawing/2014/main" val="20003"/>
                    </a:ext>
                  </a:extLst>
                </a:gridCol>
                <a:gridCol w="1948876">
                  <a:extLst>
                    <a:ext uri="{9D8B030D-6E8A-4147-A177-3AD203B41FA5}">
                      <a16:colId xmlns:a16="http://schemas.microsoft.com/office/drawing/2014/main" val="20004"/>
                    </a:ext>
                  </a:extLst>
                </a:gridCol>
              </a:tblGrid>
              <a:tr h="370840">
                <a:tc>
                  <a:txBody>
                    <a:bodyPr/>
                    <a:lstStyle/>
                    <a:p>
                      <a:r>
                        <a:rPr kumimoji="1" lang="el-GR" altLang="zh-CN" dirty="0" smtClean="0"/>
                        <a:t>σ</a:t>
                      </a:r>
                      <a:r>
                        <a:rPr kumimoji="1" lang="zh-CN" altLang="en-US" dirty="0" smtClean="0"/>
                        <a:t>值</a:t>
                      </a:r>
                      <a:endParaRPr lang="zh-CN" altLang="en-US" dirty="0"/>
                    </a:p>
                  </a:txBody>
                  <a:tcPr/>
                </a:tc>
                <a:tc>
                  <a:txBody>
                    <a:bodyPr/>
                    <a:lstStyle/>
                    <a:p>
                      <a:r>
                        <a:rPr lang="zh-CN" altLang="en-US" dirty="0" smtClean="0"/>
                        <a:t>正品率</a:t>
                      </a:r>
                      <a:r>
                        <a:rPr lang="en-US" altLang="zh-CN" dirty="0" smtClean="0"/>
                        <a:t>(%)</a:t>
                      </a:r>
                      <a:endParaRPr lang="zh-CN" altLang="en-US" dirty="0"/>
                    </a:p>
                  </a:txBody>
                  <a:tcPr/>
                </a:tc>
                <a:tc>
                  <a:txBody>
                    <a:bodyPr/>
                    <a:lstStyle/>
                    <a:p>
                      <a:r>
                        <a:rPr lang="en-US" altLang="zh-CN" dirty="0" smtClean="0"/>
                        <a:t>DPMO</a:t>
                      </a:r>
                      <a:endParaRPr lang="zh-CN" altLang="en-US" dirty="0"/>
                    </a:p>
                  </a:txBody>
                  <a:tcPr/>
                </a:tc>
                <a:tc>
                  <a:txBody>
                    <a:bodyPr/>
                    <a:lstStyle/>
                    <a:p>
                      <a:r>
                        <a:rPr lang="zh-CN" altLang="en-US" dirty="0" smtClean="0"/>
                        <a:t>以印刷错误为例</a:t>
                      </a:r>
                      <a:endParaRPr lang="zh-CN" altLang="en-US" dirty="0"/>
                    </a:p>
                  </a:txBody>
                  <a:tcPr/>
                </a:tc>
                <a:tc>
                  <a:txBody>
                    <a:bodyPr/>
                    <a:lstStyle/>
                    <a:p>
                      <a:r>
                        <a:rPr lang="zh-CN" altLang="en-US" dirty="0" smtClean="0"/>
                        <a:t>以钟表误差为例</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smtClean="0"/>
                        <a:t>1</a:t>
                      </a:r>
                      <a:endParaRPr lang="zh-CN" altLang="en-US" dirty="0"/>
                    </a:p>
                  </a:txBody>
                  <a:tcPr/>
                </a:tc>
                <a:tc>
                  <a:txBody>
                    <a:bodyPr/>
                    <a:lstStyle/>
                    <a:p>
                      <a:r>
                        <a:rPr lang="en-US" altLang="zh-CN" dirty="0" smtClean="0"/>
                        <a:t>30.9</a:t>
                      </a:r>
                      <a:endParaRPr lang="zh-CN" altLang="en-US" dirty="0"/>
                    </a:p>
                  </a:txBody>
                  <a:tcPr/>
                </a:tc>
                <a:tc>
                  <a:txBody>
                    <a:bodyPr/>
                    <a:lstStyle/>
                    <a:p>
                      <a:r>
                        <a:rPr lang="en-US" altLang="zh-CN" dirty="0" smtClean="0"/>
                        <a:t>690000</a:t>
                      </a:r>
                      <a:endParaRPr lang="zh-CN" altLang="en-US" dirty="0"/>
                    </a:p>
                  </a:txBody>
                  <a:tcPr/>
                </a:tc>
                <a:tc>
                  <a:txBody>
                    <a:bodyPr/>
                    <a:lstStyle/>
                    <a:p>
                      <a:r>
                        <a:rPr lang="zh-CN" altLang="en-US" dirty="0" smtClean="0"/>
                        <a:t>一本书平均每页</a:t>
                      </a:r>
                      <a:r>
                        <a:rPr lang="en-US" altLang="zh-CN" dirty="0" smtClean="0"/>
                        <a:t>170</a:t>
                      </a:r>
                      <a:r>
                        <a:rPr lang="zh-CN" altLang="en-US" dirty="0" smtClean="0"/>
                        <a:t>个错字</a:t>
                      </a:r>
                      <a:endParaRPr lang="zh-CN" altLang="en-US" dirty="0"/>
                    </a:p>
                  </a:txBody>
                  <a:tcPr/>
                </a:tc>
                <a:tc>
                  <a:txBody>
                    <a:bodyPr/>
                    <a:lstStyle/>
                    <a:p>
                      <a:r>
                        <a:rPr lang="zh-CN" altLang="en-US" dirty="0" smtClean="0"/>
                        <a:t>每世纪</a:t>
                      </a:r>
                      <a:r>
                        <a:rPr lang="en-US" altLang="zh-CN" dirty="0" smtClean="0"/>
                        <a:t>31.75</a:t>
                      </a:r>
                      <a:r>
                        <a:rPr lang="zh-CN" altLang="en-US" dirty="0" smtClean="0"/>
                        <a:t>年</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smtClean="0"/>
                        <a:t>2</a:t>
                      </a:r>
                      <a:endParaRPr lang="zh-CN" altLang="en-US" dirty="0"/>
                    </a:p>
                  </a:txBody>
                  <a:tcPr/>
                </a:tc>
                <a:tc>
                  <a:txBody>
                    <a:bodyPr/>
                    <a:lstStyle/>
                    <a:p>
                      <a:r>
                        <a:rPr lang="en-US" altLang="zh-CN" dirty="0" smtClean="0"/>
                        <a:t>69.2</a:t>
                      </a:r>
                      <a:endParaRPr lang="zh-CN" altLang="en-US" dirty="0"/>
                    </a:p>
                  </a:txBody>
                  <a:tcPr/>
                </a:tc>
                <a:tc>
                  <a:txBody>
                    <a:bodyPr/>
                    <a:lstStyle/>
                    <a:p>
                      <a:r>
                        <a:rPr lang="en-US" altLang="zh-CN" dirty="0" smtClean="0"/>
                        <a:t>308000</a:t>
                      </a:r>
                      <a:endParaRPr lang="zh-CN" altLang="en-US" dirty="0"/>
                    </a:p>
                  </a:txBody>
                  <a:tcPr/>
                </a:tc>
                <a:tc>
                  <a:txBody>
                    <a:bodyPr/>
                    <a:lstStyle/>
                    <a:p>
                      <a:r>
                        <a:rPr lang="zh-CN" altLang="en-US" dirty="0" smtClean="0"/>
                        <a:t>一本书平均每页</a:t>
                      </a:r>
                      <a:r>
                        <a:rPr lang="en-US" altLang="zh-CN" dirty="0" smtClean="0"/>
                        <a:t>25</a:t>
                      </a:r>
                      <a:r>
                        <a:rPr lang="zh-CN" altLang="en-US" dirty="0" smtClean="0"/>
                        <a:t>个错字</a:t>
                      </a:r>
                      <a:endParaRPr lang="zh-CN" altLang="en-US" dirty="0"/>
                    </a:p>
                  </a:txBody>
                  <a:tcPr/>
                </a:tc>
                <a:tc>
                  <a:txBody>
                    <a:bodyPr/>
                    <a:lstStyle/>
                    <a:p>
                      <a:r>
                        <a:rPr lang="zh-CN" altLang="en-US" dirty="0" smtClean="0"/>
                        <a:t>每世纪</a:t>
                      </a:r>
                      <a:r>
                        <a:rPr lang="en-US" altLang="zh-CN" dirty="0" smtClean="0"/>
                        <a:t>4.5</a:t>
                      </a:r>
                      <a:r>
                        <a:rPr lang="zh-CN" altLang="en-US" dirty="0" smtClean="0"/>
                        <a:t>年</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smtClean="0"/>
                        <a:t>3</a:t>
                      </a:r>
                      <a:endParaRPr lang="zh-CN" altLang="en-US" dirty="0"/>
                    </a:p>
                  </a:txBody>
                  <a:tcPr/>
                </a:tc>
                <a:tc>
                  <a:txBody>
                    <a:bodyPr/>
                    <a:lstStyle/>
                    <a:p>
                      <a:r>
                        <a:rPr lang="en-US" altLang="zh-CN" dirty="0" smtClean="0"/>
                        <a:t>93.3</a:t>
                      </a:r>
                      <a:endParaRPr lang="zh-CN" altLang="en-US" dirty="0"/>
                    </a:p>
                  </a:txBody>
                  <a:tcPr/>
                </a:tc>
                <a:tc>
                  <a:txBody>
                    <a:bodyPr/>
                    <a:lstStyle/>
                    <a:p>
                      <a:r>
                        <a:rPr lang="en-US" altLang="zh-CN" dirty="0" smtClean="0"/>
                        <a:t>66800</a:t>
                      </a:r>
                      <a:endParaRPr lang="zh-CN" altLang="en-US" dirty="0"/>
                    </a:p>
                  </a:txBody>
                  <a:tcPr/>
                </a:tc>
                <a:tc>
                  <a:txBody>
                    <a:bodyPr/>
                    <a:lstStyle/>
                    <a:p>
                      <a:r>
                        <a:rPr lang="zh-CN" altLang="en-US" dirty="0" smtClean="0"/>
                        <a:t>一本书平均每页</a:t>
                      </a:r>
                      <a:r>
                        <a:rPr lang="en-US" altLang="zh-CN" dirty="0" smtClean="0"/>
                        <a:t>1</a:t>
                      </a:r>
                      <a:r>
                        <a:rPr lang="zh-CN" altLang="en-US" dirty="0" smtClean="0"/>
                        <a:t>个错字</a:t>
                      </a:r>
                      <a:endParaRPr lang="zh-CN" altLang="en-US" dirty="0"/>
                    </a:p>
                  </a:txBody>
                  <a:tcPr/>
                </a:tc>
                <a:tc>
                  <a:txBody>
                    <a:bodyPr/>
                    <a:lstStyle/>
                    <a:p>
                      <a:r>
                        <a:rPr lang="zh-CN" altLang="en-US" dirty="0" smtClean="0"/>
                        <a:t>每世纪</a:t>
                      </a:r>
                      <a:r>
                        <a:rPr lang="en-US" altLang="zh-CN" dirty="0" smtClean="0"/>
                        <a:t>3.5</a:t>
                      </a:r>
                      <a:r>
                        <a:rPr lang="zh-CN" altLang="en-US" dirty="0" smtClean="0"/>
                        <a:t>个月</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smtClean="0"/>
                        <a:t>4</a:t>
                      </a:r>
                      <a:endParaRPr lang="zh-CN" altLang="en-US" dirty="0"/>
                    </a:p>
                  </a:txBody>
                  <a:tcPr/>
                </a:tc>
                <a:tc>
                  <a:txBody>
                    <a:bodyPr/>
                    <a:lstStyle/>
                    <a:p>
                      <a:r>
                        <a:rPr lang="en-US" altLang="zh-CN" dirty="0" smtClean="0"/>
                        <a:t>99.4</a:t>
                      </a:r>
                      <a:endParaRPr lang="zh-CN" altLang="en-US" dirty="0"/>
                    </a:p>
                  </a:txBody>
                  <a:tcPr/>
                </a:tc>
                <a:tc>
                  <a:txBody>
                    <a:bodyPr/>
                    <a:lstStyle/>
                    <a:p>
                      <a:r>
                        <a:rPr lang="en-US" altLang="zh-CN" dirty="0" smtClean="0"/>
                        <a:t>6210</a:t>
                      </a:r>
                      <a:endParaRPr lang="zh-CN" altLang="en-US" dirty="0"/>
                    </a:p>
                  </a:txBody>
                  <a:tcPr/>
                </a:tc>
                <a:tc>
                  <a:txBody>
                    <a:bodyPr/>
                    <a:lstStyle/>
                    <a:p>
                      <a:r>
                        <a:rPr lang="zh-CN" altLang="en-US" dirty="0" smtClean="0"/>
                        <a:t>一本书平均每</a:t>
                      </a:r>
                      <a:r>
                        <a:rPr lang="en-US" altLang="zh-CN" dirty="0" smtClean="0"/>
                        <a:t>30</a:t>
                      </a:r>
                      <a:r>
                        <a:rPr lang="zh-CN" altLang="en-US" dirty="0" smtClean="0"/>
                        <a:t>页</a:t>
                      </a:r>
                      <a:r>
                        <a:rPr lang="en-US" altLang="zh-CN" dirty="0" smtClean="0"/>
                        <a:t>1</a:t>
                      </a:r>
                      <a:r>
                        <a:rPr lang="zh-CN" altLang="en-US" dirty="0" smtClean="0"/>
                        <a:t>个错字</a:t>
                      </a:r>
                      <a:endParaRPr lang="zh-CN" altLang="en-US" dirty="0"/>
                    </a:p>
                  </a:txBody>
                  <a:tcPr/>
                </a:tc>
                <a:tc>
                  <a:txBody>
                    <a:bodyPr/>
                    <a:lstStyle/>
                    <a:p>
                      <a:r>
                        <a:rPr lang="zh-CN" altLang="en-US" dirty="0" smtClean="0"/>
                        <a:t>每世纪</a:t>
                      </a:r>
                      <a:r>
                        <a:rPr lang="en-US" altLang="zh-CN" dirty="0" smtClean="0"/>
                        <a:t>2.5</a:t>
                      </a:r>
                      <a:r>
                        <a:rPr lang="zh-CN" altLang="en-US" dirty="0" smtClean="0"/>
                        <a:t>天</a:t>
                      </a:r>
                      <a:endParaRPr lang="zh-CN" altLang="en-US" dirty="0"/>
                    </a:p>
                  </a:txBody>
                  <a:tcPr/>
                </a:tc>
                <a:extLst>
                  <a:ext uri="{0D108BD9-81ED-4DB2-BD59-A6C34878D82A}">
                    <a16:rowId xmlns:a16="http://schemas.microsoft.com/office/drawing/2014/main" val="10004"/>
                  </a:ext>
                </a:extLst>
              </a:tr>
              <a:tr h="370840">
                <a:tc>
                  <a:txBody>
                    <a:bodyPr/>
                    <a:lstStyle/>
                    <a:p>
                      <a:r>
                        <a:rPr lang="en-US" altLang="zh-CN" dirty="0" smtClean="0"/>
                        <a:t>5</a:t>
                      </a:r>
                      <a:endParaRPr lang="zh-CN" altLang="en-US" dirty="0"/>
                    </a:p>
                  </a:txBody>
                  <a:tcPr/>
                </a:tc>
                <a:tc>
                  <a:txBody>
                    <a:bodyPr/>
                    <a:lstStyle/>
                    <a:p>
                      <a:r>
                        <a:rPr lang="en-US" altLang="zh-CN" dirty="0" smtClean="0"/>
                        <a:t>99.98</a:t>
                      </a:r>
                      <a:endParaRPr lang="zh-CN" altLang="en-US" dirty="0"/>
                    </a:p>
                  </a:txBody>
                  <a:tcPr/>
                </a:tc>
                <a:tc>
                  <a:txBody>
                    <a:bodyPr/>
                    <a:lstStyle/>
                    <a:p>
                      <a:r>
                        <a:rPr lang="en-US" altLang="zh-CN" dirty="0" smtClean="0"/>
                        <a:t>230</a:t>
                      </a:r>
                      <a:endParaRPr lang="zh-CN" altLang="en-US" dirty="0"/>
                    </a:p>
                  </a:txBody>
                  <a:tcPr/>
                </a:tc>
                <a:tc>
                  <a:txBody>
                    <a:bodyPr/>
                    <a:lstStyle/>
                    <a:p>
                      <a:r>
                        <a:rPr lang="zh-CN" altLang="en-US" dirty="0" smtClean="0"/>
                        <a:t>一套百科全书只有</a:t>
                      </a:r>
                      <a:r>
                        <a:rPr lang="en-US" altLang="zh-CN" dirty="0" smtClean="0"/>
                        <a:t>1</a:t>
                      </a:r>
                      <a:r>
                        <a:rPr lang="zh-CN" altLang="en-US" dirty="0" smtClean="0"/>
                        <a:t>个错字</a:t>
                      </a:r>
                      <a:endParaRPr lang="zh-CN" altLang="en-US" dirty="0"/>
                    </a:p>
                  </a:txBody>
                  <a:tcPr/>
                </a:tc>
                <a:tc>
                  <a:txBody>
                    <a:bodyPr/>
                    <a:lstStyle/>
                    <a:p>
                      <a:r>
                        <a:rPr lang="zh-CN" altLang="en-US" dirty="0" smtClean="0"/>
                        <a:t>每世纪</a:t>
                      </a:r>
                      <a:r>
                        <a:rPr lang="en-US" altLang="zh-CN" dirty="0" smtClean="0"/>
                        <a:t>30</a:t>
                      </a:r>
                      <a:r>
                        <a:rPr lang="zh-CN" altLang="en-US" dirty="0" smtClean="0"/>
                        <a:t>分钟</a:t>
                      </a:r>
                      <a:endParaRPr lang="zh-CN" altLang="en-US" dirty="0"/>
                    </a:p>
                  </a:txBody>
                  <a:tcPr/>
                </a:tc>
                <a:extLst>
                  <a:ext uri="{0D108BD9-81ED-4DB2-BD59-A6C34878D82A}">
                    <a16:rowId xmlns:a16="http://schemas.microsoft.com/office/drawing/2014/main" val="10005"/>
                  </a:ext>
                </a:extLst>
              </a:tr>
              <a:tr h="370840">
                <a:tc>
                  <a:txBody>
                    <a:bodyPr/>
                    <a:lstStyle/>
                    <a:p>
                      <a:r>
                        <a:rPr lang="en-US" altLang="zh-CN" dirty="0" smtClean="0"/>
                        <a:t>6</a:t>
                      </a:r>
                      <a:endParaRPr lang="zh-CN" altLang="en-US" dirty="0"/>
                    </a:p>
                  </a:txBody>
                  <a:tcPr/>
                </a:tc>
                <a:tc>
                  <a:txBody>
                    <a:bodyPr/>
                    <a:lstStyle/>
                    <a:p>
                      <a:r>
                        <a:rPr lang="en-US" altLang="zh-CN" dirty="0" smtClean="0"/>
                        <a:t>99.99966</a:t>
                      </a:r>
                      <a:endParaRPr lang="zh-CN" altLang="en-US" dirty="0"/>
                    </a:p>
                  </a:txBody>
                  <a:tcPr/>
                </a:tc>
                <a:tc>
                  <a:txBody>
                    <a:bodyPr/>
                    <a:lstStyle/>
                    <a:p>
                      <a:r>
                        <a:rPr lang="en-US" altLang="zh-CN" dirty="0" smtClean="0"/>
                        <a:t>3.4</a:t>
                      </a:r>
                      <a:endParaRPr lang="zh-CN" altLang="en-US" dirty="0"/>
                    </a:p>
                  </a:txBody>
                  <a:tcPr/>
                </a:tc>
                <a:tc>
                  <a:txBody>
                    <a:bodyPr/>
                    <a:lstStyle/>
                    <a:p>
                      <a:r>
                        <a:rPr lang="zh-CN" altLang="en-US" dirty="0" smtClean="0"/>
                        <a:t>一个小型图书馆的藏书只有一个错字</a:t>
                      </a:r>
                      <a:endParaRPr lang="zh-CN" altLang="en-US" dirty="0"/>
                    </a:p>
                  </a:txBody>
                  <a:tcPr/>
                </a:tc>
                <a:tc>
                  <a:txBody>
                    <a:bodyPr/>
                    <a:lstStyle/>
                    <a:p>
                      <a:r>
                        <a:rPr lang="zh-CN" altLang="en-US" dirty="0" smtClean="0"/>
                        <a:t>每世纪</a:t>
                      </a:r>
                      <a:r>
                        <a:rPr lang="en-US" altLang="zh-CN" dirty="0" smtClean="0"/>
                        <a:t>6</a:t>
                      </a:r>
                      <a:r>
                        <a:rPr lang="zh-CN" altLang="en-US" dirty="0" smtClean="0"/>
                        <a:t>秒</a:t>
                      </a:r>
                      <a:endParaRPr lang="zh-CN" altLang="en-US" dirty="0"/>
                    </a:p>
                  </a:txBody>
                  <a:tcPr/>
                </a:tc>
                <a:extLst>
                  <a:ext uri="{0D108BD9-81ED-4DB2-BD59-A6C34878D82A}">
                    <a16:rowId xmlns:a16="http://schemas.microsoft.com/office/drawing/2014/main" val="10006"/>
                  </a:ext>
                </a:extLst>
              </a:tr>
            </a:tbl>
          </a:graphicData>
        </a:graphic>
      </p:graphicFrame>
      <p:pic>
        <p:nvPicPr>
          <p:cNvPr id="6" name="图片 5" descr="屏幕快照 2017-10-25 上午8.34.44.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168390" y="5394695"/>
            <a:ext cx="2755900" cy="1257300"/>
          </a:xfrm>
          <a:prstGeom prst="rect">
            <a:avLst/>
          </a:prstGeom>
        </p:spPr>
      </p:pic>
    </p:spTree>
    <p:extLst>
      <p:ext uri="{BB962C8B-B14F-4D97-AF65-F5344CB8AC3E}">
        <p14:creationId xmlns:p14="http://schemas.microsoft.com/office/powerpoint/2010/main" val="397191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六西格玛的计算</a:t>
            </a:r>
            <a:endParaRPr kumimoji="1" lang="zh-CN" altLang="en-US" dirty="0"/>
          </a:p>
        </p:txBody>
      </p:sp>
      <p:sp>
        <p:nvSpPr>
          <p:cNvPr id="3" name="内容占位符 2"/>
          <p:cNvSpPr>
            <a:spLocks noGrp="1"/>
          </p:cNvSpPr>
          <p:nvPr>
            <p:ph idx="1"/>
          </p:nvPr>
        </p:nvSpPr>
        <p:spPr/>
        <p:txBody>
          <a:bodyPr/>
          <a:lstStyle/>
          <a:p>
            <a:r>
              <a:rPr kumimoji="1" lang="zh-CN" altLang="en-US" dirty="0" smtClean="0"/>
              <a:t>西格玛（</a:t>
            </a:r>
            <a:r>
              <a:rPr kumimoji="1" lang="el-GR" altLang="zh-CN" dirty="0"/>
              <a:t>σ</a:t>
            </a:r>
            <a:r>
              <a:rPr kumimoji="1" lang="zh-CN" altLang="en-US" dirty="0" smtClean="0"/>
              <a:t>）就是统计学中用来表示标准偏差值的。</a:t>
            </a:r>
            <a:endParaRPr kumimoji="1" lang="en-US" altLang="zh-CN" dirty="0" smtClean="0"/>
          </a:p>
          <a:p>
            <a:endParaRPr kumimoji="1" lang="en-US" altLang="zh-CN" dirty="0"/>
          </a:p>
          <a:p>
            <a:endParaRPr kumimoji="1" lang="en-US" altLang="zh-CN" dirty="0" smtClean="0"/>
          </a:p>
          <a:p>
            <a:endParaRPr kumimoji="1" lang="en-US" altLang="zh-CN" dirty="0"/>
          </a:p>
          <a:p>
            <a:r>
              <a:rPr kumimoji="1" lang="zh-CN" altLang="en-US" dirty="0" smtClean="0"/>
              <a:t>而西格玛值（</a:t>
            </a:r>
            <a:r>
              <a:rPr kumimoji="1" lang="en-US" altLang="zh-CN" dirty="0" smtClean="0"/>
              <a:t>Z</a:t>
            </a:r>
            <a:r>
              <a:rPr kumimoji="1" lang="zh-CN" altLang="en-US" dirty="0" smtClean="0"/>
              <a:t>）则是体现过程能力的指标</a:t>
            </a:r>
            <a:endParaRPr kumimoji="1" lang="en-US" altLang="zh-CN" dirty="0" smtClean="0"/>
          </a:p>
          <a:p>
            <a:endParaRPr kumimoji="1" lang="en-US" altLang="zh-CN" dirty="0"/>
          </a:p>
          <a:p>
            <a:endParaRPr kumimoji="1" lang="en-US" altLang="zh-CN" dirty="0" smtClean="0"/>
          </a:p>
          <a:p>
            <a:endParaRPr kumimoji="1" lang="en-US" altLang="zh-CN" dirty="0"/>
          </a:p>
          <a:p>
            <a:pPr marL="0" indent="0">
              <a:buNone/>
            </a:pPr>
            <a:endParaRPr kumimoji="1" lang="en-US" altLang="zh-CN" dirty="0" smtClean="0"/>
          </a:p>
          <a:p>
            <a:endParaRPr kumimoji="1" lang="zh-CN" altLang="en-US" dirty="0"/>
          </a:p>
        </p:txBody>
      </p:sp>
      <p:pic>
        <p:nvPicPr>
          <p:cNvPr id="4" name="图片 3" descr="屏幕快照 2017-10-24 下午4.16.12副本.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751683" y="2904669"/>
            <a:ext cx="2528874" cy="1157001"/>
          </a:xfrm>
          <a:prstGeom prst="rect">
            <a:avLst/>
          </a:prstGeom>
        </p:spPr>
      </p:pic>
      <p:pic>
        <p:nvPicPr>
          <p:cNvPr id="5" name="图片 4" descr="屏幕快照 2017-10-27 上午10.18.2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260" y="5023876"/>
            <a:ext cx="4335075" cy="823422"/>
          </a:xfrm>
          <a:prstGeom prst="rect">
            <a:avLst/>
          </a:prstGeom>
        </p:spPr>
      </p:pic>
      <p:sp>
        <p:nvSpPr>
          <p:cNvPr id="6" name="矩形标注 5"/>
          <p:cNvSpPr/>
          <p:nvPr/>
        </p:nvSpPr>
        <p:spPr>
          <a:xfrm>
            <a:off x="6513018" y="3319756"/>
            <a:ext cx="1873435" cy="1383232"/>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smtClean="0"/>
              <a:t>USL</a:t>
            </a:r>
            <a:r>
              <a:rPr kumimoji="1" lang="zh-CN" altLang="en-US" dirty="0" smtClean="0"/>
              <a:t>：规格上限</a:t>
            </a:r>
            <a:endParaRPr kumimoji="1" lang="en-US" altLang="zh-CN" dirty="0" smtClean="0"/>
          </a:p>
          <a:p>
            <a:pPr algn="ctr"/>
            <a:r>
              <a:rPr kumimoji="1" lang="en-US" altLang="zh-CN" dirty="0" smtClean="0"/>
              <a:t>LSL</a:t>
            </a:r>
            <a:r>
              <a:rPr kumimoji="1" lang="zh-CN" altLang="en-US" dirty="0" smtClean="0"/>
              <a:t>：规格下限</a:t>
            </a:r>
            <a:endParaRPr kumimoji="1" lang="zh-CN" altLang="en-US" dirty="0"/>
          </a:p>
        </p:txBody>
      </p:sp>
    </p:spTree>
    <p:extLst>
      <p:ext uri="{BB962C8B-B14F-4D97-AF65-F5344CB8AC3E}">
        <p14:creationId xmlns:p14="http://schemas.microsoft.com/office/powerpoint/2010/main" val="172934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六西格玛值的特征</a:t>
            </a:r>
            <a:endParaRPr kumimoji="1" lang="zh-CN" altLang="en-US" dirty="0"/>
          </a:p>
        </p:txBody>
      </p:sp>
      <p:pic>
        <p:nvPicPr>
          <p:cNvPr id="4" name="内容占位符 3" descr="屏幕快照 2017-10-27 上午10.26.56.png"/>
          <p:cNvPicPr>
            <a:picLocks noGrp="1" noChangeAspect="1"/>
          </p:cNvPicPr>
          <p:nvPr>
            <p:ph idx="1"/>
          </p:nvPr>
        </p:nvPicPr>
        <p:blipFill>
          <a:blip r:embed="rId2">
            <a:extLst>
              <a:ext uri="{28A0092B-C50C-407E-A947-70E740481C1C}">
                <a14:useLocalDpi xmlns:a14="http://schemas.microsoft.com/office/drawing/2010/main" val="0"/>
              </a:ext>
            </a:extLst>
          </a:blip>
          <a:srcRect t="181" b="181"/>
          <a:stretch>
            <a:fillRect/>
          </a:stretch>
        </p:blipFill>
        <p:spPr/>
      </p:pic>
      <p:sp>
        <p:nvSpPr>
          <p:cNvPr id="5" name="矩形 4"/>
          <p:cNvSpPr/>
          <p:nvPr/>
        </p:nvSpPr>
        <p:spPr>
          <a:xfrm>
            <a:off x="5972362" y="2741314"/>
            <a:ext cx="2891880" cy="204969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l-GR" altLang="zh-CN" dirty="0"/>
              <a:t>σ</a:t>
            </a:r>
            <a:r>
              <a:rPr kumimoji="1" lang="zh-CN" altLang="en-US" dirty="0" smtClean="0"/>
              <a:t>值越大，缺陷率越小，生产过程的稳定性越大</a:t>
            </a:r>
            <a:endParaRPr kumimoji="1" lang="zh-CN" altLang="en-US" dirty="0"/>
          </a:p>
        </p:txBody>
      </p:sp>
    </p:spTree>
    <p:extLst>
      <p:ext uri="{BB962C8B-B14F-4D97-AF65-F5344CB8AC3E}">
        <p14:creationId xmlns:p14="http://schemas.microsoft.com/office/powerpoint/2010/main" val="330552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六西格玛是一个管理方法</a:t>
            </a:r>
            <a:endParaRPr kumimoji="1" lang="zh-CN" altLang="en-US" dirty="0"/>
          </a:p>
        </p:txBody>
      </p:sp>
      <p:sp>
        <p:nvSpPr>
          <p:cNvPr id="3" name="内容占位符 2"/>
          <p:cNvSpPr>
            <a:spLocks noGrp="1"/>
          </p:cNvSpPr>
          <p:nvPr>
            <p:ph idx="1"/>
          </p:nvPr>
        </p:nvSpPr>
        <p:spPr/>
        <p:txBody>
          <a:bodyPr/>
          <a:lstStyle/>
          <a:p>
            <a:r>
              <a:rPr kumimoji="1" lang="zh-CN" altLang="en-US" dirty="0"/>
              <a:t>定义：获得和保持企业在经营上的成功并将其经营业绩最大化的综合管理体系和发展战略。是使企业获得快速增长的经营方式。</a:t>
            </a:r>
            <a:endParaRPr kumimoji="1" lang="en-US" altLang="zh-CN" dirty="0" smtClean="0"/>
          </a:p>
          <a:p>
            <a:r>
              <a:rPr kumimoji="1" lang="zh-CN" altLang="en-US" dirty="0" smtClean="0"/>
              <a:t>以</a:t>
            </a:r>
            <a:r>
              <a:rPr kumimoji="1" lang="en-US" altLang="zh-CN" dirty="0" smtClean="0"/>
              <a:t>6</a:t>
            </a:r>
            <a:r>
              <a:rPr kumimoji="1" lang="el-GR" altLang="zh-CN" dirty="0" smtClean="0"/>
              <a:t>σ</a:t>
            </a:r>
            <a:r>
              <a:rPr kumimoji="1" lang="zh-CN" altLang="en-US" dirty="0" smtClean="0"/>
              <a:t>作为目标，通过</a:t>
            </a:r>
            <a:r>
              <a:rPr kumimoji="1" lang="en-US" altLang="zh-CN" dirty="0" smtClean="0"/>
              <a:t>DMAIC</a:t>
            </a:r>
            <a:r>
              <a:rPr kumimoji="1" lang="zh-CN" altLang="en-US" dirty="0" smtClean="0"/>
              <a:t>的流程使每个环节不断改进</a:t>
            </a:r>
            <a:endParaRPr kumimoji="1" lang="en-US" altLang="zh-CN" dirty="0" smtClean="0"/>
          </a:p>
          <a:p>
            <a:r>
              <a:rPr kumimoji="1" lang="en-US" altLang="zh-CN" dirty="0" smtClean="0"/>
              <a:t>6</a:t>
            </a:r>
            <a:r>
              <a:rPr kumimoji="1" lang="el-GR" altLang="zh-CN" dirty="0" smtClean="0"/>
              <a:t>σ</a:t>
            </a:r>
            <a:r>
              <a:rPr kumimoji="1" lang="zh-CN" altLang="en-US" dirty="0" smtClean="0"/>
              <a:t>管理关注过程，</a:t>
            </a:r>
            <a:r>
              <a:rPr kumimoji="1" lang="el-GR" altLang="zh-CN" dirty="0" smtClean="0"/>
              <a:t>σ</a:t>
            </a:r>
            <a:r>
              <a:rPr kumimoji="1" lang="zh-CN" altLang="en-US" dirty="0" smtClean="0"/>
              <a:t>值越大，过程的波动越小，过程以最低成本损失、最短时间周期、满足顾客需求的能力就越强</a:t>
            </a:r>
            <a:endParaRPr kumimoji="1" lang="en-US" altLang="zh-CN" dirty="0" smtClean="0"/>
          </a:p>
          <a:p>
            <a:endParaRPr kumimoji="1" lang="en-US" altLang="zh-CN" dirty="0"/>
          </a:p>
          <a:p>
            <a:endParaRPr kumimoji="1" lang="zh-CN" altLang="en-US" dirty="0"/>
          </a:p>
        </p:txBody>
      </p:sp>
    </p:spTree>
    <p:extLst>
      <p:ext uri="{BB962C8B-B14F-4D97-AF65-F5344CB8AC3E}">
        <p14:creationId xmlns:p14="http://schemas.microsoft.com/office/powerpoint/2010/main" val="32078310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六西格玛管理的人员组织结构</a:t>
            </a:r>
            <a:endParaRPr kumimoji="1" lang="zh-CN" altLang="en-US" dirty="0"/>
          </a:p>
        </p:txBody>
      </p:sp>
      <p:pic>
        <p:nvPicPr>
          <p:cNvPr id="4" name="内容占位符 3" descr="屏幕快照 2017-11-27 下午2.15.11.png"/>
          <p:cNvPicPr>
            <a:picLocks noGrp="1" noChangeAspect="1"/>
          </p:cNvPicPr>
          <p:nvPr>
            <p:ph idx="1"/>
          </p:nvPr>
        </p:nvPicPr>
        <p:blipFill>
          <a:blip r:embed="rId2" cstate="email">
            <a:extLst>
              <a:ext uri="{28A0092B-C50C-407E-A947-70E740481C1C}">
                <a14:useLocalDpi xmlns:a14="http://schemas.microsoft.com/office/drawing/2010/main" val="0"/>
              </a:ext>
            </a:extLst>
          </a:blip>
          <a:srcRect l="-1350" r="-1350"/>
          <a:stretch>
            <a:fillRect/>
          </a:stretch>
        </p:blipFill>
        <p:spPr>
          <a:xfrm>
            <a:off x="457200" y="2209800"/>
            <a:ext cx="4331368" cy="3916363"/>
          </a:xfrm>
        </p:spPr>
      </p:pic>
      <p:pic>
        <p:nvPicPr>
          <p:cNvPr id="3" name="图片 2"/>
          <p:cNvPicPr>
            <a:picLocks noChangeAspect="1"/>
          </p:cNvPicPr>
          <p:nvPr/>
        </p:nvPicPr>
        <p:blipFill>
          <a:blip r:embed="rId3"/>
          <a:stretch>
            <a:fillRect/>
          </a:stretch>
        </p:blipFill>
        <p:spPr>
          <a:xfrm>
            <a:off x="5201902" y="2797592"/>
            <a:ext cx="3095625" cy="2562225"/>
          </a:xfrm>
          <a:prstGeom prst="rect">
            <a:avLst/>
          </a:prstGeom>
        </p:spPr>
      </p:pic>
    </p:spTree>
    <p:extLst>
      <p:ext uri="{BB962C8B-B14F-4D97-AF65-F5344CB8AC3E}">
        <p14:creationId xmlns:p14="http://schemas.microsoft.com/office/powerpoint/2010/main" val="30414758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a:t>
            </a:r>
            <a:r>
              <a:rPr lang="zh-CN" altLang="en-US" dirty="0"/>
              <a:t>层</a:t>
            </a:r>
            <a:r>
              <a:rPr lang="zh-CN" altLang="en-US" dirty="0" smtClean="0"/>
              <a:t>含义</a:t>
            </a:r>
            <a:endParaRPr lang="zh-CN" altLang="en-US" dirty="0"/>
          </a:p>
        </p:txBody>
      </p:sp>
      <p:sp>
        <p:nvSpPr>
          <p:cNvPr id="3" name="内容占位符 2"/>
          <p:cNvSpPr>
            <a:spLocks noGrp="1"/>
          </p:cNvSpPr>
          <p:nvPr>
            <p:ph idx="1"/>
          </p:nvPr>
        </p:nvSpPr>
        <p:spPr>
          <a:xfrm>
            <a:off x="768096" y="2420874"/>
            <a:ext cx="7755419" cy="3579876"/>
          </a:xfrm>
        </p:spPr>
        <p:txBody>
          <a:bodyPr>
            <a:normAutofit/>
          </a:bodyPr>
          <a:lstStyle/>
          <a:p>
            <a:r>
              <a:rPr lang="zh-CN" altLang="en-US" sz="2100" dirty="0"/>
              <a:t>一般来讲，包含以下三层含义：</a:t>
            </a:r>
          </a:p>
          <a:p>
            <a:r>
              <a:rPr lang="zh-CN" altLang="en-US" sz="2100" dirty="0"/>
              <a:t>（</a:t>
            </a:r>
            <a:r>
              <a:rPr lang="en-US" altLang="zh-CN" sz="2100" dirty="0"/>
              <a:t>1</a:t>
            </a:r>
            <a:r>
              <a:rPr lang="zh-CN" altLang="en-US" sz="2100" dirty="0"/>
              <a:t>）是一种质量尺度和追求的目标，定义方向和界限。</a:t>
            </a:r>
          </a:p>
          <a:p>
            <a:r>
              <a:rPr lang="zh-CN" altLang="en-US" sz="2100" dirty="0"/>
              <a:t>（</a:t>
            </a:r>
            <a:r>
              <a:rPr lang="en-US" altLang="zh-CN" sz="2100" dirty="0"/>
              <a:t>2</a:t>
            </a:r>
            <a:r>
              <a:rPr lang="zh-CN" altLang="en-US" sz="2100" dirty="0"/>
              <a:t>）是一套科学的工具和管理方法，运用</a:t>
            </a:r>
            <a:r>
              <a:rPr lang="en-US" altLang="zh-CN" sz="2100" dirty="0"/>
              <a:t>DMAIC</a:t>
            </a:r>
            <a:r>
              <a:rPr lang="zh-CN" altLang="en-US" sz="2100" dirty="0"/>
              <a:t>（改善）或</a:t>
            </a:r>
            <a:r>
              <a:rPr lang="en-US" altLang="zh-CN" sz="2100" dirty="0"/>
              <a:t>DFSS</a:t>
            </a:r>
            <a:r>
              <a:rPr lang="zh-CN" altLang="en-US" sz="2100" dirty="0"/>
              <a:t>（设计）的过程进行流程的设计和改善。</a:t>
            </a:r>
          </a:p>
          <a:p>
            <a:r>
              <a:rPr lang="zh-CN" altLang="en-US" sz="2100" dirty="0"/>
              <a:t>（</a:t>
            </a:r>
            <a:r>
              <a:rPr lang="en-US" altLang="zh-CN" sz="2100" dirty="0"/>
              <a:t>3</a:t>
            </a:r>
            <a:r>
              <a:rPr lang="zh-CN" altLang="en-US" sz="2100" dirty="0"/>
              <a:t>）是一种经营管理策略。</a:t>
            </a:r>
            <a:r>
              <a:rPr lang="en-US" altLang="zh-CN" sz="2100" dirty="0"/>
              <a:t>6 Sigma</a:t>
            </a:r>
            <a:r>
              <a:rPr lang="zh-CN" altLang="en-US" sz="2100" dirty="0"/>
              <a:t>管理是在提高顾客满意程度的同时降低经营成本和周期的过程革新方法，它是通过提高组织核心过程的运行质量，进而提升企业赢利能力的管理方式，也是在新经济环境下企业获得竞争力和持续发展能力的经营策略</a:t>
            </a:r>
            <a:r>
              <a:rPr lang="zh-CN" altLang="en-US" sz="1500" dirty="0"/>
              <a:t>。</a:t>
            </a:r>
          </a:p>
          <a:p>
            <a:endParaRPr lang="zh-CN" altLang="en-US" dirty="0"/>
          </a:p>
        </p:txBody>
      </p:sp>
    </p:spTree>
    <p:extLst>
      <p:ext uri="{BB962C8B-B14F-4D97-AF65-F5344CB8AC3E}">
        <p14:creationId xmlns:p14="http://schemas.microsoft.com/office/powerpoint/2010/main" val="13516126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4069" y="1206278"/>
            <a:ext cx="7290054" cy="1124712"/>
          </a:xfrm>
        </p:spPr>
        <p:txBody>
          <a:bodyPr>
            <a:normAutofit/>
          </a:bodyPr>
          <a:lstStyle/>
          <a:p>
            <a:r>
              <a:rPr lang="en-US" altLang="zh-CN" sz="4500" dirty="0"/>
              <a:t>DMAIC</a:t>
            </a:r>
            <a:r>
              <a:rPr lang="zh-CN" altLang="en-US" sz="4500" dirty="0"/>
              <a:t>方法</a:t>
            </a:r>
          </a:p>
        </p:txBody>
      </p:sp>
      <p:sp>
        <p:nvSpPr>
          <p:cNvPr id="3" name="内容占位符 2"/>
          <p:cNvSpPr>
            <a:spLocks noGrp="1"/>
          </p:cNvSpPr>
          <p:nvPr>
            <p:ph idx="1"/>
          </p:nvPr>
        </p:nvSpPr>
        <p:spPr>
          <a:xfrm>
            <a:off x="644068" y="2185075"/>
            <a:ext cx="7716856" cy="3815675"/>
          </a:xfrm>
        </p:spPr>
        <p:txBody>
          <a:bodyPr>
            <a:noAutofit/>
          </a:bodyPr>
          <a:lstStyle/>
          <a:p>
            <a:r>
              <a:rPr lang="en-US" altLang="zh-CN" sz="1800" dirty="0"/>
              <a:t>DMAIC</a:t>
            </a:r>
            <a:r>
              <a:rPr lang="zh-CN" altLang="en-US" sz="1800" dirty="0"/>
              <a:t>方法分为五个步骤：</a:t>
            </a:r>
          </a:p>
          <a:p>
            <a:r>
              <a:rPr lang="en-US" altLang="zh-CN" sz="1800" dirty="0"/>
              <a:t>•D</a:t>
            </a:r>
            <a:r>
              <a:rPr lang="zh-CN" altLang="en-US" sz="1800" dirty="0"/>
              <a:t>：定义问题，客户需求和项目目标等等。</a:t>
            </a:r>
          </a:p>
          <a:p>
            <a:r>
              <a:rPr lang="en-US" altLang="zh-CN" sz="1800" dirty="0"/>
              <a:t>•M</a:t>
            </a:r>
            <a:r>
              <a:rPr lang="zh-CN" altLang="en-US" sz="1800" dirty="0"/>
              <a:t>：测量当前流程的关键方面，收集相关资料。</a:t>
            </a:r>
          </a:p>
          <a:p>
            <a:r>
              <a:rPr lang="en-US" altLang="zh-CN" sz="1800" dirty="0"/>
              <a:t>•A</a:t>
            </a:r>
            <a:r>
              <a:rPr lang="zh-CN" altLang="en-US" sz="1800" dirty="0"/>
              <a:t>：分析数据，寻求和检验原因和效果之间的关系，确定是什么关系，然后确保考虑到所有因素。通过调查，发现因为残疵的根本原因。</a:t>
            </a:r>
          </a:p>
          <a:p>
            <a:r>
              <a:rPr lang="en-US" altLang="zh-CN" sz="1800" dirty="0"/>
              <a:t>•I</a:t>
            </a:r>
            <a:r>
              <a:rPr lang="zh-CN" altLang="en-US" sz="1800" dirty="0"/>
              <a:t>：提升优化当前流程，根据分析数据，运用不同方法，例如实验设计、防误防错或错误校对，利用标准工作创建一个新的、未来的理想流程，建立规范运作流程能力。</a:t>
            </a:r>
          </a:p>
          <a:p>
            <a:r>
              <a:rPr lang="en-US" altLang="zh-CN" sz="1800" dirty="0"/>
              <a:t>•C</a:t>
            </a:r>
            <a:r>
              <a:rPr lang="zh-CN" altLang="en-US" sz="1800" dirty="0"/>
              <a:t>：控制改变未来流程，确保任何偏离目标的误差都可以改正。执行控制系统，例如统计流程控制，生产板、可见工作区和流程持续改善等。</a:t>
            </a:r>
          </a:p>
          <a:p>
            <a:r>
              <a:rPr lang="zh-CN" altLang="en-US" sz="1800" dirty="0"/>
              <a:t>有些公司还增加了一个</a:t>
            </a:r>
            <a:r>
              <a:rPr lang="en-US" altLang="zh-CN" sz="1800" dirty="0"/>
              <a:t>R</a:t>
            </a:r>
            <a:r>
              <a:rPr lang="zh-CN" altLang="en-US" sz="1800" dirty="0"/>
              <a:t>认知步骤，就是认知需要针对的正确问题，于是产生了</a:t>
            </a:r>
            <a:r>
              <a:rPr lang="en-US" altLang="zh-CN" sz="1800" dirty="0"/>
              <a:t>RDMAIC</a:t>
            </a:r>
            <a:r>
              <a:rPr lang="zh-CN" altLang="en-US" sz="1800" dirty="0"/>
              <a:t>方法</a:t>
            </a:r>
          </a:p>
        </p:txBody>
      </p:sp>
      <p:pic>
        <p:nvPicPr>
          <p:cNvPr id="4098" name="Picture 2" descr="https://timgsa.baidu.com/timg?image&amp;quality=80&amp;size=b9999_10000&amp;sec=1541306598991&amp;di=4c0068b2105189cb8be178e32c7993a4&amp;imgtype=0&amp;src=http%3A%2F%2Fwww.infinityqs.cn%2Fuploads%2Fallimg%2F160222%2F26-16022214560X33.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523950" y="1027788"/>
            <a:ext cx="3557588" cy="231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2489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DMADV</a:t>
            </a:r>
            <a:r>
              <a:rPr lang="zh-CN" altLang="en-US" dirty="0"/>
              <a:t>项目方法，也称为</a:t>
            </a:r>
            <a:r>
              <a:rPr lang="en-US" altLang="zh-CN" dirty="0"/>
              <a:t>DFSS</a:t>
            </a:r>
            <a:endParaRPr lang="zh-CN" altLang="en-US" dirty="0"/>
          </a:p>
        </p:txBody>
      </p:sp>
      <p:sp>
        <p:nvSpPr>
          <p:cNvPr id="3" name="内容占位符 2"/>
          <p:cNvSpPr>
            <a:spLocks noGrp="1"/>
          </p:cNvSpPr>
          <p:nvPr>
            <p:ph idx="1"/>
          </p:nvPr>
        </p:nvSpPr>
        <p:spPr>
          <a:xfrm>
            <a:off x="601545" y="2336619"/>
            <a:ext cx="7290055" cy="3017520"/>
          </a:xfrm>
        </p:spPr>
        <p:txBody>
          <a:bodyPr>
            <a:normAutofit lnSpcReduction="10000"/>
          </a:bodyPr>
          <a:lstStyle/>
          <a:p>
            <a:r>
              <a:rPr lang="zh-CN" altLang="en-US" sz="1800" dirty="0"/>
              <a:t>包括五个步骤：</a:t>
            </a:r>
          </a:p>
          <a:p>
            <a:r>
              <a:rPr lang="en-US" altLang="zh-CN" sz="1800" dirty="0"/>
              <a:t>•D</a:t>
            </a:r>
            <a:r>
              <a:rPr lang="zh-CN" altLang="en-US" sz="1800" dirty="0"/>
              <a:t>：定义设计符合客户需要和其他目标的战略</a:t>
            </a:r>
          </a:p>
          <a:p>
            <a:r>
              <a:rPr lang="en-US" altLang="zh-CN" sz="1800" dirty="0"/>
              <a:t>•M</a:t>
            </a:r>
            <a:r>
              <a:rPr lang="zh-CN" altLang="en-US" sz="1800" dirty="0"/>
              <a:t>：摸准确定</a:t>
            </a:r>
            <a:r>
              <a:rPr lang="en-US" altLang="zh-CN" sz="1800" dirty="0"/>
              <a:t>CTQ</a:t>
            </a:r>
            <a:r>
              <a:rPr lang="zh-CN" altLang="en-US" sz="1800" dirty="0"/>
              <a:t>（对质量至关重要的参数），产品性能、生产流程性能和风险等</a:t>
            </a:r>
          </a:p>
          <a:p>
            <a:r>
              <a:rPr lang="en-US" altLang="zh-CN" sz="1800" dirty="0"/>
              <a:t>•A</a:t>
            </a:r>
            <a:r>
              <a:rPr lang="zh-CN" altLang="en-US" sz="1800" dirty="0"/>
              <a:t>：分析去考虑是否有替代方法，创建高性能的设计、评估设计技能，选择最佳的设计方案</a:t>
            </a:r>
          </a:p>
          <a:p>
            <a:r>
              <a:rPr lang="en-US" altLang="zh-CN" sz="1800" dirty="0"/>
              <a:t>•D</a:t>
            </a:r>
            <a:r>
              <a:rPr lang="zh-CN" altLang="en-US" sz="1800" dirty="0"/>
              <a:t>：设计细节、优化设计，对设计审核进行评估，这个过程可能需要模拟操作</a:t>
            </a:r>
          </a:p>
          <a:p>
            <a:r>
              <a:rPr lang="en-US" altLang="zh-CN" sz="1800" dirty="0"/>
              <a:t>•V</a:t>
            </a:r>
            <a:r>
              <a:rPr lang="zh-CN" altLang="en-US" sz="1800" dirty="0"/>
              <a:t>：检查设计，简历规范模型，实施生产流程，并且提交给流程所有者</a:t>
            </a:r>
          </a:p>
          <a:p>
            <a:endParaRPr lang="zh-CN" altLang="en-US" dirty="0"/>
          </a:p>
        </p:txBody>
      </p:sp>
    </p:spTree>
    <p:extLst>
      <p:ext uri="{BB962C8B-B14F-4D97-AF65-F5344CB8AC3E}">
        <p14:creationId xmlns:p14="http://schemas.microsoft.com/office/powerpoint/2010/main" val="39803869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贯彻实施</a:t>
            </a:r>
            <a:endParaRPr lang="zh-CN" altLang="en-US" dirty="0"/>
          </a:p>
        </p:txBody>
      </p:sp>
      <p:sp>
        <p:nvSpPr>
          <p:cNvPr id="3" name="内容占位符 2"/>
          <p:cNvSpPr>
            <a:spLocks noGrp="1"/>
          </p:cNvSpPr>
          <p:nvPr>
            <p:ph idx="1"/>
          </p:nvPr>
        </p:nvSpPr>
        <p:spPr>
          <a:xfrm>
            <a:off x="768096" y="2571750"/>
            <a:ext cx="7755419" cy="3017520"/>
          </a:xfrm>
        </p:spPr>
        <p:txBody>
          <a:bodyPr/>
          <a:lstStyle/>
          <a:p>
            <a:r>
              <a:rPr lang="zh-CN" altLang="en-US" sz="2400" dirty="0"/>
              <a:t>六西格玛一个创新的地方就是发明了一种品质管理人士“职业化”的衡量方法，在六西格玛以前，品质管理一般都是局限于管理层面，统计师一般都是在独立的品质部门。六西格玛的项目加入了一种等级制的称号（如武术中的分级），来界定各种管理职能。</a:t>
            </a:r>
          </a:p>
          <a:p>
            <a:r>
              <a:rPr lang="zh-CN" altLang="en-US" sz="2400" dirty="0"/>
              <a:t>六西格玛的职能界定保证了其成功实施。</a:t>
            </a:r>
          </a:p>
          <a:p>
            <a:endParaRPr lang="zh-CN" altLang="en-US" dirty="0"/>
          </a:p>
        </p:txBody>
      </p:sp>
    </p:spTree>
    <p:extLst>
      <p:ext uri="{BB962C8B-B14F-4D97-AF65-F5344CB8AC3E}">
        <p14:creationId xmlns:p14="http://schemas.microsoft.com/office/powerpoint/2010/main" val="41261998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8096" y="1054235"/>
            <a:ext cx="7823999" cy="5048655"/>
          </a:xfrm>
        </p:spPr>
        <p:txBody>
          <a:bodyPr>
            <a:normAutofit/>
          </a:bodyPr>
          <a:lstStyle/>
          <a:p>
            <a:pPr lvl="0"/>
            <a:r>
              <a:rPr lang="zh-CN" altLang="zh-CN" sz="2100" b="1" dirty="0">
                <a:solidFill>
                  <a:schemeClr val="accent1"/>
                </a:solidFill>
              </a:rPr>
              <a:t>领导者</a:t>
            </a:r>
            <a:r>
              <a:rPr lang="zh-CN" altLang="zh-CN" sz="2100" dirty="0"/>
              <a:t>包括</a:t>
            </a:r>
            <a:r>
              <a:rPr lang="en-US" altLang="zh-CN" sz="2100" dirty="0"/>
              <a:t>CEO</a:t>
            </a:r>
            <a:r>
              <a:rPr lang="zh-CN" altLang="zh-CN" sz="2100" dirty="0"/>
              <a:t>和企业高级管理人员，他们负责制定一套六西格玛的贯彻目标。他们也需要授权其他人员更大的自由和资源，开发新思想，进行管理创新。</a:t>
            </a:r>
          </a:p>
          <a:p>
            <a:r>
              <a:rPr lang="zh-CN" altLang="zh-CN" sz="2100" b="1" dirty="0">
                <a:solidFill>
                  <a:schemeClr val="accent1"/>
                </a:solidFill>
              </a:rPr>
              <a:t>冠军</a:t>
            </a:r>
            <a:r>
              <a:rPr lang="zh-CN" altLang="zh-CN" sz="2100" dirty="0"/>
              <a:t>统一负责组织中六西格玛的实施和执行：由领导者从企业中挑选这些人员，冠军也是黑带的导师。</a:t>
            </a:r>
            <a:r>
              <a:rPr lang="en-US" altLang="zh-CN" sz="2100" dirty="0"/>
              <a:t>(CEO</a:t>
            </a:r>
            <a:r>
              <a:rPr lang="zh-CN" altLang="en-US" sz="2100" dirty="0"/>
              <a:t>等兼职</a:t>
            </a:r>
            <a:r>
              <a:rPr lang="en-US" altLang="zh-CN" sz="2100" dirty="0"/>
              <a:t>)</a:t>
            </a:r>
            <a:endParaRPr lang="zh-CN" altLang="zh-CN" sz="2100" dirty="0"/>
          </a:p>
          <a:p>
            <a:r>
              <a:rPr lang="zh-CN" altLang="zh-CN" sz="2100" b="1" dirty="0">
                <a:solidFill>
                  <a:schemeClr val="accent1"/>
                </a:solidFill>
              </a:rPr>
              <a:t>黑带大师</a:t>
            </a:r>
            <a:r>
              <a:rPr lang="zh-CN" altLang="zh-CN" sz="2100" dirty="0"/>
              <a:t>由冠军指定作为企业内六西格玛的教练。他们完全投入六西格玛的工作，帮助冠军，指导黑带和绿带，除了统计工作以外，他们大部分时间是保证六西格玛在各个职能部门之间得到顺利的贯彻。</a:t>
            </a:r>
            <a:r>
              <a:rPr lang="en-US" altLang="zh-CN" sz="2100" dirty="0"/>
              <a:t>(</a:t>
            </a:r>
            <a:r>
              <a:rPr lang="zh-CN" altLang="en-US" sz="2100" dirty="0"/>
              <a:t>技术总负责人</a:t>
            </a:r>
            <a:r>
              <a:rPr lang="en-US" altLang="zh-CN" sz="2100" dirty="0"/>
              <a:t>)</a:t>
            </a:r>
            <a:endParaRPr lang="zh-CN" altLang="zh-CN" sz="2100" dirty="0"/>
          </a:p>
          <a:p>
            <a:pPr lvl="0"/>
            <a:r>
              <a:rPr lang="zh-CN" altLang="zh-CN" sz="2100" b="1" dirty="0">
                <a:solidFill>
                  <a:schemeClr val="accent1"/>
                </a:solidFill>
              </a:rPr>
              <a:t>黑带</a:t>
            </a:r>
            <a:r>
              <a:rPr lang="zh-CN" altLang="zh-CN" sz="2100" dirty="0"/>
              <a:t>在黑带大师的带领下，负责应用六西格玛的方法实施具体项目。他们完全投入六西格玛，主要负责项目执行、而冠军和黑带大师负责鉴定项目和功能。</a:t>
            </a:r>
            <a:r>
              <a:rPr lang="en-US" altLang="zh-CN" sz="2100" dirty="0"/>
              <a:t>(</a:t>
            </a:r>
            <a:r>
              <a:rPr lang="zh-CN" altLang="en-US" sz="2100" dirty="0"/>
              <a:t>项目负责人</a:t>
            </a:r>
            <a:r>
              <a:rPr lang="en-US" altLang="zh-CN" sz="2100" dirty="0"/>
              <a:t>)</a:t>
            </a:r>
            <a:endParaRPr lang="zh-CN" altLang="zh-CN" sz="2100" dirty="0"/>
          </a:p>
          <a:p>
            <a:pPr lvl="0"/>
            <a:r>
              <a:rPr lang="zh-CN" altLang="zh-CN" sz="2100" b="1" dirty="0">
                <a:solidFill>
                  <a:schemeClr val="accent1"/>
                </a:solidFill>
              </a:rPr>
              <a:t>绿带</a:t>
            </a:r>
            <a:r>
              <a:rPr lang="zh-CN" altLang="zh-CN" sz="2100" dirty="0"/>
              <a:t>是在进行自己工作的同时，负责开展六西格玛操作的普通员工，他们要听从黑带的指挥。</a:t>
            </a:r>
          </a:p>
          <a:p>
            <a:endParaRPr lang="zh-CN" altLang="en-US" dirty="0"/>
          </a:p>
        </p:txBody>
      </p:sp>
    </p:spTree>
    <p:extLst>
      <p:ext uri="{BB962C8B-B14F-4D97-AF65-F5344CB8AC3E}">
        <p14:creationId xmlns:p14="http://schemas.microsoft.com/office/powerpoint/2010/main" val="19340035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六西格玛使用的软件</a:t>
            </a:r>
            <a:endParaRPr lang="zh-CN" altLang="en-US" dirty="0"/>
          </a:p>
        </p:txBody>
      </p:sp>
      <p:sp>
        <p:nvSpPr>
          <p:cNvPr id="3" name="内容占位符 2"/>
          <p:cNvSpPr>
            <a:spLocks noGrp="1"/>
          </p:cNvSpPr>
          <p:nvPr>
            <p:ph idx="1"/>
          </p:nvPr>
        </p:nvSpPr>
        <p:spPr>
          <a:xfrm>
            <a:off x="510921" y="2189285"/>
            <a:ext cx="7804404" cy="3017520"/>
          </a:xfrm>
        </p:spPr>
        <p:txBody>
          <a:bodyPr>
            <a:normAutofit lnSpcReduction="10000"/>
          </a:bodyPr>
          <a:lstStyle/>
          <a:p>
            <a:r>
              <a:rPr lang="zh-CN" altLang="zh-CN" sz="2400" dirty="0"/>
              <a:t>一般六西格玛使用四类软件作为支持：</a:t>
            </a:r>
          </a:p>
          <a:p>
            <a:pPr lvl="0"/>
            <a:r>
              <a:rPr lang="en-US" altLang="zh-CN" sz="2400" dirty="0"/>
              <a:t>1</a:t>
            </a:r>
            <a:r>
              <a:rPr lang="zh-CN" altLang="en-US" sz="2400" dirty="0"/>
              <a:t>、</a:t>
            </a:r>
            <a:r>
              <a:rPr lang="zh-CN" altLang="zh-CN" sz="2400" dirty="0"/>
              <a:t>分析软件，用来进行统计和流程分析</a:t>
            </a:r>
          </a:p>
          <a:p>
            <a:pPr lvl="0"/>
            <a:r>
              <a:rPr lang="en-US" altLang="zh-CN" sz="2400" dirty="0"/>
              <a:t>2</a:t>
            </a:r>
            <a:r>
              <a:rPr lang="zh-CN" altLang="en-US" sz="2400" dirty="0"/>
              <a:t>、</a:t>
            </a:r>
            <a:r>
              <a:rPr lang="zh-CN" altLang="zh-CN" sz="2400" dirty="0"/>
              <a:t>项目管理软件，用来管理和跟踪公司整体的六西格玛项目</a:t>
            </a:r>
          </a:p>
          <a:p>
            <a:pPr lvl="0"/>
            <a:r>
              <a:rPr lang="en-US" altLang="zh-CN" sz="2400" dirty="0"/>
              <a:t>3</a:t>
            </a:r>
            <a:r>
              <a:rPr lang="zh-CN" altLang="en-US" sz="2400" dirty="0"/>
              <a:t>、</a:t>
            </a:r>
            <a:r>
              <a:rPr lang="en-US" altLang="zh-CN" sz="2400" dirty="0"/>
              <a:t>DMAIC</a:t>
            </a:r>
            <a:r>
              <a:rPr lang="zh-CN" altLang="zh-CN" sz="2400" dirty="0"/>
              <a:t>和在线精益项目协调软件，用来管理当地和全球团队</a:t>
            </a:r>
          </a:p>
          <a:p>
            <a:pPr lvl="0"/>
            <a:r>
              <a:rPr lang="en-US" altLang="zh-CN" sz="2400" dirty="0"/>
              <a:t>4</a:t>
            </a:r>
            <a:r>
              <a:rPr lang="zh-CN" altLang="en-US" sz="2400" dirty="0"/>
              <a:t>、</a:t>
            </a:r>
            <a:r>
              <a:rPr lang="zh-CN" altLang="zh-CN" sz="2400" dirty="0"/>
              <a:t>数据整理软件，用来把数据直接填入分析工具，大大缩减了收集数据的时间</a:t>
            </a:r>
          </a:p>
          <a:p>
            <a:endParaRPr lang="zh-CN" altLang="en-US" dirty="0"/>
          </a:p>
        </p:txBody>
      </p:sp>
      <p:pic>
        <p:nvPicPr>
          <p:cNvPr id="5122" name="Picture 2" descr="https://gss1.bdstatic.com/-vo3dSag_xI4khGkpoWK1HF6hhy/baike/s%3D250/sign=a4090518d11373f0f13f689a940e4b8b/1e30e924b899a9013942c6551d950a7b0208f55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414" y="5262199"/>
            <a:ext cx="2795680" cy="53677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gss1.bdstatic.com/-vo3dSag_xI4khGkpoWK1HF6hhy/baike/s%3D250/sign=96b154509245d688a702b5a194c37dab/0b55b319ebc4b74516e52a75cffc1e178a82155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7135" y="5261539"/>
            <a:ext cx="3235775" cy="556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6529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5400" dirty="0"/>
              <a:t>应用</a:t>
            </a:r>
          </a:p>
        </p:txBody>
      </p:sp>
      <p:sp>
        <p:nvSpPr>
          <p:cNvPr id="3" name="内容占位符 2"/>
          <p:cNvSpPr>
            <a:spLocks noGrp="1"/>
          </p:cNvSpPr>
          <p:nvPr>
            <p:ph idx="1"/>
          </p:nvPr>
        </p:nvSpPr>
        <p:spPr/>
        <p:txBody>
          <a:bodyPr>
            <a:normAutofit/>
          </a:bodyPr>
          <a:lstStyle/>
          <a:p>
            <a:pPr>
              <a:lnSpc>
                <a:spcPct val="100000"/>
              </a:lnSpc>
            </a:pPr>
            <a:r>
              <a:rPr lang="zh-CN" altLang="en-US" sz="2400" dirty="0"/>
              <a:t>六西格玛主要应用于大型企业。六西格玛转播中的一个重要事件就是，</a:t>
            </a:r>
            <a:r>
              <a:rPr lang="en-US" altLang="zh-CN" sz="2400" dirty="0"/>
              <a:t>GE</a:t>
            </a:r>
            <a:r>
              <a:rPr lang="zh-CN" altLang="en-US" sz="2400" dirty="0"/>
              <a:t>于</a:t>
            </a:r>
            <a:r>
              <a:rPr lang="en-US" altLang="zh-CN" sz="2400" dirty="0"/>
              <a:t>1998</a:t>
            </a:r>
            <a:r>
              <a:rPr lang="zh-CN" altLang="en-US" sz="2400" dirty="0"/>
              <a:t>年宣布利用六西格玛节省了</a:t>
            </a:r>
            <a:r>
              <a:rPr lang="en-US" altLang="zh-CN" sz="2400" dirty="0"/>
              <a:t>3.5</a:t>
            </a:r>
            <a:r>
              <a:rPr lang="zh-CN" altLang="en-US" sz="2400" dirty="0"/>
              <a:t>亿美元，这个数字后来增长到</a:t>
            </a:r>
            <a:r>
              <a:rPr lang="en-US" altLang="zh-CN" sz="2400" dirty="0"/>
              <a:t>10</a:t>
            </a:r>
            <a:r>
              <a:rPr lang="zh-CN" altLang="en-US" sz="2400" dirty="0"/>
              <a:t>亿。根据一些像托马斯</a:t>
            </a:r>
            <a:r>
              <a:rPr lang="en-US" altLang="zh-CN" sz="2400" dirty="0"/>
              <a:t>·</a:t>
            </a:r>
            <a:r>
              <a:rPr lang="zh-CN" altLang="en-US" sz="2400" dirty="0"/>
              <a:t>派兹德克和约翰</a:t>
            </a:r>
            <a:r>
              <a:rPr lang="en-US" altLang="zh-CN" sz="2400" dirty="0"/>
              <a:t>·</a:t>
            </a:r>
            <a:r>
              <a:rPr lang="zh-CN" altLang="en-US" sz="2400" dirty="0"/>
              <a:t>库尔曼等咨询专家，少于五百名员工的公司不适用于六西格玛项目的执行，或者需要改变标准，让系统适应这些小企业。这主要是因为六西格玛所需的黑带体系的基础建设，以及大型企业能让六西格玛带来更多的改良机会。</a:t>
            </a:r>
          </a:p>
        </p:txBody>
      </p:sp>
    </p:spTree>
    <p:extLst>
      <p:ext uri="{BB962C8B-B14F-4D97-AF65-F5344CB8AC3E}">
        <p14:creationId xmlns:p14="http://schemas.microsoft.com/office/powerpoint/2010/main" val="34946968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DMAIC</a:t>
            </a:r>
            <a:endParaRPr kumimoji="1" lang="zh-CN" altLang="en-US" dirty="0"/>
          </a:p>
        </p:txBody>
      </p:sp>
      <p:sp>
        <p:nvSpPr>
          <p:cNvPr id="3" name="内容占位符 2"/>
          <p:cNvSpPr>
            <a:spLocks noGrp="1"/>
          </p:cNvSpPr>
          <p:nvPr>
            <p:ph idx="1"/>
          </p:nvPr>
        </p:nvSpPr>
        <p:spPr/>
        <p:txBody>
          <a:bodyPr/>
          <a:lstStyle/>
          <a:p>
            <a:r>
              <a:rPr kumimoji="1" lang="zh-CN" altLang="en-US" dirty="0" smtClean="0"/>
              <a:t>界定（</a:t>
            </a:r>
            <a:r>
              <a:rPr kumimoji="1" lang="en-US" altLang="zh-CN" dirty="0" smtClean="0"/>
              <a:t>Define</a:t>
            </a:r>
            <a:r>
              <a:rPr kumimoji="1" lang="zh-CN" altLang="en-US" dirty="0" smtClean="0"/>
              <a:t>）：项目定义阶段</a:t>
            </a:r>
            <a:endParaRPr kumimoji="1" lang="en-US" altLang="zh-CN" dirty="0" smtClean="0"/>
          </a:p>
          <a:p>
            <a:r>
              <a:rPr kumimoji="1" lang="zh-CN" altLang="en-US" dirty="0" smtClean="0"/>
              <a:t>测量（</a:t>
            </a:r>
            <a:r>
              <a:rPr kumimoji="1" lang="en-US" altLang="zh-CN" dirty="0" smtClean="0"/>
              <a:t>Measure</a:t>
            </a:r>
            <a:r>
              <a:rPr kumimoji="1" lang="zh-CN" altLang="en-US" dirty="0" smtClean="0"/>
              <a:t>）：数据收集阶段</a:t>
            </a:r>
            <a:endParaRPr kumimoji="1" lang="en-US" altLang="zh-CN" dirty="0" smtClean="0"/>
          </a:p>
          <a:p>
            <a:r>
              <a:rPr kumimoji="1" lang="zh-CN" altLang="en-US" dirty="0" smtClean="0"/>
              <a:t>分析（</a:t>
            </a:r>
            <a:r>
              <a:rPr kumimoji="1" lang="en-US" altLang="zh-CN" dirty="0" smtClean="0"/>
              <a:t>Analyze</a:t>
            </a:r>
            <a:r>
              <a:rPr kumimoji="1" lang="zh-CN" altLang="en-US" dirty="0" smtClean="0"/>
              <a:t>）：数据分析阶段</a:t>
            </a:r>
            <a:endParaRPr kumimoji="1" lang="en-US" altLang="zh-CN" dirty="0" smtClean="0"/>
          </a:p>
          <a:p>
            <a:r>
              <a:rPr kumimoji="1" lang="zh-CN" altLang="en-US" dirty="0" smtClean="0"/>
              <a:t>改进（</a:t>
            </a:r>
            <a:r>
              <a:rPr kumimoji="1" lang="en-US" altLang="zh-CN" dirty="0" smtClean="0"/>
              <a:t>Improve</a:t>
            </a:r>
            <a:r>
              <a:rPr kumimoji="1" lang="zh-CN" altLang="en-US" dirty="0" smtClean="0"/>
              <a:t>）：项目改善阶段</a:t>
            </a:r>
            <a:endParaRPr kumimoji="1" lang="en-US" altLang="zh-CN" dirty="0" smtClean="0"/>
          </a:p>
          <a:p>
            <a:r>
              <a:rPr kumimoji="1" lang="zh-CN" altLang="en-US" dirty="0" smtClean="0"/>
              <a:t>控制（</a:t>
            </a:r>
            <a:r>
              <a:rPr kumimoji="1" lang="en-US" altLang="zh-CN" dirty="0" smtClean="0"/>
              <a:t>Control</a:t>
            </a:r>
            <a:r>
              <a:rPr kumimoji="1" lang="zh-CN" altLang="en-US" dirty="0" smtClean="0"/>
              <a:t>）：项目控制阶段</a:t>
            </a:r>
            <a:endParaRPr kumimoji="1" lang="zh-CN" altLang="en-US" dirty="0"/>
          </a:p>
        </p:txBody>
      </p:sp>
    </p:spTree>
    <p:extLst>
      <p:ext uri="{BB962C8B-B14F-4D97-AF65-F5344CB8AC3E}">
        <p14:creationId xmlns:p14="http://schemas.microsoft.com/office/powerpoint/2010/main" val="322079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标注 6"/>
          <p:cNvSpPr/>
          <p:nvPr/>
        </p:nvSpPr>
        <p:spPr>
          <a:xfrm>
            <a:off x="603524" y="755992"/>
            <a:ext cx="2024316" cy="1453808"/>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明确问题目标和流程</a:t>
            </a:r>
            <a:endParaRPr kumimoji="1" lang="zh-CN" altLang="en-US" dirty="0"/>
          </a:p>
        </p:txBody>
      </p:sp>
      <p:sp>
        <p:nvSpPr>
          <p:cNvPr id="8" name="矩形标注 7"/>
          <p:cNvSpPr/>
          <p:nvPr/>
        </p:nvSpPr>
        <p:spPr>
          <a:xfrm>
            <a:off x="2025836" y="755992"/>
            <a:ext cx="2024316" cy="1453808"/>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分析问题的焦点明确问题的核心</a:t>
            </a:r>
            <a:endParaRPr kumimoji="1" lang="zh-CN" altLang="en-US" dirty="0"/>
          </a:p>
        </p:txBody>
      </p:sp>
      <p:sp>
        <p:nvSpPr>
          <p:cNvPr id="9" name="矩形标注 8"/>
          <p:cNvSpPr/>
          <p:nvPr/>
        </p:nvSpPr>
        <p:spPr>
          <a:xfrm>
            <a:off x="3334989" y="755992"/>
            <a:ext cx="2024316" cy="1453808"/>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对评估出得问题原因进一步分析</a:t>
            </a:r>
            <a:endParaRPr kumimoji="1" lang="zh-CN" altLang="en-US" dirty="0"/>
          </a:p>
        </p:txBody>
      </p:sp>
      <p:sp>
        <p:nvSpPr>
          <p:cNvPr id="10" name="矩形标注 9"/>
          <p:cNvSpPr/>
          <p:nvPr/>
        </p:nvSpPr>
        <p:spPr>
          <a:xfrm>
            <a:off x="4757302" y="755992"/>
            <a:ext cx="2024316" cy="1453808"/>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拟定新的改进方案</a:t>
            </a:r>
            <a:endParaRPr kumimoji="1" lang="zh-CN" altLang="en-US" dirty="0"/>
          </a:p>
        </p:txBody>
      </p:sp>
      <p:sp>
        <p:nvSpPr>
          <p:cNvPr id="11" name="矩形标注 10"/>
          <p:cNvSpPr/>
          <p:nvPr/>
        </p:nvSpPr>
        <p:spPr>
          <a:xfrm>
            <a:off x="6255055" y="755992"/>
            <a:ext cx="2024316" cy="1453808"/>
          </a:xfrm>
          <a:prstGeom prst="wedge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根据改进方案确定控制标准</a:t>
            </a:r>
            <a:endParaRPr kumimoji="1" lang="zh-CN" altLang="en-US" dirty="0"/>
          </a:p>
        </p:txBody>
      </p:sp>
      <p:pic>
        <p:nvPicPr>
          <p:cNvPr id="4" name="内容占位符 3" descr="屏幕快照 2017-10-30 下午2.03.48.png"/>
          <p:cNvPicPr>
            <a:picLocks noGrp="1" noChangeAspect="1"/>
          </p:cNvPicPr>
          <p:nvPr>
            <p:ph idx="1"/>
          </p:nvPr>
        </p:nvPicPr>
        <p:blipFill>
          <a:blip r:embed="rId2" cstate="email">
            <a:extLst>
              <a:ext uri="{28A0092B-C50C-407E-A947-70E740481C1C}">
                <a14:useLocalDpi xmlns:a14="http://schemas.microsoft.com/office/drawing/2010/main" val="0"/>
              </a:ext>
            </a:extLst>
          </a:blip>
          <a:srcRect t="-184078" b="-184078"/>
          <a:stretch>
            <a:fillRect/>
          </a:stretch>
        </p:blipFill>
        <p:spPr>
          <a:xfrm>
            <a:off x="565384" y="914400"/>
            <a:ext cx="7677786" cy="4620045"/>
          </a:xfrm>
        </p:spPr>
      </p:pic>
    </p:spTree>
    <p:extLst>
      <p:ext uri="{BB962C8B-B14F-4D97-AF65-F5344CB8AC3E}">
        <p14:creationId xmlns:p14="http://schemas.microsoft.com/office/powerpoint/2010/main" val="414434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举个经典例子－－烤面包</a:t>
            </a:r>
            <a:endParaRPr kumimoji="1" lang="zh-CN" altLang="en-US" dirty="0"/>
          </a:p>
        </p:txBody>
      </p:sp>
      <p:sp>
        <p:nvSpPr>
          <p:cNvPr id="3" name="内容占位符 2"/>
          <p:cNvSpPr>
            <a:spLocks noGrp="1"/>
          </p:cNvSpPr>
          <p:nvPr>
            <p:ph idx="1"/>
          </p:nvPr>
        </p:nvSpPr>
        <p:spPr/>
        <p:txBody>
          <a:bodyPr/>
          <a:lstStyle/>
          <a:p>
            <a:r>
              <a:rPr kumimoji="1" lang="zh-CN" altLang="en-US" dirty="0" smtClean="0"/>
              <a:t>第一步：界定</a:t>
            </a:r>
            <a:endParaRPr kumimoji="1" lang="en-US" altLang="zh-CN" dirty="0" smtClean="0"/>
          </a:p>
          <a:p>
            <a:r>
              <a:rPr kumimoji="1" lang="zh-CN" altLang="en-US" dirty="0" smtClean="0"/>
              <a:t>顾客看重的是什么？</a:t>
            </a:r>
            <a:endParaRPr kumimoji="1" lang="en-US" altLang="zh-CN" dirty="0" smtClean="0"/>
          </a:p>
          <a:p>
            <a:r>
              <a:rPr kumimoji="1" lang="zh-CN" altLang="en-US" dirty="0" smtClean="0"/>
              <a:t>蓬松度？软硬度？香味？新鲜？口味？</a:t>
            </a:r>
            <a:endParaRPr kumimoji="1" lang="en-US" altLang="zh-CN" dirty="0" smtClean="0"/>
          </a:p>
          <a:p>
            <a:endParaRPr kumimoji="1" lang="zh-CN" altLang="en-US" dirty="0"/>
          </a:p>
        </p:txBody>
      </p:sp>
      <p:pic>
        <p:nvPicPr>
          <p:cNvPr id="4" name="图片 3" descr="屏幕快照 2017-10-30 下午2.03.48.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spTree>
    <p:extLst>
      <p:ext uri="{BB962C8B-B14F-4D97-AF65-F5344CB8AC3E}">
        <p14:creationId xmlns:p14="http://schemas.microsoft.com/office/powerpoint/2010/main" val="13040049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第二步：</a:t>
            </a:r>
            <a:r>
              <a:rPr kumimoji="1" lang="zh-CN" altLang="en-US" dirty="0" smtClean="0"/>
              <a:t>测量</a:t>
            </a:r>
            <a:endParaRPr kumimoji="1" lang="zh-CN" altLang="en-US" dirty="0"/>
          </a:p>
        </p:txBody>
      </p:sp>
      <p:sp>
        <p:nvSpPr>
          <p:cNvPr id="3" name="内容占位符 2"/>
          <p:cNvSpPr>
            <a:spLocks noGrp="1"/>
          </p:cNvSpPr>
          <p:nvPr>
            <p:ph idx="1"/>
          </p:nvPr>
        </p:nvSpPr>
        <p:spPr/>
        <p:txBody>
          <a:bodyPr/>
          <a:lstStyle/>
          <a:p>
            <a:r>
              <a:rPr kumimoji="1" lang="en-US" altLang="zh-CN" dirty="0" smtClean="0"/>
              <a:t>1.</a:t>
            </a:r>
            <a:r>
              <a:rPr kumimoji="1" lang="zh-CN" altLang="en-US" dirty="0" smtClean="0"/>
              <a:t>如何评判“口味”的能力</a:t>
            </a:r>
            <a:endParaRPr kumimoji="1" lang="en-US" altLang="zh-CN" dirty="0" smtClean="0"/>
          </a:p>
          <a:p>
            <a:pPr lvl="1"/>
            <a:r>
              <a:rPr kumimoji="1" lang="zh-CN" altLang="en-US" dirty="0"/>
              <a:t>由品尝小组从</a:t>
            </a:r>
            <a:r>
              <a:rPr kumimoji="1" lang="en-US" altLang="zh-CN" dirty="0"/>
              <a:t>1</a:t>
            </a:r>
            <a:r>
              <a:rPr kumimoji="1" lang="zh-CN" altLang="en-US" dirty="0"/>
              <a:t>到</a:t>
            </a:r>
            <a:r>
              <a:rPr kumimoji="1" lang="en-US" altLang="zh-CN" dirty="0"/>
              <a:t>10</a:t>
            </a:r>
            <a:r>
              <a:rPr kumimoji="1" lang="zh-CN" altLang="en-US" dirty="0"/>
              <a:t>进行打分</a:t>
            </a:r>
            <a:endParaRPr kumimoji="1" lang="en-US" altLang="zh-CN" dirty="0"/>
          </a:p>
          <a:p>
            <a:pPr lvl="1"/>
            <a:r>
              <a:rPr kumimoji="1" lang="zh-CN" altLang="en-US" dirty="0"/>
              <a:t>目标：平均为</a:t>
            </a:r>
            <a:r>
              <a:rPr kumimoji="1" lang="en-US" altLang="zh-CN" dirty="0"/>
              <a:t>8</a:t>
            </a:r>
          </a:p>
          <a:p>
            <a:pPr lvl="1"/>
            <a:r>
              <a:rPr kumimoji="1" lang="zh-CN" altLang="en-US" dirty="0"/>
              <a:t>期望：不要低于</a:t>
            </a:r>
            <a:r>
              <a:rPr kumimoji="1" lang="en-US" altLang="zh-CN" dirty="0"/>
              <a:t>7</a:t>
            </a:r>
            <a:r>
              <a:rPr kumimoji="1" lang="zh-CN" altLang="en-US" dirty="0"/>
              <a:t>，</a:t>
            </a:r>
            <a:r>
              <a:rPr kumimoji="1" lang="zh-CN" altLang="en-US" dirty="0" smtClean="0"/>
              <a:t>否则即为缺陷</a:t>
            </a:r>
            <a:endParaRPr kumimoji="1" lang="en-US" altLang="zh-CN" dirty="0" smtClean="0"/>
          </a:p>
          <a:p>
            <a:r>
              <a:rPr kumimoji="1" lang="en-US" altLang="zh-CN" dirty="0" smtClean="0"/>
              <a:t>2.</a:t>
            </a:r>
            <a:r>
              <a:rPr kumimoji="1" lang="zh-CN" altLang="en-US" dirty="0" smtClean="0"/>
              <a:t>验证评判标准系统</a:t>
            </a:r>
            <a:endParaRPr kumimoji="1" lang="en-US" altLang="zh-CN" dirty="0" smtClean="0"/>
          </a:p>
          <a:p>
            <a:pPr marL="228600" lvl="1" indent="0">
              <a:buNone/>
            </a:pPr>
            <a:endParaRPr kumimoji="1" lang="en-US" altLang="zh-CN" dirty="0" smtClean="0"/>
          </a:p>
        </p:txBody>
      </p:sp>
      <p:pic>
        <p:nvPicPr>
          <p:cNvPr id="4" name="图片 3" descr="屏幕快照 2017-10-28 上午11.21.23.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058140" y="2546817"/>
            <a:ext cx="3340100" cy="2946400"/>
          </a:xfrm>
          <a:prstGeom prst="rect">
            <a:avLst/>
          </a:prstGeom>
        </p:spPr>
      </p:pic>
      <p:pic>
        <p:nvPicPr>
          <p:cNvPr id="5" name="图片 4" descr="屏幕快照 2017-10-30 下午2.03.48.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spTree>
    <p:extLst>
      <p:ext uri="{BB962C8B-B14F-4D97-AF65-F5344CB8AC3E}">
        <p14:creationId xmlns:p14="http://schemas.microsoft.com/office/powerpoint/2010/main" val="11088360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第二步：</a:t>
            </a:r>
            <a:r>
              <a:rPr kumimoji="1" lang="zh-CN" altLang="en-US" dirty="0" smtClean="0"/>
              <a:t>测量</a:t>
            </a:r>
            <a:endParaRPr kumimoji="1" lang="zh-CN" altLang="en-US" dirty="0"/>
          </a:p>
        </p:txBody>
      </p:sp>
      <p:sp>
        <p:nvSpPr>
          <p:cNvPr id="3" name="内容占位符 2"/>
          <p:cNvSpPr>
            <a:spLocks noGrp="1"/>
          </p:cNvSpPr>
          <p:nvPr>
            <p:ph idx="1"/>
          </p:nvPr>
        </p:nvSpPr>
        <p:spPr/>
        <p:txBody>
          <a:bodyPr/>
          <a:lstStyle/>
          <a:p>
            <a:r>
              <a:rPr kumimoji="1" lang="en-US" altLang="zh-CN" dirty="0" smtClean="0"/>
              <a:t>3.</a:t>
            </a:r>
            <a:r>
              <a:rPr kumimoji="1" lang="zh-CN" altLang="en-US" dirty="0" smtClean="0"/>
              <a:t>建立关于口味的产品能力</a:t>
            </a:r>
            <a:endParaRPr kumimoji="1" lang="en-US" altLang="zh-CN" dirty="0"/>
          </a:p>
          <a:p>
            <a:pPr lvl="1"/>
            <a:r>
              <a:rPr kumimoji="1" lang="zh-CN" altLang="en-US" dirty="0" smtClean="0"/>
              <a:t>平均值＝</a:t>
            </a:r>
            <a:r>
              <a:rPr kumimoji="1" lang="en-US" altLang="zh-CN" dirty="0" smtClean="0"/>
              <a:t>(</a:t>
            </a:r>
            <a:r>
              <a:rPr kumimoji="1" lang="zh-CN" altLang="zh-CN" dirty="0" smtClean="0"/>
              <a:t>1</a:t>
            </a:r>
            <a:r>
              <a:rPr kumimoji="1" lang="zh-CN" altLang="en-US" dirty="0" smtClean="0"/>
              <a:t>*</a:t>
            </a:r>
            <a:r>
              <a:rPr kumimoji="1" lang="en-US" altLang="zh-CN" dirty="0" smtClean="0"/>
              <a:t>3+1</a:t>
            </a:r>
            <a:r>
              <a:rPr kumimoji="1" lang="zh-CN" altLang="en-US" dirty="0" smtClean="0"/>
              <a:t>*</a:t>
            </a:r>
            <a:r>
              <a:rPr kumimoji="1" lang="en-US" altLang="zh-CN" dirty="0" smtClean="0"/>
              <a:t>4+2</a:t>
            </a:r>
            <a:r>
              <a:rPr kumimoji="1" lang="zh-CN" altLang="en-US" dirty="0" smtClean="0"/>
              <a:t>*</a:t>
            </a:r>
            <a:r>
              <a:rPr kumimoji="1" lang="en-US" altLang="zh-CN" dirty="0" smtClean="0"/>
              <a:t>5+</a:t>
            </a:r>
            <a:r>
              <a:rPr kumimoji="1" lang="zh-CN" altLang="en-US" dirty="0" smtClean="0"/>
              <a:t>*</a:t>
            </a:r>
            <a:r>
              <a:rPr kumimoji="1" lang="zh-CN" altLang="zh-CN" dirty="0" smtClean="0"/>
              <a:t>3</a:t>
            </a:r>
            <a:r>
              <a:rPr kumimoji="1" lang="zh-CN" altLang="en-US" dirty="0" smtClean="0"/>
              <a:t>*</a:t>
            </a:r>
            <a:r>
              <a:rPr kumimoji="1" lang="en-US" altLang="zh-CN" dirty="0" smtClean="0"/>
              <a:t>6+4</a:t>
            </a:r>
            <a:r>
              <a:rPr kumimoji="1" lang="zh-CN" altLang="en-US" dirty="0" smtClean="0"/>
              <a:t>*</a:t>
            </a:r>
            <a:r>
              <a:rPr kumimoji="1" lang="en-US" altLang="zh-CN" dirty="0" smtClean="0"/>
              <a:t>7+6</a:t>
            </a:r>
            <a:r>
              <a:rPr kumimoji="1" lang="zh-CN" altLang="en-US" dirty="0" smtClean="0"/>
              <a:t>*</a:t>
            </a:r>
            <a:r>
              <a:rPr kumimoji="1" lang="en-US" altLang="zh-CN" dirty="0" smtClean="0"/>
              <a:t>8+4</a:t>
            </a:r>
            <a:r>
              <a:rPr kumimoji="1" lang="zh-CN" altLang="en-US" dirty="0" smtClean="0"/>
              <a:t>*</a:t>
            </a:r>
            <a:r>
              <a:rPr kumimoji="1" lang="en-US" altLang="zh-CN" dirty="0" smtClean="0"/>
              <a:t>9+3</a:t>
            </a:r>
            <a:r>
              <a:rPr kumimoji="1" lang="zh-CN" altLang="en-US" dirty="0" smtClean="0"/>
              <a:t>*</a:t>
            </a:r>
            <a:r>
              <a:rPr kumimoji="1" lang="en-US" altLang="zh-CN" dirty="0" smtClean="0"/>
              <a:t>10</a:t>
            </a:r>
            <a:r>
              <a:rPr kumimoji="1" lang="zh-CN" altLang="en-US" dirty="0"/>
              <a:t>)</a:t>
            </a:r>
            <a:r>
              <a:rPr kumimoji="1" lang="zh-CN" altLang="en-US" dirty="0" smtClean="0"/>
              <a:t>／</a:t>
            </a:r>
            <a:r>
              <a:rPr kumimoji="1" lang="en-US" altLang="zh-CN" dirty="0" smtClean="0"/>
              <a:t>24</a:t>
            </a:r>
            <a:r>
              <a:rPr kumimoji="1" lang="zh-CN" altLang="en-US" dirty="0" smtClean="0"/>
              <a:t>＝</a:t>
            </a:r>
            <a:r>
              <a:rPr kumimoji="1" lang="en-US" altLang="zh-CN" dirty="0" smtClean="0"/>
              <a:t>7.4</a:t>
            </a:r>
          </a:p>
          <a:p>
            <a:pPr lvl="1"/>
            <a:r>
              <a:rPr kumimoji="1" lang="zh-CN" altLang="en-US" dirty="0" smtClean="0"/>
              <a:t>缺陷率＝</a:t>
            </a:r>
            <a:r>
              <a:rPr kumimoji="1" lang="en-US" altLang="zh-CN" dirty="0" smtClean="0"/>
              <a:t>7(</a:t>
            </a:r>
            <a:r>
              <a:rPr kumimoji="1" lang="zh-CN" altLang="en-US" dirty="0" smtClean="0"/>
              <a:t>小于</a:t>
            </a:r>
            <a:r>
              <a:rPr kumimoji="1" lang="en-US" altLang="zh-CN" dirty="0" smtClean="0"/>
              <a:t>7</a:t>
            </a:r>
            <a:r>
              <a:rPr kumimoji="1" lang="zh-CN" altLang="en-US" dirty="0" smtClean="0"/>
              <a:t>的数量</a:t>
            </a:r>
            <a:r>
              <a:rPr kumimoji="1" lang="en-US" altLang="zh-CN" dirty="0" smtClean="0"/>
              <a:t>)</a:t>
            </a:r>
            <a:r>
              <a:rPr kumimoji="1" lang="zh-CN" altLang="en-US" dirty="0" smtClean="0"/>
              <a:t>/</a:t>
            </a:r>
            <a:r>
              <a:rPr kumimoji="1" lang="en-US" altLang="zh-CN" dirty="0" smtClean="0"/>
              <a:t>24</a:t>
            </a:r>
            <a:r>
              <a:rPr kumimoji="1" lang="zh-CN" altLang="en-US" dirty="0" smtClean="0"/>
              <a:t>＝</a:t>
            </a:r>
            <a:r>
              <a:rPr kumimoji="1" lang="en-US" altLang="zh-CN" dirty="0" smtClean="0"/>
              <a:t>0.292</a:t>
            </a:r>
            <a:endParaRPr kumimoji="1" lang="zh-CN" altLang="en-US" dirty="0" smtClean="0"/>
          </a:p>
        </p:txBody>
      </p:sp>
      <p:pic>
        <p:nvPicPr>
          <p:cNvPr id="4" name="图片 3" descr="屏幕快照 2017-10-28 上午11.36.07.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97126" y="3149659"/>
            <a:ext cx="3136900" cy="3086100"/>
          </a:xfrm>
          <a:prstGeom prst="rect">
            <a:avLst/>
          </a:prstGeom>
        </p:spPr>
      </p:pic>
      <p:pic>
        <p:nvPicPr>
          <p:cNvPr id="5" name="图片 4" descr="屏幕快照 2017-10-30 下午2.03.48.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spTree>
    <p:extLst>
      <p:ext uri="{BB962C8B-B14F-4D97-AF65-F5344CB8AC3E}">
        <p14:creationId xmlns:p14="http://schemas.microsoft.com/office/powerpoint/2010/main" val="31509946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第三步</a:t>
            </a:r>
            <a:r>
              <a:rPr kumimoji="1" lang="zh-CN" altLang="zh-CN" dirty="0"/>
              <a:t>：</a:t>
            </a:r>
            <a:r>
              <a:rPr kumimoji="1" lang="zh-CN" altLang="en-US" dirty="0"/>
              <a:t>分析</a:t>
            </a:r>
            <a:r>
              <a:rPr kumimoji="1" lang="en-US" altLang="zh-CN" dirty="0"/>
              <a:t/>
            </a:r>
            <a:br>
              <a:rPr kumimoji="1" lang="en-US" altLang="zh-CN" dirty="0"/>
            </a:br>
            <a:endParaRPr kumimoji="1" lang="zh-CN" altLang="en-US" dirty="0"/>
          </a:p>
        </p:txBody>
      </p:sp>
      <p:sp>
        <p:nvSpPr>
          <p:cNvPr id="3" name="内容占位符 2"/>
          <p:cNvSpPr>
            <a:spLocks noGrp="1"/>
          </p:cNvSpPr>
          <p:nvPr>
            <p:ph idx="1"/>
          </p:nvPr>
        </p:nvSpPr>
        <p:spPr/>
        <p:txBody>
          <a:bodyPr/>
          <a:lstStyle/>
          <a:p>
            <a:pPr lvl="1"/>
            <a:r>
              <a:rPr kumimoji="1" lang="zh-CN" altLang="en-US" dirty="0" smtClean="0"/>
              <a:t>定下改进方案：</a:t>
            </a:r>
            <a:endParaRPr kumimoji="1" lang="en-US" altLang="zh-CN" dirty="0" smtClean="0"/>
          </a:p>
          <a:p>
            <a:pPr lvl="2"/>
            <a:r>
              <a:rPr kumimoji="1" lang="en-US" altLang="zh-CN" dirty="0" smtClean="0"/>
              <a:t>1.</a:t>
            </a:r>
            <a:r>
              <a:rPr kumimoji="1" lang="zh-CN" altLang="en-US" dirty="0" smtClean="0"/>
              <a:t>将竞争对手设为标杆</a:t>
            </a:r>
            <a:endParaRPr kumimoji="1" lang="en-US" altLang="zh-CN" dirty="0" smtClean="0"/>
          </a:p>
          <a:p>
            <a:pPr lvl="2"/>
            <a:r>
              <a:rPr kumimoji="1" lang="zh-CN" altLang="zh-CN" dirty="0" smtClean="0"/>
              <a:t>2</a:t>
            </a:r>
            <a:r>
              <a:rPr kumimoji="1" lang="en-US" altLang="zh-CN" dirty="0" smtClean="0"/>
              <a:t>.</a:t>
            </a:r>
            <a:r>
              <a:rPr kumimoji="1" lang="zh-CN" altLang="en-US" dirty="0" smtClean="0"/>
              <a:t>关注缺陷</a:t>
            </a:r>
            <a:endParaRPr kumimoji="1" lang="en-US" altLang="zh-CN" dirty="0" smtClean="0"/>
          </a:p>
          <a:p>
            <a:pPr lvl="2"/>
            <a:r>
              <a:rPr kumimoji="1" lang="zh-CN" altLang="zh-CN" dirty="0" smtClean="0"/>
              <a:t>3</a:t>
            </a:r>
            <a:r>
              <a:rPr kumimoji="1" lang="en-US" altLang="zh-CN" dirty="0" smtClean="0"/>
              <a:t>.</a:t>
            </a:r>
            <a:r>
              <a:rPr kumimoji="1" lang="zh-CN" altLang="en-US" dirty="0" smtClean="0"/>
              <a:t>明确可接受的西格玛水平</a:t>
            </a:r>
            <a:endParaRPr kumimoji="1" lang="en-US" altLang="zh-CN" dirty="0" smtClean="0"/>
          </a:p>
          <a:p>
            <a:pPr lvl="2"/>
            <a:r>
              <a:rPr kumimoji="1" lang="zh-CN" altLang="zh-CN" dirty="0" smtClean="0"/>
              <a:t>4</a:t>
            </a:r>
            <a:r>
              <a:rPr kumimoji="1" lang="en-US" altLang="zh-CN" dirty="0" smtClean="0"/>
              <a:t>.</a:t>
            </a:r>
            <a:r>
              <a:rPr kumimoji="1" lang="zh-CN" altLang="en-US" dirty="0" smtClean="0"/>
              <a:t>设定相应改进目标（例如：盐的用量，面粉品牌、烘烤温度）</a:t>
            </a:r>
            <a:endParaRPr kumimoji="1" lang="zh-CN" altLang="en-US" dirty="0"/>
          </a:p>
        </p:txBody>
      </p:sp>
      <p:pic>
        <p:nvPicPr>
          <p:cNvPr id="4" name="图片 3" descr="屏幕快照 2017-10-30 下午2.03.48.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spTree>
    <p:extLst>
      <p:ext uri="{BB962C8B-B14F-4D97-AF65-F5344CB8AC3E}">
        <p14:creationId xmlns:p14="http://schemas.microsoft.com/office/powerpoint/2010/main" val="36037237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第四步：提</a:t>
            </a:r>
            <a:r>
              <a:rPr kumimoji="1" lang="zh-CN" altLang="en-US" dirty="0" smtClean="0"/>
              <a:t>高</a:t>
            </a:r>
            <a:endParaRPr kumimoji="1" lang="zh-CN" altLang="en-US" dirty="0"/>
          </a:p>
        </p:txBody>
      </p:sp>
      <p:sp>
        <p:nvSpPr>
          <p:cNvPr id="3" name="内容占位符 2"/>
          <p:cNvSpPr>
            <a:spLocks noGrp="1"/>
          </p:cNvSpPr>
          <p:nvPr>
            <p:ph idx="1"/>
          </p:nvPr>
        </p:nvSpPr>
        <p:spPr/>
        <p:txBody>
          <a:bodyPr/>
          <a:lstStyle/>
          <a:p>
            <a:pPr lvl="1"/>
            <a:r>
              <a:rPr kumimoji="1" lang="zh-CN" altLang="zh-CN" dirty="0" smtClean="0"/>
              <a:t>1</a:t>
            </a:r>
            <a:r>
              <a:rPr kumimoji="1" lang="en-US" altLang="zh-CN" dirty="0" smtClean="0"/>
              <a:t>.</a:t>
            </a:r>
            <a:r>
              <a:rPr kumimoji="1" lang="zh-CN" altLang="en-US" dirty="0" smtClean="0"/>
              <a:t>筛选波动根源</a:t>
            </a:r>
            <a:endParaRPr kumimoji="1" lang="en-US" altLang="zh-CN" dirty="0" smtClean="0"/>
          </a:p>
          <a:p>
            <a:pPr marL="228600" lvl="1" indent="0">
              <a:buNone/>
            </a:pPr>
            <a:r>
              <a:rPr kumimoji="1" lang="en-US" altLang="zh-CN" dirty="0"/>
              <a:t>	</a:t>
            </a:r>
            <a:r>
              <a:rPr kumimoji="1" lang="zh-CN" altLang="en-US" dirty="0" smtClean="0"/>
              <a:t>设计实验、采用潜在波动的不同来源</a:t>
            </a:r>
            <a:endParaRPr kumimoji="1" lang="en-US" altLang="zh-CN" dirty="0" smtClean="0"/>
          </a:p>
          <a:p>
            <a:pPr marL="228600" lvl="1" indent="0">
              <a:buNone/>
            </a:pPr>
            <a:r>
              <a:rPr kumimoji="1" lang="en-US" altLang="zh-CN" dirty="0"/>
              <a:t>	</a:t>
            </a:r>
            <a:endParaRPr kumimoji="1" lang="en-US" altLang="zh-CN" dirty="0" smtClean="0"/>
          </a:p>
        </p:txBody>
      </p:sp>
      <p:pic>
        <p:nvPicPr>
          <p:cNvPr id="4" name="图片 3" descr="屏幕快照 2017-10-30 下午2.03.48.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sp>
        <p:nvSpPr>
          <p:cNvPr id="5" name="圆角矩形 4"/>
          <p:cNvSpPr/>
          <p:nvPr/>
        </p:nvSpPr>
        <p:spPr>
          <a:xfrm>
            <a:off x="1106459" y="3931137"/>
            <a:ext cx="1244766" cy="59101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调料的用量</a:t>
            </a:r>
            <a:endParaRPr kumimoji="1" lang="zh-CN" altLang="en-US" dirty="0"/>
          </a:p>
        </p:txBody>
      </p:sp>
      <p:sp>
        <p:nvSpPr>
          <p:cNvPr id="6" name="圆角矩形 5"/>
          <p:cNvSpPr/>
          <p:nvPr/>
        </p:nvSpPr>
        <p:spPr>
          <a:xfrm>
            <a:off x="3433998" y="3931137"/>
            <a:ext cx="1244766" cy="59101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面粉的品牌</a:t>
            </a:r>
            <a:endParaRPr kumimoji="1" lang="zh-CN" altLang="en-US" dirty="0"/>
          </a:p>
        </p:txBody>
      </p:sp>
      <p:sp>
        <p:nvSpPr>
          <p:cNvPr id="7" name="圆角矩形 6"/>
          <p:cNvSpPr/>
          <p:nvPr/>
        </p:nvSpPr>
        <p:spPr>
          <a:xfrm>
            <a:off x="5840341" y="3931137"/>
            <a:ext cx="1244766" cy="59101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dirty="0" smtClean="0"/>
              <a:t>烘烤温度</a:t>
            </a:r>
            <a:endParaRPr kumimoji="1" lang="zh-CN" altLang="en-US" dirty="0"/>
          </a:p>
        </p:txBody>
      </p:sp>
    </p:spTree>
    <p:extLst>
      <p:ext uri="{BB962C8B-B14F-4D97-AF65-F5344CB8AC3E}">
        <p14:creationId xmlns:p14="http://schemas.microsoft.com/office/powerpoint/2010/main" val="39067757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第四步：提高</a:t>
            </a:r>
            <a:endParaRPr kumimoji="1" lang="zh-CN" altLang="en-US" dirty="0"/>
          </a:p>
        </p:txBody>
      </p:sp>
      <p:sp>
        <p:nvSpPr>
          <p:cNvPr id="3" name="内容占位符 2"/>
          <p:cNvSpPr>
            <a:spLocks noGrp="1"/>
          </p:cNvSpPr>
          <p:nvPr>
            <p:ph idx="1"/>
          </p:nvPr>
        </p:nvSpPr>
        <p:spPr/>
        <p:txBody>
          <a:bodyPr/>
          <a:lstStyle/>
          <a:p>
            <a:pPr marL="228600" lvl="1">
              <a:spcBef>
                <a:spcPts val="1800"/>
              </a:spcBef>
              <a:buClr>
                <a:schemeClr val="accent1"/>
              </a:buClr>
            </a:pPr>
            <a:r>
              <a:rPr kumimoji="1" lang="en-US" altLang="zh-CN" dirty="0"/>
              <a:t>2.</a:t>
            </a:r>
            <a:r>
              <a:rPr kumimoji="1" lang="zh-CN" altLang="en-US" dirty="0"/>
              <a:t>发现关键变量与产品能力的关</a:t>
            </a:r>
            <a:r>
              <a:rPr kumimoji="1" lang="zh-CN" altLang="en-US" dirty="0" smtClean="0"/>
              <a:t>系（烘烤温度与面粉品牌）</a:t>
            </a:r>
            <a:endParaRPr kumimoji="1" lang="en-US" altLang="zh-CN" dirty="0"/>
          </a:p>
          <a:p>
            <a:endParaRPr kumimoji="1" lang="zh-CN" altLang="en-US" dirty="0"/>
          </a:p>
        </p:txBody>
      </p:sp>
      <p:pic>
        <p:nvPicPr>
          <p:cNvPr id="4" name="图片 3" descr="屏幕快照 2017-10-30 下午2.03.48.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1344895812"/>
              </p:ext>
            </p:extLst>
          </p:nvPr>
        </p:nvGraphicFramePr>
        <p:xfrm>
          <a:off x="1121652" y="2718550"/>
          <a:ext cx="6096000" cy="33375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zh-CN" altLang="en-US" dirty="0" smtClean="0"/>
                        <a:t>次数</a:t>
                      </a:r>
                      <a:endParaRPr lang="zh-CN" altLang="en-US" dirty="0"/>
                    </a:p>
                  </a:txBody>
                  <a:tcPr/>
                </a:tc>
                <a:tc>
                  <a:txBody>
                    <a:bodyPr/>
                    <a:lstStyle/>
                    <a:p>
                      <a:r>
                        <a:rPr lang="zh-CN" altLang="en-US" dirty="0" smtClean="0"/>
                        <a:t>温度</a:t>
                      </a:r>
                      <a:endParaRPr lang="zh-CN" altLang="en-US" dirty="0"/>
                    </a:p>
                  </a:txBody>
                  <a:tcPr/>
                </a:tc>
                <a:tc>
                  <a:txBody>
                    <a:bodyPr/>
                    <a:lstStyle/>
                    <a:p>
                      <a:r>
                        <a:rPr lang="zh-CN" altLang="en-US" dirty="0" smtClean="0"/>
                        <a:t>面粉品牌</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smtClean="0"/>
                        <a:t>1</a:t>
                      </a:r>
                      <a:endParaRPr lang="zh-CN" altLang="en-US" dirty="0"/>
                    </a:p>
                  </a:txBody>
                  <a:tcPr/>
                </a:tc>
                <a:tc>
                  <a:txBody>
                    <a:bodyPr/>
                    <a:lstStyle/>
                    <a:p>
                      <a:r>
                        <a:rPr lang="en-US" altLang="zh-CN" dirty="0" smtClean="0"/>
                        <a:t>325</a:t>
                      </a:r>
                      <a:endParaRPr lang="zh-CN" altLang="en-US" dirty="0"/>
                    </a:p>
                  </a:txBody>
                  <a:tcPr/>
                </a:tc>
                <a:tc>
                  <a:txBody>
                    <a:bodyPr/>
                    <a:lstStyle/>
                    <a:p>
                      <a:r>
                        <a:rPr lang="en-US" altLang="zh-CN" dirty="0" smtClean="0"/>
                        <a:t>a</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smtClean="0"/>
                        <a:t>2</a:t>
                      </a:r>
                      <a:endParaRPr lang="zh-CN" altLang="en-US" dirty="0"/>
                    </a:p>
                  </a:txBody>
                  <a:tcPr/>
                </a:tc>
                <a:tc>
                  <a:txBody>
                    <a:bodyPr/>
                    <a:lstStyle/>
                    <a:p>
                      <a:r>
                        <a:rPr lang="en-US" altLang="zh-CN" dirty="0" smtClean="0"/>
                        <a:t>325</a:t>
                      </a:r>
                      <a:endParaRPr lang="zh-CN" altLang="en-US" dirty="0"/>
                    </a:p>
                  </a:txBody>
                  <a:tcPr/>
                </a:tc>
                <a:tc>
                  <a:txBody>
                    <a:bodyPr/>
                    <a:lstStyle/>
                    <a:p>
                      <a:r>
                        <a:rPr lang="en-US" altLang="zh-CN" dirty="0" smtClean="0"/>
                        <a:t>b</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smtClean="0"/>
                        <a:t>3</a:t>
                      </a:r>
                      <a:endParaRPr lang="zh-CN" altLang="en-US" dirty="0"/>
                    </a:p>
                  </a:txBody>
                  <a:tcPr/>
                </a:tc>
                <a:tc>
                  <a:txBody>
                    <a:bodyPr/>
                    <a:lstStyle/>
                    <a:p>
                      <a:r>
                        <a:rPr lang="en-US" altLang="zh-CN" dirty="0" smtClean="0"/>
                        <a:t>325</a:t>
                      </a:r>
                      <a:endParaRPr lang="zh-CN" altLang="en-US" dirty="0"/>
                    </a:p>
                  </a:txBody>
                  <a:tcPr/>
                </a:tc>
                <a:tc>
                  <a:txBody>
                    <a:bodyPr/>
                    <a:lstStyle/>
                    <a:p>
                      <a:r>
                        <a:rPr lang="en-US" altLang="zh-CN" dirty="0" smtClean="0"/>
                        <a:t>c</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smtClean="0"/>
                        <a:t>4</a:t>
                      </a:r>
                      <a:endParaRPr lang="zh-CN" altLang="en-US" dirty="0"/>
                    </a:p>
                  </a:txBody>
                  <a:tcPr/>
                </a:tc>
                <a:tc>
                  <a:txBody>
                    <a:bodyPr/>
                    <a:lstStyle/>
                    <a:p>
                      <a:r>
                        <a:rPr lang="en-US" altLang="zh-CN" dirty="0" smtClean="0"/>
                        <a:t>350</a:t>
                      </a:r>
                      <a:endParaRPr lang="zh-CN" altLang="en-US" dirty="0"/>
                    </a:p>
                  </a:txBody>
                  <a:tcPr/>
                </a:tc>
                <a:tc>
                  <a:txBody>
                    <a:bodyPr/>
                    <a:lstStyle/>
                    <a:p>
                      <a:r>
                        <a:rPr lang="en-US" altLang="zh-CN" dirty="0" smtClean="0"/>
                        <a:t>a</a:t>
                      </a:r>
                      <a:endParaRPr lang="zh-CN" altLang="en-US" dirty="0"/>
                    </a:p>
                  </a:txBody>
                  <a:tcPr/>
                </a:tc>
                <a:extLst>
                  <a:ext uri="{0D108BD9-81ED-4DB2-BD59-A6C34878D82A}">
                    <a16:rowId xmlns:a16="http://schemas.microsoft.com/office/drawing/2014/main" val="10004"/>
                  </a:ext>
                </a:extLst>
              </a:tr>
              <a:tr h="370840">
                <a:tc>
                  <a:txBody>
                    <a:bodyPr/>
                    <a:lstStyle/>
                    <a:p>
                      <a:r>
                        <a:rPr lang="en-US" altLang="zh-CN" dirty="0" smtClean="0"/>
                        <a:t>5</a:t>
                      </a:r>
                      <a:endParaRPr lang="zh-CN" altLang="en-US" dirty="0"/>
                    </a:p>
                  </a:txBody>
                  <a:tcPr/>
                </a:tc>
                <a:tc>
                  <a:txBody>
                    <a:bodyPr/>
                    <a:lstStyle/>
                    <a:p>
                      <a:r>
                        <a:rPr lang="en-US" altLang="zh-CN" dirty="0" smtClean="0"/>
                        <a:t>350</a:t>
                      </a:r>
                      <a:endParaRPr lang="zh-CN" altLang="en-US" dirty="0"/>
                    </a:p>
                  </a:txBody>
                  <a:tcPr/>
                </a:tc>
                <a:tc>
                  <a:txBody>
                    <a:bodyPr/>
                    <a:lstStyle/>
                    <a:p>
                      <a:r>
                        <a:rPr lang="en-US" altLang="zh-CN" dirty="0" smtClean="0"/>
                        <a:t>b</a:t>
                      </a:r>
                      <a:endParaRPr lang="zh-CN" altLang="en-US" dirty="0"/>
                    </a:p>
                  </a:txBody>
                  <a:tcPr/>
                </a:tc>
                <a:extLst>
                  <a:ext uri="{0D108BD9-81ED-4DB2-BD59-A6C34878D82A}">
                    <a16:rowId xmlns:a16="http://schemas.microsoft.com/office/drawing/2014/main" val="10005"/>
                  </a:ext>
                </a:extLst>
              </a:tr>
              <a:tr h="370840">
                <a:tc>
                  <a:txBody>
                    <a:bodyPr/>
                    <a:lstStyle/>
                    <a:p>
                      <a:r>
                        <a:rPr lang="en-US" altLang="zh-CN" dirty="0" smtClean="0"/>
                        <a:t>6</a:t>
                      </a:r>
                      <a:endParaRPr lang="zh-CN" altLang="en-US" dirty="0"/>
                    </a:p>
                  </a:txBody>
                  <a:tcPr/>
                </a:tc>
                <a:tc>
                  <a:txBody>
                    <a:bodyPr/>
                    <a:lstStyle/>
                    <a:p>
                      <a:r>
                        <a:rPr lang="en-US" altLang="zh-CN" dirty="0" smtClean="0"/>
                        <a:t>350</a:t>
                      </a:r>
                      <a:endParaRPr lang="zh-CN" altLang="en-US" dirty="0"/>
                    </a:p>
                  </a:txBody>
                  <a:tcPr/>
                </a:tc>
                <a:tc>
                  <a:txBody>
                    <a:bodyPr/>
                    <a:lstStyle/>
                    <a:p>
                      <a:r>
                        <a:rPr lang="en-US" altLang="zh-CN" dirty="0" smtClean="0"/>
                        <a:t>c</a:t>
                      </a:r>
                      <a:endParaRPr lang="zh-CN" altLang="en-US" dirty="0"/>
                    </a:p>
                  </a:txBody>
                  <a:tcPr/>
                </a:tc>
                <a:extLst>
                  <a:ext uri="{0D108BD9-81ED-4DB2-BD59-A6C34878D82A}">
                    <a16:rowId xmlns:a16="http://schemas.microsoft.com/office/drawing/2014/main" val="10006"/>
                  </a:ext>
                </a:extLst>
              </a:tr>
              <a:tr h="370840">
                <a:tc>
                  <a:txBody>
                    <a:bodyPr/>
                    <a:lstStyle/>
                    <a:p>
                      <a:r>
                        <a:rPr lang="en-US" altLang="zh-CN" dirty="0" smtClean="0"/>
                        <a:t>7</a:t>
                      </a:r>
                      <a:endParaRPr lang="zh-CN" altLang="en-US" dirty="0"/>
                    </a:p>
                  </a:txBody>
                  <a:tcPr/>
                </a:tc>
                <a:tc>
                  <a:txBody>
                    <a:bodyPr/>
                    <a:lstStyle/>
                    <a:p>
                      <a:r>
                        <a:rPr lang="en-US" altLang="zh-CN" dirty="0" smtClean="0"/>
                        <a:t>375</a:t>
                      </a:r>
                      <a:endParaRPr lang="zh-CN" altLang="en-US" dirty="0"/>
                    </a:p>
                  </a:txBody>
                  <a:tcPr/>
                </a:tc>
                <a:tc>
                  <a:txBody>
                    <a:bodyPr/>
                    <a:lstStyle/>
                    <a:p>
                      <a:r>
                        <a:rPr lang="en-US" altLang="zh-CN" dirty="0" smtClean="0"/>
                        <a:t>a</a:t>
                      </a:r>
                      <a:endParaRPr lang="zh-CN" altLang="en-US" dirty="0"/>
                    </a:p>
                  </a:txBody>
                  <a:tcPr/>
                </a:tc>
                <a:extLst>
                  <a:ext uri="{0D108BD9-81ED-4DB2-BD59-A6C34878D82A}">
                    <a16:rowId xmlns:a16="http://schemas.microsoft.com/office/drawing/2014/main" val="10007"/>
                  </a:ext>
                </a:extLst>
              </a:tr>
              <a:tr h="370840">
                <a:tc>
                  <a:txBody>
                    <a:bodyPr/>
                    <a:lstStyle/>
                    <a:p>
                      <a:r>
                        <a:rPr lang="en-US" altLang="zh-CN" dirty="0" smtClean="0"/>
                        <a:t>8</a:t>
                      </a:r>
                      <a:endParaRPr lang="zh-CN" altLang="en-US" dirty="0"/>
                    </a:p>
                  </a:txBody>
                  <a:tcPr/>
                </a:tc>
                <a:tc>
                  <a:txBody>
                    <a:bodyPr/>
                    <a:lstStyle/>
                    <a:p>
                      <a:r>
                        <a:rPr lang="en-US" altLang="zh-CN" dirty="0" smtClean="0"/>
                        <a:t>375</a:t>
                      </a:r>
                      <a:endParaRPr lang="zh-CN" altLang="en-US" dirty="0"/>
                    </a:p>
                  </a:txBody>
                  <a:tcPr/>
                </a:tc>
                <a:tc>
                  <a:txBody>
                    <a:bodyPr/>
                    <a:lstStyle/>
                    <a:p>
                      <a:r>
                        <a:rPr lang="en-US" altLang="zh-CN" dirty="0" smtClean="0"/>
                        <a:t>b</a:t>
                      </a:r>
                      <a:endParaRPr lang="zh-CN" altLang="en-US"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550711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第五步：</a:t>
            </a:r>
            <a:r>
              <a:rPr kumimoji="1" lang="zh-CN" altLang="en-US" dirty="0" smtClean="0"/>
              <a:t>控制</a:t>
            </a:r>
            <a:endParaRPr kumimoji="1" lang="zh-CN" altLang="en-US" dirty="0"/>
          </a:p>
        </p:txBody>
      </p:sp>
      <p:sp>
        <p:nvSpPr>
          <p:cNvPr id="3" name="内容占位符 2"/>
          <p:cNvSpPr>
            <a:spLocks noGrp="1"/>
          </p:cNvSpPr>
          <p:nvPr>
            <p:ph idx="1"/>
          </p:nvPr>
        </p:nvSpPr>
        <p:spPr/>
        <p:txBody>
          <a:bodyPr/>
          <a:lstStyle/>
          <a:p>
            <a:pPr lvl="1"/>
            <a:r>
              <a:rPr kumimoji="1" lang="en-US" altLang="zh-CN" dirty="0" smtClean="0"/>
              <a:t>1.</a:t>
            </a:r>
            <a:r>
              <a:rPr kumimoji="1" lang="zh-CN" altLang="en-US" dirty="0" smtClean="0"/>
              <a:t>验证关键变量的测量系统</a:t>
            </a:r>
            <a:endParaRPr kumimoji="1" lang="en-US" altLang="zh-CN" dirty="0" smtClean="0"/>
          </a:p>
          <a:p>
            <a:pPr lvl="1"/>
            <a:r>
              <a:rPr kumimoji="1" lang="zh-CN" altLang="zh-CN" dirty="0" smtClean="0"/>
              <a:t>2</a:t>
            </a:r>
            <a:r>
              <a:rPr kumimoji="1" lang="en-US" altLang="zh-CN" dirty="0" smtClean="0"/>
              <a:t>.</a:t>
            </a:r>
            <a:r>
              <a:rPr kumimoji="1" lang="zh-CN" altLang="en-US" dirty="0" smtClean="0"/>
              <a:t>明确关键变量的控制能力</a:t>
            </a:r>
            <a:endParaRPr kumimoji="1" lang="en-US" altLang="zh-CN" dirty="0" smtClean="0"/>
          </a:p>
          <a:p>
            <a:pPr lvl="1"/>
            <a:r>
              <a:rPr kumimoji="1" lang="zh-CN" altLang="zh-CN" dirty="0" smtClean="0"/>
              <a:t>3</a:t>
            </a:r>
            <a:r>
              <a:rPr kumimoji="1" lang="en-US" altLang="zh-CN" dirty="0" smtClean="0"/>
              <a:t>.</a:t>
            </a:r>
            <a:r>
              <a:rPr kumimoji="1" lang="zh-CN" altLang="en-US" dirty="0" smtClean="0"/>
              <a:t>实施基于关键变量的控制系统</a:t>
            </a:r>
            <a:endParaRPr kumimoji="1" lang="en-US" altLang="zh-CN" dirty="0" smtClean="0"/>
          </a:p>
          <a:p>
            <a:pPr lvl="1"/>
            <a:endParaRPr kumimoji="1" lang="zh-CN" altLang="en-US" dirty="0"/>
          </a:p>
        </p:txBody>
      </p:sp>
      <p:pic>
        <p:nvPicPr>
          <p:cNvPr id="4" name="图片 3" descr="屏幕快照 2017-10-30 下午2.03.48.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78764" y="646016"/>
            <a:ext cx="4176048" cy="536767"/>
          </a:xfrm>
          <a:prstGeom prst="rect">
            <a:avLst/>
          </a:prstGeom>
        </p:spPr>
      </p:pic>
    </p:spTree>
    <p:extLst>
      <p:ext uri="{BB962C8B-B14F-4D97-AF65-F5344CB8AC3E}">
        <p14:creationId xmlns:p14="http://schemas.microsoft.com/office/powerpoint/2010/main" val="21745403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六西格玛管理的特征</a:t>
            </a:r>
            <a:endParaRPr kumimoji="1" lang="zh-CN" altLang="en-US" dirty="0"/>
          </a:p>
        </p:txBody>
      </p:sp>
      <p:sp>
        <p:nvSpPr>
          <p:cNvPr id="3" name="内容占位符 2"/>
          <p:cNvSpPr>
            <a:spLocks noGrp="1"/>
          </p:cNvSpPr>
          <p:nvPr>
            <p:ph idx="1"/>
          </p:nvPr>
        </p:nvSpPr>
        <p:spPr/>
        <p:txBody>
          <a:bodyPr/>
          <a:lstStyle/>
          <a:p>
            <a:r>
              <a:rPr kumimoji="1" lang="en-US" altLang="zh-CN" dirty="0" smtClean="0"/>
              <a:t>1</a:t>
            </a:r>
            <a:r>
              <a:rPr kumimoji="1" lang="zh-CN" altLang="en-US" dirty="0" smtClean="0"/>
              <a:t>）是以顾客为关注焦点的管理理念</a:t>
            </a:r>
            <a:endParaRPr kumimoji="1" lang="en-US" altLang="zh-CN" dirty="0" smtClean="0"/>
          </a:p>
          <a:p>
            <a:r>
              <a:rPr kumimoji="1" lang="zh-CN" altLang="zh-CN" dirty="0" smtClean="0"/>
              <a:t>2</a:t>
            </a:r>
            <a:r>
              <a:rPr kumimoji="1" lang="zh-CN" altLang="en-US" dirty="0" smtClean="0"/>
              <a:t>）通过提高顾客满意度和降低成本损失促使业绩提升</a:t>
            </a:r>
            <a:endParaRPr kumimoji="1" lang="en-US" altLang="zh-CN" dirty="0" smtClean="0"/>
          </a:p>
          <a:p>
            <a:r>
              <a:rPr kumimoji="1" lang="zh-CN" altLang="zh-CN" dirty="0" smtClean="0"/>
              <a:t>3</a:t>
            </a:r>
            <a:r>
              <a:rPr kumimoji="1" lang="zh-CN" altLang="en-US" dirty="0" smtClean="0"/>
              <a:t>）注重数据和事实，是管理成为了一种基于数字的科学</a:t>
            </a:r>
            <a:endParaRPr kumimoji="1" lang="en-US" altLang="zh-CN" dirty="0" smtClean="0"/>
          </a:p>
          <a:p>
            <a:r>
              <a:rPr kumimoji="1" lang="zh-CN" altLang="zh-CN" dirty="0" smtClean="0"/>
              <a:t>4</a:t>
            </a:r>
            <a:r>
              <a:rPr kumimoji="1" lang="zh-CN" altLang="en-US" dirty="0" smtClean="0"/>
              <a:t>）是一种以项目为驱动力的管理方法</a:t>
            </a:r>
            <a:endParaRPr kumimoji="1" lang="en-US" altLang="zh-CN" dirty="0" smtClean="0"/>
          </a:p>
          <a:p>
            <a:r>
              <a:rPr kumimoji="1" lang="zh-CN" altLang="zh-CN" dirty="0" smtClean="0"/>
              <a:t>5</a:t>
            </a:r>
            <a:r>
              <a:rPr kumimoji="1" lang="zh-CN" altLang="en-US" dirty="0" smtClean="0"/>
              <a:t>）追求完美、容忍错误</a:t>
            </a:r>
            <a:endParaRPr kumimoji="1" lang="en-US" altLang="zh-CN" dirty="0" smtClean="0"/>
          </a:p>
        </p:txBody>
      </p:sp>
    </p:spTree>
    <p:extLst>
      <p:ext uri="{BB962C8B-B14F-4D97-AF65-F5344CB8AC3E}">
        <p14:creationId xmlns:p14="http://schemas.microsoft.com/office/powerpoint/2010/main" val="19484931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六西格玛管理的优点</a:t>
            </a:r>
            <a:endParaRPr kumimoji="1" lang="zh-CN" altLang="en-US" dirty="0"/>
          </a:p>
        </p:txBody>
      </p:sp>
      <p:sp>
        <p:nvSpPr>
          <p:cNvPr id="3" name="内容占位符 2"/>
          <p:cNvSpPr>
            <a:spLocks noGrp="1"/>
          </p:cNvSpPr>
          <p:nvPr>
            <p:ph idx="1"/>
          </p:nvPr>
        </p:nvSpPr>
        <p:spPr/>
        <p:txBody>
          <a:bodyPr/>
          <a:lstStyle/>
          <a:p>
            <a:r>
              <a:rPr kumimoji="1" lang="en-US" altLang="zh-CN" dirty="0" smtClean="0"/>
              <a:t>1.</a:t>
            </a:r>
            <a:r>
              <a:rPr kumimoji="1" lang="zh-CN" altLang="en-US" dirty="0" smtClean="0"/>
              <a:t>提升企业管理的能力</a:t>
            </a:r>
            <a:endParaRPr kumimoji="1" lang="en-US" altLang="zh-CN" dirty="0" smtClean="0"/>
          </a:p>
          <a:p>
            <a:r>
              <a:rPr kumimoji="1" lang="zh-CN" altLang="zh-CN" dirty="0" smtClean="0"/>
              <a:t>2</a:t>
            </a:r>
            <a:r>
              <a:rPr kumimoji="1" lang="en-US" altLang="zh-CN" dirty="0" smtClean="0"/>
              <a:t>.</a:t>
            </a:r>
            <a:r>
              <a:rPr kumimoji="1" lang="zh-CN" altLang="en-US" dirty="0" smtClean="0"/>
              <a:t>节约企业的运营成本</a:t>
            </a:r>
            <a:endParaRPr kumimoji="1" lang="en-US" altLang="zh-CN" dirty="0" smtClean="0"/>
          </a:p>
          <a:p>
            <a:r>
              <a:rPr kumimoji="1" lang="zh-CN" altLang="zh-CN" dirty="0" smtClean="0"/>
              <a:t>3</a:t>
            </a:r>
            <a:r>
              <a:rPr kumimoji="1" lang="en-US" altLang="zh-CN" dirty="0" smtClean="0"/>
              <a:t>.</a:t>
            </a:r>
            <a:r>
              <a:rPr kumimoji="1" lang="zh-CN" altLang="en-US" dirty="0" smtClean="0"/>
              <a:t>增加顾客价值</a:t>
            </a:r>
            <a:endParaRPr kumimoji="1" lang="en-US" altLang="zh-CN" dirty="0" smtClean="0"/>
          </a:p>
          <a:p>
            <a:r>
              <a:rPr kumimoji="1" lang="zh-CN" altLang="zh-CN" dirty="0" smtClean="0"/>
              <a:t>4</a:t>
            </a:r>
            <a:r>
              <a:rPr kumimoji="1" lang="en-US" altLang="zh-CN" dirty="0" smtClean="0"/>
              <a:t>.</a:t>
            </a:r>
            <a:r>
              <a:rPr kumimoji="1" lang="zh-CN" altLang="en-US" dirty="0" smtClean="0"/>
              <a:t>改进服务水平</a:t>
            </a:r>
            <a:endParaRPr kumimoji="1" lang="en-US" altLang="zh-CN" dirty="0" smtClean="0"/>
          </a:p>
        </p:txBody>
      </p:sp>
    </p:spTree>
    <p:extLst>
      <p:ext uri="{BB962C8B-B14F-4D97-AF65-F5344CB8AC3E}">
        <p14:creationId xmlns:p14="http://schemas.microsoft.com/office/powerpoint/2010/main" val="19981291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ss0.bdstatic.com/70cFvHSh_Q1YnxGkpoWK1HF6hhy/it/u=3682857296,2592168716&amp;fm=200&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598" y="2203264"/>
            <a:ext cx="5574140" cy="372352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smtClean="0"/>
              <a:t>实例分析</a:t>
            </a:r>
            <a:endParaRPr lang="zh-CN" altLang="en-US" dirty="0"/>
          </a:p>
        </p:txBody>
      </p:sp>
      <p:sp>
        <p:nvSpPr>
          <p:cNvPr id="4" name="矩形 3"/>
          <p:cNvSpPr/>
          <p:nvPr/>
        </p:nvSpPr>
        <p:spPr>
          <a:xfrm>
            <a:off x="1283860" y="2502459"/>
            <a:ext cx="5640446" cy="1315745"/>
          </a:xfrm>
          <a:prstGeom prst="rect">
            <a:avLst/>
          </a:prstGeom>
          <a:noFill/>
        </p:spPr>
        <p:txBody>
          <a:bodyPr wrap="square" lIns="68580" tIns="34290" rIns="68580" bIns="34290">
            <a:spAutoFit/>
            <a:scene3d>
              <a:camera prst="orthographicFront"/>
              <a:lightRig rig="harsh" dir="t"/>
            </a:scene3d>
            <a:sp3d extrusionH="57150" prstMaterial="matte">
              <a:bevelT w="63500" h="12700" prst="angle"/>
              <a:contourClr>
                <a:schemeClr val="bg1">
                  <a:lumMod val="65000"/>
                </a:schemeClr>
              </a:contourClr>
            </a:sp3d>
          </a:bodyPr>
          <a:lstStyle/>
          <a:p>
            <a:pPr defTabSz="685800"/>
            <a:r>
              <a:rPr lang="zh-CN" altLang="en-US" sz="4050" dirty="0">
                <a:solidFill>
                  <a:prstClr val="black"/>
                </a:solidFill>
                <a:latin typeface="Tw Cen MT" panose="020B0602020104020603"/>
              </a:rPr>
              <a:t>邀请：对一个生产液晶屏幕的企业进行分析？</a:t>
            </a:r>
          </a:p>
        </p:txBody>
      </p:sp>
      <p:sp>
        <p:nvSpPr>
          <p:cNvPr id="7" name="矩形 6"/>
          <p:cNvSpPr/>
          <p:nvPr/>
        </p:nvSpPr>
        <p:spPr>
          <a:xfrm>
            <a:off x="6972881" y="4599425"/>
            <a:ext cx="1842492" cy="692497"/>
          </a:xfrm>
          <a:prstGeom prst="rect">
            <a:avLst/>
          </a:prstGeom>
          <a:noFill/>
        </p:spPr>
        <p:txBody>
          <a:bodyPr wrap="none" lIns="68580" tIns="34290" rIns="68580" bIns="34290">
            <a:spAutoFit/>
          </a:bodyPr>
          <a:lstStyle/>
          <a:p>
            <a:pPr algn="ctr" defTabSz="685800"/>
            <a:r>
              <a:rPr lang="en-US" altLang="zh-CN" sz="4050" b="1" dirty="0">
                <a:ln w="22225">
                  <a:solidFill>
                    <a:srgbClr val="2683C6"/>
                  </a:solidFill>
                  <a:prstDash val="solid"/>
                </a:ln>
                <a:solidFill>
                  <a:srgbClr val="2683C6">
                    <a:lumMod val="40000"/>
                    <a:lumOff val="60000"/>
                  </a:srgbClr>
                </a:solidFill>
                <a:latin typeface="Tw Cen MT" panose="020B0602020104020603"/>
              </a:rPr>
              <a:t>DMAIC</a:t>
            </a:r>
            <a:endParaRPr lang="zh-CN" altLang="en-US" sz="4050" b="1" dirty="0">
              <a:ln w="22225">
                <a:solidFill>
                  <a:srgbClr val="2683C6"/>
                </a:solidFill>
                <a:prstDash val="solid"/>
              </a:ln>
              <a:solidFill>
                <a:srgbClr val="2683C6">
                  <a:lumMod val="40000"/>
                  <a:lumOff val="60000"/>
                </a:srgbClr>
              </a:solidFill>
              <a:latin typeface="Tw Cen MT" panose="020B0602020104020603"/>
            </a:endParaRPr>
          </a:p>
        </p:txBody>
      </p:sp>
    </p:spTree>
    <p:extLst>
      <p:ext uri="{BB962C8B-B14F-4D97-AF65-F5344CB8AC3E}">
        <p14:creationId xmlns:p14="http://schemas.microsoft.com/office/powerpoint/2010/main" val="21516794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023" y="1417130"/>
            <a:ext cx="7290054" cy="1124712"/>
          </a:xfrm>
        </p:spPr>
        <p:txBody>
          <a:bodyPr>
            <a:normAutofit/>
          </a:bodyPr>
          <a:lstStyle/>
          <a:p>
            <a:r>
              <a:rPr lang="en-US" altLang="zh-CN" dirty="0" smtClean="0"/>
              <a:t>D:</a:t>
            </a:r>
            <a:r>
              <a:rPr lang="zh-CN" altLang="en-US" dirty="0" smtClean="0"/>
              <a:t>定义阶段</a:t>
            </a:r>
            <a:r>
              <a:rPr lang="zh-CN" altLang="en-US" sz="4050" dirty="0"/>
              <a:t/>
            </a:r>
            <a:br>
              <a:rPr lang="zh-CN" altLang="en-US" sz="4050" dirty="0"/>
            </a:br>
            <a:endParaRPr lang="zh-CN" altLang="en-US" dirty="0"/>
          </a:p>
        </p:txBody>
      </p:sp>
      <p:sp>
        <p:nvSpPr>
          <p:cNvPr id="3" name="内容占位符 2"/>
          <p:cNvSpPr>
            <a:spLocks noGrp="1"/>
          </p:cNvSpPr>
          <p:nvPr>
            <p:ph idx="1"/>
          </p:nvPr>
        </p:nvSpPr>
        <p:spPr>
          <a:xfrm>
            <a:off x="3736730" y="2910218"/>
            <a:ext cx="5053379" cy="3017520"/>
          </a:xfrm>
        </p:spPr>
        <p:txBody>
          <a:bodyPr>
            <a:noAutofit/>
          </a:bodyPr>
          <a:lstStyle/>
          <a:p>
            <a:r>
              <a:rPr lang="zh-CN" altLang="en-US" sz="2100" dirty="0"/>
              <a:t>头脑风暴法，在确定去 </a:t>
            </a:r>
            <a:r>
              <a:rPr lang="en-US" altLang="zh-CN" sz="2100" dirty="0"/>
              <a:t>M </a:t>
            </a:r>
            <a:r>
              <a:rPr lang="zh-CN" altLang="en-US" sz="2100" dirty="0"/>
              <a:t>企业考察时，首先，联系好</a:t>
            </a:r>
            <a:r>
              <a:rPr lang="en-US" altLang="zh-CN" sz="2100" dirty="0"/>
              <a:t>5~6 </a:t>
            </a:r>
            <a:r>
              <a:rPr lang="zh-CN" altLang="en-US" sz="2100" dirty="0"/>
              <a:t>位同学，其中 </a:t>
            </a:r>
            <a:r>
              <a:rPr lang="en-US" altLang="zh-CN" sz="2100" dirty="0"/>
              <a:t>3 </a:t>
            </a:r>
            <a:r>
              <a:rPr lang="zh-CN" altLang="en-US" sz="2100" dirty="0"/>
              <a:t>位是工业工程专业的学生，其余 </a:t>
            </a:r>
            <a:r>
              <a:rPr lang="en-US" altLang="zh-CN" sz="2100" dirty="0"/>
              <a:t>2~3</a:t>
            </a:r>
            <a:r>
              <a:rPr lang="zh-CN" altLang="en-US" sz="2100" dirty="0"/>
              <a:t>位是其他专业的学生，一起去参观考察，各自记录所观察到的内容，运用相关知识找出其中的不足之处，并运用六西格玛管理的方法进行分析问题改进问题。 在讨论问题时每位同学都畅所欲言不受其他同学观点的约束和限制，最后将所有人的发言一一记录下来，进行整理。 </a:t>
            </a:r>
            <a:br>
              <a:rPr lang="zh-CN" altLang="en-US" sz="2100" dirty="0"/>
            </a:br>
            <a:endParaRPr lang="zh-CN" altLang="en-US" sz="2100" dirty="0"/>
          </a:p>
          <a:p>
            <a:endParaRPr lang="zh-CN" altLang="en-US" sz="2100" dirty="0"/>
          </a:p>
        </p:txBody>
      </p:sp>
      <p:sp>
        <p:nvSpPr>
          <p:cNvPr id="4" name="AutoShape 2" descr="data:image/jpeg;base64,/9j/4AAQSkZJRgABAQAAAQABAAD/2wBDAAgGBgcGBQgHBwcJCQgKDBQNDAsLDBkSEw8UHRofHh0aHBwgJC4nICIsIxwcKDcpLDAxNDQ0Hyc5PTgyPC4zNDL/2wBDAQkJCQwLDBgNDRgyIRwhMjIyMjIyMjIyMjIyMjIyMjIyMjIyMjIyMjIyMjIyMjIyMjIyMjIyMjIyMjIyMjIyMjL/wAARCAH0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OQ+IGq3On6ZbwW0jRm4ZgzqcHAxxn3zXAaJq11pWpxTwSuAXHmJnhx3BFdj8Tf8AUab/AL0n8lrz+D/j4j/3h/OuuklyHDWk/aHvtFFFch3BRRRQAUUUUAFFFFABRRRQAUUUUAFFFFABRRRQAUUUUAFFFFABRRRQAUUUUAFFFFABRRRQAUUUUAFFFFABRRRQAUUUUAFFFFABRRRQAUUUUAFFFFABRRRQAUUUUAFFFFABRRRQAVn61q0Oi6ZJeTAsF4VR/ET0FaFYfizSn1bQZoYv9an7xB6kdqcbX1JldRdjlrP4jzteqLu1jFuxwShOVFehRSJNEkkbBkcAqR3FeBEEEgjBHUGvSvAGufabVtMnb95CMx57r6fhW9Wmkro56NVt2kdtRRRXOdQUUUUAFFFFAHBfE3/Uab/vSfyWvP4P+PiP/eH869A+Jv8AqNN/3pP5LXn8H/HxH/vD+ddlL4DgrfxGe+0UUVxneFFFFABRRRQAVz3ifxRHoESIiCW5k5VCeAPU1t3VzHZ2stxMwWONSzE14nrOpyavqk13IT8xwo9F7CtaUOZ6mNapyLTc7zw745bUtQSyvYEjaTiN0PGfQ121eR+CNJk1DXY58EQ2p8xj6nsK9coqpKVkFGUpRvIKKKKyNgooooAKKKKACiiigAooooAKKKKACiiigAooooAKKKKACiiigAooooAKKKKACiiigAooooAKKKKACiiigAooooAKKKKACiiigAooooAKKKKACiiigDynxzof9m6n9shXFvcnPHRX7j8etc9p19Lpt/DdwnDxtn6juK9n1rS49Y0qa0kHLDKN/dbsa8TubeS0uZLeZdskbFWFddKXNGzOGtDkldHuWnX0WpWEN3CcpIufofSrVea/D/XPs102lzv+6mO6Ins3p+NelVzzjyux10588bhRRRUFhRRRQBwXxN/1Gm/70n8lrz+D/j4j/wB4fzr0r4i2E91pltcQoXW3dt4AyQDjn9K8/wBJ0+41HU4LeCNmZnGTjhRnkmuuk1yHDWT9oe50UUVyHcFFFFABRRVDWtUi0fS5ryQ/cHyr/ebsKEr6Cbsrs434ha593SYG/wBqYj9BXAxxvLIscalnYhVA7mn3NzLeXUlxM26SRizH3rsfAGh/abttTnTMUJxGD3b1/CuzSnE4XerM7Tw3o6aLo8Vvgea3zyt6sa16KK5G7u7O5JJWQUUUUhhRRRQAUUUUAFFFFABRRRQAUUUUAFFFFABRRRQAUUUUAFFFFABRRRQAUUUUAFFFFABRRRQAUUUUAFFFFABRRRQAUUUUAFFFFABRRRQAUUUUAFFFFABXnvxB0PBXVoE6/LMB+hr0Kobq2ivLWW2mXdHIpVhVQlyu5E4c0bHg0cjwypJGxV0IZSOxFe1eHNXXWtGhuukg+SQejDrXmuoeDNXtb1oobV54i3yOnQj3r0LwlosmiaMIJyPOkcyOB0BIAx+Qras4uNznoKUZNM3aKKK5zrCiiigAIyMGo4reCAkwwxx7uuxQM/lUlFABRRRQAUUUUAFeV+O9bN/qn2GJv3FqcH/afv8Al0/OvVK8t8SeENTTWLi4tLdriCeQyAp1Uk5IP41rRtzamFfm5bI5nT7GXUb+G0hGXkbH0969u02wi0zT4bSEYSNcfU9zXM+C/DEukq97eoFuXG1F7oP8a7CnVnzOyChT5Vd7hRRRWJuFFFFABRRRQAUUUUAFFFFABRRRQAUUUUAFFFFABRRRQAUUUUAFFFFABRRRQAUUUUAFFFFABRRRQAUUUUAFFFFABRRRQAUUUUAFQ3F3bWgBuJ4ogem9wM/nU1eM+Lbm5uPEt6Lhm/dyFEU9Ao6Y/Dn8aunDmdjOrU5Fc9kjkSVA8bq6HoynINOrxTR/EWo6LIDbTExZ+aJ+VNej6H4y07V9sUjC2uT/AMs3PDH2NVOk4kwrRlp1OkooorI2CiiigAooooAKKKZNNFbxNLNIscajLMxwBQA+mSSxwoXldUQdWY4FcPrXxDiiLQ6VGJW6ec4+X8B3/GuGv9Xv9TkL3d1JIfQngfQVrGi3uYTrxW2p6nfeNdFsiV+0GZx2iGf1rCuPiUgJFtYE+8j/AOFeeUVsqMUYOvN7HZyfEfUmPyWtun5mmD4i6qDzDbn/AIDXH0VXs49iPaz7ncw/Eq6B/fWMLD/ZYg1r2nxF0yYgXEE0B9R8wry+ik6UWUq811Pc7HWdO1ID7JdxSE/w5wfyNXq8AR2jYMjFWHcHFdLpHjjVNOKpO32qAfwyH5h9DWUqD6G0cQvtHrVFY+i+JdO1xMW8uycDLQvww+nrWxWLTWjOhNNXQUUUUhhRRRQAUUUUAFFVr2/tdOtzPdzpFGO7Hr9PWuA1z4gzT7oNKUwx9POb7x+npVxg5bETqRhuegS39nBKIprqGOQ9FaQA/lVjrXgMs0k0pkldncnJZjk16z4Fubi58NIbgs2yRkjZupUY/rkfhVTpcquZ063O7WOlooorI3CiiigAooooAKKKKACiiigAooooAKKKKACiiigAooooAKKKKACiiigAooooAKKKKACiiigAooooAKwte8K2GugySAw3QGBMnX8R3rdopptO6E4qSszxjWvDGpaI5M0XmQZ4mj5X8fSsXpX0A6K6FHUMpGCCMg1x2ueAbW83T6aRbTHnyz9xv8K6IVukjlnh2tYnL6H421DStsNwTdWo42ufmUex/oa9H0nXtP1qLfaTAuB80TcMv4V47qGl3mlzmG8gaNuxI4P0NVoZpbeVZYZGjkU5DKcEVUqcZaoiFaUNGe/UVyPgnxJcaxHNa3hDTwqGEgGNy9OfeuurllFxdmdkZKSugoorK17XLfQrAzyndIeI4+7GhK7shtpK7H61rlnodoZrl8sfuRr95z7f415RrniO+12fM77IAfkhU/Kv+J96p6lqVzqt691dSFnboOyj0FU66oU1HXqcNSq56LYKKKK1MgooooAKKKKACiiigAooooAdHI8MiyRuyOpyGU4INeheGPHXmsllq7AOeEuOgPs3+Ned0VMoKS1KhNwd0fQIIIBByD3orzbwd4ua2dNN1CTMJ4ikY/c9j7V6SCCMjkVxzg4uzO+E1NXQUUVHPKsEEkz/AHY1LH6AZqSxzukaF3YKoGSScAVxmufEC2tN0GlqLibp5p+4v09a4zW/Et/rcrebKUt8/LCpwAPf1NY4BJwBknsK6YUVvI5J4hvSJav9SvNTuDPeTvK56ZPA+g7VBBbzXMywwRPJIxwFQZJrptD8D32p7ZrrNrbHnLD5mHsK9G0rQ7DRodlpAFYj5pDyzfU1UqsY6IiFGU9WcZofw9Z9s+sOVXqLeM8n/ePb8Pzr0C3t4bW3SCCNY4kGFVRgAVJRXNKbludcIRhsFFFFSWFFFFABRRRQAUUUUAFFFFABRRRQAUUUUAFFFFABRRRQAUUUUAFFFFABRRRQAUUUUAFFFFABRRRQAUUUUAFFFFAFe8sba/gMN1CksZ7MK4XVfhyxm36ZOojP/LOXt9DXoVFVGbjsRKnGW5znhXwwPD8MryyCS5mwGK9FA7CujoopNtu7KjFRVkQXt5DYWct1OwWONck14vrmsT63qT3MpITpGnZVrpviBrhmul0qB/3cXzS47t2FcPXTShZXZx16l3yoKKKK2MAooooAKKKKACiiigAooooAKKKKACiiigAr0zwN4kN7D/Zl2+Z4x+7Yn7y+n1FeZ1NaXUtldxXMLFZI2DA1E48ysXTm4Sue902RFljaNxlWBBHqDVPSNSj1bS4LyPo6/MPQ9xV6uJ6HoJ3R5td/Di7+2MLW5iNuTwX6qPeuo0Twfp2jhZGQXFyP+WjjgfQV0NFW6kmrERpQi7pBRRRUGgUUUUAFFFFABRRRQAUUUUAFFFFABRRRQAUUUUAFFFFABRRRQAUUUUAFFFFABRRRQAUUUUAFFFFABRRRQAUUUUAFFFFABRRRQAUUUUAFU9Vvk0zS7i8fpEhIHqewq5XEfEi/MWn21ip5mcu30X/65H5VUI80kiJy5YtnnM88lzcSTytukkYsx9zUdFFdx5wUUUUAFFFFABVixsrjUbuO1tYy8rnAHp7n2qvXpvw80pIdNfUXUGWZiqk9lFROXKrl04c8rD9K+H2n20StflrmbuAcKP8AGtKfwZoU0ZT7Eqf7SEg1yXi3xfdy30tjp8zQ28R2s6HDOe/PpXNWeuanYziaC9mVgckFyQfqD1rJQm1e5s6lOL5UjZ8S+DZ9FQ3VszT2meSR8yfX2965avZ9B1aHxJohkljUMcxzR9s/4GvJ9asP7M1i5tP4Y3O36dqunNv3ZbkVYJWlHZlCiiitTEKKKKACiiigDufh1qpiu5tMkb5ZR5kef7w6j8v5V6RXhOl3radqltdqf9VIGP07/pmvdEcOiupyGGQa5a0bO52YeV427DqKKKxOgKKKKACiiigAooooAKKKKACiiigAooooAKKKKACiiigAooooAKKKKACiiigAooooAKKKKACiiigAooooAKKKKACigkAEk4A71jTeK9EglaN7+Pcpwcc00m9hNpbmzRWF/wAJjoX/AD/p+Ro/4THQv+f9PyNPll2Fzx7m7RWF/wAJjoX/AD/p+Ro/4THQv+f9PyNHLLsHPHubtFUbDWLDVA32O5SUr1APIq9UtWGmnsFeT+P7rz/EzxZ4gjVMe5+b+tesV4p4mlM3ibUWPaZl/Lj+lbUF7xhiH7tjJooorqOMKKKUAscKCT6CgBKKe8UkYy8bqPdSKZQAV7F4NdX8LWmzsCp+ua8drv8A4dauqmXS5WwSfMiz+orKsrxNqErTOHvYnhvp4pQQ6yMGz65qCu68feH2iuP7Wt0zHJxMB/C3r+NcbY2U+oXkVrboXlkOAB/OrjJONzOcHGVj0D4aRSLY30pz5byKF+oBz/MVzPjd1fxTc7f4QoP1xXo9tDbeF/Du1mASBCzt/eb/APXXjt7dPfX011J96VyxrKn703I2q+7BRIKKKUAk4AyfatznEop7QyoMvG6j1KkUygAooooAK9q8LXRvPDNhKTkiIIT7rx/SvFa9X+H0pk8Mhf8AnnM6/wAj/Wsa6903w796x1VFFIzKiFnYKoGST2rlO0WisR/FuhxuUN/GSODjmk/4TDQv+f8AT8jVcsuxPPHublFYf/CYaF/z/p+Ro/4TDQv+f9PyNHJLsHPHublFYf8AwmGhf8/6fka0bDVLLU4y9ncJKB12nkUnFrdApRezLdFFFIoKKKKACiiigAooooAKKKKACiiigAooooAKKKKACiiigAooooAKKKKACiiigAooooAyPFH2j/hHL37NnzNn8PXHevFa+gSARgjINY83hXRJ5WkfT4tzHJwMVrTqKKszCrSc3dHi1Fey/wDCIaF/z4R0f8IhoX/PhHWvt4mX1aXc8aor2X/hENC/58I6P+EQ0L/nwjo9vEPq0u55z4M+0f8ACT2vkbsZPmY6bcd69iqlYaRYaYGFnaxxFupUcmrtYVJ8zudFKHIrMK8N13/kYNSz/wA/Uv8A6Ea9yrxTxPEYfE2oqRjMzN+fP9a0obsyxOyMmiiiuk5C9pGlz6xqMdnAOW5Zuyjua9Dkbw94Mt0ieMTXRGT8oZz7n0rO+HEEaW9/esMsuE+gAzXE6leS3+oz3MzEvI5J9vasmueVuiNk1TgpdWehQeNtC1J/s95ZeUjcbpFDD/61YvizwlHYw/2lpnzWjcugOdue49q42vQfAmri8t5tEvDvUoTFu7juv9aTjyaxHGftPdkefVLbXEtpcx3ELlJI23KR61c1zTW0nWLi0P3VbKH1U9KsaH4avtcmHlIY7cH5pmHA+nqa1urXZiou9luel6Drdr4l0tlkVTLt2zwn+f0p+j+G9P0F554B8zkne/8AAvoKbY6fpXhPTWcusa4/eTP95z/ntUWleL9K1md7YMYnJIRZePMHt/hXI768ux3K2nPucX4z8Tf2tcfY7Vv9EiPJH/LRvX6Vydeh+JPAgkL3ekqA3Vrfsf8Ad/wrz+WKSCVopUZJFOCrDBFdFNxt7pyVVJSvIn07T59Uvo7S3XMjn8APU16MLbQPBlmhuVWa7YdSu5m+g7Cqvg2zh0bw/ca3dDDOpK5/ujp+ZrhNT1CfVL+W7nYl3OQPQdhSfvu3RFK1ON+rO/h8d6LeSeTdWLRxNxuZQwrN8VeFLZLL+1tIwbcjc6KcjHqK4evRfh/dNeaVfadN88acqD2DA5FKUeT3olRn7T3ZHnVFS3UQgu5oR0R2X8jioq2OcK9Q+G+f+EfuP+vpv/QVry+vVvh7EY/DIb/npM7fyH9KyrfCbYf4zq653xt9o/4Ri4+z7s5G/b1255roqRlV1KsAVIwQe9cqdnc7ZK6aPn+ivZ5PCehyOXOnxZPJwMU3/hENC/58I66fbxOT6tLueNUV7L/wiGhf8+EdH/CIaF/z4R0e3iH1aXc8arqvAH2j/hI18rd5ew+Z6Yru/wDhENC/58I60bHTLLTYylnbpCp67R1qZVk1ZFQoNSTbLdFFFc51BRRRQAUUUUAFFFFABRRRQAUUUUAFFFFABRRRQAUUUUAFFFFABRRRQAUUUUAFFFFABRRRQAUUUUAFFFFABRRRQAV5P4/tTB4maXHE8avn3Hy/0FesVxHxHsDLp9tfKMmFyjf7rf8A1wPzrSk7SMa6vA81ooorsOE7n4c6hHHdXWnyEDzhvQHuR1H5VzviPRZ9F1SWJ0byXYtFJ2Zf8azIJ5badJ4XKSodysOoNeg2HjnTdQtBba7bLnuxj3o3vjqDWTTjLmRtFxlHlbtY86rY8Nw6h/bNtPY20spjcFto4A75PQV2g1DwNB+8WG2Y9ceSzfoRVe8+IlpbxeVpdiTjgFwEUfQD/wCtQ5yeiQKnGLu5HR6p4c0zUr+PUL4cRJgqWwp/3qx9V8cabpUX2bS40uJFGBsGI1/x/Cotfun1r4fx3xwJMqzheB1wa81qIQ5l73Q0qVOV+71L2p6ve6vcGa8nZz2Xoq/QVRBIOQcEUUV0JWOVtvVnXaF47vNOCwXwN1bjgMT86j69/wAa62W38PeMrfcjo0wH3l+WVPqP8ivJK2vCUBn8TWSgnCvuOPQVlOmviWhtCq/heqO38ZWd3H4bt7HTraSWFCBJ5YyQoHHAry8gqSCCCOoNema542l0bX3tBbpNboo3c4YE+9J/wlXhXVRm/tVWQ95oNx/MZqYOUVsXUjGUtzzMAk4Aya9N8MWJ8NeGbvUb4GKSVd+xuoAHA+pz0oTW/BmmHz7WGFpRyvlwkt+BPSuT8S+K7jXnESqYbRTlY88sfU023PS1kSlGnre7MGWQzTPK33nYsfxplFFbGAV7V4XtTZ+GbCIjBMQcj3b5v615Bpdk2o6pbWignzZApx6d/wBM17oihEVFGAowBXPXeyOnDLdjqKKK5zrCiiigAooooAKKKKACiiigAooooAKKKKACiiigAooooAKKKKACiiigAooooAKKKKACiiigAooooAKKKKACiiigAooooAKKKKACiiigAooooAKp6pYpqWmXFm/SVCAfQ9jVyihaA1fQ8CuIJLa4kglXbJGxVh7io67n4g6GYbldVgT93J8suOzdjXDV3RlzK55s48srBRRRVEhRRRQB3/hhv7Q8D6nYnkxhiB9Rn+lcBXY/Dy4A1O6s2Pyzwnj6Vyt9CYL+eIjBSRh+tZx0k0aT1hFkFFFFaGYV1/w7txJrks56QxE5+vFchXceDiLHw3rGoNxhdqn8Kip8JpS+NHL63dfbdbvLjP3pTis+lJLMSepOTSVSVkZt3dwooopgFFFTWlrLe3cVtCpaSRgoFAHZ/DrSjJdzanIvyxjy48/3j1P5fzr0iqOkabHpOmQWcY4RfmPqe5q9XFOXNK56NOHLGwUUUVBYUUUUAFFFFABRRRQAUUUUAFFFFABRRRQAUUUUAFFFFABRRRQAUUUUAFFFFABRRRQAUUUUAFFFFABRRRQAUUUUAFFFFABRRRQAUUUUAFFFFABRRRQBBeWkN9aS206ho5F2kV4xrujT6JqT20oJTrG/Zlr26svXdDt9dsGt5htkHMcmOVNaU58r8jKrT51pueJUVc1PTLnSb17W6jKuvQ9mHqKp12J3OBq2jCiiigDX8L3f2PxHZyk4Uvtb6HipfF9t9m8T3i4wHbePxrGikMUqSL1Rgw/Cuo8cgS3djfLyLi2VifcVD0mi1rBo5SiiirICuzlb7B8NYkHDXc2fqM//AFq4wDJAHU11vjB/s+naPpy9I4A7D0JqJatIuGibOSoooqyAooooAK9N8DeGzZQf2ldpieQfu1P8K+v1NZfg7wi1w6alqEZEI5iiYff9z7V6QBgYFc9Wp9lHVQpfaYUUUVznUFFFFABRRRQAUUUUAFFFFABRRRQAUUUUAFFFFABRRRQAUUUUAFFFFABRRRQAUUUUAFFFFABRRRQAUUUUAFFFFABRRRQAUUUUAFFFFABRRRQAUUUUAFFFFABRRRQBnazolnrdmYLpPmH3JB95D7f4V4/rOj3Oiag1rcD3Rx0dfUV7jWD4s0RdZ0aQIubmEF4j3J7j8a1p1OV2exjWpKSutzxyiiius4Qrp9Tb7Z4I0u4/it5Ghb6dq5iui0xvtPhHVbU8mF0nUfpUy6MuHVHO0UUVRBa06A3OpW0A6vIo/WtTxjci58S3IX7kWIl+gFN8JRB/EVu7fdhDSk+m0ZrJu5zc3k056yOW/M1P2itoENFFFUSFegeEPBqMkepanHnPzRQMOPYt/hWH4L0QavrIeZc21sA7g9GPYf59K9d6DArCrUt7qOmhST95gAAMDgUUUVzHWFFFFABRRRQAUUUUAFFFFABRRRQAUUUUAFFFFABRRRQAUUUUAFFFFABRRRQAUUUUAFFFFABRRRQAUUUUAFFFFABRRRQAUUUUAFFFFABRRRQAUUUUAFFFFABRRRQAUUUUAFFFFAHi3imxGn+JL2FRhC/mKPZuf64rHruPHulXlzr8c1raSyq1uoZkQkZBb+mK5f8AsPVf+gfc/wDfs12wknFHnTi1J2M+tvww+b64tT0ubaSMD/axkfyqp/Yeq/8AQPuf+/Zq3pemarZ6ra3H9n3ICSqT+7PTPP6U5NNCimmtDFI2sQexxSVsX+galHqFwsdhcMgkbaRGSCM1X/sPVf8AoH3P/fs0+ZCcX2LmhN9m0/VrzoVt/LU+jMcVh10a6TqUXhp4lsbjzJ7kFl8s52qP8TWZ/Yeq/wDQPuf+/ZpJq7KadkjPorQ/sPVf+gfc/wDfs0f2Hqv/AED7n/v2ad0Tyvsek+ArEWvhtJiMPcuZCfYcD+X611FZ+hQG20GwhZSrLboGUjkHAzWhXFJ3k2ejBWikFFFFSUFFFFABRRRQAUUUUAFFFFABRRRQAUUUUAFFFFABRRRQAUUUUAFFFFABRRRQAUUUUAFFFFABRRRQAUUUUAFFFFABRRRQAUUUUAFFFFABRRRQAUUUUAFFFFABRRRQAUUUUAFFFFABTd6f3l/OuA+I2p3UU9tYRO0cDx+Y+043nOMH6Y/WuAyfU1tGjzK9znnX5ZWse/b0/vr+dG9P76/nXgOT6mjJ9TVew8yfrPke/b0/vr+dG9P76/nXgOT6mjJ9TR7DzD6z5Hv29P76/nRvT++v514Dk+poyfU0ew8w+s+R79vT++v50oYN0IP0rwDJ9TU1pe3NjcpcW0zxyochlNHsPMPrPke9UVBYztc2FvO67WkjVyvoSM1PXOdQUUUUAFFFFABRRRQAUUUUAFFFFABRRRQAUUUUAFFFFABRRRQAUUUUAFFFFABRRRQAUUUUAFFFFABRRRQAUUUUAFFFFABRRRQAUUUUAFFFFABRRRQAUUUUAFFFFABRRRQAUUUUAFFFFAGTrug2OuWypd5Ro+UlU4K//Wrmf+FfaX/0FW/8d/xqH4jajdRXFtZRuyQNHvbacbjnGPw/rXA5Pqa6acZcu5yVZw5rNHon/CvtL/6Crf8Ajv8AjR/wr7S/+gq3/jv+Ned5PqaMn1NXyS/mM+eH8p6J/wAK+0v/AKCrf+O/40f8K+0v/oKt/wCO/wCNed5PqaMn1NHJL+YOeH8p6J/wr7S/+gq3/jv+NH/CvtL/AOgq3/jv+Ned5PqaMn1NHJL+YOeH8p6J/wAK+0v/AKCrf+O/41ZsPAWkRXSyPdtchTny8gA/XFeZZPqamtby4srhJ7eZ45FOQVNJwl/MNVIX+E95AAAAGAKWoLGZ7iwt5pF2vJGrMPQkZqeuQ7gooooAKKKKACiiigAooooAKKKKACiiigAooooAKKKKACiiigAooooAKKKKACiiigAooooAKKKKACiiigAooooAKKKKACiiigAooooAKKKKACiiigAooooAKKKKACiiigAooooAKKKKAMzWtCstdt1iulO5DlHXgrXO/wDCttP/AOfy4/IV2tFUpyWiZEqcZO7RxLfDnTUUs99OqjqTtAFQf8ILoX/QYP8A38Su5uIEubeSCQZSRSp/GvFtc0m50XUpLaXdszmN+zLWtNylpcxqxjDXlOw/4QXQv+gwf+/iUf8ACC6F/wBBg/8AfxK883N/eP50bm/vH8615JfzGPtIfynof/CC6F/0GD/38SnR+ANGmbbFqkjt6Kyk151ub1P516d4E0GSxtW1C6UrNOMIp6qv/wBeonzRV7l0+WbtyjP+Fbaf/wA/lx+QqxZfD7S7W5SaSSWcKchHwB+OK62isfaS7nR7KHYAABgcAUUUVBoFFFFABRRRQAUUUUAFFFFABRRRQAUUUUAFFFFABRRRQAUUUUAFFFFABRRRQAUUUUAFFFFABRRRQAUUUUAFFFFABRRRQAUUUUAFFFFABRRRQAUUUUAFFFFABRRRQAUU15EjGXdVHucVm3XiPSLPPnX8AI/hDZP5Cmk3sJtLc1KK5K5+Iejw5EKzzn/ZTA/Wsa6+JU7ZFrYIno0j5/QVapSfQzdaC6no1ISB1IFeSS+M/EN/II4Z9jMcBIYxk/nk10ej+Er+/wBtz4gvLh0PItjKTn6+n0FN0+X4mJVuZ2ijto5Y5QTG6uAcHac4NPqOGCK3hWGGNY41GFVRgCpKyNgqjqmk2esWpt7yIOv8LDhlPqDV6ihOwmr6M81v/hveRuWsLqKWPssuVYfzB/SqUXw+1uR8OLeMf3mkz/IGvV6K19tIydCByWh+A7LTZFuLx/tc68gFcIp+nf8AGutoorOUnLVmkYqKsgooopFDFmickJIjEHBAPQ0+sfWfDlnrA8w7oLsD5biLhvx9RXB6jJ4p8MTbXvZ3hz8spO9T+ecVcYKWzM51HDdaHqlFeW2vxE1aLAnignH+6VP+fwrZtfiVatgXVjLGfWNgw/pTdKSJVeD6nc0Vz9r410K5wPtnlH0lUr+ta8GoWd0u6C6hkH+y4NQ4tbmilF7Ms0UdaKRQUUUUAFFFFABRRRQAUUUUAFFFFABRRRQAUUUUAFFFFABRRRQAUUUUAFFFFABRRRQAUUUUAFFFFABRRRQAUUUUAFFFc7r/AIvstEzCv7+6/wCeanhfqaaTbshSkoq7OiqOSeGEZllRB/tMBXkOoeMdZv2P+kmGM/wRcViy3M85zLNI/wDvMTWyoPqzneJXRHslz4p0W0yJL+IsP4UOTWNdfEXTIsiCGeY+uNo/WvL6KtUY9TN4iT2O3ufiRevkW1nFH6FiWrGufGWuXWQbwxg9o1ArBoq1CK6GbqTe7J5726uSfPuZZM/33JqCiirICtfRfDl/rcoEEe2EH5pW+6P8ayK9W8AXwudA+znG+3cqfoeRUVJOMbo0pQUpWZo6H4YsNDjBiTzLjHzTOOfw9K2qKK4229Wd6SSsgooopDCkJCgkkADuao6zPe22lzTWEaSToMhW7jvXkWo+ItV1JiLm7k25+4vygfhWkKbkZVKqgepaj4r0jTMiW6V5B/BH8xrLsviFpVxKUnjltxn5WYZB/LpXllFbKjE53iJX0PebW+tb6MPa3EcqnurZqxXgcFzPayB4JnjYd1bFd74N8Qa3qd8LaUrPboMySOOVH19aznRsro1hXUnZo7+iiisToCo5oIrmFopo1kjYYKsMg1JRQB554h8Ald9zpPI6mAnn8DXCSxSQyNHKjI6nBVhgivfjwMmvFPEt8NQ8QXc64279q/QcV00pt6M469OMdUZNKrMjblYqR3BxSUVuc5pW3iDVrTHk384x2Lbv51s23xA1mDAl8mYf7S4P51ylFS4Re6KU5LZnodr8SozgXVgy+8bZ/nW1beOtDuMBp2hP/TRcD868ioqHRizRV5o91t9W0+7GYLyB/o4q4CCMg5FfP4JU5BIPqKu22s6lZsGgvZkx/tk1DodmaLE90e50V5xo/wAQ543WLVIxInTzUGCPqO9eg2l3BfWyXFtKskTDIZTWMoOO5vCpGexNRRRUlhRRRQAUUUUAFFFFABRRRQAUUUUAFFFFABRRRQAUUUUAFFFFABRRRQAUUUUAFFFFAHN+MPEP9i6eI4CPtc+Qn+yO5rySSR5ZGkkYs7HJJPJNbfjC/a/8SXJ3ZSI+Wn0H/wBesKuynHlicFafNIKKKK0MgooooAKKKKACiiigArrvh9qH2bXGtmOEuEwP94dK5GrFhdNY38FypwYnDVMldWKhLlkme80VHBMs9vHMhyrqGGPepK4T0gooooAK8t8ceHf7OvPt9sn+jTn5gP4G/wDr16lVe+sodRspbW4XdHIuD7e9XCfK7mdSHPGx4NRV/WdKm0bU5bOYfdOUbsy9jVCu1O+p57VnZktvby3VxHBCpaSRgqgdzXs3h7RYtD0tLdQDK3zSv6tXOeA/Dv2eEatdJ+9kH7lSPur/AHvxrua5as7uyOyhTsuZhRRRWJ0BRRRQBmeIb8adoV3cZwwQqv1PArxIkkkk5J616J8SNQ229rYKeXJkcew6V51XVRVo3OLESvK3YKKKK2MAooooAKKKKACiiigAroPCviKXRL9VdibSU4kU9vcVz9FJpNWY4ycXdHv6OsiK6nKsMgjuKdXOeCL83vhuEO2XhJjP0HT9K6OuGSs7HpRfMrhRRRSGFFFFABRRRQAUUUUAFFFFABRRRQAUUUUAFFFFABRRRQAUUUUAFFFFABUN3MLe0mmY4CIWJ+gqauf8aXf2TwxdYOGlAjH4nmnFXdhSdk2eRTytPPJM33nYsfqTmo6KK7zzAooooAKKKKACiiigAooooAKKKKAPXPA+ofbfDkSMcvbkxn6dv0rpa8x+HWoeRqs1kx+WdNy/7w/+t/KvTq46itI76MuaCCiiiszUKKKKAOe8XeHxremFolH2uAFoj/eHda4Lwn4dfWNVJnQi1tzmXPGT/dr16sfQL23vBqPkRonl3kiNtGN3T5vxrWM2otGM6cXNNmuqhFCqAFAwAOwpaKKyNgooooAKKKoa1fDTtHuron7kZx7ntQlcTdlc8p8XX/8AaHiO5cHKRny1+g/+vmsOlZi7lmOWY5J9TSV3pWVjzZO7uFFFFMQUUUUAFFFFABRRRQAUUUUAd/8ADW7w97Zk9cSKP0P9K9Crx/wTd/ZPE9uCcLKDGfx//VXsFclZWkd1B3gFFFFZGwUUUUAFFFFABRRRQAUUUUAFFFFABRRRQAUUUUAFFFFABRRRQAUUUUAFcF8SrvEFlZg/eYyH8OB/Ou9ryXx5d/afE0kYPywIsf49T/OtaKvIxru0DmKKKK6zhCiiigAooooAKKKKACiiigAooooAuaVenTtVtrsHHlSAn6d/0r3NHEkaupyGGQa8Ar2LwbqH9oeG7YscyQ/um/Dp+mKwrrRM6cNLVxN+iiiuY6wooooArajdCx025uj/AMsomf8AEDiuB+G98RqN7au2fOQSjPqDz/P9K6Dx7efZvDMkYOGuHWP8Op/l+tef+E7z7F4mspCcKz+W30bj+tbwjeDOapO1RHs9FFFYHSFFFFABXEfEfUPK063sVPzTPvYf7I/+viu3rx/xrqH2/wASzhTlIMRL+HX9c1rSV5GNeVoHPUUUV1nCFFFFABRRRQAUUUUAFFFFABRRRQBPZ3Btb2C4HWKRX/I17vE4liSRTkMoINeA17P4Uu/tvhmykJyyp5Z+q8f0rCutEzpwz1aNqiiiuY6wooooAKKKKACiiigAooooAKKKKACiiigAooooAKKKKACiiigAooooARiFUk9AM14TqV0b3U7q5znzZWYfTPH6V7H4ju/sPh2+nBwwiKqfc8D9TXiVdFBbs5MS9kFFFFdBzBRRRQAUUUUAFFFFABRRRQAUUUUAFdz8N9Q8u9urBjxKvmIPccH9D+lcNWhod/8A2Zrdpd5wscg3/wC6eD+hNTNXi0VTlyyTPcaKAcjI6UVwnpBRRRQB5z8SrzdeWdmDwiGQ/UnH9P1rho3MciupwVIINbPi68+2+JrxwcqjeWv0XisSu2CtFI86pK82z3mxuReWFvcr0ljV/wAxViua8C3n2rwzChOWgZoz/Mfzrpa45Kzsd8XeKYUUUUiirqV4un6bc3b9Ioy31OOBXhUkjSyvI5y7sWY+pNenfETUPs+ixWan57mTkf7K8n9cV5fXVRVlc48RK8rBRRRWxzhRRRQAUUUUAFFFFABRRRQAUUUUAFelfDa78zTbu0J5ikDj6MP8Qa81rrfh7d+R4haAn5biIqB7jkfpms6qvFmlF2mj1SiiiuM9AKKKKACiiigAooooAKKKKACiiigAooooAKKKKACiiigAooooAKKKKAOO+I135OiQWwPM83I9VUZ/nivL67L4j3fm61Bag8QQ5I9GY/4AVxtdlJWicFZ3mwooorQyCiiigAooooAKKKKACiiigAooooAKKKKAPaPCmof2j4btJScyIvlP9V4/lg/jWzXnnw21DEl3p7HhgJUHv0P9Pyr0OuKorSaPQpS5oJhUF7cC0sZ7hukUbP8AkKnrnPHF59k8MzqDhpiIx/P+lTFXdipOybPJJZDLM8jHJZiSaZRRXeead78NbzE95Zk/eUSKPpx/WvRK8c8HXn2PxNaMThZD5Z/HivY65KytI7cO7wsFFFQXlylnZT3Mn3YkLn8BWRueWePNQ+2+JJIlOY7ZREPr1P6nH4VzFSXEz3NzLPIcvI5dj7k5qOu+KsrHmSlzNsKKKKYgooooAKKKKACiiigAooooAKKKKACr+iXf2HXLK5zgJMu4/wCyTg/oTVCihq4J2dz6Boqjo139u0Wyus5MkKlvrjn9c1erz2rHpp3VwooooGFFFFABRRRQAUUUUAFFFFABRRRQAUUUUAFFFFABRRRQAUUVV1G6Flpt1dE/6qJnH1A4oB6HjviW7+3eI7+fOVMpVT7LwP0FZVKxLMWPUnNJXelZWPLbu7hRRRTAKKKKACiiigAooooAKKKKACiiigAooooA1fDd/wD2br9pcE4Tftf/AHTwf517ZXz8DggjqK9t8OX/APaWgWlxnL7Ar/UcGueutmdWGlvE1K89+JV5mSzswegMjfyr0KvHvGd59s8TXODlYiIx+FRRV5Gld2hY5+iiius4SS3lMFxHKpwUYN+Ve72s4ubSGdekiBvzFeCV7B4KvPtfhm3yctFmM/hWFdaJnRhnq0dDXKfEDUPsugC2U4e5cL/wEcn+ldXXlXxA1D7VrwtlOUtkC/8AAjyf8PwrKkryN60rQZydFFFdhwBRRRQAUUUUAFFFFABRRRQAUUUUAFFFFABRRRQB6t8Prvz/AA55BPzW8rLj2PI/ma6uvNvhtd7NQvLQniWMOPqp/wDr16TXHVVpM76LvBBRRRWZqFFFFABRRRQAUUUUAFFFFABRRRQAUUUUAFFFFABRRRQAVzPjy7+zeGJYwcNO6x/h1P8AKumrzz4lXeZrKzB+6rSEfXgfyNXTV5Izqu0GcDRRRXaeeFFFFABRRRQAUUUUAFFFFABRRRQAUUUUAFFFFABXonw31DdDdaex5UiVB+h/pXndbfhPUP7O8RWshOEdvLf6HioqK8Wi6UuWaZ7DczC3tpZm6RoW/IV4RczG4upZmOS7lvzNeu+Mrz7H4ZuSDhpMRj8a8drOgtGzbEvVIKKKK3OYK9B+Gt5xeWZPpIv8jXn1dF4JvPsnia3BOFlBjP41FRXiy6TtNHrdxMltbSzucJGpY/QCvCr65e8vp7lzlpXLE/U16n461D7F4dkjU4e4YRj6dTXklZ0Fpc1xMtUgooorc5wooooAKKKKACiiigAooooAKKKKACiiigAooooA2/CV39j8T2Tk4V38s/8AAuP617NXgMMhimSRTgqwYGveLWcXVnDcL0lRXH4jNc1dapnXhno0TUUUVgdIUUUUAFFFFABRRRQAUUUUAFFFFABRRRQAUUUUAFFFFABXj3jW7+1+J7rBysWIx+A5/XNevTSrDBJK33UUsfoBXg93O1zeTTsctI5Yn6mt6C1bObEvRIhooorpOQKKKKACiiigAooooAKKKKACiiigAooooAKKKKAClVijhl4IORSUUAdn4v1oahoOkorZMieY/wBRxXGU5pHZVVmJC9Ae1NqYx5VYqcuZ3CiiiqJCprOc2t7DODgxuG/I1DRQB13j3VBfahbQRtmOOIMcerc1yNOeR5G3OxZvU02lFcqsOcuZ3CiiimIKKKKACiiigAooooAKKKKACiiigAooooAKKKKACvYfBd39r8MW2Tlosxn8D/gRXj1eifDW7zDe2ZPQiRR+h/pWVZXibYd2md7RRRXIdwUUUUAFFFFABRRRQAUUUUAFFFFABRRRQAUUUUAFFFFAEF7bC9sprZnZBKhUsvUZrzjUfh1qEGWsZo7lf7rfI3+FenUVcZuOxE6cZ7ng95p95p8my7tpYW7b1wD9D3qtXv0sMU8ZjljSRD1VxkGub1HwJo19loY2tJD3hPy/98nj8sVtGuupzywz+yzyWiuu1H4fapa5a1aO7Qdl+VvyP+Ncvc2dzZyGO5gkicdnUg1qpJ7GEoSjuiGiiiqJCiiigAooooAKKKKACiiigAooooAKKKKACiiigAooooAKKKKACiiigAooooAKKKKACiiigAooooAKKKKACiiigAooAycCtfTvDGr6ngwWbiM/8tJPlX8z1/Ck2luNJvYyKUAkgAZJ6AV6Hp3w2jXD6jeFz3jgGB+Z/wAK6zT9C0zSwPsdnFGw/jIy35nmspVorY2jh5PfQ8s07whrOpYZLUwxn+Of5B+XX9K7zwx4Q/sG4a5kuzLKybSqrhcf1rqKKxlVlLQ3hRjHUKKKKzNgooooAKKKKACiiigAooooAKKKKACiiigAooooAKKKKACiiigAooooAKhuLW3u4zHcQxyof4XUEVNRQByeo+ANKu8tbF7Vz/dO5fyP+NcBrvh+80G68udd0TfclUfK3/169rqC8s7e/tmt7qJZIm6qwrWFVrcxnRjJaaM8FortNd8A3NoWn0wmeHr5Z++v+NcbJG8TlJEZHHVWGCK6YyUtjjlBxdmNoooqiQooooAKKKKACiiigAooooAKKKKACiiigAooooAKKKKACiiigAooooAKKKKACiiigAoorT0rQdQ1iULawMU7yNwo/Gk2luCTeiM1VZ2CqCWJwAO9dzo3w8kuII59SmaHdz5KD5se57V0fh/wfZ6LtmkxPd/89GHC/QV0lc863SJ106FtZGTp/hrSdMwbezQuP+Wkg3N+vT8K1qKKxbb3OhJLYKKKKQwooooAKKKKACiiigAooooAKKKKACiiigAooooAKKKKACiiigAooooAKKKKACiiigAooooAKKKKACszU9A03VkIurZS3Z14YfjWnRTTa2E0nozzjU/hzPGWfTrhZF/55ycH865O+0fUNOYi7tJYwP4iuR+de5010V12uoYehGa1jWktzGWHi9tDwCivZr7wlot/kyWSI5/ij+U/pXPXnw1hbJs750/2ZV3fqMVqq0XuYSw81sedUV1F14B1u3yYkiuB28t8H9cVj3Gharak+dp9yoHUiMkfmKtSi9mZuElujPopWUqxDAgjsRSVRIUUUUAFFFFABRRRQAUUUUAFFFFABRRRQAUVNBZ3VycQW00p/wBhC38q1rbwhrt1jbYOinvIQv8APmk2luNRb2Rh0V21p8N76TBuryGIeiAsf6Vv2Xw+0i3wZzLct/ttgfkKh1Yo0VCbPLI43lcJGjOx6Koya6DTvBWsagQzQ/Z4z/FLx+leqWmmWNim21tYoh/sqBVusnXfQ2jhl9pnJaV4B02yKyXZN1KOzcL+VdVFFHDGI4kVEHRVGBT6KxcnLc3jFR2CiiikUFFFFABRRRQAUUUUAFFFFABRRRQAUUUUAFFFFABRRRQAUUUUAFFFFABRRRQAUUUUAFFFFABRRRQAUUUUAFFFFABRRRQAUUUUAFFFFABRRRQBDNa29wMTQRSD0dAaz5vDGiT/AH9Mth/uJt/lRRTTa2E0nuUZfAmgSfdtXj/3JW/qTWfcfD3R1Qus14vsJF/+JoorWEn3MJxiuhzl94ZsrYnZLOcf3mH+FYVzaRwk7Sx+pooroRzSRS70UUVRBJEgdsHP4VrWmkW85G95Rn0I/wAKKKTGjpNP8EabdY8ye7H+66//ABNbEXw+0NPvC5k/3pf8AKKKxm2dEIrsXYvBugQ/d09WP+27N/M1oQaNplt/qdPtkPqsQBoorByb6nSoxWyLoVVGAoH0FLRRUlBRRRQAUUUUAFFFFABRRRQAUUUUAFFFFABRRRQAUUUUAFFFFABRRRQAUUUUAFFFFAH/2Q=="/>
          <p:cNvSpPr>
            <a:spLocks noChangeAspect="1" noChangeArrowheads="1"/>
          </p:cNvSpPr>
          <p:nvPr/>
        </p:nvSpPr>
        <p:spPr bwMode="auto">
          <a:xfrm>
            <a:off x="-641473" y="1091803"/>
            <a:ext cx="1043113" cy="10431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sp>
        <p:nvSpPr>
          <p:cNvPr id="5" name="AutoShape 4" descr="data:image/jpeg;base64,/9j/4AAQSkZJRgABAQAAAQABAAD/2wBDAAgGBgcGBQgHBwcJCQgKDBQNDAsLDBkSEw8UHRofHh0aHBwgJC4nICIsIxwcKDcpLDAxNDQ0Hyc5PTgyPC4zNDL/2wBDAQkJCQwLDBgNDRgyIRwhMjIyMjIyMjIyMjIyMjIyMjIyMjIyMjIyMjIyMjIyMjIyMjIyMjIyMjIyMjIyMjIyMjL/wAARCAH0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OQ+IGq3On6ZbwW0jRm4ZgzqcHAxxn3zXAaJq11pWpxTwSuAXHmJnhx3BFdj8Tf8AUab/AL0n8lrz+D/j4j/3h/OuuklyHDWk/aHvtFFFch3BRRRQAUUUUAFFFFABRRRQAUUUUAFFFFABRRRQAUUUUAFFFFABRRRQAUUUUAFFFFABRRRQAUUUUAFFFFABRRRQAUUUUAFFFFABRRRQAUUUUAFFFFABRRRQAUUUUAFFFFABRRRQAVn61q0Oi6ZJeTAsF4VR/ET0FaFYfizSn1bQZoYv9an7xB6kdqcbX1JldRdjlrP4jzteqLu1jFuxwShOVFehRSJNEkkbBkcAqR3FeBEEEgjBHUGvSvAGufabVtMnb95CMx57r6fhW9Wmkro56NVt2kdtRRRXOdQUUUUAFFFFAHBfE3/Uab/vSfyWvP4P+PiP/eH869A+Jv8AqNN/3pP5LXn8H/HxH/vD+ddlL4DgrfxGe+0UUVxneFFFFABRRRQAVz3ifxRHoESIiCW5k5VCeAPU1t3VzHZ2stxMwWONSzE14nrOpyavqk13IT8xwo9F7CtaUOZ6mNapyLTc7zw745bUtQSyvYEjaTiN0PGfQ121eR+CNJk1DXY58EQ2p8xj6nsK9coqpKVkFGUpRvIKKKKyNgooooAKKKKACiiigAooooAKKKKACiiigAooooAKKKKACiiigAooooAKKKKACiiigAooooAKKKKACiiigAooooAKKKKACiiigAooooAKKKKACiiigDynxzof9m6n9shXFvcnPHRX7j8etc9p19Lpt/DdwnDxtn6juK9n1rS49Y0qa0kHLDKN/dbsa8TubeS0uZLeZdskbFWFddKXNGzOGtDkldHuWnX0WpWEN3CcpIufofSrVea/D/XPs102lzv+6mO6Ins3p+NelVzzjyux10588bhRRRUFhRRRQBwXxN/1Gm/70n8lrz+D/j4j/wB4fzr0r4i2E91pltcQoXW3dt4AyQDjn9K8/wBJ0+41HU4LeCNmZnGTjhRnkmuuk1yHDWT9oe50UUVyHcFFFFABRRVDWtUi0fS5ryQ/cHyr/ebsKEr6Cbsrs434ha593SYG/wBqYj9BXAxxvLIscalnYhVA7mn3NzLeXUlxM26SRizH3rsfAGh/abttTnTMUJxGD3b1/CuzSnE4XerM7Tw3o6aLo8Vvgea3zyt6sa16KK5G7u7O5JJWQUUUUhhRRRQAUUUUAFFFFABRRRQAUUUUAFFFFABRRRQAUUUUAFFFFABRRRQAUUUUAFFFFABRRRQAUUUUAFFFFABRRRQAUUUUAFFFFABRRRQAUUUUAFFFFABXnvxB0PBXVoE6/LMB+hr0Kobq2ivLWW2mXdHIpVhVQlyu5E4c0bHg0cjwypJGxV0IZSOxFe1eHNXXWtGhuukg+SQejDrXmuoeDNXtb1oobV54i3yOnQj3r0LwlosmiaMIJyPOkcyOB0BIAx+Qras4uNznoKUZNM3aKKK5zrCiiigAIyMGo4reCAkwwxx7uuxQM/lUlFABRRRQAUUUUAFeV+O9bN/qn2GJv3FqcH/afv8Al0/OvVK8t8SeENTTWLi4tLdriCeQyAp1Uk5IP41rRtzamFfm5bI5nT7GXUb+G0hGXkbH0969u02wi0zT4bSEYSNcfU9zXM+C/DEukq97eoFuXG1F7oP8a7CnVnzOyChT5Vd7hRRRWJuFFFFABRRRQAUUUUAFFFFABRRRQAUUUUAFFFFABRRRQAUUUUAFFFFABRRRQAUUUUAFFFFABRRRQAUUUUAFFFFABRRRQAUUUUAFQ3F3bWgBuJ4ogem9wM/nU1eM+Lbm5uPEt6Lhm/dyFEU9Ao6Y/Dn8aunDmdjOrU5Fc9kjkSVA8bq6HoynINOrxTR/EWo6LIDbTExZ+aJ+VNej6H4y07V9sUjC2uT/AMs3PDH2NVOk4kwrRlp1OkooorI2CiiigAooooAKKKZNNFbxNLNIscajLMxwBQA+mSSxwoXldUQdWY4FcPrXxDiiLQ6VGJW6ec4+X8B3/GuGv9Xv9TkL3d1JIfQngfQVrGi3uYTrxW2p6nfeNdFsiV+0GZx2iGf1rCuPiUgJFtYE+8j/AOFeeUVsqMUYOvN7HZyfEfUmPyWtun5mmD4i6qDzDbn/AIDXH0VXs49iPaz7ncw/Eq6B/fWMLD/ZYg1r2nxF0yYgXEE0B9R8wry+ik6UWUq811Pc7HWdO1ID7JdxSE/w5wfyNXq8AR2jYMjFWHcHFdLpHjjVNOKpO32qAfwyH5h9DWUqD6G0cQvtHrVFY+i+JdO1xMW8uycDLQvww+nrWxWLTWjOhNNXQUUUUhhRRRQAUUUUAFFVr2/tdOtzPdzpFGO7Hr9PWuA1z4gzT7oNKUwx9POb7x+npVxg5bETqRhuegS39nBKIprqGOQ9FaQA/lVjrXgMs0k0pkldncnJZjk16z4Fubi58NIbgs2yRkjZupUY/rkfhVTpcquZ063O7WOlooorI3CiiigAooooAKKKKACiiigAooooAKKKKACiiigAooooAKKKKACiiigAooooAKKKKACiiigAooooAKwte8K2GugySAw3QGBMnX8R3rdopptO6E4qSszxjWvDGpaI5M0XmQZ4mj5X8fSsXpX0A6K6FHUMpGCCMg1x2ueAbW83T6aRbTHnyz9xv8K6IVukjlnh2tYnL6H421DStsNwTdWo42ufmUex/oa9H0nXtP1qLfaTAuB80TcMv4V47qGl3mlzmG8gaNuxI4P0NVoZpbeVZYZGjkU5DKcEVUqcZaoiFaUNGe/UVyPgnxJcaxHNa3hDTwqGEgGNy9OfeuurllFxdmdkZKSugoorK17XLfQrAzyndIeI4+7GhK7shtpK7H61rlnodoZrl8sfuRr95z7f415RrniO+12fM77IAfkhU/Kv+J96p6lqVzqt691dSFnboOyj0FU66oU1HXqcNSq56LYKKKK1MgooooAKKKKACiiigAooooAdHI8MiyRuyOpyGU4INeheGPHXmsllq7AOeEuOgPs3+Ned0VMoKS1KhNwd0fQIIIBByD3orzbwd4ua2dNN1CTMJ4ikY/c9j7V6SCCMjkVxzg4uzO+E1NXQUUVHPKsEEkz/AHY1LH6AZqSxzukaF3YKoGSScAVxmufEC2tN0GlqLibp5p+4v09a4zW/Et/rcrebKUt8/LCpwAPf1NY4BJwBknsK6YUVvI5J4hvSJav9SvNTuDPeTvK56ZPA+g7VBBbzXMywwRPJIxwFQZJrptD8D32p7ZrrNrbHnLD5mHsK9G0rQ7DRodlpAFYj5pDyzfU1UqsY6IiFGU9WcZofw9Z9s+sOVXqLeM8n/ePb8Pzr0C3t4bW3SCCNY4kGFVRgAVJRXNKbludcIRhsFFFFSWFFFFABRRRQAUUUUAFFFFABRRRQAUUUUAFFFFABRRRQAUUUUAFFFFABRRRQAUUUUAFFFFABRRRQAUUUUAFFFFAFe8sba/gMN1CksZ7MK4XVfhyxm36ZOojP/LOXt9DXoVFVGbjsRKnGW5znhXwwPD8MryyCS5mwGK9FA7CujoopNtu7KjFRVkQXt5DYWct1OwWONck14vrmsT63qT3MpITpGnZVrpviBrhmul0qB/3cXzS47t2FcPXTShZXZx16l3yoKKKK2MAooooAKKKKACiiigAooooAKKKKACiiigAr0zwN4kN7D/Zl2+Z4x+7Yn7y+n1FeZ1NaXUtldxXMLFZI2DA1E48ysXTm4Sue902RFljaNxlWBBHqDVPSNSj1bS4LyPo6/MPQ9xV6uJ6HoJ3R5td/Di7+2MLW5iNuTwX6qPeuo0Twfp2jhZGQXFyP+WjjgfQV0NFW6kmrERpQi7pBRRRUGgUUUUAFFFFABRRRQAUUUUAFFFFABRRRQAUUUUAFFFFABRRRQAUUUUAFFFFABRRRQAUUUUAFFFFABRRRQAUUUUAFFFFABRRRQAUUUUAFU9Vvk0zS7i8fpEhIHqewq5XEfEi/MWn21ip5mcu30X/65H5VUI80kiJy5YtnnM88lzcSTytukkYsx9zUdFFdx5wUUUUAFFFFABVixsrjUbuO1tYy8rnAHp7n2qvXpvw80pIdNfUXUGWZiqk9lFROXKrl04c8rD9K+H2n20StflrmbuAcKP8AGtKfwZoU0ZT7Eqf7SEg1yXi3xfdy30tjp8zQ28R2s6HDOe/PpXNWeuanYziaC9mVgckFyQfqD1rJQm1e5s6lOL5UjZ8S+DZ9FQ3VszT2meSR8yfX2965avZ9B1aHxJohkljUMcxzR9s/4GvJ9asP7M1i5tP4Y3O36dqunNv3ZbkVYJWlHZlCiiitTEKKKKACiiigDufh1qpiu5tMkb5ZR5kef7w6j8v5V6RXhOl3radqltdqf9VIGP07/pmvdEcOiupyGGQa5a0bO52YeV427DqKKKxOgKKKKACiiigAooooAKKKKACiiigAooooAKKKKACiiigAooooAKKKKACiiigAooooAKKKKACiiigAooooAKKKKACigkAEk4A71jTeK9EglaN7+Pcpwcc00m9hNpbmzRWF/wAJjoX/AD/p+Ro/4THQv+f9PyNPll2Fzx7m7RWF/wAJjoX/AD/p+Ro/4THQv+f9PyNHLLsHPHubtFUbDWLDVA32O5SUr1APIq9UtWGmnsFeT+P7rz/EzxZ4gjVMe5+b+tesV4p4mlM3ibUWPaZl/Lj+lbUF7xhiH7tjJooorqOMKKKUAscKCT6CgBKKe8UkYy8bqPdSKZQAV7F4NdX8LWmzsCp+ua8drv8A4dauqmXS5WwSfMiz+orKsrxNqErTOHvYnhvp4pQQ6yMGz65qCu68feH2iuP7Wt0zHJxMB/C3r+NcbY2U+oXkVrboXlkOAB/OrjJONzOcHGVj0D4aRSLY30pz5byKF+oBz/MVzPjd1fxTc7f4QoP1xXo9tDbeF/Du1mASBCzt/eb/APXXjt7dPfX011J96VyxrKn703I2q+7BRIKKKUAk4AyfatznEop7QyoMvG6j1KkUygAooooAK9q8LXRvPDNhKTkiIIT7rx/SvFa9X+H0pk8Mhf8AnnM6/wAj/Wsa6903w796x1VFFIzKiFnYKoGST2rlO0WisR/FuhxuUN/GSODjmk/4TDQv+f8AT8jVcsuxPPHublFYf/CYaF/z/p+Ro/4TDQv+f9PyNHJLsHPHublFYf8AwmGhf8/6fka0bDVLLU4y9ncJKB12nkUnFrdApRezLdFFFIoKKKKACiiigAooooAKKKKACiiigAooooAKKKKACiiigAooooAKKKKACiiigAooooAyPFH2j/hHL37NnzNn8PXHevFa+gSARgjINY83hXRJ5WkfT4tzHJwMVrTqKKszCrSc3dHi1Fey/wDCIaF/z4R0f8IhoX/PhHWvt4mX1aXc8aor2X/hENC/58I6P+EQ0L/nwjo9vEPq0u55z4M+0f8ACT2vkbsZPmY6bcd69iqlYaRYaYGFnaxxFupUcmrtYVJ8zudFKHIrMK8N13/kYNSz/wA/Uv8A6Ea9yrxTxPEYfE2oqRjMzN+fP9a0obsyxOyMmiiiuk5C9pGlz6xqMdnAOW5Zuyjua9Dkbw94Mt0ieMTXRGT8oZz7n0rO+HEEaW9/esMsuE+gAzXE6leS3+oz3MzEvI5J9vasmueVuiNk1TgpdWehQeNtC1J/s95ZeUjcbpFDD/61YvizwlHYw/2lpnzWjcugOdue49q42vQfAmri8t5tEvDvUoTFu7juv9aTjyaxHGftPdkefVLbXEtpcx3ELlJI23KR61c1zTW0nWLi0P3VbKH1U9KsaH4avtcmHlIY7cH5pmHA+nqa1urXZiou9luel6Drdr4l0tlkVTLt2zwn+f0p+j+G9P0F554B8zkne/8AAvoKbY6fpXhPTWcusa4/eTP95z/ntUWleL9K1md7YMYnJIRZePMHt/hXI768ux3K2nPucX4z8Tf2tcfY7Vv9EiPJH/LRvX6Vydeh+JPAgkL3ekqA3Vrfsf8Ad/wrz+WKSCVopUZJFOCrDBFdFNxt7pyVVJSvIn07T59Uvo7S3XMjn8APU16MLbQPBlmhuVWa7YdSu5m+g7Cqvg2zh0bw/ca3dDDOpK5/ujp+ZrhNT1CfVL+W7nYl3OQPQdhSfvu3RFK1ON+rO/h8d6LeSeTdWLRxNxuZQwrN8VeFLZLL+1tIwbcjc6KcjHqK4evRfh/dNeaVfadN88acqD2DA5FKUeT3olRn7T3ZHnVFS3UQgu5oR0R2X8jioq2OcK9Q+G+f+EfuP+vpv/QVry+vVvh7EY/DIb/npM7fyH9KyrfCbYf4zq653xt9o/4Ri4+z7s5G/b1255roqRlV1KsAVIwQe9cqdnc7ZK6aPn+ivZ5PCehyOXOnxZPJwMU3/hENC/58I66fbxOT6tLueNUV7L/wiGhf8+EdH/CIaF/z4R0e3iH1aXc8arqvAH2j/hI18rd5ew+Z6Yru/wDhENC/58I60bHTLLTYylnbpCp67R1qZVk1ZFQoNSTbLdFFFc51BRRRQAUUUUAFFFFABRRRQAUUUUAFFFFABRRRQAUUUUAFFFFABRRRQAUUUUAFFFFABRRRQAUUUUAFFFFABRRRQAV5P4/tTB4maXHE8avn3Hy/0FesVxHxHsDLp9tfKMmFyjf7rf8A1wPzrSk7SMa6vA81ooorsOE7n4c6hHHdXWnyEDzhvQHuR1H5VzviPRZ9F1SWJ0byXYtFJ2Zf8azIJ5badJ4XKSodysOoNeg2HjnTdQtBba7bLnuxj3o3vjqDWTTjLmRtFxlHlbtY86rY8Nw6h/bNtPY20spjcFto4A75PQV2g1DwNB+8WG2Y9ceSzfoRVe8+IlpbxeVpdiTjgFwEUfQD/wCtQ5yeiQKnGLu5HR6p4c0zUr+PUL4cRJgqWwp/3qx9V8cabpUX2bS40uJFGBsGI1/x/Cotfun1r4fx3xwJMqzheB1wa81qIQ5l73Q0qVOV+71L2p6ve6vcGa8nZz2Xoq/QVRBIOQcEUUV0JWOVtvVnXaF47vNOCwXwN1bjgMT86j69/wAa62W38PeMrfcjo0wH3l+WVPqP8ivJK2vCUBn8TWSgnCvuOPQVlOmviWhtCq/heqO38ZWd3H4bt7HTraSWFCBJ5YyQoHHAry8gqSCCCOoNema542l0bX3tBbpNboo3c4YE+9J/wlXhXVRm/tVWQ95oNx/MZqYOUVsXUjGUtzzMAk4Aya9N8MWJ8NeGbvUb4GKSVd+xuoAHA+pz0oTW/BmmHz7WGFpRyvlwkt+BPSuT8S+K7jXnESqYbRTlY88sfU023PS1kSlGnre7MGWQzTPK33nYsfxplFFbGAV7V4XtTZ+GbCIjBMQcj3b5v615Bpdk2o6pbWignzZApx6d/wBM17oihEVFGAowBXPXeyOnDLdjqKKK5zrCiiigAooooAKKKKACiiigAooooAKKKKACiiigAooooAKKKKACiiigAooooAKKKKACiiigAooooAKKKKACiiigAooooAKKKKACiiigAooooAKp6pYpqWmXFm/SVCAfQ9jVyihaA1fQ8CuIJLa4kglXbJGxVh7io67n4g6GYbldVgT93J8suOzdjXDV3RlzK55s48srBRRRVEhRRRQB3/hhv7Q8D6nYnkxhiB9Rn+lcBXY/Dy4A1O6s2Pyzwnj6Vyt9CYL+eIjBSRh+tZx0k0aT1hFkFFFFaGYV1/w7txJrks56QxE5+vFchXceDiLHw3rGoNxhdqn8Kip8JpS+NHL63dfbdbvLjP3pTis+lJLMSepOTSVSVkZt3dwooopgFFFTWlrLe3cVtCpaSRgoFAHZ/DrSjJdzanIvyxjy48/3j1P5fzr0iqOkabHpOmQWcY4RfmPqe5q9XFOXNK56NOHLGwUUUVBYUUUUAFFFFABRRRQAUUUUAFFFFABRRRQAUUUUAFFFFABRRRQAUUUUAFFFFABRRRQAUUUUAFFFFABRRRQAUUUUAFFFFABRRRQAUUUUAFFFFABRRRQBBeWkN9aS206ho5F2kV4xrujT6JqT20oJTrG/Zlr26svXdDt9dsGt5htkHMcmOVNaU58r8jKrT51pueJUVc1PTLnSb17W6jKuvQ9mHqKp12J3OBq2jCiiigDX8L3f2PxHZyk4Uvtb6HipfF9t9m8T3i4wHbePxrGikMUqSL1Rgw/Cuo8cgS3djfLyLi2VifcVD0mi1rBo5SiiirICuzlb7B8NYkHDXc2fqM//AFq4wDJAHU11vjB/s+naPpy9I4A7D0JqJatIuGibOSoooqyAooooAK9N8DeGzZQf2ldpieQfu1P8K+v1NZfg7wi1w6alqEZEI5iiYff9z7V6QBgYFc9Wp9lHVQpfaYUUUVznUFFFFABRRRQAUUUUAFFFFABRRRQAUUUUAFFFFABRRRQAUUUUAFFFFABRRRQAUUUUAFFFFABRRRQAUUUUAFFFFABRRRQAUUUUAFFFFABRRRQAUUUUAFFFFABRRRQBnazolnrdmYLpPmH3JB95D7f4V4/rOj3Oiag1rcD3Rx0dfUV7jWD4s0RdZ0aQIubmEF4j3J7j8a1p1OV2exjWpKSutzxyiiius4Qrp9Tb7Z4I0u4/it5Ghb6dq5iui0xvtPhHVbU8mF0nUfpUy6MuHVHO0UUVRBa06A3OpW0A6vIo/WtTxjci58S3IX7kWIl+gFN8JRB/EVu7fdhDSk+m0ZrJu5zc3k056yOW/M1P2itoENFFFUSFegeEPBqMkepanHnPzRQMOPYt/hWH4L0QavrIeZc21sA7g9GPYf59K9d6DArCrUt7qOmhST95gAAMDgUUUVzHWFFFFABRRRQAUUUUAFFFFABRRRQAUUUUAFFFFABRRRQAUUUUAFFFFABRRRQAUUUUAFFFFABRRRQAUUUUAFFFFABRRRQAUUUUAFFFFABRRRQAUUUUAFFFFABRRRQAUUUUAFFFFAHi3imxGn+JL2FRhC/mKPZuf64rHruPHulXlzr8c1raSyq1uoZkQkZBb+mK5f8AsPVf+gfc/wDfs12wknFHnTi1J2M+tvww+b64tT0ubaSMD/axkfyqp/Yeq/8AQPuf+/Zq3pemarZ6ra3H9n3ICSqT+7PTPP6U5NNCimmtDFI2sQexxSVsX+galHqFwsdhcMgkbaRGSCM1X/sPVf8AoH3P/fs0+ZCcX2LmhN9m0/VrzoVt/LU+jMcVh10a6TqUXhp4lsbjzJ7kFl8s52qP8TWZ/Yeq/wDQPuf+/ZpJq7KadkjPorQ/sPVf+gfc/wDfs0f2Hqv/AED7n/v2ad0Tyvsek+ArEWvhtJiMPcuZCfYcD+X611FZ+hQG20GwhZSrLboGUjkHAzWhXFJ3k2ejBWikFFFFSUFFFFABRRRQAUUUUAFFFFABRRRQAUUUUAFFFFABRRRQAUUUUAFFFFABRRRQAUUUUAFFFFABRRRQAUUUUAFFFFABRRRQAUUUUAFFFFABRRRQAUUUUAFFFFABRRRQAUUUUAFFFFABTd6f3l/OuA+I2p3UU9tYRO0cDx+Y+043nOMH6Y/WuAyfU1tGjzK9znnX5ZWse/b0/vr+dG9P76/nXgOT6mjJ9TVew8yfrPke/b0/vr+dG9P76/nXgOT6mjJ9TR7DzD6z5Hv29P76/nRvT++v514Dk+poyfU0ew8w+s+R79vT++v50oYN0IP0rwDJ9TU1pe3NjcpcW0zxyochlNHsPMPrPke9UVBYztc2FvO67WkjVyvoSM1PXOdQUUUUAFFFFABRRRQAUUUUAFFFFABRRRQAUUUUAFFFFABRRRQAUUUUAFFFFABRRRQAUUUUAFFFFABRRRQAUUUUAFFFFABRRRQAUUUUAFFFFABRRRQAUUUUAFFFFABRRRQAUUUUAFFFFAGTrug2OuWypd5Ro+UlU4K//Wrmf+FfaX/0FW/8d/xqH4jajdRXFtZRuyQNHvbacbjnGPw/rXA5Pqa6acZcu5yVZw5rNHon/CvtL/6Crf8Ajv8AjR/wr7S/+gq3/jv+Ned5PqaMn1NXyS/mM+eH8p6J/wAK+0v/AKCrf+O/40f8K+0v/oKt/wCO/wCNed5PqaMn1NHJL+YOeH8p6J/wr7S/+gq3/jv+NH/CvtL/AOgq3/jv+Ned5PqaMn1NHJL+YOeH8p6J/wAK+0v/AKCrf+O/41ZsPAWkRXSyPdtchTny8gA/XFeZZPqamtby4srhJ7eZ45FOQVNJwl/MNVIX+E95AAAAGAKWoLGZ7iwt5pF2vJGrMPQkZqeuQ7gooooAKKKKACiiigAooooAKKKKACiiigAooooAKKKKACiiigAooooAKKKKACiiigAooooAKKKKACiiigAooooAKKKKACiiigAooooAKKKKACiiigAooooAKKKKACiiigAooooAKKKKAMzWtCstdt1iulO5DlHXgrXO/wDCttP/AOfy4/IV2tFUpyWiZEqcZO7RxLfDnTUUs99OqjqTtAFQf8ILoX/QYP8A38Su5uIEubeSCQZSRSp/GvFtc0m50XUpLaXdszmN+zLWtNylpcxqxjDXlOw/4QXQv+gwf+/iUf8ACC6F/wBBg/8AfxK883N/eP50bm/vH8615JfzGPtIfynof/CC6F/0GD/38SnR+ANGmbbFqkjt6Kyk151ub1P516d4E0GSxtW1C6UrNOMIp6qv/wBeonzRV7l0+WbtyjP+Fbaf/wA/lx+QqxZfD7S7W5SaSSWcKchHwB+OK62isfaS7nR7KHYAABgcAUUUVBoFFFFABRRRQAUUUUAFFFFABRRRQAUUUUAFFFFABRRRQAUUUUAFFFFABRRRQAUUUUAFFFFABRRRQAUUUUAFFFFABRRRQAUUUUAFFFFABRRRQAUUUUAFFFFABRRRQAUU15EjGXdVHucVm3XiPSLPPnX8AI/hDZP5Cmk3sJtLc1KK5K5+Iejw5EKzzn/ZTA/Wsa6+JU7ZFrYIno0j5/QVapSfQzdaC6no1ISB1IFeSS+M/EN/II4Z9jMcBIYxk/nk10ej+Er+/wBtz4gvLh0PItjKTn6+n0FN0+X4mJVuZ2ijto5Y5QTG6uAcHac4NPqOGCK3hWGGNY41GFVRgCpKyNgqjqmk2esWpt7yIOv8LDhlPqDV6ihOwmr6M81v/hveRuWsLqKWPssuVYfzB/SqUXw+1uR8OLeMf3mkz/IGvV6K19tIydCByWh+A7LTZFuLx/tc68gFcIp+nf8AGutoorOUnLVmkYqKsgooopFDFmickJIjEHBAPQ0+sfWfDlnrA8w7oLsD5biLhvx9RXB6jJ4p8MTbXvZ3hz8spO9T+ecVcYKWzM51HDdaHqlFeW2vxE1aLAnignH+6VP+fwrZtfiVatgXVjLGfWNgw/pTdKSJVeD6nc0Vz9r410K5wPtnlH0lUr+ta8GoWd0u6C6hkH+y4NQ4tbmilF7Ms0UdaKRQUUUUAFFFFABRRRQAUUUUAFFFFABRRRQAUUUUAFFFFABRRRQAUUUUAFFFFABRRRQAUUUUAFFFFABRRRQAUUUUAFFFc7r/AIvstEzCv7+6/wCeanhfqaaTbshSkoq7OiqOSeGEZllRB/tMBXkOoeMdZv2P+kmGM/wRcViy3M85zLNI/wDvMTWyoPqzneJXRHslz4p0W0yJL+IsP4UOTWNdfEXTIsiCGeY+uNo/WvL6KtUY9TN4iT2O3ufiRevkW1nFH6FiWrGufGWuXWQbwxg9o1ArBoq1CK6GbqTe7J5726uSfPuZZM/33JqCiirICtfRfDl/rcoEEe2EH5pW+6P8ayK9W8AXwudA+znG+3cqfoeRUVJOMbo0pQUpWZo6H4YsNDjBiTzLjHzTOOfw9K2qKK4229Wd6SSsgooopDCkJCgkkADuao6zPe22lzTWEaSToMhW7jvXkWo+ItV1JiLm7k25+4vygfhWkKbkZVKqgepaj4r0jTMiW6V5B/BH8xrLsviFpVxKUnjltxn5WYZB/LpXllFbKjE53iJX0PebW+tb6MPa3EcqnurZqxXgcFzPayB4JnjYd1bFd74N8Qa3qd8LaUrPboMySOOVH19aznRsro1hXUnZo7+iiisToCo5oIrmFopo1kjYYKsMg1JRQB554h8Ald9zpPI6mAnn8DXCSxSQyNHKjI6nBVhgivfjwMmvFPEt8NQ8QXc64279q/QcV00pt6M469OMdUZNKrMjblYqR3BxSUVuc5pW3iDVrTHk384x2Lbv51s23xA1mDAl8mYf7S4P51ylFS4Re6KU5LZnodr8SozgXVgy+8bZ/nW1beOtDuMBp2hP/TRcD868ioqHRizRV5o91t9W0+7GYLyB/o4q4CCMg5FfP4JU5BIPqKu22s6lZsGgvZkx/tk1DodmaLE90e50V5xo/wAQ543WLVIxInTzUGCPqO9eg2l3BfWyXFtKskTDIZTWMoOO5vCpGexNRRRUlhRRRQAUUUUAFFFFABRRRQAUUUUAFFFFABRRRQAUUUUAFFFFABRRRQAUUUUAFFFFAHN+MPEP9i6eI4CPtc+Qn+yO5rySSR5ZGkkYs7HJJPJNbfjC/a/8SXJ3ZSI+Wn0H/wBesKuynHlicFafNIKKKK0MgooooAKKKKACiiigArrvh9qH2bXGtmOEuEwP94dK5GrFhdNY38FypwYnDVMldWKhLlkme80VHBMs9vHMhyrqGGPepK4T0gooooAK8t8ceHf7OvPt9sn+jTn5gP4G/wDr16lVe+sodRspbW4XdHIuD7e9XCfK7mdSHPGx4NRV/WdKm0bU5bOYfdOUbsy9jVCu1O+p57VnZktvby3VxHBCpaSRgqgdzXs3h7RYtD0tLdQDK3zSv6tXOeA/Dv2eEatdJ+9kH7lSPur/AHvxrua5as7uyOyhTsuZhRRRWJ0BRRRQBmeIb8adoV3cZwwQqv1PArxIkkkk5J616J8SNQ229rYKeXJkcew6V51XVRVo3OLESvK3YKKKK2MAooooAKKKKACiiigAroPCviKXRL9VdibSU4kU9vcVz9FJpNWY4ycXdHv6OsiK6nKsMgjuKdXOeCL83vhuEO2XhJjP0HT9K6OuGSs7HpRfMrhRRRSGFFFFABRRRQAUUUUAFFFFABRRRQAUUUUAFFFFABRRRQAUUUUAFFFFABUN3MLe0mmY4CIWJ+gqauf8aXf2TwxdYOGlAjH4nmnFXdhSdk2eRTytPPJM33nYsfqTmo6KK7zzAooooAKKKKACiiigAooooAKKKKAPXPA+ofbfDkSMcvbkxn6dv0rpa8x+HWoeRqs1kx+WdNy/7w/+t/KvTq46itI76MuaCCiiiszUKKKKAOe8XeHxremFolH2uAFoj/eHda4Lwn4dfWNVJnQi1tzmXPGT/dr16sfQL23vBqPkRonl3kiNtGN3T5vxrWM2otGM6cXNNmuqhFCqAFAwAOwpaKKyNgooooAKKKoa1fDTtHuron7kZx7ntQlcTdlc8p8XX/8AaHiO5cHKRny1+g/+vmsOlZi7lmOWY5J9TSV3pWVjzZO7uFFFFMQUUUUAFFFFABRRRQAUUUUAd/8ADW7w97Zk9cSKP0P9K9Crx/wTd/ZPE9uCcLKDGfx//VXsFclZWkd1B3gFFFFZGwUUUUAFFFFABRRRQAUUUUAFFFFABRRRQAUUUUAFFFFABRRRQAUUUUAFcF8SrvEFlZg/eYyH8OB/Ou9ryXx5d/afE0kYPywIsf49T/OtaKvIxru0DmKKKK6zhCiiigAooooAKKKKACiiigAooooAuaVenTtVtrsHHlSAn6d/0r3NHEkaupyGGQa8Ar2LwbqH9oeG7YscyQ/um/Dp+mKwrrRM6cNLVxN+iiiuY6wooooArajdCx025uj/AMsomf8AEDiuB+G98RqN7au2fOQSjPqDz/P9K6Dx7efZvDMkYOGuHWP8Op/l+tef+E7z7F4mspCcKz+W30bj+tbwjeDOapO1RHs9FFFYHSFFFFABXEfEfUPK063sVPzTPvYf7I/+viu3rx/xrqH2/wASzhTlIMRL+HX9c1rSV5GNeVoHPUUUV1nCFFFFABRRRQAUUUUAFFFFABRRRQBPZ3Btb2C4HWKRX/I17vE4liSRTkMoINeA17P4Uu/tvhmykJyyp5Z+q8f0rCutEzpwz1aNqiiiuY6wooooAKKKKACiiigAooooAKKKKACiiigAooooAKKKKACiiigAooooARiFUk9AM14TqV0b3U7q5znzZWYfTPH6V7H4ju/sPh2+nBwwiKqfc8D9TXiVdFBbs5MS9kFFFFdBzBRRRQAUUUUAFFFFABRRRQAUUUUAFdz8N9Q8u9urBjxKvmIPccH9D+lcNWhod/8A2Zrdpd5wscg3/wC6eD+hNTNXi0VTlyyTPcaKAcjI6UVwnpBRRRQB5z8SrzdeWdmDwiGQ/UnH9P1rho3MciupwVIINbPi68+2+JrxwcqjeWv0XisSu2CtFI86pK82z3mxuReWFvcr0ljV/wAxViua8C3n2rwzChOWgZoz/Mfzrpa45Kzsd8XeKYUUUUiirqV4un6bc3b9Ioy31OOBXhUkjSyvI5y7sWY+pNenfETUPs+ixWan57mTkf7K8n9cV5fXVRVlc48RK8rBRRRWxzhRRRQAUUUUAFFFFABRRRQAUUUUAFelfDa78zTbu0J5ikDj6MP8Qa81rrfh7d+R4haAn5biIqB7jkfpms6qvFmlF2mj1SiiiuM9AKKKKACiiigAooooAKKKKACiiigAooooAKKKKACiiigAooooAKKKKAOO+I135OiQWwPM83I9VUZ/nivL67L4j3fm61Bag8QQ5I9GY/4AVxtdlJWicFZ3mwooorQyCiiigAooooAKKKKACiiigAooooAKKKKAPaPCmof2j4btJScyIvlP9V4/lg/jWzXnnw21DEl3p7HhgJUHv0P9Pyr0OuKorSaPQpS5oJhUF7cC0sZ7hukUbP8AkKnrnPHF59k8MzqDhpiIx/P+lTFXdipOybPJJZDLM8jHJZiSaZRRXeead78NbzE95Zk/eUSKPpx/WvRK8c8HXn2PxNaMThZD5Z/HivY65KytI7cO7wsFFFQXlylnZT3Mn3YkLn8BWRueWePNQ+2+JJIlOY7ZREPr1P6nH4VzFSXEz3NzLPIcvI5dj7k5qOu+KsrHmSlzNsKKKKYgooooAKKKKACiiigAooooAKKKKACr+iXf2HXLK5zgJMu4/wCyTg/oTVCihq4J2dz6Boqjo139u0Wyus5MkKlvrjn9c1erz2rHpp3VwooooGFFFFABRRRQAUUUUAFFFFABRRRQAUUUUAFFFFABRRRQAUUVV1G6Flpt1dE/6qJnH1A4oB6HjviW7+3eI7+fOVMpVT7LwP0FZVKxLMWPUnNJXelZWPLbu7hRRRTAKKKKACiiigAooooAKKKKACiiigAooooA1fDd/wD2br9pcE4Tftf/AHTwf517ZXz8DggjqK9t8OX/APaWgWlxnL7Ar/UcGueutmdWGlvE1K89+JV5mSzswegMjfyr0KvHvGd59s8TXODlYiIx+FRRV5Gld2hY5+iiius4SS3lMFxHKpwUYN+Ve72s4ubSGdekiBvzFeCV7B4KvPtfhm3yctFmM/hWFdaJnRhnq0dDXKfEDUPsugC2U4e5cL/wEcn+ldXXlXxA1D7VrwtlOUtkC/8AAjyf8PwrKkryN60rQZydFFFdhwBRRRQAUUUUAFFFFABRRRQAUUUUAFFFFABRRRQB6t8Prvz/AA55BPzW8rLj2PI/ma6uvNvhtd7NQvLQniWMOPqp/wDr16TXHVVpM76LvBBRRRWZqFFFFABRRRQAUUUUAFFFFABRRRQAUUUUAFFFFABRRRQAVzPjy7+zeGJYwcNO6x/h1P8AKumrzz4lXeZrKzB+6rSEfXgfyNXTV5Izqu0GcDRRRXaeeFFFFABRRRQAUUUUAFFFFABRRRQAUUUUAFFFFABXonw31DdDdaex5UiVB+h/pXndbfhPUP7O8RWshOEdvLf6HioqK8Wi6UuWaZ7DczC3tpZm6RoW/IV4RczG4upZmOS7lvzNeu+Mrz7H4ZuSDhpMRj8a8drOgtGzbEvVIKKKK3OYK9B+Gt5xeWZPpIv8jXn1dF4JvPsnia3BOFlBjP41FRXiy6TtNHrdxMltbSzucJGpY/QCvCr65e8vp7lzlpXLE/U16n461D7F4dkjU4e4YRj6dTXklZ0Fpc1xMtUgooorc5wooooAKKKKACiiigAooooAKKKKACiiigAooooA2/CV39j8T2Tk4V38s/8AAuP617NXgMMhimSRTgqwYGveLWcXVnDcL0lRXH4jNc1dapnXhno0TUUUVgdIUUUUAFFFFABRRRQAUUUUAFFFFABRRRQAUUUUAFFFFABXj3jW7+1+J7rBysWIx+A5/XNevTSrDBJK33UUsfoBXg93O1zeTTsctI5Yn6mt6C1bObEvRIhooorpOQKKKKACiiigAooooAKKKKACiiigAooooAKKKKAClVijhl4IORSUUAdn4v1oahoOkorZMieY/wBRxXGU5pHZVVmJC9Ae1NqYx5VYqcuZ3CiiiqJCprOc2t7DODgxuG/I1DRQB13j3VBfahbQRtmOOIMcerc1yNOeR5G3OxZvU02lFcqsOcuZ3CiiimIKKKKACiiigAooooAKKKKACiiigAooooAKKKKACvYfBd39r8MW2Tlosxn8D/gRXj1eifDW7zDe2ZPQiRR+h/pWVZXibYd2md7RRRXIdwUUUUAFFFFABRRRQAUUUUAFFFFABRRRQAUUUUAFFFFAEF7bC9sprZnZBKhUsvUZrzjUfh1qEGWsZo7lf7rfI3+FenUVcZuOxE6cZ7ng95p95p8my7tpYW7b1wD9D3qtXv0sMU8ZjljSRD1VxkGub1HwJo19loY2tJD3hPy/98nj8sVtGuupzywz+yzyWiuu1H4fapa5a1aO7Qdl+VvyP+Ncvc2dzZyGO5gkicdnUg1qpJ7GEoSjuiGiiiqJCiiigAooooAKKKKACiiigAooooAKKKKACiiigAooooAKKKKACiiigAooooAKKKKACiiigAooooAKKKKACiiigAooAycCtfTvDGr6ngwWbiM/8tJPlX8z1/Ck2luNJvYyKUAkgAZJ6AV6Hp3w2jXD6jeFz3jgGB+Z/wAK6zT9C0zSwPsdnFGw/jIy35nmspVorY2jh5PfQ8s07whrOpYZLUwxn+Of5B+XX9K7zwx4Q/sG4a5kuzLKybSqrhcf1rqKKxlVlLQ3hRjHUKKKKzNgooooAKKKKACiiigAooooAKKKKACiiigAooooAKKKKACiiigAooooAKhuLW3u4zHcQxyof4XUEVNRQByeo+ANKu8tbF7Vz/dO5fyP+NcBrvh+80G68udd0TfclUfK3/169rqC8s7e/tmt7qJZIm6qwrWFVrcxnRjJaaM8FortNd8A3NoWn0wmeHr5Z++v+NcbJG8TlJEZHHVWGCK6YyUtjjlBxdmNoooqiQooooAKKKKACiiigAooooAKKKKACiiigAooooAKKKKACiiigAooooAKKKKACiiigAoorT0rQdQ1iULawMU7yNwo/Gk2luCTeiM1VZ2CqCWJwAO9dzo3w8kuII59SmaHdz5KD5se57V0fh/wfZ6LtmkxPd/89GHC/QV0lc863SJ106FtZGTp/hrSdMwbezQuP+Wkg3N+vT8K1qKKxbb3OhJLYKKKKQwooooAKKKKACiiigAooooAKKKKACiiigAooooAKKKKACiiigAooooAKKKKACiiigAooooAKKKKACszU9A03VkIurZS3Z14YfjWnRTTa2E0nozzjU/hzPGWfTrhZF/55ycH865O+0fUNOYi7tJYwP4iuR+de5010V12uoYehGa1jWktzGWHi9tDwCivZr7wlot/kyWSI5/ij+U/pXPXnw1hbJs750/2ZV3fqMVqq0XuYSw81sedUV1F14B1u3yYkiuB28t8H9cVj3Gharak+dp9yoHUiMkfmKtSi9mZuElujPopWUqxDAgjsRSVRIUUUUAFFFFABRRRQAUUUUAFFFFABRRRQAUVNBZ3VycQW00p/wBhC38q1rbwhrt1jbYOinvIQv8APmk2luNRb2Rh0V21p8N76TBuryGIeiAsf6Vv2Xw+0i3wZzLct/ttgfkKh1Yo0VCbPLI43lcJGjOx6Koya6DTvBWsagQzQ/Z4z/FLx+leqWmmWNim21tYoh/sqBVusnXfQ2jhl9pnJaV4B02yKyXZN1KOzcL+VdVFFHDGI4kVEHRVGBT6KxcnLc3jFR2CiiikUFFFFABRRRQAUUUUAFFFFABRRRQAUUUUAFFFFABRRRQAUUUUAFFFFABRRRQAUUUUAFFFFABRRRQAUUUUAFFFFABRRRQAUUUUAFFFFABRRRQBDNa29wMTQRSD0dAaz5vDGiT/AH9Mth/uJt/lRRTTa2E0nuUZfAmgSfdtXj/3JW/qTWfcfD3R1Qus14vsJF/+JoorWEn3MJxiuhzl94ZsrYnZLOcf3mH+FYVzaRwk7Sx+pooroRzSRS70UUVRBJEgdsHP4VrWmkW85G95Rn0I/wAKKKTGjpNP8EabdY8ye7H+66//ABNbEXw+0NPvC5k/3pf8AKKKxm2dEIrsXYvBugQ/d09WP+27N/M1oQaNplt/qdPtkPqsQBoorByb6nSoxWyLoVVGAoH0FLRRUlBRRRQAUUUUAFFFFABRRRQAUUUUAFFFFABRRRQAUUUUAFFFFABRRRQAUUUUAFFFFAH/2Q=="/>
          <p:cNvSpPr>
            <a:spLocks noChangeAspect="1" noChangeArrowheads="1"/>
          </p:cNvSpPr>
          <p:nvPr/>
        </p:nvSpPr>
        <p:spPr bwMode="auto">
          <a:xfrm>
            <a:off x="230981" y="863203"/>
            <a:ext cx="1417577" cy="14175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sp>
        <p:nvSpPr>
          <p:cNvPr id="7" name="AutoShape 8" descr="data:image/jpeg;base64,/9j/4AAQSkZJRgABAQAAAQABAAD/2wBDAAgGBgcGBQgHBwcJCQgKDBQNDAsLDBkSEw8UHRofHh0aHBwgJC4nICIsIxwcKDcpLDAxNDQ0Hyc5PTgyPC4zNDL/2wBDAQkJCQwLDBgNDRgyIRwhMjIyMjIyMjIyMjIyMjIyMjIyMjIyMjIyMjIyMjIyMjIyMjIyMjIyMjIyMjIyMjIyMjL/wAARCAH0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OQ+IGq3On6ZbwW0jRm4ZgzqcHAxxn3zXAaJq11pWpxTwSuAXHmJnhx3BFdj8Tf8AUab/AL0n8lrz+D/j4j/3h/OuuklyHDWk/aHvtFFFch3BRRRQAUUUUAFFFFABRRRQAUUUUAFFFFABRRRQAUUUUAFFFFABRRRQAUUUUAFFFFABRRRQAUUUUAFFFFABRRRQAUUUUAFFFFABRRRQAUUUUAFFFFABRRRQAUUUUAFFFFABRRRQAVn61q0Oi6ZJeTAsF4VR/ET0FaFYfizSn1bQZoYv9an7xB6kdqcbX1JldRdjlrP4jzteqLu1jFuxwShOVFehRSJNEkkbBkcAqR3FeBEEEgjBHUGvSvAGufabVtMnb95CMx57r6fhW9Wmkro56NVt2kdtRRRXOdQUUUUAFFFFAHBfE3/Uab/vSfyWvP4P+PiP/eH869A+Jv8AqNN/3pP5LXn8H/HxH/vD+ddlL4DgrfxGe+0UUVxneFFFFABRRRQAVz3ifxRHoESIiCW5k5VCeAPU1t3VzHZ2stxMwWONSzE14nrOpyavqk13IT8xwo9F7CtaUOZ6mNapyLTc7zw745bUtQSyvYEjaTiN0PGfQ121eR+CNJk1DXY58EQ2p8xj6nsK9coqpKVkFGUpRvIKKKKyNgooooAKKKKACiiigAooooAKKKKACiiigAooooAKKKKACiiigAooooAKKKKACiiigAooooAKKKKACiiigAooooAKKKKACiiigAooooAKKKKACiiigDynxzof9m6n9shXFvcnPHRX7j8etc9p19Lpt/DdwnDxtn6juK9n1rS49Y0qa0kHLDKN/dbsa8TubeS0uZLeZdskbFWFddKXNGzOGtDkldHuWnX0WpWEN3CcpIufofSrVea/D/XPs102lzv+6mO6Ins3p+NelVzzjyux10588bhRRRUFhRRRQBwXxN/1Gm/70n8lrz+D/j4j/wB4fzr0r4i2E91pltcQoXW3dt4AyQDjn9K8/wBJ0+41HU4LeCNmZnGTjhRnkmuuk1yHDWT9oe50UUVyHcFFFFABRRVDWtUi0fS5ryQ/cHyr/ebsKEr6Cbsrs434ha593SYG/wBqYj9BXAxxvLIscalnYhVA7mn3NzLeXUlxM26SRizH3rsfAGh/abttTnTMUJxGD3b1/CuzSnE4XerM7Tw3o6aLo8Vvgea3zyt6sa16KK5G7u7O5JJWQUUUUhhRRRQAUUUUAFFFFABRRRQAUUUUAFFFFABRRRQAUUUUAFFFFABRRRQAUUUUAFFFFABRRRQAUUUUAFFFFABRRRQAUUUUAFFFFABRRRQAUUUUAFFFFABXnvxB0PBXVoE6/LMB+hr0Kobq2ivLWW2mXdHIpVhVQlyu5E4c0bHg0cjwypJGxV0IZSOxFe1eHNXXWtGhuukg+SQejDrXmuoeDNXtb1oobV54i3yOnQj3r0LwlosmiaMIJyPOkcyOB0BIAx+Qras4uNznoKUZNM3aKKK5zrCiiigAIyMGo4reCAkwwxx7uuxQM/lUlFABRRRQAUUUUAFeV+O9bN/qn2GJv3FqcH/afv8Al0/OvVK8t8SeENTTWLi4tLdriCeQyAp1Uk5IP41rRtzamFfm5bI5nT7GXUb+G0hGXkbH0969u02wi0zT4bSEYSNcfU9zXM+C/DEukq97eoFuXG1F7oP8a7CnVnzOyChT5Vd7hRRRWJuFFFFABRRRQAUUUUAFFFFABRRRQAUUUUAFFFFABRRRQAUUUUAFFFFABRRRQAUUUUAFFFFABRRRQAUUUUAFFFFABRRRQAUUUUAFQ3F3bWgBuJ4ogem9wM/nU1eM+Lbm5uPEt6Lhm/dyFEU9Ao6Y/Dn8aunDmdjOrU5Fc9kjkSVA8bq6HoynINOrxTR/EWo6LIDbTExZ+aJ+VNej6H4y07V9sUjC2uT/AMs3PDH2NVOk4kwrRlp1OkooorI2CiiigAooooAKKKZNNFbxNLNIscajLMxwBQA+mSSxwoXldUQdWY4FcPrXxDiiLQ6VGJW6ec4+X8B3/GuGv9Xv9TkL3d1JIfQngfQVrGi3uYTrxW2p6nfeNdFsiV+0GZx2iGf1rCuPiUgJFtYE+8j/AOFeeUVsqMUYOvN7HZyfEfUmPyWtun5mmD4i6qDzDbn/AIDXH0VXs49iPaz7ncw/Eq6B/fWMLD/ZYg1r2nxF0yYgXEE0B9R8wry+ik6UWUq811Pc7HWdO1ID7JdxSE/w5wfyNXq8AR2jYMjFWHcHFdLpHjjVNOKpO32qAfwyH5h9DWUqD6G0cQvtHrVFY+i+JdO1xMW8uycDLQvww+nrWxWLTWjOhNNXQUUUUhhRRRQAUUUUAFFVr2/tdOtzPdzpFGO7Hr9PWuA1z4gzT7oNKUwx9POb7x+npVxg5bETqRhuegS39nBKIprqGOQ9FaQA/lVjrXgMs0k0pkldncnJZjk16z4Fubi58NIbgs2yRkjZupUY/rkfhVTpcquZ063O7WOlooorI3CiiigAooooAKKKKACiiigAooooAKKKKACiiigAooooAKKKKACiiigAooooAKKKKACiiigAooooAKwte8K2GugySAw3QGBMnX8R3rdopptO6E4qSszxjWvDGpaI5M0XmQZ4mj5X8fSsXpX0A6K6FHUMpGCCMg1x2ueAbW83T6aRbTHnyz9xv8K6IVukjlnh2tYnL6H421DStsNwTdWo42ufmUex/oa9H0nXtP1qLfaTAuB80TcMv4V47qGl3mlzmG8gaNuxI4P0NVoZpbeVZYZGjkU5DKcEVUqcZaoiFaUNGe/UVyPgnxJcaxHNa3hDTwqGEgGNy9OfeuurllFxdmdkZKSugoorK17XLfQrAzyndIeI4+7GhK7shtpK7H61rlnodoZrl8sfuRr95z7f415RrniO+12fM77IAfkhU/Kv+J96p6lqVzqt691dSFnboOyj0FU66oU1HXqcNSq56LYKKKK1MgooooAKKKKACiiigAooooAdHI8MiyRuyOpyGU4INeheGPHXmsllq7AOeEuOgPs3+Ned0VMoKS1KhNwd0fQIIIBByD3orzbwd4ua2dNN1CTMJ4ikY/c9j7V6SCCMjkVxzg4uzO+E1NXQUUVHPKsEEkz/AHY1LH6AZqSxzukaF3YKoGSScAVxmufEC2tN0GlqLibp5p+4v09a4zW/Et/rcrebKUt8/LCpwAPf1NY4BJwBknsK6YUVvI5J4hvSJav9SvNTuDPeTvK56ZPA+g7VBBbzXMywwRPJIxwFQZJrptD8D32p7ZrrNrbHnLD5mHsK9G0rQ7DRodlpAFYj5pDyzfU1UqsY6IiFGU9WcZofw9Z9s+sOVXqLeM8n/ePb8Pzr0C3t4bW3SCCNY4kGFVRgAVJRXNKbludcIRhsFFFFSWFFFFABRRRQAUUUUAFFFFABRRRQAUUUUAFFFFABRRRQAUUUUAFFFFABRRRQAUUUUAFFFFABRRRQAUUUUAFFFFAFe8sba/gMN1CksZ7MK4XVfhyxm36ZOojP/LOXt9DXoVFVGbjsRKnGW5znhXwwPD8MryyCS5mwGK9FA7CujoopNtu7KjFRVkQXt5DYWct1OwWONck14vrmsT63qT3MpITpGnZVrpviBrhmul0qB/3cXzS47t2FcPXTShZXZx16l3yoKKKK2MAooooAKKKKACiiigAooooAKKKKACiiigAr0zwN4kN7D/Zl2+Z4x+7Yn7y+n1FeZ1NaXUtldxXMLFZI2DA1E48ysXTm4Sue902RFljaNxlWBBHqDVPSNSj1bS4LyPo6/MPQ9xV6uJ6HoJ3R5td/Di7+2MLW5iNuTwX6qPeuo0Twfp2jhZGQXFyP+WjjgfQV0NFW6kmrERpQi7pBRRRUGgUUUUAFFFFABRRRQAUUUUAFFFFABRRRQAUUUUAFFFFABRRRQAUUUUAFFFFABRRRQAUUUUAFFFFABRRRQAUUUUAFFFFABRRRQAUUUUAFU9Vvk0zS7i8fpEhIHqewq5XEfEi/MWn21ip5mcu30X/65H5VUI80kiJy5YtnnM88lzcSTytukkYsx9zUdFFdx5wUUUUAFFFFABVixsrjUbuO1tYy8rnAHp7n2qvXpvw80pIdNfUXUGWZiqk9lFROXKrl04c8rD9K+H2n20StflrmbuAcKP8AGtKfwZoU0ZT7Eqf7SEg1yXi3xfdy30tjp8zQ28R2s6HDOe/PpXNWeuanYziaC9mVgckFyQfqD1rJQm1e5s6lOL5UjZ8S+DZ9FQ3VszT2meSR8yfX2965avZ9B1aHxJohkljUMcxzR9s/4GvJ9asP7M1i5tP4Y3O36dqunNv3ZbkVYJWlHZlCiiitTEKKKKACiiigDufh1qpiu5tMkb5ZR5kef7w6j8v5V6RXhOl3radqltdqf9VIGP07/pmvdEcOiupyGGQa5a0bO52YeV427DqKKKxOgKKKKACiiigAooooAKKKKACiiigAooooAKKKKACiiigAooooAKKKKACiiigAooooAKKKKACiiigAooooAKKKKACigkAEk4A71jTeK9EglaN7+Pcpwcc00m9hNpbmzRWF/wAJjoX/AD/p+Ro/4THQv+f9PyNPll2Fzx7m7RWF/wAJjoX/AD/p+Ro/4THQv+f9PyNHLLsHPHubtFUbDWLDVA32O5SUr1APIq9UtWGmnsFeT+P7rz/EzxZ4gjVMe5+b+tesV4p4mlM3ibUWPaZl/Lj+lbUF7xhiH7tjJooorqOMKKKUAscKCT6CgBKKe8UkYy8bqPdSKZQAV7F4NdX8LWmzsCp+ua8drv8A4dauqmXS5WwSfMiz+orKsrxNqErTOHvYnhvp4pQQ6yMGz65qCu68feH2iuP7Wt0zHJxMB/C3r+NcbY2U+oXkVrboXlkOAB/OrjJONzOcHGVj0D4aRSLY30pz5byKF+oBz/MVzPjd1fxTc7f4QoP1xXo9tDbeF/Du1mASBCzt/eb/APXXjt7dPfX011J96VyxrKn703I2q+7BRIKKKUAk4AyfatznEop7QyoMvG6j1KkUygAooooAK9q8LXRvPDNhKTkiIIT7rx/SvFa9X+H0pk8Mhf8AnnM6/wAj/Wsa6903w796x1VFFIzKiFnYKoGST2rlO0WisR/FuhxuUN/GSODjmk/4TDQv+f8AT8jVcsuxPPHublFYf/CYaF/z/p+Ro/4TDQv+f9PyNHJLsHPHublFYf8AwmGhf8/6fka0bDVLLU4y9ncJKB12nkUnFrdApRezLdFFFIoKKKKACiiigAooooAKKKKACiiigAooooAKKKKACiiigAooooAKKKKACiiigAooooAyPFH2j/hHL37NnzNn8PXHevFa+gSARgjINY83hXRJ5WkfT4tzHJwMVrTqKKszCrSc3dHi1Fey/wDCIaF/z4R0f8IhoX/PhHWvt4mX1aXc8aor2X/hENC/58I6P+EQ0L/nwjo9vEPq0u55z4M+0f8ACT2vkbsZPmY6bcd69iqlYaRYaYGFnaxxFupUcmrtYVJ8zudFKHIrMK8N13/kYNSz/wA/Uv8A6Ea9yrxTxPEYfE2oqRjMzN+fP9a0obsyxOyMmiiiuk5C9pGlz6xqMdnAOW5Zuyjua9Dkbw94Mt0ieMTXRGT8oZz7n0rO+HEEaW9/esMsuE+gAzXE6leS3+oz3MzEvI5J9vasmueVuiNk1TgpdWehQeNtC1J/s95ZeUjcbpFDD/61YvizwlHYw/2lpnzWjcugOdue49q42vQfAmri8t5tEvDvUoTFu7juv9aTjyaxHGftPdkefVLbXEtpcx3ELlJI23KR61c1zTW0nWLi0P3VbKH1U9KsaH4avtcmHlIY7cH5pmHA+nqa1urXZiou9luel6Drdr4l0tlkVTLt2zwn+f0p+j+G9P0F554B8zkne/8AAvoKbY6fpXhPTWcusa4/eTP95z/ntUWleL9K1md7YMYnJIRZePMHt/hXI768ux3K2nPucX4z8Tf2tcfY7Vv9EiPJH/LRvX6Vydeh+JPAgkL3ekqA3Vrfsf8Ad/wrz+WKSCVopUZJFOCrDBFdFNxt7pyVVJSvIn07T59Uvo7S3XMjn8APU16MLbQPBlmhuVWa7YdSu5m+g7Cqvg2zh0bw/ca3dDDOpK5/ujp+ZrhNT1CfVL+W7nYl3OQPQdhSfvu3RFK1ON+rO/h8d6LeSeTdWLRxNxuZQwrN8VeFLZLL+1tIwbcjc6KcjHqK4evRfh/dNeaVfadN88acqD2DA5FKUeT3olRn7T3ZHnVFS3UQgu5oR0R2X8jioq2OcK9Q+G+f+EfuP+vpv/QVry+vVvh7EY/DIb/npM7fyH9KyrfCbYf4zq653xt9o/4Ri4+z7s5G/b1255roqRlV1KsAVIwQe9cqdnc7ZK6aPn+ivZ5PCehyOXOnxZPJwMU3/hENC/58I66fbxOT6tLueNUV7L/wiGhf8+EdH/CIaF/z4R0e3iH1aXc8arqvAH2j/hI18rd5ew+Z6Yru/wDhENC/58I60bHTLLTYylnbpCp67R1qZVk1ZFQoNSTbLdFFFc51BRRRQAUUUUAFFFFABRRRQAUUUUAFFFFABRRRQAUUUUAFFFFABRRRQAUUUUAFFFFABRRRQAUUUUAFFFFABRRRQAV5P4/tTB4maXHE8avn3Hy/0FesVxHxHsDLp9tfKMmFyjf7rf8A1wPzrSk7SMa6vA81ooorsOE7n4c6hHHdXWnyEDzhvQHuR1H5VzviPRZ9F1SWJ0byXYtFJ2Zf8azIJ5badJ4XKSodysOoNeg2HjnTdQtBba7bLnuxj3o3vjqDWTTjLmRtFxlHlbtY86rY8Nw6h/bNtPY20spjcFto4A75PQV2g1DwNB+8WG2Y9ceSzfoRVe8+IlpbxeVpdiTjgFwEUfQD/wCtQ5yeiQKnGLu5HR6p4c0zUr+PUL4cRJgqWwp/3qx9V8cabpUX2bS40uJFGBsGI1/x/Cotfun1r4fx3xwJMqzheB1wa81qIQ5l73Q0qVOV+71L2p6ve6vcGa8nZz2Xoq/QVRBIOQcEUUV0JWOVtvVnXaF47vNOCwXwN1bjgMT86j69/wAa62W38PeMrfcjo0wH3l+WVPqP8ivJK2vCUBn8TWSgnCvuOPQVlOmviWhtCq/heqO38ZWd3H4bt7HTraSWFCBJ5YyQoHHAry8gqSCCCOoNema542l0bX3tBbpNboo3c4YE+9J/wlXhXVRm/tVWQ95oNx/MZqYOUVsXUjGUtzzMAk4Aya9N8MWJ8NeGbvUb4GKSVd+xuoAHA+pz0oTW/BmmHz7WGFpRyvlwkt+BPSuT8S+K7jXnESqYbRTlY88sfU023PS1kSlGnre7MGWQzTPK33nYsfxplFFbGAV7V4XtTZ+GbCIjBMQcj3b5v615Bpdk2o6pbWignzZApx6d/wBM17oihEVFGAowBXPXeyOnDLdjqKKK5zrCiiigAooooAKKKKACiiigAooooAKKKKACiiigAooooAKKKKACiiigAooooAKKKKACiiigAooooAKKKKACiiigAooooAKKKKACiiigAooooAKp6pYpqWmXFm/SVCAfQ9jVyihaA1fQ8CuIJLa4kglXbJGxVh7io67n4g6GYbldVgT93J8suOzdjXDV3RlzK55s48srBRRRVEhRRRQB3/hhv7Q8D6nYnkxhiB9Rn+lcBXY/Dy4A1O6s2Pyzwnj6Vyt9CYL+eIjBSRh+tZx0k0aT1hFkFFFFaGYV1/w7txJrks56QxE5+vFchXceDiLHw3rGoNxhdqn8Kip8JpS+NHL63dfbdbvLjP3pTis+lJLMSepOTSVSVkZt3dwooopgFFFTWlrLe3cVtCpaSRgoFAHZ/DrSjJdzanIvyxjy48/3j1P5fzr0iqOkabHpOmQWcY4RfmPqe5q9XFOXNK56NOHLGwUUUVBYUUUUAFFFFABRRRQAUUUUAFFFFABRRRQAUUUUAFFFFABRRRQAUUUUAFFFFABRRRQAUUUUAFFFFABRRRQAUUUUAFFFFABRRRQAUUUUAFFFFABRRRQBBeWkN9aS206ho5F2kV4xrujT6JqT20oJTrG/Zlr26svXdDt9dsGt5htkHMcmOVNaU58r8jKrT51pueJUVc1PTLnSb17W6jKuvQ9mHqKp12J3OBq2jCiiigDX8L3f2PxHZyk4Uvtb6HipfF9t9m8T3i4wHbePxrGikMUqSL1Rgw/Cuo8cgS3djfLyLi2VifcVD0mi1rBo5SiiirICuzlb7B8NYkHDXc2fqM//AFq4wDJAHU11vjB/s+naPpy9I4A7D0JqJatIuGibOSoooqyAooooAK9N8DeGzZQf2ldpieQfu1P8K+v1NZfg7wi1w6alqEZEI5iiYff9z7V6QBgYFc9Wp9lHVQpfaYUUUVznUFFFFABRRRQAUUUUAFFFFABRRRQAUUUUAFFFFABRRRQAUUUUAFFFFABRRRQAUUUUAFFFFABRRRQAUUUUAFFFFABRRRQAUUUUAFFFFABRRRQAUUUUAFFFFABRRRQBnazolnrdmYLpPmH3JB95D7f4V4/rOj3Oiag1rcD3Rx0dfUV7jWD4s0RdZ0aQIubmEF4j3J7j8a1p1OV2exjWpKSutzxyiiius4Qrp9Tb7Z4I0u4/it5Ghb6dq5iui0xvtPhHVbU8mF0nUfpUy6MuHVHO0UUVRBa06A3OpW0A6vIo/WtTxjci58S3IX7kWIl+gFN8JRB/EVu7fdhDSk+m0ZrJu5zc3k056yOW/M1P2itoENFFFUSFegeEPBqMkepanHnPzRQMOPYt/hWH4L0QavrIeZc21sA7g9GPYf59K9d6DArCrUt7qOmhST95gAAMDgUUUVzHWFFFFABRRRQAUUUUAFFFFABRRRQAUUUUAFFFFABRRRQAUUUUAFFFFABRRRQAUUUUAFFFFABRRRQAUUUUAFFFFABRRRQAUUUUAFFFFABRRRQAUUUUAFFFFABRRRQAUUUUAFFFFAHi3imxGn+JL2FRhC/mKPZuf64rHruPHulXlzr8c1raSyq1uoZkQkZBb+mK5f8AsPVf+gfc/wDfs12wknFHnTi1J2M+tvww+b64tT0ubaSMD/axkfyqp/Yeq/8AQPuf+/Zq3pemarZ6ra3H9n3ICSqT+7PTPP6U5NNCimmtDFI2sQexxSVsX+galHqFwsdhcMgkbaRGSCM1X/sPVf8AoH3P/fs0+ZCcX2LmhN9m0/VrzoVt/LU+jMcVh10a6TqUXhp4lsbjzJ7kFl8s52qP8TWZ/Yeq/wDQPuf+/ZpJq7KadkjPorQ/sPVf+gfc/wDfs0f2Hqv/AED7n/v2ad0Tyvsek+ArEWvhtJiMPcuZCfYcD+X611FZ+hQG20GwhZSrLboGUjkHAzWhXFJ3k2ejBWikFFFFSUFFFFABRRRQAUUUUAFFFFABRRRQAUUUUAFFFFABRRRQAUUUUAFFFFABRRRQAUUUUAFFFFABRRRQAUUUUAFFFFABRRRQAUUUUAFFFFABRRRQAUUUUAFFFFABRRRQAUUUUAFFFFABTd6f3l/OuA+I2p3UU9tYRO0cDx+Y+043nOMH6Y/WuAyfU1tGjzK9znnX5ZWse/b0/vr+dG9P76/nXgOT6mjJ9TVew8yfrPke/b0/vr+dG9P76/nXgOT6mjJ9TR7DzD6z5Hv29P76/nRvT++v514Dk+poyfU0ew8w+s+R79vT++v50oYN0IP0rwDJ9TU1pe3NjcpcW0zxyochlNHsPMPrPke9UVBYztc2FvO67WkjVyvoSM1PXOdQUUUUAFFFFABRRRQAUUUUAFFFFABRRRQAUUUUAFFFFABRRRQAUUUUAFFFFABRRRQAUUUUAFFFFABRRRQAUUUUAFFFFABRRRQAUUUUAFFFFABRRRQAUUUUAFFFFABRRRQAUUUUAFFFFAGTrug2OuWypd5Ro+UlU4K//Wrmf+FfaX/0FW/8d/xqH4jajdRXFtZRuyQNHvbacbjnGPw/rXA5Pqa6acZcu5yVZw5rNHon/CvtL/6Crf8Ajv8AjR/wr7S/+gq3/jv+Ned5PqaMn1NXyS/mM+eH8p6J/wAK+0v/AKCrf+O/40f8K+0v/oKt/wCO/wCNed5PqaMn1NHJL+YOeH8p6J/wr7S/+gq3/jv+NH/CvtL/AOgq3/jv+Ned5PqaMn1NHJL+YOeH8p6J/wAK+0v/AKCrf+O/41ZsPAWkRXSyPdtchTny8gA/XFeZZPqamtby4srhJ7eZ45FOQVNJwl/MNVIX+E95AAAAGAKWoLGZ7iwt5pF2vJGrMPQkZqeuQ7gooooAKKKKACiiigAooooAKKKKACiiigAooooAKKKKACiiigAooooAKKKKACiiigAooooAKKKKACiiigAooooAKKKKACiiigAooooAKKKKACiiigAooooAKKKKACiiigAooooAKKKKAMzWtCstdt1iulO5DlHXgrXO/wDCttP/AOfy4/IV2tFUpyWiZEqcZO7RxLfDnTUUs99OqjqTtAFQf8ILoX/QYP8A38Su5uIEubeSCQZSRSp/GvFtc0m50XUpLaXdszmN+zLWtNylpcxqxjDXlOw/4QXQv+gwf+/iUf8ACC6F/wBBg/8AfxK883N/eP50bm/vH8615JfzGPtIfynof/CC6F/0GD/38SnR+ANGmbbFqkjt6Kyk151ub1P516d4E0GSxtW1C6UrNOMIp6qv/wBeonzRV7l0+WbtyjP+Fbaf/wA/lx+QqxZfD7S7W5SaSSWcKchHwB+OK62isfaS7nR7KHYAABgcAUUUVBoFFFFABRRRQAUUUUAFFFFABRRRQAUUUUAFFFFABRRRQAUUUUAFFFFABRRRQAUUUUAFFFFABRRRQAUUUUAFFFFABRRRQAUUUUAFFFFABRRRQAUUUUAFFFFABRRRQAUU15EjGXdVHucVm3XiPSLPPnX8AI/hDZP5Cmk3sJtLc1KK5K5+Iejw5EKzzn/ZTA/Wsa6+JU7ZFrYIno0j5/QVapSfQzdaC6no1ISB1IFeSS+M/EN/II4Z9jMcBIYxk/nk10ej+Er+/wBtz4gvLh0PItjKTn6+n0FN0+X4mJVuZ2ijto5Y5QTG6uAcHac4NPqOGCK3hWGGNY41GFVRgCpKyNgqjqmk2esWpt7yIOv8LDhlPqDV6ihOwmr6M81v/hveRuWsLqKWPssuVYfzB/SqUXw+1uR8OLeMf3mkz/IGvV6K19tIydCByWh+A7LTZFuLx/tc68gFcIp+nf8AGutoorOUnLVmkYqKsgooopFDFmickJIjEHBAPQ0+sfWfDlnrA8w7oLsD5biLhvx9RXB6jJ4p8MTbXvZ3hz8spO9T+ecVcYKWzM51HDdaHqlFeW2vxE1aLAnignH+6VP+fwrZtfiVatgXVjLGfWNgw/pTdKSJVeD6nc0Vz9r410K5wPtnlH0lUr+ta8GoWd0u6C6hkH+y4NQ4tbmilF7Ms0UdaKRQUUUUAFFFFABRRRQAUUUUAFFFFABRRRQAUUUUAFFFFABRRRQAUUUUAFFFFABRRRQAUUUUAFFFFABRRRQAUUUUAFFFc7r/AIvstEzCv7+6/wCeanhfqaaTbshSkoq7OiqOSeGEZllRB/tMBXkOoeMdZv2P+kmGM/wRcViy3M85zLNI/wDvMTWyoPqzneJXRHslz4p0W0yJL+IsP4UOTWNdfEXTIsiCGeY+uNo/WvL6KtUY9TN4iT2O3ufiRevkW1nFH6FiWrGufGWuXWQbwxg9o1ArBoq1CK6GbqTe7J5726uSfPuZZM/33JqCiirICtfRfDl/rcoEEe2EH5pW+6P8ayK9W8AXwudA+znG+3cqfoeRUVJOMbo0pQUpWZo6H4YsNDjBiTzLjHzTOOfw9K2qKK4229Wd6SSsgooopDCkJCgkkADuao6zPe22lzTWEaSToMhW7jvXkWo+ItV1JiLm7k25+4vygfhWkKbkZVKqgepaj4r0jTMiW6V5B/BH8xrLsviFpVxKUnjltxn5WYZB/LpXllFbKjE53iJX0PebW+tb6MPa3EcqnurZqxXgcFzPayB4JnjYd1bFd74N8Qa3qd8LaUrPboMySOOVH19aznRsro1hXUnZo7+iiisToCo5oIrmFopo1kjYYKsMg1JRQB554h8Ald9zpPI6mAnn8DXCSxSQyNHKjI6nBVhgivfjwMmvFPEt8NQ8QXc64279q/QcV00pt6M469OMdUZNKrMjblYqR3BxSUVuc5pW3iDVrTHk384x2Lbv51s23xA1mDAl8mYf7S4P51ylFS4Re6KU5LZnodr8SozgXVgy+8bZ/nW1beOtDuMBp2hP/TRcD868ioqHRizRV5o91t9W0+7GYLyB/o4q4CCMg5FfP4JU5BIPqKu22s6lZsGgvZkx/tk1DodmaLE90e50V5xo/wAQ543WLVIxInTzUGCPqO9eg2l3BfWyXFtKskTDIZTWMoOO5vCpGexNRRRUlhRRRQAUUUUAFFFFABRRRQAUUUUAFFFFABRRRQAUUUUAFFFFABRRRQAUUUUAFFFFAHN+MPEP9i6eI4CPtc+Qn+yO5rySSR5ZGkkYs7HJJPJNbfjC/a/8SXJ3ZSI+Wn0H/wBesKuynHlicFafNIKKKK0MgooooAKKKKACiiigArrvh9qH2bXGtmOEuEwP94dK5GrFhdNY38FypwYnDVMldWKhLlkme80VHBMs9vHMhyrqGGPepK4T0gooooAK8t8ceHf7OvPt9sn+jTn5gP4G/wDr16lVe+sodRspbW4XdHIuD7e9XCfK7mdSHPGx4NRV/WdKm0bU5bOYfdOUbsy9jVCu1O+p57VnZktvby3VxHBCpaSRgqgdzXs3h7RYtD0tLdQDK3zSv6tXOeA/Dv2eEatdJ+9kH7lSPur/AHvxrua5as7uyOyhTsuZhRRRWJ0BRRRQBmeIb8adoV3cZwwQqv1PArxIkkkk5J616J8SNQ229rYKeXJkcew6V51XVRVo3OLESvK3YKKKK2MAooooAKKKKACiiigAroPCviKXRL9VdibSU4kU9vcVz9FJpNWY4ycXdHv6OsiK6nKsMgjuKdXOeCL83vhuEO2XhJjP0HT9K6OuGSs7HpRfMrhRRRSGFFFFABRRRQAUUUUAFFFFABRRRQAUUUUAFFFFABRRRQAUUUUAFFFFABUN3MLe0mmY4CIWJ+gqauf8aXf2TwxdYOGlAjH4nmnFXdhSdk2eRTytPPJM33nYsfqTmo6KK7zzAooooAKKKKACiiigAooooAKKKKAPXPA+ofbfDkSMcvbkxn6dv0rpa8x+HWoeRqs1kx+WdNy/7w/+t/KvTq46itI76MuaCCiiiszUKKKKAOe8XeHxremFolH2uAFoj/eHda4Lwn4dfWNVJnQi1tzmXPGT/dr16sfQL23vBqPkRonl3kiNtGN3T5vxrWM2otGM6cXNNmuqhFCqAFAwAOwpaKKyNgooooAKKKoa1fDTtHuron7kZx7ntQlcTdlc8p8XX/8AaHiO5cHKRny1+g/+vmsOlZi7lmOWY5J9TSV3pWVjzZO7uFFFFMQUUUUAFFFFABRRRQAUUUUAd/8ADW7w97Zk9cSKP0P9K9Crx/wTd/ZPE9uCcLKDGfx//VXsFclZWkd1B3gFFFFZGwUUUUAFFFFABRRRQAUUUUAFFFFABRRRQAUUUUAFFFFABRRRQAUUUUAFcF8SrvEFlZg/eYyH8OB/Ou9ryXx5d/afE0kYPywIsf49T/OtaKvIxru0DmKKKK6zhCiiigAooooAKKKKACiiigAooooAuaVenTtVtrsHHlSAn6d/0r3NHEkaupyGGQa8Ar2LwbqH9oeG7YscyQ/um/Dp+mKwrrRM6cNLVxN+iiiuY6wooooArajdCx025uj/AMsomf8AEDiuB+G98RqN7au2fOQSjPqDz/P9K6Dx7efZvDMkYOGuHWP8Op/l+tef+E7z7F4mspCcKz+W30bj+tbwjeDOapO1RHs9FFFYHSFFFFABXEfEfUPK063sVPzTPvYf7I/+viu3rx/xrqH2/wASzhTlIMRL+HX9c1rSV5GNeVoHPUUUV1nCFFFFABRRRQAUUUUAFFFFABRRRQBPZ3Btb2C4HWKRX/I17vE4liSRTkMoINeA17P4Uu/tvhmykJyyp5Z+q8f0rCutEzpwz1aNqiiiuY6wooooAKKKKACiiigAooooAKKKKACiiigAooooAKKKKACiiigAooooARiFUk9AM14TqV0b3U7q5znzZWYfTPH6V7H4ju/sPh2+nBwwiKqfc8D9TXiVdFBbs5MS9kFFFFdBzBRRRQAUUUUAFFFFABRRRQAUUUUAFdz8N9Q8u9urBjxKvmIPccH9D+lcNWhod/8A2Zrdpd5wscg3/wC6eD+hNTNXi0VTlyyTPcaKAcjI6UVwnpBRRRQB5z8SrzdeWdmDwiGQ/UnH9P1rho3MciupwVIINbPi68+2+JrxwcqjeWv0XisSu2CtFI86pK82z3mxuReWFvcr0ljV/wAxViua8C3n2rwzChOWgZoz/Mfzrpa45Kzsd8XeKYUUUUiirqV4un6bc3b9Ioy31OOBXhUkjSyvI5y7sWY+pNenfETUPs+ixWan57mTkf7K8n9cV5fXVRVlc48RK8rBRRRWxzhRRRQAUUUUAFFFFABRRRQAUUUUAFelfDa78zTbu0J5ikDj6MP8Qa81rrfh7d+R4haAn5biIqB7jkfpms6qvFmlF2mj1SiiiuM9AKKKKACiiigAooooAKKKKACiiigAooooAKKKKACiiigAooooAKKKKAOO+I135OiQWwPM83I9VUZ/nivL67L4j3fm61Bag8QQ5I9GY/4AVxtdlJWicFZ3mwooorQyCiiigAooooAKKKKACiiigAooooAKKKKAPaPCmof2j4btJScyIvlP9V4/lg/jWzXnnw21DEl3p7HhgJUHv0P9Pyr0OuKorSaPQpS5oJhUF7cC0sZ7hukUbP8AkKnrnPHF59k8MzqDhpiIx/P+lTFXdipOybPJJZDLM8jHJZiSaZRRXeead78NbzE95Zk/eUSKPpx/WvRK8c8HXn2PxNaMThZD5Z/HivY65KytI7cO7wsFFFQXlylnZT3Mn3YkLn8BWRueWePNQ+2+JJIlOY7ZREPr1P6nH4VzFSXEz3NzLPIcvI5dj7k5qOu+KsrHmSlzNsKKKKYgooooAKKKKACiiigAooooAKKKKACr+iXf2HXLK5zgJMu4/wCyTg/oTVCihq4J2dz6Boqjo139u0Wyus5MkKlvrjn9c1erz2rHpp3VwooooGFFFFABRRRQAUUUUAFFFFABRRRQAUUUUAFFFFABRRRQAUUVV1G6Flpt1dE/6qJnH1A4oB6HjviW7+3eI7+fOVMpVT7LwP0FZVKxLMWPUnNJXelZWPLbu7hRRRTAKKKKACiiigAooooAKKKKACiiigAooooA1fDd/wD2br9pcE4Tftf/AHTwf517ZXz8DggjqK9t8OX/APaWgWlxnL7Ar/UcGueutmdWGlvE1K89+JV5mSzswegMjfyr0KvHvGd59s8TXODlYiIx+FRRV5Gld2hY5+iiius4SS3lMFxHKpwUYN+Ve72s4ubSGdekiBvzFeCV7B4KvPtfhm3yctFmM/hWFdaJnRhnq0dDXKfEDUPsugC2U4e5cL/wEcn+ldXXlXxA1D7VrwtlOUtkC/8AAjyf8PwrKkryN60rQZydFFFdhwBRRRQAUUUUAFFFFABRRRQAUUUUAFFFFABRRRQB6t8Prvz/AA55BPzW8rLj2PI/ma6uvNvhtd7NQvLQniWMOPqp/wDr16TXHVVpM76LvBBRRRWZqFFFFABRRRQAUUUUAFFFFABRRRQAUUUUAFFFFABRRRQAVzPjy7+zeGJYwcNO6x/h1P8AKumrzz4lXeZrKzB+6rSEfXgfyNXTV5Izqu0GcDRRRXaeeFFFFABRRRQAUUUUAFFFFABRRRQAUUUUAFFFFABXonw31DdDdaex5UiVB+h/pXndbfhPUP7O8RWshOEdvLf6HioqK8Wi6UuWaZ7DczC3tpZm6RoW/IV4RczG4upZmOS7lvzNeu+Mrz7H4ZuSDhpMRj8a8drOgtGzbEvVIKKKK3OYK9B+Gt5xeWZPpIv8jXn1dF4JvPsnia3BOFlBjP41FRXiy6TtNHrdxMltbSzucJGpY/QCvCr65e8vp7lzlpXLE/U16n461D7F4dkjU4e4YRj6dTXklZ0Fpc1xMtUgooorc5wooooAKKKKACiiigAooooAKKKKACiiigAooooA2/CV39j8T2Tk4V38s/8AAuP617NXgMMhimSRTgqwYGveLWcXVnDcL0lRXH4jNc1dapnXhno0TUUUVgdIUUUUAFFFFABRRRQAUUUUAFFFFABRRRQAUUUUAFFFFABXj3jW7+1+J7rBysWIx+A5/XNevTSrDBJK33UUsfoBXg93O1zeTTsctI5Yn6mt6C1bObEvRIhooorpOQKKKKACiiigAooooAKKKKACiiigAooooAKKKKAClVijhl4IORSUUAdn4v1oahoOkorZMieY/wBRxXGU5pHZVVmJC9Ae1NqYx5VYqcuZ3CiiiqJCprOc2t7DODgxuG/I1DRQB13j3VBfahbQRtmOOIMcerc1yNOeR5G3OxZvU02lFcqsOcuZ3CiiimIKKKKACiiigAooooAKKKKACiiigAooooAKKKKACvYfBd39r8MW2Tlosxn8D/gRXj1eifDW7zDe2ZPQiRR+h/pWVZXibYd2md7RRRXIdwUUUUAFFFFABRRRQAUUUUAFFFFABRRRQAUUUUAFFFFAEF7bC9sprZnZBKhUsvUZrzjUfh1qEGWsZo7lf7rfI3+FenUVcZuOxE6cZ7ng95p95p8my7tpYW7b1wD9D3qtXv0sMU8ZjljSRD1VxkGub1HwJo19loY2tJD3hPy/98nj8sVtGuupzywz+yzyWiuu1H4fapa5a1aO7Qdl+VvyP+Ncvc2dzZyGO5gkicdnUg1qpJ7GEoSjuiGiiiqJCiiigAooooAKKKKACiiigAooooAKKKKACiiigAooooAKKKKACiiigAooooAKKKKACiiigAooooAKKKKACiiigAooAycCtfTvDGr6ngwWbiM/8tJPlX8z1/Ck2luNJvYyKUAkgAZJ6AV6Hp3w2jXD6jeFz3jgGB+Z/wAK6zT9C0zSwPsdnFGw/jIy35nmspVorY2jh5PfQ8s07whrOpYZLUwxn+Of5B+XX9K7zwx4Q/sG4a5kuzLKybSqrhcf1rqKKxlVlLQ3hRjHUKKKKzNgooooAKKKKACiiigAooooAKKKKACiiigAooooAKKKKACiiigAooooAKhuLW3u4zHcQxyof4XUEVNRQByeo+ANKu8tbF7Vz/dO5fyP+NcBrvh+80G68udd0TfclUfK3/169rqC8s7e/tmt7qJZIm6qwrWFVrcxnRjJaaM8FortNd8A3NoWn0wmeHr5Z++v+NcbJG8TlJEZHHVWGCK6YyUtjjlBxdmNoooqiQooooAKKKKACiiigAooooAKKKKACiiigAooooAKKKKACiiigAooooAKKKKACiiigAoorT0rQdQ1iULawMU7yNwo/Gk2luCTeiM1VZ2CqCWJwAO9dzo3w8kuII59SmaHdz5KD5se57V0fh/wfZ6LtmkxPd/89GHC/QV0lc863SJ106FtZGTp/hrSdMwbezQuP+Wkg3N+vT8K1qKKxbb3OhJLYKKKKQwooooAKKKKACiiigAooooAKKKKACiiigAooooAKKKKACiiigAooooAKKKKACiiigAooooAKKKKACszU9A03VkIurZS3Z14YfjWnRTTa2E0nozzjU/hzPGWfTrhZF/55ycH865O+0fUNOYi7tJYwP4iuR+de5010V12uoYehGa1jWktzGWHi9tDwCivZr7wlot/kyWSI5/ij+U/pXPXnw1hbJs750/2ZV3fqMVqq0XuYSw81sedUV1F14B1u3yYkiuB28t8H9cVj3Gharak+dp9yoHUiMkfmKtSi9mZuElujPopWUqxDAgjsRSVRIUUUUAFFFFABRRRQAUUUUAFFFFABRRRQAUVNBZ3VycQW00p/wBhC38q1rbwhrt1jbYOinvIQv8APmk2luNRb2Rh0V21p8N76TBuryGIeiAsf6Vv2Xw+0i3wZzLct/ttgfkKh1Yo0VCbPLI43lcJGjOx6Koya6DTvBWsagQzQ/Z4z/FLx+leqWmmWNim21tYoh/sqBVusnXfQ2jhl9pnJaV4B02yKyXZN1KOzcL+VdVFFHDGI4kVEHRVGBT6KxcnLc3jFR2CiiikUFFFFABRRRQAUUUUAFFFFABRRRQAUUUUAFFFFABRRRQAUUUUAFFFFABRRRQAUUUUAFFFFABRRRQAUUUUAFFFFABRRRQAUUUUAFFFFABRRRQBDNa29wMTQRSD0dAaz5vDGiT/AH9Mth/uJt/lRRTTa2E0nuUZfAmgSfdtXj/3JW/qTWfcfD3R1Qus14vsJF/+JoorWEn3MJxiuhzl94ZsrYnZLOcf3mH+FYVzaRwk7Sx+pooroRzSRS70UUVRBJEgdsHP4VrWmkW85G95Rn0I/wAKKKTGjpNP8EabdY8ye7H+66//ABNbEXw+0NPvC5k/3pf8AKKKxm2dEIrsXYvBugQ/d09WP+27N/M1oQaNplt/qdPtkPqsQBoorByb6nSoxWyLoVVGAoH0FLRRUlBRRRQAUUUUAFFFFABRRRQAUUUUAFFFFABRRRQAUUUUAFFFFABRRRQAUUUUAFFFFAH/2Q=="/>
          <p:cNvSpPr>
            <a:spLocks noChangeAspect="1" noChangeArrowheads="1"/>
          </p:cNvSpPr>
          <p:nvPr/>
        </p:nvSpPr>
        <p:spPr bwMode="auto">
          <a:xfrm>
            <a:off x="116681" y="748903"/>
            <a:ext cx="342900" cy="3429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sp>
        <p:nvSpPr>
          <p:cNvPr id="6" name="AutoShape 6" descr="data:image/jpeg;base64,/9j/4AAQSkZJRgABAQAAAQABAAD/2wBDAAgGBgcGBQgHBwcJCQgKDBQNDAsLDBkSEw8UHRofHh0aHBwgJC4nICIsIxwcKDcpLDAxNDQ0Hyc5PTgyPC4zNDL/2wBDAQkJCQwLDBgNDRgyIRwhMjIyMjIyMjIyMjIyMjIyMjIyMjIyMjIyMjIyMjIyMjIyMjIyMjIyMjIyMjIyMjIyMjL/wAARCAH0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OQ+IGq3On6ZbwW0jRm4ZgzqcHAxxn3zXAaJq11pWpxTwSuAXHmJnhx3BFdj8Tf8AUab/AL0n8lrz+D/j4j/3h/OuuklyHDWk/aHvtFFFch3BRRRQAUUUUAFFFFABRRRQAUUUUAFFFFABRRRQAUUUUAFFFFABRRRQAUUUUAFFFFABRRRQAUUUUAFFFFABRRRQAUUUUAFFFFABRRRQAUUUUAFFFFABRRRQAUUUUAFFFFABRRRQAVn61q0Oi6ZJeTAsF4VR/ET0FaFYfizSn1bQZoYv9an7xB6kdqcbX1JldRdjlrP4jzteqLu1jFuxwShOVFehRSJNEkkbBkcAqR3FeBEEEgjBHUGvSvAGufabVtMnb95CMx57r6fhW9Wmkro56NVt2kdtRRRXOdQUUUUAFFFFAHBfE3/Uab/vSfyWvP4P+PiP/eH869A+Jv8AqNN/3pP5LXn8H/HxH/vD+ddlL4DgrfxGe+0UUVxneFFFFABRRRQAVz3ifxRHoESIiCW5k5VCeAPU1t3VzHZ2stxMwWONSzE14nrOpyavqk13IT8xwo9F7CtaUOZ6mNapyLTc7zw745bUtQSyvYEjaTiN0PGfQ121eR+CNJk1DXY58EQ2p8xj6nsK9coqpKVkFGUpRvIKKKKyNgooooAKKKKACiiigAooooAKKKKACiiigAooooAKKKKACiiigAooooAKKKKACiiigAooooAKKKKACiiigAooooAKKKKACiiigAooooAKKKKACiiigDynxzof9m6n9shXFvcnPHRX7j8etc9p19Lpt/DdwnDxtn6juK9n1rS49Y0qa0kHLDKN/dbsa8TubeS0uZLeZdskbFWFddKXNGzOGtDkldHuWnX0WpWEN3CcpIufofSrVea/D/XPs102lzv+6mO6Ins3p+NelVzzjyux10588bhRRRUFhRRRQBwXxN/1Gm/70n8lrz+D/j4j/wB4fzr0r4i2E91pltcQoXW3dt4AyQDjn9K8/wBJ0+41HU4LeCNmZnGTjhRnkmuuk1yHDWT9oe50UUVyHcFFFFABRRVDWtUi0fS5ryQ/cHyr/ebsKEr6Cbsrs434ha593SYG/wBqYj9BXAxxvLIscalnYhVA7mn3NzLeXUlxM26SRizH3rsfAGh/abttTnTMUJxGD3b1/CuzSnE4XerM7Tw3o6aLo8Vvgea3zyt6sa16KK5G7u7O5JJWQUUUUhhRRRQAUUUUAFFFFABRRRQAUUUUAFFFFABRRRQAUUUUAFFFFABRRRQAUUUUAFFFFABRRRQAUUUUAFFFFABRRRQAUUUUAFFFFABRRRQAUUUUAFFFFABXnvxB0PBXVoE6/LMB+hr0Kobq2ivLWW2mXdHIpVhVQlyu5E4c0bHg0cjwypJGxV0IZSOxFe1eHNXXWtGhuukg+SQejDrXmuoeDNXtb1oobV54i3yOnQj3r0LwlosmiaMIJyPOkcyOB0BIAx+Qras4uNznoKUZNM3aKKK5zrCiiigAIyMGo4reCAkwwxx7uuxQM/lUlFABRRRQAUUUUAFeV+O9bN/qn2GJv3FqcH/afv8Al0/OvVK8t8SeENTTWLi4tLdriCeQyAp1Uk5IP41rRtzamFfm5bI5nT7GXUb+G0hGXkbH0969u02wi0zT4bSEYSNcfU9zXM+C/DEukq97eoFuXG1F7oP8a7CnVnzOyChT5Vd7hRRRWJuFFFFABRRRQAUUUUAFFFFABRRRQAUUUUAFFFFABRRRQAUUUUAFFFFABRRRQAUUUUAFFFFABRRRQAUUUUAFFFFABRRRQAUUUUAFQ3F3bWgBuJ4ogem9wM/nU1eM+Lbm5uPEt6Lhm/dyFEU9Ao6Y/Dn8aunDmdjOrU5Fc9kjkSVA8bq6HoynINOrxTR/EWo6LIDbTExZ+aJ+VNej6H4y07V9sUjC2uT/AMs3PDH2NVOk4kwrRlp1OkooorI2CiiigAooooAKKKZNNFbxNLNIscajLMxwBQA+mSSxwoXldUQdWY4FcPrXxDiiLQ6VGJW6ec4+X8B3/GuGv9Xv9TkL3d1JIfQngfQVrGi3uYTrxW2p6nfeNdFsiV+0GZx2iGf1rCuPiUgJFtYE+8j/AOFeeUVsqMUYOvN7HZyfEfUmPyWtun5mmD4i6qDzDbn/AIDXH0VXs49iPaz7ncw/Eq6B/fWMLD/ZYg1r2nxF0yYgXEE0B9R8wry+ik6UWUq811Pc7HWdO1ID7JdxSE/w5wfyNXq8AR2jYMjFWHcHFdLpHjjVNOKpO32qAfwyH5h9DWUqD6G0cQvtHrVFY+i+JdO1xMW8uycDLQvww+nrWxWLTWjOhNNXQUUUUhhRRRQAUUUUAFFVr2/tdOtzPdzpFGO7Hr9PWuA1z4gzT7oNKUwx9POb7x+npVxg5bETqRhuegS39nBKIprqGOQ9FaQA/lVjrXgMs0k0pkldncnJZjk16z4Fubi58NIbgs2yRkjZupUY/rkfhVTpcquZ063O7WOlooorI3CiiigAooooAKKKKACiiigAooooAKKKKACiiigAooooAKKKKACiiigAooooAKKKKACiiigAooooAKwte8K2GugySAw3QGBMnX8R3rdopptO6E4qSszxjWvDGpaI5M0XmQZ4mj5X8fSsXpX0A6K6FHUMpGCCMg1x2ueAbW83T6aRbTHnyz9xv8K6IVukjlnh2tYnL6H421DStsNwTdWo42ufmUex/oa9H0nXtP1qLfaTAuB80TcMv4V47qGl3mlzmG8gaNuxI4P0NVoZpbeVZYZGjkU5DKcEVUqcZaoiFaUNGe/UVyPgnxJcaxHNa3hDTwqGEgGNy9OfeuurllFxdmdkZKSugoorK17XLfQrAzyndIeI4+7GhK7shtpK7H61rlnodoZrl8sfuRr95z7f415RrniO+12fM77IAfkhU/Kv+J96p6lqVzqt691dSFnboOyj0FU66oU1HXqcNSq56LYKKKK1MgooooAKKKKACiiigAooooAdHI8MiyRuyOpyGU4INeheGPHXmsllq7AOeEuOgPs3+Ned0VMoKS1KhNwd0fQIIIBByD3orzbwd4ua2dNN1CTMJ4ikY/c9j7V6SCCMjkVxzg4uzO+E1NXQUUVHPKsEEkz/AHY1LH6AZqSxzukaF3YKoGSScAVxmufEC2tN0GlqLibp5p+4v09a4zW/Et/rcrebKUt8/LCpwAPf1NY4BJwBknsK6YUVvI5J4hvSJav9SvNTuDPeTvK56ZPA+g7VBBbzXMywwRPJIxwFQZJrptD8D32p7ZrrNrbHnLD5mHsK9G0rQ7DRodlpAFYj5pDyzfU1UqsY6IiFGU9WcZofw9Z9s+sOVXqLeM8n/ePb8Pzr0C3t4bW3SCCNY4kGFVRgAVJRXNKbludcIRhsFFFFSWFFFFABRRRQAUUUUAFFFFABRRRQAUUUUAFFFFABRRRQAUUUUAFFFFABRRRQAUUUUAFFFFABRRRQAUUUUAFFFFAFe8sba/gMN1CksZ7MK4XVfhyxm36ZOojP/LOXt9DXoVFVGbjsRKnGW5znhXwwPD8MryyCS5mwGK9FA7CujoopNtu7KjFRVkQXt5DYWct1OwWONck14vrmsT63qT3MpITpGnZVrpviBrhmul0qB/3cXzS47t2FcPXTShZXZx16l3yoKKKK2MAooooAKKKKACiiigAooooAKKKKACiiigAr0zwN4kN7D/Zl2+Z4x+7Yn7y+n1FeZ1NaXUtldxXMLFZI2DA1E48ysXTm4Sue902RFljaNxlWBBHqDVPSNSj1bS4LyPo6/MPQ9xV6uJ6HoJ3R5td/Di7+2MLW5iNuTwX6qPeuo0Twfp2jhZGQXFyP+WjjgfQV0NFW6kmrERpQi7pBRRRUGgUUUUAFFFFABRRRQAUUUUAFFFFABRRRQAUUUUAFFFFABRRRQAUUUUAFFFFABRRRQAUUUUAFFFFABRRRQAUUUUAFFFFABRRRQAUUUUAFU9Vvk0zS7i8fpEhIHqewq5XEfEi/MWn21ip5mcu30X/65H5VUI80kiJy5YtnnM88lzcSTytukkYsx9zUdFFdx5wUUUUAFFFFABVixsrjUbuO1tYy8rnAHp7n2qvXpvw80pIdNfUXUGWZiqk9lFROXKrl04c8rD9K+H2n20StflrmbuAcKP8AGtKfwZoU0ZT7Eqf7SEg1yXi3xfdy30tjp8zQ28R2s6HDOe/PpXNWeuanYziaC9mVgckFyQfqD1rJQm1e5s6lOL5UjZ8S+DZ9FQ3VszT2meSR8yfX2965avZ9B1aHxJohkljUMcxzR9s/4GvJ9asP7M1i5tP4Y3O36dqunNv3ZbkVYJWlHZlCiiitTEKKKKACiiigDufh1qpiu5tMkb5ZR5kef7w6j8v5V6RXhOl3radqltdqf9VIGP07/pmvdEcOiupyGGQa5a0bO52YeV427DqKKKxOgKKKKACiiigAooooAKKKKACiiigAooooAKKKKACiiigAooooAKKKKACiiigAooooAKKKKACiiigAooooAKKKKACigkAEk4A71jTeK9EglaN7+Pcpwcc00m9hNpbmzRWF/wAJjoX/AD/p+Ro/4THQv+f9PyNPll2Fzx7m7RWF/wAJjoX/AD/p+Ro/4THQv+f9PyNHLLsHPHubtFUbDWLDVA32O5SUr1APIq9UtWGmnsFeT+P7rz/EzxZ4gjVMe5+b+tesV4p4mlM3ibUWPaZl/Lj+lbUF7xhiH7tjJooorqOMKKKUAscKCT6CgBKKe8UkYy8bqPdSKZQAV7F4NdX8LWmzsCp+ua8drv8A4dauqmXS5WwSfMiz+orKsrxNqErTOHvYnhvp4pQQ6yMGz65qCu68feH2iuP7Wt0zHJxMB/C3r+NcbY2U+oXkVrboXlkOAB/OrjJONzOcHGVj0D4aRSLY30pz5byKF+oBz/MVzPjd1fxTc7f4QoP1xXo9tDbeF/Du1mASBCzt/eb/APXXjt7dPfX011J96VyxrKn703I2q+7BRIKKKUAk4AyfatznEop7QyoMvG6j1KkUygAooooAK9q8LXRvPDNhKTkiIIT7rx/SvFa9X+H0pk8Mhf8AnnM6/wAj/Wsa6903w796x1VFFIzKiFnYKoGST2rlO0WisR/FuhxuUN/GSODjmk/4TDQv+f8AT8jVcsuxPPHublFYf/CYaF/z/p+Ro/4TDQv+f9PyNHJLsHPHublFYf8AwmGhf8/6fka0bDVLLU4y9ncJKB12nkUnFrdApRezLdFFFIoKKKKACiiigAooooAKKKKACiiigAooooAKKKKACiiigAooooAKKKKACiiigAooooAyPFH2j/hHL37NnzNn8PXHevFa+gSARgjINY83hXRJ5WkfT4tzHJwMVrTqKKszCrSc3dHi1Fey/wDCIaF/z4R0f8IhoX/PhHWvt4mX1aXc8aor2X/hENC/58I6P+EQ0L/nwjo9vEPq0u55z4M+0f8ACT2vkbsZPmY6bcd69iqlYaRYaYGFnaxxFupUcmrtYVJ8zudFKHIrMK8N13/kYNSz/wA/Uv8A6Ea9yrxTxPEYfE2oqRjMzN+fP9a0obsyxOyMmiiiuk5C9pGlz6xqMdnAOW5Zuyjua9Dkbw94Mt0ieMTXRGT8oZz7n0rO+HEEaW9/esMsuE+gAzXE6leS3+oz3MzEvI5J9vasmueVuiNk1TgpdWehQeNtC1J/s95ZeUjcbpFDD/61YvizwlHYw/2lpnzWjcugOdue49q42vQfAmri8t5tEvDvUoTFu7juv9aTjyaxHGftPdkefVLbXEtpcx3ELlJI23KR61c1zTW0nWLi0P3VbKH1U9KsaH4avtcmHlIY7cH5pmHA+nqa1urXZiou9luel6Drdr4l0tlkVTLt2zwn+f0p+j+G9P0F554B8zkne/8AAvoKbY6fpXhPTWcusa4/eTP95z/ntUWleL9K1md7YMYnJIRZePMHt/hXI768ux3K2nPucX4z8Tf2tcfY7Vv9EiPJH/LRvX6Vydeh+JPAgkL3ekqA3Vrfsf8Ad/wrz+WKSCVopUZJFOCrDBFdFNxt7pyVVJSvIn07T59Uvo7S3XMjn8APU16MLbQPBlmhuVWa7YdSu5m+g7Cqvg2zh0bw/ca3dDDOpK5/ujp+ZrhNT1CfVL+W7nYl3OQPQdhSfvu3RFK1ON+rO/h8d6LeSeTdWLRxNxuZQwrN8VeFLZLL+1tIwbcjc6KcjHqK4evRfh/dNeaVfadN88acqD2DA5FKUeT3olRn7T3ZHnVFS3UQgu5oR0R2X8jioq2OcK9Q+G+f+EfuP+vpv/QVry+vVvh7EY/DIb/npM7fyH9KyrfCbYf4zq653xt9o/4Ri4+z7s5G/b1255roqRlV1KsAVIwQe9cqdnc7ZK6aPn+ivZ5PCehyOXOnxZPJwMU3/hENC/58I66fbxOT6tLueNUV7L/wiGhf8+EdH/CIaF/z4R0e3iH1aXc8arqvAH2j/hI18rd5ew+Z6Yru/wDhENC/58I60bHTLLTYylnbpCp67R1qZVk1ZFQoNSTbLdFFFc51BRRRQAUUUUAFFFFABRRRQAUUUUAFFFFABRRRQAUUUUAFFFFABRRRQAUUUUAFFFFABRRRQAUUUUAFFFFABRRRQAV5P4/tTB4maXHE8avn3Hy/0FesVxHxHsDLp9tfKMmFyjf7rf8A1wPzrSk7SMa6vA81ooorsOE7n4c6hHHdXWnyEDzhvQHuR1H5VzviPRZ9F1SWJ0byXYtFJ2Zf8azIJ5badJ4XKSodysOoNeg2HjnTdQtBba7bLnuxj3o3vjqDWTTjLmRtFxlHlbtY86rY8Nw6h/bNtPY20spjcFto4A75PQV2g1DwNB+8WG2Y9ceSzfoRVe8+IlpbxeVpdiTjgFwEUfQD/wCtQ5yeiQKnGLu5HR6p4c0zUr+PUL4cRJgqWwp/3qx9V8cabpUX2bS40uJFGBsGI1/x/Cotfun1r4fx3xwJMqzheB1wa81qIQ5l73Q0qVOV+71L2p6ve6vcGa8nZz2Xoq/QVRBIOQcEUUV0JWOVtvVnXaF47vNOCwXwN1bjgMT86j69/wAa62W38PeMrfcjo0wH3l+WVPqP8ivJK2vCUBn8TWSgnCvuOPQVlOmviWhtCq/heqO38ZWd3H4bt7HTraSWFCBJ5YyQoHHAry8gqSCCCOoNema542l0bX3tBbpNboo3c4YE+9J/wlXhXVRm/tVWQ95oNx/MZqYOUVsXUjGUtzzMAk4Aya9N8MWJ8NeGbvUb4GKSVd+xuoAHA+pz0oTW/BmmHz7WGFpRyvlwkt+BPSuT8S+K7jXnESqYbRTlY88sfU023PS1kSlGnre7MGWQzTPK33nYsfxplFFbGAV7V4XtTZ+GbCIjBMQcj3b5v615Bpdk2o6pbWignzZApx6d/wBM17oihEVFGAowBXPXeyOnDLdjqKKK5zrCiiigAooooAKKKKACiiigAooooAKKKKACiiigAooooAKKKKACiiigAooooAKKKKACiiigAooooAKKKKACiiigAooooAKKKKACiiigAooooAKp6pYpqWmXFm/SVCAfQ9jVyihaA1fQ8CuIJLa4kglXbJGxVh7io67n4g6GYbldVgT93J8suOzdjXDV3RlzK55s48srBRRRVEhRRRQB3/hhv7Q8D6nYnkxhiB9Rn+lcBXY/Dy4A1O6s2Pyzwnj6Vyt9CYL+eIjBSRh+tZx0k0aT1hFkFFFFaGYV1/w7txJrks56QxE5+vFchXceDiLHw3rGoNxhdqn8Kip8JpS+NHL63dfbdbvLjP3pTis+lJLMSepOTSVSVkZt3dwooopgFFFTWlrLe3cVtCpaSRgoFAHZ/DrSjJdzanIvyxjy48/3j1P5fzr0iqOkabHpOmQWcY4RfmPqe5q9XFOXNK56NOHLGwUUUVBYUUUUAFFFFABRRRQAUUUUAFFFFABRRRQAUUUUAFFFFABRRRQAUUUUAFFFFABRRRQAUUUUAFFFFABRRRQAUUUUAFFFFABRRRQAUUUUAFFFFABRRRQBBeWkN9aS206ho5F2kV4xrujT6JqT20oJTrG/Zlr26svXdDt9dsGt5htkHMcmOVNaU58r8jKrT51pueJUVc1PTLnSb17W6jKuvQ9mHqKp12J3OBq2jCiiigDX8L3f2PxHZyk4Uvtb6HipfF9t9m8T3i4wHbePxrGikMUqSL1Rgw/Cuo8cgS3djfLyLi2VifcVD0mi1rBo5SiiirICuzlb7B8NYkHDXc2fqM//AFq4wDJAHU11vjB/s+naPpy9I4A7D0JqJatIuGibOSoooqyAooooAK9N8DeGzZQf2ldpieQfu1P8K+v1NZfg7wi1w6alqEZEI5iiYff9z7V6QBgYFc9Wp9lHVQpfaYUUUVznUFFFFABRRRQAUUUUAFFFFABRRRQAUUUUAFFFFABRRRQAUUUUAFFFFABRRRQAUUUUAFFFFABRRRQAUUUUAFFFFABRRRQAUUUUAFFFFABRRRQAUUUUAFFFFABRRRQBnazolnrdmYLpPmH3JB95D7f4V4/rOj3Oiag1rcD3Rx0dfUV7jWD4s0RdZ0aQIubmEF4j3J7j8a1p1OV2exjWpKSutzxyiiius4Qrp9Tb7Z4I0u4/it5Ghb6dq5iui0xvtPhHVbU8mF0nUfpUy6MuHVHO0UUVRBa06A3OpW0A6vIo/WtTxjci58S3IX7kWIl+gFN8JRB/EVu7fdhDSk+m0ZrJu5zc3k056yOW/M1P2itoENFFFUSFegeEPBqMkepanHnPzRQMOPYt/hWH4L0QavrIeZc21sA7g9GPYf59K9d6DArCrUt7qOmhST95gAAMDgUUUVzHWFFFFABRRRQAUUUUAFFFFABRRRQAUUUUAFFFFABRRRQAUUUUAFFFFABRRRQAUUUUAFFFFABRRRQAUUUUAFFFFABRRRQAUUUUAFFFFABRRRQAUUUUAFFFFABRRRQAUUUUAFFFFAHi3imxGn+JL2FRhC/mKPZuf64rHruPHulXlzr8c1raSyq1uoZkQkZBb+mK5f8AsPVf+gfc/wDfs12wknFHnTi1J2M+tvww+b64tT0ubaSMD/axkfyqp/Yeq/8AQPuf+/Zq3pemarZ6ra3H9n3ICSqT+7PTPP6U5NNCimmtDFI2sQexxSVsX+galHqFwsdhcMgkbaRGSCM1X/sPVf8AoH3P/fs0+ZCcX2LmhN9m0/VrzoVt/LU+jMcVh10a6TqUXhp4lsbjzJ7kFl8s52qP8TWZ/Yeq/wDQPuf+/ZpJq7KadkjPorQ/sPVf+gfc/wDfs0f2Hqv/AED7n/v2ad0Tyvsek+ArEWvhtJiMPcuZCfYcD+X611FZ+hQG20GwhZSrLboGUjkHAzWhXFJ3k2ejBWikFFFFSUFFFFABRRRQAUUUUAFFFFABRRRQAUUUUAFFFFABRRRQAUUUUAFFFFABRRRQAUUUUAFFFFABRRRQAUUUUAFFFFABRRRQAUUUUAFFFFABRRRQAUUUUAFFFFABRRRQAUUUUAFFFFABTd6f3l/OuA+I2p3UU9tYRO0cDx+Y+043nOMH6Y/WuAyfU1tGjzK9znnX5ZWse/b0/vr+dG9P76/nXgOT6mjJ9TVew8yfrPke/b0/vr+dG9P76/nXgOT6mjJ9TR7DzD6z5Hv29P76/nRvT++v514Dk+poyfU0ew8w+s+R79vT++v50oYN0IP0rwDJ9TU1pe3NjcpcW0zxyochlNHsPMPrPke9UVBYztc2FvO67WkjVyvoSM1PXOdQUUUUAFFFFABRRRQAUUUUAFFFFABRRRQAUUUUAFFFFABRRRQAUUUUAFFFFABRRRQAUUUUAFFFFABRRRQAUUUUAFFFFABRRRQAUUUUAFFFFABRRRQAUUUUAFFFFABRRRQAUUUUAFFFFAGTrug2OuWypd5Ro+UlU4K//Wrmf+FfaX/0FW/8d/xqH4jajdRXFtZRuyQNHvbacbjnGPw/rXA5Pqa6acZcu5yVZw5rNHon/CvtL/6Crf8Ajv8AjR/wr7S/+gq3/jv+Ned5PqaMn1NXyS/mM+eH8p6J/wAK+0v/AKCrf+O/40f8K+0v/oKt/wCO/wCNed5PqaMn1NHJL+YOeH8p6J/wr7S/+gq3/jv+NH/CvtL/AOgq3/jv+Ned5PqaMn1NHJL+YOeH8p6J/wAK+0v/AKCrf+O/41ZsPAWkRXSyPdtchTny8gA/XFeZZPqamtby4srhJ7eZ45FOQVNJwl/MNVIX+E95AAAAGAKWoLGZ7iwt5pF2vJGrMPQkZqeuQ7gooooAKKKKACiiigAooooAKKKKACiiigAooooAKKKKACiiigAooooAKKKKACiiigAooooAKKKKACiiigAooooAKKKKACiiigAooooAKKKKACiiigAooooAKKKKACiiigAooooAKKKKAMzWtCstdt1iulO5DlHXgrXO/wDCttP/AOfy4/IV2tFUpyWiZEqcZO7RxLfDnTUUs99OqjqTtAFQf8ILoX/QYP8A38Su5uIEubeSCQZSRSp/GvFtc0m50XUpLaXdszmN+zLWtNylpcxqxjDXlOw/4QXQv+gwf+/iUf8ACC6F/wBBg/8AfxK883N/eP50bm/vH8615JfzGPtIfynof/CC6F/0GD/38SnR+ANGmbbFqkjt6Kyk151ub1P516d4E0GSxtW1C6UrNOMIp6qv/wBeonzRV7l0+WbtyjP+Fbaf/wA/lx+QqxZfD7S7W5SaSSWcKchHwB+OK62isfaS7nR7KHYAABgcAUUUVBoFFFFABRRRQAUUUUAFFFFABRRRQAUUUUAFFFFABRRRQAUUUUAFFFFABRRRQAUUUUAFFFFABRRRQAUUUUAFFFFABRRRQAUUUUAFFFFABRRRQAUUUUAFFFFABRRRQAUU15EjGXdVHucVm3XiPSLPPnX8AI/hDZP5Cmk3sJtLc1KK5K5+Iejw5EKzzn/ZTA/Wsa6+JU7ZFrYIno0j5/QVapSfQzdaC6no1ISB1IFeSS+M/EN/II4Z9jMcBIYxk/nk10ej+Er+/wBtz4gvLh0PItjKTn6+n0FN0+X4mJVuZ2ijto5Y5QTG6uAcHac4NPqOGCK3hWGGNY41GFVRgCpKyNgqjqmk2esWpt7yIOv8LDhlPqDV6ihOwmr6M81v/hveRuWsLqKWPssuVYfzB/SqUXw+1uR8OLeMf3mkz/IGvV6K19tIydCByWh+A7LTZFuLx/tc68gFcIp+nf8AGutoorOUnLVmkYqKsgooopFDFmickJIjEHBAPQ0+sfWfDlnrA8w7oLsD5biLhvx9RXB6jJ4p8MTbXvZ3hz8spO9T+ecVcYKWzM51HDdaHqlFeW2vxE1aLAnignH+6VP+fwrZtfiVatgXVjLGfWNgw/pTdKSJVeD6nc0Vz9r410K5wPtnlH0lUr+ta8GoWd0u6C6hkH+y4NQ4tbmilF7Ms0UdaKRQUUUUAFFFFABRRRQAUUUUAFFFFABRRRQAUUUUAFFFFABRRRQAUUUUAFFFFABRRRQAUUUUAFFFFABRRRQAUUUUAFFFc7r/AIvstEzCv7+6/wCeanhfqaaTbshSkoq7OiqOSeGEZllRB/tMBXkOoeMdZv2P+kmGM/wRcViy3M85zLNI/wDvMTWyoPqzneJXRHslz4p0W0yJL+IsP4UOTWNdfEXTIsiCGeY+uNo/WvL6KtUY9TN4iT2O3ufiRevkW1nFH6FiWrGufGWuXWQbwxg9o1ArBoq1CK6GbqTe7J5726uSfPuZZM/33JqCiirICtfRfDl/rcoEEe2EH5pW+6P8ayK9W8AXwudA+znG+3cqfoeRUVJOMbo0pQUpWZo6H4YsNDjBiTzLjHzTOOfw9K2qKK4229Wd6SSsgooopDCkJCgkkADuao6zPe22lzTWEaSToMhW7jvXkWo+ItV1JiLm7k25+4vygfhWkKbkZVKqgepaj4r0jTMiW6V5B/BH8xrLsviFpVxKUnjltxn5WYZB/LpXllFbKjE53iJX0PebW+tb6MPa3EcqnurZqxXgcFzPayB4JnjYd1bFd74N8Qa3qd8LaUrPboMySOOVH19aznRsro1hXUnZo7+iiisToCo5oIrmFopo1kjYYKsMg1JRQB554h8Ald9zpPI6mAnn8DXCSxSQyNHKjI6nBVhgivfjwMmvFPEt8NQ8QXc64279q/QcV00pt6M469OMdUZNKrMjblYqR3BxSUVuc5pW3iDVrTHk384x2Lbv51s23xA1mDAl8mYf7S4P51ylFS4Re6KU5LZnodr8SozgXVgy+8bZ/nW1beOtDuMBp2hP/TRcD868ioqHRizRV5o91t9W0+7GYLyB/o4q4CCMg5FfP4JU5BIPqKu22s6lZsGgvZkx/tk1DodmaLE90e50V5xo/wAQ543WLVIxInTzUGCPqO9eg2l3BfWyXFtKskTDIZTWMoOO5vCpGexNRRRUlhRRRQAUUUUAFFFFABRRRQAUUUUAFFFFABRRRQAUUUUAFFFFABRRRQAUUUUAFFFFAHN+MPEP9i6eI4CPtc+Qn+yO5rySSR5ZGkkYs7HJJPJNbfjC/a/8SXJ3ZSI+Wn0H/wBesKuynHlicFafNIKKKK0MgooooAKKKKACiiigArrvh9qH2bXGtmOEuEwP94dK5GrFhdNY38FypwYnDVMldWKhLlkme80VHBMs9vHMhyrqGGPepK4T0gooooAK8t8ceHf7OvPt9sn+jTn5gP4G/wDr16lVe+sodRspbW4XdHIuD7e9XCfK7mdSHPGx4NRV/WdKm0bU5bOYfdOUbsy9jVCu1O+p57VnZktvby3VxHBCpaSRgqgdzXs3h7RYtD0tLdQDK3zSv6tXOeA/Dv2eEatdJ+9kH7lSPur/AHvxrua5as7uyOyhTsuZhRRRWJ0BRRRQBmeIb8adoV3cZwwQqv1PArxIkkkk5J616J8SNQ229rYKeXJkcew6V51XVRVo3OLESvK3YKKKK2MAooooAKKKKACiiigAroPCviKXRL9VdibSU4kU9vcVz9FJpNWY4ycXdHv6OsiK6nKsMgjuKdXOeCL83vhuEO2XhJjP0HT9K6OuGSs7HpRfMrhRRRSGFFFFABRRRQAUUUUAFFFFABRRRQAUUUUAFFFFABRRRQAUUUUAFFFFABUN3MLe0mmY4CIWJ+gqauf8aXf2TwxdYOGlAjH4nmnFXdhSdk2eRTytPPJM33nYsfqTmo6KK7zzAooooAKKKKACiiigAooooAKKKKAPXPA+ofbfDkSMcvbkxn6dv0rpa8x+HWoeRqs1kx+WdNy/7w/+t/KvTq46itI76MuaCCiiiszUKKKKAOe8XeHxremFolH2uAFoj/eHda4Lwn4dfWNVJnQi1tzmXPGT/dr16sfQL23vBqPkRonl3kiNtGN3T5vxrWM2otGM6cXNNmuqhFCqAFAwAOwpaKKyNgooooAKKKoa1fDTtHuron7kZx7ntQlcTdlc8p8XX/8AaHiO5cHKRny1+g/+vmsOlZi7lmOWY5J9TSV3pWVjzZO7uFFFFMQUUUUAFFFFABRRRQAUUUUAd/8ADW7w97Zk9cSKP0P9K9Crx/wTd/ZPE9uCcLKDGfx//VXsFclZWkd1B3gFFFFZGwUUUUAFFFFABRRRQAUUUUAFFFFABRRRQAUUUUAFFFFABRRRQAUUUUAFcF8SrvEFlZg/eYyH8OB/Ou9ryXx5d/afE0kYPywIsf49T/OtaKvIxru0DmKKKK6zhCiiigAooooAKKKKACiiigAooooAuaVenTtVtrsHHlSAn6d/0r3NHEkaupyGGQa8Ar2LwbqH9oeG7YscyQ/um/Dp+mKwrrRM6cNLVxN+iiiuY6wooooArajdCx025uj/AMsomf8AEDiuB+G98RqN7au2fOQSjPqDz/P9K6Dx7efZvDMkYOGuHWP8Op/l+tef+E7z7F4mspCcKz+W30bj+tbwjeDOapO1RHs9FFFYHSFFFFABXEfEfUPK063sVPzTPvYf7I/+viu3rx/xrqH2/wASzhTlIMRL+HX9c1rSV5GNeVoHPUUUV1nCFFFFABRRRQAUUUUAFFFFABRRRQBPZ3Btb2C4HWKRX/I17vE4liSRTkMoINeA17P4Uu/tvhmykJyyp5Z+q8f0rCutEzpwz1aNqiiiuY6wooooAKKKKACiiigAooooAKKKKACiiigAooooAKKKKACiiigAooooARiFUk9AM14TqV0b3U7q5znzZWYfTPH6V7H4ju/sPh2+nBwwiKqfc8D9TXiVdFBbs5MS9kFFFFdBzBRRRQAUUUUAFFFFABRRRQAUUUUAFdz8N9Q8u9urBjxKvmIPccH9D+lcNWhod/8A2Zrdpd5wscg3/wC6eD+hNTNXi0VTlyyTPcaKAcjI6UVwnpBRRRQB5z8SrzdeWdmDwiGQ/UnH9P1rho3MciupwVIINbPi68+2+JrxwcqjeWv0XisSu2CtFI86pK82z3mxuReWFvcr0ljV/wAxViua8C3n2rwzChOWgZoz/Mfzrpa45Kzsd8XeKYUUUUiirqV4un6bc3b9Ioy31OOBXhUkjSyvI5y7sWY+pNenfETUPs+ixWan57mTkf7K8n9cV5fXVRVlc48RK8rBRRRWxzhRRRQAUUUUAFFFFABRRRQAUUUUAFelfDa78zTbu0J5ikDj6MP8Qa81rrfh7d+R4haAn5biIqB7jkfpms6qvFmlF2mj1SiiiuM9AKKKKACiiigAooooAKKKKACiiigAooooAKKKKACiiigAooooAKKKKAOO+I135OiQWwPM83I9VUZ/nivL67L4j3fm61Bag8QQ5I9GY/4AVxtdlJWicFZ3mwooorQyCiiigAooooAKKKKACiiigAooooAKKKKAPaPCmof2j4btJScyIvlP9V4/lg/jWzXnnw21DEl3p7HhgJUHv0P9Pyr0OuKorSaPQpS5oJhUF7cC0sZ7hukUbP8AkKnrnPHF59k8MzqDhpiIx/P+lTFXdipOybPJJZDLM8jHJZiSaZRRXeead78NbzE95Zk/eUSKPpx/WvRK8c8HXn2PxNaMThZD5Z/HivY65KytI7cO7wsFFFQXlylnZT3Mn3YkLn8BWRueWePNQ+2+JJIlOY7ZREPr1P6nH4VzFSXEz3NzLPIcvI5dj7k5qOu+KsrHmSlzNsKKKKYgooooAKKKKACiiigAooooAKKKKACr+iXf2HXLK5zgJMu4/wCyTg/oTVCihq4J2dz6Boqjo139u0Wyus5MkKlvrjn9c1erz2rHpp3VwooooGFFFFABRRRQAUUUUAFFFFABRRRQAUUUUAFFFFABRRRQAUUVV1G6Flpt1dE/6qJnH1A4oB6HjviW7+3eI7+fOVMpVT7LwP0FZVKxLMWPUnNJXelZWPLbu7hRRRTAKKKKACiiigAooooAKKKKACiiigAooooA1fDd/wD2br9pcE4Tftf/AHTwf517ZXz8DggjqK9t8OX/APaWgWlxnL7Ar/UcGueutmdWGlvE1K89+JV5mSzswegMjfyr0KvHvGd59s8TXODlYiIx+FRRV5Gld2hY5+iiius4SS3lMFxHKpwUYN+Ve72s4ubSGdekiBvzFeCV7B4KvPtfhm3yctFmM/hWFdaJnRhnq0dDXKfEDUPsugC2U4e5cL/wEcn+ldXXlXxA1D7VrwtlOUtkC/8AAjyf8PwrKkryN60rQZydFFFdhwBRRRQAUUUUAFFFFABRRRQAUUUUAFFFFABRRRQB6t8Prvz/AA55BPzW8rLj2PI/ma6uvNvhtd7NQvLQniWMOPqp/wDr16TXHVVpM76LvBBRRRWZqFFFFABRRRQAUUUUAFFFFABRRRQAUUUUAFFFFABRRRQAVzPjy7+zeGJYwcNO6x/h1P8AKumrzz4lXeZrKzB+6rSEfXgfyNXTV5Izqu0GcDRRRXaeeFFFFABRRRQAUUUUAFFFFABRRRQAUUUUAFFFFABXonw31DdDdaex5UiVB+h/pXndbfhPUP7O8RWshOEdvLf6HioqK8Wi6UuWaZ7DczC3tpZm6RoW/IV4RczG4upZmOS7lvzNeu+Mrz7H4ZuSDhpMRj8a8drOgtGzbEvVIKKKK3OYK9B+Gt5xeWZPpIv8jXn1dF4JvPsnia3BOFlBjP41FRXiy6TtNHrdxMltbSzucJGpY/QCvCr65e8vp7lzlpXLE/U16n461D7F4dkjU4e4YRj6dTXklZ0Fpc1xMtUgooorc5wooooAKKKKACiiigAooooAKKKKACiiigAooooA2/CV39j8T2Tk4V38s/8AAuP617NXgMMhimSRTgqwYGveLWcXVnDcL0lRXH4jNc1dapnXhno0TUUUVgdIUUUUAFFFFABRRRQAUUUUAFFFFABRRRQAUUUUAFFFFABXj3jW7+1+J7rBysWIx+A5/XNevTSrDBJK33UUsfoBXg93O1zeTTsctI5Yn6mt6C1bObEvRIhooorpOQKKKKACiiigAooooAKKKKACiiigAooooAKKKKAClVijhl4IORSUUAdn4v1oahoOkorZMieY/wBRxXGU5pHZVVmJC9Ae1NqYx5VYqcuZ3CiiiqJCprOc2t7DODgxuG/I1DRQB13j3VBfahbQRtmOOIMcerc1yNOeR5G3OxZvU02lFcqsOcuZ3CiiimIKKKKACiiigAooooAKKKKACiiigAooooAKKKKACvYfBd39r8MW2Tlosxn8D/gRXj1eifDW7zDe2ZPQiRR+h/pWVZXibYd2md7RRRXIdwUUUUAFFFFABRRRQAUUUUAFFFFABRRRQAUUUUAFFFFAEF7bC9sprZnZBKhUsvUZrzjUfh1qEGWsZo7lf7rfI3+FenUVcZuOxE6cZ7ng95p95p8my7tpYW7b1wD9D3qtXv0sMU8ZjljSRD1VxkGub1HwJo19loY2tJD3hPy/98nj8sVtGuupzywz+yzyWiuu1H4fapa5a1aO7Qdl+VvyP+Ncvc2dzZyGO5gkicdnUg1qpJ7GEoSjuiGiiiqJCiiigAooooAKKKKACiiigAooooAKKKKACiiigAooooAKKKKACiiigAooooAKKKKACiiigAooooAKKKKACiiigAooAycCtfTvDGr6ngwWbiM/8tJPlX8z1/Ck2luNJvYyKUAkgAZJ6AV6Hp3w2jXD6jeFz3jgGB+Z/wAK6zT9C0zSwPsdnFGw/jIy35nmspVorY2jh5PfQ8s07whrOpYZLUwxn+Of5B+XX9K7zwx4Q/sG4a5kuzLKybSqrhcf1rqKKxlVlLQ3hRjHUKKKKzNgooooAKKKKACiiigAooooAKKKKACiiigAooooAKKKKACiiigAooooAKhuLW3u4zHcQxyof4XUEVNRQByeo+ANKu8tbF7Vz/dO5fyP+NcBrvh+80G68udd0TfclUfK3/169rqC8s7e/tmt7qJZIm6qwrWFVrcxnRjJaaM8FortNd8A3NoWn0wmeHr5Z++v+NcbJG8TlJEZHHVWGCK6YyUtjjlBxdmNoooqiQooooAKKKKACiiigAooooAKKKKACiiigAooooAKKKKACiiigAooooAKKKKACiiigAoorT0rQdQ1iULawMU7yNwo/Gk2luCTeiM1VZ2CqCWJwAO9dzo3w8kuII59SmaHdz5KD5se57V0fh/wfZ6LtmkxPd/89GHC/QV0lc863SJ106FtZGTp/hrSdMwbezQuP+Wkg3N+vT8K1qKKxbb3OhJLYKKKKQwooooAKKKKACiiigAooooAKKKKACiiigAooooAKKKKACiiigAooooAKKKKACiiigAooooAKKKKACszU9A03VkIurZS3Z14YfjWnRTTa2E0nozzjU/hzPGWfTrhZF/55ycH865O+0fUNOYi7tJYwP4iuR+de5010V12uoYehGa1jWktzGWHi9tDwCivZr7wlot/kyWSI5/ij+U/pXPXnw1hbJs750/2ZV3fqMVqq0XuYSw81sedUV1F14B1u3yYkiuB28t8H9cVj3Gharak+dp9yoHUiMkfmKtSi9mZuElujPopWUqxDAgjsRSVRIUUUUAFFFFABRRRQAUUUUAFFFFABRRRQAUVNBZ3VycQW00p/wBhC38q1rbwhrt1jbYOinvIQv8APmk2luNRb2Rh0V21p8N76TBuryGIeiAsf6Vv2Xw+0i3wZzLct/ttgfkKh1Yo0VCbPLI43lcJGjOx6Koya6DTvBWsagQzQ/Z4z/FLx+leqWmmWNim21tYoh/sqBVusnXfQ2jhl9pnJaV4B02yKyXZN1KOzcL+VdVFFHDGI4kVEHRVGBT6KxcnLc3jFR2CiiikUFFFFABRRRQAUUUUAFFFFABRRRQAUUUUAFFFFABRRRQAUUUUAFFFFABRRRQAUUUUAFFFFABRRRQAUUUUAFFFFABRRRQAUUUUAFFFFABRRRQBDNa29wMTQRSD0dAaz5vDGiT/AH9Mth/uJt/lRRTTa2E0nuUZfAmgSfdtXj/3JW/qTWfcfD3R1Qus14vsJF/+JoorWEn3MJxiuhzl94ZsrYnZLOcf3mH+FYVzaRwk7Sx+pooroRzSRS70UUVRBJEgdsHP4VrWmkW85G95Rn0I/wAKKKTGjpNP8EabdY8ye7H+66//ABNbEXw+0NPvC5k/3pf8AKKKxm2dEIrsXYvBugQ/d09WP+27N/M1oQaNplt/qdPtkPqsQBoorByb6nSoxWyLoVVGAoH0FLRRUlBRRRQAUUUUAFFFFABRRRQAUUUUAFFFFABRRRQAUUUUAFFFFABRRRQAUUUUAFFFFAH/2Q=="/>
          <p:cNvSpPr>
            <a:spLocks noChangeAspect="1" noChangeArrowheads="1"/>
          </p:cNvSpPr>
          <p:nvPr/>
        </p:nvSpPr>
        <p:spPr bwMode="auto">
          <a:xfrm>
            <a:off x="59531" y="937884"/>
            <a:ext cx="1640456" cy="1640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endParaRPr lang="zh-CN" altLang="en-US" sz="1350">
              <a:solidFill>
                <a:prstClr val="black"/>
              </a:solidFill>
              <a:latin typeface="Tw Cen MT" panose="020B0602020104020603"/>
            </a:endParaRPr>
          </a:p>
        </p:txBody>
      </p:sp>
      <p:pic>
        <p:nvPicPr>
          <p:cNvPr id="2058" name="Picture 10" descr="https://timgsa.baidu.com/timg?image&amp;quality=80&amp;size=b9999_10000&amp;sec=1541304610186&amp;di=8ebbd3dc79902eb90bb9a2af873b7d06&amp;imgtype=0&amp;src=http%3A%2F%2Fpic.90sjimg.com%2Fdesign%2F00%2F63%2F61%2F77%2F59197f3a5dcec.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31866" y="3086252"/>
            <a:ext cx="2035232" cy="203523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494036" y="2222598"/>
            <a:ext cx="8296073" cy="461665"/>
          </a:xfrm>
          <a:prstGeom prst="rect">
            <a:avLst/>
          </a:prstGeom>
          <a:noFill/>
        </p:spPr>
        <p:txBody>
          <a:bodyPr wrap="square" rtlCol="0">
            <a:spAutoFit/>
          </a:bodyPr>
          <a:lstStyle/>
          <a:p>
            <a:pPr defTabSz="685800"/>
            <a:r>
              <a:rPr lang="zh-CN" altLang="en-US" sz="2400" dirty="0">
                <a:solidFill>
                  <a:prstClr val="black"/>
                </a:solidFill>
                <a:latin typeface="Tw Cen MT" panose="020B0602020104020603"/>
              </a:rPr>
              <a:t>在定义 </a:t>
            </a:r>
            <a:r>
              <a:rPr lang="en-US" altLang="zh-CN" sz="2400" dirty="0">
                <a:solidFill>
                  <a:prstClr val="black"/>
                </a:solidFill>
                <a:latin typeface="Tw Cen MT" panose="020B0602020104020603"/>
              </a:rPr>
              <a:t>M </a:t>
            </a:r>
            <a:r>
              <a:rPr lang="zh-CN" altLang="en-US" sz="2400" dirty="0">
                <a:solidFill>
                  <a:prstClr val="black"/>
                </a:solidFill>
                <a:latin typeface="Tw Cen MT" panose="020B0602020104020603"/>
              </a:rPr>
              <a:t>企业存在的问题和改进方法时主要采用头脑风暴法。</a:t>
            </a:r>
          </a:p>
        </p:txBody>
      </p:sp>
    </p:spTree>
    <p:extLst>
      <p:ext uri="{BB962C8B-B14F-4D97-AF65-F5344CB8AC3E}">
        <p14:creationId xmlns:p14="http://schemas.microsoft.com/office/powerpoint/2010/main" val="14484040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a:t>
            </a:r>
            <a:r>
              <a:rPr lang="zh-CN" altLang="en-US" dirty="0" smtClean="0"/>
              <a:t>：测量</a:t>
            </a:r>
            <a:r>
              <a:rPr lang="zh-CN" altLang="en-US" dirty="0"/>
              <a:t>阶段 </a:t>
            </a:r>
          </a:p>
        </p:txBody>
      </p:sp>
      <p:pic>
        <p:nvPicPr>
          <p:cNvPr id="4" name="图片 3"/>
          <p:cNvPicPr>
            <a:picLocks noChangeAspect="1"/>
          </p:cNvPicPr>
          <p:nvPr/>
        </p:nvPicPr>
        <p:blipFill>
          <a:blip r:embed="rId2"/>
          <a:stretch>
            <a:fillRect/>
          </a:stretch>
        </p:blipFill>
        <p:spPr>
          <a:xfrm>
            <a:off x="3381466" y="3318272"/>
            <a:ext cx="5493544" cy="2450306"/>
          </a:xfrm>
          <a:prstGeom prst="rect">
            <a:avLst/>
          </a:prstGeom>
        </p:spPr>
      </p:pic>
      <p:sp>
        <p:nvSpPr>
          <p:cNvPr id="5" name="文本框 4"/>
          <p:cNvSpPr txBox="1"/>
          <p:nvPr/>
        </p:nvSpPr>
        <p:spPr>
          <a:xfrm>
            <a:off x="830873" y="2205981"/>
            <a:ext cx="7919671" cy="1269578"/>
          </a:xfrm>
          <a:prstGeom prst="rect">
            <a:avLst/>
          </a:prstGeom>
          <a:noFill/>
        </p:spPr>
        <p:txBody>
          <a:bodyPr wrap="square" rtlCol="0">
            <a:spAutoFit/>
          </a:bodyPr>
          <a:lstStyle/>
          <a:p>
            <a:pPr defTabSz="685800"/>
            <a:r>
              <a:rPr lang="zh-CN" altLang="en-US" sz="2100" dirty="0">
                <a:solidFill>
                  <a:prstClr val="black"/>
                </a:solidFill>
                <a:latin typeface="Tw Cen MT" panose="020B0602020104020603"/>
              </a:rPr>
              <a:t>采用直方图法。 首先根据顾客需求找出关键质量特性，找出影响质量的关键因素，并跟踪测量顾客反应的质量问题以及每种问题的数量和所占比例 </a:t>
            </a:r>
            <a:r>
              <a:rPr lang="zh-CN" altLang="en-US" sz="1350" dirty="0">
                <a:solidFill>
                  <a:prstClr val="black"/>
                </a:solidFill>
                <a:latin typeface="Tw Cen MT" panose="020B0602020104020603"/>
              </a:rPr>
              <a:t/>
            </a:r>
            <a:br>
              <a:rPr lang="zh-CN" altLang="en-US" sz="1350" dirty="0">
                <a:solidFill>
                  <a:prstClr val="black"/>
                </a:solidFill>
                <a:latin typeface="Tw Cen MT" panose="020B0602020104020603"/>
              </a:rPr>
            </a:br>
            <a:endParaRPr lang="zh-CN" altLang="en-US" sz="1350" dirty="0">
              <a:solidFill>
                <a:prstClr val="black"/>
              </a:solidFill>
              <a:latin typeface="Tw Cen MT" panose="020B0602020104020603"/>
            </a:endParaRPr>
          </a:p>
        </p:txBody>
      </p:sp>
      <p:sp>
        <p:nvSpPr>
          <p:cNvPr id="7" name="圆角矩形 6"/>
          <p:cNvSpPr/>
          <p:nvPr/>
        </p:nvSpPr>
        <p:spPr>
          <a:xfrm>
            <a:off x="257175" y="3233020"/>
            <a:ext cx="3124291" cy="27550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r>
              <a:rPr lang="zh-CN" altLang="en-US" dirty="0">
                <a:solidFill>
                  <a:prstClr val="white"/>
                </a:solidFill>
                <a:latin typeface="Tw Cen MT" panose="020B0602020104020603"/>
              </a:rPr>
              <a:t>分析可知，</a:t>
            </a:r>
            <a:r>
              <a:rPr lang="en-US" altLang="zh-CN" dirty="0">
                <a:solidFill>
                  <a:prstClr val="white"/>
                </a:solidFill>
                <a:latin typeface="Tw Cen MT" panose="020B0602020104020603"/>
              </a:rPr>
              <a:t>M </a:t>
            </a:r>
            <a:r>
              <a:rPr lang="zh-CN" altLang="en-US" dirty="0">
                <a:solidFill>
                  <a:prstClr val="white"/>
                </a:solidFill>
                <a:latin typeface="Tw Cen MT" panose="020B0602020104020603"/>
              </a:rPr>
              <a:t>公司生产的液晶显示屏的质量存在严重的问题，不合格率很高，不合格产品中主要问题是碰伤严重、 有 “坏点”、 亮度对比不好，因此在问题分析和改进时应主要从这三方面研究，来提高企业的产品合格率。 </a:t>
            </a:r>
            <a:r>
              <a:rPr lang="zh-CN" altLang="en-US" sz="1350" dirty="0">
                <a:solidFill>
                  <a:prstClr val="white"/>
                </a:solidFill>
                <a:latin typeface="Tw Cen MT" panose="020B0602020104020603"/>
              </a:rPr>
              <a:t/>
            </a:r>
            <a:br>
              <a:rPr lang="zh-CN" altLang="en-US" sz="1350" dirty="0">
                <a:solidFill>
                  <a:prstClr val="white"/>
                </a:solidFill>
                <a:latin typeface="Tw Cen MT" panose="020B0602020104020603"/>
              </a:rPr>
            </a:br>
            <a:endParaRPr lang="zh-CN" altLang="en-US" sz="1350" b="1" dirty="0">
              <a:ln w="22225">
                <a:solidFill>
                  <a:srgbClr val="2683C6"/>
                </a:solidFill>
                <a:prstDash val="solid"/>
              </a:ln>
              <a:solidFill>
                <a:srgbClr val="FF0000"/>
              </a:solidFill>
              <a:latin typeface="Tw Cen MT" panose="020B0602020104020603"/>
            </a:endParaRPr>
          </a:p>
        </p:txBody>
      </p:sp>
    </p:spTree>
    <p:extLst>
      <p:ext uri="{BB962C8B-B14F-4D97-AF65-F5344CB8AC3E}">
        <p14:creationId xmlns:p14="http://schemas.microsoft.com/office/powerpoint/2010/main" val="363054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a:t>
            </a:r>
            <a:r>
              <a:rPr lang="zh-CN" altLang="en-US" dirty="0" smtClean="0"/>
              <a:t>分析阶段 </a:t>
            </a:r>
            <a:endParaRPr lang="zh-CN" altLang="en-US" dirty="0"/>
          </a:p>
        </p:txBody>
      </p:sp>
      <p:sp>
        <p:nvSpPr>
          <p:cNvPr id="3" name="内容占位符 2"/>
          <p:cNvSpPr>
            <a:spLocks noGrp="1"/>
          </p:cNvSpPr>
          <p:nvPr>
            <p:ph idx="1"/>
          </p:nvPr>
        </p:nvSpPr>
        <p:spPr>
          <a:xfrm>
            <a:off x="458037" y="2216453"/>
            <a:ext cx="7290055" cy="2031023"/>
          </a:xfrm>
        </p:spPr>
        <p:txBody>
          <a:bodyPr>
            <a:normAutofit/>
          </a:bodyPr>
          <a:lstStyle/>
          <a:p>
            <a:r>
              <a:rPr lang="zh-CN" altLang="en-US" sz="2700" dirty="0"/>
              <a:t>利用头脑风暴法、 鱼骨图法、 帕累托图对可能产生不合格现象的原因进行分析</a:t>
            </a:r>
            <a:endParaRPr lang="zh-CN" altLang="en-US" dirty="0"/>
          </a:p>
        </p:txBody>
      </p:sp>
      <p:pic>
        <p:nvPicPr>
          <p:cNvPr id="4" name="图片 3"/>
          <p:cNvPicPr>
            <a:picLocks noChangeAspect="1"/>
          </p:cNvPicPr>
          <p:nvPr/>
        </p:nvPicPr>
        <p:blipFill>
          <a:blip r:embed="rId2"/>
          <a:stretch>
            <a:fillRect/>
          </a:stretch>
        </p:blipFill>
        <p:spPr>
          <a:xfrm>
            <a:off x="458037" y="3029471"/>
            <a:ext cx="3918978" cy="2778912"/>
          </a:xfrm>
          <a:prstGeom prst="rect">
            <a:avLst/>
          </a:prstGeom>
        </p:spPr>
      </p:pic>
      <p:pic>
        <p:nvPicPr>
          <p:cNvPr id="5" name="图片 4"/>
          <p:cNvPicPr>
            <a:picLocks noChangeAspect="1"/>
          </p:cNvPicPr>
          <p:nvPr/>
        </p:nvPicPr>
        <p:blipFill>
          <a:blip r:embed="rId3"/>
          <a:stretch>
            <a:fillRect/>
          </a:stretch>
        </p:blipFill>
        <p:spPr>
          <a:xfrm>
            <a:off x="4191215" y="3029471"/>
            <a:ext cx="4110921" cy="2816954"/>
          </a:xfrm>
          <a:prstGeom prst="rect">
            <a:avLst/>
          </a:prstGeom>
        </p:spPr>
      </p:pic>
    </p:spTree>
    <p:extLst>
      <p:ext uri="{BB962C8B-B14F-4D97-AF65-F5344CB8AC3E}">
        <p14:creationId xmlns:p14="http://schemas.microsoft.com/office/powerpoint/2010/main" val="23120791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589" y="1477108"/>
            <a:ext cx="7290055" cy="3953901"/>
          </a:xfrm>
        </p:spPr>
        <p:txBody>
          <a:bodyPr>
            <a:normAutofit/>
          </a:bodyPr>
          <a:lstStyle/>
          <a:p>
            <a:r>
              <a:rPr lang="zh-CN" altLang="en-US" sz="2400" dirty="0"/>
              <a:t>通过分析得出目前公司最主要的问题是客户投诉率、 退货、 换货率高，造成这些问题最主要的原因是公司生产的液晶显示屏由于碰撞致使质量不合格。经过讨论、 现场观察和分析，得出的结论是：碰撞主要是由于包装不合格没有使用泡沫、 搬运过程没有轻拿轻放、 运输途中路途遥远颠簸等造成的。</a:t>
            </a:r>
          </a:p>
          <a:p>
            <a:r>
              <a:rPr lang="zh-CN" altLang="en-US" sz="2400" dirty="0"/>
              <a:t>造成问题的另外两个原因是液晶显示屏存在“坏点”、 亮度对比不好，这些质量问题并不容易检验，因此，液晶显示屏的生产不能依赖于事后控制，要事前控制、 事中控制、 事后检验相结合的方法。</a:t>
            </a:r>
          </a:p>
        </p:txBody>
      </p:sp>
    </p:spTree>
    <p:extLst>
      <p:ext uri="{BB962C8B-B14F-4D97-AF65-F5344CB8AC3E}">
        <p14:creationId xmlns:p14="http://schemas.microsoft.com/office/powerpoint/2010/main" val="19285952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a:t>
            </a:r>
            <a:r>
              <a:rPr lang="zh-CN" altLang="en-US" dirty="0" smtClean="0"/>
              <a:t>改进</a:t>
            </a:r>
            <a:r>
              <a:rPr lang="zh-CN" altLang="en-US" dirty="0"/>
              <a:t>阶段 </a:t>
            </a:r>
          </a:p>
        </p:txBody>
      </p:sp>
      <p:sp>
        <p:nvSpPr>
          <p:cNvPr id="3" name="内容占位符 2"/>
          <p:cNvSpPr>
            <a:spLocks noGrp="1"/>
          </p:cNvSpPr>
          <p:nvPr>
            <p:ph idx="1"/>
          </p:nvPr>
        </p:nvSpPr>
        <p:spPr>
          <a:xfrm>
            <a:off x="418602" y="2215662"/>
            <a:ext cx="8582524" cy="3890596"/>
          </a:xfrm>
        </p:spPr>
        <p:txBody>
          <a:bodyPr>
            <a:normAutofit fontScale="62500" lnSpcReduction="20000"/>
          </a:bodyPr>
          <a:lstStyle/>
          <a:p>
            <a:pPr>
              <a:lnSpc>
                <a:spcPct val="120000"/>
              </a:lnSpc>
            </a:pPr>
            <a:r>
              <a:rPr lang="zh-CN" altLang="en-US" sz="2850" dirty="0"/>
              <a:t>避免</a:t>
            </a:r>
            <a:r>
              <a:rPr lang="zh-CN" altLang="en-US" sz="2850" dirty="0">
                <a:solidFill>
                  <a:srgbClr val="FF0000"/>
                </a:solidFill>
              </a:rPr>
              <a:t>碰撞</a:t>
            </a:r>
            <a:r>
              <a:rPr lang="zh-CN" altLang="en-US" sz="2850" dirty="0"/>
              <a:t>产生的不合格品：</a:t>
            </a:r>
            <a:endParaRPr lang="en-US" altLang="zh-CN" sz="2850" dirty="0"/>
          </a:p>
          <a:p>
            <a:pPr>
              <a:lnSpc>
                <a:spcPct val="120000"/>
              </a:lnSpc>
            </a:pPr>
            <a:r>
              <a:rPr lang="zh-CN" altLang="en-US" sz="2850" dirty="0"/>
              <a:t>①严格监控包装过程包装必须使用塑料泡沫以减轻碰撞带来的不合格产品的数量。②加强对员工的培训。</a:t>
            </a:r>
            <a:endParaRPr lang="en-US" altLang="zh-CN" sz="2850" dirty="0"/>
          </a:p>
          <a:p>
            <a:pPr>
              <a:lnSpc>
                <a:spcPct val="120000"/>
              </a:lnSpc>
            </a:pPr>
            <a:r>
              <a:rPr lang="zh-CN" altLang="en-US" sz="2850" dirty="0">
                <a:solidFill>
                  <a:srgbClr val="FF0000"/>
                </a:solidFill>
              </a:rPr>
              <a:t>“坏点” 和亮度对比不好</a:t>
            </a:r>
            <a:r>
              <a:rPr lang="zh-CN" altLang="en-US" sz="2850" dirty="0"/>
              <a:t>的原因主要是工人操作不合理、 车间内空气有大量的污染物和空气潮湿和二极管、驱动电路板不合格造成的。</a:t>
            </a:r>
          </a:p>
          <a:p>
            <a:pPr>
              <a:lnSpc>
                <a:spcPct val="120000"/>
              </a:lnSpc>
            </a:pPr>
            <a:r>
              <a:rPr lang="zh-CN" altLang="en-US" sz="2850" dirty="0"/>
              <a:t>针对以上问题，我们应采取的措施是：①招聘高素质员工，加强对员工的培训，以及对培训的考核。②要严格监控车间环境条件，及时通风换气，通风要自然通风与机械通风并用，营造一个良好的空气环境。③加大事前检验力度，在二极管、 驱动电路板等电子元器件进入流水线生产之前，我们要严格检验，确保不让一个又质量问题的元器件进入生产线，从源头控制不合格品的产生。 </a:t>
            </a:r>
            <a:r>
              <a:rPr lang="zh-CN" altLang="en-US" dirty="0"/>
              <a:t/>
            </a:r>
            <a:br>
              <a:rPr lang="zh-CN" altLang="en-US" dirty="0"/>
            </a:br>
            <a:endParaRPr lang="zh-CN" altLang="en-US" dirty="0"/>
          </a:p>
        </p:txBody>
      </p:sp>
    </p:spTree>
    <p:extLst>
      <p:ext uri="{BB962C8B-B14F-4D97-AF65-F5344CB8AC3E}">
        <p14:creationId xmlns:p14="http://schemas.microsoft.com/office/powerpoint/2010/main" val="19995578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控制</a:t>
            </a:r>
            <a:r>
              <a:rPr lang="zh-CN" altLang="en-US" dirty="0"/>
              <a:t>阶段 </a:t>
            </a:r>
          </a:p>
        </p:txBody>
      </p:sp>
      <p:sp>
        <p:nvSpPr>
          <p:cNvPr id="3" name="内容占位符 2"/>
          <p:cNvSpPr>
            <a:spLocks noGrp="1"/>
          </p:cNvSpPr>
          <p:nvPr>
            <p:ph idx="1"/>
          </p:nvPr>
        </p:nvSpPr>
        <p:spPr>
          <a:xfrm>
            <a:off x="576864" y="2261822"/>
            <a:ext cx="7290055" cy="685800"/>
          </a:xfrm>
        </p:spPr>
        <p:txBody>
          <a:bodyPr>
            <a:normAutofit/>
          </a:bodyPr>
          <a:lstStyle/>
          <a:p>
            <a:r>
              <a:rPr lang="zh-CN" altLang="en-US" sz="2250" dirty="0"/>
              <a:t>完成改进过程后的近几个月公司产品全检记录</a:t>
            </a:r>
            <a:r>
              <a:rPr lang="zh-CN" altLang="en-US" dirty="0"/>
              <a:t/>
            </a:r>
            <a:br>
              <a:rPr lang="zh-CN" altLang="en-US" dirty="0"/>
            </a:br>
            <a:endParaRPr lang="zh-CN" altLang="en-US" dirty="0"/>
          </a:p>
        </p:txBody>
      </p:sp>
      <p:pic>
        <p:nvPicPr>
          <p:cNvPr id="4" name="图片 3"/>
          <p:cNvPicPr>
            <a:picLocks noChangeAspect="1"/>
          </p:cNvPicPr>
          <p:nvPr/>
        </p:nvPicPr>
        <p:blipFill>
          <a:blip r:embed="rId2"/>
          <a:stretch>
            <a:fillRect/>
          </a:stretch>
        </p:blipFill>
        <p:spPr>
          <a:xfrm>
            <a:off x="0" y="2819875"/>
            <a:ext cx="8950488" cy="2400300"/>
          </a:xfrm>
          <a:prstGeom prst="rect">
            <a:avLst/>
          </a:prstGeom>
        </p:spPr>
      </p:pic>
    </p:spTree>
    <p:extLst>
      <p:ext uri="{BB962C8B-B14F-4D97-AF65-F5344CB8AC3E}">
        <p14:creationId xmlns:p14="http://schemas.microsoft.com/office/powerpoint/2010/main" val="21185895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结语</a:t>
            </a:r>
            <a:endParaRPr lang="zh-CN" altLang="en-US" dirty="0"/>
          </a:p>
        </p:txBody>
      </p:sp>
      <p:sp>
        <p:nvSpPr>
          <p:cNvPr id="3" name="内容占位符 2"/>
          <p:cNvSpPr>
            <a:spLocks noGrp="1"/>
          </p:cNvSpPr>
          <p:nvPr>
            <p:ph idx="1"/>
          </p:nvPr>
        </p:nvSpPr>
        <p:spPr/>
        <p:txBody>
          <a:bodyPr>
            <a:normAutofit/>
          </a:bodyPr>
          <a:lstStyle/>
          <a:p>
            <a:r>
              <a:rPr lang="zh-CN" altLang="en-US" sz="2700" dirty="0"/>
              <a:t>目前，美国公司的平均水平已从十年前的三西格玛上下提高到接近五西格玛的程度，而日本则已超过了</a:t>
            </a:r>
            <a:r>
              <a:rPr lang="en-US" altLang="zh-CN" sz="2700" dirty="0"/>
              <a:t>5.5</a:t>
            </a:r>
            <a:r>
              <a:rPr lang="zh-CN" altLang="en-US" sz="2700" dirty="0"/>
              <a:t>西格玛的水平。可以毫不夸张地说，西格玛水平已成为衡量一个国家综合实力与竞争力的最有效的指标！</a:t>
            </a:r>
          </a:p>
        </p:txBody>
      </p:sp>
    </p:spTree>
    <p:extLst>
      <p:ext uri="{BB962C8B-B14F-4D97-AF65-F5344CB8AC3E}">
        <p14:creationId xmlns:p14="http://schemas.microsoft.com/office/powerpoint/2010/main" val="3306944747"/>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广场">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积分">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广场.thmx</Template>
  <TotalTime>14000</TotalTime>
  <Words>4446</Words>
  <Application>Microsoft Office PowerPoint</Application>
  <PresentationFormat>全屏显示(4:3)</PresentationFormat>
  <Paragraphs>261</Paragraphs>
  <Slides>39</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39</vt:i4>
      </vt:variant>
    </vt:vector>
  </HeadingPairs>
  <TitlesOfParts>
    <vt:vector size="51" baseType="lpstr">
      <vt:lpstr>Century Gothic</vt:lpstr>
      <vt:lpstr>Tw Cen MT</vt:lpstr>
      <vt:lpstr>Tw Cen MT Condensed</vt:lpstr>
      <vt:lpstr>等线</vt:lpstr>
      <vt:lpstr>华文仿宋</vt:lpstr>
      <vt:lpstr>宋体</vt:lpstr>
      <vt:lpstr>Calibri</vt:lpstr>
      <vt:lpstr>Times New Roman</vt:lpstr>
      <vt:lpstr>Wingdings 2</vt:lpstr>
      <vt:lpstr>Wingdings 3</vt:lpstr>
      <vt:lpstr>广场</vt:lpstr>
      <vt:lpstr>积分</vt:lpstr>
      <vt:lpstr>六西格玛管理</vt:lpstr>
      <vt:lpstr>六西格玛的由来</vt:lpstr>
      <vt:lpstr>名字来源</vt:lpstr>
      <vt:lpstr>定义</vt:lpstr>
      <vt:lpstr>PowerPoint 演示文稿</vt:lpstr>
      <vt:lpstr>PowerPoint 演示文稿</vt:lpstr>
      <vt:lpstr>六西格玛的概念</vt:lpstr>
      <vt:lpstr>六西格玛是一个标准</vt:lpstr>
      <vt:lpstr>六西格玛与DPMO的关系</vt:lpstr>
      <vt:lpstr>六西格玛的计算</vt:lpstr>
      <vt:lpstr>六西格玛值的特征</vt:lpstr>
      <vt:lpstr>六西格玛是一个管理方法</vt:lpstr>
      <vt:lpstr>六西格玛管理的人员组织结构</vt:lpstr>
      <vt:lpstr>三层含义</vt:lpstr>
      <vt:lpstr>DMAIC方法</vt:lpstr>
      <vt:lpstr>DMADV项目方法，也称为DFSS</vt:lpstr>
      <vt:lpstr>贯彻实施</vt:lpstr>
      <vt:lpstr>PowerPoint 演示文稿</vt:lpstr>
      <vt:lpstr>六西格玛使用的软件</vt:lpstr>
      <vt:lpstr>应用</vt:lpstr>
      <vt:lpstr>DMAIC</vt:lpstr>
      <vt:lpstr>PowerPoint 演示文稿</vt:lpstr>
      <vt:lpstr>举个经典例子－－烤面包</vt:lpstr>
      <vt:lpstr>第二步：测量</vt:lpstr>
      <vt:lpstr>第二步：测量</vt:lpstr>
      <vt:lpstr>第三步：分析 </vt:lpstr>
      <vt:lpstr>第四步：提高</vt:lpstr>
      <vt:lpstr>第四步：提高</vt:lpstr>
      <vt:lpstr>第五步：控制</vt:lpstr>
      <vt:lpstr>六西格玛管理的特征</vt:lpstr>
      <vt:lpstr>六西格玛管理的优点</vt:lpstr>
      <vt:lpstr>实例分析</vt:lpstr>
      <vt:lpstr>D:定义阶段 </vt:lpstr>
      <vt:lpstr>M：测量阶段 </vt:lpstr>
      <vt:lpstr>A:分析阶段 </vt:lpstr>
      <vt:lpstr>PowerPoint 演示文稿</vt:lpstr>
      <vt:lpstr>I:改进阶段 </vt:lpstr>
      <vt:lpstr>C:控制阶段 </vt:lpstr>
      <vt:lpstr>结语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六西格玛标准</dc:title>
  <dc:creator>Chang Andy</dc:creator>
  <cp:lastModifiedBy>nie</cp:lastModifiedBy>
  <cp:revision>68</cp:revision>
  <dcterms:created xsi:type="dcterms:W3CDTF">2017-10-22T12:55:47Z</dcterms:created>
  <dcterms:modified xsi:type="dcterms:W3CDTF">2020-06-29T06:09:33Z</dcterms:modified>
</cp:coreProperties>
</file>